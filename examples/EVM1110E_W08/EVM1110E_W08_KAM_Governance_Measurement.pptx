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Điền tên giảng viên trước khi dạy.
Alt-text: hình kim cương, bên trái là nhóm người của agency, bên phải là nhóm người của Key Account, nối với nhau bằng năm đường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Đọc: “Tháng 1, gala 12/12 của An Phát vừa thành công. Sáng nay, KAMer của Nova nhận tin nhắn từ chị Hạnh, Giám đốc Marketing của An Phát, người làm việc với Nova suốt 3 năm: ‘Chị chuyển sang ngân hàng khác từ 1/2 nhé. Giám đốc mới là anh Minh.’ Nova chưa từng gặp anh Minh.”
Cho lớp giơ tay; ghi số phiếu lên bảng.
Chốt: “Ba năm làm tốt chưa chắc đã đủ. Nếu toàn bộ quan hệ nằm trong một sợi dây, sợi dây đó đứt là mất khách. Hôm nay ta học cách tổ chức quan hệ với Key Account (8.1), đo nó (8.2) và cùng khách hàng kiểm tra nó định kỳ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cấu trúc buổi: 8.1 cấu trúc quan hệ nhiều cấp; 8.2 chỉ số đo hiệu quả quan hệ và từng sự kiện; 8.3 đánh giá chung định kỳ với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gốc: nhóm nghiên cứu KAM ở Cranfield (McDonald, Millman &amp; Rogers, 1997, T01) mô tả quan hệ với Key Account phát triển qua nhiều giai đoạn. Trước đó Millman &amp; Wilson (1995, T02): từ “key account selling” sang “key account management”.
Alt-text: hình nơ bướm — hai tam giác chạm nhau ở một điểm; các bộ phận của agency (trái) và của Key Account (phải) chỉ nối với nhau qua KAMer và đầu mối.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tên và số giai đoạn trong mô hình gốc (ví dụ Exploratory, Basic, Cooperative, Interdependent, Integrated) mới đọc qua nguồn thứ cấp T03 — đối chiếu T01 trước khi nói chi tiết]
Diamond: các bộ phận tương ứng hai bên làm việc trực tiếp; KAMer vẫn điều phối toàn bộ.
Alt-text: hai nhóm người (agency bên trái, Key Account bên phải) nối với nhau bằng năm đường song song; KAMer ở giữa nhóm agency có vòng điều phối.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cần chốt: “Mới làm sự kiện đầu tiên cho một khách hàng mà đã đòi gặp Ban giám đốc, đòi mọi bộ phận hai bên kết nối, thì vừa tốn nguồn lực, vừa có thể làm khách hàng khó chịu. Diamond là ĐÍCH ĐẾN khi quan hệ đã đủ sâu và Key Account đủ quan trọng.”
Nối Buổi 2 (chọn Key Account) và Buổi 6 (cost-to-serve).
[VERIFY: tên các giai đoạn quan hệ — đối chiếu T01]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chữ “ở phía mình HOẶC phía khách hàng” — KAMer của agency nghỉ việc cũng làm đứt Bow-tie.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 hệ khách hàng – agency trung bình khoảng 7 năm (2016: 3,2 năm); agency trải nghiệm dài nhất, khoảng 10 năm (T07).
Nói to phép tính: “Nếu quan hệ kéo dài 10 năm mà người ra quyết định phía khách hàng chỉ ngồi ghế khoảng 4 năm, thì trong một quan hệ agency có thể làm việc với 2–3 người khác nhau ở cùng một vị trí. Mỗi lần đổi người là một lần quan hệ có thể đứt.”
Nói rõ: số liệu Mỹ, không suy rộng nguyên xi cho Việt 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về “quan hệ” trong kinh doanh Việt Nam nêu ba thành tố: thể diện, có qua có lại, tình cảm (T17). Nghiên cứu thời kỳ đầu đổi mới: quan hệ giao dịch càng lâu thì bên bán càng tin cho khách trả chậm (T18).
Nhận định của người soạn: tình cảm gắn với con người, không gắn với tổ chức. Khi đầu mối rời đi, người mới có thể coi agency là “người của sếp cũ”.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Ranh giới (quyết định GV): chỉ bàn AI của agency gặp AI của Key Account; không đi vào tuyển dụng, đánh giá, đãi ngộ đội KAM.
[NEEDS PROFESSOR INPUT: ví dụ sơ đồ tiếp xúc thực tế của một event agency Việt Nam]
Hiểu lầm: “Diamond là cho càng nhiều người gặp khách hàng càng tốt” → mỗi cặp phải có mục đích và nhịp gặp; KAMer vẫn điều phối. Nhiều người nói nhiều thông điệp khác nhau còn nguy hiểm hơn Bow-tie.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SAMA: nhiều công ty coi executive sponsor chỉ là một cái tên trên slide, hoặc người gọi khi có sự cố. Nên chuyển sang executive engagement — lãnh đạo là thành viên có trách nhiệm của đội khách hàng; ghép đúng lãnh đạo với đúng khách hàng.
Hiểu lầm: “Có quan hệ tốt với sếp là đủ” → vẫn là Bow-tie, chỉ là nơ bướm ở tầng cao hơn.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Đồng hồ 5 / 10 / 5 phút.
Lời mở đầu: “Bước 1: vẽ đúng những đường quan hệ đang có, đừng vẽ điều mình mong muốn. Bước 2: Diamond mục tiêu 6 tháng, tối đa 5 cặp, mỗi cặp có mục đích và nhịp gặp. Bước 3: 3 việc trong 30 ngày để giữ An Phát. Giữ lại tờ giấy: lát nữa mang vào buổi họp với anh Minh.”
Khi chốt: vẽ nhanh Bow-tie Nova – An Phát lên bảng. Thảo luận: nên để ai của Nova gặp anh Minh trước — KAMer hay CEO?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 Xếp cặp cho S6 trong giờ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đoạn S4: “Nova giữ An Phát 3 năm. Nhưng nếu anh Minh hỏi: ‘Nova đã mang lại gì cho ngân hàng?’, Nova trả lời bằng gì? Bằng cảm giác ‘khách vui lắm’, hay bằng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cần chốt: “Chỉ số quá trình là đèn báo trên taplô, chỉ số kết quả là đồng hồ cây số. Chỉ nhìn đồng hồ cây số thì khi biết xe hỏng đã quá muộn.”
[VERIFY: danh sách thực hành KAM ở cấp “control” và các biến đo trong T09 mới đọc qua tóm tắt — đọc toàn văn trước khi trích chi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T09: thực hành KAM (cấp chiến lược, tổ chức, chiến thuật, kiểm soát) ảnh hưởng đến hiệu quả thông qua năng lực quan hệ và các kết quả quan hệ.
T10: khảo sát 568 doanh nghiệp B2B châu Âu — định hướng KAM → năng lực quan hệ và năng lực KAM → lợi thế cạnh tranh → hiệu quả thị trường và tài chính. Sự hài lòng của Key Account bổ trợ lợi thế khác biệt hóa, làm tăng hiệu quả tài chính.
Alt-text: chuỗi mũi tên bốn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lớp đoán nhanh: đọc to từng chỉ số (xáo trộn), lớp nói thuộc cột nào, rồi mới chiếu.
Hiểu lầm: “Đo càng nhiều chỉ số càng tốt” → chọn vài chỉ số mà hai bên cùng đồng ý và cùng theo dõi.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pháp phát triển từ mô hình đánh giá đào tạo của Kirkpatrick (1959); Jack Phillips và ROI Institute đưa vào vận hành (T11).
Thực tế: hầu hết tổ chức chỉ đo cấp 1 bằng phiếu khảo sát cuối sự kiện. Theo Amex GBT, chỉ khoảng 1/4 tổ chức có chỉ số ROI trong chính sách sự kiện; báo cáo đề xuất đo Return on Experience (ROE).
[VERIFY: 24%/26% Amex — đối chiếu biểu đồ gốc để chắc con số nào đi với nhãn “ROI metrics”]
Alt-text: hai cầu thang đặt cạnh nhau; cầu thang bên phải có thêm bậc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Cấp 0: mời những người có khoảng trống lớn nhất về hiểu biết và hành vi — “không cần nói với người đã được thuyết phục”.
Cấp 1 trong khung 6 cấp: hài lòng chỉ là biến đại diện cho chất lượng môi trường học. Cấp 4: luôn phải tách riêng tác động của sự kiện (tốt nhất nhóm đối chứng; thay thế: người tham dự tự ước lượng).
Trích bổ sung: “For association and government events, profit is usually not an objective… this is the mission that replaces ROI.”
Hiểu lầm: “Khách hài lòng 4,5/5 là sự kiện thành công” → mới là cấp 1; thành công khi người tham dự làm điều gì đó khác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Chưa có nghiên cứu thực nghiệm so sánh hai phiên bản cho sự kiện tại Việt Nam.
• Khoảng cách quyền lực cao (PDI 70 vs Mỹ 40): lãnh đạo khách hàng quyết định mục tiêu và danh sách khách mời → cấp 0 biến “mời đúng người” thành chỉ số.
• Tập thể cao (IDV 20), coi trọng quan hệ: giá trị lớn của sự kiện là quan hệ, khó quy ra tiền → cấp 2 có “học về quan hệ”.
• Quan hệ dài hạn có giá trị kinh tế (T18): kết quả đến muộn → chấp nhận ước lượng của người tham dự.
• Né tránh bất định thấp (UAI 30): bộ đo nặng khó duy trì → bản rút gọn vài KPI then chốt.
• Nhiều sự kiện nhà nước, hiệp hội → sứ mệnh thay ROI.
Lưu ý thể diện: phiếu hài lòng ngay sau sự kiện dễ nghiêng về tích cực → bổ sung chỉ số hành vi quan sát được. [VERIFY: chưa có nguồn thực nghiệm về độ lệch khảo sát do thể diện tại VN]
Nhắc lớp: điểm Hofstede là xu hướng quốc gia, không dùng để đóng khung một khách hàng cụ thể (Buổi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Cấp 0–3: agency chủ động cam kết và báo cáo vì kiểm soát được nhiều.
Cấp 4–5: chỉ đo khi Key Account đồng ý chia sẻ dữ liệu, thống nhất từ đầu trong buổi đánh giá định kỳ (8.3). Sự kiện nhà nước, hiệp hội: thay cấp 5 bằng mục tiêu sứ mệnh.
Hiểu lầm: “Chỉ số là việc của khách hàng” → Key Account thường còn yếu trong đo lường (T12); agency chủ động đề xuất bộ chỉ số là giá trị cộng thêm (nối Buổi 5, CVP).
Alt-text: bậc thang 6 cấp chia hai vùng — cấp 0–3 agency cam kết, cấp 4–5 đo cùng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agency họp đánh giá theo quý (QBR). T13: 66% có QBR chính thức cho tất cả hoặc một phần khách hàng; agency có QBR chính thức báo cáo quan hệ dài hơn. Nói rõ: agency kỹ thuật số.
Với event agency: nhịp theo quý hoặc theo mùa sự kiện của Key Account (nhận định của người soạn).
Ai dự: lãnh đạo hai bên, không chỉ KAMer và đầu mối (T06) — đây cũng là lúc vẽ thêm các cạnh của Diamond.
Hiểu lầm: “Không có vấn đề thì không cần họp” → khoảng lặng giữa các lần gặp là lúc dễ mất khách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Thực hành tốt (T14): người điều phối trung lập, mẫu đánh giá thống nhất, kế hoạch hành động sau đánh giá.
Nhận định của người soạn: đây là dịp chính thức để agency nói những điều khách hàng làm khiến chất lượng giảm (duyệt kịch bản chậm, đổi brief sát ngày) mà không làm mất thể diện của ai — vì đó là phần của quy trình, không phải lời phàn nàn.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mẫu APEX PER gốc dùng giữa nhà tổ chức và địa điểm; agency mượn logic này cho quan hệ với Key Account (nhận định của người soạn).
Báo cáo sau từng sự kiện là dữ liệu đầu vào cho buổi đánh giá định kỳ; khi đầu mối phía khách hàng thay người, đây là “trí nhớ” của quan hệ.
Alt-text: dòng chảy từ sự kiện → họp ngay sau sự kiện → báo cáo trong 60 ngày → chồng báo cáo thành lịch sử quan hệ → đánh giá định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T13: 88% agency theo dõi ít nhất một chỉ số “sức khỏe” khách hàng (mức tương tác, biến động nhân sự phía khách hàng, khảo sát hài lòng, trả tiền đúng hạn, lợi nhuận).
Nối lại S1: “Tin nhắn của chị Hạnh là dấu hiệu cảnh báo lớn nhất trong danh sách này. Và Nova chỉ có một sợi dây.”
Hiểu lầm: “Họp càng hình thức càng chuyên nghiệp” → quy trình quá cứng có thể làm yếu quan hệ (T10); giữ ngắn, có số liệu, có hành động tiếp theo.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Đồng hồ 8 / 10 / 3 / 6 phút. Phát thẻ vai cắt riêng; không cho bên kia xem trước bước lật thẻ.
Vai An Phát: anh Minh (chủ trì), chị Lan, anh Khoa. Vai Nova: anh Đức (CEO), chị Thảo (KAMer, dẫn họp), Producer. 1 người quan sát/nhóm.
Tổng kết từ góc agency: Nova chứng minh giá trị bằng chỉ số quá trình hay kết quả? Có dùng phần đánh giá hai chiều để nêu điều An Phát cần cải thiện không, có khéo không? Sơ đồ quan hệ có thêm cạnh nào?
Ghi biên bản 3 dòng của từng cặp lên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Stakeholder Management Plan: với khách hàng từ dự án cũ, nhóm bổ sung một trang — sơ đồ tiếp xúc hiện tại và mục tiêu (Bow-tie → Diamond), 3 chỉ số quá trình và 3 chỉ số kết quả, nhịp đánh giá chung. Làm dần trên lớp, không giao về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SV nhận ra quan hệ của mình phụ thuộc một người không; (b) phân biệt đúng chỉ số dẫn dắt và chỉ số trễ; (c) chỉ số có đo được thật không (không viết “khách hài lòng” chung chung).
Câu nối Buổi 9: “Trong buổi đánh giá, anh Minh có thể hỏi: ‘Năm sau gala có thể bớt chi phí nhờ nhà tài trợ không?’ Buổi sau: nhà đầu tư và nhà tài trợ, những bên liên quan giúp agency tạo thêm giá trị cho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T01–T18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T01–T18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086600" y="822960"/>
            <a:ext cx="4709160" cy="5257800"/>
          </a:xfrm>
          <a:prstGeom prst="diamond">
            <a:avLst/>
          </a:prstGeom>
          <a:solidFill>
            <a:srgbClr val="FFF3C4"/>
          </a:solidFill>
          <a:ln w="19050">
            <a:solidFill>
              <a:srgbClr val="FFD23B"/>
            </a:solidFill>
            <a:prstDash val="solid"/>
          </a:ln>
        </p:spPr>
      </p:sp>
      <p:sp>
        <p:nvSpPr>
          <p:cNvPr id="3" name="Shape 1"/>
          <p:cNvSpPr/>
          <p:nvPr/>
        </p:nvSpPr>
        <p:spPr>
          <a:xfrm>
            <a:off x="8046720" y="1508760"/>
            <a:ext cx="2560320" cy="914"/>
          </a:xfrm>
          <a:prstGeom prst="line">
            <a:avLst/>
          </a:prstGeom>
          <a:noFill/>
          <a:ln w="38100">
            <a:solidFill>
              <a:srgbClr val="962B7C"/>
            </a:solidFill>
            <a:prstDash val="solid"/>
          </a:ln>
        </p:spPr>
      </p:sp>
      <p:sp>
        <p:nvSpPr>
          <p:cNvPr id="4" name="Shape 2"/>
          <p:cNvSpPr/>
          <p:nvPr/>
        </p:nvSpPr>
        <p:spPr>
          <a:xfrm>
            <a:off x="7498080" y="1234440"/>
            <a:ext cx="548640" cy="548640"/>
          </a:xfrm>
          <a:prstGeom prst="ellipse">
            <a:avLst/>
          </a:prstGeom>
          <a:solidFill>
            <a:srgbClr val="962B7C"/>
          </a:solidFill>
          <a:ln w="12700">
            <a:solidFill>
              <a:srgbClr val="962B7C"/>
            </a:solidFill>
            <a:prstDash val="solid"/>
          </a:ln>
        </p:spPr>
      </p:sp>
      <p:sp>
        <p:nvSpPr>
          <p:cNvPr id="5" name="Text 3"/>
          <p:cNvSpPr txBox="1"/>
          <p:nvPr/>
        </p:nvSpPr>
        <p:spPr>
          <a:xfrm>
            <a:off x="7498080" y="1234440"/>
            <a:ext cx="548640" cy="548640"/>
          </a:xfrm>
          <a:prstGeom prst="rect">
            <a:avLst/>
          </a:prstGeom>
          <a:noFill/>
          <a:ln/>
        </p:spPr>
        <p:txBody>
          <a:bodyPr wrap="square" lIns="0" tIns="0" rIns="0" bIns="0" rtlCol="0" anchor="ctr"/>
          <a:lstStyle/>
          <a:p>
            <a:pPr algn="ctr" indent="0" marL="0">
              <a:buNone/>
            </a:pPr>
            <a:endParaRPr lang="en-US" sz="2040" dirty="0"/>
          </a:p>
        </p:txBody>
      </p:sp>
      <p:sp>
        <p:nvSpPr>
          <p:cNvPr id="6" name="Shape 4"/>
          <p:cNvSpPr/>
          <p:nvPr/>
        </p:nvSpPr>
        <p:spPr>
          <a:xfrm>
            <a:off x="10607040" y="1234440"/>
            <a:ext cx="548640" cy="548640"/>
          </a:xfrm>
          <a:prstGeom prst="ellipse">
            <a:avLst/>
          </a:prstGeom>
          <a:solidFill>
            <a:srgbClr val="962B7C"/>
          </a:solidFill>
          <a:ln w="12700">
            <a:solidFill>
              <a:srgbClr val="962B7C"/>
            </a:solidFill>
            <a:prstDash val="solid"/>
          </a:ln>
        </p:spPr>
      </p:sp>
      <p:sp>
        <p:nvSpPr>
          <p:cNvPr id="7" name="Text 5"/>
          <p:cNvSpPr txBox="1"/>
          <p:nvPr/>
        </p:nvSpPr>
        <p:spPr>
          <a:xfrm>
            <a:off x="10607040" y="1234440"/>
            <a:ext cx="548640" cy="548640"/>
          </a:xfrm>
          <a:prstGeom prst="rect">
            <a:avLst/>
          </a:prstGeom>
          <a:noFill/>
          <a:ln/>
        </p:spPr>
        <p:txBody>
          <a:bodyPr wrap="square" lIns="0" tIns="0" rIns="0" bIns="0" rtlCol="0" anchor="ctr"/>
          <a:lstStyle/>
          <a:p>
            <a:pPr algn="ctr" indent="0" marL="0">
              <a:buNone/>
            </a:pPr>
            <a:endParaRPr lang="en-US" sz="2040" dirty="0"/>
          </a:p>
        </p:txBody>
      </p:sp>
      <p:sp>
        <p:nvSpPr>
          <p:cNvPr id="8" name="Shape 6"/>
          <p:cNvSpPr/>
          <p:nvPr/>
        </p:nvSpPr>
        <p:spPr>
          <a:xfrm>
            <a:off x="8046720" y="2423160"/>
            <a:ext cx="2560320" cy="914"/>
          </a:xfrm>
          <a:prstGeom prst="line">
            <a:avLst/>
          </a:prstGeom>
          <a:noFill/>
          <a:ln w="38100">
            <a:solidFill>
              <a:srgbClr val="09A1E5"/>
            </a:solidFill>
            <a:prstDash val="solid"/>
          </a:ln>
        </p:spPr>
      </p:sp>
      <p:sp>
        <p:nvSpPr>
          <p:cNvPr id="9" name="Shape 7"/>
          <p:cNvSpPr/>
          <p:nvPr/>
        </p:nvSpPr>
        <p:spPr>
          <a:xfrm>
            <a:off x="7498080" y="2148840"/>
            <a:ext cx="548640" cy="548640"/>
          </a:xfrm>
          <a:prstGeom prst="ellipse">
            <a:avLst/>
          </a:prstGeom>
          <a:solidFill>
            <a:srgbClr val="09A1E5"/>
          </a:solidFill>
          <a:ln w="12700">
            <a:solidFill>
              <a:srgbClr val="09A1E5"/>
            </a:solidFill>
            <a:prstDash val="solid"/>
          </a:ln>
        </p:spPr>
      </p:sp>
      <p:sp>
        <p:nvSpPr>
          <p:cNvPr id="10" name="Text 8"/>
          <p:cNvSpPr txBox="1"/>
          <p:nvPr/>
        </p:nvSpPr>
        <p:spPr>
          <a:xfrm>
            <a:off x="7498080" y="2148840"/>
            <a:ext cx="548640" cy="548640"/>
          </a:xfrm>
          <a:prstGeom prst="rect">
            <a:avLst/>
          </a:prstGeom>
          <a:noFill/>
          <a:ln/>
        </p:spPr>
        <p:txBody>
          <a:bodyPr wrap="square" lIns="0" tIns="0" rIns="0" bIns="0" rtlCol="0" anchor="ctr"/>
          <a:lstStyle/>
          <a:p>
            <a:pPr algn="ctr" indent="0" marL="0">
              <a:buNone/>
            </a:pPr>
            <a:endParaRPr lang="en-US" sz="2040" dirty="0"/>
          </a:p>
        </p:txBody>
      </p:sp>
      <p:sp>
        <p:nvSpPr>
          <p:cNvPr id="11" name="Shape 9"/>
          <p:cNvSpPr/>
          <p:nvPr/>
        </p:nvSpPr>
        <p:spPr>
          <a:xfrm>
            <a:off x="10607040" y="2148840"/>
            <a:ext cx="548640" cy="548640"/>
          </a:xfrm>
          <a:prstGeom prst="ellipse">
            <a:avLst/>
          </a:prstGeom>
          <a:solidFill>
            <a:srgbClr val="09A1E5"/>
          </a:solidFill>
          <a:ln w="12700">
            <a:solidFill>
              <a:srgbClr val="09A1E5"/>
            </a:solidFill>
            <a:prstDash val="solid"/>
          </a:ln>
        </p:spPr>
      </p:sp>
      <p:sp>
        <p:nvSpPr>
          <p:cNvPr id="12" name="Text 10"/>
          <p:cNvSpPr txBox="1"/>
          <p:nvPr/>
        </p:nvSpPr>
        <p:spPr>
          <a:xfrm>
            <a:off x="10607040" y="2148840"/>
            <a:ext cx="548640" cy="548640"/>
          </a:xfrm>
          <a:prstGeom prst="rect">
            <a:avLst/>
          </a:prstGeom>
          <a:noFill/>
          <a:ln/>
        </p:spPr>
        <p:txBody>
          <a:bodyPr wrap="square" lIns="0" tIns="0" rIns="0" bIns="0" rtlCol="0" anchor="ctr"/>
          <a:lstStyle/>
          <a:p>
            <a:pPr algn="ctr" indent="0" marL="0">
              <a:buNone/>
            </a:pPr>
            <a:endParaRPr lang="en-US" sz="2040" dirty="0"/>
          </a:p>
        </p:txBody>
      </p:sp>
      <p:sp>
        <p:nvSpPr>
          <p:cNvPr id="13" name="Shape 11"/>
          <p:cNvSpPr/>
          <p:nvPr/>
        </p:nvSpPr>
        <p:spPr>
          <a:xfrm>
            <a:off x="8046720" y="3337560"/>
            <a:ext cx="2560320" cy="914"/>
          </a:xfrm>
          <a:prstGeom prst="line">
            <a:avLst/>
          </a:prstGeom>
          <a:noFill/>
          <a:ln w="38100">
            <a:solidFill>
              <a:srgbClr val="FF9259"/>
            </a:solidFill>
            <a:prstDash val="solid"/>
          </a:ln>
        </p:spPr>
      </p:sp>
      <p:sp>
        <p:nvSpPr>
          <p:cNvPr id="14" name="Shape 12"/>
          <p:cNvSpPr/>
          <p:nvPr/>
        </p:nvSpPr>
        <p:spPr>
          <a:xfrm>
            <a:off x="7498080" y="3063240"/>
            <a:ext cx="548640" cy="548640"/>
          </a:xfrm>
          <a:prstGeom prst="ellipse">
            <a:avLst/>
          </a:prstGeom>
          <a:solidFill>
            <a:srgbClr val="FF9259"/>
          </a:solidFill>
          <a:ln w="12700">
            <a:solidFill>
              <a:srgbClr val="FF9259"/>
            </a:solidFill>
            <a:prstDash val="solid"/>
          </a:ln>
        </p:spPr>
      </p:sp>
      <p:sp>
        <p:nvSpPr>
          <p:cNvPr id="15" name="Text 13"/>
          <p:cNvSpPr txBox="1"/>
          <p:nvPr/>
        </p:nvSpPr>
        <p:spPr>
          <a:xfrm>
            <a:off x="7498080" y="3063240"/>
            <a:ext cx="548640" cy="548640"/>
          </a:xfrm>
          <a:prstGeom prst="rect">
            <a:avLst/>
          </a:prstGeom>
          <a:noFill/>
          <a:ln/>
        </p:spPr>
        <p:txBody>
          <a:bodyPr wrap="square" lIns="0" tIns="0" rIns="0" bIns="0" rtlCol="0" anchor="ctr"/>
          <a:lstStyle/>
          <a:p>
            <a:pPr algn="ctr" indent="0" marL="0">
              <a:buNone/>
            </a:pPr>
            <a:endParaRPr lang="en-US" sz="2040" dirty="0"/>
          </a:p>
        </p:txBody>
      </p:sp>
      <p:sp>
        <p:nvSpPr>
          <p:cNvPr id="16" name="Shape 14"/>
          <p:cNvSpPr/>
          <p:nvPr/>
        </p:nvSpPr>
        <p:spPr>
          <a:xfrm>
            <a:off x="10607040" y="3063240"/>
            <a:ext cx="548640" cy="548640"/>
          </a:xfrm>
          <a:prstGeom prst="ellipse">
            <a:avLst/>
          </a:prstGeom>
          <a:solidFill>
            <a:srgbClr val="FF9259"/>
          </a:solidFill>
          <a:ln w="12700">
            <a:solidFill>
              <a:srgbClr val="FF9259"/>
            </a:solidFill>
            <a:prstDash val="solid"/>
          </a:ln>
        </p:spPr>
      </p:sp>
      <p:sp>
        <p:nvSpPr>
          <p:cNvPr id="17" name="Text 15"/>
          <p:cNvSpPr txBox="1"/>
          <p:nvPr/>
        </p:nvSpPr>
        <p:spPr>
          <a:xfrm>
            <a:off x="10607040" y="3063240"/>
            <a:ext cx="548640" cy="548640"/>
          </a:xfrm>
          <a:prstGeom prst="rect">
            <a:avLst/>
          </a:prstGeom>
          <a:noFill/>
          <a:ln/>
        </p:spPr>
        <p:txBody>
          <a:bodyPr wrap="square" lIns="0" tIns="0" rIns="0" bIns="0" rtlCol="0" anchor="ctr"/>
          <a:lstStyle/>
          <a:p>
            <a:pPr algn="ctr" indent="0" marL="0">
              <a:buNone/>
            </a:pPr>
            <a:endParaRPr lang="en-US" sz="2040" dirty="0"/>
          </a:p>
        </p:txBody>
      </p:sp>
      <p:sp>
        <p:nvSpPr>
          <p:cNvPr id="18" name="Shape 16"/>
          <p:cNvSpPr/>
          <p:nvPr/>
        </p:nvSpPr>
        <p:spPr>
          <a:xfrm>
            <a:off x="8046720" y="4251960"/>
            <a:ext cx="2560320" cy="914"/>
          </a:xfrm>
          <a:prstGeom prst="line">
            <a:avLst/>
          </a:prstGeom>
          <a:noFill/>
          <a:ln w="38100">
            <a:solidFill>
              <a:srgbClr val="49B296"/>
            </a:solidFill>
            <a:prstDash val="solid"/>
          </a:ln>
        </p:spPr>
      </p:sp>
      <p:sp>
        <p:nvSpPr>
          <p:cNvPr id="19" name="Shape 17"/>
          <p:cNvSpPr/>
          <p:nvPr/>
        </p:nvSpPr>
        <p:spPr>
          <a:xfrm>
            <a:off x="7498080" y="3977640"/>
            <a:ext cx="548640" cy="548640"/>
          </a:xfrm>
          <a:prstGeom prst="ellipse">
            <a:avLst/>
          </a:prstGeom>
          <a:solidFill>
            <a:srgbClr val="49B296"/>
          </a:solidFill>
          <a:ln w="12700">
            <a:solidFill>
              <a:srgbClr val="49B296"/>
            </a:solidFill>
            <a:prstDash val="solid"/>
          </a:ln>
        </p:spPr>
      </p:sp>
      <p:sp>
        <p:nvSpPr>
          <p:cNvPr id="20" name="Text 18"/>
          <p:cNvSpPr txBox="1"/>
          <p:nvPr/>
        </p:nvSpPr>
        <p:spPr>
          <a:xfrm>
            <a:off x="7498080" y="3977640"/>
            <a:ext cx="548640" cy="548640"/>
          </a:xfrm>
          <a:prstGeom prst="rect">
            <a:avLst/>
          </a:prstGeom>
          <a:noFill/>
          <a:ln/>
        </p:spPr>
        <p:txBody>
          <a:bodyPr wrap="square" lIns="0" tIns="0" rIns="0" bIns="0" rtlCol="0" anchor="ctr"/>
          <a:lstStyle/>
          <a:p>
            <a:pPr algn="ctr" indent="0" marL="0">
              <a:buNone/>
            </a:pPr>
            <a:endParaRPr lang="en-US" sz="2040" dirty="0"/>
          </a:p>
        </p:txBody>
      </p:sp>
      <p:sp>
        <p:nvSpPr>
          <p:cNvPr id="21" name="Shape 19"/>
          <p:cNvSpPr/>
          <p:nvPr/>
        </p:nvSpPr>
        <p:spPr>
          <a:xfrm>
            <a:off x="10607040" y="3977640"/>
            <a:ext cx="548640" cy="548640"/>
          </a:xfrm>
          <a:prstGeom prst="ellipse">
            <a:avLst/>
          </a:prstGeom>
          <a:solidFill>
            <a:srgbClr val="49B296"/>
          </a:solidFill>
          <a:ln w="12700">
            <a:solidFill>
              <a:srgbClr val="49B296"/>
            </a:solidFill>
            <a:prstDash val="solid"/>
          </a:ln>
        </p:spPr>
      </p:sp>
      <p:sp>
        <p:nvSpPr>
          <p:cNvPr id="22" name="Text 20"/>
          <p:cNvSpPr txBox="1"/>
          <p:nvPr/>
        </p:nvSpPr>
        <p:spPr>
          <a:xfrm>
            <a:off x="10607040" y="3977640"/>
            <a:ext cx="548640" cy="548640"/>
          </a:xfrm>
          <a:prstGeom prst="rect">
            <a:avLst/>
          </a:prstGeom>
          <a:noFill/>
          <a:ln/>
        </p:spPr>
        <p:txBody>
          <a:bodyPr wrap="square" lIns="0" tIns="0" rIns="0" bIns="0" rtlCol="0" anchor="ctr"/>
          <a:lstStyle/>
          <a:p>
            <a:pPr algn="ctr" indent="0" marL="0">
              <a:buNone/>
            </a:pPr>
            <a:endParaRPr lang="en-US" sz="2040" dirty="0"/>
          </a:p>
        </p:txBody>
      </p:sp>
      <p:sp>
        <p:nvSpPr>
          <p:cNvPr id="23" name="Shape 21"/>
          <p:cNvSpPr/>
          <p:nvPr/>
        </p:nvSpPr>
        <p:spPr>
          <a:xfrm>
            <a:off x="8046720" y="5166360"/>
            <a:ext cx="2560320" cy="914"/>
          </a:xfrm>
          <a:prstGeom prst="line">
            <a:avLst/>
          </a:prstGeom>
          <a:noFill/>
          <a:ln w="38100">
            <a:solidFill>
              <a:srgbClr val="FF5178"/>
            </a:solidFill>
            <a:prstDash val="solid"/>
          </a:ln>
        </p:spPr>
      </p:sp>
      <p:sp>
        <p:nvSpPr>
          <p:cNvPr id="24" name="Shape 22"/>
          <p:cNvSpPr/>
          <p:nvPr/>
        </p:nvSpPr>
        <p:spPr>
          <a:xfrm>
            <a:off x="7498080" y="4892040"/>
            <a:ext cx="548640" cy="548640"/>
          </a:xfrm>
          <a:prstGeom prst="ellipse">
            <a:avLst/>
          </a:prstGeom>
          <a:solidFill>
            <a:srgbClr val="FF5178"/>
          </a:solidFill>
          <a:ln w="12700">
            <a:solidFill>
              <a:srgbClr val="FF5178"/>
            </a:solidFill>
            <a:prstDash val="solid"/>
          </a:ln>
        </p:spPr>
      </p:sp>
      <p:sp>
        <p:nvSpPr>
          <p:cNvPr id="25" name="Text 23"/>
          <p:cNvSpPr txBox="1"/>
          <p:nvPr/>
        </p:nvSpPr>
        <p:spPr>
          <a:xfrm>
            <a:off x="7498080" y="4892040"/>
            <a:ext cx="548640" cy="548640"/>
          </a:xfrm>
          <a:prstGeom prst="rect">
            <a:avLst/>
          </a:prstGeom>
          <a:noFill/>
          <a:ln/>
        </p:spPr>
        <p:txBody>
          <a:bodyPr wrap="square" lIns="0" tIns="0" rIns="0" bIns="0" rtlCol="0" anchor="ctr"/>
          <a:lstStyle/>
          <a:p>
            <a:pPr algn="ctr" indent="0" marL="0">
              <a:buNone/>
            </a:pPr>
            <a:endParaRPr lang="en-US" sz="2040" dirty="0"/>
          </a:p>
        </p:txBody>
      </p:sp>
      <p:sp>
        <p:nvSpPr>
          <p:cNvPr id="26" name="Shape 24"/>
          <p:cNvSpPr/>
          <p:nvPr/>
        </p:nvSpPr>
        <p:spPr>
          <a:xfrm>
            <a:off x="10607040" y="4892040"/>
            <a:ext cx="548640" cy="548640"/>
          </a:xfrm>
          <a:prstGeom prst="ellipse">
            <a:avLst/>
          </a:prstGeom>
          <a:solidFill>
            <a:srgbClr val="FF5178"/>
          </a:solidFill>
          <a:ln w="12700">
            <a:solidFill>
              <a:srgbClr val="FF5178"/>
            </a:solidFill>
            <a:prstDash val="solid"/>
          </a:ln>
        </p:spPr>
      </p:sp>
      <p:sp>
        <p:nvSpPr>
          <p:cNvPr id="27" name="Text 25"/>
          <p:cNvSpPr txBox="1"/>
          <p:nvPr/>
        </p:nvSpPr>
        <p:spPr>
          <a:xfrm>
            <a:off x="10607040" y="4892040"/>
            <a:ext cx="548640" cy="548640"/>
          </a:xfrm>
          <a:prstGeom prst="rect">
            <a:avLst/>
          </a:prstGeom>
          <a:noFill/>
          <a:ln/>
        </p:spPr>
        <p:txBody>
          <a:bodyPr wrap="square" lIns="0" tIns="0" rIns="0" bIns="0" rtlCol="0" anchor="ctr"/>
          <a:lstStyle/>
          <a:p>
            <a:pPr algn="ctr" indent="0" marL="0">
              <a:buNone/>
            </a:pPr>
            <a:endParaRPr lang="en-US" sz="2040" dirty="0"/>
          </a:p>
        </p:txBody>
      </p:sp>
      <p:sp>
        <p:nvSpPr>
          <p:cNvPr id="28" name="Text 26"/>
          <p:cNvSpPr txBox="1"/>
          <p:nvPr/>
        </p:nvSpPr>
        <p:spPr>
          <a:xfrm>
            <a:off x="7223760" y="5532120"/>
            <a:ext cx="1097280" cy="32004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Agency</a:t>
            </a:r>
            <a:endParaRPr lang="en-US" sz="1300" dirty="0"/>
          </a:p>
        </p:txBody>
      </p:sp>
      <p:sp>
        <p:nvSpPr>
          <p:cNvPr id="29" name="Text 27"/>
          <p:cNvSpPr txBox="1"/>
          <p:nvPr/>
        </p:nvSpPr>
        <p:spPr>
          <a:xfrm>
            <a:off x="10195560" y="5532120"/>
            <a:ext cx="1371600" cy="32004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Key Account</a:t>
            </a:r>
            <a:endParaRPr lang="en-US" sz="1300" dirty="0"/>
          </a:p>
        </p:txBody>
      </p:sp>
      <p:sp>
        <p:nvSpPr>
          <p:cNvPr id="30" name="Shape 28"/>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31" name="Text 29"/>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8 / 15</a:t>
            </a:r>
            <a:endParaRPr lang="en-US" sz="1400" dirty="0"/>
          </a:p>
        </p:txBody>
      </p:sp>
      <p:sp>
        <p:nvSpPr>
          <p:cNvPr id="32" name="Text 30"/>
          <p:cNvSpPr txBox="1"/>
          <p:nvPr/>
        </p:nvSpPr>
        <p:spPr>
          <a:xfrm>
            <a:off x="548640" y="1600200"/>
            <a:ext cx="621792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33" name="Text 31"/>
          <p:cNvSpPr txBox="1"/>
          <p:nvPr/>
        </p:nvSpPr>
        <p:spPr>
          <a:xfrm>
            <a:off x="548640" y="3429000"/>
            <a:ext cx="6217920" cy="1097280"/>
          </a:xfrm>
          <a:prstGeom prst="rect">
            <a:avLst/>
          </a:prstGeom>
          <a:noFill/>
          <a:ln/>
        </p:spPr>
        <p:txBody>
          <a:bodyPr wrap="square" lIns="0" tIns="0" rIns="0" bIns="0" rtlCol="0" anchor="t"/>
          <a:lstStyle/>
          <a:p>
            <a:pPr indent="0" marL="0">
              <a:buNone/>
            </a:pPr>
            <a:r>
              <a:rPr lang="en-US" sz="2000" i="1" dirty="0">
                <a:solidFill>
                  <a:srgbClr val="962B7C"/>
                </a:solidFill>
                <a:latin typeface="Alexandria" pitchFamily="34" charset="0"/>
                <a:ea typeface="Alexandria" pitchFamily="34" charset="-122"/>
                <a:cs typeface="Alexandria" pitchFamily="34" charset="-120"/>
              </a:rPr>
              <a:t>Governing the Key Account Relationship &amp; Multi-dimensional Performance Measurement</a:t>
            </a:r>
            <a:endParaRPr lang="en-US" sz="2000" dirty="0"/>
          </a:p>
        </p:txBody>
      </p:sp>
      <p:sp>
        <p:nvSpPr>
          <p:cNvPr id="34" name="Text 32"/>
          <p:cNvSpPr txBox="1"/>
          <p:nvPr/>
        </p:nvSpPr>
        <p:spPr>
          <a:xfrm>
            <a:off x="548640" y="4754880"/>
            <a:ext cx="6217920" cy="118872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Stakeholders Management for Events</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[Tên giảng viên]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Đầu mối duy nhất nghỉ việc — Nova còn gọi được cho ai?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(tiếp nối Buổi 1 và Buổi 7) — tên người và con số chỉ dùng cho học tập.</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a:t>
            </a:r>
            <a:endParaRPr lang="en-US" sz="1000" dirty="0"/>
          </a:p>
        </p:txBody>
      </p:sp>
      <p:sp>
        <p:nvSpPr>
          <p:cNvPr id="20" name="Shape 17"/>
          <p:cNvSpPr/>
          <p:nvPr/>
        </p:nvSpPr>
        <p:spPr>
          <a:xfrm>
            <a:off x="548640" y="1920240"/>
            <a:ext cx="4846320" cy="4114800"/>
          </a:xfrm>
          <a:prstGeom prst="roundRect">
            <a:avLst>
              <a:gd name="adj" fmla="val 2667"/>
            </a:avLst>
          </a:prstGeom>
          <a:solidFill>
            <a:srgbClr val="FFFFFF"/>
          </a:solidFill>
          <a:ln w="12700">
            <a:solidFill>
              <a:srgbClr val="DCD7C8"/>
            </a:solidFill>
            <a:prstDash val="solid"/>
          </a:ln>
        </p:spPr>
      </p:sp>
      <p:sp>
        <p:nvSpPr>
          <p:cNvPr id="21" name="Text 18"/>
          <p:cNvSpPr txBox="1"/>
          <p:nvPr/>
        </p:nvSpPr>
        <p:spPr>
          <a:xfrm>
            <a:off x="868680" y="2103120"/>
            <a:ext cx="4206240" cy="36576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Chị Hạnh · GĐ Marketing, An Phát</a:t>
            </a:r>
            <a:endParaRPr lang="en-US" sz="1300" dirty="0"/>
          </a:p>
        </p:txBody>
      </p:sp>
      <p:sp>
        <p:nvSpPr>
          <p:cNvPr id="22" name="Shape 19"/>
          <p:cNvSpPr/>
          <p:nvPr/>
        </p:nvSpPr>
        <p:spPr>
          <a:xfrm>
            <a:off x="868680" y="2606040"/>
            <a:ext cx="4206240" cy="1600200"/>
          </a:xfrm>
          <a:prstGeom prst="roundRect">
            <a:avLst>
              <a:gd name="adj" fmla="val 14286"/>
            </a:avLst>
          </a:prstGeom>
          <a:solidFill>
            <a:srgbClr val="FFE4EA"/>
          </a:solidFill>
          <a:ln w="12700">
            <a:solidFill>
              <a:srgbClr val="FF5178"/>
            </a:solidFill>
            <a:prstDash val="solid"/>
          </a:ln>
        </p:spPr>
      </p:sp>
      <p:sp>
        <p:nvSpPr>
          <p:cNvPr id="23" name="Text 20"/>
          <p:cNvSpPr txBox="1"/>
          <p:nvPr/>
        </p:nvSpPr>
        <p:spPr>
          <a:xfrm>
            <a:off x="1097280" y="2606040"/>
            <a:ext cx="3749040" cy="1600200"/>
          </a:xfrm>
          <a:prstGeom prst="rect">
            <a:avLst/>
          </a:prstGeom>
          <a:noFill/>
          <a:ln/>
        </p:spPr>
        <p:txBody>
          <a:bodyPr wrap="square" lIns="0" tIns="0" rIns="0" bIns="0" rtlCol="0" anchor="ctr"/>
          <a:lstStyle/>
          <a:p>
            <a:pPr indent="0" marL="0">
              <a:buNone/>
            </a:pPr>
            <a:r>
              <a:rPr lang="en-US" sz="1800" i="1" dirty="0">
                <a:solidFill>
                  <a:srgbClr val="2A2238"/>
                </a:solidFill>
                <a:latin typeface="Alexandria" pitchFamily="34" charset="0"/>
                <a:ea typeface="Alexandria" pitchFamily="34" charset="-122"/>
                <a:cs typeface="Alexandria" pitchFamily="34" charset="-120"/>
              </a:rPr>
              <a:t>“Chị chuyển sang ngân hàng khác từ 1/2 nhé. Giám đốc mới là anh Minh.”</a:t>
            </a:r>
            <a:endParaRPr lang="en-US" sz="1800" dirty="0"/>
          </a:p>
        </p:txBody>
      </p:sp>
      <p:sp>
        <p:nvSpPr>
          <p:cNvPr id="24" name="Text 21"/>
          <p:cNvSpPr txBox="1"/>
          <p:nvPr/>
        </p:nvSpPr>
        <p:spPr>
          <a:xfrm>
            <a:off x="868680" y="4389120"/>
            <a:ext cx="42062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A2238"/>
                </a:solidFill>
                <a:latin typeface="Alexandria" pitchFamily="34" charset="0"/>
                <a:ea typeface="Alexandria" pitchFamily="34" charset="-122"/>
                <a:cs typeface="Alexandria" pitchFamily="34" charset="-120"/>
              </a:rPr>
              <a:t>3 năm làm việc — mọi việc đều qua chị Hạnh</a:t>
            </a:r>
            <a:endParaRPr lang="en-US" sz="1400" dirty="0"/>
          </a:p>
          <a:p>
            <a:pPr marL="342900" indent="-342900">
              <a:spcAft>
                <a:spcPts val="600"/>
              </a:spcAft>
              <a:buSzPct val="100000"/>
              <a:buChar char="•"/>
            </a:pPr>
            <a:r>
              <a:rPr lang="en-US" sz="1400" dirty="0">
                <a:solidFill>
                  <a:srgbClr val="2A2238"/>
                </a:solidFill>
                <a:latin typeface="Alexandria" pitchFamily="34" charset="0"/>
                <a:ea typeface="Alexandria" pitchFamily="34" charset="-122"/>
                <a:cs typeface="Alexandria" pitchFamily="34" charset="-120"/>
              </a:rPr>
              <a:t>Gala 12/12 vừa thành công</a:t>
            </a:r>
            <a:endParaRPr lang="en-US" sz="1400" dirty="0"/>
          </a:p>
          <a:p>
            <a:pPr marL="342900" indent="-342900">
              <a:spcAft>
                <a:spcPts val="600"/>
              </a:spcAft>
              <a:buSzPct val="100000"/>
              <a:buChar char="•"/>
            </a:pPr>
            <a:r>
              <a:rPr lang="en-US" sz="1400" dirty="0">
                <a:solidFill>
                  <a:srgbClr val="2A2238"/>
                </a:solidFill>
                <a:latin typeface="Alexandria" pitchFamily="34" charset="0"/>
                <a:ea typeface="Alexandria" pitchFamily="34" charset="-122"/>
                <a:cs typeface="Alexandria" pitchFamily="34" charset="-120"/>
              </a:rPr>
              <a:t>Nova chưa từng gặp anh Minh</a:t>
            </a:r>
            <a:endParaRPr lang="en-US" sz="1400" dirty="0"/>
          </a:p>
        </p:txBody>
      </p:sp>
      <p:sp>
        <p:nvSpPr>
          <p:cNvPr id="25" name="Shape 22"/>
          <p:cNvSpPr/>
          <p:nvPr/>
        </p:nvSpPr>
        <p:spPr>
          <a:xfrm>
            <a:off x="5760720" y="1965960"/>
            <a:ext cx="548640" cy="548640"/>
          </a:xfrm>
          <a:prstGeom prst="ellipse">
            <a:avLst/>
          </a:prstGeom>
          <a:solidFill>
            <a:srgbClr val="FF9259"/>
          </a:solidFill>
          <a:ln w="12700">
            <a:solidFill>
              <a:srgbClr val="FF9259"/>
            </a:solidFill>
            <a:prstDash val="solid"/>
          </a:ln>
        </p:spPr>
      </p:sp>
      <p:sp>
        <p:nvSpPr>
          <p:cNvPr id="26" name="Text 23"/>
          <p:cNvSpPr txBox="1"/>
          <p:nvPr/>
        </p:nvSpPr>
        <p:spPr>
          <a:xfrm>
            <a:off x="5760720" y="1965960"/>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1</a:t>
            </a:r>
            <a:endParaRPr lang="en-US" sz="2040" dirty="0"/>
          </a:p>
        </p:txBody>
      </p:sp>
      <p:sp>
        <p:nvSpPr>
          <p:cNvPr id="27" name="Text 24"/>
          <p:cNvSpPr txBox="1"/>
          <p:nvPr/>
        </p:nvSpPr>
        <p:spPr>
          <a:xfrm>
            <a:off x="6492240" y="1920240"/>
            <a:ext cx="5150815" cy="6858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Ngoài chị Hạnh, Nova quen bao nhiêu người ở An Phát?</a:t>
            </a:r>
            <a:endParaRPr lang="en-US" sz="1800" dirty="0"/>
          </a:p>
        </p:txBody>
      </p:sp>
      <p:sp>
        <p:nvSpPr>
          <p:cNvPr id="28" name="Shape 25"/>
          <p:cNvSpPr/>
          <p:nvPr/>
        </p:nvSpPr>
        <p:spPr>
          <a:xfrm>
            <a:off x="6492240" y="2743200"/>
            <a:ext cx="1417320" cy="502920"/>
          </a:xfrm>
          <a:prstGeom prst="roundRect">
            <a:avLst>
              <a:gd name="adj" fmla="val 50000"/>
            </a:avLst>
          </a:prstGeom>
          <a:solidFill>
            <a:srgbClr val="FFE9DE"/>
          </a:solidFill>
          <a:ln w="12700">
            <a:solidFill>
              <a:srgbClr val="FF9259"/>
            </a:solidFill>
            <a:prstDash val="solid"/>
          </a:ln>
        </p:spPr>
      </p:sp>
      <p:sp>
        <p:nvSpPr>
          <p:cNvPr id="29" name="Text 26"/>
          <p:cNvSpPr txBox="1"/>
          <p:nvPr/>
        </p:nvSpPr>
        <p:spPr>
          <a:xfrm>
            <a:off x="6565392" y="2743200"/>
            <a:ext cx="1271016" cy="50292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0</a:t>
            </a:r>
            <a:endParaRPr lang="en-US" sz="1500" dirty="0"/>
          </a:p>
        </p:txBody>
      </p:sp>
      <p:sp>
        <p:nvSpPr>
          <p:cNvPr id="30" name="Shape 27"/>
          <p:cNvSpPr/>
          <p:nvPr/>
        </p:nvSpPr>
        <p:spPr>
          <a:xfrm>
            <a:off x="8092440" y="2743200"/>
            <a:ext cx="1417320" cy="502920"/>
          </a:xfrm>
          <a:prstGeom prst="roundRect">
            <a:avLst>
              <a:gd name="adj" fmla="val 50000"/>
            </a:avLst>
          </a:prstGeom>
          <a:solidFill>
            <a:srgbClr val="FFE9DE"/>
          </a:solidFill>
          <a:ln w="12700">
            <a:solidFill>
              <a:srgbClr val="FF9259"/>
            </a:solidFill>
            <a:prstDash val="solid"/>
          </a:ln>
        </p:spPr>
      </p:sp>
      <p:sp>
        <p:nvSpPr>
          <p:cNvPr id="31" name="Text 28"/>
          <p:cNvSpPr txBox="1"/>
          <p:nvPr/>
        </p:nvSpPr>
        <p:spPr>
          <a:xfrm>
            <a:off x="8165592" y="2743200"/>
            <a:ext cx="1271016" cy="50292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1–2</a:t>
            </a:r>
            <a:endParaRPr lang="en-US" sz="1500" dirty="0"/>
          </a:p>
        </p:txBody>
      </p:sp>
      <p:sp>
        <p:nvSpPr>
          <p:cNvPr id="32" name="Shape 29"/>
          <p:cNvSpPr/>
          <p:nvPr/>
        </p:nvSpPr>
        <p:spPr>
          <a:xfrm>
            <a:off x="9692640" y="2743200"/>
            <a:ext cx="1417320" cy="502920"/>
          </a:xfrm>
          <a:prstGeom prst="roundRect">
            <a:avLst>
              <a:gd name="adj" fmla="val 50000"/>
            </a:avLst>
          </a:prstGeom>
          <a:solidFill>
            <a:srgbClr val="FFE9DE"/>
          </a:solidFill>
          <a:ln w="12700">
            <a:solidFill>
              <a:srgbClr val="FF9259"/>
            </a:solidFill>
            <a:prstDash val="solid"/>
          </a:ln>
        </p:spPr>
      </p:sp>
      <p:sp>
        <p:nvSpPr>
          <p:cNvPr id="33" name="Text 30"/>
          <p:cNvSpPr txBox="1"/>
          <p:nvPr/>
        </p:nvSpPr>
        <p:spPr>
          <a:xfrm>
            <a:off x="9765792" y="2743200"/>
            <a:ext cx="1271016" cy="50292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3 trở lên</a:t>
            </a:r>
            <a:endParaRPr lang="en-US" sz="1500" dirty="0"/>
          </a:p>
        </p:txBody>
      </p:sp>
      <p:sp>
        <p:nvSpPr>
          <p:cNvPr id="34" name="Shape 31"/>
          <p:cNvSpPr/>
          <p:nvPr/>
        </p:nvSpPr>
        <p:spPr>
          <a:xfrm>
            <a:off x="5760720" y="3840480"/>
            <a:ext cx="548640" cy="548640"/>
          </a:xfrm>
          <a:prstGeom prst="ellipse">
            <a:avLst/>
          </a:prstGeom>
          <a:solidFill>
            <a:srgbClr val="962B7C"/>
          </a:solidFill>
          <a:ln w="12700">
            <a:solidFill>
              <a:srgbClr val="962B7C"/>
            </a:solidFill>
            <a:prstDash val="solid"/>
          </a:ln>
        </p:spPr>
      </p:sp>
      <p:sp>
        <p:nvSpPr>
          <p:cNvPr id="35" name="Text 32"/>
          <p:cNvSpPr txBox="1"/>
          <p:nvPr/>
        </p:nvSpPr>
        <p:spPr>
          <a:xfrm>
            <a:off x="5760720" y="384048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36" name="Text 33"/>
          <p:cNvSpPr txBox="1"/>
          <p:nvPr/>
        </p:nvSpPr>
        <p:spPr>
          <a:xfrm>
            <a:off x="6492240" y="3749040"/>
            <a:ext cx="5150815" cy="11887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Dự án cũ của nhóm bạn: nếu người liên hệ phía khách hàng nghỉ việc ngày mai, nhóm còn gọi được cho ai?</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Buổi 8 trả lời ba câu hỏi: tổ chức, đo lường, cùng kiểm tra</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3</a:t>
            </a:r>
            <a:endParaRPr lang="en-US" sz="1000" dirty="0"/>
          </a:p>
        </p:txBody>
      </p:sp>
      <p:sp>
        <p:nvSpPr>
          <p:cNvPr id="19" name="Shape 16"/>
          <p:cNvSpPr/>
          <p:nvPr/>
        </p:nvSpPr>
        <p:spPr>
          <a:xfrm>
            <a:off x="548640" y="2011680"/>
            <a:ext cx="3515258" cy="3840480"/>
          </a:xfrm>
          <a:prstGeom prst="roundRect">
            <a:avLst>
              <a:gd name="adj" fmla="val 3121"/>
            </a:avLst>
          </a:prstGeom>
          <a:solidFill>
            <a:srgbClr val="F1E1EE"/>
          </a:solidFill>
          <a:ln w="12700">
            <a:solidFill>
              <a:srgbClr val="962B7C"/>
            </a:solidFill>
            <a:prstDash val="solid"/>
          </a:ln>
        </p:spPr>
      </p:sp>
      <p:sp>
        <p:nvSpPr>
          <p:cNvPr id="20" name="Shape 17"/>
          <p:cNvSpPr/>
          <p:nvPr/>
        </p:nvSpPr>
        <p:spPr>
          <a:xfrm>
            <a:off x="868680" y="2331720"/>
            <a:ext cx="1005840" cy="1005840"/>
          </a:xfrm>
          <a:prstGeom prst="ellipse">
            <a:avLst/>
          </a:prstGeom>
          <a:solidFill>
            <a:srgbClr val="962B7C"/>
          </a:solidFill>
          <a:ln w="12700">
            <a:solidFill>
              <a:srgbClr val="962B7C"/>
            </a:solidFill>
            <a:prstDash val="solid"/>
          </a:ln>
        </p:spPr>
      </p:sp>
      <p:sp>
        <p:nvSpPr>
          <p:cNvPr id="21" name="Text 18"/>
          <p:cNvSpPr txBox="1"/>
          <p:nvPr/>
        </p:nvSpPr>
        <p:spPr>
          <a:xfrm>
            <a:off x="868680" y="2331720"/>
            <a:ext cx="1005840"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8.1</a:t>
            </a:r>
            <a:endParaRPr lang="en-US" sz="2400" dirty="0"/>
          </a:p>
        </p:txBody>
      </p:sp>
      <p:sp>
        <p:nvSpPr>
          <p:cNvPr id="22" name="Text 19"/>
          <p:cNvSpPr txBox="1"/>
          <p:nvPr/>
        </p:nvSpPr>
        <p:spPr>
          <a:xfrm>
            <a:off x="868680" y="3566160"/>
            <a:ext cx="2875178" cy="548640"/>
          </a:xfrm>
          <a:prstGeom prst="rect">
            <a:avLst/>
          </a:prstGeom>
          <a:noFill/>
          <a:ln/>
        </p:spPr>
        <p:txBody>
          <a:bodyPr wrap="square" lIns="0" tIns="0" rIns="0" bIns="0" rtlCol="0" anchor="ctr"/>
          <a:lstStyle/>
          <a:p>
            <a:pPr indent="0" marL="0">
              <a:buNone/>
            </a:pPr>
            <a:r>
              <a:rPr lang="en-US" sz="2400" b="1" dirty="0">
                <a:solidFill>
                  <a:srgbClr val="2A2238"/>
                </a:solidFill>
                <a:latin typeface="Alexandria" pitchFamily="34" charset="0"/>
                <a:ea typeface="Alexandria" pitchFamily="34" charset="-122"/>
                <a:cs typeface="Alexandria" pitchFamily="34" charset="-120"/>
              </a:rPr>
              <a:t>Tổ chức</a:t>
            </a:r>
            <a:endParaRPr lang="en-US" sz="2400" dirty="0"/>
          </a:p>
        </p:txBody>
      </p:sp>
      <p:sp>
        <p:nvSpPr>
          <p:cNvPr id="23" name="Text 20"/>
          <p:cNvSpPr txBox="1"/>
          <p:nvPr/>
        </p:nvSpPr>
        <p:spPr>
          <a:xfrm>
            <a:off x="868680" y="4206240"/>
            <a:ext cx="2875178" cy="146304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Ai của agency gặp ai của Key Account? Từ Bow-tie đến Diamond</a:t>
            </a:r>
            <a:endParaRPr lang="en-US" sz="1600" dirty="0"/>
          </a:p>
        </p:txBody>
      </p:sp>
      <p:sp>
        <p:nvSpPr>
          <p:cNvPr id="24" name="Shape 21"/>
          <p:cNvSpPr/>
          <p:nvPr/>
        </p:nvSpPr>
        <p:spPr>
          <a:xfrm>
            <a:off x="4338218" y="2011680"/>
            <a:ext cx="3515258" cy="3840480"/>
          </a:xfrm>
          <a:prstGeom prst="roundRect">
            <a:avLst>
              <a:gd name="adj" fmla="val 3121"/>
            </a:avLst>
          </a:prstGeom>
          <a:solidFill>
            <a:srgbClr val="DDF1FB"/>
          </a:solidFill>
          <a:ln w="12700">
            <a:solidFill>
              <a:srgbClr val="09A1E5"/>
            </a:solidFill>
            <a:prstDash val="solid"/>
          </a:ln>
        </p:spPr>
      </p:sp>
      <p:sp>
        <p:nvSpPr>
          <p:cNvPr id="25" name="Shape 22"/>
          <p:cNvSpPr/>
          <p:nvPr/>
        </p:nvSpPr>
        <p:spPr>
          <a:xfrm>
            <a:off x="4658258" y="2331720"/>
            <a:ext cx="1005840" cy="1005840"/>
          </a:xfrm>
          <a:prstGeom prst="ellipse">
            <a:avLst/>
          </a:prstGeom>
          <a:solidFill>
            <a:srgbClr val="09A1E5"/>
          </a:solidFill>
          <a:ln w="12700">
            <a:solidFill>
              <a:srgbClr val="09A1E5"/>
            </a:solidFill>
            <a:prstDash val="solid"/>
          </a:ln>
        </p:spPr>
      </p:sp>
      <p:sp>
        <p:nvSpPr>
          <p:cNvPr id="26" name="Text 23"/>
          <p:cNvSpPr txBox="1"/>
          <p:nvPr/>
        </p:nvSpPr>
        <p:spPr>
          <a:xfrm>
            <a:off x="4658258" y="2331720"/>
            <a:ext cx="1005840"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8.2</a:t>
            </a:r>
            <a:endParaRPr lang="en-US" sz="2400" dirty="0"/>
          </a:p>
        </p:txBody>
      </p:sp>
      <p:sp>
        <p:nvSpPr>
          <p:cNvPr id="27" name="Text 24"/>
          <p:cNvSpPr txBox="1"/>
          <p:nvPr/>
        </p:nvSpPr>
        <p:spPr>
          <a:xfrm>
            <a:off x="4658258" y="3566160"/>
            <a:ext cx="2875178" cy="548640"/>
          </a:xfrm>
          <a:prstGeom prst="rect">
            <a:avLst/>
          </a:prstGeom>
          <a:noFill/>
          <a:ln/>
        </p:spPr>
        <p:txBody>
          <a:bodyPr wrap="square" lIns="0" tIns="0" rIns="0" bIns="0" rtlCol="0" anchor="ctr"/>
          <a:lstStyle/>
          <a:p>
            <a:pPr indent="0" marL="0">
              <a:buNone/>
            </a:pPr>
            <a:r>
              <a:rPr lang="en-US" sz="2400" b="1" dirty="0">
                <a:solidFill>
                  <a:srgbClr val="2A2238"/>
                </a:solidFill>
                <a:latin typeface="Alexandria" pitchFamily="34" charset="0"/>
                <a:ea typeface="Alexandria" pitchFamily="34" charset="-122"/>
                <a:cs typeface="Alexandria" pitchFamily="34" charset="-120"/>
              </a:rPr>
              <a:t>Đo lường</a:t>
            </a:r>
            <a:endParaRPr lang="en-US" sz="2400" dirty="0"/>
          </a:p>
        </p:txBody>
      </p:sp>
      <p:sp>
        <p:nvSpPr>
          <p:cNvPr id="28" name="Text 25"/>
          <p:cNvSpPr txBox="1"/>
          <p:nvPr/>
        </p:nvSpPr>
        <p:spPr>
          <a:xfrm>
            <a:off x="4658258" y="4206240"/>
            <a:ext cx="2875178" cy="146304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Chỉ số quá trình báo trước, chỉ số kết quả xác nhận; khung ROI cho từng sự kiện</a:t>
            </a:r>
            <a:endParaRPr lang="en-US" sz="1600" dirty="0"/>
          </a:p>
        </p:txBody>
      </p:sp>
      <p:sp>
        <p:nvSpPr>
          <p:cNvPr id="29" name="Shape 26"/>
          <p:cNvSpPr/>
          <p:nvPr/>
        </p:nvSpPr>
        <p:spPr>
          <a:xfrm>
            <a:off x="8127797" y="2011680"/>
            <a:ext cx="3515258" cy="3840480"/>
          </a:xfrm>
          <a:prstGeom prst="roundRect">
            <a:avLst>
              <a:gd name="adj" fmla="val 3121"/>
            </a:avLst>
          </a:prstGeom>
          <a:solidFill>
            <a:srgbClr val="FFE4EA"/>
          </a:solidFill>
          <a:ln w="12700">
            <a:solidFill>
              <a:srgbClr val="FF5178"/>
            </a:solidFill>
            <a:prstDash val="solid"/>
          </a:ln>
        </p:spPr>
      </p:sp>
      <p:sp>
        <p:nvSpPr>
          <p:cNvPr id="30" name="Shape 27"/>
          <p:cNvSpPr/>
          <p:nvPr/>
        </p:nvSpPr>
        <p:spPr>
          <a:xfrm>
            <a:off x="8447837" y="2331720"/>
            <a:ext cx="1005840" cy="1005840"/>
          </a:xfrm>
          <a:prstGeom prst="ellipse">
            <a:avLst/>
          </a:prstGeom>
          <a:solidFill>
            <a:srgbClr val="FF5178"/>
          </a:solidFill>
          <a:ln w="12700">
            <a:solidFill>
              <a:srgbClr val="FF5178"/>
            </a:solidFill>
            <a:prstDash val="solid"/>
          </a:ln>
        </p:spPr>
      </p:sp>
      <p:sp>
        <p:nvSpPr>
          <p:cNvPr id="31" name="Text 28"/>
          <p:cNvSpPr txBox="1"/>
          <p:nvPr/>
        </p:nvSpPr>
        <p:spPr>
          <a:xfrm>
            <a:off x="8447837" y="2331720"/>
            <a:ext cx="1005840"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8.3</a:t>
            </a:r>
            <a:endParaRPr lang="en-US" sz="2400" dirty="0"/>
          </a:p>
        </p:txBody>
      </p:sp>
      <p:sp>
        <p:nvSpPr>
          <p:cNvPr id="32" name="Text 29"/>
          <p:cNvSpPr txBox="1"/>
          <p:nvPr/>
        </p:nvSpPr>
        <p:spPr>
          <a:xfrm>
            <a:off x="8447837" y="3566160"/>
            <a:ext cx="2875178" cy="548640"/>
          </a:xfrm>
          <a:prstGeom prst="rect">
            <a:avLst/>
          </a:prstGeom>
          <a:noFill/>
          <a:ln/>
        </p:spPr>
        <p:txBody>
          <a:bodyPr wrap="square" lIns="0" tIns="0" rIns="0" bIns="0" rtlCol="0" anchor="ctr"/>
          <a:lstStyle/>
          <a:p>
            <a:pPr indent="0" marL="0">
              <a:buNone/>
            </a:pPr>
            <a:r>
              <a:rPr lang="en-US" sz="2400" b="1" dirty="0">
                <a:solidFill>
                  <a:srgbClr val="2A2238"/>
                </a:solidFill>
                <a:latin typeface="Alexandria" pitchFamily="34" charset="0"/>
                <a:ea typeface="Alexandria" pitchFamily="34" charset="-122"/>
                <a:cs typeface="Alexandria" pitchFamily="34" charset="-120"/>
              </a:rPr>
              <a:t>Cùng kiểm tra</a:t>
            </a:r>
            <a:endParaRPr lang="en-US" sz="2400" dirty="0"/>
          </a:p>
        </p:txBody>
      </p:sp>
      <p:sp>
        <p:nvSpPr>
          <p:cNvPr id="33" name="Text 30"/>
          <p:cNvSpPr txBox="1"/>
          <p:nvPr/>
        </p:nvSpPr>
        <p:spPr>
          <a:xfrm>
            <a:off x="8447837" y="4206240"/>
            <a:ext cx="2875178" cy="146304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Đánh giá chung hai chiều và dấu hiệu cảnh báo sớm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Bow-tie: mọi thông tin đi qua một điểm</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T01: McDonald, Millman &amp; Rogers (1997) · T03: pharmaphorum · T05: Kim Tasso.</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4</a:t>
            </a:r>
            <a:endParaRPr lang="en-US" sz="1000" dirty="0"/>
          </a:p>
        </p:txBody>
      </p:sp>
      <p:sp>
        <p:nvSpPr>
          <p:cNvPr id="20" name="Shape 17"/>
          <p:cNvSpPr/>
          <p:nvPr/>
        </p:nvSpPr>
        <p:spPr>
          <a:xfrm rot="5400000">
            <a:off x="1234440" y="2240280"/>
            <a:ext cx="3108960" cy="3108960"/>
          </a:xfrm>
          <a:prstGeom prst="triangle">
            <a:avLst/>
          </a:prstGeom>
          <a:solidFill>
            <a:srgbClr val="F1E1EE"/>
          </a:solidFill>
          <a:ln w="12700">
            <a:solidFill>
              <a:srgbClr val="962B7C"/>
            </a:solidFill>
            <a:prstDash val="solid"/>
          </a:ln>
        </p:spPr>
      </p:sp>
      <p:sp>
        <p:nvSpPr>
          <p:cNvPr id="21" name="Shape 18"/>
          <p:cNvSpPr/>
          <p:nvPr/>
        </p:nvSpPr>
        <p:spPr>
          <a:xfrm rot="16200000">
            <a:off x="6309360" y="2240280"/>
            <a:ext cx="3108960" cy="3108960"/>
          </a:xfrm>
          <a:prstGeom prst="triangle">
            <a:avLst/>
          </a:prstGeom>
          <a:solidFill>
            <a:srgbClr val="DDF1FB"/>
          </a:solidFill>
          <a:ln w="12700">
            <a:solidFill>
              <a:srgbClr val="09A1E5"/>
            </a:solidFill>
            <a:prstDash val="solid"/>
          </a:ln>
        </p:spPr>
      </p:sp>
      <p:sp>
        <p:nvSpPr>
          <p:cNvPr id="22" name="Shape 19"/>
          <p:cNvSpPr/>
          <p:nvPr/>
        </p:nvSpPr>
        <p:spPr>
          <a:xfrm>
            <a:off x="731520" y="2377440"/>
            <a:ext cx="1600200" cy="502920"/>
          </a:xfrm>
          <a:prstGeom prst="roundRect">
            <a:avLst>
              <a:gd name="adj" fmla="val 50000"/>
            </a:avLst>
          </a:prstGeom>
          <a:solidFill>
            <a:srgbClr val="FFFFFF"/>
          </a:solidFill>
          <a:ln w="12700">
            <a:solidFill>
              <a:srgbClr val="962B7C"/>
            </a:solidFill>
            <a:prstDash val="solid"/>
          </a:ln>
        </p:spPr>
      </p:sp>
      <p:sp>
        <p:nvSpPr>
          <p:cNvPr id="23" name="Text 20"/>
          <p:cNvSpPr txBox="1"/>
          <p:nvPr/>
        </p:nvSpPr>
        <p:spPr>
          <a:xfrm>
            <a:off x="804672" y="2377440"/>
            <a:ext cx="145389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CEO</a:t>
            </a:r>
            <a:endParaRPr lang="en-US" sz="1300" dirty="0"/>
          </a:p>
        </p:txBody>
      </p:sp>
      <p:sp>
        <p:nvSpPr>
          <p:cNvPr id="24" name="Shape 21"/>
          <p:cNvSpPr/>
          <p:nvPr/>
        </p:nvSpPr>
        <p:spPr>
          <a:xfrm>
            <a:off x="2331720" y="2628900"/>
            <a:ext cx="1828800" cy="1165860"/>
          </a:xfrm>
          <a:prstGeom prst="line">
            <a:avLst/>
          </a:prstGeom>
          <a:noFill/>
          <a:ln w="19050">
            <a:solidFill>
              <a:srgbClr val="962B7C"/>
            </a:solidFill>
            <a:prstDash val="solid"/>
          </a:ln>
        </p:spPr>
      </p:sp>
      <p:sp>
        <p:nvSpPr>
          <p:cNvPr id="25" name="Shape 22"/>
          <p:cNvSpPr/>
          <p:nvPr/>
        </p:nvSpPr>
        <p:spPr>
          <a:xfrm>
            <a:off x="731520" y="3520440"/>
            <a:ext cx="1600200" cy="502920"/>
          </a:xfrm>
          <a:prstGeom prst="roundRect">
            <a:avLst>
              <a:gd name="adj" fmla="val 50000"/>
            </a:avLst>
          </a:prstGeom>
          <a:solidFill>
            <a:srgbClr val="FFFFFF"/>
          </a:solidFill>
          <a:ln w="12700">
            <a:solidFill>
              <a:srgbClr val="962B7C"/>
            </a:solidFill>
            <a:prstDash val="solid"/>
          </a:ln>
        </p:spPr>
      </p:sp>
      <p:sp>
        <p:nvSpPr>
          <p:cNvPr id="26" name="Text 23"/>
          <p:cNvSpPr txBox="1"/>
          <p:nvPr/>
        </p:nvSpPr>
        <p:spPr>
          <a:xfrm>
            <a:off x="804672" y="3520440"/>
            <a:ext cx="145389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Sản xuất</a:t>
            </a:r>
            <a:endParaRPr lang="en-US" sz="1300" dirty="0"/>
          </a:p>
        </p:txBody>
      </p:sp>
      <p:sp>
        <p:nvSpPr>
          <p:cNvPr id="27" name="Shape 24"/>
          <p:cNvSpPr/>
          <p:nvPr/>
        </p:nvSpPr>
        <p:spPr>
          <a:xfrm>
            <a:off x="2331720" y="3771900"/>
            <a:ext cx="1828800" cy="22860"/>
          </a:xfrm>
          <a:prstGeom prst="line">
            <a:avLst/>
          </a:prstGeom>
          <a:noFill/>
          <a:ln w="19050">
            <a:solidFill>
              <a:srgbClr val="962B7C"/>
            </a:solidFill>
            <a:prstDash val="solid"/>
          </a:ln>
        </p:spPr>
      </p:sp>
      <p:sp>
        <p:nvSpPr>
          <p:cNvPr id="28" name="Shape 25"/>
          <p:cNvSpPr/>
          <p:nvPr/>
        </p:nvSpPr>
        <p:spPr>
          <a:xfrm>
            <a:off x="731520" y="4663440"/>
            <a:ext cx="1600200" cy="502920"/>
          </a:xfrm>
          <a:prstGeom prst="roundRect">
            <a:avLst>
              <a:gd name="adj" fmla="val 50000"/>
            </a:avLst>
          </a:prstGeom>
          <a:solidFill>
            <a:srgbClr val="FFFFFF"/>
          </a:solidFill>
          <a:ln w="12700">
            <a:solidFill>
              <a:srgbClr val="962B7C"/>
            </a:solidFill>
            <a:prstDash val="solid"/>
          </a:ln>
        </p:spPr>
      </p:sp>
      <p:sp>
        <p:nvSpPr>
          <p:cNvPr id="29" name="Text 26"/>
          <p:cNvSpPr txBox="1"/>
          <p:nvPr/>
        </p:nvSpPr>
        <p:spPr>
          <a:xfrm>
            <a:off x="804672" y="4663440"/>
            <a:ext cx="145389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Tài chính</a:t>
            </a:r>
            <a:endParaRPr lang="en-US" sz="1300" dirty="0"/>
          </a:p>
        </p:txBody>
      </p:sp>
      <p:sp>
        <p:nvSpPr>
          <p:cNvPr id="30" name="Shape 27"/>
          <p:cNvSpPr/>
          <p:nvPr/>
        </p:nvSpPr>
        <p:spPr>
          <a:xfrm flipV="1">
            <a:off x="2331720" y="3794760"/>
            <a:ext cx="1828800" cy="1120140"/>
          </a:xfrm>
          <a:prstGeom prst="line">
            <a:avLst/>
          </a:prstGeom>
          <a:noFill/>
          <a:ln w="19050">
            <a:solidFill>
              <a:srgbClr val="962B7C"/>
            </a:solidFill>
            <a:prstDash val="solid"/>
          </a:ln>
        </p:spPr>
      </p:sp>
      <p:sp>
        <p:nvSpPr>
          <p:cNvPr id="31" name="Shape 28"/>
          <p:cNvSpPr/>
          <p:nvPr/>
        </p:nvSpPr>
        <p:spPr>
          <a:xfrm>
            <a:off x="8732520" y="2377440"/>
            <a:ext cx="1600200" cy="502920"/>
          </a:xfrm>
          <a:prstGeom prst="roundRect">
            <a:avLst>
              <a:gd name="adj" fmla="val 50000"/>
            </a:avLst>
          </a:prstGeom>
          <a:solidFill>
            <a:srgbClr val="FFFFFF"/>
          </a:solidFill>
          <a:ln w="12700">
            <a:solidFill>
              <a:srgbClr val="09A1E5"/>
            </a:solidFill>
            <a:prstDash val="solid"/>
          </a:ln>
        </p:spPr>
      </p:sp>
      <p:sp>
        <p:nvSpPr>
          <p:cNvPr id="32" name="Text 29"/>
          <p:cNvSpPr txBox="1"/>
          <p:nvPr/>
        </p:nvSpPr>
        <p:spPr>
          <a:xfrm>
            <a:off x="8805672" y="2377440"/>
            <a:ext cx="145389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Lãnh đạo</a:t>
            </a:r>
            <a:endParaRPr lang="en-US" sz="1300" dirty="0"/>
          </a:p>
        </p:txBody>
      </p:sp>
      <p:sp>
        <p:nvSpPr>
          <p:cNvPr id="33" name="Shape 30"/>
          <p:cNvSpPr/>
          <p:nvPr/>
        </p:nvSpPr>
        <p:spPr>
          <a:xfrm flipV="1">
            <a:off x="7635240" y="2628900"/>
            <a:ext cx="1097280" cy="1165860"/>
          </a:xfrm>
          <a:prstGeom prst="line">
            <a:avLst/>
          </a:prstGeom>
          <a:noFill/>
          <a:ln w="19050">
            <a:solidFill>
              <a:srgbClr val="09A1E5"/>
            </a:solidFill>
            <a:prstDash val="solid"/>
          </a:ln>
        </p:spPr>
      </p:sp>
      <p:sp>
        <p:nvSpPr>
          <p:cNvPr id="34" name="Shape 31"/>
          <p:cNvSpPr/>
          <p:nvPr/>
        </p:nvSpPr>
        <p:spPr>
          <a:xfrm>
            <a:off x="8732520" y="3520440"/>
            <a:ext cx="1600200" cy="502920"/>
          </a:xfrm>
          <a:prstGeom prst="roundRect">
            <a:avLst>
              <a:gd name="adj" fmla="val 50000"/>
            </a:avLst>
          </a:prstGeom>
          <a:solidFill>
            <a:srgbClr val="FFFFFF"/>
          </a:solidFill>
          <a:ln w="12700">
            <a:solidFill>
              <a:srgbClr val="09A1E5"/>
            </a:solidFill>
            <a:prstDash val="solid"/>
          </a:ln>
        </p:spPr>
      </p:sp>
      <p:sp>
        <p:nvSpPr>
          <p:cNvPr id="35" name="Text 32"/>
          <p:cNvSpPr txBox="1"/>
          <p:nvPr/>
        </p:nvSpPr>
        <p:spPr>
          <a:xfrm>
            <a:off x="8805672" y="3520440"/>
            <a:ext cx="145389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Truyền thông</a:t>
            </a:r>
            <a:endParaRPr lang="en-US" sz="1300" dirty="0"/>
          </a:p>
        </p:txBody>
      </p:sp>
      <p:sp>
        <p:nvSpPr>
          <p:cNvPr id="36" name="Shape 33"/>
          <p:cNvSpPr/>
          <p:nvPr/>
        </p:nvSpPr>
        <p:spPr>
          <a:xfrm flipV="1">
            <a:off x="7635240" y="3771900"/>
            <a:ext cx="1097280" cy="22860"/>
          </a:xfrm>
          <a:prstGeom prst="line">
            <a:avLst/>
          </a:prstGeom>
          <a:noFill/>
          <a:ln w="19050">
            <a:solidFill>
              <a:srgbClr val="09A1E5"/>
            </a:solidFill>
            <a:prstDash val="solid"/>
          </a:ln>
        </p:spPr>
      </p:sp>
      <p:sp>
        <p:nvSpPr>
          <p:cNvPr id="37" name="Shape 34"/>
          <p:cNvSpPr/>
          <p:nvPr/>
        </p:nvSpPr>
        <p:spPr>
          <a:xfrm>
            <a:off x="8732520" y="4663440"/>
            <a:ext cx="1600200" cy="502920"/>
          </a:xfrm>
          <a:prstGeom prst="roundRect">
            <a:avLst>
              <a:gd name="adj" fmla="val 50000"/>
            </a:avLst>
          </a:prstGeom>
          <a:solidFill>
            <a:srgbClr val="FFFFFF"/>
          </a:solidFill>
          <a:ln w="12700">
            <a:solidFill>
              <a:srgbClr val="09A1E5"/>
            </a:solidFill>
            <a:prstDash val="solid"/>
          </a:ln>
        </p:spPr>
      </p:sp>
      <p:sp>
        <p:nvSpPr>
          <p:cNvPr id="38" name="Text 35"/>
          <p:cNvSpPr txBox="1"/>
          <p:nvPr/>
        </p:nvSpPr>
        <p:spPr>
          <a:xfrm>
            <a:off x="8805672" y="4663440"/>
            <a:ext cx="145389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Tài chính</a:t>
            </a:r>
            <a:endParaRPr lang="en-US" sz="1300" dirty="0"/>
          </a:p>
        </p:txBody>
      </p:sp>
      <p:sp>
        <p:nvSpPr>
          <p:cNvPr id="39" name="Shape 36"/>
          <p:cNvSpPr/>
          <p:nvPr/>
        </p:nvSpPr>
        <p:spPr>
          <a:xfrm>
            <a:off x="7635240" y="3794760"/>
            <a:ext cx="1097280" cy="1120140"/>
          </a:xfrm>
          <a:prstGeom prst="line">
            <a:avLst/>
          </a:prstGeom>
          <a:noFill/>
          <a:ln w="19050">
            <a:solidFill>
              <a:srgbClr val="09A1E5"/>
            </a:solidFill>
            <a:prstDash val="solid"/>
          </a:ln>
        </p:spPr>
      </p:sp>
      <p:sp>
        <p:nvSpPr>
          <p:cNvPr id="40" name="Shape 37"/>
          <p:cNvSpPr/>
          <p:nvPr/>
        </p:nvSpPr>
        <p:spPr>
          <a:xfrm>
            <a:off x="3977640" y="3493008"/>
            <a:ext cx="1371600" cy="603504"/>
          </a:xfrm>
          <a:prstGeom prst="roundRect">
            <a:avLst>
              <a:gd name="adj" fmla="val 50000"/>
            </a:avLst>
          </a:prstGeom>
          <a:solidFill>
            <a:srgbClr val="962B7C"/>
          </a:solidFill>
          <a:ln w="12700">
            <a:solidFill>
              <a:srgbClr val="962B7C"/>
            </a:solidFill>
            <a:prstDash val="solid"/>
          </a:ln>
        </p:spPr>
      </p:sp>
      <p:sp>
        <p:nvSpPr>
          <p:cNvPr id="41" name="Text 38"/>
          <p:cNvSpPr txBox="1"/>
          <p:nvPr/>
        </p:nvSpPr>
        <p:spPr>
          <a:xfrm>
            <a:off x="4050792" y="3493008"/>
            <a:ext cx="1225296"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KAMer</a:t>
            </a:r>
            <a:endParaRPr lang="en-US" sz="1300" dirty="0"/>
          </a:p>
        </p:txBody>
      </p:sp>
      <p:sp>
        <p:nvSpPr>
          <p:cNvPr id="42" name="Shape 39"/>
          <p:cNvSpPr/>
          <p:nvPr/>
        </p:nvSpPr>
        <p:spPr>
          <a:xfrm>
            <a:off x="6355080" y="3493008"/>
            <a:ext cx="1371600" cy="603504"/>
          </a:xfrm>
          <a:prstGeom prst="roundRect">
            <a:avLst>
              <a:gd name="adj" fmla="val 50000"/>
            </a:avLst>
          </a:prstGeom>
          <a:solidFill>
            <a:srgbClr val="09A1E5"/>
          </a:solidFill>
          <a:ln w="12700">
            <a:solidFill>
              <a:srgbClr val="09A1E5"/>
            </a:solidFill>
            <a:prstDash val="solid"/>
          </a:ln>
        </p:spPr>
      </p:sp>
      <p:sp>
        <p:nvSpPr>
          <p:cNvPr id="43" name="Text 40"/>
          <p:cNvSpPr txBox="1"/>
          <p:nvPr/>
        </p:nvSpPr>
        <p:spPr>
          <a:xfrm>
            <a:off x="6428232" y="3493008"/>
            <a:ext cx="1225296"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Đầu mối</a:t>
            </a:r>
            <a:endParaRPr lang="en-US" sz="1300" dirty="0"/>
          </a:p>
        </p:txBody>
      </p:sp>
      <p:sp>
        <p:nvSpPr>
          <p:cNvPr id="44" name="Shape 41"/>
          <p:cNvSpPr/>
          <p:nvPr/>
        </p:nvSpPr>
        <p:spPr>
          <a:xfrm>
            <a:off x="5349240" y="3794760"/>
            <a:ext cx="1005840" cy="914"/>
          </a:xfrm>
          <a:prstGeom prst="line">
            <a:avLst/>
          </a:prstGeom>
          <a:noFill/>
          <a:ln w="63500">
            <a:solidFill>
              <a:srgbClr val="2A2238"/>
            </a:solidFill>
            <a:prstDash val="solid"/>
          </a:ln>
        </p:spPr>
      </p:sp>
      <p:sp>
        <p:nvSpPr>
          <p:cNvPr id="45" name="Text 42"/>
          <p:cNvSpPr txBox="1"/>
          <p:nvPr/>
        </p:nvSpPr>
        <p:spPr>
          <a:xfrm>
            <a:off x="731520" y="1874520"/>
            <a:ext cx="2286000" cy="365760"/>
          </a:xfrm>
          <a:prstGeom prst="rect">
            <a:avLst/>
          </a:prstGeom>
          <a:noFill/>
          <a:ln/>
        </p:spPr>
        <p:txBody>
          <a:bodyPr wrap="square" lIns="0" tIns="0" rIns="0" bIns="0" rtlCol="0" anchor="ctr"/>
          <a:lstStyle/>
          <a:p>
            <a:pPr indent="0" marL="0">
              <a:buNone/>
            </a:pPr>
            <a:r>
              <a:rPr lang="en-US" sz="1500" b="1" dirty="0">
                <a:solidFill>
                  <a:srgbClr val="962B7C"/>
                </a:solidFill>
                <a:latin typeface="Alexandria" pitchFamily="34" charset="0"/>
                <a:ea typeface="Alexandria" pitchFamily="34" charset="-122"/>
                <a:cs typeface="Alexandria" pitchFamily="34" charset="-120"/>
              </a:rPr>
              <a:t>Agency</a:t>
            </a:r>
            <a:endParaRPr lang="en-US" sz="1500" dirty="0"/>
          </a:p>
        </p:txBody>
      </p:sp>
      <p:sp>
        <p:nvSpPr>
          <p:cNvPr id="46" name="Text 43"/>
          <p:cNvSpPr txBox="1"/>
          <p:nvPr/>
        </p:nvSpPr>
        <p:spPr>
          <a:xfrm>
            <a:off x="8503920" y="1874520"/>
            <a:ext cx="2286000" cy="365760"/>
          </a:xfrm>
          <a:prstGeom prst="rect">
            <a:avLst/>
          </a:prstGeom>
          <a:noFill/>
          <a:ln/>
        </p:spPr>
        <p:txBody>
          <a:bodyPr wrap="square" lIns="0" tIns="0" rIns="0" bIns="0" rtlCol="0" anchor="ctr"/>
          <a:lstStyle/>
          <a:p>
            <a:pPr algn="r" indent="0" marL="0">
              <a:buNone/>
            </a:pPr>
            <a:r>
              <a:rPr lang="en-US" sz="1500" b="1" dirty="0">
                <a:solidFill>
                  <a:srgbClr val="0A7FB5"/>
                </a:solidFill>
                <a:latin typeface="Alexandria" pitchFamily="34" charset="0"/>
                <a:ea typeface="Alexandria" pitchFamily="34" charset="-122"/>
                <a:cs typeface="Alexandria" pitchFamily="34" charset="-120"/>
              </a:rPr>
              <a:t>Key Account</a:t>
            </a:r>
            <a:endParaRPr lang="en-US" sz="1500" dirty="0"/>
          </a:p>
        </p:txBody>
      </p:sp>
      <p:sp>
        <p:nvSpPr>
          <p:cNvPr id="47" name="Shape 44"/>
          <p:cNvSpPr/>
          <p:nvPr/>
        </p:nvSpPr>
        <p:spPr>
          <a:xfrm>
            <a:off x="4023360" y="5257800"/>
            <a:ext cx="3931920" cy="502920"/>
          </a:xfrm>
          <a:prstGeom prst="roundRect">
            <a:avLst>
              <a:gd name="adj" fmla="val 50000"/>
            </a:avLst>
          </a:prstGeom>
          <a:solidFill>
            <a:srgbClr val="FFD23B"/>
          </a:solidFill>
          <a:ln w="12700">
            <a:solidFill>
              <a:srgbClr val="FFD23B"/>
            </a:solidFill>
            <a:prstDash val="solid"/>
          </a:ln>
        </p:spPr>
      </p:sp>
      <p:sp>
        <p:nvSpPr>
          <p:cNvPr id="48" name="Text 45"/>
          <p:cNvSpPr txBox="1"/>
          <p:nvPr/>
        </p:nvSpPr>
        <p:spPr>
          <a:xfrm>
            <a:off x="4096512" y="5257800"/>
            <a:ext cx="3785616" cy="50292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một điểm nối duy nhất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Diamond: các bộ phận hai bên làm việc trực tiếp, KAMer điều phối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T03: pharmaphorum · T04: SBI.</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5</a:t>
            </a:r>
            <a:endParaRPr lang="en-US" sz="1000" dirty="0"/>
          </a:p>
        </p:txBody>
      </p:sp>
      <p:sp>
        <p:nvSpPr>
          <p:cNvPr id="20" name="Shape 17"/>
          <p:cNvSpPr/>
          <p:nvPr/>
        </p:nvSpPr>
        <p:spPr>
          <a:xfrm>
            <a:off x="2926080" y="1737360"/>
            <a:ext cx="6309360" cy="4526280"/>
          </a:xfrm>
          <a:prstGeom prst="diamond">
            <a:avLst/>
          </a:prstGeom>
          <a:solidFill>
            <a:srgbClr val="FFF3C4"/>
          </a:solidFill>
          <a:ln w="19050">
            <a:solidFill>
              <a:srgbClr val="FFD23B"/>
            </a:solidFill>
            <a:prstDash val="solid"/>
          </a:ln>
        </p:spPr>
      </p:sp>
      <p:sp>
        <p:nvSpPr>
          <p:cNvPr id="21" name="Text 18"/>
          <p:cNvSpPr txBox="1"/>
          <p:nvPr/>
        </p:nvSpPr>
        <p:spPr>
          <a:xfrm>
            <a:off x="914400" y="1783080"/>
            <a:ext cx="2377440" cy="320040"/>
          </a:xfrm>
          <a:prstGeom prst="rect">
            <a:avLst/>
          </a:prstGeom>
          <a:noFill/>
          <a:ln/>
        </p:spPr>
        <p:txBody>
          <a:bodyPr wrap="square" lIns="0" tIns="0" rIns="0" bIns="0" rtlCol="0" anchor="ctr"/>
          <a:lstStyle/>
          <a:p>
            <a:pPr indent="0" marL="0">
              <a:buNone/>
            </a:pPr>
            <a:r>
              <a:rPr lang="en-US" sz="1400" b="1" dirty="0">
                <a:solidFill>
                  <a:srgbClr val="962B7C"/>
                </a:solidFill>
                <a:latin typeface="Alexandria" pitchFamily="34" charset="0"/>
                <a:ea typeface="Alexandria" pitchFamily="34" charset="-122"/>
                <a:cs typeface="Alexandria" pitchFamily="34" charset="-120"/>
              </a:rPr>
              <a:t>Nova (agency)</a:t>
            </a:r>
            <a:endParaRPr lang="en-US" sz="1400" dirty="0"/>
          </a:p>
        </p:txBody>
      </p:sp>
      <p:sp>
        <p:nvSpPr>
          <p:cNvPr id="22" name="Text 19"/>
          <p:cNvSpPr txBox="1"/>
          <p:nvPr/>
        </p:nvSpPr>
        <p:spPr>
          <a:xfrm>
            <a:off x="8686800" y="1783080"/>
            <a:ext cx="2926080" cy="320040"/>
          </a:xfrm>
          <a:prstGeom prst="rect">
            <a:avLst/>
          </a:prstGeom>
          <a:noFill/>
          <a:ln/>
        </p:spPr>
        <p:txBody>
          <a:bodyPr wrap="square" lIns="0" tIns="0" rIns="0" bIns="0" rtlCol="0" anchor="ctr"/>
          <a:lstStyle/>
          <a:p>
            <a:pPr algn="r" indent="0" marL="0">
              <a:buNone/>
            </a:pPr>
            <a:r>
              <a:rPr lang="en-US" sz="1400" b="1" dirty="0">
                <a:solidFill>
                  <a:srgbClr val="0A7FB5"/>
                </a:solidFill>
                <a:latin typeface="Alexandria" pitchFamily="34" charset="0"/>
                <a:ea typeface="Alexandria" pitchFamily="34" charset="-122"/>
                <a:cs typeface="Alexandria" pitchFamily="34" charset="-120"/>
              </a:rPr>
              <a:t>An Phát (Key Account)</a:t>
            </a:r>
            <a:endParaRPr lang="en-US" sz="1400" dirty="0"/>
          </a:p>
        </p:txBody>
      </p:sp>
      <p:sp>
        <p:nvSpPr>
          <p:cNvPr id="23" name="Shape 20"/>
          <p:cNvSpPr/>
          <p:nvPr/>
        </p:nvSpPr>
        <p:spPr>
          <a:xfrm>
            <a:off x="3291840" y="2496312"/>
            <a:ext cx="5394960" cy="914"/>
          </a:xfrm>
          <a:prstGeom prst="line">
            <a:avLst/>
          </a:prstGeom>
          <a:noFill/>
          <a:ln w="38100">
            <a:solidFill>
              <a:srgbClr val="962B7C"/>
            </a:solidFill>
            <a:prstDash val="solid"/>
          </a:ln>
        </p:spPr>
      </p:sp>
      <p:sp>
        <p:nvSpPr>
          <p:cNvPr id="24" name="Shape 21"/>
          <p:cNvSpPr/>
          <p:nvPr/>
        </p:nvSpPr>
        <p:spPr>
          <a:xfrm>
            <a:off x="914400" y="2240280"/>
            <a:ext cx="2377440" cy="512064"/>
          </a:xfrm>
          <a:prstGeom prst="roundRect">
            <a:avLst>
              <a:gd name="adj" fmla="val 50000"/>
            </a:avLst>
          </a:prstGeom>
          <a:solidFill>
            <a:srgbClr val="FFFFFF"/>
          </a:solidFill>
          <a:ln w="12700">
            <a:solidFill>
              <a:srgbClr val="962B7C"/>
            </a:solidFill>
            <a:prstDash val="solid"/>
          </a:ln>
        </p:spPr>
      </p:sp>
      <p:sp>
        <p:nvSpPr>
          <p:cNvPr id="25" name="Text 22"/>
          <p:cNvSpPr txBox="1"/>
          <p:nvPr/>
        </p:nvSpPr>
        <p:spPr>
          <a:xfrm>
            <a:off x="987552" y="2240280"/>
            <a:ext cx="223113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CEO</a:t>
            </a:r>
            <a:endParaRPr lang="en-US" sz="1300" dirty="0"/>
          </a:p>
        </p:txBody>
      </p:sp>
      <p:sp>
        <p:nvSpPr>
          <p:cNvPr id="26" name="Shape 23"/>
          <p:cNvSpPr/>
          <p:nvPr/>
        </p:nvSpPr>
        <p:spPr>
          <a:xfrm>
            <a:off x="8686800" y="2240280"/>
            <a:ext cx="2926080" cy="512064"/>
          </a:xfrm>
          <a:prstGeom prst="roundRect">
            <a:avLst>
              <a:gd name="adj" fmla="val 50000"/>
            </a:avLst>
          </a:prstGeom>
          <a:solidFill>
            <a:srgbClr val="FFFFFF"/>
          </a:solidFill>
          <a:ln w="12700">
            <a:solidFill>
              <a:srgbClr val="962B7C"/>
            </a:solidFill>
            <a:prstDash val="solid"/>
          </a:ln>
        </p:spPr>
      </p:sp>
      <p:sp>
        <p:nvSpPr>
          <p:cNvPr id="27" name="Text 24"/>
          <p:cNvSpPr txBox="1"/>
          <p:nvPr/>
        </p:nvSpPr>
        <p:spPr>
          <a:xfrm>
            <a:off x="8759952" y="2240280"/>
            <a:ext cx="277977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Phó TGĐ Khối Marketing</a:t>
            </a:r>
            <a:endParaRPr lang="en-US" sz="1300" dirty="0"/>
          </a:p>
        </p:txBody>
      </p:sp>
      <p:sp>
        <p:nvSpPr>
          <p:cNvPr id="28" name="Shape 25"/>
          <p:cNvSpPr/>
          <p:nvPr/>
        </p:nvSpPr>
        <p:spPr>
          <a:xfrm>
            <a:off x="3291840" y="3273552"/>
            <a:ext cx="5394960" cy="914"/>
          </a:xfrm>
          <a:prstGeom prst="line">
            <a:avLst/>
          </a:prstGeom>
          <a:noFill/>
          <a:ln w="38100">
            <a:solidFill>
              <a:srgbClr val="FF5178"/>
            </a:solidFill>
            <a:prstDash val="solid"/>
          </a:ln>
        </p:spPr>
      </p:sp>
      <p:sp>
        <p:nvSpPr>
          <p:cNvPr id="29" name="Shape 26"/>
          <p:cNvSpPr/>
          <p:nvPr/>
        </p:nvSpPr>
        <p:spPr>
          <a:xfrm>
            <a:off x="914400" y="3017520"/>
            <a:ext cx="2377440" cy="512064"/>
          </a:xfrm>
          <a:prstGeom prst="roundRect">
            <a:avLst>
              <a:gd name="adj" fmla="val 50000"/>
            </a:avLst>
          </a:prstGeom>
          <a:solidFill>
            <a:srgbClr val="FF5178"/>
          </a:solidFill>
          <a:ln w="12700">
            <a:solidFill>
              <a:srgbClr val="FF5178"/>
            </a:solidFill>
            <a:prstDash val="solid"/>
          </a:ln>
        </p:spPr>
      </p:sp>
      <p:sp>
        <p:nvSpPr>
          <p:cNvPr id="30" name="Text 27"/>
          <p:cNvSpPr txBox="1"/>
          <p:nvPr/>
        </p:nvSpPr>
        <p:spPr>
          <a:xfrm>
            <a:off x="987552" y="3017520"/>
            <a:ext cx="2231136"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KAMer</a:t>
            </a:r>
            <a:endParaRPr lang="en-US" sz="1300" dirty="0"/>
          </a:p>
        </p:txBody>
      </p:sp>
      <p:sp>
        <p:nvSpPr>
          <p:cNvPr id="31" name="Shape 28"/>
          <p:cNvSpPr/>
          <p:nvPr/>
        </p:nvSpPr>
        <p:spPr>
          <a:xfrm>
            <a:off x="8686800" y="3017520"/>
            <a:ext cx="2926080" cy="512064"/>
          </a:xfrm>
          <a:prstGeom prst="roundRect">
            <a:avLst>
              <a:gd name="adj" fmla="val 50000"/>
            </a:avLst>
          </a:prstGeom>
          <a:solidFill>
            <a:srgbClr val="FFFFFF"/>
          </a:solidFill>
          <a:ln w="12700">
            <a:solidFill>
              <a:srgbClr val="FF5178"/>
            </a:solidFill>
            <a:prstDash val="solid"/>
          </a:ln>
        </p:spPr>
      </p:sp>
      <p:sp>
        <p:nvSpPr>
          <p:cNvPr id="32" name="Text 29"/>
          <p:cNvSpPr txBox="1"/>
          <p:nvPr/>
        </p:nvSpPr>
        <p:spPr>
          <a:xfrm>
            <a:off x="8759952" y="3017520"/>
            <a:ext cx="277977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GĐ Marketing</a:t>
            </a:r>
            <a:endParaRPr lang="en-US" sz="1300" dirty="0"/>
          </a:p>
        </p:txBody>
      </p:sp>
      <p:sp>
        <p:nvSpPr>
          <p:cNvPr id="33" name="Shape 30"/>
          <p:cNvSpPr/>
          <p:nvPr/>
        </p:nvSpPr>
        <p:spPr>
          <a:xfrm>
            <a:off x="3291840" y="4050792"/>
            <a:ext cx="5394960" cy="914"/>
          </a:xfrm>
          <a:prstGeom prst="line">
            <a:avLst/>
          </a:prstGeom>
          <a:noFill/>
          <a:ln w="38100">
            <a:solidFill>
              <a:srgbClr val="FF9259"/>
            </a:solidFill>
            <a:prstDash val="solid"/>
          </a:ln>
        </p:spPr>
      </p:sp>
      <p:sp>
        <p:nvSpPr>
          <p:cNvPr id="34" name="Shape 31"/>
          <p:cNvSpPr/>
          <p:nvPr/>
        </p:nvSpPr>
        <p:spPr>
          <a:xfrm>
            <a:off x="914400" y="3794760"/>
            <a:ext cx="2377440" cy="512064"/>
          </a:xfrm>
          <a:prstGeom prst="roundRect">
            <a:avLst>
              <a:gd name="adj" fmla="val 50000"/>
            </a:avLst>
          </a:prstGeom>
          <a:solidFill>
            <a:srgbClr val="FFFFFF"/>
          </a:solidFill>
          <a:ln w="12700">
            <a:solidFill>
              <a:srgbClr val="FF9259"/>
            </a:solidFill>
            <a:prstDash val="solid"/>
          </a:ln>
        </p:spPr>
      </p:sp>
      <p:sp>
        <p:nvSpPr>
          <p:cNvPr id="35" name="Text 32"/>
          <p:cNvSpPr txBox="1"/>
          <p:nvPr/>
        </p:nvSpPr>
        <p:spPr>
          <a:xfrm>
            <a:off x="987552" y="3794760"/>
            <a:ext cx="223113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Producer</a:t>
            </a:r>
            <a:endParaRPr lang="en-US" sz="1300" dirty="0"/>
          </a:p>
        </p:txBody>
      </p:sp>
      <p:sp>
        <p:nvSpPr>
          <p:cNvPr id="36" name="Shape 33"/>
          <p:cNvSpPr/>
          <p:nvPr/>
        </p:nvSpPr>
        <p:spPr>
          <a:xfrm>
            <a:off x="8686800" y="3794760"/>
            <a:ext cx="2926080" cy="512064"/>
          </a:xfrm>
          <a:prstGeom prst="roundRect">
            <a:avLst>
              <a:gd name="adj" fmla="val 50000"/>
            </a:avLst>
          </a:prstGeom>
          <a:solidFill>
            <a:srgbClr val="FFFFFF"/>
          </a:solidFill>
          <a:ln w="12700">
            <a:solidFill>
              <a:srgbClr val="FF9259"/>
            </a:solidFill>
            <a:prstDash val="solid"/>
          </a:ln>
        </p:spPr>
      </p:sp>
      <p:sp>
        <p:nvSpPr>
          <p:cNvPr id="37" name="Text 34"/>
          <p:cNvSpPr txBox="1"/>
          <p:nvPr/>
        </p:nvSpPr>
        <p:spPr>
          <a:xfrm>
            <a:off x="8759952" y="3794760"/>
            <a:ext cx="277977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Truyền thông nội bộ</a:t>
            </a:r>
            <a:endParaRPr lang="en-US" sz="1300" dirty="0"/>
          </a:p>
        </p:txBody>
      </p:sp>
      <p:sp>
        <p:nvSpPr>
          <p:cNvPr id="38" name="Shape 35"/>
          <p:cNvSpPr/>
          <p:nvPr/>
        </p:nvSpPr>
        <p:spPr>
          <a:xfrm>
            <a:off x="3291840" y="4828032"/>
            <a:ext cx="5394960" cy="914"/>
          </a:xfrm>
          <a:prstGeom prst="line">
            <a:avLst/>
          </a:prstGeom>
          <a:noFill/>
          <a:ln w="38100">
            <a:solidFill>
              <a:srgbClr val="09A1E5"/>
            </a:solidFill>
            <a:prstDash val="solid"/>
          </a:ln>
        </p:spPr>
      </p:sp>
      <p:sp>
        <p:nvSpPr>
          <p:cNvPr id="39" name="Shape 36"/>
          <p:cNvSpPr/>
          <p:nvPr/>
        </p:nvSpPr>
        <p:spPr>
          <a:xfrm>
            <a:off x="914400" y="4572000"/>
            <a:ext cx="2377440" cy="512064"/>
          </a:xfrm>
          <a:prstGeom prst="roundRect">
            <a:avLst>
              <a:gd name="adj" fmla="val 50000"/>
            </a:avLst>
          </a:prstGeom>
          <a:solidFill>
            <a:srgbClr val="FFFFFF"/>
          </a:solidFill>
          <a:ln w="12700">
            <a:solidFill>
              <a:srgbClr val="09A1E5"/>
            </a:solidFill>
            <a:prstDash val="solid"/>
          </a:ln>
        </p:spPr>
      </p:sp>
      <p:sp>
        <p:nvSpPr>
          <p:cNvPr id="40" name="Text 37"/>
          <p:cNvSpPr txBox="1"/>
          <p:nvPr/>
        </p:nvSpPr>
        <p:spPr>
          <a:xfrm>
            <a:off x="987552" y="4572000"/>
            <a:ext cx="223113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Creative Lead</a:t>
            </a:r>
            <a:endParaRPr lang="en-US" sz="1300" dirty="0"/>
          </a:p>
        </p:txBody>
      </p:sp>
      <p:sp>
        <p:nvSpPr>
          <p:cNvPr id="41" name="Shape 38"/>
          <p:cNvSpPr/>
          <p:nvPr/>
        </p:nvSpPr>
        <p:spPr>
          <a:xfrm>
            <a:off x="8686800" y="4572000"/>
            <a:ext cx="2926080" cy="512064"/>
          </a:xfrm>
          <a:prstGeom prst="roundRect">
            <a:avLst>
              <a:gd name="adj" fmla="val 50000"/>
            </a:avLst>
          </a:prstGeom>
          <a:solidFill>
            <a:srgbClr val="FFFFFF"/>
          </a:solidFill>
          <a:ln w="12700">
            <a:solidFill>
              <a:srgbClr val="09A1E5"/>
            </a:solidFill>
            <a:prstDash val="solid"/>
          </a:ln>
        </p:spPr>
      </p:sp>
      <p:sp>
        <p:nvSpPr>
          <p:cNvPr id="42" name="Text 39"/>
          <p:cNvSpPr txBox="1"/>
          <p:nvPr/>
        </p:nvSpPr>
        <p:spPr>
          <a:xfrm>
            <a:off x="8759952" y="4572000"/>
            <a:ext cx="277977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Brand team</a:t>
            </a:r>
            <a:endParaRPr lang="en-US" sz="1300" dirty="0"/>
          </a:p>
        </p:txBody>
      </p:sp>
      <p:sp>
        <p:nvSpPr>
          <p:cNvPr id="43" name="Shape 40"/>
          <p:cNvSpPr/>
          <p:nvPr/>
        </p:nvSpPr>
        <p:spPr>
          <a:xfrm>
            <a:off x="3291840" y="5605272"/>
            <a:ext cx="5394960" cy="914"/>
          </a:xfrm>
          <a:prstGeom prst="line">
            <a:avLst/>
          </a:prstGeom>
          <a:noFill/>
          <a:ln w="38100">
            <a:solidFill>
              <a:srgbClr val="49B296"/>
            </a:solidFill>
            <a:prstDash val="solid"/>
          </a:ln>
        </p:spPr>
      </p:sp>
      <p:sp>
        <p:nvSpPr>
          <p:cNvPr id="44" name="Shape 41"/>
          <p:cNvSpPr/>
          <p:nvPr/>
        </p:nvSpPr>
        <p:spPr>
          <a:xfrm>
            <a:off x="914400" y="5349240"/>
            <a:ext cx="2377440" cy="512064"/>
          </a:xfrm>
          <a:prstGeom prst="roundRect">
            <a:avLst>
              <a:gd name="adj" fmla="val 50000"/>
            </a:avLst>
          </a:prstGeom>
          <a:solidFill>
            <a:srgbClr val="FFFFFF"/>
          </a:solidFill>
          <a:ln w="12700">
            <a:solidFill>
              <a:srgbClr val="49B296"/>
            </a:solidFill>
            <a:prstDash val="solid"/>
          </a:ln>
        </p:spPr>
      </p:sp>
      <p:sp>
        <p:nvSpPr>
          <p:cNvPr id="45" name="Text 42"/>
          <p:cNvSpPr txBox="1"/>
          <p:nvPr/>
        </p:nvSpPr>
        <p:spPr>
          <a:xfrm>
            <a:off x="987552" y="5349240"/>
            <a:ext cx="223113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Kế toán dự án</a:t>
            </a:r>
            <a:endParaRPr lang="en-US" sz="1300" dirty="0"/>
          </a:p>
        </p:txBody>
      </p:sp>
      <p:sp>
        <p:nvSpPr>
          <p:cNvPr id="46" name="Shape 43"/>
          <p:cNvSpPr/>
          <p:nvPr/>
        </p:nvSpPr>
        <p:spPr>
          <a:xfrm>
            <a:off x="8686800" y="5349240"/>
            <a:ext cx="2926080" cy="512064"/>
          </a:xfrm>
          <a:prstGeom prst="roundRect">
            <a:avLst>
              <a:gd name="adj" fmla="val 50000"/>
            </a:avLst>
          </a:prstGeom>
          <a:solidFill>
            <a:srgbClr val="FFFFFF"/>
          </a:solidFill>
          <a:ln w="12700">
            <a:solidFill>
              <a:srgbClr val="49B296"/>
            </a:solidFill>
            <a:prstDash val="solid"/>
          </a:ln>
        </p:spPr>
      </p:sp>
      <p:sp>
        <p:nvSpPr>
          <p:cNvPr id="47" name="Text 44"/>
          <p:cNvSpPr txBox="1"/>
          <p:nvPr/>
        </p:nvSpPr>
        <p:spPr>
          <a:xfrm>
            <a:off x="8759952" y="5349240"/>
            <a:ext cx="2779776" cy="512064"/>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Tài chính / Mua sắm</a:t>
            </a:r>
            <a:endParaRPr lang="en-US" sz="1300" dirty="0"/>
          </a:p>
        </p:txBody>
      </p:sp>
      <p:sp>
        <p:nvSpPr>
          <p:cNvPr id="48" name="Text 45"/>
          <p:cNvSpPr txBox="1"/>
          <p:nvPr/>
        </p:nvSpPr>
        <p:spPr>
          <a:xfrm>
            <a:off x="3931920" y="5806440"/>
            <a:ext cx="4389120" cy="365760"/>
          </a:xfrm>
          <a:prstGeom prst="rect">
            <a:avLst/>
          </a:prstGeom>
          <a:noFill/>
          <a:ln/>
        </p:spPr>
        <p:txBody>
          <a:bodyPr wrap="square" lIns="0" tIns="0" rIns="0" bIns="0" rtlCol="0" anchor="ctr"/>
          <a:lstStyle/>
          <a:p>
            <a:pPr algn="ctr" indent="0" marL="0">
              <a:buNone/>
            </a:pPr>
            <a:r>
              <a:rPr lang="en-US" sz="1400" b="1" i="1" dirty="0">
                <a:solidFill>
                  <a:srgbClr val="E03A62"/>
                </a:solidFill>
                <a:latin typeface="Alexandria" pitchFamily="34" charset="0"/>
                <a:ea typeface="Alexandria" pitchFamily="34" charset="-122"/>
                <a:cs typeface="Alexandria" pitchFamily="34" charset="-120"/>
              </a:rPr>
              <a:t>KAMer điều phối mọi cặp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Bow-tie → Diamond là lộ trình, không phải sai → đúng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T03: mô tả của McDonald được dẫn lại (nguồn thứ cấp).</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6</a:t>
            </a:r>
            <a:endParaRPr lang="en-US" sz="1000" dirty="0"/>
          </a:p>
        </p:txBody>
      </p:sp>
      <p:sp>
        <p:nvSpPr>
          <p:cNvPr id="20" name="Shape 17"/>
          <p:cNvSpPr/>
          <p:nvPr/>
        </p:nvSpPr>
        <p:spPr>
          <a:xfrm>
            <a:off x="548640" y="2011680"/>
            <a:ext cx="5669280" cy="1920240"/>
          </a:xfrm>
          <a:prstGeom prst="chevron">
            <a:avLst/>
          </a:prstGeom>
          <a:solidFill>
            <a:srgbClr val="F1E1EE"/>
          </a:solidFill>
          <a:ln w="19050">
            <a:solidFill>
              <a:srgbClr val="962B7C"/>
            </a:solidFill>
            <a:prstDash val="solid"/>
          </a:ln>
        </p:spPr>
      </p:sp>
      <p:sp>
        <p:nvSpPr>
          <p:cNvPr id="21" name="Shape 18"/>
          <p:cNvSpPr/>
          <p:nvPr/>
        </p:nvSpPr>
        <p:spPr>
          <a:xfrm>
            <a:off x="6035040" y="2011680"/>
            <a:ext cx="5669280" cy="1920240"/>
          </a:xfrm>
          <a:prstGeom prst="chevron">
            <a:avLst/>
          </a:prstGeom>
          <a:solidFill>
            <a:srgbClr val="DDF1FB"/>
          </a:solidFill>
          <a:ln w="19050">
            <a:solidFill>
              <a:srgbClr val="09A1E5"/>
            </a:solidFill>
            <a:prstDash val="solid"/>
          </a:ln>
        </p:spPr>
      </p:sp>
      <p:sp>
        <p:nvSpPr>
          <p:cNvPr id="22" name="Shape 19"/>
          <p:cNvSpPr/>
          <p:nvPr/>
        </p:nvSpPr>
        <p:spPr>
          <a:xfrm rot="5400000">
            <a:off x="1417320" y="2331720"/>
            <a:ext cx="411480" cy="510235"/>
          </a:xfrm>
          <a:prstGeom prst="triangle">
            <a:avLst/>
          </a:prstGeom>
          <a:solidFill>
            <a:srgbClr val="962B7C"/>
          </a:solidFill>
          <a:ln w="12700">
            <a:solidFill>
              <a:srgbClr val="962B7C"/>
            </a:solidFill>
            <a:prstDash val="solid"/>
          </a:ln>
        </p:spPr>
      </p:sp>
      <p:sp>
        <p:nvSpPr>
          <p:cNvPr id="23" name="Shape 20"/>
          <p:cNvSpPr/>
          <p:nvPr/>
        </p:nvSpPr>
        <p:spPr>
          <a:xfrm rot="16200000">
            <a:off x="1828800" y="2331720"/>
            <a:ext cx="411480" cy="510235"/>
          </a:xfrm>
          <a:prstGeom prst="triangle">
            <a:avLst/>
          </a:prstGeom>
          <a:solidFill>
            <a:srgbClr val="962B7C"/>
          </a:solidFill>
          <a:ln w="12700">
            <a:solidFill>
              <a:srgbClr val="962B7C"/>
            </a:solidFill>
            <a:prstDash val="solid"/>
          </a:ln>
        </p:spPr>
      </p:sp>
      <p:sp>
        <p:nvSpPr>
          <p:cNvPr id="24" name="Text 21"/>
          <p:cNvSpPr txBox="1"/>
          <p:nvPr/>
        </p:nvSpPr>
        <p:spPr>
          <a:xfrm>
            <a:off x="2423160" y="2240280"/>
            <a:ext cx="3108960" cy="4572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Giai đoạn đầu</a:t>
            </a:r>
            <a:endParaRPr lang="en-US" sz="2000" dirty="0"/>
          </a:p>
        </p:txBody>
      </p:sp>
      <p:sp>
        <p:nvSpPr>
          <p:cNvPr id="25" name="Text 22"/>
          <p:cNvSpPr txBox="1"/>
          <p:nvPr/>
        </p:nvSpPr>
        <p:spPr>
          <a:xfrm>
            <a:off x="2423160" y="2697480"/>
            <a:ext cx="3108960" cy="8229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thăm dò, cơ bản → Bow-tie</a:t>
            </a:r>
            <a:endParaRPr lang="en-US" sz="1500" dirty="0"/>
          </a:p>
        </p:txBody>
      </p:sp>
      <p:sp>
        <p:nvSpPr>
          <p:cNvPr id="26" name="Shape 23"/>
          <p:cNvSpPr/>
          <p:nvPr/>
        </p:nvSpPr>
        <p:spPr>
          <a:xfrm>
            <a:off x="6949440" y="2395728"/>
            <a:ext cx="731520" cy="731520"/>
          </a:xfrm>
          <a:prstGeom prst="diamond">
            <a:avLst/>
          </a:prstGeom>
          <a:solidFill>
            <a:srgbClr val="09A1E5"/>
          </a:solidFill>
          <a:ln w="12700">
            <a:solidFill>
              <a:srgbClr val="09A1E5"/>
            </a:solidFill>
            <a:prstDash val="solid"/>
          </a:ln>
        </p:spPr>
      </p:sp>
      <p:sp>
        <p:nvSpPr>
          <p:cNvPr id="27" name="Text 24"/>
          <p:cNvSpPr txBox="1"/>
          <p:nvPr/>
        </p:nvSpPr>
        <p:spPr>
          <a:xfrm>
            <a:off x="7909560" y="2240280"/>
            <a:ext cx="3108960" cy="4572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Gắn kết sâu</a:t>
            </a:r>
            <a:endParaRPr lang="en-US" sz="2000" dirty="0"/>
          </a:p>
        </p:txBody>
      </p:sp>
      <p:sp>
        <p:nvSpPr>
          <p:cNvPr id="28" name="Text 25"/>
          <p:cNvSpPr txBox="1"/>
          <p:nvPr/>
        </p:nvSpPr>
        <p:spPr>
          <a:xfrm>
            <a:off x="7909560" y="2697480"/>
            <a:ext cx="3108960" cy="8229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phụ thuộc lẫn nhau, tích hợp → Diamond</a:t>
            </a:r>
            <a:endParaRPr lang="en-US" sz="1500" dirty="0"/>
          </a:p>
        </p:txBody>
      </p:sp>
      <p:sp>
        <p:nvSpPr>
          <p:cNvPr id="29" name="Shape 26"/>
          <p:cNvSpPr/>
          <p:nvPr/>
        </p:nvSpPr>
        <p:spPr>
          <a:xfrm>
            <a:off x="548640" y="4343400"/>
            <a:ext cx="6675120" cy="1600200"/>
          </a:xfrm>
          <a:prstGeom prst="roundRect">
            <a:avLst>
              <a:gd name="adj" fmla="val 6857"/>
            </a:avLst>
          </a:prstGeom>
          <a:solidFill>
            <a:srgbClr val="FFF3C4"/>
          </a:solidFill>
          <a:ln w="12700">
            <a:solidFill>
              <a:srgbClr val="FFD23B"/>
            </a:solidFill>
            <a:prstDash val="solid"/>
          </a:ln>
        </p:spPr>
      </p:sp>
      <p:sp>
        <p:nvSpPr>
          <p:cNvPr id="30" name="Text 27"/>
          <p:cNvSpPr txBox="1"/>
          <p:nvPr/>
        </p:nvSpPr>
        <p:spPr>
          <a:xfrm>
            <a:off x="822960" y="4343400"/>
            <a:ext cx="6126480" cy="1600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Diamond là đích đến </a:t>
            </a:r>
            <a:pPr indent="0" marL="0">
              <a:buNone/>
            </a:pPr>
            <a:r>
              <a:rPr lang="en-US" sz="1700" dirty="0">
                <a:solidFill>
                  <a:srgbClr val="2A2238"/>
                </a:solidFill>
                <a:latin typeface="Alexandria" pitchFamily="34" charset="0"/>
                <a:ea typeface="Alexandria" pitchFamily="34" charset="-122"/>
                <a:cs typeface="Alexandria" pitchFamily="34" charset="-120"/>
              </a:rPr>
              <a:t>khi quan hệ đã đủ sâu và Key Account đủ quan trọng — không phải điểm xuất phát.</a:t>
            </a:r>
            <a:endParaRPr lang="en-US" sz="1700" dirty="0"/>
          </a:p>
        </p:txBody>
      </p:sp>
      <p:sp>
        <p:nvSpPr>
          <p:cNvPr id="31" name="Shape 28"/>
          <p:cNvSpPr/>
          <p:nvPr/>
        </p:nvSpPr>
        <p:spPr>
          <a:xfrm>
            <a:off x="7498080" y="4389120"/>
            <a:ext cx="4144975" cy="640080"/>
          </a:xfrm>
          <a:prstGeom prst="roundRect">
            <a:avLst>
              <a:gd name="adj" fmla="val 50000"/>
            </a:avLst>
          </a:prstGeom>
          <a:solidFill>
            <a:srgbClr val="FF9259"/>
          </a:solidFill>
          <a:ln w="12700">
            <a:solidFill>
              <a:srgbClr val="FF9259"/>
            </a:solidFill>
            <a:prstDash val="solid"/>
          </a:ln>
        </p:spPr>
      </p:sp>
      <p:sp>
        <p:nvSpPr>
          <p:cNvPr id="32" name="Text 29"/>
          <p:cNvSpPr txBox="1"/>
          <p:nvPr/>
        </p:nvSpPr>
        <p:spPr>
          <a:xfrm>
            <a:off x="7571232" y="4389120"/>
            <a:ext cx="3998671"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Buổi 2: chọn Key Account</a:t>
            </a:r>
            <a:endParaRPr lang="en-US" sz="1400" dirty="0"/>
          </a:p>
        </p:txBody>
      </p:sp>
      <p:sp>
        <p:nvSpPr>
          <p:cNvPr id="33" name="Shape 30"/>
          <p:cNvSpPr/>
          <p:nvPr/>
        </p:nvSpPr>
        <p:spPr>
          <a:xfrm>
            <a:off x="7498080" y="5257800"/>
            <a:ext cx="4144975" cy="640080"/>
          </a:xfrm>
          <a:prstGeom prst="roundRect">
            <a:avLst>
              <a:gd name="adj" fmla="val 50000"/>
            </a:avLst>
          </a:prstGeom>
          <a:solidFill>
            <a:srgbClr val="49B296"/>
          </a:solidFill>
          <a:ln w="12700">
            <a:solidFill>
              <a:srgbClr val="49B296"/>
            </a:solidFill>
            <a:prstDash val="solid"/>
          </a:ln>
        </p:spPr>
      </p:sp>
      <p:sp>
        <p:nvSpPr>
          <p:cNvPr id="34" name="Text 31"/>
          <p:cNvSpPr txBox="1"/>
          <p:nvPr/>
        </p:nvSpPr>
        <p:spPr>
          <a:xfrm>
            <a:off x="7571232" y="5257800"/>
            <a:ext cx="3998671"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Buổi 6: cost-to-serve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Bow-tie đứt khi người chủ chốt ở bất kỳ bên nào rời đi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T03, T04, T05.</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7</a:t>
            </a:r>
            <a:endParaRPr lang="en-US" sz="1000" dirty="0"/>
          </a:p>
        </p:txBody>
      </p:sp>
      <p:sp>
        <p:nvSpPr>
          <p:cNvPr id="20" name="Shape 17"/>
          <p:cNvSpPr/>
          <p:nvPr/>
        </p:nvSpPr>
        <p:spPr>
          <a:xfrm>
            <a:off x="2651760" y="1783080"/>
            <a:ext cx="4404208" cy="502920"/>
          </a:xfrm>
          <a:prstGeom prst="roundRect">
            <a:avLst>
              <a:gd name="adj" fmla="val 21818"/>
            </a:avLst>
          </a:prstGeom>
          <a:solidFill>
            <a:srgbClr val="962B7C"/>
          </a:solidFill>
          <a:ln w="12700">
            <a:solidFill>
              <a:srgbClr val="962B7C"/>
            </a:solidFill>
            <a:prstDash val="solid"/>
          </a:ln>
        </p:spPr>
      </p:sp>
      <p:sp>
        <p:nvSpPr>
          <p:cNvPr id="21" name="Text 18"/>
          <p:cNvSpPr txBox="1"/>
          <p:nvPr/>
        </p:nvSpPr>
        <p:spPr>
          <a:xfrm>
            <a:off x="2816352" y="1783080"/>
            <a:ext cx="407502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Bow-tie</a:t>
            </a:r>
            <a:endParaRPr lang="en-US" sz="1500" dirty="0"/>
          </a:p>
        </p:txBody>
      </p:sp>
      <p:sp>
        <p:nvSpPr>
          <p:cNvPr id="22" name="Shape 19"/>
          <p:cNvSpPr/>
          <p:nvPr/>
        </p:nvSpPr>
        <p:spPr>
          <a:xfrm>
            <a:off x="7147408" y="1783080"/>
            <a:ext cx="4404208" cy="502920"/>
          </a:xfrm>
          <a:prstGeom prst="roundRect">
            <a:avLst>
              <a:gd name="adj" fmla="val 21818"/>
            </a:avLst>
          </a:prstGeom>
          <a:solidFill>
            <a:srgbClr val="09A1E5"/>
          </a:solidFill>
          <a:ln w="12700">
            <a:solidFill>
              <a:srgbClr val="09A1E5"/>
            </a:solidFill>
            <a:prstDash val="solid"/>
          </a:ln>
        </p:spPr>
      </p:sp>
      <p:sp>
        <p:nvSpPr>
          <p:cNvPr id="23" name="Text 20"/>
          <p:cNvSpPr txBox="1"/>
          <p:nvPr/>
        </p:nvSpPr>
        <p:spPr>
          <a:xfrm>
            <a:off x="7312000" y="1783080"/>
            <a:ext cx="407502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Diamond</a:t>
            </a:r>
            <a:endParaRPr lang="en-US" sz="1500" dirty="0"/>
          </a:p>
        </p:txBody>
      </p:sp>
      <p:sp>
        <p:nvSpPr>
          <p:cNvPr id="24" name="Shape 21"/>
          <p:cNvSpPr/>
          <p:nvPr/>
        </p:nvSpPr>
        <p:spPr>
          <a:xfrm>
            <a:off x="548640" y="2395728"/>
            <a:ext cx="11002975" cy="960120"/>
          </a:xfrm>
          <a:prstGeom prst="rect">
            <a:avLst/>
          </a:prstGeom>
          <a:solidFill>
            <a:srgbClr val="F3F0E6"/>
          </a:solidFill>
          <a:ln w="12700">
            <a:solidFill>
              <a:srgbClr val="F3F0E6"/>
            </a:solidFill>
            <a:prstDash val="solid"/>
          </a:ln>
        </p:spPr>
      </p:sp>
      <p:sp>
        <p:nvSpPr>
          <p:cNvPr id="25" name="Text 22"/>
          <p:cNvSpPr txBox="1"/>
          <p:nvPr/>
        </p:nvSpPr>
        <p:spPr>
          <a:xfrm>
            <a:off x="713232" y="2395728"/>
            <a:ext cx="1773936" cy="9601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Ưu điểm</a:t>
            </a:r>
            <a:endParaRPr lang="en-US" sz="1500" dirty="0"/>
          </a:p>
        </p:txBody>
      </p:sp>
      <p:sp>
        <p:nvSpPr>
          <p:cNvPr id="26" name="Text 23"/>
          <p:cNvSpPr txBox="1"/>
          <p:nvPr/>
        </p:nvSpPr>
        <p:spPr>
          <a:xfrm>
            <a:off x="2816352" y="2395728"/>
            <a:ext cx="4166464" cy="9601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Đơn giản; KAMer kiểm soát nhiều, ít bất ngờ</a:t>
            </a:r>
            <a:endParaRPr lang="en-US" sz="1500" dirty="0"/>
          </a:p>
        </p:txBody>
      </p:sp>
      <p:sp>
        <p:nvSpPr>
          <p:cNvPr id="27" name="Text 24"/>
          <p:cNvSpPr txBox="1"/>
          <p:nvPr/>
        </p:nvSpPr>
        <p:spPr>
          <a:xfrm>
            <a:off x="7312000" y="2395728"/>
            <a:ext cx="4166464" cy="9601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Quan hệ sâu, hiểu khách hàng hơn, cơ hội giải pháp lớn, không phụ thuộc một người</a:t>
            </a:r>
            <a:endParaRPr lang="en-US" sz="1500" dirty="0"/>
          </a:p>
        </p:txBody>
      </p:sp>
      <p:sp>
        <p:nvSpPr>
          <p:cNvPr id="28" name="Text 25"/>
          <p:cNvSpPr txBox="1"/>
          <p:nvPr/>
        </p:nvSpPr>
        <p:spPr>
          <a:xfrm>
            <a:off x="713232" y="3410712"/>
            <a:ext cx="1773936" cy="9601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Nhược điểm</a:t>
            </a:r>
            <a:endParaRPr lang="en-US" sz="1500" dirty="0"/>
          </a:p>
        </p:txBody>
      </p:sp>
      <p:sp>
        <p:nvSpPr>
          <p:cNvPr id="29" name="Text 26"/>
          <p:cNvSpPr txBox="1"/>
          <p:nvPr/>
        </p:nvSpPr>
        <p:spPr>
          <a:xfrm>
            <a:off x="2816352" y="3410712"/>
            <a:ext cx="4166464" cy="9601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Người chủ chốt ở phía mình hoặc phía khách hàng rời đi → có thể mất quan hệ</a:t>
            </a:r>
            <a:endParaRPr lang="en-US" sz="1500" dirty="0"/>
          </a:p>
        </p:txBody>
      </p:sp>
      <p:sp>
        <p:nvSpPr>
          <p:cNvPr id="30" name="Text 27"/>
          <p:cNvSpPr txBox="1"/>
          <p:nvPr/>
        </p:nvSpPr>
        <p:spPr>
          <a:xfrm>
            <a:off x="7312000" y="3410712"/>
            <a:ext cx="4166464" cy="9601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Tốn nguồn lực; nhiều quyết định lớn nằm ngoài tầm kiểm soát của KAMer</a:t>
            </a:r>
            <a:endParaRPr lang="en-US" sz="1500" dirty="0"/>
          </a:p>
        </p:txBody>
      </p:sp>
      <p:sp>
        <p:nvSpPr>
          <p:cNvPr id="31" name="Shape 28"/>
          <p:cNvSpPr/>
          <p:nvPr/>
        </p:nvSpPr>
        <p:spPr>
          <a:xfrm>
            <a:off x="548640" y="4434840"/>
            <a:ext cx="11094415" cy="1508760"/>
          </a:xfrm>
          <a:prstGeom prst="roundRect">
            <a:avLst>
              <a:gd name="adj" fmla="val 7273"/>
            </a:avLst>
          </a:prstGeom>
          <a:solidFill>
            <a:srgbClr val="FFE4EA"/>
          </a:solidFill>
          <a:ln w="12700">
            <a:solidFill>
              <a:srgbClr val="FF5178"/>
            </a:solidFill>
            <a:prstDash val="solid"/>
          </a:ln>
        </p:spPr>
      </p:sp>
      <p:sp>
        <p:nvSpPr>
          <p:cNvPr id="32" name="Text 29"/>
          <p:cNvSpPr txBox="1"/>
          <p:nvPr/>
        </p:nvSpPr>
        <p:spPr>
          <a:xfrm>
            <a:off x="868680" y="4434840"/>
            <a:ext cx="10454335" cy="1508760"/>
          </a:xfrm>
          <a:prstGeom prst="rect">
            <a:avLst/>
          </a:prstGeom>
          <a:noFill/>
          <a:ln/>
        </p:spPr>
        <p:txBody>
          <a:bodyPr wrap="square" lIns="0" tIns="0" rIns="0" bIns="0" rtlCol="0" anchor="ctr"/>
          <a:lstStyle/>
          <a:p>
            <a:pPr indent="0" marL="0">
              <a:spcAft>
                <a:spcPts val="600"/>
              </a:spcAft>
              <a:buNone/>
            </a:pPr>
            <a:r>
              <a:rPr lang="en-US" sz="1800" i="1" dirty="0">
                <a:solidFill>
                  <a:srgbClr val="2A2238"/>
                </a:solidFill>
                <a:latin typeface="Alexandria" pitchFamily="34" charset="0"/>
                <a:ea typeface="Alexandria" pitchFamily="34" charset="-122"/>
                <a:cs typeface="Alexandria" pitchFamily="34" charset="-120"/>
              </a:rPr>
              <a:t>“First, if anything happens to the key person in your firm or client-side you are at risk of losing that relationship”</a:t>
            </a:r>
            <a:endParaRPr lang="en-US" sz="1800" dirty="0"/>
          </a:p>
          <a:p>
            <a:pPr indent="0" marL="0">
              <a:spcAft>
                <a:spcPts val="600"/>
              </a:spcAft>
              <a:buNone/>
            </a:pPr>
            <a:r>
              <a:rPr lang="en-US" sz="1300" dirty="0">
                <a:solidFill>
                  <a:srgbClr val="6E6878"/>
                </a:solidFill>
                <a:latin typeface="Alexandria" pitchFamily="34" charset="0"/>
                <a:ea typeface="Alexandria" pitchFamily="34" charset="-122"/>
                <a:cs typeface="Alexandria" pitchFamily="34" charset="-120"/>
              </a:rPr>
              <a:t>— Kim Tasso (T05)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Quan hệ kéo dài hơn nhiệm kỳ người ra quyết định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T07: ANA &amp; 4As (2025) · T08: Spencer Stuart (2025). Số liệu Mỹ, doanh nghiệp rất lớn — chưa kiểm chứng chéo.</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8</a:t>
            </a:r>
            <a:endParaRPr lang="en-US" sz="1000" dirty="0"/>
          </a:p>
        </p:txBody>
      </p:sp>
      <p:sp>
        <p:nvSpPr>
          <p:cNvPr id="20" name="Shape 17"/>
          <p:cNvSpPr/>
          <p:nvPr/>
        </p:nvSpPr>
        <p:spPr>
          <a:xfrm>
            <a:off x="548640" y="1920240"/>
            <a:ext cx="3566160" cy="3977640"/>
          </a:xfrm>
          <a:prstGeom prst="roundRect">
            <a:avLst>
              <a:gd name="adj" fmla="val 3077"/>
            </a:avLst>
          </a:prstGeom>
          <a:solidFill>
            <a:srgbClr val="F1E1EE"/>
          </a:solidFill>
          <a:ln w="12700">
            <a:solidFill>
              <a:srgbClr val="F1E1EE"/>
            </a:solidFill>
            <a:prstDash val="solid"/>
          </a:ln>
        </p:spPr>
      </p:sp>
      <p:sp>
        <p:nvSpPr>
          <p:cNvPr id="21" name="Text 18"/>
          <p:cNvSpPr txBox="1"/>
          <p:nvPr/>
        </p:nvSpPr>
        <p:spPr>
          <a:xfrm>
            <a:off x="822960" y="2194560"/>
            <a:ext cx="3017520" cy="1097280"/>
          </a:xfrm>
          <a:prstGeom prst="rect">
            <a:avLst/>
          </a:prstGeom>
          <a:noFill/>
          <a:ln/>
        </p:spPr>
        <p:txBody>
          <a:bodyPr wrap="square" lIns="0" tIns="0" rIns="0" bIns="0" rtlCol="0" anchor="ctr"/>
          <a:lstStyle/>
          <a:p>
            <a:pPr indent="0" marL="0">
              <a:buNone/>
            </a:pPr>
            <a:r>
              <a:rPr lang="en-US" sz="5000" b="1" dirty="0">
                <a:solidFill>
                  <a:srgbClr val="962B7C"/>
                </a:solidFill>
                <a:latin typeface="Alexandria" pitchFamily="34" charset="0"/>
                <a:ea typeface="Alexandria" pitchFamily="34" charset="-122"/>
                <a:cs typeface="Alexandria" pitchFamily="34" charset="-120"/>
              </a:rPr>
              <a:t>~10 năm</a:t>
            </a:r>
            <a:endParaRPr lang="en-US" sz="5000" dirty="0"/>
          </a:p>
        </p:txBody>
      </p:sp>
      <p:sp>
        <p:nvSpPr>
          <p:cNvPr id="22" name="Text 19"/>
          <p:cNvSpPr txBox="1"/>
          <p:nvPr/>
        </p:nvSpPr>
        <p:spPr>
          <a:xfrm>
            <a:off x="822960" y="3429000"/>
            <a:ext cx="3017520" cy="16459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quan hệ khách hàng – agency trải nghiệm (dài nhất trong các loại agency)</a:t>
            </a:r>
            <a:endParaRPr lang="en-US" sz="1600" dirty="0"/>
          </a:p>
        </p:txBody>
      </p:sp>
      <p:sp>
        <p:nvSpPr>
          <p:cNvPr id="23" name="Text 20"/>
          <p:cNvSpPr txBox="1"/>
          <p:nvPr/>
        </p:nvSpPr>
        <p:spPr>
          <a:xfrm>
            <a:off x="822960" y="5303520"/>
            <a:ext cx="3017520"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T07</a:t>
            </a:r>
            <a:endParaRPr lang="en-US" sz="1200" dirty="0"/>
          </a:p>
        </p:txBody>
      </p:sp>
      <p:sp>
        <p:nvSpPr>
          <p:cNvPr id="24" name="Shape 21"/>
          <p:cNvSpPr/>
          <p:nvPr/>
        </p:nvSpPr>
        <p:spPr>
          <a:xfrm>
            <a:off x="4389120" y="1920240"/>
            <a:ext cx="3566160" cy="3977640"/>
          </a:xfrm>
          <a:prstGeom prst="roundRect">
            <a:avLst>
              <a:gd name="adj" fmla="val 3077"/>
            </a:avLst>
          </a:prstGeom>
          <a:solidFill>
            <a:srgbClr val="DDF1FB"/>
          </a:solidFill>
          <a:ln w="12700">
            <a:solidFill>
              <a:srgbClr val="DDF1FB"/>
            </a:solidFill>
            <a:prstDash val="solid"/>
          </a:ln>
        </p:spPr>
      </p:sp>
      <p:sp>
        <p:nvSpPr>
          <p:cNvPr id="25" name="Text 22"/>
          <p:cNvSpPr txBox="1"/>
          <p:nvPr/>
        </p:nvSpPr>
        <p:spPr>
          <a:xfrm>
            <a:off x="4663440" y="2194560"/>
            <a:ext cx="3017520" cy="1097280"/>
          </a:xfrm>
          <a:prstGeom prst="rect">
            <a:avLst/>
          </a:prstGeom>
          <a:noFill/>
          <a:ln/>
        </p:spPr>
        <p:txBody>
          <a:bodyPr wrap="square" lIns="0" tIns="0" rIns="0" bIns="0" rtlCol="0" anchor="ctr"/>
          <a:lstStyle/>
          <a:p>
            <a:pPr indent="0" marL="0">
              <a:buNone/>
            </a:pPr>
            <a:r>
              <a:rPr lang="en-US" sz="5000" b="1" dirty="0">
                <a:solidFill>
                  <a:srgbClr val="0A7FB5"/>
                </a:solidFill>
                <a:latin typeface="Alexandria" pitchFamily="34" charset="0"/>
                <a:ea typeface="Alexandria" pitchFamily="34" charset="-122"/>
                <a:cs typeface="Alexandria" pitchFamily="34" charset="-120"/>
              </a:rPr>
              <a:t>4,3 năm</a:t>
            </a:r>
            <a:endParaRPr lang="en-US" sz="5000" dirty="0"/>
          </a:p>
        </p:txBody>
      </p:sp>
      <p:sp>
        <p:nvSpPr>
          <p:cNvPr id="26" name="Text 23"/>
          <p:cNvSpPr txBox="1"/>
          <p:nvPr/>
        </p:nvSpPr>
        <p:spPr>
          <a:xfrm>
            <a:off x="4663440" y="3429000"/>
            <a:ext cx="3017520" cy="16459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nhiệm kỳ trung bình của CMO tại Fortune 500, năm 2024</a:t>
            </a:r>
            <a:endParaRPr lang="en-US" sz="1600" dirty="0"/>
          </a:p>
        </p:txBody>
      </p:sp>
      <p:sp>
        <p:nvSpPr>
          <p:cNvPr id="27" name="Text 24"/>
          <p:cNvSpPr txBox="1"/>
          <p:nvPr/>
        </p:nvSpPr>
        <p:spPr>
          <a:xfrm>
            <a:off x="4663440" y="5303520"/>
            <a:ext cx="3017520"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T08</a:t>
            </a:r>
            <a:endParaRPr lang="en-US" sz="1200" dirty="0"/>
          </a:p>
        </p:txBody>
      </p:sp>
      <p:sp>
        <p:nvSpPr>
          <p:cNvPr id="28" name="Shape 25"/>
          <p:cNvSpPr/>
          <p:nvPr/>
        </p:nvSpPr>
        <p:spPr>
          <a:xfrm>
            <a:off x="8229600" y="1920240"/>
            <a:ext cx="3413455" cy="3977640"/>
          </a:xfrm>
          <a:prstGeom prst="roundRect">
            <a:avLst>
              <a:gd name="adj" fmla="val 3215"/>
            </a:avLst>
          </a:prstGeom>
          <a:solidFill>
            <a:srgbClr val="FFF3C4"/>
          </a:solidFill>
          <a:ln w="12700">
            <a:solidFill>
              <a:srgbClr val="FFD23B"/>
            </a:solidFill>
            <a:prstDash val="solid"/>
          </a:ln>
        </p:spPr>
      </p:sp>
      <p:sp>
        <p:nvSpPr>
          <p:cNvPr id="29" name="Text 26"/>
          <p:cNvSpPr txBox="1"/>
          <p:nvPr/>
        </p:nvSpPr>
        <p:spPr>
          <a:xfrm>
            <a:off x="8503920" y="2194560"/>
            <a:ext cx="2864815" cy="457200"/>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Một quan hệ</a:t>
            </a:r>
            <a:endParaRPr lang="en-US" sz="1700" dirty="0"/>
          </a:p>
        </p:txBody>
      </p:sp>
      <p:sp>
        <p:nvSpPr>
          <p:cNvPr id="30" name="Text 27"/>
          <p:cNvSpPr txBox="1"/>
          <p:nvPr/>
        </p:nvSpPr>
        <p:spPr>
          <a:xfrm>
            <a:off x="8503920" y="2651760"/>
            <a:ext cx="2864815" cy="1188720"/>
          </a:xfrm>
          <a:prstGeom prst="rect">
            <a:avLst/>
          </a:prstGeom>
          <a:noFill/>
          <a:ln/>
        </p:spPr>
        <p:txBody>
          <a:bodyPr wrap="square" lIns="0" tIns="0" rIns="0" bIns="0" rtlCol="0" anchor="t"/>
          <a:lstStyle/>
          <a:p>
            <a:pPr indent="0" marL="0">
              <a:buNone/>
            </a:pPr>
            <a:r>
              <a:rPr lang="en-US" sz="2200" b="1" dirty="0">
                <a:solidFill>
                  <a:srgbClr val="2A2238"/>
                </a:solidFill>
                <a:latin typeface="Alexandria" pitchFamily="34" charset="0"/>
                <a:ea typeface="Alexandria" pitchFamily="34" charset="-122"/>
                <a:cs typeface="Alexandria" pitchFamily="34" charset="-120"/>
              </a:rPr>
              <a:t>→ 2–3 người khác nhau ở cùng một ghế</a:t>
            </a:r>
            <a:endParaRPr lang="en-US" sz="2200" dirty="0"/>
          </a:p>
        </p:txBody>
      </p:sp>
      <p:sp>
        <p:nvSpPr>
          <p:cNvPr id="31" name="Shape 28"/>
          <p:cNvSpPr/>
          <p:nvPr/>
        </p:nvSpPr>
        <p:spPr>
          <a:xfrm>
            <a:off x="8503920" y="4160520"/>
            <a:ext cx="594360" cy="594360"/>
          </a:xfrm>
          <a:prstGeom prst="ellipse">
            <a:avLst/>
          </a:prstGeom>
          <a:solidFill>
            <a:srgbClr val="962B7C"/>
          </a:solidFill>
          <a:ln w="12700">
            <a:solidFill>
              <a:srgbClr val="962B7C"/>
            </a:solidFill>
            <a:prstDash val="solid"/>
          </a:ln>
        </p:spPr>
      </p:sp>
      <p:sp>
        <p:nvSpPr>
          <p:cNvPr id="32" name="Text 29"/>
          <p:cNvSpPr txBox="1"/>
          <p:nvPr/>
        </p:nvSpPr>
        <p:spPr>
          <a:xfrm>
            <a:off x="8503920" y="4160520"/>
            <a:ext cx="594360" cy="594360"/>
          </a:xfrm>
          <a:prstGeom prst="rect">
            <a:avLst/>
          </a:prstGeom>
          <a:noFill/>
          <a:ln/>
        </p:spPr>
        <p:txBody>
          <a:bodyPr wrap="square" lIns="0" tIns="0" rIns="0" bIns="0" rtlCol="0" anchor="ctr"/>
          <a:lstStyle/>
          <a:p>
            <a:pPr algn="ctr" indent="0" marL="0">
              <a:buNone/>
            </a:pPr>
            <a:endParaRPr lang="en-US" sz="2210" dirty="0"/>
          </a:p>
        </p:txBody>
      </p:sp>
      <p:sp>
        <p:nvSpPr>
          <p:cNvPr id="33" name="Shape 30"/>
          <p:cNvSpPr/>
          <p:nvPr/>
        </p:nvSpPr>
        <p:spPr>
          <a:xfrm>
            <a:off x="9281160" y="4160520"/>
            <a:ext cx="594360" cy="594360"/>
          </a:xfrm>
          <a:prstGeom prst="ellipse">
            <a:avLst/>
          </a:prstGeom>
          <a:solidFill>
            <a:srgbClr val="FF5178"/>
          </a:solidFill>
          <a:ln w="12700">
            <a:solidFill>
              <a:srgbClr val="FF5178"/>
            </a:solidFill>
            <a:prstDash val="solid"/>
          </a:ln>
        </p:spPr>
      </p:sp>
      <p:sp>
        <p:nvSpPr>
          <p:cNvPr id="34" name="Text 31"/>
          <p:cNvSpPr txBox="1"/>
          <p:nvPr/>
        </p:nvSpPr>
        <p:spPr>
          <a:xfrm>
            <a:off x="9281160" y="4160520"/>
            <a:ext cx="594360" cy="594360"/>
          </a:xfrm>
          <a:prstGeom prst="rect">
            <a:avLst/>
          </a:prstGeom>
          <a:noFill/>
          <a:ln/>
        </p:spPr>
        <p:txBody>
          <a:bodyPr wrap="square" lIns="0" tIns="0" rIns="0" bIns="0" rtlCol="0" anchor="ctr"/>
          <a:lstStyle/>
          <a:p>
            <a:pPr algn="ctr" indent="0" marL="0">
              <a:buNone/>
            </a:pPr>
            <a:endParaRPr lang="en-US" sz="2210" dirty="0"/>
          </a:p>
        </p:txBody>
      </p:sp>
      <p:sp>
        <p:nvSpPr>
          <p:cNvPr id="35" name="Shape 32"/>
          <p:cNvSpPr/>
          <p:nvPr/>
        </p:nvSpPr>
        <p:spPr>
          <a:xfrm>
            <a:off x="10058400" y="4160520"/>
            <a:ext cx="594360" cy="594360"/>
          </a:xfrm>
          <a:prstGeom prst="ellipse">
            <a:avLst/>
          </a:prstGeom>
          <a:solidFill>
            <a:srgbClr val="09A1E5"/>
          </a:solidFill>
          <a:ln w="12700">
            <a:solidFill>
              <a:srgbClr val="09A1E5"/>
            </a:solidFill>
            <a:prstDash val="solid"/>
          </a:ln>
        </p:spPr>
      </p:sp>
      <p:sp>
        <p:nvSpPr>
          <p:cNvPr id="36" name="Text 33"/>
          <p:cNvSpPr txBox="1"/>
          <p:nvPr/>
        </p:nvSpPr>
        <p:spPr>
          <a:xfrm>
            <a:off x="10058400" y="4160520"/>
            <a:ext cx="594360" cy="594360"/>
          </a:xfrm>
          <a:prstGeom prst="rect">
            <a:avLst/>
          </a:prstGeom>
          <a:noFill/>
          <a:ln/>
        </p:spPr>
        <p:txBody>
          <a:bodyPr wrap="square" lIns="0" tIns="0" rIns="0" bIns="0" rtlCol="0" anchor="ctr"/>
          <a:lstStyle/>
          <a:p>
            <a:pPr algn="ctr" indent="0" marL="0">
              <a:buNone/>
            </a:pPr>
            <a:endParaRPr lang="en-US" sz="2210" dirty="0"/>
          </a:p>
        </p:txBody>
      </p:sp>
      <p:sp>
        <p:nvSpPr>
          <p:cNvPr id="37" name="Text 34"/>
          <p:cNvSpPr txBox="1"/>
          <p:nvPr/>
        </p:nvSpPr>
        <p:spPr>
          <a:xfrm>
            <a:off x="8503920" y="4892040"/>
            <a:ext cx="2864815" cy="8229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Mỗi lần đổi người là một lần quan hệ có thể đứt.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Ở Việt Nam, “quan hệ” làm Bow-tie vừa bền vừa mong manh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T17: Pham &amp; Pham (2025) · T18: McMillan &amp; Woodruff (1999).</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9</a:t>
            </a:r>
            <a:endParaRPr lang="en-US" sz="1000" dirty="0"/>
          </a:p>
        </p:txBody>
      </p:sp>
      <p:sp>
        <p:nvSpPr>
          <p:cNvPr id="20" name="Shape 17"/>
          <p:cNvSpPr/>
          <p:nvPr/>
        </p:nvSpPr>
        <p:spPr>
          <a:xfrm>
            <a:off x="822960" y="2103120"/>
            <a:ext cx="1920240" cy="1920240"/>
          </a:xfrm>
          <a:prstGeom prst="ellipse">
            <a:avLst/>
          </a:prstGeom>
          <a:solidFill>
            <a:srgbClr val="962B7C"/>
          </a:solidFill>
          <a:ln w="12700">
            <a:solidFill>
              <a:srgbClr val="962B7C"/>
            </a:solidFill>
            <a:prstDash val="solid"/>
          </a:ln>
        </p:spPr>
      </p:sp>
      <p:sp>
        <p:nvSpPr>
          <p:cNvPr id="21" name="Text 18"/>
          <p:cNvSpPr txBox="1"/>
          <p:nvPr/>
        </p:nvSpPr>
        <p:spPr>
          <a:xfrm>
            <a:off x="914400" y="2103120"/>
            <a:ext cx="1737360" cy="192024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Thể diện</a:t>
            </a:r>
            <a:endParaRPr lang="en-US" sz="1800" dirty="0"/>
          </a:p>
        </p:txBody>
      </p:sp>
      <p:sp>
        <p:nvSpPr>
          <p:cNvPr id="22" name="Shape 19"/>
          <p:cNvSpPr/>
          <p:nvPr/>
        </p:nvSpPr>
        <p:spPr>
          <a:xfrm>
            <a:off x="2971800" y="2103120"/>
            <a:ext cx="1920240" cy="1920240"/>
          </a:xfrm>
          <a:prstGeom prst="ellipse">
            <a:avLst/>
          </a:prstGeom>
          <a:solidFill>
            <a:srgbClr val="FF9259"/>
          </a:solidFill>
          <a:ln w="12700">
            <a:solidFill>
              <a:srgbClr val="FF9259"/>
            </a:solidFill>
            <a:prstDash val="solid"/>
          </a:ln>
        </p:spPr>
      </p:sp>
      <p:sp>
        <p:nvSpPr>
          <p:cNvPr id="23" name="Text 20"/>
          <p:cNvSpPr txBox="1"/>
          <p:nvPr/>
        </p:nvSpPr>
        <p:spPr>
          <a:xfrm>
            <a:off x="3063240" y="2103120"/>
            <a:ext cx="1737360" cy="192024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Có qua có lại</a:t>
            </a:r>
            <a:endParaRPr lang="en-US" sz="1800" dirty="0"/>
          </a:p>
        </p:txBody>
      </p:sp>
      <p:sp>
        <p:nvSpPr>
          <p:cNvPr id="24" name="Shape 21"/>
          <p:cNvSpPr/>
          <p:nvPr/>
        </p:nvSpPr>
        <p:spPr>
          <a:xfrm>
            <a:off x="5120640" y="2103120"/>
            <a:ext cx="1920240" cy="1920240"/>
          </a:xfrm>
          <a:prstGeom prst="ellipse">
            <a:avLst/>
          </a:prstGeom>
          <a:solidFill>
            <a:srgbClr val="FF5178"/>
          </a:solidFill>
          <a:ln w="12700">
            <a:solidFill>
              <a:srgbClr val="FF5178"/>
            </a:solidFill>
            <a:prstDash val="solid"/>
          </a:ln>
        </p:spPr>
      </p:sp>
      <p:sp>
        <p:nvSpPr>
          <p:cNvPr id="25" name="Text 22"/>
          <p:cNvSpPr txBox="1"/>
          <p:nvPr/>
        </p:nvSpPr>
        <p:spPr>
          <a:xfrm>
            <a:off x="5212080" y="2103120"/>
            <a:ext cx="1737360" cy="192024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Tình cảm</a:t>
            </a:r>
            <a:endParaRPr lang="en-US" sz="1800" dirty="0"/>
          </a:p>
        </p:txBody>
      </p:sp>
      <p:sp>
        <p:nvSpPr>
          <p:cNvPr id="26" name="Text 23"/>
          <p:cNvSpPr txBox="1"/>
          <p:nvPr/>
        </p:nvSpPr>
        <p:spPr>
          <a:xfrm>
            <a:off x="822960" y="4206240"/>
            <a:ext cx="6309360" cy="365760"/>
          </a:xfrm>
          <a:prstGeom prst="rect">
            <a:avLst/>
          </a:prstGeom>
          <a:noFill/>
          <a:ln/>
        </p:spPr>
        <p:txBody>
          <a:bodyPr wrap="square" lIns="0" tIns="0" rIns="0" bIns="0" rtlCol="0" anchor="ctr"/>
          <a:lstStyle/>
          <a:p>
            <a:pPr algn="ctr" indent="0" marL="0">
              <a:buNone/>
            </a:pPr>
            <a:r>
              <a:rPr lang="en-US" sz="1300" dirty="0">
                <a:solidFill>
                  <a:srgbClr val="6E6878"/>
                </a:solidFill>
                <a:latin typeface="Alexandria" pitchFamily="34" charset="0"/>
                <a:ea typeface="Alexandria" pitchFamily="34" charset="-122"/>
                <a:cs typeface="Alexandria" pitchFamily="34" charset="-120"/>
              </a:rPr>
              <a:t>Ba thành tố của “quan hệ” (T17)</a:t>
            </a:r>
            <a:endParaRPr lang="en-US" sz="1300" dirty="0"/>
          </a:p>
        </p:txBody>
      </p:sp>
      <p:sp>
        <p:nvSpPr>
          <p:cNvPr id="27" name="Shape 24"/>
          <p:cNvSpPr/>
          <p:nvPr/>
        </p:nvSpPr>
        <p:spPr>
          <a:xfrm>
            <a:off x="7772400" y="2011680"/>
            <a:ext cx="3870655" cy="1645920"/>
          </a:xfrm>
          <a:prstGeom prst="roundRect">
            <a:avLst>
              <a:gd name="adj" fmla="val 6667"/>
            </a:avLst>
          </a:prstGeom>
          <a:solidFill>
            <a:srgbClr val="E1F3EE"/>
          </a:solidFill>
          <a:ln w="12700">
            <a:solidFill>
              <a:srgbClr val="49B296"/>
            </a:solidFill>
            <a:prstDash val="solid"/>
          </a:ln>
        </p:spPr>
      </p:sp>
      <p:sp>
        <p:nvSpPr>
          <p:cNvPr id="28" name="Text 25"/>
          <p:cNvSpPr txBox="1"/>
          <p:nvPr/>
        </p:nvSpPr>
        <p:spPr>
          <a:xfrm>
            <a:off x="8046720" y="2011680"/>
            <a:ext cx="3322015" cy="16459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Bền: </a:t>
            </a:r>
            <a:pPr indent="0" marL="0">
              <a:buNone/>
            </a:pPr>
            <a:r>
              <a:rPr lang="en-US" sz="1600" dirty="0">
                <a:solidFill>
                  <a:srgbClr val="2A2238"/>
                </a:solidFill>
                <a:latin typeface="Alexandria" pitchFamily="34" charset="0"/>
                <a:ea typeface="Alexandria" pitchFamily="34" charset="-122"/>
                <a:cs typeface="Alexandria" pitchFamily="34" charset="-120"/>
              </a:rPr>
              <a:t>quan hệ tình cảm KAMer – đầu mối giữ Bow-tie chạy tốt nhiều năm</a:t>
            </a:r>
            <a:endParaRPr lang="en-US" sz="1600" dirty="0"/>
          </a:p>
        </p:txBody>
      </p:sp>
      <p:sp>
        <p:nvSpPr>
          <p:cNvPr id="29" name="Shape 26"/>
          <p:cNvSpPr/>
          <p:nvPr/>
        </p:nvSpPr>
        <p:spPr>
          <a:xfrm>
            <a:off x="7772400" y="3840480"/>
            <a:ext cx="3870655" cy="1645920"/>
          </a:xfrm>
          <a:prstGeom prst="roundRect">
            <a:avLst>
              <a:gd name="adj" fmla="val 6667"/>
            </a:avLst>
          </a:prstGeom>
          <a:solidFill>
            <a:srgbClr val="FFE4EA"/>
          </a:solidFill>
          <a:ln w="12700">
            <a:solidFill>
              <a:srgbClr val="FF5178"/>
            </a:solidFill>
            <a:prstDash val="solid"/>
          </a:ln>
        </p:spPr>
      </p:sp>
      <p:sp>
        <p:nvSpPr>
          <p:cNvPr id="30" name="Text 27"/>
          <p:cNvSpPr txBox="1"/>
          <p:nvPr/>
        </p:nvSpPr>
        <p:spPr>
          <a:xfrm>
            <a:off x="8046720" y="3840480"/>
            <a:ext cx="3322015" cy="16459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Mong manh: </a:t>
            </a:r>
            <a:pPr indent="0" marL="0">
              <a:buNone/>
            </a:pPr>
            <a:r>
              <a:rPr lang="en-US" sz="1600" dirty="0">
                <a:solidFill>
                  <a:srgbClr val="2A2238"/>
                </a:solidFill>
                <a:latin typeface="Alexandria" pitchFamily="34" charset="0"/>
                <a:ea typeface="Alexandria" pitchFamily="34" charset="-122"/>
                <a:cs typeface="Alexandria" pitchFamily="34" charset="-120"/>
              </a:rPr>
              <a:t>tình cảm gắn với người, không gắn với tổ chức</a:t>
            </a:r>
            <a:endParaRPr lang="en-US" sz="1600" dirty="0"/>
          </a:p>
        </p:txBody>
      </p:sp>
      <p:sp>
        <p:nvSpPr>
          <p:cNvPr id="31" name="Text 28"/>
          <p:cNvSpPr txBox="1"/>
          <p:nvPr/>
        </p:nvSpPr>
        <p:spPr>
          <a:xfrm>
            <a:off x="548640" y="5669280"/>
            <a:ext cx="11094415" cy="5029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 Diamond chuyển một phần quan hệ cá nhân thành quan hệ giữa hai tổ chức.</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Diamond của event agency: mỗi cặp một mục đích, một nhịp gặp</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dựa trên T04 (ghép chuyên môn với chuyên môn) và T06 (lãnh đạo tham gia nhiều cấp).</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10</a:t>
            </a:r>
            <a:endParaRPr lang="en-US" sz="1000" dirty="0"/>
          </a:p>
        </p:txBody>
      </p:sp>
      <p:sp>
        <p:nvSpPr>
          <p:cNvPr id="20" name="Shape 17"/>
          <p:cNvSpPr/>
          <p:nvPr/>
        </p:nvSpPr>
        <p:spPr>
          <a:xfrm>
            <a:off x="548640" y="1783080"/>
            <a:ext cx="2423160" cy="502920"/>
          </a:xfrm>
          <a:prstGeom prst="roundRect">
            <a:avLst>
              <a:gd name="adj" fmla="val 21818"/>
            </a:avLst>
          </a:prstGeom>
          <a:solidFill>
            <a:srgbClr val="962B7C"/>
          </a:solidFill>
          <a:ln w="12700">
            <a:solidFill>
              <a:srgbClr val="962B7C"/>
            </a:solidFill>
            <a:prstDash val="solid"/>
          </a:ln>
        </p:spPr>
      </p:sp>
      <p:sp>
        <p:nvSpPr>
          <p:cNvPr id="21" name="Text 18"/>
          <p:cNvSpPr txBox="1"/>
          <p:nvPr/>
        </p:nvSpPr>
        <p:spPr>
          <a:xfrm>
            <a:off x="713232" y="1783080"/>
            <a:ext cx="209397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Nova (agency)</a:t>
            </a:r>
            <a:endParaRPr lang="en-US" sz="1500" dirty="0"/>
          </a:p>
        </p:txBody>
      </p:sp>
      <p:sp>
        <p:nvSpPr>
          <p:cNvPr id="22" name="Shape 19"/>
          <p:cNvSpPr/>
          <p:nvPr/>
        </p:nvSpPr>
        <p:spPr>
          <a:xfrm>
            <a:off x="3063240" y="1783080"/>
            <a:ext cx="2834640" cy="502920"/>
          </a:xfrm>
          <a:prstGeom prst="roundRect">
            <a:avLst>
              <a:gd name="adj" fmla="val 21818"/>
            </a:avLst>
          </a:prstGeom>
          <a:solidFill>
            <a:srgbClr val="09A1E5"/>
          </a:solidFill>
          <a:ln w="12700">
            <a:solidFill>
              <a:srgbClr val="09A1E5"/>
            </a:solidFill>
            <a:prstDash val="solid"/>
          </a:ln>
        </p:spPr>
      </p:sp>
      <p:sp>
        <p:nvSpPr>
          <p:cNvPr id="23" name="Text 20"/>
          <p:cNvSpPr txBox="1"/>
          <p:nvPr/>
        </p:nvSpPr>
        <p:spPr>
          <a:xfrm>
            <a:off x="3227832" y="1783080"/>
            <a:ext cx="250545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An Phát (Key Account)</a:t>
            </a:r>
            <a:endParaRPr lang="en-US" sz="1500" dirty="0"/>
          </a:p>
        </p:txBody>
      </p:sp>
      <p:sp>
        <p:nvSpPr>
          <p:cNvPr id="24" name="Shape 21"/>
          <p:cNvSpPr/>
          <p:nvPr/>
        </p:nvSpPr>
        <p:spPr>
          <a:xfrm>
            <a:off x="5989320" y="1783080"/>
            <a:ext cx="3246120" cy="502920"/>
          </a:xfrm>
          <a:prstGeom prst="roundRect">
            <a:avLst>
              <a:gd name="adj" fmla="val 21818"/>
            </a:avLst>
          </a:prstGeom>
          <a:solidFill>
            <a:srgbClr val="FF9259"/>
          </a:solidFill>
          <a:ln w="12700">
            <a:solidFill>
              <a:srgbClr val="FF9259"/>
            </a:solidFill>
            <a:prstDash val="solid"/>
          </a:ln>
        </p:spPr>
      </p:sp>
      <p:sp>
        <p:nvSpPr>
          <p:cNvPr id="25" name="Text 22"/>
          <p:cNvSpPr txBox="1"/>
          <p:nvPr/>
        </p:nvSpPr>
        <p:spPr>
          <a:xfrm>
            <a:off x="6153912" y="1783080"/>
            <a:ext cx="2916936"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Làm việc về</a:t>
            </a:r>
            <a:endParaRPr lang="en-US" sz="1500" dirty="0"/>
          </a:p>
        </p:txBody>
      </p:sp>
      <p:sp>
        <p:nvSpPr>
          <p:cNvPr id="26" name="Shape 23"/>
          <p:cNvSpPr/>
          <p:nvPr/>
        </p:nvSpPr>
        <p:spPr>
          <a:xfrm>
            <a:off x="9326880" y="1783080"/>
            <a:ext cx="2316175" cy="502920"/>
          </a:xfrm>
          <a:prstGeom prst="roundRect">
            <a:avLst>
              <a:gd name="adj" fmla="val 21818"/>
            </a:avLst>
          </a:prstGeom>
          <a:solidFill>
            <a:srgbClr val="49B296"/>
          </a:solidFill>
          <a:ln w="12700">
            <a:solidFill>
              <a:srgbClr val="49B296"/>
            </a:solidFill>
            <a:prstDash val="solid"/>
          </a:ln>
        </p:spPr>
      </p:sp>
      <p:sp>
        <p:nvSpPr>
          <p:cNvPr id="27" name="Text 24"/>
          <p:cNvSpPr txBox="1"/>
          <p:nvPr/>
        </p:nvSpPr>
        <p:spPr>
          <a:xfrm>
            <a:off x="9491472" y="1783080"/>
            <a:ext cx="1986991"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Nhịp gặp</a:t>
            </a:r>
            <a:endParaRPr lang="en-US" sz="1500" dirty="0"/>
          </a:p>
        </p:txBody>
      </p:sp>
      <p:sp>
        <p:nvSpPr>
          <p:cNvPr id="28" name="Shape 25"/>
          <p:cNvSpPr/>
          <p:nvPr/>
        </p:nvSpPr>
        <p:spPr>
          <a:xfrm>
            <a:off x="548640" y="2395728"/>
            <a:ext cx="11094415" cy="676656"/>
          </a:xfrm>
          <a:prstGeom prst="rect">
            <a:avLst/>
          </a:prstGeom>
          <a:solidFill>
            <a:srgbClr val="F3F0E6"/>
          </a:solidFill>
          <a:ln w="12700">
            <a:solidFill>
              <a:srgbClr val="F3F0E6"/>
            </a:solidFill>
            <a:prstDash val="solid"/>
          </a:ln>
        </p:spPr>
      </p:sp>
      <p:sp>
        <p:nvSpPr>
          <p:cNvPr id="29" name="Text 26"/>
          <p:cNvSpPr txBox="1"/>
          <p:nvPr/>
        </p:nvSpPr>
        <p:spPr>
          <a:xfrm>
            <a:off x="713232" y="2395728"/>
            <a:ext cx="2185416"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CEO / GĐ điều hành</a:t>
            </a:r>
            <a:endParaRPr lang="en-US" sz="1300" dirty="0"/>
          </a:p>
        </p:txBody>
      </p:sp>
      <p:sp>
        <p:nvSpPr>
          <p:cNvPr id="30" name="Text 27"/>
          <p:cNvSpPr txBox="1"/>
          <p:nvPr/>
        </p:nvSpPr>
        <p:spPr>
          <a:xfrm>
            <a:off x="3227832" y="2395728"/>
            <a:ext cx="259689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Phó TGĐ Khối Marketing</a:t>
            </a:r>
            <a:endParaRPr lang="en-US" sz="1300" dirty="0"/>
          </a:p>
        </p:txBody>
      </p:sp>
      <p:sp>
        <p:nvSpPr>
          <p:cNvPr id="31" name="Text 28"/>
          <p:cNvSpPr txBox="1"/>
          <p:nvPr/>
        </p:nvSpPr>
        <p:spPr>
          <a:xfrm>
            <a:off x="6153912" y="2395728"/>
            <a:ext cx="300837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Định hướng hợp tác nhiều năm</a:t>
            </a:r>
            <a:endParaRPr lang="en-US" sz="1300" dirty="0"/>
          </a:p>
        </p:txBody>
      </p:sp>
      <p:sp>
        <p:nvSpPr>
          <p:cNvPr id="32" name="Text 29"/>
          <p:cNvSpPr txBox="1"/>
          <p:nvPr/>
        </p:nvSpPr>
        <p:spPr>
          <a:xfrm>
            <a:off x="9491472" y="2395728"/>
            <a:ext cx="2078431"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1–2 lần/năm + sự kiện lớn</a:t>
            </a:r>
            <a:endParaRPr lang="en-US" sz="1300" dirty="0"/>
          </a:p>
        </p:txBody>
      </p:sp>
      <p:sp>
        <p:nvSpPr>
          <p:cNvPr id="33" name="Text 30"/>
          <p:cNvSpPr txBox="1"/>
          <p:nvPr/>
        </p:nvSpPr>
        <p:spPr>
          <a:xfrm>
            <a:off x="713232" y="3127248"/>
            <a:ext cx="2185416"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KAMer / Account Director</a:t>
            </a:r>
            <a:endParaRPr lang="en-US" sz="1300" dirty="0"/>
          </a:p>
        </p:txBody>
      </p:sp>
      <p:sp>
        <p:nvSpPr>
          <p:cNvPr id="34" name="Text 31"/>
          <p:cNvSpPr txBox="1"/>
          <p:nvPr/>
        </p:nvSpPr>
        <p:spPr>
          <a:xfrm>
            <a:off x="3227832" y="3127248"/>
            <a:ext cx="259689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Giám đốc Marketing</a:t>
            </a:r>
            <a:endParaRPr lang="en-US" sz="1300" dirty="0"/>
          </a:p>
        </p:txBody>
      </p:sp>
      <p:sp>
        <p:nvSpPr>
          <p:cNvPr id="35" name="Text 32"/>
          <p:cNvSpPr txBox="1"/>
          <p:nvPr/>
        </p:nvSpPr>
        <p:spPr>
          <a:xfrm>
            <a:off x="6153912" y="3127248"/>
            <a:ext cx="300837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Kế hoạch năm, ngân sách, ưu tiên</a:t>
            </a:r>
            <a:endParaRPr lang="en-US" sz="1300" dirty="0"/>
          </a:p>
        </p:txBody>
      </p:sp>
      <p:sp>
        <p:nvSpPr>
          <p:cNvPr id="36" name="Text 33"/>
          <p:cNvSpPr txBox="1"/>
          <p:nvPr/>
        </p:nvSpPr>
        <p:spPr>
          <a:xfrm>
            <a:off x="9491472" y="3127248"/>
            <a:ext cx="2078431"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Hằng tháng + đánh giá định kỳ</a:t>
            </a:r>
            <a:endParaRPr lang="en-US" sz="1300" dirty="0"/>
          </a:p>
        </p:txBody>
      </p:sp>
      <p:sp>
        <p:nvSpPr>
          <p:cNvPr id="37" name="Shape 34"/>
          <p:cNvSpPr/>
          <p:nvPr/>
        </p:nvSpPr>
        <p:spPr>
          <a:xfrm>
            <a:off x="548640" y="3858768"/>
            <a:ext cx="11094415" cy="676656"/>
          </a:xfrm>
          <a:prstGeom prst="rect">
            <a:avLst/>
          </a:prstGeom>
          <a:solidFill>
            <a:srgbClr val="F3F0E6"/>
          </a:solidFill>
          <a:ln w="12700">
            <a:solidFill>
              <a:srgbClr val="F3F0E6"/>
            </a:solidFill>
            <a:prstDash val="solid"/>
          </a:ln>
        </p:spPr>
      </p:sp>
      <p:sp>
        <p:nvSpPr>
          <p:cNvPr id="38" name="Text 35"/>
          <p:cNvSpPr txBox="1"/>
          <p:nvPr/>
        </p:nvSpPr>
        <p:spPr>
          <a:xfrm>
            <a:off x="713232" y="3858768"/>
            <a:ext cx="2185416"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Producer</a:t>
            </a:r>
            <a:endParaRPr lang="en-US" sz="1300" dirty="0"/>
          </a:p>
        </p:txBody>
      </p:sp>
      <p:sp>
        <p:nvSpPr>
          <p:cNvPr id="39" name="Text 36"/>
          <p:cNvSpPr txBox="1"/>
          <p:nvPr/>
        </p:nvSpPr>
        <p:spPr>
          <a:xfrm>
            <a:off x="3227832" y="3858768"/>
            <a:ext cx="259689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Trưởng ban Sự kiện / Truyền thông nội bộ</a:t>
            </a:r>
            <a:endParaRPr lang="en-US" sz="1300" dirty="0"/>
          </a:p>
        </p:txBody>
      </p:sp>
      <p:sp>
        <p:nvSpPr>
          <p:cNvPr id="40" name="Text 37"/>
          <p:cNvSpPr txBox="1"/>
          <p:nvPr/>
        </p:nvSpPr>
        <p:spPr>
          <a:xfrm>
            <a:off x="6153912" y="3858768"/>
            <a:ext cx="300837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Kịch bản, tiến độ, chất lượng</a:t>
            </a:r>
            <a:endParaRPr lang="en-US" sz="1300" dirty="0"/>
          </a:p>
        </p:txBody>
      </p:sp>
      <p:sp>
        <p:nvSpPr>
          <p:cNvPr id="41" name="Text 38"/>
          <p:cNvSpPr txBox="1"/>
          <p:nvPr/>
        </p:nvSpPr>
        <p:spPr>
          <a:xfrm>
            <a:off x="9491472" y="3858768"/>
            <a:ext cx="2078431"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Theo dự án</a:t>
            </a:r>
            <a:endParaRPr lang="en-US" sz="1300" dirty="0"/>
          </a:p>
        </p:txBody>
      </p:sp>
      <p:sp>
        <p:nvSpPr>
          <p:cNvPr id="42" name="Text 39"/>
          <p:cNvSpPr txBox="1"/>
          <p:nvPr/>
        </p:nvSpPr>
        <p:spPr>
          <a:xfrm>
            <a:off x="713232" y="4590288"/>
            <a:ext cx="2185416"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Creative Lead</a:t>
            </a:r>
            <a:endParaRPr lang="en-US" sz="1300" dirty="0"/>
          </a:p>
        </p:txBody>
      </p:sp>
      <p:sp>
        <p:nvSpPr>
          <p:cNvPr id="43" name="Text 40"/>
          <p:cNvSpPr txBox="1"/>
          <p:nvPr/>
        </p:nvSpPr>
        <p:spPr>
          <a:xfrm>
            <a:off x="3227832" y="4590288"/>
            <a:ext cx="259689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Brand team</a:t>
            </a:r>
            <a:endParaRPr lang="en-US" sz="1300" dirty="0"/>
          </a:p>
        </p:txBody>
      </p:sp>
      <p:sp>
        <p:nvSpPr>
          <p:cNvPr id="44" name="Text 41"/>
          <p:cNvSpPr txBox="1"/>
          <p:nvPr/>
        </p:nvSpPr>
        <p:spPr>
          <a:xfrm>
            <a:off x="6153912" y="4590288"/>
            <a:ext cx="300837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Ý tưởng, nhận diện thương hiệu</a:t>
            </a:r>
            <a:endParaRPr lang="en-US" sz="1300" dirty="0"/>
          </a:p>
        </p:txBody>
      </p:sp>
      <p:sp>
        <p:nvSpPr>
          <p:cNvPr id="45" name="Text 42"/>
          <p:cNvSpPr txBox="1"/>
          <p:nvPr/>
        </p:nvSpPr>
        <p:spPr>
          <a:xfrm>
            <a:off x="9491472" y="4590288"/>
            <a:ext cx="2078431"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Theo dự án</a:t>
            </a:r>
            <a:endParaRPr lang="en-US" sz="1300" dirty="0"/>
          </a:p>
        </p:txBody>
      </p:sp>
      <p:sp>
        <p:nvSpPr>
          <p:cNvPr id="46" name="Shape 43"/>
          <p:cNvSpPr/>
          <p:nvPr/>
        </p:nvSpPr>
        <p:spPr>
          <a:xfrm>
            <a:off x="548640" y="5321808"/>
            <a:ext cx="11094415" cy="676656"/>
          </a:xfrm>
          <a:prstGeom prst="rect">
            <a:avLst/>
          </a:prstGeom>
          <a:solidFill>
            <a:srgbClr val="F3F0E6"/>
          </a:solidFill>
          <a:ln w="12700">
            <a:solidFill>
              <a:srgbClr val="F3F0E6"/>
            </a:solidFill>
            <a:prstDash val="solid"/>
          </a:ln>
        </p:spPr>
      </p:sp>
      <p:sp>
        <p:nvSpPr>
          <p:cNvPr id="47" name="Text 44"/>
          <p:cNvSpPr txBox="1"/>
          <p:nvPr/>
        </p:nvSpPr>
        <p:spPr>
          <a:xfrm>
            <a:off x="713232" y="5321808"/>
            <a:ext cx="2185416"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Kế toán dự án</a:t>
            </a:r>
            <a:endParaRPr lang="en-US" sz="1300" dirty="0"/>
          </a:p>
        </p:txBody>
      </p:sp>
      <p:sp>
        <p:nvSpPr>
          <p:cNvPr id="48" name="Text 45"/>
          <p:cNvSpPr txBox="1"/>
          <p:nvPr/>
        </p:nvSpPr>
        <p:spPr>
          <a:xfrm>
            <a:off x="3227832" y="5321808"/>
            <a:ext cx="259689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Tài chính / Mua sắm</a:t>
            </a:r>
            <a:endParaRPr lang="en-US" sz="1300" dirty="0"/>
          </a:p>
        </p:txBody>
      </p:sp>
      <p:sp>
        <p:nvSpPr>
          <p:cNvPr id="49" name="Text 46"/>
          <p:cNvSpPr txBox="1"/>
          <p:nvPr/>
        </p:nvSpPr>
        <p:spPr>
          <a:xfrm>
            <a:off x="6153912" y="5321808"/>
            <a:ext cx="3008376"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Hợp đồng, thanh toán, chứng từ</a:t>
            </a:r>
            <a:endParaRPr lang="en-US" sz="1300" dirty="0"/>
          </a:p>
        </p:txBody>
      </p:sp>
      <p:sp>
        <p:nvSpPr>
          <p:cNvPr id="50" name="Text 47"/>
          <p:cNvSpPr txBox="1"/>
          <p:nvPr/>
        </p:nvSpPr>
        <p:spPr>
          <a:xfrm>
            <a:off x="9491472" y="5321808"/>
            <a:ext cx="2078431"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Theo dự án + cuối năm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Lãnh đạo agency là thành viên của đội khách hàng, không chỉ là cái tên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T06: Côté (2021), SAMA · T04: SBI.</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11</a:t>
            </a:r>
            <a:endParaRPr lang="en-US" sz="1000" dirty="0"/>
          </a:p>
        </p:txBody>
      </p:sp>
      <p:sp>
        <p:nvSpPr>
          <p:cNvPr id="20" name="Shape 17"/>
          <p:cNvSpPr/>
          <p:nvPr/>
        </p:nvSpPr>
        <p:spPr>
          <a:xfrm>
            <a:off x="548640" y="1920240"/>
            <a:ext cx="4754880" cy="2011680"/>
          </a:xfrm>
          <a:prstGeom prst="roundRect">
            <a:avLst>
              <a:gd name="adj" fmla="val 5455"/>
            </a:avLst>
          </a:prstGeom>
          <a:solidFill>
            <a:srgbClr val="FFFFFF"/>
          </a:solidFill>
          <a:ln w="12700">
            <a:solidFill>
              <a:srgbClr val="DCD7C8"/>
            </a:solidFill>
            <a:prstDash val="solid"/>
          </a:ln>
        </p:spPr>
      </p:sp>
      <p:sp>
        <p:nvSpPr>
          <p:cNvPr id="21" name="Text 18"/>
          <p:cNvSpPr txBox="1"/>
          <p:nvPr/>
        </p:nvSpPr>
        <p:spPr>
          <a:xfrm>
            <a:off x="822960" y="2103120"/>
            <a:ext cx="4206240" cy="457200"/>
          </a:xfrm>
          <a:prstGeom prst="rect">
            <a:avLst/>
          </a:prstGeom>
          <a:noFill/>
          <a:ln/>
        </p:spPr>
        <p:txBody>
          <a:bodyPr wrap="square" lIns="0" tIns="0" rIns="0" bIns="0" rtlCol="0" anchor="ctr"/>
          <a:lstStyle/>
          <a:p>
            <a:pPr indent="0" marL="0">
              <a:buNone/>
            </a:pPr>
            <a:r>
              <a:rPr lang="en-US" sz="1900" b="1" dirty="0">
                <a:solidFill>
                  <a:srgbClr val="6E6878"/>
                </a:solidFill>
                <a:latin typeface="Alexandria" pitchFamily="34" charset="0"/>
                <a:ea typeface="Alexandria" pitchFamily="34" charset="-122"/>
                <a:cs typeface="Alexandria" pitchFamily="34" charset="-120"/>
              </a:rPr>
              <a:t>Executive sponsorship</a:t>
            </a:r>
            <a:endParaRPr lang="en-US" sz="1900" dirty="0"/>
          </a:p>
        </p:txBody>
      </p:sp>
      <p:sp>
        <p:nvSpPr>
          <p:cNvPr id="22" name="Text 19"/>
          <p:cNvSpPr txBox="1"/>
          <p:nvPr/>
        </p:nvSpPr>
        <p:spPr>
          <a:xfrm>
            <a:off x="822960" y="2651760"/>
            <a:ext cx="4206240" cy="1097280"/>
          </a:xfrm>
          <a:prstGeom prst="rect">
            <a:avLst/>
          </a:prstGeom>
          <a:noFill/>
          <a:ln/>
        </p:spPr>
        <p:txBody>
          <a:bodyPr wrap="square" lIns="0" tIns="0" rIns="0" bIns="0" rtlCol="0" anchor="t"/>
          <a:lstStyle/>
          <a:p>
            <a:pPr indent="0" marL="0">
              <a:buNone/>
            </a:pPr>
            <a:r>
              <a:rPr lang="en-US" sz="1600" dirty="0">
                <a:solidFill>
                  <a:srgbClr val="6E6878"/>
                </a:solidFill>
                <a:latin typeface="Alexandria" pitchFamily="34" charset="0"/>
                <a:ea typeface="Alexandria" pitchFamily="34" charset="-122"/>
                <a:cs typeface="Alexandria" pitchFamily="34" charset="-120"/>
              </a:rPr>
              <a:t>Lãnh đạo chỉ đứng tên, xuất hiện khi có sự cố</a:t>
            </a:r>
            <a:endParaRPr lang="en-US" sz="1600" dirty="0"/>
          </a:p>
        </p:txBody>
      </p:sp>
      <p:sp>
        <p:nvSpPr>
          <p:cNvPr id="23" name="Shape 20"/>
          <p:cNvSpPr/>
          <p:nvPr/>
        </p:nvSpPr>
        <p:spPr>
          <a:xfrm>
            <a:off x="5486400" y="2606040"/>
            <a:ext cx="914400" cy="640080"/>
          </a:xfrm>
          <a:prstGeom prst="rightArrow">
            <a:avLst/>
          </a:prstGeom>
          <a:solidFill>
            <a:srgbClr val="962B7C"/>
          </a:solidFill>
          <a:ln w="12700">
            <a:solidFill>
              <a:srgbClr val="962B7C"/>
            </a:solidFill>
            <a:prstDash val="solid"/>
          </a:ln>
        </p:spPr>
      </p:sp>
      <p:sp>
        <p:nvSpPr>
          <p:cNvPr id="24" name="Shape 21"/>
          <p:cNvSpPr/>
          <p:nvPr/>
        </p:nvSpPr>
        <p:spPr>
          <a:xfrm>
            <a:off x="6583680" y="1920240"/>
            <a:ext cx="5059375" cy="2011680"/>
          </a:xfrm>
          <a:prstGeom prst="roundRect">
            <a:avLst>
              <a:gd name="adj" fmla="val 5455"/>
            </a:avLst>
          </a:prstGeom>
          <a:solidFill>
            <a:srgbClr val="F1E1EE"/>
          </a:solidFill>
          <a:ln w="12700">
            <a:solidFill>
              <a:srgbClr val="962B7C"/>
            </a:solidFill>
            <a:prstDash val="solid"/>
          </a:ln>
        </p:spPr>
      </p:sp>
      <p:sp>
        <p:nvSpPr>
          <p:cNvPr id="25" name="Text 22"/>
          <p:cNvSpPr txBox="1"/>
          <p:nvPr/>
        </p:nvSpPr>
        <p:spPr>
          <a:xfrm>
            <a:off x="6858000" y="2103120"/>
            <a:ext cx="4510735" cy="457200"/>
          </a:xfrm>
          <a:prstGeom prst="rect">
            <a:avLst/>
          </a:prstGeom>
          <a:noFill/>
          <a:ln/>
        </p:spPr>
        <p:txBody>
          <a:bodyPr wrap="square" lIns="0" tIns="0" rIns="0" bIns="0" rtlCol="0" anchor="ctr"/>
          <a:lstStyle/>
          <a:p>
            <a:pPr indent="0" marL="0">
              <a:buNone/>
            </a:pPr>
            <a:r>
              <a:rPr lang="en-US" sz="1900" b="1" dirty="0">
                <a:solidFill>
                  <a:srgbClr val="962B7C"/>
                </a:solidFill>
                <a:latin typeface="Alexandria" pitchFamily="34" charset="0"/>
                <a:ea typeface="Alexandria" pitchFamily="34" charset="-122"/>
                <a:cs typeface="Alexandria" pitchFamily="34" charset="-120"/>
              </a:rPr>
              <a:t>Executive engagement</a:t>
            </a:r>
            <a:endParaRPr lang="en-US" sz="1900" dirty="0"/>
          </a:p>
        </p:txBody>
      </p:sp>
      <p:sp>
        <p:nvSpPr>
          <p:cNvPr id="26" name="Text 23"/>
          <p:cNvSpPr txBox="1"/>
          <p:nvPr/>
        </p:nvSpPr>
        <p:spPr>
          <a:xfrm>
            <a:off x="6858000" y="2651760"/>
            <a:ext cx="4510735" cy="109728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Lãnh đạo là thành viên có trách nhiệm của đội khách hàng</a:t>
            </a:r>
            <a:endParaRPr lang="en-US" sz="1600" dirty="0"/>
          </a:p>
        </p:txBody>
      </p:sp>
      <p:sp>
        <p:nvSpPr>
          <p:cNvPr id="27" name="Shape 24"/>
          <p:cNvSpPr/>
          <p:nvPr/>
        </p:nvSpPr>
        <p:spPr>
          <a:xfrm>
            <a:off x="548640" y="4206240"/>
            <a:ext cx="7223760" cy="1737360"/>
          </a:xfrm>
          <a:prstGeom prst="roundRect">
            <a:avLst>
              <a:gd name="adj" fmla="val 6316"/>
            </a:avLst>
          </a:prstGeom>
          <a:solidFill>
            <a:srgbClr val="FFF3C4"/>
          </a:solidFill>
          <a:ln w="12700">
            <a:solidFill>
              <a:srgbClr val="FFD23B"/>
            </a:solidFill>
            <a:prstDash val="solid"/>
          </a:ln>
        </p:spPr>
      </p:sp>
      <p:sp>
        <p:nvSpPr>
          <p:cNvPr id="28" name="Text 25"/>
          <p:cNvSpPr txBox="1"/>
          <p:nvPr/>
        </p:nvSpPr>
        <p:spPr>
          <a:xfrm>
            <a:off x="822960" y="4206240"/>
            <a:ext cx="6675120" cy="1737360"/>
          </a:xfrm>
          <a:prstGeom prst="rect">
            <a:avLst/>
          </a:prstGeom>
          <a:noFill/>
          <a:ln/>
        </p:spPr>
        <p:txBody>
          <a:bodyPr wrap="square" lIns="0" tIns="0" rIns="0" bIns="0" rtlCol="0" anchor="ctr"/>
          <a:lstStyle/>
          <a:p>
            <a:pPr indent="0" marL="0">
              <a:spcAft>
                <a:spcPts val="400"/>
              </a:spcAft>
              <a:buNone/>
            </a:pPr>
            <a:r>
              <a:rPr lang="en-US" sz="1500" i="1" dirty="0">
                <a:solidFill>
                  <a:srgbClr val="2A2238"/>
                </a:solidFill>
                <a:latin typeface="Alexandria" pitchFamily="34" charset="0"/>
                <a:ea typeface="Alexandria" pitchFamily="34" charset="-122"/>
                <a:cs typeface="Alexandria" pitchFamily="34" charset="-120"/>
              </a:rPr>
              <a:t>“Strategic account management is a team sport and requires cross-functional, multi-tiered vertical level engagement and strong accountability.”</a:t>
            </a:r>
            <a:endParaRPr lang="en-US" sz="1500" dirty="0"/>
          </a:p>
          <a:p>
            <a:pPr indent="0" marL="0">
              <a:spcAft>
                <a:spcPts val="400"/>
              </a:spcAft>
              <a:buNone/>
            </a:pPr>
            <a:r>
              <a:rPr lang="en-US" sz="1200" dirty="0">
                <a:solidFill>
                  <a:srgbClr val="6E6878"/>
                </a:solidFill>
                <a:latin typeface="Alexandria" pitchFamily="34" charset="0"/>
                <a:ea typeface="Alexandria" pitchFamily="34" charset="-122"/>
                <a:cs typeface="Alexandria" pitchFamily="34" charset="-120"/>
              </a:rPr>
              <a:t>— SAMA (T06)</a:t>
            </a:r>
            <a:endParaRPr lang="en-US" sz="1500" dirty="0"/>
          </a:p>
        </p:txBody>
      </p:sp>
      <p:sp>
        <p:nvSpPr>
          <p:cNvPr id="29" name="Shape 26"/>
          <p:cNvSpPr/>
          <p:nvPr/>
        </p:nvSpPr>
        <p:spPr>
          <a:xfrm>
            <a:off x="8046720" y="4206240"/>
            <a:ext cx="3596335" cy="1737360"/>
          </a:xfrm>
          <a:prstGeom prst="roundRect">
            <a:avLst>
              <a:gd name="adj" fmla="val 6316"/>
            </a:avLst>
          </a:prstGeom>
          <a:solidFill>
            <a:srgbClr val="E1F3EE"/>
          </a:solidFill>
          <a:ln w="12700">
            <a:solidFill>
              <a:srgbClr val="49B296"/>
            </a:solidFill>
            <a:prstDash val="solid"/>
          </a:ln>
        </p:spPr>
      </p:sp>
      <p:sp>
        <p:nvSpPr>
          <p:cNvPr id="30" name="Text 27"/>
          <p:cNvSpPr txBox="1"/>
          <p:nvPr/>
        </p:nvSpPr>
        <p:spPr>
          <a:xfrm>
            <a:off x="8275320" y="4206240"/>
            <a:ext cx="3139135" cy="173736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Dấu hiệu đã đạt Diamond: </a:t>
            </a:r>
            <a:pPr indent="0" marL="0">
              <a:buNone/>
            </a:pPr>
            <a:r>
              <a:rPr lang="en-US" sz="1400" dirty="0">
                <a:solidFill>
                  <a:srgbClr val="2A2238"/>
                </a:solidFill>
                <a:latin typeface="Alexandria" pitchFamily="34" charset="0"/>
                <a:ea typeface="Alexandria" pitchFamily="34" charset="-122"/>
                <a:cs typeface="Alexandria" pitchFamily="34" charset="-120"/>
              </a:rPr>
              <a:t>agency được mời vào họp nội bộ của khách hàng, như lập kế hoạch năm (T04).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Từ nơ bướm sang kim cương: sơ đồ tiếp xúc Nova – An Phát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W08_activity_S3_so_do_tiep_xuc.md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12</a:t>
            </a:r>
            <a:endParaRPr lang="en-US" sz="1000" dirty="0"/>
          </a:p>
        </p:txBody>
      </p:sp>
      <p:sp>
        <p:nvSpPr>
          <p:cNvPr id="20" name="Text 17"/>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5/1: chị Hạnh báo nghỉ từ 1/2 · anh Minh (GĐ Marketing mới) chưa gặp Nova · hợp đồng gala vừa rồi ~2,2 tỷ</a:t>
            </a:r>
            <a:endParaRPr lang="en-US" sz="1300" dirty="0"/>
          </a:p>
        </p:txBody>
      </p:sp>
      <p:sp>
        <p:nvSpPr>
          <p:cNvPr id="21" name="Shape 18"/>
          <p:cNvSpPr/>
          <p:nvPr/>
        </p:nvSpPr>
        <p:spPr>
          <a:xfrm>
            <a:off x="548640" y="2240280"/>
            <a:ext cx="5486400" cy="3931920"/>
          </a:xfrm>
          <a:prstGeom prst="roundRect">
            <a:avLst>
              <a:gd name="adj" fmla="val 2791"/>
            </a:avLst>
          </a:prstGeom>
          <a:solidFill>
            <a:srgbClr val="FFFFFF"/>
          </a:solidFill>
          <a:ln w="12700">
            <a:solidFill>
              <a:srgbClr val="DCD7C8"/>
            </a:solidFill>
            <a:prstDash val="solid"/>
          </a:ln>
        </p:spPr>
      </p:sp>
      <p:sp>
        <p:nvSpPr>
          <p:cNvPr id="22" name="Text 19"/>
          <p:cNvSpPr txBox="1"/>
          <p:nvPr/>
        </p:nvSpPr>
        <p:spPr>
          <a:xfrm>
            <a:off x="822960" y="2331720"/>
            <a:ext cx="4937760" cy="36576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Người ở An Phát — Nova quen đến đâu?</a:t>
            </a:r>
            <a:endParaRPr lang="en-US" sz="1400" dirty="0"/>
          </a:p>
        </p:txBody>
      </p:sp>
      <p:sp>
        <p:nvSpPr>
          <p:cNvPr id="23" name="Text 20"/>
          <p:cNvSpPr txBox="1"/>
          <p:nvPr/>
        </p:nvSpPr>
        <p:spPr>
          <a:xfrm>
            <a:off x="822960" y="2788920"/>
            <a:ext cx="3429000" cy="43891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Chị Hạnh · GĐ Marketing (sắp nghỉ)</a:t>
            </a:r>
            <a:endParaRPr lang="en-US" sz="1200" dirty="0"/>
          </a:p>
        </p:txBody>
      </p:sp>
      <p:sp>
        <p:nvSpPr>
          <p:cNvPr id="24" name="Shape 21"/>
          <p:cNvSpPr/>
          <p:nvPr/>
        </p:nvSpPr>
        <p:spPr>
          <a:xfrm>
            <a:off x="4297680" y="2825496"/>
            <a:ext cx="1508760" cy="365760"/>
          </a:xfrm>
          <a:prstGeom prst="roundRect">
            <a:avLst>
              <a:gd name="adj" fmla="val 50000"/>
            </a:avLst>
          </a:prstGeom>
          <a:solidFill>
            <a:srgbClr val="E1F3EE"/>
          </a:solidFill>
          <a:ln w="12700">
            <a:solidFill>
              <a:srgbClr val="49B296"/>
            </a:solidFill>
            <a:prstDash val="solid"/>
          </a:ln>
        </p:spPr>
      </p:sp>
      <p:sp>
        <p:nvSpPr>
          <p:cNvPr id="25" name="Text 22"/>
          <p:cNvSpPr txBox="1"/>
          <p:nvPr/>
        </p:nvSpPr>
        <p:spPr>
          <a:xfrm>
            <a:off x="4370832" y="2825496"/>
            <a:ext cx="136245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rất thân</a:t>
            </a:r>
            <a:endParaRPr lang="en-US" sz="1100" dirty="0"/>
          </a:p>
        </p:txBody>
      </p:sp>
      <p:sp>
        <p:nvSpPr>
          <p:cNvPr id="26" name="Text 23"/>
          <p:cNvSpPr txBox="1"/>
          <p:nvPr/>
        </p:nvSpPr>
        <p:spPr>
          <a:xfrm>
            <a:off x="822960" y="3319272"/>
            <a:ext cx="3429000" cy="43891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Anh Minh · GĐ Marketing mới</a:t>
            </a:r>
            <a:endParaRPr lang="en-US" sz="1200" dirty="0"/>
          </a:p>
        </p:txBody>
      </p:sp>
      <p:sp>
        <p:nvSpPr>
          <p:cNvPr id="27" name="Shape 24"/>
          <p:cNvSpPr/>
          <p:nvPr/>
        </p:nvSpPr>
        <p:spPr>
          <a:xfrm>
            <a:off x="4297680" y="3355848"/>
            <a:ext cx="1508760" cy="365760"/>
          </a:xfrm>
          <a:prstGeom prst="roundRect">
            <a:avLst>
              <a:gd name="adj" fmla="val 50000"/>
            </a:avLst>
          </a:prstGeom>
          <a:solidFill>
            <a:srgbClr val="FFE4EA"/>
          </a:solidFill>
          <a:ln w="12700">
            <a:solidFill>
              <a:srgbClr val="FF5178"/>
            </a:solidFill>
            <a:prstDash val="solid"/>
          </a:ln>
        </p:spPr>
      </p:sp>
      <p:sp>
        <p:nvSpPr>
          <p:cNvPr id="28" name="Text 25"/>
          <p:cNvSpPr txBox="1"/>
          <p:nvPr/>
        </p:nvSpPr>
        <p:spPr>
          <a:xfrm>
            <a:off x="4370832" y="3355848"/>
            <a:ext cx="136245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chưa gặp</a:t>
            </a:r>
            <a:endParaRPr lang="en-US" sz="1100" dirty="0"/>
          </a:p>
        </p:txBody>
      </p:sp>
      <p:sp>
        <p:nvSpPr>
          <p:cNvPr id="29" name="Text 26"/>
          <p:cNvSpPr txBox="1"/>
          <p:nvPr/>
        </p:nvSpPr>
        <p:spPr>
          <a:xfrm>
            <a:off x="822960" y="3849624"/>
            <a:ext cx="3429000" cy="43891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Ông Tuấn · Phó TGĐ</a:t>
            </a:r>
            <a:endParaRPr lang="en-US" sz="1200" dirty="0"/>
          </a:p>
        </p:txBody>
      </p:sp>
      <p:sp>
        <p:nvSpPr>
          <p:cNvPr id="30" name="Shape 27"/>
          <p:cNvSpPr/>
          <p:nvPr/>
        </p:nvSpPr>
        <p:spPr>
          <a:xfrm>
            <a:off x="4297680" y="3886200"/>
            <a:ext cx="1508760" cy="365760"/>
          </a:xfrm>
          <a:prstGeom prst="roundRect">
            <a:avLst>
              <a:gd name="adj" fmla="val 50000"/>
            </a:avLst>
          </a:prstGeom>
          <a:solidFill>
            <a:srgbClr val="FFE9DE"/>
          </a:solidFill>
          <a:ln w="12700">
            <a:solidFill>
              <a:srgbClr val="FF9259"/>
            </a:solidFill>
            <a:prstDash val="solid"/>
          </a:ln>
        </p:spPr>
      </p:sp>
      <p:sp>
        <p:nvSpPr>
          <p:cNvPr id="31" name="Text 28"/>
          <p:cNvSpPr txBox="1"/>
          <p:nvPr/>
        </p:nvSpPr>
        <p:spPr>
          <a:xfrm>
            <a:off x="4370832" y="3886200"/>
            <a:ext cx="136245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chỉ bắt tay</a:t>
            </a:r>
            <a:endParaRPr lang="en-US" sz="1100" dirty="0"/>
          </a:p>
        </p:txBody>
      </p:sp>
      <p:sp>
        <p:nvSpPr>
          <p:cNvPr id="32" name="Text 29"/>
          <p:cNvSpPr txBox="1"/>
          <p:nvPr/>
        </p:nvSpPr>
        <p:spPr>
          <a:xfrm>
            <a:off x="822960" y="4379976"/>
            <a:ext cx="3429000" cy="43891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Chị Lan · Truyền thông nội bộ</a:t>
            </a:r>
            <a:endParaRPr lang="en-US" sz="1200" dirty="0"/>
          </a:p>
        </p:txBody>
      </p:sp>
      <p:sp>
        <p:nvSpPr>
          <p:cNvPr id="33" name="Shape 30"/>
          <p:cNvSpPr/>
          <p:nvPr/>
        </p:nvSpPr>
        <p:spPr>
          <a:xfrm>
            <a:off x="4297680" y="4416552"/>
            <a:ext cx="1508760" cy="365760"/>
          </a:xfrm>
          <a:prstGeom prst="roundRect">
            <a:avLst>
              <a:gd name="adj" fmla="val 50000"/>
            </a:avLst>
          </a:prstGeom>
          <a:solidFill>
            <a:srgbClr val="FFE9DE"/>
          </a:solidFill>
          <a:ln w="12700">
            <a:solidFill>
              <a:srgbClr val="FF9259"/>
            </a:solidFill>
            <a:prstDash val="solid"/>
          </a:ln>
        </p:spPr>
      </p:sp>
      <p:sp>
        <p:nvSpPr>
          <p:cNvPr id="34" name="Text 31"/>
          <p:cNvSpPr txBox="1"/>
          <p:nvPr/>
        </p:nvSpPr>
        <p:spPr>
          <a:xfrm>
            <a:off x="4370832" y="4416552"/>
            <a:ext cx="136245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qua chị Hạnh</a:t>
            </a:r>
            <a:endParaRPr lang="en-US" sz="1100" dirty="0"/>
          </a:p>
        </p:txBody>
      </p:sp>
      <p:sp>
        <p:nvSpPr>
          <p:cNvPr id="35" name="Text 32"/>
          <p:cNvSpPr txBox="1"/>
          <p:nvPr/>
        </p:nvSpPr>
        <p:spPr>
          <a:xfrm>
            <a:off x="822960" y="4910328"/>
            <a:ext cx="3429000" cy="43891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Anh Khoa · Ngân sách – mua sắm</a:t>
            </a:r>
            <a:endParaRPr lang="en-US" sz="1200" dirty="0"/>
          </a:p>
        </p:txBody>
      </p:sp>
      <p:sp>
        <p:nvSpPr>
          <p:cNvPr id="36" name="Shape 33"/>
          <p:cNvSpPr/>
          <p:nvPr/>
        </p:nvSpPr>
        <p:spPr>
          <a:xfrm>
            <a:off x="4297680" y="4946904"/>
            <a:ext cx="1508760" cy="365760"/>
          </a:xfrm>
          <a:prstGeom prst="roundRect">
            <a:avLst>
              <a:gd name="adj" fmla="val 50000"/>
            </a:avLst>
          </a:prstGeom>
          <a:solidFill>
            <a:srgbClr val="FFE9DE"/>
          </a:solidFill>
          <a:ln w="12700">
            <a:solidFill>
              <a:srgbClr val="FF9259"/>
            </a:solidFill>
            <a:prstDash val="solid"/>
          </a:ln>
        </p:spPr>
      </p:sp>
      <p:sp>
        <p:nvSpPr>
          <p:cNvPr id="37" name="Text 34"/>
          <p:cNvSpPr txBox="1"/>
          <p:nvPr/>
        </p:nvSpPr>
        <p:spPr>
          <a:xfrm>
            <a:off x="4370832" y="4946904"/>
            <a:ext cx="136245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chỉ gửi hồ sơ</a:t>
            </a:r>
            <a:endParaRPr lang="en-US" sz="1100" dirty="0"/>
          </a:p>
        </p:txBody>
      </p:sp>
      <p:sp>
        <p:nvSpPr>
          <p:cNvPr id="38" name="Text 35"/>
          <p:cNvSpPr txBox="1"/>
          <p:nvPr/>
        </p:nvSpPr>
        <p:spPr>
          <a:xfrm>
            <a:off x="822960" y="5440680"/>
            <a:ext cx="3429000" cy="43891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Chị Vy · Thương hiệu</a:t>
            </a:r>
            <a:endParaRPr lang="en-US" sz="1200" dirty="0"/>
          </a:p>
        </p:txBody>
      </p:sp>
      <p:sp>
        <p:nvSpPr>
          <p:cNvPr id="39" name="Shape 36"/>
          <p:cNvSpPr/>
          <p:nvPr/>
        </p:nvSpPr>
        <p:spPr>
          <a:xfrm>
            <a:off x="4297680" y="5477256"/>
            <a:ext cx="1508760" cy="365760"/>
          </a:xfrm>
          <a:prstGeom prst="roundRect">
            <a:avLst>
              <a:gd name="adj" fmla="val 50000"/>
            </a:avLst>
          </a:prstGeom>
          <a:solidFill>
            <a:srgbClr val="FFE4EA"/>
          </a:solidFill>
          <a:ln w="12700">
            <a:solidFill>
              <a:srgbClr val="FF5178"/>
            </a:solidFill>
            <a:prstDash val="solid"/>
          </a:ln>
        </p:spPr>
      </p:sp>
      <p:sp>
        <p:nvSpPr>
          <p:cNvPr id="40" name="Text 37"/>
          <p:cNvSpPr txBox="1"/>
          <p:nvPr/>
        </p:nvSpPr>
        <p:spPr>
          <a:xfrm>
            <a:off x="4370832" y="5477256"/>
            <a:ext cx="136245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chưa làm việc</a:t>
            </a:r>
            <a:endParaRPr lang="en-US" sz="1100" dirty="0"/>
          </a:p>
        </p:txBody>
      </p:sp>
      <p:sp>
        <p:nvSpPr>
          <p:cNvPr id="41" name="Shape 38"/>
          <p:cNvSpPr/>
          <p:nvPr/>
        </p:nvSpPr>
        <p:spPr>
          <a:xfrm>
            <a:off x="6309360" y="2313432"/>
            <a:ext cx="731520" cy="731520"/>
          </a:xfrm>
          <a:prstGeom prst="ellipse">
            <a:avLst/>
          </a:prstGeom>
          <a:solidFill>
            <a:srgbClr val="FF9259"/>
          </a:solidFill>
          <a:ln w="12700">
            <a:solidFill>
              <a:srgbClr val="FF9259"/>
            </a:solidFill>
            <a:prstDash val="solid"/>
          </a:ln>
        </p:spPr>
      </p:sp>
      <p:sp>
        <p:nvSpPr>
          <p:cNvPr id="42" name="Text 39"/>
          <p:cNvSpPr txBox="1"/>
          <p:nvPr/>
        </p:nvSpPr>
        <p:spPr>
          <a:xfrm>
            <a:off x="6309360" y="2313432"/>
            <a:ext cx="731520" cy="73152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5’</a:t>
            </a:r>
            <a:endParaRPr lang="en-US" sz="1700" dirty="0"/>
          </a:p>
        </p:txBody>
      </p:sp>
      <p:sp>
        <p:nvSpPr>
          <p:cNvPr id="43" name="Text 40"/>
          <p:cNvSpPr txBox="1"/>
          <p:nvPr/>
        </p:nvSpPr>
        <p:spPr>
          <a:xfrm>
            <a:off x="7223760" y="2240280"/>
            <a:ext cx="4419295"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Vẽ hiện trạng: đây là Bow-tie hay Diamond?</a:t>
            </a:r>
            <a:endParaRPr lang="en-US" sz="1400" dirty="0"/>
          </a:p>
        </p:txBody>
      </p:sp>
      <p:sp>
        <p:nvSpPr>
          <p:cNvPr id="44" name="Shape 41"/>
          <p:cNvSpPr/>
          <p:nvPr/>
        </p:nvSpPr>
        <p:spPr>
          <a:xfrm>
            <a:off x="6309360" y="3319272"/>
            <a:ext cx="731520" cy="731520"/>
          </a:xfrm>
          <a:prstGeom prst="ellipse">
            <a:avLst/>
          </a:prstGeom>
          <a:solidFill>
            <a:srgbClr val="962B7C"/>
          </a:solidFill>
          <a:ln w="12700">
            <a:solidFill>
              <a:srgbClr val="962B7C"/>
            </a:solidFill>
            <a:prstDash val="solid"/>
          </a:ln>
        </p:spPr>
      </p:sp>
      <p:sp>
        <p:nvSpPr>
          <p:cNvPr id="45" name="Text 42"/>
          <p:cNvSpPr txBox="1"/>
          <p:nvPr/>
        </p:nvSpPr>
        <p:spPr>
          <a:xfrm>
            <a:off x="6309360" y="3319272"/>
            <a:ext cx="73152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10’</a:t>
            </a:r>
            <a:endParaRPr lang="en-US" sz="1700" dirty="0"/>
          </a:p>
        </p:txBody>
      </p:sp>
      <p:sp>
        <p:nvSpPr>
          <p:cNvPr id="46" name="Text 43"/>
          <p:cNvSpPr txBox="1"/>
          <p:nvPr/>
        </p:nvSpPr>
        <p:spPr>
          <a:xfrm>
            <a:off x="7223760" y="3246120"/>
            <a:ext cx="4419295"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Diamond mục tiêu 6 tháng: ≤ 5 cặp — ai ↔ ai, mục đích, nhịp gặp</a:t>
            </a:r>
            <a:endParaRPr lang="en-US" sz="1400" dirty="0"/>
          </a:p>
        </p:txBody>
      </p:sp>
      <p:sp>
        <p:nvSpPr>
          <p:cNvPr id="47" name="Shape 44"/>
          <p:cNvSpPr/>
          <p:nvPr/>
        </p:nvSpPr>
        <p:spPr>
          <a:xfrm>
            <a:off x="6309360" y="4325112"/>
            <a:ext cx="731520" cy="731520"/>
          </a:xfrm>
          <a:prstGeom prst="ellipse">
            <a:avLst/>
          </a:prstGeom>
          <a:solidFill>
            <a:srgbClr val="09A1E5"/>
          </a:solidFill>
          <a:ln w="12700">
            <a:solidFill>
              <a:srgbClr val="09A1E5"/>
            </a:solidFill>
            <a:prstDash val="solid"/>
          </a:ln>
        </p:spPr>
      </p:sp>
      <p:sp>
        <p:nvSpPr>
          <p:cNvPr id="48" name="Text 45"/>
          <p:cNvSpPr txBox="1"/>
          <p:nvPr/>
        </p:nvSpPr>
        <p:spPr>
          <a:xfrm>
            <a:off x="6309360" y="4325112"/>
            <a:ext cx="73152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5’</a:t>
            </a:r>
            <a:endParaRPr lang="en-US" sz="1700" dirty="0"/>
          </a:p>
        </p:txBody>
      </p:sp>
      <p:sp>
        <p:nvSpPr>
          <p:cNvPr id="49" name="Text 46"/>
          <p:cNvSpPr txBox="1"/>
          <p:nvPr/>
        </p:nvSpPr>
        <p:spPr>
          <a:xfrm>
            <a:off x="7223760" y="4251960"/>
            <a:ext cx="4419295"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3 việc trong 30 ngày để anh Minh không coi Nova là “agency của sếp cũ”</a:t>
            </a:r>
            <a:endParaRPr lang="en-US" sz="1400" dirty="0"/>
          </a:p>
        </p:txBody>
      </p:sp>
      <p:sp>
        <p:nvSpPr>
          <p:cNvPr id="50" name="Shape 47"/>
          <p:cNvSpPr/>
          <p:nvPr/>
        </p:nvSpPr>
        <p:spPr>
          <a:xfrm>
            <a:off x="6309360" y="5349240"/>
            <a:ext cx="5333695" cy="822960"/>
          </a:xfrm>
          <a:prstGeom prst="roundRect">
            <a:avLst>
              <a:gd name="adj" fmla="val 13333"/>
            </a:avLst>
          </a:prstGeom>
          <a:solidFill>
            <a:srgbClr val="FFE4EA"/>
          </a:solidFill>
          <a:ln w="12700">
            <a:solidFill>
              <a:srgbClr val="FF5178"/>
            </a:solidFill>
            <a:prstDash val="solid"/>
          </a:ln>
        </p:spPr>
      </p:sp>
      <p:sp>
        <p:nvSpPr>
          <p:cNvPr id="51" name="Text 48"/>
          <p:cNvSpPr txBox="1"/>
          <p:nvPr/>
        </p:nvSpPr>
        <p:spPr>
          <a:xfrm>
            <a:off x="6537960" y="5349240"/>
            <a:ext cx="4876495" cy="82296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Chỉ bàn ai của Nova gặp ai của An Phát — không bàn tổ chức đội ngũ bên trong Nova.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Anh Minh hỏi: “Nova đã mang lại gì?” — trả lời bằng số</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14</a:t>
            </a:r>
            <a:endParaRPr lang="en-US" sz="1000" dirty="0"/>
          </a:p>
        </p:txBody>
      </p:sp>
      <p:sp>
        <p:nvSpPr>
          <p:cNvPr id="19" name="Shape 16"/>
          <p:cNvSpPr/>
          <p:nvPr/>
        </p:nvSpPr>
        <p:spPr>
          <a:xfrm>
            <a:off x="548640" y="1920240"/>
            <a:ext cx="11094415" cy="1371600"/>
          </a:xfrm>
          <a:prstGeom prst="roundRect">
            <a:avLst>
              <a:gd name="adj" fmla="val 8000"/>
            </a:avLst>
          </a:prstGeom>
          <a:solidFill>
            <a:srgbClr val="DDF1FB"/>
          </a:solidFill>
          <a:ln w="12700">
            <a:solidFill>
              <a:srgbClr val="09A1E5"/>
            </a:solidFill>
            <a:prstDash val="solid"/>
          </a:ln>
        </p:spPr>
      </p:sp>
      <p:sp>
        <p:nvSpPr>
          <p:cNvPr id="20" name="Text 17"/>
          <p:cNvSpPr txBox="1"/>
          <p:nvPr/>
        </p:nvSpPr>
        <p:spPr>
          <a:xfrm>
            <a:off x="914400" y="1920240"/>
            <a:ext cx="10362895" cy="1371600"/>
          </a:xfrm>
          <a:prstGeom prst="rect">
            <a:avLst/>
          </a:prstGeom>
          <a:noFill/>
          <a:ln/>
        </p:spPr>
        <p:txBody>
          <a:bodyPr wrap="square" lIns="0" tIns="0" rIns="0" bIns="0" rtlCol="0" anchor="ctr"/>
          <a:lstStyle/>
          <a:p>
            <a:pPr algn="ctr" indent="0" marL="0">
              <a:buNone/>
            </a:pPr>
            <a:r>
              <a:rPr lang="en-US" sz="2800" b="1" i="1" dirty="0">
                <a:solidFill>
                  <a:srgbClr val="2A2238"/>
                </a:solidFill>
                <a:latin typeface="Alexandria" pitchFamily="34" charset="0"/>
                <a:ea typeface="Alexandria" pitchFamily="34" charset="-122"/>
                <a:cs typeface="Alexandria" pitchFamily="34" charset="-120"/>
              </a:rPr>
              <a:t>“Ba năm qua, Nova đã mang lại gì cho ngân hàng?”</a:t>
            </a:r>
            <a:endParaRPr lang="en-US" sz="2800" dirty="0"/>
          </a:p>
        </p:txBody>
      </p:sp>
      <p:sp>
        <p:nvSpPr>
          <p:cNvPr id="21" name="Shape 18"/>
          <p:cNvSpPr/>
          <p:nvPr/>
        </p:nvSpPr>
        <p:spPr>
          <a:xfrm>
            <a:off x="548640" y="3657600"/>
            <a:ext cx="5410048" cy="2286000"/>
          </a:xfrm>
          <a:prstGeom prst="roundRect">
            <a:avLst>
              <a:gd name="adj" fmla="val 4800"/>
            </a:avLst>
          </a:prstGeom>
          <a:solidFill>
            <a:srgbClr val="FFFFFF"/>
          </a:solidFill>
          <a:ln w="12700">
            <a:solidFill>
              <a:srgbClr val="DCD7C8"/>
            </a:solidFill>
            <a:prstDash val="solid"/>
          </a:ln>
        </p:spPr>
      </p:sp>
      <p:sp>
        <p:nvSpPr>
          <p:cNvPr id="22" name="Text 19"/>
          <p:cNvSpPr txBox="1"/>
          <p:nvPr/>
        </p:nvSpPr>
        <p:spPr>
          <a:xfrm>
            <a:off x="868680" y="3840480"/>
            <a:ext cx="4769968" cy="457200"/>
          </a:xfrm>
          <a:prstGeom prst="rect">
            <a:avLst/>
          </a:prstGeom>
          <a:noFill/>
          <a:ln/>
        </p:spPr>
        <p:txBody>
          <a:bodyPr wrap="square" lIns="0" tIns="0" rIns="0" bIns="0" rtlCol="0" anchor="ctr"/>
          <a:lstStyle/>
          <a:p>
            <a:pPr indent="0" marL="0">
              <a:buNone/>
            </a:pPr>
            <a:r>
              <a:rPr lang="en-US" sz="2000" b="1" dirty="0">
                <a:solidFill>
                  <a:srgbClr val="6E6878"/>
                </a:solidFill>
                <a:latin typeface="Alexandria" pitchFamily="34" charset="0"/>
                <a:ea typeface="Alexandria" pitchFamily="34" charset="-122"/>
                <a:cs typeface="Alexandria" pitchFamily="34" charset="-120"/>
              </a:rPr>
              <a:t>Cảm giác</a:t>
            </a:r>
            <a:endParaRPr lang="en-US" sz="2000" dirty="0"/>
          </a:p>
        </p:txBody>
      </p:sp>
      <p:sp>
        <p:nvSpPr>
          <p:cNvPr id="23" name="Text 20"/>
          <p:cNvSpPr txBox="1"/>
          <p:nvPr/>
        </p:nvSpPr>
        <p:spPr>
          <a:xfrm>
            <a:off x="868680" y="4389120"/>
            <a:ext cx="4769968" cy="1280160"/>
          </a:xfrm>
          <a:prstGeom prst="rect">
            <a:avLst/>
          </a:prstGeom>
          <a:noFill/>
          <a:ln/>
        </p:spPr>
        <p:txBody>
          <a:bodyPr wrap="square" lIns="0" tIns="0" rIns="0" bIns="0" rtlCol="0" anchor="t"/>
          <a:lstStyle/>
          <a:p>
            <a:pPr indent="0" marL="0">
              <a:buNone/>
            </a:pPr>
            <a:r>
              <a:rPr lang="en-US" sz="2200" i="1" dirty="0">
                <a:solidFill>
                  <a:srgbClr val="6E6878"/>
                </a:solidFill>
                <a:latin typeface="Alexandria" pitchFamily="34" charset="0"/>
                <a:ea typeface="Alexandria" pitchFamily="34" charset="-122"/>
                <a:cs typeface="Alexandria" pitchFamily="34" charset="-120"/>
              </a:rPr>
              <a:t>“Khách vui lắm anh ạ.”</a:t>
            </a:r>
            <a:endParaRPr lang="en-US" sz="2200" dirty="0"/>
          </a:p>
        </p:txBody>
      </p:sp>
      <p:sp>
        <p:nvSpPr>
          <p:cNvPr id="24" name="Shape 21"/>
          <p:cNvSpPr/>
          <p:nvPr/>
        </p:nvSpPr>
        <p:spPr>
          <a:xfrm>
            <a:off x="6233008" y="3657600"/>
            <a:ext cx="5410048" cy="2286000"/>
          </a:xfrm>
          <a:prstGeom prst="roundRect">
            <a:avLst>
              <a:gd name="adj" fmla="val 4800"/>
            </a:avLst>
          </a:prstGeom>
          <a:solidFill>
            <a:srgbClr val="FFF3C4"/>
          </a:solidFill>
          <a:ln w="12700">
            <a:solidFill>
              <a:srgbClr val="FFD23B"/>
            </a:solidFill>
            <a:prstDash val="solid"/>
          </a:ln>
        </p:spPr>
      </p:sp>
      <p:sp>
        <p:nvSpPr>
          <p:cNvPr id="25" name="Text 22"/>
          <p:cNvSpPr txBox="1"/>
          <p:nvPr/>
        </p:nvSpPr>
        <p:spPr>
          <a:xfrm>
            <a:off x="6553048" y="3840480"/>
            <a:ext cx="4769968" cy="4572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Số liệu</a:t>
            </a:r>
            <a:endParaRPr lang="en-US" sz="2000" dirty="0"/>
          </a:p>
        </p:txBody>
      </p:sp>
      <p:sp>
        <p:nvSpPr>
          <p:cNvPr id="26" name="Text 23"/>
          <p:cNvSpPr txBox="1"/>
          <p:nvPr/>
        </p:nvSpPr>
        <p:spPr>
          <a:xfrm>
            <a:off x="6553048" y="4389120"/>
            <a:ext cx="4769968" cy="1280160"/>
          </a:xfrm>
          <a:prstGeom prst="rect">
            <a:avLst/>
          </a:prstGeom>
          <a:noFill/>
          <a:ln/>
        </p:spPr>
        <p:txBody>
          <a:bodyPr wrap="square" lIns="0" tIns="0" rIns="0" bIns="0" rtlCol="0" anchor="t"/>
          <a:lstStyle/>
          <a:p>
            <a:pPr indent="0" marL="0">
              <a:buNone/>
            </a:pPr>
            <a:r>
              <a:rPr lang="en-US" sz="2000" dirty="0">
                <a:solidFill>
                  <a:srgbClr val="2A2238"/>
                </a:solidFill>
                <a:latin typeface="Alexandria" pitchFamily="34" charset="0"/>
                <a:ea typeface="Alexandria" pitchFamily="34" charset="-122"/>
                <a:cs typeface="Alexandria" pitchFamily="34" charset="-120"/>
              </a:rPr>
              <a:t>Chỉ số quá trình + chỉ số kết quả mà hai bên cùng theo dõi</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Chỉ số quá trình báo trước, chỉ số kết quả xác nhận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T09: Tzempelikos &amp; Gounaris (2015) · T10: Fakhreddin, Foroudi &amp; Kooli (2025).</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15</a:t>
            </a:r>
            <a:endParaRPr lang="en-US" sz="1000" dirty="0"/>
          </a:p>
        </p:txBody>
      </p:sp>
      <p:sp>
        <p:nvSpPr>
          <p:cNvPr id="20" name="Shape 17"/>
          <p:cNvSpPr/>
          <p:nvPr/>
        </p:nvSpPr>
        <p:spPr>
          <a:xfrm>
            <a:off x="2560320" y="1783080"/>
            <a:ext cx="4449928" cy="502920"/>
          </a:xfrm>
          <a:prstGeom prst="roundRect">
            <a:avLst>
              <a:gd name="adj" fmla="val 21818"/>
            </a:avLst>
          </a:prstGeom>
          <a:solidFill>
            <a:srgbClr val="09A1E5"/>
          </a:solidFill>
          <a:ln w="12700">
            <a:solidFill>
              <a:srgbClr val="09A1E5"/>
            </a:solidFill>
            <a:prstDash val="solid"/>
          </a:ln>
        </p:spPr>
      </p:sp>
      <p:sp>
        <p:nvSpPr>
          <p:cNvPr id="21" name="Text 18"/>
          <p:cNvSpPr txBox="1"/>
          <p:nvPr/>
        </p:nvSpPr>
        <p:spPr>
          <a:xfrm>
            <a:off x="2724912" y="1783080"/>
            <a:ext cx="412074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Process-driven · chỉ số quá trình</a:t>
            </a:r>
            <a:endParaRPr lang="en-US" sz="1500" dirty="0"/>
          </a:p>
        </p:txBody>
      </p:sp>
      <p:sp>
        <p:nvSpPr>
          <p:cNvPr id="22" name="Shape 19"/>
          <p:cNvSpPr/>
          <p:nvPr/>
        </p:nvSpPr>
        <p:spPr>
          <a:xfrm>
            <a:off x="7101688" y="1783080"/>
            <a:ext cx="4449928" cy="502920"/>
          </a:xfrm>
          <a:prstGeom prst="roundRect">
            <a:avLst>
              <a:gd name="adj" fmla="val 21818"/>
            </a:avLst>
          </a:prstGeom>
          <a:solidFill>
            <a:srgbClr val="962B7C"/>
          </a:solidFill>
          <a:ln w="12700">
            <a:solidFill>
              <a:srgbClr val="962B7C"/>
            </a:solidFill>
            <a:prstDash val="solid"/>
          </a:ln>
        </p:spPr>
      </p:sp>
      <p:sp>
        <p:nvSpPr>
          <p:cNvPr id="23" name="Text 20"/>
          <p:cNvSpPr txBox="1"/>
          <p:nvPr/>
        </p:nvSpPr>
        <p:spPr>
          <a:xfrm>
            <a:off x="7266280" y="1783080"/>
            <a:ext cx="412074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Results-driven · chỉ số kết quả</a:t>
            </a:r>
            <a:endParaRPr lang="en-US" sz="1500" dirty="0"/>
          </a:p>
        </p:txBody>
      </p:sp>
      <p:sp>
        <p:nvSpPr>
          <p:cNvPr id="24" name="Shape 21"/>
          <p:cNvSpPr/>
          <p:nvPr/>
        </p:nvSpPr>
        <p:spPr>
          <a:xfrm>
            <a:off x="548640" y="2395728"/>
            <a:ext cx="11002975" cy="868680"/>
          </a:xfrm>
          <a:prstGeom prst="rect">
            <a:avLst/>
          </a:prstGeom>
          <a:solidFill>
            <a:srgbClr val="F3F0E6"/>
          </a:solidFill>
          <a:ln w="12700">
            <a:solidFill>
              <a:srgbClr val="F3F0E6"/>
            </a:solidFill>
            <a:prstDash val="solid"/>
          </a:ln>
        </p:spPr>
      </p:sp>
      <p:sp>
        <p:nvSpPr>
          <p:cNvPr id="25" name="Text 22"/>
          <p:cNvSpPr txBox="1"/>
          <p:nvPr/>
        </p:nvSpPr>
        <p:spPr>
          <a:xfrm>
            <a:off x="713232" y="2395728"/>
            <a:ext cx="168249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Đo gì</a:t>
            </a:r>
            <a:endParaRPr lang="en-US" sz="1500" dirty="0"/>
          </a:p>
        </p:txBody>
      </p:sp>
      <p:sp>
        <p:nvSpPr>
          <p:cNvPr id="26" name="Text 23"/>
          <p:cNvSpPr txBox="1"/>
          <p:nvPr/>
        </p:nvSpPr>
        <p:spPr>
          <a:xfrm>
            <a:off x="2724912" y="2395728"/>
            <a:ext cx="421218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Việc đang làm và sức khỏe quan hệ: tiếp xúc, đánh giá định kỳ, hài lòng</a:t>
            </a:r>
            <a:endParaRPr lang="en-US" sz="1500" dirty="0"/>
          </a:p>
        </p:txBody>
      </p:sp>
      <p:sp>
        <p:nvSpPr>
          <p:cNvPr id="27" name="Text 24"/>
          <p:cNvSpPr txBox="1"/>
          <p:nvPr/>
        </p:nvSpPr>
        <p:spPr>
          <a:xfrm>
            <a:off x="7266280" y="2395728"/>
            <a:ext cx="421218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Điều đã xảy ra: doanh thu, lợi nhuận, tái ký</a:t>
            </a:r>
            <a:endParaRPr lang="en-US" sz="1500" dirty="0"/>
          </a:p>
        </p:txBody>
      </p:sp>
      <p:sp>
        <p:nvSpPr>
          <p:cNvPr id="28" name="Text 25"/>
          <p:cNvSpPr txBox="1"/>
          <p:nvPr/>
        </p:nvSpPr>
        <p:spPr>
          <a:xfrm>
            <a:off x="713232" y="3319272"/>
            <a:ext cx="168249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Tính chất</a:t>
            </a:r>
            <a:endParaRPr lang="en-US" sz="1500" dirty="0"/>
          </a:p>
        </p:txBody>
      </p:sp>
      <p:sp>
        <p:nvSpPr>
          <p:cNvPr id="29" name="Text 26"/>
          <p:cNvSpPr txBox="1"/>
          <p:nvPr/>
        </p:nvSpPr>
        <p:spPr>
          <a:xfrm>
            <a:off x="2724912" y="3319272"/>
            <a:ext cx="421218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Leading — dẫn dắt, báo trước kết quả</a:t>
            </a:r>
            <a:endParaRPr lang="en-US" sz="1500" dirty="0"/>
          </a:p>
        </p:txBody>
      </p:sp>
      <p:sp>
        <p:nvSpPr>
          <p:cNvPr id="30" name="Text 27"/>
          <p:cNvSpPr txBox="1"/>
          <p:nvPr/>
        </p:nvSpPr>
        <p:spPr>
          <a:xfrm>
            <a:off x="7266280" y="3319272"/>
            <a:ext cx="421218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Lagging — chỉ số trễ, biết khi đã muộn</a:t>
            </a:r>
            <a:endParaRPr lang="en-US" sz="1500" dirty="0"/>
          </a:p>
        </p:txBody>
      </p:sp>
      <p:sp>
        <p:nvSpPr>
          <p:cNvPr id="31" name="Shape 28"/>
          <p:cNvSpPr/>
          <p:nvPr/>
        </p:nvSpPr>
        <p:spPr>
          <a:xfrm>
            <a:off x="548640" y="4251960"/>
            <a:ext cx="5410048" cy="1691640"/>
          </a:xfrm>
          <a:prstGeom prst="roundRect">
            <a:avLst>
              <a:gd name="adj" fmla="val 6486"/>
            </a:avLst>
          </a:prstGeom>
          <a:solidFill>
            <a:srgbClr val="DDF1FB"/>
          </a:solidFill>
          <a:ln w="12700">
            <a:solidFill>
              <a:srgbClr val="09A1E5"/>
            </a:solidFill>
            <a:prstDash val="solid"/>
          </a:ln>
        </p:spPr>
      </p:sp>
      <p:sp>
        <p:nvSpPr>
          <p:cNvPr id="32" name="Shape 29"/>
          <p:cNvSpPr/>
          <p:nvPr/>
        </p:nvSpPr>
        <p:spPr>
          <a:xfrm>
            <a:off x="868680" y="4709160"/>
            <a:ext cx="777240" cy="777240"/>
          </a:xfrm>
          <a:prstGeom prst="ellipse">
            <a:avLst/>
          </a:prstGeom>
          <a:solidFill>
            <a:srgbClr val="09A1E5"/>
          </a:solidFill>
          <a:ln w="12700">
            <a:solidFill>
              <a:srgbClr val="09A1E5"/>
            </a:solidFill>
            <a:prstDash val="solid"/>
          </a:ln>
        </p:spPr>
      </p:sp>
      <p:sp>
        <p:nvSpPr>
          <p:cNvPr id="33" name="Text 30"/>
          <p:cNvSpPr txBox="1"/>
          <p:nvPr/>
        </p:nvSpPr>
        <p:spPr>
          <a:xfrm>
            <a:off x="868680" y="470916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lexandria" pitchFamily="34" charset="0"/>
                <a:ea typeface="Alexandria" pitchFamily="34" charset="-122"/>
                <a:cs typeface="Alexandria" pitchFamily="34" charset="-120"/>
              </a:rPr>
              <a:t>!</a:t>
            </a:r>
            <a:endParaRPr lang="en-US" sz="3000" dirty="0"/>
          </a:p>
        </p:txBody>
      </p:sp>
      <p:sp>
        <p:nvSpPr>
          <p:cNvPr id="34" name="Text 31"/>
          <p:cNvSpPr txBox="1"/>
          <p:nvPr/>
        </p:nvSpPr>
        <p:spPr>
          <a:xfrm>
            <a:off x="1874520" y="4251960"/>
            <a:ext cx="3855568" cy="16916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Đèn báo trên taplô</a:t>
            </a:r>
            <a:endParaRPr lang="en-US" sz="1700" dirty="0"/>
          </a:p>
          <a:p>
            <a:pPr indent="0" marL="0">
              <a:buNone/>
            </a:pPr>
            <a:r>
              <a:rPr lang="en-US" sz="1700" dirty="0">
                <a:solidFill>
                  <a:srgbClr val="2A2238"/>
                </a:solidFill>
                <a:latin typeface="Alexandria" pitchFamily="34" charset="0"/>
                <a:ea typeface="Alexandria" pitchFamily="34" charset="-122"/>
                <a:cs typeface="Alexandria" pitchFamily="34" charset="-120"/>
              </a:rPr>
              <a:t>thấy vấn đề trước khi xe hỏng</a:t>
            </a:r>
            <a:endParaRPr lang="en-US" sz="1700" dirty="0"/>
          </a:p>
        </p:txBody>
      </p:sp>
      <p:sp>
        <p:nvSpPr>
          <p:cNvPr id="35" name="Shape 32"/>
          <p:cNvSpPr/>
          <p:nvPr/>
        </p:nvSpPr>
        <p:spPr>
          <a:xfrm>
            <a:off x="6233008" y="4251960"/>
            <a:ext cx="5410048" cy="1691640"/>
          </a:xfrm>
          <a:prstGeom prst="roundRect">
            <a:avLst>
              <a:gd name="adj" fmla="val 6486"/>
            </a:avLst>
          </a:prstGeom>
          <a:solidFill>
            <a:srgbClr val="F1E1EE"/>
          </a:solidFill>
          <a:ln w="12700">
            <a:solidFill>
              <a:srgbClr val="962B7C"/>
            </a:solidFill>
            <a:prstDash val="solid"/>
          </a:ln>
        </p:spPr>
      </p:sp>
      <p:sp>
        <p:nvSpPr>
          <p:cNvPr id="36" name="Shape 33"/>
          <p:cNvSpPr/>
          <p:nvPr/>
        </p:nvSpPr>
        <p:spPr>
          <a:xfrm>
            <a:off x="6553048" y="4709160"/>
            <a:ext cx="777240" cy="777240"/>
          </a:xfrm>
          <a:prstGeom prst="ellipse">
            <a:avLst/>
          </a:prstGeom>
          <a:solidFill>
            <a:srgbClr val="962B7C"/>
          </a:solidFill>
          <a:ln w="12700">
            <a:solidFill>
              <a:srgbClr val="962B7C"/>
            </a:solidFill>
            <a:prstDash val="solid"/>
          </a:ln>
        </p:spPr>
      </p:sp>
      <p:sp>
        <p:nvSpPr>
          <p:cNvPr id="37" name="Text 34"/>
          <p:cNvSpPr txBox="1"/>
          <p:nvPr/>
        </p:nvSpPr>
        <p:spPr>
          <a:xfrm>
            <a:off x="6553048" y="470916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km</a:t>
            </a:r>
            <a:endParaRPr lang="en-US" sz="2000" dirty="0"/>
          </a:p>
        </p:txBody>
      </p:sp>
      <p:sp>
        <p:nvSpPr>
          <p:cNvPr id="38" name="Text 35"/>
          <p:cNvSpPr txBox="1"/>
          <p:nvPr/>
        </p:nvSpPr>
        <p:spPr>
          <a:xfrm>
            <a:off x="7558888" y="4251960"/>
            <a:ext cx="3855568" cy="16916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Đồng hồ cây số</a:t>
            </a:r>
            <a:endParaRPr lang="en-US" sz="1700" dirty="0"/>
          </a:p>
          <a:p>
            <a:pPr indent="0" marL="0">
              <a:buNone/>
            </a:pPr>
            <a:r>
              <a:rPr lang="en-US" sz="1700" dirty="0">
                <a:solidFill>
                  <a:srgbClr val="2A2238"/>
                </a:solidFill>
                <a:latin typeface="Alexandria" pitchFamily="34" charset="0"/>
                <a:ea typeface="Alexandria" pitchFamily="34" charset="-122"/>
                <a:cs typeface="Alexandria" pitchFamily="34" charset="-120"/>
              </a:rPr>
              <a:t>xác nhận quãng đường đã đi</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Nghiên cứu: thực hành KAM tạo kết quả thông qua quan hệ</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T09: Tzempelikos &amp; Gounaris (2015), Industrial Marketing Management · T10: Fakhreddin et al. (2025), Industrial Marketing Management.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16</a:t>
            </a:r>
            <a:endParaRPr lang="en-US" sz="1000" dirty="0"/>
          </a:p>
        </p:txBody>
      </p:sp>
      <p:sp>
        <p:nvSpPr>
          <p:cNvPr id="20" name="Shape 17"/>
          <p:cNvSpPr/>
          <p:nvPr/>
        </p:nvSpPr>
        <p:spPr>
          <a:xfrm>
            <a:off x="548640" y="2103120"/>
            <a:ext cx="2396414" cy="1737360"/>
          </a:xfrm>
          <a:prstGeom prst="roundRect">
            <a:avLst>
              <a:gd name="adj" fmla="val 6316"/>
            </a:avLst>
          </a:prstGeom>
          <a:solidFill>
            <a:srgbClr val="F1E1EE"/>
          </a:solidFill>
          <a:ln w="19050">
            <a:solidFill>
              <a:srgbClr val="962B7C"/>
            </a:solidFill>
            <a:prstDash val="solid"/>
          </a:ln>
        </p:spPr>
      </p:sp>
      <p:sp>
        <p:nvSpPr>
          <p:cNvPr id="21" name="Shape 18"/>
          <p:cNvSpPr/>
          <p:nvPr/>
        </p:nvSpPr>
        <p:spPr>
          <a:xfrm>
            <a:off x="731520" y="2240280"/>
            <a:ext cx="457200" cy="457200"/>
          </a:xfrm>
          <a:prstGeom prst="ellipse">
            <a:avLst/>
          </a:prstGeom>
          <a:solidFill>
            <a:srgbClr val="962B7C"/>
          </a:solidFill>
          <a:ln w="12700">
            <a:solidFill>
              <a:srgbClr val="962B7C"/>
            </a:solidFill>
            <a:prstDash val="solid"/>
          </a:ln>
        </p:spPr>
      </p:sp>
      <p:sp>
        <p:nvSpPr>
          <p:cNvPr id="22" name="Text 19"/>
          <p:cNvSpPr txBox="1"/>
          <p:nvPr/>
        </p:nvSpPr>
        <p:spPr>
          <a:xfrm>
            <a:off x="73152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a:t>
            </a:r>
            <a:endParaRPr lang="en-US" sz="1600" dirty="0"/>
          </a:p>
        </p:txBody>
      </p:sp>
      <p:sp>
        <p:nvSpPr>
          <p:cNvPr id="23" name="Text 20"/>
          <p:cNvSpPr txBox="1"/>
          <p:nvPr/>
        </p:nvSpPr>
        <p:spPr>
          <a:xfrm>
            <a:off x="731520" y="2743200"/>
            <a:ext cx="2030654" cy="100584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Định hướng KAM</a:t>
            </a:r>
            <a:endParaRPr lang="en-US" sz="1600" dirty="0"/>
          </a:p>
        </p:txBody>
      </p:sp>
      <p:sp>
        <p:nvSpPr>
          <p:cNvPr id="24" name="Shape 21"/>
          <p:cNvSpPr/>
          <p:nvPr/>
        </p:nvSpPr>
        <p:spPr>
          <a:xfrm>
            <a:off x="3009062" y="2971800"/>
            <a:ext cx="374904" cy="914"/>
          </a:xfrm>
          <a:prstGeom prst="line">
            <a:avLst/>
          </a:prstGeom>
          <a:noFill/>
          <a:ln w="31750">
            <a:solidFill>
              <a:srgbClr val="2A2238"/>
            </a:solidFill>
            <a:prstDash val="solid"/>
            <a:tailEnd type="triangle"/>
          </a:ln>
        </p:spPr>
      </p:sp>
      <p:sp>
        <p:nvSpPr>
          <p:cNvPr id="25" name="Shape 22"/>
          <p:cNvSpPr/>
          <p:nvPr/>
        </p:nvSpPr>
        <p:spPr>
          <a:xfrm>
            <a:off x="3447974" y="2103120"/>
            <a:ext cx="2396414" cy="1737360"/>
          </a:xfrm>
          <a:prstGeom prst="roundRect">
            <a:avLst>
              <a:gd name="adj" fmla="val 6316"/>
            </a:avLst>
          </a:prstGeom>
          <a:solidFill>
            <a:srgbClr val="DDF1FB"/>
          </a:solidFill>
          <a:ln w="19050">
            <a:solidFill>
              <a:srgbClr val="09A1E5"/>
            </a:solidFill>
            <a:prstDash val="solid"/>
          </a:ln>
        </p:spPr>
      </p:sp>
      <p:sp>
        <p:nvSpPr>
          <p:cNvPr id="26" name="Shape 23"/>
          <p:cNvSpPr/>
          <p:nvPr/>
        </p:nvSpPr>
        <p:spPr>
          <a:xfrm>
            <a:off x="3630854" y="2240280"/>
            <a:ext cx="457200" cy="457200"/>
          </a:xfrm>
          <a:prstGeom prst="ellipse">
            <a:avLst/>
          </a:prstGeom>
          <a:solidFill>
            <a:srgbClr val="09A1E5"/>
          </a:solidFill>
          <a:ln w="12700">
            <a:solidFill>
              <a:srgbClr val="09A1E5"/>
            </a:solidFill>
            <a:prstDash val="solid"/>
          </a:ln>
        </p:spPr>
      </p:sp>
      <p:sp>
        <p:nvSpPr>
          <p:cNvPr id="27" name="Text 24"/>
          <p:cNvSpPr txBox="1"/>
          <p:nvPr/>
        </p:nvSpPr>
        <p:spPr>
          <a:xfrm>
            <a:off x="3630854"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2</a:t>
            </a:r>
            <a:endParaRPr lang="en-US" sz="1600" dirty="0"/>
          </a:p>
        </p:txBody>
      </p:sp>
      <p:sp>
        <p:nvSpPr>
          <p:cNvPr id="28" name="Text 25"/>
          <p:cNvSpPr txBox="1"/>
          <p:nvPr/>
        </p:nvSpPr>
        <p:spPr>
          <a:xfrm>
            <a:off x="3630854" y="2743200"/>
            <a:ext cx="2030654" cy="100584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Năng lực quan hệ &amp; năng lực KAM</a:t>
            </a:r>
            <a:endParaRPr lang="en-US" sz="1600" dirty="0"/>
          </a:p>
        </p:txBody>
      </p:sp>
      <p:sp>
        <p:nvSpPr>
          <p:cNvPr id="29" name="Shape 26"/>
          <p:cNvSpPr/>
          <p:nvPr/>
        </p:nvSpPr>
        <p:spPr>
          <a:xfrm>
            <a:off x="5908396" y="2971800"/>
            <a:ext cx="374904" cy="914"/>
          </a:xfrm>
          <a:prstGeom prst="line">
            <a:avLst/>
          </a:prstGeom>
          <a:noFill/>
          <a:ln w="31750">
            <a:solidFill>
              <a:srgbClr val="2A2238"/>
            </a:solidFill>
            <a:prstDash val="solid"/>
            <a:tailEnd type="triangle"/>
          </a:ln>
        </p:spPr>
      </p:sp>
      <p:sp>
        <p:nvSpPr>
          <p:cNvPr id="30" name="Shape 27"/>
          <p:cNvSpPr/>
          <p:nvPr/>
        </p:nvSpPr>
        <p:spPr>
          <a:xfrm>
            <a:off x="6347308" y="2103120"/>
            <a:ext cx="2396414" cy="1737360"/>
          </a:xfrm>
          <a:prstGeom prst="roundRect">
            <a:avLst>
              <a:gd name="adj" fmla="val 6316"/>
            </a:avLst>
          </a:prstGeom>
          <a:solidFill>
            <a:srgbClr val="FFE9DE"/>
          </a:solidFill>
          <a:ln w="19050">
            <a:solidFill>
              <a:srgbClr val="FF9259"/>
            </a:solidFill>
            <a:prstDash val="solid"/>
          </a:ln>
        </p:spPr>
      </p:sp>
      <p:sp>
        <p:nvSpPr>
          <p:cNvPr id="31" name="Shape 28"/>
          <p:cNvSpPr/>
          <p:nvPr/>
        </p:nvSpPr>
        <p:spPr>
          <a:xfrm>
            <a:off x="6530188" y="2240280"/>
            <a:ext cx="457200" cy="457200"/>
          </a:xfrm>
          <a:prstGeom prst="ellipse">
            <a:avLst/>
          </a:prstGeom>
          <a:solidFill>
            <a:srgbClr val="FF9259"/>
          </a:solidFill>
          <a:ln w="12700">
            <a:solidFill>
              <a:srgbClr val="FF9259"/>
            </a:solidFill>
            <a:prstDash val="solid"/>
          </a:ln>
        </p:spPr>
      </p:sp>
      <p:sp>
        <p:nvSpPr>
          <p:cNvPr id="32" name="Text 29"/>
          <p:cNvSpPr txBox="1"/>
          <p:nvPr/>
        </p:nvSpPr>
        <p:spPr>
          <a:xfrm>
            <a:off x="6530188" y="2240280"/>
            <a:ext cx="457200" cy="4572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3</a:t>
            </a:r>
            <a:endParaRPr lang="en-US" sz="1600" dirty="0"/>
          </a:p>
        </p:txBody>
      </p:sp>
      <p:sp>
        <p:nvSpPr>
          <p:cNvPr id="33" name="Text 30"/>
          <p:cNvSpPr txBox="1"/>
          <p:nvPr/>
        </p:nvSpPr>
        <p:spPr>
          <a:xfrm>
            <a:off x="6530188" y="2743200"/>
            <a:ext cx="2030654" cy="100584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Lợi thế cạnh tranh</a:t>
            </a:r>
            <a:endParaRPr lang="en-US" sz="1600" dirty="0"/>
          </a:p>
        </p:txBody>
      </p:sp>
      <p:sp>
        <p:nvSpPr>
          <p:cNvPr id="34" name="Shape 31"/>
          <p:cNvSpPr/>
          <p:nvPr/>
        </p:nvSpPr>
        <p:spPr>
          <a:xfrm>
            <a:off x="8807729" y="2971800"/>
            <a:ext cx="374904" cy="914"/>
          </a:xfrm>
          <a:prstGeom prst="line">
            <a:avLst/>
          </a:prstGeom>
          <a:noFill/>
          <a:ln w="31750">
            <a:solidFill>
              <a:srgbClr val="2A2238"/>
            </a:solidFill>
            <a:prstDash val="solid"/>
            <a:tailEnd type="triangle"/>
          </a:ln>
        </p:spPr>
      </p:sp>
      <p:sp>
        <p:nvSpPr>
          <p:cNvPr id="35" name="Shape 32"/>
          <p:cNvSpPr/>
          <p:nvPr/>
        </p:nvSpPr>
        <p:spPr>
          <a:xfrm>
            <a:off x="9246641" y="2103120"/>
            <a:ext cx="2396414" cy="1737360"/>
          </a:xfrm>
          <a:prstGeom prst="roundRect">
            <a:avLst>
              <a:gd name="adj" fmla="val 6316"/>
            </a:avLst>
          </a:prstGeom>
          <a:solidFill>
            <a:srgbClr val="E1F3EE"/>
          </a:solidFill>
          <a:ln w="19050">
            <a:solidFill>
              <a:srgbClr val="49B296"/>
            </a:solidFill>
            <a:prstDash val="solid"/>
          </a:ln>
        </p:spPr>
      </p:sp>
      <p:sp>
        <p:nvSpPr>
          <p:cNvPr id="36" name="Shape 33"/>
          <p:cNvSpPr/>
          <p:nvPr/>
        </p:nvSpPr>
        <p:spPr>
          <a:xfrm>
            <a:off x="9429521" y="2240280"/>
            <a:ext cx="457200" cy="457200"/>
          </a:xfrm>
          <a:prstGeom prst="ellipse">
            <a:avLst/>
          </a:prstGeom>
          <a:solidFill>
            <a:srgbClr val="49B296"/>
          </a:solidFill>
          <a:ln w="12700">
            <a:solidFill>
              <a:srgbClr val="49B296"/>
            </a:solidFill>
            <a:prstDash val="solid"/>
          </a:ln>
        </p:spPr>
      </p:sp>
      <p:sp>
        <p:nvSpPr>
          <p:cNvPr id="37" name="Text 34"/>
          <p:cNvSpPr txBox="1"/>
          <p:nvPr/>
        </p:nvSpPr>
        <p:spPr>
          <a:xfrm>
            <a:off x="9429521"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38" name="Text 35"/>
          <p:cNvSpPr txBox="1"/>
          <p:nvPr/>
        </p:nvSpPr>
        <p:spPr>
          <a:xfrm>
            <a:off x="9429521" y="2743200"/>
            <a:ext cx="2030654" cy="100584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Hiệu quả thị trường &amp; tài chính</a:t>
            </a:r>
            <a:endParaRPr lang="en-US" sz="1600" dirty="0"/>
          </a:p>
        </p:txBody>
      </p:sp>
      <p:sp>
        <p:nvSpPr>
          <p:cNvPr id="39" name="Shape 36"/>
          <p:cNvSpPr/>
          <p:nvPr/>
        </p:nvSpPr>
        <p:spPr>
          <a:xfrm>
            <a:off x="548640" y="4206240"/>
            <a:ext cx="5120640" cy="1737360"/>
          </a:xfrm>
          <a:prstGeom prst="roundRect">
            <a:avLst>
              <a:gd name="adj" fmla="val 6316"/>
            </a:avLst>
          </a:prstGeom>
          <a:solidFill>
            <a:srgbClr val="FFFFFF"/>
          </a:solidFill>
          <a:ln w="12700">
            <a:solidFill>
              <a:srgbClr val="DCD7C8"/>
            </a:solidFill>
            <a:prstDash val="solid"/>
          </a:ln>
        </p:spPr>
      </p:sp>
      <p:sp>
        <p:nvSpPr>
          <p:cNvPr id="40" name="Text 37"/>
          <p:cNvSpPr txBox="1"/>
          <p:nvPr/>
        </p:nvSpPr>
        <p:spPr>
          <a:xfrm>
            <a:off x="822960" y="4206240"/>
            <a:ext cx="4572000" cy="1737360"/>
          </a:xfrm>
          <a:prstGeom prst="rect">
            <a:avLst/>
          </a:prstGeom>
          <a:noFill/>
          <a:ln/>
        </p:spPr>
        <p:txBody>
          <a:bodyPr wrap="square" lIns="0" tIns="0" rIns="0" bIns="0" rtlCol="0" anchor="ctr"/>
          <a:lstStyle/>
          <a:p>
            <a:pPr indent="0" marL="0">
              <a:buNone/>
            </a:pPr>
            <a:r>
              <a:rPr lang="en-US" sz="4000" b="1" dirty="0">
                <a:solidFill>
                  <a:srgbClr val="0A7FB5"/>
                </a:solidFill>
                <a:latin typeface="Alexandria" pitchFamily="34" charset="0"/>
                <a:ea typeface="Alexandria" pitchFamily="34" charset="-122"/>
                <a:cs typeface="Alexandria" pitchFamily="34" charset="-120"/>
              </a:rPr>
              <a:t>568</a:t>
            </a:r>
            <a:endParaRPr lang="en-US" sz="4000" dirty="0"/>
          </a:p>
          <a:p>
            <a:pPr indent="0" marL="0">
              <a:buNone/>
            </a:pPr>
            <a:r>
              <a:rPr lang="en-US" sz="1500" dirty="0">
                <a:solidFill>
                  <a:srgbClr val="2A2238"/>
                </a:solidFill>
                <a:latin typeface="Alexandria" pitchFamily="34" charset="0"/>
                <a:ea typeface="Alexandria" pitchFamily="34" charset="-122"/>
                <a:cs typeface="Alexandria" pitchFamily="34" charset="-120"/>
              </a:rPr>
              <a:t>doanh nghiệp B2B châu Âu được khảo sát (T10)</a:t>
            </a:r>
            <a:endParaRPr lang="en-US" sz="4000" dirty="0"/>
          </a:p>
        </p:txBody>
      </p:sp>
      <p:sp>
        <p:nvSpPr>
          <p:cNvPr id="41" name="Shape 38"/>
          <p:cNvSpPr/>
          <p:nvPr/>
        </p:nvSpPr>
        <p:spPr>
          <a:xfrm>
            <a:off x="5943600" y="4206240"/>
            <a:ext cx="5699455" cy="1737360"/>
          </a:xfrm>
          <a:prstGeom prst="roundRect">
            <a:avLst>
              <a:gd name="adj" fmla="val 6316"/>
            </a:avLst>
          </a:prstGeom>
          <a:solidFill>
            <a:srgbClr val="FFF3C4"/>
          </a:solidFill>
          <a:ln w="12700">
            <a:solidFill>
              <a:srgbClr val="FFD23B"/>
            </a:solidFill>
            <a:prstDash val="solid"/>
          </a:ln>
        </p:spPr>
      </p:sp>
      <p:sp>
        <p:nvSpPr>
          <p:cNvPr id="42" name="Text 39"/>
          <p:cNvSpPr txBox="1"/>
          <p:nvPr/>
        </p:nvSpPr>
        <p:spPr>
          <a:xfrm>
            <a:off x="6217920" y="4206240"/>
            <a:ext cx="5150815" cy="173736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Sự hài lòng của Key Account </a:t>
            </a:r>
            <a:pPr indent="0" marL="0">
              <a:buNone/>
            </a:pPr>
            <a:r>
              <a:rPr lang="en-US" sz="1700" dirty="0">
                <a:solidFill>
                  <a:srgbClr val="2A2238"/>
                </a:solidFill>
                <a:latin typeface="Alexandria" pitchFamily="34" charset="0"/>
                <a:ea typeface="Alexandria" pitchFamily="34" charset="-122"/>
                <a:cs typeface="Alexandria" pitchFamily="34" charset="-120"/>
              </a:rPr>
              <a:t>bổ trợ lợi thế khác biệt hóa, làm tăng hiệu quả tài chính.</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Bộ chỉ số cho quan hệ Nova – An Phát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“được mời họp kế hoạch năm” theo T04; biên lợi nhuận nối cost-to-serve (Buổi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17</a:t>
            </a:r>
            <a:endParaRPr lang="en-US" sz="1000" dirty="0"/>
          </a:p>
        </p:txBody>
      </p:sp>
      <p:sp>
        <p:nvSpPr>
          <p:cNvPr id="20" name="Shape 17"/>
          <p:cNvSpPr/>
          <p:nvPr/>
        </p:nvSpPr>
        <p:spPr>
          <a:xfrm>
            <a:off x="548640" y="1783080"/>
            <a:ext cx="5410048" cy="502920"/>
          </a:xfrm>
          <a:prstGeom prst="roundRect">
            <a:avLst>
              <a:gd name="adj" fmla="val 50000"/>
            </a:avLst>
          </a:prstGeom>
          <a:solidFill>
            <a:srgbClr val="09A1E5"/>
          </a:solidFill>
          <a:ln w="12700">
            <a:solidFill>
              <a:srgbClr val="09A1E5"/>
            </a:solidFill>
            <a:prstDash val="solid"/>
          </a:ln>
        </p:spPr>
      </p:sp>
      <p:sp>
        <p:nvSpPr>
          <p:cNvPr id="21" name="Text 18"/>
          <p:cNvSpPr txBox="1"/>
          <p:nvPr/>
        </p:nvSpPr>
        <p:spPr>
          <a:xfrm>
            <a:off x="621792" y="1783080"/>
            <a:ext cx="526374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Quá trình · leading</a:t>
            </a:r>
            <a:endParaRPr lang="en-US" sz="1600" dirty="0"/>
          </a:p>
        </p:txBody>
      </p:sp>
      <p:sp>
        <p:nvSpPr>
          <p:cNvPr id="22" name="Shape 19"/>
          <p:cNvSpPr/>
          <p:nvPr/>
        </p:nvSpPr>
        <p:spPr>
          <a:xfrm>
            <a:off x="548640" y="2423160"/>
            <a:ext cx="5410048" cy="3611880"/>
          </a:xfrm>
          <a:prstGeom prst="roundRect">
            <a:avLst>
              <a:gd name="adj" fmla="val 3038"/>
            </a:avLst>
          </a:prstGeom>
          <a:solidFill>
            <a:srgbClr val="DDF1FB"/>
          </a:solidFill>
          <a:ln w="12700">
            <a:solidFill>
              <a:srgbClr val="DDF1FB"/>
            </a:solidFill>
            <a:prstDash val="solid"/>
          </a:ln>
        </p:spPr>
      </p:sp>
      <p:sp>
        <p:nvSpPr>
          <p:cNvPr id="23" name="Text 20"/>
          <p:cNvSpPr txBox="1"/>
          <p:nvPr/>
        </p:nvSpPr>
        <p:spPr>
          <a:xfrm>
            <a:off x="868680" y="2560320"/>
            <a:ext cx="4769968" cy="3337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Số đầu mối và số cấp Nova có quan hệ</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Nhịp gặp lãnh đạo hai bên</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Số buổi đánh giá định kỳ đúng hạn</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Thời gian phản hồi</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Mức hài lòng sau mỗi sự kiện</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Được mời vào họp kế hoạch năm?</a:t>
            </a:r>
            <a:endParaRPr lang="en-US" sz="1600" dirty="0"/>
          </a:p>
        </p:txBody>
      </p:sp>
      <p:sp>
        <p:nvSpPr>
          <p:cNvPr id="24" name="Shape 21"/>
          <p:cNvSpPr/>
          <p:nvPr/>
        </p:nvSpPr>
        <p:spPr>
          <a:xfrm>
            <a:off x="6233008" y="1783080"/>
            <a:ext cx="5410048" cy="502920"/>
          </a:xfrm>
          <a:prstGeom prst="roundRect">
            <a:avLst>
              <a:gd name="adj" fmla="val 50000"/>
            </a:avLst>
          </a:prstGeom>
          <a:solidFill>
            <a:srgbClr val="962B7C"/>
          </a:solidFill>
          <a:ln w="12700">
            <a:solidFill>
              <a:srgbClr val="962B7C"/>
            </a:solidFill>
            <a:prstDash val="solid"/>
          </a:ln>
        </p:spPr>
      </p:sp>
      <p:sp>
        <p:nvSpPr>
          <p:cNvPr id="25" name="Text 22"/>
          <p:cNvSpPr txBox="1"/>
          <p:nvPr/>
        </p:nvSpPr>
        <p:spPr>
          <a:xfrm>
            <a:off x="6306160" y="1783080"/>
            <a:ext cx="5263744"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Kết quả · lagging</a:t>
            </a:r>
            <a:endParaRPr lang="en-US" sz="1600" dirty="0"/>
          </a:p>
        </p:txBody>
      </p:sp>
      <p:sp>
        <p:nvSpPr>
          <p:cNvPr id="26" name="Shape 23"/>
          <p:cNvSpPr/>
          <p:nvPr/>
        </p:nvSpPr>
        <p:spPr>
          <a:xfrm>
            <a:off x="6233008" y="2423160"/>
            <a:ext cx="5410048" cy="3611880"/>
          </a:xfrm>
          <a:prstGeom prst="roundRect">
            <a:avLst>
              <a:gd name="adj" fmla="val 3038"/>
            </a:avLst>
          </a:prstGeom>
          <a:solidFill>
            <a:srgbClr val="F1E1EE"/>
          </a:solidFill>
          <a:ln w="12700">
            <a:solidFill>
              <a:srgbClr val="F1E1EE"/>
            </a:solidFill>
            <a:prstDash val="solid"/>
          </a:ln>
        </p:spPr>
      </p:sp>
      <p:sp>
        <p:nvSpPr>
          <p:cNvPr id="27" name="Text 24"/>
          <p:cNvSpPr txBox="1"/>
          <p:nvPr/>
        </p:nvSpPr>
        <p:spPr>
          <a:xfrm>
            <a:off x="6553048" y="2560320"/>
            <a:ext cx="4769968" cy="3337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Doanh thu từ An Phát / năm</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Biên lợi nhuận trên An Phát (cost-to-serve)</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Share of wallet: tỷ trọng ngân sách sự kiện Nova nắm</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Số năm quan hệ, tái ký</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ROI Methodology: đặt mục tiêu từ trên xuống, đo từ dưới lên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T11: Phillips, Breining &amp; Phillips (2008); Event ROI Institute · T12: Amex GBT (2025), chưa KCC.</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18</a:t>
            </a:r>
            <a:endParaRPr lang="en-US" sz="1000" dirty="0"/>
          </a:p>
        </p:txBody>
      </p:sp>
      <p:sp>
        <p:nvSpPr>
          <p:cNvPr id="20" name="Text 17"/>
          <p:cNvSpPr txBox="1"/>
          <p:nvPr/>
        </p:nvSpPr>
        <p:spPr>
          <a:xfrm>
            <a:off x="548640" y="1737360"/>
            <a:ext cx="4754880" cy="365760"/>
          </a:xfrm>
          <a:prstGeom prst="rect">
            <a:avLst/>
          </a:prstGeom>
          <a:noFill/>
          <a:ln/>
        </p:spPr>
        <p:txBody>
          <a:bodyPr wrap="square" lIns="0" tIns="0" rIns="0" bIns="0" rtlCol="0" anchor="ctr"/>
          <a:lstStyle/>
          <a:p>
            <a:pPr indent="0" marL="0">
              <a:buNone/>
            </a:pPr>
            <a:r>
              <a:rPr lang="en-US" sz="1500" b="1" dirty="0">
                <a:solidFill>
                  <a:srgbClr val="D9622B"/>
                </a:solidFill>
                <a:latin typeface="Alexandria" pitchFamily="34" charset="0"/>
                <a:ea typeface="Alexandria" pitchFamily="34" charset="-122"/>
                <a:cs typeface="Alexandria" pitchFamily="34" charset="-120"/>
              </a:rPr>
              <a:t>5 cấp — ROI Institute</a:t>
            </a:r>
            <a:endParaRPr lang="en-US" sz="1500" dirty="0"/>
          </a:p>
        </p:txBody>
      </p:sp>
      <p:sp>
        <p:nvSpPr>
          <p:cNvPr id="21" name="Shape 18"/>
          <p:cNvSpPr/>
          <p:nvPr/>
        </p:nvSpPr>
        <p:spPr>
          <a:xfrm>
            <a:off x="548640" y="4663440"/>
            <a:ext cx="841248" cy="868680"/>
          </a:xfrm>
          <a:prstGeom prst="rect">
            <a:avLst/>
          </a:prstGeom>
          <a:solidFill>
            <a:srgbClr val="FFE9DE"/>
          </a:solidFill>
          <a:ln w="12700">
            <a:solidFill>
              <a:srgbClr val="FF9259"/>
            </a:solidFill>
            <a:prstDash val="solid"/>
          </a:ln>
        </p:spPr>
      </p:sp>
      <p:sp>
        <p:nvSpPr>
          <p:cNvPr id="22" name="Text 19"/>
          <p:cNvSpPr txBox="1"/>
          <p:nvPr/>
        </p:nvSpPr>
        <p:spPr>
          <a:xfrm>
            <a:off x="548640" y="4736592"/>
            <a:ext cx="841248"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a:t>
            </a:r>
            <a:endParaRPr lang="en-US" sz="1600" dirty="0"/>
          </a:p>
        </p:txBody>
      </p:sp>
      <p:sp>
        <p:nvSpPr>
          <p:cNvPr id="23" name="Text 20"/>
          <p:cNvSpPr txBox="1"/>
          <p:nvPr/>
        </p:nvSpPr>
        <p:spPr>
          <a:xfrm>
            <a:off x="585216" y="5102352"/>
            <a:ext cx="768096" cy="36576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Reaction</a:t>
            </a:r>
            <a:endParaRPr lang="en-US" sz="1000" dirty="0"/>
          </a:p>
        </p:txBody>
      </p:sp>
      <p:sp>
        <p:nvSpPr>
          <p:cNvPr id="24" name="Shape 21"/>
          <p:cNvSpPr/>
          <p:nvPr/>
        </p:nvSpPr>
        <p:spPr>
          <a:xfrm>
            <a:off x="1444752" y="4034790"/>
            <a:ext cx="841248" cy="1497330"/>
          </a:xfrm>
          <a:prstGeom prst="rect">
            <a:avLst/>
          </a:prstGeom>
          <a:solidFill>
            <a:srgbClr val="FFE9DE"/>
          </a:solidFill>
          <a:ln w="12700">
            <a:solidFill>
              <a:srgbClr val="FF9259"/>
            </a:solidFill>
            <a:prstDash val="solid"/>
          </a:ln>
        </p:spPr>
      </p:sp>
      <p:sp>
        <p:nvSpPr>
          <p:cNvPr id="25" name="Text 22"/>
          <p:cNvSpPr txBox="1"/>
          <p:nvPr/>
        </p:nvSpPr>
        <p:spPr>
          <a:xfrm>
            <a:off x="1444752" y="4107942"/>
            <a:ext cx="841248"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2</a:t>
            </a:r>
            <a:endParaRPr lang="en-US" sz="1600" dirty="0"/>
          </a:p>
        </p:txBody>
      </p:sp>
      <p:sp>
        <p:nvSpPr>
          <p:cNvPr id="26" name="Text 23"/>
          <p:cNvSpPr txBox="1"/>
          <p:nvPr/>
        </p:nvSpPr>
        <p:spPr>
          <a:xfrm>
            <a:off x="1481328" y="4473702"/>
            <a:ext cx="768096" cy="99441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Learning</a:t>
            </a:r>
            <a:endParaRPr lang="en-US" sz="1000" dirty="0"/>
          </a:p>
        </p:txBody>
      </p:sp>
      <p:sp>
        <p:nvSpPr>
          <p:cNvPr id="27" name="Shape 24"/>
          <p:cNvSpPr/>
          <p:nvPr/>
        </p:nvSpPr>
        <p:spPr>
          <a:xfrm>
            <a:off x="2340864" y="3406140"/>
            <a:ext cx="841248" cy="2125980"/>
          </a:xfrm>
          <a:prstGeom prst="rect">
            <a:avLst/>
          </a:prstGeom>
          <a:solidFill>
            <a:srgbClr val="FFE9DE"/>
          </a:solidFill>
          <a:ln w="12700">
            <a:solidFill>
              <a:srgbClr val="FF9259"/>
            </a:solidFill>
            <a:prstDash val="solid"/>
          </a:ln>
        </p:spPr>
      </p:sp>
      <p:sp>
        <p:nvSpPr>
          <p:cNvPr id="28" name="Text 25"/>
          <p:cNvSpPr txBox="1"/>
          <p:nvPr/>
        </p:nvSpPr>
        <p:spPr>
          <a:xfrm>
            <a:off x="2340864" y="3479292"/>
            <a:ext cx="841248"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3</a:t>
            </a:r>
            <a:endParaRPr lang="en-US" sz="1600" dirty="0"/>
          </a:p>
        </p:txBody>
      </p:sp>
      <p:sp>
        <p:nvSpPr>
          <p:cNvPr id="29" name="Text 26"/>
          <p:cNvSpPr txBox="1"/>
          <p:nvPr/>
        </p:nvSpPr>
        <p:spPr>
          <a:xfrm>
            <a:off x="2377440" y="3845052"/>
            <a:ext cx="768096" cy="162306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Application</a:t>
            </a:r>
            <a:endParaRPr lang="en-US" sz="1000" dirty="0"/>
          </a:p>
        </p:txBody>
      </p:sp>
      <p:sp>
        <p:nvSpPr>
          <p:cNvPr id="30" name="Shape 27"/>
          <p:cNvSpPr/>
          <p:nvPr/>
        </p:nvSpPr>
        <p:spPr>
          <a:xfrm>
            <a:off x="3236976" y="2777490"/>
            <a:ext cx="841248" cy="2754630"/>
          </a:xfrm>
          <a:prstGeom prst="rect">
            <a:avLst/>
          </a:prstGeom>
          <a:solidFill>
            <a:srgbClr val="FFE9DE"/>
          </a:solidFill>
          <a:ln w="12700">
            <a:solidFill>
              <a:srgbClr val="FF9259"/>
            </a:solidFill>
            <a:prstDash val="solid"/>
          </a:ln>
        </p:spPr>
      </p:sp>
      <p:sp>
        <p:nvSpPr>
          <p:cNvPr id="31" name="Text 28"/>
          <p:cNvSpPr txBox="1"/>
          <p:nvPr/>
        </p:nvSpPr>
        <p:spPr>
          <a:xfrm>
            <a:off x="3236976" y="2850642"/>
            <a:ext cx="841248"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4</a:t>
            </a:r>
            <a:endParaRPr lang="en-US" sz="1600" dirty="0"/>
          </a:p>
        </p:txBody>
      </p:sp>
      <p:sp>
        <p:nvSpPr>
          <p:cNvPr id="32" name="Text 29"/>
          <p:cNvSpPr txBox="1"/>
          <p:nvPr/>
        </p:nvSpPr>
        <p:spPr>
          <a:xfrm>
            <a:off x="3273552" y="3216402"/>
            <a:ext cx="768096" cy="225171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Impact</a:t>
            </a:r>
            <a:endParaRPr lang="en-US" sz="1000" dirty="0"/>
          </a:p>
        </p:txBody>
      </p:sp>
      <p:sp>
        <p:nvSpPr>
          <p:cNvPr id="33" name="Shape 30"/>
          <p:cNvSpPr/>
          <p:nvPr/>
        </p:nvSpPr>
        <p:spPr>
          <a:xfrm>
            <a:off x="4133088" y="2148840"/>
            <a:ext cx="841248" cy="3383280"/>
          </a:xfrm>
          <a:prstGeom prst="rect">
            <a:avLst/>
          </a:prstGeom>
          <a:solidFill>
            <a:srgbClr val="FFE9DE"/>
          </a:solidFill>
          <a:ln w="12700">
            <a:solidFill>
              <a:srgbClr val="FF9259"/>
            </a:solidFill>
            <a:prstDash val="solid"/>
          </a:ln>
        </p:spPr>
      </p:sp>
      <p:sp>
        <p:nvSpPr>
          <p:cNvPr id="34" name="Text 31"/>
          <p:cNvSpPr txBox="1"/>
          <p:nvPr/>
        </p:nvSpPr>
        <p:spPr>
          <a:xfrm>
            <a:off x="4133088" y="2221992"/>
            <a:ext cx="841248"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5</a:t>
            </a:r>
            <a:endParaRPr lang="en-US" sz="1600" dirty="0"/>
          </a:p>
        </p:txBody>
      </p:sp>
      <p:sp>
        <p:nvSpPr>
          <p:cNvPr id="35" name="Text 32"/>
          <p:cNvSpPr txBox="1"/>
          <p:nvPr/>
        </p:nvSpPr>
        <p:spPr>
          <a:xfrm>
            <a:off x="4169664" y="2587752"/>
            <a:ext cx="768096" cy="288036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ROI</a:t>
            </a:r>
            <a:endParaRPr lang="en-US" sz="1000" dirty="0"/>
          </a:p>
        </p:txBody>
      </p:sp>
      <p:sp>
        <p:nvSpPr>
          <p:cNvPr id="36" name="Text 33"/>
          <p:cNvSpPr txBox="1"/>
          <p:nvPr/>
        </p:nvSpPr>
        <p:spPr>
          <a:xfrm>
            <a:off x="5349240" y="1737360"/>
            <a:ext cx="4937760" cy="365760"/>
          </a:xfrm>
          <a:prstGeom prst="rect">
            <a:avLst/>
          </a:prstGeom>
          <a:noFill/>
          <a:ln/>
        </p:spPr>
        <p:txBody>
          <a:bodyPr wrap="square" lIns="0" tIns="0" rIns="0" bIns="0" rtlCol="0" anchor="ctr"/>
          <a:lstStyle/>
          <a:p>
            <a:pPr indent="0" marL="0">
              <a:buNone/>
            </a:pPr>
            <a:r>
              <a:rPr lang="en-US" sz="1500" b="1" dirty="0">
                <a:solidFill>
                  <a:srgbClr val="0A7FB5"/>
                </a:solidFill>
                <a:latin typeface="Alexandria" pitchFamily="34" charset="0"/>
                <a:ea typeface="Alexandria" pitchFamily="34" charset="-122"/>
                <a:cs typeface="Alexandria" pitchFamily="34" charset="-120"/>
              </a:rPr>
              <a:t>6 cấp — Event ROI Institute</a:t>
            </a:r>
            <a:endParaRPr lang="en-US" sz="1500" dirty="0"/>
          </a:p>
        </p:txBody>
      </p:sp>
      <p:sp>
        <p:nvSpPr>
          <p:cNvPr id="37" name="Shape 34"/>
          <p:cNvSpPr/>
          <p:nvPr/>
        </p:nvSpPr>
        <p:spPr>
          <a:xfrm>
            <a:off x="5349240" y="4663440"/>
            <a:ext cx="768096" cy="868680"/>
          </a:xfrm>
          <a:prstGeom prst="rect">
            <a:avLst/>
          </a:prstGeom>
          <a:solidFill>
            <a:srgbClr val="09A1E5"/>
          </a:solidFill>
          <a:ln w="12700">
            <a:solidFill>
              <a:srgbClr val="09A1E5"/>
            </a:solidFill>
            <a:prstDash val="solid"/>
          </a:ln>
        </p:spPr>
      </p:sp>
      <p:sp>
        <p:nvSpPr>
          <p:cNvPr id="38" name="Text 35"/>
          <p:cNvSpPr txBox="1"/>
          <p:nvPr/>
        </p:nvSpPr>
        <p:spPr>
          <a:xfrm>
            <a:off x="5349240" y="4736592"/>
            <a:ext cx="768096"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0</a:t>
            </a:r>
            <a:endParaRPr lang="en-US" sz="1600" dirty="0"/>
          </a:p>
        </p:txBody>
      </p:sp>
      <p:sp>
        <p:nvSpPr>
          <p:cNvPr id="39" name="Text 36"/>
          <p:cNvSpPr txBox="1"/>
          <p:nvPr/>
        </p:nvSpPr>
        <p:spPr>
          <a:xfrm>
            <a:off x="5385816" y="5102352"/>
            <a:ext cx="694944" cy="365760"/>
          </a:xfrm>
          <a:prstGeom prst="rect">
            <a:avLst/>
          </a:prstGeom>
          <a:noFill/>
          <a:ln/>
        </p:spPr>
        <p:txBody>
          <a:bodyPr wrap="square" lIns="0" tIns="0" rIns="0" bIns="0" rtlCol="0" anchor="t"/>
          <a:lstStyle/>
          <a:p>
            <a:pPr algn="ctr" indent="0" marL="0">
              <a:buNone/>
            </a:pPr>
            <a:r>
              <a:rPr lang="en-US" sz="1000" dirty="0">
                <a:solidFill>
                  <a:srgbClr val="FFFFFF"/>
                </a:solidFill>
                <a:latin typeface="Alexandria" pitchFamily="34" charset="0"/>
                <a:ea typeface="Alexandria" pitchFamily="34" charset="-122"/>
                <a:cs typeface="Alexandria" pitchFamily="34" charset="-120"/>
              </a:rPr>
              <a:t>Đúng người</a:t>
            </a:r>
            <a:endParaRPr lang="en-US" sz="1000" dirty="0"/>
          </a:p>
        </p:txBody>
      </p:sp>
      <p:sp>
        <p:nvSpPr>
          <p:cNvPr id="40" name="Shape 37"/>
          <p:cNvSpPr/>
          <p:nvPr/>
        </p:nvSpPr>
        <p:spPr>
          <a:xfrm>
            <a:off x="6172200" y="4160520"/>
            <a:ext cx="768096" cy="1371600"/>
          </a:xfrm>
          <a:prstGeom prst="rect">
            <a:avLst/>
          </a:prstGeom>
          <a:solidFill>
            <a:srgbClr val="DDF1FB"/>
          </a:solidFill>
          <a:ln w="12700">
            <a:solidFill>
              <a:srgbClr val="09A1E5"/>
            </a:solidFill>
            <a:prstDash val="solid"/>
          </a:ln>
        </p:spPr>
      </p:sp>
      <p:sp>
        <p:nvSpPr>
          <p:cNvPr id="41" name="Text 38"/>
          <p:cNvSpPr txBox="1"/>
          <p:nvPr/>
        </p:nvSpPr>
        <p:spPr>
          <a:xfrm>
            <a:off x="6172200" y="4233672"/>
            <a:ext cx="768096"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1</a:t>
            </a:r>
            <a:endParaRPr lang="en-US" sz="1600" dirty="0"/>
          </a:p>
        </p:txBody>
      </p:sp>
      <p:sp>
        <p:nvSpPr>
          <p:cNvPr id="42" name="Text 39"/>
          <p:cNvSpPr txBox="1"/>
          <p:nvPr/>
        </p:nvSpPr>
        <p:spPr>
          <a:xfrm>
            <a:off x="6208776" y="4599432"/>
            <a:ext cx="694944" cy="86868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Hài lòng</a:t>
            </a:r>
            <a:endParaRPr lang="en-US" sz="1000" dirty="0"/>
          </a:p>
        </p:txBody>
      </p:sp>
      <p:sp>
        <p:nvSpPr>
          <p:cNvPr id="43" name="Shape 40"/>
          <p:cNvSpPr/>
          <p:nvPr/>
        </p:nvSpPr>
        <p:spPr>
          <a:xfrm>
            <a:off x="6995160" y="3657600"/>
            <a:ext cx="768096" cy="1874520"/>
          </a:xfrm>
          <a:prstGeom prst="rect">
            <a:avLst/>
          </a:prstGeom>
          <a:solidFill>
            <a:srgbClr val="DDF1FB"/>
          </a:solidFill>
          <a:ln w="12700">
            <a:solidFill>
              <a:srgbClr val="09A1E5"/>
            </a:solidFill>
            <a:prstDash val="solid"/>
          </a:ln>
        </p:spPr>
      </p:sp>
      <p:sp>
        <p:nvSpPr>
          <p:cNvPr id="44" name="Text 41"/>
          <p:cNvSpPr txBox="1"/>
          <p:nvPr/>
        </p:nvSpPr>
        <p:spPr>
          <a:xfrm>
            <a:off x="6995160" y="3730752"/>
            <a:ext cx="768096"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2</a:t>
            </a:r>
            <a:endParaRPr lang="en-US" sz="1600" dirty="0"/>
          </a:p>
        </p:txBody>
      </p:sp>
      <p:sp>
        <p:nvSpPr>
          <p:cNvPr id="45" name="Text 42"/>
          <p:cNvSpPr txBox="1"/>
          <p:nvPr/>
        </p:nvSpPr>
        <p:spPr>
          <a:xfrm>
            <a:off x="7031736" y="4096512"/>
            <a:ext cx="694944" cy="137160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Learning</a:t>
            </a:r>
            <a:endParaRPr lang="en-US" sz="1000" dirty="0"/>
          </a:p>
        </p:txBody>
      </p:sp>
      <p:sp>
        <p:nvSpPr>
          <p:cNvPr id="46" name="Shape 43"/>
          <p:cNvSpPr/>
          <p:nvPr/>
        </p:nvSpPr>
        <p:spPr>
          <a:xfrm>
            <a:off x="7818120" y="3154680"/>
            <a:ext cx="768096" cy="2377440"/>
          </a:xfrm>
          <a:prstGeom prst="rect">
            <a:avLst/>
          </a:prstGeom>
          <a:solidFill>
            <a:srgbClr val="DDF1FB"/>
          </a:solidFill>
          <a:ln w="12700">
            <a:solidFill>
              <a:srgbClr val="09A1E5"/>
            </a:solidFill>
            <a:prstDash val="solid"/>
          </a:ln>
        </p:spPr>
      </p:sp>
      <p:sp>
        <p:nvSpPr>
          <p:cNvPr id="47" name="Text 44"/>
          <p:cNvSpPr txBox="1"/>
          <p:nvPr/>
        </p:nvSpPr>
        <p:spPr>
          <a:xfrm>
            <a:off x="7818120" y="3227832"/>
            <a:ext cx="768096"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3</a:t>
            </a:r>
            <a:endParaRPr lang="en-US" sz="1600" dirty="0"/>
          </a:p>
        </p:txBody>
      </p:sp>
      <p:sp>
        <p:nvSpPr>
          <p:cNvPr id="48" name="Text 45"/>
          <p:cNvSpPr txBox="1"/>
          <p:nvPr/>
        </p:nvSpPr>
        <p:spPr>
          <a:xfrm>
            <a:off x="7854696" y="3593592"/>
            <a:ext cx="694944" cy="187452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Behaviour</a:t>
            </a:r>
            <a:endParaRPr lang="en-US" sz="1000" dirty="0"/>
          </a:p>
        </p:txBody>
      </p:sp>
      <p:sp>
        <p:nvSpPr>
          <p:cNvPr id="49" name="Shape 46"/>
          <p:cNvSpPr/>
          <p:nvPr/>
        </p:nvSpPr>
        <p:spPr>
          <a:xfrm>
            <a:off x="8641080" y="2651760"/>
            <a:ext cx="768096" cy="2880360"/>
          </a:xfrm>
          <a:prstGeom prst="rect">
            <a:avLst/>
          </a:prstGeom>
          <a:solidFill>
            <a:srgbClr val="DDF1FB"/>
          </a:solidFill>
          <a:ln w="12700">
            <a:solidFill>
              <a:srgbClr val="09A1E5"/>
            </a:solidFill>
            <a:prstDash val="solid"/>
          </a:ln>
        </p:spPr>
      </p:sp>
      <p:sp>
        <p:nvSpPr>
          <p:cNvPr id="50" name="Text 47"/>
          <p:cNvSpPr txBox="1"/>
          <p:nvPr/>
        </p:nvSpPr>
        <p:spPr>
          <a:xfrm>
            <a:off x="8641080" y="2724912"/>
            <a:ext cx="768096"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4</a:t>
            </a:r>
            <a:endParaRPr lang="en-US" sz="1600" dirty="0"/>
          </a:p>
        </p:txBody>
      </p:sp>
      <p:sp>
        <p:nvSpPr>
          <p:cNvPr id="51" name="Text 48"/>
          <p:cNvSpPr txBox="1"/>
          <p:nvPr/>
        </p:nvSpPr>
        <p:spPr>
          <a:xfrm>
            <a:off x="8677656" y="3090672"/>
            <a:ext cx="694944" cy="237744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Impact</a:t>
            </a:r>
            <a:endParaRPr lang="en-US" sz="1000" dirty="0"/>
          </a:p>
        </p:txBody>
      </p:sp>
      <p:sp>
        <p:nvSpPr>
          <p:cNvPr id="52" name="Shape 49"/>
          <p:cNvSpPr/>
          <p:nvPr/>
        </p:nvSpPr>
        <p:spPr>
          <a:xfrm>
            <a:off x="9464040" y="2148840"/>
            <a:ext cx="768096" cy="3383280"/>
          </a:xfrm>
          <a:prstGeom prst="rect">
            <a:avLst/>
          </a:prstGeom>
          <a:solidFill>
            <a:srgbClr val="DDF1FB"/>
          </a:solidFill>
          <a:ln w="12700">
            <a:solidFill>
              <a:srgbClr val="09A1E5"/>
            </a:solidFill>
            <a:prstDash val="solid"/>
          </a:ln>
        </p:spPr>
      </p:sp>
      <p:sp>
        <p:nvSpPr>
          <p:cNvPr id="53" name="Text 50"/>
          <p:cNvSpPr txBox="1"/>
          <p:nvPr/>
        </p:nvSpPr>
        <p:spPr>
          <a:xfrm>
            <a:off x="9464040" y="2221992"/>
            <a:ext cx="768096" cy="365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5</a:t>
            </a:r>
            <a:endParaRPr lang="en-US" sz="1600" dirty="0"/>
          </a:p>
        </p:txBody>
      </p:sp>
      <p:sp>
        <p:nvSpPr>
          <p:cNvPr id="54" name="Text 51"/>
          <p:cNvSpPr txBox="1"/>
          <p:nvPr/>
        </p:nvSpPr>
        <p:spPr>
          <a:xfrm>
            <a:off x="9500616" y="2587752"/>
            <a:ext cx="694944" cy="2880360"/>
          </a:xfrm>
          <a:prstGeom prst="rect">
            <a:avLst/>
          </a:prstGeom>
          <a:noFill/>
          <a:ln/>
        </p:spPr>
        <p:txBody>
          <a:bodyPr wrap="square" lIns="0" tIns="0" rIns="0" bIns="0" rtlCol="0" anchor="t"/>
          <a:lstStyle/>
          <a:p>
            <a:pPr algn="ctr" indent="0" marL="0">
              <a:buNone/>
            </a:pPr>
            <a:r>
              <a:rPr lang="en-US" sz="1000" dirty="0">
                <a:solidFill>
                  <a:srgbClr val="2A2238"/>
                </a:solidFill>
                <a:latin typeface="Alexandria" pitchFamily="34" charset="0"/>
                <a:ea typeface="Alexandria" pitchFamily="34" charset="-122"/>
                <a:cs typeface="Alexandria" pitchFamily="34" charset="-120"/>
              </a:rPr>
              <a:t>ROI</a:t>
            </a:r>
            <a:endParaRPr lang="en-US" sz="1000" dirty="0"/>
          </a:p>
        </p:txBody>
      </p:sp>
      <p:sp>
        <p:nvSpPr>
          <p:cNvPr id="55" name="Shape 52"/>
          <p:cNvSpPr/>
          <p:nvPr/>
        </p:nvSpPr>
        <p:spPr>
          <a:xfrm>
            <a:off x="10607040" y="2148840"/>
            <a:ext cx="914" cy="1463040"/>
          </a:xfrm>
          <a:prstGeom prst="line">
            <a:avLst/>
          </a:prstGeom>
          <a:noFill/>
          <a:ln w="38100">
            <a:solidFill>
              <a:srgbClr val="962B7C"/>
            </a:solidFill>
            <a:prstDash val="solid"/>
            <a:tailEnd type="triangle"/>
          </a:ln>
        </p:spPr>
      </p:sp>
      <p:sp>
        <p:nvSpPr>
          <p:cNvPr id="56" name="Text 53"/>
          <p:cNvSpPr txBox="1"/>
          <p:nvPr/>
        </p:nvSpPr>
        <p:spPr>
          <a:xfrm>
            <a:off x="10789920" y="2148840"/>
            <a:ext cx="853135" cy="146304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đặt mục tiêu từ cấp 5</a:t>
            </a:r>
            <a:endParaRPr lang="en-US" sz="1200" dirty="0"/>
          </a:p>
        </p:txBody>
      </p:sp>
      <p:sp>
        <p:nvSpPr>
          <p:cNvPr id="57" name="Shape 54"/>
          <p:cNvSpPr/>
          <p:nvPr/>
        </p:nvSpPr>
        <p:spPr>
          <a:xfrm flipV="1">
            <a:off x="10607040" y="4069080"/>
            <a:ext cx="914" cy="1463040"/>
          </a:xfrm>
          <a:prstGeom prst="line">
            <a:avLst/>
          </a:prstGeom>
          <a:noFill/>
          <a:ln w="38100">
            <a:solidFill>
              <a:srgbClr val="49B296"/>
            </a:solidFill>
            <a:prstDash val="solid"/>
            <a:tailEnd type="triangle"/>
          </a:ln>
        </p:spPr>
      </p:sp>
      <p:sp>
        <p:nvSpPr>
          <p:cNvPr id="58" name="Text 55"/>
          <p:cNvSpPr txBox="1"/>
          <p:nvPr/>
        </p:nvSpPr>
        <p:spPr>
          <a:xfrm>
            <a:off x="10789920" y="4069080"/>
            <a:ext cx="853135" cy="1463040"/>
          </a:xfrm>
          <a:prstGeom prst="rect">
            <a:avLst/>
          </a:prstGeom>
          <a:noFill/>
          <a:ln/>
        </p:spPr>
        <p:txBody>
          <a:bodyPr wrap="square" lIns="0" tIns="0" rIns="0" bIns="0" rtlCol="0" anchor="ctr"/>
          <a:lstStyle/>
          <a:p>
            <a:pPr indent="0" marL="0">
              <a:buNone/>
            </a:pPr>
            <a:r>
              <a:rPr lang="en-US" sz="1200" b="1" dirty="0">
                <a:solidFill>
                  <a:srgbClr val="2E8A71"/>
                </a:solidFill>
                <a:latin typeface="Alexandria" pitchFamily="34" charset="0"/>
                <a:ea typeface="Alexandria" pitchFamily="34" charset="-122"/>
                <a:cs typeface="Alexandria" pitchFamily="34" charset="-120"/>
              </a:rPr>
              <a:t>đo từ cấp 0 / 1</a:t>
            </a:r>
            <a:endParaRPr lang="en-US" sz="1200" dirty="0"/>
          </a:p>
        </p:txBody>
      </p:sp>
      <p:sp>
        <p:nvSpPr>
          <p:cNvPr id="59" name="Shape 56"/>
          <p:cNvSpPr/>
          <p:nvPr/>
        </p:nvSpPr>
        <p:spPr>
          <a:xfrm>
            <a:off x="548640" y="5669280"/>
            <a:ext cx="11094415" cy="548640"/>
          </a:xfrm>
          <a:prstGeom prst="roundRect">
            <a:avLst>
              <a:gd name="adj" fmla="val 20000"/>
            </a:avLst>
          </a:prstGeom>
          <a:solidFill>
            <a:srgbClr val="FFF3C4"/>
          </a:solidFill>
          <a:ln w="12700">
            <a:solidFill>
              <a:srgbClr val="FFD23B"/>
            </a:solidFill>
            <a:prstDash val="solid"/>
          </a:ln>
        </p:spPr>
      </p:sp>
      <p:sp>
        <p:nvSpPr>
          <p:cNvPr id="60" name="Text 57"/>
          <p:cNvSpPr txBox="1"/>
          <p:nvPr/>
        </p:nvSpPr>
        <p:spPr>
          <a:xfrm>
            <a:off x="777240" y="5669280"/>
            <a:ext cx="10637215"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Thực tế: hầu hết tổ chức chỉ đo cấp 1 — phiếu khảo sát cuối sự kiện (T11).</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Khung 6 cấp thêm “đúng người”, “học về quan hệ” và “sứ mệnh thay ROI”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T11: Event ROI Institute, Methodology.</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19</a:t>
            </a:r>
            <a:endParaRPr lang="en-US" sz="1000" dirty="0"/>
          </a:p>
        </p:txBody>
      </p:sp>
      <p:sp>
        <p:nvSpPr>
          <p:cNvPr id="20" name="Shape 17"/>
          <p:cNvSpPr/>
          <p:nvPr/>
        </p:nvSpPr>
        <p:spPr>
          <a:xfrm>
            <a:off x="548640" y="1874520"/>
            <a:ext cx="3515258" cy="2743200"/>
          </a:xfrm>
          <a:prstGeom prst="roundRect">
            <a:avLst>
              <a:gd name="adj" fmla="val 4000"/>
            </a:avLst>
          </a:prstGeom>
          <a:solidFill>
            <a:srgbClr val="F1E1EE"/>
          </a:solidFill>
          <a:ln w="12700">
            <a:solidFill>
              <a:srgbClr val="962B7C"/>
            </a:solidFill>
            <a:prstDash val="solid"/>
          </a:ln>
        </p:spPr>
      </p:sp>
      <p:sp>
        <p:nvSpPr>
          <p:cNvPr id="21" name="Text 18"/>
          <p:cNvSpPr txBox="1"/>
          <p:nvPr/>
        </p:nvSpPr>
        <p:spPr>
          <a:xfrm>
            <a:off x="868680" y="2057400"/>
            <a:ext cx="914400" cy="32004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Cấp</a:t>
            </a:r>
            <a:endParaRPr lang="en-US" sz="1300" dirty="0"/>
          </a:p>
        </p:txBody>
      </p:sp>
      <p:sp>
        <p:nvSpPr>
          <p:cNvPr id="22" name="Text 19"/>
          <p:cNvSpPr txBox="1"/>
          <p:nvPr/>
        </p:nvSpPr>
        <p:spPr>
          <a:xfrm>
            <a:off x="868680" y="2331720"/>
            <a:ext cx="1371600" cy="822960"/>
          </a:xfrm>
          <a:prstGeom prst="rect">
            <a:avLst/>
          </a:prstGeom>
          <a:noFill/>
          <a:ln/>
        </p:spPr>
        <p:txBody>
          <a:bodyPr wrap="square" lIns="0" tIns="0" rIns="0" bIns="0" rtlCol="0" anchor="ctr"/>
          <a:lstStyle/>
          <a:p>
            <a:pPr indent="0" marL="0">
              <a:buNone/>
            </a:pPr>
            <a:r>
              <a:rPr lang="en-US" sz="4400" b="1" dirty="0">
                <a:solidFill>
                  <a:srgbClr val="962B7C"/>
                </a:solidFill>
                <a:latin typeface="Alexandria" pitchFamily="34" charset="0"/>
                <a:ea typeface="Alexandria" pitchFamily="34" charset="-122"/>
                <a:cs typeface="Alexandria" pitchFamily="34" charset="-120"/>
              </a:rPr>
              <a:t>0</a:t>
            </a:r>
            <a:endParaRPr lang="en-US" sz="4400" dirty="0"/>
          </a:p>
        </p:txBody>
      </p:sp>
      <p:sp>
        <p:nvSpPr>
          <p:cNvPr id="23" name="Text 20"/>
          <p:cNvSpPr txBox="1"/>
          <p:nvPr/>
        </p:nvSpPr>
        <p:spPr>
          <a:xfrm>
            <a:off x="868680" y="3200400"/>
            <a:ext cx="287517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Đúng người tham dự</a:t>
            </a:r>
            <a:endParaRPr lang="en-US" sz="1800" dirty="0"/>
          </a:p>
        </p:txBody>
      </p:sp>
      <p:sp>
        <p:nvSpPr>
          <p:cNvPr id="24" name="Text 21"/>
          <p:cNvSpPr txBox="1"/>
          <p:nvPr/>
        </p:nvSpPr>
        <p:spPr>
          <a:xfrm>
            <a:off x="868680" y="3657600"/>
            <a:ext cx="2875178" cy="86868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Mời người có khoảng trống lớn nhất về hiểu biết và hành vi</a:t>
            </a:r>
            <a:endParaRPr lang="en-US" sz="1400" dirty="0"/>
          </a:p>
        </p:txBody>
      </p:sp>
      <p:sp>
        <p:nvSpPr>
          <p:cNvPr id="25" name="Shape 22"/>
          <p:cNvSpPr/>
          <p:nvPr/>
        </p:nvSpPr>
        <p:spPr>
          <a:xfrm>
            <a:off x="4338218" y="1874520"/>
            <a:ext cx="3515258" cy="2743200"/>
          </a:xfrm>
          <a:prstGeom prst="roundRect">
            <a:avLst>
              <a:gd name="adj" fmla="val 4000"/>
            </a:avLst>
          </a:prstGeom>
          <a:solidFill>
            <a:srgbClr val="DDF1FB"/>
          </a:solidFill>
          <a:ln w="12700">
            <a:solidFill>
              <a:srgbClr val="09A1E5"/>
            </a:solidFill>
            <a:prstDash val="solid"/>
          </a:ln>
        </p:spPr>
      </p:sp>
      <p:sp>
        <p:nvSpPr>
          <p:cNvPr id="26" name="Text 23"/>
          <p:cNvSpPr txBox="1"/>
          <p:nvPr/>
        </p:nvSpPr>
        <p:spPr>
          <a:xfrm>
            <a:off x="4658258" y="2057400"/>
            <a:ext cx="914400" cy="32004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Cấp</a:t>
            </a:r>
            <a:endParaRPr lang="en-US" sz="1300" dirty="0"/>
          </a:p>
        </p:txBody>
      </p:sp>
      <p:sp>
        <p:nvSpPr>
          <p:cNvPr id="27" name="Text 24"/>
          <p:cNvSpPr txBox="1"/>
          <p:nvPr/>
        </p:nvSpPr>
        <p:spPr>
          <a:xfrm>
            <a:off x="4658258" y="2331720"/>
            <a:ext cx="1371600" cy="822960"/>
          </a:xfrm>
          <a:prstGeom prst="rect">
            <a:avLst/>
          </a:prstGeom>
          <a:noFill/>
          <a:ln/>
        </p:spPr>
        <p:txBody>
          <a:bodyPr wrap="square" lIns="0" tIns="0" rIns="0" bIns="0" rtlCol="0" anchor="ctr"/>
          <a:lstStyle/>
          <a:p>
            <a:pPr indent="0" marL="0">
              <a:buNone/>
            </a:pPr>
            <a:r>
              <a:rPr lang="en-US" sz="4400" b="1" dirty="0">
                <a:solidFill>
                  <a:srgbClr val="0A7FB5"/>
                </a:solidFill>
                <a:latin typeface="Alexandria" pitchFamily="34" charset="0"/>
                <a:ea typeface="Alexandria" pitchFamily="34" charset="-122"/>
                <a:cs typeface="Alexandria" pitchFamily="34" charset="-120"/>
              </a:rPr>
              <a:t>2</a:t>
            </a:r>
            <a:endParaRPr lang="en-US" sz="4400" dirty="0"/>
          </a:p>
        </p:txBody>
      </p:sp>
      <p:sp>
        <p:nvSpPr>
          <p:cNvPr id="28" name="Text 25"/>
          <p:cNvSpPr txBox="1"/>
          <p:nvPr/>
        </p:nvSpPr>
        <p:spPr>
          <a:xfrm>
            <a:off x="4658258" y="3200400"/>
            <a:ext cx="287517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Học về quan hệ</a:t>
            </a:r>
            <a:endParaRPr lang="en-US" sz="1800" dirty="0"/>
          </a:p>
        </p:txBody>
      </p:sp>
      <p:sp>
        <p:nvSpPr>
          <p:cNvPr id="29" name="Text 26"/>
          <p:cNvSpPr txBox="1"/>
          <p:nvPr/>
        </p:nvSpPr>
        <p:spPr>
          <a:xfrm>
            <a:off x="4658258" y="3657600"/>
            <a:ext cx="2875178" cy="86868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Learning gồm cả relationship learning</a:t>
            </a:r>
            <a:endParaRPr lang="en-US" sz="1400" dirty="0"/>
          </a:p>
        </p:txBody>
      </p:sp>
      <p:sp>
        <p:nvSpPr>
          <p:cNvPr id="30" name="Shape 27"/>
          <p:cNvSpPr/>
          <p:nvPr/>
        </p:nvSpPr>
        <p:spPr>
          <a:xfrm>
            <a:off x="8127797" y="1874520"/>
            <a:ext cx="3515258" cy="2743200"/>
          </a:xfrm>
          <a:prstGeom prst="roundRect">
            <a:avLst>
              <a:gd name="adj" fmla="val 4000"/>
            </a:avLst>
          </a:prstGeom>
          <a:solidFill>
            <a:srgbClr val="FFE4EA"/>
          </a:solidFill>
          <a:ln w="12700">
            <a:solidFill>
              <a:srgbClr val="FF5178"/>
            </a:solidFill>
            <a:prstDash val="solid"/>
          </a:ln>
        </p:spPr>
      </p:sp>
      <p:sp>
        <p:nvSpPr>
          <p:cNvPr id="31" name="Text 28"/>
          <p:cNvSpPr txBox="1"/>
          <p:nvPr/>
        </p:nvSpPr>
        <p:spPr>
          <a:xfrm>
            <a:off x="8447837" y="2057400"/>
            <a:ext cx="914400" cy="32004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Cấp</a:t>
            </a:r>
            <a:endParaRPr lang="en-US" sz="1300" dirty="0"/>
          </a:p>
        </p:txBody>
      </p:sp>
      <p:sp>
        <p:nvSpPr>
          <p:cNvPr id="32" name="Text 29"/>
          <p:cNvSpPr txBox="1"/>
          <p:nvPr/>
        </p:nvSpPr>
        <p:spPr>
          <a:xfrm>
            <a:off x="8447837" y="2331720"/>
            <a:ext cx="1371600" cy="822960"/>
          </a:xfrm>
          <a:prstGeom prst="rect">
            <a:avLst/>
          </a:prstGeom>
          <a:noFill/>
          <a:ln/>
        </p:spPr>
        <p:txBody>
          <a:bodyPr wrap="square" lIns="0" tIns="0" rIns="0" bIns="0" rtlCol="0" anchor="ctr"/>
          <a:lstStyle/>
          <a:p>
            <a:pPr indent="0" marL="0">
              <a:buNone/>
            </a:pPr>
            <a:r>
              <a:rPr lang="en-US" sz="4400" b="1" dirty="0">
                <a:solidFill>
                  <a:srgbClr val="E03A62"/>
                </a:solidFill>
                <a:latin typeface="Alexandria" pitchFamily="34" charset="0"/>
                <a:ea typeface="Alexandria" pitchFamily="34" charset="-122"/>
                <a:cs typeface="Alexandria" pitchFamily="34" charset="-120"/>
              </a:rPr>
              <a:t>5</a:t>
            </a:r>
            <a:endParaRPr lang="en-US" sz="4400" dirty="0"/>
          </a:p>
        </p:txBody>
      </p:sp>
      <p:sp>
        <p:nvSpPr>
          <p:cNvPr id="33" name="Text 30"/>
          <p:cNvSpPr txBox="1"/>
          <p:nvPr/>
        </p:nvSpPr>
        <p:spPr>
          <a:xfrm>
            <a:off x="8447837" y="3200400"/>
            <a:ext cx="287517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Sứ mệnh thay ROI</a:t>
            </a:r>
            <a:endParaRPr lang="en-US" sz="1800" dirty="0"/>
          </a:p>
        </p:txBody>
      </p:sp>
      <p:sp>
        <p:nvSpPr>
          <p:cNvPr id="34" name="Text 31"/>
          <p:cNvSpPr txBox="1"/>
          <p:nvPr/>
        </p:nvSpPr>
        <p:spPr>
          <a:xfrm>
            <a:off x="8447837" y="3657600"/>
            <a:ext cx="2875178" cy="86868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Sự kiện hiệp hội, nhà nước: lợi nhuận không phải mục tiêu</a:t>
            </a:r>
            <a:endParaRPr lang="en-US" sz="1400" dirty="0"/>
          </a:p>
        </p:txBody>
      </p:sp>
      <p:sp>
        <p:nvSpPr>
          <p:cNvPr id="35" name="Shape 32"/>
          <p:cNvSpPr/>
          <p:nvPr/>
        </p:nvSpPr>
        <p:spPr>
          <a:xfrm>
            <a:off x="548640" y="4892040"/>
            <a:ext cx="11094415" cy="1097280"/>
          </a:xfrm>
          <a:prstGeom prst="roundRect">
            <a:avLst>
              <a:gd name="adj" fmla="val 10000"/>
            </a:avLst>
          </a:prstGeom>
          <a:solidFill>
            <a:srgbClr val="FFF3C4"/>
          </a:solidFill>
          <a:ln w="12700">
            <a:solidFill>
              <a:srgbClr val="FFD23B"/>
            </a:solidFill>
            <a:prstDash val="solid"/>
          </a:ln>
        </p:spPr>
      </p:sp>
      <p:sp>
        <p:nvSpPr>
          <p:cNvPr id="36" name="Text 33"/>
          <p:cNvSpPr txBox="1"/>
          <p:nvPr/>
        </p:nvSpPr>
        <p:spPr>
          <a:xfrm>
            <a:off x="868680" y="4892040"/>
            <a:ext cx="10454335" cy="1097280"/>
          </a:xfrm>
          <a:prstGeom prst="rect">
            <a:avLst/>
          </a:prstGeom>
          <a:noFill/>
          <a:ln/>
        </p:spPr>
        <p:txBody>
          <a:bodyPr wrap="square" lIns="0" tIns="0" rIns="0" bIns="0" rtlCol="0" anchor="ctr"/>
          <a:lstStyle/>
          <a:p>
            <a:pPr indent="0" marL="0">
              <a:buNone/>
            </a:pPr>
            <a:r>
              <a:rPr lang="en-US" sz="1600" i="1" dirty="0">
                <a:solidFill>
                  <a:srgbClr val="2A2238"/>
                </a:solidFill>
                <a:latin typeface="Alexandria" pitchFamily="34" charset="0"/>
                <a:ea typeface="Alexandria" pitchFamily="34" charset="-122"/>
                <a:cs typeface="Alexandria" pitchFamily="34" charset="-120"/>
              </a:rPr>
              <a:t>“Meetings and events create value to stakeholders by influencing the behavior of the participants.” </a:t>
            </a:r>
            <a:pPr indent="0" marL="0">
              <a:buNone/>
            </a:pPr>
            <a:r>
              <a:rPr lang="en-US" sz="1200" dirty="0">
                <a:solidFill>
                  <a:srgbClr val="6E6878"/>
                </a:solidFill>
                <a:latin typeface="Alexandria" pitchFamily="34" charset="0"/>
                <a:ea typeface="Alexandria" pitchFamily="34" charset="-122"/>
                <a:cs typeface="Alexandria" pitchFamily="34" charset="-120"/>
              </a:rPr>
              <a:t>— Event ROI Institute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Với agency Việt Nam: khung 6 cấp, bản rút gọn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T16: Hofstede (2015), thang 0–100 · T17, T18 · Nhận định của người soạn (đã được GV duyệt).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20</a:t>
            </a:r>
            <a:endParaRPr lang="en-US" sz="1000" dirty="0"/>
          </a:p>
        </p:txBody>
      </p:sp>
      <p:sp>
        <p:nvSpPr>
          <p:cNvPr id="20" name="Text 17"/>
          <p:cNvSpPr txBox="1"/>
          <p:nvPr/>
        </p:nvSpPr>
        <p:spPr>
          <a:xfrm>
            <a:off x="548640" y="1783080"/>
            <a:ext cx="4206240" cy="320040"/>
          </a:xfrm>
          <a:prstGeom prst="rect">
            <a:avLst/>
          </a:prstGeom>
          <a:noFill/>
          <a:ln/>
        </p:spPr>
        <p:txBody>
          <a:bodyPr wrap="square" lIns="0" tIns="0" rIns="0" bIns="0" rtlCol="0" anchor="ctr"/>
          <a:lstStyle/>
          <a:p>
            <a:pPr indent="0" marL="0">
              <a:buNone/>
            </a:pPr>
            <a:r>
              <a:rPr lang="en-US" sz="1200" dirty="0">
                <a:solidFill>
                  <a:srgbClr val="FF5178"/>
                </a:solidFill>
                <a:latin typeface="Alexandria" pitchFamily="34" charset="0"/>
                <a:ea typeface="Alexandria" pitchFamily="34" charset="-122"/>
                <a:cs typeface="Alexandria" pitchFamily="34" charset="-120"/>
              </a:rPr>
              <a:t>■ </a:t>
            </a:r>
            <a:pPr indent="0" marL="0">
              <a:buNone/>
            </a:pPr>
            <a:r>
              <a:rPr lang="en-US" sz="1200" dirty="0">
                <a:solidFill>
                  <a:srgbClr val="2A2238"/>
                </a:solidFill>
                <a:latin typeface="Alexandria" pitchFamily="34" charset="0"/>
                <a:ea typeface="Alexandria" pitchFamily="34" charset="-122"/>
                <a:cs typeface="Alexandria" pitchFamily="34" charset="-120"/>
              </a:rPr>
              <a:t>Việt Nam   </a:t>
            </a:r>
            <a:pPr indent="0" marL="0">
              <a:buNone/>
            </a:pPr>
            <a:r>
              <a:rPr lang="en-US" sz="1200" dirty="0">
                <a:solidFill>
                  <a:srgbClr val="6E6878"/>
                </a:solidFill>
                <a:latin typeface="Alexandria" pitchFamily="34" charset="0"/>
                <a:ea typeface="Alexandria" pitchFamily="34" charset="-122"/>
                <a:cs typeface="Alexandria" pitchFamily="34" charset="-120"/>
              </a:rPr>
              <a:t>■ </a:t>
            </a:r>
            <a:pPr indent="0" marL="0">
              <a:buNone/>
            </a:pPr>
            <a:r>
              <a:rPr lang="en-US" sz="1200" dirty="0">
                <a:solidFill>
                  <a:srgbClr val="2A2238"/>
                </a:solidFill>
                <a:latin typeface="Alexandria" pitchFamily="34" charset="0"/>
                <a:ea typeface="Alexandria" pitchFamily="34" charset="-122"/>
                <a:cs typeface="Alexandria" pitchFamily="34" charset="-120"/>
              </a:rPr>
              <a:t>Hoa Kỳ</a:t>
            </a:r>
            <a:endParaRPr lang="en-US" sz="1200" dirty="0"/>
          </a:p>
        </p:txBody>
      </p:sp>
      <p:sp>
        <p:nvSpPr>
          <p:cNvPr id="21" name="Text 18"/>
          <p:cNvSpPr txBox="1"/>
          <p:nvPr/>
        </p:nvSpPr>
        <p:spPr>
          <a:xfrm>
            <a:off x="548640" y="2240280"/>
            <a:ext cx="4206240" cy="3200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PDI · khoảng cách quyền lực</a:t>
            </a:r>
            <a:endParaRPr lang="en-US" sz="1300" dirty="0"/>
          </a:p>
        </p:txBody>
      </p:sp>
      <p:sp>
        <p:nvSpPr>
          <p:cNvPr id="22" name="Shape 19"/>
          <p:cNvSpPr/>
          <p:nvPr/>
        </p:nvSpPr>
        <p:spPr>
          <a:xfrm>
            <a:off x="548640" y="2606040"/>
            <a:ext cx="2816352" cy="292608"/>
          </a:xfrm>
          <a:prstGeom prst="rect">
            <a:avLst/>
          </a:prstGeom>
          <a:solidFill>
            <a:srgbClr val="FF5178"/>
          </a:solidFill>
          <a:ln w="12700">
            <a:solidFill>
              <a:srgbClr val="FF5178"/>
            </a:solidFill>
            <a:prstDash val="solid"/>
          </a:ln>
        </p:spPr>
      </p:sp>
      <p:sp>
        <p:nvSpPr>
          <p:cNvPr id="23" name="Text 20"/>
          <p:cNvSpPr txBox="1"/>
          <p:nvPr/>
        </p:nvSpPr>
        <p:spPr>
          <a:xfrm>
            <a:off x="3438144" y="2606040"/>
            <a:ext cx="548640" cy="29260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70</a:t>
            </a:r>
            <a:endParaRPr lang="en-US" sz="1200" dirty="0"/>
          </a:p>
        </p:txBody>
      </p:sp>
      <p:sp>
        <p:nvSpPr>
          <p:cNvPr id="24" name="Shape 21"/>
          <p:cNvSpPr/>
          <p:nvPr/>
        </p:nvSpPr>
        <p:spPr>
          <a:xfrm>
            <a:off x="548640" y="2935224"/>
            <a:ext cx="1609344" cy="219456"/>
          </a:xfrm>
          <a:prstGeom prst="rect">
            <a:avLst/>
          </a:prstGeom>
          <a:solidFill>
            <a:srgbClr val="B9B3A6"/>
          </a:solidFill>
          <a:ln w="12700">
            <a:solidFill>
              <a:srgbClr val="B9B3A6"/>
            </a:solidFill>
            <a:prstDash val="solid"/>
          </a:ln>
        </p:spPr>
      </p:sp>
      <p:sp>
        <p:nvSpPr>
          <p:cNvPr id="25" name="Text 22"/>
          <p:cNvSpPr txBox="1"/>
          <p:nvPr/>
        </p:nvSpPr>
        <p:spPr>
          <a:xfrm>
            <a:off x="2231136" y="2916936"/>
            <a:ext cx="548640" cy="256032"/>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40</a:t>
            </a:r>
            <a:endParaRPr lang="en-US" sz="1100" dirty="0"/>
          </a:p>
        </p:txBody>
      </p:sp>
      <p:sp>
        <p:nvSpPr>
          <p:cNvPr id="26" name="Text 23"/>
          <p:cNvSpPr txBox="1"/>
          <p:nvPr/>
        </p:nvSpPr>
        <p:spPr>
          <a:xfrm>
            <a:off x="548640" y="3429000"/>
            <a:ext cx="4206240" cy="3200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IDV · chủ nghĩa cá nhân</a:t>
            </a:r>
            <a:endParaRPr lang="en-US" sz="1300" dirty="0"/>
          </a:p>
        </p:txBody>
      </p:sp>
      <p:sp>
        <p:nvSpPr>
          <p:cNvPr id="27" name="Shape 24"/>
          <p:cNvSpPr/>
          <p:nvPr/>
        </p:nvSpPr>
        <p:spPr>
          <a:xfrm>
            <a:off x="548640" y="3794760"/>
            <a:ext cx="804672" cy="292608"/>
          </a:xfrm>
          <a:prstGeom prst="rect">
            <a:avLst/>
          </a:prstGeom>
          <a:solidFill>
            <a:srgbClr val="FF5178"/>
          </a:solidFill>
          <a:ln w="12700">
            <a:solidFill>
              <a:srgbClr val="FF5178"/>
            </a:solidFill>
            <a:prstDash val="solid"/>
          </a:ln>
        </p:spPr>
      </p:sp>
      <p:sp>
        <p:nvSpPr>
          <p:cNvPr id="28" name="Text 25"/>
          <p:cNvSpPr txBox="1"/>
          <p:nvPr/>
        </p:nvSpPr>
        <p:spPr>
          <a:xfrm>
            <a:off x="1426464" y="3794760"/>
            <a:ext cx="548640" cy="29260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20</a:t>
            </a:r>
            <a:endParaRPr lang="en-US" sz="1200" dirty="0"/>
          </a:p>
        </p:txBody>
      </p:sp>
      <p:sp>
        <p:nvSpPr>
          <p:cNvPr id="29" name="Shape 26"/>
          <p:cNvSpPr/>
          <p:nvPr/>
        </p:nvSpPr>
        <p:spPr>
          <a:xfrm>
            <a:off x="548640" y="4123944"/>
            <a:ext cx="3661258" cy="219456"/>
          </a:xfrm>
          <a:prstGeom prst="rect">
            <a:avLst/>
          </a:prstGeom>
          <a:solidFill>
            <a:srgbClr val="B9B3A6"/>
          </a:solidFill>
          <a:ln w="12700">
            <a:solidFill>
              <a:srgbClr val="B9B3A6"/>
            </a:solidFill>
            <a:prstDash val="solid"/>
          </a:ln>
        </p:spPr>
      </p:sp>
      <p:sp>
        <p:nvSpPr>
          <p:cNvPr id="30" name="Text 27"/>
          <p:cNvSpPr txBox="1"/>
          <p:nvPr/>
        </p:nvSpPr>
        <p:spPr>
          <a:xfrm>
            <a:off x="4283050" y="4105656"/>
            <a:ext cx="548640" cy="256032"/>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91</a:t>
            </a:r>
            <a:endParaRPr lang="en-US" sz="1100" dirty="0"/>
          </a:p>
        </p:txBody>
      </p:sp>
      <p:sp>
        <p:nvSpPr>
          <p:cNvPr id="31" name="Text 28"/>
          <p:cNvSpPr txBox="1"/>
          <p:nvPr/>
        </p:nvSpPr>
        <p:spPr>
          <a:xfrm>
            <a:off x="548640" y="4617720"/>
            <a:ext cx="4206240" cy="3200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UAI · né tránh bất định</a:t>
            </a:r>
            <a:endParaRPr lang="en-US" sz="1300" dirty="0"/>
          </a:p>
        </p:txBody>
      </p:sp>
      <p:sp>
        <p:nvSpPr>
          <p:cNvPr id="32" name="Shape 29"/>
          <p:cNvSpPr/>
          <p:nvPr/>
        </p:nvSpPr>
        <p:spPr>
          <a:xfrm>
            <a:off x="548640" y="4983480"/>
            <a:ext cx="1207008" cy="292608"/>
          </a:xfrm>
          <a:prstGeom prst="rect">
            <a:avLst/>
          </a:prstGeom>
          <a:solidFill>
            <a:srgbClr val="FF5178"/>
          </a:solidFill>
          <a:ln w="12700">
            <a:solidFill>
              <a:srgbClr val="FF5178"/>
            </a:solidFill>
            <a:prstDash val="solid"/>
          </a:ln>
        </p:spPr>
      </p:sp>
      <p:sp>
        <p:nvSpPr>
          <p:cNvPr id="33" name="Text 30"/>
          <p:cNvSpPr txBox="1"/>
          <p:nvPr/>
        </p:nvSpPr>
        <p:spPr>
          <a:xfrm>
            <a:off x="1828800" y="4983480"/>
            <a:ext cx="548640" cy="292608"/>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30</a:t>
            </a:r>
            <a:endParaRPr lang="en-US" sz="1200" dirty="0"/>
          </a:p>
        </p:txBody>
      </p:sp>
      <p:sp>
        <p:nvSpPr>
          <p:cNvPr id="34" name="Shape 31"/>
          <p:cNvSpPr/>
          <p:nvPr/>
        </p:nvSpPr>
        <p:spPr>
          <a:xfrm>
            <a:off x="548640" y="5312664"/>
            <a:ext cx="1850746" cy="219456"/>
          </a:xfrm>
          <a:prstGeom prst="rect">
            <a:avLst/>
          </a:prstGeom>
          <a:solidFill>
            <a:srgbClr val="B9B3A6"/>
          </a:solidFill>
          <a:ln w="12700">
            <a:solidFill>
              <a:srgbClr val="B9B3A6"/>
            </a:solidFill>
            <a:prstDash val="solid"/>
          </a:ln>
        </p:spPr>
      </p:sp>
      <p:sp>
        <p:nvSpPr>
          <p:cNvPr id="35" name="Text 32"/>
          <p:cNvSpPr txBox="1"/>
          <p:nvPr/>
        </p:nvSpPr>
        <p:spPr>
          <a:xfrm>
            <a:off x="2472538" y="5294376"/>
            <a:ext cx="548640" cy="256032"/>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46</a:t>
            </a:r>
            <a:endParaRPr lang="en-US" sz="1100" dirty="0"/>
          </a:p>
        </p:txBody>
      </p:sp>
      <p:sp>
        <p:nvSpPr>
          <p:cNvPr id="36" name="Text 33"/>
          <p:cNvSpPr txBox="1"/>
          <p:nvPr/>
        </p:nvSpPr>
        <p:spPr>
          <a:xfrm>
            <a:off x="548640" y="5852160"/>
            <a:ext cx="4206240" cy="320040"/>
          </a:xfrm>
          <a:prstGeom prst="rect">
            <a:avLst/>
          </a:prstGeom>
          <a:noFill/>
          <a:ln/>
        </p:spPr>
        <p:txBody>
          <a:bodyPr wrap="square" lIns="0" tIns="0" rIns="0" bIns="0" rtlCol="0" anchor="ctr"/>
          <a:lstStyle/>
          <a:p>
            <a:pPr indent="0" marL="0">
              <a:buNone/>
            </a:pPr>
            <a:r>
              <a:rPr lang="en-US" sz="1200" i="1" dirty="0">
                <a:solidFill>
                  <a:srgbClr val="6E6878"/>
                </a:solidFill>
                <a:latin typeface="Alexandria" pitchFamily="34" charset="0"/>
                <a:ea typeface="Alexandria" pitchFamily="34" charset="-122"/>
                <a:cs typeface="Alexandria" pitchFamily="34" charset="-120"/>
              </a:rPr>
              <a:t>Điểm quốc gia ≠ từng khách hàng.</a:t>
            </a:r>
            <a:endParaRPr lang="en-US" sz="1200" dirty="0"/>
          </a:p>
        </p:txBody>
      </p:sp>
      <p:sp>
        <p:nvSpPr>
          <p:cNvPr id="37" name="Shape 34"/>
          <p:cNvSpPr/>
          <p:nvPr/>
        </p:nvSpPr>
        <p:spPr>
          <a:xfrm>
            <a:off x="5212080" y="1783080"/>
            <a:ext cx="6430975" cy="676656"/>
          </a:xfrm>
          <a:prstGeom prst="roundRect">
            <a:avLst>
              <a:gd name="adj" fmla="val 16216"/>
            </a:avLst>
          </a:prstGeom>
          <a:solidFill>
            <a:srgbClr val="DDF1FB"/>
          </a:solidFill>
          <a:ln w="12700">
            <a:solidFill>
              <a:srgbClr val="DDF1FB"/>
            </a:solidFill>
            <a:prstDash val="solid"/>
          </a:ln>
        </p:spPr>
      </p:sp>
      <p:sp>
        <p:nvSpPr>
          <p:cNvPr id="38" name="Text 35"/>
          <p:cNvSpPr txBox="1"/>
          <p:nvPr/>
        </p:nvSpPr>
        <p:spPr>
          <a:xfrm>
            <a:off x="5394960" y="1783080"/>
            <a:ext cx="2941168"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Quyền lực tập trung ở lãnh đạo</a:t>
            </a:r>
            <a:endParaRPr lang="en-US" sz="1300" dirty="0"/>
          </a:p>
        </p:txBody>
      </p:sp>
      <p:sp>
        <p:nvSpPr>
          <p:cNvPr id="39" name="Text 36"/>
          <p:cNvSpPr txBox="1"/>
          <p:nvPr/>
        </p:nvSpPr>
        <p:spPr>
          <a:xfrm>
            <a:off x="8427568" y="1783080"/>
            <a:ext cx="3032608"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 Cấp 0: “mời đúng người” thành chỉ số</a:t>
            </a:r>
            <a:endParaRPr lang="en-US" sz="1300" dirty="0"/>
          </a:p>
        </p:txBody>
      </p:sp>
      <p:sp>
        <p:nvSpPr>
          <p:cNvPr id="40" name="Shape 37"/>
          <p:cNvSpPr/>
          <p:nvPr/>
        </p:nvSpPr>
        <p:spPr>
          <a:xfrm>
            <a:off x="5212080" y="2569464"/>
            <a:ext cx="6430975" cy="676656"/>
          </a:xfrm>
          <a:prstGeom prst="roundRect">
            <a:avLst>
              <a:gd name="adj" fmla="val 16216"/>
            </a:avLst>
          </a:prstGeom>
          <a:solidFill>
            <a:srgbClr val="FFFFFF"/>
          </a:solidFill>
          <a:ln w="12700">
            <a:solidFill>
              <a:srgbClr val="DCD7C8"/>
            </a:solidFill>
            <a:prstDash val="solid"/>
          </a:ln>
        </p:spPr>
      </p:sp>
      <p:sp>
        <p:nvSpPr>
          <p:cNvPr id="41" name="Text 38"/>
          <p:cNvSpPr txBox="1"/>
          <p:nvPr/>
        </p:nvSpPr>
        <p:spPr>
          <a:xfrm>
            <a:off x="5394960" y="2569464"/>
            <a:ext cx="2941168"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Coi trọng quan hệ, tập thể</a:t>
            </a:r>
            <a:endParaRPr lang="en-US" sz="1300" dirty="0"/>
          </a:p>
        </p:txBody>
      </p:sp>
      <p:sp>
        <p:nvSpPr>
          <p:cNvPr id="42" name="Text 39"/>
          <p:cNvSpPr txBox="1"/>
          <p:nvPr/>
        </p:nvSpPr>
        <p:spPr>
          <a:xfrm>
            <a:off x="8427568" y="2569464"/>
            <a:ext cx="3032608"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 Cấp 2: đo cả “học về quan hệ”</a:t>
            </a:r>
            <a:endParaRPr lang="en-US" sz="1300" dirty="0"/>
          </a:p>
        </p:txBody>
      </p:sp>
      <p:sp>
        <p:nvSpPr>
          <p:cNvPr id="43" name="Shape 40"/>
          <p:cNvSpPr/>
          <p:nvPr/>
        </p:nvSpPr>
        <p:spPr>
          <a:xfrm>
            <a:off x="5212080" y="3355848"/>
            <a:ext cx="6430975" cy="676656"/>
          </a:xfrm>
          <a:prstGeom prst="roundRect">
            <a:avLst>
              <a:gd name="adj" fmla="val 16216"/>
            </a:avLst>
          </a:prstGeom>
          <a:solidFill>
            <a:srgbClr val="DDF1FB"/>
          </a:solidFill>
          <a:ln w="12700">
            <a:solidFill>
              <a:srgbClr val="DDF1FB"/>
            </a:solidFill>
            <a:prstDash val="solid"/>
          </a:ln>
        </p:spPr>
      </p:sp>
      <p:sp>
        <p:nvSpPr>
          <p:cNvPr id="44" name="Text 41"/>
          <p:cNvSpPr txBox="1"/>
          <p:nvPr/>
        </p:nvSpPr>
        <p:spPr>
          <a:xfrm>
            <a:off x="5394960" y="3355848"/>
            <a:ext cx="2941168"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Kết quả đến muộn, khó tách riêng</a:t>
            </a:r>
            <a:endParaRPr lang="en-US" sz="1300" dirty="0"/>
          </a:p>
        </p:txBody>
      </p:sp>
      <p:sp>
        <p:nvSpPr>
          <p:cNvPr id="45" name="Text 42"/>
          <p:cNvSpPr txBox="1"/>
          <p:nvPr/>
        </p:nvSpPr>
        <p:spPr>
          <a:xfrm>
            <a:off x="8427568" y="3355848"/>
            <a:ext cx="3032608"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 Chấp nhận người tham dự tự ước lượng</a:t>
            </a:r>
            <a:endParaRPr lang="en-US" sz="1300" dirty="0"/>
          </a:p>
        </p:txBody>
      </p:sp>
      <p:sp>
        <p:nvSpPr>
          <p:cNvPr id="46" name="Shape 43"/>
          <p:cNvSpPr/>
          <p:nvPr/>
        </p:nvSpPr>
        <p:spPr>
          <a:xfrm>
            <a:off x="5212080" y="4142232"/>
            <a:ext cx="6430975" cy="676656"/>
          </a:xfrm>
          <a:prstGeom prst="roundRect">
            <a:avLst>
              <a:gd name="adj" fmla="val 16216"/>
            </a:avLst>
          </a:prstGeom>
          <a:solidFill>
            <a:srgbClr val="FFFFFF"/>
          </a:solidFill>
          <a:ln w="12700">
            <a:solidFill>
              <a:srgbClr val="DCD7C8"/>
            </a:solidFill>
            <a:prstDash val="solid"/>
          </a:ln>
        </p:spPr>
      </p:sp>
      <p:sp>
        <p:nvSpPr>
          <p:cNvPr id="47" name="Text 44"/>
          <p:cNvSpPr txBox="1"/>
          <p:nvPr/>
        </p:nvSpPr>
        <p:spPr>
          <a:xfrm>
            <a:off x="5394960" y="4142232"/>
            <a:ext cx="2941168"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Ít chuộng quy trình nặng</a:t>
            </a:r>
            <a:endParaRPr lang="en-US" sz="1300" dirty="0"/>
          </a:p>
        </p:txBody>
      </p:sp>
      <p:sp>
        <p:nvSpPr>
          <p:cNvPr id="48" name="Text 45"/>
          <p:cNvSpPr txBox="1"/>
          <p:nvPr/>
        </p:nvSpPr>
        <p:spPr>
          <a:xfrm>
            <a:off x="8427568" y="4142232"/>
            <a:ext cx="3032608"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 Bản rút gọn: vài KPI then chốt</a:t>
            </a:r>
            <a:endParaRPr lang="en-US" sz="1300" dirty="0"/>
          </a:p>
        </p:txBody>
      </p:sp>
      <p:sp>
        <p:nvSpPr>
          <p:cNvPr id="49" name="Shape 46"/>
          <p:cNvSpPr/>
          <p:nvPr/>
        </p:nvSpPr>
        <p:spPr>
          <a:xfrm>
            <a:off x="5212080" y="4928616"/>
            <a:ext cx="6430975" cy="676656"/>
          </a:xfrm>
          <a:prstGeom prst="roundRect">
            <a:avLst>
              <a:gd name="adj" fmla="val 16216"/>
            </a:avLst>
          </a:prstGeom>
          <a:solidFill>
            <a:srgbClr val="DDF1FB"/>
          </a:solidFill>
          <a:ln w="12700">
            <a:solidFill>
              <a:srgbClr val="DDF1FB"/>
            </a:solidFill>
            <a:prstDash val="solid"/>
          </a:ln>
        </p:spPr>
      </p:sp>
      <p:sp>
        <p:nvSpPr>
          <p:cNvPr id="50" name="Text 47"/>
          <p:cNvSpPr txBox="1"/>
          <p:nvPr/>
        </p:nvSpPr>
        <p:spPr>
          <a:xfrm>
            <a:off x="5394960" y="4928616"/>
            <a:ext cx="2941168" cy="676656"/>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Nhiều sự kiện nhà nước, hiệp hội</a:t>
            </a:r>
            <a:endParaRPr lang="en-US" sz="1300" dirty="0"/>
          </a:p>
        </p:txBody>
      </p:sp>
      <p:sp>
        <p:nvSpPr>
          <p:cNvPr id="51" name="Text 48"/>
          <p:cNvSpPr txBox="1"/>
          <p:nvPr/>
        </p:nvSpPr>
        <p:spPr>
          <a:xfrm>
            <a:off x="8427568" y="4928616"/>
            <a:ext cx="3032608" cy="676656"/>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 Sứ mệnh thay cho ROI</a:t>
            </a:r>
            <a:endParaRPr lang="en-US" sz="1300" dirty="0"/>
          </a:p>
        </p:txBody>
      </p:sp>
      <p:sp>
        <p:nvSpPr>
          <p:cNvPr id="52" name="Text 49"/>
          <p:cNvSpPr txBox="1"/>
          <p:nvPr/>
        </p:nvSpPr>
        <p:spPr>
          <a:xfrm>
            <a:off x="5212080" y="5760720"/>
            <a:ext cx="6430975" cy="457200"/>
          </a:xfrm>
          <a:prstGeom prst="rect">
            <a:avLst/>
          </a:prstGeom>
          <a:noFill/>
          <a:ln/>
        </p:spPr>
        <p:txBody>
          <a:bodyPr wrap="square" lIns="0" tIns="0" rIns="0" bIns="0" rtlCol="0" anchor="ctr"/>
          <a:lstStyle/>
          <a:p>
            <a:pPr indent="0" marL="0">
              <a:buNone/>
            </a:pPr>
            <a:r>
              <a:rPr lang="en-US" sz="1200" i="1" dirty="0">
                <a:solidFill>
                  <a:srgbClr val="962B7C"/>
                </a:solidFill>
                <a:latin typeface="Alexandria" pitchFamily="34" charset="0"/>
                <a:ea typeface="Alexandria" pitchFamily="34" charset="-122"/>
                <a:cs typeface="Alexandria" pitchFamily="34" charset="-120"/>
              </a:rPr>
              <a:t>Thể diện: phiếu hài lòng dễ nghiêng về tích cực → thêm chỉ số hành vi quan sát được.</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Agency cam kết cấp 0–3; cấp 4–5 đo cùng Key Account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dựa trên T11, T12 (đã được GV duyệt).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21</a:t>
            </a:r>
            <a:endParaRPr lang="en-US" sz="1000" dirty="0"/>
          </a:p>
        </p:txBody>
      </p:sp>
      <p:sp>
        <p:nvSpPr>
          <p:cNvPr id="20" name="Shape 17"/>
          <p:cNvSpPr/>
          <p:nvPr/>
        </p:nvSpPr>
        <p:spPr>
          <a:xfrm>
            <a:off x="548640" y="4754880"/>
            <a:ext cx="1072896" cy="914400"/>
          </a:xfrm>
          <a:prstGeom prst="rect">
            <a:avLst/>
          </a:prstGeom>
          <a:solidFill>
            <a:srgbClr val="E1F3EE"/>
          </a:solidFill>
          <a:ln w="15875">
            <a:solidFill>
              <a:srgbClr val="49B296"/>
            </a:solidFill>
            <a:prstDash val="solid"/>
          </a:ln>
        </p:spPr>
      </p:sp>
      <p:sp>
        <p:nvSpPr>
          <p:cNvPr id="21" name="Text 18"/>
          <p:cNvSpPr txBox="1"/>
          <p:nvPr/>
        </p:nvSpPr>
        <p:spPr>
          <a:xfrm>
            <a:off x="548640" y="4828032"/>
            <a:ext cx="1072896" cy="3657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0</a:t>
            </a:r>
            <a:endParaRPr lang="en-US" sz="1800" dirty="0"/>
          </a:p>
        </p:txBody>
      </p:sp>
      <p:sp>
        <p:nvSpPr>
          <p:cNvPr id="22" name="Text 19"/>
          <p:cNvSpPr txBox="1"/>
          <p:nvPr/>
        </p:nvSpPr>
        <p:spPr>
          <a:xfrm>
            <a:off x="548640" y="5212080"/>
            <a:ext cx="107289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Đúng người</a:t>
            </a:r>
            <a:endParaRPr lang="en-US" sz="1100" dirty="0"/>
          </a:p>
        </p:txBody>
      </p:sp>
      <p:sp>
        <p:nvSpPr>
          <p:cNvPr id="23" name="Shape 20"/>
          <p:cNvSpPr/>
          <p:nvPr/>
        </p:nvSpPr>
        <p:spPr>
          <a:xfrm>
            <a:off x="1676400" y="4187952"/>
            <a:ext cx="1072896" cy="1481328"/>
          </a:xfrm>
          <a:prstGeom prst="rect">
            <a:avLst/>
          </a:prstGeom>
          <a:solidFill>
            <a:srgbClr val="E1F3EE"/>
          </a:solidFill>
          <a:ln w="15875">
            <a:solidFill>
              <a:srgbClr val="49B296"/>
            </a:solidFill>
            <a:prstDash val="solid"/>
          </a:ln>
        </p:spPr>
      </p:sp>
      <p:sp>
        <p:nvSpPr>
          <p:cNvPr id="24" name="Text 21"/>
          <p:cNvSpPr txBox="1"/>
          <p:nvPr/>
        </p:nvSpPr>
        <p:spPr>
          <a:xfrm>
            <a:off x="1676400" y="4261104"/>
            <a:ext cx="1072896" cy="3657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1</a:t>
            </a:r>
            <a:endParaRPr lang="en-US" sz="1800" dirty="0"/>
          </a:p>
        </p:txBody>
      </p:sp>
      <p:sp>
        <p:nvSpPr>
          <p:cNvPr id="25" name="Text 22"/>
          <p:cNvSpPr txBox="1"/>
          <p:nvPr/>
        </p:nvSpPr>
        <p:spPr>
          <a:xfrm>
            <a:off x="1676400" y="4645152"/>
            <a:ext cx="107289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Hài lòng</a:t>
            </a:r>
            <a:endParaRPr lang="en-US" sz="1100" dirty="0"/>
          </a:p>
        </p:txBody>
      </p:sp>
      <p:sp>
        <p:nvSpPr>
          <p:cNvPr id="26" name="Shape 23"/>
          <p:cNvSpPr/>
          <p:nvPr/>
        </p:nvSpPr>
        <p:spPr>
          <a:xfrm>
            <a:off x="2804160" y="3621024"/>
            <a:ext cx="1072896" cy="2048256"/>
          </a:xfrm>
          <a:prstGeom prst="rect">
            <a:avLst/>
          </a:prstGeom>
          <a:solidFill>
            <a:srgbClr val="E1F3EE"/>
          </a:solidFill>
          <a:ln w="15875">
            <a:solidFill>
              <a:srgbClr val="49B296"/>
            </a:solidFill>
            <a:prstDash val="solid"/>
          </a:ln>
        </p:spPr>
      </p:sp>
      <p:sp>
        <p:nvSpPr>
          <p:cNvPr id="27" name="Text 24"/>
          <p:cNvSpPr txBox="1"/>
          <p:nvPr/>
        </p:nvSpPr>
        <p:spPr>
          <a:xfrm>
            <a:off x="2804160" y="3694176"/>
            <a:ext cx="1072896" cy="3657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2</a:t>
            </a:r>
            <a:endParaRPr lang="en-US" sz="1800" dirty="0"/>
          </a:p>
        </p:txBody>
      </p:sp>
      <p:sp>
        <p:nvSpPr>
          <p:cNvPr id="28" name="Text 25"/>
          <p:cNvSpPr txBox="1"/>
          <p:nvPr/>
        </p:nvSpPr>
        <p:spPr>
          <a:xfrm>
            <a:off x="2804160" y="4078224"/>
            <a:ext cx="107289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Learning</a:t>
            </a:r>
            <a:endParaRPr lang="en-US" sz="1100" dirty="0"/>
          </a:p>
        </p:txBody>
      </p:sp>
      <p:sp>
        <p:nvSpPr>
          <p:cNvPr id="29" name="Shape 26"/>
          <p:cNvSpPr/>
          <p:nvPr/>
        </p:nvSpPr>
        <p:spPr>
          <a:xfrm>
            <a:off x="3931920" y="3054096"/>
            <a:ext cx="1072896" cy="2615184"/>
          </a:xfrm>
          <a:prstGeom prst="rect">
            <a:avLst/>
          </a:prstGeom>
          <a:solidFill>
            <a:srgbClr val="E1F3EE"/>
          </a:solidFill>
          <a:ln w="15875">
            <a:solidFill>
              <a:srgbClr val="49B296"/>
            </a:solidFill>
            <a:prstDash val="solid"/>
          </a:ln>
        </p:spPr>
      </p:sp>
      <p:sp>
        <p:nvSpPr>
          <p:cNvPr id="30" name="Text 27"/>
          <p:cNvSpPr txBox="1"/>
          <p:nvPr/>
        </p:nvSpPr>
        <p:spPr>
          <a:xfrm>
            <a:off x="3931920" y="3127248"/>
            <a:ext cx="1072896" cy="3657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3</a:t>
            </a:r>
            <a:endParaRPr lang="en-US" sz="1800" dirty="0"/>
          </a:p>
        </p:txBody>
      </p:sp>
      <p:sp>
        <p:nvSpPr>
          <p:cNvPr id="31" name="Text 28"/>
          <p:cNvSpPr txBox="1"/>
          <p:nvPr/>
        </p:nvSpPr>
        <p:spPr>
          <a:xfrm>
            <a:off x="3931920" y="3511296"/>
            <a:ext cx="107289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Behaviour</a:t>
            </a:r>
            <a:endParaRPr lang="en-US" sz="1100" dirty="0"/>
          </a:p>
        </p:txBody>
      </p:sp>
      <p:sp>
        <p:nvSpPr>
          <p:cNvPr id="32" name="Shape 29"/>
          <p:cNvSpPr/>
          <p:nvPr/>
        </p:nvSpPr>
        <p:spPr>
          <a:xfrm>
            <a:off x="5059680" y="2487168"/>
            <a:ext cx="1072896" cy="3182112"/>
          </a:xfrm>
          <a:prstGeom prst="rect">
            <a:avLst/>
          </a:prstGeom>
          <a:solidFill>
            <a:srgbClr val="F1E1EE"/>
          </a:solidFill>
          <a:ln w="15875">
            <a:solidFill>
              <a:srgbClr val="962B7C"/>
            </a:solidFill>
            <a:prstDash val="solid"/>
          </a:ln>
        </p:spPr>
      </p:sp>
      <p:sp>
        <p:nvSpPr>
          <p:cNvPr id="33" name="Text 30"/>
          <p:cNvSpPr txBox="1"/>
          <p:nvPr/>
        </p:nvSpPr>
        <p:spPr>
          <a:xfrm>
            <a:off x="5059680" y="2560320"/>
            <a:ext cx="1072896" cy="3657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4</a:t>
            </a:r>
            <a:endParaRPr lang="en-US" sz="1800" dirty="0"/>
          </a:p>
        </p:txBody>
      </p:sp>
      <p:sp>
        <p:nvSpPr>
          <p:cNvPr id="34" name="Text 31"/>
          <p:cNvSpPr txBox="1"/>
          <p:nvPr/>
        </p:nvSpPr>
        <p:spPr>
          <a:xfrm>
            <a:off x="5059680" y="2944368"/>
            <a:ext cx="107289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Impact</a:t>
            </a:r>
            <a:endParaRPr lang="en-US" sz="1100" dirty="0"/>
          </a:p>
        </p:txBody>
      </p:sp>
      <p:sp>
        <p:nvSpPr>
          <p:cNvPr id="35" name="Shape 32"/>
          <p:cNvSpPr/>
          <p:nvPr/>
        </p:nvSpPr>
        <p:spPr>
          <a:xfrm>
            <a:off x="6187440" y="1920240"/>
            <a:ext cx="1072896" cy="3749040"/>
          </a:xfrm>
          <a:prstGeom prst="rect">
            <a:avLst/>
          </a:prstGeom>
          <a:solidFill>
            <a:srgbClr val="F1E1EE"/>
          </a:solidFill>
          <a:ln w="15875">
            <a:solidFill>
              <a:srgbClr val="962B7C"/>
            </a:solidFill>
            <a:prstDash val="solid"/>
          </a:ln>
        </p:spPr>
      </p:sp>
      <p:sp>
        <p:nvSpPr>
          <p:cNvPr id="36" name="Text 33"/>
          <p:cNvSpPr txBox="1"/>
          <p:nvPr/>
        </p:nvSpPr>
        <p:spPr>
          <a:xfrm>
            <a:off x="6187440" y="1993392"/>
            <a:ext cx="1072896" cy="3657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5</a:t>
            </a:r>
            <a:endParaRPr lang="en-US" sz="1800" dirty="0"/>
          </a:p>
        </p:txBody>
      </p:sp>
      <p:sp>
        <p:nvSpPr>
          <p:cNvPr id="37" name="Text 34"/>
          <p:cNvSpPr txBox="1"/>
          <p:nvPr/>
        </p:nvSpPr>
        <p:spPr>
          <a:xfrm>
            <a:off x="6187440" y="2377440"/>
            <a:ext cx="1072896" cy="365760"/>
          </a:xfrm>
          <a:prstGeom prst="rect">
            <a:avLst/>
          </a:prstGeom>
          <a:noFill/>
          <a:ln/>
        </p:spPr>
        <p:txBody>
          <a:bodyPr wrap="square" lIns="0" tIns="0" rIns="0" bIns="0" rtlCol="0" anchor="ctr"/>
          <a:lstStyle/>
          <a:p>
            <a:pPr algn="ctr" indent="0" marL="0">
              <a:buNone/>
            </a:pPr>
            <a:r>
              <a:rPr lang="en-US" sz="1100" dirty="0">
                <a:solidFill>
                  <a:srgbClr val="2A2238"/>
                </a:solidFill>
                <a:latin typeface="Alexandria" pitchFamily="34" charset="0"/>
                <a:ea typeface="Alexandria" pitchFamily="34" charset="-122"/>
                <a:cs typeface="Alexandria" pitchFamily="34" charset="-120"/>
              </a:rPr>
              <a:t>ROI</a:t>
            </a:r>
            <a:endParaRPr lang="en-US" sz="1100" dirty="0"/>
          </a:p>
        </p:txBody>
      </p:sp>
      <p:sp>
        <p:nvSpPr>
          <p:cNvPr id="38" name="Shape 35"/>
          <p:cNvSpPr/>
          <p:nvPr/>
        </p:nvSpPr>
        <p:spPr>
          <a:xfrm>
            <a:off x="548640" y="5852160"/>
            <a:ext cx="4456176" cy="914"/>
          </a:xfrm>
          <a:prstGeom prst="line">
            <a:avLst/>
          </a:prstGeom>
          <a:noFill/>
          <a:ln w="50800">
            <a:solidFill>
              <a:srgbClr val="49B296"/>
            </a:solidFill>
            <a:prstDash val="solid"/>
          </a:ln>
        </p:spPr>
      </p:sp>
      <p:sp>
        <p:nvSpPr>
          <p:cNvPr id="39" name="Shape 36"/>
          <p:cNvSpPr/>
          <p:nvPr/>
        </p:nvSpPr>
        <p:spPr>
          <a:xfrm>
            <a:off x="5059680" y="5852160"/>
            <a:ext cx="2200656" cy="914"/>
          </a:xfrm>
          <a:prstGeom prst="line">
            <a:avLst/>
          </a:prstGeom>
          <a:noFill/>
          <a:ln w="50800">
            <a:solidFill>
              <a:srgbClr val="962B7C"/>
            </a:solidFill>
            <a:prstDash val="solid"/>
          </a:ln>
        </p:spPr>
      </p:sp>
      <p:sp>
        <p:nvSpPr>
          <p:cNvPr id="40" name="Text 37"/>
          <p:cNvSpPr txBox="1"/>
          <p:nvPr/>
        </p:nvSpPr>
        <p:spPr>
          <a:xfrm>
            <a:off x="548640" y="5925312"/>
            <a:ext cx="4511040" cy="320040"/>
          </a:xfrm>
          <a:prstGeom prst="rect">
            <a:avLst/>
          </a:prstGeom>
          <a:noFill/>
          <a:ln/>
        </p:spPr>
        <p:txBody>
          <a:bodyPr wrap="square" lIns="0" tIns="0" rIns="0" bIns="0" rtlCol="0" anchor="ctr"/>
          <a:lstStyle/>
          <a:p>
            <a:pPr algn="ctr" indent="0" marL="0">
              <a:buNone/>
            </a:pPr>
            <a:r>
              <a:rPr lang="en-US" sz="1300" b="1" dirty="0">
                <a:solidFill>
                  <a:srgbClr val="2E8A71"/>
                </a:solidFill>
                <a:latin typeface="Alexandria" pitchFamily="34" charset="0"/>
                <a:ea typeface="Alexandria" pitchFamily="34" charset="-122"/>
                <a:cs typeface="Alexandria" pitchFamily="34" charset="-120"/>
              </a:rPr>
              <a:t>agency cam kết</a:t>
            </a:r>
            <a:endParaRPr lang="en-US" sz="1300" dirty="0"/>
          </a:p>
        </p:txBody>
      </p:sp>
      <p:sp>
        <p:nvSpPr>
          <p:cNvPr id="41" name="Text 38"/>
          <p:cNvSpPr txBox="1"/>
          <p:nvPr/>
        </p:nvSpPr>
        <p:spPr>
          <a:xfrm>
            <a:off x="5059680" y="5925312"/>
            <a:ext cx="2255520" cy="320040"/>
          </a:xfrm>
          <a:prstGeom prst="rect">
            <a:avLst/>
          </a:prstGeom>
          <a:noFill/>
          <a:ln/>
        </p:spPr>
        <p:txBody>
          <a:bodyPr wrap="square" lIns="0" tIns="0" rIns="0" bIns="0" rtlCol="0" anchor="ctr"/>
          <a:lstStyle/>
          <a:p>
            <a:pPr algn="ctr" indent="0" marL="0">
              <a:buNone/>
            </a:pPr>
            <a:r>
              <a:rPr lang="en-US" sz="1200" b="1" dirty="0">
                <a:solidFill>
                  <a:srgbClr val="962B7C"/>
                </a:solidFill>
                <a:latin typeface="Alexandria" pitchFamily="34" charset="0"/>
                <a:ea typeface="Alexandria" pitchFamily="34" charset="-122"/>
                <a:cs typeface="Alexandria" pitchFamily="34" charset="-120"/>
              </a:rPr>
              <a:t>đo cùng Key Account</a:t>
            </a:r>
            <a:endParaRPr lang="en-US" sz="1200" dirty="0"/>
          </a:p>
        </p:txBody>
      </p:sp>
      <p:sp>
        <p:nvSpPr>
          <p:cNvPr id="42" name="Shape 39"/>
          <p:cNvSpPr/>
          <p:nvPr/>
        </p:nvSpPr>
        <p:spPr>
          <a:xfrm>
            <a:off x="7772400" y="1920240"/>
            <a:ext cx="3870655" cy="1828800"/>
          </a:xfrm>
          <a:prstGeom prst="roundRect">
            <a:avLst>
              <a:gd name="adj" fmla="val 6000"/>
            </a:avLst>
          </a:prstGeom>
          <a:solidFill>
            <a:srgbClr val="E1F3EE"/>
          </a:solidFill>
          <a:ln w="12700">
            <a:solidFill>
              <a:srgbClr val="49B296"/>
            </a:solidFill>
            <a:prstDash val="solid"/>
          </a:ln>
        </p:spPr>
      </p:sp>
      <p:sp>
        <p:nvSpPr>
          <p:cNvPr id="43" name="Text 40"/>
          <p:cNvSpPr txBox="1"/>
          <p:nvPr/>
        </p:nvSpPr>
        <p:spPr>
          <a:xfrm>
            <a:off x="8046720" y="1920240"/>
            <a:ext cx="3322015" cy="18288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Cấp 0–3</a:t>
            </a:r>
            <a:endParaRPr lang="en-US" sz="1600" dirty="0"/>
          </a:p>
          <a:p>
            <a:pPr indent="0" marL="0">
              <a:buNone/>
            </a:pPr>
            <a:r>
              <a:rPr lang="en-US" sz="1600" dirty="0">
                <a:solidFill>
                  <a:srgbClr val="2A2238"/>
                </a:solidFill>
                <a:latin typeface="Alexandria" pitchFamily="34" charset="0"/>
                <a:ea typeface="Alexandria" pitchFamily="34" charset="-122"/>
                <a:cs typeface="Alexandria" pitchFamily="34" charset="-120"/>
              </a:rPr>
              <a:t>Agency chủ động cam kết và báo cáo — kiểm soát được nhiều.</a:t>
            </a:r>
            <a:endParaRPr lang="en-US" sz="1600" dirty="0"/>
          </a:p>
        </p:txBody>
      </p:sp>
      <p:sp>
        <p:nvSpPr>
          <p:cNvPr id="44" name="Shape 41"/>
          <p:cNvSpPr/>
          <p:nvPr/>
        </p:nvSpPr>
        <p:spPr>
          <a:xfrm>
            <a:off x="7772400" y="3977640"/>
            <a:ext cx="3870655" cy="2011680"/>
          </a:xfrm>
          <a:prstGeom prst="roundRect">
            <a:avLst>
              <a:gd name="adj" fmla="val 5455"/>
            </a:avLst>
          </a:prstGeom>
          <a:solidFill>
            <a:srgbClr val="F1E1EE"/>
          </a:solidFill>
          <a:ln w="12700">
            <a:solidFill>
              <a:srgbClr val="962B7C"/>
            </a:solidFill>
            <a:prstDash val="solid"/>
          </a:ln>
        </p:spPr>
      </p:sp>
      <p:sp>
        <p:nvSpPr>
          <p:cNvPr id="45" name="Text 42"/>
          <p:cNvSpPr txBox="1"/>
          <p:nvPr/>
        </p:nvSpPr>
        <p:spPr>
          <a:xfrm>
            <a:off x="8046720" y="3977640"/>
            <a:ext cx="3322015" cy="20116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Cấp 4–5</a:t>
            </a:r>
            <a:endParaRPr lang="en-US" sz="1600" dirty="0"/>
          </a:p>
          <a:p>
            <a:pPr indent="0" marL="0">
              <a:buNone/>
            </a:pPr>
            <a:r>
              <a:rPr lang="en-US" sz="1600" dirty="0">
                <a:solidFill>
                  <a:srgbClr val="2A2238"/>
                </a:solidFill>
                <a:latin typeface="Alexandria" pitchFamily="34" charset="0"/>
                <a:ea typeface="Alexandria" pitchFamily="34" charset="-122"/>
                <a:cs typeface="Alexandria" pitchFamily="34" charset="-120"/>
              </a:rPr>
              <a:t>Chỉ đo khi Key Account đồng ý chia sẻ dữ liệu — thống nhất từ đầu trong buổi đánh giá định kỳ.</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Đánh giá chung là họp hai bên, không phải khách chấm điểm agency</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T13: Promethean Research (2026) — khảo sát 165 agency kỹ thuật số, không phải event agency, chưa KCC · T06.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22</a:t>
            </a:r>
            <a:endParaRPr lang="en-US" sz="1000" dirty="0"/>
          </a:p>
        </p:txBody>
      </p:sp>
      <p:sp>
        <p:nvSpPr>
          <p:cNvPr id="20" name="Shape 17"/>
          <p:cNvSpPr/>
          <p:nvPr/>
        </p:nvSpPr>
        <p:spPr>
          <a:xfrm>
            <a:off x="548640" y="1920240"/>
            <a:ext cx="2072579" cy="2286000"/>
          </a:xfrm>
          <a:prstGeom prst="roundRect">
            <a:avLst>
              <a:gd name="adj" fmla="val 5294"/>
            </a:avLst>
          </a:prstGeom>
          <a:solidFill>
            <a:srgbClr val="FFFFFF"/>
          </a:solidFill>
          <a:ln w="19050">
            <a:solidFill>
              <a:srgbClr val="FF9259"/>
            </a:solidFill>
            <a:prstDash val="solid"/>
          </a:ln>
        </p:spPr>
      </p:sp>
      <p:sp>
        <p:nvSpPr>
          <p:cNvPr id="21" name="Shape 18"/>
          <p:cNvSpPr/>
          <p:nvPr/>
        </p:nvSpPr>
        <p:spPr>
          <a:xfrm>
            <a:off x="777240" y="2103120"/>
            <a:ext cx="640080" cy="640080"/>
          </a:xfrm>
          <a:prstGeom prst="ellipse">
            <a:avLst/>
          </a:prstGeom>
          <a:solidFill>
            <a:srgbClr val="FF9259"/>
          </a:solidFill>
          <a:ln w="12700">
            <a:solidFill>
              <a:srgbClr val="FF9259"/>
            </a:solidFill>
            <a:prstDash val="solid"/>
          </a:ln>
        </p:spPr>
      </p:sp>
      <p:sp>
        <p:nvSpPr>
          <p:cNvPr id="22" name="Text 19"/>
          <p:cNvSpPr txBox="1"/>
          <p:nvPr/>
        </p:nvSpPr>
        <p:spPr>
          <a:xfrm>
            <a:off x="777240" y="2103120"/>
            <a:ext cx="640080" cy="640080"/>
          </a:xfrm>
          <a:prstGeom prst="rect">
            <a:avLst/>
          </a:prstGeom>
          <a:noFill/>
          <a:ln/>
        </p:spPr>
        <p:txBody>
          <a:bodyPr wrap="square" lIns="0" tIns="0" rIns="0" bIns="0" rtlCol="0" anchor="ctr"/>
          <a:lstStyle/>
          <a:p>
            <a:pPr algn="ctr" indent="0" marL="0">
              <a:buNone/>
            </a:pPr>
            <a:r>
              <a:rPr lang="en-US" sz="2380" b="1" dirty="0">
                <a:solidFill>
                  <a:srgbClr val="2A2238"/>
                </a:solidFill>
                <a:latin typeface="Alexandria" pitchFamily="34" charset="0"/>
                <a:ea typeface="Alexandria" pitchFamily="34" charset="-122"/>
                <a:cs typeface="Alexandria" pitchFamily="34" charset="-120"/>
              </a:rPr>
              <a:t>1</a:t>
            </a:r>
            <a:endParaRPr lang="en-US" sz="2380" dirty="0"/>
          </a:p>
        </p:txBody>
      </p:sp>
      <p:sp>
        <p:nvSpPr>
          <p:cNvPr id="23" name="Text 20"/>
          <p:cNvSpPr txBox="1"/>
          <p:nvPr/>
        </p:nvSpPr>
        <p:spPr>
          <a:xfrm>
            <a:off x="777240" y="292608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Hỏi thăm quan hệ</a:t>
            </a:r>
            <a:endParaRPr lang="en-US" sz="1600" dirty="0"/>
          </a:p>
        </p:txBody>
      </p:sp>
      <p:sp>
        <p:nvSpPr>
          <p:cNvPr id="24" name="Shape 21"/>
          <p:cNvSpPr/>
          <p:nvPr/>
        </p:nvSpPr>
        <p:spPr>
          <a:xfrm>
            <a:off x="2804099" y="1920240"/>
            <a:ext cx="2072579" cy="2286000"/>
          </a:xfrm>
          <a:prstGeom prst="roundRect">
            <a:avLst>
              <a:gd name="adj" fmla="val 5294"/>
            </a:avLst>
          </a:prstGeom>
          <a:solidFill>
            <a:srgbClr val="FFFFFF"/>
          </a:solidFill>
          <a:ln w="19050">
            <a:solidFill>
              <a:srgbClr val="962B7C"/>
            </a:solidFill>
            <a:prstDash val="solid"/>
          </a:ln>
        </p:spPr>
      </p:sp>
      <p:sp>
        <p:nvSpPr>
          <p:cNvPr id="25" name="Shape 22"/>
          <p:cNvSpPr/>
          <p:nvPr/>
        </p:nvSpPr>
        <p:spPr>
          <a:xfrm>
            <a:off x="3032699" y="2103120"/>
            <a:ext cx="640080" cy="640080"/>
          </a:xfrm>
          <a:prstGeom prst="ellipse">
            <a:avLst/>
          </a:prstGeom>
          <a:solidFill>
            <a:srgbClr val="962B7C"/>
          </a:solidFill>
          <a:ln w="12700">
            <a:solidFill>
              <a:srgbClr val="962B7C"/>
            </a:solidFill>
            <a:prstDash val="solid"/>
          </a:ln>
        </p:spPr>
      </p:sp>
      <p:sp>
        <p:nvSpPr>
          <p:cNvPr id="26" name="Text 23"/>
          <p:cNvSpPr txBox="1"/>
          <p:nvPr/>
        </p:nvSpPr>
        <p:spPr>
          <a:xfrm>
            <a:off x="3032699" y="210312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7" name="Text 24"/>
          <p:cNvSpPr txBox="1"/>
          <p:nvPr/>
        </p:nvSpPr>
        <p:spPr>
          <a:xfrm>
            <a:off x="3032699" y="292608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Đã hứa gì – đã làm gì</a:t>
            </a:r>
            <a:endParaRPr lang="en-US" sz="1600" dirty="0"/>
          </a:p>
        </p:txBody>
      </p:sp>
      <p:sp>
        <p:nvSpPr>
          <p:cNvPr id="28" name="Shape 25"/>
          <p:cNvSpPr/>
          <p:nvPr/>
        </p:nvSpPr>
        <p:spPr>
          <a:xfrm>
            <a:off x="5059558" y="1920240"/>
            <a:ext cx="2072579" cy="2286000"/>
          </a:xfrm>
          <a:prstGeom prst="roundRect">
            <a:avLst>
              <a:gd name="adj" fmla="val 5294"/>
            </a:avLst>
          </a:prstGeom>
          <a:solidFill>
            <a:srgbClr val="FFFFFF"/>
          </a:solidFill>
          <a:ln w="19050">
            <a:solidFill>
              <a:srgbClr val="09A1E5"/>
            </a:solidFill>
            <a:prstDash val="solid"/>
          </a:ln>
        </p:spPr>
      </p:sp>
      <p:sp>
        <p:nvSpPr>
          <p:cNvPr id="29" name="Shape 26"/>
          <p:cNvSpPr/>
          <p:nvPr/>
        </p:nvSpPr>
        <p:spPr>
          <a:xfrm>
            <a:off x="5288158" y="2103120"/>
            <a:ext cx="640080" cy="640080"/>
          </a:xfrm>
          <a:prstGeom prst="ellipse">
            <a:avLst/>
          </a:prstGeom>
          <a:solidFill>
            <a:srgbClr val="09A1E5"/>
          </a:solidFill>
          <a:ln w="12700">
            <a:solidFill>
              <a:srgbClr val="09A1E5"/>
            </a:solidFill>
            <a:prstDash val="solid"/>
          </a:ln>
        </p:spPr>
      </p:sp>
      <p:sp>
        <p:nvSpPr>
          <p:cNvPr id="30" name="Text 27"/>
          <p:cNvSpPr txBox="1"/>
          <p:nvPr/>
        </p:nvSpPr>
        <p:spPr>
          <a:xfrm>
            <a:off x="5288158" y="210312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3</a:t>
            </a:r>
            <a:endParaRPr lang="en-US" sz="2380" dirty="0"/>
          </a:p>
        </p:txBody>
      </p:sp>
      <p:sp>
        <p:nvSpPr>
          <p:cNvPr id="31" name="Text 28"/>
          <p:cNvSpPr txBox="1"/>
          <p:nvPr/>
        </p:nvSpPr>
        <p:spPr>
          <a:xfrm>
            <a:off x="5288158" y="292608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Kết quả theo chỉ số đã thống nhất</a:t>
            </a:r>
            <a:endParaRPr lang="en-US" sz="1600" dirty="0"/>
          </a:p>
        </p:txBody>
      </p:sp>
      <p:sp>
        <p:nvSpPr>
          <p:cNvPr id="32" name="Shape 29"/>
          <p:cNvSpPr/>
          <p:nvPr/>
        </p:nvSpPr>
        <p:spPr>
          <a:xfrm>
            <a:off x="7315017" y="1920240"/>
            <a:ext cx="2072579" cy="2286000"/>
          </a:xfrm>
          <a:prstGeom prst="roundRect">
            <a:avLst>
              <a:gd name="adj" fmla="val 5294"/>
            </a:avLst>
          </a:prstGeom>
          <a:solidFill>
            <a:srgbClr val="FFFFFF"/>
          </a:solidFill>
          <a:ln w="19050">
            <a:solidFill>
              <a:srgbClr val="FF5178"/>
            </a:solidFill>
            <a:prstDash val="solid"/>
          </a:ln>
        </p:spPr>
      </p:sp>
      <p:sp>
        <p:nvSpPr>
          <p:cNvPr id="33" name="Shape 30"/>
          <p:cNvSpPr/>
          <p:nvPr/>
        </p:nvSpPr>
        <p:spPr>
          <a:xfrm>
            <a:off x="7543617" y="2103120"/>
            <a:ext cx="640080" cy="640080"/>
          </a:xfrm>
          <a:prstGeom prst="ellipse">
            <a:avLst/>
          </a:prstGeom>
          <a:solidFill>
            <a:srgbClr val="FF5178"/>
          </a:solidFill>
          <a:ln w="12700">
            <a:solidFill>
              <a:srgbClr val="FF5178"/>
            </a:solidFill>
            <a:prstDash val="solid"/>
          </a:ln>
        </p:spPr>
      </p:sp>
      <p:sp>
        <p:nvSpPr>
          <p:cNvPr id="34" name="Text 31"/>
          <p:cNvSpPr txBox="1"/>
          <p:nvPr/>
        </p:nvSpPr>
        <p:spPr>
          <a:xfrm>
            <a:off x="7543617" y="210312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4</a:t>
            </a:r>
            <a:endParaRPr lang="en-US" sz="2380" dirty="0"/>
          </a:p>
        </p:txBody>
      </p:sp>
      <p:sp>
        <p:nvSpPr>
          <p:cNvPr id="35" name="Text 32"/>
          <p:cNvSpPr txBox="1"/>
          <p:nvPr/>
        </p:nvSpPr>
        <p:spPr>
          <a:xfrm>
            <a:off x="7543617" y="292608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Đánh giá hai chiều</a:t>
            </a:r>
            <a:endParaRPr lang="en-US" sz="1600" dirty="0"/>
          </a:p>
        </p:txBody>
      </p:sp>
      <p:sp>
        <p:nvSpPr>
          <p:cNvPr id="36" name="Shape 33"/>
          <p:cNvSpPr/>
          <p:nvPr/>
        </p:nvSpPr>
        <p:spPr>
          <a:xfrm>
            <a:off x="9570476" y="1920240"/>
            <a:ext cx="2072579" cy="2286000"/>
          </a:xfrm>
          <a:prstGeom prst="roundRect">
            <a:avLst>
              <a:gd name="adj" fmla="val 5294"/>
            </a:avLst>
          </a:prstGeom>
          <a:solidFill>
            <a:srgbClr val="FFFFFF"/>
          </a:solidFill>
          <a:ln w="19050">
            <a:solidFill>
              <a:srgbClr val="49B296"/>
            </a:solidFill>
            <a:prstDash val="solid"/>
          </a:ln>
        </p:spPr>
      </p:sp>
      <p:sp>
        <p:nvSpPr>
          <p:cNvPr id="37" name="Shape 34"/>
          <p:cNvSpPr/>
          <p:nvPr/>
        </p:nvSpPr>
        <p:spPr>
          <a:xfrm>
            <a:off x="9799076" y="2103120"/>
            <a:ext cx="640080" cy="640080"/>
          </a:xfrm>
          <a:prstGeom prst="ellipse">
            <a:avLst/>
          </a:prstGeom>
          <a:solidFill>
            <a:srgbClr val="49B296"/>
          </a:solidFill>
          <a:ln w="12700">
            <a:solidFill>
              <a:srgbClr val="49B296"/>
            </a:solidFill>
            <a:prstDash val="solid"/>
          </a:ln>
        </p:spPr>
      </p:sp>
      <p:sp>
        <p:nvSpPr>
          <p:cNvPr id="38" name="Text 35"/>
          <p:cNvSpPr txBox="1"/>
          <p:nvPr/>
        </p:nvSpPr>
        <p:spPr>
          <a:xfrm>
            <a:off x="9799076" y="210312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5</a:t>
            </a:r>
            <a:endParaRPr lang="en-US" sz="2380" dirty="0"/>
          </a:p>
        </p:txBody>
      </p:sp>
      <p:sp>
        <p:nvSpPr>
          <p:cNvPr id="39" name="Text 36"/>
          <p:cNvSpPr txBox="1"/>
          <p:nvPr/>
        </p:nvSpPr>
        <p:spPr>
          <a:xfrm>
            <a:off x="9799076" y="292608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Đề xuất quý tới + hẹn buổi sau</a:t>
            </a:r>
            <a:endParaRPr lang="en-US" sz="1600" dirty="0"/>
          </a:p>
        </p:txBody>
      </p:sp>
      <p:sp>
        <p:nvSpPr>
          <p:cNvPr id="40" name="Shape 37"/>
          <p:cNvSpPr/>
          <p:nvPr/>
        </p:nvSpPr>
        <p:spPr>
          <a:xfrm>
            <a:off x="548640" y="4526280"/>
            <a:ext cx="5120640" cy="1463040"/>
          </a:xfrm>
          <a:prstGeom prst="roundRect">
            <a:avLst>
              <a:gd name="adj" fmla="val 7500"/>
            </a:avLst>
          </a:prstGeom>
          <a:solidFill>
            <a:srgbClr val="FFF3C4"/>
          </a:solidFill>
          <a:ln w="12700">
            <a:solidFill>
              <a:srgbClr val="FFD23B"/>
            </a:solidFill>
            <a:prstDash val="solid"/>
          </a:ln>
        </p:spPr>
      </p:sp>
      <p:sp>
        <p:nvSpPr>
          <p:cNvPr id="41" name="Text 38"/>
          <p:cNvSpPr txBox="1"/>
          <p:nvPr/>
        </p:nvSpPr>
        <p:spPr>
          <a:xfrm>
            <a:off x="822960" y="4526280"/>
            <a:ext cx="4572000" cy="14630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Ai dự: </a:t>
            </a:r>
            <a:pPr indent="0" marL="0">
              <a:buNone/>
            </a:pPr>
            <a:r>
              <a:rPr lang="en-US" sz="1700" dirty="0">
                <a:solidFill>
                  <a:srgbClr val="2A2238"/>
                </a:solidFill>
                <a:latin typeface="Alexandria" pitchFamily="34" charset="0"/>
                <a:ea typeface="Alexandria" pitchFamily="34" charset="-122"/>
                <a:cs typeface="Alexandria" pitchFamily="34" charset="-120"/>
              </a:rPr>
              <a:t>lãnh đạo hai bên, không chỉ KAMer và đầu mối</a:t>
            </a:r>
            <a:endParaRPr lang="en-US" sz="1700" dirty="0"/>
          </a:p>
        </p:txBody>
      </p:sp>
      <p:sp>
        <p:nvSpPr>
          <p:cNvPr id="42" name="Shape 39"/>
          <p:cNvSpPr/>
          <p:nvPr/>
        </p:nvSpPr>
        <p:spPr>
          <a:xfrm>
            <a:off x="5943600" y="4526280"/>
            <a:ext cx="5699455" cy="1463040"/>
          </a:xfrm>
          <a:prstGeom prst="roundRect">
            <a:avLst>
              <a:gd name="adj" fmla="val 7500"/>
            </a:avLst>
          </a:prstGeom>
          <a:solidFill>
            <a:srgbClr val="DDF1FB"/>
          </a:solidFill>
          <a:ln w="12700">
            <a:solidFill>
              <a:srgbClr val="DDF1FB"/>
            </a:solidFill>
            <a:prstDash val="solid"/>
          </a:ln>
        </p:spPr>
      </p:sp>
      <p:sp>
        <p:nvSpPr>
          <p:cNvPr id="43" name="Text 40"/>
          <p:cNvSpPr txBox="1"/>
          <p:nvPr/>
        </p:nvSpPr>
        <p:spPr>
          <a:xfrm>
            <a:off x="6217920" y="4526280"/>
            <a:ext cx="5150815" cy="1463040"/>
          </a:xfrm>
          <a:prstGeom prst="rect">
            <a:avLst/>
          </a:prstGeom>
          <a:noFill/>
          <a:ln/>
        </p:spPr>
        <p:txBody>
          <a:bodyPr wrap="square" lIns="0" tIns="0" rIns="0" bIns="0" rtlCol="0" anchor="ctr"/>
          <a:lstStyle/>
          <a:p>
            <a:pPr indent="0" marL="0">
              <a:buNone/>
            </a:pPr>
            <a:r>
              <a:rPr lang="en-US" sz="3000" b="1" dirty="0">
                <a:solidFill>
                  <a:srgbClr val="0A7FB5"/>
                </a:solidFill>
                <a:latin typeface="Alexandria" pitchFamily="34" charset="0"/>
                <a:ea typeface="Alexandria" pitchFamily="34" charset="-122"/>
                <a:cs typeface="Alexandria" pitchFamily="34" charset="-120"/>
              </a:rPr>
              <a:t>66% </a:t>
            </a:r>
            <a:pPr indent="0" marL="0">
              <a:buNone/>
            </a:pPr>
            <a:r>
              <a:rPr lang="en-US" sz="1400" dirty="0">
                <a:solidFill>
                  <a:srgbClr val="2A2238"/>
                </a:solidFill>
                <a:latin typeface="Alexandria" pitchFamily="34" charset="0"/>
                <a:ea typeface="Alexandria" pitchFamily="34" charset="-122"/>
                <a:cs typeface="Alexandria" pitchFamily="34" charset="-120"/>
              </a:rPr>
              <a:t>agency kỹ thuật số có họp đánh giá theo quý (QBR) chính thức cho tất cả hoặc một phần khách hàng</a:t>
            </a:r>
            <a:endParaRPr lang="en-US" sz="3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Đánh giá hai chiều cho agency cơ hội góp ý mà không mất thể diện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T14: ANA (2009) — khảo sát tại Mỹ, nguồn cũ; bản cập nhật chỉ dành cho thành viên.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23</a:t>
            </a:r>
            <a:endParaRPr lang="en-US" sz="1000" dirty="0"/>
          </a:p>
        </p:txBody>
      </p:sp>
      <p:sp>
        <p:nvSpPr>
          <p:cNvPr id="20" name="Shape 17"/>
          <p:cNvSpPr/>
          <p:nvPr/>
        </p:nvSpPr>
        <p:spPr>
          <a:xfrm>
            <a:off x="548640" y="1920240"/>
            <a:ext cx="3017520" cy="2743200"/>
          </a:xfrm>
          <a:prstGeom prst="roundRect">
            <a:avLst>
              <a:gd name="adj" fmla="val 4000"/>
            </a:avLst>
          </a:prstGeom>
          <a:solidFill>
            <a:srgbClr val="F1E1EE"/>
          </a:solidFill>
          <a:ln w="12700">
            <a:solidFill>
              <a:srgbClr val="F1E1EE"/>
            </a:solidFill>
            <a:prstDash val="solid"/>
          </a:ln>
        </p:spPr>
      </p:sp>
      <p:sp>
        <p:nvSpPr>
          <p:cNvPr id="21" name="Text 18"/>
          <p:cNvSpPr txBox="1"/>
          <p:nvPr/>
        </p:nvSpPr>
        <p:spPr>
          <a:xfrm>
            <a:off x="822960" y="2103120"/>
            <a:ext cx="2468880" cy="1005840"/>
          </a:xfrm>
          <a:prstGeom prst="rect">
            <a:avLst/>
          </a:prstGeom>
          <a:noFill/>
          <a:ln/>
        </p:spPr>
        <p:txBody>
          <a:bodyPr wrap="square" lIns="0" tIns="0" rIns="0" bIns="0" rtlCol="0" anchor="ctr"/>
          <a:lstStyle/>
          <a:p>
            <a:pPr indent="0" marL="0">
              <a:buNone/>
            </a:pPr>
            <a:r>
              <a:rPr lang="en-US" sz="5000" b="1" dirty="0">
                <a:solidFill>
                  <a:srgbClr val="962B7C"/>
                </a:solidFill>
                <a:latin typeface="Alexandria" pitchFamily="34" charset="0"/>
                <a:ea typeface="Alexandria" pitchFamily="34" charset="-122"/>
                <a:cs typeface="Alexandria" pitchFamily="34" charset="-120"/>
              </a:rPr>
              <a:t>82%</a:t>
            </a:r>
            <a:endParaRPr lang="en-US" sz="5000" dirty="0"/>
          </a:p>
        </p:txBody>
      </p:sp>
      <p:sp>
        <p:nvSpPr>
          <p:cNvPr id="22" name="Text 19"/>
          <p:cNvSpPr txBox="1"/>
          <p:nvPr/>
        </p:nvSpPr>
        <p:spPr>
          <a:xfrm>
            <a:off x="822960" y="3154680"/>
            <a:ext cx="2468880" cy="137160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doanh nghiệp đánh giá agency định kỳ, chính thức</a:t>
            </a:r>
            <a:endParaRPr lang="en-US" sz="1500" dirty="0"/>
          </a:p>
        </p:txBody>
      </p:sp>
      <p:sp>
        <p:nvSpPr>
          <p:cNvPr id="23" name="Shape 20"/>
          <p:cNvSpPr/>
          <p:nvPr/>
        </p:nvSpPr>
        <p:spPr>
          <a:xfrm>
            <a:off x="3794760" y="1920240"/>
            <a:ext cx="3017520" cy="2743200"/>
          </a:xfrm>
          <a:prstGeom prst="roundRect">
            <a:avLst>
              <a:gd name="adj" fmla="val 4000"/>
            </a:avLst>
          </a:prstGeom>
          <a:solidFill>
            <a:srgbClr val="FFE4EA"/>
          </a:solidFill>
          <a:ln w="12700">
            <a:solidFill>
              <a:srgbClr val="FFE4EA"/>
            </a:solidFill>
            <a:prstDash val="solid"/>
          </a:ln>
        </p:spPr>
      </p:sp>
      <p:sp>
        <p:nvSpPr>
          <p:cNvPr id="24" name="Text 21"/>
          <p:cNvSpPr txBox="1"/>
          <p:nvPr/>
        </p:nvSpPr>
        <p:spPr>
          <a:xfrm>
            <a:off x="4069080" y="2103120"/>
            <a:ext cx="2468880" cy="1005840"/>
          </a:xfrm>
          <a:prstGeom prst="rect">
            <a:avLst/>
          </a:prstGeom>
          <a:noFill/>
          <a:ln/>
        </p:spPr>
        <p:txBody>
          <a:bodyPr wrap="square" lIns="0" tIns="0" rIns="0" bIns="0" rtlCol="0" anchor="ctr"/>
          <a:lstStyle/>
          <a:p>
            <a:pPr indent="0" marL="0">
              <a:buNone/>
            </a:pPr>
            <a:r>
              <a:rPr lang="en-US" sz="5000" b="1" dirty="0">
                <a:solidFill>
                  <a:srgbClr val="E03A62"/>
                </a:solidFill>
                <a:latin typeface="Alexandria" pitchFamily="34" charset="0"/>
                <a:ea typeface="Alexandria" pitchFamily="34" charset="-122"/>
                <a:cs typeface="Alexandria" pitchFamily="34" charset="-120"/>
              </a:rPr>
              <a:t>59%</a:t>
            </a:r>
            <a:endParaRPr lang="en-US" sz="5000" dirty="0"/>
          </a:p>
        </p:txBody>
      </p:sp>
      <p:sp>
        <p:nvSpPr>
          <p:cNvPr id="25" name="Text 22"/>
          <p:cNvSpPr txBox="1"/>
          <p:nvPr/>
        </p:nvSpPr>
        <p:spPr>
          <a:xfrm>
            <a:off x="4069080" y="3154680"/>
            <a:ext cx="2468880" cy="137160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dùng đánh giá hai chiều (360°) — agency cũng đánh giá khách hàng</a:t>
            </a:r>
            <a:endParaRPr lang="en-US" sz="1500" dirty="0"/>
          </a:p>
        </p:txBody>
      </p:sp>
      <p:sp>
        <p:nvSpPr>
          <p:cNvPr id="26" name="Text 23"/>
          <p:cNvSpPr txBox="1"/>
          <p:nvPr/>
        </p:nvSpPr>
        <p:spPr>
          <a:xfrm>
            <a:off x="7132320" y="1920240"/>
            <a:ext cx="4510735"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Agency có thể nêu, như một phần quy trình:</a:t>
            </a:r>
            <a:endParaRPr lang="en-US" sz="1500" dirty="0"/>
          </a:p>
        </p:txBody>
      </p:sp>
      <p:sp>
        <p:nvSpPr>
          <p:cNvPr id="27" name="Text 24"/>
          <p:cNvSpPr txBox="1"/>
          <p:nvPr/>
        </p:nvSpPr>
        <p:spPr>
          <a:xfrm>
            <a:off x="7132320" y="2377440"/>
            <a:ext cx="4510735"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A2238"/>
                </a:solidFill>
                <a:latin typeface="Alexandria" pitchFamily="34" charset="0"/>
                <a:ea typeface="Alexandria" pitchFamily="34" charset="-122"/>
                <a:cs typeface="Alexandria" pitchFamily="34" charset="-120"/>
              </a:rPr>
              <a:t>Duyệt kịch bản chậm</a:t>
            </a:r>
            <a:endParaRPr lang="en-US" sz="1700" dirty="0"/>
          </a:p>
          <a:p>
            <a:pPr marL="342900" indent="-342900">
              <a:spcAft>
                <a:spcPts val="800"/>
              </a:spcAft>
              <a:buSzPct val="100000"/>
              <a:buChar char="•"/>
            </a:pPr>
            <a:r>
              <a:rPr lang="en-US" sz="1700" dirty="0">
                <a:solidFill>
                  <a:srgbClr val="2A2238"/>
                </a:solidFill>
                <a:latin typeface="Alexandria" pitchFamily="34" charset="0"/>
                <a:ea typeface="Alexandria" pitchFamily="34" charset="-122"/>
                <a:cs typeface="Alexandria" pitchFamily="34" charset="-120"/>
              </a:rPr>
              <a:t>Đổi brief sát ngày</a:t>
            </a:r>
            <a:endParaRPr lang="en-US" sz="1700" dirty="0"/>
          </a:p>
          <a:p>
            <a:pPr marL="342900" indent="-342900">
              <a:spcAft>
                <a:spcPts val="800"/>
              </a:spcAft>
              <a:buSzPct val="100000"/>
              <a:buChar char="•"/>
            </a:pPr>
            <a:r>
              <a:rPr lang="en-US" sz="1700" dirty="0">
                <a:solidFill>
                  <a:srgbClr val="2A2238"/>
                </a:solidFill>
                <a:latin typeface="Alexandria" pitchFamily="34" charset="0"/>
                <a:ea typeface="Alexandria" pitchFamily="34" charset="-122"/>
                <a:cs typeface="Alexandria" pitchFamily="34" charset="-120"/>
              </a:rPr>
              <a:t>Thay người phụ trách giữa chừng</a:t>
            </a:r>
            <a:endParaRPr lang="en-US" sz="1700" dirty="0"/>
          </a:p>
        </p:txBody>
      </p:sp>
      <p:sp>
        <p:nvSpPr>
          <p:cNvPr id="28" name="Shape 25"/>
          <p:cNvSpPr/>
          <p:nvPr/>
        </p:nvSpPr>
        <p:spPr>
          <a:xfrm>
            <a:off x="548640" y="4892040"/>
            <a:ext cx="11094415" cy="1097280"/>
          </a:xfrm>
          <a:prstGeom prst="roundRect">
            <a:avLst>
              <a:gd name="adj" fmla="val 10000"/>
            </a:avLst>
          </a:prstGeom>
          <a:solidFill>
            <a:srgbClr val="FFF3C4"/>
          </a:solidFill>
          <a:ln w="12700">
            <a:solidFill>
              <a:srgbClr val="FFD23B"/>
            </a:solidFill>
            <a:prstDash val="solid"/>
          </a:ln>
        </p:spPr>
      </p:sp>
      <p:sp>
        <p:nvSpPr>
          <p:cNvPr id="29" name="Text 26"/>
          <p:cNvSpPr txBox="1"/>
          <p:nvPr/>
        </p:nvSpPr>
        <p:spPr>
          <a:xfrm>
            <a:off x="868680" y="4892040"/>
            <a:ext cx="10454335" cy="1097280"/>
          </a:xfrm>
          <a:prstGeom prst="rect">
            <a:avLst/>
          </a:prstGeom>
          <a:noFill/>
          <a:ln/>
        </p:spPr>
        <p:txBody>
          <a:bodyPr wrap="square" lIns="0" tIns="0" rIns="0" bIns="0" rtlCol="0" anchor="ctr"/>
          <a:lstStyle/>
          <a:p>
            <a:pPr indent="0" marL="0">
              <a:buNone/>
            </a:pPr>
            <a:r>
              <a:rPr lang="en-US" sz="1500" i="1" dirty="0">
                <a:solidFill>
                  <a:srgbClr val="2A2238"/>
                </a:solidFill>
                <a:latin typeface="Alexandria" pitchFamily="34" charset="0"/>
                <a:ea typeface="Alexandria" pitchFamily="34" charset="-122"/>
                <a:cs typeface="Alexandria" pitchFamily="34" charset="-120"/>
              </a:rPr>
              <a:t>“Two-way, or 360-degree, evaluations in which the agency also evaluates the client are used by a majority of firms (59 percent).” </a:t>
            </a:r>
            <a:pPr indent="0" marL="0">
              <a:buNone/>
            </a:pPr>
            <a:r>
              <a:rPr lang="en-US" sz="1200" dirty="0">
                <a:solidFill>
                  <a:srgbClr val="6E6878"/>
                </a:solidFill>
                <a:latin typeface="Alexandria" pitchFamily="34" charset="0"/>
                <a:ea typeface="Alexandria" pitchFamily="34" charset="-122"/>
                <a:cs typeface="Alexandria" pitchFamily="34" charset="-120"/>
              </a:rPr>
              <a:t>— ANA (T14)</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sự kiện một báo cáo; nhiều báo cáo là trí nhớ của quan hệ</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T15: Convention Industry Council (2005), APEX Post-Event Report — mẫu gốc dùng giữa nhà tổ chức và địa điểm.</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24</a:t>
            </a:r>
            <a:endParaRPr lang="en-US" sz="1000" dirty="0"/>
          </a:p>
        </p:txBody>
      </p:sp>
      <p:sp>
        <p:nvSpPr>
          <p:cNvPr id="20" name="Shape 17"/>
          <p:cNvSpPr/>
          <p:nvPr/>
        </p:nvSpPr>
        <p:spPr>
          <a:xfrm>
            <a:off x="548640" y="2103120"/>
            <a:ext cx="2331720" cy="1463040"/>
          </a:xfrm>
          <a:prstGeom prst="roundRect">
            <a:avLst>
              <a:gd name="adj" fmla="val 7500"/>
            </a:avLst>
          </a:prstGeom>
          <a:solidFill>
            <a:srgbClr val="FFE9DE"/>
          </a:solidFill>
          <a:ln w="19050">
            <a:solidFill>
              <a:srgbClr val="FF9259"/>
            </a:solidFill>
            <a:prstDash val="solid"/>
          </a:ln>
        </p:spPr>
      </p:sp>
      <p:sp>
        <p:nvSpPr>
          <p:cNvPr id="21" name="Text 18"/>
          <p:cNvSpPr txBox="1"/>
          <p:nvPr/>
        </p:nvSpPr>
        <p:spPr>
          <a:xfrm>
            <a:off x="731520" y="2103120"/>
            <a:ext cx="1965960" cy="14630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Sự kiện</a:t>
            </a:r>
            <a:endParaRPr lang="en-US" sz="1600" dirty="0"/>
          </a:p>
        </p:txBody>
      </p:sp>
      <p:sp>
        <p:nvSpPr>
          <p:cNvPr id="22" name="Shape 19"/>
          <p:cNvSpPr/>
          <p:nvPr/>
        </p:nvSpPr>
        <p:spPr>
          <a:xfrm>
            <a:off x="2944368" y="2834640"/>
            <a:ext cx="329184" cy="914"/>
          </a:xfrm>
          <a:prstGeom prst="line">
            <a:avLst/>
          </a:prstGeom>
          <a:noFill/>
          <a:ln w="31750">
            <a:solidFill>
              <a:srgbClr val="2A2238"/>
            </a:solidFill>
            <a:prstDash val="solid"/>
            <a:tailEnd type="triangle"/>
          </a:ln>
        </p:spPr>
      </p:sp>
      <p:sp>
        <p:nvSpPr>
          <p:cNvPr id="23" name="Shape 20"/>
          <p:cNvSpPr/>
          <p:nvPr/>
        </p:nvSpPr>
        <p:spPr>
          <a:xfrm>
            <a:off x="3337560" y="2103120"/>
            <a:ext cx="2331720" cy="1463040"/>
          </a:xfrm>
          <a:prstGeom prst="roundRect">
            <a:avLst>
              <a:gd name="adj" fmla="val 7500"/>
            </a:avLst>
          </a:prstGeom>
          <a:solidFill>
            <a:srgbClr val="F1E1EE"/>
          </a:solidFill>
          <a:ln w="19050">
            <a:solidFill>
              <a:srgbClr val="962B7C"/>
            </a:solidFill>
            <a:prstDash val="solid"/>
          </a:ln>
        </p:spPr>
      </p:sp>
      <p:sp>
        <p:nvSpPr>
          <p:cNvPr id="24" name="Text 21"/>
          <p:cNvSpPr txBox="1"/>
          <p:nvPr/>
        </p:nvSpPr>
        <p:spPr>
          <a:xfrm>
            <a:off x="3520440" y="2103120"/>
            <a:ext cx="1965960" cy="14630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Họp trực tiếp ngay sau sự kiện</a:t>
            </a:r>
            <a:endParaRPr lang="en-US" sz="1600" dirty="0"/>
          </a:p>
        </p:txBody>
      </p:sp>
      <p:sp>
        <p:nvSpPr>
          <p:cNvPr id="25" name="Shape 22"/>
          <p:cNvSpPr/>
          <p:nvPr/>
        </p:nvSpPr>
        <p:spPr>
          <a:xfrm>
            <a:off x="5733288" y="2834640"/>
            <a:ext cx="329184" cy="914"/>
          </a:xfrm>
          <a:prstGeom prst="line">
            <a:avLst/>
          </a:prstGeom>
          <a:noFill/>
          <a:ln w="31750">
            <a:solidFill>
              <a:srgbClr val="2A2238"/>
            </a:solidFill>
            <a:prstDash val="solid"/>
            <a:tailEnd type="triangle"/>
          </a:ln>
        </p:spPr>
      </p:sp>
      <p:sp>
        <p:nvSpPr>
          <p:cNvPr id="26" name="Shape 23"/>
          <p:cNvSpPr/>
          <p:nvPr/>
        </p:nvSpPr>
        <p:spPr>
          <a:xfrm>
            <a:off x="6126480" y="2103120"/>
            <a:ext cx="2331720" cy="1463040"/>
          </a:xfrm>
          <a:prstGeom prst="roundRect">
            <a:avLst>
              <a:gd name="adj" fmla="val 7500"/>
            </a:avLst>
          </a:prstGeom>
          <a:solidFill>
            <a:srgbClr val="DDF1FB"/>
          </a:solidFill>
          <a:ln w="19050">
            <a:solidFill>
              <a:srgbClr val="09A1E5"/>
            </a:solidFill>
            <a:prstDash val="solid"/>
          </a:ln>
        </p:spPr>
      </p:sp>
      <p:sp>
        <p:nvSpPr>
          <p:cNvPr id="27" name="Text 24"/>
          <p:cNvSpPr txBox="1"/>
          <p:nvPr/>
        </p:nvSpPr>
        <p:spPr>
          <a:xfrm>
            <a:off x="6309360" y="2103120"/>
            <a:ext cx="1965960" cy="14630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Báo cáo xong trong 60 ngày</a:t>
            </a:r>
            <a:endParaRPr lang="en-US" sz="1600" dirty="0"/>
          </a:p>
        </p:txBody>
      </p:sp>
      <p:sp>
        <p:nvSpPr>
          <p:cNvPr id="28" name="Shape 25"/>
          <p:cNvSpPr/>
          <p:nvPr/>
        </p:nvSpPr>
        <p:spPr>
          <a:xfrm>
            <a:off x="8522208" y="2834640"/>
            <a:ext cx="329184" cy="914"/>
          </a:xfrm>
          <a:prstGeom prst="line">
            <a:avLst/>
          </a:prstGeom>
          <a:noFill/>
          <a:ln w="31750">
            <a:solidFill>
              <a:srgbClr val="2A2238"/>
            </a:solidFill>
            <a:prstDash val="solid"/>
            <a:tailEnd type="triangle"/>
          </a:ln>
        </p:spPr>
      </p:sp>
      <p:sp>
        <p:nvSpPr>
          <p:cNvPr id="29" name="Shape 26"/>
          <p:cNvSpPr/>
          <p:nvPr/>
        </p:nvSpPr>
        <p:spPr>
          <a:xfrm>
            <a:off x="9299448" y="2304288"/>
            <a:ext cx="2103120" cy="1508760"/>
          </a:xfrm>
          <a:prstGeom prst="roundRect">
            <a:avLst>
              <a:gd name="adj" fmla="val 7273"/>
            </a:avLst>
          </a:prstGeom>
          <a:solidFill>
            <a:srgbClr val="FFFFFF"/>
          </a:solidFill>
          <a:ln w="12700">
            <a:solidFill>
              <a:srgbClr val="49B296"/>
            </a:solidFill>
            <a:prstDash val="solid"/>
          </a:ln>
        </p:spPr>
      </p:sp>
      <p:sp>
        <p:nvSpPr>
          <p:cNvPr id="30" name="Shape 27"/>
          <p:cNvSpPr/>
          <p:nvPr/>
        </p:nvSpPr>
        <p:spPr>
          <a:xfrm>
            <a:off x="9171432" y="2176272"/>
            <a:ext cx="2103120" cy="1508760"/>
          </a:xfrm>
          <a:prstGeom prst="roundRect">
            <a:avLst>
              <a:gd name="adj" fmla="val 7273"/>
            </a:avLst>
          </a:prstGeom>
          <a:solidFill>
            <a:srgbClr val="FFFFFF"/>
          </a:solidFill>
          <a:ln w="12700">
            <a:solidFill>
              <a:srgbClr val="49B296"/>
            </a:solidFill>
            <a:prstDash val="solid"/>
          </a:ln>
        </p:spPr>
      </p:sp>
      <p:sp>
        <p:nvSpPr>
          <p:cNvPr id="31" name="Shape 28"/>
          <p:cNvSpPr/>
          <p:nvPr/>
        </p:nvSpPr>
        <p:spPr>
          <a:xfrm>
            <a:off x="9043416" y="2048256"/>
            <a:ext cx="2103120" cy="1508760"/>
          </a:xfrm>
          <a:prstGeom prst="roundRect">
            <a:avLst>
              <a:gd name="adj" fmla="val 7273"/>
            </a:avLst>
          </a:prstGeom>
          <a:solidFill>
            <a:srgbClr val="FFFFFF"/>
          </a:solidFill>
          <a:ln w="12700">
            <a:solidFill>
              <a:srgbClr val="49B296"/>
            </a:solidFill>
            <a:prstDash val="solid"/>
          </a:ln>
        </p:spPr>
      </p:sp>
      <p:sp>
        <p:nvSpPr>
          <p:cNvPr id="32" name="Shape 29"/>
          <p:cNvSpPr/>
          <p:nvPr/>
        </p:nvSpPr>
        <p:spPr>
          <a:xfrm>
            <a:off x="8915400" y="1920240"/>
            <a:ext cx="2103120" cy="1508760"/>
          </a:xfrm>
          <a:prstGeom prst="roundRect">
            <a:avLst>
              <a:gd name="adj" fmla="val 7273"/>
            </a:avLst>
          </a:prstGeom>
          <a:solidFill>
            <a:srgbClr val="E1F3EE"/>
          </a:solidFill>
          <a:ln w="12700">
            <a:solidFill>
              <a:srgbClr val="49B296"/>
            </a:solidFill>
            <a:prstDash val="solid"/>
          </a:ln>
        </p:spPr>
      </p:sp>
      <p:sp>
        <p:nvSpPr>
          <p:cNvPr id="33" name="Text 30"/>
          <p:cNvSpPr txBox="1"/>
          <p:nvPr/>
        </p:nvSpPr>
        <p:spPr>
          <a:xfrm>
            <a:off x="8915400" y="1920240"/>
            <a:ext cx="2103120" cy="15087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Lịch sử quan hệ</a:t>
            </a:r>
            <a:endParaRPr lang="en-US" sz="1600" dirty="0"/>
          </a:p>
        </p:txBody>
      </p:sp>
      <p:sp>
        <p:nvSpPr>
          <p:cNvPr id="34" name="Shape 31"/>
          <p:cNvSpPr/>
          <p:nvPr/>
        </p:nvSpPr>
        <p:spPr>
          <a:xfrm>
            <a:off x="10104120" y="3749040"/>
            <a:ext cx="914" cy="457200"/>
          </a:xfrm>
          <a:prstGeom prst="line">
            <a:avLst/>
          </a:prstGeom>
          <a:noFill/>
          <a:ln w="31750">
            <a:solidFill>
              <a:srgbClr val="2A2238"/>
            </a:solidFill>
            <a:prstDash val="solid"/>
            <a:tailEnd type="triangle"/>
          </a:ln>
        </p:spPr>
      </p:sp>
      <p:sp>
        <p:nvSpPr>
          <p:cNvPr id="35" name="Shape 32"/>
          <p:cNvSpPr/>
          <p:nvPr/>
        </p:nvSpPr>
        <p:spPr>
          <a:xfrm>
            <a:off x="8366760" y="4297680"/>
            <a:ext cx="3291840" cy="548640"/>
          </a:xfrm>
          <a:prstGeom prst="roundRect">
            <a:avLst>
              <a:gd name="adj" fmla="val 50000"/>
            </a:avLst>
          </a:prstGeom>
          <a:solidFill>
            <a:srgbClr val="FF5178"/>
          </a:solidFill>
          <a:ln w="12700">
            <a:solidFill>
              <a:srgbClr val="FF5178"/>
            </a:solidFill>
            <a:prstDash val="solid"/>
          </a:ln>
        </p:spPr>
      </p:sp>
      <p:sp>
        <p:nvSpPr>
          <p:cNvPr id="36" name="Text 33"/>
          <p:cNvSpPr txBox="1"/>
          <p:nvPr/>
        </p:nvSpPr>
        <p:spPr>
          <a:xfrm>
            <a:off x="8439912" y="4297680"/>
            <a:ext cx="314553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Đầu vào cho đánh giá định kỳ</a:t>
            </a:r>
            <a:endParaRPr lang="en-US" sz="1300" dirty="0"/>
          </a:p>
        </p:txBody>
      </p:sp>
      <p:sp>
        <p:nvSpPr>
          <p:cNvPr id="37" name="Shape 34"/>
          <p:cNvSpPr/>
          <p:nvPr/>
        </p:nvSpPr>
        <p:spPr>
          <a:xfrm>
            <a:off x="548640" y="4206240"/>
            <a:ext cx="7680960" cy="1737360"/>
          </a:xfrm>
          <a:prstGeom prst="roundRect">
            <a:avLst>
              <a:gd name="adj" fmla="val 6316"/>
            </a:avLst>
          </a:prstGeom>
          <a:solidFill>
            <a:srgbClr val="FFF3C4"/>
          </a:solidFill>
          <a:ln w="12700">
            <a:solidFill>
              <a:srgbClr val="FFD23B"/>
            </a:solidFill>
            <a:prstDash val="solid"/>
          </a:ln>
        </p:spPr>
      </p:sp>
      <p:sp>
        <p:nvSpPr>
          <p:cNvPr id="38" name="Text 35"/>
          <p:cNvSpPr txBox="1"/>
          <p:nvPr/>
        </p:nvSpPr>
        <p:spPr>
          <a:xfrm>
            <a:off x="822960" y="4206240"/>
            <a:ext cx="7132320" cy="1737360"/>
          </a:xfrm>
          <a:prstGeom prst="rect">
            <a:avLst/>
          </a:prstGeom>
          <a:noFill/>
          <a:ln/>
        </p:spPr>
        <p:txBody>
          <a:bodyPr wrap="square" lIns="0" tIns="0" rIns="0" bIns="0" rtlCol="0" anchor="ctr"/>
          <a:lstStyle/>
          <a:p>
            <a:pPr indent="0" marL="0">
              <a:spcAft>
                <a:spcPts val="800"/>
              </a:spcAft>
              <a:buNone/>
            </a:pPr>
            <a:r>
              <a:rPr lang="en-US" sz="1600" i="1" dirty="0">
                <a:solidFill>
                  <a:srgbClr val="2A2238"/>
                </a:solidFill>
                <a:latin typeface="Alexandria" pitchFamily="34" charset="0"/>
                <a:ea typeface="Alexandria" pitchFamily="34" charset="-122"/>
                <a:cs typeface="Alexandria" pitchFamily="34" charset="-120"/>
              </a:rPr>
              <a:t>“A collection of PERs over time will provide the complete history for an event.”</a:t>
            </a:r>
            <a:endParaRPr lang="en-US" sz="1600" dirty="0"/>
          </a:p>
          <a:p>
            <a:pPr indent="0" marL="0">
              <a:spcAft>
                <a:spcPts val="800"/>
              </a:spcAft>
              <a:buNone/>
            </a:pPr>
            <a:r>
              <a:rPr lang="en-US" sz="1500" b="1" dirty="0">
                <a:solidFill>
                  <a:srgbClr val="2A2238"/>
                </a:solidFill>
                <a:latin typeface="Alexandria" pitchFamily="34" charset="0"/>
                <a:ea typeface="Alexandria" pitchFamily="34" charset="-122"/>
                <a:cs typeface="Alexandria" pitchFamily="34" charset="-120"/>
              </a:rPr>
              <a:t>Khi đầu mối phía khách hàng thay người, đây là trí nhớ của quan hệ.</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hàng hiếm khi báo trước là sẽ rời đi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T13: Promethean Research (2026) — khảo sát 165 agency kỹ thuật số, chưa KCC.</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25</a:t>
            </a:r>
            <a:endParaRPr lang="en-US" sz="1000" dirty="0"/>
          </a:p>
        </p:txBody>
      </p:sp>
      <p:sp>
        <p:nvSpPr>
          <p:cNvPr id="20" name="Shape 17"/>
          <p:cNvSpPr/>
          <p:nvPr/>
        </p:nvSpPr>
        <p:spPr>
          <a:xfrm>
            <a:off x="548640" y="1920240"/>
            <a:ext cx="2072579" cy="2103120"/>
          </a:xfrm>
          <a:prstGeom prst="roundRect">
            <a:avLst>
              <a:gd name="adj" fmla="val 5294"/>
            </a:avLst>
          </a:prstGeom>
          <a:solidFill>
            <a:srgbClr val="FFFFFF"/>
          </a:solidFill>
          <a:ln w="15875">
            <a:solidFill>
              <a:srgbClr val="FF9259"/>
            </a:solidFill>
            <a:prstDash val="solid"/>
          </a:ln>
        </p:spPr>
      </p:sp>
      <p:sp>
        <p:nvSpPr>
          <p:cNvPr id="21" name="Shape 18"/>
          <p:cNvSpPr/>
          <p:nvPr/>
        </p:nvSpPr>
        <p:spPr>
          <a:xfrm>
            <a:off x="777240" y="2103120"/>
            <a:ext cx="566928" cy="493776"/>
          </a:xfrm>
          <a:prstGeom prst="triangle">
            <a:avLst/>
          </a:prstGeom>
          <a:solidFill>
            <a:srgbClr val="FF9259"/>
          </a:solidFill>
          <a:ln w="12700">
            <a:solidFill>
              <a:srgbClr val="FF9259"/>
            </a:solidFill>
            <a:prstDash val="solid"/>
          </a:ln>
        </p:spPr>
      </p:sp>
      <p:sp>
        <p:nvSpPr>
          <p:cNvPr id="22" name="Text 19"/>
          <p:cNvSpPr txBox="1"/>
          <p:nvPr/>
        </p:nvSpPr>
        <p:spPr>
          <a:xfrm>
            <a:off x="777240" y="2176272"/>
            <a:ext cx="566928" cy="420624"/>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a:t>
            </a:r>
            <a:endParaRPr lang="en-US" sz="1600" dirty="0"/>
          </a:p>
        </p:txBody>
      </p:sp>
      <p:sp>
        <p:nvSpPr>
          <p:cNvPr id="23" name="Text 20"/>
          <p:cNvSpPr txBox="1"/>
          <p:nvPr/>
        </p:nvSpPr>
        <p:spPr>
          <a:xfrm>
            <a:off x="777240" y="274320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Trả lời chậm hơn</a:t>
            </a:r>
            <a:endParaRPr lang="en-US" sz="1600" dirty="0"/>
          </a:p>
        </p:txBody>
      </p:sp>
      <p:sp>
        <p:nvSpPr>
          <p:cNvPr id="24" name="Shape 21"/>
          <p:cNvSpPr/>
          <p:nvPr/>
        </p:nvSpPr>
        <p:spPr>
          <a:xfrm>
            <a:off x="2804099" y="1920240"/>
            <a:ext cx="2072579" cy="2103120"/>
          </a:xfrm>
          <a:prstGeom prst="roundRect">
            <a:avLst>
              <a:gd name="adj" fmla="val 5294"/>
            </a:avLst>
          </a:prstGeom>
          <a:solidFill>
            <a:srgbClr val="FFFFFF"/>
          </a:solidFill>
          <a:ln w="15875">
            <a:solidFill>
              <a:srgbClr val="962B7C"/>
            </a:solidFill>
            <a:prstDash val="solid"/>
          </a:ln>
        </p:spPr>
      </p:sp>
      <p:sp>
        <p:nvSpPr>
          <p:cNvPr id="25" name="Shape 22"/>
          <p:cNvSpPr/>
          <p:nvPr/>
        </p:nvSpPr>
        <p:spPr>
          <a:xfrm>
            <a:off x="3032699" y="2103120"/>
            <a:ext cx="566928" cy="493776"/>
          </a:xfrm>
          <a:prstGeom prst="triangle">
            <a:avLst/>
          </a:prstGeom>
          <a:solidFill>
            <a:srgbClr val="962B7C"/>
          </a:solidFill>
          <a:ln w="12700">
            <a:solidFill>
              <a:srgbClr val="962B7C"/>
            </a:solidFill>
            <a:prstDash val="solid"/>
          </a:ln>
        </p:spPr>
      </p:sp>
      <p:sp>
        <p:nvSpPr>
          <p:cNvPr id="26" name="Text 23"/>
          <p:cNvSpPr txBox="1"/>
          <p:nvPr/>
        </p:nvSpPr>
        <p:spPr>
          <a:xfrm>
            <a:off x="3032699" y="2176272"/>
            <a:ext cx="56692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a:t>
            </a:r>
            <a:endParaRPr lang="en-US" sz="1600" dirty="0"/>
          </a:p>
        </p:txBody>
      </p:sp>
      <p:sp>
        <p:nvSpPr>
          <p:cNvPr id="27" name="Text 24"/>
          <p:cNvSpPr txBox="1"/>
          <p:nvPr/>
        </p:nvSpPr>
        <p:spPr>
          <a:xfrm>
            <a:off x="3032699" y="274320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Bỏ buổi đánh giá</a:t>
            </a:r>
            <a:endParaRPr lang="en-US" sz="1600" dirty="0"/>
          </a:p>
        </p:txBody>
      </p:sp>
      <p:sp>
        <p:nvSpPr>
          <p:cNvPr id="28" name="Shape 25"/>
          <p:cNvSpPr/>
          <p:nvPr/>
        </p:nvSpPr>
        <p:spPr>
          <a:xfrm>
            <a:off x="5059558" y="1920240"/>
            <a:ext cx="2072579" cy="2103120"/>
          </a:xfrm>
          <a:prstGeom prst="roundRect">
            <a:avLst>
              <a:gd name="adj" fmla="val 5294"/>
            </a:avLst>
          </a:prstGeom>
          <a:solidFill>
            <a:srgbClr val="FFFFFF"/>
          </a:solidFill>
          <a:ln w="15875">
            <a:solidFill>
              <a:srgbClr val="09A1E5"/>
            </a:solidFill>
            <a:prstDash val="solid"/>
          </a:ln>
        </p:spPr>
      </p:sp>
      <p:sp>
        <p:nvSpPr>
          <p:cNvPr id="29" name="Shape 26"/>
          <p:cNvSpPr/>
          <p:nvPr/>
        </p:nvSpPr>
        <p:spPr>
          <a:xfrm>
            <a:off x="5288158" y="2103120"/>
            <a:ext cx="566928" cy="493776"/>
          </a:xfrm>
          <a:prstGeom prst="triangle">
            <a:avLst/>
          </a:prstGeom>
          <a:solidFill>
            <a:srgbClr val="09A1E5"/>
          </a:solidFill>
          <a:ln w="12700">
            <a:solidFill>
              <a:srgbClr val="09A1E5"/>
            </a:solidFill>
            <a:prstDash val="solid"/>
          </a:ln>
        </p:spPr>
      </p:sp>
      <p:sp>
        <p:nvSpPr>
          <p:cNvPr id="30" name="Text 27"/>
          <p:cNvSpPr txBox="1"/>
          <p:nvPr/>
        </p:nvSpPr>
        <p:spPr>
          <a:xfrm>
            <a:off x="5288158" y="2176272"/>
            <a:ext cx="56692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a:t>
            </a:r>
            <a:endParaRPr lang="en-US" sz="1600" dirty="0"/>
          </a:p>
        </p:txBody>
      </p:sp>
      <p:sp>
        <p:nvSpPr>
          <p:cNvPr id="31" name="Text 28"/>
          <p:cNvSpPr txBox="1"/>
          <p:nvPr/>
        </p:nvSpPr>
        <p:spPr>
          <a:xfrm>
            <a:off x="5288158" y="274320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Giao quan hệ cho người cấp thấp hơn</a:t>
            </a:r>
            <a:endParaRPr lang="en-US" sz="1600" dirty="0"/>
          </a:p>
        </p:txBody>
      </p:sp>
      <p:sp>
        <p:nvSpPr>
          <p:cNvPr id="32" name="Shape 29"/>
          <p:cNvSpPr/>
          <p:nvPr/>
        </p:nvSpPr>
        <p:spPr>
          <a:xfrm>
            <a:off x="7315017" y="1920240"/>
            <a:ext cx="2072579" cy="2103120"/>
          </a:xfrm>
          <a:prstGeom prst="roundRect">
            <a:avLst>
              <a:gd name="adj" fmla="val 5294"/>
            </a:avLst>
          </a:prstGeom>
          <a:solidFill>
            <a:srgbClr val="FFFFFF"/>
          </a:solidFill>
          <a:ln w="15875">
            <a:solidFill>
              <a:srgbClr val="49B296"/>
            </a:solidFill>
            <a:prstDash val="solid"/>
          </a:ln>
        </p:spPr>
      </p:sp>
      <p:sp>
        <p:nvSpPr>
          <p:cNvPr id="33" name="Shape 30"/>
          <p:cNvSpPr/>
          <p:nvPr/>
        </p:nvSpPr>
        <p:spPr>
          <a:xfrm>
            <a:off x="7543617" y="2103120"/>
            <a:ext cx="566928" cy="493776"/>
          </a:xfrm>
          <a:prstGeom prst="triangle">
            <a:avLst/>
          </a:prstGeom>
          <a:solidFill>
            <a:srgbClr val="49B296"/>
          </a:solidFill>
          <a:ln w="12700">
            <a:solidFill>
              <a:srgbClr val="49B296"/>
            </a:solidFill>
            <a:prstDash val="solid"/>
          </a:ln>
        </p:spPr>
      </p:sp>
      <p:sp>
        <p:nvSpPr>
          <p:cNvPr id="34" name="Text 31"/>
          <p:cNvSpPr txBox="1"/>
          <p:nvPr/>
        </p:nvSpPr>
        <p:spPr>
          <a:xfrm>
            <a:off x="7543617" y="2176272"/>
            <a:ext cx="56692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a:t>
            </a:r>
            <a:endParaRPr lang="en-US" sz="1600" dirty="0"/>
          </a:p>
        </p:txBody>
      </p:sp>
      <p:sp>
        <p:nvSpPr>
          <p:cNvPr id="35" name="Text 32"/>
          <p:cNvSpPr txBox="1"/>
          <p:nvPr/>
        </p:nvSpPr>
        <p:spPr>
          <a:xfrm>
            <a:off x="7543617" y="274320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Thanh toán chậm</a:t>
            </a:r>
            <a:endParaRPr lang="en-US" sz="1600" dirty="0"/>
          </a:p>
        </p:txBody>
      </p:sp>
      <p:sp>
        <p:nvSpPr>
          <p:cNvPr id="36" name="Shape 33"/>
          <p:cNvSpPr/>
          <p:nvPr/>
        </p:nvSpPr>
        <p:spPr>
          <a:xfrm>
            <a:off x="9570476" y="1920240"/>
            <a:ext cx="2072579" cy="2103120"/>
          </a:xfrm>
          <a:prstGeom prst="roundRect">
            <a:avLst>
              <a:gd name="adj" fmla="val 5294"/>
            </a:avLst>
          </a:prstGeom>
          <a:solidFill>
            <a:srgbClr val="FFE4EA"/>
          </a:solidFill>
          <a:ln w="31750">
            <a:solidFill>
              <a:srgbClr val="FF5178"/>
            </a:solidFill>
            <a:prstDash val="solid"/>
          </a:ln>
        </p:spPr>
      </p:sp>
      <p:sp>
        <p:nvSpPr>
          <p:cNvPr id="37" name="Shape 34"/>
          <p:cNvSpPr/>
          <p:nvPr/>
        </p:nvSpPr>
        <p:spPr>
          <a:xfrm>
            <a:off x="9799076" y="2103120"/>
            <a:ext cx="566928" cy="493776"/>
          </a:xfrm>
          <a:prstGeom prst="triangle">
            <a:avLst/>
          </a:prstGeom>
          <a:solidFill>
            <a:srgbClr val="FF5178"/>
          </a:solidFill>
          <a:ln w="12700">
            <a:solidFill>
              <a:srgbClr val="FF5178"/>
            </a:solidFill>
            <a:prstDash val="solid"/>
          </a:ln>
        </p:spPr>
      </p:sp>
      <p:sp>
        <p:nvSpPr>
          <p:cNvPr id="38" name="Text 35"/>
          <p:cNvSpPr txBox="1"/>
          <p:nvPr/>
        </p:nvSpPr>
        <p:spPr>
          <a:xfrm>
            <a:off x="9799076" y="2176272"/>
            <a:ext cx="56692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a:t>
            </a:r>
            <a:endParaRPr lang="en-US" sz="1600" dirty="0"/>
          </a:p>
        </p:txBody>
      </p:sp>
      <p:sp>
        <p:nvSpPr>
          <p:cNvPr id="39" name="Text 36"/>
          <p:cNvSpPr txBox="1"/>
          <p:nvPr/>
        </p:nvSpPr>
        <p:spPr>
          <a:xfrm>
            <a:off x="9799076" y="2743200"/>
            <a:ext cx="1615379" cy="114300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Đầu mối phía khách hàng thay người</a:t>
            </a:r>
            <a:endParaRPr lang="en-US" sz="1600" dirty="0"/>
          </a:p>
        </p:txBody>
      </p:sp>
      <p:sp>
        <p:nvSpPr>
          <p:cNvPr id="40" name="Text 37"/>
          <p:cNvSpPr txBox="1"/>
          <p:nvPr/>
        </p:nvSpPr>
        <p:spPr>
          <a:xfrm>
            <a:off x="8656076" y="4114800"/>
            <a:ext cx="2986979" cy="320040"/>
          </a:xfrm>
          <a:prstGeom prst="rect">
            <a:avLst/>
          </a:prstGeom>
          <a:noFill/>
          <a:ln/>
        </p:spPr>
        <p:txBody>
          <a:bodyPr wrap="square" lIns="0" tIns="0" rIns="0" bIns="0" rtlCol="0" anchor="ctr"/>
          <a:lstStyle/>
          <a:p>
            <a:pPr algn="r" indent="0" marL="0">
              <a:buNone/>
            </a:pPr>
            <a:r>
              <a:rPr lang="en-US" sz="1200" i="1" dirty="0">
                <a:solidFill>
                  <a:srgbClr val="E03A62"/>
                </a:solidFill>
                <a:latin typeface="Alexandria" pitchFamily="34" charset="0"/>
                <a:ea typeface="Alexandria" pitchFamily="34" charset="-122"/>
                <a:cs typeface="Alexandria" pitchFamily="34" charset="-120"/>
              </a:rPr>
              <a:t>↑ như tin nhắn của chị Hạnh (slide 2)</a:t>
            </a:r>
            <a:endParaRPr lang="en-US" sz="1200" dirty="0"/>
          </a:p>
        </p:txBody>
      </p:sp>
      <p:sp>
        <p:nvSpPr>
          <p:cNvPr id="41" name="Shape 38"/>
          <p:cNvSpPr/>
          <p:nvPr/>
        </p:nvSpPr>
        <p:spPr>
          <a:xfrm>
            <a:off x="548640" y="4663440"/>
            <a:ext cx="3017520" cy="1325880"/>
          </a:xfrm>
          <a:prstGeom prst="roundRect">
            <a:avLst>
              <a:gd name="adj" fmla="val 8276"/>
            </a:avLst>
          </a:prstGeom>
          <a:solidFill>
            <a:srgbClr val="DDF1FB"/>
          </a:solidFill>
          <a:ln w="12700">
            <a:solidFill>
              <a:srgbClr val="DDF1FB"/>
            </a:solidFill>
            <a:prstDash val="solid"/>
          </a:ln>
        </p:spPr>
      </p:sp>
      <p:sp>
        <p:nvSpPr>
          <p:cNvPr id="42" name="Text 39"/>
          <p:cNvSpPr txBox="1"/>
          <p:nvPr/>
        </p:nvSpPr>
        <p:spPr>
          <a:xfrm>
            <a:off x="777240" y="4663440"/>
            <a:ext cx="2606040" cy="1325880"/>
          </a:xfrm>
          <a:prstGeom prst="rect">
            <a:avLst/>
          </a:prstGeom>
          <a:noFill/>
          <a:ln/>
        </p:spPr>
        <p:txBody>
          <a:bodyPr wrap="square" lIns="0" tIns="0" rIns="0" bIns="0" rtlCol="0" anchor="ctr"/>
          <a:lstStyle/>
          <a:p>
            <a:pPr indent="0" marL="0">
              <a:buNone/>
            </a:pPr>
            <a:r>
              <a:rPr lang="en-US" sz="3000" b="1" dirty="0">
                <a:solidFill>
                  <a:srgbClr val="0A7FB5"/>
                </a:solidFill>
                <a:latin typeface="Alexandria" pitchFamily="34" charset="0"/>
                <a:ea typeface="Alexandria" pitchFamily="34" charset="-122"/>
                <a:cs typeface="Alexandria" pitchFamily="34" charset="-120"/>
              </a:rPr>
              <a:t>88% </a:t>
            </a:r>
            <a:pPr indent="0" marL="0">
              <a:buNone/>
            </a:pPr>
            <a:r>
              <a:rPr lang="en-US" sz="1300" dirty="0">
                <a:solidFill>
                  <a:srgbClr val="2A2238"/>
                </a:solidFill>
                <a:latin typeface="Alexandria" pitchFamily="34" charset="0"/>
                <a:ea typeface="Alexandria" pitchFamily="34" charset="-122"/>
                <a:cs typeface="Alexandria" pitchFamily="34" charset="-120"/>
              </a:rPr>
              <a:t>agency theo dõi ít nhất một chỉ số sức khỏe khách hàng</a:t>
            </a:r>
            <a:endParaRPr lang="en-US" sz="3000" dirty="0"/>
          </a:p>
        </p:txBody>
      </p:sp>
      <p:sp>
        <p:nvSpPr>
          <p:cNvPr id="43" name="Shape 40"/>
          <p:cNvSpPr/>
          <p:nvPr/>
        </p:nvSpPr>
        <p:spPr>
          <a:xfrm>
            <a:off x="3840480" y="4663440"/>
            <a:ext cx="7802575" cy="1325880"/>
          </a:xfrm>
          <a:prstGeom prst="roundRect">
            <a:avLst>
              <a:gd name="adj" fmla="val 8276"/>
            </a:avLst>
          </a:prstGeom>
          <a:solidFill>
            <a:srgbClr val="FFF3C4"/>
          </a:solidFill>
          <a:ln w="12700">
            <a:solidFill>
              <a:srgbClr val="FFD23B"/>
            </a:solidFill>
            <a:prstDash val="solid"/>
          </a:ln>
        </p:spPr>
      </p:sp>
      <p:sp>
        <p:nvSpPr>
          <p:cNvPr id="44" name="Text 41"/>
          <p:cNvSpPr txBox="1"/>
          <p:nvPr/>
        </p:nvSpPr>
        <p:spPr>
          <a:xfrm>
            <a:off x="4114800" y="4663440"/>
            <a:ext cx="7253935" cy="1325880"/>
          </a:xfrm>
          <a:prstGeom prst="rect">
            <a:avLst/>
          </a:prstGeom>
          <a:noFill/>
          <a:ln/>
        </p:spPr>
        <p:txBody>
          <a:bodyPr wrap="square" lIns="0" tIns="0" rIns="0" bIns="0" rtlCol="0" anchor="ctr"/>
          <a:lstStyle/>
          <a:p>
            <a:pPr indent="0" marL="0">
              <a:buNone/>
            </a:pPr>
            <a:r>
              <a:rPr lang="en-US" sz="1600" i="1" dirty="0">
                <a:solidFill>
                  <a:srgbClr val="2A2238"/>
                </a:solidFill>
                <a:latin typeface="Alexandria" pitchFamily="34" charset="0"/>
                <a:ea typeface="Alexandria" pitchFamily="34" charset="-122"/>
                <a:cs typeface="Alexandria" pitchFamily="34" charset="-120"/>
              </a:rPr>
              <a:t>“An account that runs through a single client contact ends when that contact changes jobs.” </a:t>
            </a:r>
            <a:pPr indent="0" marL="0">
              <a:buNone/>
            </a:pPr>
            <a:r>
              <a:rPr lang="en-US" sz="1200" dirty="0">
                <a:solidFill>
                  <a:srgbClr val="6E6878"/>
                </a:solidFill>
                <a:latin typeface="Alexandria" pitchFamily="34" charset="0"/>
                <a:ea typeface="Alexandria" pitchFamily="34" charset="-122"/>
                <a:cs typeface="Alexandria" pitchFamily="34" charset="-120"/>
              </a:rPr>
              <a:t>— T13</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Buổi đánh giá chung đầu tiên với anh Minh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W08_activity_S6_danh_gia_chung.md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26</a:t>
            </a:r>
            <a:endParaRPr lang="en-US" sz="1000" dirty="0"/>
          </a:p>
        </p:txBody>
      </p:sp>
      <p:sp>
        <p:nvSpPr>
          <p:cNvPr id="20" name="Text 17"/>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20/2 · anh Minh dành 10 phút · Quý 1 anh rà soát toàn bộ nhà cung cấp marketing</a:t>
            </a:r>
            <a:endParaRPr lang="en-US" sz="1300" dirty="0"/>
          </a:p>
        </p:txBody>
      </p:sp>
      <p:sp>
        <p:nvSpPr>
          <p:cNvPr id="21" name="Shape 18"/>
          <p:cNvSpPr/>
          <p:nvPr/>
        </p:nvSpPr>
        <p:spPr>
          <a:xfrm>
            <a:off x="548640" y="2240280"/>
            <a:ext cx="5760720" cy="3931920"/>
          </a:xfrm>
          <a:prstGeom prst="roundRect">
            <a:avLst>
              <a:gd name="adj" fmla="val 2791"/>
            </a:avLst>
          </a:prstGeom>
          <a:solidFill>
            <a:srgbClr val="FFFFFF"/>
          </a:solidFill>
          <a:ln w="12700">
            <a:solidFill>
              <a:srgbClr val="DCD7C8"/>
            </a:solidFill>
            <a:prstDash val="solid"/>
          </a:ln>
        </p:spPr>
      </p:sp>
      <p:sp>
        <p:nvSpPr>
          <p:cNvPr id="22" name="Text 19"/>
          <p:cNvSpPr txBox="1"/>
          <p:nvPr/>
        </p:nvSpPr>
        <p:spPr>
          <a:xfrm>
            <a:off x="822960" y="2331720"/>
            <a:ext cx="5212080" cy="36576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Dữ liệu gala 12/12 theo khung 6 cấp</a:t>
            </a:r>
            <a:endParaRPr lang="en-US" sz="1400" dirty="0"/>
          </a:p>
        </p:txBody>
      </p:sp>
      <p:sp>
        <p:nvSpPr>
          <p:cNvPr id="23" name="Shape 20"/>
          <p:cNvSpPr/>
          <p:nvPr/>
        </p:nvSpPr>
        <p:spPr>
          <a:xfrm>
            <a:off x="822960" y="2816352"/>
            <a:ext cx="384048" cy="384048"/>
          </a:xfrm>
          <a:prstGeom prst="ellipse">
            <a:avLst/>
          </a:prstGeom>
          <a:solidFill>
            <a:srgbClr val="49B296"/>
          </a:solidFill>
          <a:ln w="12700">
            <a:solidFill>
              <a:srgbClr val="49B296"/>
            </a:solidFill>
            <a:prstDash val="solid"/>
          </a:ln>
        </p:spPr>
      </p:sp>
      <p:sp>
        <p:nvSpPr>
          <p:cNvPr id="24" name="Text 21"/>
          <p:cNvSpPr txBox="1"/>
          <p:nvPr/>
        </p:nvSpPr>
        <p:spPr>
          <a:xfrm>
            <a:off x="82296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0</a:t>
            </a:r>
            <a:endParaRPr lang="en-US" sz="1300" dirty="0"/>
          </a:p>
        </p:txBody>
      </p:sp>
      <p:sp>
        <p:nvSpPr>
          <p:cNvPr id="25" name="Text 22"/>
          <p:cNvSpPr txBox="1"/>
          <p:nvPr/>
        </p:nvSpPr>
        <p:spPr>
          <a:xfrm>
            <a:off x="1371600" y="2761488"/>
            <a:ext cx="4754880" cy="5029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540/600 khách (90%); 48/50 DN VIP có mặt</a:t>
            </a:r>
            <a:endParaRPr lang="en-US" sz="1300" dirty="0"/>
          </a:p>
        </p:txBody>
      </p:sp>
      <p:sp>
        <p:nvSpPr>
          <p:cNvPr id="26" name="Shape 23"/>
          <p:cNvSpPr/>
          <p:nvPr/>
        </p:nvSpPr>
        <p:spPr>
          <a:xfrm>
            <a:off x="822960" y="3364992"/>
            <a:ext cx="384048" cy="384048"/>
          </a:xfrm>
          <a:prstGeom prst="ellipse">
            <a:avLst/>
          </a:prstGeom>
          <a:solidFill>
            <a:srgbClr val="49B296"/>
          </a:solidFill>
          <a:ln w="12700">
            <a:solidFill>
              <a:srgbClr val="49B296"/>
            </a:solidFill>
            <a:prstDash val="solid"/>
          </a:ln>
        </p:spPr>
      </p:sp>
      <p:sp>
        <p:nvSpPr>
          <p:cNvPr id="27" name="Text 24"/>
          <p:cNvSpPr txBox="1"/>
          <p:nvPr/>
        </p:nvSpPr>
        <p:spPr>
          <a:xfrm>
            <a:off x="822960" y="3364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1</a:t>
            </a:r>
            <a:endParaRPr lang="en-US" sz="1300" dirty="0"/>
          </a:p>
        </p:txBody>
      </p:sp>
      <p:sp>
        <p:nvSpPr>
          <p:cNvPr id="28" name="Text 25"/>
          <p:cNvSpPr txBox="1"/>
          <p:nvPr/>
        </p:nvSpPr>
        <p:spPr>
          <a:xfrm>
            <a:off x="1371600" y="3310128"/>
            <a:ext cx="4754880" cy="5029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Khảo sát 4,5/5 (210 phiếu)</a:t>
            </a:r>
            <a:endParaRPr lang="en-US" sz="1300" dirty="0"/>
          </a:p>
        </p:txBody>
      </p:sp>
      <p:sp>
        <p:nvSpPr>
          <p:cNvPr id="29" name="Shape 26"/>
          <p:cNvSpPr/>
          <p:nvPr/>
        </p:nvSpPr>
        <p:spPr>
          <a:xfrm>
            <a:off x="822960" y="3913632"/>
            <a:ext cx="384048" cy="384048"/>
          </a:xfrm>
          <a:prstGeom prst="ellipse">
            <a:avLst/>
          </a:prstGeom>
          <a:solidFill>
            <a:srgbClr val="49B296"/>
          </a:solidFill>
          <a:ln w="12700">
            <a:solidFill>
              <a:srgbClr val="49B296"/>
            </a:solidFill>
            <a:prstDash val="solid"/>
          </a:ln>
        </p:spPr>
      </p:sp>
      <p:sp>
        <p:nvSpPr>
          <p:cNvPr id="30" name="Text 27"/>
          <p:cNvSpPr txBox="1"/>
          <p:nvPr/>
        </p:nvSpPr>
        <p:spPr>
          <a:xfrm>
            <a:off x="822960" y="3913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a:t>
            </a:r>
            <a:endParaRPr lang="en-US" sz="1300" dirty="0"/>
          </a:p>
        </p:txBody>
      </p:sp>
      <p:sp>
        <p:nvSpPr>
          <p:cNvPr id="31" name="Text 28"/>
          <p:cNvSpPr txBox="1"/>
          <p:nvPr/>
        </p:nvSpPr>
        <p:spPr>
          <a:xfrm>
            <a:off x="1371600" y="3858768"/>
            <a:ext cx="4754880" cy="5029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72% biết thêm về gói tài chính DN mới</a:t>
            </a:r>
            <a:endParaRPr lang="en-US" sz="1300" dirty="0"/>
          </a:p>
        </p:txBody>
      </p:sp>
      <p:sp>
        <p:nvSpPr>
          <p:cNvPr id="32" name="Shape 29"/>
          <p:cNvSpPr/>
          <p:nvPr/>
        </p:nvSpPr>
        <p:spPr>
          <a:xfrm>
            <a:off x="822960" y="4462272"/>
            <a:ext cx="384048" cy="384048"/>
          </a:xfrm>
          <a:prstGeom prst="ellipse">
            <a:avLst/>
          </a:prstGeom>
          <a:solidFill>
            <a:srgbClr val="49B296"/>
          </a:solidFill>
          <a:ln w="12700">
            <a:solidFill>
              <a:srgbClr val="49B296"/>
            </a:solidFill>
            <a:prstDash val="solid"/>
          </a:ln>
        </p:spPr>
      </p:sp>
      <p:sp>
        <p:nvSpPr>
          <p:cNvPr id="33" name="Text 30"/>
          <p:cNvSpPr txBox="1"/>
          <p:nvPr/>
        </p:nvSpPr>
        <p:spPr>
          <a:xfrm>
            <a:off x="822960" y="4462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3</a:t>
            </a:r>
            <a:endParaRPr lang="en-US" sz="1300" dirty="0"/>
          </a:p>
        </p:txBody>
      </p:sp>
      <p:sp>
        <p:nvSpPr>
          <p:cNvPr id="34" name="Text 31"/>
          <p:cNvSpPr txBox="1"/>
          <p:nvPr/>
        </p:nvSpPr>
        <p:spPr>
          <a:xfrm>
            <a:off x="1371600" y="4407408"/>
            <a:ext cx="4754880" cy="5029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35 DN đặt lịch gặp chuyên viên trong 2 tuần</a:t>
            </a:r>
            <a:endParaRPr lang="en-US" sz="1300" dirty="0"/>
          </a:p>
        </p:txBody>
      </p:sp>
      <p:sp>
        <p:nvSpPr>
          <p:cNvPr id="35" name="Shape 32"/>
          <p:cNvSpPr/>
          <p:nvPr/>
        </p:nvSpPr>
        <p:spPr>
          <a:xfrm>
            <a:off x="822960" y="5010912"/>
            <a:ext cx="384048" cy="384048"/>
          </a:xfrm>
          <a:prstGeom prst="ellipse">
            <a:avLst/>
          </a:prstGeom>
          <a:solidFill>
            <a:srgbClr val="DCD7C8"/>
          </a:solidFill>
          <a:ln w="12700">
            <a:solidFill>
              <a:srgbClr val="DCD7C8"/>
            </a:solidFill>
            <a:prstDash val="solid"/>
          </a:ln>
        </p:spPr>
      </p:sp>
      <p:sp>
        <p:nvSpPr>
          <p:cNvPr id="36" name="Text 33"/>
          <p:cNvSpPr txBox="1"/>
          <p:nvPr/>
        </p:nvSpPr>
        <p:spPr>
          <a:xfrm>
            <a:off x="822960" y="5010912"/>
            <a:ext cx="384048" cy="384048"/>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4</a:t>
            </a:r>
            <a:endParaRPr lang="en-US" sz="1300" dirty="0"/>
          </a:p>
        </p:txBody>
      </p:sp>
      <p:sp>
        <p:nvSpPr>
          <p:cNvPr id="37" name="Text 34"/>
          <p:cNvSpPr txBox="1"/>
          <p:nvPr/>
        </p:nvSpPr>
        <p:spPr>
          <a:xfrm>
            <a:off x="1371600" y="4956048"/>
            <a:ext cx="4754880" cy="50292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Nova chưa có dữ liệu (của ngân hàng)</a:t>
            </a:r>
            <a:endParaRPr lang="en-US" sz="1300" dirty="0"/>
          </a:p>
        </p:txBody>
      </p:sp>
      <p:sp>
        <p:nvSpPr>
          <p:cNvPr id="38" name="Shape 35"/>
          <p:cNvSpPr/>
          <p:nvPr/>
        </p:nvSpPr>
        <p:spPr>
          <a:xfrm>
            <a:off x="822960" y="5559552"/>
            <a:ext cx="384048" cy="384048"/>
          </a:xfrm>
          <a:prstGeom prst="ellipse">
            <a:avLst/>
          </a:prstGeom>
          <a:solidFill>
            <a:srgbClr val="DCD7C8"/>
          </a:solidFill>
          <a:ln w="12700">
            <a:solidFill>
              <a:srgbClr val="DCD7C8"/>
            </a:solidFill>
            <a:prstDash val="solid"/>
          </a:ln>
        </p:spPr>
      </p:sp>
      <p:sp>
        <p:nvSpPr>
          <p:cNvPr id="39" name="Text 36"/>
          <p:cNvSpPr txBox="1"/>
          <p:nvPr/>
        </p:nvSpPr>
        <p:spPr>
          <a:xfrm>
            <a:off x="822960" y="5559552"/>
            <a:ext cx="384048" cy="384048"/>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5</a:t>
            </a:r>
            <a:endParaRPr lang="en-US" sz="1300" dirty="0"/>
          </a:p>
        </p:txBody>
      </p:sp>
      <p:sp>
        <p:nvSpPr>
          <p:cNvPr id="40" name="Text 37"/>
          <p:cNvSpPr txBox="1"/>
          <p:nvPr/>
        </p:nvSpPr>
        <p:spPr>
          <a:xfrm>
            <a:off x="1371600" y="5504688"/>
            <a:ext cx="4754880" cy="50292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Chưa tính được</a:t>
            </a:r>
            <a:endParaRPr lang="en-US" sz="1300" dirty="0"/>
          </a:p>
        </p:txBody>
      </p:sp>
      <p:sp>
        <p:nvSpPr>
          <p:cNvPr id="41" name="Shape 38"/>
          <p:cNvSpPr/>
          <p:nvPr/>
        </p:nvSpPr>
        <p:spPr>
          <a:xfrm>
            <a:off x="6583680" y="2276856"/>
            <a:ext cx="640080" cy="640080"/>
          </a:xfrm>
          <a:prstGeom prst="ellipse">
            <a:avLst/>
          </a:prstGeom>
          <a:solidFill>
            <a:srgbClr val="FF9259"/>
          </a:solidFill>
          <a:ln w="12700">
            <a:solidFill>
              <a:srgbClr val="FF9259"/>
            </a:solidFill>
            <a:prstDash val="solid"/>
          </a:ln>
        </p:spPr>
      </p:sp>
      <p:sp>
        <p:nvSpPr>
          <p:cNvPr id="42" name="Text 39"/>
          <p:cNvSpPr txBox="1"/>
          <p:nvPr/>
        </p:nvSpPr>
        <p:spPr>
          <a:xfrm>
            <a:off x="6583680" y="2276856"/>
            <a:ext cx="640080" cy="6400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8’</a:t>
            </a:r>
            <a:endParaRPr lang="en-US" sz="1500" dirty="0"/>
          </a:p>
        </p:txBody>
      </p:sp>
      <p:sp>
        <p:nvSpPr>
          <p:cNvPr id="43" name="Text 40"/>
          <p:cNvSpPr txBox="1"/>
          <p:nvPr/>
        </p:nvSpPr>
        <p:spPr>
          <a:xfrm>
            <a:off x="7406640" y="2240280"/>
            <a:ext cx="4236415" cy="71323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Chuẩn bị: đội Nova soạn chương trình 5 phần</a:t>
            </a:r>
            <a:endParaRPr lang="en-US" sz="1400" dirty="0"/>
          </a:p>
        </p:txBody>
      </p:sp>
      <p:sp>
        <p:nvSpPr>
          <p:cNvPr id="44" name="Shape 41"/>
          <p:cNvSpPr/>
          <p:nvPr/>
        </p:nvSpPr>
        <p:spPr>
          <a:xfrm>
            <a:off x="6583680" y="3054096"/>
            <a:ext cx="640080" cy="640080"/>
          </a:xfrm>
          <a:prstGeom prst="ellipse">
            <a:avLst/>
          </a:prstGeom>
          <a:solidFill>
            <a:srgbClr val="FF5178"/>
          </a:solidFill>
          <a:ln w="12700">
            <a:solidFill>
              <a:srgbClr val="FF5178"/>
            </a:solidFill>
            <a:prstDash val="solid"/>
          </a:ln>
        </p:spPr>
      </p:sp>
      <p:sp>
        <p:nvSpPr>
          <p:cNvPr id="45" name="Text 42"/>
          <p:cNvSpPr txBox="1"/>
          <p:nvPr/>
        </p:nvSpPr>
        <p:spPr>
          <a:xfrm>
            <a:off x="6583680" y="3054096"/>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10’</a:t>
            </a:r>
            <a:endParaRPr lang="en-US" sz="1500" dirty="0"/>
          </a:p>
        </p:txBody>
      </p:sp>
      <p:sp>
        <p:nvSpPr>
          <p:cNvPr id="46" name="Text 43"/>
          <p:cNvSpPr txBox="1"/>
          <p:nvPr/>
        </p:nvSpPr>
        <p:spPr>
          <a:xfrm>
            <a:off x="7406640" y="3017520"/>
            <a:ext cx="4236415" cy="71323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Họp — Nova dẫn; kết bằng biên bản 3 dòng</a:t>
            </a:r>
            <a:endParaRPr lang="en-US" sz="1400" dirty="0"/>
          </a:p>
        </p:txBody>
      </p:sp>
      <p:sp>
        <p:nvSpPr>
          <p:cNvPr id="47" name="Shape 44"/>
          <p:cNvSpPr/>
          <p:nvPr/>
        </p:nvSpPr>
        <p:spPr>
          <a:xfrm>
            <a:off x="6583680" y="3831336"/>
            <a:ext cx="640080" cy="640080"/>
          </a:xfrm>
          <a:prstGeom prst="ellipse">
            <a:avLst/>
          </a:prstGeom>
          <a:solidFill>
            <a:srgbClr val="962B7C"/>
          </a:solidFill>
          <a:ln w="12700">
            <a:solidFill>
              <a:srgbClr val="962B7C"/>
            </a:solidFill>
            <a:prstDash val="solid"/>
          </a:ln>
        </p:spPr>
      </p:sp>
      <p:sp>
        <p:nvSpPr>
          <p:cNvPr id="48" name="Text 45"/>
          <p:cNvSpPr txBox="1"/>
          <p:nvPr/>
        </p:nvSpPr>
        <p:spPr>
          <a:xfrm>
            <a:off x="6583680" y="3831336"/>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3’</a:t>
            </a:r>
            <a:endParaRPr lang="en-US" sz="1500" dirty="0"/>
          </a:p>
        </p:txBody>
      </p:sp>
      <p:sp>
        <p:nvSpPr>
          <p:cNvPr id="49" name="Text 46"/>
          <p:cNvSpPr txBox="1"/>
          <p:nvPr/>
        </p:nvSpPr>
        <p:spPr>
          <a:xfrm>
            <a:off x="7406640" y="3794760"/>
            <a:ext cx="4236415" cy="71323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Lật thẻ</a:t>
            </a:r>
            <a:endParaRPr lang="en-US" sz="1400" dirty="0"/>
          </a:p>
        </p:txBody>
      </p:sp>
      <p:sp>
        <p:nvSpPr>
          <p:cNvPr id="50" name="Shape 47"/>
          <p:cNvSpPr/>
          <p:nvPr/>
        </p:nvSpPr>
        <p:spPr>
          <a:xfrm>
            <a:off x="6583680" y="4608576"/>
            <a:ext cx="640080" cy="640080"/>
          </a:xfrm>
          <a:prstGeom prst="ellipse">
            <a:avLst/>
          </a:prstGeom>
          <a:solidFill>
            <a:srgbClr val="49B296"/>
          </a:solidFill>
          <a:ln w="12700">
            <a:solidFill>
              <a:srgbClr val="49B296"/>
            </a:solidFill>
            <a:prstDash val="solid"/>
          </a:ln>
        </p:spPr>
      </p:sp>
      <p:sp>
        <p:nvSpPr>
          <p:cNvPr id="51" name="Text 48"/>
          <p:cNvSpPr txBox="1"/>
          <p:nvPr/>
        </p:nvSpPr>
        <p:spPr>
          <a:xfrm>
            <a:off x="6583680" y="4608576"/>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6’</a:t>
            </a:r>
            <a:endParaRPr lang="en-US" sz="1500" dirty="0"/>
          </a:p>
        </p:txBody>
      </p:sp>
      <p:sp>
        <p:nvSpPr>
          <p:cNvPr id="52" name="Text 49"/>
          <p:cNvSpPr txBox="1"/>
          <p:nvPr/>
        </p:nvSpPr>
        <p:spPr>
          <a:xfrm>
            <a:off x="7406640" y="4572000"/>
            <a:ext cx="4236415" cy="713232"/>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Tổng kết toàn lớp</a:t>
            </a:r>
            <a:endParaRPr lang="en-US" sz="1400" dirty="0"/>
          </a:p>
        </p:txBody>
      </p:sp>
      <p:sp>
        <p:nvSpPr>
          <p:cNvPr id="53" name="Shape 50"/>
          <p:cNvSpPr/>
          <p:nvPr/>
        </p:nvSpPr>
        <p:spPr>
          <a:xfrm>
            <a:off x="6583680" y="5440680"/>
            <a:ext cx="5059375" cy="731520"/>
          </a:xfrm>
          <a:prstGeom prst="roundRect">
            <a:avLst>
              <a:gd name="adj" fmla="val 15000"/>
            </a:avLst>
          </a:prstGeom>
          <a:solidFill>
            <a:srgbClr val="FFF3C4"/>
          </a:solidFill>
          <a:ln w="12700">
            <a:solidFill>
              <a:srgbClr val="FFD23B"/>
            </a:solidFill>
            <a:prstDash val="solid"/>
          </a:ln>
        </p:spPr>
      </p:sp>
      <p:sp>
        <p:nvSpPr>
          <p:cNvPr id="54" name="Text 51"/>
          <p:cNvSpPr txBox="1"/>
          <p:nvPr/>
        </p:nvSpPr>
        <p:spPr>
          <a:xfrm>
            <a:off x="6766560" y="5440680"/>
            <a:ext cx="4693615" cy="731520"/>
          </a:xfrm>
          <a:prstGeom prst="rect">
            <a:avLst/>
          </a:prstGeom>
          <a:noFill/>
          <a:ln/>
        </p:spPr>
        <p:txBody>
          <a:bodyPr wrap="square" lIns="0" tIns="0" rIns="0" bIns="0" rtlCol="0" anchor="ctr"/>
          <a:lstStyle/>
          <a:p>
            <a:pPr indent="0" marL="0">
              <a:buNone/>
            </a:pPr>
            <a:r>
              <a:rPr lang="en-US" sz="1200" b="1" dirty="0">
                <a:solidFill>
                  <a:srgbClr val="2A2238"/>
                </a:solidFill>
                <a:latin typeface="Alexandria" pitchFamily="34" charset="0"/>
                <a:ea typeface="Alexandria" pitchFamily="34" charset="-122"/>
                <a:cs typeface="Alexandria" pitchFamily="34" charset="-120"/>
              </a:rPr>
              <a:t>Biên bản: thống nhất gì · chỉ số nào theo dõi chung · buổi sau khi nào, ai dự</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8</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27</a:t>
            </a:r>
            <a:endParaRPr lang="en-US" sz="1000" dirty="0"/>
          </a:p>
        </p:txBody>
      </p:sp>
      <p:sp>
        <p:nvSpPr>
          <p:cNvPr id="19" name="Shape 16"/>
          <p:cNvSpPr/>
          <p:nvPr/>
        </p:nvSpPr>
        <p:spPr>
          <a:xfrm>
            <a:off x="548640" y="1828800"/>
            <a:ext cx="11094415" cy="1051560"/>
          </a:xfrm>
          <a:prstGeom prst="roundRect">
            <a:avLst>
              <a:gd name="adj" fmla="val 10435"/>
            </a:avLst>
          </a:prstGeom>
          <a:solidFill>
            <a:srgbClr val="F1E1EE"/>
          </a:solidFill>
          <a:ln w="12700">
            <a:solidFill>
              <a:srgbClr val="962B7C"/>
            </a:solidFill>
            <a:prstDash val="solid"/>
          </a:ln>
        </p:spPr>
      </p:sp>
      <p:sp>
        <p:nvSpPr>
          <p:cNvPr id="20" name="Shape 17"/>
          <p:cNvSpPr/>
          <p:nvPr/>
        </p:nvSpPr>
        <p:spPr>
          <a:xfrm>
            <a:off x="777240" y="1965960"/>
            <a:ext cx="777240" cy="777240"/>
          </a:xfrm>
          <a:prstGeom prst="ellipse">
            <a:avLst/>
          </a:prstGeom>
          <a:solidFill>
            <a:srgbClr val="962B7C"/>
          </a:solidFill>
          <a:ln w="12700">
            <a:solidFill>
              <a:srgbClr val="962B7C"/>
            </a:solidFill>
            <a:prstDash val="solid"/>
          </a:ln>
        </p:spPr>
      </p:sp>
      <p:sp>
        <p:nvSpPr>
          <p:cNvPr id="21" name="Text 18"/>
          <p:cNvSpPr txBox="1"/>
          <p:nvPr/>
        </p:nvSpPr>
        <p:spPr>
          <a:xfrm>
            <a:off x="777240" y="196596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8.1</a:t>
            </a:r>
            <a:endParaRPr lang="en-US" sz="2200" dirty="0"/>
          </a:p>
        </p:txBody>
      </p:sp>
      <p:sp>
        <p:nvSpPr>
          <p:cNvPr id="22" name="Text 19"/>
          <p:cNvSpPr txBox="1"/>
          <p:nvPr/>
        </p:nvSpPr>
        <p:spPr>
          <a:xfrm>
            <a:off x="1783080" y="1828800"/>
            <a:ext cx="9631375" cy="105156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Bow-tie → Diamond là lộ trình theo giai đoạn. Diamond đưa quan hệ từ người với người thành tổ chức với tổ chức.</a:t>
            </a:r>
            <a:endParaRPr lang="en-US" sz="1600" dirty="0"/>
          </a:p>
        </p:txBody>
      </p:sp>
      <p:sp>
        <p:nvSpPr>
          <p:cNvPr id="23" name="Shape 20"/>
          <p:cNvSpPr/>
          <p:nvPr/>
        </p:nvSpPr>
        <p:spPr>
          <a:xfrm>
            <a:off x="548640" y="3017520"/>
            <a:ext cx="11094415" cy="1051560"/>
          </a:xfrm>
          <a:prstGeom prst="roundRect">
            <a:avLst>
              <a:gd name="adj" fmla="val 10435"/>
            </a:avLst>
          </a:prstGeom>
          <a:solidFill>
            <a:srgbClr val="DDF1FB"/>
          </a:solidFill>
          <a:ln w="12700">
            <a:solidFill>
              <a:srgbClr val="09A1E5"/>
            </a:solidFill>
            <a:prstDash val="solid"/>
          </a:ln>
        </p:spPr>
      </p:sp>
      <p:sp>
        <p:nvSpPr>
          <p:cNvPr id="24" name="Shape 21"/>
          <p:cNvSpPr/>
          <p:nvPr/>
        </p:nvSpPr>
        <p:spPr>
          <a:xfrm>
            <a:off x="777240" y="3154680"/>
            <a:ext cx="777240" cy="777240"/>
          </a:xfrm>
          <a:prstGeom prst="ellipse">
            <a:avLst/>
          </a:prstGeom>
          <a:solidFill>
            <a:srgbClr val="09A1E5"/>
          </a:solidFill>
          <a:ln w="12700">
            <a:solidFill>
              <a:srgbClr val="09A1E5"/>
            </a:solidFill>
            <a:prstDash val="solid"/>
          </a:ln>
        </p:spPr>
      </p:sp>
      <p:sp>
        <p:nvSpPr>
          <p:cNvPr id="25" name="Text 22"/>
          <p:cNvSpPr txBox="1"/>
          <p:nvPr/>
        </p:nvSpPr>
        <p:spPr>
          <a:xfrm>
            <a:off x="777240" y="315468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8.2</a:t>
            </a:r>
            <a:endParaRPr lang="en-US" sz="2200" dirty="0"/>
          </a:p>
        </p:txBody>
      </p:sp>
      <p:sp>
        <p:nvSpPr>
          <p:cNvPr id="26" name="Text 23"/>
          <p:cNvSpPr txBox="1"/>
          <p:nvPr/>
        </p:nvSpPr>
        <p:spPr>
          <a:xfrm>
            <a:off x="1783080" y="3017520"/>
            <a:ext cx="9631375" cy="105156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Đo cả chỉ số quá trình (báo trước) và kết quả (xác nhận). Mỗi sự kiện: khung 6 cấp rút gọn — agency cam kết cấp 0–3, thống nhất cấp 4–5 với khách hàng.</a:t>
            </a:r>
            <a:endParaRPr lang="en-US" sz="1600" dirty="0"/>
          </a:p>
        </p:txBody>
      </p:sp>
      <p:sp>
        <p:nvSpPr>
          <p:cNvPr id="27" name="Shape 24"/>
          <p:cNvSpPr/>
          <p:nvPr/>
        </p:nvSpPr>
        <p:spPr>
          <a:xfrm>
            <a:off x="548640" y="4206240"/>
            <a:ext cx="11094415" cy="1051560"/>
          </a:xfrm>
          <a:prstGeom prst="roundRect">
            <a:avLst>
              <a:gd name="adj" fmla="val 10435"/>
            </a:avLst>
          </a:prstGeom>
          <a:solidFill>
            <a:srgbClr val="FFE4EA"/>
          </a:solidFill>
          <a:ln w="12700">
            <a:solidFill>
              <a:srgbClr val="FF5178"/>
            </a:solidFill>
            <a:prstDash val="solid"/>
          </a:ln>
        </p:spPr>
      </p:sp>
      <p:sp>
        <p:nvSpPr>
          <p:cNvPr id="28" name="Shape 25"/>
          <p:cNvSpPr/>
          <p:nvPr/>
        </p:nvSpPr>
        <p:spPr>
          <a:xfrm>
            <a:off x="777240" y="4343400"/>
            <a:ext cx="777240" cy="777240"/>
          </a:xfrm>
          <a:prstGeom prst="ellipse">
            <a:avLst/>
          </a:prstGeom>
          <a:solidFill>
            <a:srgbClr val="FF5178"/>
          </a:solidFill>
          <a:ln w="12700">
            <a:solidFill>
              <a:srgbClr val="FF5178"/>
            </a:solidFill>
            <a:prstDash val="solid"/>
          </a:ln>
        </p:spPr>
      </p:sp>
      <p:sp>
        <p:nvSpPr>
          <p:cNvPr id="29" name="Text 26"/>
          <p:cNvSpPr txBox="1"/>
          <p:nvPr/>
        </p:nvSpPr>
        <p:spPr>
          <a:xfrm>
            <a:off x="777240" y="43434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8.3</a:t>
            </a:r>
            <a:endParaRPr lang="en-US" sz="2200" dirty="0"/>
          </a:p>
        </p:txBody>
      </p:sp>
      <p:sp>
        <p:nvSpPr>
          <p:cNvPr id="30" name="Text 27"/>
          <p:cNvSpPr txBox="1"/>
          <p:nvPr/>
        </p:nvSpPr>
        <p:spPr>
          <a:xfrm>
            <a:off x="1783080" y="4206240"/>
            <a:ext cx="9631375" cy="105156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Đánh giá chung định kỳ, hai chiều, có số liệu; theo dõi dấu hiệu cảnh báo sớm.</a:t>
            </a:r>
            <a:endParaRPr lang="en-US" sz="1600" dirty="0"/>
          </a:p>
        </p:txBody>
      </p:sp>
      <p:sp>
        <p:nvSpPr>
          <p:cNvPr id="31" name="Shape 28"/>
          <p:cNvSpPr/>
          <p:nvPr/>
        </p:nvSpPr>
        <p:spPr>
          <a:xfrm>
            <a:off x="548640" y="5486400"/>
            <a:ext cx="11094415" cy="685800"/>
          </a:xfrm>
          <a:prstGeom prst="roundRect">
            <a:avLst>
              <a:gd name="adj" fmla="val 16000"/>
            </a:avLst>
          </a:prstGeom>
          <a:solidFill>
            <a:srgbClr val="FFF3C4"/>
          </a:solidFill>
          <a:ln w="12700">
            <a:solidFill>
              <a:srgbClr val="FFD23B"/>
            </a:solidFill>
            <a:prstDash val="solid"/>
          </a:ln>
        </p:spPr>
      </p:sp>
      <p:sp>
        <p:nvSpPr>
          <p:cNvPr id="32" name="Text 29"/>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400" dirty="0">
                <a:solidFill>
                  <a:srgbClr val="2A2238"/>
                </a:solidFill>
                <a:latin typeface="Alexandria" pitchFamily="34" charset="0"/>
                <a:ea typeface="Alexandria" pitchFamily="34" charset="-122"/>
                <a:cs typeface="Alexandria" pitchFamily="34" charset="-120"/>
              </a:rPr>
              <a:t>thêm một trang — sơ đồ tiếp xúc, 3 + 3 chỉ số, nhịp đánh giá chung.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28</a:t>
            </a:r>
            <a:endParaRPr lang="en-US" sz="1000" dirty="0"/>
          </a:p>
        </p:txBody>
      </p:sp>
      <p:sp>
        <p:nvSpPr>
          <p:cNvPr id="19" name="Shape 16"/>
          <p:cNvSpPr/>
          <p:nvPr/>
        </p:nvSpPr>
        <p:spPr>
          <a:xfrm>
            <a:off x="548640" y="1828800"/>
            <a:ext cx="11094415" cy="1325880"/>
          </a:xfrm>
          <a:prstGeom prst="roundRect">
            <a:avLst>
              <a:gd name="adj" fmla="val 8276"/>
            </a:avLst>
          </a:prstGeom>
          <a:solidFill>
            <a:srgbClr val="FFFFFF"/>
          </a:solidFill>
          <a:ln w="12700">
            <a:solidFill>
              <a:srgbClr val="DCD7C8"/>
            </a:solidFill>
            <a:prstDash val="solid"/>
          </a:ln>
        </p:spPr>
      </p:sp>
      <p:sp>
        <p:nvSpPr>
          <p:cNvPr id="20" name="Shape 17"/>
          <p:cNvSpPr/>
          <p:nvPr/>
        </p:nvSpPr>
        <p:spPr>
          <a:xfrm>
            <a:off x="777240" y="2167128"/>
            <a:ext cx="640080" cy="640080"/>
          </a:xfrm>
          <a:prstGeom prst="ellipse">
            <a:avLst/>
          </a:prstGeom>
          <a:solidFill>
            <a:srgbClr val="962B7C"/>
          </a:solidFill>
          <a:ln w="12700">
            <a:solidFill>
              <a:srgbClr val="962B7C"/>
            </a:solidFill>
            <a:prstDash val="solid"/>
          </a:ln>
        </p:spPr>
      </p:sp>
      <p:sp>
        <p:nvSpPr>
          <p:cNvPr id="21" name="Text 18"/>
          <p:cNvSpPr txBox="1"/>
          <p:nvPr/>
        </p:nvSpPr>
        <p:spPr>
          <a:xfrm>
            <a:off x="777240" y="2167128"/>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2" name="Text 19"/>
          <p:cNvSpPr txBox="1"/>
          <p:nvPr/>
        </p:nvSpPr>
        <p:spPr>
          <a:xfrm>
            <a:off x="1645920" y="1828800"/>
            <a:ext cx="9768535" cy="132588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Với khách hàng trong dự án cũ của nhóm bạn, quan hệ là Bow-tie hay Diamond? Nếu đầu mối phía khách hàng nghỉ việc ngày mai, nhóm gọi cho ai tiếp theo?</a:t>
            </a:r>
            <a:endParaRPr lang="en-US" sz="1700" dirty="0"/>
          </a:p>
        </p:txBody>
      </p:sp>
      <p:sp>
        <p:nvSpPr>
          <p:cNvPr id="23" name="Shape 20"/>
          <p:cNvSpPr/>
          <p:nvPr/>
        </p:nvSpPr>
        <p:spPr>
          <a:xfrm>
            <a:off x="548640" y="3337560"/>
            <a:ext cx="11094415" cy="1325880"/>
          </a:xfrm>
          <a:prstGeom prst="roundRect">
            <a:avLst>
              <a:gd name="adj" fmla="val 8276"/>
            </a:avLst>
          </a:prstGeom>
          <a:solidFill>
            <a:srgbClr val="FFFFFF"/>
          </a:solidFill>
          <a:ln w="12700">
            <a:solidFill>
              <a:srgbClr val="DCD7C8"/>
            </a:solidFill>
            <a:prstDash val="solid"/>
          </a:ln>
        </p:spPr>
      </p:sp>
      <p:sp>
        <p:nvSpPr>
          <p:cNvPr id="24" name="Shape 21"/>
          <p:cNvSpPr/>
          <p:nvPr/>
        </p:nvSpPr>
        <p:spPr>
          <a:xfrm>
            <a:off x="777240" y="3675888"/>
            <a:ext cx="640080" cy="640080"/>
          </a:xfrm>
          <a:prstGeom prst="ellipse">
            <a:avLst/>
          </a:prstGeom>
          <a:solidFill>
            <a:srgbClr val="09A1E5"/>
          </a:solidFill>
          <a:ln w="12700">
            <a:solidFill>
              <a:srgbClr val="09A1E5"/>
            </a:solidFill>
            <a:prstDash val="solid"/>
          </a:ln>
        </p:spPr>
      </p:sp>
      <p:sp>
        <p:nvSpPr>
          <p:cNvPr id="25" name="Text 22"/>
          <p:cNvSpPr txBox="1"/>
          <p:nvPr/>
        </p:nvSpPr>
        <p:spPr>
          <a:xfrm>
            <a:off x="777240" y="3675888"/>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6" name="Text 23"/>
          <p:cNvSpPr txBox="1"/>
          <p:nvPr/>
        </p:nvSpPr>
        <p:spPr>
          <a:xfrm>
            <a:off x="1645920" y="3337560"/>
            <a:ext cx="9768535" cy="132588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Viết 1 chỉ số quá trình và 1 chỉ số kết quả nhóm bạn sẽ đưa vào Stakeholder Management Plan. Chỉ số nào báo trước chỉ số nào?</a:t>
            </a:r>
            <a:endParaRPr lang="en-US" sz="1700" dirty="0"/>
          </a:p>
        </p:txBody>
      </p:sp>
      <p:sp>
        <p:nvSpPr>
          <p:cNvPr id="27" name="Shape 24"/>
          <p:cNvSpPr/>
          <p:nvPr/>
        </p:nvSpPr>
        <p:spPr>
          <a:xfrm>
            <a:off x="548640" y="4937760"/>
            <a:ext cx="11094415" cy="1143000"/>
          </a:xfrm>
          <a:prstGeom prst="roundRect">
            <a:avLst>
              <a:gd name="adj" fmla="val 9600"/>
            </a:avLst>
          </a:prstGeom>
          <a:solidFill>
            <a:srgbClr val="E1F3EE"/>
          </a:solidFill>
          <a:ln w="12700">
            <a:solidFill>
              <a:srgbClr val="49B296"/>
            </a:solidFill>
            <a:prstDash val="solid"/>
          </a:ln>
        </p:spPr>
      </p:sp>
      <p:sp>
        <p:nvSpPr>
          <p:cNvPr id="28" name="Text 25"/>
          <p:cNvSpPr txBox="1"/>
          <p:nvPr/>
        </p:nvSpPr>
        <p:spPr>
          <a:xfrm>
            <a:off x="822960" y="4937760"/>
            <a:ext cx="10545775" cy="11430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Buổi 9: </a:t>
            </a:r>
            <a:pPr indent="0" marL="0">
              <a:buNone/>
            </a:pPr>
            <a:r>
              <a:rPr lang="en-US" sz="1700" dirty="0">
                <a:solidFill>
                  <a:srgbClr val="2A2238"/>
                </a:solidFill>
                <a:latin typeface="Alexandria" pitchFamily="34" charset="0"/>
                <a:ea typeface="Alexandria" pitchFamily="34" charset="-122"/>
                <a:cs typeface="Alexandria" pitchFamily="34" charset="-120"/>
              </a:rPr>
              <a:t>nhà đầu tư và nhà tài trợ — những bên liên quan giúp agency tạo thêm giá trị cho Key Account.</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buoi-08_tu-lieu-tong-hop.md,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29</a:t>
            </a:r>
            <a:endParaRPr lang="en-US" sz="1000" dirty="0"/>
          </a:p>
        </p:txBody>
      </p:sp>
      <p:sp>
        <p:nvSpPr>
          <p:cNvPr id="20" name="Text 17"/>
          <p:cNvSpPr txBox="1"/>
          <p:nvPr/>
        </p:nvSpPr>
        <p:spPr>
          <a:xfrm>
            <a:off x="548640" y="1783080"/>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T01</a:t>
            </a:r>
            <a:endParaRPr lang="en-US" sz="1100" dirty="0"/>
          </a:p>
        </p:txBody>
      </p:sp>
      <p:sp>
        <p:nvSpPr>
          <p:cNvPr id="21" name="Text 18"/>
          <p:cNvSpPr txBox="1"/>
          <p:nvPr/>
        </p:nvSpPr>
        <p:spPr>
          <a:xfrm>
            <a:off x="1234440" y="1783080"/>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McDonald, M., Millman, T., &amp; Rogers, B. (1997). Key account management: Theory, practice and challenges. Journal of Marketing Management, 13(8), 737–757.</a:t>
            </a:r>
            <a:endParaRPr lang="en-US" sz="1100" dirty="0"/>
          </a:p>
        </p:txBody>
      </p:sp>
      <p:sp>
        <p:nvSpPr>
          <p:cNvPr id="22" name="Text 19"/>
          <p:cNvSpPr txBox="1"/>
          <p:nvPr/>
        </p:nvSpPr>
        <p:spPr>
          <a:xfrm>
            <a:off x="548640" y="2267712"/>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T02</a:t>
            </a:r>
            <a:endParaRPr lang="en-US" sz="1100" dirty="0"/>
          </a:p>
        </p:txBody>
      </p:sp>
      <p:sp>
        <p:nvSpPr>
          <p:cNvPr id="23" name="Text 20"/>
          <p:cNvSpPr txBox="1"/>
          <p:nvPr/>
        </p:nvSpPr>
        <p:spPr>
          <a:xfrm>
            <a:off x="1234440" y="2267712"/>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Millman, T., &amp; Wilson, K. (1995). From key account selling to key account management. Journal of Marketing Practice: Applied Marketing Science, 1(1), 9–21.</a:t>
            </a:r>
            <a:endParaRPr lang="en-US" sz="1100" dirty="0"/>
          </a:p>
        </p:txBody>
      </p:sp>
      <p:sp>
        <p:nvSpPr>
          <p:cNvPr id="24" name="Text 21"/>
          <p:cNvSpPr txBox="1"/>
          <p:nvPr/>
        </p:nvSpPr>
        <p:spPr>
          <a:xfrm>
            <a:off x="548640" y="2752344"/>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T03</a:t>
            </a:r>
            <a:endParaRPr lang="en-US" sz="1100" dirty="0"/>
          </a:p>
        </p:txBody>
      </p:sp>
      <p:sp>
        <p:nvSpPr>
          <p:cNvPr id="25" name="Text 22"/>
          <p:cNvSpPr txBox="1"/>
          <p:nvPr/>
        </p:nvSpPr>
        <p:spPr>
          <a:xfrm>
            <a:off x="1234440" y="2752344"/>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pharmaphorum. (n.d.). Of bow ties and diamonds.</a:t>
            </a:r>
            <a:endParaRPr lang="en-US" sz="1100" dirty="0"/>
          </a:p>
        </p:txBody>
      </p:sp>
      <p:sp>
        <p:nvSpPr>
          <p:cNvPr id="26" name="Text 23"/>
          <p:cNvSpPr txBox="1"/>
          <p:nvPr/>
        </p:nvSpPr>
        <p:spPr>
          <a:xfrm>
            <a:off x="548640" y="3236976"/>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T04</a:t>
            </a:r>
            <a:endParaRPr lang="en-US" sz="1100" dirty="0"/>
          </a:p>
        </p:txBody>
      </p:sp>
      <p:sp>
        <p:nvSpPr>
          <p:cNvPr id="27" name="Text 24"/>
          <p:cNvSpPr txBox="1"/>
          <p:nvPr/>
        </p:nvSpPr>
        <p:spPr>
          <a:xfrm>
            <a:off x="1234440" y="3236976"/>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SBI. (n.d.). Key account management: Avoiding the “bow-tie” resource approach.</a:t>
            </a:r>
            <a:endParaRPr lang="en-US" sz="1100" dirty="0"/>
          </a:p>
        </p:txBody>
      </p:sp>
      <p:sp>
        <p:nvSpPr>
          <p:cNvPr id="28" name="Text 25"/>
          <p:cNvSpPr txBox="1"/>
          <p:nvPr/>
        </p:nvSpPr>
        <p:spPr>
          <a:xfrm>
            <a:off x="548640" y="3721608"/>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T05</a:t>
            </a:r>
            <a:endParaRPr lang="en-US" sz="1100" dirty="0"/>
          </a:p>
        </p:txBody>
      </p:sp>
      <p:sp>
        <p:nvSpPr>
          <p:cNvPr id="29" name="Text 26"/>
          <p:cNvSpPr txBox="1"/>
          <p:nvPr/>
        </p:nvSpPr>
        <p:spPr>
          <a:xfrm>
            <a:off x="1234440" y="3721608"/>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Tasso, K. (n.d.). KAM basics – Bowties and diamonds [Video].</a:t>
            </a:r>
            <a:endParaRPr lang="en-US" sz="1100" dirty="0"/>
          </a:p>
        </p:txBody>
      </p:sp>
      <p:sp>
        <p:nvSpPr>
          <p:cNvPr id="30" name="Text 27"/>
          <p:cNvSpPr txBox="1"/>
          <p:nvPr/>
        </p:nvSpPr>
        <p:spPr>
          <a:xfrm>
            <a:off x="548640" y="4206240"/>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T06</a:t>
            </a:r>
            <a:endParaRPr lang="en-US" sz="1100" dirty="0"/>
          </a:p>
        </p:txBody>
      </p:sp>
      <p:sp>
        <p:nvSpPr>
          <p:cNvPr id="31" name="Text 28"/>
          <p:cNvSpPr txBox="1"/>
          <p:nvPr/>
        </p:nvSpPr>
        <p:spPr>
          <a:xfrm>
            <a:off x="1234440" y="4206240"/>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Côté, D. (2021, October 26). From executive sponsorship to executive engagement. Strategic Account Management Association.</a:t>
            </a:r>
            <a:endParaRPr lang="en-US" sz="1100" dirty="0"/>
          </a:p>
        </p:txBody>
      </p:sp>
      <p:sp>
        <p:nvSpPr>
          <p:cNvPr id="32" name="Text 29"/>
          <p:cNvSpPr txBox="1"/>
          <p:nvPr/>
        </p:nvSpPr>
        <p:spPr>
          <a:xfrm>
            <a:off x="548640" y="4690872"/>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T07</a:t>
            </a:r>
            <a:endParaRPr lang="en-US" sz="1100" dirty="0"/>
          </a:p>
        </p:txBody>
      </p:sp>
      <p:sp>
        <p:nvSpPr>
          <p:cNvPr id="33" name="Text 30"/>
          <p:cNvSpPr txBox="1"/>
          <p:nvPr/>
        </p:nvSpPr>
        <p:spPr>
          <a:xfrm>
            <a:off x="1234440" y="4690872"/>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Association of National Advertisers. (2025, April). New ANA and 4As report reveals client-agency relationship tenure has doubled since 2016 [Press release].</a:t>
            </a:r>
            <a:endParaRPr lang="en-US" sz="1100" dirty="0"/>
          </a:p>
        </p:txBody>
      </p:sp>
      <p:sp>
        <p:nvSpPr>
          <p:cNvPr id="34" name="Text 31"/>
          <p:cNvSpPr txBox="1"/>
          <p:nvPr/>
        </p:nvSpPr>
        <p:spPr>
          <a:xfrm>
            <a:off x="548640" y="5175504"/>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T08</a:t>
            </a:r>
            <a:endParaRPr lang="en-US" sz="1100" dirty="0"/>
          </a:p>
        </p:txBody>
      </p:sp>
      <p:sp>
        <p:nvSpPr>
          <p:cNvPr id="35" name="Text 32"/>
          <p:cNvSpPr txBox="1"/>
          <p:nvPr/>
        </p:nvSpPr>
        <p:spPr>
          <a:xfrm>
            <a:off x="1234440" y="5175504"/>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Spencer Stuart. (2025). CMO tenure study 2025: The evolution of marketing leadership.</a:t>
            </a:r>
            <a:endParaRPr lang="en-US" sz="1100" dirty="0"/>
          </a:p>
        </p:txBody>
      </p:sp>
      <p:sp>
        <p:nvSpPr>
          <p:cNvPr id="36" name="Text 33"/>
          <p:cNvSpPr txBox="1"/>
          <p:nvPr/>
        </p:nvSpPr>
        <p:spPr>
          <a:xfrm>
            <a:off x="548640" y="5660136"/>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T09</a:t>
            </a:r>
            <a:endParaRPr lang="en-US" sz="1100" dirty="0"/>
          </a:p>
        </p:txBody>
      </p:sp>
      <p:sp>
        <p:nvSpPr>
          <p:cNvPr id="37" name="Text 34"/>
          <p:cNvSpPr txBox="1"/>
          <p:nvPr/>
        </p:nvSpPr>
        <p:spPr>
          <a:xfrm>
            <a:off x="1234440" y="5660136"/>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Tzempelikos, N., &amp; Gounaris, S. (2015). Linking key account management practices to performance outcomes. Industrial Marketing Management, 45, 22–34.</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8823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8.1 Bow-tie → Diamond</a:t>
            </a:r>
            <a:endParaRPr lang="en-US" sz="1000" dirty="0"/>
          </a:p>
        </p:txBody>
      </p:sp>
      <p:sp>
        <p:nvSpPr>
          <p:cNvPr id="6" name="Shape 4"/>
          <p:cNvSpPr/>
          <p:nvPr/>
        </p:nvSpPr>
        <p:spPr>
          <a:xfrm>
            <a:off x="3378708" y="274320"/>
            <a:ext cx="118872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7870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8.2 Đo lường</a:t>
            </a:r>
            <a:endParaRPr lang="en-US" sz="1000" dirty="0"/>
          </a:p>
        </p:txBody>
      </p:sp>
      <p:sp>
        <p:nvSpPr>
          <p:cNvPr id="8" name="Shape 6"/>
          <p:cNvSpPr/>
          <p:nvPr/>
        </p:nvSpPr>
        <p:spPr>
          <a:xfrm>
            <a:off x="4677156" y="274320"/>
            <a:ext cx="165506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677156" y="274320"/>
            <a:ext cx="165506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8.3 Đánh giá chung</a:t>
            </a:r>
            <a:endParaRPr lang="en-US" sz="1000" dirty="0"/>
          </a:p>
        </p:txBody>
      </p:sp>
      <p:sp>
        <p:nvSpPr>
          <p:cNvPr id="10" name="Shape 8"/>
          <p:cNvSpPr/>
          <p:nvPr/>
        </p:nvSpPr>
        <p:spPr>
          <a:xfrm>
            <a:off x="6441948"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441948"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381903" y="219456"/>
            <a:ext cx="138257" cy="138257"/>
          </a:xfrm>
          <a:prstGeom prst="ellipse">
            <a:avLst/>
          </a:prstGeom>
          <a:solidFill>
            <a:srgbClr val="962B7C"/>
          </a:solidFill>
          <a:ln w="12700">
            <a:solidFill>
              <a:srgbClr val="962B7C"/>
            </a:solidFill>
            <a:prstDash val="solid"/>
          </a:ln>
        </p:spPr>
      </p:sp>
      <p:sp>
        <p:nvSpPr>
          <p:cNvPr id="13" name="Shape 11"/>
          <p:cNvSpPr/>
          <p:nvPr/>
        </p:nvSpPr>
        <p:spPr>
          <a:xfrm>
            <a:off x="11259007" y="342351"/>
            <a:ext cx="138257" cy="138257"/>
          </a:xfrm>
          <a:prstGeom prst="ellipse">
            <a:avLst/>
          </a:prstGeom>
          <a:solidFill>
            <a:srgbClr val="09A1E5"/>
          </a:solidFill>
          <a:ln w="12700">
            <a:solidFill>
              <a:srgbClr val="09A1E5"/>
            </a:solidFill>
            <a:prstDash val="solid"/>
          </a:ln>
        </p:spPr>
      </p:sp>
      <p:sp>
        <p:nvSpPr>
          <p:cNvPr id="14" name="Shape 12"/>
          <p:cNvSpPr/>
          <p:nvPr/>
        </p:nvSpPr>
        <p:spPr>
          <a:xfrm>
            <a:off x="11504798" y="342351"/>
            <a:ext cx="138257" cy="138257"/>
          </a:xfrm>
          <a:prstGeom prst="ellipse">
            <a:avLst/>
          </a:prstGeom>
          <a:solidFill>
            <a:srgbClr val="FF5178"/>
          </a:solidFill>
          <a:ln w="12700">
            <a:solidFill>
              <a:srgbClr val="FF5178"/>
            </a:solidFill>
            <a:prstDash val="solid"/>
          </a:ln>
        </p:spPr>
      </p:sp>
      <p:sp>
        <p:nvSpPr>
          <p:cNvPr id="15" name="Shape 13"/>
          <p:cNvSpPr/>
          <p:nvPr/>
        </p:nvSpPr>
        <p:spPr>
          <a:xfrm>
            <a:off x="11381903" y="465247"/>
            <a:ext cx="138257" cy="138257"/>
          </a:xfrm>
          <a:prstGeom prst="ellipse">
            <a:avLst/>
          </a:prstGeom>
          <a:solidFill>
            <a:srgbClr val="49B296"/>
          </a:solidFill>
          <a:ln w="12700">
            <a:solidFill>
              <a:srgbClr val="49B296"/>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buoi-08_tu-lieu-tong-hop.md,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8   30</a:t>
            </a:r>
            <a:endParaRPr lang="en-US" sz="1000" dirty="0"/>
          </a:p>
        </p:txBody>
      </p:sp>
      <p:sp>
        <p:nvSpPr>
          <p:cNvPr id="20" name="Text 17"/>
          <p:cNvSpPr txBox="1"/>
          <p:nvPr/>
        </p:nvSpPr>
        <p:spPr>
          <a:xfrm>
            <a:off x="548640" y="1783080"/>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T10</a:t>
            </a:r>
            <a:endParaRPr lang="en-US" sz="1100" dirty="0"/>
          </a:p>
        </p:txBody>
      </p:sp>
      <p:sp>
        <p:nvSpPr>
          <p:cNvPr id="21" name="Text 18"/>
          <p:cNvSpPr txBox="1"/>
          <p:nvPr/>
        </p:nvSpPr>
        <p:spPr>
          <a:xfrm>
            <a:off x="1234440" y="1783080"/>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Fakhreddin, F., Foroudi, P., &amp; Kooli, K. (2025). The influence of key account management on competitive advantage and firm performance. Industrial Marketing Management, 124, 266–286.</a:t>
            </a:r>
            <a:endParaRPr lang="en-US" sz="1100" dirty="0"/>
          </a:p>
        </p:txBody>
      </p:sp>
      <p:sp>
        <p:nvSpPr>
          <p:cNvPr id="22" name="Text 19"/>
          <p:cNvSpPr txBox="1"/>
          <p:nvPr/>
        </p:nvSpPr>
        <p:spPr>
          <a:xfrm>
            <a:off x="548640" y="2267712"/>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T11</a:t>
            </a:r>
            <a:endParaRPr lang="en-US" sz="1100" dirty="0"/>
          </a:p>
        </p:txBody>
      </p:sp>
      <p:sp>
        <p:nvSpPr>
          <p:cNvPr id="23" name="Text 20"/>
          <p:cNvSpPr txBox="1"/>
          <p:nvPr/>
        </p:nvSpPr>
        <p:spPr>
          <a:xfrm>
            <a:off x="1234440" y="2267712"/>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Phillips, J. J., Breining, M. T., &amp; Phillips, P. P. (2008). Return on investment in meetings and events. Elsevier/Butterworth-Heinemann. · Event ROI Institute. (n.d.). Methodology.</a:t>
            </a:r>
            <a:endParaRPr lang="en-US" sz="1100" dirty="0"/>
          </a:p>
        </p:txBody>
      </p:sp>
      <p:sp>
        <p:nvSpPr>
          <p:cNvPr id="24" name="Text 21"/>
          <p:cNvSpPr txBox="1"/>
          <p:nvPr/>
        </p:nvSpPr>
        <p:spPr>
          <a:xfrm>
            <a:off x="548640" y="2752344"/>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T12</a:t>
            </a:r>
            <a:endParaRPr lang="en-US" sz="1100" dirty="0"/>
          </a:p>
        </p:txBody>
      </p:sp>
      <p:sp>
        <p:nvSpPr>
          <p:cNvPr id="25" name="Text 22"/>
          <p:cNvSpPr txBox="1"/>
          <p:nvPr/>
        </p:nvSpPr>
        <p:spPr>
          <a:xfrm>
            <a:off x="1234440" y="2752344"/>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American Express Global Business Travel. (2025). 2026 global meetings &amp; events forecast.</a:t>
            </a:r>
            <a:endParaRPr lang="en-US" sz="1100" dirty="0"/>
          </a:p>
        </p:txBody>
      </p:sp>
      <p:sp>
        <p:nvSpPr>
          <p:cNvPr id="26" name="Text 23"/>
          <p:cNvSpPr txBox="1"/>
          <p:nvPr/>
        </p:nvSpPr>
        <p:spPr>
          <a:xfrm>
            <a:off x="548640" y="3236976"/>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T13</a:t>
            </a:r>
            <a:endParaRPr lang="en-US" sz="1100" dirty="0"/>
          </a:p>
        </p:txBody>
      </p:sp>
      <p:sp>
        <p:nvSpPr>
          <p:cNvPr id="27" name="Text 24"/>
          <p:cNvSpPr txBox="1"/>
          <p:nvPr/>
        </p:nvSpPr>
        <p:spPr>
          <a:xfrm>
            <a:off x="1234440" y="3236976"/>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Promethean Research. (2026, July 3). Client retention strategies for agencies (2026 guide).</a:t>
            </a:r>
            <a:endParaRPr lang="en-US" sz="1100" dirty="0"/>
          </a:p>
        </p:txBody>
      </p:sp>
      <p:sp>
        <p:nvSpPr>
          <p:cNvPr id="28" name="Text 25"/>
          <p:cNvSpPr txBox="1"/>
          <p:nvPr/>
        </p:nvSpPr>
        <p:spPr>
          <a:xfrm>
            <a:off x="548640" y="3721608"/>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T14</a:t>
            </a:r>
            <a:endParaRPr lang="en-US" sz="1100" dirty="0"/>
          </a:p>
        </p:txBody>
      </p:sp>
      <p:sp>
        <p:nvSpPr>
          <p:cNvPr id="29" name="Text 26"/>
          <p:cNvSpPr txBox="1"/>
          <p:nvPr/>
        </p:nvSpPr>
        <p:spPr>
          <a:xfrm>
            <a:off x="1234440" y="3721608"/>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Association of National Advertisers. (2009). Majority of marketers conduct formal agency performance evaluations according to new ANA survey [Press release].</a:t>
            </a:r>
            <a:endParaRPr lang="en-US" sz="1100" dirty="0"/>
          </a:p>
        </p:txBody>
      </p:sp>
      <p:sp>
        <p:nvSpPr>
          <p:cNvPr id="30" name="Text 27"/>
          <p:cNvSpPr txBox="1"/>
          <p:nvPr/>
        </p:nvSpPr>
        <p:spPr>
          <a:xfrm>
            <a:off x="548640" y="4206240"/>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T15</a:t>
            </a:r>
            <a:endParaRPr lang="en-US" sz="1100" dirty="0"/>
          </a:p>
        </p:txBody>
      </p:sp>
      <p:sp>
        <p:nvSpPr>
          <p:cNvPr id="31" name="Text 28"/>
          <p:cNvSpPr txBox="1"/>
          <p:nvPr/>
        </p:nvSpPr>
        <p:spPr>
          <a:xfrm>
            <a:off x="1234440" y="4206240"/>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Convention Industry Council. (2005). The APEX post-event report template.</a:t>
            </a:r>
            <a:endParaRPr lang="en-US" sz="1100" dirty="0"/>
          </a:p>
        </p:txBody>
      </p:sp>
      <p:sp>
        <p:nvSpPr>
          <p:cNvPr id="32" name="Text 29"/>
          <p:cNvSpPr txBox="1"/>
          <p:nvPr/>
        </p:nvSpPr>
        <p:spPr>
          <a:xfrm>
            <a:off x="548640" y="4690872"/>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T16</a:t>
            </a:r>
            <a:endParaRPr lang="en-US" sz="1100" dirty="0"/>
          </a:p>
        </p:txBody>
      </p:sp>
      <p:sp>
        <p:nvSpPr>
          <p:cNvPr id="33" name="Text 30"/>
          <p:cNvSpPr txBox="1"/>
          <p:nvPr/>
        </p:nvSpPr>
        <p:spPr>
          <a:xfrm>
            <a:off x="1234440" y="4690872"/>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Hofstede, G. (2015). Dimension data matrix (version 2015-12-08) [Data set].</a:t>
            </a:r>
            <a:endParaRPr lang="en-US" sz="1100" dirty="0"/>
          </a:p>
        </p:txBody>
      </p:sp>
      <p:sp>
        <p:nvSpPr>
          <p:cNvPr id="34" name="Text 31"/>
          <p:cNvSpPr txBox="1"/>
          <p:nvPr/>
        </p:nvSpPr>
        <p:spPr>
          <a:xfrm>
            <a:off x="548640" y="5175504"/>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T17</a:t>
            </a:r>
            <a:endParaRPr lang="en-US" sz="1100" dirty="0"/>
          </a:p>
        </p:txBody>
      </p:sp>
      <p:sp>
        <p:nvSpPr>
          <p:cNvPr id="35" name="Text 32"/>
          <p:cNvSpPr txBox="1"/>
          <p:nvPr/>
        </p:nvSpPr>
        <p:spPr>
          <a:xfrm>
            <a:off x="1234440" y="5175504"/>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Pham, H. H., &amp; Pham, N. C. (2025). Marketing insights from Quan He: Navigating Vietnamese business practices for foreign investors in an emerging market. BIMTECH Business Perspectives.</a:t>
            </a:r>
            <a:endParaRPr lang="en-US" sz="1100" dirty="0"/>
          </a:p>
        </p:txBody>
      </p:sp>
      <p:sp>
        <p:nvSpPr>
          <p:cNvPr id="36" name="Text 33"/>
          <p:cNvSpPr txBox="1"/>
          <p:nvPr/>
        </p:nvSpPr>
        <p:spPr>
          <a:xfrm>
            <a:off x="548640" y="5660136"/>
            <a:ext cx="640080" cy="438912"/>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T18</a:t>
            </a:r>
            <a:endParaRPr lang="en-US" sz="1100" dirty="0"/>
          </a:p>
        </p:txBody>
      </p:sp>
      <p:sp>
        <p:nvSpPr>
          <p:cNvPr id="37" name="Text 34"/>
          <p:cNvSpPr txBox="1"/>
          <p:nvPr/>
        </p:nvSpPr>
        <p:spPr>
          <a:xfrm>
            <a:off x="1234440" y="5660136"/>
            <a:ext cx="10408615" cy="438912"/>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McMillan, J., &amp; Woodruff, C. (1999). Interfirm relationships and informal credit in Vietnam. The Quarterly Journal of Economics, 114(4), 1285–1320.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8: Governing the Key Account Relationship &amp; Multi-dimensional Performance Measurement</dc:title>
  <dc:subject>Quản trị mối quan hệ trong tổ chức sự kiện</dc:subject>
  <dc:creator>PptxGenJS</dc:creator>
  <cp:lastModifiedBy>PptxGenJS</cp:lastModifiedBy>
  <cp:revision>1</cp:revision>
  <dcterms:created xsi:type="dcterms:W3CDTF">2026-09-27T14:25:20Z</dcterms:created>
  <dcterms:modified xsi:type="dcterms:W3CDTF">2026-09-27T14:25:20Z</dcterms:modified>
</cp:coreProperties>
</file>