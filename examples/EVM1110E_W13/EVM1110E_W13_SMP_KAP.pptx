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Mở Phần 4 — buổi xưởng. Nhắc SV đã mang đủ các trang SMP (Buổi 1, 7–12). Điền tên giảng viên trước khi dạy.
Alt-text: hai vòng tròn đồng tâm — lõi là Key Account Plan, vòng ngoài là nhà tài trợ, nhà cung cấp, báo chí – KOL.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Chiếu và đọc: “Buổi 14. Nhóm bạn bước vào phòng. Customer Board — ba giảng viên — ngồi đối diện. Câu hỏi đầu tiên của họ nhiều khả năng là gì?” Giơ tay A/B/C.
Chốt: “Đề cương ghi rõ: các bạn bảo vệ logic tài chính và chiến lược điểm chạm trước câu hỏi trực tiếp. Hội đồng đóng vai khách hàng, và khách hàng quan tâm đến giá trị cho họ. Hôm nay: ráp mọi trang đã làm thành một kế hoạch trả lời được câu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Account Plan (KAP) là phần lõi: kế hoạch cho MỘT khách hàng quan trọng — hiểu họ, tạo giá trị gì cho họ, thực hiện ra sao.
Stakeholder Management Plan (SMP) của môn = KAP cộng với việc điều phối các bên liên quan bên ngoài (nhà tài trợ/nhà đầu tư, nhà cung cấp – địa điểm, báo chí – KOL) để giao giá trị cho Key Account (13.2).
Alt-text: hai vòng tròn đồng tâm — vòng trong là KAP, vòng ngoài có nhà tài trợ/nhà đầu tư, nhà cung cấp – địa điểm, báo chí – KOL.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78 công ty quốc tế mô tả lợi ích, nội dung và các khiếm khuyết thường gặp của key account plan (Ryals &amp; Rogers, 2007). Cranfield khuyến nghị kế hoạch chiến lược cho key account có tầm nhìn 3–5 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Khung do Mark Davies và Dr Sue Holt (Cranfield) trình bày năm 2013, phát triển từ quy trình lập kế hoạch KAM của Ryals &amp; McDonald (sách Key Account Plans, 2010). Cranfield gọi cách làm này là Value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“Viết theo thứ tự A → D, rồi mới viết E. Nhưng đọc theo thứ tự E → A: hội đồng đọc E trước.”
Alt-text: năm ô A, B, C, D nối bằng mũi tên theo thứ tự; ô E tách riêng ở đầu, ghi “đọc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định nghĩa phần B–E theo giáo trình nội bộ UEF, nếu có]
Cột “công cụ đã học” giúp nhóm biết trang nào đã làm ở buổi nào đi vào phần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chưa có đủ thông tin về khách hàng, Cranfield khuyên được đặt giả định và lập kịch bản — và xác nhận lại với khách hàng.
Nói: “Khách hàng của các bạn là từ dự án cũ. Có nhiều điều các bạn không biết chắc: ngân sách năm sau, doanh thu, số khách. Không sao. Ghi ‘Giả định:’ và nói vì sao chọn con số đó. Hội đồng sẽ hỏi — và giả định có lý do là một câu trả lời tốt; con số bịa thì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“Đây là khung, không phải bài mẫu. Khách hàng của nhóm bạn khác An Phát — phần A của bạn phải khác hoàn toàn.”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(30 phút): 3 mở đầu · 10 · 12 · 5. GV đi vòng từng nhóm; 3 phút cuối chốt chung.
Bày tất cả trang SMP đã làm (Buổi 1, 3, 7–12).
Khi chốt: ghi các phần có 🔴 của 6 nhóm lên bảng — để biết nhóm nào cần hỗ trợ. Phần nào nhiều nhóm 🔴 nhất? Giả định nào khó giải thích nhất?
Nếu nhóm thiếu nhiều trang cũ: ráp khung với ô trống ghi “cần bổ sung”, ưu tiên phần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Quyết định GV 7: không dùng các số liệu 5%/1%/25% thường được trích kèm.
Nói: phần C không phải “dịch vụ của chúng tôi gồm…”, mà là khách hàng được thêm bao nhiêu.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cách tạo giá trị tiền tệ cho khách hàng: tăng giá trị (doanh thu, năng suất, tốc độ…), giảm chi phí, tránh chi phí; thêm đóng góp cảm xúc — khó định lượng nhưng có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Tính trên bảng nếu có thời gian. Nếu trễ giờ: rút ví dụ tính, giữ công thức trên slide.
Mỗi con số phải ghi nguồn hoặc ghi “Giả định: … vì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“Mỗi lời hứa ở phần C phải có một dòng đo ở phần D.” Ví dụ trên slide là giả định từ khung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chiếu suốt S6.
Điểm chạm theo Lemon &amp; Verhoef: trước / trong / sau; đối tác sở hữu (partner-owned) hay bên ngoài (social/external).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“13.2 không phải thêm ba chương rời. Đó là một bảng trong phần D, nơi mọi bên đều phục vụ cùng một hành trình của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chiếu suốt S6.
Câu 5: “Hội đồng cần quyết gì” — ngân sách, cam kết, chia sẻ dữ liệu cấp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viết theo thứ tự A → B → C → D → E. Hội đồng đọc E trước, rồi mới lật A → D để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“Với nhóm sinh viên, lỗi nào dễ gặp nhất?” — gợi ý: “một người viết” (2), “nói về mình” (7), “điền ô”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PROFESSOR INPUT: mẫu phụ lục công bố sử dụng AI — dùng mẫu đề xuất trong checklist hay mẫu của Khoa/Trường]
Nói: “AI không biết khách hàng của các bạn, không có mặt ở dự án cũ, và không đứng trả lời Customer Board thay các bạn.”
Giới thiệu checklist tự rà soát (W13_checklist_tu_ra_soat_SMP.md) — dùng ở S6 và trước Buổi 14; checklist chỉ để tự rà soát, không thay rubric chính thức.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(35 phút): 3 mở đầu · 12 bảng · 5 tóm tắt · 10 xoay trạm (2 vòng × 5 phút) · 5 sửa.
Lời mở đầu: “Đây là phần mà hội đồng sẽ đọc kỹ nhất: các bạn giao giá trị bằng cách nào, cùng với ai. 12 phút cho bảng — ít nhất một nhà tài trợ hoặc nhà đầu tư, một nhà cung cấp hoặc địa điểm, một báo chí hoặc KOL. 5 phút cho năm câu tóm tắt. Rồi các bạn đi làm Customer Board: mỗi bàn nhận một câu hỏi tiền và một câu hỏi điểm chạm. Hỏi như hội đồng thật.”
Khi chốt: ghi các câu hỏi tài chính lặp lại ở nhiều bàn.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Ba câu chốt và bốn việc nhóm cần làm trước Buổi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Giấy nhỏ hoặc Google Form (thêm QR nếu thu online).
Cần xem: (a) nhận ra phần yếu cụ thể, không trả lời “phần nào cũng ổn”; (b) value proposition nói về giá trị cho khách hàng, không chỉ “dịch vụ của chúng tôi”; (c) có số và phân biệt số thật với giả định.
Câu nối Buổi 14: “Buổi sau các bạn không còn là sinh viên trình bày bài tập. Các bạn là KAM Director đứng trước Customer Board. Hội đồng sẽ hỏi hai điều: giá trị này bao nhiêu tiền, và các bạn chạm vào khách hàng của họ ở đâu, bằng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Z08 (chuẩn nội bộ của bộ kỹ năng về liêm chính học thuật trong thời AI) không đưa lên slide vì là tài liệu nội bộ và buổi này không nhắc đến công cụ phát hiện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Z08 (chuẩn nội bộ của bộ kỹ năng về liêm chính học thuật trong thời AI) không đưa lên slide vì là tài liệu nội bộ và buổi này không nhắc đến công cụ phát hiện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040880" y="1051560"/>
            <a:ext cx="4480560" cy="4480560"/>
          </a:xfrm>
          <a:prstGeom prst="ellipse">
            <a:avLst/>
          </a:prstGeom>
          <a:solidFill>
            <a:srgbClr val="DDF1FB"/>
          </a:solidFill>
          <a:ln w="25400">
            <a:solidFill>
              <a:srgbClr val="09A1E5"/>
            </a:solidFill>
            <a:prstDash val="dash"/>
          </a:ln>
        </p:spPr>
      </p:sp>
      <p:sp>
        <p:nvSpPr>
          <p:cNvPr id="3" name="Shape 1"/>
          <p:cNvSpPr/>
          <p:nvPr/>
        </p:nvSpPr>
        <p:spPr>
          <a:xfrm>
            <a:off x="8161020" y="2171700"/>
            <a:ext cx="2240280" cy="2240280"/>
          </a:xfrm>
          <a:prstGeom prst="ellipse">
            <a:avLst/>
          </a:prstGeom>
          <a:solidFill>
            <a:srgbClr val="FFD23B"/>
          </a:solidFill>
          <a:ln w="12700">
            <a:solidFill>
              <a:srgbClr val="FFD23B"/>
            </a:solidFill>
            <a:prstDash val="solid"/>
          </a:ln>
        </p:spPr>
      </p:sp>
      <p:sp>
        <p:nvSpPr>
          <p:cNvPr id="4" name="Text 2"/>
          <p:cNvSpPr txBox="1"/>
          <p:nvPr/>
        </p:nvSpPr>
        <p:spPr>
          <a:xfrm>
            <a:off x="8161020" y="2171700"/>
            <a:ext cx="2240280" cy="22402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Key Account Plan</a:t>
            </a:r>
            <a:endParaRPr lang="en-US" sz="1400" dirty="0"/>
          </a:p>
        </p:txBody>
      </p:sp>
      <p:sp>
        <p:nvSpPr>
          <p:cNvPr id="5" name="Shape 3"/>
          <p:cNvSpPr/>
          <p:nvPr/>
        </p:nvSpPr>
        <p:spPr>
          <a:xfrm>
            <a:off x="8412480" y="1360627"/>
            <a:ext cx="1737360" cy="457200"/>
          </a:xfrm>
          <a:prstGeom prst="roundRect">
            <a:avLst>
              <a:gd name="adj" fmla="val 50000"/>
            </a:avLst>
          </a:prstGeom>
          <a:solidFill>
            <a:srgbClr val="962B7C"/>
          </a:solidFill>
          <a:ln w="12700">
            <a:solidFill>
              <a:srgbClr val="962B7C"/>
            </a:solidFill>
            <a:prstDash val="solid"/>
          </a:ln>
        </p:spPr>
      </p:sp>
      <p:sp>
        <p:nvSpPr>
          <p:cNvPr id="6" name="Text 4"/>
          <p:cNvSpPr txBox="1"/>
          <p:nvPr/>
        </p:nvSpPr>
        <p:spPr>
          <a:xfrm>
            <a:off x="8485632" y="1360627"/>
            <a:ext cx="1591056"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Nhà tài trợ</a:t>
            </a:r>
            <a:endParaRPr lang="en-US" sz="1200" dirty="0"/>
          </a:p>
        </p:txBody>
      </p:sp>
      <p:sp>
        <p:nvSpPr>
          <p:cNvPr id="7" name="Shape 5"/>
          <p:cNvSpPr/>
          <p:nvPr/>
        </p:nvSpPr>
        <p:spPr>
          <a:xfrm>
            <a:off x="9886986" y="3914546"/>
            <a:ext cx="1737360" cy="457200"/>
          </a:xfrm>
          <a:prstGeom prst="roundRect">
            <a:avLst>
              <a:gd name="adj" fmla="val 50000"/>
            </a:avLst>
          </a:prstGeom>
          <a:solidFill>
            <a:srgbClr val="FF9259"/>
          </a:solidFill>
          <a:ln w="12700">
            <a:solidFill>
              <a:srgbClr val="FF9259"/>
            </a:solidFill>
            <a:prstDash val="solid"/>
          </a:ln>
        </p:spPr>
      </p:sp>
      <p:sp>
        <p:nvSpPr>
          <p:cNvPr id="8" name="Text 6"/>
          <p:cNvSpPr txBox="1"/>
          <p:nvPr/>
        </p:nvSpPr>
        <p:spPr>
          <a:xfrm>
            <a:off x="9960138" y="3914546"/>
            <a:ext cx="1591056" cy="45720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Nhà cung cấp</a:t>
            </a:r>
            <a:endParaRPr lang="en-US" sz="1200" dirty="0"/>
          </a:p>
        </p:txBody>
      </p:sp>
      <p:sp>
        <p:nvSpPr>
          <p:cNvPr id="9" name="Shape 7"/>
          <p:cNvSpPr/>
          <p:nvPr/>
        </p:nvSpPr>
        <p:spPr>
          <a:xfrm>
            <a:off x="6937974" y="3914546"/>
            <a:ext cx="1737360" cy="457200"/>
          </a:xfrm>
          <a:prstGeom prst="roundRect">
            <a:avLst>
              <a:gd name="adj" fmla="val 50000"/>
            </a:avLst>
          </a:prstGeom>
          <a:solidFill>
            <a:srgbClr val="FF5178"/>
          </a:solidFill>
          <a:ln w="12700">
            <a:solidFill>
              <a:srgbClr val="FF5178"/>
            </a:solidFill>
            <a:prstDash val="solid"/>
          </a:ln>
        </p:spPr>
      </p:sp>
      <p:sp>
        <p:nvSpPr>
          <p:cNvPr id="10" name="Text 8"/>
          <p:cNvSpPr txBox="1"/>
          <p:nvPr/>
        </p:nvSpPr>
        <p:spPr>
          <a:xfrm>
            <a:off x="7011126" y="3914546"/>
            <a:ext cx="1591056"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Báo chí – KOL</a:t>
            </a:r>
            <a:endParaRPr lang="en-US" sz="1200" dirty="0"/>
          </a:p>
        </p:txBody>
      </p:sp>
      <p:sp>
        <p:nvSpPr>
          <p:cNvPr id="11" name="Shape 9"/>
          <p:cNvSpPr/>
          <p:nvPr/>
        </p:nvSpPr>
        <p:spPr>
          <a:xfrm>
            <a:off x="548640" y="914400"/>
            <a:ext cx="2834640" cy="420624"/>
          </a:xfrm>
          <a:prstGeom prst="roundRect">
            <a:avLst>
              <a:gd name="adj" fmla="val 50000"/>
            </a:avLst>
          </a:prstGeom>
          <a:solidFill>
            <a:srgbClr val="FFD23B"/>
          </a:solidFill>
          <a:ln w="12700">
            <a:solidFill>
              <a:srgbClr val="FFD23B"/>
            </a:solidFill>
            <a:prstDash val="solid"/>
          </a:ln>
        </p:spPr>
      </p:sp>
      <p:sp>
        <p:nvSpPr>
          <p:cNvPr id="12" name="Text 10"/>
          <p:cNvSpPr txBox="1"/>
          <p:nvPr/>
        </p:nvSpPr>
        <p:spPr>
          <a:xfrm>
            <a:off x="621792" y="914400"/>
            <a:ext cx="268833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13 / 15</a:t>
            </a:r>
            <a:endParaRPr lang="en-US" sz="1400" dirty="0"/>
          </a:p>
        </p:txBody>
      </p:sp>
      <p:sp>
        <p:nvSpPr>
          <p:cNvPr id="13" name="Text 11"/>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14" name="Text 12"/>
          <p:cNvSpPr txBox="1"/>
          <p:nvPr/>
        </p:nvSpPr>
        <p:spPr>
          <a:xfrm>
            <a:off x="548640" y="3429000"/>
            <a:ext cx="6035040" cy="1005840"/>
          </a:xfrm>
          <a:prstGeom prst="rect">
            <a:avLst/>
          </a:prstGeom>
          <a:noFill/>
          <a:ln/>
        </p:spPr>
        <p:txBody>
          <a:bodyPr wrap="square" lIns="0" tIns="0" rIns="0" bIns="0" rtlCol="0" anchor="t"/>
          <a:lstStyle/>
          <a:p>
            <a:pPr indent="0" marL="0">
              <a:buNone/>
            </a:pPr>
            <a:r>
              <a:rPr lang="en-US" sz="2100" i="1" dirty="0">
                <a:solidFill>
                  <a:srgbClr val="962B7C"/>
                </a:solidFill>
                <a:latin typeface="Alexandria" pitchFamily="34" charset="0"/>
                <a:ea typeface="Alexandria" pitchFamily="34" charset="-122"/>
                <a:cs typeface="Alexandria" pitchFamily="34" charset="-120"/>
              </a:rPr>
              <a:t>Building the Stakeholder Management Plan around the Key Account Plan</a:t>
            </a:r>
            <a:endParaRPr lang="en-US" sz="2100" dirty="0"/>
          </a:p>
        </p:txBody>
      </p:sp>
      <p:sp>
        <p:nvSpPr>
          <p:cNvPr id="15" name="Text 13"/>
          <p:cNvSpPr txBox="1"/>
          <p:nvPr/>
        </p:nvSpPr>
        <p:spPr>
          <a:xfrm>
            <a:off x="548640" y="4617720"/>
            <a:ext cx="603504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4 · buổi 1/3 — Đánh giá: bảo vệ dự án SMP · buổi xưởng</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[Tên giảng viên]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Customer Board sẽ hỏi: kế hoạch này mang lại cho chúng tôi bao nhiêu giá trị?</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Z07: Đề cương chi tiết học phần EVM1110E (UEF), Buổi 14–15.</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2</a:t>
            </a:r>
            <a:endParaRPr lang="en-US" sz="1000" dirty="0"/>
          </a:p>
        </p:txBody>
      </p:sp>
      <p:sp>
        <p:nvSpPr>
          <p:cNvPr id="21" name="Shape 18"/>
          <p:cNvSpPr/>
          <p:nvPr/>
        </p:nvSpPr>
        <p:spPr>
          <a:xfrm>
            <a:off x="548640" y="1920240"/>
            <a:ext cx="4206240" cy="4069080"/>
          </a:xfrm>
          <a:prstGeom prst="roundRect">
            <a:avLst>
              <a:gd name="adj" fmla="val 2697"/>
            </a:avLst>
          </a:prstGeom>
          <a:solidFill>
            <a:srgbClr val="F1E1EE"/>
          </a:solidFill>
          <a:ln w="12700">
            <a:solidFill>
              <a:srgbClr val="962B7C"/>
            </a:solidFill>
            <a:prstDash val="solid"/>
          </a:ln>
        </p:spPr>
      </p:sp>
      <p:sp>
        <p:nvSpPr>
          <p:cNvPr id="22" name="Text 19"/>
          <p:cNvSpPr txBox="1"/>
          <p:nvPr/>
        </p:nvSpPr>
        <p:spPr>
          <a:xfrm>
            <a:off x="822960" y="2057400"/>
            <a:ext cx="3657600" cy="36576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Buổi 14 · phòng bảo vệ</a:t>
            </a:r>
            <a:endParaRPr lang="en-US" sz="1300" dirty="0"/>
          </a:p>
        </p:txBody>
      </p:sp>
      <p:sp>
        <p:nvSpPr>
          <p:cNvPr id="23" name="Shape 20"/>
          <p:cNvSpPr/>
          <p:nvPr/>
        </p:nvSpPr>
        <p:spPr>
          <a:xfrm>
            <a:off x="1005840" y="2606040"/>
            <a:ext cx="822960" cy="822960"/>
          </a:xfrm>
          <a:prstGeom prst="ellipse">
            <a:avLst/>
          </a:prstGeom>
          <a:solidFill>
            <a:srgbClr val="962B7C"/>
          </a:solidFill>
          <a:ln w="12700">
            <a:solidFill>
              <a:srgbClr val="962B7C"/>
            </a:solidFill>
            <a:prstDash val="solid"/>
          </a:ln>
        </p:spPr>
      </p:sp>
      <p:sp>
        <p:nvSpPr>
          <p:cNvPr id="24" name="Text 21"/>
          <p:cNvSpPr txBox="1"/>
          <p:nvPr/>
        </p:nvSpPr>
        <p:spPr>
          <a:xfrm>
            <a:off x="1005840" y="2606040"/>
            <a:ext cx="822960" cy="822960"/>
          </a:xfrm>
          <a:prstGeom prst="rect">
            <a:avLst/>
          </a:prstGeom>
          <a:noFill/>
          <a:ln/>
        </p:spPr>
        <p:txBody>
          <a:bodyPr wrap="square" lIns="0" tIns="0" rIns="0" bIns="0" rtlCol="0" anchor="ctr"/>
          <a:lstStyle/>
          <a:p>
            <a:pPr algn="ctr" indent="0" marL="0">
              <a:buNone/>
            </a:pPr>
            <a:endParaRPr lang="en-US" sz="3060" dirty="0"/>
          </a:p>
        </p:txBody>
      </p:sp>
      <p:sp>
        <p:nvSpPr>
          <p:cNvPr id="25" name="Shape 22"/>
          <p:cNvSpPr/>
          <p:nvPr/>
        </p:nvSpPr>
        <p:spPr>
          <a:xfrm>
            <a:off x="2194560" y="2606040"/>
            <a:ext cx="822960" cy="822960"/>
          </a:xfrm>
          <a:prstGeom prst="ellipse">
            <a:avLst/>
          </a:prstGeom>
          <a:solidFill>
            <a:srgbClr val="962B7C"/>
          </a:solidFill>
          <a:ln w="12700">
            <a:solidFill>
              <a:srgbClr val="962B7C"/>
            </a:solidFill>
            <a:prstDash val="solid"/>
          </a:ln>
        </p:spPr>
      </p:sp>
      <p:sp>
        <p:nvSpPr>
          <p:cNvPr id="26" name="Text 23"/>
          <p:cNvSpPr txBox="1"/>
          <p:nvPr/>
        </p:nvSpPr>
        <p:spPr>
          <a:xfrm>
            <a:off x="2194560" y="2606040"/>
            <a:ext cx="822960" cy="822960"/>
          </a:xfrm>
          <a:prstGeom prst="rect">
            <a:avLst/>
          </a:prstGeom>
          <a:noFill/>
          <a:ln/>
        </p:spPr>
        <p:txBody>
          <a:bodyPr wrap="square" lIns="0" tIns="0" rIns="0" bIns="0" rtlCol="0" anchor="ctr"/>
          <a:lstStyle/>
          <a:p>
            <a:pPr algn="ctr" indent="0" marL="0">
              <a:buNone/>
            </a:pPr>
            <a:endParaRPr lang="en-US" sz="3060" dirty="0"/>
          </a:p>
        </p:txBody>
      </p:sp>
      <p:sp>
        <p:nvSpPr>
          <p:cNvPr id="27" name="Shape 24"/>
          <p:cNvSpPr/>
          <p:nvPr/>
        </p:nvSpPr>
        <p:spPr>
          <a:xfrm>
            <a:off x="3383280" y="2606040"/>
            <a:ext cx="822960" cy="822960"/>
          </a:xfrm>
          <a:prstGeom prst="ellipse">
            <a:avLst/>
          </a:prstGeom>
          <a:solidFill>
            <a:srgbClr val="962B7C"/>
          </a:solidFill>
          <a:ln w="12700">
            <a:solidFill>
              <a:srgbClr val="962B7C"/>
            </a:solidFill>
            <a:prstDash val="solid"/>
          </a:ln>
        </p:spPr>
      </p:sp>
      <p:sp>
        <p:nvSpPr>
          <p:cNvPr id="28" name="Text 25"/>
          <p:cNvSpPr txBox="1"/>
          <p:nvPr/>
        </p:nvSpPr>
        <p:spPr>
          <a:xfrm>
            <a:off x="3383280" y="2606040"/>
            <a:ext cx="822960" cy="822960"/>
          </a:xfrm>
          <a:prstGeom prst="rect">
            <a:avLst/>
          </a:prstGeom>
          <a:noFill/>
          <a:ln/>
        </p:spPr>
        <p:txBody>
          <a:bodyPr wrap="square" lIns="0" tIns="0" rIns="0" bIns="0" rtlCol="0" anchor="ctr"/>
          <a:lstStyle/>
          <a:p>
            <a:pPr algn="ctr" indent="0" marL="0">
              <a:buNone/>
            </a:pPr>
            <a:endParaRPr lang="en-US" sz="3060" dirty="0"/>
          </a:p>
        </p:txBody>
      </p:sp>
      <p:sp>
        <p:nvSpPr>
          <p:cNvPr id="29" name="Text 26"/>
          <p:cNvSpPr txBox="1"/>
          <p:nvPr/>
        </p:nvSpPr>
        <p:spPr>
          <a:xfrm>
            <a:off x="822960" y="3566160"/>
            <a:ext cx="3657600" cy="82296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Customer Board — ba giảng viên đóng vai khách hàng</a:t>
            </a:r>
            <a:endParaRPr lang="en-US" sz="1600" dirty="0"/>
          </a:p>
        </p:txBody>
      </p:sp>
      <p:sp>
        <p:nvSpPr>
          <p:cNvPr id="30" name="Text 27"/>
          <p:cNvSpPr txBox="1"/>
          <p:nvPr/>
        </p:nvSpPr>
        <p:spPr>
          <a:xfrm>
            <a:off x="822960" y="4480560"/>
            <a:ext cx="3657600" cy="1280160"/>
          </a:xfrm>
          <a:prstGeom prst="rect">
            <a:avLst/>
          </a:prstGeom>
          <a:noFill/>
          <a:ln/>
        </p:spPr>
        <p:txBody>
          <a:bodyPr wrap="square" lIns="0" tIns="0" rIns="0" bIns="0" rtlCol="0" anchor="t"/>
          <a:lstStyle/>
          <a:p>
            <a:pPr indent="0" marL="0">
              <a:buNone/>
            </a:pPr>
            <a:r>
              <a:rPr lang="en-US" sz="1400" i="1" dirty="0">
                <a:solidFill>
                  <a:srgbClr val="2A2238"/>
                </a:solidFill>
                <a:latin typeface="Alexandria" pitchFamily="34" charset="0"/>
                <a:ea typeface="Alexandria" pitchFamily="34" charset="-122"/>
                <a:cs typeface="Alexandria" pitchFamily="34" charset="-120"/>
              </a:rPr>
              <a:t>Đề cương: bảo vệ logic tài chính và chiến lược điểm chạm trước câu hỏi trực tiếp.</a:t>
            </a:r>
            <a:endParaRPr lang="en-US" sz="1400" dirty="0"/>
          </a:p>
        </p:txBody>
      </p:sp>
      <p:sp>
        <p:nvSpPr>
          <p:cNvPr id="31" name="Text 28"/>
          <p:cNvSpPr txBox="1"/>
          <p:nvPr/>
        </p:nvSpPr>
        <p:spPr>
          <a:xfrm>
            <a:off x="5029200" y="1920240"/>
            <a:ext cx="6613855" cy="4572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Câu hỏi đầu tiên nhiều khả năng là gì?</a:t>
            </a:r>
            <a:endParaRPr lang="en-US" sz="1700" dirty="0"/>
          </a:p>
        </p:txBody>
      </p:sp>
      <p:sp>
        <p:nvSpPr>
          <p:cNvPr id="32" name="Shape 29"/>
          <p:cNvSpPr/>
          <p:nvPr/>
        </p:nvSpPr>
        <p:spPr>
          <a:xfrm>
            <a:off x="5029200" y="2514600"/>
            <a:ext cx="6613855" cy="960120"/>
          </a:xfrm>
          <a:prstGeom prst="roundRect">
            <a:avLst>
              <a:gd name="adj" fmla="val 11429"/>
            </a:avLst>
          </a:prstGeom>
          <a:solidFill>
            <a:srgbClr val="FFFFFF"/>
          </a:solidFill>
          <a:ln w="12700">
            <a:solidFill>
              <a:srgbClr val="DCD7C8"/>
            </a:solidFill>
            <a:prstDash val="solid"/>
          </a:ln>
        </p:spPr>
      </p:sp>
      <p:sp>
        <p:nvSpPr>
          <p:cNvPr id="33" name="Shape 30"/>
          <p:cNvSpPr/>
          <p:nvPr/>
        </p:nvSpPr>
        <p:spPr>
          <a:xfrm>
            <a:off x="5230368" y="2697480"/>
            <a:ext cx="585216" cy="585216"/>
          </a:xfrm>
          <a:prstGeom prst="ellipse">
            <a:avLst/>
          </a:prstGeom>
          <a:solidFill>
            <a:srgbClr val="FF9259"/>
          </a:solidFill>
          <a:ln w="12700">
            <a:solidFill>
              <a:srgbClr val="FF9259"/>
            </a:solidFill>
            <a:prstDash val="solid"/>
          </a:ln>
        </p:spPr>
      </p:sp>
      <p:sp>
        <p:nvSpPr>
          <p:cNvPr id="34" name="Text 31"/>
          <p:cNvSpPr txBox="1"/>
          <p:nvPr/>
        </p:nvSpPr>
        <p:spPr>
          <a:xfrm>
            <a:off x="5230368" y="2697480"/>
            <a:ext cx="585216" cy="585216"/>
          </a:xfrm>
          <a:prstGeom prst="rect">
            <a:avLst/>
          </a:prstGeom>
          <a:noFill/>
          <a:ln/>
        </p:spPr>
        <p:txBody>
          <a:bodyPr wrap="square" lIns="0" tIns="0" rIns="0" bIns="0" rtlCol="0" anchor="ctr"/>
          <a:lstStyle/>
          <a:p>
            <a:pPr algn="ctr" indent="0" marL="0">
              <a:buNone/>
            </a:pPr>
            <a:r>
              <a:rPr lang="en-US" sz="2176" b="1" dirty="0">
                <a:solidFill>
                  <a:srgbClr val="2A2238"/>
                </a:solidFill>
                <a:latin typeface="Alexandria" pitchFamily="34" charset="0"/>
                <a:ea typeface="Alexandria" pitchFamily="34" charset="-122"/>
                <a:cs typeface="Alexandria" pitchFamily="34" charset="-120"/>
              </a:rPr>
              <a:t>A</a:t>
            </a:r>
            <a:endParaRPr lang="en-US" sz="2176" dirty="0"/>
          </a:p>
        </p:txBody>
      </p:sp>
      <p:sp>
        <p:nvSpPr>
          <p:cNvPr id="35" name="Text 32"/>
          <p:cNvSpPr txBox="1"/>
          <p:nvPr/>
        </p:nvSpPr>
        <p:spPr>
          <a:xfrm>
            <a:off x="6035040" y="2514600"/>
            <a:ext cx="5425135" cy="960120"/>
          </a:xfrm>
          <a:prstGeom prst="rect">
            <a:avLst/>
          </a:prstGeom>
          <a:noFill/>
          <a:ln/>
        </p:spPr>
        <p:txBody>
          <a:bodyPr wrap="square" lIns="0" tIns="0" rIns="0" bIns="0" rtlCol="0" anchor="ctr"/>
          <a:lstStyle/>
          <a:p>
            <a:pPr indent="0" marL="0">
              <a:buNone/>
            </a:pPr>
            <a:r>
              <a:rPr lang="en-US" sz="1800" i="1" dirty="0">
                <a:solidFill>
                  <a:srgbClr val="2A2238"/>
                </a:solidFill>
                <a:latin typeface="Alexandria" pitchFamily="34" charset="0"/>
                <a:ea typeface="Alexandria" pitchFamily="34" charset="-122"/>
                <a:cs typeface="Alexandria" pitchFamily="34" charset="-120"/>
              </a:rPr>
              <a:t>“Nhóm đã làm những gì?”</a:t>
            </a:r>
            <a:endParaRPr lang="en-US" sz="1800" dirty="0"/>
          </a:p>
        </p:txBody>
      </p:sp>
      <p:sp>
        <p:nvSpPr>
          <p:cNvPr id="36" name="Shape 33"/>
          <p:cNvSpPr/>
          <p:nvPr/>
        </p:nvSpPr>
        <p:spPr>
          <a:xfrm>
            <a:off x="5029200" y="3657600"/>
            <a:ext cx="6613855" cy="960120"/>
          </a:xfrm>
          <a:prstGeom prst="roundRect">
            <a:avLst>
              <a:gd name="adj" fmla="val 11429"/>
            </a:avLst>
          </a:prstGeom>
          <a:solidFill>
            <a:srgbClr val="FFFFFF"/>
          </a:solidFill>
          <a:ln w="12700">
            <a:solidFill>
              <a:srgbClr val="DCD7C8"/>
            </a:solidFill>
            <a:prstDash val="solid"/>
          </a:ln>
        </p:spPr>
      </p:sp>
      <p:sp>
        <p:nvSpPr>
          <p:cNvPr id="37" name="Shape 34"/>
          <p:cNvSpPr/>
          <p:nvPr/>
        </p:nvSpPr>
        <p:spPr>
          <a:xfrm>
            <a:off x="5230368" y="3840480"/>
            <a:ext cx="585216" cy="585216"/>
          </a:xfrm>
          <a:prstGeom prst="ellipse">
            <a:avLst/>
          </a:prstGeom>
          <a:solidFill>
            <a:srgbClr val="962B7C"/>
          </a:solidFill>
          <a:ln w="12700">
            <a:solidFill>
              <a:srgbClr val="962B7C"/>
            </a:solidFill>
            <a:prstDash val="solid"/>
          </a:ln>
        </p:spPr>
      </p:sp>
      <p:sp>
        <p:nvSpPr>
          <p:cNvPr id="38" name="Text 35"/>
          <p:cNvSpPr txBox="1"/>
          <p:nvPr/>
        </p:nvSpPr>
        <p:spPr>
          <a:xfrm>
            <a:off x="5230368" y="3840480"/>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B</a:t>
            </a:r>
            <a:endParaRPr lang="en-US" sz="2176" dirty="0"/>
          </a:p>
        </p:txBody>
      </p:sp>
      <p:sp>
        <p:nvSpPr>
          <p:cNvPr id="39" name="Text 36"/>
          <p:cNvSpPr txBox="1"/>
          <p:nvPr/>
        </p:nvSpPr>
        <p:spPr>
          <a:xfrm>
            <a:off x="6035040" y="3657600"/>
            <a:ext cx="5425135" cy="960120"/>
          </a:xfrm>
          <a:prstGeom prst="rect">
            <a:avLst/>
          </a:prstGeom>
          <a:noFill/>
          <a:ln/>
        </p:spPr>
        <p:txBody>
          <a:bodyPr wrap="square" lIns="0" tIns="0" rIns="0" bIns="0" rtlCol="0" anchor="ctr"/>
          <a:lstStyle/>
          <a:p>
            <a:pPr indent="0" marL="0">
              <a:buNone/>
            </a:pPr>
            <a:r>
              <a:rPr lang="en-US" sz="1800" i="1" dirty="0">
                <a:solidFill>
                  <a:srgbClr val="2A2238"/>
                </a:solidFill>
                <a:latin typeface="Alexandria" pitchFamily="34" charset="0"/>
                <a:ea typeface="Alexandria" pitchFamily="34" charset="-122"/>
                <a:cs typeface="Alexandria" pitchFamily="34" charset="-120"/>
              </a:rPr>
              <a:t>“Kế hoạch này mang lại cho chúng tôi bao nhiêu giá trị?”</a:t>
            </a:r>
            <a:endParaRPr lang="en-US" sz="1800" dirty="0"/>
          </a:p>
        </p:txBody>
      </p:sp>
      <p:sp>
        <p:nvSpPr>
          <p:cNvPr id="40" name="Shape 37"/>
          <p:cNvSpPr/>
          <p:nvPr/>
        </p:nvSpPr>
        <p:spPr>
          <a:xfrm>
            <a:off x="5029200" y="4800600"/>
            <a:ext cx="6613855" cy="960120"/>
          </a:xfrm>
          <a:prstGeom prst="roundRect">
            <a:avLst>
              <a:gd name="adj" fmla="val 11429"/>
            </a:avLst>
          </a:prstGeom>
          <a:solidFill>
            <a:srgbClr val="FFFFFF"/>
          </a:solidFill>
          <a:ln w="12700">
            <a:solidFill>
              <a:srgbClr val="DCD7C8"/>
            </a:solidFill>
            <a:prstDash val="solid"/>
          </a:ln>
        </p:spPr>
      </p:sp>
      <p:sp>
        <p:nvSpPr>
          <p:cNvPr id="41" name="Shape 38"/>
          <p:cNvSpPr/>
          <p:nvPr/>
        </p:nvSpPr>
        <p:spPr>
          <a:xfrm>
            <a:off x="5230368" y="4983480"/>
            <a:ext cx="585216" cy="585216"/>
          </a:xfrm>
          <a:prstGeom prst="ellipse">
            <a:avLst/>
          </a:prstGeom>
          <a:solidFill>
            <a:srgbClr val="09A1E5"/>
          </a:solidFill>
          <a:ln w="12700">
            <a:solidFill>
              <a:srgbClr val="09A1E5"/>
            </a:solidFill>
            <a:prstDash val="solid"/>
          </a:ln>
        </p:spPr>
      </p:sp>
      <p:sp>
        <p:nvSpPr>
          <p:cNvPr id="42" name="Text 39"/>
          <p:cNvSpPr txBox="1"/>
          <p:nvPr/>
        </p:nvSpPr>
        <p:spPr>
          <a:xfrm>
            <a:off x="5230368" y="4983480"/>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C</a:t>
            </a:r>
            <a:endParaRPr lang="en-US" sz="2176" dirty="0"/>
          </a:p>
        </p:txBody>
      </p:sp>
      <p:sp>
        <p:nvSpPr>
          <p:cNvPr id="43" name="Text 40"/>
          <p:cNvSpPr txBox="1"/>
          <p:nvPr/>
        </p:nvSpPr>
        <p:spPr>
          <a:xfrm>
            <a:off x="6035040" y="4800600"/>
            <a:ext cx="5425135" cy="960120"/>
          </a:xfrm>
          <a:prstGeom prst="rect">
            <a:avLst/>
          </a:prstGeom>
          <a:noFill/>
          <a:ln/>
        </p:spPr>
        <p:txBody>
          <a:bodyPr wrap="square" lIns="0" tIns="0" rIns="0" bIns="0" rtlCol="0" anchor="ctr"/>
          <a:lstStyle/>
          <a:p>
            <a:pPr indent="0" marL="0">
              <a:buNone/>
            </a:pPr>
            <a:r>
              <a:rPr lang="en-US" sz="1800" i="1" dirty="0">
                <a:solidFill>
                  <a:srgbClr val="2A2238"/>
                </a:solidFill>
                <a:latin typeface="Alexandria" pitchFamily="34" charset="0"/>
                <a:ea typeface="Alexandria" pitchFamily="34" charset="-122"/>
                <a:cs typeface="Alexandria" pitchFamily="34" charset="-120"/>
              </a:rPr>
              <a:t>“Nhóm có bao nhiêu slide?”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SMP của môn = Key Account Plan + điều phối bên liên quan bên ngoài</a:t>
            </a:r>
            <a:endParaRPr lang="en-US" sz="26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3</a:t>
            </a:r>
            <a:endParaRPr lang="en-US" sz="1000" dirty="0"/>
          </a:p>
        </p:txBody>
      </p:sp>
      <p:sp>
        <p:nvSpPr>
          <p:cNvPr id="20" name="Shape 17"/>
          <p:cNvSpPr/>
          <p:nvPr/>
        </p:nvSpPr>
        <p:spPr>
          <a:xfrm>
            <a:off x="1417320" y="1828800"/>
            <a:ext cx="4297680" cy="4297680"/>
          </a:xfrm>
          <a:prstGeom prst="ellipse">
            <a:avLst/>
          </a:prstGeom>
          <a:solidFill>
            <a:srgbClr val="DDF1FB"/>
          </a:solidFill>
          <a:ln w="25400">
            <a:solidFill>
              <a:srgbClr val="09A1E5"/>
            </a:solidFill>
            <a:prstDash val="dash"/>
          </a:ln>
        </p:spPr>
      </p:sp>
      <p:sp>
        <p:nvSpPr>
          <p:cNvPr id="21" name="Shape 18"/>
          <p:cNvSpPr/>
          <p:nvPr/>
        </p:nvSpPr>
        <p:spPr>
          <a:xfrm>
            <a:off x="2491740" y="2903220"/>
            <a:ext cx="2148840" cy="2148840"/>
          </a:xfrm>
          <a:prstGeom prst="ellipse">
            <a:avLst/>
          </a:prstGeom>
          <a:solidFill>
            <a:srgbClr val="FFD23B"/>
          </a:solidFill>
          <a:ln w="12700">
            <a:solidFill>
              <a:srgbClr val="FFD23B"/>
            </a:solidFill>
            <a:prstDash val="solid"/>
          </a:ln>
        </p:spPr>
      </p:sp>
      <p:sp>
        <p:nvSpPr>
          <p:cNvPr id="22" name="Text 19"/>
          <p:cNvSpPr txBox="1"/>
          <p:nvPr/>
        </p:nvSpPr>
        <p:spPr>
          <a:xfrm>
            <a:off x="2491740" y="2903220"/>
            <a:ext cx="2148840" cy="214884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KAP</a:t>
            </a:r>
            <a:endParaRPr lang="en-US" sz="2200" dirty="0"/>
          </a:p>
        </p:txBody>
      </p:sp>
      <p:sp>
        <p:nvSpPr>
          <p:cNvPr id="23" name="Shape 20"/>
          <p:cNvSpPr/>
          <p:nvPr/>
        </p:nvSpPr>
        <p:spPr>
          <a:xfrm>
            <a:off x="2468880" y="2115922"/>
            <a:ext cx="2194560" cy="457200"/>
          </a:xfrm>
          <a:prstGeom prst="roundRect">
            <a:avLst>
              <a:gd name="adj" fmla="val 50000"/>
            </a:avLst>
          </a:prstGeom>
          <a:solidFill>
            <a:srgbClr val="962B7C"/>
          </a:solidFill>
          <a:ln w="12700">
            <a:solidFill>
              <a:srgbClr val="962B7C"/>
            </a:solidFill>
            <a:prstDash val="solid"/>
          </a:ln>
        </p:spPr>
      </p:sp>
      <p:sp>
        <p:nvSpPr>
          <p:cNvPr id="24" name="Text 21"/>
          <p:cNvSpPr txBox="1"/>
          <p:nvPr/>
        </p:nvSpPr>
        <p:spPr>
          <a:xfrm>
            <a:off x="2542032" y="2115922"/>
            <a:ext cx="204825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Nhà tài trợ / đầu tư</a:t>
            </a:r>
            <a:endParaRPr lang="en-US" sz="1100" dirty="0"/>
          </a:p>
        </p:txBody>
      </p:sp>
      <p:sp>
        <p:nvSpPr>
          <p:cNvPr id="25" name="Shape 22"/>
          <p:cNvSpPr/>
          <p:nvPr/>
        </p:nvSpPr>
        <p:spPr>
          <a:xfrm>
            <a:off x="3883202" y="4565599"/>
            <a:ext cx="2194560" cy="457200"/>
          </a:xfrm>
          <a:prstGeom prst="roundRect">
            <a:avLst>
              <a:gd name="adj" fmla="val 50000"/>
            </a:avLst>
          </a:prstGeom>
          <a:solidFill>
            <a:srgbClr val="FF9259"/>
          </a:solidFill>
          <a:ln w="12700">
            <a:solidFill>
              <a:srgbClr val="FF9259"/>
            </a:solidFill>
            <a:prstDash val="solid"/>
          </a:ln>
        </p:spPr>
      </p:sp>
      <p:sp>
        <p:nvSpPr>
          <p:cNvPr id="26" name="Text 23"/>
          <p:cNvSpPr txBox="1"/>
          <p:nvPr/>
        </p:nvSpPr>
        <p:spPr>
          <a:xfrm>
            <a:off x="3956354" y="4565599"/>
            <a:ext cx="2048256" cy="45720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Nhà cung cấp – địa điểm</a:t>
            </a:r>
            <a:endParaRPr lang="en-US" sz="1100" dirty="0"/>
          </a:p>
        </p:txBody>
      </p:sp>
      <p:sp>
        <p:nvSpPr>
          <p:cNvPr id="27" name="Shape 24"/>
          <p:cNvSpPr/>
          <p:nvPr/>
        </p:nvSpPr>
        <p:spPr>
          <a:xfrm>
            <a:off x="1054558" y="4565599"/>
            <a:ext cx="2194560" cy="457200"/>
          </a:xfrm>
          <a:prstGeom prst="roundRect">
            <a:avLst>
              <a:gd name="adj" fmla="val 50000"/>
            </a:avLst>
          </a:prstGeom>
          <a:solidFill>
            <a:srgbClr val="FF5178"/>
          </a:solidFill>
          <a:ln w="12700">
            <a:solidFill>
              <a:srgbClr val="FF5178"/>
            </a:solidFill>
            <a:prstDash val="solid"/>
          </a:ln>
        </p:spPr>
      </p:sp>
      <p:sp>
        <p:nvSpPr>
          <p:cNvPr id="28" name="Text 25"/>
          <p:cNvSpPr txBox="1"/>
          <p:nvPr/>
        </p:nvSpPr>
        <p:spPr>
          <a:xfrm>
            <a:off x="1127710" y="4565599"/>
            <a:ext cx="204825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Báo chí – KOL</a:t>
            </a:r>
            <a:endParaRPr lang="en-US" sz="1100" dirty="0"/>
          </a:p>
        </p:txBody>
      </p:sp>
      <p:sp>
        <p:nvSpPr>
          <p:cNvPr id="29" name="Shape 26"/>
          <p:cNvSpPr/>
          <p:nvPr/>
        </p:nvSpPr>
        <p:spPr>
          <a:xfrm>
            <a:off x="6583680" y="1920240"/>
            <a:ext cx="5059375" cy="1783080"/>
          </a:xfrm>
          <a:prstGeom prst="roundRect">
            <a:avLst>
              <a:gd name="adj" fmla="val 6154"/>
            </a:avLst>
          </a:prstGeom>
          <a:solidFill>
            <a:srgbClr val="FFF3C4"/>
          </a:solidFill>
          <a:ln w="12700">
            <a:solidFill>
              <a:srgbClr val="FFD23B"/>
            </a:solidFill>
            <a:prstDash val="solid"/>
          </a:ln>
        </p:spPr>
      </p:sp>
      <p:sp>
        <p:nvSpPr>
          <p:cNvPr id="30" name="Text 27"/>
          <p:cNvSpPr txBox="1"/>
          <p:nvPr/>
        </p:nvSpPr>
        <p:spPr>
          <a:xfrm>
            <a:off x="6858000" y="1920240"/>
            <a:ext cx="4510735" cy="17830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Lõi · Key Account Plan (KAP)</a:t>
            </a:r>
            <a:endParaRPr lang="en-US" sz="1700" dirty="0"/>
          </a:p>
          <a:p>
            <a:pPr indent="0" marL="0">
              <a:buNone/>
            </a:pPr>
            <a:r>
              <a:rPr lang="en-US" sz="1400" dirty="0">
                <a:solidFill>
                  <a:srgbClr val="2A2238"/>
                </a:solidFill>
                <a:latin typeface="Alexandria" pitchFamily="34" charset="0"/>
                <a:ea typeface="Alexandria" pitchFamily="34" charset="-122"/>
                <a:cs typeface="Alexandria" pitchFamily="34" charset="-120"/>
              </a:rPr>
              <a:t>kế hoạch cho một khách hàng quan trọng: hiểu họ, tạo giá trị gì, thực hiện ra sao</a:t>
            </a:r>
            <a:endParaRPr lang="en-US" sz="1700" dirty="0"/>
          </a:p>
        </p:txBody>
      </p:sp>
      <p:sp>
        <p:nvSpPr>
          <p:cNvPr id="31" name="Shape 28"/>
          <p:cNvSpPr/>
          <p:nvPr/>
        </p:nvSpPr>
        <p:spPr>
          <a:xfrm>
            <a:off x="6583680" y="3931920"/>
            <a:ext cx="5059375" cy="2057400"/>
          </a:xfrm>
          <a:prstGeom prst="roundRect">
            <a:avLst>
              <a:gd name="adj" fmla="val 5333"/>
            </a:avLst>
          </a:prstGeom>
          <a:solidFill>
            <a:srgbClr val="DDF1FB"/>
          </a:solidFill>
          <a:ln w="12700">
            <a:solidFill>
              <a:srgbClr val="09A1E5"/>
            </a:solidFill>
            <a:prstDash val="solid"/>
          </a:ln>
        </p:spPr>
      </p:sp>
      <p:sp>
        <p:nvSpPr>
          <p:cNvPr id="32" name="Text 29"/>
          <p:cNvSpPr txBox="1"/>
          <p:nvPr/>
        </p:nvSpPr>
        <p:spPr>
          <a:xfrm>
            <a:off x="6858000" y="3931920"/>
            <a:ext cx="4510735" cy="20574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Vòng ngoài · điều phối bên liên quan bên ngoài (13.2)</a:t>
            </a:r>
            <a:endParaRPr lang="en-US" sz="1700" dirty="0"/>
          </a:p>
          <a:p>
            <a:pPr indent="0" marL="0">
              <a:buNone/>
            </a:pPr>
            <a:r>
              <a:rPr lang="en-US" sz="1400" dirty="0">
                <a:solidFill>
                  <a:srgbClr val="2A2238"/>
                </a:solidFill>
                <a:latin typeface="Alexandria" pitchFamily="34" charset="0"/>
                <a:ea typeface="Alexandria" pitchFamily="34" charset="-122"/>
                <a:cs typeface="Alexandria" pitchFamily="34" charset="-120"/>
              </a:rPr>
              <a:t>nhà tài trợ/nhà đầu tư, nhà cung cấp – địa điểm, báo chí – KOL cùng giao giá trị cho Key Account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Kế hoạch key account là một quy trình, không phải một tài liệu</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Z03: Ryals &amp; Rogers (2007), Journal of Strategic Marketing · Z02: Holt, Cranfield School of Management blog.</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4</a:t>
            </a:r>
            <a:endParaRPr lang="en-US" sz="1000" dirty="0"/>
          </a:p>
        </p:txBody>
      </p:sp>
      <p:sp>
        <p:nvSpPr>
          <p:cNvPr id="21" name="Shape 18"/>
          <p:cNvSpPr/>
          <p:nvPr/>
        </p:nvSpPr>
        <p:spPr>
          <a:xfrm>
            <a:off x="548640" y="1920240"/>
            <a:ext cx="5410048" cy="2834640"/>
          </a:xfrm>
          <a:prstGeom prst="roundRect">
            <a:avLst>
              <a:gd name="adj" fmla="val 3871"/>
            </a:avLst>
          </a:prstGeom>
          <a:solidFill>
            <a:srgbClr val="F1E1EE"/>
          </a:solidFill>
          <a:ln w="12700">
            <a:solidFill>
              <a:srgbClr val="F1E1EE"/>
            </a:solidFill>
            <a:prstDash val="solid"/>
          </a:ln>
        </p:spPr>
      </p:sp>
      <p:sp>
        <p:nvSpPr>
          <p:cNvPr id="22" name="Text 19"/>
          <p:cNvSpPr txBox="1"/>
          <p:nvPr/>
        </p:nvSpPr>
        <p:spPr>
          <a:xfrm>
            <a:off x="914400" y="2103120"/>
            <a:ext cx="4678528" cy="1188720"/>
          </a:xfrm>
          <a:prstGeom prst="rect">
            <a:avLst/>
          </a:prstGeom>
          <a:noFill/>
          <a:ln/>
        </p:spPr>
        <p:txBody>
          <a:bodyPr wrap="square" lIns="0" tIns="0" rIns="0" bIns="0" rtlCol="0" anchor="ctr"/>
          <a:lstStyle/>
          <a:p>
            <a:pPr indent="0" marL="0">
              <a:buNone/>
            </a:pPr>
            <a:r>
              <a:rPr lang="en-US" sz="6400" b="1" dirty="0">
                <a:solidFill>
                  <a:srgbClr val="962B7C"/>
                </a:solidFill>
                <a:latin typeface="Alexandria" pitchFamily="34" charset="0"/>
                <a:ea typeface="Alexandria" pitchFamily="34" charset="-122"/>
                <a:cs typeface="Alexandria" pitchFamily="34" charset="-120"/>
              </a:rPr>
              <a:t>78</a:t>
            </a:r>
            <a:endParaRPr lang="en-US" sz="6400" dirty="0"/>
          </a:p>
        </p:txBody>
      </p:sp>
      <p:sp>
        <p:nvSpPr>
          <p:cNvPr id="23" name="Text 20"/>
          <p:cNvSpPr txBox="1"/>
          <p:nvPr/>
        </p:nvSpPr>
        <p:spPr>
          <a:xfrm>
            <a:off x="914400" y="3337560"/>
            <a:ext cx="4678528" cy="11887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công ty quốc tế được nghiên cứu về lợi ích, nội dung và khiếm khuyết của key account plan</a:t>
            </a:r>
            <a:endParaRPr lang="en-US" sz="1600" dirty="0"/>
          </a:p>
        </p:txBody>
      </p:sp>
      <p:sp>
        <p:nvSpPr>
          <p:cNvPr id="24" name="Shape 21"/>
          <p:cNvSpPr/>
          <p:nvPr/>
        </p:nvSpPr>
        <p:spPr>
          <a:xfrm>
            <a:off x="6233008" y="1920240"/>
            <a:ext cx="5410048" cy="2834640"/>
          </a:xfrm>
          <a:prstGeom prst="roundRect">
            <a:avLst>
              <a:gd name="adj" fmla="val 3871"/>
            </a:avLst>
          </a:prstGeom>
          <a:solidFill>
            <a:srgbClr val="DDF1FB"/>
          </a:solidFill>
          <a:ln w="12700">
            <a:solidFill>
              <a:srgbClr val="DDF1FB"/>
            </a:solidFill>
            <a:prstDash val="solid"/>
          </a:ln>
        </p:spPr>
      </p:sp>
      <p:sp>
        <p:nvSpPr>
          <p:cNvPr id="25" name="Text 22"/>
          <p:cNvSpPr txBox="1"/>
          <p:nvPr/>
        </p:nvSpPr>
        <p:spPr>
          <a:xfrm>
            <a:off x="6598768" y="2103120"/>
            <a:ext cx="4678528" cy="1188720"/>
          </a:xfrm>
          <a:prstGeom prst="rect">
            <a:avLst/>
          </a:prstGeom>
          <a:noFill/>
          <a:ln/>
        </p:spPr>
        <p:txBody>
          <a:bodyPr wrap="square" lIns="0" tIns="0" rIns="0" bIns="0" rtlCol="0" anchor="ctr"/>
          <a:lstStyle/>
          <a:p>
            <a:pPr indent="0" marL="0">
              <a:buNone/>
            </a:pPr>
            <a:r>
              <a:rPr lang="en-US" sz="6000" b="1" dirty="0">
                <a:solidFill>
                  <a:srgbClr val="0A7FB5"/>
                </a:solidFill>
                <a:latin typeface="Alexandria" pitchFamily="34" charset="0"/>
                <a:ea typeface="Alexandria" pitchFamily="34" charset="-122"/>
                <a:cs typeface="Alexandria" pitchFamily="34" charset="-120"/>
              </a:rPr>
              <a:t>3–5 năm</a:t>
            </a:r>
            <a:endParaRPr lang="en-US" sz="6000" dirty="0"/>
          </a:p>
        </p:txBody>
      </p:sp>
      <p:sp>
        <p:nvSpPr>
          <p:cNvPr id="26" name="Text 23"/>
          <p:cNvSpPr txBox="1"/>
          <p:nvPr/>
        </p:nvSpPr>
        <p:spPr>
          <a:xfrm>
            <a:off x="6598768" y="3337560"/>
            <a:ext cx="4678528" cy="11887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tầm nhìn khuyến nghị cho kế hoạch chiến lược với một key account</a:t>
            </a:r>
            <a:endParaRPr lang="en-US" sz="1600" dirty="0"/>
          </a:p>
        </p:txBody>
      </p:sp>
      <p:sp>
        <p:nvSpPr>
          <p:cNvPr id="27" name="Shape 24"/>
          <p:cNvSpPr/>
          <p:nvPr/>
        </p:nvSpPr>
        <p:spPr>
          <a:xfrm>
            <a:off x="548640" y="5029200"/>
            <a:ext cx="11094415" cy="960120"/>
          </a:xfrm>
          <a:prstGeom prst="roundRect">
            <a:avLst>
              <a:gd name="adj" fmla="val 11429"/>
            </a:avLst>
          </a:prstGeom>
          <a:solidFill>
            <a:srgbClr val="FFF3C4"/>
          </a:solidFill>
          <a:ln w="12700">
            <a:solidFill>
              <a:srgbClr val="FFD23B"/>
            </a:solidFill>
            <a:prstDash val="solid"/>
          </a:ln>
        </p:spPr>
      </p:sp>
      <p:sp>
        <p:nvSpPr>
          <p:cNvPr id="28" name="Text 25"/>
          <p:cNvSpPr txBox="1"/>
          <p:nvPr/>
        </p:nvSpPr>
        <p:spPr>
          <a:xfrm>
            <a:off x="868680" y="5029200"/>
            <a:ext cx="10454335" cy="9601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Lập → thực hiện → rà soát → cập nhật — kế hoạch sống cùng quan hệ, không nằm trong ngăn kéo.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Value Planning đặt khách hàng ở điểm bắt đầu và ở trung tâm</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Z01: Davies, KAM Forum (Cranfield) · Z02: Holt, Cranfield blog · Z04: Ryals &amp; McDonald (2010), Key account plans, Routledge.</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5</a:t>
            </a:r>
            <a:endParaRPr lang="en-US" sz="1000" dirty="0"/>
          </a:p>
        </p:txBody>
      </p:sp>
      <p:sp>
        <p:nvSpPr>
          <p:cNvPr id="21" name="Shape 18"/>
          <p:cNvSpPr/>
          <p:nvPr/>
        </p:nvSpPr>
        <p:spPr>
          <a:xfrm>
            <a:off x="548640" y="1920240"/>
            <a:ext cx="11094415" cy="1645920"/>
          </a:xfrm>
          <a:prstGeom prst="roundRect">
            <a:avLst>
              <a:gd name="adj" fmla="val 6667"/>
            </a:avLst>
          </a:prstGeom>
          <a:solidFill>
            <a:srgbClr val="F1E1EE"/>
          </a:solidFill>
          <a:ln w="12700">
            <a:solidFill>
              <a:srgbClr val="962B7C"/>
            </a:solidFill>
            <a:prstDash val="solid"/>
          </a:ln>
        </p:spPr>
      </p:sp>
      <p:sp>
        <p:nvSpPr>
          <p:cNvPr id="22" name="Text 19"/>
          <p:cNvSpPr txBox="1"/>
          <p:nvPr/>
        </p:nvSpPr>
        <p:spPr>
          <a:xfrm>
            <a:off x="914400" y="1920240"/>
            <a:ext cx="10362895" cy="1645920"/>
          </a:xfrm>
          <a:prstGeom prst="rect">
            <a:avLst/>
          </a:prstGeom>
          <a:noFill/>
          <a:ln/>
        </p:spPr>
        <p:txBody>
          <a:bodyPr wrap="square" lIns="0" tIns="0" rIns="0" bIns="0" rtlCol="0" anchor="ctr"/>
          <a:lstStyle/>
          <a:p>
            <a:pPr algn="ctr" indent="0" marL="0">
              <a:buNone/>
            </a:pPr>
            <a:r>
              <a:rPr lang="en-US" sz="2400" b="1" i="1" dirty="0">
                <a:solidFill>
                  <a:srgbClr val="2A2238"/>
                </a:solidFill>
                <a:latin typeface="Alexandria" pitchFamily="34" charset="0"/>
                <a:ea typeface="Alexandria" pitchFamily="34" charset="-122"/>
                <a:cs typeface="Alexandria" pitchFamily="34" charset="-120"/>
              </a:rPr>
              <a:t>“This puts the customer at the start and heart of the planning process.” </a:t>
            </a:r>
            <a:pPr algn="ctr" indent="0" marL="0">
              <a:buNone/>
            </a:pPr>
            <a:r>
              <a:rPr lang="en-US" sz="1300" dirty="0">
                <a:solidFill>
                  <a:srgbClr val="6E6878"/>
                </a:solidFill>
                <a:latin typeface="Alexandria" pitchFamily="34" charset="0"/>
                <a:ea typeface="Alexandria" pitchFamily="34" charset="-122"/>
                <a:cs typeface="Alexandria" pitchFamily="34" charset="-120"/>
              </a:rPr>
              <a:t>— Cranfield (Z02)</a:t>
            </a:r>
            <a:endParaRPr lang="en-US" sz="2400" dirty="0"/>
          </a:p>
        </p:txBody>
      </p:sp>
      <p:sp>
        <p:nvSpPr>
          <p:cNvPr id="23" name="Text 20"/>
          <p:cNvSpPr txBox="1"/>
          <p:nvPr/>
        </p:nvSpPr>
        <p:spPr>
          <a:xfrm>
            <a:off x="548640" y="3840480"/>
            <a:ext cx="11094415" cy="411480"/>
          </a:xfrm>
          <a:prstGeom prst="rect">
            <a:avLst/>
          </a:prstGeom>
          <a:noFill/>
          <a:ln/>
        </p:spPr>
        <p:txBody>
          <a:bodyPr wrap="square" lIns="0" tIns="0" rIns="0" bIns="0" rtlCol="0" anchor="ctr"/>
          <a:lstStyle/>
          <a:p>
            <a:pPr indent="0" marL="0">
              <a:buNone/>
            </a:pPr>
            <a:r>
              <a:rPr lang="en-US" sz="1500" b="1" dirty="0">
                <a:solidFill>
                  <a:srgbClr val="6E6878"/>
                </a:solidFill>
                <a:latin typeface="Alexandria" pitchFamily="34" charset="0"/>
                <a:ea typeface="Alexandria" pitchFamily="34" charset="-122"/>
                <a:cs typeface="Alexandria" pitchFamily="34" charset="-120"/>
              </a:rPr>
              <a:t>Nguồn gốc của khung</a:t>
            </a:r>
            <a:endParaRPr lang="en-US" sz="1500" dirty="0"/>
          </a:p>
        </p:txBody>
      </p:sp>
      <p:sp>
        <p:nvSpPr>
          <p:cNvPr id="24" name="Shape 21"/>
          <p:cNvSpPr/>
          <p:nvPr/>
        </p:nvSpPr>
        <p:spPr>
          <a:xfrm>
            <a:off x="548640" y="4389120"/>
            <a:ext cx="4389120" cy="777240"/>
          </a:xfrm>
          <a:prstGeom prst="roundRect">
            <a:avLst>
              <a:gd name="adj" fmla="val 50000"/>
            </a:avLst>
          </a:prstGeom>
          <a:solidFill>
            <a:srgbClr val="09A1E5"/>
          </a:solidFill>
          <a:ln w="12700">
            <a:solidFill>
              <a:srgbClr val="09A1E5"/>
            </a:solidFill>
            <a:prstDash val="solid"/>
          </a:ln>
        </p:spPr>
      </p:sp>
      <p:sp>
        <p:nvSpPr>
          <p:cNvPr id="25" name="Text 22"/>
          <p:cNvSpPr txBox="1"/>
          <p:nvPr/>
        </p:nvSpPr>
        <p:spPr>
          <a:xfrm>
            <a:off x="621792" y="4389120"/>
            <a:ext cx="4242816"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Ryals &amp; McDonald (2010) · quy trình lập KAP</a:t>
            </a:r>
            <a:endParaRPr lang="en-US" sz="1500" dirty="0"/>
          </a:p>
        </p:txBody>
      </p:sp>
      <p:sp>
        <p:nvSpPr>
          <p:cNvPr id="26" name="Shape 23"/>
          <p:cNvSpPr/>
          <p:nvPr/>
        </p:nvSpPr>
        <p:spPr>
          <a:xfrm>
            <a:off x="5074920" y="4773168"/>
            <a:ext cx="1143000" cy="914"/>
          </a:xfrm>
          <a:prstGeom prst="line">
            <a:avLst/>
          </a:prstGeom>
          <a:noFill/>
          <a:ln w="38100">
            <a:solidFill>
              <a:srgbClr val="2A2238"/>
            </a:solidFill>
            <a:prstDash val="solid"/>
            <a:tailEnd type="triangle"/>
          </a:ln>
        </p:spPr>
      </p:sp>
      <p:sp>
        <p:nvSpPr>
          <p:cNvPr id="27" name="Shape 24"/>
          <p:cNvSpPr/>
          <p:nvPr/>
        </p:nvSpPr>
        <p:spPr>
          <a:xfrm>
            <a:off x="6355080" y="4389120"/>
            <a:ext cx="5287975" cy="777240"/>
          </a:xfrm>
          <a:prstGeom prst="roundRect">
            <a:avLst>
              <a:gd name="adj" fmla="val 50000"/>
            </a:avLst>
          </a:prstGeom>
          <a:solidFill>
            <a:srgbClr val="962B7C"/>
          </a:solidFill>
          <a:ln w="12700">
            <a:solidFill>
              <a:srgbClr val="962B7C"/>
            </a:solidFill>
            <a:prstDash val="solid"/>
          </a:ln>
        </p:spPr>
      </p:sp>
      <p:sp>
        <p:nvSpPr>
          <p:cNvPr id="28" name="Text 25"/>
          <p:cNvSpPr txBox="1"/>
          <p:nvPr/>
        </p:nvSpPr>
        <p:spPr>
          <a:xfrm>
            <a:off x="6428232" y="4389120"/>
            <a:ext cx="5141671"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Davies &amp; Holt (2013) · Value Planning Framework</a:t>
            </a:r>
            <a:endParaRPr lang="en-US" sz="1500" dirty="0"/>
          </a:p>
        </p:txBody>
      </p:sp>
      <p:sp>
        <p:nvSpPr>
          <p:cNvPr id="29" name="Text 26"/>
          <p:cNvSpPr txBox="1"/>
          <p:nvPr/>
        </p:nvSpPr>
        <p:spPr>
          <a:xfrm>
            <a:off x="548640" y="5349240"/>
            <a:ext cx="11094415" cy="68580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“The framework divides the planning process into five key sections: value insights, value opportunities, value proposition, value delivery and executive summary.” — KAM Forum (Z01)</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Năm phần: Insights → Opportunities → Propositions → Delivery → Executive Summary</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Z01: KAM Forum (Cranfield).</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6</a:t>
            </a:r>
            <a:endParaRPr lang="en-US" sz="1000" dirty="0"/>
          </a:p>
        </p:txBody>
      </p:sp>
      <p:sp>
        <p:nvSpPr>
          <p:cNvPr id="21" name="Shape 18"/>
          <p:cNvSpPr/>
          <p:nvPr/>
        </p:nvSpPr>
        <p:spPr>
          <a:xfrm>
            <a:off x="548640" y="1874520"/>
            <a:ext cx="11094415" cy="960120"/>
          </a:xfrm>
          <a:prstGeom prst="roundRect">
            <a:avLst>
              <a:gd name="adj" fmla="val 11429"/>
            </a:avLst>
          </a:prstGeom>
          <a:solidFill>
            <a:srgbClr val="FFE4EA"/>
          </a:solidFill>
          <a:ln w="19050">
            <a:solidFill>
              <a:srgbClr val="FF5178"/>
            </a:solidFill>
            <a:prstDash val="solid"/>
          </a:ln>
        </p:spPr>
      </p:sp>
      <p:sp>
        <p:nvSpPr>
          <p:cNvPr id="22" name="Shape 19"/>
          <p:cNvSpPr/>
          <p:nvPr/>
        </p:nvSpPr>
        <p:spPr>
          <a:xfrm>
            <a:off x="731520" y="2011680"/>
            <a:ext cx="685800" cy="685800"/>
          </a:xfrm>
          <a:prstGeom prst="ellipse">
            <a:avLst/>
          </a:prstGeom>
          <a:solidFill>
            <a:srgbClr val="FF5178"/>
          </a:solidFill>
          <a:ln w="12700">
            <a:solidFill>
              <a:srgbClr val="FF5178"/>
            </a:solidFill>
            <a:prstDash val="solid"/>
          </a:ln>
        </p:spPr>
      </p:sp>
      <p:sp>
        <p:nvSpPr>
          <p:cNvPr id="23" name="Text 20"/>
          <p:cNvSpPr txBox="1"/>
          <p:nvPr/>
        </p:nvSpPr>
        <p:spPr>
          <a:xfrm>
            <a:off x="731520" y="20116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E</a:t>
            </a:r>
            <a:endParaRPr lang="en-US" sz="2400" dirty="0"/>
          </a:p>
        </p:txBody>
      </p:sp>
      <p:sp>
        <p:nvSpPr>
          <p:cNvPr id="24" name="Text 21"/>
          <p:cNvSpPr txBox="1"/>
          <p:nvPr/>
        </p:nvSpPr>
        <p:spPr>
          <a:xfrm>
            <a:off x="1600200" y="1874520"/>
            <a:ext cx="9814255" cy="9601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Executive Summary</a:t>
            </a:r>
            <a:pPr indent="0" marL="0">
              <a:buNone/>
            </a:pPr>
            <a:r>
              <a:rPr lang="en-US" sz="1400" dirty="0">
                <a:solidFill>
                  <a:srgbClr val="2A2238"/>
                </a:solidFill>
                <a:latin typeface="Alexandria" pitchFamily="34" charset="0"/>
                <a:ea typeface="Alexandria" pitchFamily="34" charset="-122"/>
                <a:cs typeface="Alexandria" pitchFamily="34" charset="-120"/>
              </a:rPr>
              <a:t>  — viết cuối, nhưng đặt ở đầu kế hoạch: hội đồng đọc trước tiên</a:t>
            </a:r>
            <a:endParaRPr lang="en-US" sz="1900" dirty="0"/>
          </a:p>
        </p:txBody>
      </p:sp>
      <p:sp>
        <p:nvSpPr>
          <p:cNvPr id="25" name="Shape 22"/>
          <p:cNvSpPr/>
          <p:nvPr/>
        </p:nvSpPr>
        <p:spPr>
          <a:xfrm>
            <a:off x="548640" y="3154680"/>
            <a:ext cx="2464994" cy="2834640"/>
          </a:xfrm>
          <a:prstGeom prst="roundRect">
            <a:avLst>
              <a:gd name="adj" fmla="val 4451"/>
            </a:avLst>
          </a:prstGeom>
          <a:solidFill>
            <a:srgbClr val="F1E1EE"/>
          </a:solidFill>
          <a:ln w="19050">
            <a:solidFill>
              <a:srgbClr val="962B7C"/>
            </a:solidFill>
            <a:prstDash val="solid"/>
          </a:ln>
        </p:spPr>
      </p:sp>
      <p:sp>
        <p:nvSpPr>
          <p:cNvPr id="26" name="Shape 23"/>
          <p:cNvSpPr/>
          <p:nvPr/>
        </p:nvSpPr>
        <p:spPr>
          <a:xfrm>
            <a:off x="822960" y="3337560"/>
            <a:ext cx="822960" cy="822960"/>
          </a:xfrm>
          <a:prstGeom prst="ellipse">
            <a:avLst/>
          </a:prstGeom>
          <a:solidFill>
            <a:srgbClr val="962B7C"/>
          </a:solidFill>
          <a:ln w="12700">
            <a:solidFill>
              <a:srgbClr val="962B7C"/>
            </a:solidFill>
            <a:prstDash val="solid"/>
          </a:ln>
        </p:spPr>
      </p:sp>
      <p:sp>
        <p:nvSpPr>
          <p:cNvPr id="27" name="Text 24"/>
          <p:cNvSpPr txBox="1"/>
          <p:nvPr/>
        </p:nvSpPr>
        <p:spPr>
          <a:xfrm>
            <a:off x="822960" y="3337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A</a:t>
            </a:r>
            <a:endParaRPr lang="en-US" sz="2800" dirty="0"/>
          </a:p>
        </p:txBody>
      </p:sp>
      <p:sp>
        <p:nvSpPr>
          <p:cNvPr id="28" name="Text 25"/>
          <p:cNvSpPr txBox="1"/>
          <p:nvPr/>
        </p:nvSpPr>
        <p:spPr>
          <a:xfrm>
            <a:off x="822960" y="4297680"/>
            <a:ext cx="1916354" cy="822960"/>
          </a:xfrm>
          <a:prstGeom prst="rect">
            <a:avLst/>
          </a:prstGeom>
          <a:noFill/>
          <a:ln/>
        </p:spPr>
        <p:txBody>
          <a:bodyPr wrap="square" lIns="0" tIns="0" rIns="0" bIns="0" rtlCol="0" anchor="t"/>
          <a:lstStyle/>
          <a:p>
            <a:pPr indent="0" marL="0">
              <a:buNone/>
            </a:pPr>
            <a:r>
              <a:rPr lang="en-US" sz="1800" b="1" dirty="0">
                <a:solidFill>
                  <a:srgbClr val="2A2238"/>
                </a:solidFill>
                <a:latin typeface="Alexandria" pitchFamily="34" charset="0"/>
                <a:ea typeface="Alexandria" pitchFamily="34" charset="-122"/>
                <a:cs typeface="Alexandria" pitchFamily="34" charset="-120"/>
              </a:rPr>
              <a:t>Value Insights</a:t>
            </a:r>
            <a:endParaRPr lang="en-US" sz="1800" dirty="0"/>
          </a:p>
        </p:txBody>
      </p:sp>
      <p:sp>
        <p:nvSpPr>
          <p:cNvPr id="29" name="Text 26"/>
          <p:cNvSpPr txBox="1"/>
          <p:nvPr/>
        </p:nvSpPr>
        <p:spPr>
          <a:xfrm>
            <a:off x="822960" y="5120640"/>
            <a:ext cx="1916354" cy="731520"/>
          </a:xfrm>
          <a:prstGeom prst="rect">
            <a:avLst/>
          </a:prstGeom>
          <a:noFill/>
          <a:ln/>
        </p:spPr>
        <p:txBody>
          <a:bodyPr wrap="square" lIns="0" tIns="0" rIns="0" bIns="0" rtlCol="0" anchor="t"/>
          <a:lstStyle/>
          <a:p>
            <a:pPr indent="0" marL="0">
              <a:buNone/>
            </a:pPr>
            <a:r>
              <a:rPr lang="en-US" sz="1400" dirty="0">
                <a:solidFill>
                  <a:srgbClr val="6E6878"/>
                </a:solidFill>
                <a:latin typeface="Alexandria" pitchFamily="34" charset="0"/>
                <a:ea typeface="Alexandria" pitchFamily="34" charset="-122"/>
                <a:cs typeface="Alexandria" pitchFamily="34" charset="-120"/>
              </a:rPr>
              <a:t>hiểu thế giới của khách hàng</a:t>
            </a:r>
            <a:endParaRPr lang="en-US" sz="1400" dirty="0"/>
          </a:p>
        </p:txBody>
      </p:sp>
      <p:sp>
        <p:nvSpPr>
          <p:cNvPr id="30" name="Shape 27"/>
          <p:cNvSpPr/>
          <p:nvPr/>
        </p:nvSpPr>
        <p:spPr>
          <a:xfrm>
            <a:off x="3059354" y="4572000"/>
            <a:ext cx="320040" cy="914"/>
          </a:xfrm>
          <a:prstGeom prst="line">
            <a:avLst/>
          </a:prstGeom>
          <a:noFill/>
          <a:ln w="31750">
            <a:solidFill>
              <a:srgbClr val="2A2238"/>
            </a:solidFill>
            <a:prstDash val="solid"/>
            <a:tailEnd type="triangle"/>
          </a:ln>
        </p:spPr>
      </p:sp>
      <p:sp>
        <p:nvSpPr>
          <p:cNvPr id="31" name="Shape 28"/>
          <p:cNvSpPr/>
          <p:nvPr/>
        </p:nvSpPr>
        <p:spPr>
          <a:xfrm>
            <a:off x="3425114" y="3154680"/>
            <a:ext cx="2464994" cy="2834640"/>
          </a:xfrm>
          <a:prstGeom prst="roundRect">
            <a:avLst>
              <a:gd name="adj" fmla="val 4451"/>
            </a:avLst>
          </a:prstGeom>
          <a:solidFill>
            <a:srgbClr val="DDF1FB"/>
          </a:solidFill>
          <a:ln w="19050">
            <a:solidFill>
              <a:srgbClr val="09A1E5"/>
            </a:solidFill>
            <a:prstDash val="solid"/>
          </a:ln>
        </p:spPr>
      </p:sp>
      <p:sp>
        <p:nvSpPr>
          <p:cNvPr id="32" name="Shape 29"/>
          <p:cNvSpPr/>
          <p:nvPr/>
        </p:nvSpPr>
        <p:spPr>
          <a:xfrm>
            <a:off x="3699434" y="3337560"/>
            <a:ext cx="822960" cy="822960"/>
          </a:xfrm>
          <a:prstGeom prst="ellipse">
            <a:avLst/>
          </a:prstGeom>
          <a:solidFill>
            <a:srgbClr val="09A1E5"/>
          </a:solidFill>
          <a:ln w="12700">
            <a:solidFill>
              <a:srgbClr val="09A1E5"/>
            </a:solidFill>
            <a:prstDash val="solid"/>
          </a:ln>
        </p:spPr>
      </p:sp>
      <p:sp>
        <p:nvSpPr>
          <p:cNvPr id="33" name="Text 30"/>
          <p:cNvSpPr txBox="1"/>
          <p:nvPr/>
        </p:nvSpPr>
        <p:spPr>
          <a:xfrm>
            <a:off x="3699434" y="3337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B</a:t>
            </a:r>
            <a:endParaRPr lang="en-US" sz="2800" dirty="0"/>
          </a:p>
        </p:txBody>
      </p:sp>
      <p:sp>
        <p:nvSpPr>
          <p:cNvPr id="34" name="Text 31"/>
          <p:cNvSpPr txBox="1"/>
          <p:nvPr/>
        </p:nvSpPr>
        <p:spPr>
          <a:xfrm>
            <a:off x="3699434" y="4297680"/>
            <a:ext cx="1916354" cy="822960"/>
          </a:xfrm>
          <a:prstGeom prst="rect">
            <a:avLst/>
          </a:prstGeom>
          <a:noFill/>
          <a:ln/>
        </p:spPr>
        <p:txBody>
          <a:bodyPr wrap="square" lIns="0" tIns="0" rIns="0" bIns="0" rtlCol="0" anchor="t"/>
          <a:lstStyle/>
          <a:p>
            <a:pPr indent="0" marL="0">
              <a:buNone/>
            </a:pPr>
            <a:r>
              <a:rPr lang="en-US" sz="1800" b="1" dirty="0">
                <a:solidFill>
                  <a:srgbClr val="2A2238"/>
                </a:solidFill>
                <a:latin typeface="Alexandria" pitchFamily="34" charset="0"/>
                <a:ea typeface="Alexandria" pitchFamily="34" charset="-122"/>
                <a:cs typeface="Alexandria" pitchFamily="34" charset="-120"/>
              </a:rPr>
              <a:t>Value Opportunities</a:t>
            </a:r>
            <a:endParaRPr lang="en-US" sz="1800" dirty="0"/>
          </a:p>
        </p:txBody>
      </p:sp>
      <p:sp>
        <p:nvSpPr>
          <p:cNvPr id="35" name="Text 32"/>
          <p:cNvSpPr txBox="1"/>
          <p:nvPr/>
        </p:nvSpPr>
        <p:spPr>
          <a:xfrm>
            <a:off x="3699434" y="5120640"/>
            <a:ext cx="1916354" cy="731520"/>
          </a:xfrm>
          <a:prstGeom prst="rect">
            <a:avLst/>
          </a:prstGeom>
          <a:noFill/>
          <a:ln/>
        </p:spPr>
        <p:txBody>
          <a:bodyPr wrap="square" lIns="0" tIns="0" rIns="0" bIns="0" rtlCol="0" anchor="t"/>
          <a:lstStyle/>
          <a:p>
            <a:pPr indent="0" marL="0">
              <a:buNone/>
            </a:pPr>
            <a:r>
              <a:rPr lang="en-US" sz="1400" dirty="0">
                <a:solidFill>
                  <a:srgbClr val="6E6878"/>
                </a:solidFill>
                <a:latin typeface="Alexandria" pitchFamily="34" charset="0"/>
                <a:ea typeface="Alexandria" pitchFamily="34" charset="-122"/>
                <a:cs typeface="Alexandria" pitchFamily="34" charset="-120"/>
              </a:rPr>
              <a:t>cơ hội tạo thêm giá trị</a:t>
            </a:r>
            <a:endParaRPr lang="en-US" sz="1400" dirty="0"/>
          </a:p>
        </p:txBody>
      </p:sp>
      <p:sp>
        <p:nvSpPr>
          <p:cNvPr id="36" name="Shape 33"/>
          <p:cNvSpPr/>
          <p:nvPr/>
        </p:nvSpPr>
        <p:spPr>
          <a:xfrm>
            <a:off x="5935828" y="4572000"/>
            <a:ext cx="320040" cy="914"/>
          </a:xfrm>
          <a:prstGeom prst="line">
            <a:avLst/>
          </a:prstGeom>
          <a:noFill/>
          <a:ln w="31750">
            <a:solidFill>
              <a:srgbClr val="2A2238"/>
            </a:solidFill>
            <a:prstDash val="solid"/>
            <a:tailEnd type="triangle"/>
          </a:ln>
        </p:spPr>
      </p:sp>
      <p:sp>
        <p:nvSpPr>
          <p:cNvPr id="37" name="Shape 34"/>
          <p:cNvSpPr/>
          <p:nvPr/>
        </p:nvSpPr>
        <p:spPr>
          <a:xfrm>
            <a:off x="6301588" y="3154680"/>
            <a:ext cx="2464994" cy="2834640"/>
          </a:xfrm>
          <a:prstGeom prst="roundRect">
            <a:avLst>
              <a:gd name="adj" fmla="val 4451"/>
            </a:avLst>
          </a:prstGeom>
          <a:solidFill>
            <a:srgbClr val="FFE9DE"/>
          </a:solidFill>
          <a:ln w="19050">
            <a:solidFill>
              <a:srgbClr val="FF9259"/>
            </a:solidFill>
            <a:prstDash val="solid"/>
          </a:ln>
        </p:spPr>
      </p:sp>
      <p:sp>
        <p:nvSpPr>
          <p:cNvPr id="38" name="Shape 35"/>
          <p:cNvSpPr/>
          <p:nvPr/>
        </p:nvSpPr>
        <p:spPr>
          <a:xfrm>
            <a:off x="6575908" y="3337560"/>
            <a:ext cx="822960" cy="822960"/>
          </a:xfrm>
          <a:prstGeom prst="ellipse">
            <a:avLst/>
          </a:prstGeom>
          <a:solidFill>
            <a:srgbClr val="FF9259"/>
          </a:solidFill>
          <a:ln w="12700">
            <a:solidFill>
              <a:srgbClr val="FF9259"/>
            </a:solidFill>
            <a:prstDash val="solid"/>
          </a:ln>
        </p:spPr>
      </p:sp>
      <p:sp>
        <p:nvSpPr>
          <p:cNvPr id="39" name="Text 36"/>
          <p:cNvSpPr txBox="1"/>
          <p:nvPr/>
        </p:nvSpPr>
        <p:spPr>
          <a:xfrm>
            <a:off x="6575908" y="3337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C</a:t>
            </a:r>
            <a:endParaRPr lang="en-US" sz="2800" dirty="0"/>
          </a:p>
        </p:txBody>
      </p:sp>
      <p:sp>
        <p:nvSpPr>
          <p:cNvPr id="40" name="Text 37"/>
          <p:cNvSpPr txBox="1"/>
          <p:nvPr/>
        </p:nvSpPr>
        <p:spPr>
          <a:xfrm>
            <a:off x="6575908" y="4297680"/>
            <a:ext cx="1916354" cy="822960"/>
          </a:xfrm>
          <a:prstGeom prst="rect">
            <a:avLst/>
          </a:prstGeom>
          <a:noFill/>
          <a:ln/>
        </p:spPr>
        <p:txBody>
          <a:bodyPr wrap="square" lIns="0" tIns="0" rIns="0" bIns="0" rtlCol="0" anchor="t"/>
          <a:lstStyle/>
          <a:p>
            <a:pPr indent="0" marL="0">
              <a:buNone/>
            </a:pPr>
            <a:r>
              <a:rPr lang="en-US" sz="1800" b="1" dirty="0">
                <a:solidFill>
                  <a:srgbClr val="2A2238"/>
                </a:solidFill>
                <a:latin typeface="Alexandria" pitchFamily="34" charset="0"/>
                <a:ea typeface="Alexandria" pitchFamily="34" charset="-122"/>
                <a:cs typeface="Alexandria" pitchFamily="34" charset="-120"/>
              </a:rPr>
              <a:t>Value Propositions</a:t>
            </a:r>
            <a:endParaRPr lang="en-US" sz="1800" dirty="0"/>
          </a:p>
        </p:txBody>
      </p:sp>
      <p:sp>
        <p:nvSpPr>
          <p:cNvPr id="41" name="Text 38"/>
          <p:cNvSpPr txBox="1"/>
          <p:nvPr/>
        </p:nvSpPr>
        <p:spPr>
          <a:xfrm>
            <a:off x="6575908" y="5120640"/>
            <a:ext cx="1916354" cy="731520"/>
          </a:xfrm>
          <a:prstGeom prst="rect">
            <a:avLst/>
          </a:prstGeom>
          <a:noFill/>
          <a:ln/>
        </p:spPr>
        <p:txBody>
          <a:bodyPr wrap="square" lIns="0" tIns="0" rIns="0" bIns="0" rtlCol="0" anchor="t"/>
          <a:lstStyle/>
          <a:p>
            <a:pPr indent="0" marL="0">
              <a:buNone/>
            </a:pPr>
            <a:r>
              <a:rPr lang="en-US" sz="1400" dirty="0">
                <a:solidFill>
                  <a:srgbClr val="6E6878"/>
                </a:solidFill>
                <a:latin typeface="Alexandria" pitchFamily="34" charset="0"/>
                <a:ea typeface="Alexandria" pitchFamily="34" charset="-122"/>
                <a:cs typeface="Alexandria" pitchFamily="34" charset="-120"/>
              </a:rPr>
              <a:t>agency hứa gì, bao nhiêu</a:t>
            </a:r>
            <a:endParaRPr lang="en-US" sz="1400" dirty="0"/>
          </a:p>
        </p:txBody>
      </p:sp>
      <p:sp>
        <p:nvSpPr>
          <p:cNvPr id="42" name="Shape 39"/>
          <p:cNvSpPr/>
          <p:nvPr/>
        </p:nvSpPr>
        <p:spPr>
          <a:xfrm>
            <a:off x="8812301" y="4572000"/>
            <a:ext cx="320040" cy="914"/>
          </a:xfrm>
          <a:prstGeom prst="line">
            <a:avLst/>
          </a:prstGeom>
          <a:noFill/>
          <a:ln w="31750">
            <a:solidFill>
              <a:srgbClr val="2A2238"/>
            </a:solidFill>
            <a:prstDash val="solid"/>
            <a:tailEnd type="triangle"/>
          </a:ln>
        </p:spPr>
      </p:sp>
      <p:sp>
        <p:nvSpPr>
          <p:cNvPr id="43" name="Shape 40"/>
          <p:cNvSpPr/>
          <p:nvPr/>
        </p:nvSpPr>
        <p:spPr>
          <a:xfrm>
            <a:off x="9178061" y="3154680"/>
            <a:ext cx="2464994" cy="2834640"/>
          </a:xfrm>
          <a:prstGeom prst="roundRect">
            <a:avLst>
              <a:gd name="adj" fmla="val 4451"/>
            </a:avLst>
          </a:prstGeom>
          <a:solidFill>
            <a:srgbClr val="E1F3EE"/>
          </a:solidFill>
          <a:ln w="19050">
            <a:solidFill>
              <a:srgbClr val="49B296"/>
            </a:solidFill>
            <a:prstDash val="solid"/>
          </a:ln>
        </p:spPr>
      </p:sp>
      <p:sp>
        <p:nvSpPr>
          <p:cNvPr id="44" name="Shape 41"/>
          <p:cNvSpPr/>
          <p:nvPr/>
        </p:nvSpPr>
        <p:spPr>
          <a:xfrm>
            <a:off x="9452381" y="3337560"/>
            <a:ext cx="822960" cy="822960"/>
          </a:xfrm>
          <a:prstGeom prst="ellipse">
            <a:avLst/>
          </a:prstGeom>
          <a:solidFill>
            <a:srgbClr val="49B296"/>
          </a:solidFill>
          <a:ln w="12700">
            <a:solidFill>
              <a:srgbClr val="49B296"/>
            </a:solidFill>
            <a:prstDash val="solid"/>
          </a:ln>
        </p:spPr>
      </p:sp>
      <p:sp>
        <p:nvSpPr>
          <p:cNvPr id="45" name="Text 42"/>
          <p:cNvSpPr txBox="1"/>
          <p:nvPr/>
        </p:nvSpPr>
        <p:spPr>
          <a:xfrm>
            <a:off x="9452381" y="3337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D</a:t>
            </a:r>
            <a:endParaRPr lang="en-US" sz="2800" dirty="0"/>
          </a:p>
        </p:txBody>
      </p:sp>
      <p:sp>
        <p:nvSpPr>
          <p:cNvPr id="46" name="Text 43"/>
          <p:cNvSpPr txBox="1"/>
          <p:nvPr/>
        </p:nvSpPr>
        <p:spPr>
          <a:xfrm>
            <a:off x="9452381" y="4297680"/>
            <a:ext cx="1916354" cy="822960"/>
          </a:xfrm>
          <a:prstGeom prst="rect">
            <a:avLst/>
          </a:prstGeom>
          <a:noFill/>
          <a:ln/>
        </p:spPr>
        <p:txBody>
          <a:bodyPr wrap="square" lIns="0" tIns="0" rIns="0" bIns="0" rtlCol="0" anchor="t"/>
          <a:lstStyle/>
          <a:p>
            <a:pPr indent="0" marL="0">
              <a:buNone/>
            </a:pPr>
            <a:r>
              <a:rPr lang="en-US" sz="1800" b="1" dirty="0">
                <a:solidFill>
                  <a:srgbClr val="2A2238"/>
                </a:solidFill>
                <a:latin typeface="Alexandria" pitchFamily="34" charset="0"/>
                <a:ea typeface="Alexandria" pitchFamily="34" charset="-122"/>
                <a:cs typeface="Alexandria" pitchFamily="34" charset="-120"/>
              </a:rPr>
              <a:t>Value Delivery</a:t>
            </a:r>
            <a:endParaRPr lang="en-US" sz="1800" dirty="0"/>
          </a:p>
        </p:txBody>
      </p:sp>
      <p:sp>
        <p:nvSpPr>
          <p:cNvPr id="47" name="Text 44"/>
          <p:cNvSpPr txBox="1"/>
          <p:nvPr/>
        </p:nvSpPr>
        <p:spPr>
          <a:xfrm>
            <a:off x="9452381" y="5120640"/>
            <a:ext cx="1916354" cy="731520"/>
          </a:xfrm>
          <a:prstGeom prst="rect">
            <a:avLst/>
          </a:prstGeom>
          <a:noFill/>
          <a:ln/>
        </p:spPr>
        <p:txBody>
          <a:bodyPr wrap="square" lIns="0" tIns="0" rIns="0" bIns="0" rtlCol="0" anchor="t"/>
          <a:lstStyle/>
          <a:p>
            <a:pPr indent="0" marL="0">
              <a:buNone/>
            </a:pPr>
            <a:r>
              <a:rPr lang="en-US" sz="1400" dirty="0">
                <a:solidFill>
                  <a:srgbClr val="6E6878"/>
                </a:solidFill>
                <a:latin typeface="Alexandria" pitchFamily="34" charset="0"/>
                <a:ea typeface="Alexandria" pitchFamily="34" charset="-122"/>
                <a:cs typeface="Alexandria" pitchFamily="34" charset="-120"/>
              </a:rPr>
              <a:t>ai làm gì, đo bằng gì</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phần trả lời một câu hỏi</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 theo Z01 · câu hỏi và công cụ của B–E: định nghĩa làm việc của người soạn (Z09) — ưu tiên giáo trình nội bộ UEF nếu có.</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7</a:t>
            </a:r>
            <a:endParaRPr lang="en-US" sz="1000" dirty="0"/>
          </a:p>
        </p:txBody>
      </p:sp>
      <p:sp>
        <p:nvSpPr>
          <p:cNvPr id="21" name="Shape 18"/>
          <p:cNvSpPr/>
          <p:nvPr/>
        </p:nvSpPr>
        <p:spPr>
          <a:xfrm>
            <a:off x="2743200" y="1783080"/>
            <a:ext cx="4480560" cy="457200"/>
          </a:xfrm>
          <a:prstGeom prst="roundRect">
            <a:avLst>
              <a:gd name="adj" fmla="val 24000"/>
            </a:avLst>
          </a:prstGeom>
          <a:solidFill>
            <a:srgbClr val="962B7C"/>
          </a:solidFill>
          <a:ln w="12700">
            <a:solidFill>
              <a:srgbClr val="962B7C"/>
            </a:solidFill>
            <a:prstDash val="solid"/>
          </a:ln>
        </p:spPr>
      </p:sp>
      <p:sp>
        <p:nvSpPr>
          <p:cNvPr id="22" name="Text 19"/>
          <p:cNvSpPr txBox="1"/>
          <p:nvPr/>
        </p:nvSpPr>
        <p:spPr>
          <a:xfrm>
            <a:off x="2907792" y="1783080"/>
            <a:ext cx="4151376" cy="45720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Câu hỏi chính</a:t>
            </a:r>
            <a:endParaRPr lang="en-US" sz="1500" dirty="0"/>
          </a:p>
        </p:txBody>
      </p:sp>
      <p:sp>
        <p:nvSpPr>
          <p:cNvPr id="23" name="Shape 20"/>
          <p:cNvSpPr/>
          <p:nvPr/>
        </p:nvSpPr>
        <p:spPr>
          <a:xfrm>
            <a:off x="7315200" y="1783080"/>
            <a:ext cx="4327855" cy="457200"/>
          </a:xfrm>
          <a:prstGeom prst="roundRect">
            <a:avLst>
              <a:gd name="adj" fmla="val 24000"/>
            </a:avLst>
          </a:prstGeom>
          <a:solidFill>
            <a:srgbClr val="09A1E5"/>
          </a:solidFill>
          <a:ln w="12700">
            <a:solidFill>
              <a:srgbClr val="09A1E5"/>
            </a:solidFill>
            <a:prstDash val="solid"/>
          </a:ln>
        </p:spPr>
      </p:sp>
      <p:sp>
        <p:nvSpPr>
          <p:cNvPr id="24" name="Text 21"/>
          <p:cNvSpPr txBox="1"/>
          <p:nvPr/>
        </p:nvSpPr>
        <p:spPr>
          <a:xfrm>
            <a:off x="7479792" y="1783080"/>
            <a:ext cx="3998671" cy="45720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Công cụ đã học</a:t>
            </a:r>
            <a:endParaRPr lang="en-US" sz="1500" dirty="0"/>
          </a:p>
        </p:txBody>
      </p:sp>
      <p:sp>
        <p:nvSpPr>
          <p:cNvPr id="25" name="Shape 22"/>
          <p:cNvSpPr/>
          <p:nvPr/>
        </p:nvSpPr>
        <p:spPr>
          <a:xfrm>
            <a:off x="548640" y="2350008"/>
            <a:ext cx="11094415" cy="749808"/>
          </a:xfrm>
          <a:prstGeom prst="rect">
            <a:avLst/>
          </a:prstGeom>
          <a:solidFill>
            <a:srgbClr val="F3F0E6"/>
          </a:solidFill>
          <a:ln w="12700">
            <a:solidFill>
              <a:srgbClr val="F3F0E6"/>
            </a:solidFill>
            <a:prstDash val="solid"/>
          </a:ln>
        </p:spPr>
      </p:sp>
      <p:sp>
        <p:nvSpPr>
          <p:cNvPr id="26" name="Text 23"/>
          <p:cNvSpPr txBox="1"/>
          <p:nvPr/>
        </p:nvSpPr>
        <p:spPr>
          <a:xfrm>
            <a:off x="713232" y="2350008"/>
            <a:ext cx="1865376" cy="74980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A. Insights</a:t>
            </a:r>
            <a:endParaRPr lang="en-US" sz="1200" dirty="0"/>
          </a:p>
        </p:txBody>
      </p:sp>
      <p:sp>
        <p:nvSpPr>
          <p:cNvPr id="27" name="Text 24"/>
          <p:cNvSpPr txBox="1"/>
          <p:nvPr/>
        </p:nvSpPr>
        <p:spPr>
          <a:xfrm>
            <a:off x="2907792" y="2350008"/>
            <a:ext cx="4242816" cy="74980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Môi trường, đối thủ, nội bộ khách hàng; ai quyết định; khách của khách hàng đi hành trình nào?</a:t>
            </a:r>
            <a:endParaRPr lang="en-US" sz="1200" dirty="0"/>
          </a:p>
        </p:txBody>
      </p:sp>
      <p:sp>
        <p:nvSpPr>
          <p:cNvPr id="28" name="Text 25"/>
          <p:cNvSpPr txBox="1"/>
          <p:nvPr/>
        </p:nvSpPr>
        <p:spPr>
          <a:xfrm>
            <a:off x="7479792" y="2350008"/>
            <a:ext cx="4090111" cy="74980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PESTEL, đối thủ, nội bộ; Grid, Salience (B1); hành trình, DMU (B3)</a:t>
            </a:r>
            <a:endParaRPr lang="en-US" sz="1200" dirty="0"/>
          </a:p>
        </p:txBody>
      </p:sp>
      <p:sp>
        <p:nvSpPr>
          <p:cNvPr id="29" name="Text 26"/>
          <p:cNvSpPr txBox="1"/>
          <p:nvPr/>
        </p:nvSpPr>
        <p:spPr>
          <a:xfrm>
            <a:off x="713232" y="3154680"/>
            <a:ext cx="1865376" cy="74980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B. Opportunities</a:t>
            </a:r>
            <a:endParaRPr lang="en-US" sz="1200" dirty="0"/>
          </a:p>
        </p:txBody>
      </p:sp>
      <p:sp>
        <p:nvSpPr>
          <p:cNvPr id="30" name="Text 27"/>
          <p:cNvSpPr txBox="1"/>
          <p:nvPr/>
        </p:nvSpPr>
        <p:spPr>
          <a:xfrm>
            <a:off x="2907792" y="3154680"/>
            <a:ext cx="4242816" cy="74980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Ở đâu tạo thêm giá trị cho khách và agency? Quan hệ đáng đầu tư đến đâu, rủi ro gì?</a:t>
            </a:r>
            <a:endParaRPr lang="en-US" sz="1200" dirty="0"/>
          </a:p>
        </p:txBody>
      </p:sp>
      <p:sp>
        <p:nvSpPr>
          <p:cNvPr id="31" name="Text 28"/>
          <p:cNvSpPr txBox="1"/>
          <p:nvPr/>
        </p:nvSpPr>
        <p:spPr>
          <a:xfrm>
            <a:off x="7479792" y="3154680"/>
            <a:ext cx="4090111" cy="74980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Chọn Key Account (B2); chất lượng quan hệ (B4); CLV, cost-to-serve (B6); sức khỏe quan hệ (B8)</a:t>
            </a:r>
            <a:endParaRPr lang="en-US" sz="1200" dirty="0"/>
          </a:p>
        </p:txBody>
      </p:sp>
      <p:sp>
        <p:nvSpPr>
          <p:cNvPr id="32" name="Shape 29"/>
          <p:cNvSpPr/>
          <p:nvPr/>
        </p:nvSpPr>
        <p:spPr>
          <a:xfrm>
            <a:off x="548640" y="3959352"/>
            <a:ext cx="11094415" cy="566928"/>
          </a:xfrm>
          <a:prstGeom prst="rect">
            <a:avLst/>
          </a:prstGeom>
          <a:solidFill>
            <a:srgbClr val="F3F0E6"/>
          </a:solidFill>
          <a:ln w="12700">
            <a:solidFill>
              <a:srgbClr val="F3F0E6"/>
            </a:solidFill>
            <a:prstDash val="solid"/>
          </a:ln>
        </p:spPr>
      </p:sp>
      <p:sp>
        <p:nvSpPr>
          <p:cNvPr id="33" name="Text 30"/>
          <p:cNvSpPr txBox="1"/>
          <p:nvPr/>
        </p:nvSpPr>
        <p:spPr>
          <a:xfrm>
            <a:off x="713232" y="3959352"/>
            <a:ext cx="1865376" cy="56692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C. Propositions</a:t>
            </a:r>
            <a:endParaRPr lang="en-US" sz="1200" dirty="0"/>
          </a:p>
        </p:txBody>
      </p:sp>
      <p:sp>
        <p:nvSpPr>
          <p:cNvPr id="34" name="Text 31"/>
          <p:cNvSpPr txBox="1"/>
          <p:nvPr/>
        </p:nvSpPr>
        <p:spPr>
          <a:xfrm>
            <a:off x="2907792" y="3959352"/>
            <a:ext cx="424281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Agency hứa gì, bao nhiêu tiền/chỉ số, khác đối thủ ở đâu?</a:t>
            </a:r>
            <a:endParaRPr lang="en-US" sz="1200" dirty="0"/>
          </a:p>
        </p:txBody>
      </p:sp>
      <p:sp>
        <p:nvSpPr>
          <p:cNvPr id="35" name="Text 32"/>
          <p:cNvSpPr txBox="1"/>
          <p:nvPr/>
        </p:nvSpPr>
        <p:spPr>
          <a:xfrm>
            <a:off x="7479792" y="3959352"/>
            <a:ext cx="4090111"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CVP (B5); win-win, ROI + ROO (B9)</a:t>
            </a:r>
            <a:endParaRPr lang="en-US" sz="1200" dirty="0"/>
          </a:p>
        </p:txBody>
      </p:sp>
      <p:sp>
        <p:nvSpPr>
          <p:cNvPr id="36" name="Text 33"/>
          <p:cNvSpPr txBox="1"/>
          <p:nvPr/>
        </p:nvSpPr>
        <p:spPr>
          <a:xfrm>
            <a:off x="713232" y="4581144"/>
            <a:ext cx="1865376" cy="74980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D. Delivery</a:t>
            </a:r>
            <a:endParaRPr lang="en-US" sz="1200" dirty="0"/>
          </a:p>
        </p:txBody>
      </p:sp>
      <p:sp>
        <p:nvSpPr>
          <p:cNvPr id="37" name="Text 34"/>
          <p:cNvSpPr txBox="1"/>
          <p:nvPr/>
        </p:nvSpPr>
        <p:spPr>
          <a:xfrm>
            <a:off x="2907792" y="4581144"/>
            <a:ext cx="4242816" cy="74980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Ai làm gì, khi nào, nguồn lực nào, đo bằng gì; điều phối bên ngoài thế nào?</a:t>
            </a:r>
            <a:endParaRPr lang="en-US" sz="1200" dirty="0"/>
          </a:p>
        </p:txBody>
      </p:sp>
      <p:sp>
        <p:nvSpPr>
          <p:cNvPr id="38" name="Text 35"/>
          <p:cNvSpPr txBox="1"/>
          <p:nvPr/>
        </p:nvSpPr>
        <p:spPr>
          <a:xfrm>
            <a:off x="7479792" y="4581144"/>
            <a:ext cx="4090111" cy="74980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Kraljic, đàm phán (B7); Diamond, ROI 6 cấp (B8); B9–12</a:t>
            </a:r>
            <a:endParaRPr lang="en-US" sz="1200" dirty="0"/>
          </a:p>
        </p:txBody>
      </p:sp>
      <p:sp>
        <p:nvSpPr>
          <p:cNvPr id="39" name="Shape 36"/>
          <p:cNvSpPr/>
          <p:nvPr/>
        </p:nvSpPr>
        <p:spPr>
          <a:xfrm>
            <a:off x="548640" y="5385816"/>
            <a:ext cx="11094415" cy="566928"/>
          </a:xfrm>
          <a:prstGeom prst="rect">
            <a:avLst/>
          </a:prstGeom>
          <a:solidFill>
            <a:srgbClr val="F3F0E6"/>
          </a:solidFill>
          <a:ln w="12700">
            <a:solidFill>
              <a:srgbClr val="F3F0E6"/>
            </a:solidFill>
            <a:prstDash val="solid"/>
          </a:ln>
        </p:spPr>
      </p:sp>
      <p:sp>
        <p:nvSpPr>
          <p:cNvPr id="40" name="Text 37"/>
          <p:cNvSpPr txBox="1"/>
          <p:nvPr/>
        </p:nvSpPr>
        <p:spPr>
          <a:xfrm>
            <a:off x="713232" y="5385816"/>
            <a:ext cx="1865376" cy="56692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E. Exec Summary</a:t>
            </a:r>
            <a:endParaRPr lang="en-US" sz="1200" dirty="0"/>
          </a:p>
        </p:txBody>
      </p:sp>
      <p:sp>
        <p:nvSpPr>
          <p:cNvPr id="41" name="Text 38"/>
          <p:cNvSpPr txBox="1"/>
          <p:nvPr/>
        </p:nvSpPr>
        <p:spPr>
          <a:xfrm>
            <a:off x="2907792" y="5385816"/>
            <a:ext cx="424281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Một trang: vấn đề – đề xuất – giá trị có số – việc cần quyết</a:t>
            </a:r>
            <a:endParaRPr lang="en-US" sz="1200" dirty="0"/>
          </a:p>
        </p:txBody>
      </p:sp>
      <p:sp>
        <p:nvSpPr>
          <p:cNvPr id="42" name="Text 39"/>
          <p:cNvSpPr txBox="1"/>
          <p:nvPr/>
        </p:nvSpPr>
        <p:spPr>
          <a:xfrm>
            <a:off x="7479792" y="5385816"/>
            <a:ext cx="4090111"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Tổng hợp 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Giả định có lý do là câu trả lời hợp lệ — con số bịa thì không</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Z01: KAM Forum (Cranfield).</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8</a:t>
            </a:r>
            <a:endParaRPr lang="en-US" sz="1000" dirty="0"/>
          </a:p>
        </p:txBody>
      </p:sp>
      <p:sp>
        <p:nvSpPr>
          <p:cNvPr id="21" name="Shape 18"/>
          <p:cNvSpPr/>
          <p:nvPr/>
        </p:nvSpPr>
        <p:spPr>
          <a:xfrm>
            <a:off x="548640" y="1874520"/>
            <a:ext cx="11094415" cy="1188720"/>
          </a:xfrm>
          <a:prstGeom prst="roundRect">
            <a:avLst>
              <a:gd name="adj" fmla="val 9231"/>
            </a:avLst>
          </a:prstGeom>
          <a:solidFill>
            <a:srgbClr val="F1E1EE"/>
          </a:solidFill>
          <a:ln w="12700">
            <a:solidFill>
              <a:srgbClr val="962B7C"/>
            </a:solidFill>
            <a:prstDash val="solid"/>
          </a:ln>
        </p:spPr>
      </p:sp>
      <p:sp>
        <p:nvSpPr>
          <p:cNvPr id="22" name="Text 19"/>
          <p:cNvSpPr txBox="1"/>
          <p:nvPr/>
        </p:nvSpPr>
        <p:spPr>
          <a:xfrm>
            <a:off x="914400" y="1874520"/>
            <a:ext cx="10362895" cy="1188720"/>
          </a:xfrm>
          <a:prstGeom prst="rect">
            <a:avLst/>
          </a:prstGeom>
          <a:noFill/>
          <a:ln/>
        </p:spPr>
        <p:txBody>
          <a:bodyPr wrap="square" lIns="0" tIns="0" rIns="0" bIns="0" rtlCol="0" anchor="ctr"/>
          <a:lstStyle/>
          <a:p>
            <a:pPr algn="ctr" indent="0" marL="0">
              <a:buNone/>
            </a:pPr>
            <a:r>
              <a:rPr lang="en-US" sz="2000" b="1" i="1" dirty="0">
                <a:solidFill>
                  <a:srgbClr val="2A2238"/>
                </a:solidFill>
                <a:latin typeface="Alexandria" pitchFamily="34" charset="0"/>
                <a:ea typeface="Alexandria" pitchFamily="34" charset="-122"/>
                <a:cs typeface="Alexandria" pitchFamily="34" charset="-120"/>
              </a:rPr>
              <a:t>“But do make sure to make it clear in your plan that these are assumptions!” </a:t>
            </a:r>
            <a:pPr algn="ctr" indent="0" marL="0">
              <a:buNone/>
            </a:pPr>
            <a:r>
              <a:rPr lang="en-US" sz="1200" dirty="0">
                <a:solidFill>
                  <a:srgbClr val="6E6878"/>
                </a:solidFill>
                <a:latin typeface="Alexandria" pitchFamily="34" charset="0"/>
                <a:ea typeface="Alexandria" pitchFamily="34" charset="-122"/>
                <a:cs typeface="Alexandria" pitchFamily="34" charset="-120"/>
              </a:rPr>
              <a:t>— KAM Forum (Z01)</a:t>
            </a:r>
            <a:endParaRPr lang="en-US" sz="2000" dirty="0"/>
          </a:p>
        </p:txBody>
      </p:sp>
      <p:sp>
        <p:nvSpPr>
          <p:cNvPr id="23" name="Shape 20"/>
          <p:cNvSpPr/>
          <p:nvPr/>
        </p:nvSpPr>
        <p:spPr>
          <a:xfrm>
            <a:off x="548640" y="3337560"/>
            <a:ext cx="11094415" cy="1188720"/>
          </a:xfrm>
          <a:prstGeom prst="roundRect">
            <a:avLst>
              <a:gd name="adj" fmla="val 9231"/>
            </a:avLst>
          </a:prstGeom>
          <a:solidFill>
            <a:srgbClr val="FFF3C4"/>
          </a:solidFill>
          <a:ln w="12700">
            <a:solidFill>
              <a:srgbClr val="FFD23B"/>
            </a:solidFill>
            <a:prstDash val="solid"/>
          </a:ln>
        </p:spPr>
      </p:sp>
      <p:sp>
        <p:nvSpPr>
          <p:cNvPr id="24" name="Text 21"/>
          <p:cNvSpPr txBox="1"/>
          <p:nvPr/>
        </p:nvSpPr>
        <p:spPr>
          <a:xfrm>
            <a:off x="914400" y="3337560"/>
            <a:ext cx="10362895" cy="118872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Mẫu: </a:t>
            </a:r>
            <a:pPr indent="0" marL="0">
              <a:buNone/>
            </a:pPr>
            <a:r>
              <a:rPr lang="en-US" sz="2200" i="1" dirty="0">
                <a:solidFill>
                  <a:srgbClr val="2A2238"/>
                </a:solidFill>
                <a:latin typeface="Alexandria" pitchFamily="34" charset="0"/>
                <a:ea typeface="Alexandria" pitchFamily="34" charset="-122"/>
                <a:cs typeface="Alexandria" pitchFamily="34" charset="-120"/>
              </a:rPr>
              <a:t>“Giả định: … vì …; sẽ kiểm chứng bằng …”</a:t>
            </a:r>
            <a:endParaRPr lang="en-US" sz="2200" dirty="0"/>
          </a:p>
        </p:txBody>
      </p:sp>
      <p:sp>
        <p:nvSpPr>
          <p:cNvPr id="25" name="Shape 22"/>
          <p:cNvSpPr/>
          <p:nvPr/>
        </p:nvSpPr>
        <p:spPr>
          <a:xfrm>
            <a:off x="548640" y="4800600"/>
            <a:ext cx="5410048" cy="1188720"/>
          </a:xfrm>
          <a:prstGeom prst="roundRect">
            <a:avLst>
              <a:gd name="adj" fmla="val 9231"/>
            </a:avLst>
          </a:prstGeom>
          <a:solidFill>
            <a:srgbClr val="E1F3EE"/>
          </a:solidFill>
          <a:ln w="19050">
            <a:solidFill>
              <a:srgbClr val="49B296"/>
            </a:solidFill>
            <a:prstDash val="solid"/>
          </a:ln>
        </p:spPr>
      </p:sp>
      <p:sp>
        <p:nvSpPr>
          <p:cNvPr id="26" name="Text 23"/>
          <p:cNvSpPr txBox="1"/>
          <p:nvPr/>
        </p:nvSpPr>
        <p:spPr>
          <a:xfrm>
            <a:off x="822960" y="4800600"/>
            <a:ext cx="4861408" cy="1188720"/>
          </a:xfrm>
          <a:prstGeom prst="rect">
            <a:avLst/>
          </a:prstGeom>
          <a:noFill/>
          <a:ln/>
        </p:spPr>
        <p:txBody>
          <a:bodyPr wrap="square" lIns="0" tIns="0" rIns="0" bIns="0" rtlCol="0" anchor="ctr"/>
          <a:lstStyle/>
          <a:p>
            <a:pPr indent="0" marL="0">
              <a:buNone/>
            </a:pPr>
            <a:r>
              <a:rPr lang="en-US" sz="1800" b="1" dirty="0">
                <a:solidFill>
                  <a:srgbClr val="2E8A71"/>
                </a:solidFill>
                <a:latin typeface="Alexandria" pitchFamily="34" charset="0"/>
                <a:ea typeface="Alexandria" pitchFamily="34" charset="-122"/>
                <a:cs typeface="Alexandria" pitchFamily="34" charset="-120"/>
              </a:rPr>
              <a:t>✓ Giả định có lý do</a:t>
            </a:r>
            <a:endParaRPr lang="en-US" sz="1800" dirty="0"/>
          </a:p>
          <a:p>
            <a:pPr indent="0" marL="0">
              <a:buNone/>
            </a:pPr>
            <a:r>
              <a:rPr lang="en-US" sz="1400" dirty="0">
                <a:solidFill>
                  <a:srgbClr val="2A2238"/>
                </a:solidFill>
                <a:latin typeface="Alexandria" pitchFamily="34" charset="0"/>
                <a:ea typeface="Alexandria" pitchFamily="34" charset="-122"/>
                <a:cs typeface="Alexandria" pitchFamily="34" charset="-120"/>
              </a:rPr>
              <a:t>nói được vì sao chọn con số, sẽ kiểm tra lại với khách</a:t>
            </a:r>
            <a:endParaRPr lang="en-US" sz="1800" dirty="0"/>
          </a:p>
        </p:txBody>
      </p:sp>
      <p:sp>
        <p:nvSpPr>
          <p:cNvPr id="27" name="Shape 24"/>
          <p:cNvSpPr/>
          <p:nvPr/>
        </p:nvSpPr>
        <p:spPr>
          <a:xfrm>
            <a:off x="6233008" y="4800600"/>
            <a:ext cx="5410048" cy="1188720"/>
          </a:xfrm>
          <a:prstGeom prst="roundRect">
            <a:avLst>
              <a:gd name="adj" fmla="val 9231"/>
            </a:avLst>
          </a:prstGeom>
          <a:solidFill>
            <a:srgbClr val="FFE4EA"/>
          </a:solidFill>
          <a:ln w="19050">
            <a:solidFill>
              <a:srgbClr val="FF5178"/>
            </a:solidFill>
            <a:prstDash val="solid"/>
          </a:ln>
        </p:spPr>
      </p:sp>
      <p:sp>
        <p:nvSpPr>
          <p:cNvPr id="28" name="Text 25"/>
          <p:cNvSpPr txBox="1"/>
          <p:nvPr/>
        </p:nvSpPr>
        <p:spPr>
          <a:xfrm>
            <a:off x="6507328" y="4800600"/>
            <a:ext cx="4861408" cy="1188720"/>
          </a:xfrm>
          <a:prstGeom prst="rect">
            <a:avLst/>
          </a:prstGeom>
          <a:noFill/>
          <a:ln/>
        </p:spPr>
        <p:txBody>
          <a:bodyPr wrap="square" lIns="0" tIns="0" rIns="0" bIns="0" rtlCol="0" anchor="ctr"/>
          <a:lstStyle/>
          <a:p>
            <a:pPr indent="0" marL="0">
              <a:buNone/>
            </a:pPr>
            <a:r>
              <a:rPr lang="en-US" sz="1800" b="1" dirty="0">
                <a:solidFill>
                  <a:srgbClr val="E03A62"/>
                </a:solidFill>
                <a:latin typeface="Alexandria" pitchFamily="34" charset="0"/>
                <a:ea typeface="Alexandria" pitchFamily="34" charset="-122"/>
                <a:cs typeface="Alexandria" pitchFamily="34" charset="-120"/>
              </a:rPr>
              <a:t>✗ Con số bịa</a:t>
            </a:r>
            <a:endParaRPr lang="en-US" sz="1800" dirty="0"/>
          </a:p>
          <a:p>
            <a:pPr indent="0" marL="0">
              <a:buNone/>
            </a:pPr>
            <a:r>
              <a:rPr lang="en-US" sz="1400" dirty="0">
                <a:solidFill>
                  <a:srgbClr val="2A2238"/>
                </a:solidFill>
                <a:latin typeface="Alexandria" pitchFamily="34" charset="0"/>
                <a:ea typeface="Alexandria" pitchFamily="34" charset="-122"/>
                <a:cs typeface="Alexandria" pitchFamily="34" charset="-120"/>
              </a:rPr>
              <a:t>không nguồn, không lý do — hội đồng hỏi là lộ</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Bộ khung An Phát cho thấy cách ráp, không phải bài để chép</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 mọi tên, con số chỉ dùng cho học tập (quyết định GV 6: không phát bài mẫu hoàn chỉnh).</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9</a:t>
            </a:r>
            <a:endParaRPr lang="en-US" sz="1000" dirty="0"/>
          </a:p>
        </p:txBody>
      </p:sp>
      <p:sp>
        <p:nvSpPr>
          <p:cNvPr id="21" name="Shape 18"/>
          <p:cNvSpPr/>
          <p:nvPr/>
        </p:nvSpPr>
        <p:spPr>
          <a:xfrm>
            <a:off x="9448495" y="1783080"/>
            <a:ext cx="2194560" cy="411480"/>
          </a:xfrm>
          <a:prstGeom prst="roundRect">
            <a:avLst>
              <a:gd name="adj" fmla="val 50000"/>
            </a:avLst>
          </a:prstGeom>
          <a:solidFill>
            <a:srgbClr val="FFD23B"/>
          </a:solidFill>
          <a:ln w="12700">
            <a:solidFill>
              <a:srgbClr val="FFD23B"/>
            </a:solidFill>
            <a:prstDash val="solid"/>
          </a:ln>
        </p:spPr>
      </p:sp>
      <p:sp>
        <p:nvSpPr>
          <p:cNvPr id="22" name="Text 19"/>
          <p:cNvSpPr txBox="1"/>
          <p:nvPr/>
        </p:nvSpPr>
        <p:spPr>
          <a:xfrm>
            <a:off x="9521647" y="1783080"/>
            <a:ext cx="2048256" cy="41148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GIẢ ĐỊNH · khung</a:t>
            </a:r>
            <a:endParaRPr lang="en-US" sz="1200" dirty="0"/>
          </a:p>
        </p:txBody>
      </p:sp>
      <p:sp>
        <p:nvSpPr>
          <p:cNvPr id="23" name="Shape 20"/>
          <p:cNvSpPr/>
          <p:nvPr/>
        </p:nvSpPr>
        <p:spPr>
          <a:xfrm>
            <a:off x="548640" y="2331720"/>
            <a:ext cx="11094415" cy="658368"/>
          </a:xfrm>
          <a:prstGeom prst="roundRect">
            <a:avLst>
              <a:gd name="adj" fmla="val 16667"/>
            </a:avLst>
          </a:prstGeom>
          <a:solidFill>
            <a:srgbClr val="F1E1EE"/>
          </a:solidFill>
          <a:ln w="12700">
            <a:solidFill>
              <a:srgbClr val="962B7C"/>
            </a:solidFill>
            <a:prstDash val="solid"/>
          </a:ln>
        </p:spPr>
      </p:sp>
      <p:sp>
        <p:nvSpPr>
          <p:cNvPr id="24" name="Shape 21"/>
          <p:cNvSpPr/>
          <p:nvPr/>
        </p:nvSpPr>
        <p:spPr>
          <a:xfrm>
            <a:off x="685800" y="2414016"/>
            <a:ext cx="493776" cy="493776"/>
          </a:xfrm>
          <a:prstGeom prst="ellipse">
            <a:avLst/>
          </a:prstGeom>
          <a:solidFill>
            <a:srgbClr val="962B7C"/>
          </a:solidFill>
          <a:ln w="12700">
            <a:solidFill>
              <a:srgbClr val="962B7C"/>
            </a:solidFill>
            <a:prstDash val="solid"/>
          </a:ln>
        </p:spPr>
      </p:sp>
      <p:sp>
        <p:nvSpPr>
          <p:cNvPr id="25" name="Text 22"/>
          <p:cNvSpPr txBox="1"/>
          <p:nvPr/>
        </p:nvSpPr>
        <p:spPr>
          <a:xfrm>
            <a:off x="685800" y="241401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A</a:t>
            </a:r>
            <a:endParaRPr lang="en-US" sz="1800" dirty="0"/>
          </a:p>
        </p:txBody>
      </p:sp>
      <p:sp>
        <p:nvSpPr>
          <p:cNvPr id="26" name="Text 23"/>
          <p:cNvSpPr txBox="1"/>
          <p:nvPr/>
        </p:nvSpPr>
        <p:spPr>
          <a:xfrm>
            <a:off x="1371600" y="2331720"/>
            <a:ext cx="10088575" cy="65836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Ngân hàng TMCP, mảng khách doanh nghiệp VIP; GĐ Marketing mới (anh Minh); DMU: anh Minh, ông Tuấn, anh Khoa, chị Lan, chị Vy; khách của An Phát: 600 lãnh đạo DN</a:t>
            </a:r>
            <a:endParaRPr lang="en-US" sz="1300" dirty="0"/>
          </a:p>
        </p:txBody>
      </p:sp>
      <p:sp>
        <p:nvSpPr>
          <p:cNvPr id="27" name="Shape 24"/>
          <p:cNvSpPr/>
          <p:nvPr/>
        </p:nvSpPr>
        <p:spPr>
          <a:xfrm>
            <a:off x="548640" y="3081528"/>
            <a:ext cx="11094415" cy="658368"/>
          </a:xfrm>
          <a:prstGeom prst="roundRect">
            <a:avLst>
              <a:gd name="adj" fmla="val 16667"/>
            </a:avLst>
          </a:prstGeom>
          <a:solidFill>
            <a:srgbClr val="DDF1FB"/>
          </a:solidFill>
          <a:ln w="12700">
            <a:solidFill>
              <a:srgbClr val="09A1E5"/>
            </a:solidFill>
            <a:prstDash val="solid"/>
          </a:ln>
        </p:spPr>
      </p:sp>
      <p:sp>
        <p:nvSpPr>
          <p:cNvPr id="28" name="Shape 25"/>
          <p:cNvSpPr/>
          <p:nvPr/>
        </p:nvSpPr>
        <p:spPr>
          <a:xfrm>
            <a:off x="685800" y="3163824"/>
            <a:ext cx="493776" cy="493776"/>
          </a:xfrm>
          <a:prstGeom prst="ellipse">
            <a:avLst/>
          </a:prstGeom>
          <a:solidFill>
            <a:srgbClr val="09A1E5"/>
          </a:solidFill>
          <a:ln w="12700">
            <a:solidFill>
              <a:srgbClr val="09A1E5"/>
            </a:solidFill>
            <a:prstDash val="solid"/>
          </a:ln>
        </p:spPr>
      </p:sp>
      <p:sp>
        <p:nvSpPr>
          <p:cNvPr id="29" name="Text 26"/>
          <p:cNvSpPr txBox="1"/>
          <p:nvPr/>
        </p:nvSpPr>
        <p:spPr>
          <a:xfrm>
            <a:off x="685800" y="3163824"/>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B</a:t>
            </a:r>
            <a:endParaRPr lang="en-US" sz="1800" dirty="0"/>
          </a:p>
        </p:txBody>
      </p:sp>
      <p:sp>
        <p:nvSpPr>
          <p:cNvPr id="30" name="Text 27"/>
          <p:cNvSpPr txBox="1"/>
          <p:nvPr/>
        </p:nvSpPr>
        <p:spPr>
          <a:xfrm>
            <a:off x="1371600" y="3081528"/>
            <a:ext cx="10088575" cy="65836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Cơ hội: tăng số CEO đến trực tiếp; từ một gala/năm sang chương trình khách hàng cả năm. Rủi ro: đổi đầu mối, ngân sách giảm ~10%</a:t>
            </a:r>
            <a:endParaRPr lang="en-US" sz="1300" dirty="0"/>
          </a:p>
        </p:txBody>
      </p:sp>
      <p:sp>
        <p:nvSpPr>
          <p:cNvPr id="31" name="Shape 28"/>
          <p:cNvSpPr/>
          <p:nvPr/>
        </p:nvSpPr>
        <p:spPr>
          <a:xfrm>
            <a:off x="548640" y="3831336"/>
            <a:ext cx="11094415" cy="658368"/>
          </a:xfrm>
          <a:prstGeom prst="roundRect">
            <a:avLst>
              <a:gd name="adj" fmla="val 16667"/>
            </a:avLst>
          </a:prstGeom>
          <a:solidFill>
            <a:srgbClr val="FFE9DE"/>
          </a:solidFill>
          <a:ln w="12700">
            <a:solidFill>
              <a:srgbClr val="FF9259"/>
            </a:solidFill>
            <a:prstDash val="solid"/>
          </a:ln>
        </p:spPr>
      </p:sp>
      <p:sp>
        <p:nvSpPr>
          <p:cNvPr id="32" name="Shape 29"/>
          <p:cNvSpPr/>
          <p:nvPr/>
        </p:nvSpPr>
        <p:spPr>
          <a:xfrm>
            <a:off x="685800" y="3913632"/>
            <a:ext cx="493776" cy="493776"/>
          </a:xfrm>
          <a:prstGeom prst="ellipse">
            <a:avLst/>
          </a:prstGeom>
          <a:solidFill>
            <a:srgbClr val="FF9259"/>
          </a:solidFill>
          <a:ln w="12700">
            <a:solidFill>
              <a:srgbClr val="FF9259"/>
            </a:solidFill>
            <a:prstDash val="solid"/>
          </a:ln>
        </p:spPr>
      </p:sp>
      <p:sp>
        <p:nvSpPr>
          <p:cNvPr id="33" name="Text 30"/>
          <p:cNvSpPr txBox="1"/>
          <p:nvPr/>
        </p:nvSpPr>
        <p:spPr>
          <a:xfrm>
            <a:off x="685800" y="391363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C</a:t>
            </a:r>
            <a:endParaRPr lang="en-US" sz="1800" dirty="0"/>
          </a:p>
        </p:txBody>
      </p:sp>
      <p:sp>
        <p:nvSpPr>
          <p:cNvPr id="34" name="Text 31"/>
          <p:cNvSpPr txBox="1"/>
          <p:nvPr/>
        </p:nvSpPr>
        <p:spPr>
          <a:xfrm>
            <a:off x="1371600" y="3831336"/>
            <a:ext cx="10088575" cy="65836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Nova giúp An Phát giữ và mở rộng quan hệ với khách doanh nghiệp VIP, đo bằng ROI 6 cấp (cấp 0–3 Nova cam kết; cấp 4–5 cùng An Phát)</a:t>
            </a:r>
            <a:endParaRPr lang="en-US" sz="1300" dirty="0"/>
          </a:p>
        </p:txBody>
      </p:sp>
      <p:sp>
        <p:nvSpPr>
          <p:cNvPr id="35" name="Shape 32"/>
          <p:cNvSpPr/>
          <p:nvPr/>
        </p:nvSpPr>
        <p:spPr>
          <a:xfrm>
            <a:off x="548640" y="4581144"/>
            <a:ext cx="11094415" cy="658368"/>
          </a:xfrm>
          <a:prstGeom prst="roundRect">
            <a:avLst>
              <a:gd name="adj" fmla="val 16667"/>
            </a:avLst>
          </a:prstGeom>
          <a:solidFill>
            <a:srgbClr val="E1F3EE"/>
          </a:solidFill>
          <a:ln w="12700">
            <a:solidFill>
              <a:srgbClr val="49B296"/>
            </a:solidFill>
            <a:prstDash val="solid"/>
          </a:ln>
        </p:spPr>
      </p:sp>
      <p:sp>
        <p:nvSpPr>
          <p:cNvPr id="36" name="Shape 33"/>
          <p:cNvSpPr/>
          <p:nvPr/>
        </p:nvSpPr>
        <p:spPr>
          <a:xfrm>
            <a:off x="685800" y="4663440"/>
            <a:ext cx="493776" cy="493776"/>
          </a:xfrm>
          <a:prstGeom prst="ellipse">
            <a:avLst/>
          </a:prstGeom>
          <a:solidFill>
            <a:srgbClr val="49B296"/>
          </a:solidFill>
          <a:ln w="12700">
            <a:solidFill>
              <a:srgbClr val="49B296"/>
            </a:solidFill>
            <a:prstDash val="solid"/>
          </a:ln>
        </p:spPr>
      </p:sp>
      <p:sp>
        <p:nvSpPr>
          <p:cNvPr id="37" name="Text 34"/>
          <p:cNvSpPr txBox="1"/>
          <p:nvPr/>
        </p:nvSpPr>
        <p:spPr>
          <a:xfrm>
            <a:off x="685800" y="46634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D</a:t>
            </a:r>
            <a:endParaRPr lang="en-US" sz="1800" dirty="0"/>
          </a:p>
        </p:txBody>
      </p:sp>
      <p:sp>
        <p:nvSpPr>
          <p:cNvPr id="38" name="Text 35"/>
          <p:cNvSpPr txBox="1"/>
          <p:nvPr/>
        </p:nvSpPr>
        <p:spPr>
          <a:xfrm>
            <a:off x="1371600" y="4581144"/>
            <a:ext cx="10088575" cy="65836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Nhà tài trợ đối tác (Bình An, GlobalCard); khách sạn, AV, nhà in; báo kinh tế, diễn giả; ESG chung; 5 bước xử lý xung đột</a:t>
            </a:r>
            <a:endParaRPr lang="en-US" sz="1300" dirty="0"/>
          </a:p>
        </p:txBody>
      </p:sp>
      <p:sp>
        <p:nvSpPr>
          <p:cNvPr id="39" name="Shape 36"/>
          <p:cNvSpPr/>
          <p:nvPr/>
        </p:nvSpPr>
        <p:spPr>
          <a:xfrm>
            <a:off x="548640" y="5330952"/>
            <a:ext cx="11094415" cy="658368"/>
          </a:xfrm>
          <a:prstGeom prst="roundRect">
            <a:avLst>
              <a:gd name="adj" fmla="val 16667"/>
            </a:avLst>
          </a:prstGeom>
          <a:solidFill>
            <a:srgbClr val="FFE4EA"/>
          </a:solidFill>
          <a:ln w="12700">
            <a:solidFill>
              <a:srgbClr val="FF5178"/>
            </a:solidFill>
            <a:prstDash val="solid"/>
          </a:ln>
        </p:spPr>
      </p:sp>
      <p:sp>
        <p:nvSpPr>
          <p:cNvPr id="40" name="Shape 37"/>
          <p:cNvSpPr/>
          <p:nvPr/>
        </p:nvSpPr>
        <p:spPr>
          <a:xfrm>
            <a:off x="685800" y="5413248"/>
            <a:ext cx="493776" cy="493776"/>
          </a:xfrm>
          <a:prstGeom prst="ellipse">
            <a:avLst/>
          </a:prstGeom>
          <a:solidFill>
            <a:srgbClr val="FF5178"/>
          </a:solidFill>
          <a:ln w="12700">
            <a:solidFill>
              <a:srgbClr val="FF5178"/>
            </a:solidFill>
            <a:prstDash val="solid"/>
          </a:ln>
        </p:spPr>
      </p:sp>
      <p:sp>
        <p:nvSpPr>
          <p:cNvPr id="41" name="Text 38"/>
          <p:cNvSpPr txBox="1"/>
          <p:nvPr/>
        </p:nvSpPr>
        <p:spPr>
          <a:xfrm>
            <a:off x="685800" y="541324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E</a:t>
            </a:r>
            <a:endParaRPr lang="en-US" sz="1800" dirty="0"/>
          </a:p>
        </p:txBody>
      </p:sp>
      <p:sp>
        <p:nvSpPr>
          <p:cNvPr id="42" name="Text 39"/>
          <p:cNvSpPr txBox="1"/>
          <p:nvPr/>
        </p:nvSpPr>
        <p:spPr>
          <a:xfrm>
            <a:off x="1371600" y="5330952"/>
            <a:ext cx="10088575" cy="65836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5 câu (phần sau)</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Ráp khung A–E cho SMP của nhóm</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W13_activity_S3_rap_khung_A_E.md.</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10</a:t>
            </a:r>
            <a:endParaRPr lang="en-US" sz="1000" dirty="0"/>
          </a:p>
        </p:txBody>
      </p:sp>
      <p:sp>
        <p:nvSpPr>
          <p:cNvPr id="21" name="Shape 18"/>
          <p:cNvSpPr/>
          <p:nvPr/>
        </p:nvSpPr>
        <p:spPr>
          <a:xfrm>
            <a:off x="548640" y="1874520"/>
            <a:ext cx="11094415" cy="960120"/>
          </a:xfrm>
          <a:prstGeom prst="roundRect">
            <a:avLst>
              <a:gd name="adj" fmla="val 11429"/>
            </a:avLst>
          </a:prstGeom>
          <a:solidFill>
            <a:srgbClr val="FFFFFF"/>
          </a:solidFill>
          <a:ln w="19050">
            <a:solidFill>
              <a:srgbClr val="FF9259"/>
            </a:solidFill>
            <a:prstDash val="solid"/>
          </a:ln>
        </p:spPr>
      </p:sp>
      <p:sp>
        <p:nvSpPr>
          <p:cNvPr id="22" name="Shape 19"/>
          <p:cNvSpPr/>
          <p:nvPr/>
        </p:nvSpPr>
        <p:spPr>
          <a:xfrm>
            <a:off x="731520" y="2011680"/>
            <a:ext cx="685800" cy="685800"/>
          </a:xfrm>
          <a:prstGeom prst="ellipse">
            <a:avLst/>
          </a:prstGeom>
          <a:solidFill>
            <a:srgbClr val="FF9259"/>
          </a:solidFill>
          <a:ln w="12700">
            <a:solidFill>
              <a:srgbClr val="FF9259"/>
            </a:solidFill>
            <a:prstDash val="solid"/>
          </a:ln>
        </p:spPr>
      </p:sp>
      <p:sp>
        <p:nvSpPr>
          <p:cNvPr id="23" name="Text 20"/>
          <p:cNvSpPr txBox="1"/>
          <p:nvPr/>
        </p:nvSpPr>
        <p:spPr>
          <a:xfrm>
            <a:off x="731520" y="2011680"/>
            <a:ext cx="685800" cy="6858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10’</a:t>
            </a:r>
            <a:endParaRPr lang="en-US" sz="1600" dirty="0"/>
          </a:p>
        </p:txBody>
      </p:sp>
      <p:sp>
        <p:nvSpPr>
          <p:cNvPr id="24" name="Text 21"/>
          <p:cNvSpPr txBox="1"/>
          <p:nvPr/>
        </p:nvSpPr>
        <p:spPr>
          <a:xfrm>
            <a:off x="1600200" y="1874520"/>
            <a:ext cx="9814255" cy="9601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Khung một dòng</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Kẻ 5 ô A–E trên A1; mỗi ô A–D viết một câu (E để trống)</a:t>
            </a:r>
            <a:endParaRPr lang="en-US" sz="1700" dirty="0"/>
          </a:p>
        </p:txBody>
      </p:sp>
      <p:sp>
        <p:nvSpPr>
          <p:cNvPr id="25" name="Shape 22"/>
          <p:cNvSpPr/>
          <p:nvPr/>
        </p:nvSpPr>
        <p:spPr>
          <a:xfrm>
            <a:off x="548640" y="2971800"/>
            <a:ext cx="11094415" cy="960120"/>
          </a:xfrm>
          <a:prstGeom prst="roundRect">
            <a:avLst>
              <a:gd name="adj" fmla="val 11429"/>
            </a:avLst>
          </a:prstGeom>
          <a:solidFill>
            <a:srgbClr val="FFFFFF"/>
          </a:solidFill>
          <a:ln w="19050">
            <a:solidFill>
              <a:srgbClr val="962B7C"/>
            </a:solidFill>
            <a:prstDash val="solid"/>
          </a:ln>
        </p:spPr>
      </p:sp>
      <p:sp>
        <p:nvSpPr>
          <p:cNvPr id="26" name="Shape 23"/>
          <p:cNvSpPr/>
          <p:nvPr/>
        </p:nvSpPr>
        <p:spPr>
          <a:xfrm>
            <a:off x="731520" y="3108960"/>
            <a:ext cx="685800" cy="685800"/>
          </a:xfrm>
          <a:prstGeom prst="ellipse">
            <a:avLst/>
          </a:prstGeom>
          <a:solidFill>
            <a:srgbClr val="962B7C"/>
          </a:solidFill>
          <a:ln w="12700">
            <a:solidFill>
              <a:srgbClr val="962B7C"/>
            </a:solidFill>
            <a:prstDash val="solid"/>
          </a:ln>
        </p:spPr>
      </p:sp>
      <p:sp>
        <p:nvSpPr>
          <p:cNvPr id="27" name="Text 24"/>
          <p:cNvSpPr txBox="1"/>
          <p:nvPr/>
        </p:nvSpPr>
        <p:spPr>
          <a:xfrm>
            <a:off x="731520" y="310896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12’</a:t>
            </a:r>
            <a:endParaRPr lang="en-US" sz="1600" dirty="0"/>
          </a:p>
        </p:txBody>
      </p:sp>
      <p:sp>
        <p:nvSpPr>
          <p:cNvPr id="28" name="Text 25"/>
          <p:cNvSpPr txBox="1"/>
          <p:nvPr/>
        </p:nvSpPr>
        <p:spPr>
          <a:xfrm>
            <a:off x="1600200" y="2971800"/>
            <a:ext cx="9814255" cy="9601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Bảng truy vết</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Trang đã làm · vào phần nào · còn thiếu gì · giả định · ai hoàn thiện. Phần không có trang nào → 🔴</a:t>
            </a:r>
            <a:endParaRPr lang="en-US" sz="1700" dirty="0"/>
          </a:p>
        </p:txBody>
      </p:sp>
      <p:sp>
        <p:nvSpPr>
          <p:cNvPr id="29" name="Shape 26"/>
          <p:cNvSpPr/>
          <p:nvPr/>
        </p:nvSpPr>
        <p:spPr>
          <a:xfrm>
            <a:off x="548640" y="4069080"/>
            <a:ext cx="11094415" cy="960120"/>
          </a:xfrm>
          <a:prstGeom prst="roundRect">
            <a:avLst>
              <a:gd name="adj" fmla="val 11429"/>
            </a:avLst>
          </a:prstGeom>
          <a:solidFill>
            <a:srgbClr val="FFFFFF"/>
          </a:solidFill>
          <a:ln w="19050">
            <a:solidFill>
              <a:srgbClr val="09A1E5"/>
            </a:solidFill>
            <a:prstDash val="solid"/>
          </a:ln>
        </p:spPr>
      </p:sp>
      <p:sp>
        <p:nvSpPr>
          <p:cNvPr id="30" name="Shape 27"/>
          <p:cNvSpPr/>
          <p:nvPr/>
        </p:nvSpPr>
        <p:spPr>
          <a:xfrm>
            <a:off x="731520" y="4206240"/>
            <a:ext cx="685800" cy="685800"/>
          </a:xfrm>
          <a:prstGeom prst="ellipse">
            <a:avLst/>
          </a:prstGeom>
          <a:solidFill>
            <a:srgbClr val="09A1E5"/>
          </a:solidFill>
          <a:ln w="12700">
            <a:solidFill>
              <a:srgbClr val="09A1E5"/>
            </a:solidFill>
            <a:prstDash val="solid"/>
          </a:ln>
        </p:spPr>
      </p:sp>
      <p:sp>
        <p:nvSpPr>
          <p:cNvPr id="31" name="Text 28"/>
          <p:cNvSpPr txBox="1"/>
          <p:nvPr/>
        </p:nvSpPr>
        <p:spPr>
          <a:xfrm>
            <a:off x="731520" y="4206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32" name="Text 29"/>
          <p:cNvSpPr txBox="1"/>
          <p:nvPr/>
        </p:nvSpPr>
        <p:spPr>
          <a:xfrm>
            <a:off x="1600200" y="4069080"/>
            <a:ext cx="9814255" cy="9601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Ba giả định quan trọng nhất</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“Giả định: … vì …; sẽ kiểm chứng bằng …”</a:t>
            </a:r>
            <a:endParaRPr lang="en-US" sz="1700" dirty="0"/>
          </a:p>
        </p:txBody>
      </p:sp>
      <p:sp>
        <p:nvSpPr>
          <p:cNvPr id="33" name="Shape 30"/>
          <p:cNvSpPr/>
          <p:nvPr/>
        </p:nvSpPr>
        <p:spPr>
          <a:xfrm>
            <a:off x="548640" y="5303520"/>
            <a:ext cx="2145731" cy="502920"/>
          </a:xfrm>
          <a:prstGeom prst="roundRect">
            <a:avLst>
              <a:gd name="adj" fmla="val 50000"/>
            </a:avLst>
          </a:prstGeom>
          <a:solidFill>
            <a:srgbClr val="FF9259"/>
          </a:solidFill>
          <a:ln w="12700">
            <a:solidFill>
              <a:srgbClr val="FF9259"/>
            </a:solidFill>
            <a:prstDash val="solid"/>
          </a:ln>
        </p:spPr>
      </p:sp>
      <p:sp>
        <p:nvSpPr>
          <p:cNvPr id="34" name="Text 31"/>
          <p:cNvSpPr txBox="1"/>
          <p:nvPr/>
        </p:nvSpPr>
        <p:spPr>
          <a:xfrm>
            <a:off x="621792" y="5303520"/>
            <a:ext cx="1999427" cy="50292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Trang đã làm (buổi)</a:t>
            </a:r>
            <a:endParaRPr lang="en-US" sz="1200" dirty="0"/>
          </a:p>
        </p:txBody>
      </p:sp>
      <p:sp>
        <p:nvSpPr>
          <p:cNvPr id="35" name="Shape 32"/>
          <p:cNvSpPr/>
          <p:nvPr/>
        </p:nvSpPr>
        <p:spPr>
          <a:xfrm>
            <a:off x="2785811" y="5303520"/>
            <a:ext cx="2145731" cy="502920"/>
          </a:xfrm>
          <a:prstGeom prst="roundRect">
            <a:avLst>
              <a:gd name="adj" fmla="val 50000"/>
            </a:avLst>
          </a:prstGeom>
          <a:solidFill>
            <a:srgbClr val="962B7C"/>
          </a:solidFill>
          <a:ln w="12700">
            <a:solidFill>
              <a:srgbClr val="962B7C"/>
            </a:solidFill>
            <a:prstDash val="solid"/>
          </a:ln>
        </p:spPr>
      </p:sp>
      <p:sp>
        <p:nvSpPr>
          <p:cNvPr id="36" name="Text 33"/>
          <p:cNvSpPr txBox="1"/>
          <p:nvPr/>
        </p:nvSpPr>
        <p:spPr>
          <a:xfrm>
            <a:off x="2858963" y="5303520"/>
            <a:ext cx="199942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Vào phần nào</a:t>
            </a:r>
            <a:endParaRPr lang="en-US" sz="1200" dirty="0"/>
          </a:p>
        </p:txBody>
      </p:sp>
      <p:sp>
        <p:nvSpPr>
          <p:cNvPr id="37" name="Shape 34"/>
          <p:cNvSpPr/>
          <p:nvPr/>
        </p:nvSpPr>
        <p:spPr>
          <a:xfrm>
            <a:off x="5022982" y="5303520"/>
            <a:ext cx="2145731" cy="502920"/>
          </a:xfrm>
          <a:prstGeom prst="roundRect">
            <a:avLst>
              <a:gd name="adj" fmla="val 50000"/>
            </a:avLst>
          </a:prstGeom>
          <a:solidFill>
            <a:srgbClr val="09A1E5"/>
          </a:solidFill>
          <a:ln w="12700">
            <a:solidFill>
              <a:srgbClr val="09A1E5"/>
            </a:solidFill>
            <a:prstDash val="solid"/>
          </a:ln>
        </p:spPr>
      </p:sp>
      <p:sp>
        <p:nvSpPr>
          <p:cNvPr id="38" name="Text 35"/>
          <p:cNvSpPr txBox="1"/>
          <p:nvPr/>
        </p:nvSpPr>
        <p:spPr>
          <a:xfrm>
            <a:off x="5096134" y="5303520"/>
            <a:ext cx="199942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Còn thiếu gì</a:t>
            </a:r>
            <a:endParaRPr lang="en-US" sz="1200" dirty="0"/>
          </a:p>
        </p:txBody>
      </p:sp>
      <p:sp>
        <p:nvSpPr>
          <p:cNvPr id="39" name="Shape 36"/>
          <p:cNvSpPr/>
          <p:nvPr/>
        </p:nvSpPr>
        <p:spPr>
          <a:xfrm>
            <a:off x="7260153" y="5303520"/>
            <a:ext cx="2145731" cy="502920"/>
          </a:xfrm>
          <a:prstGeom prst="roundRect">
            <a:avLst>
              <a:gd name="adj" fmla="val 50000"/>
            </a:avLst>
          </a:prstGeom>
          <a:solidFill>
            <a:srgbClr val="FF5178"/>
          </a:solidFill>
          <a:ln w="12700">
            <a:solidFill>
              <a:srgbClr val="FF5178"/>
            </a:solidFill>
            <a:prstDash val="solid"/>
          </a:ln>
        </p:spPr>
      </p:sp>
      <p:sp>
        <p:nvSpPr>
          <p:cNvPr id="40" name="Text 37"/>
          <p:cNvSpPr txBox="1"/>
          <p:nvPr/>
        </p:nvSpPr>
        <p:spPr>
          <a:xfrm>
            <a:off x="7333305" y="5303520"/>
            <a:ext cx="199942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Giả định</a:t>
            </a:r>
            <a:endParaRPr lang="en-US" sz="1200" dirty="0"/>
          </a:p>
        </p:txBody>
      </p:sp>
      <p:sp>
        <p:nvSpPr>
          <p:cNvPr id="41" name="Shape 38"/>
          <p:cNvSpPr/>
          <p:nvPr/>
        </p:nvSpPr>
        <p:spPr>
          <a:xfrm>
            <a:off x="9497324" y="5303520"/>
            <a:ext cx="2145731" cy="502920"/>
          </a:xfrm>
          <a:prstGeom prst="roundRect">
            <a:avLst>
              <a:gd name="adj" fmla="val 50000"/>
            </a:avLst>
          </a:prstGeom>
          <a:solidFill>
            <a:srgbClr val="49B296"/>
          </a:solidFill>
          <a:ln w="12700">
            <a:solidFill>
              <a:srgbClr val="49B296"/>
            </a:solidFill>
            <a:prstDash val="solid"/>
          </a:ln>
        </p:spPr>
      </p:sp>
      <p:sp>
        <p:nvSpPr>
          <p:cNvPr id="42" name="Text 39"/>
          <p:cNvSpPr txBox="1"/>
          <p:nvPr/>
        </p:nvSpPr>
        <p:spPr>
          <a:xfrm>
            <a:off x="9570476" y="5303520"/>
            <a:ext cx="199942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Ai hoàn thiện</a:t>
            </a:r>
            <a:endParaRPr lang="en-US" sz="1200" dirty="0"/>
          </a:p>
        </p:txBody>
      </p:sp>
      <p:sp>
        <p:nvSpPr>
          <p:cNvPr id="43" name="Text 40"/>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200" i="1" dirty="0">
                <a:solidFill>
                  <a:srgbClr val="6E6878"/>
                </a:solidFill>
                <a:latin typeface="Alexandria" pitchFamily="34" charset="0"/>
                <a:ea typeface="Alexandria" pitchFamily="34" charset="-122"/>
                <a:cs typeface="Alexandria" pitchFamily="34" charset="-120"/>
              </a:rPr>
              <a:t>Mỗi phần A–D phải có ít nhất 1 trang đã làm đưa vào.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Value proposition là đóng góp của agency vào lợi nhuận của khách hàng, quy ra tiền</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Z05: McDonald, SAMA — How to create financially quantified value propositions.</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12</a:t>
            </a:r>
            <a:endParaRPr lang="en-US" sz="1000" dirty="0"/>
          </a:p>
        </p:txBody>
      </p:sp>
      <p:sp>
        <p:nvSpPr>
          <p:cNvPr id="21" name="Shape 18"/>
          <p:cNvSpPr/>
          <p:nvPr/>
        </p:nvSpPr>
        <p:spPr>
          <a:xfrm>
            <a:off x="548640" y="1920240"/>
            <a:ext cx="11094415" cy="2194560"/>
          </a:xfrm>
          <a:prstGeom prst="roundRect">
            <a:avLst>
              <a:gd name="adj" fmla="val 5000"/>
            </a:avLst>
          </a:prstGeom>
          <a:solidFill>
            <a:srgbClr val="DDF1FB"/>
          </a:solidFill>
          <a:ln w="12700">
            <a:solidFill>
              <a:srgbClr val="09A1E5"/>
            </a:solidFill>
            <a:prstDash val="solid"/>
          </a:ln>
        </p:spPr>
      </p:sp>
      <p:sp>
        <p:nvSpPr>
          <p:cNvPr id="22" name="Text 19"/>
          <p:cNvSpPr txBox="1"/>
          <p:nvPr/>
        </p:nvSpPr>
        <p:spPr>
          <a:xfrm>
            <a:off x="914400" y="1920240"/>
            <a:ext cx="10362895" cy="2194560"/>
          </a:xfrm>
          <a:prstGeom prst="rect">
            <a:avLst/>
          </a:prstGeom>
          <a:noFill/>
          <a:ln/>
        </p:spPr>
        <p:txBody>
          <a:bodyPr wrap="square" lIns="0" tIns="0" rIns="0" bIns="0" rtlCol="0" anchor="ctr"/>
          <a:lstStyle/>
          <a:p>
            <a:pPr indent="0" marL="0">
              <a:spcAft>
                <a:spcPts val="800"/>
              </a:spcAft>
              <a:buNone/>
            </a:pPr>
            <a:r>
              <a:rPr lang="en-US" sz="2200" dirty="0">
                <a:solidFill>
                  <a:srgbClr val="2A2238"/>
                </a:solidFill>
                <a:latin typeface="Alexandria" pitchFamily="34" charset="0"/>
                <a:ea typeface="Alexandria" pitchFamily="34" charset="-122"/>
                <a:cs typeface="Alexandria" pitchFamily="34" charset="-120"/>
              </a:rPr>
              <a:t>Value proposition là </a:t>
            </a:r>
            <a:pPr indent="0" marL="0">
              <a:spcAft>
                <a:spcPts val="800"/>
              </a:spcAft>
              <a:buNone/>
            </a:pPr>
            <a:r>
              <a:rPr lang="en-US" sz="2200" b="1" i="1" dirty="0">
                <a:solidFill>
                  <a:srgbClr val="2A2238"/>
                </a:solidFill>
                <a:latin typeface="Alexandria" pitchFamily="34" charset="0"/>
                <a:ea typeface="Alexandria" pitchFamily="34" charset="-122"/>
                <a:cs typeface="Alexandria" pitchFamily="34" charset="-120"/>
              </a:rPr>
              <a:t>“the translation of the supplier’s offers into monetary terms that demonstrate their contribution to the customer’s profitability.”</a:t>
            </a:r>
            <a:endParaRPr lang="en-US" sz="2200" dirty="0"/>
          </a:p>
          <a:p>
            <a:pPr indent="0" marL="0">
              <a:spcAft>
                <a:spcPts val="800"/>
              </a:spcAft>
              <a:buNone/>
            </a:pPr>
            <a:r>
              <a:rPr lang="en-US" sz="1300" dirty="0">
                <a:solidFill>
                  <a:srgbClr val="6E6878"/>
                </a:solidFill>
                <a:latin typeface="Alexandria" pitchFamily="34" charset="0"/>
                <a:ea typeface="Alexandria" pitchFamily="34" charset="-122"/>
                <a:cs typeface="Alexandria" pitchFamily="34" charset="-120"/>
              </a:rPr>
              <a:t>— McDonald (Z05)</a:t>
            </a:r>
            <a:endParaRPr lang="en-US" sz="2200" dirty="0"/>
          </a:p>
        </p:txBody>
      </p:sp>
      <p:sp>
        <p:nvSpPr>
          <p:cNvPr id="23" name="Shape 20"/>
          <p:cNvSpPr/>
          <p:nvPr/>
        </p:nvSpPr>
        <p:spPr>
          <a:xfrm>
            <a:off x="548640" y="4389120"/>
            <a:ext cx="5410048" cy="1600200"/>
          </a:xfrm>
          <a:prstGeom prst="roundRect">
            <a:avLst>
              <a:gd name="adj" fmla="val 6857"/>
            </a:avLst>
          </a:prstGeom>
          <a:solidFill>
            <a:srgbClr val="FFFFFF"/>
          </a:solidFill>
          <a:ln w="12700">
            <a:solidFill>
              <a:srgbClr val="DCD7C8"/>
            </a:solidFill>
            <a:prstDash val="solid"/>
          </a:ln>
        </p:spPr>
      </p:sp>
      <p:sp>
        <p:nvSpPr>
          <p:cNvPr id="24" name="Text 21"/>
          <p:cNvSpPr txBox="1"/>
          <p:nvPr/>
        </p:nvSpPr>
        <p:spPr>
          <a:xfrm>
            <a:off x="868680" y="4389120"/>
            <a:ext cx="4769968" cy="160020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Không phải</a:t>
            </a:r>
            <a:endParaRPr lang="en-US" sz="1400" dirty="0"/>
          </a:p>
          <a:p>
            <a:pPr indent="0" marL="0">
              <a:buNone/>
            </a:pPr>
            <a:r>
              <a:rPr lang="en-US" sz="2000" i="1" dirty="0">
                <a:solidFill>
                  <a:srgbClr val="6E6878"/>
                </a:solidFill>
                <a:latin typeface="Alexandria" pitchFamily="34" charset="0"/>
                <a:ea typeface="Alexandria" pitchFamily="34" charset="-122"/>
                <a:cs typeface="Alexandria" pitchFamily="34" charset="-120"/>
              </a:rPr>
              <a:t>“Dịch vụ của chúng tôi gồm…”</a:t>
            </a:r>
            <a:endParaRPr lang="en-US" sz="1400" dirty="0"/>
          </a:p>
        </p:txBody>
      </p:sp>
      <p:sp>
        <p:nvSpPr>
          <p:cNvPr id="25" name="Shape 22"/>
          <p:cNvSpPr/>
          <p:nvPr/>
        </p:nvSpPr>
        <p:spPr>
          <a:xfrm>
            <a:off x="6233008" y="4389120"/>
            <a:ext cx="5410048" cy="1600200"/>
          </a:xfrm>
          <a:prstGeom prst="roundRect">
            <a:avLst>
              <a:gd name="adj" fmla="val 6857"/>
            </a:avLst>
          </a:prstGeom>
          <a:solidFill>
            <a:srgbClr val="FFF3C4"/>
          </a:solidFill>
          <a:ln w="12700">
            <a:solidFill>
              <a:srgbClr val="FFD23B"/>
            </a:solidFill>
            <a:prstDash val="solid"/>
          </a:ln>
        </p:spPr>
      </p:sp>
      <p:sp>
        <p:nvSpPr>
          <p:cNvPr id="26" name="Text 23"/>
          <p:cNvSpPr txBox="1"/>
          <p:nvPr/>
        </p:nvSpPr>
        <p:spPr>
          <a:xfrm>
            <a:off x="6553048" y="4389120"/>
            <a:ext cx="4769968" cy="160020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Mà là</a:t>
            </a:r>
            <a:endParaRPr lang="en-US" sz="1400" dirty="0"/>
          </a:p>
          <a:p>
            <a:pPr indent="0" marL="0">
              <a:buNone/>
            </a:pPr>
            <a:r>
              <a:rPr lang="en-US" sz="2000" b="1" dirty="0">
                <a:solidFill>
                  <a:srgbClr val="2A2238"/>
                </a:solidFill>
                <a:latin typeface="Alexandria" pitchFamily="34" charset="0"/>
                <a:ea typeface="Alexandria" pitchFamily="34" charset="-122"/>
                <a:cs typeface="Alexandria" pitchFamily="34" charset="-120"/>
              </a:rPr>
              <a:t>“Khách hàng được thêm bao nhiêu — quy ra tiền”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Giá trị đến từ bốn nguồn</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Z05: McDonald (SAMA) · ví dụ cho agency sự kiện: nhận định của người soạn.</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13</a:t>
            </a:r>
            <a:endParaRPr lang="en-US" sz="1000" dirty="0"/>
          </a:p>
        </p:txBody>
      </p:sp>
      <p:sp>
        <p:nvSpPr>
          <p:cNvPr id="21" name="Shape 18"/>
          <p:cNvSpPr/>
          <p:nvPr/>
        </p:nvSpPr>
        <p:spPr>
          <a:xfrm>
            <a:off x="548640" y="1874520"/>
            <a:ext cx="5410048" cy="1920240"/>
          </a:xfrm>
          <a:prstGeom prst="roundRect">
            <a:avLst>
              <a:gd name="adj" fmla="val 5714"/>
            </a:avLst>
          </a:prstGeom>
          <a:solidFill>
            <a:srgbClr val="F1E1EE"/>
          </a:solidFill>
          <a:ln w="12700">
            <a:solidFill>
              <a:srgbClr val="962B7C"/>
            </a:solidFill>
            <a:prstDash val="solid"/>
          </a:ln>
        </p:spPr>
      </p:sp>
      <p:sp>
        <p:nvSpPr>
          <p:cNvPr id="22" name="Text 19"/>
          <p:cNvSpPr txBox="1"/>
          <p:nvPr/>
        </p:nvSpPr>
        <p:spPr>
          <a:xfrm>
            <a:off x="868680" y="2057400"/>
            <a:ext cx="3306928" cy="50292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Tăng giá trị</a:t>
            </a:r>
            <a:endParaRPr lang="en-US" sz="2100" dirty="0"/>
          </a:p>
        </p:txBody>
      </p:sp>
      <p:sp>
        <p:nvSpPr>
          <p:cNvPr id="23" name="Shape 20"/>
          <p:cNvSpPr/>
          <p:nvPr/>
        </p:nvSpPr>
        <p:spPr>
          <a:xfrm>
            <a:off x="4084168" y="2075688"/>
            <a:ext cx="1600200" cy="411480"/>
          </a:xfrm>
          <a:prstGeom prst="roundRect">
            <a:avLst>
              <a:gd name="adj" fmla="val 50000"/>
            </a:avLst>
          </a:prstGeom>
          <a:solidFill>
            <a:srgbClr val="FFFFFF"/>
          </a:solidFill>
          <a:ln w="12700">
            <a:solidFill>
              <a:srgbClr val="962B7C"/>
            </a:solidFill>
            <a:prstDash val="solid"/>
          </a:ln>
        </p:spPr>
      </p:sp>
      <p:sp>
        <p:nvSpPr>
          <p:cNvPr id="24" name="Text 21"/>
          <p:cNvSpPr txBox="1"/>
          <p:nvPr/>
        </p:nvSpPr>
        <p:spPr>
          <a:xfrm>
            <a:off x="4157320" y="2075688"/>
            <a:ext cx="1453896" cy="41148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Buổi 8</a:t>
            </a:r>
            <a:endParaRPr lang="en-US" sz="1100" dirty="0"/>
          </a:p>
        </p:txBody>
      </p:sp>
      <p:sp>
        <p:nvSpPr>
          <p:cNvPr id="25" name="Text 22"/>
          <p:cNvSpPr txBox="1"/>
          <p:nvPr/>
        </p:nvSpPr>
        <p:spPr>
          <a:xfrm>
            <a:off x="868680" y="2651760"/>
            <a:ext cx="4769968" cy="100584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Khách doanh nghiệp giữ quan hệ, tăng giao dịch sau sự kiện (ROI cấp 4–5)</a:t>
            </a:r>
            <a:endParaRPr lang="en-US" sz="1500" dirty="0"/>
          </a:p>
        </p:txBody>
      </p:sp>
      <p:sp>
        <p:nvSpPr>
          <p:cNvPr id="26" name="Shape 23"/>
          <p:cNvSpPr/>
          <p:nvPr/>
        </p:nvSpPr>
        <p:spPr>
          <a:xfrm>
            <a:off x="6233008" y="1874520"/>
            <a:ext cx="5410048" cy="1920240"/>
          </a:xfrm>
          <a:prstGeom prst="roundRect">
            <a:avLst>
              <a:gd name="adj" fmla="val 5714"/>
            </a:avLst>
          </a:prstGeom>
          <a:solidFill>
            <a:srgbClr val="DDF1FB"/>
          </a:solidFill>
          <a:ln w="12700">
            <a:solidFill>
              <a:srgbClr val="09A1E5"/>
            </a:solidFill>
            <a:prstDash val="solid"/>
          </a:ln>
        </p:spPr>
      </p:sp>
      <p:sp>
        <p:nvSpPr>
          <p:cNvPr id="27" name="Text 24"/>
          <p:cNvSpPr txBox="1"/>
          <p:nvPr/>
        </p:nvSpPr>
        <p:spPr>
          <a:xfrm>
            <a:off x="6553048" y="2057400"/>
            <a:ext cx="3306928" cy="50292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Giảm chi phí</a:t>
            </a:r>
            <a:endParaRPr lang="en-US" sz="2100" dirty="0"/>
          </a:p>
        </p:txBody>
      </p:sp>
      <p:sp>
        <p:nvSpPr>
          <p:cNvPr id="28" name="Shape 25"/>
          <p:cNvSpPr/>
          <p:nvPr/>
        </p:nvSpPr>
        <p:spPr>
          <a:xfrm>
            <a:off x="9768535" y="2075688"/>
            <a:ext cx="1600200" cy="411480"/>
          </a:xfrm>
          <a:prstGeom prst="roundRect">
            <a:avLst>
              <a:gd name="adj" fmla="val 50000"/>
            </a:avLst>
          </a:prstGeom>
          <a:solidFill>
            <a:srgbClr val="FFFFFF"/>
          </a:solidFill>
          <a:ln w="12700">
            <a:solidFill>
              <a:srgbClr val="09A1E5"/>
            </a:solidFill>
            <a:prstDash val="solid"/>
          </a:ln>
        </p:spPr>
      </p:sp>
      <p:sp>
        <p:nvSpPr>
          <p:cNvPr id="29" name="Text 26"/>
          <p:cNvSpPr txBox="1"/>
          <p:nvPr/>
        </p:nvSpPr>
        <p:spPr>
          <a:xfrm>
            <a:off x="9841687" y="2075688"/>
            <a:ext cx="1453896" cy="41148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Buổi 7, 10, 12</a:t>
            </a:r>
            <a:endParaRPr lang="en-US" sz="1100" dirty="0"/>
          </a:p>
        </p:txBody>
      </p:sp>
      <p:sp>
        <p:nvSpPr>
          <p:cNvPr id="30" name="Text 27"/>
          <p:cNvSpPr txBox="1"/>
          <p:nvPr/>
        </p:nvSpPr>
        <p:spPr>
          <a:xfrm>
            <a:off x="6553048" y="2651760"/>
            <a:ext cx="4769968" cy="100584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Chọn nhà cung cấp, đàm phán tốt, dùng quan hệ dài hạn</a:t>
            </a:r>
            <a:endParaRPr lang="en-US" sz="1500" dirty="0"/>
          </a:p>
        </p:txBody>
      </p:sp>
      <p:sp>
        <p:nvSpPr>
          <p:cNvPr id="31" name="Shape 28"/>
          <p:cNvSpPr/>
          <p:nvPr/>
        </p:nvSpPr>
        <p:spPr>
          <a:xfrm>
            <a:off x="548640" y="3977640"/>
            <a:ext cx="5410048" cy="1920240"/>
          </a:xfrm>
          <a:prstGeom prst="roundRect">
            <a:avLst>
              <a:gd name="adj" fmla="val 5714"/>
            </a:avLst>
          </a:prstGeom>
          <a:solidFill>
            <a:srgbClr val="FFE9DE"/>
          </a:solidFill>
          <a:ln w="12700">
            <a:solidFill>
              <a:srgbClr val="FF9259"/>
            </a:solidFill>
            <a:prstDash val="solid"/>
          </a:ln>
        </p:spPr>
      </p:sp>
      <p:sp>
        <p:nvSpPr>
          <p:cNvPr id="32" name="Text 29"/>
          <p:cNvSpPr txBox="1"/>
          <p:nvPr/>
        </p:nvSpPr>
        <p:spPr>
          <a:xfrm>
            <a:off x="868680" y="4160520"/>
            <a:ext cx="3306928" cy="50292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Tránh chi phí</a:t>
            </a:r>
            <a:endParaRPr lang="en-US" sz="2100" dirty="0"/>
          </a:p>
        </p:txBody>
      </p:sp>
      <p:sp>
        <p:nvSpPr>
          <p:cNvPr id="33" name="Shape 30"/>
          <p:cNvSpPr/>
          <p:nvPr/>
        </p:nvSpPr>
        <p:spPr>
          <a:xfrm>
            <a:off x="4084168" y="4178808"/>
            <a:ext cx="1600200" cy="411480"/>
          </a:xfrm>
          <a:prstGeom prst="roundRect">
            <a:avLst>
              <a:gd name="adj" fmla="val 50000"/>
            </a:avLst>
          </a:prstGeom>
          <a:solidFill>
            <a:srgbClr val="FFFFFF"/>
          </a:solidFill>
          <a:ln w="12700">
            <a:solidFill>
              <a:srgbClr val="FF9259"/>
            </a:solidFill>
            <a:prstDash val="solid"/>
          </a:ln>
        </p:spPr>
      </p:sp>
      <p:sp>
        <p:nvSpPr>
          <p:cNvPr id="34" name="Text 31"/>
          <p:cNvSpPr txBox="1"/>
          <p:nvPr/>
        </p:nvSpPr>
        <p:spPr>
          <a:xfrm>
            <a:off x="4157320" y="4178808"/>
            <a:ext cx="1453896" cy="41148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Buổi 9, 11, 12</a:t>
            </a:r>
            <a:endParaRPr lang="en-US" sz="1100" dirty="0"/>
          </a:p>
        </p:txBody>
      </p:sp>
      <p:sp>
        <p:nvSpPr>
          <p:cNvPr id="35" name="Text 32"/>
          <p:cNvSpPr txBox="1"/>
          <p:nvPr/>
        </p:nvSpPr>
        <p:spPr>
          <a:xfrm>
            <a:off x="868680" y="4754880"/>
            <a:ext cx="4769968" cy="100584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Due diligence KOL, hợp đồng chặt, xử lý xung đột sớm → tránh sự cố uy tín</a:t>
            </a:r>
            <a:endParaRPr lang="en-US" sz="1500" dirty="0"/>
          </a:p>
        </p:txBody>
      </p:sp>
      <p:sp>
        <p:nvSpPr>
          <p:cNvPr id="36" name="Shape 33"/>
          <p:cNvSpPr/>
          <p:nvPr/>
        </p:nvSpPr>
        <p:spPr>
          <a:xfrm>
            <a:off x="6233008" y="3977640"/>
            <a:ext cx="5410048" cy="1920240"/>
          </a:xfrm>
          <a:prstGeom prst="roundRect">
            <a:avLst>
              <a:gd name="adj" fmla="val 5714"/>
            </a:avLst>
          </a:prstGeom>
          <a:solidFill>
            <a:srgbClr val="FFE4EA"/>
          </a:solidFill>
          <a:ln w="12700">
            <a:solidFill>
              <a:srgbClr val="FF5178"/>
            </a:solidFill>
            <a:prstDash val="solid"/>
          </a:ln>
        </p:spPr>
      </p:sp>
      <p:sp>
        <p:nvSpPr>
          <p:cNvPr id="37" name="Text 34"/>
          <p:cNvSpPr txBox="1"/>
          <p:nvPr/>
        </p:nvSpPr>
        <p:spPr>
          <a:xfrm>
            <a:off x="6553048" y="4160520"/>
            <a:ext cx="3306928" cy="50292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Đóng góp cảm xúc</a:t>
            </a:r>
            <a:endParaRPr lang="en-US" sz="2100" dirty="0"/>
          </a:p>
        </p:txBody>
      </p:sp>
      <p:sp>
        <p:nvSpPr>
          <p:cNvPr id="38" name="Shape 35"/>
          <p:cNvSpPr/>
          <p:nvPr/>
        </p:nvSpPr>
        <p:spPr>
          <a:xfrm>
            <a:off x="9768535" y="4178808"/>
            <a:ext cx="1600200" cy="411480"/>
          </a:xfrm>
          <a:prstGeom prst="roundRect">
            <a:avLst>
              <a:gd name="adj" fmla="val 50000"/>
            </a:avLst>
          </a:prstGeom>
          <a:solidFill>
            <a:srgbClr val="FFFFFF"/>
          </a:solidFill>
          <a:ln w="12700">
            <a:solidFill>
              <a:srgbClr val="FF5178"/>
            </a:solidFill>
            <a:prstDash val="solid"/>
          </a:ln>
        </p:spPr>
      </p:sp>
      <p:sp>
        <p:nvSpPr>
          <p:cNvPr id="39" name="Text 36"/>
          <p:cNvSpPr txBox="1"/>
          <p:nvPr/>
        </p:nvSpPr>
        <p:spPr>
          <a:xfrm>
            <a:off x="9841687" y="4178808"/>
            <a:ext cx="1453896" cy="41148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Buổi 3, 9</a:t>
            </a:r>
            <a:endParaRPr lang="en-US" sz="1100" dirty="0"/>
          </a:p>
        </p:txBody>
      </p:sp>
      <p:sp>
        <p:nvSpPr>
          <p:cNvPr id="40" name="Text 37"/>
          <p:cNvSpPr txBox="1"/>
          <p:nvPr/>
        </p:nvSpPr>
        <p:spPr>
          <a:xfrm>
            <a:off x="6553048" y="4754880"/>
            <a:ext cx="4769968" cy="100584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Trải nghiệm khách VIP, hình ảnh thương hiệu — khó định lượng nhưng có thật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con số trong giá trị phải có nguồn hoặc giả định</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Công thức minh họa — GIẢ ĐỊNH, để luyện cách lập luận, không phải số thật.</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14</a:t>
            </a:r>
            <a:endParaRPr lang="en-US" sz="1000" dirty="0"/>
          </a:p>
        </p:txBody>
      </p:sp>
      <p:sp>
        <p:nvSpPr>
          <p:cNvPr id="21" name="Shape 18"/>
          <p:cNvSpPr/>
          <p:nvPr/>
        </p:nvSpPr>
        <p:spPr>
          <a:xfrm>
            <a:off x="9448495" y="1783080"/>
            <a:ext cx="2194560" cy="411480"/>
          </a:xfrm>
          <a:prstGeom prst="roundRect">
            <a:avLst>
              <a:gd name="adj" fmla="val 50000"/>
            </a:avLst>
          </a:prstGeom>
          <a:solidFill>
            <a:srgbClr val="FFD23B"/>
          </a:solidFill>
          <a:ln w="12700">
            <a:solidFill>
              <a:srgbClr val="FFD23B"/>
            </a:solidFill>
            <a:prstDash val="solid"/>
          </a:ln>
        </p:spPr>
      </p:sp>
      <p:sp>
        <p:nvSpPr>
          <p:cNvPr id="22" name="Text 19"/>
          <p:cNvSpPr txBox="1"/>
          <p:nvPr/>
        </p:nvSpPr>
        <p:spPr>
          <a:xfrm>
            <a:off x="9521647" y="1783080"/>
            <a:ext cx="2048256" cy="41148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GIẢ ĐỊNH</a:t>
            </a:r>
            <a:endParaRPr lang="en-US" sz="1200" dirty="0"/>
          </a:p>
        </p:txBody>
      </p:sp>
      <p:sp>
        <p:nvSpPr>
          <p:cNvPr id="23" name="Text 20"/>
          <p:cNvSpPr txBox="1"/>
          <p:nvPr/>
        </p:nvSpPr>
        <p:spPr>
          <a:xfrm>
            <a:off x="548640" y="2331720"/>
            <a:ext cx="11094415" cy="45720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Giá trị ước tính =</a:t>
            </a:r>
            <a:endParaRPr lang="en-US" sz="2000" dirty="0"/>
          </a:p>
        </p:txBody>
      </p:sp>
      <p:sp>
        <p:nvSpPr>
          <p:cNvPr id="24" name="Shape 21"/>
          <p:cNvSpPr/>
          <p:nvPr/>
        </p:nvSpPr>
        <p:spPr>
          <a:xfrm>
            <a:off x="548640" y="2926080"/>
            <a:ext cx="2396414" cy="1371600"/>
          </a:xfrm>
          <a:prstGeom prst="roundRect">
            <a:avLst>
              <a:gd name="adj" fmla="val 8000"/>
            </a:avLst>
          </a:prstGeom>
          <a:solidFill>
            <a:srgbClr val="F1E1EE"/>
          </a:solidFill>
          <a:ln w="19050">
            <a:solidFill>
              <a:srgbClr val="962B7C"/>
            </a:solidFill>
            <a:prstDash val="solid"/>
          </a:ln>
        </p:spPr>
      </p:sp>
      <p:sp>
        <p:nvSpPr>
          <p:cNvPr id="25" name="Text 22"/>
          <p:cNvSpPr txBox="1"/>
          <p:nvPr/>
        </p:nvSpPr>
        <p:spPr>
          <a:xfrm>
            <a:off x="731520" y="2926080"/>
            <a:ext cx="2030654" cy="13716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số khách DN giữ thêm nhờ chương trình</a:t>
            </a:r>
            <a:endParaRPr lang="en-US" sz="1600" dirty="0"/>
          </a:p>
        </p:txBody>
      </p:sp>
      <p:sp>
        <p:nvSpPr>
          <p:cNvPr id="26" name="Text 23"/>
          <p:cNvSpPr txBox="1"/>
          <p:nvPr/>
        </p:nvSpPr>
        <p:spPr>
          <a:xfrm>
            <a:off x="2945054" y="2926080"/>
            <a:ext cx="502920" cy="1371600"/>
          </a:xfrm>
          <a:prstGeom prst="rect">
            <a:avLst/>
          </a:prstGeom>
          <a:noFill/>
          <a:ln/>
        </p:spPr>
        <p:txBody>
          <a:bodyPr wrap="square" lIns="0" tIns="0" rIns="0" bIns="0" rtlCol="0" anchor="ctr"/>
          <a:lstStyle/>
          <a:p>
            <a:pPr algn="ctr" indent="0" marL="0">
              <a:buNone/>
            </a:pPr>
            <a:r>
              <a:rPr lang="en-US" sz="3000" b="1" dirty="0">
                <a:solidFill>
                  <a:srgbClr val="2A2238"/>
                </a:solidFill>
                <a:latin typeface="Alexandria" pitchFamily="34" charset="0"/>
                <a:ea typeface="Alexandria" pitchFamily="34" charset="-122"/>
                <a:cs typeface="Alexandria" pitchFamily="34" charset="-120"/>
              </a:rPr>
              <a:t>×</a:t>
            </a:r>
            <a:endParaRPr lang="en-US" sz="3000" dirty="0"/>
          </a:p>
        </p:txBody>
      </p:sp>
      <p:sp>
        <p:nvSpPr>
          <p:cNvPr id="27" name="Shape 24"/>
          <p:cNvSpPr/>
          <p:nvPr/>
        </p:nvSpPr>
        <p:spPr>
          <a:xfrm>
            <a:off x="3447974" y="2926080"/>
            <a:ext cx="2396414" cy="1371600"/>
          </a:xfrm>
          <a:prstGeom prst="roundRect">
            <a:avLst>
              <a:gd name="adj" fmla="val 8000"/>
            </a:avLst>
          </a:prstGeom>
          <a:solidFill>
            <a:srgbClr val="DDF1FB"/>
          </a:solidFill>
          <a:ln w="19050">
            <a:solidFill>
              <a:srgbClr val="09A1E5"/>
            </a:solidFill>
            <a:prstDash val="solid"/>
          </a:ln>
        </p:spPr>
      </p:sp>
      <p:sp>
        <p:nvSpPr>
          <p:cNvPr id="28" name="Text 25"/>
          <p:cNvSpPr txBox="1"/>
          <p:nvPr/>
        </p:nvSpPr>
        <p:spPr>
          <a:xfrm>
            <a:off x="3630854" y="2926080"/>
            <a:ext cx="2030654" cy="13716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lợi nhuận bình quân mỗi khách/năm</a:t>
            </a:r>
            <a:endParaRPr lang="en-US" sz="1600" dirty="0"/>
          </a:p>
        </p:txBody>
      </p:sp>
      <p:sp>
        <p:nvSpPr>
          <p:cNvPr id="29" name="Text 26"/>
          <p:cNvSpPr txBox="1"/>
          <p:nvPr/>
        </p:nvSpPr>
        <p:spPr>
          <a:xfrm>
            <a:off x="5844388" y="2926080"/>
            <a:ext cx="502920" cy="1371600"/>
          </a:xfrm>
          <a:prstGeom prst="rect">
            <a:avLst/>
          </a:prstGeom>
          <a:noFill/>
          <a:ln/>
        </p:spPr>
        <p:txBody>
          <a:bodyPr wrap="square" lIns="0" tIns="0" rIns="0" bIns="0" rtlCol="0" anchor="ctr"/>
          <a:lstStyle/>
          <a:p>
            <a:pPr algn="ctr" indent="0" marL="0">
              <a:buNone/>
            </a:pPr>
            <a:r>
              <a:rPr lang="en-US" sz="3000" b="1" dirty="0">
                <a:solidFill>
                  <a:srgbClr val="2A2238"/>
                </a:solidFill>
                <a:latin typeface="Alexandria" pitchFamily="34" charset="0"/>
                <a:ea typeface="Alexandria" pitchFamily="34" charset="-122"/>
                <a:cs typeface="Alexandria" pitchFamily="34" charset="-120"/>
              </a:rPr>
              <a:t>+</a:t>
            </a:r>
            <a:endParaRPr lang="en-US" sz="3000" dirty="0"/>
          </a:p>
        </p:txBody>
      </p:sp>
      <p:sp>
        <p:nvSpPr>
          <p:cNvPr id="30" name="Shape 27"/>
          <p:cNvSpPr/>
          <p:nvPr/>
        </p:nvSpPr>
        <p:spPr>
          <a:xfrm>
            <a:off x="6347308" y="2926080"/>
            <a:ext cx="2396414" cy="1371600"/>
          </a:xfrm>
          <a:prstGeom prst="roundRect">
            <a:avLst>
              <a:gd name="adj" fmla="val 8000"/>
            </a:avLst>
          </a:prstGeom>
          <a:solidFill>
            <a:srgbClr val="E1F3EE"/>
          </a:solidFill>
          <a:ln w="19050">
            <a:solidFill>
              <a:srgbClr val="49B296"/>
            </a:solidFill>
            <a:prstDash val="solid"/>
          </a:ln>
        </p:spPr>
      </p:sp>
      <p:sp>
        <p:nvSpPr>
          <p:cNvPr id="31" name="Text 28"/>
          <p:cNvSpPr txBox="1"/>
          <p:nvPr/>
        </p:nvSpPr>
        <p:spPr>
          <a:xfrm>
            <a:off x="6530188" y="2926080"/>
            <a:ext cx="2030654" cy="13716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chi phí tránh được</a:t>
            </a:r>
            <a:endParaRPr lang="en-US" sz="1600" dirty="0"/>
          </a:p>
        </p:txBody>
      </p:sp>
      <p:sp>
        <p:nvSpPr>
          <p:cNvPr id="32" name="Text 29"/>
          <p:cNvSpPr txBox="1"/>
          <p:nvPr/>
        </p:nvSpPr>
        <p:spPr>
          <a:xfrm>
            <a:off x="8743721" y="2926080"/>
            <a:ext cx="502920" cy="1371600"/>
          </a:xfrm>
          <a:prstGeom prst="rect">
            <a:avLst/>
          </a:prstGeom>
          <a:noFill/>
          <a:ln/>
        </p:spPr>
        <p:txBody>
          <a:bodyPr wrap="square" lIns="0" tIns="0" rIns="0" bIns="0" rtlCol="0" anchor="ctr"/>
          <a:lstStyle/>
          <a:p>
            <a:pPr algn="ctr" indent="0" marL="0">
              <a:buNone/>
            </a:pPr>
            <a:r>
              <a:rPr lang="en-US" sz="3000" b="1" dirty="0">
                <a:solidFill>
                  <a:srgbClr val="2A2238"/>
                </a:solidFill>
                <a:latin typeface="Alexandria" pitchFamily="34" charset="0"/>
                <a:ea typeface="Alexandria" pitchFamily="34" charset="-122"/>
                <a:cs typeface="Alexandria" pitchFamily="34" charset="-120"/>
              </a:rPr>
              <a:t>−</a:t>
            </a:r>
            <a:endParaRPr lang="en-US" sz="3000" dirty="0"/>
          </a:p>
        </p:txBody>
      </p:sp>
      <p:sp>
        <p:nvSpPr>
          <p:cNvPr id="33" name="Shape 30"/>
          <p:cNvSpPr/>
          <p:nvPr/>
        </p:nvSpPr>
        <p:spPr>
          <a:xfrm>
            <a:off x="9246641" y="2926080"/>
            <a:ext cx="2396414" cy="1371600"/>
          </a:xfrm>
          <a:prstGeom prst="roundRect">
            <a:avLst>
              <a:gd name="adj" fmla="val 8000"/>
            </a:avLst>
          </a:prstGeom>
          <a:solidFill>
            <a:srgbClr val="FFE4EA"/>
          </a:solidFill>
          <a:ln w="19050">
            <a:solidFill>
              <a:srgbClr val="FF5178"/>
            </a:solidFill>
            <a:prstDash val="solid"/>
          </a:ln>
        </p:spPr>
      </p:sp>
      <p:sp>
        <p:nvSpPr>
          <p:cNvPr id="34" name="Text 31"/>
          <p:cNvSpPr txBox="1"/>
          <p:nvPr/>
        </p:nvSpPr>
        <p:spPr>
          <a:xfrm>
            <a:off x="9429521" y="2926080"/>
            <a:ext cx="2030654" cy="13716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chi phí chương trình</a:t>
            </a:r>
            <a:endParaRPr lang="en-US" sz="1600" dirty="0"/>
          </a:p>
        </p:txBody>
      </p:sp>
      <p:sp>
        <p:nvSpPr>
          <p:cNvPr id="35" name="Text 32"/>
          <p:cNvSpPr txBox="1"/>
          <p:nvPr/>
        </p:nvSpPr>
        <p:spPr>
          <a:xfrm>
            <a:off x="548640" y="4572000"/>
            <a:ext cx="11094415" cy="36576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Dưới mỗi ô ghi một trong hai:</a:t>
            </a:r>
            <a:endParaRPr lang="en-US" sz="1400" dirty="0"/>
          </a:p>
        </p:txBody>
      </p:sp>
      <p:sp>
        <p:nvSpPr>
          <p:cNvPr id="36" name="Shape 33"/>
          <p:cNvSpPr/>
          <p:nvPr/>
        </p:nvSpPr>
        <p:spPr>
          <a:xfrm>
            <a:off x="548640" y="5029200"/>
            <a:ext cx="5410048" cy="960120"/>
          </a:xfrm>
          <a:prstGeom prst="roundRect">
            <a:avLst>
              <a:gd name="adj" fmla="val 11429"/>
            </a:avLst>
          </a:prstGeom>
          <a:solidFill>
            <a:srgbClr val="FFFFFF"/>
          </a:solidFill>
          <a:ln w="12700">
            <a:solidFill>
              <a:srgbClr val="DCD7C8"/>
            </a:solidFill>
            <a:prstDash val="solid"/>
          </a:ln>
        </p:spPr>
      </p:sp>
      <p:sp>
        <p:nvSpPr>
          <p:cNvPr id="37" name="Text 34"/>
          <p:cNvSpPr txBox="1"/>
          <p:nvPr/>
        </p:nvSpPr>
        <p:spPr>
          <a:xfrm>
            <a:off x="822960" y="5029200"/>
            <a:ext cx="4861408" cy="9601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Nguồn: </a:t>
            </a:r>
            <a:pPr indent="0" marL="0">
              <a:buNone/>
            </a:pPr>
            <a:r>
              <a:rPr lang="en-US" sz="1600" dirty="0">
                <a:solidFill>
                  <a:srgbClr val="2A2238"/>
                </a:solidFill>
                <a:latin typeface="Alexandria" pitchFamily="34" charset="0"/>
                <a:ea typeface="Alexandria" pitchFamily="34" charset="-122"/>
                <a:cs typeface="Alexandria" pitchFamily="34" charset="-120"/>
              </a:rPr>
              <a:t>dữ liệu khách cung cấp, báo cáo, hợp đồng</a:t>
            </a:r>
            <a:endParaRPr lang="en-US" sz="1600" dirty="0"/>
          </a:p>
        </p:txBody>
      </p:sp>
      <p:sp>
        <p:nvSpPr>
          <p:cNvPr id="38" name="Shape 35"/>
          <p:cNvSpPr/>
          <p:nvPr/>
        </p:nvSpPr>
        <p:spPr>
          <a:xfrm>
            <a:off x="6233008" y="5029200"/>
            <a:ext cx="5410048" cy="960120"/>
          </a:xfrm>
          <a:prstGeom prst="roundRect">
            <a:avLst>
              <a:gd name="adj" fmla="val 11429"/>
            </a:avLst>
          </a:prstGeom>
          <a:solidFill>
            <a:srgbClr val="FFF3C4"/>
          </a:solidFill>
          <a:ln w="12700">
            <a:solidFill>
              <a:srgbClr val="FFD23B"/>
            </a:solidFill>
            <a:prstDash val="solid"/>
          </a:ln>
        </p:spPr>
      </p:sp>
      <p:sp>
        <p:nvSpPr>
          <p:cNvPr id="39" name="Text 36"/>
          <p:cNvSpPr txBox="1"/>
          <p:nvPr/>
        </p:nvSpPr>
        <p:spPr>
          <a:xfrm>
            <a:off x="6507328" y="5029200"/>
            <a:ext cx="4861408" cy="9601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Giả định: </a:t>
            </a:r>
            <a:pPr indent="0" marL="0">
              <a:buNone/>
            </a:pPr>
            <a:r>
              <a:rPr lang="en-US" sz="1600" i="1" dirty="0">
                <a:solidFill>
                  <a:srgbClr val="2A2238"/>
                </a:solidFill>
                <a:latin typeface="Alexandria" pitchFamily="34" charset="0"/>
                <a:ea typeface="Alexandria" pitchFamily="34" charset="-122"/>
                <a:cs typeface="Alexandria" pitchFamily="34" charset="-120"/>
              </a:rPr>
              <a:t>… vì …; kiểm chứng bằng …</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lời hứa ở phần C cần một dòng đo ở phần D</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Z06: Davies, Creating compelling customer value propositions, Cranfield blog.</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15</a:t>
            </a:r>
            <a:endParaRPr lang="en-US" sz="1000" dirty="0"/>
          </a:p>
        </p:txBody>
      </p:sp>
      <p:sp>
        <p:nvSpPr>
          <p:cNvPr id="21" name="Shape 18"/>
          <p:cNvSpPr/>
          <p:nvPr/>
        </p:nvSpPr>
        <p:spPr>
          <a:xfrm>
            <a:off x="548640" y="1874520"/>
            <a:ext cx="11094415" cy="1280160"/>
          </a:xfrm>
          <a:prstGeom prst="roundRect">
            <a:avLst>
              <a:gd name="adj" fmla="val 8571"/>
            </a:avLst>
          </a:prstGeom>
          <a:solidFill>
            <a:srgbClr val="F1E1EE"/>
          </a:solidFill>
          <a:ln w="12700">
            <a:solidFill>
              <a:srgbClr val="962B7C"/>
            </a:solidFill>
            <a:prstDash val="solid"/>
          </a:ln>
        </p:spPr>
      </p:sp>
      <p:sp>
        <p:nvSpPr>
          <p:cNvPr id="22" name="Text 19"/>
          <p:cNvSpPr txBox="1"/>
          <p:nvPr/>
        </p:nvSpPr>
        <p:spPr>
          <a:xfrm>
            <a:off x="914400" y="1874520"/>
            <a:ext cx="10362895" cy="1280160"/>
          </a:xfrm>
          <a:prstGeom prst="rect">
            <a:avLst/>
          </a:prstGeom>
          <a:noFill/>
          <a:ln/>
        </p:spPr>
        <p:txBody>
          <a:bodyPr wrap="square" lIns="0" tIns="0" rIns="0" bIns="0" rtlCol="0" anchor="ctr"/>
          <a:lstStyle/>
          <a:p>
            <a:pPr indent="0" marL="0">
              <a:buNone/>
            </a:pPr>
            <a:r>
              <a:rPr lang="en-US" sz="1700" i="1" dirty="0">
                <a:solidFill>
                  <a:srgbClr val="2A2238"/>
                </a:solidFill>
                <a:latin typeface="Alexandria" pitchFamily="34" charset="0"/>
                <a:ea typeface="Alexandria" pitchFamily="34" charset="-122"/>
                <a:cs typeface="Alexandria" pitchFamily="34" charset="-120"/>
              </a:rPr>
              <a:t>“It is the supplier’s job to advise how the value that they promise within their value proposition will be captured (in ROI and KPI measures).” </a:t>
            </a:r>
            <a:pPr indent="0" marL="0">
              <a:buNone/>
            </a:pPr>
            <a:r>
              <a:rPr lang="en-US" sz="1200" dirty="0">
                <a:solidFill>
                  <a:srgbClr val="6E6878"/>
                </a:solidFill>
                <a:latin typeface="Alexandria" pitchFamily="34" charset="0"/>
                <a:ea typeface="Alexandria" pitchFamily="34" charset="-122"/>
                <a:cs typeface="Alexandria" pitchFamily="34" charset="-120"/>
              </a:rPr>
              <a:t>— Davies (Z06)</a:t>
            </a:r>
            <a:endParaRPr lang="en-US" sz="1700" dirty="0"/>
          </a:p>
        </p:txBody>
      </p:sp>
      <p:sp>
        <p:nvSpPr>
          <p:cNvPr id="23" name="Shape 20"/>
          <p:cNvSpPr/>
          <p:nvPr/>
        </p:nvSpPr>
        <p:spPr>
          <a:xfrm>
            <a:off x="548640" y="3429000"/>
            <a:ext cx="4998568" cy="502920"/>
          </a:xfrm>
          <a:prstGeom prst="roundRect">
            <a:avLst>
              <a:gd name="adj" fmla="val 50000"/>
            </a:avLst>
          </a:prstGeom>
          <a:solidFill>
            <a:srgbClr val="FF9259"/>
          </a:solidFill>
          <a:ln w="12700">
            <a:solidFill>
              <a:srgbClr val="FF9259"/>
            </a:solidFill>
            <a:prstDash val="solid"/>
          </a:ln>
        </p:spPr>
      </p:sp>
      <p:sp>
        <p:nvSpPr>
          <p:cNvPr id="24" name="Text 21"/>
          <p:cNvSpPr txBox="1"/>
          <p:nvPr/>
        </p:nvSpPr>
        <p:spPr>
          <a:xfrm>
            <a:off x="621792" y="3429000"/>
            <a:ext cx="4852264" cy="50292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C · Lời hứa</a:t>
            </a:r>
            <a:endParaRPr lang="en-US" sz="1500" dirty="0"/>
          </a:p>
        </p:txBody>
      </p:sp>
      <p:sp>
        <p:nvSpPr>
          <p:cNvPr id="25" name="Shape 22"/>
          <p:cNvSpPr/>
          <p:nvPr/>
        </p:nvSpPr>
        <p:spPr>
          <a:xfrm>
            <a:off x="6644488" y="3429000"/>
            <a:ext cx="4998568" cy="502920"/>
          </a:xfrm>
          <a:prstGeom prst="roundRect">
            <a:avLst>
              <a:gd name="adj" fmla="val 50000"/>
            </a:avLst>
          </a:prstGeom>
          <a:solidFill>
            <a:srgbClr val="49B296"/>
          </a:solidFill>
          <a:ln w="12700">
            <a:solidFill>
              <a:srgbClr val="49B296"/>
            </a:solidFill>
            <a:prstDash val="solid"/>
          </a:ln>
        </p:spPr>
      </p:sp>
      <p:sp>
        <p:nvSpPr>
          <p:cNvPr id="26" name="Text 23"/>
          <p:cNvSpPr txBox="1"/>
          <p:nvPr/>
        </p:nvSpPr>
        <p:spPr>
          <a:xfrm>
            <a:off x="6717640" y="3429000"/>
            <a:ext cx="4852264"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D · Dòng đo</a:t>
            </a:r>
            <a:endParaRPr lang="en-US" sz="1500" dirty="0"/>
          </a:p>
        </p:txBody>
      </p:sp>
      <p:sp>
        <p:nvSpPr>
          <p:cNvPr id="27" name="Shape 24"/>
          <p:cNvSpPr/>
          <p:nvPr/>
        </p:nvSpPr>
        <p:spPr>
          <a:xfrm>
            <a:off x="548640" y="4069080"/>
            <a:ext cx="4998568" cy="548640"/>
          </a:xfrm>
          <a:prstGeom prst="roundRect">
            <a:avLst>
              <a:gd name="adj" fmla="val 20000"/>
            </a:avLst>
          </a:prstGeom>
          <a:solidFill>
            <a:srgbClr val="FFE9DE"/>
          </a:solidFill>
          <a:ln w="12700">
            <a:solidFill>
              <a:srgbClr val="FFE9DE"/>
            </a:solidFill>
            <a:prstDash val="solid"/>
          </a:ln>
        </p:spPr>
      </p:sp>
      <p:sp>
        <p:nvSpPr>
          <p:cNvPr id="28" name="Text 25"/>
          <p:cNvSpPr txBox="1"/>
          <p:nvPr/>
        </p:nvSpPr>
        <p:spPr>
          <a:xfrm>
            <a:off x="731520" y="4069080"/>
            <a:ext cx="4632808"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Tăng tỷ lệ CEO đến trực tiếp</a:t>
            </a:r>
            <a:endParaRPr lang="en-US" sz="1400" dirty="0"/>
          </a:p>
        </p:txBody>
      </p:sp>
      <p:sp>
        <p:nvSpPr>
          <p:cNvPr id="29" name="Shape 26"/>
          <p:cNvSpPr/>
          <p:nvPr/>
        </p:nvSpPr>
        <p:spPr>
          <a:xfrm>
            <a:off x="5638648" y="4343400"/>
            <a:ext cx="914400" cy="914"/>
          </a:xfrm>
          <a:prstGeom prst="line">
            <a:avLst/>
          </a:prstGeom>
          <a:noFill/>
          <a:ln w="31750">
            <a:solidFill>
              <a:srgbClr val="2A2238"/>
            </a:solidFill>
            <a:prstDash val="solid"/>
            <a:tailEnd type="triangle"/>
          </a:ln>
        </p:spPr>
      </p:sp>
      <p:sp>
        <p:nvSpPr>
          <p:cNvPr id="30" name="Shape 27"/>
          <p:cNvSpPr/>
          <p:nvPr/>
        </p:nvSpPr>
        <p:spPr>
          <a:xfrm>
            <a:off x="6644488" y="4069080"/>
            <a:ext cx="4998568" cy="548640"/>
          </a:xfrm>
          <a:prstGeom prst="roundRect">
            <a:avLst>
              <a:gd name="adj" fmla="val 20000"/>
            </a:avLst>
          </a:prstGeom>
          <a:solidFill>
            <a:srgbClr val="E1F3EE"/>
          </a:solidFill>
          <a:ln w="12700">
            <a:solidFill>
              <a:srgbClr val="E1F3EE"/>
            </a:solidFill>
            <a:prstDash val="solid"/>
          </a:ln>
        </p:spPr>
      </p:sp>
      <p:sp>
        <p:nvSpPr>
          <p:cNvPr id="31" name="Text 28"/>
          <p:cNvSpPr txBox="1"/>
          <p:nvPr/>
        </p:nvSpPr>
        <p:spPr>
          <a:xfrm>
            <a:off x="6827368" y="4069080"/>
            <a:ext cx="4632808"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Tỷ lệ CEO đến / số được mời (cấp 0)</a:t>
            </a:r>
            <a:endParaRPr lang="en-US" sz="1400" dirty="0"/>
          </a:p>
        </p:txBody>
      </p:sp>
      <p:sp>
        <p:nvSpPr>
          <p:cNvPr id="32" name="Shape 29"/>
          <p:cNvSpPr/>
          <p:nvPr/>
        </p:nvSpPr>
        <p:spPr>
          <a:xfrm>
            <a:off x="548640" y="4727448"/>
            <a:ext cx="4998568" cy="548640"/>
          </a:xfrm>
          <a:prstGeom prst="roundRect">
            <a:avLst>
              <a:gd name="adj" fmla="val 20000"/>
            </a:avLst>
          </a:prstGeom>
          <a:solidFill>
            <a:srgbClr val="FFE9DE"/>
          </a:solidFill>
          <a:ln w="12700">
            <a:solidFill>
              <a:srgbClr val="FFE9DE"/>
            </a:solidFill>
            <a:prstDash val="solid"/>
          </a:ln>
        </p:spPr>
      </p:sp>
      <p:sp>
        <p:nvSpPr>
          <p:cNvPr id="33" name="Text 30"/>
          <p:cNvSpPr txBox="1"/>
          <p:nvPr/>
        </p:nvSpPr>
        <p:spPr>
          <a:xfrm>
            <a:off x="731520" y="4727448"/>
            <a:ext cx="4632808"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Khách biết thêm về giải pháp mới</a:t>
            </a:r>
            <a:endParaRPr lang="en-US" sz="1400" dirty="0"/>
          </a:p>
        </p:txBody>
      </p:sp>
      <p:sp>
        <p:nvSpPr>
          <p:cNvPr id="34" name="Shape 31"/>
          <p:cNvSpPr/>
          <p:nvPr/>
        </p:nvSpPr>
        <p:spPr>
          <a:xfrm>
            <a:off x="5638648" y="5001768"/>
            <a:ext cx="914400" cy="914"/>
          </a:xfrm>
          <a:prstGeom prst="line">
            <a:avLst/>
          </a:prstGeom>
          <a:noFill/>
          <a:ln w="31750">
            <a:solidFill>
              <a:srgbClr val="2A2238"/>
            </a:solidFill>
            <a:prstDash val="solid"/>
            <a:tailEnd type="triangle"/>
          </a:ln>
        </p:spPr>
      </p:sp>
      <p:sp>
        <p:nvSpPr>
          <p:cNvPr id="35" name="Shape 32"/>
          <p:cNvSpPr/>
          <p:nvPr/>
        </p:nvSpPr>
        <p:spPr>
          <a:xfrm>
            <a:off x="6644488" y="4727448"/>
            <a:ext cx="4998568" cy="548640"/>
          </a:xfrm>
          <a:prstGeom prst="roundRect">
            <a:avLst>
              <a:gd name="adj" fmla="val 20000"/>
            </a:avLst>
          </a:prstGeom>
          <a:solidFill>
            <a:srgbClr val="E1F3EE"/>
          </a:solidFill>
          <a:ln w="12700">
            <a:solidFill>
              <a:srgbClr val="E1F3EE"/>
            </a:solidFill>
            <a:prstDash val="solid"/>
          </a:ln>
        </p:spPr>
      </p:sp>
      <p:sp>
        <p:nvSpPr>
          <p:cNvPr id="36" name="Text 33"/>
          <p:cNvSpPr txBox="1"/>
          <p:nvPr/>
        </p:nvSpPr>
        <p:spPr>
          <a:xfrm>
            <a:off x="6827368" y="4727448"/>
            <a:ext cx="4632808"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 khách trả lời đúng sau phiên (cấp 2)</a:t>
            </a:r>
            <a:endParaRPr lang="en-US" sz="1400" dirty="0"/>
          </a:p>
        </p:txBody>
      </p:sp>
      <p:sp>
        <p:nvSpPr>
          <p:cNvPr id="37" name="Shape 34"/>
          <p:cNvSpPr/>
          <p:nvPr/>
        </p:nvSpPr>
        <p:spPr>
          <a:xfrm>
            <a:off x="548640" y="5385816"/>
            <a:ext cx="4998568" cy="548640"/>
          </a:xfrm>
          <a:prstGeom prst="roundRect">
            <a:avLst>
              <a:gd name="adj" fmla="val 20000"/>
            </a:avLst>
          </a:prstGeom>
          <a:solidFill>
            <a:srgbClr val="FFE9DE"/>
          </a:solidFill>
          <a:ln w="12700">
            <a:solidFill>
              <a:srgbClr val="FFE9DE"/>
            </a:solidFill>
            <a:prstDash val="solid"/>
          </a:ln>
        </p:spPr>
      </p:sp>
      <p:sp>
        <p:nvSpPr>
          <p:cNvPr id="38" name="Text 35"/>
          <p:cNvSpPr txBox="1"/>
          <p:nvPr/>
        </p:nvSpPr>
        <p:spPr>
          <a:xfrm>
            <a:off x="731520" y="5385816"/>
            <a:ext cx="4632808"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Không sự cố uy tín từ đối tác</a:t>
            </a:r>
            <a:endParaRPr lang="en-US" sz="1400" dirty="0"/>
          </a:p>
        </p:txBody>
      </p:sp>
      <p:sp>
        <p:nvSpPr>
          <p:cNvPr id="39" name="Shape 36"/>
          <p:cNvSpPr/>
          <p:nvPr/>
        </p:nvSpPr>
        <p:spPr>
          <a:xfrm>
            <a:off x="5638648" y="5660136"/>
            <a:ext cx="914400" cy="914"/>
          </a:xfrm>
          <a:prstGeom prst="line">
            <a:avLst/>
          </a:prstGeom>
          <a:noFill/>
          <a:ln w="31750">
            <a:solidFill>
              <a:srgbClr val="2A2238"/>
            </a:solidFill>
            <a:prstDash val="solid"/>
            <a:tailEnd type="triangle"/>
          </a:ln>
        </p:spPr>
      </p:sp>
      <p:sp>
        <p:nvSpPr>
          <p:cNvPr id="40" name="Shape 37"/>
          <p:cNvSpPr/>
          <p:nvPr/>
        </p:nvSpPr>
        <p:spPr>
          <a:xfrm>
            <a:off x="6644488" y="5385816"/>
            <a:ext cx="4998568" cy="548640"/>
          </a:xfrm>
          <a:prstGeom prst="roundRect">
            <a:avLst>
              <a:gd name="adj" fmla="val 20000"/>
            </a:avLst>
          </a:prstGeom>
          <a:solidFill>
            <a:srgbClr val="E1F3EE"/>
          </a:solidFill>
          <a:ln w="12700">
            <a:solidFill>
              <a:srgbClr val="E1F3EE"/>
            </a:solidFill>
            <a:prstDash val="solid"/>
          </a:ln>
        </p:spPr>
      </p:sp>
      <p:sp>
        <p:nvSpPr>
          <p:cNvPr id="41" name="Text 38"/>
          <p:cNvSpPr txBox="1"/>
          <p:nvPr/>
        </p:nvSpPr>
        <p:spPr>
          <a:xfrm>
            <a:off x="6827368" y="5385816"/>
            <a:ext cx="4632808"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Due diligence 100% KOL, diễn giả trước khi ký</a:t>
            </a:r>
            <a:endParaRPr lang="en-US" sz="1400" dirty="0"/>
          </a:p>
        </p:txBody>
      </p:sp>
      <p:sp>
        <p:nvSpPr>
          <p:cNvPr id="42" name="Text 39"/>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100" i="1" dirty="0">
                <a:solidFill>
                  <a:srgbClr val="6E6878"/>
                </a:solidFill>
                <a:latin typeface="Alexandria" pitchFamily="34" charset="0"/>
                <a:ea typeface="Alexandria" pitchFamily="34" charset="-122"/>
                <a:cs typeface="Alexandria" pitchFamily="34" charset="-120"/>
              </a:rPr>
              <a:t>ví dụ giả định từ khung An Phát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Trong phần D, mỗi bên liên quan bên ngoài trả lời bốn câu</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Z09: tư liệu Buổi 7–12; Lemon &amp; Verhoef (2016).</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16</a:t>
            </a:r>
            <a:endParaRPr lang="en-US" sz="1000" dirty="0"/>
          </a:p>
        </p:txBody>
      </p:sp>
      <p:sp>
        <p:nvSpPr>
          <p:cNvPr id="21" name="Shape 18"/>
          <p:cNvSpPr/>
          <p:nvPr/>
        </p:nvSpPr>
        <p:spPr>
          <a:xfrm>
            <a:off x="548640" y="1828800"/>
            <a:ext cx="11094415" cy="914400"/>
          </a:xfrm>
          <a:prstGeom prst="roundRect">
            <a:avLst>
              <a:gd name="adj" fmla="val 12000"/>
            </a:avLst>
          </a:prstGeom>
          <a:solidFill>
            <a:srgbClr val="FFFFFF"/>
          </a:solidFill>
          <a:ln w="19050">
            <a:solidFill>
              <a:srgbClr val="962B7C"/>
            </a:solidFill>
            <a:prstDash val="solid"/>
          </a:ln>
        </p:spPr>
      </p:sp>
      <p:sp>
        <p:nvSpPr>
          <p:cNvPr id="22" name="Shape 19"/>
          <p:cNvSpPr/>
          <p:nvPr/>
        </p:nvSpPr>
        <p:spPr>
          <a:xfrm>
            <a:off x="731520" y="1975104"/>
            <a:ext cx="621792" cy="621792"/>
          </a:xfrm>
          <a:prstGeom prst="ellipse">
            <a:avLst/>
          </a:prstGeom>
          <a:solidFill>
            <a:srgbClr val="962B7C"/>
          </a:solidFill>
          <a:ln w="12700">
            <a:solidFill>
              <a:srgbClr val="962B7C"/>
            </a:solidFill>
            <a:prstDash val="solid"/>
          </a:ln>
        </p:spPr>
      </p:sp>
      <p:sp>
        <p:nvSpPr>
          <p:cNvPr id="23" name="Text 20"/>
          <p:cNvSpPr txBox="1"/>
          <p:nvPr/>
        </p:nvSpPr>
        <p:spPr>
          <a:xfrm>
            <a:off x="731520" y="1975104"/>
            <a:ext cx="621792" cy="621792"/>
          </a:xfrm>
          <a:prstGeom prst="rect">
            <a:avLst/>
          </a:prstGeom>
          <a:noFill/>
          <a:ln/>
        </p:spPr>
        <p:txBody>
          <a:bodyPr wrap="square" lIns="0" tIns="0" rIns="0" bIns="0" rtlCol="0" anchor="ctr"/>
          <a:lstStyle/>
          <a:p>
            <a:pPr algn="ctr" indent="0" marL="0">
              <a:buNone/>
            </a:pPr>
            <a:r>
              <a:rPr lang="en-US" sz="2312" b="1" dirty="0">
                <a:solidFill>
                  <a:srgbClr val="FFFFFF"/>
                </a:solidFill>
                <a:latin typeface="Alexandria" pitchFamily="34" charset="0"/>
                <a:ea typeface="Alexandria" pitchFamily="34" charset="-122"/>
                <a:cs typeface="Alexandria" pitchFamily="34" charset="-120"/>
              </a:rPr>
              <a:t>1</a:t>
            </a:r>
            <a:endParaRPr lang="en-US" sz="2312" dirty="0"/>
          </a:p>
        </p:txBody>
      </p:sp>
      <p:sp>
        <p:nvSpPr>
          <p:cNvPr id="24" name="Text 21"/>
          <p:cNvSpPr txBox="1"/>
          <p:nvPr/>
        </p:nvSpPr>
        <p:spPr>
          <a:xfrm>
            <a:off x="1554480" y="1828800"/>
            <a:ext cx="9905695" cy="9144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Gắn vào điểm chạm nào trên hành trình?</a:t>
            </a:r>
            <a:endParaRPr lang="en-US" sz="1900" dirty="0"/>
          </a:p>
          <a:p>
            <a:pPr indent="0" marL="0">
              <a:buNone/>
            </a:pPr>
            <a:r>
              <a:rPr lang="en-US" sz="1300" dirty="0">
                <a:solidFill>
                  <a:srgbClr val="6E6878"/>
                </a:solidFill>
                <a:latin typeface="Alexandria" pitchFamily="34" charset="0"/>
                <a:ea typeface="Alexandria" pitchFamily="34" charset="-122"/>
                <a:cs typeface="Alexandria" pitchFamily="34" charset="-120"/>
              </a:rPr>
              <a:t>trước / trong / sau · đối tác sở hữu hay bên ngoài</a:t>
            </a:r>
            <a:endParaRPr lang="en-US" sz="1900" dirty="0"/>
          </a:p>
        </p:txBody>
      </p:sp>
      <p:sp>
        <p:nvSpPr>
          <p:cNvPr id="25" name="Shape 22"/>
          <p:cNvSpPr/>
          <p:nvPr/>
        </p:nvSpPr>
        <p:spPr>
          <a:xfrm>
            <a:off x="548640" y="2880360"/>
            <a:ext cx="11094415" cy="914400"/>
          </a:xfrm>
          <a:prstGeom prst="roundRect">
            <a:avLst>
              <a:gd name="adj" fmla="val 12000"/>
            </a:avLst>
          </a:prstGeom>
          <a:solidFill>
            <a:srgbClr val="FFFFFF"/>
          </a:solidFill>
          <a:ln w="19050">
            <a:solidFill>
              <a:srgbClr val="09A1E5"/>
            </a:solidFill>
            <a:prstDash val="solid"/>
          </a:ln>
        </p:spPr>
      </p:sp>
      <p:sp>
        <p:nvSpPr>
          <p:cNvPr id="26" name="Shape 23"/>
          <p:cNvSpPr/>
          <p:nvPr/>
        </p:nvSpPr>
        <p:spPr>
          <a:xfrm>
            <a:off x="731520" y="3026664"/>
            <a:ext cx="621792" cy="621792"/>
          </a:xfrm>
          <a:prstGeom prst="ellipse">
            <a:avLst/>
          </a:prstGeom>
          <a:solidFill>
            <a:srgbClr val="09A1E5"/>
          </a:solidFill>
          <a:ln w="12700">
            <a:solidFill>
              <a:srgbClr val="09A1E5"/>
            </a:solidFill>
            <a:prstDash val="solid"/>
          </a:ln>
        </p:spPr>
      </p:sp>
      <p:sp>
        <p:nvSpPr>
          <p:cNvPr id="27" name="Text 24"/>
          <p:cNvSpPr txBox="1"/>
          <p:nvPr/>
        </p:nvSpPr>
        <p:spPr>
          <a:xfrm>
            <a:off x="731520" y="3026664"/>
            <a:ext cx="621792" cy="621792"/>
          </a:xfrm>
          <a:prstGeom prst="rect">
            <a:avLst/>
          </a:prstGeom>
          <a:noFill/>
          <a:ln/>
        </p:spPr>
        <p:txBody>
          <a:bodyPr wrap="square" lIns="0" tIns="0" rIns="0" bIns="0" rtlCol="0" anchor="ctr"/>
          <a:lstStyle/>
          <a:p>
            <a:pPr algn="ctr" indent="0" marL="0">
              <a:buNone/>
            </a:pPr>
            <a:r>
              <a:rPr lang="en-US" sz="2312" b="1" dirty="0">
                <a:solidFill>
                  <a:srgbClr val="FFFFFF"/>
                </a:solidFill>
                <a:latin typeface="Alexandria" pitchFamily="34" charset="0"/>
                <a:ea typeface="Alexandria" pitchFamily="34" charset="-122"/>
                <a:cs typeface="Alexandria" pitchFamily="34" charset="-120"/>
              </a:rPr>
              <a:t>2</a:t>
            </a:r>
            <a:endParaRPr lang="en-US" sz="2312" dirty="0"/>
          </a:p>
        </p:txBody>
      </p:sp>
      <p:sp>
        <p:nvSpPr>
          <p:cNvPr id="28" name="Text 25"/>
          <p:cNvSpPr txBox="1"/>
          <p:nvPr/>
        </p:nvSpPr>
        <p:spPr>
          <a:xfrm>
            <a:off x="1554480" y="2880360"/>
            <a:ext cx="9905695" cy="9144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Tạo giá trị gì cho khách của Key Account?</a:t>
            </a:r>
            <a:endParaRPr lang="en-US" sz="1900" dirty="0"/>
          </a:p>
        </p:txBody>
      </p:sp>
      <p:sp>
        <p:nvSpPr>
          <p:cNvPr id="29" name="Shape 26"/>
          <p:cNvSpPr/>
          <p:nvPr/>
        </p:nvSpPr>
        <p:spPr>
          <a:xfrm>
            <a:off x="548640" y="3931920"/>
            <a:ext cx="11094415" cy="914400"/>
          </a:xfrm>
          <a:prstGeom prst="roundRect">
            <a:avLst>
              <a:gd name="adj" fmla="val 12000"/>
            </a:avLst>
          </a:prstGeom>
          <a:solidFill>
            <a:srgbClr val="FFFFFF"/>
          </a:solidFill>
          <a:ln w="19050">
            <a:solidFill>
              <a:srgbClr val="FF9259"/>
            </a:solidFill>
            <a:prstDash val="solid"/>
          </a:ln>
        </p:spPr>
      </p:sp>
      <p:sp>
        <p:nvSpPr>
          <p:cNvPr id="30" name="Shape 27"/>
          <p:cNvSpPr/>
          <p:nvPr/>
        </p:nvSpPr>
        <p:spPr>
          <a:xfrm>
            <a:off x="731520" y="4078224"/>
            <a:ext cx="621792" cy="621792"/>
          </a:xfrm>
          <a:prstGeom prst="ellipse">
            <a:avLst/>
          </a:prstGeom>
          <a:solidFill>
            <a:srgbClr val="FF9259"/>
          </a:solidFill>
          <a:ln w="12700">
            <a:solidFill>
              <a:srgbClr val="FF9259"/>
            </a:solidFill>
            <a:prstDash val="solid"/>
          </a:ln>
        </p:spPr>
      </p:sp>
      <p:sp>
        <p:nvSpPr>
          <p:cNvPr id="31" name="Text 28"/>
          <p:cNvSpPr txBox="1"/>
          <p:nvPr/>
        </p:nvSpPr>
        <p:spPr>
          <a:xfrm>
            <a:off x="731520" y="4078224"/>
            <a:ext cx="621792" cy="621792"/>
          </a:xfrm>
          <a:prstGeom prst="rect">
            <a:avLst/>
          </a:prstGeom>
          <a:noFill/>
          <a:ln/>
        </p:spPr>
        <p:txBody>
          <a:bodyPr wrap="square" lIns="0" tIns="0" rIns="0" bIns="0" rtlCol="0" anchor="ctr"/>
          <a:lstStyle/>
          <a:p>
            <a:pPr algn="ctr" indent="0" marL="0">
              <a:buNone/>
            </a:pPr>
            <a:r>
              <a:rPr lang="en-US" sz="2312" b="1" dirty="0">
                <a:solidFill>
                  <a:srgbClr val="2A2238"/>
                </a:solidFill>
                <a:latin typeface="Alexandria" pitchFamily="34" charset="0"/>
                <a:ea typeface="Alexandria" pitchFamily="34" charset="-122"/>
                <a:cs typeface="Alexandria" pitchFamily="34" charset="-120"/>
              </a:rPr>
              <a:t>3</a:t>
            </a:r>
            <a:endParaRPr lang="en-US" sz="2312" dirty="0"/>
          </a:p>
        </p:txBody>
      </p:sp>
      <p:sp>
        <p:nvSpPr>
          <p:cNvPr id="32" name="Text 29"/>
          <p:cNvSpPr txBox="1"/>
          <p:nvPr/>
        </p:nvSpPr>
        <p:spPr>
          <a:xfrm>
            <a:off x="1554480" y="3931920"/>
            <a:ext cx="9905695" cy="9144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Quản lý bằng gì?</a:t>
            </a:r>
            <a:endParaRPr lang="en-US" sz="1900" dirty="0"/>
          </a:p>
          <a:p>
            <a:pPr indent="0" marL="0">
              <a:buNone/>
            </a:pPr>
            <a:r>
              <a:rPr lang="en-US" sz="1300" dirty="0">
                <a:solidFill>
                  <a:srgbClr val="6E6878"/>
                </a:solidFill>
                <a:latin typeface="Alexandria" pitchFamily="34" charset="0"/>
                <a:ea typeface="Alexandria" pitchFamily="34" charset="-122"/>
                <a:cs typeface="Alexandria" pitchFamily="34" charset="-120"/>
              </a:rPr>
              <a:t>hợp đồng · ESG · KPI · người phụ trách</a:t>
            </a:r>
            <a:endParaRPr lang="en-US" sz="1900" dirty="0"/>
          </a:p>
        </p:txBody>
      </p:sp>
      <p:sp>
        <p:nvSpPr>
          <p:cNvPr id="33" name="Shape 30"/>
          <p:cNvSpPr/>
          <p:nvPr/>
        </p:nvSpPr>
        <p:spPr>
          <a:xfrm>
            <a:off x="548640" y="4983480"/>
            <a:ext cx="11094415" cy="914400"/>
          </a:xfrm>
          <a:prstGeom prst="roundRect">
            <a:avLst>
              <a:gd name="adj" fmla="val 12000"/>
            </a:avLst>
          </a:prstGeom>
          <a:solidFill>
            <a:srgbClr val="FFFFFF"/>
          </a:solidFill>
          <a:ln w="19050">
            <a:solidFill>
              <a:srgbClr val="FF5178"/>
            </a:solidFill>
            <a:prstDash val="solid"/>
          </a:ln>
        </p:spPr>
      </p:sp>
      <p:sp>
        <p:nvSpPr>
          <p:cNvPr id="34" name="Shape 31"/>
          <p:cNvSpPr/>
          <p:nvPr/>
        </p:nvSpPr>
        <p:spPr>
          <a:xfrm>
            <a:off x="731520" y="5129784"/>
            <a:ext cx="621792" cy="621792"/>
          </a:xfrm>
          <a:prstGeom prst="ellipse">
            <a:avLst/>
          </a:prstGeom>
          <a:solidFill>
            <a:srgbClr val="FF5178"/>
          </a:solidFill>
          <a:ln w="12700">
            <a:solidFill>
              <a:srgbClr val="FF5178"/>
            </a:solidFill>
            <a:prstDash val="solid"/>
          </a:ln>
        </p:spPr>
      </p:sp>
      <p:sp>
        <p:nvSpPr>
          <p:cNvPr id="35" name="Text 32"/>
          <p:cNvSpPr txBox="1"/>
          <p:nvPr/>
        </p:nvSpPr>
        <p:spPr>
          <a:xfrm>
            <a:off x="731520" y="5129784"/>
            <a:ext cx="621792" cy="621792"/>
          </a:xfrm>
          <a:prstGeom prst="rect">
            <a:avLst/>
          </a:prstGeom>
          <a:noFill/>
          <a:ln/>
        </p:spPr>
        <p:txBody>
          <a:bodyPr wrap="square" lIns="0" tIns="0" rIns="0" bIns="0" rtlCol="0" anchor="ctr"/>
          <a:lstStyle/>
          <a:p>
            <a:pPr algn="ctr" indent="0" marL="0">
              <a:buNone/>
            </a:pPr>
            <a:r>
              <a:rPr lang="en-US" sz="2312" b="1" dirty="0">
                <a:solidFill>
                  <a:srgbClr val="FFFFFF"/>
                </a:solidFill>
                <a:latin typeface="Alexandria" pitchFamily="34" charset="0"/>
                <a:ea typeface="Alexandria" pitchFamily="34" charset="-122"/>
                <a:cs typeface="Alexandria" pitchFamily="34" charset="-120"/>
              </a:rPr>
              <a:t>4</a:t>
            </a:r>
            <a:endParaRPr lang="en-US" sz="2312" dirty="0"/>
          </a:p>
        </p:txBody>
      </p:sp>
      <p:sp>
        <p:nvSpPr>
          <p:cNvPr id="36" name="Text 33"/>
          <p:cNvSpPr txBox="1"/>
          <p:nvPr/>
        </p:nvSpPr>
        <p:spPr>
          <a:xfrm>
            <a:off x="1554480" y="4983480"/>
            <a:ext cx="9905695" cy="9144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Rủi ro, xung đột — bảo vệ deliverables thế nào?</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13.2 là một bảng, không phải ba chương rời</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Z07: Đề cương 13.2 · Z09: tư liệu Buổi 9–12.</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17</a:t>
            </a:r>
            <a:endParaRPr lang="en-US" sz="1000" dirty="0"/>
          </a:p>
        </p:txBody>
      </p:sp>
      <p:sp>
        <p:nvSpPr>
          <p:cNvPr id="21" name="Shape 18"/>
          <p:cNvSpPr/>
          <p:nvPr/>
        </p:nvSpPr>
        <p:spPr>
          <a:xfrm>
            <a:off x="3840480" y="1783080"/>
            <a:ext cx="1371600" cy="502920"/>
          </a:xfrm>
          <a:prstGeom prst="roundRect">
            <a:avLst>
              <a:gd name="adj" fmla="val 21818"/>
            </a:avLst>
          </a:prstGeom>
          <a:solidFill>
            <a:srgbClr val="962B7C"/>
          </a:solidFill>
          <a:ln w="12700">
            <a:solidFill>
              <a:srgbClr val="962B7C"/>
            </a:solidFill>
            <a:prstDash val="solid"/>
          </a:ln>
        </p:spPr>
      </p:sp>
      <p:sp>
        <p:nvSpPr>
          <p:cNvPr id="22" name="Text 19"/>
          <p:cNvSpPr txBox="1"/>
          <p:nvPr/>
        </p:nvSpPr>
        <p:spPr>
          <a:xfrm>
            <a:off x="4005072" y="1783080"/>
            <a:ext cx="104241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Đã học</a:t>
            </a:r>
            <a:endParaRPr lang="en-US" sz="1500" dirty="0"/>
          </a:p>
        </p:txBody>
      </p:sp>
      <p:sp>
        <p:nvSpPr>
          <p:cNvPr id="23" name="Shape 20"/>
          <p:cNvSpPr/>
          <p:nvPr/>
        </p:nvSpPr>
        <p:spPr>
          <a:xfrm>
            <a:off x="5303520" y="1783080"/>
            <a:ext cx="6339535" cy="502920"/>
          </a:xfrm>
          <a:prstGeom prst="roundRect">
            <a:avLst>
              <a:gd name="adj" fmla="val 21818"/>
            </a:avLst>
          </a:prstGeom>
          <a:solidFill>
            <a:srgbClr val="09A1E5"/>
          </a:solidFill>
          <a:ln w="12700">
            <a:solidFill>
              <a:srgbClr val="09A1E5"/>
            </a:solidFill>
            <a:prstDash val="solid"/>
          </a:ln>
        </p:spPr>
      </p:sp>
      <p:sp>
        <p:nvSpPr>
          <p:cNvPr id="24" name="Text 21"/>
          <p:cNvSpPr txBox="1"/>
          <p:nvPr/>
        </p:nvSpPr>
        <p:spPr>
          <a:xfrm>
            <a:off x="5468112" y="1783080"/>
            <a:ext cx="6010351"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Trang SMP đã có</a:t>
            </a:r>
            <a:endParaRPr lang="en-US" sz="1500" dirty="0"/>
          </a:p>
        </p:txBody>
      </p:sp>
      <p:sp>
        <p:nvSpPr>
          <p:cNvPr id="25" name="Shape 22"/>
          <p:cNvSpPr/>
          <p:nvPr/>
        </p:nvSpPr>
        <p:spPr>
          <a:xfrm>
            <a:off x="548640" y="2395728"/>
            <a:ext cx="11094415" cy="603504"/>
          </a:xfrm>
          <a:prstGeom prst="rect">
            <a:avLst/>
          </a:prstGeom>
          <a:solidFill>
            <a:srgbClr val="F3F0E6"/>
          </a:solidFill>
          <a:ln w="12700">
            <a:solidFill>
              <a:srgbClr val="F3F0E6"/>
            </a:solidFill>
            <a:prstDash val="solid"/>
          </a:ln>
        </p:spPr>
      </p:sp>
      <p:sp>
        <p:nvSpPr>
          <p:cNvPr id="26" name="Text 23"/>
          <p:cNvSpPr txBox="1"/>
          <p:nvPr/>
        </p:nvSpPr>
        <p:spPr>
          <a:xfrm>
            <a:off x="713232" y="2395728"/>
            <a:ext cx="2962656" cy="603504"/>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Nhà đầu tư &amp; nhà tài trợ</a:t>
            </a:r>
            <a:endParaRPr lang="en-US" sz="1500" dirty="0"/>
          </a:p>
        </p:txBody>
      </p:sp>
      <p:sp>
        <p:nvSpPr>
          <p:cNvPr id="27" name="Text 24"/>
          <p:cNvSpPr txBox="1"/>
          <p:nvPr/>
        </p:nvSpPr>
        <p:spPr>
          <a:xfrm>
            <a:off x="4005072" y="2395728"/>
            <a:ext cx="1133856" cy="60350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Buổi 9</a:t>
            </a:r>
            <a:endParaRPr lang="en-US" sz="1500" dirty="0"/>
          </a:p>
        </p:txBody>
      </p:sp>
      <p:sp>
        <p:nvSpPr>
          <p:cNvPr id="28" name="Text 25"/>
          <p:cNvSpPr txBox="1"/>
          <p:nvPr/>
        </p:nvSpPr>
        <p:spPr>
          <a:xfrm>
            <a:off x="5468112" y="2395728"/>
            <a:ext cx="6101791" cy="60350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Bản đồ điểm chạm tài trợ, đề xuất win-win</a:t>
            </a:r>
            <a:endParaRPr lang="en-US" sz="1500" dirty="0"/>
          </a:p>
        </p:txBody>
      </p:sp>
      <p:sp>
        <p:nvSpPr>
          <p:cNvPr id="29" name="Text 26"/>
          <p:cNvSpPr txBox="1"/>
          <p:nvPr/>
        </p:nvSpPr>
        <p:spPr>
          <a:xfrm>
            <a:off x="713232" y="3054096"/>
            <a:ext cx="2962656" cy="603504"/>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Nhà cung cấp &amp; địa điểm</a:t>
            </a:r>
            <a:endParaRPr lang="en-US" sz="1500" dirty="0"/>
          </a:p>
        </p:txBody>
      </p:sp>
      <p:sp>
        <p:nvSpPr>
          <p:cNvPr id="30" name="Text 27"/>
          <p:cNvSpPr txBox="1"/>
          <p:nvPr/>
        </p:nvSpPr>
        <p:spPr>
          <a:xfrm>
            <a:off x="4005072" y="3054096"/>
            <a:ext cx="1133856" cy="60350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Buổi 10</a:t>
            </a:r>
            <a:endParaRPr lang="en-US" sz="1500" dirty="0"/>
          </a:p>
        </p:txBody>
      </p:sp>
      <p:sp>
        <p:nvSpPr>
          <p:cNvPr id="31" name="Text 28"/>
          <p:cNvSpPr txBox="1"/>
          <p:nvPr/>
        </p:nvSpPr>
        <p:spPr>
          <a:xfrm>
            <a:off x="5468112" y="3054096"/>
            <a:ext cx="6101791" cy="60350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Chấm hồ sơ, phân bổ theo giai đoạn mua – sau mua</a:t>
            </a:r>
            <a:endParaRPr lang="en-US" sz="1500" dirty="0"/>
          </a:p>
        </p:txBody>
      </p:sp>
      <p:sp>
        <p:nvSpPr>
          <p:cNvPr id="32" name="Shape 29"/>
          <p:cNvSpPr/>
          <p:nvPr/>
        </p:nvSpPr>
        <p:spPr>
          <a:xfrm>
            <a:off x="548640" y="3712464"/>
            <a:ext cx="11094415" cy="603504"/>
          </a:xfrm>
          <a:prstGeom prst="rect">
            <a:avLst/>
          </a:prstGeom>
          <a:solidFill>
            <a:srgbClr val="F3F0E6"/>
          </a:solidFill>
          <a:ln w="12700">
            <a:solidFill>
              <a:srgbClr val="F3F0E6"/>
            </a:solidFill>
            <a:prstDash val="solid"/>
          </a:ln>
        </p:spPr>
      </p:sp>
      <p:sp>
        <p:nvSpPr>
          <p:cNvPr id="33" name="Text 30"/>
          <p:cNvSpPr txBox="1"/>
          <p:nvPr/>
        </p:nvSpPr>
        <p:spPr>
          <a:xfrm>
            <a:off x="713232" y="3712464"/>
            <a:ext cx="2962656" cy="603504"/>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Báo chí &amp; KOL</a:t>
            </a:r>
            <a:endParaRPr lang="en-US" sz="1500" dirty="0"/>
          </a:p>
        </p:txBody>
      </p:sp>
      <p:sp>
        <p:nvSpPr>
          <p:cNvPr id="34" name="Text 31"/>
          <p:cNvSpPr txBox="1"/>
          <p:nvPr/>
        </p:nvSpPr>
        <p:spPr>
          <a:xfrm>
            <a:off x="4005072" y="3712464"/>
            <a:ext cx="1133856" cy="60350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Buổi 11</a:t>
            </a:r>
            <a:endParaRPr lang="en-US" sz="1500" dirty="0"/>
          </a:p>
        </p:txBody>
      </p:sp>
      <p:sp>
        <p:nvSpPr>
          <p:cNvPr id="35" name="Text 32"/>
          <p:cNvSpPr txBox="1"/>
          <p:nvPr/>
        </p:nvSpPr>
        <p:spPr>
          <a:xfrm>
            <a:off x="5468112" y="3712464"/>
            <a:ext cx="6101791" cy="60350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Chọn diễn giả/KOL, khuếch đại điểm chạm trước sự kiện</a:t>
            </a:r>
            <a:endParaRPr lang="en-US" sz="1500" dirty="0"/>
          </a:p>
        </p:txBody>
      </p:sp>
      <p:sp>
        <p:nvSpPr>
          <p:cNvPr id="36" name="Text 33"/>
          <p:cNvSpPr txBox="1"/>
          <p:nvPr/>
        </p:nvSpPr>
        <p:spPr>
          <a:xfrm>
            <a:off x="713232" y="4370832"/>
            <a:ext cx="2962656" cy="603504"/>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Cả mạng lưới</a:t>
            </a:r>
            <a:endParaRPr lang="en-US" sz="1500" dirty="0"/>
          </a:p>
        </p:txBody>
      </p:sp>
      <p:sp>
        <p:nvSpPr>
          <p:cNvPr id="37" name="Text 34"/>
          <p:cNvSpPr txBox="1"/>
          <p:nvPr/>
        </p:nvSpPr>
        <p:spPr>
          <a:xfrm>
            <a:off x="4005072" y="4370832"/>
            <a:ext cx="1133856" cy="60350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Buổi 12</a:t>
            </a:r>
            <a:endParaRPr lang="en-US" sz="1500" dirty="0"/>
          </a:p>
        </p:txBody>
      </p:sp>
      <p:sp>
        <p:nvSpPr>
          <p:cNvPr id="38" name="Text 35"/>
          <p:cNvSpPr txBox="1"/>
          <p:nvPr/>
        </p:nvSpPr>
        <p:spPr>
          <a:xfrm>
            <a:off x="5468112" y="4370832"/>
            <a:ext cx="6101791" cy="60350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Mạng lưới, xung đột, cơ chế minh bạch</a:t>
            </a:r>
            <a:endParaRPr lang="en-US" sz="1500" dirty="0"/>
          </a:p>
        </p:txBody>
      </p:sp>
      <p:sp>
        <p:nvSpPr>
          <p:cNvPr id="39" name="Shape 36"/>
          <p:cNvSpPr/>
          <p:nvPr/>
        </p:nvSpPr>
        <p:spPr>
          <a:xfrm>
            <a:off x="548640" y="5257800"/>
            <a:ext cx="11094415" cy="777240"/>
          </a:xfrm>
          <a:prstGeom prst="roundRect">
            <a:avLst>
              <a:gd name="adj" fmla="val 14118"/>
            </a:avLst>
          </a:prstGeom>
          <a:solidFill>
            <a:srgbClr val="FFF3C4"/>
          </a:solidFill>
          <a:ln w="12700">
            <a:solidFill>
              <a:srgbClr val="FFD23B"/>
            </a:solidFill>
            <a:prstDash val="solid"/>
          </a:ln>
        </p:spPr>
      </p:sp>
      <p:sp>
        <p:nvSpPr>
          <p:cNvPr id="40" name="Text 37"/>
          <p:cNvSpPr txBox="1"/>
          <p:nvPr/>
        </p:nvSpPr>
        <p:spPr>
          <a:xfrm>
            <a:off x="868680" y="5257800"/>
            <a:ext cx="10454335" cy="7772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 Một bảng trong phần D: mọi bên cùng phục vụ một hành trình của khách hàng.</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Executive Summary: năm câu cho người quyết định</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Khung 5 câu: đề xuất của người soạn.</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18</a:t>
            </a:r>
            <a:endParaRPr lang="en-US" sz="1000" dirty="0"/>
          </a:p>
        </p:txBody>
      </p:sp>
      <p:sp>
        <p:nvSpPr>
          <p:cNvPr id="21" name="Shape 18"/>
          <p:cNvSpPr/>
          <p:nvPr/>
        </p:nvSpPr>
        <p:spPr>
          <a:xfrm>
            <a:off x="548640" y="1828800"/>
            <a:ext cx="11094415" cy="731520"/>
          </a:xfrm>
          <a:prstGeom prst="roundRect">
            <a:avLst>
              <a:gd name="adj" fmla="val 15000"/>
            </a:avLst>
          </a:prstGeom>
          <a:solidFill>
            <a:srgbClr val="FFFFFF"/>
          </a:solidFill>
          <a:ln w="19050">
            <a:solidFill>
              <a:srgbClr val="962B7C"/>
            </a:solidFill>
            <a:prstDash val="solid"/>
          </a:ln>
        </p:spPr>
      </p:sp>
      <p:sp>
        <p:nvSpPr>
          <p:cNvPr id="22" name="Shape 19"/>
          <p:cNvSpPr/>
          <p:nvPr/>
        </p:nvSpPr>
        <p:spPr>
          <a:xfrm>
            <a:off x="731520" y="1920240"/>
            <a:ext cx="548640" cy="548640"/>
          </a:xfrm>
          <a:prstGeom prst="ellipse">
            <a:avLst/>
          </a:prstGeom>
          <a:solidFill>
            <a:srgbClr val="962B7C"/>
          </a:solidFill>
          <a:ln w="12700">
            <a:solidFill>
              <a:srgbClr val="962B7C"/>
            </a:solidFill>
            <a:prstDash val="solid"/>
          </a:ln>
        </p:spPr>
      </p:sp>
      <p:sp>
        <p:nvSpPr>
          <p:cNvPr id="23" name="Text 20"/>
          <p:cNvSpPr txBox="1"/>
          <p:nvPr/>
        </p:nvSpPr>
        <p:spPr>
          <a:xfrm>
            <a:off x="731520" y="192024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1</a:t>
            </a:r>
            <a:endParaRPr lang="en-US" sz="2040" dirty="0"/>
          </a:p>
        </p:txBody>
      </p:sp>
      <p:sp>
        <p:nvSpPr>
          <p:cNvPr id="24" name="Text 21"/>
          <p:cNvSpPr txBox="1"/>
          <p:nvPr/>
        </p:nvSpPr>
        <p:spPr>
          <a:xfrm>
            <a:off x="1508760" y="1828800"/>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Khách hàng là ai, đang cần gì</a:t>
            </a:r>
            <a:pPr indent="0" marL="0">
              <a:buNone/>
            </a:pPr>
            <a:r>
              <a:rPr lang="en-US" sz="1300" dirty="0">
                <a:solidFill>
                  <a:srgbClr val="6E6878"/>
                </a:solidFill>
                <a:latin typeface="Alexandria" pitchFamily="34" charset="0"/>
                <a:ea typeface="Alexandria" pitchFamily="34" charset="-122"/>
                <a:cs typeface="Alexandria" pitchFamily="34" charset="-120"/>
              </a:rPr>
              <a:t>   từ A</a:t>
            </a:r>
            <a:endParaRPr lang="en-US" sz="1900" dirty="0"/>
          </a:p>
        </p:txBody>
      </p:sp>
      <p:sp>
        <p:nvSpPr>
          <p:cNvPr id="25" name="Shape 22"/>
          <p:cNvSpPr/>
          <p:nvPr/>
        </p:nvSpPr>
        <p:spPr>
          <a:xfrm>
            <a:off x="548640" y="2679192"/>
            <a:ext cx="11094415" cy="731520"/>
          </a:xfrm>
          <a:prstGeom prst="roundRect">
            <a:avLst>
              <a:gd name="adj" fmla="val 15000"/>
            </a:avLst>
          </a:prstGeom>
          <a:solidFill>
            <a:srgbClr val="FFFFFF"/>
          </a:solidFill>
          <a:ln w="19050">
            <a:solidFill>
              <a:srgbClr val="09A1E5"/>
            </a:solidFill>
            <a:prstDash val="solid"/>
          </a:ln>
        </p:spPr>
      </p:sp>
      <p:sp>
        <p:nvSpPr>
          <p:cNvPr id="26" name="Shape 23"/>
          <p:cNvSpPr/>
          <p:nvPr/>
        </p:nvSpPr>
        <p:spPr>
          <a:xfrm>
            <a:off x="731520" y="2770632"/>
            <a:ext cx="548640" cy="548640"/>
          </a:xfrm>
          <a:prstGeom prst="ellipse">
            <a:avLst/>
          </a:prstGeom>
          <a:solidFill>
            <a:srgbClr val="09A1E5"/>
          </a:solidFill>
          <a:ln w="12700">
            <a:solidFill>
              <a:srgbClr val="09A1E5"/>
            </a:solidFill>
            <a:prstDash val="solid"/>
          </a:ln>
        </p:spPr>
      </p:sp>
      <p:sp>
        <p:nvSpPr>
          <p:cNvPr id="27" name="Text 24"/>
          <p:cNvSpPr txBox="1"/>
          <p:nvPr/>
        </p:nvSpPr>
        <p:spPr>
          <a:xfrm>
            <a:off x="731520" y="2770632"/>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28" name="Text 25"/>
          <p:cNvSpPr txBox="1"/>
          <p:nvPr/>
        </p:nvSpPr>
        <p:spPr>
          <a:xfrm>
            <a:off x="1508760" y="2679192"/>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Cơ hội lớn nhất</a:t>
            </a:r>
            <a:pPr indent="0" marL="0">
              <a:buNone/>
            </a:pPr>
            <a:r>
              <a:rPr lang="en-US" sz="1300" dirty="0">
                <a:solidFill>
                  <a:srgbClr val="6E6878"/>
                </a:solidFill>
                <a:latin typeface="Alexandria" pitchFamily="34" charset="0"/>
                <a:ea typeface="Alexandria" pitchFamily="34" charset="-122"/>
                <a:cs typeface="Alexandria" pitchFamily="34" charset="-120"/>
              </a:rPr>
              <a:t>   từ B</a:t>
            </a:r>
            <a:endParaRPr lang="en-US" sz="1900" dirty="0"/>
          </a:p>
        </p:txBody>
      </p:sp>
      <p:sp>
        <p:nvSpPr>
          <p:cNvPr id="29" name="Shape 26"/>
          <p:cNvSpPr/>
          <p:nvPr/>
        </p:nvSpPr>
        <p:spPr>
          <a:xfrm>
            <a:off x="548640" y="3529584"/>
            <a:ext cx="11094415" cy="731520"/>
          </a:xfrm>
          <a:prstGeom prst="roundRect">
            <a:avLst>
              <a:gd name="adj" fmla="val 15000"/>
            </a:avLst>
          </a:prstGeom>
          <a:solidFill>
            <a:srgbClr val="FFFFFF"/>
          </a:solidFill>
          <a:ln w="19050">
            <a:solidFill>
              <a:srgbClr val="FF9259"/>
            </a:solidFill>
            <a:prstDash val="solid"/>
          </a:ln>
        </p:spPr>
      </p:sp>
      <p:sp>
        <p:nvSpPr>
          <p:cNvPr id="30" name="Shape 27"/>
          <p:cNvSpPr/>
          <p:nvPr/>
        </p:nvSpPr>
        <p:spPr>
          <a:xfrm>
            <a:off x="731520" y="3621024"/>
            <a:ext cx="548640" cy="548640"/>
          </a:xfrm>
          <a:prstGeom prst="ellipse">
            <a:avLst/>
          </a:prstGeom>
          <a:solidFill>
            <a:srgbClr val="FF9259"/>
          </a:solidFill>
          <a:ln w="12700">
            <a:solidFill>
              <a:srgbClr val="FF9259"/>
            </a:solidFill>
            <a:prstDash val="solid"/>
          </a:ln>
        </p:spPr>
      </p:sp>
      <p:sp>
        <p:nvSpPr>
          <p:cNvPr id="31" name="Text 28"/>
          <p:cNvSpPr txBox="1"/>
          <p:nvPr/>
        </p:nvSpPr>
        <p:spPr>
          <a:xfrm>
            <a:off x="731520" y="3621024"/>
            <a:ext cx="548640" cy="548640"/>
          </a:xfrm>
          <a:prstGeom prst="rect">
            <a:avLst/>
          </a:prstGeom>
          <a:noFill/>
          <a:ln/>
        </p:spPr>
        <p:txBody>
          <a:bodyPr wrap="square" lIns="0" tIns="0" rIns="0" bIns="0" rtlCol="0" anchor="ctr"/>
          <a:lstStyle/>
          <a:p>
            <a:pPr algn="ctr" indent="0" marL="0">
              <a:buNone/>
            </a:pPr>
            <a:r>
              <a:rPr lang="en-US" sz="2040" b="1" dirty="0">
                <a:solidFill>
                  <a:srgbClr val="2A2238"/>
                </a:solidFill>
                <a:latin typeface="Alexandria" pitchFamily="34" charset="0"/>
                <a:ea typeface="Alexandria" pitchFamily="34" charset="-122"/>
                <a:cs typeface="Alexandria" pitchFamily="34" charset="-120"/>
              </a:rPr>
              <a:t>3</a:t>
            </a:r>
            <a:endParaRPr lang="en-US" sz="2040" dirty="0"/>
          </a:p>
        </p:txBody>
      </p:sp>
      <p:sp>
        <p:nvSpPr>
          <p:cNvPr id="32" name="Text 29"/>
          <p:cNvSpPr txBox="1"/>
          <p:nvPr/>
        </p:nvSpPr>
        <p:spPr>
          <a:xfrm>
            <a:off x="1508760" y="3529584"/>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Đề xuất của agency — một câu</a:t>
            </a:r>
            <a:pPr indent="0" marL="0">
              <a:buNone/>
            </a:pPr>
            <a:r>
              <a:rPr lang="en-US" sz="1300" dirty="0">
                <a:solidFill>
                  <a:srgbClr val="6E6878"/>
                </a:solidFill>
                <a:latin typeface="Alexandria" pitchFamily="34" charset="0"/>
                <a:ea typeface="Alexandria" pitchFamily="34" charset="-122"/>
                <a:cs typeface="Alexandria" pitchFamily="34" charset="-120"/>
              </a:rPr>
              <a:t>   từ C</a:t>
            </a:r>
            <a:endParaRPr lang="en-US" sz="1900" dirty="0"/>
          </a:p>
        </p:txBody>
      </p:sp>
      <p:sp>
        <p:nvSpPr>
          <p:cNvPr id="33" name="Shape 30"/>
          <p:cNvSpPr/>
          <p:nvPr/>
        </p:nvSpPr>
        <p:spPr>
          <a:xfrm>
            <a:off x="548640" y="4379976"/>
            <a:ext cx="11094415" cy="731520"/>
          </a:xfrm>
          <a:prstGeom prst="roundRect">
            <a:avLst>
              <a:gd name="adj" fmla="val 15000"/>
            </a:avLst>
          </a:prstGeom>
          <a:solidFill>
            <a:srgbClr val="FFFFFF"/>
          </a:solidFill>
          <a:ln w="19050">
            <a:solidFill>
              <a:srgbClr val="49B296"/>
            </a:solidFill>
            <a:prstDash val="solid"/>
          </a:ln>
        </p:spPr>
      </p:sp>
      <p:sp>
        <p:nvSpPr>
          <p:cNvPr id="34" name="Shape 31"/>
          <p:cNvSpPr/>
          <p:nvPr/>
        </p:nvSpPr>
        <p:spPr>
          <a:xfrm>
            <a:off x="731520" y="4471416"/>
            <a:ext cx="548640" cy="548640"/>
          </a:xfrm>
          <a:prstGeom prst="ellipse">
            <a:avLst/>
          </a:prstGeom>
          <a:solidFill>
            <a:srgbClr val="49B296"/>
          </a:solidFill>
          <a:ln w="12700">
            <a:solidFill>
              <a:srgbClr val="49B296"/>
            </a:solidFill>
            <a:prstDash val="solid"/>
          </a:ln>
        </p:spPr>
      </p:sp>
      <p:sp>
        <p:nvSpPr>
          <p:cNvPr id="35" name="Text 32"/>
          <p:cNvSpPr txBox="1"/>
          <p:nvPr/>
        </p:nvSpPr>
        <p:spPr>
          <a:xfrm>
            <a:off x="731520" y="4471416"/>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4</a:t>
            </a:r>
            <a:endParaRPr lang="en-US" sz="2040" dirty="0"/>
          </a:p>
        </p:txBody>
      </p:sp>
      <p:sp>
        <p:nvSpPr>
          <p:cNvPr id="36" name="Text 33"/>
          <p:cNvSpPr txBox="1"/>
          <p:nvPr/>
        </p:nvSpPr>
        <p:spPr>
          <a:xfrm>
            <a:off x="1508760" y="4379976"/>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Giá trị có số và cách đo (ghi giả định)</a:t>
            </a:r>
            <a:pPr indent="0" marL="0">
              <a:buNone/>
            </a:pPr>
            <a:r>
              <a:rPr lang="en-US" sz="1300" dirty="0">
                <a:solidFill>
                  <a:srgbClr val="6E6878"/>
                </a:solidFill>
                <a:latin typeface="Alexandria" pitchFamily="34" charset="0"/>
                <a:ea typeface="Alexandria" pitchFamily="34" charset="-122"/>
                <a:cs typeface="Alexandria" pitchFamily="34" charset="-120"/>
              </a:rPr>
              <a:t>   C + D</a:t>
            </a:r>
            <a:endParaRPr lang="en-US" sz="1900" dirty="0"/>
          </a:p>
        </p:txBody>
      </p:sp>
      <p:sp>
        <p:nvSpPr>
          <p:cNvPr id="37" name="Shape 34"/>
          <p:cNvSpPr/>
          <p:nvPr/>
        </p:nvSpPr>
        <p:spPr>
          <a:xfrm>
            <a:off x="548640" y="5230368"/>
            <a:ext cx="11094415" cy="731520"/>
          </a:xfrm>
          <a:prstGeom prst="roundRect">
            <a:avLst>
              <a:gd name="adj" fmla="val 15000"/>
            </a:avLst>
          </a:prstGeom>
          <a:solidFill>
            <a:srgbClr val="FFFFFF"/>
          </a:solidFill>
          <a:ln w="19050">
            <a:solidFill>
              <a:srgbClr val="FF5178"/>
            </a:solidFill>
            <a:prstDash val="solid"/>
          </a:ln>
        </p:spPr>
      </p:sp>
      <p:sp>
        <p:nvSpPr>
          <p:cNvPr id="38" name="Shape 35"/>
          <p:cNvSpPr/>
          <p:nvPr/>
        </p:nvSpPr>
        <p:spPr>
          <a:xfrm>
            <a:off x="731520" y="5321808"/>
            <a:ext cx="548640" cy="548640"/>
          </a:xfrm>
          <a:prstGeom prst="ellipse">
            <a:avLst/>
          </a:prstGeom>
          <a:solidFill>
            <a:srgbClr val="FF5178"/>
          </a:solidFill>
          <a:ln w="12700">
            <a:solidFill>
              <a:srgbClr val="FF5178"/>
            </a:solidFill>
            <a:prstDash val="solid"/>
          </a:ln>
        </p:spPr>
      </p:sp>
      <p:sp>
        <p:nvSpPr>
          <p:cNvPr id="39" name="Text 36"/>
          <p:cNvSpPr txBox="1"/>
          <p:nvPr/>
        </p:nvSpPr>
        <p:spPr>
          <a:xfrm>
            <a:off x="731520" y="5321808"/>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5</a:t>
            </a:r>
            <a:endParaRPr lang="en-US" sz="2040" dirty="0"/>
          </a:p>
        </p:txBody>
      </p:sp>
      <p:sp>
        <p:nvSpPr>
          <p:cNvPr id="40" name="Text 37"/>
          <p:cNvSpPr txBox="1"/>
          <p:nvPr/>
        </p:nvSpPr>
        <p:spPr>
          <a:xfrm>
            <a:off x="1508760" y="5230368"/>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Hội đồng cần quyết gì</a:t>
            </a:r>
            <a:pPr indent="0" marL="0">
              <a:buNone/>
            </a:pPr>
            <a:r>
              <a:rPr lang="en-US" sz="1300" dirty="0">
                <a:solidFill>
                  <a:srgbClr val="6E6878"/>
                </a:solidFill>
                <a:latin typeface="Alexandria" pitchFamily="34" charset="0"/>
                <a:ea typeface="Alexandria" pitchFamily="34" charset="-122"/>
                <a:cs typeface="Alexandria" pitchFamily="34" charset="-120"/>
              </a:rPr>
              <a:t>   ngân sách · cam kết · chia sẻ dữ liệu cấp 4–5</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Viết cuối, đọc đầu</a:t>
            </a:r>
            <a:endParaRPr lang="en-US" sz="26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19</a:t>
            </a:r>
            <a:endParaRPr lang="en-US" sz="1000" dirty="0"/>
          </a:p>
        </p:txBody>
      </p:sp>
      <p:sp>
        <p:nvSpPr>
          <p:cNvPr id="20" name="Text 17"/>
          <p:cNvSpPr txBox="1"/>
          <p:nvPr/>
        </p:nvSpPr>
        <p:spPr>
          <a:xfrm>
            <a:off x="548640" y="2148840"/>
            <a:ext cx="2011680" cy="548640"/>
          </a:xfrm>
          <a:prstGeom prst="rect">
            <a:avLst/>
          </a:prstGeom>
          <a:noFill/>
          <a:ln/>
        </p:spPr>
        <p:txBody>
          <a:bodyPr wrap="square" lIns="0" tIns="0" rIns="0" bIns="0" rtlCol="0" anchor="ctr"/>
          <a:lstStyle/>
          <a:p>
            <a:pPr indent="0" marL="0">
              <a:buNone/>
            </a:pPr>
            <a:r>
              <a:rPr lang="en-US" sz="1800" b="1" dirty="0">
                <a:solidFill>
                  <a:srgbClr val="962B7C"/>
                </a:solidFill>
                <a:latin typeface="Alexandria" pitchFamily="34" charset="0"/>
                <a:ea typeface="Alexandria" pitchFamily="34" charset="-122"/>
                <a:cs typeface="Alexandria" pitchFamily="34" charset="-120"/>
              </a:rPr>
              <a:t>Nhóm VIẾT</a:t>
            </a:r>
            <a:endParaRPr lang="en-US" sz="1800" dirty="0"/>
          </a:p>
        </p:txBody>
      </p:sp>
      <p:sp>
        <p:nvSpPr>
          <p:cNvPr id="21" name="Shape 18"/>
          <p:cNvSpPr/>
          <p:nvPr/>
        </p:nvSpPr>
        <p:spPr>
          <a:xfrm>
            <a:off x="3200400" y="1965960"/>
            <a:ext cx="960120" cy="960120"/>
          </a:xfrm>
          <a:prstGeom prst="ellipse">
            <a:avLst/>
          </a:prstGeom>
          <a:solidFill>
            <a:srgbClr val="962B7C"/>
          </a:solidFill>
          <a:ln w="12700">
            <a:solidFill>
              <a:srgbClr val="962B7C"/>
            </a:solidFill>
            <a:prstDash val="solid"/>
          </a:ln>
        </p:spPr>
      </p:sp>
      <p:sp>
        <p:nvSpPr>
          <p:cNvPr id="22" name="Text 19"/>
          <p:cNvSpPr txBox="1"/>
          <p:nvPr/>
        </p:nvSpPr>
        <p:spPr>
          <a:xfrm>
            <a:off x="3200400" y="196596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A</a:t>
            </a:r>
            <a:endParaRPr lang="en-US" sz="2800" dirty="0"/>
          </a:p>
        </p:txBody>
      </p:sp>
      <p:sp>
        <p:nvSpPr>
          <p:cNvPr id="23" name="Shape 20"/>
          <p:cNvSpPr/>
          <p:nvPr/>
        </p:nvSpPr>
        <p:spPr>
          <a:xfrm>
            <a:off x="4233672" y="2441448"/>
            <a:ext cx="539496" cy="914"/>
          </a:xfrm>
          <a:prstGeom prst="line">
            <a:avLst/>
          </a:prstGeom>
          <a:noFill/>
          <a:ln w="31750">
            <a:solidFill>
              <a:srgbClr val="2A2238"/>
            </a:solidFill>
            <a:prstDash val="solid"/>
            <a:tailEnd type="triangle"/>
          </a:ln>
        </p:spPr>
      </p:sp>
      <p:sp>
        <p:nvSpPr>
          <p:cNvPr id="24" name="Shape 21"/>
          <p:cNvSpPr/>
          <p:nvPr/>
        </p:nvSpPr>
        <p:spPr>
          <a:xfrm>
            <a:off x="4846320" y="1965960"/>
            <a:ext cx="960120" cy="960120"/>
          </a:xfrm>
          <a:prstGeom prst="ellipse">
            <a:avLst/>
          </a:prstGeom>
          <a:solidFill>
            <a:srgbClr val="09A1E5"/>
          </a:solidFill>
          <a:ln w="12700">
            <a:solidFill>
              <a:srgbClr val="09A1E5"/>
            </a:solidFill>
            <a:prstDash val="solid"/>
          </a:ln>
        </p:spPr>
      </p:sp>
      <p:sp>
        <p:nvSpPr>
          <p:cNvPr id="25" name="Text 22"/>
          <p:cNvSpPr txBox="1"/>
          <p:nvPr/>
        </p:nvSpPr>
        <p:spPr>
          <a:xfrm>
            <a:off x="4846320" y="196596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B</a:t>
            </a:r>
            <a:endParaRPr lang="en-US" sz="2800" dirty="0"/>
          </a:p>
        </p:txBody>
      </p:sp>
      <p:sp>
        <p:nvSpPr>
          <p:cNvPr id="26" name="Shape 23"/>
          <p:cNvSpPr/>
          <p:nvPr/>
        </p:nvSpPr>
        <p:spPr>
          <a:xfrm>
            <a:off x="5879592" y="2441448"/>
            <a:ext cx="539496" cy="914"/>
          </a:xfrm>
          <a:prstGeom prst="line">
            <a:avLst/>
          </a:prstGeom>
          <a:noFill/>
          <a:ln w="31750">
            <a:solidFill>
              <a:srgbClr val="2A2238"/>
            </a:solidFill>
            <a:prstDash val="solid"/>
            <a:tailEnd type="triangle"/>
          </a:ln>
        </p:spPr>
      </p:sp>
      <p:sp>
        <p:nvSpPr>
          <p:cNvPr id="27" name="Shape 24"/>
          <p:cNvSpPr/>
          <p:nvPr/>
        </p:nvSpPr>
        <p:spPr>
          <a:xfrm>
            <a:off x="6492240" y="1965960"/>
            <a:ext cx="960120" cy="960120"/>
          </a:xfrm>
          <a:prstGeom prst="ellipse">
            <a:avLst/>
          </a:prstGeom>
          <a:solidFill>
            <a:srgbClr val="FF9259"/>
          </a:solidFill>
          <a:ln w="12700">
            <a:solidFill>
              <a:srgbClr val="FF9259"/>
            </a:solidFill>
            <a:prstDash val="solid"/>
          </a:ln>
        </p:spPr>
      </p:sp>
      <p:sp>
        <p:nvSpPr>
          <p:cNvPr id="28" name="Text 25"/>
          <p:cNvSpPr txBox="1"/>
          <p:nvPr/>
        </p:nvSpPr>
        <p:spPr>
          <a:xfrm>
            <a:off x="6492240" y="196596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C</a:t>
            </a:r>
            <a:endParaRPr lang="en-US" sz="2800" dirty="0"/>
          </a:p>
        </p:txBody>
      </p:sp>
      <p:sp>
        <p:nvSpPr>
          <p:cNvPr id="29" name="Shape 26"/>
          <p:cNvSpPr/>
          <p:nvPr/>
        </p:nvSpPr>
        <p:spPr>
          <a:xfrm>
            <a:off x="7525512" y="2441448"/>
            <a:ext cx="539496" cy="914"/>
          </a:xfrm>
          <a:prstGeom prst="line">
            <a:avLst/>
          </a:prstGeom>
          <a:noFill/>
          <a:ln w="31750">
            <a:solidFill>
              <a:srgbClr val="2A2238"/>
            </a:solidFill>
            <a:prstDash val="solid"/>
            <a:tailEnd type="triangle"/>
          </a:ln>
        </p:spPr>
      </p:sp>
      <p:sp>
        <p:nvSpPr>
          <p:cNvPr id="30" name="Shape 27"/>
          <p:cNvSpPr/>
          <p:nvPr/>
        </p:nvSpPr>
        <p:spPr>
          <a:xfrm>
            <a:off x="8138160" y="1965960"/>
            <a:ext cx="960120" cy="960120"/>
          </a:xfrm>
          <a:prstGeom prst="ellipse">
            <a:avLst/>
          </a:prstGeom>
          <a:solidFill>
            <a:srgbClr val="49B296"/>
          </a:solidFill>
          <a:ln w="12700">
            <a:solidFill>
              <a:srgbClr val="49B296"/>
            </a:solidFill>
            <a:prstDash val="solid"/>
          </a:ln>
        </p:spPr>
      </p:sp>
      <p:sp>
        <p:nvSpPr>
          <p:cNvPr id="31" name="Text 28"/>
          <p:cNvSpPr txBox="1"/>
          <p:nvPr/>
        </p:nvSpPr>
        <p:spPr>
          <a:xfrm>
            <a:off x="8138160" y="196596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D</a:t>
            </a:r>
            <a:endParaRPr lang="en-US" sz="2800" dirty="0"/>
          </a:p>
        </p:txBody>
      </p:sp>
      <p:sp>
        <p:nvSpPr>
          <p:cNvPr id="32" name="Shape 29"/>
          <p:cNvSpPr/>
          <p:nvPr/>
        </p:nvSpPr>
        <p:spPr>
          <a:xfrm>
            <a:off x="9171432" y="2441448"/>
            <a:ext cx="539496" cy="914"/>
          </a:xfrm>
          <a:prstGeom prst="line">
            <a:avLst/>
          </a:prstGeom>
          <a:noFill/>
          <a:ln w="31750">
            <a:solidFill>
              <a:srgbClr val="2A2238"/>
            </a:solidFill>
            <a:prstDash val="solid"/>
            <a:tailEnd type="triangle"/>
          </a:ln>
        </p:spPr>
      </p:sp>
      <p:sp>
        <p:nvSpPr>
          <p:cNvPr id="33" name="Shape 30"/>
          <p:cNvSpPr/>
          <p:nvPr/>
        </p:nvSpPr>
        <p:spPr>
          <a:xfrm>
            <a:off x="9784080" y="1965960"/>
            <a:ext cx="960120" cy="960120"/>
          </a:xfrm>
          <a:prstGeom prst="ellipse">
            <a:avLst/>
          </a:prstGeom>
          <a:solidFill>
            <a:srgbClr val="FF5178"/>
          </a:solidFill>
          <a:ln w="12700">
            <a:solidFill>
              <a:srgbClr val="FF5178"/>
            </a:solidFill>
            <a:prstDash val="solid"/>
          </a:ln>
        </p:spPr>
      </p:sp>
      <p:sp>
        <p:nvSpPr>
          <p:cNvPr id="34" name="Text 31"/>
          <p:cNvSpPr txBox="1"/>
          <p:nvPr/>
        </p:nvSpPr>
        <p:spPr>
          <a:xfrm>
            <a:off x="9784080" y="196596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E</a:t>
            </a:r>
            <a:endParaRPr lang="en-US" sz="2800" dirty="0"/>
          </a:p>
        </p:txBody>
      </p:sp>
      <p:sp>
        <p:nvSpPr>
          <p:cNvPr id="35" name="Text 32"/>
          <p:cNvSpPr txBox="1"/>
          <p:nvPr/>
        </p:nvSpPr>
        <p:spPr>
          <a:xfrm>
            <a:off x="548640" y="3886200"/>
            <a:ext cx="2194560" cy="548640"/>
          </a:xfrm>
          <a:prstGeom prst="rect">
            <a:avLst/>
          </a:prstGeom>
          <a:noFill/>
          <a:ln/>
        </p:spPr>
        <p:txBody>
          <a:bodyPr wrap="square" lIns="0" tIns="0" rIns="0" bIns="0" rtlCol="0" anchor="ctr"/>
          <a:lstStyle/>
          <a:p>
            <a:pPr indent="0" marL="0">
              <a:buNone/>
            </a:pPr>
            <a:r>
              <a:rPr lang="en-US" sz="1800" b="1" dirty="0">
                <a:solidFill>
                  <a:srgbClr val="E03A62"/>
                </a:solidFill>
                <a:latin typeface="Alexandria" pitchFamily="34" charset="0"/>
                <a:ea typeface="Alexandria" pitchFamily="34" charset="-122"/>
                <a:cs typeface="Alexandria" pitchFamily="34" charset="-120"/>
              </a:rPr>
              <a:t>Hội đồng ĐỌC</a:t>
            </a:r>
            <a:endParaRPr lang="en-US" sz="1800" dirty="0"/>
          </a:p>
        </p:txBody>
      </p:sp>
      <p:sp>
        <p:nvSpPr>
          <p:cNvPr id="36" name="Shape 33"/>
          <p:cNvSpPr/>
          <p:nvPr/>
        </p:nvSpPr>
        <p:spPr>
          <a:xfrm>
            <a:off x="3200400" y="3703320"/>
            <a:ext cx="960120" cy="960120"/>
          </a:xfrm>
          <a:prstGeom prst="ellipse">
            <a:avLst/>
          </a:prstGeom>
          <a:solidFill>
            <a:srgbClr val="FF5178"/>
          </a:solidFill>
          <a:ln w="12700">
            <a:solidFill>
              <a:srgbClr val="FF5178"/>
            </a:solidFill>
            <a:prstDash val="solid"/>
          </a:ln>
        </p:spPr>
      </p:sp>
      <p:sp>
        <p:nvSpPr>
          <p:cNvPr id="37" name="Text 34"/>
          <p:cNvSpPr txBox="1"/>
          <p:nvPr/>
        </p:nvSpPr>
        <p:spPr>
          <a:xfrm>
            <a:off x="3200400" y="370332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E</a:t>
            </a:r>
            <a:endParaRPr lang="en-US" sz="2800" dirty="0"/>
          </a:p>
        </p:txBody>
      </p:sp>
      <p:sp>
        <p:nvSpPr>
          <p:cNvPr id="38" name="Shape 35"/>
          <p:cNvSpPr/>
          <p:nvPr/>
        </p:nvSpPr>
        <p:spPr>
          <a:xfrm>
            <a:off x="4233672" y="4178808"/>
            <a:ext cx="539496" cy="914"/>
          </a:xfrm>
          <a:prstGeom prst="line">
            <a:avLst/>
          </a:prstGeom>
          <a:noFill/>
          <a:ln w="31750">
            <a:solidFill>
              <a:srgbClr val="2A2238"/>
            </a:solidFill>
            <a:prstDash val="solid"/>
            <a:tailEnd type="triangle"/>
          </a:ln>
        </p:spPr>
      </p:sp>
      <p:sp>
        <p:nvSpPr>
          <p:cNvPr id="39" name="Shape 36"/>
          <p:cNvSpPr/>
          <p:nvPr/>
        </p:nvSpPr>
        <p:spPr>
          <a:xfrm>
            <a:off x="4846320" y="3703320"/>
            <a:ext cx="960120" cy="960120"/>
          </a:xfrm>
          <a:prstGeom prst="ellipse">
            <a:avLst/>
          </a:prstGeom>
          <a:solidFill>
            <a:srgbClr val="962B7C"/>
          </a:solidFill>
          <a:ln w="12700">
            <a:solidFill>
              <a:srgbClr val="962B7C"/>
            </a:solidFill>
            <a:prstDash val="solid"/>
          </a:ln>
        </p:spPr>
      </p:sp>
      <p:sp>
        <p:nvSpPr>
          <p:cNvPr id="40" name="Text 37"/>
          <p:cNvSpPr txBox="1"/>
          <p:nvPr/>
        </p:nvSpPr>
        <p:spPr>
          <a:xfrm>
            <a:off x="4846320" y="370332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A</a:t>
            </a:r>
            <a:endParaRPr lang="en-US" sz="2800" dirty="0"/>
          </a:p>
        </p:txBody>
      </p:sp>
      <p:sp>
        <p:nvSpPr>
          <p:cNvPr id="41" name="Shape 38"/>
          <p:cNvSpPr/>
          <p:nvPr/>
        </p:nvSpPr>
        <p:spPr>
          <a:xfrm>
            <a:off x="5879592" y="4178808"/>
            <a:ext cx="539496" cy="914"/>
          </a:xfrm>
          <a:prstGeom prst="line">
            <a:avLst/>
          </a:prstGeom>
          <a:noFill/>
          <a:ln w="31750">
            <a:solidFill>
              <a:srgbClr val="2A2238"/>
            </a:solidFill>
            <a:prstDash val="solid"/>
            <a:tailEnd type="triangle"/>
          </a:ln>
        </p:spPr>
      </p:sp>
      <p:sp>
        <p:nvSpPr>
          <p:cNvPr id="42" name="Shape 39"/>
          <p:cNvSpPr/>
          <p:nvPr/>
        </p:nvSpPr>
        <p:spPr>
          <a:xfrm>
            <a:off x="6492240" y="3703320"/>
            <a:ext cx="960120" cy="960120"/>
          </a:xfrm>
          <a:prstGeom prst="ellipse">
            <a:avLst/>
          </a:prstGeom>
          <a:solidFill>
            <a:srgbClr val="09A1E5"/>
          </a:solidFill>
          <a:ln w="12700">
            <a:solidFill>
              <a:srgbClr val="09A1E5"/>
            </a:solidFill>
            <a:prstDash val="solid"/>
          </a:ln>
        </p:spPr>
      </p:sp>
      <p:sp>
        <p:nvSpPr>
          <p:cNvPr id="43" name="Text 40"/>
          <p:cNvSpPr txBox="1"/>
          <p:nvPr/>
        </p:nvSpPr>
        <p:spPr>
          <a:xfrm>
            <a:off x="6492240" y="370332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B</a:t>
            </a:r>
            <a:endParaRPr lang="en-US" sz="2800" dirty="0"/>
          </a:p>
        </p:txBody>
      </p:sp>
      <p:sp>
        <p:nvSpPr>
          <p:cNvPr id="44" name="Shape 41"/>
          <p:cNvSpPr/>
          <p:nvPr/>
        </p:nvSpPr>
        <p:spPr>
          <a:xfrm>
            <a:off x="7525512" y="4178808"/>
            <a:ext cx="539496" cy="914"/>
          </a:xfrm>
          <a:prstGeom prst="line">
            <a:avLst/>
          </a:prstGeom>
          <a:noFill/>
          <a:ln w="31750">
            <a:solidFill>
              <a:srgbClr val="2A2238"/>
            </a:solidFill>
            <a:prstDash val="solid"/>
            <a:tailEnd type="triangle"/>
          </a:ln>
        </p:spPr>
      </p:sp>
      <p:sp>
        <p:nvSpPr>
          <p:cNvPr id="45" name="Shape 42"/>
          <p:cNvSpPr/>
          <p:nvPr/>
        </p:nvSpPr>
        <p:spPr>
          <a:xfrm>
            <a:off x="8138160" y="3703320"/>
            <a:ext cx="960120" cy="960120"/>
          </a:xfrm>
          <a:prstGeom prst="ellipse">
            <a:avLst/>
          </a:prstGeom>
          <a:solidFill>
            <a:srgbClr val="FF9259"/>
          </a:solidFill>
          <a:ln w="12700">
            <a:solidFill>
              <a:srgbClr val="FF9259"/>
            </a:solidFill>
            <a:prstDash val="solid"/>
          </a:ln>
        </p:spPr>
      </p:sp>
      <p:sp>
        <p:nvSpPr>
          <p:cNvPr id="46" name="Text 43"/>
          <p:cNvSpPr txBox="1"/>
          <p:nvPr/>
        </p:nvSpPr>
        <p:spPr>
          <a:xfrm>
            <a:off x="8138160" y="370332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C</a:t>
            </a:r>
            <a:endParaRPr lang="en-US" sz="2800" dirty="0"/>
          </a:p>
        </p:txBody>
      </p:sp>
      <p:sp>
        <p:nvSpPr>
          <p:cNvPr id="47" name="Shape 44"/>
          <p:cNvSpPr/>
          <p:nvPr/>
        </p:nvSpPr>
        <p:spPr>
          <a:xfrm>
            <a:off x="9171432" y="4178808"/>
            <a:ext cx="539496" cy="914"/>
          </a:xfrm>
          <a:prstGeom prst="line">
            <a:avLst/>
          </a:prstGeom>
          <a:noFill/>
          <a:ln w="31750">
            <a:solidFill>
              <a:srgbClr val="2A2238"/>
            </a:solidFill>
            <a:prstDash val="solid"/>
            <a:tailEnd type="triangle"/>
          </a:ln>
        </p:spPr>
      </p:sp>
      <p:sp>
        <p:nvSpPr>
          <p:cNvPr id="48" name="Shape 45"/>
          <p:cNvSpPr/>
          <p:nvPr/>
        </p:nvSpPr>
        <p:spPr>
          <a:xfrm>
            <a:off x="9784080" y="3703320"/>
            <a:ext cx="960120" cy="960120"/>
          </a:xfrm>
          <a:prstGeom prst="ellipse">
            <a:avLst/>
          </a:prstGeom>
          <a:solidFill>
            <a:srgbClr val="49B296"/>
          </a:solidFill>
          <a:ln w="12700">
            <a:solidFill>
              <a:srgbClr val="49B296"/>
            </a:solidFill>
            <a:prstDash val="solid"/>
          </a:ln>
        </p:spPr>
      </p:sp>
      <p:sp>
        <p:nvSpPr>
          <p:cNvPr id="49" name="Text 46"/>
          <p:cNvSpPr txBox="1"/>
          <p:nvPr/>
        </p:nvSpPr>
        <p:spPr>
          <a:xfrm>
            <a:off x="9784080" y="3703320"/>
            <a:ext cx="9601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D</a:t>
            </a:r>
            <a:endParaRPr lang="en-US" sz="2800" dirty="0"/>
          </a:p>
        </p:txBody>
      </p:sp>
      <p:sp>
        <p:nvSpPr>
          <p:cNvPr id="50" name="Shape 47"/>
          <p:cNvSpPr/>
          <p:nvPr/>
        </p:nvSpPr>
        <p:spPr>
          <a:xfrm>
            <a:off x="548640" y="5120640"/>
            <a:ext cx="11094415" cy="868680"/>
          </a:xfrm>
          <a:prstGeom prst="roundRect">
            <a:avLst>
              <a:gd name="adj" fmla="val 12632"/>
            </a:avLst>
          </a:prstGeom>
          <a:solidFill>
            <a:srgbClr val="FFF3C4"/>
          </a:solidFill>
          <a:ln w="12700">
            <a:solidFill>
              <a:srgbClr val="FFD23B"/>
            </a:solidFill>
            <a:prstDash val="solid"/>
          </a:ln>
        </p:spPr>
      </p:sp>
      <p:sp>
        <p:nvSpPr>
          <p:cNvPr id="51" name="Text 48"/>
          <p:cNvSpPr txBox="1"/>
          <p:nvPr/>
        </p:nvSpPr>
        <p:spPr>
          <a:xfrm>
            <a:off x="868680" y="5120640"/>
            <a:ext cx="10454335" cy="8686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Phần E là trang hội đồng đọc đầu tiên — và có thể là trang duy nhất họ đọc kỹ.</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Mười lỗi khiến key account plan thất bại</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Z02: Holt, Cranfield School of Management blog.</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20</a:t>
            </a:r>
            <a:endParaRPr lang="en-US" sz="1000" dirty="0"/>
          </a:p>
        </p:txBody>
      </p:sp>
      <p:sp>
        <p:nvSpPr>
          <p:cNvPr id="21" name="Shape 18"/>
          <p:cNvSpPr/>
          <p:nvPr/>
        </p:nvSpPr>
        <p:spPr>
          <a:xfrm>
            <a:off x="548640" y="1828800"/>
            <a:ext cx="5410048" cy="694944"/>
          </a:xfrm>
          <a:prstGeom prst="roundRect">
            <a:avLst>
              <a:gd name="adj" fmla="val 15789"/>
            </a:avLst>
          </a:prstGeom>
          <a:solidFill>
            <a:srgbClr val="FFFFFF"/>
          </a:solidFill>
          <a:ln w="12700">
            <a:solidFill>
              <a:srgbClr val="DCD7C8"/>
            </a:solidFill>
            <a:prstDash val="solid"/>
          </a:ln>
        </p:spPr>
      </p:sp>
      <p:sp>
        <p:nvSpPr>
          <p:cNvPr id="22" name="Shape 19"/>
          <p:cNvSpPr/>
          <p:nvPr/>
        </p:nvSpPr>
        <p:spPr>
          <a:xfrm>
            <a:off x="685800" y="1938528"/>
            <a:ext cx="475488" cy="475488"/>
          </a:xfrm>
          <a:prstGeom prst="ellipse">
            <a:avLst/>
          </a:prstGeom>
          <a:solidFill>
            <a:srgbClr val="6E6878"/>
          </a:solidFill>
          <a:ln w="12700">
            <a:solidFill>
              <a:srgbClr val="6E6878"/>
            </a:solidFill>
            <a:prstDash val="solid"/>
          </a:ln>
        </p:spPr>
      </p:sp>
      <p:sp>
        <p:nvSpPr>
          <p:cNvPr id="23" name="Text 20"/>
          <p:cNvSpPr txBox="1"/>
          <p:nvPr/>
        </p:nvSpPr>
        <p:spPr>
          <a:xfrm>
            <a:off x="685800" y="19385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a:t>
            </a:r>
            <a:endParaRPr lang="en-US" sz="1500" dirty="0"/>
          </a:p>
        </p:txBody>
      </p:sp>
      <p:sp>
        <p:nvSpPr>
          <p:cNvPr id="24" name="Text 21"/>
          <p:cNvSpPr txBox="1"/>
          <p:nvPr/>
        </p:nvSpPr>
        <p:spPr>
          <a:xfrm>
            <a:off x="1325880" y="1828800"/>
            <a:ext cx="4495648" cy="69494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Kế hoạch là của riêng người KAM</a:t>
            </a:r>
            <a:endParaRPr lang="en-US" sz="1500" dirty="0"/>
          </a:p>
        </p:txBody>
      </p:sp>
      <p:sp>
        <p:nvSpPr>
          <p:cNvPr id="25" name="Shape 22"/>
          <p:cNvSpPr/>
          <p:nvPr/>
        </p:nvSpPr>
        <p:spPr>
          <a:xfrm>
            <a:off x="548640" y="2651760"/>
            <a:ext cx="5410048" cy="694944"/>
          </a:xfrm>
          <a:prstGeom prst="roundRect">
            <a:avLst>
              <a:gd name="adj" fmla="val 15789"/>
            </a:avLst>
          </a:prstGeom>
          <a:solidFill>
            <a:srgbClr val="FFE4EA"/>
          </a:solidFill>
          <a:ln w="25400">
            <a:solidFill>
              <a:srgbClr val="FF5178"/>
            </a:solidFill>
            <a:prstDash val="solid"/>
          </a:ln>
        </p:spPr>
      </p:sp>
      <p:sp>
        <p:nvSpPr>
          <p:cNvPr id="26" name="Shape 23"/>
          <p:cNvSpPr/>
          <p:nvPr/>
        </p:nvSpPr>
        <p:spPr>
          <a:xfrm>
            <a:off x="685800" y="2761488"/>
            <a:ext cx="475488" cy="475488"/>
          </a:xfrm>
          <a:prstGeom prst="ellipse">
            <a:avLst/>
          </a:prstGeom>
          <a:solidFill>
            <a:srgbClr val="FF5178"/>
          </a:solidFill>
          <a:ln w="12700">
            <a:solidFill>
              <a:srgbClr val="FF5178"/>
            </a:solidFill>
            <a:prstDash val="solid"/>
          </a:ln>
        </p:spPr>
      </p:sp>
      <p:sp>
        <p:nvSpPr>
          <p:cNvPr id="27" name="Text 24"/>
          <p:cNvSpPr txBox="1"/>
          <p:nvPr/>
        </p:nvSpPr>
        <p:spPr>
          <a:xfrm>
            <a:off x="685800" y="27614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2</a:t>
            </a:r>
            <a:endParaRPr lang="en-US" sz="1500" dirty="0"/>
          </a:p>
        </p:txBody>
      </p:sp>
      <p:sp>
        <p:nvSpPr>
          <p:cNvPr id="28" name="Text 25"/>
          <p:cNvSpPr txBox="1"/>
          <p:nvPr/>
        </p:nvSpPr>
        <p:spPr>
          <a:xfrm>
            <a:off x="1325880" y="2651760"/>
            <a:ext cx="4495648" cy="694944"/>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KAM làm một mình</a:t>
            </a:r>
            <a:endParaRPr lang="en-US" sz="1500" dirty="0"/>
          </a:p>
        </p:txBody>
      </p:sp>
      <p:sp>
        <p:nvSpPr>
          <p:cNvPr id="29" name="Shape 26"/>
          <p:cNvSpPr/>
          <p:nvPr/>
        </p:nvSpPr>
        <p:spPr>
          <a:xfrm>
            <a:off x="548640" y="3474720"/>
            <a:ext cx="5410048" cy="694944"/>
          </a:xfrm>
          <a:prstGeom prst="roundRect">
            <a:avLst>
              <a:gd name="adj" fmla="val 15789"/>
            </a:avLst>
          </a:prstGeom>
          <a:solidFill>
            <a:srgbClr val="FFFFFF"/>
          </a:solidFill>
          <a:ln w="12700">
            <a:solidFill>
              <a:srgbClr val="DCD7C8"/>
            </a:solidFill>
            <a:prstDash val="solid"/>
          </a:ln>
        </p:spPr>
      </p:sp>
      <p:sp>
        <p:nvSpPr>
          <p:cNvPr id="30" name="Shape 27"/>
          <p:cNvSpPr/>
          <p:nvPr/>
        </p:nvSpPr>
        <p:spPr>
          <a:xfrm>
            <a:off x="685800" y="3584448"/>
            <a:ext cx="475488" cy="475488"/>
          </a:xfrm>
          <a:prstGeom prst="ellipse">
            <a:avLst/>
          </a:prstGeom>
          <a:solidFill>
            <a:srgbClr val="6E6878"/>
          </a:solidFill>
          <a:ln w="12700">
            <a:solidFill>
              <a:srgbClr val="6E6878"/>
            </a:solidFill>
            <a:prstDash val="solid"/>
          </a:ln>
        </p:spPr>
      </p:sp>
      <p:sp>
        <p:nvSpPr>
          <p:cNvPr id="31" name="Text 28"/>
          <p:cNvSpPr txBox="1"/>
          <p:nvPr/>
        </p:nvSpPr>
        <p:spPr>
          <a:xfrm>
            <a:off x="685800" y="358444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3</a:t>
            </a:r>
            <a:endParaRPr lang="en-US" sz="1500" dirty="0"/>
          </a:p>
        </p:txBody>
      </p:sp>
      <p:sp>
        <p:nvSpPr>
          <p:cNvPr id="32" name="Text 29"/>
          <p:cNvSpPr txBox="1"/>
          <p:nvPr/>
        </p:nvSpPr>
        <p:spPr>
          <a:xfrm>
            <a:off x="1325880" y="3474720"/>
            <a:ext cx="4495648" cy="69494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Lãnh đạo không quan tâm</a:t>
            </a:r>
            <a:endParaRPr lang="en-US" sz="1500" dirty="0"/>
          </a:p>
        </p:txBody>
      </p:sp>
      <p:sp>
        <p:nvSpPr>
          <p:cNvPr id="33" name="Shape 30"/>
          <p:cNvSpPr/>
          <p:nvPr/>
        </p:nvSpPr>
        <p:spPr>
          <a:xfrm>
            <a:off x="548640" y="4297680"/>
            <a:ext cx="5410048" cy="694944"/>
          </a:xfrm>
          <a:prstGeom prst="roundRect">
            <a:avLst>
              <a:gd name="adj" fmla="val 15789"/>
            </a:avLst>
          </a:prstGeom>
          <a:solidFill>
            <a:srgbClr val="FFFFFF"/>
          </a:solidFill>
          <a:ln w="12700">
            <a:solidFill>
              <a:srgbClr val="DCD7C8"/>
            </a:solidFill>
            <a:prstDash val="solid"/>
          </a:ln>
        </p:spPr>
      </p:sp>
      <p:sp>
        <p:nvSpPr>
          <p:cNvPr id="34" name="Shape 31"/>
          <p:cNvSpPr/>
          <p:nvPr/>
        </p:nvSpPr>
        <p:spPr>
          <a:xfrm>
            <a:off x="685800" y="4407408"/>
            <a:ext cx="475488" cy="475488"/>
          </a:xfrm>
          <a:prstGeom prst="ellipse">
            <a:avLst/>
          </a:prstGeom>
          <a:solidFill>
            <a:srgbClr val="6E6878"/>
          </a:solidFill>
          <a:ln w="12700">
            <a:solidFill>
              <a:srgbClr val="6E6878"/>
            </a:solidFill>
            <a:prstDash val="solid"/>
          </a:ln>
        </p:spPr>
      </p:sp>
      <p:sp>
        <p:nvSpPr>
          <p:cNvPr id="35" name="Text 32"/>
          <p:cNvSpPr txBox="1"/>
          <p:nvPr/>
        </p:nvSpPr>
        <p:spPr>
          <a:xfrm>
            <a:off x="685800" y="44074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4</a:t>
            </a:r>
            <a:endParaRPr lang="en-US" sz="1500" dirty="0"/>
          </a:p>
        </p:txBody>
      </p:sp>
      <p:sp>
        <p:nvSpPr>
          <p:cNvPr id="36" name="Text 33"/>
          <p:cNvSpPr txBox="1"/>
          <p:nvPr/>
        </p:nvSpPr>
        <p:spPr>
          <a:xfrm>
            <a:off x="1325880" y="4297680"/>
            <a:ext cx="4495648" cy="69494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Làm một lần rồi bỏ</a:t>
            </a:r>
            <a:endParaRPr lang="en-US" sz="1500" dirty="0"/>
          </a:p>
        </p:txBody>
      </p:sp>
      <p:sp>
        <p:nvSpPr>
          <p:cNvPr id="37" name="Shape 34"/>
          <p:cNvSpPr/>
          <p:nvPr/>
        </p:nvSpPr>
        <p:spPr>
          <a:xfrm>
            <a:off x="548640" y="5120640"/>
            <a:ext cx="5410048" cy="694944"/>
          </a:xfrm>
          <a:prstGeom prst="roundRect">
            <a:avLst>
              <a:gd name="adj" fmla="val 15789"/>
            </a:avLst>
          </a:prstGeom>
          <a:solidFill>
            <a:srgbClr val="FFFFFF"/>
          </a:solidFill>
          <a:ln w="12700">
            <a:solidFill>
              <a:srgbClr val="DCD7C8"/>
            </a:solidFill>
            <a:prstDash val="solid"/>
          </a:ln>
        </p:spPr>
      </p:sp>
      <p:sp>
        <p:nvSpPr>
          <p:cNvPr id="38" name="Shape 35"/>
          <p:cNvSpPr/>
          <p:nvPr/>
        </p:nvSpPr>
        <p:spPr>
          <a:xfrm>
            <a:off x="685800" y="5230368"/>
            <a:ext cx="475488" cy="475488"/>
          </a:xfrm>
          <a:prstGeom prst="ellipse">
            <a:avLst/>
          </a:prstGeom>
          <a:solidFill>
            <a:srgbClr val="6E6878"/>
          </a:solidFill>
          <a:ln w="12700">
            <a:solidFill>
              <a:srgbClr val="6E6878"/>
            </a:solidFill>
            <a:prstDash val="solid"/>
          </a:ln>
        </p:spPr>
      </p:sp>
      <p:sp>
        <p:nvSpPr>
          <p:cNvPr id="39" name="Text 36"/>
          <p:cNvSpPr txBox="1"/>
          <p:nvPr/>
        </p:nvSpPr>
        <p:spPr>
          <a:xfrm>
            <a:off x="685800" y="52303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5</a:t>
            </a:r>
            <a:endParaRPr lang="en-US" sz="1500" dirty="0"/>
          </a:p>
        </p:txBody>
      </p:sp>
      <p:sp>
        <p:nvSpPr>
          <p:cNvPr id="40" name="Text 37"/>
          <p:cNvSpPr txBox="1"/>
          <p:nvPr/>
        </p:nvSpPr>
        <p:spPr>
          <a:xfrm>
            <a:off x="1325880" y="5120640"/>
            <a:ext cx="4495648" cy="69494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Quá ngắn hạn, giao dịch</a:t>
            </a:r>
            <a:endParaRPr lang="en-US" sz="1500" dirty="0"/>
          </a:p>
        </p:txBody>
      </p:sp>
      <p:sp>
        <p:nvSpPr>
          <p:cNvPr id="41" name="Shape 38"/>
          <p:cNvSpPr/>
          <p:nvPr/>
        </p:nvSpPr>
        <p:spPr>
          <a:xfrm>
            <a:off x="6233008" y="1828800"/>
            <a:ext cx="5410048" cy="694944"/>
          </a:xfrm>
          <a:prstGeom prst="roundRect">
            <a:avLst>
              <a:gd name="adj" fmla="val 15789"/>
            </a:avLst>
          </a:prstGeom>
          <a:solidFill>
            <a:srgbClr val="FFFFFF"/>
          </a:solidFill>
          <a:ln w="12700">
            <a:solidFill>
              <a:srgbClr val="DCD7C8"/>
            </a:solidFill>
            <a:prstDash val="solid"/>
          </a:ln>
        </p:spPr>
      </p:sp>
      <p:sp>
        <p:nvSpPr>
          <p:cNvPr id="42" name="Shape 39"/>
          <p:cNvSpPr/>
          <p:nvPr/>
        </p:nvSpPr>
        <p:spPr>
          <a:xfrm>
            <a:off x="6370168" y="1938528"/>
            <a:ext cx="475488" cy="475488"/>
          </a:xfrm>
          <a:prstGeom prst="ellipse">
            <a:avLst/>
          </a:prstGeom>
          <a:solidFill>
            <a:srgbClr val="6E6878"/>
          </a:solidFill>
          <a:ln w="12700">
            <a:solidFill>
              <a:srgbClr val="6E6878"/>
            </a:solidFill>
            <a:prstDash val="solid"/>
          </a:ln>
        </p:spPr>
      </p:sp>
      <p:sp>
        <p:nvSpPr>
          <p:cNvPr id="43" name="Text 40"/>
          <p:cNvSpPr txBox="1"/>
          <p:nvPr/>
        </p:nvSpPr>
        <p:spPr>
          <a:xfrm>
            <a:off x="6370168" y="19385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6</a:t>
            </a:r>
            <a:endParaRPr lang="en-US" sz="1500" dirty="0"/>
          </a:p>
        </p:txBody>
      </p:sp>
      <p:sp>
        <p:nvSpPr>
          <p:cNvPr id="44" name="Text 41"/>
          <p:cNvSpPr txBox="1"/>
          <p:nvPr/>
        </p:nvSpPr>
        <p:spPr>
          <a:xfrm>
            <a:off x="7010248" y="1828800"/>
            <a:ext cx="4495648" cy="69494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Không rà soát, cập nhật</a:t>
            </a:r>
            <a:endParaRPr lang="en-US" sz="1500" dirty="0"/>
          </a:p>
        </p:txBody>
      </p:sp>
      <p:sp>
        <p:nvSpPr>
          <p:cNvPr id="45" name="Shape 42"/>
          <p:cNvSpPr/>
          <p:nvPr/>
        </p:nvSpPr>
        <p:spPr>
          <a:xfrm>
            <a:off x="6233008" y="2651760"/>
            <a:ext cx="5410048" cy="694944"/>
          </a:xfrm>
          <a:prstGeom prst="roundRect">
            <a:avLst>
              <a:gd name="adj" fmla="val 15789"/>
            </a:avLst>
          </a:prstGeom>
          <a:solidFill>
            <a:srgbClr val="FFE4EA"/>
          </a:solidFill>
          <a:ln w="25400">
            <a:solidFill>
              <a:srgbClr val="FF5178"/>
            </a:solidFill>
            <a:prstDash val="solid"/>
          </a:ln>
        </p:spPr>
      </p:sp>
      <p:sp>
        <p:nvSpPr>
          <p:cNvPr id="46" name="Shape 43"/>
          <p:cNvSpPr/>
          <p:nvPr/>
        </p:nvSpPr>
        <p:spPr>
          <a:xfrm>
            <a:off x="6370168" y="2761488"/>
            <a:ext cx="475488" cy="475488"/>
          </a:xfrm>
          <a:prstGeom prst="ellipse">
            <a:avLst/>
          </a:prstGeom>
          <a:solidFill>
            <a:srgbClr val="FF5178"/>
          </a:solidFill>
          <a:ln w="12700">
            <a:solidFill>
              <a:srgbClr val="FF5178"/>
            </a:solidFill>
            <a:prstDash val="solid"/>
          </a:ln>
        </p:spPr>
      </p:sp>
      <p:sp>
        <p:nvSpPr>
          <p:cNvPr id="47" name="Text 44"/>
          <p:cNvSpPr txBox="1"/>
          <p:nvPr/>
        </p:nvSpPr>
        <p:spPr>
          <a:xfrm>
            <a:off x="6370168" y="27614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7</a:t>
            </a:r>
            <a:endParaRPr lang="en-US" sz="1500" dirty="0"/>
          </a:p>
        </p:txBody>
      </p:sp>
      <p:sp>
        <p:nvSpPr>
          <p:cNvPr id="48" name="Text 45"/>
          <p:cNvSpPr txBox="1"/>
          <p:nvPr/>
        </p:nvSpPr>
        <p:spPr>
          <a:xfrm>
            <a:off x="7010248" y="2651760"/>
            <a:ext cx="4495648" cy="694944"/>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Toàn nói về nhà cung cấp, ít hiểu khách hàng</a:t>
            </a:r>
            <a:endParaRPr lang="en-US" sz="1500" dirty="0"/>
          </a:p>
        </p:txBody>
      </p:sp>
      <p:sp>
        <p:nvSpPr>
          <p:cNvPr id="49" name="Shape 46"/>
          <p:cNvSpPr/>
          <p:nvPr/>
        </p:nvSpPr>
        <p:spPr>
          <a:xfrm>
            <a:off x="6233008" y="3474720"/>
            <a:ext cx="5410048" cy="694944"/>
          </a:xfrm>
          <a:prstGeom prst="roundRect">
            <a:avLst>
              <a:gd name="adj" fmla="val 15789"/>
            </a:avLst>
          </a:prstGeom>
          <a:solidFill>
            <a:srgbClr val="FFFFFF"/>
          </a:solidFill>
          <a:ln w="12700">
            <a:solidFill>
              <a:srgbClr val="DCD7C8"/>
            </a:solidFill>
            <a:prstDash val="solid"/>
          </a:ln>
        </p:spPr>
      </p:sp>
      <p:sp>
        <p:nvSpPr>
          <p:cNvPr id="50" name="Shape 47"/>
          <p:cNvSpPr/>
          <p:nvPr/>
        </p:nvSpPr>
        <p:spPr>
          <a:xfrm>
            <a:off x="6370168" y="3584448"/>
            <a:ext cx="475488" cy="475488"/>
          </a:xfrm>
          <a:prstGeom prst="ellipse">
            <a:avLst/>
          </a:prstGeom>
          <a:solidFill>
            <a:srgbClr val="6E6878"/>
          </a:solidFill>
          <a:ln w="12700">
            <a:solidFill>
              <a:srgbClr val="6E6878"/>
            </a:solidFill>
            <a:prstDash val="solid"/>
          </a:ln>
        </p:spPr>
      </p:sp>
      <p:sp>
        <p:nvSpPr>
          <p:cNvPr id="51" name="Text 48"/>
          <p:cNvSpPr txBox="1"/>
          <p:nvPr/>
        </p:nvSpPr>
        <p:spPr>
          <a:xfrm>
            <a:off x="6370168" y="358444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8</a:t>
            </a:r>
            <a:endParaRPr lang="en-US" sz="1500" dirty="0"/>
          </a:p>
        </p:txBody>
      </p:sp>
      <p:sp>
        <p:nvSpPr>
          <p:cNvPr id="52" name="Text 49"/>
          <p:cNvSpPr txBox="1"/>
          <p:nvPr/>
        </p:nvSpPr>
        <p:spPr>
          <a:xfrm>
            <a:off x="7010248" y="3474720"/>
            <a:ext cx="4495648" cy="69494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Giữ kế hoạch cho riêng mình</a:t>
            </a:r>
            <a:endParaRPr lang="en-US" sz="1500" dirty="0"/>
          </a:p>
        </p:txBody>
      </p:sp>
      <p:sp>
        <p:nvSpPr>
          <p:cNvPr id="53" name="Shape 50"/>
          <p:cNvSpPr/>
          <p:nvPr/>
        </p:nvSpPr>
        <p:spPr>
          <a:xfrm>
            <a:off x="6233008" y="4297680"/>
            <a:ext cx="5410048" cy="694944"/>
          </a:xfrm>
          <a:prstGeom prst="roundRect">
            <a:avLst>
              <a:gd name="adj" fmla="val 15789"/>
            </a:avLst>
          </a:prstGeom>
          <a:solidFill>
            <a:srgbClr val="FFE4EA"/>
          </a:solidFill>
          <a:ln w="25400">
            <a:solidFill>
              <a:srgbClr val="FF5178"/>
            </a:solidFill>
            <a:prstDash val="solid"/>
          </a:ln>
        </p:spPr>
      </p:sp>
      <p:sp>
        <p:nvSpPr>
          <p:cNvPr id="54" name="Shape 51"/>
          <p:cNvSpPr/>
          <p:nvPr/>
        </p:nvSpPr>
        <p:spPr>
          <a:xfrm>
            <a:off x="6370168" y="4407408"/>
            <a:ext cx="475488" cy="475488"/>
          </a:xfrm>
          <a:prstGeom prst="ellipse">
            <a:avLst/>
          </a:prstGeom>
          <a:solidFill>
            <a:srgbClr val="FF5178"/>
          </a:solidFill>
          <a:ln w="12700">
            <a:solidFill>
              <a:srgbClr val="FF5178"/>
            </a:solidFill>
            <a:prstDash val="solid"/>
          </a:ln>
        </p:spPr>
      </p:sp>
      <p:sp>
        <p:nvSpPr>
          <p:cNvPr id="55" name="Text 52"/>
          <p:cNvSpPr txBox="1"/>
          <p:nvPr/>
        </p:nvSpPr>
        <p:spPr>
          <a:xfrm>
            <a:off x="6370168" y="44074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9</a:t>
            </a:r>
            <a:endParaRPr lang="en-US" sz="1500" dirty="0"/>
          </a:p>
        </p:txBody>
      </p:sp>
      <p:sp>
        <p:nvSpPr>
          <p:cNvPr id="56" name="Text 53"/>
          <p:cNvSpPr txBox="1"/>
          <p:nvPr/>
        </p:nvSpPr>
        <p:spPr>
          <a:xfrm>
            <a:off x="7010248" y="4297680"/>
            <a:ext cx="4495648" cy="694944"/>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Coi là điền ô</a:t>
            </a:r>
            <a:endParaRPr lang="en-US" sz="1500" dirty="0"/>
          </a:p>
        </p:txBody>
      </p:sp>
      <p:sp>
        <p:nvSpPr>
          <p:cNvPr id="57" name="Shape 54"/>
          <p:cNvSpPr/>
          <p:nvPr/>
        </p:nvSpPr>
        <p:spPr>
          <a:xfrm>
            <a:off x="6233008" y="5120640"/>
            <a:ext cx="5410048" cy="694944"/>
          </a:xfrm>
          <a:prstGeom prst="roundRect">
            <a:avLst>
              <a:gd name="adj" fmla="val 15789"/>
            </a:avLst>
          </a:prstGeom>
          <a:solidFill>
            <a:srgbClr val="FFFFFF"/>
          </a:solidFill>
          <a:ln w="12700">
            <a:solidFill>
              <a:srgbClr val="DCD7C8"/>
            </a:solidFill>
            <a:prstDash val="solid"/>
          </a:ln>
        </p:spPr>
      </p:sp>
      <p:sp>
        <p:nvSpPr>
          <p:cNvPr id="58" name="Shape 55"/>
          <p:cNvSpPr/>
          <p:nvPr/>
        </p:nvSpPr>
        <p:spPr>
          <a:xfrm>
            <a:off x="6370168" y="5230368"/>
            <a:ext cx="475488" cy="475488"/>
          </a:xfrm>
          <a:prstGeom prst="ellipse">
            <a:avLst/>
          </a:prstGeom>
          <a:solidFill>
            <a:srgbClr val="6E6878"/>
          </a:solidFill>
          <a:ln w="12700">
            <a:solidFill>
              <a:srgbClr val="6E6878"/>
            </a:solidFill>
            <a:prstDash val="solid"/>
          </a:ln>
        </p:spPr>
      </p:sp>
      <p:sp>
        <p:nvSpPr>
          <p:cNvPr id="59" name="Text 56"/>
          <p:cNvSpPr txBox="1"/>
          <p:nvPr/>
        </p:nvSpPr>
        <p:spPr>
          <a:xfrm>
            <a:off x="6370168" y="52303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10</a:t>
            </a:r>
            <a:endParaRPr lang="en-US" sz="1500" dirty="0"/>
          </a:p>
        </p:txBody>
      </p:sp>
      <p:sp>
        <p:nvSpPr>
          <p:cNvPr id="60" name="Text 57"/>
          <p:cNvSpPr txBox="1"/>
          <p:nvPr/>
        </p:nvSpPr>
        <p:spPr>
          <a:xfrm>
            <a:off x="7010248" y="5120640"/>
            <a:ext cx="4495648" cy="69494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Không ai sở hữu</a:t>
            </a:r>
            <a:endParaRPr lang="en-US" sz="1500" dirty="0"/>
          </a:p>
        </p:txBody>
      </p:sp>
      <p:sp>
        <p:nvSpPr>
          <p:cNvPr id="61" name="Text 58"/>
          <p:cNvSpPr txBox="1"/>
          <p:nvPr/>
        </p:nvSpPr>
        <p:spPr>
          <a:xfrm>
            <a:off x="548640" y="5989320"/>
            <a:ext cx="11094415" cy="274320"/>
          </a:xfrm>
          <a:prstGeom prst="rect">
            <a:avLst/>
          </a:prstGeom>
          <a:noFill/>
          <a:ln/>
        </p:spPr>
        <p:txBody>
          <a:bodyPr wrap="square" lIns="0" tIns="0" rIns="0" bIns="0" rtlCol="0" anchor="ctr"/>
          <a:lstStyle/>
          <a:p>
            <a:pPr indent="0" marL="0">
              <a:buNone/>
            </a:pPr>
            <a:r>
              <a:rPr lang="en-US" sz="1100" dirty="0">
                <a:solidFill>
                  <a:srgbClr val="E03A62"/>
                </a:solidFill>
                <a:latin typeface="Alexandria" pitchFamily="34" charset="0"/>
                <a:ea typeface="Alexandria" pitchFamily="34" charset="-122"/>
                <a:cs typeface="Alexandria" pitchFamily="34" charset="-120"/>
              </a:rPr>
              <a:t>● lỗi nhóm sinh viên dễ gặp nhất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Được dùng AI — nhưng phải công bố và tự bảo vệ được</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Chính sách AI cho SMP: mức D — cho phép kèm công bố (quyết định GV 5).</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21</a:t>
            </a:r>
            <a:endParaRPr lang="en-US" sz="1000" dirty="0"/>
          </a:p>
        </p:txBody>
      </p:sp>
      <p:sp>
        <p:nvSpPr>
          <p:cNvPr id="21" name="Shape 18"/>
          <p:cNvSpPr/>
          <p:nvPr/>
        </p:nvSpPr>
        <p:spPr>
          <a:xfrm>
            <a:off x="548640" y="1828800"/>
            <a:ext cx="3291840" cy="502920"/>
          </a:xfrm>
          <a:prstGeom prst="roundRect">
            <a:avLst>
              <a:gd name="adj" fmla="val 50000"/>
            </a:avLst>
          </a:prstGeom>
          <a:solidFill>
            <a:srgbClr val="49B296"/>
          </a:solidFill>
          <a:ln w="12700">
            <a:solidFill>
              <a:srgbClr val="49B296"/>
            </a:solidFill>
            <a:prstDash val="solid"/>
          </a:ln>
        </p:spPr>
      </p:sp>
      <p:sp>
        <p:nvSpPr>
          <p:cNvPr id="22" name="Text 19"/>
          <p:cNvSpPr txBox="1"/>
          <p:nvPr/>
        </p:nvSpPr>
        <p:spPr>
          <a:xfrm>
            <a:off x="621792" y="1828800"/>
            <a:ext cx="314553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Mức D · cho phép kèm công bố</a:t>
            </a:r>
            <a:endParaRPr lang="en-US" sz="1400" dirty="0"/>
          </a:p>
        </p:txBody>
      </p:sp>
      <p:sp>
        <p:nvSpPr>
          <p:cNvPr id="23" name="Shape 20"/>
          <p:cNvSpPr/>
          <p:nvPr/>
        </p:nvSpPr>
        <p:spPr>
          <a:xfrm>
            <a:off x="548640" y="2560320"/>
            <a:ext cx="3515258" cy="1920240"/>
          </a:xfrm>
          <a:prstGeom prst="roundRect">
            <a:avLst>
              <a:gd name="adj" fmla="val 5714"/>
            </a:avLst>
          </a:prstGeom>
          <a:solidFill>
            <a:srgbClr val="F1E1EE"/>
          </a:solidFill>
          <a:ln w="12700">
            <a:solidFill>
              <a:srgbClr val="962B7C"/>
            </a:solidFill>
            <a:prstDash val="solid"/>
          </a:ln>
        </p:spPr>
      </p:sp>
      <p:sp>
        <p:nvSpPr>
          <p:cNvPr id="24" name="Text 21"/>
          <p:cNvSpPr txBox="1"/>
          <p:nvPr/>
        </p:nvSpPr>
        <p:spPr>
          <a:xfrm>
            <a:off x="822960" y="2697480"/>
            <a:ext cx="2966618" cy="5029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Phụ lục công bố</a:t>
            </a:r>
            <a:endParaRPr lang="en-US" sz="1900" dirty="0"/>
          </a:p>
        </p:txBody>
      </p:sp>
      <p:sp>
        <p:nvSpPr>
          <p:cNvPr id="25" name="Text 22"/>
          <p:cNvSpPr txBox="1"/>
          <p:nvPr/>
        </p:nvSpPr>
        <p:spPr>
          <a:xfrm>
            <a:off x="822960" y="3246120"/>
            <a:ext cx="2966618" cy="109728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công cụ nào · dùng cho việc gì · nhóm đã kiểm tra và sửa gì</a:t>
            </a:r>
            <a:endParaRPr lang="en-US" sz="1500" dirty="0"/>
          </a:p>
        </p:txBody>
      </p:sp>
      <p:sp>
        <p:nvSpPr>
          <p:cNvPr id="26" name="Shape 23"/>
          <p:cNvSpPr/>
          <p:nvPr/>
        </p:nvSpPr>
        <p:spPr>
          <a:xfrm>
            <a:off x="4338218" y="2560320"/>
            <a:ext cx="3515258" cy="1920240"/>
          </a:xfrm>
          <a:prstGeom prst="roundRect">
            <a:avLst>
              <a:gd name="adj" fmla="val 5714"/>
            </a:avLst>
          </a:prstGeom>
          <a:solidFill>
            <a:srgbClr val="DDF1FB"/>
          </a:solidFill>
          <a:ln w="12700">
            <a:solidFill>
              <a:srgbClr val="09A1E5"/>
            </a:solidFill>
            <a:prstDash val="solid"/>
          </a:ln>
        </p:spPr>
      </p:sp>
      <p:sp>
        <p:nvSpPr>
          <p:cNvPr id="27" name="Text 24"/>
          <p:cNvSpPr txBox="1"/>
          <p:nvPr/>
        </p:nvSpPr>
        <p:spPr>
          <a:xfrm>
            <a:off x="4612538" y="2697480"/>
            <a:ext cx="2966618" cy="5029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Bảo vệ trực tiếp</a:t>
            </a:r>
            <a:endParaRPr lang="en-US" sz="1900" dirty="0"/>
          </a:p>
        </p:txBody>
      </p:sp>
      <p:sp>
        <p:nvSpPr>
          <p:cNvPr id="28" name="Text 25"/>
          <p:cNvSpPr txBox="1"/>
          <p:nvPr/>
        </p:nvSpPr>
        <p:spPr>
          <a:xfrm>
            <a:off x="4612538" y="3246120"/>
            <a:ext cx="2966618" cy="109728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nơi hội đồng thấy nhóm hiểu kế hoạch của mình đến đâu</a:t>
            </a:r>
            <a:endParaRPr lang="en-US" sz="1500" dirty="0"/>
          </a:p>
        </p:txBody>
      </p:sp>
      <p:sp>
        <p:nvSpPr>
          <p:cNvPr id="29" name="Shape 26"/>
          <p:cNvSpPr/>
          <p:nvPr/>
        </p:nvSpPr>
        <p:spPr>
          <a:xfrm>
            <a:off x="8127797" y="2560320"/>
            <a:ext cx="3515258" cy="1920240"/>
          </a:xfrm>
          <a:prstGeom prst="roundRect">
            <a:avLst>
              <a:gd name="adj" fmla="val 5714"/>
            </a:avLst>
          </a:prstGeom>
          <a:solidFill>
            <a:srgbClr val="FFE9DE"/>
          </a:solidFill>
          <a:ln w="12700">
            <a:solidFill>
              <a:srgbClr val="FF9259"/>
            </a:solidFill>
            <a:prstDash val="solid"/>
          </a:ln>
        </p:spPr>
      </p:sp>
      <p:sp>
        <p:nvSpPr>
          <p:cNvPr id="30" name="Text 27"/>
          <p:cNvSpPr txBox="1"/>
          <p:nvPr/>
        </p:nvSpPr>
        <p:spPr>
          <a:xfrm>
            <a:off x="8402117" y="2697480"/>
            <a:ext cx="2966618" cy="5029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Trang làm trên lớp</a:t>
            </a:r>
            <a:endParaRPr lang="en-US" sz="1900" dirty="0"/>
          </a:p>
        </p:txBody>
      </p:sp>
      <p:sp>
        <p:nvSpPr>
          <p:cNvPr id="31" name="Text 28"/>
          <p:cNvSpPr txBox="1"/>
          <p:nvPr/>
        </p:nvSpPr>
        <p:spPr>
          <a:xfrm>
            <a:off x="8402117" y="3246120"/>
            <a:ext cx="2966618" cy="109728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Buổi 1, 7–13 là dấu vết quá trình của nhóm</a:t>
            </a:r>
            <a:endParaRPr lang="en-US" sz="1500" dirty="0"/>
          </a:p>
        </p:txBody>
      </p:sp>
      <p:sp>
        <p:nvSpPr>
          <p:cNvPr id="32" name="Shape 29"/>
          <p:cNvSpPr/>
          <p:nvPr/>
        </p:nvSpPr>
        <p:spPr>
          <a:xfrm>
            <a:off x="548640" y="4754880"/>
            <a:ext cx="6766560" cy="1234440"/>
          </a:xfrm>
          <a:prstGeom prst="roundRect">
            <a:avLst>
              <a:gd name="adj" fmla="val 8889"/>
            </a:avLst>
          </a:prstGeom>
          <a:solidFill>
            <a:srgbClr val="FFF3C4"/>
          </a:solidFill>
          <a:ln w="12700">
            <a:solidFill>
              <a:srgbClr val="FFD23B"/>
            </a:solidFill>
            <a:prstDash val="solid"/>
          </a:ln>
        </p:spPr>
      </p:sp>
      <p:sp>
        <p:nvSpPr>
          <p:cNvPr id="33" name="Text 30"/>
          <p:cNvSpPr txBox="1"/>
          <p:nvPr/>
        </p:nvSpPr>
        <p:spPr>
          <a:xfrm>
            <a:off x="822960" y="4754880"/>
            <a:ext cx="6217920" cy="12344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AI không biết khách hàng của các bạn, không có mặt ở dự án cũ, và không đứng trả lời Customer Board thay các bạn.</a:t>
            </a:r>
            <a:endParaRPr lang="en-US" sz="1500" dirty="0"/>
          </a:p>
        </p:txBody>
      </p:sp>
      <p:sp>
        <p:nvSpPr>
          <p:cNvPr id="34" name="Shape 31"/>
          <p:cNvSpPr/>
          <p:nvPr/>
        </p:nvSpPr>
        <p:spPr>
          <a:xfrm>
            <a:off x="7589520" y="4754880"/>
            <a:ext cx="4053535" cy="1234440"/>
          </a:xfrm>
          <a:prstGeom prst="roundRect">
            <a:avLst>
              <a:gd name="adj" fmla="val 8889"/>
            </a:avLst>
          </a:prstGeom>
          <a:solidFill>
            <a:srgbClr val="FFFFFF"/>
          </a:solidFill>
          <a:ln w="19050">
            <a:solidFill>
              <a:srgbClr val="49B296"/>
            </a:solidFill>
            <a:prstDash val="solid"/>
          </a:ln>
        </p:spPr>
      </p:sp>
      <p:sp>
        <p:nvSpPr>
          <p:cNvPr id="35" name="Text 32"/>
          <p:cNvSpPr txBox="1"/>
          <p:nvPr/>
        </p:nvSpPr>
        <p:spPr>
          <a:xfrm>
            <a:off x="7863840" y="4754880"/>
            <a:ext cx="3504895" cy="123444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Checklist tự rà soát SMP</a:t>
            </a:r>
            <a:endParaRPr lang="en-US" sz="1600" dirty="0"/>
          </a:p>
          <a:p>
            <a:pPr indent="0" marL="0">
              <a:buNone/>
            </a:pPr>
            <a:r>
              <a:rPr lang="en-US" sz="1300" dirty="0">
                <a:solidFill>
                  <a:srgbClr val="2A2238"/>
                </a:solidFill>
                <a:latin typeface="Alexandria" pitchFamily="34" charset="0"/>
                <a:ea typeface="Alexandria" pitchFamily="34" charset="-122"/>
                <a:cs typeface="Alexandria" pitchFamily="34" charset="-120"/>
              </a:rPr>
              <a:t>dùng ở S6 và trước Buổi 14</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Value Delivery + Executive Summary, rồi gặp Customer Board</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W13_activity_S6_value_delivery_exec_summary.md.</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22</a:t>
            </a:r>
            <a:endParaRPr lang="en-US" sz="1000" dirty="0"/>
          </a:p>
        </p:txBody>
      </p:sp>
      <p:sp>
        <p:nvSpPr>
          <p:cNvPr id="21" name="Text 18"/>
          <p:cNvSpPr txBox="1"/>
          <p:nvPr/>
        </p:nvSpPr>
        <p:spPr>
          <a:xfrm>
            <a:off x="548640" y="1737360"/>
            <a:ext cx="11094415" cy="41148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 3 bên liên quan bên ngoài: mỗi nhóm (i) tài trợ/đầu tư, (ii) nhà cung cấp/địa điểm, (iii) báo chí/KOL — ít nhất 1 bên</a:t>
            </a:r>
            <a:endParaRPr lang="en-US" sz="1300" dirty="0"/>
          </a:p>
        </p:txBody>
      </p:sp>
      <p:sp>
        <p:nvSpPr>
          <p:cNvPr id="22" name="Shape 19"/>
          <p:cNvSpPr/>
          <p:nvPr/>
        </p:nvSpPr>
        <p:spPr>
          <a:xfrm>
            <a:off x="548640" y="2240280"/>
            <a:ext cx="1772869" cy="548640"/>
          </a:xfrm>
          <a:prstGeom prst="roundRect">
            <a:avLst>
              <a:gd name="adj" fmla="val 50000"/>
            </a:avLst>
          </a:prstGeom>
          <a:solidFill>
            <a:srgbClr val="FF9259"/>
          </a:solidFill>
          <a:ln w="12700">
            <a:solidFill>
              <a:srgbClr val="FF9259"/>
            </a:solidFill>
            <a:prstDash val="solid"/>
          </a:ln>
        </p:spPr>
      </p:sp>
      <p:sp>
        <p:nvSpPr>
          <p:cNvPr id="23" name="Text 20"/>
          <p:cNvSpPr txBox="1"/>
          <p:nvPr/>
        </p:nvSpPr>
        <p:spPr>
          <a:xfrm>
            <a:off x="621792" y="2240280"/>
            <a:ext cx="1626565" cy="54864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Bên liên quan</a:t>
            </a:r>
            <a:endParaRPr lang="en-US" sz="1200" dirty="0"/>
          </a:p>
        </p:txBody>
      </p:sp>
      <p:sp>
        <p:nvSpPr>
          <p:cNvPr id="24" name="Shape 21"/>
          <p:cNvSpPr/>
          <p:nvPr/>
        </p:nvSpPr>
        <p:spPr>
          <a:xfrm>
            <a:off x="548640" y="2880360"/>
            <a:ext cx="1772869" cy="310896"/>
          </a:xfrm>
          <a:prstGeom prst="roundRect">
            <a:avLst>
              <a:gd name="adj" fmla="val 35294"/>
            </a:avLst>
          </a:prstGeom>
          <a:solidFill>
            <a:srgbClr val="F3F0E6"/>
          </a:solidFill>
          <a:ln w="12700">
            <a:solidFill>
              <a:srgbClr val="DCD7C8"/>
            </a:solidFill>
            <a:prstDash val="solid"/>
          </a:ln>
        </p:spPr>
      </p:sp>
      <p:sp>
        <p:nvSpPr>
          <p:cNvPr id="25" name="Shape 22"/>
          <p:cNvSpPr/>
          <p:nvPr/>
        </p:nvSpPr>
        <p:spPr>
          <a:xfrm>
            <a:off x="548640" y="3264408"/>
            <a:ext cx="1772869" cy="310896"/>
          </a:xfrm>
          <a:prstGeom prst="roundRect">
            <a:avLst>
              <a:gd name="adj" fmla="val 35294"/>
            </a:avLst>
          </a:prstGeom>
          <a:solidFill>
            <a:srgbClr val="F3F0E6"/>
          </a:solidFill>
          <a:ln w="12700">
            <a:solidFill>
              <a:srgbClr val="DCD7C8"/>
            </a:solidFill>
            <a:prstDash val="solid"/>
          </a:ln>
        </p:spPr>
      </p:sp>
      <p:sp>
        <p:nvSpPr>
          <p:cNvPr id="26" name="Shape 23"/>
          <p:cNvSpPr/>
          <p:nvPr/>
        </p:nvSpPr>
        <p:spPr>
          <a:xfrm>
            <a:off x="548640" y="3648456"/>
            <a:ext cx="1772869" cy="310896"/>
          </a:xfrm>
          <a:prstGeom prst="roundRect">
            <a:avLst>
              <a:gd name="adj" fmla="val 35294"/>
            </a:avLst>
          </a:prstGeom>
          <a:solidFill>
            <a:srgbClr val="F3F0E6"/>
          </a:solidFill>
          <a:ln w="12700">
            <a:solidFill>
              <a:srgbClr val="DCD7C8"/>
            </a:solidFill>
            <a:prstDash val="solid"/>
          </a:ln>
        </p:spPr>
      </p:sp>
      <p:sp>
        <p:nvSpPr>
          <p:cNvPr id="27" name="Shape 24"/>
          <p:cNvSpPr/>
          <p:nvPr/>
        </p:nvSpPr>
        <p:spPr>
          <a:xfrm>
            <a:off x="2412949" y="2240280"/>
            <a:ext cx="1772869" cy="548640"/>
          </a:xfrm>
          <a:prstGeom prst="roundRect">
            <a:avLst>
              <a:gd name="adj" fmla="val 50000"/>
            </a:avLst>
          </a:prstGeom>
          <a:solidFill>
            <a:srgbClr val="962B7C"/>
          </a:solidFill>
          <a:ln w="12700">
            <a:solidFill>
              <a:srgbClr val="962B7C"/>
            </a:solidFill>
            <a:prstDash val="solid"/>
          </a:ln>
        </p:spPr>
      </p:sp>
      <p:sp>
        <p:nvSpPr>
          <p:cNvPr id="28" name="Text 25"/>
          <p:cNvSpPr txBox="1"/>
          <p:nvPr/>
        </p:nvSpPr>
        <p:spPr>
          <a:xfrm>
            <a:off x="2486101" y="2240280"/>
            <a:ext cx="1626565"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Điểm chạm</a:t>
            </a:r>
            <a:endParaRPr lang="en-US" sz="1200" dirty="0"/>
          </a:p>
        </p:txBody>
      </p:sp>
      <p:sp>
        <p:nvSpPr>
          <p:cNvPr id="29" name="Shape 26"/>
          <p:cNvSpPr/>
          <p:nvPr/>
        </p:nvSpPr>
        <p:spPr>
          <a:xfrm>
            <a:off x="2412949" y="2880360"/>
            <a:ext cx="1772869" cy="310896"/>
          </a:xfrm>
          <a:prstGeom prst="roundRect">
            <a:avLst>
              <a:gd name="adj" fmla="val 35294"/>
            </a:avLst>
          </a:prstGeom>
          <a:solidFill>
            <a:srgbClr val="FFFFFF"/>
          </a:solidFill>
          <a:ln w="12700">
            <a:solidFill>
              <a:srgbClr val="DCD7C8"/>
            </a:solidFill>
            <a:prstDash val="solid"/>
          </a:ln>
        </p:spPr>
      </p:sp>
      <p:sp>
        <p:nvSpPr>
          <p:cNvPr id="30" name="Shape 27"/>
          <p:cNvSpPr/>
          <p:nvPr/>
        </p:nvSpPr>
        <p:spPr>
          <a:xfrm>
            <a:off x="2412949" y="3264408"/>
            <a:ext cx="1772869" cy="310896"/>
          </a:xfrm>
          <a:prstGeom prst="roundRect">
            <a:avLst>
              <a:gd name="adj" fmla="val 35294"/>
            </a:avLst>
          </a:prstGeom>
          <a:solidFill>
            <a:srgbClr val="FFFFFF"/>
          </a:solidFill>
          <a:ln w="12700">
            <a:solidFill>
              <a:srgbClr val="DCD7C8"/>
            </a:solidFill>
            <a:prstDash val="solid"/>
          </a:ln>
        </p:spPr>
      </p:sp>
      <p:sp>
        <p:nvSpPr>
          <p:cNvPr id="31" name="Shape 28"/>
          <p:cNvSpPr/>
          <p:nvPr/>
        </p:nvSpPr>
        <p:spPr>
          <a:xfrm>
            <a:off x="2412949" y="3648456"/>
            <a:ext cx="1772869" cy="310896"/>
          </a:xfrm>
          <a:prstGeom prst="roundRect">
            <a:avLst>
              <a:gd name="adj" fmla="val 35294"/>
            </a:avLst>
          </a:prstGeom>
          <a:solidFill>
            <a:srgbClr val="FFFFFF"/>
          </a:solidFill>
          <a:ln w="12700">
            <a:solidFill>
              <a:srgbClr val="DCD7C8"/>
            </a:solidFill>
            <a:prstDash val="solid"/>
          </a:ln>
        </p:spPr>
      </p:sp>
      <p:sp>
        <p:nvSpPr>
          <p:cNvPr id="32" name="Shape 29"/>
          <p:cNvSpPr/>
          <p:nvPr/>
        </p:nvSpPr>
        <p:spPr>
          <a:xfrm>
            <a:off x="4277258" y="2240280"/>
            <a:ext cx="1772869" cy="548640"/>
          </a:xfrm>
          <a:prstGeom prst="roundRect">
            <a:avLst>
              <a:gd name="adj" fmla="val 50000"/>
            </a:avLst>
          </a:prstGeom>
          <a:solidFill>
            <a:srgbClr val="09A1E5"/>
          </a:solidFill>
          <a:ln w="12700">
            <a:solidFill>
              <a:srgbClr val="09A1E5"/>
            </a:solidFill>
            <a:prstDash val="solid"/>
          </a:ln>
        </p:spPr>
      </p:sp>
      <p:sp>
        <p:nvSpPr>
          <p:cNvPr id="33" name="Text 30"/>
          <p:cNvSpPr txBox="1"/>
          <p:nvPr/>
        </p:nvSpPr>
        <p:spPr>
          <a:xfrm>
            <a:off x="4350410" y="2240280"/>
            <a:ext cx="1626565"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Giá trị cho khách</a:t>
            </a:r>
            <a:endParaRPr lang="en-US" sz="1200" dirty="0"/>
          </a:p>
        </p:txBody>
      </p:sp>
      <p:sp>
        <p:nvSpPr>
          <p:cNvPr id="34" name="Shape 31"/>
          <p:cNvSpPr/>
          <p:nvPr/>
        </p:nvSpPr>
        <p:spPr>
          <a:xfrm>
            <a:off x="4277258" y="2880360"/>
            <a:ext cx="1772869" cy="310896"/>
          </a:xfrm>
          <a:prstGeom prst="roundRect">
            <a:avLst>
              <a:gd name="adj" fmla="val 35294"/>
            </a:avLst>
          </a:prstGeom>
          <a:solidFill>
            <a:srgbClr val="FFFFFF"/>
          </a:solidFill>
          <a:ln w="12700">
            <a:solidFill>
              <a:srgbClr val="DCD7C8"/>
            </a:solidFill>
            <a:prstDash val="solid"/>
          </a:ln>
        </p:spPr>
      </p:sp>
      <p:sp>
        <p:nvSpPr>
          <p:cNvPr id="35" name="Shape 32"/>
          <p:cNvSpPr/>
          <p:nvPr/>
        </p:nvSpPr>
        <p:spPr>
          <a:xfrm>
            <a:off x="4277258" y="3264408"/>
            <a:ext cx="1772869" cy="310896"/>
          </a:xfrm>
          <a:prstGeom prst="roundRect">
            <a:avLst>
              <a:gd name="adj" fmla="val 35294"/>
            </a:avLst>
          </a:prstGeom>
          <a:solidFill>
            <a:srgbClr val="FFFFFF"/>
          </a:solidFill>
          <a:ln w="12700">
            <a:solidFill>
              <a:srgbClr val="DCD7C8"/>
            </a:solidFill>
            <a:prstDash val="solid"/>
          </a:ln>
        </p:spPr>
      </p:sp>
      <p:sp>
        <p:nvSpPr>
          <p:cNvPr id="36" name="Shape 33"/>
          <p:cNvSpPr/>
          <p:nvPr/>
        </p:nvSpPr>
        <p:spPr>
          <a:xfrm>
            <a:off x="4277258" y="3648456"/>
            <a:ext cx="1772869" cy="310896"/>
          </a:xfrm>
          <a:prstGeom prst="roundRect">
            <a:avLst>
              <a:gd name="adj" fmla="val 35294"/>
            </a:avLst>
          </a:prstGeom>
          <a:solidFill>
            <a:srgbClr val="FFFFFF"/>
          </a:solidFill>
          <a:ln w="12700">
            <a:solidFill>
              <a:srgbClr val="DCD7C8"/>
            </a:solidFill>
            <a:prstDash val="solid"/>
          </a:ln>
        </p:spPr>
      </p:sp>
      <p:sp>
        <p:nvSpPr>
          <p:cNvPr id="37" name="Shape 34"/>
          <p:cNvSpPr/>
          <p:nvPr/>
        </p:nvSpPr>
        <p:spPr>
          <a:xfrm>
            <a:off x="6141568" y="2240280"/>
            <a:ext cx="1772869" cy="548640"/>
          </a:xfrm>
          <a:prstGeom prst="roundRect">
            <a:avLst>
              <a:gd name="adj" fmla="val 50000"/>
            </a:avLst>
          </a:prstGeom>
          <a:solidFill>
            <a:srgbClr val="49B296"/>
          </a:solidFill>
          <a:ln w="12700">
            <a:solidFill>
              <a:srgbClr val="49B296"/>
            </a:solidFill>
            <a:prstDash val="solid"/>
          </a:ln>
        </p:spPr>
      </p:sp>
      <p:sp>
        <p:nvSpPr>
          <p:cNvPr id="38" name="Text 35"/>
          <p:cNvSpPr txBox="1"/>
          <p:nvPr/>
        </p:nvSpPr>
        <p:spPr>
          <a:xfrm>
            <a:off x="6214720" y="2240280"/>
            <a:ext cx="1626565"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Quản lý bằng gì</a:t>
            </a:r>
            <a:endParaRPr lang="en-US" sz="1200" dirty="0"/>
          </a:p>
        </p:txBody>
      </p:sp>
      <p:sp>
        <p:nvSpPr>
          <p:cNvPr id="39" name="Shape 36"/>
          <p:cNvSpPr/>
          <p:nvPr/>
        </p:nvSpPr>
        <p:spPr>
          <a:xfrm>
            <a:off x="6141568" y="2880360"/>
            <a:ext cx="1772869" cy="310896"/>
          </a:xfrm>
          <a:prstGeom prst="roundRect">
            <a:avLst>
              <a:gd name="adj" fmla="val 35294"/>
            </a:avLst>
          </a:prstGeom>
          <a:solidFill>
            <a:srgbClr val="FFFFFF"/>
          </a:solidFill>
          <a:ln w="12700">
            <a:solidFill>
              <a:srgbClr val="DCD7C8"/>
            </a:solidFill>
            <a:prstDash val="solid"/>
          </a:ln>
        </p:spPr>
      </p:sp>
      <p:sp>
        <p:nvSpPr>
          <p:cNvPr id="40" name="Shape 37"/>
          <p:cNvSpPr/>
          <p:nvPr/>
        </p:nvSpPr>
        <p:spPr>
          <a:xfrm>
            <a:off x="6141568" y="3264408"/>
            <a:ext cx="1772869" cy="310896"/>
          </a:xfrm>
          <a:prstGeom prst="roundRect">
            <a:avLst>
              <a:gd name="adj" fmla="val 35294"/>
            </a:avLst>
          </a:prstGeom>
          <a:solidFill>
            <a:srgbClr val="FFFFFF"/>
          </a:solidFill>
          <a:ln w="12700">
            <a:solidFill>
              <a:srgbClr val="DCD7C8"/>
            </a:solidFill>
            <a:prstDash val="solid"/>
          </a:ln>
        </p:spPr>
      </p:sp>
      <p:sp>
        <p:nvSpPr>
          <p:cNvPr id="41" name="Shape 38"/>
          <p:cNvSpPr/>
          <p:nvPr/>
        </p:nvSpPr>
        <p:spPr>
          <a:xfrm>
            <a:off x="6141568" y="3648456"/>
            <a:ext cx="1772869" cy="310896"/>
          </a:xfrm>
          <a:prstGeom prst="roundRect">
            <a:avLst>
              <a:gd name="adj" fmla="val 35294"/>
            </a:avLst>
          </a:prstGeom>
          <a:solidFill>
            <a:srgbClr val="FFFFFF"/>
          </a:solidFill>
          <a:ln w="12700">
            <a:solidFill>
              <a:srgbClr val="DCD7C8"/>
            </a:solidFill>
            <a:prstDash val="solid"/>
          </a:ln>
        </p:spPr>
      </p:sp>
      <p:sp>
        <p:nvSpPr>
          <p:cNvPr id="42" name="Shape 39"/>
          <p:cNvSpPr/>
          <p:nvPr/>
        </p:nvSpPr>
        <p:spPr>
          <a:xfrm>
            <a:off x="8005877" y="2240280"/>
            <a:ext cx="1772869" cy="548640"/>
          </a:xfrm>
          <a:prstGeom prst="roundRect">
            <a:avLst>
              <a:gd name="adj" fmla="val 50000"/>
            </a:avLst>
          </a:prstGeom>
          <a:solidFill>
            <a:srgbClr val="FF5178"/>
          </a:solidFill>
          <a:ln w="12700">
            <a:solidFill>
              <a:srgbClr val="FF5178"/>
            </a:solidFill>
            <a:prstDash val="solid"/>
          </a:ln>
        </p:spPr>
      </p:sp>
      <p:sp>
        <p:nvSpPr>
          <p:cNvPr id="43" name="Text 40"/>
          <p:cNvSpPr txBox="1"/>
          <p:nvPr/>
        </p:nvSpPr>
        <p:spPr>
          <a:xfrm>
            <a:off x="8079029" y="2240280"/>
            <a:ext cx="1626565"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Rủi ro &amp; bảo vệ</a:t>
            </a:r>
            <a:endParaRPr lang="en-US" sz="1200" dirty="0"/>
          </a:p>
        </p:txBody>
      </p:sp>
      <p:sp>
        <p:nvSpPr>
          <p:cNvPr id="44" name="Shape 41"/>
          <p:cNvSpPr/>
          <p:nvPr/>
        </p:nvSpPr>
        <p:spPr>
          <a:xfrm>
            <a:off x="8005877" y="2880360"/>
            <a:ext cx="1772869" cy="310896"/>
          </a:xfrm>
          <a:prstGeom prst="roundRect">
            <a:avLst>
              <a:gd name="adj" fmla="val 35294"/>
            </a:avLst>
          </a:prstGeom>
          <a:solidFill>
            <a:srgbClr val="FFFFFF"/>
          </a:solidFill>
          <a:ln w="12700">
            <a:solidFill>
              <a:srgbClr val="DCD7C8"/>
            </a:solidFill>
            <a:prstDash val="solid"/>
          </a:ln>
        </p:spPr>
      </p:sp>
      <p:sp>
        <p:nvSpPr>
          <p:cNvPr id="45" name="Shape 42"/>
          <p:cNvSpPr/>
          <p:nvPr/>
        </p:nvSpPr>
        <p:spPr>
          <a:xfrm>
            <a:off x="8005877" y="3264408"/>
            <a:ext cx="1772869" cy="310896"/>
          </a:xfrm>
          <a:prstGeom prst="roundRect">
            <a:avLst>
              <a:gd name="adj" fmla="val 35294"/>
            </a:avLst>
          </a:prstGeom>
          <a:solidFill>
            <a:srgbClr val="FFFFFF"/>
          </a:solidFill>
          <a:ln w="12700">
            <a:solidFill>
              <a:srgbClr val="DCD7C8"/>
            </a:solidFill>
            <a:prstDash val="solid"/>
          </a:ln>
        </p:spPr>
      </p:sp>
      <p:sp>
        <p:nvSpPr>
          <p:cNvPr id="46" name="Shape 43"/>
          <p:cNvSpPr/>
          <p:nvPr/>
        </p:nvSpPr>
        <p:spPr>
          <a:xfrm>
            <a:off x="8005877" y="3648456"/>
            <a:ext cx="1772869" cy="310896"/>
          </a:xfrm>
          <a:prstGeom prst="roundRect">
            <a:avLst>
              <a:gd name="adj" fmla="val 35294"/>
            </a:avLst>
          </a:prstGeom>
          <a:solidFill>
            <a:srgbClr val="FFFFFF"/>
          </a:solidFill>
          <a:ln w="12700">
            <a:solidFill>
              <a:srgbClr val="DCD7C8"/>
            </a:solidFill>
            <a:prstDash val="solid"/>
          </a:ln>
        </p:spPr>
      </p:sp>
      <p:sp>
        <p:nvSpPr>
          <p:cNvPr id="47" name="Shape 44"/>
          <p:cNvSpPr/>
          <p:nvPr/>
        </p:nvSpPr>
        <p:spPr>
          <a:xfrm>
            <a:off x="9870186" y="2240280"/>
            <a:ext cx="1772869" cy="548640"/>
          </a:xfrm>
          <a:prstGeom prst="roundRect">
            <a:avLst>
              <a:gd name="adj" fmla="val 50000"/>
            </a:avLst>
          </a:prstGeom>
          <a:solidFill>
            <a:srgbClr val="962B7C"/>
          </a:solidFill>
          <a:ln w="12700">
            <a:solidFill>
              <a:srgbClr val="962B7C"/>
            </a:solidFill>
            <a:prstDash val="solid"/>
          </a:ln>
        </p:spPr>
      </p:sp>
      <p:sp>
        <p:nvSpPr>
          <p:cNvPr id="48" name="Text 45"/>
          <p:cNvSpPr txBox="1"/>
          <p:nvPr/>
        </p:nvSpPr>
        <p:spPr>
          <a:xfrm>
            <a:off x="9943338" y="2240280"/>
            <a:ext cx="1626565"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Chỉ số (cấp mấy)</a:t>
            </a:r>
            <a:endParaRPr lang="en-US" sz="1200" dirty="0"/>
          </a:p>
        </p:txBody>
      </p:sp>
      <p:sp>
        <p:nvSpPr>
          <p:cNvPr id="49" name="Shape 46"/>
          <p:cNvSpPr/>
          <p:nvPr/>
        </p:nvSpPr>
        <p:spPr>
          <a:xfrm>
            <a:off x="9870186" y="2880360"/>
            <a:ext cx="1772869" cy="310896"/>
          </a:xfrm>
          <a:prstGeom prst="roundRect">
            <a:avLst>
              <a:gd name="adj" fmla="val 35294"/>
            </a:avLst>
          </a:prstGeom>
          <a:solidFill>
            <a:srgbClr val="FFFFFF"/>
          </a:solidFill>
          <a:ln w="12700">
            <a:solidFill>
              <a:srgbClr val="DCD7C8"/>
            </a:solidFill>
            <a:prstDash val="solid"/>
          </a:ln>
        </p:spPr>
      </p:sp>
      <p:sp>
        <p:nvSpPr>
          <p:cNvPr id="50" name="Shape 47"/>
          <p:cNvSpPr/>
          <p:nvPr/>
        </p:nvSpPr>
        <p:spPr>
          <a:xfrm>
            <a:off x="9870186" y="3264408"/>
            <a:ext cx="1772869" cy="310896"/>
          </a:xfrm>
          <a:prstGeom prst="roundRect">
            <a:avLst>
              <a:gd name="adj" fmla="val 35294"/>
            </a:avLst>
          </a:prstGeom>
          <a:solidFill>
            <a:srgbClr val="FFFFFF"/>
          </a:solidFill>
          <a:ln w="12700">
            <a:solidFill>
              <a:srgbClr val="DCD7C8"/>
            </a:solidFill>
            <a:prstDash val="solid"/>
          </a:ln>
        </p:spPr>
      </p:sp>
      <p:sp>
        <p:nvSpPr>
          <p:cNvPr id="51" name="Shape 48"/>
          <p:cNvSpPr/>
          <p:nvPr/>
        </p:nvSpPr>
        <p:spPr>
          <a:xfrm>
            <a:off x="9870186" y="3648456"/>
            <a:ext cx="1772869" cy="310896"/>
          </a:xfrm>
          <a:prstGeom prst="roundRect">
            <a:avLst>
              <a:gd name="adj" fmla="val 35294"/>
            </a:avLst>
          </a:prstGeom>
          <a:solidFill>
            <a:srgbClr val="FFFFFF"/>
          </a:solidFill>
          <a:ln w="12700">
            <a:solidFill>
              <a:srgbClr val="DCD7C8"/>
            </a:solidFill>
            <a:prstDash val="solid"/>
          </a:ln>
        </p:spPr>
      </p:sp>
      <p:sp>
        <p:nvSpPr>
          <p:cNvPr id="52" name="Shape 49"/>
          <p:cNvSpPr/>
          <p:nvPr/>
        </p:nvSpPr>
        <p:spPr>
          <a:xfrm>
            <a:off x="548640" y="4251960"/>
            <a:ext cx="731520" cy="731520"/>
          </a:xfrm>
          <a:prstGeom prst="ellipse">
            <a:avLst/>
          </a:prstGeom>
          <a:solidFill>
            <a:srgbClr val="FF9259"/>
          </a:solidFill>
          <a:ln w="12700">
            <a:solidFill>
              <a:srgbClr val="FF9259"/>
            </a:solidFill>
            <a:prstDash val="solid"/>
          </a:ln>
        </p:spPr>
      </p:sp>
      <p:sp>
        <p:nvSpPr>
          <p:cNvPr id="53" name="Text 50"/>
          <p:cNvSpPr txBox="1"/>
          <p:nvPr/>
        </p:nvSpPr>
        <p:spPr>
          <a:xfrm>
            <a:off x="548640" y="4251960"/>
            <a:ext cx="731520" cy="73152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12’</a:t>
            </a:r>
            <a:endParaRPr lang="en-US" sz="1700" dirty="0"/>
          </a:p>
        </p:txBody>
      </p:sp>
      <p:sp>
        <p:nvSpPr>
          <p:cNvPr id="54" name="Text 51"/>
          <p:cNvSpPr txBox="1"/>
          <p:nvPr/>
        </p:nvSpPr>
        <p:spPr>
          <a:xfrm>
            <a:off x="1417320" y="4114800"/>
            <a:ext cx="1699184"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Bảng Value Delivery (A1)</a:t>
            </a:r>
            <a:endParaRPr lang="en-US" sz="1200" dirty="0"/>
          </a:p>
        </p:txBody>
      </p:sp>
      <p:sp>
        <p:nvSpPr>
          <p:cNvPr id="55" name="Shape 52"/>
          <p:cNvSpPr/>
          <p:nvPr/>
        </p:nvSpPr>
        <p:spPr>
          <a:xfrm>
            <a:off x="3390824" y="4251960"/>
            <a:ext cx="731520" cy="731520"/>
          </a:xfrm>
          <a:prstGeom prst="ellipse">
            <a:avLst/>
          </a:prstGeom>
          <a:solidFill>
            <a:srgbClr val="962B7C"/>
          </a:solidFill>
          <a:ln w="12700">
            <a:solidFill>
              <a:srgbClr val="962B7C"/>
            </a:solidFill>
            <a:prstDash val="solid"/>
          </a:ln>
        </p:spPr>
      </p:sp>
      <p:sp>
        <p:nvSpPr>
          <p:cNvPr id="56" name="Text 53"/>
          <p:cNvSpPr txBox="1"/>
          <p:nvPr/>
        </p:nvSpPr>
        <p:spPr>
          <a:xfrm>
            <a:off x="3390824" y="4251960"/>
            <a:ext cx="73152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5’</a:t>
            </a:r>
            <a:endParaRPr lang="en-US" sz="1700" dirty="0"/>
          </a:p>
        </p:txBody>
      </p:sp>
      <p:sp>
        <p:nvSpPr>
          <p:cNvPr id="57" name="Text 54"/>
          <p:cNvSpPr txBox="1"/>
          <p:nvPr/>
        </p:nvSpPr>
        <p:spPr>
          <a:xfrm>
            <a:off x="4259504" y="4114800"/>
            <a:ext cx="1699184"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Executive Summary 5 câu (A3)</a:t>
            </a:r>
            <a:endParaRPr lang="en-US" sz="1200" dirty="0"/>
          </a:p>
        </p:txBody>
      </p:sp>
      <p:sp>
        <p:nvSpPr>
          <p:cNvPr id="58" name="Shape 55"/>
          <p:cNvSpPr/>
          <p:nvPr/>
        </p:nvSpPr>
        <p:spPr>
          <a:xfrm>
            <a:off x="6233008" y="4251960"/>
            <a:ext cx="731520" cy="731520"/>
          </a:xfrm>
          <a:prstGeom prst="ellipse">
            <a:avLst/>
          </a:prstGeom>
          <a:solidFill>
            <a:srgbClr val="FF5178"/>
          </a:solidFill>
          <a:ln w="12700">
            <a:solidFill>
              <a:srgbClr val="FF5178"/>
            </a:solidFill>
            <a:prstDash val="solid"/>
          </a:ln>
        </p:spPr>
      </p:sp>
      <p:sp>
        <p:nvSpPr>
          <p:cNvPr id="59" name="Text 56"/>
          <p:cNvSpPr txBox="1"/>
          <p:nvPr/>
        </p:nvSpPr>
        <p:spPr>
          <a:xfrm>
            <a:off x="6233008" y="425196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2×5’</a:t>
            </a:r>
            <a:endParaRPr lang="en-US" sz="1300" dirty="0"/>
          </a:p>
        </p:txBody>
      </p:sp>
      <p:sp>
        <p:nvSpPr>
          <p:cNvPr id="60" name="Text 57"/>
          <p:cNvSpPr txBox="1"/>
          <p:nvPr/>
        </p:nvSpPr>
        <p:spPr>
          <a:xfrm>
            <a:off x="7101688" y="4114800"/>
            <a:ext cx="1699184"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Customer Board — 🟨 1 câu hỏi tài chính, 🟥 1 câu hỏi điểm chạm</a:t>
            </a:r>
            <a:endParaRPr lang="en-US" sz="1200" dirty="0"/>
          </a:p>
        </p:txBody>
      </p:sp>
      <p:sp>
        <p:nvSpPr>
          <p:cNvPr id="61" name="Shape 58"/>
          <p:cNvSpPr/>
          <p:nvPr/>
        </p:nvSpPr>
        <p:spPr>
          <a:xfrm>
            <a:off x="9075191" y="4251960"/>
            <a:ext cx="731520" cy="731520"/>
          </a:xfrm>
          <a:prstGeom prst="ellipse">
            <a:avLst/>
          </a:prstGeom>
          <a:solidFill>
            <a:srgbClr val="49B296"/>
          </a:solidFill>
          <a:ln w="12700">
            <a:solidFill>
              <a:srgbClr val="49B296"/>
            </a:solidFill>
            <a:prstDash val="solid"/>
          </a:ln>
        </p:spPr>
      </p:sp>
      <p:sp>
        <p:nvSpPr>
          <p:cNvPr id="62" name="Text 59"/>
          <p:cNvSpPr txBox="1"/>
          <p:nvPr/>
        </p:nvSpPr>
        <p:spPr>
          <a:xfrm>
            <a:off x="9075191" y="4251960"/>
            <a:ext cx="73152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5’</a:t>
            </a:r>
            <a:endParaRPr lang="en-US" sz="1700" dirty="0"/>
          </a:p>
        </p:txBody>
      </p:sp>
      <p:sp>
        <p:nvSpPr>
          <p:cNvPr id="63" name="Text 60"/>
          <p:cNvSpPr txBox="1"/>
          <p:nvPr/>
        </p:nvSpPr>
        <p:spPr>
          <a:xfrm>
            <a:off x="9943871" y="4114800"/>
            <a:ext cx="1699184"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Trả lời thử, sửa một dòng hoặc một câu</a:t>
            </a:r>
            <a:endParaRPr lang="en-US" sz="1200" dirty="0"/>
          </a:p>
        </p:txBody>
      </p:sp>
      <p:sp>
        <p:nvSpPr>
          <p:cNvPr id="64" name="Shape 61"/>
          <p:cNvSpPr/>
          <p:nvPr/>
        </p:nvSpPr>
        <p:spPr>
          <a:xfrm>
            <a:off x="548640" y="5440680"/>
            <a:ext cx="11094415" cy="594360"/>
          </a:xfrm>
          <a:prstGeom prst="roundRect">
            <a:avLst>
              <a:gd name="adj" fmla="val 18462"/>
            </a:avLst>
          </a:prstGeom>
          <a:solidFill>
            <a:srgbClr val="FFF3C4"/>
          </a:solidFill>
          <a:ln w="12700">
            <a:solidFill>
              <a:srgbClr val="FFD23B"/>
            </a:solidFill>
            <a:prstDash val="solid"/>
          </a:ln>
        </p:spPr>
      </p:sp>
      <p:sp>
        <p:nvSpPr>
          <p:cNvPr id="65" name="Text 62"/>
          <p:cNvSpPr txBox="1"/>
          <p:nvPr/>
        </p:nvSpPr>
        <p:spPr>
          <a:xfrm>
            <a:off x="822960" y="5440680"/>
            <a:ext cx="10545775" cy="59436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Dùng bốn câu của phần D, khung 5 câu của phần E và checklist tự rà soát khi sửa.</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13 và việc cần làm trước Buổi 14</a:t>
            </a:r>
            <a:endParaRPr lang="en-US" sz="26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23</a:t>
            </a:r>
            <a:endParaRPr lang="en-US" sz="1000" dirty="0"/>
          </a:p>
        </p:txBody>
      </p:sp>
      <p:sp>
        <p:nvSpPr>
          <p:cNvPr id="20" name="Shape 17"/>
          <p:cNvSpPr/>
          <p:nvPr/>
        </p:nvSpPr>
        <p:spPr>
          <a:xfrm>
            <a:off x="548640" y="1828800"/>
            <a:ext cx="11094415" cy="749808"/>
          </a:xfrm>
          <a:prstGeom prst="roundRect">
            <a:avLst>
              <a:gd name="adj" fmla="val 14634"/>
            </a:avLst>
          </a:prstGeom>
          <a:solidFill>
            <a:srgbClr val="F1E1EE"/>
          </a:solidFill>
          <a:ln w="12700">
            <a:solidFill>
              <a:srgbClr val="962B7C"/>
            </a:solidFill>
            <a:prstDash val="solid"/>
          </a:ln>
        </p:spPr>
      </p:sp>
      <p:sp>
        <p:nvSpPr>
          <p:cNvPr id="21" name="Shape 18"/>
          <p:cNvSpPr/>
          <p:nvPr/>
        </p:nvSpPr>
        <p:spPr>
          <a:xfrm>
            <a:off x="713232" y="1929384"/>
            <a:ext cx="548640" cy="548640"/>
          </a:xfrm>
          <a:prstGeom prst="ellipse">
            <a:avLst/>
          </a:prstGeom>
          <a:solidFill>
            <a:srgbClr val="962B7C"/>
          </a:solidFill>
          <a:ln w="12700">
            <a:solidFill>
              <a:srgbClr val="962B7C"/>
            </a:solidFill>
            <a:prstDash val="solid"/>
          </a:ln>
        </p:spPr>
      </p:sp>
      <p:sp>
        <p:nvSpPr>
          <p:cNvPr id="22" name="Text 19"/>
          <p:cNvSpPr txBox="1"/>
          <p:nvPr/>
        </p:nvSpPr>
        <p:spPr>
          <a:xfrm>
            <a:off x="713232" y="1929384"/>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1</a:t>
            </a:r>
            <a:endParaRPr lang="en-US" sz="2040" dirty="0"/>
          </a:p>
        </p:txBody>
      </p:sp>
      <p:sp>
        <p:nvSpPr>
          <p:cNvPr id="23" name="Text 20"/>
          <p:cNvSpPr txBox="1"/>
          <p:nvPr/>
        </p:nvSpPr>
        <p:spPr>
          <a:xfrm>
            <a:off x="1463040" y="1828800"/>
            <a:ext cx="9997135" cy="749808"/>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SMP = KAP + điều phối bên liên quan bên ngoài, viết theo A–E, khách hàng ở trung tâm; giả định ghi rõ.</a:t>
            </a:r>
            <a:endParaRPr lang="en-US" sz="1500" dirty="0"/>
          </a:p>
        </p:txBody>
      </p:sp>
      <p:sp>
        <p:nvSpPr>
          <p:cNvPr id="24" name="Shape 21"/>
          <p:cNvSpPr/>
          <p:nvPr/>
        </p:nvSpPr>
        <p:spPr>
          <a:xfrm>
            <a:off x="548640" y="2697480"/>
            <a:ext cx="11094415" cy="749808"/>
          </a:xfrm>
          <a:prstGeom prst="roundRect">
            <a:avLst>
              <a:gd name="adj" fmla="val 14634"/>
            </a:avLst>
          </a:prstGeom>
          <a:solidFill>
            <a:srgbClr val="DDF1FB"/>
          </a:solidFill>
          <a:ln w="12700">
            <a:solidFill>
              <a:srgbClr val="09A1E5"/>
            </a:solidFill>
            <a:prstDash val="solid"/>
          </a:ln>
        </p:spPr>
      </p:sp>
      <p:sp>
        <p:nvSpPr>
          <p:cNvPr id="25" name="Shape 22"/>
          <p:cNvSpPr/>
          <p:nvPr/>
        </p:nvSpPr>
        <p:spPr>
          <a:xfrm>
            <a:off x="713232" y="2798064"/>
            <a:ext cx="548640" cy="548640"/>
          </a:xfrm>
          <a:prstGeom prst="ellipse">
            <a:avLst/>
          </a:prstGeom>
          <a:solidFill>
            <a:srgbClr val="09A1E5"/>
          </a:solidFill>
          <a:ln w="12700">
            <a:solidFill>
              <a:srgbClr val="09A1E5"/>
            </a:solidFill>
            <a:prstDash val="solid"/>
          </a:ln>
        </p:spPr>
      </p:sp>
      <p:sp>
        <p:nvSpPr>
          <p:cNvPr id="26" name="Text 23"/>
          <p:cNvSpPr txBox="1"/>
          <p:nvPr/>
        </p:nvSpPr>
        <p:spPr>
          <a:xfrm>
            <a:off x="713232" y="2798064"/>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27" name="Text 24"/>
          <p:cNvSpPr txBox="1"/>
          <p:nvPr/>
        </p:nvSpPr>
        <p:spPr>
          <a:xfrm>
            <a:off x="1463040" y="2697480"/>
            <a:ext cx="9997135" cy="749808"/>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Phần C có số, phần D có cách đo; 13.2 là một bảng gắn mọi bên vào hành trình của khách hàng.</a:t>
            </a:r>
            <a:endParaRPr lang="en-US" sz="1500" dirty="0"/>
          </a:p>
        </p:txBody>
      </p:sp>
      <p:sp>
        <p:nvSpPr>
          <p:cNvPr id="28" name="Shape 25"/>
          <p:cNvSpPr/>
          <p:nvPr/>
        </p:nvSpPr>
        <p:spPr>
          <a:xfrm>
            <a:off x="548640" y="3566160"/>
            <a:ext cx="11094415" cy="749808"/>
          </a:xfrm>
          <a:prstGeom prst="roundRect">
            <a:avLst>
              <a:gd name="adj" fmla="val 14634"/>
            </a:avLst>
          </a:prstGeom>
          <a:solidFill>
            <a:srgbClr val="FFE4EA"/>
          </a:solidFill>
          <a:ln w="12700">
            <a:solidFill>
              <a:srgbClr val="FF5178"/>
            </a:solidFill>
            <a:prstDash val="solid"/>
          </a:ln>
        </p:spPr>
      </p:sp>
      <p:sp>
        <p:nvSpPr>
          <p:cNvPr id="29" name="Shape 26"/>
          <p:cNvSpPr/>
          <p:nvPr/>
        </p:nvSpPr>
        <p:spPr>
          <a:xfrm>
            <a:off x="713232" y="3666744"/>
            <a:ext cx="548640" cy="548640"/>
          </a:xfrm>
          <a:prstGeom prst="ellipse">
            <a:avLst/>
          </a:prstGeom>
          <a:solidFill>
            <a:srgbClr val="FF5178"/>
          </a:solidFill>
          <a:ln w="12700">
            <a:solidFill>
              <a:srgbClr val="FF5178"/>
            </a:solidFill>
            <a:prstDash val="solid"/>
          </a:ln>
        </p:spPr>
      </p:sp>
      <p:sp>
        <p:nvSpPr>
          <p:cNvPr id="30" name="Text 27"/>
          <p:cNvSpPr txBox="1"/>
          <p:nvPr/>
        </p:nvSpPr>
        <p:spPr>
          <a:xfrm>
            <a:off x="713232" y="3666744"/>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3</a:t>
            </a:r>
            <a:endParaRPr lang="en-US" sz="2040" dirty="0"/>
          </a:p>
        </p:txBody>
      </p:sp>
      <p:sp>
        <p:nvSpPr>
          <p:cNvPr id="31" name="Text 28"/>
          <p:cNvSpPr txBox="1"/>
          <p:nvPr/>
        </p:nvSpPr>
        <p:spPr>
          <a:xfrm>
            <a:off x="1463040" y="3566160"/>
            <a:ext cx="9997135" cy="749808"/>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Phần E viết cuối, đọc đầu; tự rà soát bằng checklist trước Buổi 14.</a:t>
            </a:r>
            <a:endParaRPr lang="en-US" sz="1500" dirty="0"/>
          </a:p>
        </p:txBody>
      </p:sp>
      <p:sp>
        <p:nvSpPr>
          <p:cNvPr id="32" name="Text 29"/>
          <p:cNvSpPr txBox="1"/>
          <p:nvPr/>
        </p:nvSpPr>
        <p:spPr>
          <a:xfrm>
            <a:off x="548640" y="4526280"/>
            <a:ext cx="11094415" cy="365760"/>
          </a:xfrm>
          <a:prstGeom prst="rect">
            <a:avLst/>
          </a:prstGeom>
          <a:noFill/>
          <a:ln/>
        </p:spPr>
        <p:txBody>
          <a:bodyPr wrap="square" lIns="0" tIns="0" rIns="0" bIns="0" rtlCol="0" anchor="ctr"/>
          <a:lstStyle/>
          <a:p>
            <a:pPr indent="0" marL="0">
              <a:buNone/>
            </a:pPr>
            <a:r>
              <a:rPr lang="en-US" sz="1500" b="1" dirty="0">
                <a:solidFill>
                  <a:srgbClr val="2E8A71"/>
                </a:solidFill>
                <a:latin typeface="Alexandria" pitchFamily="34" charset="0"/>
                <a:ea typeface="Alexandria" pitchFamily="34" charset="-122"/>
                <a:cs typeface="Alexandria" pitchFamily="34" charset="-120"/>
              </a:rPr>
              <a:t>Việc cần làm trước Buổi 14</a:t>
            </a:r>
            <a:endParaRPr lang="en-US" sz="1500" dirty="0"/>
          </a:p>
        </p:txBody>
      </p:sp>
      <p:sp>
        <p:nvSpPr>
          <p:cNvPr id="33" name="Shape 30"/>
          <p:cNvSpPr/>
          <p:nvPr/>
        </p:nvSpPr>
        <p:spPr>
          <a:xfrm>
            <a:off x="548640" y="4983480"/>
            <a:ext cx="2636444" cy="1005840"/>
          </a:xfrm>
          <a:prstGeom prst="roundRect">
            <a:avLst>
              <a:gd name="adj" fmla="val 10909"/>
            </a:avLst>
          </a:prstGeom>
          <a:solidFill>
            <a:srgbClr val="E1F3EE"/>
          </a:solidFill>
          <a:ln w="12700">
            <a:solidFill>
              <a:srgbClr val="49B296"/>
            </a:solidFill>
            <a:prstDash val="solid"/>
          </a:ln>
        </p:spPr>
      </p:sp>
      <p:sp>
        <p:nvSpPr>
          <p:cNvPr id="34" name="Text 31"/>
          <p:cNvSpPr txBox="1"/>
          <p:nvPr/>
        </p:nvSpPr>
        <p:spPr>
          <a:xfrm>
            <a:off x="731520" y="4983480"/>
            <a:ext cx="2270684" cy="10058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  Điền ô “cần bổ sung” trong bảng truy vết</a:t>
            </a:r>
            <a:endParaRPr lang="en-US" sz="1300" dirty="0"/>
          </a:p>
        </p:txBody>
      </p:sp>
      <p:sp>
        <p:nvSpPr>
          <p:cNvPr id="35" name="Shape 32"/>
          <p:cNvSpPr/>
          <p:nvPr/>
        </p:nvSpPr>
        <p:spPr>
          <a:xfrm>
            <a:off x="3367964" y="4983480"/>
            <a:ext cx="2636444" cy="1005840"/>
          </a:xfrm>
          <a:prstGeom prst="roundRect">
            <a:avLst>
              <a:gd name="adj" fmla="val 10909"/>
            </a:avLst>
          </a:prstGeom>
          <a:solidFill>
            <a:srgbClr val="E1F3EE"/>
          </a:solidFill>
          <a:ln w="12700">
            <a:solidFill>
              <a:srgbClr val="49B296"/>
            </a:solidFill>
            <a:prstDash val="solid"/>
          </a:ln>
        </p:spPr>
      </p:sp>
      <p:sp>
        <p:nvSpPr>
          <p:cNvPr id="36" name="Text 33"/>
          <p:cNvSpPr txBox="1"/>
          <p:nvPr/>
        </p:nvSpPr>
        <p:spPr>
          <a:xfrm>
            <a:off x="3550844" y="4983480"/>
            <a:ext cx="2270684" cy="10058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  Sửa theo note của Customer Board</a:t>
            </a:r>
            <a:endParaRPr lang="en-US" sz="1300" dirty="0"/>
          </a:p>
        </p:txBody>
      </p:sp>
      <p:sp>
        <p:nvSpPr>
          <p:cNvPr id="37" name="Shape 34"/>
          <p:cNvSpPr/>
          <p:nvPr/>
        </p:nvSpPr>
        <p:spPr>
          <a:xfrm>
            <a:off x="6187288" y="4983480"/>
            <a:ext cx="2636444" cy="1005840"/>
          </a:xfrm>
          <a:prstGeom prst="roundRect">
            <a:avLst>
              <a:gd name="adj" fmla="val 10909"/>
            </a:avLst>
          </a:prstGeom>
          <a:solidFill>
            <a:srgbClr val="E1F3EE"/>
          </a:solidFill>
          <a:ln w="12700">
            <a:solidFill>
              <a:srgbClr val="49B296"/>
            </a:solidFill>
            <a:prstDash val="solid"/>
          </a:ln>
        </p:spPr>
      </p:sp>
      <p:sp>
        <p:nvSpPr>
          <p:cNvPr id="38" name="Text 35"/>
          <p:cNvSpPr txBox="1"/>
          <p:nvPr/>
        </p:nvSpPr>
        <p:spPr>
          <a:xfrm>
            <a:off x="6370168" y="4983480"/>
            <a:ext cx="2270684" cy="10058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  Chạy checklist tự rà soát</a:t>
            </a:r>
            <a:endParaRPr lang="en-US" sz="1300" dirty="0"/>
          </a:p>
        </p:txBody>
      </p:sp>
      <p:sp>
        <p:nvSpPr>
          <p:cNvPr id="39" name="Shape 36"/>
          <p:cNvSpPr/>
          <p:nvPr/>
        </p:nvSpPr>
        <p:spPr>
          <a:xfrm>
            <a:off x="9006611" y="4983480"/>
            <a:ext cx="2636444" cy="1005840"/>
          </a:xfrm>
          <a:prstGeom prst="roundRect">
            <a:avLst>
              <a:gd name="adj" fmla="val 10909"/>
            </a:avLst>
          </a:prstGeom>
          <a:solidFill>
            <a:srgbClr val="E1F3EE"/>
          </a:solidFill>
          <a:ln w="12700">
            <a:solidFill>
              <a:srgbClr val="49B296"/>
            </a:solidFill>
            <a:prstDash val="solid"/>
          </a:ln>
        </p:spPr>
      </p:sp>
      <p:sp>
        <p:nvSpPr>
          <p:cNvPr id="40" name="Text 37"/>
          <p:cNvSpPr txBox="1"/>
          <p:nvPr/>
        </p:nvSpPr>
        <p:spPr>
          <a:xfrm>
            <a:off x="9189491" y="4983480"/>
            <a:ext cx="2270684" cy="10058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  Phụ lục công bố AI (nếu có dùng)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24</a:t>
            </a:r>
            <a:endParaRPr lang="en-US" sz="1000" dirty="0"/>
          </a:p>
        </p:txBody>
      </p:sp>
      <p:sp>
        <p:nvSpPr>
          <p:cNvPr id="20" name="Shape 17"/>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21" name="Shape 18"/>
          <p:cNvSpPr/>
          <p:nvPr/>
        </p:nvSpPr>
        <p:spPr>
          <a:xfrm>
            <a:off x="777240" y="2148840"/>
            <a:ext cx="640080" cy="640080"/>
          </a:xfrm>
          <a:prstGeom prst="ellipse">
            <a:avLst/>
          </a:prstGeom>
          <a:solidFill>
            <a:srgbClr val="962B7C"/>
          </a:solidFill>
          <a:ln w="12700">
            <a:solidFill>
              <a:srgbClr val="962B7C"/>
            </a:solidFill>
            <a:prstDash val="solid"/>
          </a:ln>
        </p:spPr>
      </p:sp>
      <p:sp>
        <p:nvSpPr>
          <p:cNvPr id="22" name="Text 19"/>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3" name="Text 20"/>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Phần nào trong A–E của SMP nhóm bạn đang yếu nhất? Nhóm cần thông tin gì, từ đâu để hoàn thiện?</a:t>
            </a:r>
            <a:endParaRPr lang="en-US" sz="1700" dirty="0"/>
          </a:p>
        </p:txBody>
      </p:sp>
      <p:sp>
        <p:nvSpPr>
          <p:cNvPr id="24" name="Shape 21"/>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5" name="Shape 22"/>
          <p:cNvSpPr/>
          <p:nvPr/>
        </p:nvSpPr>
        <p:spPr>
          <a:xfrm>
            <a:off x="777240" y="3611880"/>
            <a:ext cx="640080" cy="640080"/>
          </a:xfrm>
          <a:prstGeom prst="ellipse">
            <a:avLst/>
          </a:prstGeom>
          <a:solidFill>
            <a:srgbClr val="09A1E5"/>
          </a:solidFill>
          <a:ln w="12700">
            <a:solidFill>
              <a:srgbClr val="09A1E5"/>
            </a:solidFill>
            <a:prstDash val="solid"/>
          </a:ln>
        </p:spPr>
      </p:sp>
      <p:sp>
        <p:nvSpPr>
          <p:cNvPr id="26" name="Text 23"/>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7" name="Text 24"/>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Viết 1 câu value proposition cho khách hàng của nhóm, có con số (ghi rõ đâu là giả định).</a:t>
            </a:r>
            <a:endParaRPr lang="en-US" sz="1700" dirty="0"/>
          </a:p>
        </p:txBody>
      </p:sp>
      <p:sp>
        <p:nvSpPr>
          <p:cNvPr id="28" name="Shape 25"/>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29" name="Text 26"/>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14: </a:t>
            </a:r>
            <a:pPr indent="0" marL="0">
              <a:buNone/>
            </a:pPr>
            <a:r>
              <a:rPr lang="en-US" sz="1600" dirty="0">
                <a:solidFill>
                  <a:srgbClr val="2A2238"/>
                </a:solidFill>
                <a:latin typeface="Alexandria" pitchFamily="34" charset="0"/>
                <a:ea typeface="Alexandria" pitchFamily="34" charset="-122"/>
                <a:cs typeface="Alexandria" pitchFamily="34" charset="-120"/>
              </a:rPr>
              <a:t>các bạn là KAM Director trước Customer Board — giá trị này bao nhiêu tiền, và các bạn chạm vào khách hàng của họ ở đâu, bằng ai?</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(1/2)</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buoi-13_tu-lieu-tong-hop.md, mục 6.</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25</a:t>
            </a:r>
            <a:endParaRPr lang="en-US" sz="1000" dirty="0"/>
          </a:p>
        </p:txBody>
      </p:sp>
      <p:sp>
        <p:nvSpPr>
          <p:cNvPr id="21" name="Text 18"/>
          <p:cNvSpPr txBox="1"/>
          <p:nvPr/>
        </p:nvSpPr>
        <p:spPr>
          <a:xfrm>
            <a:off x="548640" y="1783080"/>
            <a:ext cx="640080" cy="8229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Z01</a:t>
            </a:r>
            <a:endParaRPr lang="en-US" sz="1300" dirty="0"/>
          </a:p>
        </p:txBody>
      </p:sp>
      <p:sp>
        <p:nvSpPr>
          <p:cNvPr id="22" name="Text 19"/>
          <p:cNvSpPr txBox="1"/>
          <p:nvPr/>
        </p:nvSpPr>
        <p:spPr>
          <a:xfrm>
            <a:off x="1234440" y="1783080"/>
            <a:ext cx="10408615" cy="8229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Davies, M. (n.d.). The value planning framework for key accounts. Key Account Management Forum (Cranfield). LinkedIn.</a:t>
            </a:r>
            <a:endParaRPr lang="en-US" sz="1300" dirty="0"/>
          </a:p>
        </p:txBody>
      </p:sp>
      <p:sp>
        <p:nvSpPr>
          <p:cNvPr id="23" name="Text 20"/>
          <p:cNvSpPr txBox="1"/>
          <p:nvPr/>
        </p:nvSpPr>
        <p:spPr>
          <a:xfrm>
            <a:off x="548640" y="2743200"/>
            <a:ext cx="640080" cy="8229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Z02</a:t>
            </a:r>
            <a:endParaRPr lang="en-US" sz="1300" dirty="0"/>
          </a:p>
        </p:txBody>
      </p:sp>
      <p:sp>
        <p:nvSpPr>
          <p:cNvPr id="24" name="Text 21"/>
          <p:cNvSpPr txBox="1"/>
          <p:nvPr/>
        </p:nvSpPr>
        <p:spPr>
          <a:xfrm>
            <a:off x="1234440" y="2743200"/>
            <a:ext cx="10408615" cy="8229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Holt, S. (n.d.). World class key account planning; Implementing key account management: To plan or not to plan… Cranfield School of Management Executive Development Blog.</a:t>
            </a:r>
            <a:endParaRPr lang="en-US" sz="1300" dirty="0"/>
          </a:p>
        </p:txBody>
      </p:sp>
      <p:sp>
        <p:nvSpPr>
          <p:cNvPr id="25" name="Text 22"/>
          <p:cNvSpPr txBox="1"/>
          <p:nvPr/>
        </p:nvSpPr>
        <p:spPr>
          <a:xfrm>
            <a:off x="548640" y="3703320"/>
            <a:ext cx="640080" cy="8229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Z03</a:t>
            </a:r>
            <a:endParaRPr lang="en-US" sz="1300" dirty="0"/>
          </a:p>
        </p:txBody>
      </p:sp>
      <p:sp>
        <p:nvSpPr>
          <p:cNvPr id="26" name="Text 23"/>
          <p:cNvSpPr txBox="1"/>
          <p:nvPr/>
        </p:nvSpPr>
        <p:spPr>
          <a:xfrm>
            <a:off x="1234440" y="3703320"/>
            <a:ext cx="10408615" cy="8229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Ryals, L. J., &amp; Rogers, B. (2007). Key account planning: Benefits, barriers and best practice. Journal of Strategic Marketing, 15, 209–222.</a:t>
            </a:r>
            <a:endParaRPr lang="en-US" sz="1300" dirty="0"/>
          </a:p>
        </p:txBody>
      </p:sp>
      <p:sp>
        <p:nvSpPr>
          <p:cNvPr id="27" name="Text 24"/>
          <p:cNvSpPr txBox="1"/>
          <p:nvPr/>
        </p:nvSpPr>
        <p:spPr>
          <a:xfrm>
            <a:off x="548640" y="4663440"/>
            <a:ext cx="640080" cy="8229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Z04</a:t>
            </a:r>
            <a:endParaRPr lang="en-US" sz="1300" dirty="0"/>
          </a:p>
        </p:txBody>
      </p:sp>
      <p:sp>
        <p:nvSpPr>
          <p:cNvPr id="28" name="Text 25"/>
          <p:cNvSpPr txBox="1"/>
          <p:nvPr/>
        </p:nvSpPr>
        <p:spPr>
          <a:xfrm>
            <a:off x="1234440" y="4663440"/>
            <a:ext cx="10408615" cy="8229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Ryals, L., &amp; McDonald, M. (2010). Key account plans. Routledge.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13.1 Khung A–E</a:t>
            </a:r>
            <a:endParaRPr lang="en-US" sz="1000" dirty="0"/>
          </a:p>
        </p:txBody>
      </p:sp>
      <p:sp>
        <p:nvSpPr>
          <p:cNvPr id="6" name="Shape 4"/>
          <p:cNvSpPr/>
          <p:nvPr/>
        </p:nvSpPr>
        <p:spPr>
          <a:xfrm>
            <a:off x="2834640"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C · D (13.2)</a:t>
            </a:r>
            <a:endParaRPr lang="en-US" sz="1000" dirty="0"/>
          </a:p>
        </p:txBody>
      </p:sp>
      <p:sp>
        <p:nvSpPr>
          <p:cNvPr id="8" name="Shape 6"/>
          <p:cNvSpPr/>
          <p:nvPr/>
        </p:nvSpPr>
        <p:spPr>
          <a:xfrm>
            <a:off x="4521708"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Phần E · bảo vệ</a:t>
            </a:r>
            <a:endParaRPr lang="en-US" sz="1000" dirty="0"/>
          </a:p>
        </p:txBody>
      </p:sp>
      <p:sp>
        <p:nvSpPr>
          <p:cNvPr id="10" name="Shape 8"/>
          <p:cNvSpPr/>
          <p:nvPr/>
        </p:nvSpPr>
        <p:spPr>
          <a:xfrm>
            <a:off x="605332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05332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469087"/>
            <a:ext cx="76810" cy="134417"/>
          </a:xfrm>
          <a:prstGeom prst="rect">
            <a:avLst/>
          </a:prstGeom>
          <a:solidFill>
            <a:srgbClr val="962B7C"/>
          </a:solidFill>
          <a:ln w="12700">
            <a:solidFill>
              <a:srgbClr val="962B7C"/>
            </a:solidFill>
            <a:prstDash val="solid"/>
          </a:ln>
        </p:spPr>
      </p:sp>
      <p:sp>
        <p:nvSpPr>
          <p:cNvPr id="13" name="Shape 11"/>
          <p:cNvSpPr/>
          <p:nvPr/>
        </p:nvSpPr>
        <p:spPr>
          <a:xfrm>
            <a:off x="11361164" y="411480"/>
            <a:ext cx="76810" cy="192024"/>
          </a:xfrm>
          <a:prstGeom prst="rect">
            <a:avLst/>
          </a:prstGeom>
          <a:solidFill>
            <a:srgbClr val="09A1E5"/>
          </a:solidFill>
          <a:ln w="12700">
            <a:solidFill>
              <a:srgbClr val="09A1E5"/>
            </a:solidFill>
            <a:prstDash val="solid"/>
          </a:ln>
        </p:spPr>
      </p:sp>
      <p:sp>
        <p:nvSpPr>
          <p:cNvPr id="14" name="Shape 12"/>
          <p:cNvSpPr/>
          <p:nvPr/>
        </p:nvSpPr>
        <p:spPr>
          <a:xfrm>
            <a:off x="11463321" y="353873"/>
            <a:ext cx="76810" cy="249631"/>
          </a:xfrm>
          <a:prstGeom prst="rect">
            <a:avLst/>
          </a:prstGeom>
          <a:solidFill>
            <a:srgbClr val="FF9259"/>
          </a:solidFill>
          <a:ln w="12700">
            <a:solidFill>
              <a:srgbClr val="FF9259"/>
            </a:solidFill>
            <a:prstDash val="solid"/>
          </a:ln>
        </p:spPr>
      </p:sp>
      <p:sp>
        <p:nvSpPr>
          <p:cNvPr id="15" name="Shape 13"/>
          <p:cNvSpPr/>
          <p:nvPr/>
        </p:nvSpPr>
        <p:spPr>
          <a:xfrm>
            <a:off x="11565478" y="296266"/>
            <a:ext cx="76810" cy="307238"/>
          </a:xfrm>
          <a:prstGeom prst="rect">
            <a:avLst/>
          </a:prstGeom>
          <a:solidFill>
            <a:srgbClr val="49B296"/>
          </a:solidFill>
          <a:ln w="12700">
            <a:solidFill>
              <a:srgbClr val="49B296"/>
            </a:solidFill>
            <a:prstDash val="solid"/>
          </a:ln>
        </p:spPr>
      </p:sp>
      <p:sp>
        <p:nvSpPr>
          <p:cNvPr id="16" name="Shape 14"/>
          <p:cNvSpPr/>
          <p:nvPr/>
        </p:nvSpPr>
        <p:spPr>
          <a:xfrm>
            <a:off x="11565478" y="211775"/>
            <a:ext cx="76810" cy="76810"/>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(2/2)</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buoi-13_tu-lieu-tong-hop.md, mục 6.</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13   26</a:t>
            </a:r>
            <a:endParaRPr lang="en-US" sz="1000" dirty="0"/>
          </a:p>
        </p:txBody>
      </p:sp>
      <p:sp>
        <p:nvSpPr>
          <p:cNvPr id="21" name="Text 18"/>
          <p:cNvSpPr txBox="1"/>
          <p:nvPr/>
        </p:nvSpPr>
        <p:spPr>
          <a:xfrm>
            <a:off x="548640" y="1783080"/>
            <a:ext cx="640080" cy="8229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Z05</a:t>
            </a:r>
            <a:endParaRPr lang="en-US" sz="1300" dirty="0"/>
          </a:p>
        </p:txBody>
      </p:sp>
      <p:sp>
        <p:nvSpPr>
          <p:cNvPr id="22" name="Text 19"/>
          <p:cNvSpPr txBox="1"/>
          <p:nvPr/>
        </p:nvSpPr>
        <p:spPr>
          <a:xfrm>
            <a:off x="1234440" y="1783080"/>
            <a:ext cx="10408615" cy="8229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McDonald, M. (n.d.). How to create financially quantified value propositions in six (actionable!) steps. Strategic Account Management Association.</a:t>
            </a:r>
            <a:endParaRPr lang="en-US" sz="1300" dirty="0"/>
          </a:p>
        </p:txBody>
      </p:sp>
      <p:sp>
        <p:nvSpPr>
          <p:cNvPr id="23" name="Text 20"/>
          <p:cNvSpPr txBox="1"/>
          <p:nvPr/>
        </p:nvSpPr>
        <p:spPr>
          <a:xfrm>
            <a:off x="548640" y="2743200"/>
            <a:ext cx="640080" cy="8229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Z06</a:t>
            </a:r>
            <a:endParaRPr lang="en-US" sz="1300" dirty="0"/>
          </a:p>
        </p:txBody>
      </p:sp>
      <p:sp>
        <p:nvSpPr>
          <p:cNvPr id="24" name="Text 21"/>
          <p:cNvSpPr txBox="1"/>
          <p:nvPr/>
        </p:nvSpPr>
        <p:spPr>
          <a:xfrm>
            <a:off x="1234440" y="2743200"/>
            <a:ext cx="10408615" cy="8229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Davies, M. (n.d.). Creating compelling customer value propositions. Cranfield School of Management Executive Development Blog.</a:t>
            </a:r>
            <a:endParaRPr lang="en-US" sz="1300" dirty="0"/>
          </a:p>
        </p:txBody>
      </p:sp>
      <p:sp>
        <p:nvSpPr>
          <p:cNvPr id="25" name="Text 22"/>
          <p:cNvSpPr txBox="1"/>
          <p:nvPr/>
        </p:nvSpPr>
        <p:spPr>
          <a:xfrm>
            <a:off x="548640" y="3703320"/>
            <a:ext cx="640080" cy="8229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Z07</a:t>
            </a:r>
            <a:endParaRPr lang="en-US" sz="1300" dirty="0"/>
          </a:p>
        </p:txBody>
      </p:sp>
      <p:sp>
        <p:nvSpPr>
          <p:cNvPr id="26" name="Text 23"/>
          <p:cNvSpPr txBox="1"/>
          <p:nvPr/>
        </p:nvSpPr>
        <p:spPr>
          <a:xfrm>
            <a:off x="1234440" y="3703320"/>
            <a:ext cx="10408615" cy="8229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Trường Đại học Kinh tế – Tài chính TP.HCM (UEF). (n.d.). Đề cương chi tiết học phần EVM1110E – Quản trị mối quan hệ trong tổ chức sự kiện [Tài liệu nội bộ].</a:t>
            </a:r>
            <a:endParaRPr lang="en-US" sz="1300" dirty="0"/>
          </a:p>
        </p:txBody>
      </p:sp>
      <p:sp>
        <p:nvSpPr>
          <p:cNvPr id="27" name="Text 24"/>
          <p:cNvSpPr txBox="1"/>
          <p:nvPr/>
        </p:nvSpPr>
        <p:spPr>
          <a:xfrm>
            <a:off x="548640" y="4663440"/>
            <a:ext cx="640080" cy="8229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Z09</a:t>
            </a:r>
            <a:endParaRPr lang="en-US" sz="1300" dirty="0"/>
          </a:p>
        </p:txBody>
      </p:sp>
      <p:sp>
        <p:nvSpPr>
          <p:cNvPr id="28" name="Text 25"/>
          <p:cNvSpPr txBox="1"/>
          <p:nvPr/>
        </p:nvSpPr>
        <p:spPr>
          <a:xfrm>
            <a:off x="1234440" y="4663440"/>
            <a:ext cx="10408615" cy="8229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Tư liệu Buổi 7–12 · Lemon, K. N., &amp; Verhoef, P. C. (2016). Understanding customer experience throughout the customer journey. Journal of Marketing, 80(6), 69–96.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13: Building the Stakeholder Management Plan around the Key Account Plan</dc:title>
  <dc:subject>Quản trị mối quan hệ trong tổ chức sự kiện</dc:subject>
  <dc:creator>PptxGenJS</dc:creator>
  <cp:lastModifiedBy>PptxGenJS</cp:lastModifiedBy>
  <cp:revision>1</cp:revision>
  <dcterms:created xsi:type="dcterms:W3CDTF">2026-09-28T10:51:57Z</dcterms:created>
  <dcterms:modified xsi:type="dcterms:W3CDTF">2026-09-28T10:51:57Z</dcterms:modified>
</cp:coreProperties>
</file>