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(dàn ý #1). Phần 3, buổi 2/4.
Alt-text: sơ đồ mặt bằng ballroom nhìn từ trên xuống — sân khấu phía trên, các bàn tròn xếp thành hàng.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 — Khởi động (5 phút). Nhắc: “Buổi 7, ba tuần trước gala 12/12, khách sạn báo AV nội bộ tăng giá 30% và không cho mang AV ngoài vào. Ta đã kết luận: tình huống đó được quyết định từ lúc chọn và ký với nhà cung cấp.”
Đọc tiếp: “Hôm nay ta quay lại đúng lúc đó. Tháng 7. Anh Minh vừa duyệt concept gala 600 khách. Nova có ba tuần để chọn khách sạn và các nhà cung cấp.”
Giơ tay A/B. Chốt: “Gọi điện nhanh hơn. Nhưng khi anh Minh hỏi ‘vì sao chọn khách sạn này’, Nova cần trả lời bằng tiêu chí và hồ sơ, không phải bằng cảm giác.”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“Ô Kraljic quyết định cách mua. Hạng mục Non-critical thì hỏi giá nhanh; hạng mục Strategic như ballroom tháng 12 thì cần RFP, site check và đàm phán quan hệ.”
Ranh giới: PCCC và an toàn đám đông thuộc môn Quản trị rủi ro sự kiện.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Hiểu lầm: “RFP chỉ để lấy giá” → đó là RFQ. RFP để lấy GIẢI PHÁP.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[VERIFY: tên tiêu đề từng phương thức trên trang CIPS]
Hai giai đoạn: hữu ích khi sợ “giá rẻ che mắt”, ví dụ chọn ý tưởng sân khấu.
Một nguồn: AV độc quyền của khách sạn — một khi đã chọn khách sạn, AV thành một nguồn.
Một câu về Key Account (quyết định GV): quy trình mua của Key Account có thể chịu quy định nội bộ hoặc pháp luật; hỏi phòng mua sắm của khách (anh Khoa) ngay từ đầu.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Hỏi trước khi lật đáp án: “Vậy lúc nào Nova mất quyền chọn AV?” — Chốt: “Lúc ký với khách sạn. Nên câu hỏi về AV độc quyền phải nằm trong RFP gửi khách sạn.”
Alt-text: ba ô nối bằng mũi tên — chọn và ký khách sạn → AV độc quyền → AV thành một nguồn.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Mẫu APEX có các phần như mục tiêu sự kiện, hồ sơ người tham dự, lịch sử sự kiện, và đề nghị đính kèm báo cáo sau sự kiện (PER) kỳ trước. Nhà cung cấp chỉ đề xuất đúng nếu họ hiểu Key Account và khách của Key Account.
Nhắc bảo mật (nhận định): thông tin về khách của An Phát chỉ chia sẻ ở mức cần thiết; xin cam kết bảo mật nếu cần.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Hỏi: “Tốc độ trả lời RFP nói gì về cách nhà cung cấp sẽ phục vụ ta sau này?”
Nguồn là Cvent — một nền tảng bán phần mềm tìm địa điểm, có lợi ích liên quan.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Ghi rõ: trọng số là GIẢ ĐỊNH — chất lượng – năng lực 60 / tổng chi phí 40.
Một hồ sơ trượt điều kiện bắt buộc thì điểm cao cũng không cứu được.
Hiểu lầm: “Chọn nhà cung cấp rẻ nhất là tiết kiệm cho khách” → tính tổng chi phí và rủi ro; giá thuê rẻ có thể đi kèm AV độc quyền đắt. “Chấm điểm là thủ tục” → bảng chấm là lời giải thích Nova đưa cho Key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Chọn nhà cung cấp là bài toán nhiều tiêu chí — một dòng nghiên cứu lâu đời trong mua hàng (Dickson 1966; Weber và cộng sự 1991; Ho và cộng sự 2010).
Audit trail: anh Minh và anh Khoa đều có thể hỏi lại.
Nối Buổi 7: bên trượt hôm nay là đối tác ngày mai (customer of choice).
→ Chuyển sang S3 — Thực hành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S3 — Thực hành 1 (20 phút). Đồng hồ 4 / 8 / 5 phút, GV chốt 3 phút. Ghi lựa chọn khách sạn của 6 nhóm lên bảng.
Thêm chi tiết trên phiếu: A — hủy trong 60 ngày mất 50% cọc, giảm tối đa 5% số khách; B — giảm tới 10% số khách không phạt, không cột, trần 7 m; C — AV nội bộ có kinh nghiệm livestream (mang ngoài phụ thu 15%), F&amp;B được đánh giá rất tốt, phòng phụ liền kề 200 m².
Thảo luận: các nhóm có chọn giống nhau không? Khách sạn nào rẻ nhất nhưng không phải lựa chọn tốt nhất?
Khách sạn nhóm chọn dùng ở S6 (mặc định: khách sạn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lao 8 phút. Ghi giờ quay lại lên slide/bảng.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Cuối 2024, sân vận động quốc gia Mỹ Đình tổ chức concert tối 7/12, một tuần trước trận ASEAN Cup của đội tuyển Việt Nam gặp Indonesia (15/12). VFF xin đổi sân nhà về Việt Trì.
[VERIFY: tiêu đề chính xác các bài báo tiếng Việt trước khi đưa lên slide] — slide này chỉ mô tả sự việc, không trích tiêu đề báo. Ảnh sân Mỹ Đình chỉ dùng khi GV chấp nhận.
Hỏi: “Nếu Nova là agency của concert đó, ta cần hỏi địa điểm điều gì? Nếu Nova làm cho bên thuê sau, ta cần hỏi gì?”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Khách sạn có AV độc quyền → Nova mất quyền chọn AV. Khách sạn cho mang AV ngoài → Nova tự chọn được đơn vị livestream quen.
Hiểu lầm: “Chọn địa điểm xong mới chọn nhà cung cấp khác” → đúng một nửa: chọn địa điểm trước, nhưng câu hỏi về nhà cung cấp độc quyền phải có TRƯỚC KHI KÝ.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Hỏi: “Hai con số này mâu thuẫn không?” — Chốt: “Không hẳn. Giá quan trọng, nhưng quan hệ với địa điểm cũng có giá trị.” Nối Buổi 7: customer of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nhóm tiêu chí gắn với một người cụ thể của An Phát: chị Lan (livestream), anh Khoa (ngân sách), và 600 khách VIP.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[VERIFY: năm đăng bài BizBash về 11 câu hỏi site inspection]
Case Những thành phố mơ màng Summer 2026 (Hà Nội, 12/7/2026): mưa lớn làm khu vực ngoài trời không đảm bảo vệ sinh, khán giả lội bùn; sân khấu thấp, màn LED nhỏ, tầm nhìn hạn chế. Ban tổ chức xin lỗi và cam kết rà soát “từ việc đánh giá điều kiện mặt bằng, xây dựng các phương án ứng phó với thời tiết đến việc chủ động cân nhắc điều chỉnh phương án tổ chức hoặc địa điểm”. [VERIFY: đối chiếu thêm một báo]
Hỏi: “Site check trước đó thiếu câu hỏi nào?” — gợi ý: thoát nước khi mưa, phương án B, tầm nhìn sân khấu từ cuối khán đài. (Không dùng ảnh khán giả lội bùn trừ khi có quyền dùng.)
Đi site check cùng Key Account (anh Minh, chị Lan) là một điểm chạm quan trọng ở giai đoạn trước mua.
Hiểu lầm: “Site check là đi chụp ảnh” → là đánh giá nhà cung cấp tại chỗ (V03) với danh sách câu hỏi.
Chi tiết PCCC: môn Quản trị rủi ro sự kiện.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Tính trên bảng cùng lớp, từng bước.
Quy tắc ước lượng: sức chứa ≈ diện tích dùng được ÷ diện tích mỗi người theo kiểu bố trí. Là quy tắc ước lượng, không phải tiêu chuẩn.
600 khách × 1,0–1,1 m² ≈ 610–670 m² chỉ cho khu bàn; cộng sân khấu, LED, lối đi, buffet, khu nhà tài trợ (giả định ~250 m²) → ~860–920 m² dùng được.
Hiểu lầm: “Ballroom 1.200 m² thì chứa thoải mái 600 khách” → trừ cột, sân khấu, lối đi; kiểm tra tầm nhìn.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Thông số một trung tâm hội nghị lớn ở TP.HCM trên các trang khác nhau ghi từ “hơn 4.000 m²” đến khoảng 10.000 m² — có thể đo khác nhau (tổng sàn, một sảnh…). Không nêu tên địa điểm — quyết định GV; nguồn V12 trong tư liệu tổng hợp.
Sức chứa chính thức theo giấy phép của địa điểm và quy định PCCC → môn Quản trị rủi ro sự kiện.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Lemon &amp; Verhoef: hành trình gồm prepurchase – purchase – postpurchase. Tác giả viết: “Partners can include marketing agencies…”.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“Ở Buổi 3 và Buổi 9 ta vẽ hành trình của khách của An Phát. Hôm nay đổi vai: An Phát là khách hàng của Nova. Và khách sạn, AV, nhà in… là điểm chạm partner-owned trên hành trình của An Phát.”
Alt-text: hai hành trình lồng nhau — hàng trên: An Phát phục vụ khách của An Phát (Buổi 3, 9); hàng dưới: Nova phục vụ An Phát, với nhà cung cấp là điểm chạm (Buổi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giai đoạn SAU MUA: “Hồ sơ thanh toán chậm, ảnh gửi muộn cũng là trải nghiệm của An Phát — và là thứ anh Minh nhớ khi quyết định có tái ký năm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Phát ký với Nova, không ký với nhà in hay khách sạn. Vì vậy quản lý nhà cung cấp là quản lý trải nghiệm của Key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Để chiếu suốt S6 — các nhóm dùng khi lập bảng phân bổ và khi phản biện chéo.
→ Chuyển sang S6 — Thực hành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S6 — Thực hành 2 (30 phút): 3 mở đầu · 15 lập bảng · 8 xoay trạm (2 vòng × 4 phút) · 4 sửa và chốt.
Mặc định: khách sạn B. Nhà cung cấp: AV – livestream, in ấn – backdrop, xe đưa đón VIP, nhiếp ảnh – quay phim, lễ tân thời vụ, quà tặng.
Khi xoay trạm, nhóm đóng vai anh Khoa (ngân sách – mua sắm): 🟨 1 câu hỏi, 🟥 1 lo ngại về chi phí, hồ sơ, thanh toán hoặc trách nhiệm khi có sự cố.
Khi chốt: ghi các câu hỏi “anh Khoa” lặp lại nhiều nhất lên bảng. Có nhóm nào quên giai đoạn sau mua không?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S7 — Tổng hợp (3 phút).
Liên hệ Stakeholder Management Plan: với khách hàng từ dự án cũ, nhóm bổ sung một trang “nhà cung cấp và địa điểm”: hạng mục chính, phương thức mua, 3 tiêu chí chọn, bảng phân bổ theo giai đoạn của Key Account. Làm dần trên lớp, không giao về nhà.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S8 — cá nhân, không chấm điểm. Giấy nhỏ hoặc Google Form (thêm QR nếu thu online).
Cần xem: (a) RFQ cho hạng mục thông số rõ, nhiều nhà cung cấp; RFP cho hạng mục cần giải pháp, có tiêu chí ngoài giá; (b) câu hỏi site check cụ thể (độc quyền, giờ dựng, diện tích dùng được, lịch trước – sau), không chung chung; (c) nối được với Key Account, không chỉ với Nova.
Câu nối Buổi 11: “Hôm nay ta chọn và quản lý những đối tác làm ra sự kiện. Buổi sau là những đối tác kể lại sự kiện: báo chí, KOL, influencer — và cách để họ kể đúng câu chuyện của Key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phụ lục — không chiếu khi dạy; để tra cứu mã nguồn V01–V11 ghi ở chân slide. V12 (trung tâm hội nghị có thông số vênh nhau) cố ý không liệt kê vì GV quyết định không nêu tên địa điểm. Năm bài BizBash (V07) và tiêu đề báo V10 còn chờ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phụ lục — không chiếu khi dạy; để tra cứu mã nguồn V01–V11 ghi ở chân slide. V12 (trung tâm hội nghị có thông số vênh nhau) cố ý không liệt kê vì GV quyết định không nêu tên địa điểm. Năm bài BizBash (V07) và tiêu đề báo V10 còn chờ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7223760" y="1097280"/>
            <a:ext cx="4389120" cy="4480560"/>
          </a:xfrm>
          <a:prstGeom prst="roundRect">
            <a:avLst>
              <a:gd name="adj" fmla="val 4167"/>
            </a:avLst>
          </a:prstGeom>
          <a:solidFill>
            <a:srgbClr val="FFFFFF"/>
          </a:solidFill>
          <a:ln w="25400">
            <a:solidFill>
              <a:srgbClr val="2A2238"/>
            </a:solidFill>
            <a:prstDash val="solid"/>
          </a:ln>
        </p:spPr>
      </p:sp>
      <p:sp>
        <p:nvSpPr>
          <p:cNvPr id="3" name="Shape 1"/>
          <p:cNvSpPr/>
          <p:nvPr/>
        </p:nvSpPr>
        <p:spPr>
          <a:xfrm>
            <a:off x="8321040" y="1280160"/>
            <a:ext cx="2194560" cy="627278"/>
          </a:xfrm>
          <a:prstGeom prst="rect">
            <a:avLst/>
          </a:prstGeom>
          <a:solidFill>
            <a:srgbClr val="962B7C"/>
          </a:solidFill>
          <a:ln w="12700">
            <a:solidFill>
              <a:srgbClr val="962B7C"/>
            </a:solidFill>
            <a:prstDash val="solid"/>
          </a:ln>
        </p:spPr>
      </p:sp>
      <p:sp>
        <p:nvSpPr>
          <p:cNvPr id="4" name="Text 2"/>
          <p:cNvSpPr txBox="1"/>
          <p:nvPr/>
        </p:nvSpPr>
        <p:spPr>
          <a:xfrm>
            <a:off x="8321040" y="1280160"/>
            <a:ext cx="2194560" cy="627278"/>
          </a:xfrm>
          <a:prstGeom prst="rect">
            <a:avLst/>
          </a:prstGeom>
          <a:noFill/>
          <a:ln/>
        </p:spPr>
        <p:txBody>
          <a:bodyPr wrap="square" lIns="0" tIns="0" rIns="0" bIns="0" rtlCol="0" anchor="ctr"/>
          <a:lstStyle/>
          <a:p>
            <a:pPr algn="ctr" indent="0" marL="0">
              <a:buNone/>
            </a:pPr>
            <a:r>
              <a:rPr lang="en-US" sz="1100" b="1" dirty="0">
                <a:solidFill>
                  <a:srgbClr val="FFFFFF"/>
                </a:solidFill>
                <a:latin typeface="Alexandria" pitchFamily="34" charset="0"/>
                <a:ea typeface="Alexandria" pitchFamily="34" charset="-122"/>
                <a:cs typeface="Alexandria" pitchFamily="34" charset="-120"/>
              </a:rPr>
              <a:t>sân khấu</a:t>
            </a:r>
            <a:endParaRPr lang="en-US" sz="1100" dirty="0"/>
          </a:p>
        </p:txBody>
      </p:sp>
      <p:sp>
        <p:nvSpPr>
          <p:cNvPr id="5" name="Shape 3"/>
          <p:cNvSpPr/>
          <p:nvPr/>
        </p:nvSpPr>
        <p:spPr>
          <a:xfrm>
            <a:off x="7662672" y="2710282"/>
            <a:ext cx="462013" cy="462013"/>
          </a:xfrm>
          <a:prstGeom prst="ellipse">
            <a:avLst/>
          </a:prstGeom>
          <a:solidFill>
            <a:srgbClr val="FF9259"/>
          </a:solidFill>
          <a:ln w="12700">
            <a:solidFill>
              <a:srgbClr val="FF9259"/>
            </a:solidFill>
            <a:prstDash val="solid"/>
          </a:ln>
        </p:spPr>
      </p:sp>
      <p:sp>
        <p:nvSpPr>
          <p:cNvPr id="6" name="Shape 4"/>
          <p:cNvSpPr/>
          <p:nvPr/>
        </p:nvSpPr>
        <p:spPr>
          <a:xfrm>
            <a:off x="8430768" y="2710282"/>
            <a:ext cx="462013" cy="462013"/>
          </a:xfrm>
          <a:prstGeom prst="ellipse">
            <a:avLst/>
          </a:prstGeom>
          <a:solidFill>
            <a:srgbClr val="09A1E5"/>
          </a:solidFill>
          <a:ln w="12700">
            <a:solidFill>
              <a:srgbClr val="09A1E5"/>
            </a:solidFill>
            <a:prstDash val="solid"/>
          </a:ln>
        </p:spPr>
      </p:sp>
      <p:sp>
        <p:nvSpPr>
          <p:cNvPr id="7" name="Shape 5"/>
          <p:cNvSpPr/>
          <p:nvPr/>
        </p:nvSpPr>
        <p:spPr>
          <a:xfrm>
            <a:off x="9198864" y="2710282"/>
            <a:ext cx="462013" cy="462013"/>
          </a:xfrm>
          <a:prstGeom prst="ellipse">
            <a:avLst/>
          </a:prstGeom>
          <a:solidFill>
            <a:srgbClr val="49B296"/>
          </a:solidFill>
          <a:ln w="12700">
            <a:solidFill>
              <a:srgbClr val="49B296"/>
            </a:solidFill>
            <a:prstDash val="solid"/>
          </a:ln>
        </p:spPr>
      </p:sp>
      <p:sp>
        <p:nvSpPr>
          <p:cNvPr id="8" name="Shape 6"/>
          <p:cNvSpPr/>
          <p:nvPr/>
        </p:nvSpPr>
        <p:spPr>
          <a:xfrm>
            <a:off x="9966960" y="2710282"/>
            <a:ext cx="462013" cy="462013"/>
          </a:xfrm>
          <a:prstGeom prst="ellipse">
            <a:avLst/>
          </a:prstGeom>
          <a:solidFill>
            <a:srgbClr val="FF5178"/>
          </a:solidFill>
          <a:ln w="12700">
            <a:solidFill>
              <a:srgbClr val="FF5178"/>
            </a:solidFill>
            <a:prstDash val="solid"/>
          </a:ln>
        </p:spPr>
      </p:sp>
      <p:sp>
        <p:nvSpPr>
          <p:cNvPr id="9" name="Shape 7"/>
          <p:cNvSpPr/>
          <p:nvPr/>
        </p:nvSpPr>
        <p:spPr>
          <a:xfrm>
            <a:off x="10735056" y="2710282"/>
            <a:ext cx="462013" cy="462013"/>
          </a:xfrm>
          <a:prstGeom prst="ellipse">
            <a:avLst/>
          </a:prstGeom>
          <a:solidFill>
            <a:srgbClr val="FFD23B"/>
          </a:solidFill>
          <a:ln w="12700">
            <a:solidFill>
              <a:srgbClr val="FFD23B"/>
            </a:solidFill>
            <a:prstDash val="solid"/>
          </a:ln>
        </p:spPr>
      </p:sp>
      <p:sp>
        <p:nvSpPr>
          <p:cNvPr id="10" name="Shape 8"/>
          <p:cNvSpPr/>
          <p:nvPr/>
        </p:nvSpPr>
        <p:spPr>
          <a:xfrm>
            <a:off x="7662672" y="3606394"/>
            <a:ext cx="462013" cy="462013"/>
          </a:xfrm>
          <a:prstGeom prst="ellipse">
            <a:avLst/>
          </a:prstGeom>
          <a:solidFill>
            <a:srgbClr val="09A1E5"/>
          </a:solidFill>
          <a:ln w="12700">
            <a:solidFill>
              <a:srgbClr val="09A1E5"/>
            </a:solidFill>
            <a:prstDash val="solid"/>
          </a:ln>
        </p:spPr>
      </p:sp>
      <p:sp>
        <p:nvSpPr>
          <p:cNvPr id="11" name="Shape 9"/>
          <p:cNvSpPr/>
          <p:nvPr/>
        </p:nvSpPr>
        <p:spPr>
          <a:xfrm>
            <a:off x="8430768" y="3606394"/>
            <a:ext cx="462013" cy="462013"/>
          </a:xfrm>
          <a:prstGeom prst="ellipse">
            <a:avLst/>
          </a:prstGeom>
          <a:solidFill>
            <a:srgbClr val="49B296"/>
          </a:solidFill>
          <a:ln w="12700">
            <a:solidFill>
              <a:srgbClr val="49B296"/>
            </a:solidFill>
            <a:prstDash val="solid"/>
          </a:ln>
        </p:spPr>
      </p:sp>
      <p:sp>
        <p:nvSpPr>
          <p:cNvPr id="12" name="Shape 10"/>
          <p:cNvSpPr/>
          <p:nvPr/>
        </p:nvSpPr>
        <p:spPr>
          <a:xfrm>
            <a:off x="9198864" y="3606394"/>
            <a:ext cx="462013" cy="462013"/>
          </a:xfrm>
          <a:prstGeom prst="ellipse">
            <a:avLst/>
          </a:prstGeom>
          <a:solidFill>
            <a:srgbClr val="FF5178"/>
          </a:solidFill>
          <a:ln w="12700">
            <a:solidFill>
              <a:srgbClr val="FF5178"/>
            </a:solidFill>
            <a:prstDash val="solid"/>
          </a:ln>
        </p:spPr>
      </p:sp>
      <p:sp>
        <p:nvSpPr>
          <p:cNvPr id="13" name="Shape 11"/>
          <p:cNvSpPr/>
          <p:nvPr/>
        </p:nvSpPr>
        <p:spPr>
          <a:xfrm>
            <a:off x="9966960" y="3606394"/>
            <a:ext cx="462013" cy="462013"/>
          </a:xfrm>
          <a:prstGeom prst="ellipse">
            <a:avLst/>
          </a:prstGeom>
          <a:solidFill>
            <a:srgbClr val="FFD23B"/>
          </a:solidFill>
          <a:ln w="12700">
            <a:solidFill>
              <a:srgbClr val="FFD23B"/>
            </a:solidFill>
            <a:prstDash val="solid"/>
          </a:ln>
        </p:spPr>
      </p:sp>
      <p:sp>
        <p:nvSpPr>
          <p:cNvPr id="14" name="Shape 12"/>
          <p:cNvSpPr/>
          <p:nvPr/>
        </p:nvSpPr>
        <p:spPr>
          <a:xfrm>
            <a:off x="10735056" y="3606394"/>
            <a:ext cx="462013" cy="462013"/>
          </a:xfrm>
          <a:prstGeom prst="ellipse">
            <a:avLst/>
          </a:prstGeom>
          <a:solidFill>
            <a:srgbClr val="FF9259"/>
          </a:solidFill>
          <a:ln w="12700">
            <a:solidFill>
              <a:srgbClr val="FF9259"/>
            </a:solidFill>
            <a:prstDash val="solid"/>
          </a:ln>
        </p:spPr>
      </p:sp>
      <p:sp>
        <p:nvSpPr>
          <p:cNvPr id="15" name="Shape 13"/>
          <p:cNvSpPr/>
          <p:nvPr/>
        </p:nvSpPr>
        <p:spPr>
          <a:xfrm>
            <a:off x="7662672" y="4502506"/>
            <a:ext cx="462013" cy="462013"/>
          </a:xfrm>
          <a:prstGeom prst="ellipse">
            <a:avLst/>
          </a:prstGeom>
          <a:solidFill>
            <a:srgbClr val="49B296"/>
          </a:solidFill>
          <a:ln w="12700">
            <a:solidFill>
              <a:srgbClr val="49B296"/>
            </a:solidFill>
            <a:prstDash val="solid"/>
          </a:ln>
        </p:spPr>
      </p:sp>
      <p:sp>
        <p:nvSpPr>
          <p:cNvPr id="16" name="Shape 14"/>
          <p:cNvSpPr/>
          <p:nvPr/>
        </p:nvSpPr>
        <p:spPr>
          <a:xfrm>
            <a:off x="8430768" y="4502506"/>
            <a:ext cx="462013" cy="462013"/>
          </a:xfrm>
          <a:prstGeom prst="ellipse">
            <a:avLst/>
          </a:prstGeom>
          <a:solidFill>
            <a:srgbClr val="FF5178"/>
          </a:solidFill>
          <a:ln w="12700">
            <a:solidFill>
              <a:srgbClr val="FF5178"/>
            </a:solidFill>
            <a:prstDash val="solid"/>
          </a:ln>
        </p:spPr>
      </p:sp>
      <p:sp>
        <p:nvSpPr>
          <p:cNvPr id="17" name="Shape 15"/>
          <p:cNvSpPr/>
          <p:nvPr/>
        </p:nvSpPr>
        <p:spPr>
          <a:xfrm>
            <a:off x="9198864" y="4502506"/>
            <a:ext cx="462013" cy="462013"/>
          </a:xfrm>
          <a:prstGeom prst="ellipse">
            <a:avLst/>
          </a:prstGeom>
          <a:solidFill>
            <a:srgbClr val="FFD23B"/>
          </a:solidFill>
          <a:ln w="12700">
            <a:solidFill>
              <a:srgbClr val="FFD23B"/>
            </a:solidFill>
            <a:prstDash val="solid"/>
          </a:ln>
        </p:spPr>
      </p:sp>
      <p:sp>
        <p:nvSpPr>
          <p:cNvPr id="18" name="Shape 16"/>
          <p:cNvSpPr/>
          <p:nvPr/>
        </p:nvSpPr>
        <p:spPr>
          <a:xfrm>
            <a:off x="9966960" y="4502506"/>
            <a:ext cx="462013" cy="462013"/>
          </a:xfrm>
          <a:prstGeom prst="ellipse">
            <a:avLst/>
          </a:prstGeom>
          <a:solidFill>
            <a:srgbClr val="FF9259"/>
          </a:solidFill>
          <a:ln w="12700">
            <a:solidFill>
              <a:srgbClr val="FF9259"/>
            </a:solidFill>
            <a:prstDash val="solid"/>
          </a:ln>
        </p:spPr>
      </p:sp>
      <p:sp>
        <p:nvSpPr>
          <p:cNvPr id="19" name="Shape 17"/>
          <p:cNvSpPr/>
          <p:nvPr/>
        </p:nvSpPr>
        <p:spPr>
          <a:xfrm>
            <a:off x="10735056" y="4502506"/>
            <a:ext cx="462013" cy="462013"/>
          </a:xfrm>
          <a:prstGeom prst="ellipse">
            <a:avLst/>
          </a:prstGeom>
          <a:solidFill>
            <a:srgbClr val="09A1E5"/>
          </a:solidFill>
          <a:ln w="12700">
            <a:solidFill>
              <a:srgbClr val="09A1E5"/>
            </a:solidFill>
            <a:prstDash val="solid"/>
          </a:ln>
        </p:spPr>
      </p:sp>
      <p:sp>
        <p:nvSpPr>
          <p:cNvPr id="20" name="Text 18"/>
          <p:cNvSpPr txBox="1"/>
          <p:nvPr/>
        </p:nvSpPr>
        <p:spPr>
          <a:xfrm>
            <a:off x="7223760" y="5669280"/>
            <a:ext cx="4389120" cy="320040"/>
          </a:xfrm>
          <a:prstGeom prst="rect">
            <a:avLst/>
          </a:prstGeom>
          <a:noFill/>
          <a:ln/>
        </p:spPr>
        <p:txBody>
          <a:bodyPr wrap="square" lIns="0" tIns="0" rIns="0" bIns="0" rtlCol="0" anchor="ctr"/>
          <a:lstStyle/>
          <a:p>
            <a:pPr algn="ctr" indent="0" marL="0">
              <a:buNone/>
            </a:pPr>
            <a:r>
              <a:rPr lang="en-US" sz="1200" i="1" dirty="0">
                <a:solidFill>
                  <a:srgbClr val="6E6878"/>
                </a:solidFill>
                <a:latin typeface="Alexandria" pitchFamily="34" charset="0"/>
                <a:ea typeface="Alexandria" pitchFamily="34" charset="-122"/>
                <a:cs typeface="Alexandria" pitchFamily="34" charset="-120"/>
              </a:rPr>
              <a:t>sơ đồ mặt bằng · bàn tròn 600 khách</a:t>
            </a:r>
            <a:endParaRPr lang="en-US" sz="1200" dirty="0"/>
          </a:p>
        </p:txBody>
      </p:sp>
      <p:sp>
        <p:nvSpPr>
          <p:cNvPr id="21" name="Shape 19"/>
          <p:cNvSpPr/>
          <p:nvPr/>
        </p:nvSpPr>
        <p:spPr>
          <a:xfrm>
            <a:off x="548640" y="914400"/>
            <a:ext cx="2834640" cy="420624"/>
          </a:xfrm>
          <a:prstGeom prst="roundRect">
            <a:avLst>
              <a:gd name="adj" fmla="val 50000"/>
            </a:avLst>
          </a:prstGeom>
          <a:solidFill>
            <a:srgbClr val="FFD23B"/>
          </a:solidFill>
          <a:ln w="12700">
            <a:solidFill>
              <a:srgbClr val="FFD23B"/>
            </a:solidFill>
            <a:prstDash val="solid"/>
          </a:ln>
        </p:spPr>
      </p:sp>
      <p:sp>
        <p:nvSpPr>
          <p:cNvPr id="22" name="Text 20"/>
          <p:cNvSpPr txBox="1"/>
          <p:nvPr/>
        </p:nvSpPr>
        <p:spPr>
          <a:xfrm>
            <a:off x="621792" y="914400"/>
            <a:ext cx="2688336" cy="420624"/>
          </a:xfrm>
          <a:prstGeom prst="rect">
            <a:avLst/>
          </a:prstGeom>
          <a:noFill/>
          <a:ln/>
        </p:spPr>
        <p:txBody>
          <a:bodyPr wrap="square" lIns="0" tIns="0" rIns="0" bIns="0" rtlCol="0" anchor="ctr"/>
          <a:lstStyle/>
          <a:p>
            <a:pPr algn="ctr" indent="0" marL="0">
              <a:buNone/>
            </a:pPr>
            <a:r>
              <a:rPr lang="en-US" sz="1400" b="1" dirty="0">
                <a:solidFill>
                  <a:srgbClr val="2A2238"/>
                </a:solidFill>
                <a:latin typeface="Alexandria" pitchFamily="34" charset="0"/>
                <a:ea typeface="Alexandria" pitchFamily="34" charset="-122"/>
                <a:cs typeface="Alexandria" pitchFamily="34" charset="-120"/>
              </a:rPr>
              <a:t>EVM1110E  ·  Buổi 10 / 15</a:t>
            </a:r>
            <a:endParaRPr lang="en-US" sz="1400" dirty="0"/>
          </a:p>
        </p:txBody>
      </p:sp>
      <p:sp>
        <p:nvSpPr>
          <p:cNvPr id="23" name="Text 21"/>
          <p:cNvSpPr txBox="1"/>
          <p:nvPr/>
        </p:nvSpPr>
        <p:spPr>
          <a:xfrm>
            <a:off x="548640" y="1600200"/>
            <a:ext cx="6217920" cy="1737360"/>
          </a:xfrm>
          <a:prstGeom prst="rect">
            <a:avLst/>
          </a:prstGeom>
          <a:noFill/>
          <a:ln/>
        </p:spPr>
        <p:txBody>
          <a:bodyPr wrap="square" lIns="0" tIns="0" rIns="0" bIns="0" rtlCol="0" anchor="t"/>
          <a:lstStyle/>
          <a:p>
            <a:pPr indent="0" marL="0">
              <a:buNone/>
            </a:pPr>
            <a:r>
              <a:rPr lang="en-US" sz="3800" b="1" dirty="0">
                <a:solidFill>
                  <a:srgbClr val="2A2238"/>
                </a:solidFill>
                <a:latin typeface="Alexandria" pitchFamily="34" charset="0"/>
                <a:ea typeface="Alexandria" pitchFamily="34" charset="-122"/>
                <a:cs typeface="Alexandria" pitchFamily="34" charset="-120"/>
              </a:rPr>
              <a:t>Quản trị mối quan hệ trong tổ chức sự kiện</a:t>
            </a:r>
            <a:endParaRPr lang="en-US" sz="3800" dirty="0"/>
          </a:p>
        </p:txBody>
      </p:sp>
      <p:sp>
        <p:nvSpPr>
          <p:cNvPr id="24" name="Text 22"/>
          <p:cNvSpPr txBox="1"/>
          <p:nvPr/>
        </p:nvSpPr>
        <p:spPr>
          <a:xfrm>
            <a:off x="548640" y="3429000"/>
            <a:ext cx="6217920" cy="822960"/>
          </a:xfrm>
          <a:prstGeom prst="rect">
            <a:avLst/>
          </a:prstGeom>
          <a:noFill/>
          <a:ln/>
        </p:spPr>
        <p:txBody>
          <a:bodyPr wrap="square" lIns="0" tIns="0" rIns="0" bIns="0" rtlCol="0" anchor="t"/>
          <a:lstStyle/>
          <a:p>
            <a:pPr indent="0" marL="0">
              <a:buNone/>
            </a:pPr>
            <a:r>
              <a:rPr lang="en-US" sz="2200" i="1" dirty="0">
                <a:solidFill>
                  <a:srgbClr val="962B7C"/>
                </a:solidFill>
                <a:latin typeface="Alexandria" pitchFamily="34" charset="0"/>
                <a:ea typeface="Alexandria" pitchFamily="34" charset="-122"/>
                <a:cs typeface="Alexandria" pitchFamily="34" charset="-120"/>
              </a:rPr>
              <a:t>Building Solutions: Supplier &amp; Venue Management</a:t>
            </a:r>
            <a:endParaRPr lang="en-US" sz="2200" dirty="0"/>
          </a:p>
        </p:txBody>
      </p:sp>
      <p:sp>
        <p:nvSpPr>
          <p:cNvPr id="25" name="Text 23"/>
          <p:cNvSpPr txBox="1"/>
          <p:nvPr/>
        </p:nvSpPr>
        <p:spPr>
          <a:xfrm>
            <a:off x="548640" y="4572000"/>
            <a:ext cx="6217920" cy="1280160"/>
          </a:xfrm>
          <a:prstGeom prst="rect">
            <a:avLst/>
          </a:prstGeom>
          <a:noFill/>
          <a:ln/>
        </p:spPr>
        <p:txBody>
          <a:bodyPr wrap="square" lIns="0" tIns="0" rIns="0" bIns="0" rtlCol="0" anchor="t"/>
          <a:lstStyle/>
          <a:p>
            <a:pPr indent="0" marL="0">
              <a:spcAft>
                <a:spcPts val="400"/>
              </a:spcAft>
              <a:buNone/>
            </a:pPr>
            <a:r>
              <a:rPr lang="en-US" sz="1500" dirty="0">
                <a:solidFill>
                  <a:srgbClr val="6E6878"/>
                </a:solidFill>
                <a:latin typeface="Alexandria" pitchFamily="34" charset="0"/>
                <a:ea typeface="Alexandria" pitchFamily="34" charset="-122"/>
                <a:cs typeface="Alexandria" pitchFamily="34" charset="-120"/>
              </a:rPr>
              <a:t>Phần 3 · buổi 2/4 — Điều phối các bên liên quan phục vụ hành trình khách hàng</a:t>
            </a:r>
            <a:endParaRPr lang="en-US" sz="1500" dirty="0"/>
          </a:p>
          <a:p>
            <a:pPr indent="0" marL="0">
              <a:spcAft>
                <a:spcPts val="400"/>
              </a:spcAft>
              <a:buNone/>
            </a:pPr>
            <a:r>
              <a:rPr lang="en-US" sz="1500" dirty="0">
                <a:solidFill>
                  <a:srgbClr val="6E6878"/>
                </a:solidFill>
                <a:latin typeface="Alexandria" pitchFamily="34" charset="0"/>
                <a:ea typeface="Alexandria" pitchFamily="34" charset="-122"/>
                <a:cs typeface="Alexandria" pitchFamily="34" charset="-120"/>
              </a:rPr>
              <a:t>Khoa Marketing · UEF</a:t>
            </a:r>
            <a:endParaRPr lang="en-US" sz="1500" dirty="0"/>
          </a:p>
          <a:p>
            <a:pPr indent="0" marL="0">
              <a:spcAft>
                <a:spcPts val="400"/>
              </a:spcAft>
              <a:buNone/>
            </a:pPr>
            <a:r>
              <a:rPr lang="en-US" sz="1500" dirty="0">
                <a:solidFill>
                  <a:srgbClr val="6E6878"/>
                </a:solidFill>
                <a:latin typeface="Alexandria" pitchFamily="34" charset="0"/>
                <a:ea typeface="Alexandria" pitchFamily="34" charset="-122"/>
                <a:cs typeface="Alexandria" pitchFamily="34" charset="-120"/>
              </a:rPr>
              <a:t>Giảng viên: Đoàn Nguyễn Bảo Quyên</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F9259"/>
          </a:solidFill>
          <a:ln w="9525">
            <a:solidFill>
              <a:srgbClr val="FF9259"/>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b="1" dirty="0">
                <a:solidFill>
                  <a:srgbClr val="2A223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655064"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65506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10.1 Quy trình mua</a:t>
            </a:r>
            <a:endParaRPr lang="en-US" sz="1000" dirty="0"/>
          </a:p>
        </p:txBody>
      </p:sp>
      <p:sp>
        <p:nvSpPr>
          <p:cNvPr id="6" name="Shape 4"/>
          <p:cNvSpPr/>
          <p:nvPr/>
        </p:nvSpPr>
        <p:spPr>
          <a:xfrm>
            <a:off x="3145536" y="274320"/>
            <a:ext cx="1266444"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145536" y="274320"/>
            <a:ext cx="126644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10.2 Địa điểm</a:t>
            </a:r>
            <a:endParaRPr lang="en-US" sz="1000" dirty="0"/>
          </a:p>
        </p:txBody>
      </p:sp>
      <p:sp>
        <p:nvSpPr>
          <p:cNvPr id="8" name="Shape 6"/>
          <p:cNvSpPr/>
          <p:nvPr/>
        </p:nvSpPr>
        <p:spPr>
          <a:xfrm>
            <a:off x="4521708" y="274320"/>
            <a:ext cx="2354580"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521708" y="274320"/>
            <a:ext cx="235458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10.3 Hành trình Key Account</a:t>
            </a:r>
            <a:endParaRPr lang="en-US" sz="1000" dirty="0"/>
          </a:p>
        </p:txBody>
      </p:sp>
      <p:sp>
        <p:nvSpPr>
          <p:cNvPr id="10" name="Shape 8"/>
          <p:cNvSpPr/>
          <p:nvPr/>
        </p:nvSpPr>
        <p:spPr>
          <a:xfrm>
            <a:off x="6986016"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986016"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384048" cy="384048"/>
          </a:xfrm>
          <a:prstGeom prst="roundRect">
            <a:avLst>
              <a:gd name="adj" fmla="val 18000"/>
            </a:avLst>
          </a:prstGeom>
          <a:solidFill>
            <a:srgbClr val="FFFFFF"/>
          </a:solidFill>
          <a:ln w="12700">
            <a:solidFill>
              <a:srgbClr val="2A2238"/>
            </a:solidFill>
            <a:prstDash val="solid"/>
          </a:ln>
        </p:spPr>
      </p:sp>
      <p:sp>
        <p:nvSpPr>
          <p:cNvPr id="13" name="Shape 11"/>
          <p:cNvSpPr/>
          <p:nvPr/>
        </p:nvSpPr>
        <p:spPr>
          <a:xfrm>
            <a:off x="11343498" y="265542"/>
            <a:ext cx="215067" cy="53767"/>
          </a:xfrm>
          <a:prstGeom prst="rect">
            <a:avLst/>
          </a:prstGeom>
          <a:solidFill>
            <a:srgbClr val="962B7C"/>
          </a:solidFill>
          <a:ln w="12700">
            <a:solidFill>
              <a:srgbClr val="962B7C"/>
            </a:solidFill>
            <a:prstDash val="solid"/>
          </a:ln>
        </p:spPr>
      </p:sp>
      <p:sp>
        <p:nvSpPr>
          <p:cNvPr id="14" name="Shape 12"/>
          <p:cNvSpPr/>
          <p:nvPr/>
        </p:nvSpPr>
        <p:spPr>
          <a:xfrm>
            <a:off x="11335817" y="380756"/>
            <a:ext cx="76810" cy="76810"/>
          </a:xfrm>
          <a:prstGeom prst="ellipse">
            <a:avLst/>
          </a:prstGeom>
          <a:solidFill>
            <a:srgbClr val="FF9259"/>
          </a:solidFill>
          <a:ln w="12700">
            <a:solidFill>
              <a:srgbClr val="FF9259"/>
            </a:solidFill>
            <a:prstDash val="solid"/>
          </a:ln>
        </p:spPr>
      </p:sp>
      <p:sp>
        <p:nvSpPr>
          <p:cNvPr id="15" name="Shape 13"/>
          <p:cNvSpPr/>
          <p:nvPr/>
        </p:nvSpPr>
        <p:spPr>
          <a:xfrm>
            <a:off x="11489436" y="380756"/>
            <a:ext cx="76810" cy="76810"/>
          </a:xfrm>
          <a:prstGeom prst="ellipse">
            <a:avLst/>
          </a:prstGeom>
          <a:solidFill>
            <a:srgbClr val="09A1E5"/>
          </a:solidFill>
          <a:ln w="12700">
            <a:solidFill>
              <a:srgbClr val="09A1E5"/>
            </a:solidFill>
            <a:prstDash val="solid"/>
          </a:ln>
        </p:spPr>
      </p:sp>
      <p:sp>
        <p:nvSpPr>
          <p:cNvPr id="16" name="Shape 14"/>
          <p:cNvSpPr/>
          <p:nvPr/>
        </p:nvSpPr>
        <p:spPr>
          <a:xfrm>
            <a:off x="11335817" y="488290"/>
            <a:ext cx="76810" cy="76810"/>
          </a:xfrm>
          <a:prstGeom prst="ellipse">
            <a:avLst/>
          </a:prstGeom>
          <a:solidFill>
            <a:srgbClr val="49B296"/>
          </a:solidFill>
          <a:ln w="12700">
            <a:solidFill>
              <a:srgbClr val="49B296"/>
            </a:solidFill>
            <a:prstDash val="solid"/>
          </a:ln>
        </p:spPr>
      </p:sp>
      <p:sp>
        <p:nvSpPr>
          <p:cNvPr id="17" name="Shape 15"/>
          <p:cNvSpPr/>
          <p:nvPr/>
        </p:nvSpPr>
        <p:spPr>
          <a:xfrm>
            <a:off x="11489436" y="488290"/>
            <a:ext cx="76810" cy="76810"/>
          </a:xfrm>
          <a:prstGeom prst="ellipse">
            <a:avLst/>
          </a:prstGeom>
          <a:solidFill>
            <a:srgbClr val="FF5178"/>
          </a:solidFill>
          <a:ln w="12700">
            <a:solidFill>
              <a:srgbClr val="FF5178"/>
            </a:solidFill>
            <a:prstDash val="solid"/>
          </a:ln>
        </p:spPr>
      </p:sp>
      <p:sp>
        <p:nvSpPr>
          <p:cNvPr id="18" name="Text 16"/>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Tình huống AV ở Buổi 7 đã được quyết định từ lúc chọn và ký</a:t>
            </a:r>
            <a:endParaRPr lang="en-US" sz="2600" dirty="0"/>
          </a:p>
        </p:txBody>
      </p:sp>
      <p:sp>
        <p:nvSpPr>
          <p:cNvPr id="19" name="Text 17"/>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Tình huống giả định (tiếp nối Buổi 7) — tên và con số chỉ dùng cho học tập.</a:t>
            </a:r>
            <a:endParaRPr lang="en-US" sz="1000" dirty="0"/>
          </a:p>
        </p:txBody>
      </p:sp>
      <p:sp>
        <p:nvSpPr>
          <p:cNvPr id="20" name="Text 18"/>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10   2</a:t>
            </a:r>
            <a:endParaRPr lang="en-US" sz="1000" dirty="0"/>
          </a:p>
        </p:txBody>
      </p:sp>
      <p:sp>
        <p:nvSpPr>
          <p:cNvPr id="22" name="Shape 19"/>
          <p:cNvSpPr/>
          <p:nvPr/>
        </p:nvSpPr>
        <p:spPr>
          <a:xfrm>
            <a:off x="548640" y="1920240"/>
            <a:ext cx="4206240" cy="2103120"/>
          </a:xfrm>
          <a:prstGeom prst="roundRect">
            <a:avLst>
              <a:gd name="adj" fmla="val 5217"/>
            </a:avLst>
          </a:prstGeom>
          <a:solidFill>
            <a:srgbClr val="FFE4EA"/>
          </a:solidFill>
          <a:ln w="12700">
            <a:solidFill>
              <a:srgbClr val="FF5178"/>
            </a:solidFill>
            <a:prstDash val="solid"/>
          </a:ln>
        </p:spPr>
      </p:sp>
      <p:sp>
        <p:nvSpPr>
          <p:cNvPr id="23" name="Text 20"/>
          <p:cNvSpPr txBox="1"/>
          <p:nvPr/>
        </p:nvSpPr>
        <p:spPr>
          <a:xfrm>
            <a:off x="822960" y="2057400"/>
            <a:ext cx="3657600" cy="365760"/>
          </a:xfrm>
          <a:prstGeom prst="rect">
            <a:avLst/>
          </a:prstGeom>
          <a:noFill/>
          <a:ln/>
        </p:spPr>
        <p:txBody>
          <a:bodyPr wrap="square" lIns="0" tIns="0" rIns="0" bIns="0" rtlCol="0" anchor="ctr"/>
          <a:lstStyle/>
          <a:p>
            <a:pPr indent="0" marL="0">
              <a:buNone/>
            </a:pPr>
            <a:r>
              <a:rPr lang="en-US" sz="1300" b="1" dirty="0">
                <a:solidFill>
                  <a:srgbClr val="6E6878"/>
                </a:solidFill>
                <a:latin typeface="Alexandria" pitchFamily="34" charset="0"/>
                <a:ea typeface="Alexandria" pitchFamily="34" charset="-122"/>
                <a:cs typeface="Alexandria" pitchFamily="34" charset="-120"/>
              </a:rPr>
              <a:t>Nhắc Buổi 7 · tháng 11</a:t>
            </a:r>
            <a:endParaRPr lang="en-US" sz="1300" dirty="0"/>
          </a:p>
        </p:txBody>
      </p:sp>
      <p:sp>
        <p:nvSpPr>
          <p:cNvPr id="24" name="Text 21"/>
          <p:cNvSpPr txBox="1"/>
          <p:nvPr/>
        </p:nvSpPr>
        <p:spPr>
          <a:xfrm>
            <a:off x="822960" y="2423160"/>
            <a:ext cx="3657600" cy="822960"/>
          </a:xfrm>
          <a:prstGeom prst="rect">
            <a:avLst/>
          </a:prstGeom>
          <a:noFill/>
          <a:ln/>
        </p:spPr>
        <p:txBody>
          <a:bodyPr wrap="square" lIns="0" tIns="0" rIns="0" bIns="0" rtlCol="0" anchor="ctr"/>
          <a:lstStyle/>
          <a:p>
            <a:pPr indent="0" marL="0">
              <a:buNone/>
            </a:pPr>
            <a:r>
              <a:rPr lang="en-US" sz="4400" b="1" dirty="0">
                <a:solidFill>
                  <a:srgbClr val="E03A62"/>
                </a:solidFill>
                <a:latin typeface="Alexandria" pitchFamily="34" charset="0"/>
                <a:ea typeface="Alexandria" pitchFamily="34" charset="-122"/>
                <a:cs typeface="Alexandria" pitchFamily="34" charset="-120"/>
              </a:rPr>
              <a:t>+30%</a:t>
            </a:r>
            <a:endParaRPr lang="en-US" sz="4400" dirty="0"/>
          </a:p>
        </p:txBody>
      </p:sp>
      <p:sp>
        <p:nvSpPr>
          <p:cNvPr id="25" name="Text 22"/>
          <p:cNvSpPr txBox="1"/>
          <p:nvPr/>
        </p:nvSpPr>
        <p:spPr>
          <a:xfrm>
            <a:off x="822960" y="3246120"/>
            <a:ext cx="3657600" cy="685800"/>
          </a:xfrm>
          <a:prstGeom prst="rect">
            <a:avLst/>
          </a:prstGeom>
          <a:noFill/>
          <a:ln/>
        </p:spPr>
        <p:txBody>
          <a:bodyPr wrap="square" lIns="0" tIns="0" rIns="0" bIns="0" rtlCol="0" anchor="t"/>
          <a:lstStyle/>
          <a:p>
            <a:pPr indent="0" marL="0">
              <a:buNone/>
            </a:pPr>
            <a:r>
              <a:rPr lang="en-US" sz="1400" dirty="0">
                <a:solidFill>
                  <a:srgbClr val="2A2238"/>
                </a:solidFill>
                <a:latin typeface="Alexandria" pitchFamily="34" charset="0"/>
                <a:ea typeface="Alexandria" pitchFamily="34" charset="-122"/>
                <a:cs typeface="Alexandria" pitchFamily="34" charset="-120"/>
              </a:rPr>
              <a:t>AV độc quyền của khách sạn, ba tuần trước gala</a:t>
            </a:r>
            <a:endParaRPr lang="en-US" sz="1400" dirty="0"/>
          </a:p>
        </p:txBody>
      </p:sp>
      <p:sp>
        <p:nvSpPr>
          <p:cNvPr id="26" name="Shape 23"/>
          <p:cNvSpPr/>
          <p:nvPr/>
        </p:nvSpPr>
        <p:spPr>
          <a:xfrm>
            <a:off x="4892040" y="2971800"/>
            <a:ext cx="640080" cy="914"/>
          </a:xfrm>
          <a:prstGeom prst="line">
            <a:avLst/>
          </a:prstGeom>
          <a:noFill/>
          <a:ln w="38100">
            <a:solidFill>
              <a:srgbClr val="2A2238"/>
            </a:solidFill>
            <a:prstDash val="solid"/>
            <a:tailEnd type="triangle"/>
          </a:ln>
        </p:spPr>
      </p:sp>
      <p:sp>
        <p:nvSpPr>
          <p:cNvPr id="27" name="Shape 24"/>
          <p:cNvSpPr/>
          <p:nvPr/>
        </p:nvSpPr>
        <p:spPr>
          <a:xfrm>
            <a:off x="5669280" y="1920240"/>
            <a:ext cx="5973775" cy="2103120"/>
          </a:xfrm>
          <a:prstGeom prst="roundRect">
            <a:avLst>
              <a:gd name="adj" fmla="val 5217"/>
            </a:avLst>
          </a:prstGeom>
          <a:solidFill>
            <a:srgbClr val="DDF1FB"/>
          </a:solidFill>
          <a:ln w="12700">
            <a:solidFill>
              <a:srgbClr val="09A1E5"/>
            </a:solidFill>
            <a:prstDash val="solid"/>
          </a:ln>
        </p:spPr>
      </p:sp>
      <p:sp>
        <p:nvSpPr>
          <p:cNvPr id="28" name="Text 25"/>
          <p:cNvSpPr txBox="1"/>
          <p:nvPr/>
        </p:nvSpPr>
        <p:spPr>
          <a:xfrm>
            <a:off x="5943600" y="2057400"/>
            <a:ext cx="5425135" cy="365760"/>
          </a:xfrm>
          <a:prstGeom prst="rect">
            <a:avLst/>
          </a:prstGeom>
          <a:noFill/>
          <a:ln/>
        </p:spPr>
        <p:txBody>
          <a:bodyPr wrap="square" lIns="0" tIns="0" rIns="0" bIns="0" rtlCol="0" anchor="ctr"/>
          <a:lstStyle/>
          <a:p>
            <a:pPr indent="0" marL="0">
              <a:buNone/>
            </a:pPr>
            <a:r>
              <a:rPr lang="en-US" sz="1300" b="1" dirty="0">
                <a:solidFill>
                  <a:srgbClr val="6E6878"/>
                </a:solidFill>
                <a:latin typeface="Alexandria" pitchFamily="34" charset="0"/>
                <a:ea typeface="Alexandria" pitchFamily="34" charset="-122"/>
                <a:cs typeface="Alexandria" pitchFamily="34" charset="-120"/>
              </a:rPr>
              <a:t>Hôm nay · quay lại tháng 7</a:t>
            </a:r>
            <a:endParaRPr lang="en-US" sz="1300" dirty="0"/>
          </a:p>
        </p:txBody>
      </p:sp>
      <p:sp>
        <p:nvSpPr>
          <p:cNvPr id="29" name="Text 26"/>
          <p:cNvSpPr txBox="1"/>
          <p:nvPr/>
        </p:nvSpPr>
        <p:spPr>
          <a:xfrm>
            <a:off x="5943600" y="2468880"/>
            <a:ext cx="5425135" cy="1417320"/>
          </a:xfrm>
          <a:prstGeom prst="rect">
            <a:avLst/>
          </a:prstGeom>
          <a:noFill/>
          <a:ln/>
        </p:spPr>
        <p:txBody>
          <a:bodyPr wrap="square" lIns="0" tIns="0" rIns="0" bIns="0" rtlCol="0" anchor="t"/>
          <a:lstStyle/>
          <a:p>
            <a:pPr indent="0" marL="0">
              <a:buNone/>
            </a:pPr>
            <a:r>
              <a:rPr lang="en-US" sz="1800" dirty="0">
                <a:solidFill>
                  <a:srgbClr val="2A2238"/>
                </a:solidFill>
                <a:latin typeface="Alexandria" pitchFamily="34" charset="0"/>
                <a:ea typeface="Alexandria" pitchFamily="34" charset="-122"/>
                <a:cs typeface="Alexandria" pitchFamily="34" charset="-120"/>
              </a:rPr>
              <a:t>Anh Minh vừa duyệt concept gala 600 khách.</a:t>
            </a:r>
            <a:endParaRPr lang="en-US" sz="1800" dirty="0"/>
          </a:p>
          <a:p>
            <a:pPr indent="0" marL="0">
              <a:buNone/>
            </a:pPr>
            <a:r>
              <a:rPr lang="en-US" sz="1800" b="1" dirty="0">
                <a:solidFill>
                  <a:srgbClr val="2A2238"/>
                </a:solidFill>
                <a:latin typeface="Alexandria" pitchFamily="34" charset="0"/>
                <a:ea typeface="Alexandria" pitchFamily="34" charset="-122"/>
                <a:cs typeface="Alexandria" pitchFamily="34" charset="-120"/>
              </a:rPr>
              <a:t>Nova có 3 tuần</a:t>
            </a:r>
            <a:pPr indent="0" marL="0">
              <a:buNone/>
            </a:pPr>
            <a:r>
              <a:rPr lang="en-US" sz="1800" dirty="0">
                <a:solidFill>
                  <a:srgbClr val="2A2238"/>
                </a:solidFill>
                <a:latin typeface="Alexandria" pitchFamily="34" charset="0"/>
                <a:ea typeface="Alexandria" pitchFamily="34" charset="-122"/>
                <a:cs typeface="Alexandria" pitchFamily="34" charset="-120"/>
              </a:rPr>
              <a:t> để chọn khách sạn và các nhà cung cấp.</a:t>
            </a:r>
            <a:endParaRPr lang="en-US" sz="1800" dirty="0"/>
          </a:p>
        </p:txBody>
      </p:sp>
      <p:sp>
        <p:nvSpPr>
          <p:cNvPr id="30" name="Shape 27"/>
          <p:cNvSpPr/>
          <p:nvPr/>
        </p:nvSpPr>
        <p:spPr>
          <a:xfrm>
            <a:off x="548640" y="4343400"/>
            <a:ext cx="5410048" cy="1005840"/>
          </a:xfrm>
          <a:prstGeom prst="roundRect">
            <a:avLst>
              <a:gd name="adj" fmla="val 10909"/>
            </a:avLst>
          </a:prstGeom>
          <a:solidFill>
            <a:srgbClr val="FFFFFF"/>
          </a:solidFill>
          <a:ln w="12700">
            <a:solidFill>
              <a:srgbClr val="DCD7C8"/>
            </a:solidFill>
            <a:prstDash val="solid"/>
          </a:ln>
        </p:spPr>
      </p:sp>
      <p:sp>
        <p:nvSpPr>
          <p:cNvPr id="31" name="Shape 28"/>
          <p:cNvSpPr/>
          <p:nvPr/>
        </p:nvSpPr>
        <p:spPr>
          <a:xfrm>
            <a:off x="777240" y="4526280"/>
            <a:ext cx="640080" cy="640080"/>
          </a:xfrm>
          <a:prstGeom prst="ellipse">
            <a:avLst/>
          </a:prstGeom>
          <a:solidFill>
            <a:srgbClr val="FF9259"/>
          </a:solidFill>
          <a:ln w="12700">
            <a:solidFill>
              <a:srgbClr val="FF9259"/>
            </a:solidFill>
            <a:prstDash val="solid"/>
          </a:ln>
        </p:spPr>
      </p:sp>
      <p:sp>
        <p:nvSpPr>
          <p:cNvPr id="32" name="Text 29"/>
          <p:cNvSpPr txBox="1"/>
          <p:nvPr/>
        </p:nvSpPr>
        <p:spPr>
          <a:xfrm>
            <a:off x="777240" y="4526280"/>
            <a:ext cx="640080" cy="640080"/>
          </a:xfrm>
          <a:prstGeom prst="rect">
            <a:avLst/>
          </a:prstGeom>
          <a:noFill/>
          <a:ln/>
        </p:spPr>
        <p:txBody>
          <a:bodyPr wrap="square" lIns="0" tIns="0" rIns="0" bIns="0" rtlCol="0" anchor="ctr"/>
          <a:lstStyle/>
          <a:p>
            <a:pPr algn="ctr" indent="0" marL="0">
              <a:buNone/>
            </a:pPr>
            <a:r>
              <a:rPr lang="en-US" sz="2380" b="1" dirty="0">
                <a:solidFill>
                  <a:srgbClr val="2A2238"/>
                </a:solidFill>
                <a:latin typeface="Alexandria" pitchFamily="34" charset="0"/>
                <a:ea typeface="Alexandria" pitchFamily="34" charset="-122"/>
                <a:cs typeface="Alexandria" pitchFamily="34" charset="-120"/>
              </a:rPr>
              <a:t>A</a:t>
            </a:r>
            <a:endParaRPr lang="en-US" sz="2380" dirty="0"/>
          </a:p>
        </p:txBody>
      </p:sp>
      <p:sp>
        <p:nvSpPr>
          <p:cNvPr id="33" name="Text 30"/>
          <p:cNvSpPr txBox="1"/>
          <p:nvPr/>
        </p:nvSpPr>
        <p:spPr>
          <a:xfrm>
            <a:off x="1600200" y="4343400"/>
            <a:ext cx="4175608" cy="1005840"/>
          </a:xfrm>
          <a:prstGeom prst="rect">
            <a:avLst/>
          </a:prstGeom>
          <a:noFill/>
          <a:ln/>
        </p:spPr>
        <p:txBody>
          <a:bodyPr wrap="square" lIns="0" tIns="0" rIns="0" bIns="0" rtlCol="0" anchor="ctr"/>
          <a:lstStyle/>
          <a:p>
            <a:pPr indent="0" marL="0">
              <a:buNone/>
            </a:pPr>
            <a:r>
              <a:rPr lang="en-US" sz="1800" dirty="0">
                <a:solidFill>
                  <a:srgbClr val="2A2238"/>
                </a:solidFill>
                <a:latin typeface="Alexandria" pitchFamily="34" charset="0"/>
                <a:ea typeface="Alexandria" pitchFamily="34" charset="-122"/>
                <a:cs typeface="Alexandria" pitchFamily="34" charset="-120"/>
              </a:rPr>
              <a:t>Gọi ba khách sạn quen hỏi giá</a:t>
            </a:r>
            <a:endParaRPr lang="en-US" sz="1800" dirty="0"/>
          </a:p>
        </p:txBody>
      </p:sp>
      <p:sp>
        <p:nvSpPr>
          <p:cNvPr id="34" name="Shape 31"/>
          <p:cNvSpPr/>
          <p:nvPr/>
        </p:nvSpPr>
        <p:spPr>
          <a:xfrm>
            <a:off x="6233008" y="4343400"/>
            <a:ext cx="5410048" cy="1005840"/>
          </a:xfrm>
          <a:prstGeom prst="roundRect">
            <a:avLst>
              <a:gd name="adj" fmla="val 10909"/>
            </a:avLst>
          </a:prstGeom>
          <a:solidFill>
            <a:srgbClr val="FFFFFF"/>
          </a:solidFill>
          <a:ln w="12700">
            <a:solidFill>
              <a:srgbClr val="DCD7C8"/>
            </a:solidFill>
            <a:prstDash val="solid"/>
          </a:ln>
        </p:spPr>
      </p:sp>
      <p:sp>
        <p:nvSpPr>
          <p:cNvPr id="35" name="Shape 32"/>
          <p:cNvSpPr/>
          <p:nvPr/>
        </p:nvSpPr>
        <p:spPr>
          <a:xfrm>
            <a:off x="6461608" y="4526280"/>
            <a:ext cx="640080" cy="640080"/>
          </a:xfrm>
          <a:prstGeom prst="ellipse">
            <a:avLst/>
          </a:prstGeom>
          <a:solidFill>
            <a:srgbClr val="962B7C"/>
          </a:solidFill>
          <a:ln w="12700">
            <a:solidFill>
              <a:srgbClr val="962B7C"/>
            </a:solidFill>
            <a:prstDash val="solid"/>
          </a:ln>
        </p:spPr>
      </p:sp>
      <p:sp>
        <p:nvSpPr>
          <p:cNvPr id="36" name="Text 33"/>
          <p:cNvSpPr txBox="1"/>
          <p:nvPr/>
        </p:nvSpPr>
        <p:spPr>
          <a:xfrm>
            <a:off x="6461608" y="4526280"/>
            <a:ext cx="640080" cy="640080"/>
          </a:xfrm>
          <a:prstGeom prst="rect">
            <a:avLst/>
          </a:prstGeom>
          <a:noFill/>
          <a:ln/>
        </p:spPr>
        <p:txBody>
          <a:bodyPr wrap="square" lIns="0" tIns="0" rIns="0" bIns="0" rtlCol="0" anchor="ctr"/>
          <a:lstStyle/>
          <a:p>
            <a:pPr algn="ctr" indent="0" marL="0">
              <a:buNone/>
            </a:pPr>
            <a:r>
              <a:rPr lang="en-US" sz="2380" b="1" dirty="0">
                <a:solidFill>
                  <a:srgbClr val="FFFFFF"/>
                </a:solidFill>
                <a:latin typeface="Alexandria" pitchFamily="34" charset="0"/>
                <a:ea typeface="Alexandria" pitchFamily="34" charset="-122"/>
                <a:cs typeface="Alexandria" pitchFamily="34" charset="-120"/>
              </a:rPr>
              <a:t>B</a:t>
            </a:r>
            <a:endParaRPr lang="en-US" sz="2380" dirty="0"/>
          </a:p>
        </p:txBody>
      </p:sp>
      <p:sp>
        <p:nvSpPr>
          <p:cNvPr id="37" name="Text 34"/>
          <p:cNvSpPr txBox="1"/>
          <p:nvPr/>
        </p:nvSpPr>
        <p:spPr>
          <a:xfrm>
            <a:off x="7284568" y="4343400"/>
            <a:ext cx="4175608" cy="1005840"/>
          </a:xfrm>
          <a:prstGeom prst="rect">
            <a:avLst/>
          </a:prstGeom>
          <a:noFill/>
          <a:ln/>
        </p:spPr>
        <p:txBody>
          <a:bodyPr wrap="square" lIns="0" tIns="0" rIns="0" bIns="0" rtlCol="0" anchor="ctr"/>
          <a:lstStyle/>
          <a:p>
            <a:pPr indent="0" marL="0">
              <a:buNone/>
            </a:pPr>
            <a:r>
              <a:rPr lang="en-US" sz="1800" dirty="0">
                <a:solidFill>
                  <a:srgbClr val="2A2238"/>
                </a:solidFill>
                <a:latin typeface="Alexandria" pitchFamily="34" charset="0"/>
                <a:ea typeface="Alexandria" pitchFamily="34" charset="-122"/>
                <a:cs typeface="Alexandria" pitchFamily="34" charset="-120"/>
              </a:rPr>
              <a:t>Gửi cùng một bộ yêu cầu bằng văn bản cho cả ba</a:t>
            </a:r>
            <a:endParaRPr lang="en-US" sz="1800" dirty="0"/>
          </a:p>
        </p:txBody>
      </p:sp>
      <p:sp>
        <p:nvSpPr>
          <p:cNvPr id="38" name="Text 35"/>
          <p:cNvSpPr txBox="1"/>
          <p:nvPr/>
        </p:nvSpPr>
        <p:spPr>
          <a:xfrm>
            <a:off x="548640" y="5532120"/>
            <a:ext cx="11094415" cy="457200"/>
          </a:xfrm>
          <a:prstGeom prst="rect">
            <a:avLst/>
          </a:prstGeom>
          <a:noFill/>
          <a:ln/>
        </p:spPr>
        <p:txBody>
          <a:bodyPr wrap="square" lIns="0" tIns="0" rIns="0" bIns="0" rtlCol="0" anchor="ctr"/>
          <a:lstStyle/>
          <a:p>
            <a:pPr indent="0" marL="0">
              <a:buNone/>
            </a:pPr>
            <a:r>
              <a:rPr lang="en-US" sz="1600" b="1" dirty="0">
                <a:solidFill>
                  <a:srgbClr val="962B7C"/>
                </a:solidFill>
                <a:latin typeface="Alexandria" pitchFamily="34" charset="0"/>
                <a:ea typeface="Alexandria" pitchFamily="34" charset="-122"/>
                <a:cs typeface="Alexandria" pitchFamily="34" charset="-120"/>
              </a:rPr>
              <a:t>Giơ tay: bạn chọn A hay B?</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655064"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165506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10.1 Quy trình mua</a:t>
            </a:r>
            <a:endParaRPr lang="en-US" sz="1000" dirty="0"/>
          </a:p>
        </p:txBody>
      </p:sp>
      <p:sp>
        <p:nvSpPr>
          <p:cNvPr id="6" name="Shape 4"/>
          <p:cNvSpPr/>
          <p:nvPr/>
        </p:nvSpPr>
        <p:spPr>
          <a:xfrm>
            <a:off x="3145536" y="274320"/>
            <a:ext cx="1266444"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145536" y="274320"/>
            <a:ext cx="126644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10.2 Địa điểm</a:t>
            </a:r>
            <a:endParaRPr lang="en-US" sz="1000" dirty="0"/>
          </a:p>
        </p:txBody>
      </p:sp>
      <p:sp>
        <p:nvSpPr>
          <p:cNvPr id="8" name="Shape 6"/>
          <p:cNvSpPr/>
          <p:nvPr/>
        </p:nvSpPr>
        <p:spPr>
          <a:xfrm>
            <a:off x="4521708" y="274320"/>
            <a:ext cx="2354580"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521708" y="274320"/>
            <a:ext cx="235458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10.3 Hành trình Key Account</a:t>
            </a:r>
            <a:endParaRPr lang="en-US" sz="1000" dirty="0"/>
          </a:p>
        </p:txBody>
      </p:sp>
      <p:sp>
        <p:nvSpPr>
          <p:cNvPr id="10" name="Shape 8"/>
          <p:cNvSpPr/>
          <p:nvPr/>
        </p:nvSpPr>
        <p:spPr>
          <a:xfrm>
            <a:off x="6986016"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986016"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384048" cy="384048"/>
          </a:xfrm>
          <a:prstGeom prst="roundRect">
            <a:avLst>
              <a:gd name="adj" fmla="val 18000"/>
            </a:avLst>
          </a:prstGeom>
          <a:solidFill>
            <a:srgbClr val="FFFFFF"/>
          </a:solidFill>
          <a:ln w="12700">
            <a:solidFill>
              <a:srgbClr val="2A2238"/>
            </a:solidFill>
            <a:prstDash val="solid"/>
          </a:ln>
        </p:spPr>
      </p:sp>
      <p:sp>
        <p:nvSpPr>
          <p:cNvPr id="13" name="Shape 11"/>
          <p:cNvSpPr/>
          <p:nvPr/>
        </p:nvSpPr>
        <p:spPr>
          <a:xfrm>
            <a:off x="11343498" y="265542"/>
            <a:ext cx="215067" cy="53767"/>
          </a:xfrm>
          <a:prstGeom prst="rect">
            <a:avLst/>
          </a:prstGeom>
          <a:solidFill>
            <a:srgbClr val="962B7C"/>
          </a:solidFill>
          <a:ln w="12700">
            <a:solidFill>
              <a:srgbClr val="962B7C"/>
            </a:solidFill>
            <a:prstDash val="solid"/>
          </a:ln>
        </p:spPr>
      </p:sp>
      <p:sp>
        <p:nvSpPr>
          <p:cNvPr id="14" name="Shape 12"/>
          <p:cNvSpPr/>
          <p:nvPr/>
        </p:nvSpPr>
        <p:spPr>
          <a:xfrm>
            <a:off x="11335817" y="380756"/>
            <a:ext cx="76810" cy="76810"/>
          </a:xfrm>
          <a:prstGeom prst="ellipse">
            <a:avLst/>
          </a:prstGeom>
          <a:solidFill>
            <a:srgbClr val="FF9259"/>
          </a:solidFill>
          <a:ln w="12700">
            <a:solidFill>
              <a:srgbClr val="FF9259"/>
            </a:solidFill>
            <a:prstDash val="solid"/>
          </a:ln>
        </p:spPr>
      </p:sp>
      <p:sp>
        <p:nvSpPr>
          <p:cNvPr id="15" name="Shape 13"/>
          <p:cNvSpPr/>
          <p:nvPr/>
        </p:nvSpPr>
        <p:spPr>
          <a:xfrm>
            <a:off x="11489436" y="380756"/>
            <a:ext cx="76810" cy="76810"/>
          </a:xfrm>
          <a:prstGeom prst="ellipse">
            <a:avLst/>
          </a:prstGeom>
          <a:solidFill>
            <a:srgbClr val="09A1E5"/>
          </a:solidFill>
          <a:ln w="12700">
            <a:solidFill>
              <a:srgbClr val="09A1E5"/>
            </a:solidFill>
            <a:prstDash val="solid"/>
          </a:ln>
        </p:spPr>
      </p:sp>
      <p:sp>
        <p:nvSpPr>
          <p:cNvPr id="16" name="Shape 14"/>
          <p:cNvSpPr/>
          <p:nvPr/>
        </p:nvSpPr>
        <p:spPr>
          <a:xfrm>
            <a:off x="11335817" y="488290"/>
            <a:ext cx="76810" cy="76810"/>
          </a:xfrm>
          <a:prstGeom prst="ellipse">
            <a:avLst/>
          </a:prstGeom>
          <a:solidFill>
            <a:srgbClr val="49B296"/>
          </a:solidFill>
          <a:ln w="12700">
            <a:solidFill>
              <a:srgbClr val="49B296"/>
            </a:solidFill>
            <a:prstDash val="solid"/>
          </a:ln>
        </p:spPr>
      </p:sp>
      <p:sp>
        <p:nvSpPr>
          <p:cNvPr id="17" name="Shape 15"/>
          <p:cNvSpPr/>
          <p:nvPr/>
        </p:nvSpPr>
        <p:spPr>
          <a:xfrm>
            <a:off x="11489436" y="488290"/>
            <a:ext cx="76810" cy="76810"/>
          </a:xfrm>
          <a:prstGeom prst="ellipse">
            <a:avLst/>
          </a:prstGeom>
          <a:solidFill>
            <a:srgbClr val="FF5178"/>
          </a:solidFill>
          <a:ln w="12700">
            <a:solidFill>
              <a:srgbClr val="FF5178"/>
            </a:solidFill>
            <a:prstDash val="solid"/>
          </a:ln>
        </p:spPr>
      </p:sp>
      <p:sp>
        <p:nvSpPr>
          <p:cNvPr id="18" name="Text 16"/>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Buổi 7 là chiến lược, Buổi 10 là tác nghiệp</a:t>
            </a:r>
            <a:endParaRPr lang="en-US" sz="2600" dirty="0"/>
          </a:p>
        </p:txBody>
      </p:sp>
      <p:sp>
        <p:nvSpPr>
          <p:cNvPr id="19" name="Text 17"/>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10   3</a:t>
            </a:r>
            <a:endParaRPr lang="en-US" sz="1000" dirty="0"/>
          </a:p>
        </p:txBody>
      </p:sp>
      <p:sp>
        <p:nvSpPr>
          <p:cNvPr id="21" name="Shape 18"/>
          <p:cNvSpPr/>
          <p:nvPr/>
        </p:nvSpPr>
        <p:spPr>
          <a:xfrm>
            <a:off x="2468880" y="1783080"/>
            <a:ext cx="4495648" cy="502920"/>
          </a:xfrm>
          <a:prstGeom prst="roundRect">
            <a:avLst>
              <a:gd name="adj" fmla="val 21818"/>
            </a:avLst>
          </a:prstGeom>
          <a:solidFill>
            <a:srgbClr val="962B7C"/>
          </a:solidFill>
          <a:ln w="12700">
            <a:solidFill>
              <a:srgbClr val="962B7C"/>
            </a:solidFill>
            <a:prstDash val="solid"/>
          </a:ln>
        </p:spPr>
      </p:sp>
      <p:sp>
        <p:nvSpPr>
          <p:cNvPr id="22" name="Text 19"/>
          <p:cNvSpPr txBox="1"/>
          <p:nvPr/>
        </p:nvSpPr>
        <p:spPr>
          <a:xfrm>
            <a:off x="2633472" y="1783080"/>
            <a:ext cx="4166464" cy="502920"/>
          </a:xfrm>
          <a:prstGeom prst="rect">
            <a:avLst/>
          </a:prstGeom>
          <a:noFill/>
          <a:ln/>
        </p:spPr>
        <p:txBody>
          <a:bodyPr wrap="square" lIns="0" tIns="0" rIns="0" bIns="0" rtlCol="0" anchor="ctr"/>
          <a:lstStyle/>
          <a:p>
            <a:pPr indent="0" marL="0">
              <a:buNone/>
            </a:pPr>
            <a:r>
              <a:rPr lang="en-US" sz="1500" b="1" dirty="0">
                <a:solidFill>
                  <a:srgbClr val="FFFFFF"/>
                </a:solidFill>
                <a:latin typeface="Alexandria" pitchFamily="34" charset="0"/>
                <a:ea typeface="Alexandria" pitchFamily="34" charset="-122"/>
                <a:cs typeface="Alexandria" pitchFamily="34" charset="-120"/>
              </a:rPr>
              <a:t>Buổi 7 — chiến lược</a:t>
            </a:r>
            <a:endParaRPr lang="en-US" sz="1500" dirty="0"/>
          </a:p>
        </p:txBody>
      </p:sp>
      <p:sp>
        <p:nvSpPr>
          <p:cNvPr id="23" name="Shape 20"/>
          <p:cNvSpPr/>
          <p:nvPr/>
        </p:nvSpPr>
        <p:spPr>
          <a:xfrm>
            <a:off x="7055968" y="1783080"/>
            <a:ext cx="4495648" cy="502920"/>
          </a:xfrm>
          <a:prstGeom prst="roundRect">
            <a:avLst>
              <a:gd name="adj" fmla="val 21818"/>
            </a:avLst>
          </a:prstGeom>
          <a:solidFill>
            <a:srgbClr val="09A1E5"/>
          </a:solidFill>
          <a:ln w="12700">
            <a:solidFill>
              <a:srgbClr val="09A1E5"/>
            </a:solidFill>
            <a:prstDash val="solid"/>
          </a:ln>
        </p:spPr>
      </p:sp>
      <p:sp>
        <p:nvSpPr>
          <p:cNvPr id="24" name="Text 21"/>
          <p:cNvSpPr txBox="1"/>
          <p:nvPr/>
        </p:nvSpPr>
        <p:spPr>
          <a:xfrm>
            <a:off x="7220560" y="1783080"/>
            <a:ext cx="4166464" cy="502920"/>
          </a:xfrm>
          <a:prstGeom prst="rect">
            <a:avLst/>
          </a:prstGeom>
          <a:noFill/>
          <a:ln/>
        </p:spPr>
        <p:txBody>
          <a:bodyPr wrap="square" lIns="0" tIns="0" rIns="0" bIns="0" rtlCol="0" anchor="ctr"/>
          <a:lstStyle/>
          <a:p>
            <a:pPr indent="0" marL="0">
              <a:buNone/>
            </a:pPr>
            <a:r>
              <a:rPr lang="en-US" sz="1500" b="1" dirty="0">
                <a:solidFill>
                  <a:srgbClr val="FFFFFF"/>
                </a:solidFill>
                <a:latin typeface="Alexandria" pitchFamily="34" charset="0"/>
                <a:ea typeface="Alexandria" pitchFamily="34" charset="-122"/>
                <a:cs typeface="Alexandria" pitchFamily="34" charset="-120"/>
              </a:rPr>
              <a:t>Buổi 10 — tác nghiệp</a:t>
            </a:r>
            <a:endParaRPr lang="en-US" sz="1500" dirty="0"/>
          </a:p>
        </p:txBody>
      </p:sp>
      <p:sp>
        <p:nvSpPr>
          <p:cNvPr id="25" name="Shape 22"/>
          <p:cNvSpPr/>
          <p:nvPr/>
        </p:nvSpPr>
        <p:spPr>
          <a:xfrm>
            <a:off x="548640" y="2395728"/>
            <a:ext cx="11002975" cy="868680"/>
          </a:xfrm>
          <a:prstGeom prst="rect">
            <a:avLst/>
          </a:prstGeom>
          <a:solidFill>
            <a:srgbClr val="F3F0E6"/>
          </a:solidFill>
          <a:ln w="12700">
            <a:solidFill>
              <a:srgbClr val="F3F0E6"/>
            </a:solidFill>
            <a:prstDash val="solid"/>
          </a:ln>
        </p:spPr>
      </p:sp>
      <p:sp>
        <p:nvSpPr>
          <p:cNvPr id="26" name="Text 23"/>
          <p:cNvSpPr txBox="1"/>
          <p:nvPr/>
        </p:nvSpPr>
        <p:spPr>
          <a:xfrm>
            <a:off x="713232" y="2395728"/>
            <a:ext cx="1591056" cy="86868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Câu hỏi</a:t>
            </a:r>
            <a:endParaRPr lang="en-US" sz="1500" dirty="0"/>
          </a:p>
        </p:txBody>
      </p:sp>
      <p:sp>
        <p:nvSpPr>
          <p:cNvPr id="27" name="Text 24"/>
          <p:cNvSpPr txBox="1"/>
          <p:nvPr/>
        </p:nvSpPr>
        <p:spPr>
          <a:xfrm>
            <a:off x="2633472" y="2395728"/>
            <a:ext cx="4257904" cy="868680"/>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Hạng mục quan trọng và rủi ro đến đâu? Quan hệ với nhà cung cấp nên thế nào?</a:t>
            </a:r>
            <a:endParaRPr lang="en-US" sz="1500" dirty="0"/>
          </a:p>
        </p:txBody>
      </p:sp>
      <p:sp>
        <p:nvSpPr>
          <p:cNvPr id="28" name="Text 25"/>
          <p:cNvSpPr txBox="1"/>
          <p:nvPr/>
        </p:nvSpPr>
        <p:spPr>
          <a:xfrm>
            <a:off x="7220560" y="2395728"/>
            <a:ext cx="4257904" cy="868680"/>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Mời ai, hỏi gì, chấm thế nào, kiểm tra tại chỗ ra sao?</a:t>
            </a:r>
            <a:endParaRPr lang="en-US" sz="1500" dirty="0"/>
          </a:p>
        </p:txBody>
      </p:sp>
      <p:sp>
        <p:nvSpPr>
          <p:cNvPr id="29" name="Text 26"/>
          <p:cNvSpPr txBox="1"/>
          <p:nvPr/>
        </p:nvSpPr>
        <p:spPr>
          <a:xfrm>
            <a:off x="713232" y="3319272"/>
            <a:ext cx="1591056" cy="86868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Công cụ</a:t>
            </a:r>
            <a:endParaRPr lang="en-US" sz="1500" dirty="0"/>
          </a:p>
        </p:txBody>
      </p:sp>
      <p:sp>
        <p:nvSpPr>
          <p:cNvPr id="30" name="Text 27"/>
          <p:cNvSpPr txBox="1"/>
          <p:nvPr/>
        </p:nvSpPr>
        <p:spPr>
          <a:xfrm>
            <a:off x="2633472" y="3319272"/>
            <a:ext cx="4257904" cy="868680"/>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Kraljic, Procurement vs Buying, customer of choice</a:t>
            </a:r>
            <a:endParaRPr lang="en-US" sz="1500" dirty="0"/>
          </a:p>
        </p:txBody>
      </p:sp>
      <p:sp>
        <p:nvSpPr>
          <p:cNvPr id="31" name="Text 28"/>
          <p:cNvSpPr txBox="1"/>
          <p:nvPr/>
        </p:nvSpPr>
        <p:spPr>
          <a:xfrm>
            <a:off x="7220560" y="3319272"/>
            <a:ext cx="4257904" cy="868680"/>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RFI – RFP – RFQ, bảng chấm điểm, site check, sơ đồ mặt bằng</a:t>
            </a:r>
            <a:endParaRPr lang="en-US" sz="1500" dirty="0"/>
          </a:p>
        </p:txBody>
      </p:sp>
      <p:sp>
        <p:nvSpPr>
          <p:cNvPr id="32" name="Shape 29"/>
          <p:cNvSpPr/>
          <p:nvPr/>
        </p:nvSpPr>
        <p:spPr>
          <a:xfrm>
            <a:off x="548640" y="4242816"/>
            <a:ext cx="11002975" cy="868680"/>
          </a:xfrm>
          <a:prstGeom prst="rect">
            <a:avLst/>
          </a:prstGeom>
          <a:solidFill>
            <a:srgbClr val="F3F0E6"/>
          </a:solidFill>
          <a:ln w="12700">
            <a:solidFill>
              <a:srgbClr val="F3F0E6"/>
            </a:solidFill>
            <a:prstDash val="solid"/>
          </a:ln>
        </p:spPr>
      </p:sp>
      <p:sp>
        <p:nvSpPr>
          <p:cNvPr id="33" name="Text 30"/>
          <p:cNvSpPr txBox="1"/>
          <p:nvPr/>
        </p:nvSpPr>
        <p:spPr>
          <a:xfrm>
            <a:off x="713232" y="4242816"/>
            <a:ext cx="1591056" cy="86868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Đầu ra</a:t>
            </a:r>
            <a:endParaRPr lang="en-US" sz="1500" dirty="0"/>
          </a:p>
        </p:txBody>
      </p:sp>
      <p:sp>
        <p:nvSpPr>
          <p:cNvPr id="34" name="Text 31"/>
          <p:cNvSpPr txBox="1"/>
          <p:nvPr/>
        </p:nvSpPr>
        <p:spPr>
          <a:xfrm>
            <a:off x="2633472" y="4242816"/>
            <a:ext cx="4257904" cy="868680"/>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Chiến lược cho từng hạng mục</a:t>
            </a:r>
            <a:endParaRPr lang="en-US" sz="1500" dirty="0"/>
          </a:p>
        </p:txBody>
      </p:sp>
      <p:sp>
        <p:nvSpPr>
          <p:cNvPr id="35" name="Text 32"/>
          <p:cNvSpPr txBox="1"/>
          <p:nvPr/>
        </p:nvSpPr>
        <p:spPr>
          <a:xfrm>
            <a:off x="7220560" y="4242816"/>
            <a:ext cx="4257904" cy="868680"/>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Nhà cung cấp được chọn + hồ sơ giải thích được</a:t>
            </a:r>
            <a:endParaRPr lang="en-US" sz="1500" dirty="0"/>
          </a:p>
        </p:txBody>
      </p:sp>
      <p:sp>
        <p:nvSpPr>
          <p:cNvPr id="36" name="Shape 33"/>
          <p:cNvSpPr/>
          <p:nvPr/>
        </p:nvSpPr>
        <p:spPr>
          <a:xfrm>
            <a:off x="548640" y="5257800"/>
            <a:ext cx="11094415" cy="777240"/>
          </a:xfrm>
          <a:prstGeom prst="roundRect">
            <a:avLst>
              <a:gd name="adj" fmla="val 14118"/>
            </a:avLst>
          </a:prstGeom>
          <a:solidFill>
            <a:srgbClr val="FFF3C4"/>
          </a:solidFill>
          <a:ln w="12700">
            <a:solidFill>
              <a:srgbClr val="FFD23B"/>
            </a:solidFill>
            <a:prstDash val="solid"/>
          </a:ln>
        </p:spPr>
      </p:sp>
      <p:sp>
        <p:nvSpPr>
          <p:cNvPr id="37" name="Text 34"/>
          <p:cNvSpPr txBox="1"/>
          <p:nvPr/>
        </p:nvSpPr>
        <p:spPr>
          <a:xfrm>
            <a:off x="822960" y="5257800"/>
            <a:ext cx="10545775" cy="77724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Ô Kraljic quyết định cách mua: </a:t>
            </a:r>
            <a:pPr indent="0" marL="0">
              <a:buNone/>
            </a:pPr>
            <a:r>
              <a:rPr lang="en-US" sz="1500" dirty="0">
                <a:solidFill>
                  <a:srgbClr val="2A2238"/>
                </a:solidFill>
                <a:latin typeface="Alexandria" pitchFamily="34" charset="0"/>
                <a:ea typeface="Alexandria" pitchFamily="34" charset="-122"/>
                <a:cs typeface="Alexandria" pitchFamily="34" charset="-120"/>
              </a:rPr>
              <a:t>Non-critical → hỏi giá nhanh · Strategic (ballroom tháng 12) → RFP, site check, đàm phán quan hệ</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655064"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165506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10.1 Quy trình mua</a:t>
            </a:r>
            <a:endParaRPr lang="en-US" sz="1000" dirty="0"/>
          </a:p>
        </p:txBody>
      </p:sp>
      <p:sp>
        <p:nvSpPr>
          <p:cNvPr id="6" name="Shape 4"/>
          <p:cNvSpPr/>
          <p:nvPr/>
        </p:nvSpPr>
        <p:spPr>
          <a:xfrm>
            <a:off x="3145536" y="274320"/>
            <a:ext cx="1266444"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145536" y="274320"/>
            <a:ext cx="126644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10.2 Địa điểm</a:t>
            </a:r>
            <a:endParaRPr lang="en-US" sz="1000" dirty="0"/>
          </a:p>
        </p:txBody>
      </p:sp>
      <p:sp>
        <p:nvSpPr>
          <p:cNvPr id="8" name="Shape 6"/>
          <p:cNvSpPr/>
          <p:nvPr/>
        </p:nvSpPr>
        <p:spPr>
          <a:xfrm>
            <a:off x="4521708" y="274320"/>
            <a:ext cx="2354580"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521708" y="274320"/>
            <a:ext cx="235458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10.3 Hành trình Key Account</a:t>
            </a:r>
            <a:endParaRPr lang="en-US" sz="1000" dirty="0"/>
          </a:p>
        </p:txBody>
      </p:sp>
      <p:sp>
        <p:nvSpPr>
          <p:cNvPr id="10" name="Shape 8"/>
          <p:cNvSpPr/>
          <p:nvPr/>
        </p:nvSpPr>
        <p:spPr>
          <a:xfrm>
            <a:off x="6986016"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986016"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384048" cy="384048"/>
          </a:xfrm>
          <a:prstGeom prst="roundRect">
            <a:avLst>
              <a:gd name="adj" fmla="val 18000"/>
            </a:avLst>
          </a:prstGeom>
          <a:solidFill>
            <a:srgbClr val="FFFFFF"/>
          </a:solidFill>
          <a:ln w="12700">
            <a:solidFill>
              <a:srgbClr val="2A2238"/>
            </a:solidFill>
            <a:prstDash val="solid"/>
          </a:ln>
        </p:spPr>
      </p:sp>
      <p:sp>
        <p:nvSpPr>
          <p:cNvPr id="13" name="Shape 11"/>
          <p:cNvSpPr/>
          <p:nvPr/>
        </p:nvSpPr>
        <p:spPr>
          <a:xfrm>
            <a:off x="11343498" y="265542"/>
            <a:ext cx="215067" cy="53767"/>
          </a:xfrm>
          <a:prstGeom prst="rect">
            <a:avLst/>
          </a:prstGeom>
          <a:solidFill>
            <a:srgbClr val="962B7C"/>
          </a:solidFill>
          <a:ln w="12700">
            <a:solidFill>
              <a:srgbClr val="962B7C"/>
            </a:solidFill>
            <a:prstDash val="solid"/>
          </a:ln>
        </p:spPr>
      </p:sp>
      <p:sp>
        <p:nvSpPr>
          <p:cNvPr id="14" name="Shape 12"/>
          <p:cNvSpPr/>
          <p:nvPr/>
        </p:nvSpPr>
        <p:spPr>
          <a:xfrm>
            <a:off x="11335817" y="380756"/>
            <a:ext cx="76810" cy="76810"/>
          </a:xfrm>
          <a:prstGeom prst="ellipse">
            <a:avLst/>
          </a:prstGeom>
          <a:solidFill>
            <a:srgbClr val="FF9259"/>
          </a:solidFill>
          <a:ln w="12700">
            <a:solidFill>
              <a:srgbClr val="FF9259"/>
            </a:solidFill>
            <a:prstDash val="solid"/>
          </a:ln>
        </p:spPr>
      </p:sp>
      <p:sp>
        <p:nvSpPr>
          <p:cNvPr id="15" name="Shape 13"/>
          <p:cNvSpPr/>
          <p:nvPr/>
        </p:nvSpPr>
        <p:spPr>
          <a:xfrm>
            <a:off x="11489436" y="380756"/>
            <a:ext cx="76810" cy="76810"/>
          </a:xfrm>
          <a:prstGeom prst="ellipse">
            <a:avLst/>
          </a:prstGeom>
          <a:solidFill>
            <a:srgbClr val="09A1E5"/>
          </a:solidFill>
          <a:ln w="12700">
            <a:solidFill>
              <a:srgbClr val="09A1E5"/>
            </a:solidFill>
            <a:prstDash val="solid"/>
          </a:ln>
        </p:spPr>
      </p:sp>
      <p:sp>
        <p:nvSpPr>
          <p:cNvPr id="16" name="Shape 14"/>
          <p:cNvSpPr/>
          <p:nvPr/>
        </p:nvSpPr>
        <p:spPr>
          <a:xfrm>
            <a:off x="11335817" y="488290"/>
            <a:ext cx="76810" cy="76810"/>
          </a:xfrm>
          <a:prstGeom prst="ellipse">
            <a:avLst/>
          </a:prstGeom>
          <a:solidFill>
            <a:srgbClr val="49B296"/>
          </a:solidFill>
          <a:ln w="12700">
            <a:solidFill>
              <a:srgbClr val="49B296"/>
            </a:solidFill>
            <a:prstDash val="solid"/>
          </a:ln>
        </p:spPr>
      </p:sp>
      <p:sp>
        <p:nvSpPr>
          <p:cNvPr id="17" name="Shape 15"/>
          <p:cNvSpPr/>
          <p:nvPr/>
        </p:nvSpPr>
        <p:spPr>
          <a:xfrm>
            <a:off x="11489436" y="488290"/>
            <a:ext cx="76810" cy="76810"/>
          </a:xfrm>
          <a:prstGeom prst="ellipse">
            <a:avLst/>
          </a:prstGeom>
          <a:solidFill>
            <a:srgbClr val="FF5178"/>
          </a:solidFill>
          <a:ln w="12700">
            <a:solidFill>
              <a:srgbClr val="FF5178"/>
            </a:solidFill>
            <a:prstDash val="solid"/>
          </a:ln>
        </p:spPr>
      </p:sp>
      <p:sp>
        <p:nvSpPr>
          <p:cNvPr id="18" name="Text 16"/>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RFI hỏi “ai”, RFP hỏi “giải pháp”, RFQ hỏi “giá”</a:t>
            </a:r>
            <a:endParaRPr lang="en-US" sz="2600" dirty="0"/>
          </a:p>
        </p:txBody>
      </p:sp>
      <p:sp>
        <p:nvSpPr>
          <p:cNvPr id="19" name="Text 17"/>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Bảng do người soạn tổng hợp theo cách dùng phổ biến trong ngành; RFQ theo V01 (CIPS).</a:t>
            </a:r>
            <a:endParaRPr lang="en-US" sz="1000" dirty="0"/>
          </a:p>
        </p:txBody>
      </p:sp>
      <p:sp>
        <p:nvSpPr>
          <p:cNvPr id="20" name="Text 18"/>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10   4</a:t>
            </a:r>
            <a:endParaRPr lang="en-US" sz="1000" dirty="0"/>
          </a:p>
        </p:txBody>
      </p:sp>
      <p:sp>
        <p:nvSpPr>
          <p:cNvPr id="22" name="Shape 19"/>
          <p:cNvSpPr/>
          <p:nvPr/>
        </p:nvSpPr>
        <p:spPr>
          <a:xfrm>
            <a:off x="2743200" y="1783080"/>
            <a:ext cx="2560320" cy="502920"/>
          </a:xfrm>
          <a:prstGeom prst="roundRect">
            <a:avLst>
              <a:gd name="adj" fmla="val 21818"/>
            </a:avLst>
          </a:prstGeom>
          <a:solidFill>
            <a:srgbClr val="962B7C"/>
          </a:solidFill>
          <a:ln w="12700">
            <a:solidFill>
              <a:srgbClr val="962B7C"/>
            </a:solidFill>
            <a:prstDash val="solid"/>
          </a:ln>
        </p:spPr>
      </p:sp>
      <p:sp>
        <p:nvSpPr>
          <p:cNvPr id="23" name="Text 20"/>
          <p:cNvSpPr txBox="1"/>
          <p:nvPr/>
        </p:nvSpPr>
        <p:spPr>
          <a:xfrm>
            <a:off x="2907792" y="1783080"/>
            <a:ext cx="2231136" cy="502920"/>
          </a:xfrm>
          <a:prstGeom prst="rect">
            <a:avLst/>
          </a:prstGeom>
          <a:noFill/>
          <a:ln/>
        </p:spPr>
        <p:txBody>
          <a:bodyPr wrap="square" lIns="0" tIns="0" rIns="0" bIns="0" rtlCol="0" anchor="ctr"/>
          <a:lstStyle/>
          <a:p>
            <a:pPr indent="0" marL="0">
              <a:buNone/>
            </a:pPr>
            <a:r>
              <a:rPr lang="en-US" sz="1500" b="1" dirty="0">
                <a:solidFill>
                  <a:srgbClr val="FFFFFF"/>
                </a:solidFill>
                <a:latin typeface="Alexandria" pitchFamily="34" charset="0"/>
                <a:ea typeface="Alexandria" pitchFamily="34" charset="-122"/>
                <a:cs typeface="Alexandria" pitchFamily="34" charset="-120"/>
              </a:rPr>
              <a:t>Hỏi gì</a:t>
            </a:r>
            <a:endParaRPr lang="en-US" sz="1500" dirty="0"/>
          </a:p>
        </p:txBody>
      </p:sp>
      <p:sp>
        <p:nvSpPr>
          <p:cNvPr id="24" name="Shape 21"/>
          <p:cNvSpPr/>
          <p:nvPr/>
        </p:nvSpPr>
        <p:spPr>
          <a:xfrm>
            <a:off x="5394960" y="1783080"/>
            <a:ext cx="2834640" cy="502920"/>
          </a:xfrm>
          <a:prstGeom prst="roundRect">
            <a:avLst>
              <a:gd name="adj" fmla="val 21818"/>
            </a:avLst>
          </a:prstGeom>
          <a:solidFill>
            <a:srgbClr val="09A1E5"/>
          </a:solidFill>
          <a:ln w="12700">
            <a:solidFill>
              <a:srgbClr val="09A1E5"/>
            </a:solidFill>
            <a:prstDash val="solid"/>
          </a:ln>
        </p:spPr>
      </p:sp>
      <p:sp>
        <p:nvSpPr>
          <p:cNvPr id="25" name="Text 22"/>
          <p:cNvSpPr txBox="1"/>
          <p:nvPr/>
        </p:nvSpPr>
        <p:spPr>
          <a:xfrm>
            <a:off x="5559552" y="1783080"/>
            <a:ext cx="2505456" cy="502920"/>
          </a:xfrm>
          <a:prstGeom prst="rect">
            <a:avLst/>
          </a:prstGeom>
          <a:noFill/>
          <a:ln/>
        </p:spPr>
        <p:txBody>
          <a:bodyPr wrap="square" lIns="0" tIns="0" rIns="0" bIns="0" rtlCol="0" anchor="ctr"/>
          <a:lstStyle/>
          <a:p>
            <a:pPr indent="0" marL="0">
              <a:buNone/>
            </a:pPr>
            <a:r>
              <a:rPr lang="en-US" sz="1500" b="1" dirty="0">
                <a:solidFill>
                  <a:srgbClr val="FFFFFF"/>
                </a:solidFill>
                <a:latin typeface="Alexandria" pitchFamily="34" charset="0"/>
                <a:ea typeface="Alexandria" pitchFamily="34" charset="-122"/>
                <a:cs typeface="Alexandria" pitchFamily="34" charset="-120"/>
              </a:rPr>
              <a:t>Khi nào dùng</a:t>
            </a:r>
            <a:endParaRPr lang="en-US" sz="1500" dirty="0"/>
          </a:p>
        </p:txBody>
      </p:sp>
      <p:sp>
        <p:nvSpPr>
          <p:cNvPr id="26" name="Shape 23"/>
          <p:cNvSpPr/>
          <p:nvPr/>
        </p:nvSpPr>
        <p:spPr>
          <a:xfrm>
            <a:off x="8321040" y="1783080"/>
            <a:ext cx="3322015" cy="502920"/>
          </a:xfrm>
          <a:prstGeom prst="roundRect">
            <a:avLst>
              <a:gd name="adj" fmla="val 21818"/>
            </a:avLst>
          </a:prstGeom>
          <a:solidFill>
            <a:srgbClr val="FF9259"/>
          </a:solidFill>
          <a:ln w="12700">
            <a:solidFill>
              <a:srgbClr val="FF9259"/>
            </a:solidFill>
            <a:prstDash val="solid"/>
          </a:ln>
        </p:spPr>
      </p:sp>
      <p:sp>
        <p:nvSpPr>
          <p:cNvPr id="27" name="Text 24"/>
          <p:cNvSpPr txBox="1"/>
          <p:nvPr/>
        </p:nvSpPr>
        <p:spPr>
          <a:xfrm>
            <a:off x="8485632" y="1783080"/>
            <a:ext cx="2992831" cy="50292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Ví dụ gala An Phát</a:t>
            </a:r>
            <a:endParaRPr lang="en-US" sz="1500" dirty="0"/>
          </a:p>
        </p:txBody>
      </p:sp>
      <p:sp>
        <p:nvSpPr>
          <p:cNvPr id="28" name="Shape 25"/>
          <p:cNvSpPr/>
          <p:nvPr/>
        </p:nvSpPr>
        <p:spPr>
          <a:xfrm>
            <a:off x="548640" y="2395728"/>
            <a:ext cx="11094415" cy="1097280"/>
          </a:xfrm>
          <a:prstGeom prst="rect">
            <a:avLst/>
          </a:prstGeom>
          <a:solidFill>
            <a:srgbClr val="F3F0E6"/>
          </a:solidFill>
          <a:ln w="12700">
            <a:solidFill>
              <a:srgbClr val="F3F0E6"/>
            </a:solidFill>
            <a:prstDash val="solid"/>
          </a:ln>
        </p:spPr>
      </p:sp>
      <p:sp>
        <p:nvSpPr>
          <p:cNvPr id="29" name="Text 26"/>
          <p:cNvSpPr txBox="1"/>
          <p:nvPr/>
        </p:nvSpPr>
        <p:spPr>
          <a:xfrm>
            <a:off x="713232" y="2395728"/>
            <a:ext cx="1865376" cy="109728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RFI · request for information</a:t>
            </a:r>
            <a:endParaRPr lang="en-US" sz="1500" dirty="0"/>
          </a:p>
        </p:txBody>
      </p:sp>
      <p:sp>
        <p:nvSpPr>
          <p:cNvPr id="30" name="Text 27"/>
          <p:cNvSpPr txBox="1"/>
          <p:nvPr/>
        </p:nvSpPr>
        <p:spPr>
          <a:xfrm>
            <a:off x="2907792" y="2395728"/>
            <a:ext cx="2322576" cy="1097280"/>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Nhà cung cấp là ai, làm được gì</a:t>
            </a:r>
            <a:endParaRPr lang="en-US" sz="1500" dirty="0"/>
          </a:p>
        </p:txBody>
      </p:sp>
      <p:sp>
        <p:nvSpPr>
          <p:cNvPr id="31" name="Text 28"/>
          <p:cNvSpPr txBox="1"/>
          <p:nvPr/>
        </p:nvSpPr>
        <p:spPr>
          <a:xfrm>
            <a:off x="5559552" y="2395728"/>
            <a:ext cx="2596896" cy="1097280"/>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Chưa biết thị trường; lọc danh sách</a:t>
            </a:r>
            <a:endParaRPr lang="en-US" sz="1500" dirty="0"/>
          </a:p>
        </p:txBody>
      </p:sp>
      <p:sp>
        <p:nvSpPr>
          <p:cNvPr id="32" name="Text 29"/>
          <p:cNvSpPr txBox="1"/>
          <p:nvPr/>
        </p:nvSpPr>
        <p:spPr>
          <a:xfrm>
            <a:off x="8485632" y="2395728"/>
            <a:ext cx="3084271" cy="1097280"/>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Tìm đơn vị livestream về 80 chi nhánh</a:t>
            </a:r>
            <a:endParaRPr lang="en-US" sz="1500" dirty="0"/>
          </a:p>
        </p:txBody>
      </p:sp>
      <p:sp>
        <p:nvSpPr>
          <p:cNvPr id="33" name="Text 30"/>
          <p:cNvSpPr txBox="1"/>
          <p:nvPr/>
        </p:nvSpPr>
        <p:spPr>
          <a:xfrm>
            <a:off x="713232" y="3547872"/>
            <a:ext cx="1865376" cy="109728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RFP · request for proposal</a:t>
            </a:r>
            <a:endParaRPr lang="en-US" sz="1500" dirty="0"/>
          </a:p>
        </p:txBody>
      </p:sp>
      <p:sp>
        <p:nvSpPr>
          <p:cNvPr id="34" name="Text 31"/>
          <p:cNvSpPr txBox="1"/>
          <p:nvPr/>
        </p:nvSpPr>
        <p:spPr>
          <a:xfrm>
            <a:off x="2907792" y="3547872"/>
            <a:ext cx="2322576" cy="1097280"/>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Giải pháp + giá, chấm nhiều tiêu chí</a:t>
            </a:r>
            <a:endParaRPr lang="en-US" sz="1500" dirty="0"/>
          </a:p>
        </p:txBody>
      </p:sp>
      <p:sp>
        <p:nvSpPr>
          <p:cNvPr id="35" name="Text 32"/>
          <p:cNvSpPr txBox="1"/>
          <p:nvPr/>
        </p:nvSpPr>
        <p:spPr>
          <a:xfrm>
            <a:off x="5559552" y="3547872"/>
            <a:ext cx="2596896" cy="1097280"/>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Hạng mục phức tạp, nhiều cách làm</a:t>
            </a:r>
            <a:endParaRPr lang="en-US" sz="1500" dirty="0"/>
          </a:p>
        </p:txBody>
      </p:sp>
      <p:sp>
        <p:nvSpPr>
          <p:cNvPr id="36" name="Text 33"/>
          <p:cNvSpPr txBox="1"/>
          <p:nvPr/>
        </p:nvSpPr>
        <p:spPr>
          <a:xfrm>
            <a:off x="8485632" y="3547872"/>
            <a:ext cx="3084271" cy="1097280"/>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Ballroom + F&amp;B; AV và livestream</a:t>
            </a:r>
            <a:endParaRPr lang="en-US" sz="1500" dirty="0"/>
          </a:p>
        </p:txBody>
      </p:sp>
      <p:sp>
        <p:nvSpPr>
          <p:cNvPr id="37" name="Shape 34"/>
          <p:cNvSpPr/>
          <p:nvPr/>
        </p:nvSpPr>
        <p:spPr>
          <a:xfrm>
            <a:off x="548640" y="4700016"/>
            <a:ext cx="11094415" cy="1097280"/>
          </a:xfrm>
          <a:prstGeom prst="rect">
            <a:avLst/>
          </a:prstGeom>
          <a:solidFill>
            <a:srgbClr val="F3F0E6"/>
          </a:solidFill>
          <a:ln w="12700">
            <a:solidFill>
              <a:srgbClr val="F3F0E6"/>
            </a:solidFill>
            <a:prstDash val="solid"/>
          </a:ln>
        </p:spPr>
      </p:sp>
      <p:sp>
        <p:nvSpPr>
          <p:cNvPr id="38" name="Text 35"/>
          <p:cNvSpPr txBox="1"/>
          <p:nvPr/>
        </p:nvSpPr>
        <p:spPr>
          <a:xfrm>
            <a:off x="713232" y="4700016"/>
            <a:ext cx="1865376" cy="109728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RFQ · request for quotation</a:t>
            </a:r>
            <a:endParaRPr lang="en-US" sz="1500" dirty="0"/>
          </a:p>
        </p:txBody>
      </p:sp>
      <p:sp>
        <p:nvSpPr>
          <p:cNvPr id="39" name="Text 36"/>
          <p:cNvSpPr txBox="1"/>
          <p:nvPr/>
        </p:nvSpPr>
        <p:spPr>
          <a:xfrm>
            <a:off x="2907792" y="4700016"/>
            <a:ext cx="2322576" cy="1097280"/>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Giá cho thông số đã rõ</a:t>
            </a:r>
            <a:endParaRPr lang="en-US" sz="1500" dirty="0"/>
          </a:p>
        </p:txBody>
      </p:sp>
      <p:sp>
        <p:nvSpPr>
          <p:cNvPr id="40" name="Text 37"/>
          <p:cNvSpPr txBox="1"/>
          <p:nvPr/>
        </p:nvSpPr>
        <p:spPr>
          <a:xfrm>
            <a:off x="5559552" y="4700016"/>
            <a:ext cx="2596896" cy="1097280"/>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Hạng mục chuẩn, nhiều nhà cung cấp</a:t>
            </a:r>
            <a:endParaRPr lang="en-US" sz="1500" dirty="0"/>
          </a:p>
        </p:txBody>
      </p:sp>
      <p:sp>
        <p:nvSpPr>
          <p:cNvPr id="41" name="Text 38"/>
          <p:cNvSpPr txBox="1"/>
          <p:nvPr/>
        </p:nvSpPr>
        <p:spPr>
          <a:xfrm>
            <a:off x="8485632" y="4700016"/>
            <a:ext cx="3084271" cy="1097280"/>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In backdrop, thuê xe 45 chỗ, quà theo mẫu</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655064"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165506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10.1 Quy trình mua</a:t>
            </a:r>
            <a:endParaRPr lang="en-US" sz="1000" dirty="0"/>
          </a:p>
        </p:txBody>
      </p:sp>
      <p:sp>
        <p:nvSpPr>
          <p:cNvPr id="6" name="Shape 4"/>
          <p:cNvSpPr/>
          <p:nvPr/>
        </p:nvSpPr>
        <p:spPr>
          <a:xfrm>
            <a:off x="3145536" y="274320"/>
            <a:ext cx="1266444"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145536" y="274320"/>
            <a:ext cx="126644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10.2 Địa điểm</a:t>
            </a:r>
            <a:endParaRPr lang="en-US" sz="1000" dirty="0"/>
          </a:p>
        </p:txBody>
      </p:sp>
      <p:sp>
        <p:nvSpPr>
          <p:cNvPr id="8" name="Shape 6"/>
          <p:cNvSpPr/>
          <p:nvPr/>
        </p:nvSpPr>
        <p:spPr>
          <a:xfrm>
            <a:off x="4521708" y="274320"/>
            <a:ext cx="2354580"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521708" y="274320"/>
            <a:ext cx="235458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10.3 Hành trình Key Account</a:t>
            </a:r>
            <a:endParaRPr lang="en-US" sz="1000" dirty="0"/>
          </a:p>
        </p:txBody>
      </p:sp>
      <p:sp>
        <p:nvSpPr>
          <p:cNvPr id="10" name="Shape 8"/>
          <p:cNvSpPr/>
          <p:nvPr/>
        </p:nvSpPr>
        <p:spPr>
          <a:xfrm>
            <a:off x="6986016"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986016"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384048" cy="384048"/>
          </a:xfrm>
          <a:prstGeom prst="roundRect">
            <a:avLst>
              <a:gd name="adj" fmla="val 18000"/>
            </a:avLst>
          </a:prstGeom>
          <a:solidFill>
            <a:srgbClr val="FFFFFF"/>
          </a:solidFill>
          <a:ln w="12700">
            <a:solidFill>
              <a:srgbClr val="2A2238"/>
            </a:solidFill>
            <a:prstDash val="solid"/>
          </a:ln>
        </p:spPr>
      </p:sp>
      <p:sp>
        <p:nvSpPr>
          <p:cNvPr id="13" name="Shape 11"/>
          <p:cNvSpPr/>
          <p:nvPr/>
        </p:nvSpPr>
        <p:spPr>
          <a:xfrm>
            <a:off x="11343498" y="265542"/>
            <a:ext cx="215067" cy="53767"/>
          </a:xfrm>
          <a:prstGeom prst="rect">
            <a:avLst/>
          </a:prstGeom>
          <a:solidFill>
            <a:srgbClr val="962B7C"/>
          </a:solidFill>
          <a:ln w="12700">
            <a:solidFill>
              <a:srgbClr val="962B7C"/>
            </a:solidFill>
            <a:prstDash val="solid"/>
          </a:ln>
        </p:spPr>
      </p:sp>
      <p:sp>
        <p:nvSpPr>
          <p:cNvPr id="14" name="Shape 12"/>
          <p:cNvSpPr/>
          <p:nvPr/>
        </p:nvSpPr>
        <p:spPr>
          <a:xfrm>
            <a:off x="11335817" y="380756"/>
            <a:ext cx="76810" cy="76810"/>
          </a:xfrm>
          <a:prstGeom prst="ellipse">
            <a:avLst/>
          </a:prstGeom>
          <a:solidFill>
            <a:srgbClr val="FF9259"/>
          </a:solidFill>
          <a:ln w="12700">
            <a:solidFill>
              <a:srgbClr val="FF9259"/>
            </a:solidFill>
            <a:prstDash val="solid"/>
          </a:ln>
        </p:spPr>
      </p:sp>
      <p:sp>
        <p:nvSpPr>
          <p:cNvPr id="15" name="Shape 13"/>
          <p:cNvSpPr/>
          <p:nvPr/>
        </p:nvSpPr>
        <p:spPr>
          <a:xfrm>
            <a:off x="11489436" y="380756"/>
            <a:ext cx="76810" cy="76810"/>
          </a:xfrm>
          <a:prstGeom prst="ellipse">
            <a:avLst/>
          </a:prstGeom>
          <a:solidFill>
            <a:srgbClr val="09A1E5"/>
          </a:solidFill>
          <a:ln w="12700">
            <a:solidFill>
              <a:srgbClr val="09A1E5"/>
            </a:solidFill>
            <a:prstDash val="solid"/>
          </a:ln>
        </p:spPr>
      </p:sp>
      <p:sp>
        <p:nvSpPr>
          <p:cNvPr id="16" name="Shape 14"/>
          <p:cNvSpPr/>
          <p:nvPr/>
        </p:nvSpPr>
        <p:spPr>
          <a:xfrm>
            <a:off x="11335817" y="488290"/>
            <a:ext cx="76810" cy="76810"/>
          </a:xfrm>
          <a:prstGeom prst="ellipse">
            <a:avLst/>
          </a:prstGeom>
          <a:solidFill>
            <a:srgbClr val="49B296"/>
          </a:solidFill>
          <a:ln w="12700">
            <a:solidFill>
              <a:srgbClr val="49B296"/>
            </a:solidFill>
            <a:prstDash val="solid"/>
          </a:ln>
        </p:spPr>
      </p:sp>
      <p:sp>
        <p:nvSpPr>
          <p:cNvPr id="17" name="Shape 15"/>
          <p:cNvSpPr/>
          <p:nvPr/>
        </p:nvSpPr>
        <p:spPr>
          <a:xfrm>
            <a:off x="11489436" y="488290"/>
            <a:ext cx="76810" cy="76810"/>
          </a:xfrm>
          <a:prstGeom prst="ellipse">
            <a:avLst/>
          </a:prstGeom>
          <a:solidFill>
            <a:srgbClr val="FF5178"/>
          </a:solidFill>
          <a:ln w="12700">
            <a:solidFill>
              <a:srgbClr val="FF5178"/>
            </a:solidFill>
            <a:prstDash val="solid"/>
          </a:ln>
        </p:spPr>
      </p:sp>
      <p:sp>
        <p:nvSpPr>
          <p:cNvPr id="18" name="Text 16"/>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Mỗi hạng mục có một phương thức mua phù hợp</a:t>
            </a:r>
            <a:endParaRPr lang="en-US" sz="2600" dirty="0"/>
          </a:p>
        </p:txBody>
      </p:sp>
      <p:sp>
        <p:nvSpPr>
          <p:cNvPr id="19" name="Text 17"/>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V01: CIPS, What is procurement? — tiêu đề các phương thức chưa đối chiếu lại.</a:t>
            </a:r>
            <a:endParaRPr lang="en-US" sz="1000" dirty="0"/>
          </a:p>
        </p:txBody>
      </p:sp>
      <p:sp>
        <p:nvSpPr>
          <p:cNvPr id="20" name="Text 18"/>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10   5</a:t>
            </a:r>
            <a:endParaRPr lang="en-US" sz="1000" dirty="0"/>
          </a:p>
        </p:txBody>
      </p:sp>
      <p:sp>
        <p:nvSpPr>
          <p:cNvPr id="22" name="Shape 19"/>
          <p:cNvSpPr/>
          <p:nvPr/>
        </p:nvSpPr>
        <p:spPr>
          <a:xfrm>
            <a:off x="548640" y="1874520"/>
            <a:ext cx="2072579" cy="2834640"/>
          </a:xfrm>
          <a:prstGeom prst="roundRect">
            <a:avLst>
              <a:gd name="adj" fmla="val 5294"/>
            </a:avLst>
          </a:prstGeom>
          <a:solidFill>
            <a:srgbClr val="FFFFFF"/>
          </a:solidFill>
          <a:ln w="19050">
            <a:solidFill>
              <a:srgbClr val="FF9259"/>
            </a:solidFill>
            <a:prstDash val="solid"/>
          </a:ln>
        </p:spPr>
      </p:sp>
      <p:sp>
        <p:nvSpPr>
          <p:cNvPr id="23" name="Shape 20"/>
          <p:cNvSpPr/>
          <p:nvPr/>
        </p:nvSpPr>
        <p:spPr>
          <a:xfrm>
            <a:off x="731520" y="2057400"/>
            <a:ext cx="502920" cy="502920"/>
          </a:xfrm>
          <a:prstGeom prst="ellipse">
            <a:avLst/>
          </a:prstGeom>
          <a:solidFill>
            <a:srgbClr val="FF9259"/>
          </a:solidFill>
          <a:ln w="12700">
            <a:solidFill>
              <a:srgbClr val="FF9259"/>
            </a:solidFill>
            <a:prstDash val="solid"/>
          </a:ln>
        </p:spPr>
      </p:sp>
      <p:sp>
        <p:nvSpPr>
          <p:cNvPr id="24" name="Text 21"/>
          <p:cNvSpPr txBox="1"/>
          <p:nvPr/>
        </p:nvSpPr>
        <p:spPr>
          <a:xfrm>
            <a:off x="731520" y="2057400"/>
            <a:ext cx="502920" cy="502920"/>
          </a:xfrm>
          <a:prstGeom prst="rect">
            <a:avLst/>
          </a:prstGeom>
          <a:noFill/>
          <a:ln/>
        </p:spPr>
        <p:txBody>
          <a:bodyPr wrap="square" lIns="0" tIns="0" rIns="0" bIns="0" rtlCol="0" anchor="ctr"/>
          <a:lstStyle/>
          <a:p>
            <a:pPr algn="ctr" indent="0" marL="0">
              <a:buNone/>
            </a:pPr>
            <a:r>
              <a:rPr lang="en-US" sz="1600" b="1" dirty="0">
                <a:solidFill>
                  <a:srgbClr val="2A2238"/>
                </a:solidFill>
                <a:latin typeface="Alexandria" pitchFamily="34" charset="0"/>
                <a:ea typeface="Alexandria" pitchFamily="34" charset="-122"/>
                <a:cs typeface="Alexandria" pitchFamily="34" charset="-120"/>
              </a:rPr>
              <a:t>1</a:t>
            </a:r>
            <a:endParaRPr lang="en-US" sz="1600" dirty="0"/>
          </a:p>
        </p:txBody>
      </p:sp>
      <p:sp>
        <p:nvSpPr>
          <p:cNvPr id="25" name="Text 22"/>
          <p:cNvSpPr txBox="1"/>
          <p:nvPr/>
        </p:nvSpPr>
        <p:spPr>
          <a:xfrm>
            <a:off x="731520" y="2697480"/>
            <a:ext cx="1706819" cy="685800"/>
          </a:xfrm>
          <a:prstGeom prst="rect">
            <a:avLst/>
          </a:prstGeom>
          <a:noFill/>
          <a:ln/>
        </p:spPr>
        <p:txBody>
          <a:bodyPr wrap="square" lIns="0" tIns="0" rIns="0" bIns="0" rtlCol="0" anchor="t"/>
          <a:lstStyle/>
          <a:p>
            <a:pPr indent="0" marL="0">
              <a:buNone/>
            </a:pPr>
            <a:r>
              <a:rPr lang="en-US" sz="1600" b="1" dirty="0">
                <a:solidFill>
                  <a:srgbClr val="2A2238"/>
                </a:solidFill>
                <a:latin typeface="Alexandria" pitchFamily="34" charset="0"/>
                <a:ea typeface="Alexandria" pitchFamily="34" charset="-122"/>
                <a:cs typeface="Alexandria" pitchFamily="34" charset="-120"/>
              </a:rPr>
              <a:t>Đấu thầu rộng rãi</a:t>
            </a:r>
            <a:endParaRPr lang="en-US" sz="1600" dirty="0"/>
          </a:p>
        </p:txBody>
      </p:sp>
      <p:sp>
        <p:nvSpPr>
          <p:cNvPr id="26" name="Text 23"/>
          <p:cNvSpPr txBox="1"/>
          <p:nvPr/>
        </p:nvSpPr>
        <p:spPr>
          <a:xfrm>
            <a:off x="731520" y="3383280"/>
            <a:ext cx="1706819" cy="1234440"/>
          </a:xfrm>
          <a:prstGeom prst="rect">
            <a:avLst/>
          </a:prstGeom>
          <a:noFill/>
          <a:ln/>
        </p:spPr>
        <p:txBody>
          <a:bodyPr wrap="square" lIns="0" tIns="0" rIns="0" bIns="0" rtlCol="0" anchor="t"/>
          <a:lstStyle/>
          <a:p>
            <a:pPr indent="0" marL="0">
              <a:buNone/>
            </a:pPr>
            <a:r>
              <a:rPr lang="en-US" sz="1300" dirty="0">
                <a:solidFill>
                  <a:srgbClr val="2A2238"/>
                </a:solidFill>
                <a:latin typeface="Alexandria" pitchFamily="34" charset="0"/>
                <a:ea typeface="Alexandria" pitchFamily="34" charset="-122"/>
                <a:cs typeface="Alexandria" pitchFamily="34" charset="-120"/>
              </a:rPr>
              <a:t>Mọi bên quan tâm được dự; công bằng nhưng tốn công đánh giá</a:t>
            </a:r>
            <a:endParaRPr lang="en-US" sz="1300" dirty="0"/>
          </a:p>
        </p:txBody>
      </p:sp>
      <p:sp>
        <p:nvSpPr>
          <p:cNvPr id="27" name="Shape 24"/>
          <p:cNvSpPr/>
          <p:nvPr/>
        </p:nvSpPr>
        <p:spPr>
          <a:xfrm>
            <a:off x="2804099" y="1874520"/>
            <a:ext cx="2072579" cy="2834640"/>
          </a:xfrm>
          <a:prstGeom prst="roundRect">
            <a:avLst>
              <a:gd name="adj" fmla="val 5294"/>
            </a:avLst>
          </a:prstGeom>
          <a:solidFill>
            <a:srgbClr val="FFFFFF"/>
          </a:solidFill>
          <a:ln w="19050">
            <a:solidFill>
              <a:srgbClr val="962B7C"/>
            </a:solidFill>
            <a:prstDash val="solid"/>
          </a:ln>
        </p:spPr>
      </p:sp>
      <p:sp>
        <p:nvSpPr>
          <p:cNvPr id="28" name="Shape 25"/>
          <p:cNvSpPr/>
          <p:nvPr/>
        </p:nvSpPr>
        <p:spPr>
          <a:xfrm>
            <a:off x="2986979" y="2057400"/>
            <a:ext cx="502920" cy="502920"/>
          </a:xfrm>
          <a:prstGeom prst="ellipse">
            <a:avLst/>
          </a:prstGeom>
          <a:solidFill>
            <a:srgbClr val="962B7C"/>
          </a:solidFill>
          <a:ln w="12700">
            <a:solidFill>
              <a:srgbClr val="962B7C"/>
            </a:solidFill>
            <a:prstDash val="solid"/>
          </a:ln>
        </p:spPr>
      </p:sp>
      <p:sp>
        <p:nvSpPr>
          <p:cNvPr id="29" name="Text 26"/>
          <p:cNvSpPr txBox="1"/>
          <p:nvPr/>
        </p:nvSpPr>
        <p:spPr>
          <a:xfrm>
            <a:off x="2986979" y="20574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2</a:t>
            </a:r>
            <a:endParaRPr lang="en-US" sz="1600" dirty="0"/>
          </a:p>
        </p:txBody>
      </p:sp>
      <p:sp>
        <p:nvSpPr>
          <p:cNvPr id="30" name="Text 27"/>
          <p:cNvSpPr txBox="1"/>
          <p:nvPr/>
        </p:nvSpPr>
        <p:spPr>
          <a:xfrm>
            <a:off x="2986979" y="2697480"/>
            <a:ext cx="1706819" cy="685800"/>
          </a:xfrm>
          <a:prstGeom prst="rect">
            <a:avLst/>
          </a:prstGeom>
          <a:noFill/>
          <a:ln/>
        </p:spPr>
        <p:txBody>
          <a:bodyPr wrap="square" lIns="0" tIns="0" rIns="0" bIns="0" rtlCol="0" anchor="t"/>
          <a:lstStyle/>
          <a:p>
            <a:pPr indent="0" marL="0">
              <a:buNone/>
            </a:pPr>
            <a:r>
              <a:rPr lang="en-US" sz="1600" b="1" dirty="0">
                <a:solidFill>
                  <a:srgbClr val="2A2238"/>
                </a:solidFill>
                <a:latin typeface="Alexandria" pitchFamily="34" charset="0"/>
                <a:ea typeface="Alexandria" pitchFamily="34" charset="-122"/>
                <a:cs typeface="Alexandria" pitchFamily="34" charset="-120"/>
              </a:rPr>
              <a:t>Hai giai đoạn</a:t>
            </a:r>
            <a:endParaRPr lang="en-US" sz="1600" dirty="0"/>
          </a:p>
        </p:txBody>
      </p:sp>
      <p:sp>
        <p:nvSpPr>
          <p:cNvPr id="31" name="Text 28"/>
          <p:cNvSpPr txBox="1"/>
          <p:nvPr/>
        </p:nvSpPr>
        <p:spPr>
          <a:xfrm>
            <a:off x="2986979" y="3383280"/>
            <a:ext cx="1706819" cy="1234440"/>
          </a:xfrm>
          <a:prstGeom prst="rect">
            <a:avLst/>
          </a:prstGeom>
          <a:noFill/>
          <a:ln/>
        </p:spPr>
        <p:txBody>
          <a:bodyPr wrap="square" lIns="0" tIns="0" rIns="0" bIns="0" rtlCol="0" anchor="t"/>
          <a:lstStyle/>
          <a:p>
            <a:pPr indent="0" marL="0">
              <a:buNone/>
            </a:pPr>
            <a:r>
              <a:rPr lang="en-US" sz="1300" dirty="0">
                <a:solidFill>
                  <a:srgbClr val="2A2238"/>
                </a:solidFill>
                <a:latin typeface="Alexandria" pitchFamily="34" charset="0"/>
                <a:ea typeface="Alexandria" pitchFamily="34" charset="-122"/>
                <a:cs typeface="Alexandria" pitchFamily="34" charset="-120"/>
              </a:rPr>
              <a:t>Vòng 1 giải pháp không kèm giá; vòng 2 mới nộp giá</a:t>
            </a:r>
            <a:endParaRPr lang="en-US" sz="1300" dirty="0"/>
          </a:p>
        </p:txBody>
      </p:sp>
      <p:sp>
        <p:nvSpPr>
          <p:cNvPr id="32" name="Shape 29"/>
          <p:cNvSpPr/>
          <p:nvPr/>
        </p:nvSpPr>
        <p:spPr>
          <a:xfrm>
            <a:off x="5059558" y="1874520"/>
            <a:ext cx="2072579" cy="2834640"/>
          </a:xfrm>
          <a:prstGeom prst="roundRect">
            <a:avLst>
              <a:gd name="adj" fmla="val 5294"/>
            </a:avLst>
          </a:prstGeom>
          <a:solidFill>
            <a:srgbClr val="FFFFFF"/>
          </a:solidFill>
          <a:ln w="19050">
            <a:solidFill>
              <a:srgbClr val="09A1E5"/>
            </a:solidFill>
            <a:prstDash val="solid"/>
          </a:ln>
        </p:spPr>
      </p:sp>
      <p:sp>
        <p:nvSpPr>
          <p:cNvPr id="33" name="Shape 30"/>
          <p:cNvSpPr/>
          <p:nvPr/>
        </p:nvSpPr>
        <p:spPr>
          <a:xfrm>
            <a:off x="5242438" y="2057400"/>
            <a:ext cx="502920" cy="502920"/>
          </a:xfrm>
          <a:prstGeom prst="ellipse">
            <a:avLst/>
          </a:prstGeom>
          <a:solidFill>
            <a:srgbClr val="09A1E5"/>
          </a:solidFill>
          <a:ln w="12700">
            <a:solidFill>
              <a:srgbClr val="09A1E5"/>
            </a:solidFill>
            <a:prstDash val="solid"/>
          </a:ln>
        </p:spPr>
      </p:sp>
      <p:sp>
        <p:nvSpPr>
          <p:cNvPr id="34" name="Text 31"/>
          <p:cNvSpPr txBox="1"/>
          <p:nvPr/>
        </p:nvSpPr>
        <p:spPr>
          <a:xfrm>
            <a:off x="5242438" y="20574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3</a:t>
            </a:r>
            <a:endParaRPr lang="en-US" sz="1600" dirty="0"/>
          </a:p>
        </p:txBody>
      </p:sp>
      <p:sp>
        <p:nvSpPr>
          <p:cNvPr id="35" name="Text 32"/>
          <p:cNvSpPr txBox="1"/>
          <p:nvPr/>
        </p:nvSpPr>
        <p:spPr>
          <a:xfrm>
            <a:off x="5242438" y="2697480"/>
            <a:ext cx="1706819" cy="685800"/>
          </a:xfrm>
          <a:prstGeom prst="rect">
            <a:avLst/>
          </a:prstGeom>
          <a:noFill/>
          <a:ln/>
        </p:spPr>
        <p:txBody>
          <a:bodyPr wrap="square" lIns="0" tIns="0" rIns="0" bIns="0" rtlCol="0" anchor="t"/>
          <a:lstStyle/>
          <a:p>
            <a:pPr indent="0" marL="0">
              <a:buNone/>
            </a:pPr>
            <a:r>
              <a:rPr lang="en-US" sz="1600" b="1" dirty="0">
                <a:solidFill>
                  <a:srgbClr val="2A2238"/>
                </a:solidFill>
                <a:latin typeface="Alexandria" pitchFamily="34" charset="0"/>
                <a:ea typeface="Alexandria" pitchFamily="34" charset="-122"/>
                <a:cs typeface="Alexandria" pitchFamily="34" charset="-120"/>
              </a:rPr>
              <a:t>RFQ</a:t>
            </a:r>
            <a:endParaRPr lang="en-US" sz="1600" dirty="0"/>
          </a:p>
        </p:txBody>
      </p:sp>
      <p:sp>
        <p:nvSpPr>
          <p:cNvPr id="36" name="Text 33"/>
          <p:cNvSpPr txBox="1"/>
          <p:nvPr/>
        </p:nvSpPr>
        <p:spPr>
          <a:xfrm>
            <a:off x="5242438" y="3383280"/>
            <a:ext cx="1706819" cy="1234440"/>
          </a:xfrm>
          <a:prstGeom prst="rect">
            <a:avLst/>
          </a:prstGeom>
          <a:noFill/>
          <a:ln/>
        </p:spPr>
        <p:txBody>
          <a:bodyPr wrap="square" lIns="0" tIns="0" rIns="0" bIns="0" rtlCol="0" anchor="t"/>
          <a:lstStyle/>
          <a:p>
            <a:pPr indent="0" marL="0">
              <a:buNone/>
            </a:pPr>
            <a:r>
              <a:rPr lang="en-US" sz="1300" dirty="0">
                <a:solidFill>
                  <a:srgbClr val="2A2238"/>
                </a:solidFill>
                <a:latin typeface="Alexandria" pitchFamily="34" charset="0"/>
                <a:ea typeface="Alexandria" pitchFamily="34" charset="-122"/>
                <a:cs typeface="Alexandria" pitchFamily="34" charset="-120"/>
              </a:rPr>
              <a:t>Mời ít nhất ba nhà cung cấp báo giá</a:t>
            </a:r>
            <a:endParaRPr lang="en-US" sz="1300" dirty="0"/>
          </a:p>
        </p:txBody>
      </p:sp>
      <p:sp>
        <p:nvSpPr>
          <p:cNvPr id="37" name="Shape 34"/>
          <p:cNvSpPr/>
          <p:nvPr/>
        </p:nvSpPr>
        <p:spPr>
          <a:xfrm>
            <a:off x="7315017" y="1874520"/>
            <a:ext cx="2072579" cy="2834640"/>
          </a:xfrm>
          <a:prstGeom prst="roundRect">
            <a:avLst>
              <a:gd name="adj" fmla="val 5294"/>
            </a:avLst>
          </a:prstGeom>
          <a:solidFill>
            <a:srgbClr val="FFFFFF"/>
          </a:solidFill>
          <a:ln w="19050">
            <a:solidFill>
              <a:srgbClr val="49B296"/>
            </a:solidFill>
            <a:prstDash val="solid"/>
          </a:ln>
        </p:spPr>
      </p:sp>
      <p:sp>
        <p:nvSpPr>
          <p:cNvPr id="38" name="Shape 35"/>
          <p:cNvSpPr/>
          <p:nvPr/>
        </p:nvSpPr>
        <p:spPr>
          <a:xfrm>
            <a:off x="7497897" y="2057400"/>
            <a:ext cx="502920" cy="502920"/>
          </a:xfrm>
          <a:prstGeom prst="ellipse">
            <a:avLst/>
          </a:prstGeom>
          <a:solidFill>
            <a:srgbClr val="49B296"/>
          </a:solidFill>
          <a:ln w="12700">
            <a:solidFill>
              <a:srgbClr val="49B296"/>
            </a:solidFill>
            <a:prstDash val="solid"/>
          </a:ln>
        </p:spPr>
      </p:sp>
      <p:sp>
        <p:nvSpPr>
          <p:cNvPr id="39" name="Text 36"/>
          <p:cNvSpPr txBox="1"/>
          <p:nvPr/>
        </p:nvSpPr>
        <p:spPr>
          <a:xfrm>
            <a:off x="7497897" y="20574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4</a:t>
            </a:r>
            <a:endParaRPr lang="en-US" sz="1600" dirty="0"/>
          </a:p>
        </p:txBody>
      </p:sp>
      <p:sp>
        <p:nvSpPr>
          <p:cNvPr id="40" name="Text 37"/>
          <p:cNvSpPr txBox="1"/>
          <p:nvPr/>
        </p:nvSpPr>
        <p:spPr>
          <a:xfrm>
            <a:off x="7497897" y="2697480"/>
            <a:ext cx="1706819" cy="685800"/>
          </a:xfrm>
          <a:prstGeom prst="rect">
            <a:avLst/>
          </a:prstGeom>
          <a:noFill/>
          <a:ln/>
        </p:spPr>
        <p:txBody>
          <a:bodyPr wrap="square" lIns="0" tIns="0" rIns="0" bIns="0" rtlCol="0" anchor="t"/>
          <a:lstStyle/>
          <a:p>
            <a:pPr indent="0" marL="0">
              <a:buNone/>
            </a:pPr>
            <a:r>
              <a:rPr lang="en-US" sz="1600" b="1" dirty="0">
                <a:solidFill>
                  <a:srgbClr val="2A2238"/>
                </a:solidFill>
                <a:latin typeface="Alexandria" pitchFamily="34" charset="0"/>
                <a:ea typeface="Alexandria" pitchFamily="34" charset="-122"/>
                <a:cs typeface="Alexandria" pitchFamily="34" charset="-120"/>
              </a:rPr>
              <a:t>Đấu thầu hạn chế</a:t>
            </a:r>
            <a:endParaRPr lang="en-US" sz="1600" dirty="0"/>
          </a:p>
        </p:txBody>
      </p:sp>
      <p:sp>
        <p:nvSpPr>
          <p:cNvPr id="41" name="Text 38"/>
          <p:cNvSpPr txBox="1"/>
          <p:nvPr/>
        </p:nvSpPr>
        <p:spPr>
          <a:xfrm>
            <a:off x="7497897" y="3383280"/>
            <a:ext cx="1706819" cy="1234440"/>
          </a:xfrm>
          <a:prstGeom prst="rect">
            <a:avLst/>
          </a:prstGeom>
          <a:noFill/>
          <a:ln/>
        </p:spPr>
        <p:txBody>
          <a:bodyPr wrap="square" lIns="0" tIns="0" rIns="0" bIns="0" rtlCol="0" anchor="t"/>
          <a:lstStyle/>
          <a:p>
            <a:pPr indent="0" marL="0">
              <a:buNone/>
            </a:pPr>
            <a:r>
              <a:rPr lang="en-US" sz="1300" dirty="0">
                <a:solidFill>
                  <a:srgbClr val="2A2238"/>
                </a:solidFill>
                <a:latin typeface="Alexandria" pitchFamily="34" charset="0"/>
                <a:ea typeface="Alexandria" pitchFamily="34" charset="-122"/>
                <a:cs typeface="Alexandria" pitchFamily="34" charset="-120"/>
              </a:rPr>
              <a:t>Chỉ mời bên đã qua sàng lọc hồ sơ năng lực</a:t>
            </a:r>
            <a:endParaRPr lang="en-US" sz="1300" dirty="0"/>
          </a:p>
        </p:txBody>
      </p:sp>
      <p:sp>
        <p:nvSpPr>
          <p:cNvPr id="42" name="Shape 39"/>
          <p:cNvSpPr/>
          <p:nvPr/>
        </p:nvSpPr>
        <p:spPr>
          <a:xfrm>
            <a:off x="9570476" y="1874520"/>
            <a:ext cx="2072579" cy="2834640"/>
          </a:xfrm>
          <a:prstGeom prst="roundRect">
            <a:avLst>
              <a:gd name="adj" fmla="val 5294"/>
            </a:avLst>
          </a:prstGeom>
          <a:solidFill>
            <a:srgbClr val="FFFFFF"/>
          </a:solidFill>
          <a:ln w="19050">
            <a:solidFill>
              <a:srgbClr val="FF5178"/>
            </a:solidFill>
            <a:prstDash val="solid"/>
          </a:ln>
        </p:spPr>
      </p:sp>
      <p:sp>
        <p:nvSpPr>
          <p:cNvPr id="43" name="Shape 40"/>
          <p:cNvSpPr/>
          <p:nvPr/>
        </p:nvSpPr>
        <p:spPr>
          <a:xfrm>
            <a:off x="9753356" y="2057400"/>
            <a:ext cx="502920" cy="502920"/>
          </a:xfrm>
          <a:prstGeom prst="ellipse">
            <a:avLst/>
          </a:prstGeom>
          <a:solidFill>
            <a:srgbClr val="FF5178"/>
          </a:solidFill>
          <a:ln w="12700">
            <a:solidFill>
              <a:srgbClr val="FF5178"/>
            </a:solidFill>
            <a:prstDash val="solid"/>
          </a:ln>
        </p:spPr>
      </p:sp>
      <p:sp>
        <p:nvSpPr>
          <p:cNvPr id="44" name="Text 41"/>
          <p:cNvSpPr txBox="1"/>
          <p:nvPr/>
        </p:nvSpPr>
        <p:spPr>
          <a:xfrm>
            <a:off x="9753356" y="20574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5</a:t>
            </a:r>
            <a:endParaRPr lang="en-US" sz="1600" dirty="0"/>
          </a:p>
        </p:txBody>
      </p:sp>
      <p:sp>
        <p:nvSpPr>
          <p:cNvPr id="45" name="Text 42"/>
          <p:cNvSpPr txBox="1"/>
          <p:nvPr/>
        </p:nvSpPr>
        <p:spPr>
          <a:xfrm>
            <a:off x="9753356" y="2697480"/>
            <a:ext cx="1706819" cy="685800"/>
          </a:xfrm>
          <a:prstGeom prst="rect">
            <a:avLst/>
          </a:prstGeom>
          <a:noFill/>
          <a:ln/>
        </p:spPr>
        <p:txBody>
          <a:bodyPr wrap="square" lIns="0" tIns="0" rIns="0" bIns="0" rtlCol="0" anchor="t"/>
          <a:lstStyle/>
          <a:p>
            <a:pPr indent="0" marL="0">
              <a:buNone/>
            </a:pPr>
            <a:r>
              <a:rPr lang="en-US" sz="1600" b="1" dirty="0">
                <a:solidFill>
                  <a:srgbClr val="2A2238"/>
                </a:solidFill>
                <a:latin typeface="Alexandria" pitchFamily="34" charset="0"/>
                <a:ea typeface="Alexandria" pitchFamily="34" charset="-122"/>
                <a:cs typeface="Alexandria" pitchFamily="34" charset="-120"/>
              </a:rPr>
              <a:t>Một nguồn</a:t>
            </a:r>
            <a:endParaRPr lang="en-US" sz="1600" dirty="0"/>
          </a:p>
        </p:txBody>
      </p:sp>
      <p:sp>
        <p:nvSpPr>
          <p:cNvPr id="46" name="Text 43"/>
          <p:cNvSpPr txBox="1"/>
          <p:nvPr/>
        </p:nvSpPr>
        <p:spPr>
          <a:xfrm>
            <a:off x="9753356" y="3383280"/>
            <a:ext cx="1706819" cy="1234440"/>
          </a:xfrm>
          <a:prstGeom prst="rect">
            <a:avLst/>
          </a:prstGeom>
          <a:noFill/>
          <a:ln/>
        </p:spPr>
        <p:txBody>
          <a:bodyPr wrap="square" lIns="0" tIns="0" rIns="0" bIns="0" rtlCol="0" anchor="t"/>
          <a:lstStyle/>
          <a:p>
            <a:pPr indent="0" marL="0">
              <a:buNone/>
            </a:pPr>
            <a:r>
              <a:rPr lang="en-US" sz="1300" dirty="0">
                <a:solidFill>
                  <a:srgbClr val="2A2238"/>
                </a:solidFill>
                <a:latin typeface="Alexandria" pitchFamily="34" charset="0"/>
                <a:ea typeface="Alexandria" pitchFamily="34" charset="-122"/>
                <a:cs typeface="Alexandria" pitchFamily="34" charset="-120"/>
              </a:rPr>
              <a:t>Chỉ một bên đủ năng lực hoặc khẩn cấp — ví dụ AV độc quyền</a:t>
            </a:r>
            <a:endParaRPr lang="en-US" sz="1300" dirty="0"/>
          </a:p>
        </p:txBody>
      </p:sp>
      <p:sp>
        <p:nvSpPr>
          <p:cNvPr id="47" name="Shape 44"/>
          <p:cNvSpPr/>
          <p:nvPr/>
        </p:nvSpPr>
        <p:spPr>
          <a:xfrm>
            <a:off x="548640" y="4983480"/>
            <a:ext cx="11094415" cy="1005840"/>
          </a:xfrm>
          <a:prstGeom prst="roundRect">
            <a:avLst>
              <a:gd name="adj" fmla="val 10909"/>
            </a:avLst>
          </a:prstGeom>
          <a:solidFill>
            <a:srgbClr val="FFF3C4"/>
          </a:solidFill>
          <a:ln w="12700">
            <a:solidFill>
              <a:srgbClr val="FFD23B"/>
            </a:solidFill>
            <a:prstDash val="solid"/>
          </a:ln>
        </p:spPr>
      </p:sp>
      <p:sp>
        <p:nvSpPr>
          <p:cNvPr id="48" name="Text 45"/>
          <p:cNvSpPr txBox="1"/>
          <p:nvPr/>
        </p:nvSpPr>
        <p:spPr>
          <a:xfrm>
            <a:off x="868680" y="4983480"/>
            <a:ext cx="10454335" cy="1005840"/>
          </a:xfrm>
          <a:prstGeom prst="rect">
            <a:avLst/>
          </a:prstGeom>
          <a:noFill/>
          <a:ln/>
        </p:spPr>
        <p:txBody>
          <a:bodyPr wrap="square" lIns="0" tIns="0" rIns="0" bIns="0" rtlCol="0" anchor="ctr"/>
          <a:lstStyle/>
          <a:p>
            <a:pPr indent="0" marL="0">
              <a:buNone/>
            </a:pPr>
            <a:r>
              <a:rPr lang="en-US" sz="1800" i="1" dirty="0">
                <a:solidFill>
                  <a:srgbClr val="2A2238"/>
                </a:solidFill>
                <a:latin typeface="Alexandria" pitchFamily="34" charset="0"/>
                <a:ea typeface="Alexandria" pitchFamily="34" charset="-122"/>
                <a:cs typeface="Alexandria" pitchFamily="34" charset="-120"/>
              </a:rPr>
              <a:t>“You’ll typically pick at least three suppliers to submit quotes.” </a:t>
            </a:r>
            <a:pPr indent="0" marL="0">
              <a:buNone/>
            </a:pPr>
            <a:r>
              <a:rPr lang="en-US" sz="1200" dirty="0">
                <a:solidFill>
                  <a:srgbClr val="6E6878"/>
                </a:solidFill>
                <a:latin typeface="Alexandria" pitchFamily="34" charset="0"/>
                <a:ea typeface="Alexandria" pitchFamily="34" charset="-122"/>
                <a:cs typeface="Alexandria" pitchFamily="34" charset="-120"/>
              </a:rPr>
              <a:t>— CIPS (V01)</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655064"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165506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10.1 Quy trình mua</a:t>
            </a:r>
            <a:endParaRPr lang="en-US" sz="1000" dirty="0"/>
          </a:p>
        </p:txBody>
      </p:sp>
      <p:sp>
        <p:nvSpPr>
          <p:cNvPr id="6" name="Shape 4"/>
          <p:cNvSpPr/>
          <p:nvPr/>
        </p:nvSpPr>
        <p:spPr>
          <a:xfrm>
            <a:off x="3145536" y="274320"/>
            <a:ext cx="1266444"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145536" y="274320"/>
            <a:ext cx="126644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10.2 Địa điểm</a:t>
            </a:r>
            <a:endParaRPr lang="en-US" sz="1000" dirty="0"/>
          </a:p>
        </p:txBody>
      </p:sp>
      <p:sp>
        <p:nvSpPr>
          <p:cNvPr id="8" name="Shape 6"/>
          <p:cNvSpPr/>
          <p:nvPr/>
        </p:nvSpPr>
        <p:spPr>
          <a:xfrm>
            <a:off x="4521708" y="274320"/>
            <a:ext cx="2354580"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521708" y="274320"/>
            <a:ext cx="235458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10.3 Hành trình Key Account</a:t>
            </a:r>
            <a:endParaRPr lang="en-US" sz="1000" dirty="0"/>
          </a:p>
        </p:txBody>
      </p:sp>
      <p:sp>
        <p:nvSpPr>
          <p:cNvPr id="10" name="Shape 8"/>
          <p:cNvSpPr/>
          <p:nvPr/>
        </p:nvSpPr>
        <p:spPr>
          <a:xfrm>
            <a:off x="6986016"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986016"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384048" cy="384048"/>
          </a:xfrm>
          <a:prstGeom prst="roundRect">
            <a:avLst>
              <a:gd name="adj" fmla="val 18000"/>
            </a:avLst>
          </a:prstGeom>
          <a:solidFill>
            <a:srgbClr val="FFFFFF"/>
          </a:solidFill>
          <a:ln w="12700">
            <a:solidFill>
              <a:srgbClr val="2A2238"/>
            </a:solidFill>
            <a:prstDash val="solid"/>
          </a:ln>
        </p:spPr>
      </p:sp>
      <p:sp>
        <p:nvSpPr>
          <p:cNvPr id="13" name="Shape 11"/>
          <p:cNvSpPr/>
          <p:nvPr/>
        </p:nvSpPr>
        <p:spPr>
          <a:xfrm>
            <a:off x="11343498" y="265542"/>
            <a:ext cx="215067" cy="53767"/>
          </a:xfrm>
          <a:prstGeom prst="rect">
            <a:avLst/>
          </a:prstGeom>
          <a:solidFill>
            <a:srgbClr val="962B7C"/>
          </a:solidFill>
          <a:ln w="12700">
            <a:solidFill>
              <a:srgbClr val="962B7C"/>
            </a:solidFill>
            <a:prstDash val="solid"/>
          </a:ln>
        </p:spPr>
      </p:sp>
      <p:sp>
        <p:nvSpPr>
          <p:cNvPr id="14" name="Shape 12"/>
          <p:cNvSpPr/>
          <p:nvPr/>
        </p:nvSpPr>
        <p:spPr>
          <a:xfrm>
            <a:off x="11335817" y="380756"/>
            <a:ext cx="76810" cy="76810"/>
          </a:xfrm>
          <a:prstGeom prst="ellipse">
            <a:avLst/>
          </a:prstGeom>
          <a:solidFill>
            <a:srgbClr val="FF9259"/>
          </a:solidFill>
          <a:ln w="12700">
            <a:solidFill>
              <a:srgbClr val="FF9259"/>
            </a:solidFill>
            <a:prstDash val="solid"/>
          </a:ln>
        </p:spPr>
      </p:sp>
      <p:sp>
        <p:nvSpPr>
          <p:cNvPr id="15" name="Shape 13"/>
          <p:cNvSpPr/>
          <p:nvPr/>
        </p:nvSpPr>
        <p:spPr>
          <a:xfrm>
            <a:off x="11489436" y="380756"/>
            <a:ext cx="76810" cy="76810"/>
          </a:xfrm>
          <a:prstGeom prst="ellipse">
            <a:avLst/>
          </a:prstGeom>
          <a:solidFill>
            <a:srgbClr val="09A1E5"/>
          </a:solidFill>
          <a:ln w="12700">
            <a:solidFill>
              <a:srgbClr val="09A1E5"/>
            </a:solidFill>
            <a:prstDash val="solid"/>
          </a:ln>
        </p:spPr>
      </p:sp>
      <p:sp>
        <p:nvSpPr>
          <p:cNvPr id="16" name="Shape 14"/>
          <p:cNvSpPr/>
          <p:nvPr/>
        </p:nvSpPr>
        <p:spPr>
          <a:xfrm>
            <a:off x="11335817" y="488290"/>
            <a:ext cx="76810" cy="76810"/>
          </a:xfrm>
          <a:prstGeom prst="ellipse">
            <a:avLst/>
          </a:prstGeom>
          <a:solidFill>
            <a:srgbClr val="49B296"/>
          </a:solidFill>
          <a:ln w="12700">
            <a:solidFill>
              <a:srgbClr val="49B296"/>
            </a:solidFill>
            <a:prstDash val="solid"/>
          </a:ln>
        </p:spPr>
      </p:sp>
      <p:sp>
        <p:nvSpPr>
          <p:cNvPr id="17" name="Shape 15"/>
          <p:cNvSpPr/>
          <p:nvPr/>
        </p:nvSpPr>
        <p:spPr>
          <a:xfrm>
            <a:off x="11489436" y="488290"/>
            <a:ext cx="76810" cy="76810"/>
          </a:xfrm>
          <a:prstGeom prst="ellipse">
            <a:avLst/>
          </a:prstGeom>
          <a:solidFill>
            <a:srgbClr val="FF5178"/>
          </a:solidFill>
          <a:ln w="12700">
            <a:solidFill>
              <a:srgbClr val="FF5178"/>
            </a:solidFill>
            <a:prstDash val="solid"/>
          </a:ln>
        </p:spPr>
      </p:sp>
      <p:sp>
        <p:nvSpPr>
          <p:cNvPr id="18" name="Text 16"/>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Nova mất quyền chọn AV ngay lúc ký với khách sạn</a:t>
            </a:r>
            <a:endParaRPr lang="en-US" sz="2600" dirty="0"/>
          </a:p>
        </p:txBody>
      </p:sp>
      <p:sp>
        <p:nvSpPr>
          <p:cNvPr id="19" name="Text 17"/>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10   6</a:t>
            </a:r>
            <a:endParaRPr lang="en-US" sz="1000" dirty="0"/>
          </a:p>
        </p:txBody>
      </p:sp>
      <p:sp>
        <p:nvSpPr>
          <p:cNvPr id="21" name="Shape 18"/>
          <p:cNvSpPr/>
          <p:nvPr/>
        </p:nvSpPr>
        <p:spPr>
          <a:xfrm>
            <a:off x="548640" y="2103120"/>
            <a:ext cx="3108960" cy="1554480"/>
          </a:xfrm>
          <a:prstGeom prst="roundRect">
            <a:avLst>
              <a:gd name="adj" fmla="val 7059"/>
            </a:avLst>
          </a:prstGeom>
          <a:solidFill>
            <a:srgbClr val="DDF1FB"/>
          </a:solidFill>
          <a:ln w="19050">
            <a:solidFill>
              <a:srgbClr val="09A1E5"/>
            </a:solidFill>
            <a:prstDash val="solid"/>
          </a:ln>
        </p:spPr>
      </p:sp>
      <p:sp>
        <p:nvSpPr>
          <p:cNvPr id="22" name="Shape 19"/>
          <p:cNvSpPr/>
          <p:nvPr/>
        </p:nvSpPr>
        <p:spPr>
          <a:xfrm>
            <a:off x="777240" y="2240280"/>
            <a:ext cx="457200" cy="457200"/>
          </a:xfrm>
          <a:prstGeom prst="ellipse">
            <a:avLst/>
          </a:prstGeom>
          <a:solidFill>
            <a:srgbClr val="09A1E5"/>
          </a:solidFill>
          <a:ln w="12700">
            <a:solidFill>
              <a:srgbClr val="09A1E5"/>
            </a:solidFill>
            <a:prstDash val="solid"/>
          </a:ln>
        </p:spPr>
      </p:sp>
      <p:sp>
        <p:nvSpPr>
          <p:cNvPr id="23" name="Text 20"/>
          <p:cNvSpPr txBox="1"/>
          <p:nvPr/>
        </p:nvSpPr>
        <p:spPr>
          <a:xfrm>
            <a:off x="777240" y="22402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lexandria" pitchFamily="34" charset="0"/>
                <a:ea typeface="Alexandria" pitchFamily="34" charset="-122"/>
                <a:cs typeface="Alexandria" pitchFamily="34" charset="-120"/>
              </a:rPr>
              <a:t>1</a:t>
            </a:r>
            <a:endParaRPr lang="en-US" sz="1500" dirty="0"/>
          </a:p>
        </p:txBody>
      </p:sp>
      <p:sp>
        <p:nvSpPr>
          <p:cNvPr id="24" name="Text 21"/>
          <p:cNvSpPr txBox="1"/>
          <p:nvPr/>
        </p:nvSpPr>
        <p:spPr>
          <a:xfrm>
            <a:off x="777240" y="2743200"/>
            <a:ext cx="2651760" cy="777240"/>
          </a:xfrm>
          <a:prstGeom prst="rect">
            <a:avLst/>
          </a:prstGeom>
          <a:noFill/>
          <a:ln/>
        </p:spPr>
        <p:txBody>
          <a:bodyPr wrap="square" lIns="0" tIns="0" rIns="0" bIns="0" rtlCol="0" anchor="t"/>
          <a:lstStyle/>
          <a:p>
            <a:pPr indent="0" marL="0">
              <a:buNone/>
            </a:pPr>
            <a:r>
              <a:rPr lang="en-US" sz="1900" b="1" dirty="0">
                <a:solidFill>
                  <a:srgbClr val="2A2238"/>
                </a:solidFill>
                <a:latin typeface="Alexandria" pitchFamily="34" charset="0"/>
                <a:ea typeface="Alexandria" pitchFamily="34" charset="-122"/>
                <a:cs typeface="Alexandria" pitchFamily="34" charset="-120"/>
              </a:rPr>
              <a:t>Chọn và ký khách sạn</a:t>
            </a:r>
            <a:endParaRPr lang="en-US" sz="1900" dirty="0"/>
          </a:p>
        </p:txBody>
      </p:sp>
      <p:sp>
        <p:nvSpPr>
          <p:cNvPr id="25" name="Shape 22"/>
          <p:cNvSpPr/>
          <p:nvPr/>
        </p:nvSpPr>
        <p:spPr>
          <a:xfrm>
            <a:off x="3749040" y="2880360"/>
            <a:ext cx="502920" cy="914"/>
          </a:xfrm>
          <a:prstGeom prst="line">
            <a:avLst/>
          </a:prstGeom>
          <a:noFill/>
          <a:ln w="38100">
            <a:solidFill>
              <a:srgbClr val="2A2238"/>
            </a:solidFill>
            <a:prstDash val="solid"/>
            <a:tailEnd type="triangle"/>
          </a:ln>
        </p:spPr>
      </p:sp>
      <p:sp>
        <p:nvSpPr>
          <p:cNvPr id="26" name="Shape 23"/>
          <p:cNvSpPr/>
          <p:nvPr/>
        </p:nvSpPr>
        <p:spPr>
          <a:xfrm>
            <a:off x="4343400" y="2103120"/>
            <a:ext cx="3108960" cy="1554480"/>
          </a:xfrm>
          <a:prstGeom prst="roundRect">
            <a:avLst>
              <a:gd name="adj" fmla="val 7059"/>
            </a:avLst>
          </a:prstGeom>
          <a:solidFill>
            <a:srgbClr val="FFE9DE"/>
          </a:solidFill>
          <a:ln w="19050">
            <a:solidFill>
              <a:srgbClr val="FF9259"/>
            </a:solidFill>
            <a:prstDash val="solid"/>
          </a:ln>
        </p:spPr>
      </p:sp>
      <p:sp>
        <p:nvSpPr>
          <p:cNvPr id="27" name="Shape 24"/>
          <p:cNvSpPr/>
          <p:nvPr/>
        </p:nvSpPr>
        <p:spPr>
          <a:xfrm>
            <a:off x="4572000" y="2240280"/>
            <a:ext cx="457200" cy="457200"/>
          </a:xfrm>
          <a:prstGeom prst="ellipse">
            <a:avLst/>
          </a:prstGeom>
          <a:solidFill>
            <a:srgbClr val="FF9259"/>
          </a:solidFill>
          <a:ln w="12700">
            <a:solidFill>
              <a:srgbClr val="FF9259"/>
            </a:solidFill>
            <a:prstDash val="solid"/>
          </a:ln>
        </p:spPr>
      </p:sp>
      <p:sp>
        <p:nvSpPr>
          <p:cNvPr id="28" name="Text 25"/>
          <p:cNvSpPr txBox="1"/>
          <p:nvPr/>
        </p:nvSpPr>
        <p:spPr>
          <a:xfrm>
            <a:off x="4572000" y="2240280"/>
            <a:ext cx="457200" cy="457200"/>
          </a:xfrm>
          <a:prstGeom prst="rect">
            <a:avLst/>
          </a:prstGeom>
          <a:noFill/>
          <a:ln/>
        </p:spPr>
        <p:txBody>
          <a:bodyPr wrap="square" lIns="0" tIns="0" rIns="0" bIns="0" rtlCol="0" anchor="ctr"/>
          <a:lstStyle/>
          <a:p>
            <a:pPr algn="ctr" indent="0" marL="0">
              <a:buNone/>
            </a:pPr>
            <a:r>
              <a:rPr lang="en-US" sz="1500" b="1" dirty="0">
                <a:solidFill>
                  <a:srgbClr val="2A2238"/>
                </a:solidFill>
                <a:latin typeface="Alexandria" pitchFamily="34" charset="0"/>
                <a:ea typeface="Alexandria" pitchFamily="34" charset="-122"/>
                <a:cs typeface="Alexandria" pitchFamily="34" charset="-120"/>
              </a:rPr>
              <a:t>2</a:t>
            </a:r>
            <a:endParaRPr lang="en-US" sz="1500" dirty="0"/>
          </a:p>
        </p:txBody>
      </p:sp>
      <p:sp>
        <p:nvSpPr>
          <p:cNvPr id="29" name="Text 26"/>
          <p:cNvSpPr txBox="1"/>
          <p:nvPr/>
        </p:nvSpPr>
        <p:spPr>
          <a:xfrm>
            <a:off x="4572000" y="2743200"/>
            <a:ext cx="2651760" cy="777240"/>
          </a:xfrm>
          <a:prstGeom prst="rect">
            <a:avLst/>
          </a:prstGeom>
          <a:noFill/>
          <a:ln/>
        </p:spPr>
        <p:txBody>
          <a:bodyPr wrap="square" lIns="0" tIns="0" rIns="0" bIns="0" rtlCol="0" anchor="t"/>
          <a:lstStyle/>
          <a:p>
            <a:pPr indent="0" marL="0">
              <a:buNone/>
            </a:pPr>
            <a:r>
              <a:rPr lang="en-US" sz="1900" b="1" dirty="0">
                <a:solidFill>
                  <a:srgbClr val="2A2238"/>
                </a:solidFill>
                <a:latin typeface="Alexandria" pitchFamily="34" charset="0"/>
                <a:ea typeface="Alexandria" pitchFamily="34" charset="-122"/>
                <a:cs typeface="Alexandria" pitchFamily="34" charset="-120"/>
              </a:rPr>
              <a:t>Hợp đồng có AV độc quyền</a:t>
            </a:r>
            <a:endParaRPr lang="en-US" sz="1900" dirty="0"/>
          </a:p>
        </p:txBody>
      </p:sp>
      <p:sp>
        <p:nvSpPr>
          <p:cNvPr id="30" name="Shape 27"/>
          <p:cNvSpPr/>
          <p:nvPr/>
        </p:nvSpPr>
        <p:spPr>
          <a:xfrm>
            <a:off x="7543800" y="2880360"/>
            <a:ext cx="502920" cy="914"/>
          </a:xfrm>
          <a:prstGeom prst="line">
            <a:avLst/>
          </a:prstGeom>
          <a:noFill/>
          <a:ln w="38100">
            <a:solidFill>
              <a:srgbClr val="2A2238"/>
            </a:solidFill>
            <a:prstDash val="solid"/>
            <a:tailEnd type="triangle"/>
          </a:ln>
        </p:spPr>
      </p:sp>
      <p:sp>
        <p:nvSpPr>
          <p:cNvPr id="31" name="Shape 28"/>
          <p:cNvSpPr/>
          <p:nvPr/>
        </p:nvSpPr>
        <p:spPr>
          <a:xfrm>
            <a:off x="8138160" y="2103120"/>
            <a:ext cx="3108960" cy="1554480"/>
          </a:xfrm>
          <a:prstGeom prst="roundRect">
            <a:avLst>
              <a:gd name="adj" fmla="val 7059"/>
            </a:avLst>
          </a:prstGeom>
          <a:solidFill>
            <a:srgbClr val="FFE4EA"/>
          </a:solidFill>
          <a:ln w="19050">
            <a:solidFill>
              <a:srgbClr val="FF5178"/>
            </a:solidFill>
            <a:prstDash val="solid"/>
          </a:ln>
        </p:spPr>
      </p:sp>
      <p:sp>
        <p:nvSpPr>
          <p:cNvPr id="32" name="Shape 29"/>
          <p:cNvSpPr/>
          <p:nvPr/>
        </p:nvSpPr>
        <p:spPr>
          <a:xfrm>
            <a:off x="8366760" y="2240280"/>
            <a:ext cx="457200" cy="457200"/>
          </a:xfrm>
          <a:prstGeom prst="ellipse">
            <a:avLst/>
          </a:prstGeom>
          <a:solidFill>
            <a:srgbClr val="FF5178"/>
          </a:solidFill>
          <a:ln w="12700">
            <a:solidFill>
              <a:srgbClr val="FF5178"/>
            </a:solidFill>
            <a:prstDash val="solid"/>
          </a:ln>
        </p:spPr>
      </p:sp>
      <p:sp>
        <p:nvSpPr>
          <p:cNvPr id="33" name="Text 30"/>
          <p:cNvSpPr txBox="1"/>
          <p:nvPr/>
        </p:nvSpPr>
        <p:spPr>
          <a:xfrm>
            <a:off x="8366760" y="22402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lexandria" pitchFamily="34" charset="0"/>
                <a:ea typeface="Alexandria" pitchFamily="34" charset="-122"/>
                <a:cs typeface="Alexandria" pitchFamily="34" charset="-120"/>
              </a:rPr>
              <a:t>3</a:t>
            </a:r>
            <a:endParaRPr lang="en-US" sz="1500" dirty="0"/>
          </a:p>
        </p:txBody>
      </p:sp>
      <p:sp>
        <p:nvSpPr>
          <p:cNvPr id="34" name="Text 31"/>
          <p:cNvSpPr txBox="1"/>
          <p:nvPr/>
        </p:nvSpPr>
        <p:spPr>
          <a:xfrm>
            <a:off x="8366760" y="2743200"/>
            <a:ext cx="2651760" cy="777240"/>
          </a:xfrm>
          <a:prstGeom prst="rect">
            <a:avLst/>
          </a:prstGeom>
          <a:noFill/>
          <a:ln/>
        </p:spPr>
        <p:txBody>
          <a:bodyPr wrap="square" lIns="0" tIns="0" rIns="0" bIns="0" rtlCol="0" anchor="t"/>
          <a:lstStyle/>
          <a:p>
            <a:pPr indent="0" marL="0">
              <a:buNone/>
            </a:pPr>
            <a:r>
              <a:rPr lang="en-US" sz="1900" b="1" dirty="0">
                <a:solidFill>
                  <a:srgbClr val="2A2238"/>
                </a:solidFill>
                <a:latin typeface="Alexandria" pitchFamily="34" charset="0"/>
                <a:ea typeface="Alexandria" pitchFamily="34" charset="-122"/>
                <a:cs typeface="Alexandria" pitchFamily="34" charset="-120"/>
              </a:rPr>
              <a:t>AV thành “một nguồn”</a:t>
            </a:r>
            <a:endParaRPr lang="en-US" sz="1900" dirty="0"/>
          </a:p>
        </p:txBody>
      </p:sp>
      <p:sp>
        <p:nvSpPr>
          <p:cNvPr id="35" name="Shape 32"/>
          <p:cNvSpPr/>
          <p:nvPr/>
        </p:nvSpPr>
        <p:spPr>
          <a:xfrm>
            <a:off x="548640" y="4114800"/>
            <a:ext cx="11094415" cy="1783080"/>
          </a:xfrm>
          <a:prstGeom prst="roundRect">
            <a:avLst>
              <a:gd name="adj" fmla="val 6154"/>
            </a:avLst>
          </a:prstGeom>
          <a:solidFill>
            <a:srgbClr val="FFF3C4"/>
          </a:solidFill>
          <a:ln w="12700">
            <a:solidFill>
              <a:srgbClr val="FFD23B"/>
            </a:solidFill>
            <a:prstDash val="solid"/>
          </a:ln>
        </p:spPr>
      </p:sp>
      <p:sp>
        <p:nvSpPr>
          <p:cNvPr id="36" name="Text 33"/>
          <p:cNvSpPr txBox="1"/>
          <p:nvPr/>
        </p:nvSpPr>
        <p:spPr>
          <a:xfrm>
            <a:off x="868680" y="4114800"/>
            <a:ext cx="10454335" cy="1783080"/>
          </a:xfrm>
          <a:prstGeom prst="rect">
            <a:avLst/>
          </a:prstGeom>
          <a:noFill/>
          <a:ln/>
        </p:spPr>
        <p:txBody>
          <a:bodyPr wrap="square" lIns="0" tIns="0" rIns="0" bIns="0" rtlCol="0" anchor="ctr"/>
          <a:lstStyle/>
          <a:p>
            <a:pPr indent="0" marL="0">
              <a:spcAft>
                <a:spcPts val="600"/>
              </a:spcAft>
              <a:buNone/>
            </a:pPr>
            <a:r>
              <a:rPr lang="en-US" sz="2000" b="1" dirty="0">
                <a:solidFill>
                  <a:srgbClr val="2A2238"/>
                </a:solidFill>
                <a:latin typeface="Alexandria" pitchFamily="34" charset="0"/>
                <a:ea typeface="Alexandria" pitchFamily="34" charset="-122"/>
                <a:cs typeface="Alexandria" pitchFamily="34" charset="-120"/>
              </a:rPr>
              <a:t>Lúc nào Nova mất quyền chọn AV?</a:t>
            </a:r>
            <a:endParaRPr lang="en-US" sz="2000" dirty="0"/>
          </a:p>
          <a:p>
            <a:pPr indent="0" marL="0">
              <a:spcAft>
                <a:spcPts val="600"/>
              </a:spcAft>
              <a:buNone/>
            </a:pPr>
            <a:r>
              <a:rPr lang="en-US" sz="1700" dirty="0">
                <a:solidFill>
                  <a:srgbClr val="2A2238"/>
                </a:solidFill>
                <a:latin typeface="Alexandria" pitchFamily="34" charset="0"/>
                <a:ea typeface="Alexandria" pitchFamily="34" charset="-122"/>
                <a:cs typeface="Alexandria" pitchFamily="34" charset="-120"/>
              </a:rPr>
              <a:t>Lúc ký với khách sạn → câu hỏi về AV độc quyền và phụ thu mang AV ngoài vào phải nằm </a:t>
            </a:r>
            <a:pPr indent="0" marL="0">
              <a:spcAft>
                <a:spcPts val="600"/>
              </a:spcAft>
              <a:buNone/>
            </a:pPr>
            <a:r>
              <a:rPr lang="en-US" sz="1700" b="1" dirty="0">
                <a:solidFill>
                  <a:srgbClr val="2A2238"/>
                </a:solidFill>
                <a:latin typeface="Alexandria" pitchFamily="34" charset="0"/>
                <a:ea typeface="Alexandria" pitchFamily="34" charset="-122"/>
                <a:cs typeface="Alexandria" pitchFamily="34" charset="-120"/>
              </a:rPr>
              <a:t>trong RFP gửi khách sạn.</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655064"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165506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10.1 Quy trình mua</a:t>
            </a:r>
            <a:endParaRPr lang="en-US" sz="1000" dirty="0"/>
          </a:p>
        </p:txBody>
      </p:sp>
      <p:sp>
        <p:nvSpPr>
          <p:cNvPr id="6" name="Shape 4"/>
          <p:cNvSpPr/>
          <p:nvPr/>
        </p:nvSpPr>
        <p:spPr>
          <a:xfrm>
            <a:off x="3145536" y="274320"/>
            <a:ext cx="1266444"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145536" y="274320"/>
            <a:ext cx="126644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10.2 Địa điểm</a:t>
            </a:r>
            <a:endParaRPr lang="en-US" sz="1000" dirty="0"/>
          </a:p>
        </p:txBody>
      </p:sp>
      <p:sp>
        <p:nvSpPr>
          <p:cNvPr id="8" name="Shape 6"/>
          <p:cNvSpPr/>
          <p:nvPr/>
        </p:nvSpPr>
        <p:spPr>
          <a:xfrm>
            <a:off x="4521708" y="274320"/>
            <a:ext cx="2354580"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521708" y="274320"/>
            <a:ext cx="235458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10.3 Hành trình Key Account</a:t>
            </a:r>
            <a:endParaRPr lang="en-US" sz="1000" dirty="0"/>
          </a:p>
        </p:txBody>
      </p:sp>
      <p:sp>
        <p:nvSpPr>
          <p:cNvPr id="10" name="Shape 8"/>
          <p:cNvSpPr/>
          <p:nvPr/>
        </p:nvSpPr>
        <p:spPr>
          <a:xfrm>
            <a:off x="6986016"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986016"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384048" cy="384048"/>
          </a:xfrm>
          <a:prstGeom prst="roundRect">
            <a:avLst>
              <a:gd name="adj" fmla="val 18000"/>
            </a:avLst>
          </a:prstGeom>
          <a:solidFill>
            <a:srgbClr val="FFFFFF"/>
          </a:solidFill>
          <a:ln w="12700">
            <a:solidFill>
              <a:srgbClr val="2A2238"/>
            </a:solidFill>
            <a:prstDash val="solid"/>
          </a:ln>
        </p:spPr>
      </p:sp>
      <p:sp>
        <p:nvSpPr>
          <p:cNvPr id="13" name="Shape 11"/>
          <p:cNvSpPr/>
          <p:nvPr/>
        </p:nvSpPr>
        <p:spPr>
          <a:xfrm>
            <a:off x="11343498" y="265542"/>
            <a:ext cx="215067" cy="53767"/>
          </a:xfrm>
          <a:prstGeom prst="rect">
            <a:avLst/>
          </a:prstGeom>
          <a:solidFill>
            <a:srgbClr val="962B7C"/>
          </a:solidFill>
          <a:ln w="12700">
            <a:solidFill>
              <a:srgbClr val="962B7C"/>
            </a:solidFill>
            <a:prstDash val="solid"/>
          </a:ln>
        </p:spPr>
      </p:sp>
      <p:sp>
        <p:nvSpPr>
          <p:cNvPr id="14" name="Shape 12"/>
          <p:cNvSpPr/>
          <p:nvPr/>
        </p:nvSpPr>
        <p:spPr>
          <a:xfrm>
            <a:off x="11335817" y="380756"/>
            <a:ext cx="76810" cy="76810"/>
          </a:xfrm>
          <a:prstGeom prst="ellipse">
            <a:avLst/>
          </a:prstGeom>
          <a:solidFill>
            <a:srgbClr val="FF9259"/>
          </a:solidFill>
          <a:ln w="12700">
            <a:solidFill>
              <a:srgbClr val="FF9259"/>
            </a:solidFill>
            <a:prstDash val="solid"/>
          </a:ln>
        </p:spPr>
      </p:sp>
      <p:sp>
        <p:nvSpPr>
          <p:cNvPr id="15" name="Shape 13"/>
          <p:cNvSpPr/>
          <p:nvPr/>
        </p:nvSpPr>
        <p:spPr>
          <a:xfrm>
            <a:off x="11489436" y="380756"/>
            <a:ext cx="76810" cy="76810"/>
          </a:xfrm>
          <a:prstGeom prst="ellipse">
            <a:avLst/>
          </a:prstGeom>
          <a:solidFill>
            <a:srgbClr val="09A1E5"/>
          </a:solidFill>
          <a:ln w="12700">
            <a:solidFill>
              <a:srgbClr val="09A1E5"/>
            </a:solidFill>
            <a:prstDash val="solid"/>
          </a:ln>
        </p:spPr>
      </p:sp>
      <p:sp>
        <p:nvSpPr>
          <p:cNvPr id="16" name="Shape 14"/>
          <p:cNvSpPr/>
          <p:nvPr/>
        </p:nvSpPr>
        <p:spPr>
          <a:xfrm>
            <a:off x="11335817" y="488290"/>
            <a:ext cx="76810" cy="76810"/>
          </a:xfrm>
          <a:prstGeom prst="ellipse">
            <a:avLst/>
          </a:prstGeom>
          <a:solidFill>
            <a:srgbClr val="49B296"/>
          </a:solidFill>
          <a:ln w="12700">
            <a:solidFill>
              <a:srgbClr val="49B296"/>
            </a:solidFill>
            <a:prstDash val="solid"/>
          </a:ln>
        </p:spPr>
      </p:sp>
      <p:sp>
        <p:nvSpPr>
          <p:cNvPr id="17" name="Shape 15"/>
          <p:cNvSpPr/>
          <p:nvPr/>
        </p:nvSpPr>
        <p:spPr>
          <a:xfrm>
            <a:off x="11489436" y="488290"/>
            <a:ext cx="76810" cy="76810"/>
          </a:xfrm>
          <a:prstGeom prst="ellipse">
            <a:avLst/>
          </a:prstGeom>
          <a:solidFill>
            <a:srgbClr val="FF5178"/>
          </a:solidFill>
          <a:ln w="12700">
            <a:solidFill>
              <a:srgbClr val="FF5178"/>
            </a:solidFill>
            <a:prstDash val="solid"/>
          </a:ln>
        </p:spPr>
      </p:sp>
      <p:sp>
        <p:nvSpPr>
          <p:cNvPr id="18" name="Text 16"/>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RFP tốt mang Key Account và khách của Key Account vào</a:t>
            </a:r>
            <a:endParaRPr lang="en-US" sz="2600" dirty="0"/>
          </a:p>
        </p:txBody>
      </p:sp>
      <p:sp>
        <p:nvSpPr>
          <p:cNvPr id="19" name="Text 17"/>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Khung rút gọn do người soạn dựng từ mẫu APEX RFP của Events Industry Council (V05).</a:t>
            </a:r>
            <a:endParaRPr lang="en-US" sz="1000" dirty="0"/>
          </a:p>
        </p:txBody>
      </p:sp>
      <p:sp>
        <p:nvSpPr>
          <p:cNvPr id="20" name="Text 18"/>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10   7</a:t>
            </a:r>
            <a:endParaRPr lang="en-US" sz="1000" dirty="0"/>
          </a:p>
        </p:txBody>
      </p:sp>
      <p:sp>
        <p:nvSpPr>
          <p:cNvPr id="22" name="Shape 19"/>
          <p:cNvSpPr/>
          <p:nvPr/>
        </p:nvSpPr>
        <p:spPr>
          <a:xfrm>
            <a:off x="548640" y="1828800"/>
            <a:ext cx="2636444" cy="1600200"/>
          </a:xfrm>
          <a:prstGeom prst="roundRect">
            <a:avLst>
              <a:gd name="adj" fmla="val 6857"/>
            </a:avLst>
          </a:prstGeom>
          <a:solidFill>
            <a:srgbClr val="F1E1EE"/>
          </a:solidFill>
          <a:ln w="15875">
            <a:solidFill>
              <a:srgbClr val="962B7C"/>
            </a:solidFill>
            <a:prstDash val="solid"/>
          </a:ln>
        </p:spPr>
      </p:sp>
      <p:sp>
        <p:nvSpPr>
          <p:cNvPr id="23" name="Shape 20"/>
          <p:cNvSpPr/>
          <p:nvPr/>
        </p:nvSpPr>
        <p:spPr>
          <a:xfrm>
            <a:off x="731520" y="1993392"/>
            <a:ext cx="457200" cy="457200"/>
          </a:xfrm>
          <a:prstGeom prst="ellipse">
            <a:avLst/>
          </a:prstGeom>
          <a:solidFill>
            <a:srgbClr val="962B7C"/>
          </a:solidFill>
          <a:ln w="12700">
            <a:solidFill>
              <a:srgbClr val="962B7C"/>
            </a:solidFill>
            <a:prstDash val="solid"/>
          </a:ln>
        </p:spPr>
      </p:sp>
      <p:sp>
        <p:nvSpPr>
          <p:cNvPr id="24" name="Text 21"/>
          <p:cNvSpPr txBox="1"/>
          <p:nvPr/>
        </p:nvSpPr>
        <p:spPr>
          <a:xfrm>
            <a:off x="731520" y="199339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lexandria" pitchFamily="34" charset="0"/>
                <a:ea typeface="Alexandria" pitchFamily="34" charset="-122"/>
                <a:cs typeface="Alexandria" pitchFamily="34" charset="-120"/>
              </a:rPr>
              <a:t>1</a:t>
            </a:r>
            <a:endParaRPr lang="en-US" sz="1500" dirty="0"/>
          </a:p>
        </p:txBody>
      </p:sp>
      <p:sp>
        <p:nvSpPr>
          <p:cNvPr id="25" name="Text 22"/>
          <p:cNvSpPr txBox="1"/>
          <p:nvPr/>
        </p:nvSpPr>
        <p:spPr>
          <a:xfrm>
            <a:off x="731520" y="2514600"/>
            <a:ext cx="2270684" cy="502920"/>
          </a:xfrm>
          <a:prstGeom prst="rect">
            <a:avLst/>
          </a:prstGeom>
          <a:noFill/>
          <a:ln/>
        </p:spPr>
        <p:txBody>
          <a:bodyPr wrap="square" lIns="0" tIns="0" rIns="0" bIns="0" rtlCol="0" anchor="t"/>
          <a:lstStyle/>
          <a:p>
            <a:pPr indent="0" marL="0">
              <a:buNone/>
            </a:pPr>
            <a:r>
              <a:rPr lang="en-US" sz="1400" b="1" dirty="0">
                <a:solidFill>
                  <a:srgbClr val="2A2238"/>
                </a:solidFill>
                <a:latin typeface="Alexandria" pitchFamily="34" charset="0"/>
                <a:ea typeface="Alexandria" pitchFamily="34" charset="-122"/>
                <a:cs typeface="Alexandria" pitchFamily="34" charset="-120"/>
              </a:rPr>
              <a:t>Về An Phát và mục tiêu gala</a:t>
            </a:r>
            <a:endParaRPr lang="en-US" sz="1400" dirty="0"/>
          </a:p>
        </p:txBody>
      </p:sp>
      <p:sp>
        <p:nvSpPr>
          <p:cNvPr id="26" name="Text 23"/>
          <p:cNvSpPr txBox="1"/>
          <p:nvPr/>
        </p:nvSpPr>
        <p:spPr>
          <a:xfrm>
            <a:off x="731520" y="2971800"/>
            <a:ext cx="2270684" cy="411480"/>
          </a:xfrm>
          <a:prstGeom prst="rect">
            <a:avLst/>
          </a:prstGeom>
          <a:noFill/>
          <a:ln/>
        </p:spPr>
        <p:txBody>
          <a:bodyPr wrap="square" lIns="0" tIns="0" rIns="0" bIns="0" rtlCol="0" anchor="t"/>
          <a:lstStyle/>
          <a:p>
            <a:pPr indent="0" marL="0">
              <a:buNone/>
            </a:pPr>
            <a:r>
              <a:rPr lang="en-US" sz="1100" dirty="0">
                <a:solidFill>
                  <a:srgbClr val="6E6878"/>
                </a:solidFill>
                <a:latin typeface="Alexandria" pitchFamily="34" charset="0"/>
                <a:ea typeface="Alexandria" pitchFamily="34" charset="-122"/>
                <a:cs typeface="Alexandria" pitchFamily="34" charset="-120"/>
              </a:rPr>
              <a:t>tri ân 600 lãnh đạo DN VIP</a:t>
            </a:r>
            <a:endParaRPr lang="en-US" sz="1100" dirty="0"/>
          </a:p>
        </p:txBody>
      </p:sp>
      <p:sp>
        <p:nvSpPr>
          <p:cNvPr id="27" name="Shape 24"/>
          <p:cNvSpPr/>
          <p:nvPr/>
        </p:nvSpPr>
        <p:spPr>
          <a:xfrm>
            <a:off x="3367964" y="1828800"/>
            <a:ext cx="2636444" cy="1600200"/>
          </a:xfrm>
          <a:prstGeom prst="roundRect">
            <a:avLst>
              <a:gd name="adj" fmla="val 6857"/>
            </a:avLst>
          </a:prstGeom>
          <a:solidFill>
            <a:srgbClr val="F1E1EE"/>
          </a:solidFill>
          <a:ln w="15875">
            <a:solidFill>
              <a:srgbClr val="962B7C"/>
            </a:solidFill>
            <a:prstDash val="solid"/>
          </a:ln>
        </p:spPr>
      </p:sp>
      <p:sp>
        <p:nvSpPr>
          <p:cNvPr id="28" name="Shape 25"/>
          <p:cNvSpPr/>
          <p:nvPr/>
        </p:nvSpPr>
        <p:spPr>
          <a:xfrm>
            <a:off x="3550844" y="1993392"/>
            <a:ext cx="457200" cy="457200"/>
          </a:xfrm>
          <a:prstGeom prst="ellipse">
            <a:avLst/>
          </a:prstGeom>
          <a:solidFill>
            <a:srgbClr val="962B7C"/>
          </a:solidFill>
          <a:ln w="12700">
            <a:solidFill>
              <a:srgbClr val="962B7C"/>
            </a:solidFill>
            <a:prstDash val="solid"/>
          </a:ln>
        </p:spPr>
      </p:sp>
      <p:sp>
        <p:nvSpPr>
          <p:cNvPr id="29" name="Text 26"/>
          <p:cNvSpPr txBox="1"/>
          <p:nvPr/>
        </p:nvSpPr>
        <p:spPr>
          <a:xfrm>
            <a:off x="3550844" y="199339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lexandria" pitchFamily="34" charset="0"/>
                <a:ea typeface="Alexandria" pitchFamily="34" charset="-122"/>
                <a:cs typeface="Alexandria" pitchFamily="34" charset="-120"/>
              </a:rPr>
              <a:t>2</a:t>
            </a:r>
            <a:endParaRPr lang="en-US" sz="1500" dirty="0"/>
          </a:p>
        </p:txBody>
      </p:sp>
      <p:sp>
        <p:nvSpPr>
          <p:cNvPr id="30" name="Text 27"/>
          <p:cNvSpPr txBox="1"/>
          <p:nvPr/>
        </p:nvSpPr>
        <p:spPr>
          <a:xfrm>
            <a:off x="3550844" y="2514600"/>
            <a:ext cx="2270684" cy="502920"/>
          </a:xfrm>
          <a:prstGeom prst="rect">
            <a:avLst/>
          </a:prstGeom>
          <a:noFill/>
          <a:ln/>
        </p:spPr>
        <p:txBody>
          <a:bodyPr wrap="square" lIns="0" tIns="0" rIns="0" bIns="0" rtlCol="0" anchor="t"/>
          <a:lstStyle/>
          <a:p>
            <a:pPr indent="0" marL="0">
              <a:buNone/>
            </a:pPr>
            <a:r>
              <a:rPr lang="en-US" sz="1400" b="1" dirty="0">
                <a:solidFill>
                  <a:srgbClr val="2A2238"/>
                </a:solidFill>
                <a:latin typeface="Alexandria" pitchFamily="34" charset="0"/>
                <a:ea typeface="Alexandria" pitchFamily="34" charset="-122"/>
                <a:cs typeface="Alexandria" pitchFamily="34" charset="-120"/>
              </a:rPr>
              <a:t>Hồ sơ khách</a:t>
            </a:r>
            <a:endParaRPr lang="en-US" sz="1400" dirty="0"/>
          </a:p>
        </p:txBody>
      </p:sp>
      <p:sp>
        <p:nvSpPr>
          <p:cNvPr id="31" name="Text 28"/>
          <p:cNvSpPr txBox="1"/>
          <p:nvPr/>
        </p:nvSpPr>
        <p:spPr>
          <a:xfrm>
            <a:off x="3550844" y="2971800"/>
            <a:ext cx="2270684" cy="411480"/>
          </a:xfrm>
          <a:prstGeom prst="rect">
            <a:avLst/>
          </a:prstGeom>
          <a:noFill/>
          <a:ln/>
        </p:spPr>
        <p:txBody>
          <a:bodyPr wrap="square" lIns="0" tIns="0" rIns="0" bIns="0" rtlCol="0" anchor="t"/>
          <a:lstStyle/>
          <a:p>
            <a:pPr indent="0" marL="0">
              <a:buNone/>
            </a:pPr>
            <a:r>
              <a:rPr lang="en-US" sz="1100" dirty="0">
                <a:solidFill>
                  <a:srgbClr val="6E6878"/>
                </a:solidFill>
                <a:latin typeface="Alexandria" pitchFamily="34" charset="0"/>
                <a:ea typeface="Alexandria" pitchFamily="34" charset="-122"/>
                <a:cs typeface="Alexandria" pitchFamily="34" charset="-120"/>
              </a:rPr>
              <a:t>độ tuổi, kỳ vọng, nhu cầu đặc biệt</a:t>
            </a:r>
            <a:endParaRPr lang="en-US" sz="1100" dirty="0"/>
          </a:p>
        </p:txBody>
      </p:sp>
      <p:sp>
        <p:nvSpPr>
          <p:cNvPr id="32" name="Shape 29"/>
          <p:cNvSpPr/>
          <p:nvPr/>
        </p:nvSpPr>
        <p:spPr>
          <a:xfrm>
            <a:off x="6187288" y="1828800"/>
            <a:ext cx="2636444" cy="1600200"/>
          </a:xfrm>
          <a:prstGeom prst="roundRect">
            <a:avLst>
              <a:gd name="adj" fmla="val 6857"/>
            </a:avLst>
          </a:prstGeom>
          <a:solidFill>
            <a:srgbClr val="FFFFFF"/>
          </a:solidFill>
          <a:ln w="15875">
            <a:solidFill>
              <a:srgbClr val="09A1E5"/>
            </a:solidFill>
            <a:prstDash val="solid"/>
          </a:ln>
        </p:spPr>
      </p:sp>
      <p:sp>
        <p:nvSpPr>
          <p:cNvPr id="33" name="Shape 30"/>
          <p:cNvSpPr/>
          <p:nvPr/>
        </p:nvSpPr>
        <p:spPr>
          <a:xfrm>
            <a:off x="6370168" y="1993392"/>
            <a:ext cx="457200" cy="457200"/>
          </a:xfrm>
          <a:prstGeom prst="ellipse">
            <a:avLst/>
          </a:prstGeom>
          <a:solidFill>
            <a:srgbClr val="09A1E5"/>
          </a:solidFill>
          <a:ln w="12700">
            <a:solidFill>
              <a:srgbClr val="09A1E5"/>
            </a:solidFill>
            <a:prstDash val="solid"/>
          </a:ln>
        </p:spPr>
      </p:sp>
      <p:sp>
        <p:nvSpPr>
          <p:cNvPr id="34" name="Text 31"/>
          <p:cNvSpPr txBox="1"/>
          <p:nvPr/>
        </p:nvSpPr>
        <p:spPr>
          <a:xfrm>
            <a:off x="6370168" y="199339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lexandria" pitchFamily="34" charset="0"/>
                <a:ea typeface="Alexandria" pitchFamily="34" charset="-122"/>
                <a:cs typeface="Alexandria" pitchFamily="34" charset="-120"/>
              </a:rPr>
              <a:t>3</a:t>
            </a:r>
            <a:endParaRPr lang="en-US" sz="1500" dirty="0"/>
          </a:p>
        </p:txBody>
      </p:sp>
      <p:sp>
        <p:nvSpPr>
          <p:cNvPr id="35" name="Text 32"/>
          <p:cNvSpPr txBox="1"/>
          <p:nvPr/>
        </p:nvSpPr>
        <p:spPr>
          <a:xfrm>
            <a:off x="6370168" y="2514600"/>
            <a:ext cx="2270684" cy="502920"/>
          </a:xfrm>
          <a:prstGeom prst="rect">
            <a:avLst/>
          </a:prstGeom>
          <a:noFill/>
          <a:ln/>
        </p:spPr>
        <p:txBody>
          <a:bodyPr wrap="square" lIns="0" tIns="0" rIns="0" bIns="0" rtlCol="0" anchor="t"/>
          <a:lstStyle/>
          <a:p>
            <a:pPr indent="0" marL="0">
              <a:buNone/>
            </a:pPr>
            <a:r>
              <a:rPr lang="en-US" sz="1400" b="1" dirty="0">
                <a:solidFill>
                  <a:srgbClr val="2A2238"/>
                </a:solidFill>
                <a:latin typeface="Alexandria" pitchFamily="34" charset="0"/>
                <a:ea typeface="Alexandria" pitchFamily="34" charset="-122"/>
                <a:cs typeface="Alexandria" pitchFamily="34" charset="-120"/>
              </a:rPr>
              <a:t>Ngày, giờ, giờ dựng – tháo</a:t>
            </a:r>
            <a:endParaRPr lang="en-US" sz="1400" dirty="0"/>
          </a:p>
        </p:txBody>
      </p:sp>
      <p:sp>
        <p:nvSpPr>
          <p:cNvPr id="36" name="Text 33"/>
          <p:cNvSpPr txBox="1"/>
          <p:nvPr/>
        </p:nvSpPr>
        <p:spPr>
          <a:xfrm>
            <a:off x="6370168" y="2971800"/>
            <a:ext cx="2270684" cy="411480"/>
          </a:xfrm>
          <a:prstGeom prst="rect">
            <a:avLst/>
          </a:prstGeom>
          <a:noFill/>
          <a:ln/>
        </p:spPr>
        <p:txBody>
          <a:bodyPr wrap="square" lIns="0" tIns="0" rIns="0" bIns="0" rtlCol="0" anchor="t"/>
          <a:lstStyle/>
          <a:p>
            <a:pPr indent="0" marL="0">
              <a:buNone/>
            </a:pPr>
            <a:r>
              <a:rPr lang="en-US" sz="1100" dirty="0">
                <a:solidFill>
                  <a:srgbClr val="6E6878"/>
                </a:solidFill>
                <a:latin typeface="Alexandria" pitchFamily="34" charset="0"/>
                <a:ea typeface="Alexandria" pitchFamily="34" charset="-122"/>
                <a:cs typeface="Alexandria" pitchFamily="34" charset="-120"/>
              </a:rPr>
              <a:t>load-in / load-out</a:t>
            </a:r>
            <a:endParaRPr lang="en-US" sz="1100" dirty="0"/>
          </a:p>
        </p:txBody>
      </p:sp>
      <p:sp>
        <p:nvSpPr>
          <p:cNvPr id="37" name="Shape 34"/>
          <p:cNvSpPr/>
          <p:nvPr/>
        </p:nvSpPr>
        <p:spPr>
          <a:xfrm>
            <a:off x="9006611" y="1828800"/>
            <a:ext cx="2636444" cy="1600200"/>
          </a:xfrm>
          <a:prstGeom prst="roundRect">
            <a:avLst>
              <a:gd name="adj" fmla="val 6857"/>
            </a:avLst>
          </a:prstGeom>
          <a:solidFill>
            <a:srgbClr val="FFFFFF"/>
          </a:solidFill>
          <a:ln w="15875">
            <a:solidFill>
              <a:srgbClr val="09A1E5"/>
            </a:solidFill>
            <a:prstDash val="solid"/>
          </a:ln>
        </p:spPr>
      </p:sp>
      <p:sp>
        <p:nvSpPr>
          <p:cNvPr id="38" name="Shape 35"/>
          <p:cNvSpPr/>
          <p:nvPr/>
        </p:nvSpPr>
        <p:spPr>
          <a:xfrm>
            <a:off x="9189491" y="1993392"/>
            <a:ext cx="457200" cy="457200"/>
          </a:xfrm>
          <a:prstGeom prst="ellipse">
            <a:avLst/>
          </a:prstGeom>
          <a:solidFill>
            <a:srgbClr val="09A1E5"/>
          </a:solidFill>
          <a:ln w="12700">
            <a:solidFill>
              <a:srgbClr val="09A1E5"/>
            </a:solidFill>
            <a:prstDash val="solid"/>
          </a:ln>
        </p:spPr>
      </p:sp>
      <p:sp>
        <p:nvSpPr>
          <p:cNvPr id="39" name="Text 36"/>
          <p:cNvSpPr txBox="1"/>
          <p:nvPr/>
        </p:nvSpPr>
        <p:spPr>
          <a:xfrm>
            <a:off x="9189491" y="199339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lexandria" pitchFamily="34" charset="0"/>
                <a:ea typeface="Alexandria" pitchFamily="34" charset="-122"/>
                <a:cs typeface="Alexandria" pitchFamily="34" charset="-120"/>
              </a:rPr>
              <a:t>4</a:t>
            </a:r>
            <a:endParaRPr lang="en-US" sz="1500" dirty="0"/>
          </a:p>
        </p:txBody>
      </p:sp>
      <p:sp>
        <p:nvSpPr>
          <p:cNvPr id="40" name="Text 37"/>
          <p:cNvSpPr txBox="1"/>
          <p:nvPr/>
        </p:nvSpPr>
        <p:spPr>
          <a:xfrm>
            <a:off x="9189491" y="2514600"/>
            <a:ext cx="2270684" cy="502920"/>
          </a:xfrm>
          <a:prstGeom prst="rect">
            <a:avLst/>
          </a:prstGeom>
          <a:noFill/>
          <a:ln/>
        </p:spPr>
        <p:txBody>
          <a:bodyPr wrap="square" lIns="0" tIns="0" rIns="0" bIns="0" rtlCol="0" anchor="t"/>
          <a:lstStyle/>
          <a:p>
            <a:pPr indent="0" marL="0">
              <a:buNone/>
            </a:pPr>
            <a:r>
              <a:rPr lang="en-US" sz="1400" b="1" dirty="0">
                <a:solidFill>
                  <a:srgbClr val="2A2238"/>
                </a:solidFill>
                <a:latin typeface="Alexandria" pitchFamily="34" charset="0"/>
                <a:ea typeface="Alexandria" pitchFamily="34" charset="-122"/>
                <a:cs typeface="Alexandria" pitchFamily="34" charset="-120"/>
              </a:rPr>
              <a:t>Bố trí + sơ đồ mặt bằng</a:t>
            </a:r>
            <a:endParaRPr lang="en-US" sz="1400" dirty="0"/>
          </a:p>
        </p:txBody>
      </p:sp>
      <p:sp>
        <p:nvSpPr>
          <p:cNvPr id="41" name="Text 38"/>
          <p:cNvSpPr txBox="1"/>
          <p:nvPr/>
        </p:nvSpPr>
        <p:spPr>
          <a:xfrm>
            <a:off x="9189491" y="2971800"/>
            <a:ext cx="2270684" cy="411480"/>
          </a:xfrm>
          <a:prstGeom prst="rect">
            <a:avLst/>
          </a:prstGeom>
          <a:noFill/>
          <a:ln/>
        </p:spPr>
        <p:txBody>
          <a:bodyPr wrap="square" lIns="0" tIns="0" rIns="0" bIns="0" rtlCol="0" anchor="t"/>
          <a:lstStyle/>
          <a:p>
            <a:pPr indent="0" marL="0">
              <a:buNone/>
            </a:pPr>
            <a:r>
              <a:rPr lang="en-US" sz="1100" dirty="0">
                <a:solidFill>
                  <a:srgbClr val="6E6878"/>
                </a:solidFill>
                <a:latin typeface="Alexandria" pitchFamily="34" charset="0"/>
                <a:ea typeface="Alexandria" pitchFamily="34" charset="-122"/>
                <a:cs typeface="Alexandria" pitchFamily="34" charset="-120"/>
              </a:rPr>
              <a:t>bàn tròn, sân khấu, LED, khu tài trợ</a:t>
            </a:r>
            <a:endParaRPr lang="en-US" sz="1100" dirty="0"/>
          </a:p>
        </p:txBody>
      </p:sp>
      <p:sp>
        <p:nvSpPr>
          <p:cNvPr id="42" name="Shape 39"/>
          <p:cNvSpPr/>
          <p:nvPr/>
        </p:nvSpPr>
        <p:spPr>
          <a:xfrm>
            <a:off x="548640" y="3611880"/>
            <a:ext cx="2636444" cy="1600200"/>
          </a:xfrm>
          <a:prstGeom prst="roundRect">
            <a:avLst>
              <a:gd name="adj" fmla="val 6857"/>
            </a:avLst>
          </a:prstGeom>
          <a:solidFill>
            <a:srgbClr val="FFFFFF"/>
          </a:solidFill>
          <a:ln w="15875">
            <a:solidFill>
              <a:srgbClr val="09A1E5"/>
            </a:solidFill>
            <a:prstDash val="solid"/>
          </a:ln>
        </p:spPr>
      </p:sp>
      <p:sp>
        <p:nvSpPr>
          <p:cNvPr id="43" name="Shape 40"/>
          <p:cNvSpPr/>
          <p:nvPr/>
        </p:nvSpPr>
        <p:spPr>
          <a:xfrm>
            <a:off x="731520" y="3776472"/>
            <a:ext cx="457200" cy="457200"/>
          </a:xfrm>
          <a:prstGeom prst="ellipse">
            <a:avLst/>
          </a:prstGeom>
          <a:solidFill>
            <a:srgbClr val="09A1E5"/>
          </a:solidFill>
          <a:ln w="12700">
            <a:solidFill>
              <a:srgbClr val="09A1E5"/>
            </a:solidFill>
            <a:prstDash val="solid"/>
          </a:ln>
        </p:spPr>
      </p:sp>
      <p:sp>
        <p:nvSpPr>
          <p:cNvPr id="44" name="Text 41"/>
          <p:cNvSpPr txBox="1"/>
          <p:nvPr/>
        </p:nvSpPr>
        <p:spPr>
          <a:xfrm>
            <a:off x="731520" y="377647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lexandria" pitchFamily="34" charset="0"/>
                <a:ea typeface="Alexandria" pitchFamily="34" charset="-122"/>
                <a:cs typeface="Alexandria" pitchFamily="34" charset="-120"/>
              </a:rPr>
              <a:t>5</a:t>
            </a:r>
            <a:endParaRPr lang="en-US" sz="1500" dirty="0"/>
          </a:p>
        </p:txBody>
      </p:sp>
      <p:sp>
        <p:nvSpPr>
          <p:cNvPr id="45" name="Text 42"/>
          <p:cNvSpPr txBox="1"/>
          <p:nvPr/>
        </p:nvSpPr>
        <p:spPr>
          <a:xfrm>
            <a:off x="731520" y="4297680"/>
            <a:ext cx="2270684" cy="502920"/>
          </a:xfrm>
          <a:prstGeom prst="rect">
            <a:avLst/>
          </a:prstGeom>
          <a:noFill/>
          <a:ln/>
        </p:spPr>
        <p:txBody>
          <a:bodyPr wrap="square" lIns="0" tIns="0" rIns="0" bIns="0" rtlCol="0" anchor="t"/>
          <a:lstStyle/>
          <a:p>
            <a:pPr indent="0" marL="0">
              <a:buNone/>
            </a:pPr>
            <a:r>
              <a:rPr lang="en-US" sz="1400" b="1" dirty="0">
                <a:solidFill>
                  <a:srgbClr val="2A2238"/>
                </a:solidFill>
                <a:latin typeface="Alexandria" pitchFamily="34" charset="0"/>
                <a:ea typeface="Alexandria" pitchFamily="34" charset="-122"/>
                <a:cs typeface="Alexandria" pitchFamily="34" charset="-120"/>
              </a:rPr>
              <a:t>F&amp;B, phòng ngủ</a:t>
            </a:r>
            <a:endParaRPr lang="en-US" sz="1400" dirty="0"/>
          </a:p>
        </p:txBody>
      </p:sp>
      <p:sp>
        <p:nvSpPr>
          <p:cNvPr id="46" name="Text 43"/>
          <p:cNvSpPr txBox="1"/>
          <p:nvPr/>
        </p:nvSpPr>
        <p:spPr>
          <a:xfrm>
            <a:off x="731520" y="4754880"/>
            <a:ext cx="2270684" cy="411480"/>
          </a:xfrm>
          <a:prstGeom prst="rect">
            <a:avLst/>
          </a:prstGeom>
          <a:noFill/>
          <a:ln/>
        </p:spPr>
        <p:txBody>
          <a:bodyPr wrap="square" lIns="0" tIns="0" rIns="0" bIns="0" rtlCol="0" anchor="t"/>
          <a:lstStyle/>
          <a:p>
            <a:pPr indent="0" marL="0">
              <a:buNone/>
            </a:pPr>
            <a:r>
              <a:rPr lang="en-US" sz="1100" dirty="0">
                <a:solidFill>
                  <a:srgbClr val="6E6878"/>
                </a:solidFill>
                <a:latin typeface="Alexandria" pitchFamily="34" charset="0"/>
                <a:ea typeface="Alexandria" pitchFamily="34" charset="-122"/>
                <a:cs typeface="Alexandria" pitchFamily="34" charset="-120"/>
              </a:rPr>
              <a:t>nếu có</a:t>
            </a:r>
            <a:endParaRPr lang="en-US" sz="1100" dirty="0"/>
          </a:p>
        </p:txBody>
      </p:sp>
      <p:sp>
        <p:nvSpPr>
          <p:cNvPr id="47" name="Shape 44"/>
          <p:cNvSpPr/>
          <p:nvPr/>
        </p:nvSpPr>
        <p:spPr>
          <a:xfrm>
            <a:off x="3367964" y="3611880"/>
            <a:ext cx="2636444" cy="1600200"/>
          </a:xfrm>
          <a:prstGeom prst="roundRect">
            <a:avLst>
              <a:gd name="adj" fmla="val 6857"/>
            </a:avLst>
          </a:prstGeom>
          <a:solidFill>
            <a:srgbClr val="FFE4EA"/>
          </a:solidFill>
          <a:ln w="15875">
            <a:solidFill>
              <a:srgbClr val="FF5178"/>
            </a:solidFill>
            <a:prstDash val="solid"/>
          </a:ln>
        </p:spPr>
      </p:sp>
      <p:sp>
        <p:nvSpPr>
          <p:cNvPr id="48" name="Shape 45"/>
          <p:cNvSpPr/>
          <p:nvPr/>
        </p:nvSpPr>
        <p:spPr>
          <a:xfrm>
            <a:off x="3550844" y="3776472"/>
            <a:ext cx="457200" cy="457200"/>
          </a:xfrm>
          <a:prstGeom prst="ellipse">
            <a:avLst/>
          </a:prstGeom>
          <a:solidFill>
            <a:srgbClr val="FF5178"/>
          </a:solidFill>
          <a:ln w="12700">
            <a:solidFill>
              <a:srgbClr val="FF5178"/>
            </a:solidFill>
            <a:prstDash val="solid"/>
          </a:ln>
        </p:spPr>
      </p:sp>
      <p:sp>
        <p:nvSpPr>
          <p:cNvPr id="49" name="Text 46"/>
          <p:cNvSpPr txBox="1"/>
          <p:nvPr/>
        </p:nvSpPr>
        <p:spPr>
          <a:xfrm>
            <a:off x="3550844" y="377647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lexandria" pitchFamily="34" charset="0"/>
                <a:ea typeface="Alexandria" pitchFamily="34" charset="-122"/>
                <a:cs typeface="Alexandria" pitchFamily="34" charset="-120"/>
              </a:rPr>
              <a:t>6</a:t>
            </a:r>
            <a:endParaRPr lang="en-US" sz="1500" dirty="0"/>
          </a:p>
        </p:txBody>
      </p:sp>
      <p:sp>
        <p:nvSpPr>
          <p:cNvPr id="50" name="Text 47"/>
          <p:cNvSpPr txBox="1"/>
          <p:nvPr/>
        </p:nvSpPr>
        <p:spPr>
          <a:xfrm>
            <a:off x="3550844" y="4297680"/>
            <a:ext cx="2270684" cy="502920"/>
          </a:xfrm>
          <a:prstGeom prst="rect">
            <a:avLst/>
          </a:prstGeom>
          <a:noFill/>
          <a:ln/>
        </p:spPr>
        <p:txBody>
          <a:bodyPr wrap="square" lIns="0" tIns="0" rIns="0" bIns="0" rtlCol="0" anchor="t"/>
          <a:lstStyle/>
          <a:p>
            <a:pPr indent="0" marL="0">
              <a:buNone/>
            </a:pPr>
            <a:r>
              <a:rPr lang="en-US" sz="1400" b="1" dirty="0">
                <a:solidFill>
                  <a:srgbClr val="2A2238"/>
                </a:solidFill>
                <a:latin typeface="Alexandria" pitchFamily="34" charset="0"/>
                <a:ea typeface="Alexandria" pitchFamily="34" charset="-122"/>
                <a:cs typeface="Alexandria" pitchFamily="34" charset="-120"/>
              </a:rPr>
              <a:t>Nhà cung cấp độc quyền</a:t>
            </a:r>
            <a:endParaRPr lang="en-US" sz="1400" dirty="0"/>
          </a:p>
        </p:txBody>
      </p:sp>
      <p:sp>
        <p:nvSpPr>
          <p:cNvPr id="51" name="Text 48"/>
          <p:cNvSpPr txBox="1"/>
          <p:nvPr/>
        </p:nvSpPr>
        <p:spPr>
          <a:xfrm>
            <a:off x="3550844" y="4754880"/>
            <a:ext cx="2270684" cy="411480"/>
          </a:xfrm>
          <a:prstGeom prst="rect">
            <a:avLst/>
          </a:prstGeom>
          <a:noFill/>
          <a:ln/>
        </p:spPr>
        <p:txBody>
          <a:bodyPr wrap="square" lIns="0" tIns="0" rIns="0" bIns="0" rtlCol="0" anchor="t"/>
          <a:lstStyle/>
          <a:p>
            <a:pPr indent="0" marL="0">
              <a:buNone/>
            </a:pPr>
            <a:r>
              <a:rPr lang="en-US" sz="1100" dirty="0">
                <a:solidFill>
                  <a:srgbClr val="6E6878"/>
                </a:solidFill>
                <a:latin typeface="Alexandria" pitchFamily="34" charset="0"/>
                <a:ea typeface="Alexandria" pitchFamily="34" charset="-122"/>
                <a:cs typeface="Alexandria" pitchFamily="34" charset="-120"/>
              </a:rPr>
              <a:t>AV, hoa, trang trí; phụ thu mang ngoài</a:t>
            </a:r>
            <a:endParaRPr lang="en-US" sz="1100" dirty="0"/>
          </a:p>
        </p:txBody>
      </p:sp>
      <p:sp>
        <p:nvSpPr>
          <p:cNvPr id="52" name="Shape 49"/>
          <p:cNvSpPr/>
          <p:nvPr/>
        </p:nvSpPr>
        <p:spPr>
          <a:xfrm>
            <a:off x="6187288" y="3611880"/>
            <a:ext cx="2636444" cy="1600200"/>
          </a:xfrm>
          <a:prstGeom prst="roundRect">
            <a:avLst>
              <a:gd name="adj" fmla="val 6857"/>
            </a:avLst>
          </a:prstGeom>
          <a:solidFill>
            <a:srgbClr val="FFFFFF"/>
          </a:solidFill>
          <a:ln w="15875">
            <a:solidFill>
              <a:srgbClr val="09A1E5"/>
            </a:solidFill>
            <a:prstDash val="solid"/>
          </a:ln>
        </p:spPr>
      </p:sp>
      <p:sp>
        <p:nvSpPr>
          <p:cNvPr id="53" name="Shape 50"/>
          <p:cNvSpPr/>
          <p:nvPr/>
        </p:nvSpPr>
        <p:spPr>
          <a:xfrm>
            <a:off x="6370168" y="3776472"/>
            <a:ext cx="457200" cy="457200"/>
          </a:xfrm>
          <a:prstGeom prst="ellipse">
            <a:avLst/>
          </a:prstGeom>
          <a:solidFill>
            <a:srgbClr val="09A1E5"/>
          </a:solidFill>
          <a:ln w="12700">
            <a:solidFill>
              <a:srgbClr val="09A1E5"/>
            </a:solidFill>
            <a:prstDash val="solid"/>
          </a:ln>
        </p:spPr>
      </p:sp>
      <p:sp>
        <p:nvSpPr>
          <p:cNvPr id="54" name="Text 51"/>
          <p:cNvSpPr txBox="1"/>
          <p:nvPr/>
        </p:nvSpPr>
        <p:spPr>
          <a:xfrm>
            <a:off x="6370168" y="377647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lexandria" pitchFamily="34" charset="0"/>
                <a:ea typeface="Alexandria" pitchFamily="34" charset="-122"/>
                <a:cs typeface="Alexandria" pitchFamily="34" charset="-120"/>
              </a:rPr>
              <a:t>7</a:t>
            </a:r>
            <a:endParaRPr lang="en-US" sz="1500" dirty="0"/>
          </a:p>
        </p:txBody>
      </p:sp>
      <p:sp>
        <p:nvSpPr>
          <p:cNvPr id="55" name="Text 52"/>
          <p:cNvSpPr txBox="1"/>
          <p:nvPr/>
        </p:nvSpPr>
        <p:spPr>
          <a:xfrm>
            <a:off x="6370168" y="4297680"/>
            <a:ext cx="2270684" cy="502920"/>
          </a:xfrm>
          <a:prstGeom prst="rect">
            <a:avLst/>
          </a:prstGeom>
          <a:noFill/>
          <a:ln/>
        </p:spPr>
        <p:txBody>
          <a:bodyPr wrap="square" lIns="0" tIns="0" rIns="0" bIns="0" rtlCol="0" anchor="t"/>
          <a:lstStyle/>
          <a:p>
            <a:pPr indent="0" marL="0">
              <a:buNone/>
            </a:pPr>
            <a:r>
              <a:rPr lang="en-US" sz="1400" b="1" dirty="0">
                <a:solidFill>
                  <a:srgbClr val="2A2238"/>
                </a:solidFill>
                <a:latin typeface="Alexandria" pitchFamily="34" charset="0"/>
                <a:ea typeface="Alexandria" pitchFamily="34" charset="-122"/>
                <a:cs typeface="Alexandria" pitchFamily="34" charset="-120"/>
              </a:rPr>
              <a:t>Điều khoản</a:t>
            </a:r>
            <a:endParaRPr lang="en-US" sz="1400" dirty="0"/>
          </a:p>
        </p:txBody>
      </p:sp>
      <p:sp>
        <p:nvSpPr>
          <p:cNvPr id="56" name="Text 53"/>
          <p:cNvSpPr txBox="1"/>
          <p:nvPr/>
        </p:nvSpPr>
        <p:spPr>
          <a:xfrm>
            <a:off x="6370168" y="4754880"/>
            <a:ext cx="2270684" cy="411480"/>
          </a:xfrm>
          <a:prstGeom prst="rect">
            <a:avLst/>
          </a:prstGeom>
          <a:noFill/>
          <a:ln/>
        </p:spPr>
        <p:txBody>
          <a:bodyPr wrap="square" lIns="0" tIns="0" rIns="0" bIns="0" rtlCol="0" anchor="t"/>
          <a:lstStyle/>
          <a:p>
            <a:pPr indent="0" marL="0">
              <a:buNone/>
            </a:pPr>
            <a:r>
              <a:rPr lang="en-US" sz="1100" dirty="0">
                <a:solidFill>
                  <a:srgbClr val="6E6878"/>
                </a:solidFill>
                <a:latin typeface="Alexandria" pitchFamily="34" charset="0"/>
                <a:ea typeface="Alexandria" pitchFamily="34" charset="-122"/>
                <a:cs typeface="Alexandria" pitchFamily="34" charset="-120"/>
              </a:rPr>
              <a:t>cọc, hủy, thay đổi số khách</a:t>
            </a:r>
            <a:endParaRPr lang="en-US" sz="1100" dirty="0"/>
          </a:p>
        </p:txBody>
      </p:sp>
      <p:sp>
        <p:nvSpPr>
          <p:cNvPr id="57" name="Shape 54"/>
          <p:cNvSpPr/>
          <p:nvPr/>
        </p:nvSpPr>
        <p:spPr>
          <a:xfrm>
            <a:off x="9006611" y="3611880"/>
            <a:ext cx="2636444" cy="1600200"/>
          </a:xfrm>
          <a:prstGeom prst="roundRect">
            <a:avLst>
              <a:gd name="adj" fmla="val 6857"/>
            </a:avLst>
          </a:prstGeom>
          <a:solidFill>
            <a:srgbClr val="FFFFFF"/>
          </a:solidFill>
          <a:ln w="15875">
            <a:solidFill>
              <a:srgbClr val="09A1E5"/>
            </a:solidFill>
            <a:prstDash val="solid"/>
          </a:ln>
        </p:spPr>
      </p:sp>
      <p:sp>
        <p:nvSpPr>
          <p:cNvPr id="58" name="Shape 55"/>
          <p:cNvSpPr/>
          <p:nvPr/>
        </p:nvSpPr>
        <p:spPr>
          <a:xfrm>
            <a:off x="9189491" y="3776472"/>
            <a:ext cx="457200" cy="457200"/>
          </a:xfrm>
          <a:prstGeom prst="ellipse">
            <a:avLst/>
          </a:prstGeom>
          <a:solidFill>
            <a:srgbClr val="09A1E5"/>
          </a:solidFill>
          <a:ln w="12700">
            <a:solidFill>
              <a:srgbClr val="09A1E5"/>
            </a:solidFill>
            <a:prstDash val="solid"/>
          </a:ln>
        </p:spPr>
      </p:sp>
      <p:sp>
        <p:nvSpPr>
          <p:cNvPr id="59" name="Text 56"/>
          <p:cNvSpPr txBox="1"/>
          <p:nvPr/>
        </p:nvSpPr>
        <p:spPr>
          <a:xfrm>
            <a:off x="9189491" y="377647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lexandria" pitchFamily="34" charset="0"/>
                <a:ea typeface="Alexandria" pitchFamily="34" charset="-122"/>
                <a:cs typeface="Alexandria" pitchFamily="34" charset="-120"/>
              </a:rPr>
              <a:t>8</a:t>
            </a:r>
            <a:endParaRPr lang="en-US" sz="1500" dirty="0"/>
          </a:p>
        </p:txBody>
      </p:sp>
      <p:sp>
        <p:nvSpPr>
          <p:cNvPr id="60" name="Text 57"/>
          <p:cNvSpPr txBox="1"/>
          <p:nvPr/>
        </p:nvSpPr>
        <p:spPr>
          <a:xfrm>
            <a:off x="9189491" y="4297680"/>
            <a:ext cx="2270684" cy="502920"/>
          </a:xfrm>
          <a:prstGeom prst="rect">
            <a:avLst/>
          </a:prstGeom>
          <a:noFill/>
          <a:ln/>
        </p:spPr>
        <p:txBody>
          <a:bodyPr wrap="square" lIns="0" tIns="0" rIns="0" bIns="0" rtlCol="0" anchor="t"/>
          <a:lstStyle/>
          <a:p>
            <a:pPr indent="0" marL="0">
              <a:buNone/>
            </a:pPr>
            <a:r>
              <a:rPr lang="en-US" sz="1400" b="1" dirty="0">
                <a:solidFill>
                  <a:srgbClr val="2A2238"/>
                </a:solidFill>
                <a:latin typeface="Alexandria" pitchFamily="34" charset="0"/>
                <a:ea typeface="Alexandria" pitchFamily="34" charset="-122"/>
                <a:cs typeface="Alexandria" pitchFamily="34" charset="-120"/>
              </a:rPr>
              <a:t>Tiêu chí chấm và hạn trả lời</a:t>
            </a:r>
            <a:endParaRPr lang="en-US" sz="1400" dirty="0"/>
          </a:p>
        </p:txBody>
      </p:sp>
      <p:sp>
        <p:nvSpPr>
          <p:cNvPr id="61" name="Text 58"/>
          <p:cNvSpPr txBox="1"/>
          <p:nvPr/>
        </p:nvSpPr>
        <p:spPr>
          <a:xfrm>
            <a:off x="9189491" y="4754880"/>
            <a:ext cx="2270684" cy="411480"/>
          </a:xfrm>
          <a:prstGeom prst="rect">
            <a:avLst/>
          </a:prstGeom>
          <a:noFill/>
          <a:ln/>
        </p:spPr>
        <p:txBody>
          <a:bodyPr wrap="square" lIns="0" tIns="0" rIns="0" bIns="0" rtlCol="0" anchor="t"/>
          <a:lstStyle/>
          <a:p>
            <a:pPr indent="0" marL="0">
              <a:buNone/>
            </a:pPr>
            <a:r>
              <a:rPr lang="en-US" sz="1100" dirty="0">
                <a:solidFill>
                  <a:srgbClr val="6E6878"/>
                </a:solidFill>
                <a:latin typeface="Alexandria" pitchFamily="34" charset="0"/>
                <a:ea typeface="Alexandria" pitchFamily="34" charset="-122"/>
                <a:cs typeface="Alexandria" pitchFamily="34" charset="-120"/>
              </a:rPr>
              <a:t>công khai như nhau cho mọi bên</a:t>
            </a:r>
            <a:endParaRPr lang="en-US" sz="1100" dirty="0"/>
          </a:p>
        </p:txBody>
      </p:sp>
      <p:sp>
        <p:nvSpPr>
          <p:cNvPr id="62" name="Text 59"/>
          <p:cNvSpPr txBox="1"/>
          <p:nvPr/>
        </p:nvSpPr>
        <p:spPr>
          <a:xfrm>
            <a:off x="548640" y="5486400"/>
            <a:ext cx="11094415" cy="365760"/>
          </a:xfrm>
          <a:prstGeom prst="rect">
            <a:avLst/>
          </a:prstGeom>
          <a:noFill/>
          <a:ln/>
        </p:spPr>
        <p:txBody>
          <a:bodyPr wrap="square" lIns="0" tIns="0" rIns="0" bIns="0" rtlCol="0" anchor="ctr"/>
          <a:lstStyle/>
          <a:p>
            <a:pPr indent="0" marL="0">
              <a:buNone/>
            </a:pPr>
            <a:r>
              <a:rPr lang="en-US" sz="1200" dirty="0">
                <a:solidFill>
                  <a:srgbClr val="962B7C"/>
                </a:solidFill>
                <a:latin typeface="Alexandria" pitchFamily="34" charset="0"/>
                <a:ea typeface="Alexandria" pitchFamily="34" charset="-122"/>
                <a:cs typeface="Alexandria" pitchFamily="34" charset="-120"/>
              </a:rPr>
              <a:t>● </a:t>
            </a:r>
            <a:pPr indent="0" marL="0">
              <a:buNone/>
            </a:pPr>
            <a:r>
              <a:rPr lang="en-US" sz="1200" dirty="0">
                <a:solidFill>
                  <a:srgbClr val="6E6878"/>
                </a:solidFill>
                <a:latin typeface="Alexandria" pitchFamily="34" charset="0"/>
                <a:ea typeface="Alexandria" pitchFamily="34" charset="-122"/>
                <a:cs typeface="Alexandria" pitchFamily="34" charset="-120"/>
              </a:rPr>
              <a:t>phần mang Key Account vào   </a:t>
            </a:r>
            <a:pPr indent="0" marL="0">
              <a:buNone/>
            </a:pPr>
            <a:r>
              <a:rPr lang="en-US" sz="1200" dirty="0">
                <a:solidFill>
                  <a:srgbClr val="FF5178"/>
                </a:solidFill>
                <a:latin typeface="Alexandria" pitchFamily="34" charset="0"/>
                <a:ea typeface="Alexandria" pitchFamily="34" charset="-122"/>
                <a:cs typeface="Alexandria" pitchFamily="34" charset="-120"/>
              </a:rPr>
              <a:t>● </a:t>
            </a:r>
            <a:pPr indent="0" marL="0">
              <a:buNone/>
            </a:pPr>
            <a:r>
              <a:rPr lang="en-US" sz="1200" dirty="0">
                <a:solidFill>
                  <a:srgbClr val="6E6878"/>
                </a:solidFill>
                <a:latin typeface="Alexandria" pitchFamily="34" charset="0"/>
                <a:ea typeface="Alexandria" pitchFamily="34" charset="-122"/>
                <a:cs typeface="Alexandria" pitchFamily="34" charset="-120"/>
              </a:rPr>
              <a:t>phần chặn tình huống AV của Buổi 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655064"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165506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10.1 Quy trình mua</a:t>
            </a:r>
            <a:endParaRPr lang="en-US" sz="1000" dirty="0"/>
          </a:p>
        </p:txBody>
      </p:sp>
      <p:sp>
        <p:nvSpPr>
          <p:cNvPr id="6" name="Shape 4"/>
          <p:cNvSpPr/>
          <p:nvPr/>
        </p:nvSpPr>
        <p:spPr>
          <a:xfrm>
            <a:off x="3145536" y="274320"/>
            <a:ext cx="1266444"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145536" y="274320"/>
            <a:ext cx="126644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10.2 Địa điểm</a:t>
            </a:r>
            <a:endParaRPr lang="en-US" sz="1000" dirty="0"/>
          </a:p>
        </p:txBody>
      </p:sp>
      <p:sp>
        <p:nvSpPr>
          <p:cNvPr id="8" name="Shape 6"/>
          <p:cNvSpPr/>
          <p:nvPr/>
        </p:nvSpPr>
        <p:spPr>
          <a:xfrm>
            <a:off x="4521708" y="274320"/>
            <a:ext cx="2354580"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521708" y="274320"/>
            <a:ext cx="235458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10.3 Hành trình Key Account</a:t>
            </a:r>
            <a:endParaRPr lang="en-US" sz="1000" dirty="0"/>
          </a:p>
        </p:txBody>
      </p:sp>
      <p:sp>
        <p:nvSpPr>
          <p:cNvPr id="10" name="Shape 8"/>
          <p:cNvSpPr/>
          <p:nvPr/>
        </p:nvSpPr>
        <p:spPr>
          <a:xfrm>
            <a:off x="6986016"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986016"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384048" cy="384048"/>
          </a:xfrm>
          <a:prstGeom prst="roundRect">
            <a:avLst>
              <a:gd name="adj" fmla="val 18000"/>
            </a:avLst>
          </a:prstGeom>
          <a:solidFill>
            <a:srgbClr val="FFFFFF"/>
          </a:solidFill>
          <a:ln w="12700">
            <a:solidFill>
              <a:srgbClr val="2A2238"/>
            </a:solidFill>
            <a:prstDash val="solid"/>
          </a:ln>
        </p:spPr>
      </p:sp>
      <p:sp>
        <p:nvSpPr>
          <p:cNvPr id="13" name="Shape 11"/>
          <p:cNvSpPr/>
          <p:nvPr/>
        </p:nvSpPr>
        <p:spPr>
          <a:xfrm>
            <a:off x="11343498" y="265542"/>
            <a:ext cx="215067" cy="53767"/>
          </a:xfrm>
          <a:prstGeom prst="rect">
            <a:avLst/>
          </a:prstGeom>
          <a:solidFill>
            <a:srgbClr val="962B7C"/>
          </a:solidFill>
          <a:ln w="12700">
            <a:solidFill>
              <a:srgbClr val="962B7C"/>
            </a:solidFill>
            <a:prstDash val="solid"/>
          </a:ln>
        </p:spPr>
      </p:sp>
      <p:sp>
        <p:nvSpPr>
          <p:cNvPr id="14" name="Shape 12"/>
          <p:cNvSpPr/>
          <p:nvPr/>
        </p:nvSpPr>
        <p:spPr>
          <a:xfrm>
            <a:off x="11335817" y="380756"/>
            <a:ext cx="76810" cy="76810"/>
          </a:xfrm>
          <a:prstGeom prst="ellipse">
            <a:avLst/>
          </a:prstGeom>
          <a:solidFill>
            <a:srgbClr val="FF9259"/>
          </a:solidFill>
          <a:ln w="12700">
            <a:solidFill>
              <a:srgbClr val="FF9259"/>
            </a:solidFill>
            <a:prstDash val="solid"/>
          </a:ln>
        </p:spPr>
      </p:sp>
      <p:sp>
        <p:nvSpPr>
          <p:cNvPr id="15" name="Shape 13"/>
          <p:cNvSpPr/>
          <p:nvPr/>
        </p:nvSpPr>
        <p:spPr>
          <a:xfrm>
            <a:off x="11489436" y="380756"/>
            <a:ext cx="76810" cy="76810"/>
          </a:xfrm>
          <a:prstGeom prst="ellipse">
            <a:avLst/>
          </a:prstGeom>
          <a:solidFill>
            <a:srgbClr val="09A1E5"/>
          </a:solidFill>
          <a:ln w="12700">
            <a:solidFill>
              <a:srgbClr val="09A1E5"/>
            </a:solidFill>
            <a:prstDash val="solid"/>
          </a:ln>
        </p:spPr>
      </p:sp>
      <p:sp>
        <p:nvSpPr>
          <p:cNvPr id="16" name="Shape 14"/>
          <p:cNvSpPr/>
          <p:nvPr/>
        </p:nvSpPr>
        <p:spPr>
          <a:xfrm>
            <a:off x="11335817" y="488290"/>
            <a:ext cx="76810" cy="76810"/>
          </a:xfrm>
          <a:prstGeom prst="ellipse">
            <a:avLst/>
          </a:prstGeom>
          <a:solidFill>
            <a:srgbClr val="49B296"/>
          </a:solidFill>
          <a:ln w="12700">
            <a:solidFill>
              <a:srgbClr val="49B296"/>
            </a:solidFill>
            <a:prstDash val="solid"/>
          </a:ln>
        </p:spPr>
      </p:sp>
      <p:sp>
        <p:nvSpPr>
          <p:cNvPr id="17" name="Shape 15"/>
          <p:cNvSpPr/>
          <p:nvPr/>
        </p:nvSpPr>
        <p:spPr>
          <a:xfrm>
            <a:off x="11489436" y="488290"/>
            <a:ext cx="76810" cy="76810"/>
          </a:xfrm>
          <a:prstGeom prst="ellipse">
            <a:avLst/>
          </a:prstGeom>
          <a:solidFill>
            <a:srgbClr val="FF5178"/>
          </a:solidFill>
          <a:ln w="12700">
            <a:solidFill>
              <a:srgbClr val="FF5178"/>
            </a:solidFill>
            <a:prstDash val="solid"/>
          </a:ln>
        </p:spPr>
      </p:sp>
      <p:sp>
        <p:nvSpPr>
          <p:cNvPr id="18" name="Text 16"/>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Tốc độ trả lời RFP cho biết cách nhà cung cấp sẽ phục vụ</a:t>
            </a:r>
            <a:endParaRPr lang="en-US" sz="2600" dirty="0"/>
          </a:p>
        </p:txBody>
      </p:sp>
      <p:sp>
        <p:nvSpPr>
          <p:cNvPr id="19" name="Text 17"/>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V06: Cvent (2025 Planner Sourcing Report, qua blog Cvent và BizBash) — chưa kiểm chứng chéo.</a:t>
            </a:r>
            <a:endParaRPr lang="en-US" sz="1000" dirty="0"/>
          </a:p>
        </p:txBody>
      </p:sp>
      <p:sp>
        <p:nvSpPr>
          <p:cNvPr id="20" name="Text 18"/>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10   8</a:t>
            </a:r>
            <a:endParaRPr lang="en-US" sz="1000" dirty="0"/>
          </a:p>
        </p:txBody>
      </p:sp>
      <p:sp>
        <p:nvSpPr>
          <p:cNvPr id="22" name="Shape 19"/>
          <p:cNvSpPr/>
          <p:nvPr/>
        </p:nvSpPr>
        <p:spPr>
          <a:xfrm>
            <a:off x="548640" y="1920240"/>
            <a:ext cx="4754880" cy="4023360"/>
          </a:xfrm>
          <a:prstGeom prst="roundRect">
            <a:avLst>
              <a:gd name="adj" fmla="val 2727"/>
            </a:avLst>
          </a:prstGeom>
          <a:solidFill>
            <a:srgbClr val="DDF1FB"/>
          </a:solidFill>
          <a:ln w="12700">
            <a:solidFill>
              <a:srgbClr val="DDF1FB"/>
            </a:solidFill>
            <a:prstDash val="solid"/>
          </a:ln>
        </p:spPr>
      </p:sp>
      <p:sp>
        <p:nvSpPr>
          <p:cNvPr id="23" name="Text 20"/>
          <p:cNvSpPr txBox="1"/>
          <p:nvPr/>
        </p:nvSpPr>
        <p:spPr>
          <a:xfrm>
            <a:off x="868680" y="2194560"/>
            <a:ext cx="4114800" cy="1371600"/>
          </a:xfrm>
          <a:prstGeom prst="rect">
            <a:avLst/>
          </a:prstGeom>
          <a:noFill/>
          <a:ln/>
        </p:spPr>
        <p:txBody>
          <a:bodyPr wrap="square" lIns="0" tIns="0" rIns="0" bIns="0" rtlCol="0" anchor="ctr"/>
          <a:lstStyle/>
          <a:p>
            <a:pPr indent="0" marL="0">
              <a:buNone/>
            </a:pPr>
            <a:r>
              <a:rPr lang="en-US" sz="7200" b="1" dirty="0">
                <a:solidFill>
                  <a:srgbClr val="0A7FB5"/>
                </a:solidFill>
                <a:latin typeface="Alexandria" pitchFamily="34" charset="0"/>
                <a:ea typeface="Alexandria" pitchFamily="34" charset="-122"/>
                <a:cs typeface="Alexandria" pitchFamily="34" charset="-120"/>
              </a:rPr>
              <a:t>80%</a:t>
            </a:r>
            <a:endParaRPr lang="en-US" sz="7200" dirty="0"/>
          </a:p>
        </p:txBody>
      </p:sp>
      <p:sp>
        <p:nvSpPr>
          <p:cNvPr id="24" name="Text 21"/>
          <p:cNvSpPr txBox="1"/>
          <p:nvPr/>
        </p:nvSpPr>
        <p:spPr>
          <a:xfrm>
            <a:off x="868680" y="3657600"/>
            <a:ext cx="4114800" cy="1188720"/>
          </a:xfrm>
          <a:prstGeom prst="rect">
            <a:avLst/>
          </a:prstGeom>
          <a:noFill/>
          <a:ln/>
        </p:spPr>
        <p:txBody>
          <a:bodyPr wrap="square" lIns="0" tIns="0" rIns="0" bIns="0" rtlCol="0" anchor="t"/>
          <a:lstStyle/>
          <a:p>
            <a:pPr indent="0" marL="0">
              <a:buNone/>
            </a:pPr>
            <a:r>
              <a:rPr lang="en-US" sz="1900" dirty="0">
                <a:solidFill>
                  <a:srgbClr val="2A2238"/>
                </a:solidFill>
                <a:latin typeface="Alexandria" pitchFamily="34" charset="0"/>
                <a:ea typeface="Alexandria" pitchFamily="34" charset="-122"/>
                <a:cs typeface="Alexandria" pitchFamily="34" charset="-120"/>
              </a:rPr>
              <a:t>người tổ chức muốn địa điểm trả lời RFP trong ≤ 4 ngày</a:t>
            </a:r>
            <a:endParaRPr lang="en-US" sz="1900" dirty="0"/>
          </a:p>
        </p:txBody>
      </p:sp>
      <p:sp>
        <p:nvSpPr>
          <p:cNvPr id="25" name="Text 22"/>
          <p:cNvSpPr txBox="1"/>
          <p:nvPr/>
        </p:nvSpPr>
        <p:spPr>
          <a:xfrm>
            <a:off x="868680" y="5394960"/>
            <a:ext cx="4114800" cy="320040"/>
          </a:xfrm>
          <a:prstGeom prst="rect">
            <a:avLst/>
          </a:prstGeom>
          <a:noFill/>
          <a:ln/>
        </p:spPr>
        <p:txBody>
          <a:bodyPr wrap="square" lIns="0" tIns="0" rIns="0" bIns="0" rtlCol="0" anchor="ctr"/>
          <a:lstStyle/>
          <a:p>
            <a:pPr indent="0" marL="0">
              <a:buNone/>
            </a:pPr>
            <a:r>
              <a:rPr lang="en-US" sz="1200" dirty="0">
                <a:solidFill>
                  <a:srgbClr val="6E6878"/>
                </a:solidFill>
                <a:latin typeface="Alexandria" pitchFamily="34" charset="0"/>
                <a:ea typeface="Alexandria" pitchFamily="34" charset="-122"/>
                <a:cs typeface="Alexandria" pitchFamily="34" charset="-120"/>
              </a:rPr>
              <a:t>V06 · chưa KCC</a:t>
            </a:r>
            <a:endParaRPr lang="en-US" sz="1200" dirty="0"/>
          </a:p>
        </p:txBody>
      </p:sp>
      <p:sp>
        <p:nvSpPr>
          <p:cNvPr id="26" name="Text 23"/>
          <p:cNvSpPr txBox="1"/>
          <p:nvPr/>
        </p:nvSpPr>
        <p:spPr>
          <a:xfrm>
            <a:off x="5669280" y="1920240"/>
            <a:ext cx="5973775" cy="41148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Ba khách sạn trong Thực hành 1 trả lời sau:</a:t>
            </a:r>
            <a:endParaRPr lang="en-US" sz="1500" dirty="0"/>
          </a:p>
        </p:txBody>
      </p:sp>
      <p:sp>
        <p:nvSpPr>
          <p:cNvPr id="27" name="Text 24"/>
          <p:cNvSpPr txBox="1"/>
          <p:nvPr/>
        </p:nvSpPr>
        <p:spPr>
          <a:xfrm>
            <a:off x="5669280" y="2468880"/>
            <a:ext cx="1737360" cy="54864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Khách sạn A</a:t>
            </a:r>
            <a:endParaRPr lang="en-US" sz="1400" dirty="0"/>
          </a:p>
        </p:txBody>
      </p:sp>
      <p:sp>
        <p:nvSpPr>
          <p:cNvPr id="28" name="Shape 25"/>
          <p:cNvSpPr/>
          <p:nvPr/>
        </p:nvSpPr>
        <p:spPr>
          <a:xfrm>
            <a:off x="7498080" y="2560320"/>
            <a:ext cx="1145926" cy="384048"/>
          </a:xfrm>
          <a:prstGeom prst="rect">
            <a:avLst/>
          </a:prstGeom>
          <a:solidFill>
            <a:srgbClr val="49B296"/>
          </a:solidFill>
          <a:ln w="12700">
            <a:solidFill>
              <a:srgbClr val="49B296"/>
            </a:solidFill>
            <a:prstDash val="solid"/>
          </a:ln>
        </p:spPr>
      </p:sp>
      <p:sp>
        <p:nvSpPr>
          <p:cNvPr id="29" name="Text 26"/>
          <p:cNvSpPr txBox="1"/>
          <p:nvPr/>
        </p:nvSpPr>
        <p:spPr>
          <a:xfrm>
            <a:off x="8735446" y="2468880"/>
            <a:ext cx="1097280" cy="548640"/>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2 ngày</a:t>
            </a:r>
            <a:endParaRPr lang="en-US" sz="1400" dirty="0"/>
          </a:p>
        </p:txBody>
      </p:sp>
      <p:sp>
        <p:nvSpPr>
          <p:cNvPr id="30" name="Text 27"/>
          <p:cNvSpPr txBox="1"/>
          <p:nvPr/>
        </p:nvSpPr>
        <p:spPr>
          <a:xfrm>
            <a:off x="5669280" y="3246120"/>
            <a:ext cx="1737360" cy="54864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Khách sạn C</a:t>
            </a:r>
            <a:endParaRPr lang="en-US" sz="1400" dirty="0"/>
          </a:p>
        </p:txBody>
      </p:sp>
      <p:sp>
        <p:nvSpPr>
          <p:cNvPr id="31" name="Shape 28"/>
          <p:cNvSpPr/>
          <p:nvPr/>
        </p:nvSpPr>
        <p:spPr>
          <a:xfrm>
            <a:off x="7498080" y="3337560"/>
            <a:ext cx="1718889" cy="384048"/>
          </a:xfrm>
          <a:prstGeom prst="rect">
            <a:avLst/>
          </a:prstGeom>
          <a:solidFill>
            <a:srgbClr val="FFD23B"/>
          </a:solidFill>
          <a:ln w="12700">
            <a:solidFill>
              <a:srgbClr val="FFD23B"/>
            </a:solidFill>
            <a:prstDash val="solid"/>
          </a:ln>
        </p:spPr>
      </p:sp>
      <p:sp>
        <p:nvSpPr>
          <p:cNvPr id="32" name="Text 29"/>
          <p:cNvSpPr txBox="1"/>
          <p:nvPr/>
        </p:nvSpPr>
        <p:spPr>
          <a:xfrm>
            <a:off x="9308409" y="3246120"/>
            <a:ext cx="1097280" cy="548640"/>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3 ngày</a:t>
            </a:r>
            <a:endParaRPr lang="en-US" sz="1400" dirty="0"/>
          </a:p>
        </p:txBody>
      </p:sp>
      <p:sp>
        <p:nvSpPr>
          <p:cNvPr id="33" name="Text 30"/>
          <p:cNvSpPr txBox="1"/>
          <p:nvPr/>
        </p:nvSpPr>
        <p:spPr>
          <a:xfrm>
            <a:off x="5669280" y="4023360"/>
            <a:ext cx="1737360" cy="54864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Khách sạn B</a:t>
            </a:r>
            <a:endParaRPr lang="en-US" sz="1400" dirty="0"/>
          </a:p>
        </p:txBody>
      </p:sp>
      <p:sp>
        <p:nvSpPr>
          <p:cNvPr id="34" name="Shape 31"/>
          <p:cNvSpPr/>
          <p:nvPr/>
        </p:nvSpPr>
        <p:spPr>
          <a:xfrm>
            <a:off x="7498080" y="4114800"/>
            <a:ext cx="2864815" cy="384048"/>
          </a:xfrm>
          <a:prstGeom prst="rect">
            <a:avLst/>
          </a:prstGeom>
          <a:solidFill>
            <a:srgbClr val="FF5178"/>
          </a:solidFill>
          <a:ln w="12700">
            <a:solidFill>
              <a:srgbClr val="FF5178"/>
            </a:solidFill>
            <a:prstDash val="solid"/>
          </a:ln>
        </p:spPr>
      </p:sp>
      <p:sp>
        <p:nvSpPr>
          <p:cNvPr id="35" name="Text 32"/>
          <p:cNvSpPr txBox="1"/>
          <p:nvPr/>
        </p:nvSpPr>
        <p:spPr>
          <a:xfrm>
            <a:off x="10454335" y="4023360"/>
            <a:ext cx="1097280" cy="548640"/>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5 ngày</a:t>
            </a:r>
            <a:endParaRPr lang="en-US" sz="1400" dirty="0"/>
          </a:p>
        </p:txBody>
      </p:sp>
      <p:sp>
        <p:nvSpPr>
          <p:cNvPr id="36" name="Shape 33"/>
          <p:cNvSpPr/>
          <p:nvPr/>
        </p:nvSpPr>
        <p:spPr>
          <a:xfrm>
            <a:off x="5669280" y="4892040"/>
            <a:ext cx="5973775" cy="1051560"/>
          </a:xfrm>
          <a:prstGeom prst="roundRect">
            <a:avLst>
              <a:gd name="adj" fmla="val 10435"/>
            </a:avLst>
          </a:prstGeom>
          <a:solidFill>
            <a:srgbClr val="FFF3C4"/>
          </a:solidFill>
          <a:ln w="12700">
            <a:solidFill>
              <a:srgbClr val="FFD23B"/>
            </a:solidFill>
            <a:prstDash val="solid"/>
          </a:ln>
        </p:spPr>
      </p:sp>
      <p:sp>
        <p:nvSpPr>
          <p:cNvPr id="37" name="Text 34"/>
          <p:cNvSpPr txBox="1"/>
          <p:nvPr/>
        </p:nvSpPr>
        <p:spPr>
          <a:xfrm>
            <a:off x="5943600" y="4892040"/>
            <a:ext cx="5425135" cy="105156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Chậm trả lời RFP hôm nay có thể là chậm xử lý sự cố vào ngày 12/12.</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655064"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165506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10.1 Quy trình mua</a:t>
            </a:r>
            <a:endParaRPr lang="en-US" sz="1000" dirty="0"/>
          </a:p>
        </p:txBody>
      </p:sp>
      <p:sp>
        <p:nvSpPr>
          <p:cNvPr id="6" name="Shape 4"/>
          <p:cNvSpPr/>
          <p:nvPr/>
        </p:nvSpPr>
        <p:spPr>
          <a:xfrm>
            <a:off x="3145536" y="274320"/>
            <a:ext cx="1266444"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145536" y="274320"/>
            <a:ext cx="126644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10.2 Địa điểm</a:t>
            </a:r>
            <a:endParaRPr lang="en-US" sz="1000" dirty="0"/>
          </a:p>
        </p:txBody>
      </p:sp>
      <p:sp>
        <p:nvSpPr>
          <p:cNvPr id="8" name="Shape 6"/>
          <p:cNvSpPr/>
          <p:nvPr/>
        </p:nvSpPr>
        <p:spPr>
          <a:xfrm>
            <a:off x="4521708" y="274320"/>
            <a:ext cx="2354580"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521708" y="274320"/>
            <a:ext cx="235458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10.3 Hành trình Key Account</a:t>
            </a:r>
            <a:endParaRPr lang="en-US" sz="1000" dirty="0"/>
          </a:p>
        </p:txBody>
      </p:sp>
      <p:sp>
        <p:nvSpPr>
          <p:cNvPr id="10" name="Shape 8"/>
          <p:cNvSpPr/>
          <p:nvPr/>
        </p:nvSpPr>
        <p:spPr>
          <a:xfrm>
            <a:off x="6986016"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986016"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384048" cy="384048"/>
          </a:xfrm>
          <a:prstGeom prst="roundRect">
            <a:avLst>
              <a:gd name="adj" fmla="val 18000"/>
            </a:avLst>
          </a:prstGeom>
          <a:solidFill>
            <a:srgbClr val="FFFFFF"/>
          </a:solidFill>
          <a:ln w="12700">
            <a:solidFill>
              <a:srgbClr val="2A2238"/>
            </a:solidFill>
            <a:prstDash val="solid"/>
          </a:ln>
        </p:spPr>
      </p:sp>
      <p:sp>
        <p:nvSpPr>
          <p:cNvPr id="13" name="Shape 11"/>
          <p:cNvSpPr/>
          <p:nvPr/>
        </p:nvSpPr>
        <p:spPr>
          <a:xfrm>
            <a:off x="11343498" y="265542"/>
            <a:ext cx="215067" cy="53767"/>
          </a:xfrm>
          <a:prstGeom prst="rect">
            <a:avLst/>
          </a:prstGeom>
          <a:solidFill>
            <a:srgbClr val="962B7C"/>
          </a:solidFill>
          <a:ln w="12700">
            <a:solidFill>
              <a:srgbClr val="962B7C"/>
            </a:solidFill>
            <a:prstDash val="solid"/>
          </a:ln>
        </p:spPr>
      </p:sp>
      <p:sp>
        <p:nvSpPr>
          <p:cNvPr id="14" name="Shape 12"/>
          <p:cNvSpPr/>
          <p:nvPr/>
        </p:nvSpPr>
        <p:spPr>
          <a:xfrm>
            <a:off x="11335817" y="380756"/>
            <a:ext cx="76810" cy="76810"/>
          </a:xfrm>
          <a:prstGeom prst="ellipse">
            <a:avLst/>
          </a:prstGeom>
          <a:solidFill>
            <a:srgbClr val="FF9259"/>
          </a:solidFill>
          <a:ln w="12700">
            <a:solidFill>
              <a:srgbClr val="FF9259"/>
            </a:solidFill>
            <a:prstDash val="solid"/>
          </a:ln>
        </p:spPr>
      </p:sp>
      <p:sp>
        <p:nvSpPr>
          <p:cNvPr id="15" name="Shape 13"/>
          <p:cNvSpPr/>
          <p:nvPr/>
        </p:nvSpPr>
        <p:spPr>
          <a:xfrm>
            <a:off x="11489436" y="380756"/>
            <a:ext cx="76810" cy="76810"/>
          </a:xfrm>
          <a:prstGeom prst="ellipse">
            <a:avLst/>
          </a:prstGeom>
          <a:solidFill>
            <a:srgbClr val="09A1E5"/>
          </a:solidFill>
          <a:ln w="12700">
            <a:solidFill>
              <a:srgbClr val="09A1E5"/>
            </a:solidFill>
            <a:prstDash val="solid"/>
          </a:ln>
        </p:spPr>
      </p:sp>
      <p:sp>
        <p:nvSpPr>
          <p:cNvPr id="16" name="Shape 14"/>
          <p:cNvSpPr/>
          <p:nvPr/>
        </p:nvSpPr>
        <p:spPr>
          <a:xfrm>
            <a:off x="11335817" y="488290"/>
            <a:ext cx="76810" cy="76810"/>
          </a:xfrm>
          <a:prstGeom prst="ellipse">
            <a:avLst/>
          </a:prstGeom>
          <a:solidFill>
            <a:srgbClr val="49B296"/>
          </a:solidFill>
          <a:ln w="12700">
            <a:solidFill>
              <a:srgbClr val="49B296"/>
            </a:solidFill>
            <a:prstDash val="solid"/>
          </a:ln>
        </p:spPr>
      </p:sp>
      <p:sp>
        <p:nvSpPr>
          <p:cNvPr id="17" name="Shape 15"/>
          <p:cNvSpPr/>
          <p:nvPr/>
        </p:nvSpPr>
        <p:spPr>
          <a:xfrm>
            <a:off x="11489436" y="488290"/>
            <a:ext cx="76810" cy="76810"/>
          </a:xfrm>
          <a:prstGeom prst="ellipse">
            <a:avLst/>
          </a:prstGeom>
          <a:solidFill>
            <a:srgbClr val="FF5178"/>
          </a:solidFill>
          <a:ln w="12700">
            <a:solidFill>
              <a:srgbClr val="FF5178"/>
            </a:solidFill>
            <a:prstDash val="solid"/>
          </a:ln>
        </p:spPr>
      </p:sp>
      <p:sp>
        <p:nvSpPr>
          <p:cNvPr id="18" name="Text 16"/>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Chấm điểm có trọng số biến lựa chọn thành lời giải thích</a:t>
            </a:r>
            <a:endParaRPr lang="en-US" sz="2600" dirty="0"/>
          </a:p>
        </p:txBody>
      </p:sp>
      <p:sp>
        <p:nvSpPr>
          <p:cNvPr id="19" name="Text 17"/>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Trọng số 60/40: GIẢ ĐỊNH (quyết định GV) · điều kiện bắt buộc: nhận định của người soạn, gần V02.</a:t>
            </a:r>
            <a:endParaRPr lang="en-US" sz="1000" dirty="0"/>
          </a:p>
        </p:txBody>
      </p:sp>
      <p:sp>
        <p:nvSpPr>
          <p:cNvPr id="20" name="Text 18"/>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10   9</a:t>
            </a:r>
            <a:endParaRPr lang="en-US" sz="1000" dirty="0"/>
          </a:p>
        </p:txBody>
      </p:sp>
      <p:sp>
        <p:nvSpPr>
          <p:cNvPr id="22" name="Shape 19"/>
          <p:cNvSpPr/>
          <p:nvPr/>
        </p:nvSpPr>
        <p:spPr>
          <a:xfrm>
            <a:off x="548640" y="1828800"/>
            <a:ext cx="3657600" cy="4160520"/>
          </a:xfrm>
          <a:prstGeom prst="roundRect">
            <a:avLst>
              <a:gd name="adj" fmla="val 3000"/>
            </a:avLst>
          </a:prstGeom>
          <a:solidFill>
            <a:srgbClr val="FFE4EA"/>
          </a:solidFill>
          <a:ln w="12700">
            <a:solidFill>
              <a:srgbClr val="FF5178"/>
            </a:solidFill>
            <a:prstDash val="solid"/>
          </a:ln>
        </p:spPr>
      </p:sp>
      <p:sp>
        <p:nvSpPr>
          <p:cNvPr id="23" name="Text 20"/>
          <p:cNvSpPr txBox="1"/>
          <p:nvPr/>
        </p:nvSpPr>
        <p:spPr>
          <a:xfrm>
            <a:off x="822960" y="1965960"/>
            <a:ext cx="3108960" cy="411480"/>
          </a:xfrm>
          <a:prstGeom prst="rect">
            <a:avLst/>
          </a:prstGeom>
          <a:noFill/>
          <a:ln/>
        </p:spPr>
        <p:txBody>
          <a:bodyPr wrap="square" lIns="0" tIns="0" rIns="0" bIns="0" rtlCol="0" anchor="ctr"/>
          <a:lstStyle/>
          <a:p>
            <a:pPr indent="0" marL="0">
              <a:buNone/>
            </a:pPr>
            <a:r>
              <a:rPr lang="en-US" sz="1500" b="1" dirty="0">
                <a:solidFill>
                  <a:srgbClr val="E03A62"/>
                </a:solidFill>
                <a:latin typeface="Alexandria" pitchFamily="34" charset="0"/>
                <a:ea typeface="Alexandria" pitchFamily="34" charset="-122"/>
                <a:cs typeface="Alexandria" pitchFamily="34" charset="-120"/>
              </a:rPr>
              <a:t>① Trước khi chấm</a:t>
            </a:r>
            <a:endParaRPr lang="en-US" sz="1500" dirty="0"/>
          </a:p>
        </p:txBody>
      </p:sp>
      <p:sp>
        <p:nvSpPr>
          <p:cNvPr id="24" name="Text 21"/>
          <p:cNvSpPr txBox="1"/>
          <p:nvPr/>
        </p:nvSpPr>
        <p:spPr>
          <a:xfrm>
            <a:off x="822960" y="2377440"/>
            <a:ext cx="3108960" cy="685800"/>
          </a:xfrm>
          <a:prstGeom prst="rect">
            <a:avLst/>
          </a:prstGeom>
          <a:noFill/>
          <a:ln/>
        </p:spPr>
        <p:txBody>
          <a:bodyPr wrap="square" lIns="0" tIns="0" rIns="0" bIns="0" rtlCol="0" anchor="t"/>
          <a:lstStyle/>
          <a:p>
            <a:pPr indent="0" marL="0">
              <a:buNone/>
            </a:pPr>
            <a:r>
              <a:rPr lang="en-US" sz="1700" b="1" dirty="0">
                <a:solidFill>
                  <a:srgbClr val="2A2238"/>
                </a:solidFill>
                <a:latin typeface="Alexandria" pitchFamily="34" charset="0"/>
                <a:ea typeface="Alexandria" pitchFamily="34" charset="-122"/>
                <a:cs typeface="Alexandria" pitchFamily="34" charset="-120"/>
              </a:rPr>
              <a:t>Điều kiện bắt buộc — đạt / không đạt</a:t>
            </a:r>
            <a:endParaRPr lang="en-US" sz="1700" dirty="0"/>
          </a:p>
        </p:txBody>
      </p:sp>
      <p:sp>
        <p:nvSpPr>
          <p:cNvPr id="25" name="Text 22"/>
          <p:cNvSpPr txBox="1"/>
          <p:nvPr/>
        </p:nvSpPr>
        <p:spPr>
          <a:xfrm>
            <a:off x="822960" y="3154680"/>
            <a:ext cx="3108960" cy="12801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2A2238"/>
                </a:solidFill>
                <a:latin typeface="Alexandria" pitchFamily="34" charset="0"/>
                <a:ea typeface="Alexandria" pitchFamily="34" charset="-122"/>
                <a:cs typeface="Alexandria" pitchFamily="34" charset="-120"/>
              </a:rPr>
              <a:t>Còn trống ngày 12/12</a:t>
            </a:r>
            <a:endParaRPr lang="en-US" sz="1400" dirty="0"/>
          </a:p>
          <a:p>
            <a:pPr marL="342900" indent="-342900">
              <a:spcAft>
                <a:spcPts val="600"/>
              </a:spcAft>
              <a:buSzPct val="100000"/>
              <a:buChar char="•"/>
            </a:pPr>
            <a:r>
              <a:rPr lang="en-US" sz="1400" dirty="0">
                <a:solidFill>
                  <a:srgbClr val="2A2238"/>
                </a:solidFill>
                <a:latin typeface="Alexandria" pitchFamily="34" charset="0"/>
                <a:ea typeface="Alexandria" pitchFamily="34" charset="-122"/>
                <a:cs typeface="Alexandria" pitchFamily="34" charset="-120"/>
              </a:rPr>
              <a:t>Đủ diện tích dùng được cho 600 khách</a:t>
            </a:r>
            <a:endParaRPr lang="en-US" sz="1400" dirty="0"/>
          </a:p>
        </p:txBody>
      </p:sp>
      <p:sp>
        <p:nvSpPr>
          <p:cNvPr id="26" name="Text 23"/>
          <p:cNvSpPr txBox="1"/>
          <p:nvPr/>
        </p:nvSpPr>
        <p:spPr>
          <a:xfrm>
            <a:off x="822960" y="4663440"/>
            <a:ext cx="3108960" cy="1097280"/>
          </a:xfrm>
          <a:prstGeom prst="rect">
            <a:avLst/>
          </a:prstGeom>
          <a:noFill/>
          <a:ln/>
        </p:spPr>
        <p:txBody>
          <a:bodyPr wrap="square" lIns="0" tIns="0" rIns="0" bIns="0" rtlCol="0" anchor="t"/>
          <a:lstStyle/>
          <a:p>
            <a:pPr indent="0" marL="0">
              <a:buNone/>
            </a:pPr>
            <a:r>
              <a:rPr lang="en-US" sz="1300" i="1" dirty="0">
                <a:solidFill>
                  <a:srgbClr val="2A2238"/>
                </a:solidFill>
                <a:latin typeface="Alexandria" pitchFamily="34" charset="0"/>
                <a:ea typeface="Alexandria" pitchFamily="34" charset="-122"/>
                <a:cs typeface="Alexandria" pitchFamily="34" charset="-120"/>
              </a:rPr>
              <a:t>Trượt điều kiện bắt buộc thì điểm cao cũng không cứu được.</a:t>
            </a:r>
            <a:endParaRPr lang="en-US" sz="1300" dirty="0"/>
          </a:p>
        </p:txBody>
      </p:sp>
      <p:sp>
        <p:nvSpPr>
          <p:cNvPr id="27" name="Text 24"/>
          <p:cNvSpPr txBox="1"/>
          <p:nvPr/>
        </p:nvSpPr>
        <p:spPr>
          <a:xfrm>
            <a:off x="4480560" y="1828800"/>
            <a:ext cx="7162495" cy="411480"/>
          </a:xfrm>
          <a:prstGeom prst="rect">
            <a:avLst/>
          </a:prstGeom>
          <a:noFill/>
          <a:ln/>
        </p:spPr>
        <p:txBody>
          <a:bodyPr wrap="square" lIns="0" tIns="0" rIns="0" bIns="0" rtlCol="0" anchor="ctr"/>
          <a:lstStyle/>
          <a:p>
            <a:pPr indent="0" marL="0">
              <a:buNone/>
            </a:pPr>
            <a:r>
              <a:rPr lang="en-US" sz="1500" b="1" dirty="0">
                <a:solidFill>
                  <a:srgbClr val="962B7C"/>
                </a:solidFill>
                <a:latin typeface="Alexandria" pitchFamily="34" charset="0"/>
                <a:ea typeface="Alexandria" pitchFamily="34" charset="-122"/>
                <a:cs typeface="Alexandria" pitchFamily="34" charset="-120"/>
              </a:rPr>
              <a:t>② Chấm có trọng số (GIẢ ĐỊNH 60/40)</a:t>
            </a:r>
            <a:endParaRPr lang="en-US" sz="1500" dirty="0"/>
          </a:p>
        </p:txBody>
      </p:sp>
      <p:sp>
        <p:nvSpPr>
          <p:cNvPr id="28" name="Text 25"/>
          <p:cNvSpPr txBox="1"/>
          <p:nvPr/>
        </p:nvSpPr>
        <p:spPr>
          <a:xfrm>
            <a:off x="4480560" y="2331720"/>
            <a:ext cx="4023360" cy="475488"/>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Không gian phù hợp khách của An Phát</a:t>
            </a:r>
            <a:endParaRPr lang="en-US" sz="1300" dirty="0"/>
          </a:p>
        </p:txBody>
      </p:sp>
      <p:sp>
        <p:nvSpPr>
          <p:cNvPr id="29" name="Shape 26"/>
          <p:cNvSpPr/>
          <p:nvPr/>
        </p:nvSpPr>
        <p:spPr>
          <a:xfrm>
            <a:off x="8595360" y="2404872"/>
            <a:ext cx="1203808" cy="329184"/>
          </a:xfrm>
          <a:prstGeom prst="rect">
            <a:avLst/>
          </a:prstGeom>
          <a:solidFill>
            <a:srgbClr val="962B7C"/>
          </a:solidFill>
          <a:ln w="12700">
            <a:solidFill>
              <a:srgbClr val="962B7C"/>
            </a:solidFill>
            <a:prstDash val="solid"/>
          </a:ln>
        </p:spPr>
      </p:sp>
      <p:sp>
        <p:nvSpPr>
          <p:cNvPr id="30" name="Text 27"/>
          <p:cNvSpPr txBox="1"/>
          <p:nvPr/>
        </p:nvSpPr>
        <p:spPr>
          <a:xfrm>
            <a:off x="9872320" y="2331720"/>
            <a:ext cx="548640" cy="475488"/>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20</a:t>
            </a:r>
            <a:endParaRPr lang="en-US" sz="1400" dirty="0"/>
          </a:p>
        </p:txBody>
      </p:sp>
      <p:sp>
        <p:nvSpPr>
          <p:cNvPr id="31" name="Text 28"/>
          <p:cNvSpPr txBox="1"/>
          <p:nvPr/>
        </p:nvSpPr>
        <p:spPr>
          <a:xfrm>
            <a:off x="4480560" y="2898648"/>
            <a:ext cx="4023360" cy="475488"/>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Kỹ thuật – AV – livestream (gồm độc quyền)</a:t>
            </a:r>
            <a:endParaRPr lang="en-US" sz="1300" dirty="0"/>
          </a:p>
        </p:txBody>
      </p:sp>
      <p:sp>
        <p:nvSpPr>
          <p:cNvPr id="32" name="Shape 29"/>
          <p:cNvSpPr/>
          <p:nvPr/>
        </p:nvSpPr>
        <p:spPr>
          <a:xfrm>
            <a:off x="8595360" y="2971800"/>
            <a:ext cx="902856" cy="329184"/>
          </a:xfrm>
          <a:prstGeom prst="rect">
            <a:avLst/>
          </a:prstGeom>
          <a:solidFill>
            <a:srgbClr val="962B7C"/>
          </a:solidFill>
          <a:ln w="12700">
            <a:solidFill>
              <a:srgbClr val="962B7C"/>
            </a:solidFill>
            <a:prstDash val="solid"/>
          </a:ln>
        </p:spPr>
      </p:sp>
      <p:sp>
        <p:nvSpPr>
          <p:cNvPr id="33" name="Text 30"/>
          <p:cNvSpPr txBox="1"/>
          <p:nvPr/>
        </p:nvSpPr>
        <p:spPr>
          <a:xfrm>
            <a:off x="9571368" y="2898648"/>
            <a:ext cx="548640" cy="475488"/>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15</a:t>
            </a:r>
            <a:endParaRPr lang="en-US" sz="1400" dirty="0"/>
          </a:p>
        </p:txBody>
      </p:sp>
      <p:sp>
        <p:nvSpPr>
          <p:cNvPr id="34" name="Text 31"/>
          <p:cNvSpPr txBox="1"/>
          <p:nvPr/>
        </p:nvSpPr>
        <p:spPr>
          <a:xfrm>
            <a:off x="4480560" y="3465576"/>
            <a:ext cx="4023360" cy="475488"/>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Điều khoản: hủy, số khách, giờ dựng</a:t>
            </a:r>
            <a:endParaRPr lang="en-US" sz="1300" dirty="0"/>
          </a:p>
        </p:txBody>
      </p:sp>
      <p:sp>
        <p:nvSpPr>
          <p:cNvPr id="35" name="Shape 32"/>
          <p:cNvSpPr/>
          <p:nvPr/>
        </p:nvSpPr>
        <p:spPr>
          <a:xfrm>
            <a:off x="8595360" y="3538728"/>
            <a:ext cx="902856" cy="329184"/>
          </a:xfrm>
          <a:prstGeom prst="rect">
            <a:avLst/>
          </a:prstGeom>
          <a:solidFill>
            <a:srgbClr val="962B7C"/>
          </a:solidFill>
          <a:ln w="12700">
            <a:solidFill>
              <a:srgbClr val="962B7C"/>
            </a:solidFill>
            <a:prstDash val="solid"/>
          </a:ln>
        </p:spPr>
      </p:sp>
      <p:sp>
        <p:nvSpPr>
          <p:cNvPr id="36" name="Text 33"/>
          <p:cNvSpPr txBox="1"/>
          <p:nvPr/>
        </p:nvSpPr>
        <p:spPr>
          <a:xfrm>
            <a:off x="9571368" y="3465576"/>
            <a:ext cx="548640" cy="475488"/>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15</a:t>
            </a:r>
            <a:endParaRPr lang="en-US" sz="1400" dirty="0"/>
          </a:p>
        </p:txBody>
      </p:sp>
      <p:sp>
        <p:nvSpPr>
          <p:cNvPr id="37" name="Text 34"/>
          <p:cNvSpPr txBox="1"/>
          <p:nvPr/>
        </p:nvSpPr>
        <p:spPr>
          <a:xfrm>
            <a:off x="4480560" y="4032504"/>
            <a:ext cx="4023360" cy="475488"/>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Dịch vụ, F&amp;B</a:t>
            </a:r>
            <a:endParaRPr lang="en-US" sz="1300" dirty="0"/>
          </a:p>
        </p:txBody>
      </p:sp>
      <p:sp>
        <p:nvSpPr>
          <p:cNvPr id="38" name="Shape 35"/>
          <p:cNvSpPr/>
          <p:nvPr/>
        </p:nvSpPr>
        <p:spPr>
          <a:xfrm>
            <a:off x="8595360" y="4105656"/>
            <a:ext cx="601904" cy="329184"/>
          </a:xfrm>
          <a:prstGeom prst="rect">
            <a:avLst/>
          </a:prstGeom>
          <a:solidFill>
            <a:srgbClr val="962B7C"/>
          </a:solidFill>
          <a:ln w="12700">
            <a:solidFill>
              <a:srgbClr val="962B7C"/>
            </a:solidFill>
            <a:prstDash val="solid"/>
          </a:ln>
        </p:spPr>
      </p:sp>
      <p:sp>
        <p:nvSpPr>
          <p:cNvPr id="39" name="Text 36"/>
          <p:cNvSpPr txBox="1"/>
          <p:nvPr/>
        </p:nvSpPr>
        <p:spPr>
          <a:xfrm>
            <a:off x="9270416" y="4032504"/>
            <a:ext cx="548640" cy="475488"/>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10</a:t>
            </a:r>
            <a:endParaRPr lang="en-US" sz="1400" dirty="0"/>
          </a:p>
        </p:txBody>
      </p:sp>
      <p:sp>
        <p:nvSpPr>
          <p:cNvPr id="40" name="Text 37"/>
          <p:cNvSpPr txBox="1"/>
          <p:nvPr/>
        </p:nvSpPr>
        <p:spPr>
          <a:xfrm>
            <a:off x="4480560" y="4599432"/>
            <a:ext cx="4023360" cy="475488"/>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Tổng chi phí (thuê + AV + phụ thu)</a:t>
            </a:r>
            <a:endParaRPr lang="en-US" sz="1300" dirty="0"/>
          </a:p>
        </p:txBody>
      </p:sp>
      <p:sp>
        <p:nvSpPr>
          <p:cNvPr id="41" name="Shape 38"/>
          <p:cNvSpPr/>
          <p:nvPr/>
        </p:nvSpPr>
        <p:spPr>
          <a:xfrm>
            <a:off x="8595360" y="4672584"/>
            <a:ext cx="2407615" cy="329184"/>
          </a:xfrm>
          <a:prstGeom prst="rect">
            <a:avLst/>
          </a:prstGeom>
          <a:solidFill>
            <a:srgbClr val="09A1E5"/>
          </a:solidFill>
          <a:ln w="12700">
            <a:solidFill>
              <a:srgbClr val="09A1E5"/>
            </a:solidFill>
            <a:prstDash val="solid"/>
          </a:ln>
        </p:spPr>
      </p:sp>
      <p:sp>
        <p:nvSpPr>
          <p:cNvPr id="42" name="Text 39"/>
          <p:cNvSpPr txBox="1"/>
          <p:nvPr/>
        </p:nvSpPr>
        <p:spPr>
          <a:xfrm>
            <a:off x="11076127" y="4599432"/>
            <a:ext cx="548640" cy="475488"/>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40</a:t>
            </a:r>
            <a:endParaRPr lang="en-US" sz="1400" dirty="0"/>
          </a:p>
        </p:txBody>
      </p:sp>
      <p:sp>
        <p:nvSpPr>
          <p:cNvPr id="43" name="Shape 40"/>
          <p:cNvSpPr/>
          <p:nvPr/>
        </p:nvSpPr>
        <p:spPr>
          <a:xfrm>
            <a:off x="4480560" y="5303520"/>
            <a:ext cx="7162495" cy="685800"/>
          </a:xfrm>
          <a:prstGeom prst="roundRect">
            <a:avLst>
              <a:gd name="adj" fmla="val 16000"/>
            </a:avLst>
          </a:prstGeom>
          <a:solidFill>
            <a:srgbClr val="FFF3C4"/>
          </a:solidFill>
          <a:ln w="12700">
            <a:solidFill>
              <a:srgbClr val="FFD23B"/>
            </a:solidFill>
            <a:prstDash val="solid"/>
          </a:ln>
        </p:spPr>
      </p:sp>
      <p:sp>
        <p:nvSpPr>
          <p:cNvPr id="44" name="Text 41"/>
          <p:cNvSpPr txBox="1"/>
          <p:nvPr/>
        </p:nvSpPr>
        <p:spPr>
          <a:xfrm>
            <a:off x="4754880" y="5303520"/>
            <a:ext cx="6613855" cy="68580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Điểm = Σ (điểm 1–5 × trọng số) ÷ 5</a:t>
            </a:r>
            <a:pPr indent="0" marL="0">
              <a:buNone/>
            </a:pPr>
            <a:r>
              <a:rPr lang="en-US" sz="1600" dirty="0">
                <a:solidFill>
                  <a:srgbClr val="2A2238"/>
                </a:solidFill>
                <a:latin typeface="Alexandria" pitchFamily="34" charset="0"/>
                <a:ea typeface="Alexandria" pitchFamily="34" charset="-122"/>
                <a:cs typeface="Alexandria" pitchFamily="34" charset="-120"/>
              </a:rPr>
              <a:t>  → thang 100</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655064"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165506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10.1 Quy trình mua</a:t>
            </a:r>
            <a:endParaRPr lang="en-US" sz="1000" dirty="0"/>
          </a:p>
        </p:txBody>
      </p:sp>
      <p:sp>
        <p:nvSpPr>
          <p:cNvPr id="6" name="Shape 4"/>
          <p:cNvSpPr/>
          <p:nvPr/>
        </p:nvSpPr>
        <p:spPr>
          <a:xfrm>
            <a:off x="3145536" y="274320"/>
            <a:ext cx="1266444"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145536" y="274320"/>
            <a:ext cx="126644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10.2 Địa điểm</a:t>
            </a:r>
            <a:endParaRPr lang="en-US" sz="1000" dirty="0"/>
          </a:p>
        </p:txBody>
      </p:sp>
      <p:sp>
        <p:nvSpPr>
          <p:cNvPr id="8" name="Shape 6"/>
          <p:cNvSpPr/>
          <p:nvPr/>
        </p:nvSpPr>
        <p:spPr>
          <a:xfrm>
            <a:off x="4521708" y="274320"/>
            <a:ext cx="2354580"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521708" y="274320"/>
            <a:ext cx="235458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10.3 Hành trình Key Account</a:t>
            </a:r>
            <a:endParaRPr lang="en-US" sz="1000" dirty="0"/>
          </a:p>
        </p:txBody>
      </p:sp>
      <p:sp>
        <p:nvSpPr>
          <p:cNvPr id="10" name="Shape 8"/>
          <p:cNvSpPr/>
          <p:nvPr/>
        </p:nvSpPr>
        <p:spPr>
          <a:xfrm>
            <a:off x="6986016"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986016"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384048" cy="384048"/>
          </a:xfrm>
          <a:prstGeom prst="roundRect">
            <a:avLst>
              <a:gd name="adj" fmla="val 18000"/>
            </a:avLst>
          </a:prstGeom>
          <a:solidFill>
            <a:srgbClr val="FFFFFF"/>
          </a:solidFill>
          <a:ln w="12700">
            <a:solidFill>
              <a:srgbClr val="2A2238"/>
            </a:solidFill>
            <a:prstDash val="solid"/>
          </a:ln>
        </p:spPr>
      </p:sp>
      <p:sp>
        <p:nvSpPr>
          <p:cNvPr id="13" name="Shape 11"/>
          <p:cNvSpPr/>
          <p:nvPr/>
        </p:nvSpPr>
        <p:spPr>
          <a:xfrm>
            <a:off x="11343498" y="265542"/>
            <a:ext cx="215067" cy="53767"/>
          </a:xfrm>
          <a:prstGeom prst="rect">
            <a:avLst/>
          </a:prstGeom>
          <a:solidFill>
            <a:srgbClr val="962B7C"/>
          </a:solidFill>
          <a:ln w="12700">
            <a:solidFill>
              <a:srgbClr val="962B7C"/>
            </a:solidFill>
            <a:prstDash val="solid"/>
          </a:ln>
        </p:spPr>
      </p:sp>
      <p:sp>
        <p:nvSpPr>
          <p:cNvPr id="14" name="Shape 12"/>
          <p:cNvSpPr/>
          <p:nvPr/>
        </p:nvSpPr>
        <p:spPr>
          <a:xfrm>
            <a:off x="11335817" y="380756"/>
            <a:ext cx="76810" cy="76810"/>
          </a:xfrm>
          <a:prstGeom prst="ellipse">
            <a:avLst/>
          </a:prstGeom>
          <a:solidFill>
            <a:srgbClr val="FF9259"/>
          </a:solidFill>
          <a:ln w="12700">
            <a:solidFill>
              <a:srgbClr val="FF9259"/>
            </a:solidFill>
            <a:prstDash val="solid"/>
          </a:ln>
        </p:spPr>
      </p:sp>
      <p:sp>
        <p:nvSpPr>
          <p:cNvPr id="15" name="Shape 13"/>
          <p:cNvSpPr/>
          <p:nvPr/>
        </p:nvSpPr>
        <p:spPr>
          <a:xfrm>
            <a:off x="11489436" y="380756"/>
            <a:ext cx="76810" cy="76810"/>
          </a:xfrm>
          <a:prstGeom prst="ellipse">
            <a:avLst/>
          </a:prstGeom>
          <a:solidFill>
            <a:srgbClr val="09A1E5"/>
          </a:solidFill>
          <a:ln w="12700">
            <a:solidFill>
              <a:srgbClr val="09A1E5"/>
            </a:solidFill>
            <a:prstDash val="solid"/>
          </a:ln>
        </p:spPr>
      </p:sp>
      <p:sp>
        <p:nvSpPr>
          <p:cNvPr id="16" name="Shape 14"/>
          <p:cNvSpPr/>
          <p:nvPr/>
        </p:nvSpPr>
        <p:spPr>
          <a:xfrm>
            <a:off x="11335817" y="488290"/>
            <a:ext cx="76810" cy="76810"/>
          </a:xfrm>
          <a:prstGeom prst="ellipse">
            <a:avLst/>
          </a:prstGeom>
          <a:solidFill>
            <a:srgbClr val="49B296"/>
          </a:solidFill>
          <a:ln w="12700">
            <a:solidFill>
              <a:srgbClr val="49B296"/>
            </a:solidFill>
            <a:prstDash val="solid"/>
          </a:ln>
        </p:spPr>
      </p:sp>
      <p:sp>
        <p:nvSpPr>
          <p:cNvPr id="17" name="Shape 15"/>
          <p:cNvSpPr/>
          <p:nvPr/>
        </p:nvSpPr>
        <p:spPr>
          <a:xfrm>
            <a:off x="11489436" y="488290"/>
            <a:ext cx="76810" cy="76810"/>
          </a:xfrm>
          <a:prstGeom prst="ellipse">
            <a:avLst/>
          </a:prstGeom>
          <a:solidFill>
            <a:srgbClr val="FF5178"/>
          </a:solidFill>
          <a:ln w="12700">
            <a:solidFill>
              <a:srgbClr val="FF5178"/>
            </a:solidFill>
            <a:prstDash val="solid"/>
          </a:ln>
        </p:spPr>
      </p:sp>
      <p:sp>
        <p:nvSpPr>
          <p:cNvPr id="18" name="Text 16"/>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Bốn nguyên tắc: value for money, công bằng, dấu vết, phản hồi bên trượt</a:t>
            </a:r>
            <a:endParaRPr lang="en-US" sz="2600" dirty="0"/>
          </a:p>
        </p:txBody>
      </p:sp>
      <p:sp>
        <p:nvSpPr>
          <p:cNvPr id="19" name="Text 17"/>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V02: CIPS, Tender evaluation · V04: Dickson (1966); Weber et al. (1991); Ho et al. (2010) — chưa đọc toàn văn.</a:t>
            </a:r>
            <a:endParaRPr lang="en-US" sz="1000" dirty="0"/>
          </a:p>
        </p:txBody>
      </p:sp>
      <p:sp>
        <p:nvSpPr>
          <p:cNvPr id="20" name="Text 18"/>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10   10</a:t>
            </a:r>
            <a:endParaRPr lang="en-US" sz="1000" dirty="0"/>
          </a:p>
        </p:txBody>
      </p:sp>
      <p:sp>
        <p:nvSpPr>
          <p:cNvPr id="22" name="Shape 19"/>
          <p:cNvSpPr/>
          <p:nvPr/>
        </p:nvSpPr>
        <p:spPr>
          <a:xfrm>
            <a:off x="548640" y="1874520"/>
            <a:ext cx="5410048" cy="1417320"/>
          </a:xfrm>
          <a:prstGeom prst="roundRect">
            <a:avLst>
              <a:gd name="adj" fmla="val 7742"/>
            </a:avLst>
          </a:prstGeom>
          <a:solidFill>
            <a:srgbClr val="FFE9DE"/>
          </a:solidFill>
          <a:ln w="12700">
            <a:solidFill>
              <a:srgbClr val="FF9259"/>
            </a:solidFill>
            <a:prstDash val="solid"/>
          </a:ln>
        </p:spPr>
      </p:sp>
      <p:sp>
        <p:nvSpPr>
          <p:cNvPr id="23" name="Shape 20"/>
          <p:cNvSpPr/>
          <p:nvPr/>
        </p:nvSpPr>
        <p:spPr>
          <a:xfrm>
            <a:off x="822960" y="2221992"/>
            <a:ext cx="731520" cy="731520"/>
          </a:xfrm>
          <a:prstGeom prst="ellipse">
            <a:avLst/>
          </a:prstGeom>
          <a:solidFill>
            <a:srgbClr val="FF9259"/>
          </a:solidFill>
          <a:ln w="12700">
            <a:solidFill>
              <a:srgbClr val="FF9259"/>
            </a:solidFill>
            <a:prstDash val="solid"/>
          </a:ln>
        </p:spPr>
      </p:sp>
      <p:sp>
        <p:nvSpPr>
          <p:cNvPr id="24" name="Text 21"/>
          <p:cNvSpPr txBox="1"/>
          <p:nvPr/>
        </p:nvSpPr>
        <p:spPr>
          <a:xfrm>
            <a:off x="822960" y="2221992"/>
            <a:ext cx="731520" cy="731520"/>
          </a:xfrm>
          <a:prstGeom prst="rect">
            <a:avLst/>
          </a:prstGeom>
          <a:noFill/>
          <a:ln/>
        </p:spPr>
        <p:txBody>
          <a:bodyPr wrap="square" lIns="0" tIns="0" rIns="0" bIns="0" rtlCol="0" anchor="ctr"/>
          <a:lstStyle/>
          <a:p>
            <a:pPr algn="ctr" indent="0" marL="0">
              <a:buNone/>
            </a:pPr>
            <a:r>
              <a:rPr lang="en-US" sz="2400" b="1" dirty="0">
                <a:solidFill>
                  <a:srgbClr val="2A2238"/>
                </a:solidFill>
                <a:latin typeface="Alexandria" pitchFamily="34" charset="0"/>
                <a:ea typeface="Alexandria" pitchFamily="34" charset="-122"/>
                <a:cs typeface="Alexandria" pitchFamily="34" charset="-120"/>
              </a:rPr>
              <a:t>1</a:t>
            </a:r>
            <a:endParaRPr lang="en-US" sz="2400" dirty="0"/>
          </a:p>
        </p:txBody>
      </p:sp>
      <p:sp>
        <p:nvSpPr>
          <p:cNvPr id="25" name="Text 22"/>
          <p:cNvSpPr txBox="1"/>
          <p:nvPr/>
        </p:nvSpPr>
        <p:spPr>
          <a:xfrm>
            <a:off x="1783080" y="2057400"/>
            <a:ext cx="3947008" cy="502920"/>
          </a:xfrm>
          <a:prstGeom prst="rect">
            <a:avLst/>
          </a:prstGeom>
          <a:noFill/>
          <a:ln/>
        </p:spPr>
        <p:txBody>
          <a:bodyPr wrap="square" lIns="0" tIns="0" rIns="0" bIns="0" rtlCol="0" anchor="ctr"/>
          <a:lstStyle/>
          <a:p>
            <a:pPr indent="0" marL="0">
              <a:buNone/>
            </a:pPr>
            <a:r>
              <a:rPr lang="en-US" sz="2000" b="1" dirty="0">
                <a:solidFill>
                  <a:srgbClr val="2A2238"/>
                </a:solidFill>
                <a:latin typeface="Alexandria" pitchFamily="34" charset="0"/>
                <a:ea typeface="Alexandria" pitchFamily="34" charset="-122"/>
                <a:cs typeface="Alexandria" pitchFamily="34" charset="-120"/>
              </a:rPr>
              <a:t>Value for money</a:t>
            </a:r>
            <a:endParaRPr lang="en-US" sz="2000" dirty="0"/>
          </a:p>
        </p:txBody>
      </p:sp>
      <p:sp>
        <p:nvSpPr>
          <p:cNvPr id="26" name="Text 23"/>
          <p:cNvSpPr txBox="1"/>
          <p:nvPr/>
        </p:nvSpPr>
        <p:spPr>
          <a:xfrm>
            <a:off x="1783080" y="2560320"/>
            <a:ext cx="3947008" cy="594360"/>
          </a:xfrm>
          <a:prstGeom prst="rect">
            <a:avLst/>
          </a:prstGeom>
          <a:noFill/>
          <a:ln/>
        </p:spPr>
        <p:txBody>
          <a:bodyPr wrap="square" lIns="0" tIns="0" rIns="0" bIns="0" rtlCol="0" anchor="t"/>
          <a:lstStyle/>
          <a:p>
            <a:pPr indent="0" marL="0">
              <a:buNone/>
            </a:pPr>
            <a:r>
              <a:rPr lang="en-US" sz="1500" dirty="0">
                <a:solidFill>
                  <a:srgbClr val="2A2238"/>
                </a:solidFill>
                <a:latin typeface="Alexandria" pitchFamily="34" charset="0"/>
                <a:ea typeface="Alexandria" pitchFamily="34" charset="-122"/>
                <a:cs typeface="Alexandria" pitchFamily="34" charset="-120"/>
              </a:rPr>
              <a:t>không phải giá thấp nhất</a:t>
            </a:r>
            <a:endParaRPr lang="en-US" sz="1500" dirty="0"/>
          </a:p>
        </p:txBody>
      </p:sp>
      <p:sp>
        <p:nvSpPr>
          <p:cNvPr id="27" name="Shape 24"/>
          <p:cNvSpPr/>
          <p:nvPr/>
        </p:nvSpPr>
        <p:spPr>
          <a:xfrm>
            <a:off x="6233008" y="1874520"/>
            <a:ext cx="5410048" cy="1417320"/>
          </a:xfrm>
          <a:prstGeom prst="roundRect">
            <a:avLst>
              <a:gd name="adj" fmla="val 7742"/>
            </a:avLst>
          </a:prstGeom>
          <a:solidFill>
            <a:srgbClr val="F1E1EE"/>
          </a:solidFill>
          <a:ln w="12700">
            <a:solidFill>
              <a:srgbClr val="962B7C"/>
            </a:solidFill>
            <a:prstDash val="solid"/>
          </a:ln>
        </p:spPr>
      </p:sp>
      <p:sp>
        <p:nvSpPr>
          <p:cNvPr id="28" name="Shape 25"/>
          <p:cNvSpPr/>
          <p:nvPr/>
        </p:nvSpPr>
        <p:spPr>
          <a:xfrm>
            <a:off x="6507328" y="2221992"/>
            <a:ext cx="731520" cy="731520"/>
          </a:xfrm>
          <a:prstGeom prst="ellipse">
            <a:avLst/>
          </a:prstGeom>
          <a:solidFill>
            <a:srgbClr val="962B7C"/>
          </a:solidFill>
          <a:ln w="12700">
            <a:solidFill>
              <a:srgbClr val="962B7C"/>
            </a:solidFill>
            <a:prstDash val="solid"/>
          </a:ln>
        </p:spPr>
      </p:sp>
      <p:sp>
        <p:nvSpPr>
          <p:cNvPr id="29" name="Text 26"/>
          <p:cNvSpPr txBox="1"/>
          <p:nvPr/>
        </p:nvSpPr>
        <p:spPr>
          <a:xfrm>
            <a:off x="6507328" y="2221992"/>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2</a:t>
            </a:r>
            <a:endParaRPr lang="en-US" sz="2400" dirty="0"/>
          </a:p>
        </p:txBody>
      </p:sp>
      <p:sp>
        <p:nvSpPr>
          <p:cNvPr id="30" name="Text 27"/>
          <p:cNvSpPr txBox="1"/>
          <p:nvPr/>
        </p:nvSpPr>
        <p:spPr>
          <a:xfrm>
            <a:off x="7467448" y="2057400"/>
            <a:ext cx="3947008" cy="502920"/>
          </a:xfrm>
          <a:prstGeom prst="rect">
            <a:avLst/>
          </a:prstGeom>
          <a:noFill/>
          <a:ln/>
        </p:spPr>
        <p:txBody>
          <a:bodyPr wrap="square" lIns="0" tIns="0" rIns="0" bIns="0" rtlCol="0" anchor="ctr"/>
          <a:lstStyle/>
          <a:p>
            <a:pPr indent="0" marL="0">
              <a:buNone/>
            </a:pPr>
            <a:r>
              <a:rPr lang="en-US" sz="2000" b="1" dirty="0">
                <a:solidFill>
                  <a:srgbClr val="2A2238"/>
                </a:solidFill>
                <a:latin typeface="Alexandria" pitchFamily="34" charset="0"/>
                <a:ea typeface="Alexandria" pitchFamily="34" charset="-122"/>
                <a:cs typeface="Alexandria" pitchFamily="34" charset="-120"/>
              </a:rPr>
              <a:t>Đối xử công bằng</a:t>
            </a:r>
            <a:endParaRPr lang="en-US" sz="2000" dirty="0"/>
          </a:p>
        </p:txBody>
      </p:sp>
      <p:sp>
        <p:nvSpPr>
          <p:cNvPr id="31" name="Text 28"/>
          <p:cNvSpPr txBox="1"/>
          <p:nvPr/>
        </p:nvSpPr>
        <p:spPr>
          <a:xfrm>
            <a:off x="7467448" y="2560320"/>
            <a:ext cx="3947008" cy="594360"/>
          </a:xfrm>
          <a:prstGeom prst="rect">
            <a:avLst/>
          </a:prstGeom>
          <a:noFill/>
          <a:ln/>
        </p:spPr>
        <p:txBody>
          <a:bodyPr wrap="square" lIns="0" tIns="0" rIns="0" bIns="0" rtlCol="0" anchor="t"/>
          <a:lstStyle/>
          <a:p>
            <a:pPr indent="0" marL="0">
              <a:buNone/>
            </a:pPr>
            <a:r>
              <a:rPr lang="en-US" sz="1500" dirty="0">
                <a:solidFill>
                  <a:srgbClr val="2A2238"/>
                </a:solidFill>
                <a:latin typeface="Alexandria" pitchFamily="34" charset="0"/>
                <a:ea typeface="Alexandria" pitchFamily="34" charset="-122"/>
                <a:cs typeface="Alexandria" pitchFamily="34" charset="-120"/>
              </a:rPr>
              <a:t>cùng yêu cầu, cùng hạn, cùng tiêu chí cho mọi bên</a:t>
            </a:r>
            <a:endParaRPr lang="en-US" sz="1500" dirty="0"/>
          </a:p>
        </p:txBody>
      </p:sp>
      <p:sp>
        <p:nvSpPr>
          <p:cNvPr id="32" name="Shape 29"/>
          <p:cNvSpPr/>
          <p:nvPr/>
        </p:nvSpPr>
        <p:spPr>
          <a:xfrm>
            <a:off x="548640" y="3474720"/>
            <a:ext cx="5410048" cy="1417320"/>
          </a:xfrm>
          <a:prstGeom prst="roundRect">
            <a:avLst>
              <a:gd name="adj" fmla="val 7742"/>
            </a:avLst>
          </a:prstGeom>
          <a:solidFill>
            <a:srgbClr val="DDF1FB"/>
          </a:solidFill>
          <a:ln w="12700">
            <a:solidFill>
              <a:srgbClr val="09A1E5"/>
            </a:solidFill>
            <a:prstDash val="solid"/>
          </a:ln>
        </p:spPr>
      </p:sp>
      <p:sp>
        <p:nvSpPr>
          <p:cNvPr id="33" name="Shape 30"/>
          <p:cNvSpPr/>
          <p:nvPr/>
        </p:nvSpPr>
        <p:spPr>
          <a:xfrm>
            <a:off x="822960" y="3822192"/>
            <a:ext cx="731520" cy="731520"/>
          </a:xfrm>
          <a:prstGeom prst="ellipse">
            <a:avLst/>
          </a:prstGeom>
          <a:solidFill>
            <a:srgbClr val="09A1E5"/>
          </a:solidFill>
          <a:ln w="12700">
            <a:solidFill>
              <a:srgbClr val="09A1E5"/>
            </a:solidFill>
            <a:prstDash val="solid"/>
          </a:ln>
        </p:spPr>
      </p:sp>
      <p:sp>
        <p:nvSpPr>
          <p:cNvPr id="34" name="Text 31"/>
          <p:cNvSpPr txBox="1"/>
          <p:nvPr/>
        </p:nvSpPr>
        <p:spPr>
          <a:xfrm>
            <a:off x="822960" y="3822192"/>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3</a:t>
            </a:r>
            <a:endParaRPr lang="en-US" sz="2400" dirty="0"/>
          </a:p>
        </p:txBody>
      </p:sp>
      <p:sp>
        <p:nvSpPr>
          <p:cNvPr id="35" name="Text 32"/>
          <p:cNvSpPr txBox="1"/>
          <p:nvPr/>
        </p:nvSpPr>
        <p:spPr>
          <a:xfrm>
            <a:off x="1783080" y="3657600"/>
            <a:ext cx="3947008" cy="502920"/>
          </a:xfrm>
          <a:prstGeom prst="rect">
            <a:avLst/>
          </a:prstGeom>
          <a:noFill/>
          <a:ln/>
        </p:spPr>
        <p:txBody>
          <a:bodyPr wrap="square" lIns="0" tIns="0" rIns="0" bIns="0" rtlCol="0" anchor="ctr"/>
          <a:lstStyle/>
          <a:p>
            <a:pPr indent="0" marL="0">
              <a:buNone/>
            </a:pPr>
            <a:r>
              <a:rPr lang="en-US" sz="2000" b="1" dirty="0">
                <a:solidFill>
                  <a:srgbClr val="2A2238"/>
                </a:solidFill>
                <a:latin typeface="Alexandria" pitchFamily="34" charset="0"/>
                <a:ea typeface="Alexandria" pitchFamily="34" charset="-122"/>
                <a:cs typeface="Alexandria" pitchFamily="34" charset="-120"/>
              </a:rPr>
              <a:t>Audit trail</a:t>
            </a:r>
            <a:endParaRPr lang="en-US" sz="2000" dirty="0"/>
          </a:p>
        </p:txBody>
      </p:sp>
      <p:sp>
        <p:nvSpPr>
          <p:cNvPr id="36" name="Text 33"/>
          <p:cNvSpPr txBox="1"/>
          <p:nvPr/>
        </p:nvSpPr>
        <p:spPr>
          <a:xfrm>
            <a:off x="1783080" y="4160520"/>
            <a:ext cx="3947008" cy="594360"/>
          </a:xfrm>
          <a:prstGeom prst="rect">
            <a:avLst/>
          </a:prstGeom>
          <a:noFill/>
          <a:ln/>
        </p:spPr>
        <p:txBody>
          <a:bodyPr wrap="square" lIns="0" tIns="0" rIns="0" bIns="0" rtlCol="0" anchor="t"/>
          <a:lstStyle/>
          <a:p>
            <a:pPr indent="0" marL="0">
              <a:buNone/>
            </a:pPr>
            <a:r>
              <a:rPr lang="en-US" sz="1500" dirty="0">
                <a:solidFill>
                  <a:srgbClr val="2A2238"/>
                </a:solidFill>
                <a:latin typeface="Alexandria" pitchFamily="34" charset="0"/>
                <a:ea typeface="Alexandria" pitchFamily="34" charset="-122"/>
                <a:cs typeface="Alexandria" pitchFamily="34" charset="-120"/>
              </a:rPr>
              <a:t>giữ dấu vết: ai chấm, chấm gì, vì sao</a:t>
            </a:r>
            <a:endParaRPr lang="en-US" sz="1500" dirty="0"/>
          </a:p>
        </p:txBody>
      </p:sp>
      <p:sp>
        <p:nvSpPr>
          <p:cNvPr id="37" name="Shape 34"/>
          <p:cNvSpPr/>
          <p:nvPr/>
        </p:nvSpPr>
        <p:spPr>
          <a:xfrm>
            <a:off x="6233008" y="3474720"/>
            <a:ext cx="5410048" cy="1417320"/>
          </a:xfrm>
          <a:prstGeom prst="roundRect">
            <a:avLst>
              <a:gd name="adj" fmla="val 7742"/>
            </a:avLst>
          </a:prstGeom>
          <a:solidFill>
            <a:srgbClr val="E1F3EE"/>
          </a:solidFill>
          <a:ln w="12700">
            <a:solidFill>
              <a:srgbClr val="49B296"/>
            </a:solidFill>
            <a:prstDash val="solid"/>
          </a:ln>
        </p:spPr>
      </p:sp>
      <p:sp>
        <p:nvSpPr>
          <p:cNvPr id="38" name="Shape 35"/>
          <p:cNvSpPr/>
          <p:nvPr/>
        </p:nvSpPr>
        <p:spPr>
          <a:xfrm>
            <a:off x="6507328" y="3822192"/>
            <a:ext cx="731520" cy="731520"/>
          </a:xfrm>
          <a:prstGeom prst="ellipse">
            <a:avLst/>
          </a:prstGeom>
          <a:solidFill>
            <a:srgbClr val="49B296"/>
          </a:solidFill>
          <a:ln w="12700">
            <a:solidFill>
              <a:srgbClr val="49B296"/>
            </a:solidFill>
            <a:prstDash val="solid"/>
          </a:ln>
        </p:spPr>
      </p:sp>
      <p:sp>
        <p:nvSpPr>
          <p:cNvPr id="39" name="Text 36"/>
          <p:cNvSpPr txBox="1"/>
          <p:nvPr/>
        </p:nvSpPr>
        <p:spPr>
          <a:xfrm>
            <a:off x="6507328" y="3822192"/>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4</a:t>
            </a:r>
            <a:endParaRPr lang="en-US" sz="2400" dirty="0"/>
          </a:p>
        </p:txBody>
      </p:sp>
      <p:sp>
        <p:nvSpPr>
          <p:cNvPr id="40" name="Text 37"/>
          <p:cNvSpPr txBox="1"/>
          <p:nvPr/>
        </p:nvSpPr>
        <p:spPr>
          <a:xfrm>
            <a:off x="7467448" y="3657600"/>
            <a:ext cx="3947008" cy="502920"/>
          </a:xfrm>
          <a:prstGeom prst="rect">
            <a:avLst/>
          </a:prstGeom>
          <a:noFill/>
          <a:ln/>
        </p:spPr>
        <p:txBody>
          <a:bodyPr wrap="square" lIns="0" tIns="0" rIns="0" bIns="0" rtlCol="0" anchor="ctr"/>
          <a:lstStyle/>
          <a:p>
            <a:pPr indent="0" marL="0">
              <a:buNone/>
            </a:pPr>
            <a:r>
              <a:rPr lang="en-US" sz="2000" b="1" dirty="0">
                <a:solidFill>
                  <a:srgbClr val="2A2238"/>
                </a:solidFill>
                <a:latin typeface="Alexandria" pitchFamily="34" charset="0"/>
                <a:ea typeface="Alexandria" pitchFamily="34" charset="-122"/>
                <a:cs typeface="Alexandria" pitchFamily="34" charset="-120"/>
              </a:rPr>
              <a:t>Phản hồi bên trượt</a:t>
            </a:r>
            <a:endParaRPr lang="en-US" sz="2000" dirty="0"/>
          </a:p>
        </p:txBody>
      </p:sp>
      <p:sp>
        <p:nvSpPr>
          <p:cNvPr id="41" name="Text 38"/>
          <p:cNvSpPr txBox="1"/>
          <p:nvPr/>
        </p:nvSpPr>
        <p:spPr>
          <a:xfrm>
            <a:off x="7467448" y="4160520"/>
            <a:ext cx="3947008" cy="594360"/>
          </a:xfrm>
          <a:prstGeom prst="rect">
            <a:avLst/>
          </a:prstGeom>
          <a:noFill/>
          <a:ln/>
        </p:spPr>
        <p:txBody>
          <a:bodyPr wrap="square" lIns="0" tIns="0" rIns="0" bIns="0" rtlCol="0" anchor="t"/>
          <a:lstStyle/>
          <a:p>
            <a:pPr indent="0" marL="0">
              <a:buNone/>
            </a:pPr>
            <a:r>
              <a:rPr lang="en-US" sz="1500" dirty="0">
                <a:solidFill>
                  <a:srgbClr val="2A2238"/>
                </a:solidFill>
                <a:latin typeface="Alexandria" pitchFamily="34" charset="0"/>
                <a:ea typeface="Alexandria" pitchFamily="34" charset="-122"/>
                <a:cs typeface="Alexandria" pitchFamily="34" charset="-120"/>
              </a:rPr>
              <a:t>bên trượt hôm nay là đối tác ngày mai (Buổi 7)</a:t>
            </a:r>
            <a:endParaRPr lang="en-US" sz="1500" dirty="0"/>
          </a:p>
        </p:txBody>
      </p:sp>
      <p:sp>
        <p:nvSpPr>
          <p:cNvPr id="42" name="Text 39"/>
          <p:cNvSpPr txBox="1"/>
          <p:nvPr/>
        </p:nvSpPr>
        <p:spPr>
          <a:xfrm>
            <a:off x="548640" y="5212080"/>
            <a:ext cx="11094415" cy="411480"/>
          </a:xfrm>
          <a:prstGeom prst="rect">
            <a:avLst/>
          </a:prstGeom>
          <a:noFill/>
          <a:ln/>
        </p:spPr>
        <p:txBody>
          <a:bodyPr wrap="square" lIns="0" tIns="0" rIns="0" bIns="0" rtlCol="0" anchor="ctr"/>
          <a:lstStyle/>
          <a:p>
            <a:pPr indent="0" marL="0">
              <a:buNone/>
            </a:pPr>
            <a:r>
              <a:rPr lang="en-US" sz="1300" i="1" dirty="0">
                <a:solidFill>
                  <a:srgbClr val="6E6878"/>
                </a:solidFill>
                <a:latin typeface="Alexandria" pitchFamily="34" charset="0"/>
                <a:ea typeface="Alexandria" pitchFamily="34" charset="-122"/>
                <a:cs typeface="Alexandria" pitchFamily="34" charset="-120"/>
              </a:rPr>
              <a:t>Chọn nhà cung cấp là bài toán nhiều tiêu chí: Dickson (1966) · Weber và cộng sự (1991) · Ho và cộng sự (2010)</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655064"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165506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10.1 Quy trình mua</a:t>
            </a:r>
            <a:endParaRPr lang="en-US" sz="1000" dirty="0"/>
          </a:p>
        </p:txBody>
      </p:sp>
      <p:sp>
        <p:nvSpPr>
          <p:cNvPr id="6" name="Shape 4"/>
          <p:cNvSpPr/>
          <p:nvPr/>
        </p:nvSpPr>
        <p:spPr>
          <a:xfrm>
            <a:off x="3145536" y="274320"/>
            <a:ext cx="1266444"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145536" y="274320"/>
            <a:ext cx="126644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10.2 Địa điểm</a:t>
            </a:r>
            <a:endParaRPr lang="en-US" sz="1000" dirty="0"/>
          </a:p>
        </p:txBody>
      </p:sp>
      <p:sp>
        <p:nvSpPr>
          <p:cNvPr id="8" name="Shape 6"/>
          <p:cNvSpPr/>
          <p:nvPr/>
        </p:nvSpPr>
        <p:spPr>
          <a:xfrm>
            <a:off x="4521708" y="274320"/>
            <a:ext cx="2354580"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521708" y="274320"/>
            <a:ext cx="235458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10.3 Hành trình Key Account</a:t>
            </a:r>
            <a:endParaRPr lang="en-US" sz="1000" dirty="0"/>
          </a:p>
        </p:txBody>
      </p:sp>
      <p:sp>
        <p:nvSpPr>
          <p:cNvPr id="10" name="Shape 8"/>
          <p:cNvSpPr/>
          <p:nvPr/>
        </p:nvSpPr>
        <p:spPr>
          <a:xfrm>
            <a:off x="6986016"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986016"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384048" cy="384048"/>
          </a:xfrm>
          <a:prstGeom prst="roundRect">
            <a:avLst>
              <a:gd name="adj" fmla="val 18000"/>
            </a:avLst>
          </a:prstGeom>
          <a:solidFill>
            <a:srgbClr val="FFFFFF"/>
          </a:solidFill>
          <a:ln w="12700">
            <a:solidFill>
              <a:srgbClr val="2A2238"/>
            </a:solidFill>
            <a:prstDash val="solid"/>
          </a:ln>
        </p:spPr>
      </p:sp>
      <p:sp>
        <p:nvSpPr>
          <p:cNvPr id="13" name="Shape 11"/>
          <p:cNvSpPr/>
          <p:nvPr/>
        </p:nvSpPr>
        <p:spPr>
          <a:xfrm>
            <a:off x="11343498" y="265542"/>
            <a:ext cx="215067" cy="53767"/>
          </a:xfrm>
          <a:prstGeom prst="rect">
            <a:avLst/>
          </a:prstGeom>
          <a:solidFill>
            <a:srgbClr val="962B7C"/>
          </a:solidFill>
          <a:ln w="12700">
            <a:solidFill>
              <a:srgbClr val="962B7C"/>
            </a:solidFill>
            <a:prstDash val="solid"/>
          </a:ln>
        </p:spPr>
      </p:sp>
      <p:sp>
        <p:nvSpPr>
          <p:cNvPr id="14" name="Shape 12"/>
          <p:cNvSpPr/>
          <p:nvPr/>
        </p:nvSpPr>
        <p:spPr>
          <a:xfrm>
            <a:off x="11335817" y="380756"/>
            <a:ext cx="76810" cy="76810"/>
          </a:xfrm>
          <a:prstGeom prst="ellipse">
            <a:avLst/>
          </a:prstGeom>
          <a:solidFill>
            <a:srgbClr val="FF9259"/>
          </a:solidFill>
          <a:ln w="12700">
            <a:solidFill>
              <a:srgbClr val="FF9259"/>
            </a:solidFill>
            <a:prstDash val="solid"/>
          </a:ln>
        </p:spPr>
      </p:sp>
      <p:sp>
        <p:nvSpPr>
          <p:cNvPr id="15" name="Shape 13"/>
          <p:cNvSpPr/>
          <p:nvPr/>
        </p:nvSpPr>
        <p:spPr>
          <a:xfrm>
            <a:off x="11489436" y="380756"/>
            <a:ext cx="76810" cy="76810"/>
          </a:xfrm>
          <a:prstGeom prst="ellipse">
            <a:avLst/>
          </a:prstGeom>
          <a:solidFill>
            <a:srgbClr val="09A1E5"/>
          </a:solidFill>
          <a:ln w="12700">
            <a:solidFill>
              <a:srgbClr val="09A1E5"/>
            </a:solidFill>
            <a:prstDash val="solid"/>
          </a:ln>
        </p:spPr>
      </p:sp>
      <p:sp>
        <p:nvSpPr>
          <p:cNvPr id="16" name="Shape 14"/>
          <p:cNvSpPr/>
          <p:nvPr/>
        </p:nvSpPr>
        <p:spPr>
          <a:xfrm>
            <a:off x="11335817" y="488290"/>
            <a:ext cx="76810" cy="76810"/>
          </a:xfrm>
          <a:prstGeom prst="ellipse">
            <a:avLst/>
          </a:prstGeom>
          <a:solidFill>
            <a:srgbClr val="49B296"/>
          </a:solidFill>
          <a:ln w="12700">
            <a:solidFill>
              <a:srgbClr val="49B296"/>
            </a:solidFill>
            <a:prstDash val="solid"/>
          </a:ln>
        </p:spPr>
      </p:sp>
      <p:sp>
        <p:nvSpPr>
          <p:cNvPr id="17" name="Shape 15"/>
          <p:cNvSpPr/>
          <p:nvPr/>
        </p:nvSpPr>
        <p:spPr>
          <a:xfrm>
            <a:off x="11489436" y="488290"/>
            <a:ext cx="76810" cy="76810"/>
          </a:xfrm>
          <a:prstGeom prst="ellipse">
            <a:avLst/>
          </a:prstGeom>
          <a:solidFill>
            <a:srgbClr val="FF5178"/>
          </a:solidFill>
          <a:ln w="12700">
            <a:solidFill>
              <a:srgbClr val="FF5178"/>
            </a:solidFill>
            <a:prstDash val="solid"/>
          </a:ln>
        </p:spPr>
      </p:sp>
      <p:sp>
        <p:nvSpPr>
          <p:cNvPr id="18" name="Text 16"/>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Thực hành 1 · Chấm hồ sơ ba khách sạn cho gala 12/12</a:t>
            </a:r>
            <a:endParaRPr lang="en-US" sz="2600" dirty="0"/>
          </a:p>
        </p:txBody>
      </p:sp>
      <p:sp>
        <p:nvSpPr>
          <p:cNvPr id="19" name="Text 17"/>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Phiếu W10_activity_S3_cham_ho_so_khach_san.md · Tình huống giả định.</a:t>
            </a:r>
            <a:endParaRPr lang="en-US" sz="1000" dirty="0"/>
          </a:p>
        </p:txBody>
      </p:sp>
      <p:sp>
        <p:nvSpPr>
          <p:cNvPr id="20" name="Text 18"/>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10   11</a:t>
            </a:r>
            <a:endParaRPr lang="en-US" sz="1000" dirty="0"/>
          </a:p>
        </p:txBody>
      </p:sp>
      <p:sp>
        <p:nvSpPr>
          <p:cNvPr id="22" name="Text 19"/>
          <p:cNvSpPr txBox="1"/>
          <p:nvPr/>
        </p:nvSpPr>
        <p:spPr>
          <a:xfrm>
            <a:off x="548640" y="1737360"/>
            <a:ext cx="11094415" cy="365760"/>
          </a:xfrm>
          <a:prstGeom prst="rect">
            <a:avLst/>
          </a:prstGeom>
          <a:noFill/>
          <a:ln/>
        </p:spPr>
        <p:txBody>
          <a:bodyPr wrap="square" lIns="0" tIns="0" rIns="0" bIns="0" rtlCol="0" anchor="ctr"/>
          <a:lstStyle/>
          <a:p>
            <a:pPr indent="0" marL="0">
              <a:buNone/>
            </a:pPr>
            <a:r>
              <a:rPr lang="en-US" sz="1300" dirty="0">
                <a:solidFill>
                  <a:srgbClr val="6E6878"/>
                </a:solidFill>
                <a:latin typeface="Alexandria" pitchFamily="34" charset="0"/>
                <a:ea typeface="Alexandria" pitchFamily="34" charset="-122"/>
                <a:cs typeface="Alexandria" pitchFamily="34" charset="-120"/>
              </a:rPr>
              <a:t>600 khách VIP · cần ~860–920 m² dùng được · ngân sách địa điểm + F&amp;B + AV ≤ 1,50 tỷ</a:t>
            </a:r>
            <a:endParaRPr lang="en-US" sz="1300" dirty="0"/>
          </a:p>
        </p:txBody>
      </p:sp>
      <p:sp>
        <p:nvSpPr>
          <p:cNvPr id="23" name="Shape 20"/>
          <p:cNvSpPr/>
          <p:nvPr/>
        </p:nvSpPr>
        <p:spPr>
          <a:xfrm>
            <a:off x="2148840" y="2194560"/>
            <a:ext cx="2057400" cy="411480"/>
          </a:xfrm>
          <a:prstGeom prst="roundRect">
            <a:avLst>
              <a:gd name="adj" fmla="val 26667"/>
            </a:avLst>
          </a:prstGeom>
          <a:solidFill>
            <a:srgbClr val="FF9259"/>
          </a:solidFill>
          <a:ln w="12700">
            <a:solidFill>
              <a:srgbClr val="FF9259"/>
            </a:solidFill>
            <a:prstDash val="solid"/>
          </a:ln>
        </p:spPr>
      </p:sp>
      <p:sp>
        <p:nvSpPr>
          <p:cNvPr id="24" name="Text 21"/>
          <p:cNvSpPr txBox="1"/>
          <p:nvPr/>
        </p:nvSpPr>
        <p:spPr>
          <a:xfrm>
            <a:off x="2313432" y="2194560"/>
            <a:ext cx="1728216" cy="41148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Khách sạn A</a:t>
            </a:r>
            <a:endParaRPr lang="en-US" sz="1500" dirty="0"/>
          </a:p>
        </p:txBody>
      </p:sp>
      <p:sp>
        <p:nvSpPr>
          <p:cNvPr id="25" name="Shape 22"/>
          <p:cNvSpPr/>
          <p:nvPr/>
        </p:nvSpPr>
        <p:spPr>
          <a:xfrm>
            <a:off x="4297680" y="2194560"/>
            <a:ext cx="2057400" cy="411480"/>
          </a:xfrm>
          <a:prstGeom prst="roundRect">
            <a:avLst>
              <a:gd name="adj" fmla="val 26667"/>
            </a:avLst>
          </a:prstGeom>
          <a:solidFill>
            <a:srgbClr val="962B7C"/>
          </a:solidFill>
          <a:ln w="12700">
            <a:solidFill>
              <a:srgbClr val="962B7C"/>
            </a:solidFill>
            <a:prstDash val="solid"/>
          </a:ln>
        </p:spPr>
      </p:sp>
      <p:sp>
        <p:nvSpPr>
          <p:cNvPr id="26" name="Text 23"/>
          <p:cNvSpPr txBox="1"/>
          <p:nvPr/>
        </p:nvSpPr>
        <p:spPr>
          <a:xfrm>
            <a:off x="4462272" y="2194560"/>
            <a:ext cx="1728216" cy="411480"/>
          </a:xfrm>
          <a:prstGeom prst="rect">
            <a:avLst/>
          </a:prstGeom>
          <a:noFill/>
          <a:ln/>
        </p:spPr>
        <p:txBody>
          <a:bodyPr wrap="square" lIns="0" tIns="0" rIns="0" bIns="0" rtlCol="0" anchor="ctr"/>
          <a:lstStyle/>
          <a:p>
            <a:pPr indent="0" marL="0">
              <a:buNone/>
            </a:pPr>
            <a:r>
              <a:rPr lang="en-US" sz="1500" b="1" dirty="0">
                <a:solidFill>
                  <a:srgbClr val="FFFFFF"/>
                </a:solidFill>
                <a:latin typeface="Alexandria" pitchFamily="34" charset="0"/>
                <a:ea typeface="Alexandria" pitchFamily="34" charset="-122"/>
                <a:cs typeface="Alexandria" pitchFamily="34" charset="-120"/>
              </a:rPr>
              <a:t>Khách sạn B</a:t>
            </a:r>
            <a:endParaRPr lang="en-US" sz="1500" dirty="0"/>
          </a:p>
        </p:txBody>
      </p:sp>
      <p:sp>
        <p:nvSpPr>
          <p:cNvPr id="27" name="Shape 24"/>
          <p:cNvSpPr/>
          <p:nvPr/>
        </p:nvSpPr>
        <p:spPr>
          <a:xfrm>
            <a:off x="6446520" y="2194560"/>
            <a:ext cx="2057400" cy="411480"/>
          </a:xfrm>
          <a:prstGeom prst="roundRect">
            <a:avLst>
              <a:gd name="adj" fmla="val 26667"/>
            </a:avLst>
          </a:prstGeom>
          <a:solidFill>
            <a:srgbClr val="09A1E5"/>
          </a:solidFill>
          <a:ln w="12700">
            <a:solidFill>
              <a:srgbClr val="09A1E5"/>
            </a:solidFill>
            <a:prstDash val="solid"/>
          </a:ln>
        </p:spPr>
      </p:sp>
      <p:sp>
        <p:nvSpPr>
          <p:cNvPr id="28" name="Text 25"/>
          <p:cNvSpPr txBox="1"/>
          <p:nvPr/>
        </p:nvSpPr>
        <p:spPr>
          <a:xfrm>
            <a:off x="6611112" y="2194560"/>
            <a:ext cx="1728216" cy="411480"/>
          </a:xfrm>
          <a:prstGeom prst="rect">
            <a:avLst/>
          </a:prstGeom>
          <a:noFill/>
          <a:ln/>
        </p:spPr>
        <p:txBody>
          <a:bodyPr wrap="square" lIns="0" tIns="0" rIns="0" bIns="0" rtlCol="0" anchor="ctr"/>
          <a:lstStyle/>
          <a:p>
            <a:pPr indent="0" marL="0">
              <a:buNone/>
            </a:pPr>
            <a:r>
              <a:rPr lang="en-US" sz="1500" b="1" dirty="0">
                <a:solidFill>
                  <a:srgbClr val="FFFFFF"/>
                </a:solidFill>
                <a:latin typeface="Alexandria" pitchFamily="34" charset="0"/>
                <a:ea typeface="Alexandria" pitchFamily="34" charset="-122"/>
                <a:cs typeface="Alexandria" pitchFamily="34" charset="-120"/>
              </a:rPr>
              <a:t>Khách sạn C</a:t>
            </a:r>
            <a:endParaRPr lang="en-US" sz="1500" dirty="0"/>
          </a:p>
        </p:txBody>
      </p:sp>
      <p:sp>
        <p:nvSpPr>
          <p:cNvPr id="29" name="Shape 26"/>
          <p:cNvSpPr/>
          <p:nvPr/>
        </p:nvSpPr>
        <p:spPr>
          <a:xfrm>
            <a:off x="548640" y="2715768"/>
            <a:ext cx="7955280" cy="566928"/>
          </a:xfrm>
          <a:prstGeom prst="rect">
            <a:avLst/>
          </a:prstGeom>
          <a:solidFill>
            <a:srgbClr val="F3F0E6"/>
          </a:solidFill>
          <a:ln w="12700">
            <a:solidFill>
              <a:srgbClr val="F3F0E6"/>
            </a:solidFill>
            <a:prstDash val="solid"/>
          </a:ln>
        </p:spPr>
      </p:sp>
      <p:sp>
        <p:nvSpPr>
          <p:cNvPr id="30" name="Text 27"/>
          <p:cNvSpPr txBox="1"/>
          <p:nvPr/>
        </p:nvSpPr>
        <p:spPr>
          <a:xfrm>
            <a:off x="713232" y="2715768"/>
            <a:ext cx="1271016" cy="566928"/>
          </a:xfrm>
          <a:prstGeom prst="rect">
            <a:avLst/>
          </a:prstGeom>
          <a:noFill/>
          <a:ln/>
        </p:spPr>
        <p:txBody>
          <a:bodyPr wrap="square" lIns="0" tIns="0" rIns="0" bIns="0" rtlCol="0" anchor="ctr"/>
          <a:lstStyle/>
          <a:p>
            <a:pPr indent="0" marL="0">
              <a:buNone/>
            </a:pPr>
            <a:r>
              <a:rPr lang="en-US" sz="1200" b="1" dirty="0">
                <a:solidFill>
                  <a:srgbClr val="2A2238"/>
                </a:solidFill>
                <a:latin typeface="Alexandria" pitchFamily="34" charset="0"/>
                <a:ea typeface="Alexandria" pitchFamily="34" charset="-122"/>
                <a:cs typeface="Alexandria" pitchFamily="34" charset="-120"/>
              </a:rPr>
              <a:t>Dùng được</a:t>
            </a:r>
            <a:endParaRPr lang="en-US" sz="1200" dirty="0"/>
          </a:p>
        </p:txBody>
      </p:sp>
      <p:sp>
        <p:nvSpPr>
          <p:cNvPr id="31" name="Text 28"/>
          <p:cNvSpPr txBox="1"/>
          <p:nvPr/>
        </p:nvSpPr>
        <p:spPr>
          <a:xfrm>
            <a:off x="2313432" y="2715768"/>
            <a:ext cx="1819656" cy="566928"/>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~950 m²; 4 cột, ~8 bàn bị che</a:t>
            </a:r>
            <a:endParaRPr lang="en-US" sz="1200" dirty="0"/>
          </a:p>
        </p:txBody>
      </p:sp>
      <p:sp>
        <p:nvSpPr>
          <p:cNvPr id="32" name="Text 29"/>
          <p:cNvSpPr txBox="1"/>
          <p:nvPr/>
        </p:nvSpPr>
        <p:spPr>
          <a:xfrm>
            <a:off x="4462272" y="2715768"/>
            <a:ext cx="1819656" cy="566928"/>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1.000 m², không cột</a:t>
            </a:r>
            <a:endParaRPr lang="en-US" sz="1200" dirty="0"/>
          </a:p>
        </p:txBody>
      </p:sp>
      <p:sp>
        <p:nvSpPr>
          <p:cNvPr id="33" name="Text 30"/>
          <p:cNvSpPr txBox="1"/>
          <p:nvPr/>
        </p:nvSpPr>
        <p:spPr>
          <a:xfrm>
            <a:off x="6611112" y="2715768"/>
            <a:ext cx="1819656" cy="566928"/>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~700 m² + phòng phụ 200 m²</a:t>
            </a:r>
            <a:endParaRPr lang="en-US" sz="1200" dirty="0"/>
          </a:p>
        </p:txBody>
      </p:sp>
      <p:sp>
        <p:nvSpPr>
          <p:cNvPr id="34" name="Text 31"/>
          <p:cNvSpPr txBox="1"/>
          <p:nvPr/>
        </p:nvSpPr>
        <p:spPr>
          <a:xfrm>
            <a:off x="713232" y="3337560"/>
            <a:ext cx="1271016" cy="566928"/>
          </a:xfrm>
          <a:prstGeom prst="rect">
            <a:avLst/>
          </a:prstGeom>
          <a:noFill/>
          <a:ln/>
        </p:spPr>
        <p:txBody>
          <a:bodyPr wrap="square" lIns="0" tIns="0" rIns="0" bIns="0" rtlCol="0" anchor="ctr"/>
          <a:lstStyle/>
          <a:p>
            <a:pPr indent="0" marL="0">
              <a:buNone/>
            </a:pPr>
            <a:r>
              <a:rPr lang="en-US" sz="1200" b="1" dirty="0">
                <a:solidFill>
                  <a:srgbClr val="2A2238"/>
                </a:solidFill>
                <a:latin typeface="Alexandria" pitchFamily="34" charset="0"/>
                <a:ea typeface="Alexandria" pitchFamily="34" charset="-122"/>
                <a:cs typeface="Alexandria" pitchFamily="34" charset="-120"/>
              </a:rPr>
              <a:t>Lịch 12/12</a:t>
            </a:r>
            <a:endParaRPr lang="en-US" sz="1200" dirty="0"/>
          </a:p>
        </p:txBody>
      </p:sp>
      <p:sp>
        <p:nvSpPr>
          <p:cNvPr id="35" name="Text 32"/>
          <p:cNvSpPr txBox="1"/>
          <p:nvPr/>
        </p:nvSpPr>
        <p:spPr>
          <a:xfrm>
            <a:off x="2313432" y="3337560"/>
            <a:ext cx="1819656" cy="566928"/>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Trống</a:t>
            </a:r>
            <a:endParaRPr lang="en-US" sz="1200" dirty="0"/>
          </a:p>
        </p:txBody>
      </p:sp>
      <p:sp>
        <p:nvSpPr>
          <p:cNvPr id="36" name="Text 33"/>
          <p:cNvSpPr txBox="1"/>
          <p:nvPr/>
        </p:nvSpPr>
        <p:spPr>
          <a:xfrm>
            <a:off x="4462272" y="3337560"/>
            <a:ext cx="1819656" cy="566928"/>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Khách khác giữ tạm đến 15/8</a:t>
            </a:r>
            <a:endParaRPr lang="en-US" sz="1200" dirty="0"/>
          </a:p>
        </p:txBody>
      </p:sp>
      <p:sp>
        <p:nvSpPr>
          <p:cNvPr id="37" name="Text 34"/>
          <p:cNvSpPr txBox="1"/>
          <p:nvPr/>
        </p:nvSpPr>
        <p:spPr>
          <a:xfrm>
            <a:off x="6611112" y="3337560"/>
            <a:ext cx="1819656" cy="566928"/>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Trống; chỉ dựng từ 14h</a:t>
            </a:r>
            <a:endParaRPr lang="en-US" sz="1200" dirty="0"/>
          </a:p>
        </p:txBody>
      </p:sp>
      <p:sp>
        <p:nvSpPr>
          <p:cNvPr id="38" name="Shape 35"/>
          <p:cNvSpPr/>
          <p:nvPr/>
        </p:nvSpPr>
        <p:spPr>
          <a:xfrm>
            <a:off x="548640" y="3959352"/>
            <a:ext cx="7955280" cy="566928"/>
          </a:xfrm>
          <a:prstGeom prst="rect">
            <a:avLst/>
          </a:prstGeom>
          <a:solidFill>
            <a:srgbClr val="F3F0E6"/>
          </a:solidFill>
          <a:ln w="12700">
            <a:solidFill>
              <a:srgbClr val="F3F0E6"/>
            </a:solidFill>
            <a:prstDash val="solid"/>
          </a:ln>
        </p:spPr>
      </p:sp>
      <p:sp>
        <p:nvSpPr>
          <p:cNvPr id="39" name="Text 36"/>
          <p:cNvSpPr txBox="1"/>
          <p:nvPr/>
        </p:nvSpPr>
        <p:spPr>
          <a:xfrm>
            <a:off x="713232" y="3959352"/>
            <a:ext cx="1271016" cy="566928"/>
          </a:xfrm>
          <a:prstGeom prst="rect">
            <a:avLst/>
          </a:prstGeom>
          <a:noFill/>
          <a:ln/>
        </p:spPr>
        <p:txBody>
          <a:bodyPr wrap="square" lIns="0" tIns="0" rIns="0" bIns="0" rtlCol="0" anchor="ctr"/>
          <a:lstStyle/>
          <a:p>
            <a:pPr indent="0" marL="0">
              <a:buNone/>
            </a:pPr>
            <a:r>
              <a:rPr lang="en-US" sz="1200" b="1" dirty="0">
                <a:solidFill>
                  <a:srgbClr val="2A2238"/>
                </a:solidFill>
                <a:latin typeface="Alexandria" pitchFamily="34" charset="0"/>
                <a:ea typeface="Alexandria" pitchFamily="34" charset="-122"/>
                <a:cs typeface="Alexandria" pitchFamily="34" charset="-120"/>
              </a:rPr>
              <a:t>AV</a:t>
            </a:r>
            <a:endParaRPr lang="en-US" sz="1200" dirty="0"/>
          </a:p>
        </p:txBody>
      </p:sp>
      <p:sp>
        <p:nvSpPr>
          <p:cNvPr id="40" name="Text 37"/>
          <p:cNvSpPr txBox="1"/>
          <p:nvPr/>
        </p:nvSpPr>
        <p:spPr>
          <a:xfrm>
            <a:off x="2313432" y="3959352"/>
            <a:ext cx="1819656" cy="566928"/>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Độc quyền, 300 tr</a:t>
            </a:r>
            <a:endParaRPr lang="en-US" sz="1200" dirty="0"/>
          </a:p>
        </p:txBody>
      </p:sp>
      <p:sp>
        <p:nvSpPr>
          <p:cNvPr id="41" name="Text 38"/>
          <p:cNvSpPr txBox="1"/>
          <p:nvPr/>
        </p:nvSpPr>
        <p:spPr>
          <a:xfrm>
            <a:off x="4462272" y="3959352"/>
            <a:ext cx="1819656" cy="566928"/>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Mang ngoài: 200 + 20 tr</a:t>
            </a:r>
            <a:endParaRPr lang="en-US" sz="1200" dirty="0"/>
          </a:p>
        </p:txBody>
      </p:sp>
      <p:sp>
        <p:nvSpPr>
          <p:cNvPr id="42" name="Text 39"/>
          <p:cNvSpPr txBox="1"/>
          <p:nvPr/>
        </p:nvSpPr>
        <p:spPr>
          <a:xfrm>
            <a:off x="6611112" y="3959352"/>
            <a:ext cx="1819656" cy="566928"/>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Nội bộ 240 tr</a:t>
            </a:r>
            <a:endParaRPr lang="en-US" sz="1200" dirty="0"/>
          </a:p>
        </p:txBody>
      </p:sp>
      <p:sp>
        <p:nvSpPr>
          <p:cNvPr id="43" name="Text 40"/>
          <p:cNvSpPr txBox="1"/>
          <p:nvPr/>
        </p:nvSpPr>
        <p:spPr>
          <a:xfrm>
            <a:off x="713232" y="4581144"/>
            <a:ext cx="1271016" cy="566928"/>
          </a:xfrm>
          <a:prstGeom prst="rect">
            <a:avLst/>
          </a:prstGeom>
          <a:noFill/>
          <a:ln/>
        </p:spPr>
        <p:txBody>
          <a:bodyPr wrap="square" lIns="0" tIns="0" rIns="0" bIns="0" rtlCol="0" anchor="ctr"/>
          <a:lstStyle/>
          <a:p>
            <a:pPr indent="0" marL="0">
              <a:buNone/>
            </a:pPr>
            <a:r>
              <a:rPr lang="en-US" sz="1200" b="1" dirty="0">
                <a:solidFill>
                  <a:srgbClr val="2A2238"/>
                </a:solidFill>
                <a:latin typeface="Alexandria" pitchFamily="34" charset="0"/>
                <a:ea typeface="Alexandria" pitchFamily="34" charset="-122"/>
                <a:cs typeface="Alexandria" pitchFamily="34" charset="-120"/>
              </a:rPr>
              <a:t>Tổng</a:t>
            </a:r>
            <a:endParaRPr lang="en-US" sz="1200" dirty="0"/>
          </a:p>
        </p:txBody>
      </p:sp>
      <p:sp>
        <p:nvSpPr>
          <p:cNvPr id="44" name="Text 41"/>
          <p:cNvSpPr txBox="1"/>
          <p:nvPr/>
        </p:nvSpPr>
        <p:spPr>
          <a:xfrm>
            <a:off x="2313432" y="4581144"/>
            <a:ext cx="1819656" cy="566928"/>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1,45 tỷ</a:t>
            </a:r>
            <a:endParaRPr lang="en-US" sz="1200" dirty="0"/>
          </a:p>
        </p:txBody>
      </p:sp>
      <p:sp>
        <p:nvSpPr>
          <p:cNvPr id="45" name="Text 42"/>
          <p:cNvSpPr txBox="1"/>
          <p:nvPr/>
        </p:nvSpPr>
        <p:spPr>
          <a:xfrm>
            <a:off x="4462272" y="4581144"/>
            <a:ext cx="1819656" cy="566928"/>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1,52 tỷ</a:t>
            </a:r>
            <a:endParaRPr lang="en-US" sz="1200" dirty="0"/>
          </a:p>
        </p:txBody>
      </p:sp>
      <p:sp>
        <p:nvSpPr>
          <p:cNvPr id="46" name="Text 43"/>
          <p:cNvSpPr txBox="1"/>
          <p:nvPr/>
        </p:nvSpPr>
        <p:spPr>
          <a:xfrm>
            <a:off x="6611112" y="4581144"/>
            <a:ext cx="1819656" cy="566928"/>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1,44 tỷ</a:t>
            </a:r>
            <a:endParaRPr lang="en-US" sz="1200" dirty="0"/>
          </a:p>
        </p:txBody>
      </p:sp>
      <p:sp>
        <p:nvSpPr>
          <p:cNvPr id="47" name="Shape 44"/>
          <p:cNvSpPr/>
          <p:nvPr/>
        </p:nvSpPr>
        <p:spPr>
          <a:xfrm>
            <a:off x="548640" y="5202936"/>
            <a:ext cx="7955280" cy="566928"/>
          </a:xfrm>
          <a:prstGeom prst="rect">
            <a:avLst/>
          </a:prstGeom>
          <a:solidFill>
            <a:srgbClr val="F3F0E6"/>
          </a:solidFill>
          <a:ln w="12700">
            <a:solidFill>
              <a:srgbClr val="F3F0E6"/>
            </a:solidFill>
            <a:prstDash val="solid"/>
          </a:ln>
        </p:spPr>
      </p:sp>
      <p:sp>
        <p:nvSpPr>
          <p:cNvPr id="48" name="Text 45"/>
          <p:cNvSpPr txBox="1"/>
          <p:nvPr/>
        </p:nvSpPr>
        <p:spPr>
          <a:xfrm>
            <a:off x="713232" y="5202936"/>
            <a:ext cx="1271016" cy="566928"/>
          </a:xfrm>
          <a:prstGeom prst="rect">
            <a:avLst/>
          </a:prstGeom>
          <a:noFill/>
          <a:ln/>
        </p:spPr>
        <p:txBody>
          <a:bodyPr wrap="square" lIns="0" tIns="0" rIns="0" bIns="0" rtlCol="0" anchor="ctr"/>
          <a:lstStyle/>
          <a:p>
            <a:pPr indent="0" marL="0">
              <a:buNone/>
            </a:pPr>
            <a:r>
              <a:rPr lang="en-US" sz="1200" b="1" dirty="0">
                <a:solidFill>
                  <a:srgbClr val="2A2238"/>
                </a:solidFill>
                <a:latin typeface="Alexandria" pitchFamily="34" charset="0"/>
                <a:ea typeface="Alexandria" pitchFamily="34" charset="-122"/>
                <a:cs typeface="Alexandria" pitchFamily="34" charset="-120"/>
              </a:rPr>
              <a:t>Trả lời RFP</a:t>
            </a:r>
            <a:endParaRPr lang="en-US" sz="1200" dirty="0"/>
          </a:p>
        </p:txBody>
      </p:sp>
      <p:sp>
        <p:nvSpPr>
          <p:cNvPr id="49" name="Text 46"/>
          <p:cNvSpPr txBox="1"/>
          <p:nvPr/>
        </p:nvSpPr>
        <p:spPr>
          <a:xfrm>
            <a:off x="2313432" y="5202936"/>
            <a:ext cx="1819656" cy="566928"/>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2 ngày</a:t>
            </a:r>
            <a:endParaRPr lang="en-US" sz="1200" dirty="0"/>
          </a:p>
        </p:txBody>
      </p:sp>
      <p:sp>
        <p:nvSpPr>
          <p:cNvPr id="50" name="Text 47"/>
          <p:cNvSpPr txBox="1"/>
          <p:nvPr/>
        </p:nvSpPr>
        <p:spPr>
          <a:xfrm>
            <a:off x="4462272" y="5202936"/>
            <a:ext cx="1819656" cy="566928"/>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5 ngày</a:t>
            </a:r>
            <a:endParaRPr lang="en-US" sz="1200" dirty="0"/>
          </a:p>
        </p:txBody>
      </p:sp>
      <p:sp>
        <p:nvSpPr>
          <p:cNvPr id="51" name="Text 48"/>
          <p:cNvSpPr txBox="1"/>
          <p:nvPr/>
        </p:nvSpPr>
        <p:spPr>
          <a:xfrm>
            <a:off x="6611112" y="5202936"/>
            <a:ext cx="1819656" cy="566928"/>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3 ngày</a:t>
            </a:r>
            <a:endParaRPr lang="en-US" sz="1200" dirty="0"/>
          </a:p>
        </p:txBody>
      </p:sp>
      <p:sp>
        <p:nvSpPr>
          <p:cNvPr id="52" name="Shape 49"/>
          <p:cNvSpPr/>
          <p:nvPr/>
        </p:nvSpPr>
        <p:spPr>
          <a:xfrm>
            <a:off x="8823960" y="2286000"/>
            <a:ext cx="640080" cy="640080"/>
          </a:xfrm>
          <a:prstGeom prst="ellipse">
            <a:avLst/>
          </a:prstGeom>
          <a:solidFill>
            <a:srgbClr val="FF9259"/>
          </a:solidFill>
          <a:ln w="12700">
            <a:solidFill>
              <a:srgbClr val="FF9259"/>
            </a:solidFill>
            <a:prstDash val="solid"/>
          </a:ln>
        </p:spPr>
      </p:sp>
      <p:sp>
        <p:nvSpPr>
          <p:cNvPr id="53" name="Text 50"/>
          <p:cNvSpPr txBox="1"/>
          <p:nvPr/>
        </p:nvSpPr>
        <p:spPr>
          <a:xfrm>
            <a:off x="8823960" y="2286000"/>
            <a:ext cx="640080" cy="640080"/>
          </a:xfrm>
          <a:prstGeom prst="rect">
            <a:avLst/>
          </a:prstGeom>
          <a:noFill/>
          <a:ln/>
        </p:spPr>
        <p:txBody>
          <a:bodyPr wrap="square" lIns="0" tIns="0" rIns="0" bIns="0" rtlCol="0" anchor="ctr"/>
          <a:lstStyle/>
          <a:p>
            <a:pPr algn="ctr" indent="0" marL="0">
              <a:buNone/>
            </a:pPr>
            <a:r>
              <a:rPr lang="en-US" sz="1600" b="1" dirty="0">
                <a:solidFill>
                  <a:srgbClr val="2A2238"/>
                </a:solidFill>
                <a:latin typeface="Alexandria" pitchFamily="34" charset="0"/>
                <a:ea typeface="Alexandria" pitchFamily="34" charset="-122"/>
                <a:cs typeface="Alexandria" pitchFamily="34" charset="-120"/>
              </a:rPr>
              <a:t>4’</a:t>
            </a:r>
            <a:endParaRPr lang="en-US" sz="1600" dirty="0"/>
          </a:p>
        </p:txBody>
      </p:sp>
      <p:sp>
        <p:nvSpPr>
          <p:cNvPr id="54" name="Text 51"/>
          <p:cNvSpPr txBox="1"/>
          <p:nvPr/>
        </p:nvSpPr>
        <p:spPr>
          <a:xfrm>
            <a:off x="9601200" y="2194560"/>
            <a:ext cx="2041855" cy="1143000"/>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Chuyển tối đa 10 điểm trọng số, ghi 1 câu lý do</a:t>
            </a:r>
            <a:endParaRPr lang="en-US" sz="1200" dirty="0"/>
          </a:p>
        </p:txBody>
      </p:sp>
      <p:sp>
        <p:nvSpPr>
          <p:cNvPr id="55" name="Shape 52"/>
          <p:cNvSpPr/>
          <p:nvPr/>
        </p:nvSpPr>
        <p:spPr>
          <a:xfrm>
            <a:off x="8823960" y="3566160"/>
            <a:ext cx="640080" cy="640080"/>
          </a:xfrm>
          <a:prstGeom prst="ellipse">
            <a:avLst/>
          </a:prstGeom>
          <a:solidFill>
            <a:srgbClr val="962B7C"/>
          </a:solidFill>
          <a:ln w="12700">
            <a:solidFill>
              <a:srgbClr val="962B7C"/>
            </a:solidFill>
            <a:prstDash val="solid"/>
          </a:ln>
        </p:spPr>
      </p:sp>
      <p:sp>
        <p:nvSpPr>
          <p:cNvPr id="56" name="Text 53"/>
          <p:cNvSpPr txBox="1"/>
          <p:nvPr/>
        </p:nvSpPr>
        <p:spPr>
          <a:xfrm>
            <a:off x="8823960" y="356616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8’</a:t>
            </a:r>
            <a:endParaRPr lang="en-US" sz="1600" dirty="0"/>
          </a:p>
        </p:txBody>
      </p:sp>
      <p:sp>
        <p:nvSpPr>
          <p:cNvPr id="57" name="Text 54"/>
          <p:cNvSpPr txBox="1"/>
          <p:nvPr/>
        </p:nvSpPr>
        <p:spPr>
          <a:xfrm>
            <a:off x="9601200" y="3474720"/>
            <a:ext cx="2041855" cy="1143000"/>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Kiểm tra điều kiện bắt buộc, rồi chấm 1–5</a:t>
            </a:r>
            <a:endParaRPr lang="en-US" sz="1200" dirty="0"/>
          </a:p>
        </p:txBody>
      </p:sp>
      <p:sp>
        <p:nvSpPr>
          <p:cNvPr id="58" name="Shape 55"/>
          <p:cNvSpPr/>
          <p:nvPr/>
        </p:nvSpPr>
        <p:spPr>
          <a:xfrm>
            <a:off x="8823960" y="4846320"/>
            <a:ext cx="640080" cy="640080"/>
          </a:xfrm>
          <a:prstGeom prst="ellipse">
            <a:avLst/>
          </a:prstGeom>
          <a:solidFill>
            <a:srgbClr val="09A1E5"/>
          </a:solidFill>
          <a:ln w="12700">
            <a:solidFill>
              <a:srgbClr val="09A1E5"/>
            </a:solidFill>
            <a:prstDash val="solid"/>
          </a:ln>
        </p:spPr>
      </p:sp>
      <p:sp>
        <p:nvSpPr>
          <p:cNvPr id="59" name="Text 56"/>
          <p:cNvSpPr txBox="1"/>
          <p:nvPr/>
        </p:nvSpPr>
        <p:spPr>
          <a:xfrm>
            <a:off x="8823960" y="484632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5’</a:t>
            </a:r>
            <a:endParaRPr lang="en-US" sz="1600" dirty="0"/>
          </a:p>
        </p:txBody>
      </p:sp>
      <p:sp>
        <p:nvSpPr>
          <p:cNvPr id="60" name="Text 57"/>
          <p:cNvSpPr txBox="1"/>
          <p:nvPr/>
        </p:nvSpPr>
        <p:spPr>
          <a:xfrm>
            <a:off x="9601200" y="4754880"/>
            <a:ext cx="2041855" cy="1143000"/>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Chọn (có thể có điều kiện): 1 câu báo anh Minh + 1 câu phản hồi bên trượt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3840480" y="1554480"/>
            <a:ext cx="548640" cy="548640"/>
          </a:xfrm>
          <a:prstGeom prst="ellipse">
            <a:avLst/>
          </a:prstGeom>
          <a:solidFill>
            <a:srgbClr val="FF9259"/>
          </a:solidFill>
          <a:ln w="12700">
            <a:solidFill>
              <a:srgbClr val="FF9259"/>
            </a:solidFill>
            <a:prstDash val="solid"/>
          </a:ln>
        </p:spPr>
      </p:sp>
      <p:sp>
        <p:nvSpPr>
          <p:cNvPr id="3" name="Shape 1"/>
          <p:cNvSpPr/>
          <p:nvPr/>
        </p:nvSpPr>
        <p:spPr>
          <a:xfrm>
            <a:off x="4617720" y="1554480"/>
            <a:ext cx="548640" cy="548640"/>
          </a:xfrm>
          <a:prstGeom prst="ellipse">
            <a:avLst/>
          </a:prstGeom>
          <a:solidFill>
            <a:srgbClr val="FFD23B"/>
          </a:solidFill>
          <a:ln w="12700">
            <a:solidFill>
              <a:srgbClr val="FFD23B"/>
            </a:solidFill>
            <a:prstDash val="solid"/>
          </a:ln>
        </p:spPr>
      </p:sp>
      <p:sp>
        <p:nvSpPr>
          <p:cNvPr id="4" name="Shape 2"/>
          <p:cNvSpPr/>
          <p:nvPr/>
        </p:nvSpPr>
        <p:spPr>
          <a:xfrm>
            <a:off x="5394960" y="1554480"/>
            <a:ext cx="548640" cy="548640"/>
          </a:xfrm>
          <a:prstGeom prst="ellipse">
            <a:avLst/>
          </a:prstGeom>
          <a:solidFill>
            <a:srgbClr val="49B296"/>
          </a:solidFill>
          <a:ln w="12700">
            <a:solidFill>
              <a:srgbClr val="49B296"/>
            </a:solidFill>
            <a:prstDash val="solid"/>
          </a:ln>
        </p:spPr>
      </p:sp>
      <p:sp>
        <p:nvSpPr>
          <p:cNvPr id="5" name="Shape 3"/>
          <p:cNvSpPr/>
          <p:nvPr/>
        </p:nvSpPr>
        <p:spPr>
          <a:xfrm>
            <a:off x="6172200" y="1554480"/>
            <a:ext cx="548640" cy="548640"/>
          </a:xfrm>
          <a:prstGeom prst="ellipse">
            <a:avLst/>
          </a:prstGeom>
          <a:solidFill>
            <a:srgbClr val="09A1E5"/>
          </a:solidFill>
          <a:ln w="12700">
            <a:solidFill>
              <a:srgbClr val="09A1E5"/>
            </a:solidFill>
            <a:prstDash val="solid"/>
          </a:ln>
        </p:spPr>
      </p:sp>
      <p:sp>
        <p:nvSpPr>
          <p:cNvPr id="6" name="Shape 4"/>
          <p:cNvSpPr/>
          <p:nvPr/>
        </p:nvSpPr>
        <p:spPr>
          <a:xfrm>
            <a:off x="6949440" y="1554480"/>
            <a:ext cx="548640" cy="548640"/>
          </a:xfrm>
          <a:prstGeom prst="ellipse">
            <a:avLst/>
          </a:prstGeom>
          <a:solidFill>
            <a:srgbClr val="962B7C"/>
          </a:solidFill>
          <a:ln w="12700">
            <a:solidFill>
              <a:srgbClr val="962B7C"/>
            </a:solidFill>
            <a:prstDash val="solid"/>
          </a:ln>
        </p:spPr>
      </p:sp>
      <p:sp>
        <p:nvSpPr>
          <p:cNvPr id="7" name="Shape 5"/>
          <p:cNvSpPr/>
          <p:nvPr/>
        </p:nvSpPr>
        <p:spPr>
          <a:xfrm>
            <a:off x="7726680" y="1554480"/>
            <a:ext cx="548640" cy="548640"/>
          </a:xfrm>
          <a:prstGeom prst="ellipse">
            <a:avLst/>
          </a:prstGeom>
          <a:solidFill>
            <a:srgbClr val="FF5178"/>
          </a:solidFill>
          <a:ln w="12700">
            <a:solidFill>
              <a:srgbClr val="FF5178"/>
            </a:solidFill>
            <a:prstDash val="solid"/>
          </a:ln>
        </p:spPr>
      </p:sp>
      <p:sp>
        <p:nvSpPr>
          <p:cNvPr id="8" name="Text 6"/>
          <p:cNvSpPr txBox="1"/>
          <p:nvPr/>
        </p:nvSpPr>
        <p:spPr>
          <a:xfrm>
            <a:off x="548640" y="2468880"/>
            <a:ext cx="11094415" cy="1097280"/>
          </a:xfrm>
          <a:prstGeom prst="rect">
            <a:avLst/>
          </a:prstGeom>
          <a:noFill/>
          <a:ln/>
        </p:spPr>
        <p:txBody>
          <a:bodyPr wrap="square" lIns="0" tIns="0" rIns="0" bIns="0" rtlCol="0" anchor="ctr"/>
          <a:lstStyle/>
          <a:p>
            <a:pPr algn="ctr" indent="0" marL="0">
              <a:buNone/>
            </a:pPr>
            <a:r>
              <a:rPr lang="en-US" sz="5400" b="1" dirty="0">
                <a:solidFill>
                  <a:srgbClr val="2A2238"/>
                </a:solidFill>
                <a:latin typeface="Alexandria" pitchFamily="34" charset="0"/>
                <a:ea typeface="Alexandria" pitchFamily="34" charset="-122"/>
                <a:cs typeface="Alexandria" pitchFamily="34" charset="-120"/>
              </a:rPr>
              <a:t>Giải lao 8 phút</a:t>
            </a:r>
            <a:endParaRPr lang="en-US" sz="5400" dirty="0"/>
          </a:p>
        </p:txBody>
      </p:sp>
      <p:sp>
        <p:nvSpPr>
          <p:cNvPr id="9" name="Text 7"/>
          <p:cNvSpPr txBox="1"/>
          <p:nvPr/>
        </p:nvSpPr>
        <p:spPr>
          <a:xfrm>
            <a:off x="548640" y="3749040"/>
            <a:ext cx="11094415" cy="640080"/>
          </a:xfrm>
          <a:prstGeom prst="rect">
            <a:avLst/>
          </a:prstGeom>
          <a:noFill/>
          <a:ln/>
        </p:spPr>
        <p:txBody>
          <a:bodyPr wrap="square" lIns="0" tIns="0" rIns="0" bIns="0" rtlCol="0" anchor="ctr"/>
          <a:lstStyle/>
          <a:p>
            <a:pPr algn="ctr" indent="0" marL="0">
              <a:buNone/>
            </a:pPr>
            <a:r>
              <a:rPr lang="en-US" sz="2600" dirty="0">
                <a:solidFill>
                  <a:srgbClr val="962B7C"/>
                </a:solidFill>
                <a:latin typeface="Alexandria" pitchFamily="34" charset="0"/>
                <a:ea typeface="Alexandria" pitchFamily="34" charset="-122"/>
                <a:cs typeface="Alexandria" pitchFamily="34" charset="-120"/>
              </a:rPr>
              <a:t>Quay lại lúc  ____ : ____</a:t>
            </a:r>
            <a:endParaRPr lang="en-US" sz="2600" dirty="0"/>
          </a:p>
        </p:txBody>
      </p:sp>
      <p:sp>
        <p:nvSpPr>
          <p:cNvPr id="10" name="Text 8"/>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10   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655064"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65506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10.1 Quy trình mua</a:t>
            </a:r>
            <a:endParaRPr lang="en-US" sz="1000" dirty="0"/>
          </a:p>
        </p:txBody>
      </p:sp>
      <p:sp>
        <p:nvSpPr>
          <p:cNvPr id="6" name="Shape 4"/>
          <p:cNvSpPr/>
          <p:nvPr/>
        </p:nvSpPr>
        <p:spPr>
          <a:xfrm>
            <a:off x="3145536" y="274320"/>
            <a:ext cx="1266444" cy="292608"/>
          </a:xfrm>
          <a:prstGeom prst="roundRect">
            <a:avLst>
              <a:gd name="adj" fmla="val 50000"/>
            </a:avLst>
          </a:prstGeom>
          <a:solidFill>
            <a:srgbClr val="09A1E5"/>
          </a:solidFill>
          <a:ln w="9525">
            <a:solidFill>
              <a:srgbClr val="09A1E5"/>
            </a:solidFill>
            <a:prstDash val="solid"/>
          </a:ln>
        </p:spPr>
      </p:sp>
      <p:sp>
        <p:nvSpPr>
          <p:cNvPr id="7" name="Text 5"/>
          <p:cNvSpPr txBox="1"/>
          <p:nvPr/>
        </p:nvSpPr>
        <p:spPr>
          <a:xfrm>
            <a:off x="3145536" y="274320"/>
            <a:ext cx="126644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10.2 Địa điểm</a:t>
            </a:r>
            <a:endParaRPr lang="en-US" sz="1000" dirty="0"/>
          </a:p>
        </p:txBody>
      </p:sp>
      <p:sp>
        <p:nvSpPr>
          <p:cNvPr id="8" name="Shape 6"/>
          <p:cNvSpPr/>
          <p:nvPr/>
        </p:nvSpPr>
        <p:spPr>
          <a:xfrm>
            <a:off x="4521708" y="274320"/>
            <a:ext cx="2354580"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521708" y="274320"/>
            <a:ext cx="235458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10.3 Hành trình Key Account</a:t>
            </a:r>
            <a:endParaRPr lang="en-US" sz="1000" dirty="0"/>
          </a:p>
        </p:txBody>
      </p:sp>
      <p:sp>
        <p:nvSpPr>
          <p:cNvPr id="10" name="Shape 8"/>
          <p:cNvSpPr/>
          <p:nvPr/>
        </p:nvSpPr>
        <p:spPr>
          <a:xfrm>
            <a:off x="6986016"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986016"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384048" cy="384048"/>
          </a:xfrm>
          <a:prstGeom prst="roundRect">
            <a:avLst>
              <a:gd name="adj" fmla="val 18000"/>
            </a:avLst>
          </a:prstGeom>
          <a:solidFill>
            <a:srgbClr val="FFFFFF"/>
          </a:solidFill>
          <a:ln w="12700">
            <a:solidFill>
              <a:srgbClr val="2A2238"/>
            </a:solidFill>
            <a:prstDash val="solid"/>
          </a:ln>
        </p:spPr>
      </p:sp>
      <p:sp>
        <p:nvSpPr>
          <p:cNvPr id="13" name="Shape 11"/>
          <p:cNvSpPr/>
          <p:nvPr/>
        </p:nvSpPr>
        <p:spPr>
          <a:xfrm>
            <a:off x="11343498" y="265542"/>
            <a:ext cx="215067" cy="53767"/>
          </a:xfrm>
          <a:prstGeom prst="rect">
            <a:avLst/>
          </a:prstGeom>
          <a:solidFill>
            <a:srgbClr val="962B7C"/>
          </a:solidFill>
          <a:ln w="12700">
            <a:solidFill>
              <a:srgbClr val="962B7C"/>
            </a:solidFill>
            <a:prstDash val="solid"/>
          </a:ln>
        </p:spPr>
      </p:sp>
      <p:sp>
        <p:nvSpPr>
          <p:cNvPr id="14" name="Shape 12"/>
          <p:cNvSpPr/>
          <p:nvPr/>
        </p:nvSpPr>
        <p:spPr>
          <a:xfrm>
            <a:off x="11335817" y="380756"/>
            <a:ext cx="76810" cy="76810"/>
          </a:xfrm>
          <a:prstGeom prst="ellipse">
            <a:avLst/>
          </a:prstGeom>
          <a:solidFill>
            <a:srgbClr val="FF9259"/>
          </a:solidFill>
          <a:ln w="12700">
            <a:solidFill>
              <a:srgbClr val="FF9259"/>
            </a:solidFill>
            <a:prstDash val="solid"/>
          </a:ln>
        </p:spPr>
      </p:sp>
      <p:sp>
        <p:nvSpPr>
          <p:cNvPr id="15" name="Shape 13"/>
          <p:cNvSpPr/>
          <p:nvPr/>
        </p:nvSpPr>
        <p:spPr>
          <a:xfrm>
            <a:off x="11489436" y="380756"/>
            <a:ext cx="76810" cy="76810"/>
          </a:xfrm>
          <a:prstGeom prst="ellipse">
            <a:avLst/>
          </a:prstGeom>
          <a:solidFill>
            <a:srgbClr val="09A1E5"/>
          </a:solidFill>
          <a:ln w="12700">
            <a:solidFill>
              <a:srgbClr val="09A1E5"/>
            </a:solidFill>
            <a:prstDash val="solid"/>
          </a:ln>
        </p:spPr>
      </p:sp>
      <p:sp>
        <p:nvSpPr>
          <p:cNvPr id="16" name="Shape 14"/>
          <p:cNvSpPr/>
          <p:nvPr/>
        </p:nvSpPr>
        <p:spPr>
          <a:xfrm>
            <a:off x="11335817" y="488290"/>
            <a:ext cx="76810" cy="76810"/>
          </a:xfrm>
          <a:prstGeom prst="ellipse">
            <a:avLst/>
          </a:prstGeom>
          <a:solidFill>
            <a:srgbClr val="49B296"/>
          </a:solidFill>
          <a:ln w="12700">
            <a:solidFill>
              <a:srgbClr val="49B296"/>
            </a:solidFill>
            <a:prstDash val="solid"/>
          </a:ln>
        </p:spPr>
      </p:sp>
      <p:sp>
        <p:nvSpPr>
          <p:cNvPr id="17" name="Shape 15"/>
          <p:cNvSpPr/>
          <p:nvPr/>
        </p:nvSpPr>
        <p:spPr>
          <a:xfrm>
            <a:off x="11489436" y="488290"/>
            <a:ext cx="76810" cy="76810"/>
          </a:xfrm>
          <a:prstGeom prst="ellipse">
            <a:avLst/>
          </a:prstGeom>
          <a:solidFill>
            <a:srgbClr val="FF5178"/>
          </a:solidFill>
          <a:ln w="12700">
            <a:solidFill>
              <a:srgbClr val="FF5178"/>
            </a:solidFill>
            <a:prstDash val="solid"/>
          </a:ln>
        </p:spPr>
      </p:sp>
      <p:sp>
        <p:nvSpPr>
          <p:cNvPr id="18" name="Text 16"/>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Một địa điểm phục vụ nhiều bên thuê</a:t>
            </a:r>
            <a:endParaRPr lang="en-US" sz="2600" dirty="0"/>
          </a:p>
        </p:txBody>
      </p:sp>
      <p:sp>
        <p:nvSpPr>
          <p:cNvPr id="19" name="Text 17"/>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V10: Tuổi Trẻ Online (11/11/2024) và các báo khác — đã kiểm chứng chéo.</a:t>
            </a:r>
            <a:endParaRPr lang="en-US" sz="1000" dirty="0"/>
          </a:p>
        </p:txBody>
      </p:sp>
      <p:sp>
        <p:nvSpPr>
          <p:cNvPr id="20" name="Text 18"/>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10   13</a:t>
            </a:r>
            <a:endParaRPr lang="en-US" sz="1000" dirty="0"/>
          </a:p>
        </p:txBody>
      </p:sp>
      <p:sp>
        <p:nvSpPr>
          <p:cNvPr id="22" name="Shape 19"/>
          <p:cNvSpPr/>
          <p:nvPr/>
        </p:nvSpPr>
        <p:spPr>
          <a:xfrm>
            <a:off x="822960" y="2606040"/>
            <a:ext cx="6583680" cy="914"/>
          </a:xfrm>
          <a:prstGeom prst="line">
            <a:avLst/>
          </a:prstGeom>
          <a:noFill/>
          <a:ln w="38100">
            <a:solidFill>
              <a:srgbClr val="2A2238"/>
            </a:solidFill>
            <a:prstDash val="solid"/>
            <a:tailEnd type="triangle"/>
          </a:ln>
        </p:spPr>
      </p:sp>
      <p:sp>
        <p:nvSpPr>
          <p:cNvPr id="23" name="Shape 20"/>
          <p:cNvSpPr/>
          <p:nvPr/>
        </p:nvSpPr>
        <p:spPr>
          <a:xfrm>
            <a:off x="1005840" y="2359152"/>
            <a:ext cx="493776" cy="493776"/>
          </a:xfrm>
          <a:prstGeom prst="ellipse">
            <a:avLst/>
          </a:prstGeom>
          <a:solidFill>
            <a:srgbClr val="962B7C"/>
          </a:solidFill>
          <a:ln w="12700">
            <a:solidFill>
              <a:srgbClr val="962B7C"/>
            </a:solidFill>
            <a:prstDash val="solid"/>
          </a:ln>
        </p:spPr>
      </p:sp>
      <p:sp>
        <p:nvSpPr>
          <p:cNvPr id="24" name="Text 21"/>
          <p:cNvSpPr txBox="1"/>
          <p:nvPr/>
        </p:nvSpPr>
        <p:spPr>
          <a:xfrm>
            <a:off x="1005840" y="2359152"/>
            <a:ext cx="493776" cy="493776"/>
          </a:xfrm>
          <a:prstGeom prst="rect">
            <a:avLst/>
          </a:prstGeom>
          <a:noFill/>
          <a:ln/>
        </p:spPr>
        <p:txBody>
          <a:bodyPr wrap="square" lIns="0" tIns="0" rIns="0" bIns="0" rtlCol="0" anchor="ctr"/>
          <a:lstStyle/>
          <a:p>
            <a:pPr algn="ctr" indent="0" marL="0">
              <a:buNone/>
            </a:pPr>
            <a:endParaRPr lang="en-US" sz="1836" dirty="0"/>
          </a:p>
        </p:txBody>
      </p:sp>
      <p:sp>
        <p:nvSpPr>
          <p:cNvPr id="25" name="Text 22"/>
          <p:cNvSpPr txBox="1"/>
          <p:nvPr/>
        </p:nvSpPr>
        <p:spPr>
          <a:xfrm>
            <a:off x="1005840" y="1810512"/>
            <a:ext cx="2743200" cy="457200"/>
          </a:xfrm>
          <a:prstGeom prst="rect">
            <a:avLst/>
          </a:prstGeom>
          <a:noFill/>
          <a:ln/>
        </p:spPr>
        <p:txBody>
          <a:bodyPr wrap="square" lIns="0" tIns="0" rIns="0" bIns="0" rtlCol="0" anchor="ctr"/>
          <a:lstStyle/>
          <a:p>
            <a:pPr indent="0" marL="0">
              <a:buNone/>
            </a:pPr>
            <a:r>
              <a:rPr lang="en-US" sz="1800" b="1" dirty="0">
                <a:solidFill>
                  <a:srgbClr val="962B7C"/>
                </a:solidFill>
                <a:latin typeface="Alexandria" pitchFamily="34" charset="0"/>
                <a:ea typeface="Alexandria" pitchFamily="34" charset="-122"/>
                <a:cs typeface="Alexandria" pitchFamily="34" charset="-120"/>
              </a:rPr>
              <a:t>7/12/2024</a:t>
            </a:r>
            <a:endParaRPr lang="en-US" sz="1800" dirty="0"/>
          </a:p>
        </p:txBody>
      </p:sp>
      <p:sp>
        <p:nvSpPr>
          <p:cNvPr id="26" name="Shape 23"/>
          <p:cNvSpPr/>
          <p:nvPr/>
        </p:nvSpPr>
        <p:spPr>
          <a:xfrm>
            <a:off x="960120" y="3063240"/>
            <a:ext cx="3017520" cy="1097280"/>
          </a:xfrm>
          <a:prstGeom prst="roundRect">
            <a:avLst>
              <a:gd name="adj" fmla="val 10000"/>
            </a:avLst>
          </a:prstGeom>
          <a:solidFill>
            <a:srgbClr val="F1E1EE"/>
          </a:solidFill>
          <a:ln w="12700">
            <a:solidFill>
              <a:srgbClr val="962B7C"/>
            </a:solidFill>
            <a:prstDash val="solid"/>
          </a:ln>
        </p:spPr>
      </p:sp>
      <p:sp>
        <p:nvSpPr>
          <p:cNvPr id="27" name="Text 24"/>
          <p:cNvSpPr txBox="1"/>
          <p:nvPr/>
        </p:nvSpPr>
        <p:spPr>
          <a:xfrm>
            <a:off x="1143000" y="3063240"/>
            <a:ext cx="2651760" cy="109728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Concert ca nhạc tại SVĐ Mỹ Đình</a:t>
            </a:r>
            <a:endParaRPr lang="en-US" sz="1500" dirty="0"/>
          </a:p>
        </p:txBody>
      </p:sp>
      <p:sp>
        <p:nvSpPr>
          <p:cNvPr id="28" name="Shape 25"/>
          <p:cNvSpPr/>
          <p:nvPr/>
        </p:nvSpPr>
        <p:spPr>
          <a:xfrm>
            <a:off x="4297680" y="2359152"/>
            <a:ext cx="493776" cy="493776"/>
          </a:xfrm>
          <a:prstGeom prst="ellipse">
            <a:avLst/>
          </a:prstGeom>
          <a:solidFill>
            <a:srgbClr val="09A1E5"/>
          </a:solidFill>
          <a:ln w="12700">
            <a:solidFill>
              <a:srgbClr val="09A1E5"/>
            </a:solidFill>
            <a:prstDash val="solid"/>
          </a:ln>
        </p:spPr>
      </p:sp>
      <p:sp>
        <p:nvSpPr>
          <p:cNvPr id="29" name="Text 26"/>
          <p:cNvSpPr txBox="1"/>
          <p:nvPr/>
        </p:nvSpPr>
        <p:spPr>
          <a:xfrm>
            <a:off x="4297680" y="2359152"/>
            <a:ext cx="493776" cy="493776"/>
          </a:xfrm>
          <a:prstGeom prst="rect">
            <a:avLst/>
          </a:prstGeom>
          <a:noFill/>
          <a:ln/>
        </p:spPr>
        <p:txBody>
          <a:bodyPr wrap="square" lIns="0" tIns="0" rIns="0" bIns="0" rtlCol="0" anchor="ctr"/>
          <a:lstStyle/>
          <a:p>
            <a:pPr algn="ctr" indent="0" marL="0">
              <a:buNone/>
            </a:pPr>
            <a:endParaRPr lang="en-US" sz="1836" dirty="0"/>
          </a:p>
        </p:txBody>
      </p:sp>
      <p:sp>
        <p:nvSpPr>
          <p:cNvPr id="30" name="Text 27"/>
          <p:cNvSpPr txBox="1"/>
          <p:nvPr/>
        </p:nvSpPr>
        <p:spPr>
          <a:xfrm>
            <a:off x="4297680" y="1810512"/>
            <a:ext cx="2743200" cy="457200"/>
          </a:xfrm>
          <a:prstGeom prst="rect">
            <a:avLst/>
          </a:prstGeom>
          <a:noFill/>
          <a:ln/>
        </p:spPr>
        <p:txBody>
          <a:bodyPr wrap="square" lIns="0" tIns="0" rIns="0" bIns="0" rtlCol="0" anchor="ctr"/>
          <a:lstStyle/>
          <a:p>
            <a:pPr indent="0" marL="0">
              <a:buNone/>
            </a:pPr>
            <a:r>
              <a:rPr lang="en-US" sz="1800" b="1" dirty="0">
                <a:solidFill>
                  <a:srgbClr val="0A7FB5"/>
                </a:solidFill>
                <a:latin typeface="Alexandria" pitchFamily="34" charset="0"/>
                <a:ea typeface="Alexandria" pitchFamily="34" charset="-122"/>
                <a:cs typeface="Alexandria" pitchFamily="34" charset="-120"/>
              </a:rPr>
              <a:t>15/12/2024</a:t>
            </a:r>
            <a:endParaRPr lang="en-US" sz="1800" dirty="0"/>
          </a:p>
        </p:txBody>
      </p:sp>
      <p:sp>
        <p:nvSpPr>
          <p:cNvPr id="31" name="Shape 28"/>
          <p:cNvSpPr/>
          <p:nvPr/>
        </p:nvSpPr>
        <p:spPr>
          <a:xfrm>
            <a:off x="4251960" y="3063240"/>
            <a:ext cx="3017520" cy="1097280"/>
          </a:xfrm>
          <a:prstGeom prst="roundRect">
            <a:avLst>
              <a:gd name="adj" fmla="val 10000"/>
            </a:avLst>
          </a:prstGeom>
          <a:solidFill>
            <a:srgbClr val="DDF1FB"/>
          </a:solidFill>
          <a:ln w="12700">
            <a:solidFill>
              <a:srgbClr val="09A1E5"/>
            </a:solidFill>
            <a:prstDash val="solid"/>
          </a:ln>
        </p:spPr>
      </p:sp>
      <p:sp>
        <p:nvSpPr>
          <p:cNvPr id="32" name="Text 29"/>
          <p:cNvSpPr txBox="1"/>
          <p:nvPr/>
        </p:nvSpPr>
        <p:spPr>
          <a:xfrm>
            <a:off x="4434840" y="3063240"/>
            <a:ext cx="2651760" cy="109728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ASEAN Cup: Việt Nam – Indonesia</a:t>
            </a:r>
            <a:endParaRPr lang="en-US" sz="1500" dirty="0"/>
          </a:p>
        </p:txBody>
      </p:sp>
      <p:sp>
        <p:nvSpPr>
          <p:cNvPr id="33" name="Shape 30"/>
          <p:cNvSpPr/>
          <p:nvPr/>
        </p:nvSpPr>
        <p:spPr>
          <a:xfrm>
            <a:off x="548640" y="4434840"/>
            <a:ext cx="6720840" cy="1554480"/>
          </a:xfrm>
          <a:prstGeom prst="roundRect">
            <a:avLst>
              <a:gd name="adj" fmla="val 7059"/>
            </a:avLst>
          </a:prstGeom>
          <a:solidFill>
            <a:srgbClr val="FFE4EA"/>
          </a:solidFill>
          <a:ln w="12700">
            <a:solidFill>
              <a:srgbClr val="FF5178"/>
            </a:solidFill>
            <a:prstDash val="solid"/>
          </a:ln>
        </p:spPr>
      </p:sp>
      <p:sp>
        <p:nvSpPr>
          <p:cNvPr id="34" name="Text 31"/>
          <p:cNvSpPr txBox="1"/>
          <p:nvPr/>
        </p:nvSpPr>
        <p:spPr>
          <a:xfrm>
            <a:off x="822960" y="4434840"/>
            <a:ext cx="6172200" cy="155448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Kết quả: </a:t>
            </a:r>
            <a:pPr indent="0" marL="0">
              <a:buNone/>
            </a:pPr>
            <a:r>
              <a:rPr lang="en-US" sz="1700" dirty="0">
                <a:solidFill>
                  <a:srgbClr val="2A2238"/>
                </a:solidFill>
                <a:latin typeface="Alexandria" pitchFamily="34" charset="0"/>
                <a:ea typeface="Alexandria" pitchFamily="34" charset="-122"/>
                <a:cs typeface="Alexandria" pitchFamily="34" charset="-120"/>
              </a:rPr>
              <a:t>VFF xin đổi sân nhà của đội tuyển về Việt Trì — mặt sân sau concert là mối lo.</a:t>
            </a:r>
            <a:endParaRPr lang="en-US" sz="1700" dirty="0"/>
          </a:p>
        </p:txBody>
      </p:sp>
      <p:sp>
        <p:nvSpPr>
          <p:cNvPr id="35" name="Shape 32"/>
          <p:cNvSpPr/>
          <p:nvPr/>
        </p:nvSpPr>
        <p:spPr>
          <a:xfrm>
            <a:off x="7635240" y="1810512"/>
            <a:ext cx="4007815" cy="4178808"/>
          </a:xfrm>
          <a:prstGeom prst="roundRect">
            <a:avLst>
              <a:gd name="adj" fmla="val 2738"/>
            </a:avLst>
          </a:prstGeom>
          <a:solidFill>
            <a:srgbClr val="FFF3C4"/>
          </a:solidFill>
          <a:ln w="12700">
            <a:solidFill>
              <a:srgbClr val="FFD23B"/>
            </a:solidFill>
            <a:prstDash val="solid"/>
          </a:ln>
        </p:spPr>
      </p:sp>
      <p:sp>
        <p:nvSpPr>
          <p:cNvPr id="36" name="Text 33"/>
          <p:cNvSpPr txBox="1"/>
          <p:nvPr/>
        </p:nvSpPr>
        <p:spPr>
          <a:xfrm>
            <a:off x="7909560" y="1965960"/>
            <a:ext cx="3459175" cy="45720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Luôn hỏi địa điểm:</a:t>
            </a:r>
            <a:endParaRPr lang="en-US" sz="1700" dirty="0"/>
          </a:p>
        </p:txBody>
      </p:sp>
      <p:sp>
        <p:nvSpPr>
          <p:cNvPr id="37" name="Text 34"/>
          <p:cNvSpPr txBox="1"/>
          <p:nvPr/>
        </p:nvSpPr>
        <p:spPr>
          <a:xfrm>
            <a:off x="7909560" y="2514600"/>
            <a:ext cx="3459175" cy="3200400"/>
          </a:xfrm>
          <a:prstGeom prst="rect">
            <a:avLst/>
          </a:prstGeom>
          <a:noFill/>
          <a:ln/>
        </p:spPr>
        <p:txBody>
          <a:bodyPr wrap="square" lIns="0" tIns="0" rIns="0" bIns="0" rtlCol="0" anchor="t"/>
          <a:lstStyle/>
          <a:p>
            <a:pPr marL="342900" indent="-342900">
              <a:spcAft>
                <a:spcPts val="1400"/>
              </a:spcAft>
              <a:buSzPct val="100000"/>
              <a:buChar char="•"/>
            </a:pPr>
            <a:r>
              <a:rPr lang="en-US" sz="1700" dirty="0">
                <a:solidFill>
                  <a:srgbClr val="2A2238"/>
                </a:solidFill>
                <a:latin typeface="Alexandria" pitchFamily="34" charset="0"/>
                <a:ea typeface="Alexandria" pitchFamily="34" charset="-122"/>
                <a:cs typeface="Alexandria" pitchFamily="34" charset="-120"/>
              </a:rPr>
              <a:t>Trước và sau ngày của tôi có sự kiện gì?</a:t>
            </a:r>
            <a:endParaRPr lang="en-US" sz="1700" dirty="0"/>
          </a:p>
          <a:p>
            <a:pPr marL="342900" indent="-342900">
              <a:spcAft>
                <a:spcPts val="1400"/>
              </a:spcAft>
              <a:buSzPct val="100000"/>
              <a:buChar char="•"/>
            </a:pPr>
            <a:r>
              <a:rPr lang="en-US" sz="1700" dirty="0">
                <a:solidFill>
                  <a:srgbClr val="2A2238"/>
                </a:solidFill>
                <a:latin typeface="Alexandria" pitchFamily="34" charset="0"/>
                <a:ea typeface="Alexandria" pitchFamily="34" charset="-122"/>
                <a:cs typeface="Alexandria" pitchFamily="34" charset="-120"/>
              </a:rPr>
              <a:t>Giờ dựng – tháo thế nào?</a:t>
            </a:r>
            <a:endParaRPr lang="en-US" sz="1700" dirty="0"/>
          </a:p>
          <a:p>
            <a:pPr marL="342900" indent="-342900">
              <a:spcAft>
                <a:spcPts val="1400"/>
              </a:spcAft>
              <a:buSzPct val="100000"/>
              <a:buChar char="•"/>
            </a:pPr>
            <a:r>
              <a:rPr lang="en-US" sz="1700" dirty="0">
                <a:solidFill>
                  <a:srgbClr val="2A2238"/>
                </a:solidFill>
                <a:latin typeface="Alexandria" pitchFamily="34" charset="0"/>
                <a:ea typeface="Alexandria" pitchFamily="34" charset="-122"/>
                <a:cs typeface="Alexandria" pitchFamily="34" charset="-120"/>
              </a:rPr>
              <a:t>Ai chịu trách nhiệm trả lại mặt bằng?</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655064"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65506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10.1 Quy trình mua</a:t>
            </a:r>
            <a:endParaRPr lang="en-US" sz="1000" dirty="0"/>
          </a:p>
        </p:txBody>
      </p:sp>
      <p:sp>
        <p:nvSpPr>
          <p:cNvPr id="6" name="Shape 4"/>
          <p:cNvSpPr/>
          <p:nvPr/>
        </p:nvSpPr>
        <p:spPr>
          <a:xfrm>
            <a:off x="3145536" y="274320"/>
            <a:ext cx="1266444" cy="292608"/>
          </a:xfrm>
          <a:prstGeom prst="roundRect">
            <a:avLst>
              <a:gd name="adj" fmla="val 50000"/>
            </a:avLst>
          </a:prstGeom>
          <a:solidFill>
            <a:srgbClr val="09A1E5"/>
          </a:solidFill>
          <a:ln w="9525">
            <a:solidFill>
              <a:srgbClr val="09A1E5"/>
            </a:solidFill>
            <a:prstDash val="solid"/>
          </a:ln>
        </p:spPr>
      </p:sp>
      <p:sp>
        <p:nvSpPr>
          <p:cNvPr id="7" name="Text 5"/>
          <p:cNvSpPr txBox="1"/>
          <p:nvPr/>
        </p:nvSpPr>
        <p:spPr>
          <a:xfrm>
            <a:off x="3145536" y="274320"/>
            <a:ext cx="126644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10.2 Địa điểm</a:t>
            </a:r>
            <a:endParaRPr lang="en-US" sz="1000" dirty="0"/>
          </a:p>
        </p:txBody>
      </p:sp>
      <p:sp>
        <p:nvSpPr>
          <p:cNvPr id="8" name="Shape 6"/>
          <p:cNvSpPr/>
          <p:nvPr/>
        </p:nvSpPr>
        <p:spPr>
          <a:xfrm>
            <a:off x="4521708" y="274320"/>
            <a:ext cx="2354580"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521708" y="274320"/>
            <a:ext cx="235458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10.3 Hành trình Key Account</a:t>
            </a:r>
            <a:endParaRPr lang="en-US" sz="1000" dirty="0"/>
          </a:p>
        </p:txBody>
      </p:sp>
      <p:sp>
        <p:nvSpPr>
          <p:cNvPr id="10" name="Shape 8"/>
          <p:cNvSpPr/>
          <p:nvPr/>
        </p:nvSpPr>
        <p:spPr>
          <a:xfrm>
            <a:off x="6986016"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986016"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384048" cy="384048"/>
          </a:xfrm>
          <a:prstGeom prst="roundRect">
            <a:avLst>
              <a:gd name="adj" fmla="val 18000"/>
            </a:avLst>
          </a:prstGeom>
          <a:solidFill>
            <a:srgbClr val="FFFFFF"/>
          </a:solidFill>
          <a:ln w="12700">
            <a:solidFill>
              <a:srgbClr val="2A2238"/>
            </a:solidFill>
            <a:prstDash val="solid"/>
          </a:ln>
        </p:spPr>
      </p:sp>
      <p:sp>
        <p:nvSpPr>
          <p:cNvPr id="13" name="Shape 11"/>
          <p:cNvSpPr/>
          <p:nvPr/>
        </p:nvSpPr>
        <p:spPr>
          <a:xfrm>
            <a:off x="11343498" y="265542"/>
            <a:ext cx="215067" cy="53767"/>
          </a:xfrm>
          <a:prstGeom prst="rect">
            <a:avLst/>
          </a:prstGeom>
          <a:solidFill>
            <a:srgbClr val="962B7C"/>
          </a:solidFill>
          <a:ln w="12700">
            <a:solidFill>
              <a:srgbClr val="962B7C"/>
            </a:solidFill>
            <a:prstDash val="solid"/>
          </a:ln>
        </p:spPr>
      </p:sp>
      <p:sp>
        <p:nvSpPr>
          <p:cNvPr id="14" name="Shape 12"/>
          <p:cNvSpPr/>
          <p:nvPr/>
        </p:nvSpPr>
        <p:spPr>
          <a:xfrm>
            <a:off x="11335817" y="380756"/>
            <a:ext cx="76810" cy="76810"/>
          </a:xfrm>
          <a:prstGeom prst="ellipse">
            <a:avLst/>
          </a:prstGeom>
          <a:solidFill>
            <a:srgbClr val="FF9259"/>
          </a:solidFill>
          <a:ln w="12700">
            <a:solidFill>
              <a:srgbClr val="FF9259"/>
            </a:solidFill>
            <a:prstDash val="solid"/>
          </a:ln>
        </p:spPr>
      </p:sp>
      <p:sp>
        <p:nvSpPr>
          <p:cNvPr id="15" name="Shape 13"/>
          <p:cNvSpPr/>
          <p:nvPr/>
        </p:nvSpPr>
        <p:spPr>
          <a:xfrm>
            <a:off x="11489436" y="380756"/>
            <a:ext cx="76810" cy="76810"/>
          </a:xfrm>
          <a:prstGeom prst="ellipse">
            <a:avLst/>
          </a:prstGeom>
          <a:solidFill>
            <a:srgbClr val="09A1E5"/>
          </a:solidFill>
          <a:ln w="12700">
            <a:solidFill>
              <a:srgbClr val="09A1E5"/>
            </a:solidFill>
            <a:prstDash val="solid"/>
          </a:ln>
        </p:spPr>
      </p:sp>
      <p:sp>
        <p:nvSpPr>
          <p:cNvPr id="16" name="Shape 14"/>
          <p:cNvSpPr/>
          <p:nvPr/>
        </p:nvSpPr>
        <p:spPr>
          <a:xfrm>
            <a:off x="11335817" y="488290"/>
            <a:ext cx="76810" cy="76810"/>
          </a:xfrm>
          <a:prstGeom prst="ellipse">
            <a:avLst/>
          </a:prstGeom>
          <a:solidFill>
            <a:srgbClr val="49B296"/>
          </a:solidFill>
          <a:ln w="12700">
            <a:solidFill>
              <a:srgbClr val="49B296"/>
            </a:solidFill>
            <a:prstDash val="solid"/>
          </a:ln>
        </p:spPr>
      </p:sp>
      <p:sp>
        <p:nvSpPr>
          <p:cNvPr id="17" name="Shape 15"/>
          <p:cNvSpPr/>
          <p:nvPr/>
        </p:nvSpPr>
        <p:spPr>
          <a:xfrm>
            <a:off x="11489436" y="488290"/>
            <a:ext cx="76810" cy="76810"/>
          </a:xfrm>
          <a:prstGeom prst="ellipse">
            <a:avLst/>
          </a:prstGeom>
          <a:solidFill>
            <a:srgbClr val="FF5178"/>
          </a:solidFill>
          <a:ln w="12700">
            <a:solidFill>
              <a:srgbClr val="FF5178"/>
            </a:solidFill>
            <a:prstDash val="solid"/>
          </a:ln>
        </p:spPr>
      </p:sp>
      <p:sp>
        <p:nvSpPr>
          <p:cNvPr id="18" name="Text 16"/>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Chọn địa điểm trước vì địa điểm quyết định nhà cung cấp</a:t>
            </a:r>
            <a:endParaRPr lang="en-US" sz="2600" dirty="0"/>
          </a:p>
        </p:txBody>
      </p:sp>
      <p:sp>
        <p:nvSpPr>
          <p:cNvPr id="19" name="Text 17"/>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V07: Blumin, trong BizBash · V06: Cvent (2025) — chưa kiểm chứng chéo.</a:t>
            </a:r>
            <a:endParaRPr lang="en-US" sz="1000" dirty="0"/>
          </a:p>
        </p:txBody>
      </p:sp>
      <p:sp>
        <p:nvSpPr>
          <p:cNvPr id="20" name="Text 18"/>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10   14</a:t>
            </a:r>
            <a:endParaRPr lang="en-US" sz="1000" dirty="0"/>
          </a:p>
        </p:txBody>
      </p:sp>
      <p:sp>
        <p:nvSpPr>
          <p:cNvPr id="22" name="Shape 19"/>
          <p:cNvSpPr/>
          <p:nvPr/>
        </p:nvSpPr>
        <p:spPr>
          <a:xfrm>
            <a:off x="548640" y="1874520"/>
            <a:ext cx="5669280" cy="2377440"/>
          </a:xfrm>
          <a:prstGeom prst="roundRect">
            <a:avLst>
              <a:gd name="adj" fmla="val 4615"/>
            </a:avLst>
          </a:prstGeom>
          <a:solidFill>
            <a:srgbClr val="DDF1FB"/>
          </a:solidFill>
          <a:ln w="12700">
            <a:solidFill>
              <a:srgbClr val="09A1E5"/>
            </a:solidFill>
            <a:prstDash val="solid"/>
          </a:ln>
        </p:spPr>
      </p:sp>
      <p:sp>
        <p:nvSpPr>
          <p:cNvPr id="23" name="Text 20"/>
          <p:cNvSpPr txBox="1"/>
          <p:nvPr/>
        </p:nvSpPr>
        <p:spPr>
          <a:xfrm>
            <a:off x="868680" y="1874520"/>
            <a:ext cx="5029200" cy="2377440"/>
          </a:xfrm>
          <a:prstGeom prst="rect">
            <a:avLst/>
          </a:prstGeom>
          <a:noFill/>
          <a:ln/>
        </p:spPr>
        <p:txBody>
          <a:bodyPr wrap="square" lIns="0" tIns="0" rIns="0" bIns="0" rtlCol="0" anchor="ctr"/>
          <a:lstStyle/>
          <a:p>
            <a:pPr indent="0" marL="0">
              <a:spcAft>
                <a:spcPts val="800"/>
              </a:spcAft>
              <a:buNone/>
            </a:pPr>
            <a:r>
              <a:rPr lang="en-US" sz="2000" i="1" dirty="0">
                <a:solidFill>
                  <a:srgbClr val="2A2238"/>
                </a:solidFill>
                <a:latin typeface="Alexandria" pitchFamily="34" charset="0"/>
                <a:ea typeface="Alexandria" pitchFamily="34" charset="-122"/>
                <a:cs typeface="Alexandria" pitchFamily="34" charset="-120"/>
              </a:rPr>
              <a:t>“The venue is often the first step in a search because that influences which vendors are used.”</a:t>
            </a:r>
            <a:endParaRPr lang="en-US" sz="2000" dirty="0"/>
          </a:p>
          <a:p>
            <a:pPr indent="0" marL="0">
              <a:spcAft>
                <a:spcPts val="800"/>
              </a:spcAft>
              <a:buNone/>
            </a:pPr>
            <a:r>
              <a:rPr lang="en-US" sz="1300" dirty="0">
                <a:solidFill>
                  <a:srgbClr val="6E6878"/>
                </a:solidFill>
                <a:latin typeface="Alexandria" pitchFamily="34" charset="0"/>
                <a:ea typeface="Alexandria" pitchFamily="34" charset="-122"/>
                <a:cs typeface="Alexandria" pitchFamily="34" charset="-120"/>
              </a:rPr>
              <a:t>— Blumin, trong BizBash (V07)</a:t>
            </a:r>
            <a:endParaRPr lang="en-US" sz="2000" dirty="0"/>
          </a:p>
        </p:txBody>
      </p:sp>
      <p:sp>
        <p:nvSpPr>
          <p:cNvPr id="24" name="Shape 21"/>
          <p:cNvSpPr/>
          <p:nvPr/>
        </p:nvSpPr>
        <p:spPr>
          <a:xfrm>
            <a:off x="548640" y="4480560"/>
            <a:ext cx="5669280" cy="1508760"/>
          </a:xfrm>
          <a:prstGeom prst="roundRect">
            <a:avLst>
              <a:gd name="adj" fmla="val 7273"/>
            </a:avLst>
          </a:prstGeom>
          <a:solidFill>
            <a:srgbClr val="FFFFFF"/>
          </a:solidFill>
          <a:ln w="12700">
            <a:solidFill>
              <a:srgbClr val="DCD7C8"/>
            </a:solidFill>
            <a:prstDash val="solid"/>
          </a:ln>
        </p:spPr>
      </p:sp>
      <p:sp>
        <p:nvSpPr>
          <p:cNvPr id="25" name="Text 22"/>
          <p:cNvSpPr txBox="1"/>
          <p:nvPr/>
        </p:nvSpPr>
        <p:spPr>
          <a:xfrm>
            <a:off x="822960" y="4480560"/>
            <a:ext cx="5120640" cy="1508760"/>
          </a:xfrm>
          <a:prstGeom prst="rect">
            <a:avLst/>
          </a:prstGeom>
          <a:noFill/>
          <a:ln/>
        </p:spPr>
        <p:txBody>
          <a:bodyPr wrap="square" lIns="0" tIns="0" rIns="0" bIns="0" rtlCol="0" anchor="ctr"/>
          <a:lstStyle/>
          <a:p>
            <a:pPr indent="0" marL="0">
              <a:spcAft>
                <a:spcPts val="800"/>
              </a:spcAft>
              <a:buNone/>
            </a:pPr>
            <a:r>
              <a:rPr lang="en-US" sz="1500" b="1" dirty="0">
                <a:solidFill>
                  <a:srgbClr val="2A2238"/>
                </a:solidFill>
                <a:latin typeface="Alexandria" pitchFamily="34" charset="0"/>
                <a:ea typeface="Alexandria" pitchFamily="34" charset="-122"/>
                <a:cs typeface="Alexandria" pitchFamily="34" charset="-120"/>
              </a:rPr>
              <a:t>AV độc quyền → </a:t>
            </a:r>
            <a:pPr indent="0" marL="0">
              <a:spcAft>
                <a:spcPts val="800"/>
              </a:spcAft>
              <a:buNone/>
            </a:pPr>
            <a:r>
              <a:rPr lang="en-US" sz="1500" dirty="0">
                <a:solidFill>
                  <a:srgbClr val="2A2238"/>
                </a:solidFill>
                <a:latin typeface="Alexandria" pitchFamily="34" charset="0"/>
                <a:ea typeface="Alexandria" pitchFamily="34" charset="-122"/>
                <a:cs typeface="Alexandria" pitchFamily="34" charset="-120"/>
              </a:rPr>
              <a:t>Nova mất quyền chọn AV</a:t>
            </a:r>
            <a:endParaRPr lang="en-US" sz="1500" dirty="0"/>
          </a:p>
          <a:p>
            <a:pPr indent="0" marL="0">
              <a:spcAft>
                <a:spcPts val="800"/>
              </a:spcAft>
              <a:buNone/>
            </a:pPr>
            <a:r>
              <a:rPr lang="en-US" sz="1500" b="1" dirty="0">
                <a:solidFill>
                  <a:srgbClr val="2A2238"/>
                </a:solidFill>
                <a:latin typeface="Alexandria" pitchFamily="34" charset="0"/>
                <a:ea typeface="Alexandria" pitchFamily="34" charset="-122"/>
                <a:cs typeface="Alexandria" pitchFamily="34" charset="-120"/>
              </a:rPr>
              <a:t>Cho mang AV ngoài → </a:t>
            </a:r>
            <a:pPr indent="0" marL="0">
              <a:spcAft>
                <a:spcPts val="800"/>
              </a:spcAft>
              <a:buNone/>
            </a:pPr>
            <a:r>
              <a:rPr lang="en-US" sz="1500" dirty="0">
                <a:solidFill>
                  <a:srgbClr val="2A2238"/>
                </a:solidFill>
                <a:latin typeface="Alexandria" pitchFamily="34" charset="0"/>
                <a:ea typeface="Alexandria" pitchFamily="34" charset="-122"/>
                <a:cs typeface="Alexandria" pitchFamily="34" charset="-120"/>
              </a:rPr>
              <a:t>Nova tự chọn đơn vị livestream quen</a:t>
            </a:r>
            <a:endParaRPr lang="en-US" sz="1500" dirty="0"/>
          </a:p>
        </p:txBody>
      </p:sp>
      <p:sp>
        <p:nvSpPr>
          <p:cNvPr id="26" name="Text 23"/>
          <p:cNvSpPr txBox="1"/>
          <p:nvPr/>
        </p:nvSpPr>
        <p:spPr>
          <a:xfrm>
            <a:off x="6583680" y="1874520"/>
            <a:ext cx="5059375" cy="685800"/>
          </a:xfrm>
          <a:prstGeom prst="rect">
            <a:avLst/>
          </a:prstGeom>
          <a:noFill/>
          <a:ln/>
        </p:spPr>
        <p:txBody>
          <a:bodyPr wrap="square" lIns="0" tIns="0" rIns="0" bIns="0" rtlCol="0" anchor="t"/>
          <a:lstStyle/>
          <a:p>
            <a:pPr indent="0" marL="0">
              <a:buNone/>
            </a:pPr>
            <a:r>
              <a:rPr lang="en-US" sz="1500" b="1" dirty="0">
                <a:solidFill>
                  <a:srgbClr val="2A2238"/>
                </a:solidFill>
                <a:latin typeface="Alexandria" pitchFamily="34" charset="0"/>
                <a:ea typeface="Alexandria" pitchFamily="34" charset="-122"/>
                <a:cs typeface="Alexandria" pitchFamily="34" charset="-120"/>
              </a:rPr>
              <a:t>Nguồn ảnh hưởng nhiều nhất đến quyết định gửi RFP (V06)</a:t>
            </a:r>
            <a:endParaRPr lang="en-US" sz="1500" dirty="0"/>
          </a:p>
        </p:txBody>
      </p:sp>
      <p:sp>
        <p:nvSpPr>
          <p:cNvPr id="27" name="Text 24"/>
          <p:cNvSpPr txBox="1"/>
          <p:nvPr/>
        </p:nvSpPr>
        <p:spPr>
          <a:xfrm>
            <a:off x="6583680" y="2743200"/>
            <a:ext cx="5059375" cy="36576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Thông số phòng</a:t>
            </a:r>
            <a:endParaRPr lang="en-US" sz="1400" dirty="0"/>
          </a:p>
        </p:txBody>
      </p:sp>
      <p:sp>
        <p:nvSpPr>
          <p:cNvPr id="28" name="Shape 25"/>
          <p:cNvSpPr/>
          <p:nvPr/>
        </p:nvSpPr>
        <p:spPr>
          <a:xfrm>
            <a:off x="6583680" y="3127248"/>
            <a:ext cx="3851287" cy="411480"/>
          </a:xfrm>
          <a:prstGeom prst="rect">
            <a:avLst/>
          </a:prstGeom>
          <a:solidFill>
            <a:srgbClr val="962B7C"/>
          </a:solidFill>
          <a:ln w="12700">
            <a:solidFill>
              <a:srgbClr val="962B7C"/>
            </a:solidFill>
            <a:prstDash val="solid"/>
          </a:ln>
        </p:spPr>
      </p:sp>
      <p:sp>
        <p:nvSpPr>
          <p:cNvPr id="29" name="Text 26"/>
          <p:cNvSpPr txBox="1"/>
          <p:nvPr/>
        </p:nvSpPr>
        <p:spPr>
          <a:xfrm>
            <a:off x="10526407" y="3108960"/>
            <a:ext cx="822960" cy="45720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50%</a:t>
            </a:r>
            <a:endParaRPr lang="en-US" sz="1600" dirty="0"/>
          </a:p>
        </p:txBody>
      </p:sp>
      <p:sp>
        <p:nvSpPr>
          <p:cNvPr id="30" name="Text 27"/>
          <p:cNvSpPr txBox="1"/>
          <p:nvPr/>
        </p:nvSpPr>
        <p:spPr>
          <a:xfrm>
            <a:off x="6583680" y="3794760"/>
            <a:ext cx="5059375" cy="36576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Hình ảnh</a:t>
            </a:r>
            <a:endParaRPr lang="en-US" sz="1400" dirty="0"/>
          </a:p>
        </p:txBody>
      </p:sp>
      <p:sp>
        <p:nvSpPr>
          <p:cNvPr id="31" name="Shape 28"/>
          <p:cNvSpPr/>
          <p:nvPr/>
        </p:nvSpPr>
        <p:spPr>
          <a:xfrm>
            <a:off x="6583680" y="4178808"/>
            <a:ext cx="3697235" cy="411480"/>
          </a:xfrm>
          <a:prstGeom prst="rect">
            <a:avLst/>
          </a:prstGeom>
          <a:solidFill>
            <a:srgbClr val="FF9259"/>
          </a:solidFill>
          <a:ln w="12700">
            <a:solidFill>
              <a:srgbClr val="FF9259"/>
            </a:solidFill>
            <a:prstDash val="solid"/>
          </a:ln>
        </p:spPr>
      </p:sp>
      <p:sp>
        <p:nvSpPr>
          <p:cNvPr id="32" name="Text 29"/>
          <p:cNvSpPr txBox="1"/>
          <p:nvPr/>
        </p:nvSpPr>
        <p:spPr>
          <a:xfrm>
            <a:off x="10372355" y="4160520"/>
            <a:ext cx="822960" cy="45720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48%</a:t>
            </a:r>
            <a:endParaRPr lang="en-US" sz="1600" dirty="0"/>
          </a:p>
        </p:txBody>
      </p:sp>
      <p:sp>
        <p:nvSpPr>
          <p:cNvPr id="33" name="Text 30"/>
          <p:cNvSpPr txBox="1"/>
          <p:nvPr/>
        </p:nvSpPr>
        <p:spPr>
          <a:xfrm>
            <a:off x="6583680" y="4846320"/>
            <a:ext cx="5059375" cy="36576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Sơ đồ mặt bằng</a:t>
            </a:r>
            <a:endParaRPr lang="en-US" sz="1400" dirty="0"/>
          </a:p>
        </p:txBody>
      </p:sp>
      <p:sp>
        <p:nvSpPr>
          <p:cNvPr id="34" name="Shape 31"/>
          <p:cNvSpPr/>
          <p:nvPr/>
        </p:nvSpPr>
        <p:spPr>
          <a:xfrm>
            <a:off x="6583680" y="5230368"/>
            <a:ext cx="3543184" cy="411480"/>
          </a:xfrm>
          <a:prstGeom prst="rect">
            <a:avLst/>
          </a:prstGeom>
          <a:solidFill>
            <a:srgbClr val="09A1E5"/>
          </a:solidFill>
          <a:ln w="12700">
            <a:solidFill>
              <a:srgbClr val="09A1E5"/>
            </a:solidFill>
            <a:prstDash val="solid"/>
          </a:ln>
        </p:spPr>
      </p:sp>
      <p:sp>
        <p:nvSpPr>
          <p:cNvPr id="35" name="Text 32"/>
          <p:cNvSpPr txBox="1"/>
          <p:nvPr/>
        </p:nvSpPr>
        <p:spPr>
          <a:xfrm>
            <a:off x="10218304" y="5212080"/>
            <a:ext cx="822960" cy="45720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46%</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655064"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65506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10.1 Quy trình mua</a:t>
            </a:r>
            <a:endParaRPr lang="en-US" sz="1000" dirty="0"/>
          </a:p>
        </p:txBody>
      </p:sp>
      <p:sp>
        <p:nvSpPr>
          <p:cNvPr id="6" name="Shape 4"/>
          <p:cNvSpPr/>
          <p:nvPr/>
        </p:nvSpPr>
        <p:spPr>
          <a:xfrm>
            <a:off x="3145536" y="274320"/>
            <a:ext cx="1266444" cy="292608"/>
          </a:xfrm>
          <a:prstGeom prst="roundRect">
            <a:avLst>
              <a:gd name="adj" fmla="val 50000"/>
            </a:avLst>
          </a:prstGeom>
          <a:solidFill>
            <a:srgbClr val="09A1E5"/>
          </a:solidFill>
          <a:ln w="9525">
            <a:solidFill>
              <a:srgbClr val="09A1E5"/>
            </a:solidFill>
            <a:prstDash val="solid"/>
          </a:ln>
        </p:spPr>
      </p:sp>
      <p:sp>
        <p:nvSpPr>
          <p:cNvPr id="7" name="Text 5"/>
          <p:cNvSpPr txBox="1"/>
          <p:nvPr/>
        </p:nvSpPr>
        <p:spPr>
          <a:xfrm>
            <a:off x="3145536" y="274320"/>
            <a:ext cx="126644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10.2 Địa điểm</a:t>
            </a:r>
            <a:endParaRPr lang="en-US" sz="1000" dirty="0"/>
          </a:p>
        </p:txBody>
      </p:sp>
      <p:sp>
        <p:nvSpPr>
          <p:cNvPr id="8" name="Shape 6"/>
          <p:cNvSpPr/>
          <p:nvPr/>
        </p:nvSpPr>
        <p:spPr>
          <a:xfrm>
            <a:off x="4521708" y="274320"/>
            <a:ext cx="2354580"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521708" y="274320"/>
            <a:ext cx="235458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10.3 Hành trình Key Account</a:t>
            </a:r>
            <a:endParaRPr lang="en-US" sz="1000" dirty="0"/>
          </a:p>
        </p:txBody>
      </p:sp>
      <p:sp>
        <p:nvSpPr>
          <p:cNvPr id="10" name="Shape 8"/>
          <p:cNvSpPr/>
          <p:nvPr/>
        </p:nvSpPr>
        <p:spPr>
          <a:xfrm>
            <a:off x="6986016"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986016"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384048" cy="384048"/>
          </a:xfrm>
          <a:prstGeom prst="roundRect">
            <a:avLst>
              <a:gd name="adj" fmla="val 18000"/>
            </a:avLst>
          </a:prstGeom>
          <a:solidFill>
            <a:srgbClr val="FFFFFF"/>
          </a:solidFill>
          <a:ln w="12700">
            <a:solidFill>
              <a:srgbClr val="2A2238"/>
            </a:solidFill>
            <a:prstDash val="solid"/>
          </a:ln>
        </p:spPr>
      </p:sp>
      <p:sp>
        <p:nvSpPr>
          <p:cNvPr id="13" name="Shape 11"/>
          <p:cNvSpPr/>
          <p:nvPr/>
        </p:nvSpPr>
        <p:spPr>
          <a:xfrm>
            <a:off x="11343498" y="265542"/>
            <a:ext cx="215067" cy="53767"/>
          </a:xfrm>
          <a:prstGeom prst="rect">
            <a:avLst/>
          </a:prstGeom>
          <a:solidFill>
            <a:srgbClr val="962B7C"/>
          </a:solidFill>
          <a:ln w="12700">
            <a:solidFill>
              <a:srgbClr val="962B7C"/>
            </a:solidFill>
            <a:prstDash val="solid"/>
          </a:ln>
        </p:spPr>
      </p:sp>
      <p:sp>
        <p:nvSpPr>
          <p:cNvPr id="14" name="Shape 12"/>
          <p:cNvSpPr/>
          <p:nvPr/>
        </p:nvSpPr>
        <p:spPr>
          <a:xfrm>
            <a:off x="11335817" y="380756"/>
            <a:ext cx="76810" cy="76810"/>
          </a:xfrm>
          <a:prstGeom prst="ellipse">
            <a:avLst/>
          </a:prstGeom>
          <a:solidFill>
            <a:srgbClr val="FF9259"/>
          </a:solidFill>
          <a:ln w="12700">
            <a:solidFill>
              <a:srgbClr val="FF9259"/>
            </a:solidFill>
            <a:prstDash val="solid"/>
          </a:ln>
        </p:spPr>
      </p:sp>
      <p:sp>
        <p:nvSpPr>
          <p:cNvPr id="15" name="Shape 13"/>
          <p:cNvSpPr/>
          <p:nvPr/>
        </p:nvSpPr>
        <p:spPr>
          <a:xfrm>
            <a:off x="11489436" y="380756"/>
            <a:ext cx="76810" cy="76810"/>
          </a:xfrm>
          <a:prstGeom prst="ellipse">
            <a:avLst/>
          </a:prstGeom>
          <a:solidFill>
            <a:srgbClr val="09A1E5"/>
          </a:solidFill>
          <a:ln w="12700">
            <a:solidFill>
              <a:srgbClr val="09A1E5"/>
            </a:solidFill>
            <a:prstDash val="solid"/>
          </a:ln>
        </p:spPr>
      </p:sp>
      <p:sp>
        <p:nvSpPr>
          <p:cNvPr id="16" name="Shape 14"/>
          <p:cNvSpPr/>
          <p:nvPr/>
        </p:nvSpPr>
        <p:spPr>
          <a:xfrm>
            <a:off x="11335817" y="488290"/>
            <a:ext cx="76810" cy="76810"/>
          </a:xfrm>
          <a:prstGeom prst="ellipse">
            <a:avLst/>
          </a:prstGeom>
          <a:solidFill>
            <a:srgbClr val="49B296"/>
          </a:solidFill>
          <a:ln w="12700">
            <a:solidFill>
              <a:srgbClr val="49B296"/>
            </a:solidFill>
            <a:prstDash val="solid"/>
          </a:ln>
        </p:spPr>
      </p:sp>
      <p:sp>
        <p:nvSpPr>
          <p:cNvPr id="17" name="Shape 15"/>
          <p:cNvSpPr/>
          <p:nvPr/>
        </p:nvSpPr>
        <p:spPr>
          <a:xfrm>
            <a:off x="11489436" y="488290"/>
            <a:ext cx="76810" cy="76810"/>
          </a:xfrm>
          <a:prstGeom prst="ellipse">
            <a:avLst/>
          </a:prstGeom>
          <a:solidFill>
            <a:srgbClr val="FF5178"/>
          </a:solidFill>
          <a:ln w="12700">
            <a:solidFill>
              <a:srgbClr val="FF5178"/>
            </a:solidFill>
            <a:prstDash val="solid"/>
          </a:ln>
        </p:spPr>
      </p:sp>
      <p:sp>
        <p:nvSpPr>
          <p:cNvPr id="18" name="Text 16"/>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Giá quan trọng, nhưng quan hệ với địa điểm cũng có giá</a:t>
            </a:r>
            <a:endParaRPr lang="en-US" sz="2600" dirty="0"/>
          </a:p>
        </p:txBody>
      </p:sp>
      <p:sp>
        <p:nvSpPr>
          <p:cNvPr id="19" name="Text 17"/>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V06: Cvent (2025) — chưa kiểm chứng chéo.</a:t>
            </a:r>
            <a:endParaRPr lang="en-US" sz="1000" dirty="0"/>
          </a:p>
        </p:txBody>
      </p:sp>
      <p:sp>
        <p:nvSpPr>
          <p:cNvPr id="20" name="Text 18"/>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10   15</a:t>
            </a:r>
            <a:endParaRPr lang="en-US" sz="1000" dirty="0"/>
          </a:p>
        </p:txBody>
      </p:sp>
      <p:sp>
        <p:nvSpPr>
          <p:cNvPr id="22" name="Shape 19"/>
          <p:cNvSpPr/>
          <p:nvPr/>
        </p:nvSpPr>
        <p:spPr>
          <a:xfrm>
            <a:off x="548640" y="1874520"/>
            <a:ext cx="5410048" cy="3017520"/>
          </a:xfrm>
          <a:prstGeom prst="roundRect">
            <a:avLst>
              <a:gd name="adj" fmla="val 3636"/>
            </a:avLst>
          </a:prstGeom>
          <a:solidFill>
            <a:srgbClr val="FFE9DE"/>
          </a:solidFill>
          <a:ln w="12700">
            <a:solidFill>
              <a:srgbClr val="FFE9DE"/>
            </a:solidFill>
            <a:prstDash val="solid"/>
          </a:ln>
        </p:spPr>
      </p:sp>
      <p:sp>
        <p:nvSpPr>
          <p:cNvPr id="23" name="Text 20"/>
          <p:cNvSpPr txBox="1"/>
          <p:nvPr/>
        </p:nvSpPr>
        <p:spPr>
          <a:xfrm>
            <a:off x="914400" y="2057400"/>
            <a:ext cx="4678528" cy="1188720"/>
          </a:xfrm>
          <a:prstGeom prst="rect">
            <a:avLst/>
          </a:prstGeom>
          <a:noFill/>
          <a:ln/>
        </p:spPr>
        <p:txBody>
          <a:bodyPr wrap="square" lIns="0" tIns="0" rIns="0" bIns="0" rtlCol="0" anchor="ctr"/>
          <a:lstStyle/>
          <a:p>
            <a:pPr indent="0" marL="0">
              <a:buNone/>
            </a:pPr>
            <a:r>
              <a:rPr lang="en-US" sz="6400" b="1" dirty="0">
                <a:solidFill>
                  <a:srgbClr val="D9622B"/>
                </a:solidFill>
                <a:latin typeface="Alexandria" pitchFamily="34" charset="0"/>
                <a:ea typeface="Alexandria" pitchFamily="34" charset="-122"/>
                <a:cs typeface="Alexandria" pitchFamily="34" charset="-120"/>
              </a:rPr>
              <a:t>97%</a:t>
            </a:r>
            <a:endParaRPr lang="en-US" sz="6400" dirty="0"/>
          </a:p>
        </p:txBody>
      </p:sp>
      <p:sp>
        <p:nvSpPr>
          <p:cNvPr id="24" name="Text 21"/>
          <p:cNvSpPr txBox="1"/>
          <p:nvPr/>
        </p:nvSpPr>
        <p:spPr>
          <a:xfrm>
            <a:off x="914400" y="3291840"/>
            <a:ext cx="4678528" cy="868680"/>
          </a:xfrm>
          <a:prstGeom prst="rect">
            <a:avLst/>
          </a:prstGeom>
          <a:noFill/>
          <a:ln/>
        </p:spPr>
        <p:txBody>
          <a:bodyPr wrap="square" lIns="0" tIns="0" rIns="0" bIns="0" rtlCol="0" anchor="t"/>
          <a:lstStyle/>
          <a:p>
            <a:pPr indent="0" marL="0">
              <a:buNone/>
            </a:pPr>
            <a:r>
              <a:rPr lang="en-US" sz="1800" dirty="0">
                <a:solidFill>
                  <a:srgbClr val="2A2238"/>
                </a:solidFill>
                <a:latin typeface="Alexandria" pitchFamily="34" charset="0"/>
                <a:ea typeface="Alexandria" pitchFamily="34" charset="-122"/>
                <a:cs typeface="Alexandria" pitchFamily="34" charset="-120"/>
              </a:rPr>
              <a:t>sẵn sàng đổi sang địa điểm thứ hai nếu tiết kiệm ≤ 20%</a:t>
            </a:r>
            <a:endParaRPr lang="en-US" sz="1800" dirty="0"/>
          </a:p>
        </p:txBody>
      </p:sp>
      <p:sp>
        <p:nvSpPr>
          <p:cNvPr id="25" name="Text 22"/>
          <p:cNvSpPr txBox="1"/>
          <p:nvPr/>
        </p:nvSpPr>
        <p:spPr>
          <a:xfrm>
            <a:off x="914400" y="4206240"/>
            <a:ext cx="4678528" cy="457200"/>
          </a:xfrm>
          <a:prstGeom prst="rect">
            <a:avLst/>
          </a:prstGeom>
          <a:noFill/>
          <a:ln/>
        </p:spPr>
        <p:txBody>
          <a:bodyPr wrap="square" lIns="0" tIns="0" rIns="0" bIns="0" rtlCol="0" anchor="ctr"/>
          <a:lstStyle/>
          <a:p>
            <a:pPr indent="0" marL="0">
              <a:buNone/>
            </a:pPr>
            <a:r>
              <a:rPr lang="en-US" sz="1600" b="1" dirty="0">
                <a:solidFill>
                  <a:srgbClr val="D9622B"/>
                </a:solidFill>
                <a:latin typeface="Alexandria" pitchFamily="34" charset="0"/>
                <a:ea typeface="Alexandria" pitchFamily="34" charset="-122"/>
                <a:cs typeface="Alexandria" pitchFamily="34" charset="-120"/>
              </a:rPr>
              <a:t>→ giá quan trọng</a:t>
            </a:r>
            <a:endParaRPr lang="en-US" sz="1600" dirty="0"/>
          </a:p>
        </p:txBody>
      </p:sp>
      <p:sp>
        <p:nvSpPr>
          <p:cNvPr id="26" name="Shape 23"/>
          <p:cNvSpPr/>
          <p:nvPr/>
        </p:nvSpPr>
        <p:spPr>
          <a:xfrm>
            <a:off x="6233008" y="1874520"/>
            <a:ext cx="5410048" cy="3017520"/>
          </a:xfrm>
          <a:prstGeom prst="roundRect">
            <a:avLst>
              <a:gd name="adj" fmla="val 3636"/>
            </a:avLst>
          </a:prstGeom>
          <a:solidFill>
            <a:srgbClr val="F1E1EE"/>
          </a:solidFill>
          <a:ln w="12700">
            <a:solidFill>
              <a:srgbClr val="F1E1EE"/>
            </a:solidFill>
            <a:prstDash val="solid"/>
          </a:ln>
        </p:spPr>
      </p:sp>
      <p:sp>
        <p:nvSpPr>
          <p:cNvPr id="27" name="Text 24"/>
          <p:cNvSpPr txBox="1"/>
          <p:nvPr/>
        </p:nvSpPr>
        <p:spPr>
          <a:xfrm>
            <a:off x="6598768" y="2057400"/>
            <a:ext cx="4678528" cy="1188720"/>
          </a:xfrm>
          <a:prstGeom prst="rect">
            <a:avLst/>
          </a:prstGeom>
          <a:noFill/>
          <a:ln/>
        </p:spPr>
        <p:txBody>
          <a:bodyPr wrap="square" lIns="0" tIns="0" rIns="0" bIns="0" rtlCol="0" anchor="ctr"/>
          <a:lstStyle/>
          <a:p>
            <a:pPr indent="0" marL="0">
              <a:buNone/>
            </a:pPr>
            <a:r>
              <a:rPr lang="en-US" sz="6400" b="1" dirty="0">
                <a:solidFill>
                  <a:srgbClr val="962B7C"/>
                </a:solidFill>
                <a:latin typeface="Alexandria" pitchFamily="34" charset="0"/>
                <a:ea typeface="Alexandria" pitchFamily="34" charset="-122"/>
                <a:cs typeface="Alexandria" pitchFamily="34" charset="-120"/>
              </a:rPr>
              <a:t>94%</a:t>
            </a:r>
            <a:endParaRPr lang="en-US" sz="6400" dirty="0"/>
          </a:p>
        </p:txBody>
      </p:sp>
      <p:sp>
        <p:nvSpPr>
          <p:cNvPr id="28" name="Text 25"/>
          <p:cNvSpPr txBox="1"/>
          <p:nvPr/>
        </p:nvSpPr>
        <p:spPr>
          <a:xfrm>
            <a:off x="6598768" y="3291840"/>
            <a:ext cx="4678528" cy="868680"/>
          </a:xfrm>
          <a:prstGeom prst="rect">
            <a:avLst/>
          </a:prstGeom>
          <a:noFill/>
          <a:ln/>
        </p:spPr>
        <p:txBody>
          <a:bodyPr wrap="square" lIns="0" tIns="0" rIns="0" bIns="0" rtlCol="0" anchor="t"/>
          <a:lstStyle/>
          <a:p>
            <a:pPr indent="0" marL="0">
              <a:buNone/>
            </a:pPr>
            <a:r>
              <a:rPr lang="en-US" sz="1800" dirty="0">
                <a:solidFill>
                  <a:srgbClr val="2A2238"/>
                </a:solidFill>
                <a:latin typeface="Alexandria" pitchFamily="34" charset="0"/>
                <a:ea typeface="Alexandria" pitchFamily="34" charset="-122"/>
                <a:cs typeface="Alexandria" pitchFamily="34" charset="-120"/>
              </a:rPr>
              <a:t>sẵn sàng trả thêm để giữ địa điểm ưu tiên</a:t>
            </a:r>
            <a:endParaRPr lang="en-US" sz="1800" dirty="0"/>
          </a:p>
        </p:txBody>
      </p:sp>
      <p:sp>
        <p:nvSpPr>
          <p:cNvPr id="29" name="Text 26"/>
          <p:cNvSpPr txBox="1"/>
          <p:nvPr/>
        </p:nvSpPr>
        <p:spPr>
          <a:xfrm>
            <a:off x="6598768" y="4206240"/>
            <a:ext cx="4678528" cy="457200"/>
          </a:xfrm>
          <a:prstGeom prst="rect">
            <a:avLst/>
          </a:prstGeom>
          <a:noFill/>
          <a:ln/>
        </p:spPr>
        <p:txBody>
          <a:bodyPr wrap="square" lIns="0" tIns="0" rIns="0" bIns="0" rtlCol="0" anchor="ctr"/>
          <a:lstStyle/>
          <a:p>
            <a:pPr indent="0" marL="0">
              <a:buNone/>
            </a:pPr>
            <a:r>
              <a:rPr lang="en-US" sz="1600" b="1" dirty="0">
                <a:solidFill>
                  <a:srgbClr val="962B7C"/>
                </a:solidFill>
                <a:latin typeface="Alexandria" pitchFamily="34" charset="0"/>
                <a:ea typeface="Alexandria" pitchFamily="34" charset="-122"/>
                <a:cs typeface="Alexandria" pitchFamily="34" charset="-120"/>
              </a:rPr>
              <a:t>→ quan hệ cũng có giá</a:t>
            </a:r>
            <a:endParaRPr lang="en-US" sz="1600" dirty="0"/>
          </a:p>
        </p:txBody>
      </p:sp>
      <p:sp>
        <p:nvSpPr>
          <p:cNvPr id="30" name="Shape 27"/>
          <p:cNvSpPr/>
          <p:nvPr/>
        </p:nvSpPr>
        <p:spPr>
          <a:xfrm>
            <a:off x="548640" y="5120640"/>
            <a:ext cx="11094415" cy="868680"/>
          </a:xfrm>
          <a:prstGeom prst="roundRect">
            <a:avLst>
              <a:gd name="adj" fmla="val 12632"/>
            </a:avLst>
          </a:prstGeom>
          <a:solidFill>
            <a:srgbClr val="FFF3C4"/>
          </a:solidFill>
          <a:ln w="12700">
            <a:solidFill>
              <a:srgbClr val="FFD23B"/>
            </a:solidFill>
            <a:prstDash val="solid"/>
          </a:ln>
        </p:spPr>
      </p:sp>
      <p:sp>
        <p:nvSpPr>
          <p:cNvPr id="31" name="Text 28"/>
          <p:cNvSpPr txBox="1"/>
          <p:nvPr/>
        </p:nvSpPr>
        <p:spPr>
          <a:xfrm>
            <a:off x="868680" y="5120640"/>
            <a:ext cx="10454335" cy="868680"/>
          </a:xfrm>
          <a:prstGeom prst="rect">
            <a:avLst/>
          </a:prstGeom>
          <a:noFill/>
          <a:ln/>
        </p:spPr>
        <p:txBody>
          <a:bodyPr wrap="square" lIns="0" tIns="0" rIns="0" bIns="0" rtlCol="0" anchor="ctr"/>
          <a:lstStyle/>
          <a:p>
            <a:pPr indent="0" marL="0">
              <a:buNone/>
            </a:pPr>
            <a:r>
              <a:rPr lang="en-US" sz="1900" b="1" dirty="0">
                <a:solidFill>
                  <a:srgbClr val="2A2238"/>
                </a:solidFill>
                <a:latin typeface="Alexandria" pitchFamily="34" charset="0"/>
                <a:ea typeface="Alexandria" pitchFamily="34" charset="-122"/>
                <a:cs typeface="Alexandria" pitchFamily="34" charset="-120"/>
              </a:rPr>
              <a:t>Hai con số này có mâu thuẫn không?</a:t>
            </a:r>
            <a:endParaRPr lang="en-US" sz="1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655064"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65506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10.1 Quy trình mua</a:t>
            </a:r>
            <a:endParaRPr lang="en-US" sz="1000" dirty="0"/>
          </a:p>
        </p:txBody>
      </p:sp>
      <p:sp>
        <p:nvSpPr>
          <p:cNvPr id="6" name="Shape 4"/>
          <p:cNvSpPr/>
          <p:nvPr/>
        </p:nvSpPr>
        <p:spPr>
          <a:xfrm>
            <a:off x="3145536" y="274320"/>
            <a:ext cx="1266444" cy="292608"/>
          </a:xfrm>
          <a:prstGeom prst="roundRect">
            <a:avLst>
              <a:gd name="adj" fmla="val 50000"/>
            </a:avLst>
          </a:prstGeom>
          <a:solidFill>
            <a:srgbClr val="09A1E5"/>
          </a:solidFill>
          <a:ln w="9525">
            <a:solidFill>
              <a:srgbClr val="09A1E5"/>
            </a:solidFill>
            <a:prstDash val="solid"/>
          </a:ln>
        </p:spPr>
      </p:sp>
      <p:sp>
        <p:nvSpPr>
          <p:cNvPr id="7" name="Text 5"/>
          <p:cNvSpPr txBox="1"/>
          <p:nvPr/>
        </p:nvSpPr>
        <p:spPr>
          <a:xfrm>
            <a:off x="3145536" y="274320"/>
            <a:ext cx="126644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10.2 Địa điểm</a:t>
            </a:r>
            <a:endParaRPr lang="en-US" sz="1000" dirty="0"/>
          </a:p>
        </p:txBody>
      </p:sp>
      <p:sp>
        <p:nvSpPr>
          <p:cNvPr id="8" name="Shape 6"/>
          <p:cNvSpPr/>
          <p:nvPr/>
        </p:nvSpPr>
        <p:spPr>
          <a:xfrm>
            <a:off x="4521708" y="274320"/>
            <a:ext cx="2354580"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521708" y="274320"/>
            <a:ext cx="235458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10.3 Hành trình Key Account</a:t>
            </a:r>
            <a:endParaRPr lang="en-US" sz="1000" dirty="0"/>
          </a:p>
        </p:txBody>
      </p:sp>
      <p:sp>
        <p:nvSpPr>
          <p:cNvPr id="10" name="Shape 8"/>
          <p:cNvSpPr/>
          <p:nvPr/>
        </p:nvSpPr>
        <p:spPr>
          <a:xfrm>
            <a:off x="6986016"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986016"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384048" cy="384048"/>
          </a:xfrm>
          <a:prstGeom prst="roundRect">
            <a:avLst>
              <a:gd name="adj" fmla="val 18000"/>
            </a:avLst>
          </a:prstGeom>
          <a:solidFill>
            <a:srgbClr val="FFFFFF"/>
          </a:solidFill>
          <a:ln w="12700">
            <a:solidFill>
              <a:srgbClr val="2A2238"/>
            </a:solidFill>
            <a:prstDash val="solid"/>
          </a:ln>
        </p:spPr>
      </p:sp>
      <p:sp>
        <p:nvSpPr>
          <p:cNvPr id="13" name="Shape 11"/>
          <p:cNvSpPr/>
          <p:nvPr/>
        </p:nvSpPr>
        <p:spPr>
          <a:xfrm>
            <a:off x="11343498" y="265542"/>
            <a:ext cx="215067" cy="53767"/>
          </a:xfrm>
          <a:prstGeom prst="rect">
            <a:avLst/>
          </a:prstGeom>
          <a:solidFill>
            <a:srgbClr val="962B7C"/>
          </a:solidFill>
          <a:ln w="12700">
            <a:solidFill>
              <a:srgbClr val="962B7C"/>
            </a:solidFill>
            <a:prstDash val="solid"/>
          </a:ln>
        </p:spPr>
      </p:sp>
      <p:sp>
        <p:nvSpPr>
          <p:cNvPr id="14" name="Shape 12"/>
          <p:cNvSpPr/>
          <p:nvPr/>
        </p:nvSpPr>
        <p:spPr>
          <a:xfrm>
            <a:off x="11335817" y="380756"/>
            <a:ext cx="76810" cy="76810"/>
          </a:xfrm>
          <a:prstGeom prst="ellipse">
            <a:avLst/>
          </a:prstGeom>
          <a:solidFill>
            <a:srgbClr val="FF9259"/>
          </a:solidFill>
          <a:ln w="12700">
            <a:solidFill>
              <a:srgbClr val="FF9259"/>
            </a:solidFill>
            <a:prstDash val="solid"/>
          </a:ln>
        </p:spPr>
      </p:sp>
      <p:sp>
        <p:nvSpPr>
          <p:cNvPr id="15" name="Shape 13"/>
          <p:cNvSpPr/>
          <p:nvPr/>
        </p:nvSpPr>
        <p:spPr>
          <a:xfrm>
            <a:off x="11489436" y="380756"/>
            <a:ext cx="76810" cy="76810"/>
          </a:xfrm>
          <a:prstGeom prst="ellipse">
            <a:avLst/>
          </a:prstGeom>
          <a:solidFill>
            <a:srgbClr val="09A1E5"/>
          </a:solidFill>
          <a:ln w="12700">
            <a:solidFill>
              <a:srgbClr val="09A1E5"/>
            </a:solidFill>
            <a:prstDash val="solid"/>
          </a:ln>
        </p:spPr>
      </p:sp>
      <p:sp>
        <p:nvSpPr>
          <p:cNvPr id="16" name="Shape 14"/>
          <p:cNvSpPr/>
          <p:nvPr/>
        </p:nvSpPr>
        <p:spPr>
          <a:xfrm>
            <a:off x="11335817" y="488290"/>
            <a:ext cx="76810" cy="76810"/>
          </a:xfrm>
          <a:prstGeom prst="ellipse">
            <a:avLst/>
          </a:prstGeom>
          <a:solidFill>
            <a:srgbClr val="49B296"/>
          </a:solidFill>
          <a:ln w="12700">
            <a:solidFill>
              <a:srgbClr val="49B296"/>
            </a:solidFill>
            <a:prstDash val="solid"/>
          </a:ln>
        </p:spPr>
      </p:sp>
      <p:sp>
        <p:nvSpPr>
          <p:cNvPr id="17" name="Shape 15"/>
          <p:cNvSpPr/>
          <p:nvPr/>
        </p:nvSpPr>
        <p:spPr>
          <a:xfrm>
            <a:off x="11489436" y="488290"/>
            <a:ext cx="76810" cy="76810"/>
          </a:xfrm>
          <a:prstGeom prst="ellipse">
            <a:avLst/>
          </a:prstGeom>
          <a:solidFill>
            <a:srgbClr val="FF5178"/>
          </a:solidFill>
          <a:ln w="12700">
            <a:solidFill>
              <a:srgbClr val="FF5178"/>
            </a:solidFill>
            <a:prstDash val="solid"/>
          </a:ln>
        </p:spPr>
      </p:sp>
      <p:sp>
        <p:nvSpPr>
          <p:cNvPr id="18" name="Text 16"/>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Sáu nhóm tiêu chí chọn địa điểm cho sự kiện của Key Account</a:t>
            </a:r>
            <a:endParaRPr lang="en-US" sz="2600" dirty="0"/>
          </a:p>
        </p:txBody>
      </p:sp>
      <p:sp>
        <p:nvSpPr>
          <p:cNvPr id="19" name="Text 17"/>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Nhận định của người soạn, tổng hợp từ V06 và V07.</a:t>
            </a:r>
            <a:endParaRPr lang="en-US" sz="1000" dirty="0"/>
          </a:p>
        </p:txBody>
      </p:sp>
      <p:sp>
        <p:nvSpPr>
          <p:cNvPr id="20" name="Text 18"/>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10   16</a:t>
            </a:r>
            <a:endParaRPr lang="en-US" sz="1000" dirty="0"/>
          </a:p>
        </p:txBody>
      </p:sp>
      <p:sp>
        <p:nvSpPr>
          <p:cNvPr id="22" name="Shape 19"/>
          <p:cNvSpPr/>
          <p:nvPr/>
        </p:nvSpPr>
        <p:spPr>
          <a:xfrm>
            <a:off x="4114800" y="1783080"/>
            <a:ext cx="3474720" cy="502920"/>
          </a:xfrm>
          <a:prstGeom prst="roundRect">
            <a:avLst>
              <a:gd name="adj" fmla="val 21818"/>
            </a:avLst>
          </a:prstGeom>
          <a:solidFill>
            <a:srgbClr val="09A1E5"/>
          </a:solidFill>
          <a:ln w="12700">
            <a:solidFill>
              <a:srgbClr val="09A1E5"/>
            </a:solidFill>
            <a:prstDash val="solid"/>
          </a:ln>
        </p:spPr>
      </p:sp>
      <p:sp>
        <p:nvSpPr>
          <p:cNvPr id="23" name="Text 20"/>
          <p:cNvSpPr txBox="1"/>
          <p:nvPr/>
        </p:nvSpPr>
        <p:spPr>
          <a:xfrm>
            <a:off x="4279392" y="1783080"/>
            <a:ext cx="3145536" cy="502920"/>
          </a:xfrm>
          <a:prstGeom prst="rect">
            <a:avLst/>
          </a:prstGeom>
          <a:noFill/>
          <a:ln/>
        </p:spPr>
        <p:txBody>
          <a:bodyPr wrap="square" lIns="0" tIns="0" rIns="0" bIns="0" rtlCol="0" anchor="ctr"/>
          <a:lstStyle/>
          <a:p>
            <a:pPr indent="0" marL="0">
              <a:buNone/>
            </a:pPr>
            <a:r>
              <a:rPr lang="en-US" sz="1500" b="1" dirty="0">
                <a:solidFill>
                  <a:srgbClr val="FFFFFF"/>
                </a:solidFill>
                <a:latin typeface="Alexandria" pitchFamily="34" charset="0"/>
                <a:ea typeface="Alexandria" pitchFamily="34" charset="-122"/>
                <a:cs typeface="Alexandria" pitchFamily="34" charset="-120"/>
              </a:rPr>
              <a:t>Hỏi gì</a:t>
            </a:r>
            <a:endParaRPr lang="en-US" sz="1500" dirty="0"/>
          </a:p>
        </p:txBody>
      </p:sp>
      <p:sp>
        <p:nvSpPr>
          <p:cNvPr id="24" name="Shape 21"/>
          <p:cNvSpPr/>
          <p:nvPr/>
        </p:nvSpPr>
        <p:spPr>
          <a:xfrm>
            <a:off x="7680960" y="1783080"/>
            <a:ext cx="3962095" cy="502920"/>
          </a:xfrm>
          <a:prstGeom prst="roundRect">
            <a:avLst>
              <a:gd name="adj" fmla="val 21818"/>
            </a:avLst>
          </a:prstGeom>
          <a:solidFill>
            <a:srgbClr val="962B7C"/>
          </a:solidFill>
          <a:ln w="12700">
            <a:solidFill>
              <a:srgbClr val="962B7C"/>
            </a:solidFill>
            <a:prstDash val="solid"/>
          </a:ln>
        </p:spPr>
      </p:sp>
      <p:sp>
        <p:nvSpPr>
          <p:cNvPr id="25" name="Text 22"/>
          <p:cNvSpPr txBox="1"/>
          <p:nvPr/>
        </p:nvSpPr>
        <p:spPr>
          <a:xfrm>
            <a:off x="7845552" y="1783080"/>
            <a:ext cx="3632911" cy="502920"/>
          </a:xfrm>
          <a:prstGeom prst="rect">
            <a:avLst/>
          </a:prstGeom>
          <a:noFill/>
          <a:ln/>
        </p:spPr>
        <p:txBody>
          <a:bodyPr wrap="square" lIns="0" tIns="0" rIns="0" bIns="0" rtlCol="0" anchor="ctr"/>
          <a:lstStyle/>
          <a:p>
            <a:pPr indent="0" marL="0">
              <a:buNone/>
            </a:pPr>
            <a:r>
              <a:rPr lang="en-US" sz="1500" b="1" dirty="0">
                <a:solidFill>
                  <a:srgbClr val="FFFFFF"/>
                </a:solidFill>
                <a:latin typeface="Alexandria" pitchFamily="34" charset="0"/>
                <a:ea typeface="Alexandria" pitchFamily="34" charset="-122"/>
                <a:cs typeface="Alexandria" pitchFamily="34" charset="-120"/>
              </a:rPr>
              <a:t>Vì sao quan trọng với An Phát</a:t>
            </a:r>
            <a:endParaRPr lang="en-US" sz="1500" dirty="0"/>
          </a:p>
        </p:txBody>
      </p:sp>
      <p:sp>
        <p:nvSpPr>
          <p:cNvPr id="26" name="Shape 23"/>
          <p:cNvSpPr/>
          <p:nvPr/>
        </p:nvSpPr>
        <p:spPr>
          <a:xfrm>
            <a:off x="548640" y="2395728"/>
            <a:ext cx="11094415" cy="603504"/>
          </a:xfrm>
          <a:prstGeom prst="rect">
            <a:avLst/>
          </a:prstGeom>
          <a:solidFill>
            <a:srgbClr val="F3F0E6"/>
          </a:solidFill>
          <a:ln w="12700">
            <a:solidFill>
              <a:srgbClr val="F3F0E6"/>
            </a:solidFill>
            <a:prstDash val="solid"/>
          </a:ln>
        </p:spPr>
      </p:sp>
      <p:sp>
        <p:nvSpPr>
          <p:cNvPr id="27" name="Text 24"/>
          <p:cNvSpPr txBox="1"/>
          <p:nvPr/>
        </p:nvSpPr>
        <p:spPr>
          <a:xfrm>
            <a:off x="713232" y="2395728"/>
            <a:ext cx="3236976" cy="603504"/>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1. Phù hợp khách của Key Account</a:t>
            </a:r>
            <a:endParaRPr lang="en-US" sz="1300" dirty="0"/>
          </a:p>
        </p:txBody>
      </p:sp>
      <p:sp>
        <p:nvSpPr>
          <p:cNvPr id="28" name="Text 25"/>
          <p:cNvSpPr txBox="1"/>
          <p:nvPr/>
        </p:nvSpPr>
        <p:spPr>
          <a:xfrm>
            <a:off x="4279392" y="2395728"/>
            <a:ext cx="3236976" cy="603504"/>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Vị trí, đẳng cấp, cảm giác</a:t>
            </a:r>
            <a:endParaRPr lang="en-US" sz="1300" dirty="0"/>
          </a:p>
        </p:txBody>
      </p:sp>
      <p:sp>
        <p:nvSpPr>
          <p:cNvPr id="29" name="Text 26"/>
          <p:cNvSpPr txBox="1"/>
          <p:nvPr/>
        </p:nvSpPr>
        <p:spPr>
          <a:xfrm>
            <a:off x="7845552" y="2395728"/>
            <a:ext cx="3724351" cy="603504"/>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600 lãnh đạo doanh nghiệp VIP</a:t>
            </a:r>
            <a:endParaRPr lang="en-US" sz="1300" dirty="0"/>
          </a:p>
        </p:txBody>
      </p:sp>
      <p:sp>
        <p:nvSpPr>
          <p:cNvPr id="30" name="Text 27"/>
          <p:cNvSpPr txBox="1"/>
          <p:nvPr/>
        </p:nvSpPr>
        <p:spPr>
          <a:xfrm>
            <a:off x="713232" y="3054096"/>
            <a:ext cx="3236976" cy="603504"/>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2. Sức chứa và bố trí</a:t>
            </a:r>
            <a:endParaRPr lang="en-US" sz="1300" dirty="0"/>
          </a:p>
        </p:txBody>
      </p:sp>
      <p:sp>
        <p:nvSpPr>
          <p:cNvPr id="31" name="Text 28"/>
          <p:cNvSpPr txBox="1"/>
          <p:nvPr/>
        </p:nvSpPr>
        <p:spPr>
          <a:xfrm>
            <a:off x="4279392" y="3054096"/>
            <a:ext cx="3236976" cy="603504"/>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Diện tích dùng được, cột, trần, tầm nhìn</a:t>
            </a:r>
            <a:endParaRPr lang="en-US" sz="1300" dirty="0"/>
          </a:p>
        </p:txBody>
      </p:sp>
      <p:sp>
        <p:nvSpPr>
          <p:cNvPr id="32" name="Text 29"/>
          <p:cNvSpPr txBox="1"/>
          <p:nvPr/>
        </p:nvSpPr>
        <p:spPr>
          <a:xfrm>
            <a:off x="7845552" y="3054096"/>
            <a:ext cx="3724351" cy="603504"/>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Không khách nào “ngồi sau cột”</a:t>
            </a:r>
            <a:endParaRPr lang="en-US" sz="1300" dirty="0"/>
          </a:p>
        </p:txBody>
      </p:sp>
      <p:sp>
        <p:nvSpPr>
          <p:cNvPr id="33" name="Shape 30"/>
          <p:cNvSpPr/>
          <p:nvPr/>
        </p:nvSpPr>
        <p:spPr>
          <a:xfrm>
            <a:off x="548640" y="3712464"/>
            <a:ext cx="11094415" cy="603504"/>
          </a:xfrm>
          <a:prstGeom prst="rect">
            <a:avLst/>
          </a:prstGeom>
          <a:solidFill>
            <a:srgbClr val="F3F0E6"/>
          </a:solidFill>
          <a:ln w="12700">
            <a:solidFill>
              <a:srgbClr val="F3F0E6"/>
            </a:solidFill>
            <a:prstDash val="solid"/>
          </a:ln>
        </p:spPr>
      </p:sp>
      <p:sp>
        <p:nvSpPr>
          <p:cNvPr id="34" name="Text 31"/>
          <p:cNvSpPr txBox="1"/>
          <p:nvPr/>
        </p:nvSpPr>
        <p:spPr>
          <a:xfrm>
            <a:off x="713232" y="3712464"/>
            <a:ext cx="3236976" cy="603504"/>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3. Kỹ thuật</a:t>
            </a:r>
            <a:endParaRPr lang="en-US" sz="1300" dirty="0"/>
          </a:p>
        </p:txBody>
      </p:sp>
      <p:sp>
        <p:nvSpPr>
          <p:cNvPr id="35" name="Text 32"/>
          <p:cNvSpPr txBox="1"/>
          <p:nvPr/>
        </p:nvSpPr>
        <p:spPr>
          <a:xfrm>
            <a:off x="4279392" y="3712464"/>
            <a:ext cx="3236976" cy="603504"/>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Điện, rigging, Wi-Fi, livestream</a:t>
            </a:r>
            <a:endParaRPr lang="en-US" sz="1300" dirty="0"/>
          </a:p>
        </p:txBody>
      </p:sp>
      <p:sp>
        <p:nvSpPr>
          <p:cNvPr id="36" name="Text 33"/>
          <p:cNvSpPr txBox="1"/>
          <p:nvPr/>
        </p:nvSpPr>
        <p:spPr>
          <a:xfrm>
            <a:off x="7845552" y="3712464"/>
            <a:ext cx="3724351" cy="603504"/>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Chị Lan: livestream về 80 chi nhánh</a:t>
            </a:r>
            <a:endParaRPr lang="en-US" sz="1300" dirty="0"/>
          </a:p>
        </p:txBody>
      </p:sp>
      <p:sp>
        <p:nvSpPr>
          <p:cNvPr id="37" name="Text 34"/>
          <p:cNvSpPr txBox="1"/>
          <p:nvPr/>
        </p:nvSpPr>
        <p:spPr>
          <a:xfrm>
            <a:off x="713232" y="4370832"/>
            <a:ext cx="3236976" cy="603504"/>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4. Dịch vụ và nhà cung cấp độc quyền</a:t>
            </a:r>
            <a:endParaRPr lang="en-US" sz="1300" dirty="0"/>
          </a:p>
        </p:txBody>
      </p:sp>
      <p:sp>
        <p:nvSpPr>
          <p:cNvPr id="38" name="Text 35"/>
          <p:cNvSpPr txBox="1"/>
          <p:nvPr/>
        </p:nvSpPr>
        <p:spPr>
          <a:xfrm>
            <a:off x="4279392" y="4370832"/>
            <a:ext cx="3236976" cy="603504"/>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AV, hoa, F&amp;B nội bộ; phụ thu</a:t>
            </a:r>
            <a:endParaRPr lang="en-US" sz="1300" dirty="0"/>
          </a:p>
        </p:txBody>
      </p:sp>
      <p:sp>
        <p:nvSpPr>
          <p:cNvPr id="39" name="Text 36"/>
          <p:cNvSpPr txBox="1"/>
          <p:nvPr/>
        </p:nvSpPr>
        <p:spPr>
          <a:xfrm>
            <a:off x="7845552" y="4370832"/>
            <a:ext cx="3724351" cy="603504"/>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Quyết định chi phí và chất lượng</a:t>
            </a:r>
            <a:endParaRPr lang="en-US" sz="1300" dirty="0"/>
          </a:p>
        </p:txBody>
      </p:sp>
      <p:sp>
        <p:nvSpPr>
          <p:cNvPr id="40" name="Shape 37"/>
          <p:cNvSpPr/>
          <p:nvPr/>
        </p:nvSpPr>
        <p:spPr>
          <a:xfrm>
            <a:off x="548640" y="5029200"/>
            <a:ext cx="11094415" cy="603504"/>
          </a:xfrm>
          <a:prstGeom prst="rect">
            <a:avLst/>
          </a:prstGeom>
          <a:solidFill>
            <a:srgbClr val="F3F0E6"/>
          </a:solidFill>
          <a:ln w="12700">
            <a:solidFill>
              <a:srgbClr val="F3F0E6"/>
            </a:solidFill>
            <a:prstDash val="solid"/>
          </a:ln>
        </p:spPr>
      </p:sp>
      <p:sp>
        <p:nvSpPr>
          <p:cNvPr id="41" name="Text 38"/>
          <p:cNvSpPr txBox="1"/>
          <p:nvPr/>
        </p:nvSpPr>
        <p:spPr>
          <a:xfrm>
            <a:off x="713232" y="5029200"/>
            <a:ext cx="3236976" cy="603504"/>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5. Lịch và điều khoản</a:t>
            </a:r>
            <a:endParaRPr lang="en-US" sz="1300" dirty="0"/>
          </a:p>
        </p:txBody>
      </p:sp>
      <p:sp>
        <p:nvSpPr>
          <p:cNvPr id="42" name="Text 39"/>
          <p:cNvSpPr txBox="1"/>
          <p:nvPr/>
        </p:nvSpPr>
        <p:spPr>
          <a:xfrm>
            <a:off x="4279392" y="5029200"/>
            <a:ext cx="3236976" cy="603504"/>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Lịch trước – sau, giờ dựng – tháo, hủy, cọc</a:t>
            </a:r>
            <a:endParaRPr lang="en-US" sz="1300" dirty="0"/>
          </a:p>
        </p:txBody>
      </p:sp>
      <p:sp>
        <p:nvSpPr>
          <p:cNvPr id="43" name="Text 40"/>
          <p:cNvSpPr txBox="1"/>
          <p:nvPr/>
        </p:nvSpPr>
        <p:spPr>
          <a:xfrm>
            <a:off x="7845552" y="5029200"/>
            <a:ext cx="3724351" cy="603504"/>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Rủi ro bị động sát ngày</a:t>
            </a:r>
            <a:endParaRPr lang="en-US" sz="1300" dirty="0"/>
          </a:p>
        </p:txBody>
      </p:sp>
      <p:sp>
        <p:nvSpPr>
          <p:cNvPr id="44" name="Text 41"/>
          <p:cNvSpPr txBox="1"/>
          <p:nvPr/>
        </p:nvSpPr>
        <p:spPr>
          <a:xfrm>
            <a:off x="713232" y="5687568"/>
            <a:ext cx="3236976" cy="603504"/>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6. Tổng chi phí</a:t>
            </a:r>
            <a:endParaRPr lang="en-US" sz="1300" dirty="0"/>
          </a:p>
        </p:txBody>
      </p:sp>
      <p:sp>
        <p:nvSpPr>
          <p:cNvPr id="45" name="Text 42"/>
          <p:cNvSpPr txBox="1"/>
          <p:nvPr/>
        </p:nvSpPr>
        <p:spPr>
          <a:xfrm>
            <a:off x="4279392" y="5687568"/>
            <a:ext cx="3236976" cy="603504"/>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Thuê + F&amp;B + AV + phụ thu</a:t>
            </a:r>
            <a:endParaRPr lang="en-US" sz="1300" dirty="0"/>
          </a:p>
        </p:txBody>
      </p:sp>
      <p:sp>
        <p:nvSpPr>
          <p:cNvPr id="46" name="Text 43"/>
          <p:cNvSpPr txBox="1"/>
          <p:nvPr/>
        </p:nvSpPr>
        <p:spPr>
          <a:xfrm>
            <a:off x="7845552" y="5687568"/>
            <a:ext cx="3724351" cy="603504"/>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Anh Khoa duyệt ngân sách</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655064"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65506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10.1 Quy trình mua</a:t>
            </a:r>
            <a:endParaRPr lang="en-US" sz="1000" dirty="0"/>
          </a:p>
        </p:txBody>
      </p:sp>
      <p:sp>
        <p:nvSpPr>
          <p:cNvPr id="6" name="Shape 4"/>
          <p:cNvSpPr/>
          <p:nvPr/>
        </p:nvSpPr>
        <p:spPr>
          <a:xfrm>
            <a:off x="3145536" y="274320"/>
            <a:ext cx="1266444" cy="292608"/>
          </a:xfrm>
          <a:prstGeom prst="roundRect">
            <a:avLst>
              <a:gd name="adj" fmla="val 50000"/>
            </a:avLst>
          </a:prstGeom>
          <a:solidFill>
            <a:srgbClr val="09A1E5"/>
          </a:solidFill>
          <a:ln w="9525">
            <a:solidFill>
              <a:srgbClr val="09A1E5"/>
            </a:solidFill>
            <a:prstDash val="solid"/>
          </a:ln>
        </p:spPr>
      </p:sp>
      <p:sp>
        <p:nvSpPr>
          <p:cNvPr id="7" name="Text 5"/>
          <p:cNvSpPr txBox="1"/>
          <p:nvPr/>
        </p:nvSpPr>
        <p:spPr>
          <a:xfrm>
            <a:off x="3145536" y="274320"/>
            <a:ext cx="126644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10.2 Địa điểm</a:t>
            </a:r>
            <a:endParaRPr lang="en-US" sz="1000" dirty="0"/>
          </a:p>
        </p:txBody>
      </p:sp>
      <p:sp>
        <p:nvSpPr>
          <p:cNvPr id="8" name="Shape 6"/>
          <p:cNvSpPr/>
          <p:nvPr/>
        </p:nvSpPr>
        <p:spPr>
          <a:xfrm>
            <a:off x="4521708" y="274320"/>
            <a:ext cx="2354580"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521708" y="274320"/>
            <a:ext cx="235458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10.3 Hành trình Key Account</a:t>
            </a:r>
            <a:endParaRPr lang="en-US" sz="1000" dirty="0"/>
          </a:p>
        </p:txBody>
      </p:sp>
      <p:sp>
        <p:nvSpPr>
          <p:cNvPr id="10" name="Shape 8"/>
          <p:cNvSpPr/>
          <p:nvPr/>
        </p:nvSpPr>
        <p:spPr>
          <a:xfrm>
            <a:off x="6986016"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986016"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384048" cy="384048"/>
          </a:xfrm>
          <a:prstGeom prst="roundRect">
            <a:avLst>
              <a:gd name="adj" fmla="val 18000"/>
            </a:avLst>
          </a:prstGeom>
          <a:solidFill>
            <a:srgbClr val="FFFFFF"/>
          </a:solidFill>
          <a:ln w="12700">
            <a:solidFill>
              <a:srgbClr val="2A2238"/>
            </a:solidFill>
            <a:prstDash val="solid"/>
          </a:ln>
        </p:spPr>
      </p:sp>
      <p:sp>
        <p:nvSpPr>
          <p:cNvPr id="13" name="Shape 11"/>
          <p:cNvSpPr/>
          <p:nvPr/>
        </p:nvSpPr>
        <p:spPr>
          <a:xfrm>
            <a:off x="11343498" y="265542"/>
            <a:ext cx="215067" cy="53767"/>
          </a:xfrm>
          <a:prstGeom prst="rect">
            <a:avLst/>
          </a:prstGeom>
          <a:solidFill>
            <a:srgbClr val="962B7C"/>
          </a:solidFill>
          <a:ln w="12700">
            <a:solidFill>
              <a:srgbClr val="962B7C"/>
            </a:solidFill>
            <a:prstDash val="solid"/>
          </a:ln>
        </p:spPr>
      </p:sp>
      <p:sp>
        <p:nvSpPr>
          <p:cNvPr id="14" name="Shape 12"/>
          <p:cNvSpPr/>
          <p:nvPr/>
        </p:nvSpPr>
        <p:spPr>
          <a:xfrm>
            <a:off x="11335817" y="380756"/>
            <a:ext cx="76810" cy="76810"/>
          </a:xfrm>
          <a:prstGeom prst="ellipse">
            <a:avLst/>
          </a:prstGeom>
          <a:solidFill>
            <a:srgbClr val="FF9259"/>
          </a:solidFill>
          <a:ln w="12700">
            <a:solidFill>
              <a:srgbClr val="FF9259"/>
            </a:solidFill>
            <a:prstDash val="solid"/>
          </a:ln>
        </p:spPr>
      </p:sp>
      <p:sp>
        <p:nvSpPr>
          <p:cNvPr id="15" name="Shape 13"/>
          <p:cNvSpPr/>
          <p:nvPr/>
        </p:nvSpPr>
        <p:spPr>
          <a:xfrm>
            <a:off x="11489436" y="380756"/>
            <a:ext cx="76810" cy="76810"/>
          </a:xfrm>
          <a:prstGeom prst="ellipse">
            <a:avLst/>
          </a:prstGeom>
          <a:solidFill>
            <a:srgbClr val="09A1E5"/>
          </a:solidFill>
          <a:ln w="12700">
            <a:solidFill>
              <a:srgbClr val="09A1E5"/>
            </a:solidFill>
            <a:prstDash val="solid"/>
          </a:ln>
        </p:spPr>
      </p:sp>
      <p:sp>
        <p:nvSpPr>
          <p:cNvPr id="16" name="Shape 14"/>
          <p:cNvSpPr/>
          <p:nvPr/>
        </p:nvSpPr>
        <p:spPr>
          <a:xfrm>
            <a:off x="11335817" y="488290"/>
            <a:ext cx="76810" cy="76810"/>
          </a:xfrm>
          <a:prstGeom prst="ellipse">
            <a:avLst/>
          </a:prstGeom>
          <a:solidFill>
            <a:srgbClr val="49B296"/>
          </a:solidFill>
          <a:ln w="12700">
            <a:solidFill>
              <a:srgbClr val="49B296"/>
            </a:solidFill>
            <a:prstDash val="solid"/>
          </a:ln>
        </p:spPr>
      </p:sp>
      <p:sp>
        <p:nvSpPr>
          <p:cNvPr id="17" name="Shape 15"/>
          <p:cNvSpPr/>
          <p:nvPr/>
        </p:nvSpPr>
        <p:spPr>
          <a:xfrm>
            <a:off x="11489436" y="488290"/>
            <a:ext cx="76810" cy="76810"/>
          </a:xfrm>
          <a:prstGeom prst="ellipse">
            <a:avLst/>
          </a:prstGeom>
          <a:solidFill>
            <a:srgbClr val="FF5178"/>
          </a:solidFill>
          <a:ln w="12700">
            <a:solidFill>
              <a:srgbClr val="FF5178"/>
            </a:solidFill>
            <a:prstDash val="solid"/>
          </a:ln>
        </p:spPr>
      </p:sp>
      <p:sp>
        <p:nvSpPr>
          <p:cNvPr id="18" name="Text 16"/>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Site check là đi để hỏi, không phải đi để chụp ảnh</a:t>
            </a:r>
            <a:endParaRPr lang="en-US" sz="2600" dirty="0"/>
          </a:p>
        </p:txBody>
      </p:sp>
      <p:sp>
        <p:nvSpPr>
          <p:cNvPr id="19" name="Text 17"/>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V07: BizBash, 11 câu hỏi site inspection (Việt hóa, chọn 8) · V11: Tiền Phong (13/7/2026), một báo — chưa kiểm chứng chéo.</a:t>
            </a:r>
            <a:endParaRPr lang="en-US" sz="1000" dirty="0"/>
          </a:p>
        </p:txBody>
      </p:sp>
      <p:sp>
        <p:nvSpPr>
          <p:cNvPr id="20" name="Text 18"/>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10   17</a:t>
            </a:r>
            <a:endParaRPr lang="en-US" sz="1000" dirty="0"/>
          </a:p>
        </p:txBody>
      </p:sp>
      <p:sp>
        <p:nvSpPr>
          <p:cNvPr id="22" name="Shape 19"/>
          <p:cNvSpPr/>
          <p:nvPr/>
        </p:nvSpPr>
        <p:spPr>
          <a:xfrm>
            <a:off x="548640" y="1783080"/>
            <a:ext cx="4114800" cy="411480"/>
          </a:xfrm>
          <a:prstGeom prst="roundRect">
            <a:avLst>
              <a:gd name="adj" fmla="val 26667"/>
            </a:avLst>
          </a:prstGeom>
          <a:solidFill>
            <a:srgbClr val="09A1E5"/>
          </a:solidFill>
          <a:ln w="12700">
            <a:solidFill>
              <a:srgbClr val="09A1E5"/>
            </a:solidFill>
            <a:prstDash val="solid"/>
          </a:ln>
        </p:spPr>
      </p:sp>
      <p:sp>
        <p:nvSpPr>
          <p:cNvPr id="23" name="Text 20"/>
          <p:cNvSpPr txBox="1"/>
          <p:nvPr/>
        </p:nvSpPr>
        <p:spPr>
          <a:xfrm>
            <a:off x="713232" y="1783080"/>
            <a:ext cx="3785616" cy="411480"/>
          </a:xfrm>
          <a:prstGeom prst="rect">
            <a:avLst/>
          </a:prstGeom>
          <a:noFill/>
          <a:ln/>
        </p:spPr>
        <p:txBody>
          <a:bodyPr wrap="square" lIns="0" tIns="0" rIns="0" bIns="0" rtlCol="0" anchor="ctr"/>
          <a:lstStyle/>
          <a:p>
            <a:pPr indent="0" marL="0">
              <a:buNone/>
            </a:pPr>
            <a:r>
              <a:rPr lang="en-US" sz="1500" b="1" dirty="0">
                <a:solidFill>
                  <a:srgbClr val="FFFFFF"/>
                </a:solidFill>
                <a:latin typeface="Alexandria" pitchFamily="34" charset="0"/>
                <a:ea typeface="Alexandria" pitchFamily="34" charset="-122"/>
                <a:cs typeface="Alexandria" pitchFamily="34" charset="-120"/>
              </a:rPr>
              <a:t>Câu hỏi site check</a:t>
            </a:r>
            <a:endParaRPr lang="en-US" sz="1500" dirty="0"/>
          </a:p>
        </p:txBody>
      </p:sp>
      <p:sp>
        <p:nvSpPr>
          <p:cNvPr id="24" name="Shape 21"/>
          <p:cNvSpPr/>
          <p:nvPr/>
        </p:nvSpPr>
        <p:spPr>
          <a:xfrm>
            <a:off x="4754880" y="1783080"/>
            <a:ext cx="3200400" cy="411480"/>
          </a:xfrm>
          <a:prstGeom prst="roundRect">
            <a:avLst>
              <a:gd name="adj" fmla="val 26667"/>
            </a:avLst>
          </a:prstGeom>
          <a:solidFill>
            <a:srgbClr val="962B7C"/>
          </a:solidFill>
          <a:ln w="12700">
            <a:solidFill>
              <a:srgbClr val="962B7C"/>
            </a:solidFill>
            <a:prstDash val="solid"/>
          </a:ln>
        </p:spPr>
      </p:sp>
      <p:sp>
        <p:nvSpPr>
          <p:cNvPr id="25" name="Text 22"/>
          <p:cNvSpPr txBox="1"/>
          <p:nvPr/>
        </p:nvSpPr>
        <p:spPr>
          <a:xfrm>
            <a:off x="4919472" y="1783080"/>
            <a:ext cx="2871216" cy="411480"/>
          </a:xfrm>
          <a:prstGeom prst="rect">
            <a:avLst/>
          </a:prstGeom>
          <a:noFill/>
          <a:ln/>
        </p:spPr>
        <p:txBody>
          <a:bodyPr wrap="square" lIns="0" tIns="0" rIns="0" bIns="0" rtlCol="0" anchor="ctr"/>
          <a:lstStyle/>
          <a:p>
            <a:pPr indent="0" marL="0">
              <a:buNone/>
            </a:pPr>
            <a:r>
              <a:rPr lang="en-US" sz="1500" b="1" dirty="0">
                <a:solidFill>
                  <a:srgbClr val="FFFFFF"/>
                </a:solidFill>
                <a:latin typeface="Alexandria" pitchFamily="34" charset="0"/>
                <a:ea typeface="Alexandria" pitchFamily="34" charset="-122"/>
                <a:cs typeface="Alexandria" pitchFamily="34" charset="-120"/>
              </a:rPr>
              <a:t>Ảnh hưởng đến An Phát</a:t>
            </a:r>
            <a:endParaRPr lang="en-US" sz="1500" dirty="0"/>
          </a:p>
        </p:txBody>
      </p:sp>
      <p:sp>
        <p:nvSpPr>
          <p:cNvPr id="26" name="Shape 23"/>
          <p:cNvSpPr/>
          <p:nvPr/>
        </p:nvSpPr>
        <p:spPr>
          <a:xfrm>
            <a:off x="548640" y="2304288"/>
            <a:ext cx="7406640" cy="429768"/>
          </a:xfrm>
          <a:prstGeom prst="rect">
            <a:avLst/>
          </a:prstGeom>
          <a:solidFill>
            <a:srgbClr val="F3F0E6"/>
          </a:solidFill>
          <a:ln w="12700">
            <a:solidFill>
              <a:srgbClr val="F3F0E6"/>
            </a:solidFill>
            <a:prstDash val="solid"/>
          </a:ln>
        </p:spPr>
      </p:sp>
      <p:sp>
        <p:nvSpPr>
          <p:cNvPr id="27" name="Text 24"/>
          <p:cNvSpPr txBox="1"/>
          <p:nvPr/>
        </p:nvSpPr>
        <p:spPr>
          <a:xfrm>
            <a:off x="713232" y="2304288"/>
            <a:ext cx="3877056" cy="429768"/>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Sức chứa tối đa và giấy phép?</a:t>
            </a:r>
            <a:endParaRPr lang="en-US" sz="1200" dirty="0"/>
          </a:p>
        </p:txBody>
      </p:sp>
      <p:sp>
        <p:nvSpPr>
          <p:cNvPr id="28" name="Text 25"/>
          <p:cNvSpPr txBox="1"/>
          <p:nvPr/>
        </p:nvSpPr>
        <p:spPr>
          <a:xfrm>
            <a:off x="4919472" y="2304288"/>
            <a:ext cx="2962656" cy="429768"/>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Không vượt giới hạn chính thức</a:t>
            </a:r>
            <a:endParaRPr lang="en-US" sz="1200" dirty="0"/>
          </a:p>
        </p:txBody>
      </p:sp>
      <p:sp>
        <p:nvSpPr>
          <p:cNvPr id="29" name="Text 26"/>
          <p:cNvSpPr txBox="1"/>
          <p:nvPr/>
        </p:nvSpPr>
        <p:spPr>
          <a:xfrm>
            <a:off x="713232" y="2788920"/>
            <a:ext cx="3877056" cy="429768"/>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Nhà cung cấp độc quyền? Phụ thu mang ngoài?</a:t>
            </a:r>
            <a:endParaRPr lang="en-US" sz="1200" dirty="0"/>
          </a:p>
        </p:txBody>
      </p:sp>
      <p:sp>
        <p:nvSpPr>
          <p:cNvPr id="30" name="Text 27"/>
          <p:cNvSpPr txBox="1"/>
          <p:nvPr/>
        </p:nvSpPr>
        <p:spPr>
          <a:xfrm>
            <a:off x="4919472" y="2788920"/>
            <a:ext cx="2962656" cy="429768"/>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Chi phí, chất lượng AV</a:t>
            </a:r>
            <a:endParaRPr lang="en-US" sz="1200" dirty="0"/>
          </a:p>
        </p:txBody>
      </p:sp>
      <p:sp>
        <p:nvSpPr>
          <p:cNvPr id="31" name="Shape 28"/>
          <p:cNvSpPr/>
          <p:nvPr/>
        </p:nvSpPr>
        <p:spPr>
          <a:xfrm>
            <a:off x="548640" y="3273552"/>
            <a:ext cx="7406640" cy="429768"/>
          </a:xfrm>
          <a:prstGeom prst="rect">
            <a:avLst/>
          </a:prstGeom>
          <a:solidFill>
            <a:srgbClr val="F3F0E6"/>
          </a:solidFill>
          <a:ln w="12700">
            <a:solidFill>
              <a:srgbClr val="F3F0E6"/>
            </a:solidFill>
            <a:prstDash val="solid"/>
          </a:ln>
        </p:spPr>
      </p:sp>
      <p:sp>
        <p:nvSpPr>
          <p:cNvPr id="32" name="Text 29"/>
          <p:cNvSpPr txBox="1"/>
          <p:nvPr/>
        </p:nvSpPr>
        <p:spPr>
          <a:xfrm>
            <a:off x="713232" y="3273552"/>
            <a:ext cx="3877056" cy="429768"/>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AV, rigging, máy phát dự phòng?</a:t>
            </a:r>
            <a:endParaRPr lang="en-US" sz="1200" dirty="0"/>
          </a:p>
        </p:txBody>
      </p:sp>
      <p:sp>
        <p:nvSpPr>
          <p:cNvPr id="33" name="Text 30"/>
          <p:cNvSpPr txBox="1"/>
          <p:nvPr/>
        </p:nvSpPr>
        <p:spPr>
          <a:xfrm>
            <a:off x="4919472" y="3273552"/>
            <a:ext cx="2962656" cy="429768"/>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Livestream không bị đứt</a:t>
            </a:r>
            <a:endParaRPr lang="en-US" sz="1200" dirty="0"/>
          </a:p>
        </p:txBody>
      </p:sp>
      <p:sp>
        <p:nvSpPr>
          <p:cNvPr id="34" name="Text 31"/>
          <p:cNvSpPr txBox="1"/>
          <p:nvPr/>
        </p:nvSpPr>
        <p:spPr>
          <a:xfrm>
            <a:off x="713232" y="3758184"/>
            <a:ext cx="3877056" cy="429768"/>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Back-of-house, khu chuẩn bị F&amp;B?</a:t>
            </a:r>
            <a:endParaRPr lang="en-US" sz="1200" dirty="0"/>
          </a:p>
        </p:txBody>
      </p:sp>
      <p:sp>
        <p:nvSpPr>
          <p:cNvPr id="35" name="Text 32"/>
          <p:cNvSpPr txBox="1"/>
          <p:nvPr/>
        </p:nvSpPr>
        <p:spPr>
          <a:xfrm>
            <a:off x="4919472" y="3758184"/>
            <a:ext cx="2962656" cy="429768"/>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Phục vụ 600 khách đúng giờ</a:t>
            </a:r>
            <a:endParaRPr lang="en-US" sz="1200" dirty="0"/>
          </a:p>
        </p:txBody>
      </p:sp>
      <p:sp>
        <p:nvSpPr>
          <p:cNvPr id="36" name="Shape 33"/>
          <p:cNvSpPr/>
          <p:nvPr/>
        </p:nvSpPr>
        <p:spPr>
          <a:xfrm>
            <a:off x="548640" y="4242816"/>
            <a:ext cx="7406640" cy="429768"/>
          </a:xfrm>
          <a:prstGeom prst="rect">
            <a:avLst/>
          </a:prstGeom>
          <a:solidFill>
            <a:srgbClr val="F3F0E6"/>
          </a:solidFill>
          <a:ln w="12700">
            <a:solidFill>
              <a:srgbClr val="F3F0E6"/>
            </a:solidFill>
            <a:prstDash val="solid"/>
          </a:ln>
        </p:spPr>
      </p:sp>
      <p:sp>
        <p:nvSpPr>
          <p:cNvPr id="37" name="Text 34"/>
          <p:cNvSpPr txBox="1"/>
          <p:nvPr/>
        </p:nvSpPr>
        <p:spPr>
          <a:xfrm>
            <a:off x="713232" y="4242816"/>
            <a:ext cx="3877056" cy="429768"/>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Giờ load-in, thang hàng?</a:t>
            </a:r>
            <a:endParaRPr lang="en-US" sz="1200" dirty="0"/>
          </a:p>
        </p:txBody>
      </p:sp>
      <p:sp>
        <p:nvSpPr>
          <p:cNvPr id="38" name="Text 35"/>
          <p:cNvSpPr txBox="1"/>
          <p:nvPr/>
        </p:nvSpPr>
        <p:spPr>
          <a:xfrm>
            <a:off x="4919472" y="4242816"/>
            <a:ext cx="2962656" cy="429768"/>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Sân khấu kịp dựng</a:t>
            </a:r>
            <a:endParaRPr lang="en-US" sz="1200" dirty="0"/>
          </a:p>
        </p:txBody>
      </p:sp>
      <p:sp>
        <p:nvSpPr>
          <p:cNvPr id="39" name="Text 36"/>
          <p:cNvSpPr txBox="1"/>
          <p:nvPr/>
        </p:nvSpPr>
        <p:spPr>
          <a:xfrm>
            <a:off x="713232" y="4727448"/>
            <a:ext cx="3877056" cy="429768"/>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Wi-Fi cho khách và kỹ thuật?</a:t>
            </a:r>
            <a:endParaRPr lang="en-US" sz="1200" dirty="0"/>
          </a:p>
        </p:txBody>
      </p:sp>
      <p:sp>
        <p:nvSpPr>
          <p:cNvPr id="40" name="Text 37"/>
          <p:cNvSpPr txBox="1"/>
          <p:nvPr/>
        </p:nvSpPr>
        <p:spPr>
          <a:xfrm>
            <a:off x="4919472" y="4727448"/>
            <a:ext cx="2962656" cy="429768"/>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Trải nghiệm khách, livestream</a:t>
            </a:r>
            <a:endParaRPr lang="en-US" sz="1200" dirty="0"/>
          </a:p>
        </p:txBody>
      </p:sp>
      <p:sp>
        <p:nvSpPr>
          <p:cNvPr id="41" name="Shape 38"/>
          <p:cNvSpPr/>
          <p:nvPr/>
        </p:nvSpPr>
        <p:spPr>
          <a:xfrm>
            <a:off x="548640" y="5212080"/>
            <a:ext cx="7406640" cy="429768"/>
          </a:xfrm>
          <a:prstGeom prst="rect">
            <a:avLst/>
          </a:prstGeom>
          <a:solidFill>
            <a:srgbClr val="F3F0E6"/>
          </a:solidFill>
          <a:ln w="12700">
            <a:solidFill>
              <a:srgbClr val="F3F0E6"/>
            </a:solidFill>
            <a:prstDash val="solid"/>
          </a:ln>
        </p:spPr>
      </p:sp>
      <p:sp>
        <p:nvSpPr>
          <p:cNvPr id="42" name="Text 39"/>
          <p:cNvSpPr txBox="1"/>
          <p:nvPr/>
        </p:nvSpPr>
        <p:spPr>
          <a:xfrm>
            <a:off x="713232" y="5212080"/>
            <a:ext cx="3877056" cy="429768"/>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Bãi đỗ xe?</a:t>
            </a:r>
            <a:endParaRPr lang="en-US" sz="1200" dirty="0"/>
          </a:p>
        </p:txBody>
      </p:sp>
      <p:sp>
        <p:nvSpPr>
          <p:cNvPr id="43" name="Text 40"/>
          <p:cNvSpPr txBox="1"/>
          <p:nvPr/>
        </p:nvSpPr>
        <p:spPr>
          <a:xfrm>
            <a:off x="4919472" y="5212080"/>
            <a:ext cx="2962656" cy="429768"/>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Khách VIP đến – về thuận tiện</a:t>
            </a:r>
            <a:endParaRPr lang="en-US" sz="1200" dirty="0"/>
          </a:p>
        </p:txBody>
      </p:sp>
      <p:sp>
        <p:nvSpPr>
          <p:cNvPr id="44" name="Text 41"/>
          <p:cNvSpPr txBox="1"/>
          <p:nvPr/>
        </p:nvSpPr>
        <p:spPr>
          <a:xfrm>
            <a:off x="713232" y="5696712"/>
            <a:ext cx="3877056" cy="429768"/>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Quy định gắn thương hiệu?</a:t>
            </a:r>
            <a:endParaRPr lang="en-US" sz="1200" dirty="0"/>
          </a:p>
        </p:txBody>
      </p:sp>
      <p:sp>
        <p:nvSpPr>
          <p:cNvPr id="45" name="Text 42"/>
          <p:cNvSpPr txBox="1"/>
          <p:nvPr/>
        </p:nvSpPr>
        <p:spPr>
          <a:xfrm>
            <a:off x="4919472" y="5696712"/>
            <a:ext cx="2962656" cy="429768"/>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Nhận diện An Phát và nhà tài trợ</a:t>
            </a:r>
            <a:endParaRPr lang="en-US" sz="1200" dirty="0"/>
          </a:p>
        </p:txBody>
      </p:sp>
      <p:sp>
        <p:nvSpPr>
          <p:cNvPr id="46" name="Shape 43"/>
          <p:cNvSpPr/>
          <p:nvPr/>
        </p:nvSpPr>
        <p:spPr>
          <a:xfrm>
            <a:off x="8321040" y="1783080"/>
            <a:ext cx="3322015" cy="4206240"/>
          </a:xfrm>
          <a:prstGeom prst="roundRect">
            <a:avLst>
              <a:gd name="adj" fmla="val 3303"/>
            </a:avLst>
          </a:prstGeom>
          <a:solidFill>
            <a:srgbClr val="FFE4EA"/>
          </a:solidFill>
          <a:ln w="12700">
            <a:solidFill>
              <a:srgbClr val="FF5178"/>
            </a:solidFill>
            <a:prstDash val="solid"/>
          </a:ln>
        </p:spPr>
      </p:sp>
      <p:sp>
        <p:nvSpPr>
          <p:cNvPr id="47" name="Text 44"/>
          <p:cNvSpPr txBox="1"/>
          <p:nvPr/>
        </p:nvSpPr>
        <p:spPr>
          <a:xfrm>
            <a:off x="8549640" y="1920240"/>
            <a:ext cx="2864815" cy="640080"/>
          </a:xfrm>
          <a:prstGeom prst="rect">
            <a:avLst/>
          </a:prstGeom>
          <a:noFill/>
          <a:ln/>
        </p:spPr>
        <p:txBody>
          <a:bodyPr wrap="square" lIns="0" tIns="0" rIns="0" bIns="0" rtlCol="0" anchor="t"/>
          <a:lstStyle/>
          <a:p>
            <a:pPr indent="0" marL="0">
              <a:buNone/>
            </a:pPr>
            <a:r>
              <a:rPr lang="en-US" sz="1300" b="1" dirty="0">
                <a:solidFill>
                  <a:srgbClr val="E03A62"/>
                </a:solidFill>
                <a:latin typeface="Alexandria" pitchFamily="34" charset="0"/>
                <a:ea typeface="Alexandria" pitchFamily="34" charset="-122"/>
                <a:cs typeface="Alexandria" pitchFamily="34" charset="-120"/>
              </a:rPr>
              <a:t>Những thành phố mơ màng · Hà Nội · 7/2026</a:t>
            </a:r>
            <a:endParaRPr lang="en-US" sz="1300" dirty="0"/>
          </a:p>
        </p:txBody>
      </p:sp>
      <p:sp>
        <p:nvSpPr>
          <p:cNvPr id="48" name="Text 45"/>
          <p:cNvSpPr txBox="1"/>
          <p:nvPr/>
        </p:nvSpPr>
        <p:spPr>
          <a:xfrm>
            <a:off x="8549640" y="2606040"/>
            <a:ext cx="2864815" cy="1463040"/>
          </a:xfrm>
          <a:prstGeom prst="rect">
            <a:avLst/>
          </a:prstGeom>
          <a:noFill/>
          <a:ln/>
        </p:spPr>
        <p:txBody>
          <a:bodyPr wrap="square" lIns="0" tIns="0" rIns="0" bIns="0" rtlCol="0" anchor="t"/>
          <a:lstStyle/>
          <a:p>
            <a:pPr indent="0" marL="0">
              <a:buNone/>
            </a:pPr>
            <a:r>
              <a:rPr lang="en-US" sz="1300" dirty="0">
                <a:solidFill>
                  <a:srgbClr val="2A2238"/>
                </a:solidFill>
                <a:latin typeface="Alexandria" pitchFamily="34" charset="0"/>
                <a:ea typeface="Alexandria" pitchFamily="34" charset="-122"/>
                <a:cs typeface="Alexandria" pitchFamily="34" charset="-120"/>
              </a:rPr>
              <a:t>Mưa lớn, khán giả lội bùn; sân khấu thấp, màn LED nhỏ, tầm nhìn hạn chế. Ban tổ chức xin lỗi.</a:t>
            </a:r>
            <a:endParaRPr lang="en-US" sz="1300" dirty="0"/>
          </a:p>
        </p:txBody>
      </p:sp>
      <p:sp>
        <p:nvSpPr>
          <p:cNvPr id="49" name="Text 46"/>
          <p:cNvSpPr txBox="1"/>
          <p:nvPr/>
        </p:nvSpPr>
        <p:spPr>
          <a:xfrm>
            <a:off x="8549640" y="4206240"/>
            <a:ext cx="2864815" cy="822960"/>
          </a:xfrm>
          <a:prstGeom prst="rect">
            <a:avLst/>
          </a:prstGeom>
          <a:noFill/>
          <a:ln/>
        </p:spPr>
        <p:txBody>
          <a:bodyPr wrap="square" lIns="0" tIns="0" rIns="0" bIns="0" rtlCol="0" anchor="t"/>
          <a:lstStyle/>
          <a:p>
            <a:pPr indent="0" marL="0">
              <a:buNone/>
            </a:pPr>
            <a:r>
              <a:rPr lang="en-US" sz="1500" b="1" dirty="0">
                <a:solidFill>
                  <a:srgbClr val="2A2238"/>
                </a:solidFill>
                <a:latin typeface="Alexandria" pitchFamily="34" charset="0"/>
                <a:ea typeface="Alexandria" pitchFamily="34" charset="-122"/>
                <a:cs typeface="Alexandria" pitchFamily="34" charset="-120"/>
              </a:rPr>
              <a:t>Site check trước đó thiếu câu hỏi nào?</a:t>
            </a:r>
            <a:endParaRPr lang="en-US" sz="1500" dirty="0"/>
          </a:p>
        </p:txBody>
      </p:sp>
      <p:sp>
        <p:nvSpPr>
          <p:cNvPr id="50" name="Text 47"/>
          <p:cNvSpPr txBox="1"/>
          <p:nvPr/>
        </p:nvSpPr>
        <p:spPr>
          <a:xfrm>
            <a:off x="8549640" y="5440680"/>
            <a:ext cx="2864815" cy="320040"/>
          </a:xfrm>
          <a:prstGeom prst="rect">
            <a:avLst/>
          </a:prstGeom>
          <a:noFill/>
          <a:ln/>
        </p:spPr>
        <p:txBody>
          <a:bodyPr wrap="square" lIns="0" tIns="0" rIns="0" bIns="0" rtlCol="0" anchor="ctr"/>
          <a:lstStyle/>
          <a:p>
            <a:pPr indent="0" marL="0">
              <a:buNone/>
            </a:pPr>
            <a:r>
              <a:rPr lang="en-US" sz="1100" dirty="0">
                <a:solidFill>
                  <a:srgbClr val="6E6878"/>
                </a:solidFill>
                <a:latin typeface="Alexandria" pitchFamily="34" charset="0"/>
                <a:ea typeface="Alexandria" pitchFamily="34" charset="-122"/>
                <a:cs typeface="Alexandria" pitchFamily="34" charset="-120"/>
              </a:rPr>
              <a:t>V11 · một báo, chưa KCC</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655064"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65506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10.1 Quy trình mua</a:t>
            </a:r>
            <a:endParaRPr lang="en-US" sz="1000" dirty="0"/>
          </a:p>
        </p:txBody>
      </p:sp>
      <p:sp>
        <p:nvSpPr>
          <p:cNvPr id="6" name="Shape 4"/>
          <p:cNvSpPr/>
          <p:nvPr/>
        </p:nvSpPr>
        <p:spPr>
          <a:xfrm>
            <a:off x="3145536" y="274320"/>
            <a:ext cx="1266444" cy="292608"/>
          </a:xfrm>
          <a:prstGeom prst="roundRect">
            <a:avLst>
              <a:gd name="adj" fmla="val 50000"/>
            </a:avLst>
          </a:prstGeom>
          <a:solidFill>
            <a:srgbClr val="09A1E5"/>
          </a:solidFill>
          <a:ln w="9525">
            <a:solidFill>
              <a:srgbClr val="09A1E5"/>
            </a:solidFill>
            <a:prstDash val="solid"/>
          </a:ln>
        </p:spPr>
      </p:sp>
      <p:sp>
        <p:nvSpPr>
          <p:cNvPr id="7" name="Text 5"/>
          <p:cNvSpPr txBox="1"/>
          <p:nvPr/>
        </p:nvSpPr>
        <p:spPr>
          <a:xfrm>
            <a:off x="3145536" y="274320"/>
            <a:ext cx="126644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10.2 Địa điểm</a:t>
            </a:r>
            <a:endParaRPr lang="en-US" sz="1000" dirty="0"/>
          </a:p>
        </p:txBody>
      </p:sp>
      <p:sp>
        <p:nvSpPr>
          <p:cNvPr id="8" name="Shape 6"/>
          <p:cNvSpPr/>
          <p:nvPr/>
        </p:nvSpPr>
        <p:spPr>
          <a:xfrm>
            <a:off x="4521708" y="274320"/>
            <a:ext cx="2354580"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521708" y="274320"/>
            <a:ext cx="235458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10.3 Hành trình Key Account</a:t>
            </a:r>
            <a:endParaRPr lang="en-US" sz="1000" dirty="0"/>
          </a:p>
        </p:txBody>
      </p:sp>
      <p:sp>
        <p:nvSpPr>
          <p:cNvPr id="10" name="Shape 8"/>
          <p:cNvSpPr/>
          <p:nvPr/>
        </p:nvSpPr>
        <p:spPr>
          <a:xfrm>
            <a:off x="6986016"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986016"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384048" cy="384048"/>
          </a:xfrm>
          <a:prstGeom prst="roundRect">
            <a:avLst>
              <a:gd name="adj" fmla="val 18000"/>
            </a:avLst>
          </a:prstGeom>
          <a:solidFill>
            <a:srgbClr val="FFFFFF"/>
          </a:solidFill>
          <a:ln w="12700">
            <a:solidFill>
              <a:srgbClr val="2A2238"/>
            </a:solidFill>
            <a:prstDash val="solid"/>
          </a:ln>
        </p:spPr>
      </p:sp>
      <p:sp>
        <p:nvSpPr>
          <p:cNvPr id="13" name="Shape 11"/>
          <p:cNvSpPr/>
          <p:nvPr/>
        </p:nvSpPr>
        <p:spPr>
          <a:xfrm>
            <a:off x="11343498" y="265542"/>
            <a:ext cx="215067" cy="53767"/>
          </a:xfrm>
          <a:prstGeom prst="rect">
            <a:avLst/>
          </a:prstGeom>
          <a:solidFill>
            <a:srgbClr val="962B7C"/>
          </a:solidFill>
          <a:ln w="12700">
            <a:solidFill>
              <a:srgbClr val="962B7C"/>
            </a:solidFill>
            <a:prstDash val="solid"/>
          </a:ln>
        </p:spPr>
      </p:sp>
      <p:sp>
        <p:nvSpPr>
          <p:cNvPr id="14" name="Shape 12"/>
          <p:cNvSpPr/>
          <p:nvPr/>
        </p:nvSpPr>
        <p:spPr>
          <a:xfrm>
            <a:off x="11335817" y="380756"/>
            <a:ext cx="76810" cy="76810"/>
          </a:xfrm>
          <a:prstGeom prst="ellipse">
            <a:avLst/>
          </a:prstGeom>
          <a:solidFill>
            <a:srgbClr val="FF9259"/>
          </a:solidFill>
          <a:ln w="12700">
            <a:solidFill>
              <a:srgbClr val="FF9259"/>
            </a:solidFill>
            <a:prstDash val="solid"/>
          </a:ln>
        </p:spPr>
      </p:sp>
      <p:sp>
        <p:nvSpPr>
          <p:cNvPr id="15" name="Shape 13"/>
          <p:cNvSpPr/>
          <p:nvPr/>
        </p:nvSpPr>
        <p:spPr>
          <a:xfrm>
            <a:off x="11489436" y="380756"/>
            <a:ext cx="76810" cy="76810"/>
          </a:xfrm>
          <a:prstGeom prst="ellipse">
            <a:avLst/>
          </a:prstGeom>
          <a:solidFill>
            <a:srgbClr val="09A1E5"/>
          </a:solidFill>
          <a:ln w="12700">
            <a:solidFill>
              <a:srgbClr val="09A1E5"/>
            </a:solidFill>
            <a:prstDash val="solid"/>
          </a:ln>
        </p:spPr>
      </p:sp>
      <p:sp>
        <p:nvSpPr>
          <p:cNvPr id="16" name="Shape 14"/>
          <p:cNvSpPr/>
          <p:nvPr/>
        </p:nvSpPr>
        <p:spPr>
          <a:xfrm>
            <a:off x="11335817" y="488290"/>
            <a:ext cx="76810" cy="76810"/>
          </a:xfrm>
          <a:prstGeom prst="ellipse">
            <a:avLst/>
          </a:prstGeom>
          <a:solidFill>
            <a:srgbClr val="49B296"/>
          </a:solidFill>
          <a:ln w="12700">
            <a:solidFill>
              <a:srgbClr val="49B296"/>
            </a:solidFill>
            <a:prstDash val="solid"/>
          </a:ln>
        </p:spPr>
      </p:sp>
      <p:sp>
        <p:nvSpPr>
          <p:cNvPr id="17" name="Shape 15"/>
          <p:cNvSpPr/>
          <p:nvPr/>
        </p:nvSpPr>
        <p:spPr>
          <a:xfrm>
            <a:off x="11489436" y="488290"/>
            <a:ext cx="76810" cy="76810"/>
          </a:xfrm>
          <a:prstGeom prst="ellipse">
            <a:avLst/>
          </a:prstGeom>
          <a:solidFill>
            <a:srgbClr val="FF5178"/>
          </a:solidFill>
          <a:ln w="12700">
            <a:solidFill>
              <a:srgbClr val="FF5178"/>
            </a:solidFill>
            <a:prstDash val="solid"/>
          </a:ln>
        </p:spPr>
      </p:sp>
      <p:sp>
        <p:nvSpPr>
          <p:cNvPr id="18" name="Text 16"/>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Diện tích trên brochure không phải diện tích dùng được</a:t>
            </a:r>
            <a:endParaRPr lang="en-US" sz="2600" dirty="0"/>
          </a:p>
        </p:txBody>
      </p:sp>
      <p:sp>
        <p:nvSpPr>
          <p:cNvPr id="19" name="Text 17"/>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V08: Social Tables (tính theo sq ft: đứng 6, hỗn hợp 8, sàn nhảy 9, lớp học 14–18); bàn tròn 11–12 sq ft từ blog địa điểm, chưa KCC. 1 m² ≈ 10,76 sq ft.</a:t>
            </a:r>
            <a:endParaRPr lang="en-US" sz="1000" dirty="0"/>
          </a:p>
        </p:txBody>
      </p:sp>
      <p:sp>
        <p:nvSpPr>
          <p:cNvPr id="20" name="Text 18"/>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10   18</a:t>
            </a:r>
            <a:endParaRPr lang="en-US" sz="1000" dirty="0"/>
          </a:p>
        </p:txBody>
      </p:sp>
      <p:sp>
        <p:nvSpPr>
          <p:cNvPr id="22" name="Shape 19"/>
          <p:cNvSpPr/>
          <p:nvPr/>
        </p:nvSpPr>
        <p:spPr>
          <a:xfrm>
            <a:off x="548640" y="1783080"/>
            <a:ext cx="2926080" cy="502920"/>
          </a:xfrm>
          <a:prstGeom prst="roundRect">
            <a:avLst>
              <a:gd name="adj" fmla="val 21818"/>
            </a:avLst>
          </a:prstGeom>
          <a:solidFill>
            <a:srgbClr val="09A1E5"/>
          </a:solidFill>
          <a:ln w="12700">
            <a:solidFill>
              <a:srgbClr val="09A1E5"/>
            </a:solidFill>
            <a:prstDash val="solid"/>
          </a:ln>
        </p:spPr>
      </p:sp>
      <p:sp>
        <p:nvSpPr>
          <p:cNvPr id="23" name="Text 20"/>
          <p:cNvSpPr txBox="1"/>
          <p:nvPr/>
        </p:nvSpPr>
        <p:spPr>
          <a:xfrm>
            <a:off x="713232" y="1783080"/>
            <a:ext cx="2596896" cy="502920"/>
          </a:xfrm>
          <a:prstGeom prst="rect">
            <a:avLst/>
          </a:prstGeom>
          <a:noFill/>
          <a:ln/>
        </p:spPr>
        <p:txBody>
          <a:bodyPr wrap="square" lIns="0" tIns="0" rIns="0" bIns="0" rtlCol="0" anchor="ctr"/>
          <a:lstStyle/>
          <a:p>
            <a:pPr indent="0" marL="0">
              <a:buNone/>
            </a:pPr>
            <a:r>
              <a:rPr lang="en-US" sz="1500" b="1" dirty="0">
                <a:solidFill>
                  <a:srgbClr val="FFFFFF"/>
                </a:solidFill>
                <a:latin typeface="Alexandria" pitchFamily="34" charset="0"/>
                <a:ea typeface="Alexandria" pitchFamily="34" charset="-122"/>
                <a:cs typeface="Alexandria" pitchFamily="34" charset="-120"/>
              </a:rPr>
              <a:t>Kiểu bố trí</a:t>
            </a:r>
            <a:endParaRPr lang="en-US" sz="1500" dirty="0"/>
          </a:p>
        </p:txBody>
      </p:sp>
      <p:sp>
        <p:nvSpPr>
          <p:cNvPr id="24" name="Shape 21"/>
          <p:cNvSpPr/>
          <p:nvPr/>
        </p:nvSpPr>
        <p:spPr>
          <a:xfrm>
            <a:off x="3566160" y="1783080"/>
            <a:ext cx="1920240" cy="502920"/>
          </a:xfrm>
          <a:prstGeom prst="roundRect">
            <a:avLst>
              <a:gd name="adj" fmla="val 21818"/>
            </a:avLst>
          </a:prstGeom>
          <a:solidFill>
            <a:srgbClr val="09A1E5"/>
          </a:solidFill>
          <a:ln w="12700">
            <a:solidFill>
              <a:srgbClr val="09A1E5"/>
            </a:solidFill>
            <a:prstDash val="solid"/>
          </a:ln>
        </p:spPr>
      </p:sp>
      <p:sp>
        <p:nvSpPr>
          <p:cNvPr id="25" name="Text 22"/>
          <p:cNvSpPr txBox="1"/>
          <p:nvPr/>
        </p:nvSpPr>
        <p:spPr>
          <a:xfrm>
            <a:off x="3730752" y="1783080"/>
            <a:ext cx="1591056" cy="502920"/>
          </a:xfrm>
          <a:prstGeom prst="rect">
            <a:avLst/>
          </a:prstGeom>
          <a:noFill/>
          <a:ln/>
        </p:spPr>
        <p:txBody>
          <a:bodyPr wrap="square" lIns="0" tIns="0" rIns="0" bIns="0" rtlCol="0" anchor="ctr"/>
          <a:lstStyle/>
          <a:p>
            <a:pPr indent="0" marL="0">
              <a:buNone/>
            </a:pPr>
            <a:r>
              <a:rPr lang="en-US" sz="1500" b="1" dirty="0">
                <a:solidFill>
                  <a:srgbClr val="FFFFFF"/>
                </a:solidFill>
                <a:latin typeface="Alexandria" pitchFamily="34" charset="0"/>
                <a:ea typeface="Alexandria" pitchFamily="34" charset="-122"/>
                <a:cs typeface="Alexandria" pitchFamily="34" charset="-120"/>
              </a:rPr>
              <a:t>m²/người</a:t>
            </a:r>
            <a:endParaRPr lang="en-US" sz="1500" dirty="0"/>
          </a:p>
        </p:txBody>
      </p:sp>
      <p:sp>
        <p:nvSpPr>
          <p:cNvPr id="26" name="Shape 23"/>
          <p:cNvSpPr/>
          <p:nvPr/>
        </p:nvSpPr>
        <p:spPr>
          <a:xfrm>
            <a:off x="548640" y="2395728"/>
            <a:ext cx="4937760" cy="530352"/>
          </a:xfrm>
          <a:prstGeom prst="rect">
            <a:avLst/>
          </a:prstGeom>
          <a:solidFill>
            <a:srgbClr val="F3F0E6"/>
          </a:solidFill>
          <a:ln w="12700">
            <a:solidFill>
              <a:srgbClr val="F3F0E6"/>
            </a:solidFill>
            <a:prstDash val="solid"/>
          </a:ln>
        </p:spPr>
      </p:sp>
      <p:sp>
        <p:nvSpPr>
          <p:cNvPr id="27" name="Text 24"/>
          <p:cNvSpPr txBox="1"/>
          <p:nvPr/>
        </p:nvSpPr>
        <p:spPr>
          <a:xfrm>
            <a:off x="713232" y="2395728"/>
            <a:ext cx="2688336" cy="530352"/>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Đứng (tiệc đứng)</a:t>
            </a:r>
            <a:endParaRPr lang="en-US" sz="1400" dirty="0"/>
          </a:p>
        </p:txBody>
      </p:sp>
      <p:sp>
        <p:nvSpPr>
          <p:cNvPr id="28" name="Text 25"/>
          <p:cNvSpPr txBox="1"/>
          <p:nvPr/>
        </p:nvSpPr>
        <p:spPr>
          <a:xfrm>
            <a:off x="3730752" y="2395728"/>
            <a:ext cx="1682496" cy="530352"/>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 0,56</a:t>
            </a:r>
            <a:endParaRPr lang="en-US" sz="1400" dirty="0"/>
          </a:p>
        </p:txBody>
      </p:sp>
      <p:sp>
        <p:nvSpPr>
          <p:cNvPr id="29" name="Text 26"/>
          <p:cNvSpPr txBox="1"/>
          <p:nvPr/>
        </p:nvSpPr>
        <p:spPr>
          <a:xfrm>
            <a:off x="713232" y="2980944"/>
            <a:ext cx="2688336" cy="530352"/>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Hỗn hợp đứng – ngồi</a:t>
            </a:r>
            <a:endParaRPr lang="en-US" sz="1400" dirty="0"/>
          </a:p>
        </p:txBody>
      </p:sp>
      <p:sp>
        <p:nvSpPr>
          <p:cNvPr id="30" name="Text 27"/>
          <p:cNvSpPr txBox="1"/>
          <p:nvPr/>
        </p:nvSpPr>
        <p:spPr>
          <a:xfrm>
            <a:off x="3730752" y="2980944"/>
            <a:ext cx="1682496" cy="530352"/>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 0,74</a:t>
            </a:r>
            <a:endParaRPr lang="en-US" sz="1400" dirty="0"/>
          </a:p>
        </p:txBody>
      </p:sp>
      <p:sp>
        <p:nvSpPr>
          <p:cNvPr id="31" name="Shape 28"/>
          <p:cNvSpPr/>
          <p:nvPr/>
        </p:nvSpPr>
        <p:spPr>
          <a:xfrm>
            <a:off x="548640" y="3566160"/>
            <a:ext cx="4937760" cy="530352"/>
          </a:xfrm>
          <a:prstGeom prst="rect">
            <a:avLst/>
          </a:prstGeom>
          <a:solidFill>
            <a:srgbClr val="F3F0E6"/>
          </a:solidFill>
          <a:ln w="12700">
            <a:solidFill>
              <a:srgbClr val="F3F0E6"/>
            </a:solidFill>
            <a:prstDash val="solid"/>
          </a:ln>
        </p:spPr>
      </p:sp>
      <p:sp>
        <p:nvSpPr>
          <p:cNvPr id="32" name="Text 29"/>
          <p:cNvSpPr txBox="1"/>
          <p:nvPr/>
        </p:nvSpPr>
        <p:spPr>
          <a:xfrm>
            <a:off x="713232" y="3566160"/>
            <a:ext cx="2688336" cy="530352"/>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Có sàn nhảy</a:t>
            </a:r>
            <a:endParaRPr lang="en-US" sz="1400" dirty="0"/>
          </a:p>
        </p:txBody>
      </p:sp>
      <p:sp>
        <p:nvSpPr>
          <p:cNvPr id="33" name="Text 30"/>
          <p:cNvSpPr txBox="1"/>
          <p:nvPr/>
        </p:nvSpPr>
        <p:spPr>
          <a:xfrm>
            <a:off x="3730752" y="3566160"/>
            <a:ext cx="1682496" cy="530352"/>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 0,84</a:t>
            </a:r>
            <a:endParaRPr lang="en-US" sz="1400" dirty="0"/>
          </a:p>
        </p:txBody>
      </p:sp>
      <p:sp>
        <p:nvSpPr>
          <p:cNvPr id="34" name="Text 31"/>
          <p:cNvSpPr txBox="1"/>
          <p:nvPr/>
        </p:nvSpPr>
        <p:spPr>
          <a:xfrm>
            <a:off x="713232" y="4151376"/>
            <a:ext cx="2688336" cy="530352"/>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Bàn tròn tiệc</a:t>
            </a:r>
            <a:endParaRPr lang="en-US" sz="1400" dirty="0"/>
          </a:p>
        </p:txBody>
      </p:sp>
      <p:sp>
        <p:nvSpPr>
          <p:cNvPr id="35" name="Text 32"/>
          <p:cNvSpPr txBox="1"/>
          <p:nvPr/>
        </p:nvSpPr>
        <p:spPr>
          <a:xfrm>
            <a:off x="3730752" y="4151376"/>
            <a:ext cx="1682496" cy="530352"/>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 1,0–1,1*</a:t>
            </a:r>
            <a:endParaRPr lang="en-US" sz="1400" dirty="0"/>
          </a:p>
        </p:txBody>
      </p:sp>
      <p:sp>
        <p:nvSpPr>
          <p:cNvPr id="36" name="Shape 33"/>
          <p:cNvSpPr/>
          <p:nvPr/>
        </p:nvSpPr>
        <p:spPr>
          <a:xfrm>
            <a:off x="548640" y="4736592"/>
            <a:ext cx="4937760" cy="530352"/>
          </a:xfrm>
          <a:prstGeom prst="rect">
            <a:avLst/>
          </a:prstGeom>
          <a:solidFill>
            <a:srgbClr val="F3F0E6"/>
          </a:solidFill>
          <a:ln w="12700">
            <a:solidFill>
              <a:srgbClr val="F3F0E6"/>
            </a:solidFill>
            <a:prstDash val="solid"/>
          </a:ln>
        </p:spPr>
      </p:sp>
      <p:sp>
        <p:nvSpPr>
          <p:cNvPr id="37" name="Text 34"/>
          <p:cNvSpPr txBox="1"/>
          <p:nvPr/>
        </p:nvSpPr>
        <p:spPr>
          <a:xfrm>
            <a:off x="713232" y="4736592"/>
            <a:ext cx="2688336" cy="530352"/>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Lớp học</a:t>
            </a:r>
            <a:endParaRPr lang="en-US" sz="1400" dirty="0"/>
          </a:p>
        </p:txBody>
      </p:sp>
      <p:sp>
        <p:nvSpPr>
          <p:cNvPr id="38" name="Text 35"/>
          <p:cNvSpPr txBox="1"/>
          <p:nvPr/>
        </p:nvSpPr>
        <p:spPr>
          <a:xfrm>
            <a:off x="3730752" y="4736592"/>
            <a:ext cx="1682496" cy="530352"/>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 1,3–1,7</a:t>
            </a:r>
            <a:endParaRPr lang="en-US" sz="1400" dirty="0"/>
          </a:p>
        </p:txBody>
      </p:sp>
      <p:sp>
        <p:nvSpPr>
          <p:cNvPr id="39" name="Text 36"/>
          <p:cNvSpPr txBox="1"/>
          <p:nvPr/>
        </p:nvSpPr>
        <p:spPr>
          <a:xfrm>
            <a:off x="548640" y="5440680"/>
            <a:ext cx="5029200" cy="457200"/>
          </a:xfrm>
          <a:prstGeom prst="rect">
            <a:avLst/>
          </a:prstGeom>
          <a:noFill/>
          <a:ln/>
        </p:spPr>
        <p:txBody>
          <a:bodyPr wrap="square" lIns="0" tIns="0" rIns="0" bIns="0" rtlCol="0" anchor="ctr"/>
          <a:lstStyle/>
          <a:p>
            <a:pPr indent="0" marL="0">
              <a:buNone/>
            </a:pPr>
            <a:r>
              <a:rPr lang="en-US" sz="1100" i="1" dirty="0">
                <a:solidFill>
                  <a:srgbClr val="6E6878"/>
                </a:solidFill>
                <a:latin typeface="Alexandria" pitchFamily="34" charset="0"/>
                <a:ea typeface="Alexandria" pitchFamily="34" charset="-122"/>
                <a:cs typeface="Alexandria" pitchFamily="34" charset="-120"/>
              </a:rPr>
              <a:t>* chưa kiểm chứng chéo · quy tắc ước lượng, không phải tiêu chuẩn</a:t>
            </a:r>
            <a:endParaRPr lang="en-US" sz="1100" dirty="0"/>
          </a:p>
        </p:txBody>
      </p:sp>
      <p:sp>
        <p:nvSpPr>
          <p:cNvPr id="40" name="Text 37"/>
          <p:cNvSpPr txBox="1"/>
          <p:nvPr/>
        </p:nvSpPr>
        <p:spPr>
          <a:xfrm>
            <a:off x="6035040" y="1783080"/>
            <a:ext cx="5608015" cy="41148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Tính cùng lớp: gala 600 khách, bàn tròn</a:t>
            </a:r>
            <a:endParaRPr lang="en-US" sz="1500" dirty="0"/>
          </a:p>
        </p:txBody>
      </p:sp>
      <p:sp>
        <p:nvSpPr>
          <p:cNvPr id="41" name="Shape 38"/>
          <p:cNvSpPr/>
          <p:nvPr/>
        </p:nvSpPr>
        <p:spPr>
          <a:xfrm>
            <a:off x="6035040" y="2331720"/>
            <a:ext cx="5608015" cy="1051560"/>
          </a:xfrm>
          <a:prstGeom prst="roundRect">
            <a:avLst>
              <a:gd name="adj" fmla="val 10435"/>
            </a:avLst>
          </a:prstGeom>
          <a:solidFill>
            <a:srgbClr val="DDF1FB"/>
          </a:solidFill>
          <a:ln w="12700">
            <a:solidFill>
              <a:srgbClr val="09A1E5"/>
            </a:solidFill>
            <a:prstDash val="solid"/>
          </a:ln>
        </p:spPr>
      </p:sp>
      <p:sp>
        <p:nvSpPr>
          <p:cNvPr id="42" name="Text 39"/>
          <p:cNvSpPr txBox="1"/>
          <p:nvPr/>
        </p:nvSpPr>
        <p:spPr>
          <a:xfrm>
            <a:off x="6309360" y="2331720"/>
            <a:ext cx="2529688" cy="105156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600 × 1,0–1,1 m²</a:t>
            </a:r>
            <a:endParaRPr lang="en-US" sz="1400" dirty="0"/>
          </a:p>
        </p:txBody>
      </p:sp>
      <p:sp>
        <p:nvSpPr>
          <p:cNvPr id="43" name="Text 40"/>
          <p:cNvSpPr txBox="1"/>
          <p:nvPr/>
        </p:nvSpPr>
        <p:spPr>
          <a:xfrm>
            <a:off x="8839048" y="2331720"/>
            <a:ext cx="2529688" cy="1051560"/>
          </a:xfrm>
          <a:prstGeom prst="rect">
            <a:avLst/>
          </a:prstGeom>
          <a:noFill/>
          <a:ln/>
        </p:spPr>
        <p:txBody>
          <a:bodyPr wrap="square" lIns="0" tIns="0" rIns="0" bIns="0" rtlCol="0" anchor="ctr"/>
          <a:lstStyle/>
          <a:p>
            <a:pPr indent="0" marL="0">
              <a:buNone/>
            </a:pPr>
            <a:r>
              <a:rPr lang="en-US" sz="2600" b="1" dirty="0">
                <a:solidFill>
                  <a:srgbClr val="2A2238"/>
                </a:solidFill>
                <a:latin typeface="Alexandria" pitchFamily="34" charset="0"/>
                <a:ea typeface="Alexandria" pitchFamily="34" charset="-122"/>
                <a:cs typeface="Alexandria" pitchFamily="34" charset="-120"/>
              </a:rPr>
              <a:t>610–670 m²</a:t>
            </a:r>
            <a:endParaRPr lang="en-US" sz="2600" dirty="0"/>
          </a:p>
          <a:p>
            <a:pPr indent="0" marL="0">
              <a:buNone/>
            </a:pPr>
            <a:r>
              <a:rPr lang="en-US" sz="1200" dirty="0">
                <a:solidFill>
                  <a:srgbClr val="6E6878"/>
                </a:solidFill>
                <a:latin typeface="Alexandria" pitchFamily="34" charset="0"/>
                <a:ea typeface="Alexandria" pitchFamily="34" charset="-122"/>
                <a:cs typeface="Alexandria" pitchFamily="34" charset="-120"/>
              </a:rPr>
              <a:t>chỉ cho khu bàn</a:t>
            </a:r>
            <a:endParaRPr lang="en-US" sz="2600" dirty="0"/>
          </a:p>
        </p:txBody>
      </p:sp>
      <p:sp>
        <p:nvSpPr>
          <p:cNvPr id="44" name="Shape 41"/>
          <p:cNvSpPr/>
          <p:nvPr/>
        </p:nvSpPr>
        <p:spPr>
          <a:xfrm>
            <a:off x="6035040" y="3520440"/>
            <a:ext cx="5608015" cy="1051560"/>
          </a:xfrm>
          <a:prstGeom prst="roundRect">
            <a:avLst>
              <a:gd name="adj" fmla="val 10435"/>
            </a:avLst>
          </a:prstGeom>
          <a:solidFill>
            <a:srgbClr val="FFE9DE"/>
          </a:solidFill>
          <a:ln w="12700">
            <a:solidFill>
              <a:srgbClr val="FF9259"/>
            </a:solidFill>
            <a:prstDash val="solid"/>
          </a:ln>
        </p:spPr>
      </p:sp>
      <p:sp>
        <p:nvSpPr>
          <p:cNvPr id="45" name="Text 42"/>
          <p:cNvSpPr txBox="1"/>
          <p:nvPr/>
        </p:nvSpPr>
        <p:spPr>
          <a:xfrm>
            <a:off x="6309360" y="3520440"/>
            <a:ext cx="2529688" cy="105156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 sân khấu, LED, lối đi, buffet, khu tài trợ</a:t>
            </a:r>
            <a:endParaRPr lang="en-US" sz="1400" dirty="0"/>
          </a:p>
        </p:txBody>
      </p:sp>
      <p:sp>
        <p:nvSpPr>
          <p:cNvPr id="46" name="Text 43"/>
          <p:cNvSpPr txBox="1"/>
          <p:nvPr/>
        </p:nvSpPr>
        <p:spPr>
          <a:xfrm>
            <a:off x="8839048" y="3520440"/>
            <a:ext cx="2529688" cy="1051560"/>
          </a:xfrm>
          <a:prstGeom prst="rect">
            <a:avLst/>
          </a:prstGeom>
          <a:noFill/>
          <a:ln/>
        </p:spPr>
        <p:txBody>
          <a:bodyPr wrap="square" lIns="0" tIns="0" rIns="0" bIns="0" rtlCol="0" anchor="ctr"/>
          <a:lstStyle/>
          <a:p>
            <a:pPr indent="0" marL="0">
              <a:buNone/>
            </a:pPr>
            <a:r>
              <a:rPr lang="en-US" sz="2600" b="1" dirty="0">
                <a:solidFill>
                  <a:srgbClr val="2A2238"/>
                </a:solidFill>
                <a:latin typeface="Alexandria" pitchFamily="34" charset="0"/>
                <a:ea typeface="Alexandria" pitchFamily="34" charset="-122"/>
                <a:cs typeface="Alexandria" pitchFamily="34" charset="-120"/>
              </a:rPr>
              <a:t>~250 m²</a:t>
            </a:r>
            <a:endParaRPr lang="en-US" sz="2600" dirty="0"/>
          </a:p>
          <a:p>
            <a:pPr indent="0" marL="0">
              <a:buNone/>
            </a:pPr>
            <a:r>
              <a:rPr lang="en-US" sz="1200" dirty="0">
                <a:solidFill>
                  <a:srgbClr val="6E6878"/>
                </a:solidFill>
                <a:latin typeface="Alexandria" pitchFamily="34" charset="0"/>
                <a:ea typeface="Alexandria" pitchFamily="34" charset="-122"/>
                <a:cs typeface="Alexandria" pitchFamily="34" charset="-120"/>
              </a:rPr>
              <a:t>giả định</a:t>
            </a:r>
            <a:endParaRPr lang="en-US" sz="2600" dirty="0"/>
          </a:p>
        </p:txBody>
      </p:sp>
      <p:sp>
        <p:nvSpPr>
          <p:cNvPr id="47" name="Shape 44"/>
          <p:cNvSpPr/>
          <p:nvPr/>
        </p:nvSpPr>
        <p:spPr>
          <a:xfrm>
            <a:off x="6035040" y="4709160"/>
            <a:ext cx="5608015" cy="1051560"/>
          </a:xfrm>
          <a:prstGeom prst="roundRect">
            <a:avLst>
              <a:gd name="adj" fmla="val 10435"/>
            </a:avLst>
          </a:prstGeom>
          <a:solidFill>
            <a:srgbClr val="F1E1EE"/>
          </a:solidFill>
          <a:ln w="12700">
            <a:solidFill>
              <a:srgbClr val="962B7C"/>
            </a:solidFill>
            <a:prstDash val="solid"/>
          </a:ln>
        </p:spPr>
      </p:sp>
      <p:sp>
        <p:nvSpPr>
          <p:cNvPr id="48" name="Text 45"/>
          <p:cNvSpPr txBox="1"/>
          <p:nvPr/>
        </p:nvSpPr>
        <p:spPr>
          <a:xfrm>
            <a:off x="6309360" y="4709160"/>
            <a:ext cx="2529688" cy="105156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Cần</a:t>
            </a:r>
            <a:endParaRPr lang="en-US" sz="1400" dirty="0"/>
          </a:p>
        </p:txBody>
      </p:sp>
      <p:sp>
        <p:nvSpPr>
          <p:cNvPr id="49" name="Text 46"/>
          <p:cNvSpPr txBox="1"/>
          <p:nvPr/>
        </p:nvSpPr>
        <p:spPr>
          <a:xfrm>
            <a:off x="8839048" y="4709160"/>
            <a:ext cx="2529688" cy="1051560"/>
          </a:xfrm>
          <a:prstGeom prst="rect">
            <a:avLst/>
          </a:prstGeom>
          <a:noFill/>
          <a:ln/>
        </p:spPr>
        <p:txBody>
          <a:bodyPr wrap="square" lIns="0" tIns="0" rIns="0" bIns="0" rtlCol="0" anchor="ctr"/>
          <a:lstStyle/>
          <a:p>
            <a:pPr indent="0" marL="0">
              <a:buNone/>
            </a:pPr>
            <a:r>
              <a:rPr lang="en-US" sz="2600" b="1" dirty="0">
                <a:solidFill>
                  <a:srgbClr val="2A2238"/>
                </a:solidFill>
                <a:latin typeface="Alexandria" pitchFamily="34" charset="0"/>
                <a:ea typeface="Alexandria" pitchFamily="34" charset="-122"/>
                <a:cs typeface="Alexandria" pitchFamily="34" charset="-120"/>
              </a:rPr>
              <a:t>~860–920 m²</a:t>
            </a:r>
            <a:endParaRPr lang="en-US" sz="2600" dirty="0"/>
          </a:p>
          <a:p>
            <a:pPr indent="0" marL="0">
              <a:buNone/>
            </a:pPr>
            <a:r>
              <a:rPr lang="en-US" sz="1200" dirty="0">
                <a:solidFill>
                  <a:srgbClr val="6E6878"/>
                </a:solidFill>
                <a:latin typeface="Alexandria" pitchFamily="34" charset="0"/>
                <a:ea typeface="Alexandria" pitchFamily="34" charset="-122"/>
                <a:cs typeface="Alexandria" pitchFamily="34" charset="-120"/>
              </a:rPr>
              <a:t>diện tích dùng được</a:t>
            </a:r>
            <a:endParaRPr lang="en-US" sz="2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655064"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65506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10.1 Quy trình mua</a:t>
            </a:r>
            <a:endParaRPr lang="en-US" sz="1000" dirty="0"/>
          </a:p>
        </p:txBody>
      </p:sp>
      <p:sp>
        <p:nvSpPr>
          <p:cNvPr id="6" name="Shape 4"/>
          <p:cNvSpPr/>
          <p:nvPr/>
        </p:nvSpPr>
        <p:spPr>
          <a:xfrm>
            <a:off x="3145536" y="274320"/>
            <a:ext cx="1266444" cy="292608"/>
          </a:xfrm>
          <a:prstGeom prst="roundRect">
            <a:avLst>
              <a:gd name="adj" fmla="val 50000"/>
            </a:avLst>
          </a:prstGeom>
          <a:solidFill>
            <a:srgbClr val="09A1E5"/>
          </a:solidFill>
          <a:ln w="9525">
            <a:solidFill>
              <a:srgbClr val="09A1E5"/>
            </a:solidFill>
            <a:prstDash val="solid"/>
          </a:ln>
        </p:spPr>
      </p:sp>
      <p:sp>
        <p:nvSpPr>
          <p:cNvPr id="7" name="Text 5"/>
          <p:cNvSpPr txBox="1"/>
          <p:nvPr/>
        </p:nvSpPr>
        <p:spPr>
          <a:xfrm>
            <a:off x="3145536" y="274320"/>
            <a:ext cx="126644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10.2 Địa điểm</a:t>
            </a:r>
            <a:endParaRPr lang="en-US" sz="1000" dirty="0"/>
          </a:p>
        </p:txBody>
      </p:sp>
      <p:sp>
        <p:nvSpPr>
          <p:cNvPr id="8" name="Shape 6"/>
          <p:cNvSpPr/>
          <p:nvPr/>
        </p:nvSpPr>
        <p:spPr>
          <a:xfrm>
            <a:off x="4521708" y="274320"/>
            <a:ext cx="2354580"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521708" y="274320"/>
            <a:ext cx="235458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10.3 Hành trình Key Account</a:t>
            </a:r>
            <a:endParaRPr lang="en-US" sz="1000" dirty="0"/>
          </a:p>
        </p:txBody>
      </p:sp>
      <p:sp>
        <p:nvSpPr>
          <p:cNvPr id="10" name="Shape 8"/>
          <p:cNvSpPr/>
          <p:nvPr/>
        </p:nvSpPr>
        <p:spPr>
          <a:xfrm>
            <a:off x="6986016"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986016"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384048" cy="384048"/>
          </a:xfrm>
          <a:prstGeom prst="roundRect">
            <a:avLst>
              <a:gd name="adj" fmla="val 18000"/>
            </a:avLst>
          </a:prstGeom>
          <a:solidFill>
            <a:srgbClr val="FFFFFF"/>
          </a:solidFill>
          <a:ln w="12700">
            <a:solidFill>
              <a:srgbClr val="2A2238"/>
            </a:solidFill>
            <a:prstDash val="solid"/>
          </a:ln>
        </p:spPr>
      </p:sp>
      <p:sp>
        <p:nvSpPr>
          <p:cNvPr id="13" name="Shape 11"/>
          <p:cNvSpPr/>
          <p:nvPr/>
        </p:nvSpPr>
        <p:spPr>
          <a:xfrm>
            <a:off x="11343498" y="265542"/>
            <a:ext cx="215067" cy="53767"/>
          </a:xfrm>
          <a:prstGeom prst="rect">
            <a:avLst/>
          </a:prstGeom>
          <a:solidFill>
            <a:srgbClr val="962B7C"/>
          </a:solidFill>
          <a:ln w="12700">
            <a:solidFill>
              <a:srgbClr val="962B7C"/>
            </a:solidFill>
            <a:prstDash val="solid"/>
          </a:ln>
        </p:spPr>
      </p:sp>
      <p:sp>
        <p:nvSpPr>
          <p:cNvPr id="14" name="Shape 12"/>
          <p:cNvSpPr/>
          <p:nvPr/>
        </p:nvSpPr>
        <p:spPr>
          <a:xfrm>
            <a:off x="11335817" y="380756"/>
            <a:ext cx="76810" cy="76810"/>
          </a:xfrm>
          <a:prstGeom prst="ellipse">
            <a:avLst/>
          </a:prstGeom>
          <a:solidFill>
            <a:srgbClr val="FF9259"/>
          </a:solidFill>
          <a:ln w="12700">
            <a:solidFill>
              <a:srgbClr val="FF9259"/>
            </a:solidFill>
            <a:prstDash val="solid"/>
          </a:ln>
        </p:spPr>
      </p:sp>
      <p:sp>
        <p:nvSpPr>
          <p:cNvPr id="15" name="Shape 13"/>
          <p:cNvSpPr/>
          <p:nvPr/>
        </p:nvSpPr>
        <p:spPr>
          <a:xfrm>
            <a:off x="11489436" y="380756"/>
            <a:ext cx="76810" cy="76810"/>
          </a:xfrm>
          <a:prstGeom prst="ellipse">
            <a:avLst/>
          </a:prstGeom>
          <a:solidFill>
            <a:srgbClr val="09A1E5"/>
          </a:solidFill>
          <a:ln w="12700">
            <a:solidFill>
              <a:srgbClr val="09A1E5"/>
            </a:solidFill>
            <a:prstDash val="solid"/>
          </a:ln>
        </p:spPr>
      </p:sp>
      <p:sp>
        <p:nvSpPr>
          <p:cNvPr id="16" name="Shape 14"/>
          <p:cNvSpPr/>
          <p:nvPr/>
        </p:nvSpPr>
        <p:spPr>
          <a:xfrm>
            <a:off x="11335817" y="488290"/>
            <a:ext cx="76810" cy="76810"/>
          </a:xfrm>
          <a:prstGeom prst="ellipse">
            <a:avLst/>
          </a:prstGeom>
          <a:solidFill>
            <a:srgbClr val="49B296"/>
          </a:solidFill>
          <a:ln w="12700">
            <a:solidFill>
              <a:srgbClr val="49B296"/>
            </a:solidFill>
            <a:prstDash val="solid"/>
          </a:ln>
        </p:spPr>
      </p:sp>
      <p:sp>
        <p:nvSpPr>
          <p:cNvPr id="17" name="Shape 15"/>
          <p:cNvSpPr/>
          <p:nvPr/>
        </p:nvSpPr>
        <p:spPr>
          <a:xfrm>
            <a:off x="11489436" y="488290"/>
            <a:ext cx="76810" cy="76810"/>
          </a:xfrm>
          <a:prstGeom prst="ellipse">
            <a:avLst/>
          </a:prstGeom>
          <a:solidFill>
            <a:srgbClr val="FF5178"/>
          </a:solidFill>
          <a:ln w="12700">
            <a:solidFill>
              <a:srgbClr val="FF5178"/>
            </a:solidFill>
            <a:prstDash val="solid"/>
          </a:ln>
        </p:spPr>
      </p:sp>
      <p:sp>
        <p:nvSpPr>
          <p:cNvPr id="18" name="Text 16"/>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Luôn xin sơ đồ mặt bằng và hỏi “diện tích này là gì?”</a:t>
            </a:r>
            <a:endParaRPr lang="en-US" sz="2600" dirty="0"/>
          </a:p>
        </p:txBody>
      </p:sp>
      <p:sp>
        <p:nvSpPr>
          <p:cNvPr id="19" name="Text 17"/>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10   19</a:t>
            </a:r>
            <a:endParaRPr lang="en-US" sz="1000" dirty="0"/>
          </a:p>
        </p:txBody>
      </p:sp>
      <p:sp>
        <p:nvSpPr>
          <p:cNvPr id="21" name="Text 18"/>
          <p:cNvSpPr txBox="1"/>
          <p:nvPr/>
        </p:nvSpPr>
        <p:spPr>
          <a:xfrm>
            <a:off x="548640" y="1783080"/>
            <a:ext cx="11094415" cy="411480"/>
          </a:xfrm>
          <a:prstGeom prst="rect">
            <a:avLst/>
          </a:prstGeom>
          <a:noFill/>
          <a:ln/>
        </p:spPr>
        <p:txBody>
          <a:bodyPr wrap="square" lIns="0" tIns="0" rIns="0" bIns="0" rtlCol="0" anchor="ctr"/>
          <a:lstStyle/>
          <a:p>
            <a:pPr indent="0" marL="0">
              <a:buNone/>
            </a:pPr>
            <a:r>
              <a:rPr lang="en-US" sz="1500" dirty="0">
                <a:solidFill>
                  <a:srgbClr val="6E6878"/>
                </a:solidFill>
                <a:latin typeface="Alexandria" pitchFamily="34" charset="0"/>
                <a:ea typeface="Alexandria" pitchFamily="34" charset="-122"/>
                <a:cs typeface="Alexandria" pitchFamily="34" charset="-120"/>
              </a:rPr>
              <a:t>Cùng một trung tâm hội nghị lớn ở TP.HCM, các trang ghi:</a:t>
            </a:r>
            <a:endParaRPr lang="en-US" sz="1500" dirty="0"/>
          </a:p>
        </p:txBody>
      </p:sp>
      <p:sp>
        <p:nvSpPr>
          <p:cNvPr id="22" name="Shape 19"/>
          <p:cNvSpPr/>
          <p:nvPr/>
        </p:nvSpPr>
        <p:spPr>
          <a:xfrm>
            <a:off x="548640" y="2331720"/>
            <a:ext cx="3108960" cy="1417320"/>
          </a:xfrm>
          <a:prstGeom prst="roundRect">
            <a:avLst>
              <a:gd name="adj" fmla="val 7742"/>
            </a:avLst>
          </a:prstGeom>
          <a:solidFill>
            <a:srgbClr val="FFE9DE"/>
          </a:solidFill>
          <a:ln w="19050">
            <a:solidFill>
              <a:srgbClr val="FF9259"/>
            </a:solidFill>
            <a:prstDash val="solid"/>
          </a:ln>
        </p:spPr>
      </p:sp>
      <p:sp>
        <p:nvSpPr>
          <p:cNvPr id="23" name="Text 20"/>
          <p:cNvSpPr txBox="1"/>
          <p:nvPr/>
        </p:nvSpPr>
        <p:spPr>
          <a:xfrm>
            <a:off x="685800" y="2331720"/>
            <a:ext cx="2834640" cy="1417320"/>
          </a:xfrm>
          <a:prstGeom prst="rect">
            <a:avLst/>
          </a:prstGeom>
          <a:noFill/>
          <a:ln/>
        </p:spPr>
        <p:txBody>
          <a:bodyPr wrap="square" lIns="0" tIns="0" rIns="0" bIns="0" rtlCol="0" anchor="ctr"/>
          <a:lstStyle/>
          <a:p>
            <a:pPr algn="ctr" indent="0" marL="0">
              <a:buNone/>
            </a:pPr>
            <a:r>
              <a:rPr lang="en-US" sz="2000" b="1" dirty="0">
                <a:solidFill>
                  <a:srgbClr val="2A2238"/>
                </a:solidFill>
                <a:latin typeface="Alexandria" pitchFamily="34" charset="0"/>
                <a:ea typeface="Alexandria" pitchFamily="34" charset="-122"/>
                <a:cs typeface="Alexandria" pitchFamily="34" charset="-120"/>
              </a:rPr>
              <a:t>“hơn 4.000 m²”</a:t>
            </a:r>
            <a:endParaRPr lang="en-US" sz="2000" dirty="0"/>
          </a:p>
        </p:txBody>
      </p:sp>
      <p:sp>
        <p:nvSpPr>
          <p:cNvPr id="24" name="Shape 21"/>
          <p:cNvSpPr/>
          <p:nvPr/>
        </p:nvSpPr>
        <p:spPr>
          <a:xfrm>
            <a:off x="4389120" y="2331720"/>
            <a:ext cx="3108960" cy="1417320"/>
          </a:xfrm>
          <a:prstGeom prst="roundRect">
            <a:avLst>
              <a:gd name="adj" fmla="val 7742"/>
            </a:avLst>
          </a:prstGeom>
          <a:solidFill>
            <a:srgbClr val="DDF1FB"/>
          </a:solidFill>
          <a:ln w="19050">
            <a:solidFill>
              <a:srgbClr val="09A1E5"/>
            </a:solidFill>
            <a:prstDash val="solid"/>
          </a:ln>
        </p:spPr>
      </p:sp>
      <p:sp>
        <p:nvSpPr>
          <p:cNvPr id="25" name="Text 22"/>
          <p:cNvSpPr txBox="1"/>
          <p:nvPr/>
        </p:nvSpPr>
        <p:spPr>
          <a:xfrm>
            <a:off x="4526280" y="2331720"/>
            <a:ext cx="2834640" cy="1417320"/>
          </a:xfrm>
          <a:prstGeom prst="rect">
            <a:avLst/>
          </a:prstGeom>
          <a:noFill/>
          <a:ln/>
        </p:spPr>
        <p:txBody>
          <a:bodyPr wrap="square" lIns="0" tIns="0" rIns="0" bIns="0" rtlCol="0" anchor="ctr"/>
          <a:lstStyle/>
          <a:p>
            <a:pPr algn="ctr" indent="0" marL="0">
              <a:buNone/>
            </a:pPr>
            <a:r>
              <a:rPr lang="en-US" sz="2000" b="1" dirty="0">
                <a:solidFill>
                  <a:srgbClr val="2A2238"/>
                </a:solidFill>
                <a:latin typeface="Alexandria" pitchFamily="34" charset="0"/>
                <a:ea typeface="Alexandria" pitchFamily="34" charset="-122"/>
                <a:cs typeface="Alexandria" pitchFamily="34" charset="-120"/>
              </a:rPr>
              <a:t>“khoảng 10.000 m²”</a:t>
            </a:r>
            <a:endParaRPr lang="en-US" sz="2000" dirty="0"/>
          </a:p>
        </p:txBody>
      </p:sp>
      <p:sp>
        <p:nvSpPr>
          <p:cNvPr id="26" name="Text 23"/>
          <p:cNvSpPr txBox="1"/>
          <p:nvPr/>
        </p:nvSpPr>
        <p:spPr>
          <a:xfrm>
            <a:off x="3657600" y="2331720"/>
            <a:ext cx="731520" cy="1417320"/>
          </a:xfrm>
          <a:prstGeom prst="rect">
            <a:avLst/>
          </a:prstGeom>
          <a:noFill/>
          <a:ln/>
        </p:spPr>
        <p:txBody>
          <a:bodyPr wrap="square" lIns="0" tIns="0" rIns="0" bIns="0" rtlCol="0" anchor="ctr"/>
          <a:lstStyle/>
          <a:p>
            <a:pPr algn="ctr" indent="0" marL="0">
              <a:buNone/>
            </a:pPr>
            <a:r>
              <a:rPr lang="en-US" sz="4400" b="1" dirty="0">
                <a:solidFill>
                  <a:srgbClr val="E03A62"/>
                </a:solidFill>
                <a:latin typeface="Alexandria" pitchFamily="34" charset="0"/>
                <a:ea typeface="Alexandria" pitchFamily="34" charset="-122"/>
                <a:cs typeface="Alexandria" pitchFamily="34" charset="-120"/>
              </a:rPr>
              <a:t>≠</a:t>
            </a:r>
            <a:endParaRPr lang="en-US" sz="4400" dirty="0"/>
          </a:p>
        </p:txBody>
      </p:sp>
      <p:sp>
        <p:nvSpPr>
          <p:cNvPr id="27" name="Text 24"/>
          <p:cNvSpPr txBox="1"/>
          <p:nvPr/>
        </p:nvSpPr>
        <p:spPr>
          <a:xfrm>
            <a:off x="548640" y="3886200"/>
            <a:ext cx="6949440" cy="411480"/>
          </a:xfrm>
          <a:prstGeom prst="rect">
            <a:avLst/>
          </a:prstGeom>
          <a:noFill/>
          <a:ln/>
        </p:spPr>
        <p:txBody>
          <a:bodyPr wrap="square" lIns="0" tIns="0" rIns="0" bIns="0" rtlCol="0" anchor="ctr"/>
          <a:lstStyle/>
          <a:p>
            <a:pPr indent="0" marL="0">
              <a:buNone/>
            </a:pPr>
            <a:r>
              <a:rPr lang="en-US" sz="1400" i="1" dirty="0">
                <a:solidFill>
                  <a:srgbClr val="6E6878"/>
                </a:solidFill>
                <a:latin typeface="Alexandria" pitchFamily="34" charset="0"/>
                <a:ea typeface="Alexandria" pitchFamily="34" charset="-122"/>
                <a:cs typeface="Alexandria" pitchFamily="34" charset="-120"/>
              </a:rPr>
              <a:t>Có thể là tổng sàn, một sảnh, hay diện tích có cột…</a:t>
            </a:r>
            <a:endParaRPr lang="en-US" sz="1400" dirty="0"/>
          </a:p>
        </p:txBody>
      </p:sp>
      <p:sp>
        <p:nvSpPr>
          <p:cNvPr id="28" name="Shape 25"/>
          <p:cNvSpPr/>
          <p:nvPr/>
        </p:nvSpPr>
        <p:spPr>
          <a:xfrm>
            <a:off x="7863840" y="1783080"/>
            <a:ext cx="3779215" cy="804672"/>
          </a:xfrm>
          <a:prstGeom prst="roundRect">
            <a:avLst>
              <a:gd name="adj" fmla="val 13636"/>
            </a:avLst>
          </a:prstGeom>
          <a:solidFill>
            <a:srgbClr val="FFFFFF"/>
          </a:solidFill>
          <a:ln w="19050">
            <a:solidFill>
              <a:srgbClr val="962B7C"/>
            </a:solidFill>
            <a:prstDash val="solid"/>
          </a:ln>
        </p:spPr>
      </p:sp>
      <p:sp>
        <p:nvSpPr>
          <p:cNvPr id="29" name="Shape 26"/>
          <p:cNvSpPr/>
          <p:nvPr/>
        </p:nvSpPr>
        <p:spPr>
          <a:xfrm>
            <a:off x="8046720" y="1929384"/>
            <a:ext cx="512064" cy="512064"/>
          </a:xfrm>
          <a:prstGeom prst="ellipse">
            <a:avLst/>
          </a:prstGeom>
          <a:solidFill>
            <a:srgbClr val="962B7C"/>
          </a:solidFill>
          <a:ln w="12700">
            <a:solidFill>
              <a:srgbClr val="962B7C"/>
            </a:solidFill>
            <a:prstDash val="solid"/>
          </a:ln>
        </p:spPr>
      </p:sp>
      <p:sp>
        <p:nvSpPr>
          <p:cNvPr id="30" name="Text 27"/>
          <p:cNvSpPr txBox="1"/>
          <p:nvPr/>
        </p:nvSpPr>
        <p:spPr>
          <a:xfrm>
            <a:off x="8046720" y="1929384"/>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1</a:t>
            </a:r>
            <a:endParaRPr lang="en-US" sz="1600" dirty="0"/>
          </a:p>
        </p:txBody>
      </p:sp>
      <p:sp>
        <p:nvSpPr>
          <p:cNvPr id="31" name="Text 28"/>
          <p:cNvSpPr txBox="1"/>
          <p:nvPr/>
        </p:nvSpPr>
        <p:spPr>
          <a:xfrm>
            <a:off x="8732520" y="1783080"/>
            <a:ext cx="2773375" cy="804672"/>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Xin sơ đồ mặt bằng chính thức</a:t>
            </a:r>
            <a:endParaRPr lang="en-US" sz="1500" dirty="0"/>
          </a:p>
        </p:txBody>
      </p:sp>
      <p:sp>
        <p:nvSpPr>
          <p:cNvPr id="32" name="Shape 29"/>
          <p:cNvSpPr/>
          <p:nvPr/>
        </p:nvSpPr>
        <p:spPr>
          <a:xfrm>
            <a:off x="7863840" y="2743200"/>
            <a:ext cx="3779215" cy="804672"/>
          </a:xfrm>
          <a:prstGeom prst="roundRect">
            <a:avLst>
              <a:gd name="adj" fmla="val 13636"/>
            </a:avLst>
          </a:prstGeom>
          <a:solidFill>
            <a:srgbClr val="FFFFFF"/>
          </a:solidFill>
          <a:ln w="19050">
            <a:solidFill>
              <a:srgbClr val="09A1E5"/>
            </a:solidFill>
            <a:prstDash val="solid"/>
          </a:ln>
        </p:spPr>
      </p:sp>
      <p:sp>
        <p:nvSpPr>
          <p:cNvPr id="33" name="Shape 30"/>
          <p:cNvSpPr/>
          <p:nvPr/>
        </p:nvSpPr>
        <p:spPr>
          <a:xfrm>
            <a:off x="8046720" y="2889504"/>
            <a:ext cx="512064" cy="512064"/>
          </a:xfrm>
          <a:prstGeom prst="ellipse">
            <a:avLst/>
          </a:prstGeom>
          <a:solidFill>
            <a:srgbClr val="09A1E5"/>
          </a:solidFill>
          <a:ln w="12700">
            <a:solidFill>
              <a:srgbClr val="09A1E5"/>
            </a:solidFill>
            <a:prstDash val="solid"/>
          </a:ln>
        </p:spPr>
      </p:sp>
      <p:sp>
        <p:nvSpPr>
          <p:cNvPr id="34" name="Text 31"/>
          <p:cNvSpPr txBox="1"/>
          <p:nvPr/>
        </p:nvSpPr>
        <p:spPr>
          <a:xfrm>
            <a:off x="8046720" y="2889504"/>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2</a:t>
            </a:r>
            <a:endParaRPr lang="en-US" sz="1600" dirty="0"/>
          </a:p>
        </p:txBody>
      </p:sp>
      <p:sp>
        <p:nvSpPr>
          <p:cNvPr id="35" name="Text 32"/>
          <p:cNvSpPr txBox="1"/>
          <p:nvPr/>
        </p:nvSpPr>
        <p:spPr>
          <a:xfrm>
            <a:off x="8732520" y="2743200"/>
            <a:ext cx="2773375" cy="804672"/>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Hỏi “diện tích này là gì?”</a:t>
            </a:r>
            <a:endParaRPr lang="en-US" sz="1500" dirty="0"/>
          </a:p>
        </p:txBody>
      </p:sp>
      <p:sp>
        <p:nvSpPr>
          <p:cNvPr id="36" name="Shape 33"/>
          <p:cNvSpPr/>
          <p:nvPr/>
        </p:nvSpPr>
        <p:spPr>
          <a:xfrm>
            <a:off x="7863840" y="3703320"/>
            <a:ext cx="3779215" cy="804672"/>
          </a:xfrm>
          <a:prstGeom prst="roundRect">
            <a:avLst>
              <a:gd name="adj" fmla="val 13636"/>
            </a:avLst>
          </a:prstGeom>
          <a:solidFill>
            <a:srgbClr val="FFFFFF"/>
          </a:solidFill>
          <a:ln w="19050">
            <a:solidFill>
              <a:srgbClr val="49B296"/>
            </a:solidFill>
            <a:prstDash val="solid"/>
          </a:ln>
        </p:spPr>
      </p:sp>
      <p:sp>
        <p:nvSpPr>
          <p:cNvPr id="37" name="Shape 34"/>
          <p:cNvSpPr/>
          <p:nvPr/>
        </p:nvSpPr>
        <p:spPr>
          <a:xfrm>
            <a:off x="8046720" y="3849624"/>
            <a:ext cx="512064" cy="512064"/>
          </a:xfrm>
          <a:prstGeom prst="ellipse">
            <a:avLst/>
          </a:prstGeom>
          <a:solidFill>
            <a:srgbClr val="49B296"/>
          </a:solidFill>
          <a:ln w="12700">
            <a:solidFill>
              <a:srgbClr val="49B296"/>
            </a:solidFill>
            <a:prstDash val="solid"/>
          </a:ln>
        </p:spPr>
      </p:sp>
      <p:sp>
        <p:nvSpPr>
          <p:cNvPr id="38" name="Text 35"/>
          <p:cNvSpPr txBox="1"/>
          <p:nvPr/>
        </p:nvSpPr>
        <p:spPr>
          <a:xfrm>
            <a:off x="8046720" y="3849624"/>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3</a:t>
            </a:r>
            <a:endParaRPr lang="en-US" sz="1600" dirty="0"/>
          </a:p>
        </p:txBody>
      </p:sp>
      <p:sp>
        <p:nvSpPr>
          <p:cNvPr id="39" name="Text 36"/>
          <p:cNvSpPr txBox="1"/>
          <p:nvPr/>
        </p:nvSpPr>
        <p:spPr>
          <a:xfrm>
            <a:off x="8732520" y="3703320"/>
            <a:ext cx="2773375" cy="804672"/>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Đo khi site check</a:t>
            </a:r>
            <a:endParaRPr lang="en-US" sz="1500" dirty="0"/>
          </a:p>
        </p:txBody>
      </p:sp>
      <p:sp>
        <p:nvSpPr>
          <p:cNvPr id="40" name="Shape 37"/>
          <p:cNvSpPr/>
          <p:nvPr/>
        </p:nvSpPr>
        <p:spPr>
          <a:xfrm>
            <a:off x="548640" y="4846320"/>
            <a:ext cx="11094415" cy="1143000"/>
          </a:xfrm>
          <a:prstGeom prst="roundRect">
            <a:avLst>
              <a:gd name="adj" fmla="val 9600"/>
            </a:avLst>
          </a:prstGeom>
          <a:solidFill>
            <a:srgbClr val="FFF3C4"/>
          </a:solidFill>
          <a:ln w="12700">
            <a:solidFill>
              <a:srgbClr val="FFD23B"/>
            </a:solidFill>
            <a:prstDash val="solid"/>
          </a:ln>
        </p:spPr>
      </p:sp>
      <p:sp>
        <p:nvSpPr>
          <p:cNvPr id="41" name="Text 38"/>
          <p:cNvSpPr txBox="1"/>
          <p:nvPr/>
        </p:nvSpPr>
        <p:spPr>
          <a:xfrm>
            <a:off x="868680" y="4846320"/>
            <a:ext cx="10454335" cy="114300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Sức chứa chính thức </a:t>
            </a:r>
            <a:pPr indent="0" marL="0">
              <a:buNone/>
            </a:pPr>
            <a:r>
              <a:rPr lang="en-US" sz="1700" dirty="0">
                <a:solidFill>
                  <a:srgbClr val="2A2238"/>
                </a:solidFill>
                <a:latin typeface="Alexandria" pitchFamily="34" charset="0"/>
                <a:ea typeface="Alexandria" pitchFamily="34" charset="-122"/>
                <a:cs typeface="Alexandria" pitchFamily="34" charset="-120"/>
              </a:rPr>
              <a:t>theo giấy phép của địa điểm và quy định PCCC → học ở môn Quản trị rủi ro sự kiện.</a:t>
            </a:r>
            <a:endParaRPr lang="en-US" sz="1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655064"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65506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10.1 Quy trình mua</a:t>
            </a:r>
            <a:endParaRPr lang="en-US" sz="1000" dirty="0"/>
          </a:p>
        </p:txBody>
      </p:sp>
      <p:sp>
        <p:nvSpPr>
          <p:cNvPr id="6" name="Shape 4"/>
          <p:cNvSpPr/>
          <p:nvPr/>
        </p:nvSpPr>
        <p:spPr>
          <a:xfrm>
            <a:off x="3145536" y="274320"/>
            <a:ext cx="1266444"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145536" y="274320"/>
            <a:ext cx="126644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10.2 Địa điểm</a:t>
            </a:r>
            <a:endParaRPr lang="en-US" sz="1000" dirty="0"/>
          </a:p>
        </p:txBody>
      </p:sp>
      <p:sp>
        <p:nvSpPr>
          <p:cNvPr id="8" name="Shape 6"/>
          <p:cNvSpPr/>
          <p:nvPr/>
        </p:nvSpPr>
        <p:spPr>
          <a:xfrm>
            <a:off x="4521708" y="274320"/>
            <a:ext cx="2354580" cy="292608"/>
          </a:xfrm>
          <a:prstGeom prst="roundRect">
            <a:avLst>
              <a:gd name="adj" fmla="val 50000"/>
            </a:avLst>
          </a:prstGeom>
          <a:solidFill>
            <a:srgbClr val="FF5178"/>
          </a:solidFill>
          <a:ln w="9525">
            <a:solidFill>
              <a:srgbClr val="FF5178"/>
            </a:solidFill>
            <a:prstDash val="solid"/>
          </a:ln>
        </p:spPr>
      </p:sp>
      <p:sp>
        <p:nvSpPr>
          <p:cNvPr id="9" name="Text 7"/>
          <p:cNvSpPr txBox="1"/>
          <p:nvPr/>
        </p:nvSpPr>
        <p:spPr>
          <a:xfrm>
            <a:off x="4521708" y="274320"/>
            <a:ext cx="235458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10.3 Hành trình Key Account</a:t>
            </a:r>
            <a:endParaRPr lang="en-US" sz="1000" dirty="0"/>
          </a:p>
        </p:txBody>
      </p:sp>
      <p:sp>
        <p:nvSpPr>
          <p:cNvPr id="10" name="Shape 8"/>
          <p:cNvSpPr/>
          <p:nvPr/>
        </p:nvSpPr>
        <p:spPr>
          <a:xfrm>
            <a:off x="6986016"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986016"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384048" cy="384048"/>
          </a:xfrm>
          <a:prstGeom prst="roundRect">
            <a:avLst>
              <a:gd name="adj" fmla="val 18000"/>
            </a:avLst>
          </a:prstGeom>
          <a:solidFill>
            <a:srgbClr val="FFFFFF"/>
          </a:solidFill>
          <a:ln w="12700">
            <a:solidFill>
              <a:srgbClr val="2A2238"/>
            </a:solidFill>
            <a:prstDash val="solid"/>
          </a:ln>
        </p:spPr>
      </p:sp>
      <p:sp>
        <p:nvSpPr>
          <p:cNvPr id="13" name="Shape 11"/>
          <p:cNvSpPr/>
          <p:nvPr/>
        </p:nvSpPr>
        <p:spPr>
          <a:xfrm>
            <a:off x="11343498" y="265542"/>
            <a:ext cx="215067" cy="53767"/>
          </a:xfrm>
          <a:prstGeom prst="rect">
            <a:avLst/>
          </a:prstGeom>
          <a:solidFill>
            <a:srgbClr val="962B7C"/>
          </a:solidFill>
          <a:ln w="12700">
            <a:solidFill>
              <a:srgbClr val="962B7C"/>
            </a:solidFill>
            <a:prstDash val="solid"/>
          </a:ln>
        </p:spPr>
      </p:sp>
      <p:sp>
        <p:nvSpPr>
          <p:cNvPr id="14" name="Shape 12"/>
          <p:cNvSpPr/>
          <p:nvPr/>
        </p:nvSpPr>
        <p:spPr>
          <a:xfrm>
            <a:off x="11335817" y="380756"/>
            <a:ext cx="76810" cy="76810"/>
          </a:xfrm>
          <a:prstGeom prst="ellipse">
            <a:avLst/>
          </a:prstGeom>
          <a:solidFill>
            <a:srgbClr val="FF9259"/>
          </a:solidFill>
          <a:ln w="12700">
            <a:solidFill>
              <a:srgbClr val="FF9259"/>
            </a:solidFill>
            <a:prstDash val="solid"/>
          </a:ln>
        </p:spPr>
      </p:sp>
      <p:sp>
        <p:nvSpPr>
          <p:cNvPr id="15" name="Shape 13"/>
          <p:cNvSpPr/>
          <p:nvPr/>
        </p:nvSpPr>
        <p:spPr>
          <a:xfrm>
            <a:off x="11489436" y="380756"/>
            <a:ext cx="76810" cy="76810"/>
          </a:xfrm>
          <a:prstGeom prst="ellipse">
            <a:avLst/>
          </a:prstGeom>
          <a:solidFill>
            <a:srgbClr val="09A1E5"/>
          </a:solidFill>
          <a:ln w="12700">
            <a:solidFill>
              <a:srgbClr val="09A1E5"/>
            </a:solidFill>
            <a:prstDash val="solid"/>
          </a:ln>
        </p:spPr>
      </p:sp>
      <p:sp>
        <p:nvSpPr>
          <p:cNvPr id="16" name="Shape 14"/>
          <p:cNvSpPr/>
          <p:nvPr/>
        </p:nvSpPr>
        <p:spPr>
          <a:xfrm>
            <a:off x="11335817" y="488290"/>
            <a:ext cx="76810" cy="76810"/>
          </a:xfrm>
          <a:prstGeom prst="ellipse">
            <a:avLst/>
          </a:prstGeom>
          <a:solidFill>
            <a:srgbClr val="49B296"/>
          </a:solidFill>
          <a:ln w="12700">
            <a:solidFill>
              <a:srgbClr val="49B296"/>
            </a:solidFill>
            <a:prstDash val="solid"/>
          </a:ln>
        </p:spPr>
      </p:sp>
      <p:sp>
        <p:nvSpPr>
          <p:cNvPr id="17" name="Shape 15"/>
          <p:cNvSpPr/>
          <p:nvPr/>
        </p:nvSpPr>
        <p:spPr>
          <a:xfrm>
            <a:off x="11489436" y="488290"/>
            <a:ext cx="76810" cy="76810"/>
          </a:xfrm>
          <a:prstGeom prst="ellipse">
            <a:avLst/>
          </a:prstGeom>
          <a:solidFill>
            <a:srgbClr val="FF5178"/>
          </a:solidFill>
          <a:ln w="12700">
            <a:solidFill>
              <a:srgbClr val="FF5178"/>
            </a:solidFill>
            <a:prstDash val="solid"/>
          </a:ln>
        </p:spPr>
      </p:sp>
      <p:sp>
        <p:nvSpPr>
          <p:cNvPr id="18" name="Text 16"/>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Hành trình có ba giai đoạn và bốn loại điểm chạm</a:t>
            </a:r>
            <a:endParaRPr lang="en-US" sz="2600" dirty="0"/>
          </a:p>
        </p:txBody>
      </p:sp>
      <p:sp>
        <p:nvSpPr>
          <p:cNvPr id="19" name="Text 17"/>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V09: Lemon &amp; Verhoef (2016), Journal of Marketing, 80(6), 69–96.</a:t>
            </a:r>
            <a:endParaRPr lang="en-US" sz="1000" dirty="0"/>
          </a:p>
        </p:txBody>
      </p:sp>
      <p:sp>
        <p:nvSpPr>
          <p:cNvPr id="20" name="Text 18"/>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10   20</a:t>
            </a:r>
            <a:endParaRPr lang="en-US" sz="1000" dirty="0"/>
          </a:p>
        </p:txBody>
      </p:sp>
      <p:sp>
        <p:nvSpPr>
          <p:cNvPr id="22" name="Shape 19"/>
          <p:cNvSpPr/>
          <p:nvPr/>
        </p:nvSpPr>
        <p:spPr>
          <a:xfrm>
            <a:off x="548640" y="1874520"/>
            <a:ext cx="3576218" cy="914400"/>
          </a:xfrm>
          <a:prstGeom prst="chevron">
            <a:avLst/>
          </a:prstGeom>
          <a:solidFill>
            <a:srgbClr val="FF9259"/>
          </a:solidFill>
          <a:ln w="12700">
            <a:solidFill>
              <a:srgbClr val="FF9259"/>
            </a:solidFill>
            <a:prstDash val="solid"/>
          </a:ln>
        </p:spPr>
      </p:sp>
      <p:sp>
        <p:nvSpPr>
          <p:cNvPr id="23" name="Text 20"/>
          <p:cNvSpPr txBox="1"/>
          <p:nvPr/>
        </p:nvSpPr>
        <p:spPr>
          <a:xfrm>
            <a:off x="1005840" y="1874520"/>
            <a:ext cx="2661818" cy="914400"/>
          </a:xfrm>
          <a:prstGeom prst="rect">
            <a:avLst/>
          </a:prstGeom>
          <a:noFill/>
          <a:ln/>
        </p:spPr>
        <p:txBody>
          <a:bodyPr wrap="square" lIns="0" tIns="0" rIns="0" bIns="0" rtlCol="0" anchor="ctr"/>
          <a:lstStyle/>
          <a:p>
            <a:pPr indent="0" marL="0">
              <a:buNone/>
            </a:pPr>
            <a:r>
              <a:rPr lang="en-US" sz="2000" b="1" dirty="0">
                <a:solidFill>
                  <a:srgbClr val="2A2238"/>
                </a:solidFill>
                <a:latin typeface="Alexandria" pitchFamily="34" charset="0"/>
                <a:ea typeface="Alexandria" pitchFamily="34" charset="-122"/>
                <a:cs typeface="Alexandria" pitchFamily="34" charset="-120"/>
              </a:rPr>
              <a:t>Trước mua</a:t>
            </a:r>
            <a:endParaRPr lang="en-US" sz="2000" dirty="0"/>
          </a:p>
          <a:p>
            <a:pPr indent="0" marL="0">
              <a:buNone/>
            </a:pPr>
            <a:r>
              <a:rPr lang="en-US" sz="1200" i="1" dirty="0">
                <a:solidFill>
                  <a:srgbClr val="2A2238"/>
                </a:solidFill>
                <a:latin typeface="Alexandria" pitchFamily="34" charset="0"/>
                <a:ea typeface="Alexandria" pitchFamily="34" charset="-122"/>
                <a:cs typeface="Alexandria" pitchFamily="34" charset="-120"/>
              </a:rPr>
              <a:t>prepurchase</a:t>
            </a:r>
            <a:endParaRPr lang="en-US" sz="2000" dirty="0"/>
          </a:p>
        </p:txBody>
      </p:sp>
      <p:sp>
        <p:nvSpPr>
          <p:cNvPr id="24" name="Shape 21"/>
          <p:cNvSpPr/>
          <p:nvPr/>
        </p:nvSpPr>
        <p:spPr>
          <a:xfrm>
            <a:off x="4307738" y="1874520"/>
            <a:ext cx="3576218" cy="914400"/>
          </a:xfrm>
          <a:prstGeom prst="chevron">
            <a:avLst/>
          </a:prstGeom>
          <a:solidFill>
            <a:srgbClr val="962B7C"/>
          </a:solidFill>
          <a:ln w="12700">
            <a:solidFill>
              <a:srgbClr val="962B7C"/>
            </a:solidFill>
            <a:prstDash val="solid"/>
          </a:ln>
        </p:spPr>
      </p:sp>
      <p:sp>
        <p:nvSpPr>
          <p:cNvPr id="25" name="Text 22"/>
          <p:cNvSpPr txBox="1"/>
          <p:nvPr/>
        </p:nvSpPr>
        <p:spPr>
          <a:xfrm>
            <a:off x="4764938" y="1874520"/>
            <a:ext cx="2661818" cy="914400"/>
          </a:xfrm>
          <a:prstGeom prst="rect">
            <a:avLst/>
          </a:prstGeom>
          <a:noFill/>
          <a:ln/>
        </p:spPr>
        <p:txBody>
          <a:bodyPr wrap="square" lIns="0" tIns="0" rIns="0" bIns="0" rtlCol="0" anchor="ctr"/>
          <a:lstStyle/>
          <a:p>
            <a:pPr indent="0" marL="0">
              <a:buNone/>
            </a:pPr>
            <a:r>
              <a:rPr lang="en-US" sz="2000" b="1" dirty="0">
                <a:solidFill>
                  <a:srgbClr val="FFFFFF"/>
                </a:solidFill>
                <a:latin typeface="Alexandria" pitchFamily="34" charset="0"/>
                <a:ea typeface="Alexandria" pitchFamily="34" charset="-122"/>
                <a:cs typeface="Alexandria" pitchFamily="34" charset="-120"/>
              </a:rPr>
              <a:t>Mua</a:t>
            </a:r>
            <a:endParaRPr lang="en-US" sz="2000" dirty="0"/>
          </a:p>
          <a:p>
            <a:pPr indent="0" marL="0">
              <a:buNone/>
            </a:pPr>
            <a:r>
              <a:rPr lang="en-US" sz="1200" i="1" dirty="0">
                <a:solidFill>
                  <a:srgbClr val="FFFFFF"/>
                </a:solidFill>
                <a:latin typeface="Alexandria" pitchFamily="34" charset="0"/>
                <a:ea typeface="Alexandria" pitchFamily="34" charset="-122"/>
                <a:cs typeface="Alexandria" pitchFamily="34" charset="-120"/>
              </a:rPr>
              <a:t>purchase</a:t>
            </a:r>
            <a:endParaRPr lang="en-US" sz="2000" dirty="0"/>
          </a:p>
        </p:txBody>
      </p:sp>
      <p:sp>
        <p:nvSpPr>
          <p:cNvPr id="26" name="Shape 23"/>
          <p:cNvSpPr/>
          <p:nvPr/>
        </p:nvSpPr>
        <p:spPr>
          <a:xfrm>
            <a:off x="8066837" y="1874520"/>
            <a:ext cx="3576218" cy="914400"/>
          </a:xfrm>
          <a:prstGeom prst="chevron">
            <a:avLst/>
          </a:prstGeom>
          <a:solidFill>
            <a:srgbClr val="09A1E5"/>
          </a:solidFill>
          <a:ln w="12700">
            <a:solidFill>
              <a:srgbClr val="09A1E5"/>
            </a:solidFill>
            <a:prstDash val="solid"/>
          </a:ln>
        </p:spPr>
      </p:sp>
      <p:sp>
        <p:nvSpPr>
          <p:cNvPr id="27" name="Text 24"/>
          <p:cNvSpPr txBox="1"/>
          <p:nvPr/>
        </p:nvSpPr>
        <p:spPr>
          <a:xfrm>
            <a:off x="8524037" y="1874520"/>
            <a:ext cx="2661818" cy="914400"/>
          </a:xfrm>
          <a:prstGeom prst="rect">
            <a:avLst/>
          </a:prstGeom>
          <a:noFill/>
          <a:ln/>
        </p:spPr>
        <p:txBody>
          <a:bodyPr wrap="square" lIns="0" tIns="0" rIns="0" bIns="0" rtlCol="0" anchor="ctr"/>
          <a:lstStyle/>
          <a:p>
            <a:pPr indent="0" marL="0">
              <a:buNone/>
            </a:pPr>
            <a:r>
              <a:rPr lang="en-US" sz="2000" b="1" dirty="0">
                <a:solidFill>
                  <a:srgbClr val="FFFFFF"/>
                </a:solidFill>
                <a:latin typeface="Alexandria" pitchFamily="34" charset="0"/>
                <a:ea typeface="Alexandria" pitchFamily="34" charset="-122"/>
                <a:cs typeface="Alexandria" pitchFamily="34" charset="-120"/>
              </a:rPr>
              <a:t>Sau mua</a:t>
            </a:r>
            <a:endParaRPr lang="en-US" sz="2000" dirty="0"/>
          </a:p>
          <a:p>
            <a:pPr indent="0" marL="0">
              <a:buNone/>
            </a:pPr>
            <a:r>
              <a:rPr lang="en-US" sz="1200" i="1" dirty="0">
                <a:solidFill>
                  <a:srgbClr val="FFFFFF"/>
                </a:solidFill>
                <a:latin typeface="Alexandria" pitchFamily="34" charset="0"/>
                <a:ea typeface="Alexandria" pitchFamily="34" charset="-122"/>
                <a:cs typeface="Alexandria" pitchFamily="34" charset="-120"/>
              </a:rPr>
              <a:t>postpurchase</a:t>
            </a:r>
            <a:endParaRPr lang="en-US" sz="2000" dirty="0"/>
          </a:p>
        </p:txBody>
      </p:sp>
      <p:sp>
        <p:nvSpPr>
          <p:cNvPr id="28" name="Text 25"/>
          <p:cNvSpPr txBox="1"/>
          <p:nvPr/>
        </p:nvSpPr>
        <p:spPr>
          <a:xfrm>
            <a:off x="548640" y="3063240"/>
            <a:ext cx="11094415" cy="411480"/>
          </a:xfrm>
          <a:prstGeom prst="rect">
            <a:avLst/>
          </a:prstGeom>
          <a:noFill/>
          <a:ln/>
        </p:spPr>
        <p:txBody>
          <a:bodyPr wrap="square" lIns="0" tIns="0" rIns="0" bIns="0" rtlCol="0" anchor="ctr"/>
          <a:lstStyle/>
          <a:p>
            <a:pPr indent="0" marL="0">
              <a:buNone/>
            </a:pPr>
            <a:r>
              <a:rPr lang="en-US" sz="1500" b="1" dirty="0">
                <a:solidFill>
                  <a:srgbClr val="6E6878"/>
                </a:solidFill>
                <a:latin typeface="Alexandria" pitchFamily="34" charset="0"/>
                <a:ea typeface="Alexandria" pitchFamily="34" charset="-122"/>
                <a:cs typeface="Alexandria" pitchFamily="34" charset="-120"/>
              </a:rPr>
              <a:t>Bốn loại điểm chạm</a:t>
            </a:r>
            <a:endParaRPr lang="en-US" sz="1500" dirty="0"/>
          </a:p>
        </p:txBody>
      </p:sp>
      <p:sp>
        <p:nvSpPr>
          <p:cNvPr id="29" name="Shape 26"/>
          <p:cNvSpPr/>
          <p:nvPr/>
        </p:nvSpPr>
        <p:spPr>
          <a:xfrm>
            <a:off x="548640" y="3566160"/>
            <a:ext cx="2636444" cy="1417320"/>
          </a:xfrm>
          <a:prstGeom prst="roundRect">
            <a:avLst>
              <a:gd name="adj" fmla="val 7742"/>
            </a:avLst>
          </a:prstGeom>
          <a:solidFill>
            <a:srgbClr val="FFFFFF"/>
          </a:solidFill>
          <a:ln w="12700">
            <a:solidFill>
              <a:srgbClr val="DCD7C8"/>
            </a:solidFill>
            <a:prstDash val="solid"/>
          </a:ln>
        </p:spPr>
      </p:sp>
      <p:sp>
        <p:nvSpPr>
          <p:cNvPr id="30" name="Text 27"/>
          <p:cNvSpPr txBox="1"/>
          <p:nvPr/>
        </p:nvSpPr>
        <p:spPr>
          <a:xfrm>
            <a:off x="731520" y="3657600"/>
            <a:ext cx="2270684" cy="45720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Brand-owned</a:t>
            </a:r>
            <a:endParaRPr lang="en-US" sz="1600" dirty="0"/>
          </a:p>
        </p:txBody>
      </p:sp>
      <p:sp>
        <p:nvSpPr>
          <p:cNvPr id="31" name="Text 28"/>
          <p:cNvSpPr txBox="1"/>
          <p:nvPr/>
        </p:nvSpPr>
        <p:spPr>
          <a:xfrm>
            <a:off x="731520" y="4114800"/>
            <a:ext cx="2270684" cy="777240"/>
          </a:xfrm>
          <a:prstGeom prst="rect">
            <a:avLst/>
          </a:prstGeom>
          <a:noFill/>
          <a:ln/>
        </p:spPr>
        <p:txBody>
          <a:bodyPr wrap="square" lIns="0" tIns="0" rIns="0" bIns="0" rtlCol="0" anchor="t"/>
          <a:lstStyle/>
          <a:p>
            <a:pPr indent="0" marL="0">
              <a:buNone/>
            </a:pPr>
            <a:r>
              <a:rPr lang="en-US" sz="1300" dirty="0">
                <a:solidFill>
                  <a:srgbClr val="2A2238"/>
                </a:solidFill>
                <a:latin typeface="Alexandria" pitchFamily="34" charset="0"/>
                <a:ea typeface="Alexandria" pitchFamily="34" charset="-122"/>
                <a:cs typeface="Alexandria" pitchFamily="34" charset="-120"/>
              </a:rPr>
              <a:t>do doanh nghiệp sở hữu</a:t>
            </a:r>
            <a:endParaRPr lang="en-US" sz="1300" dirty="0"/>
          </a:p>
        </p:txBody>
      </p:sp>
      <p:sp>
        <p:nvSpPr>
          <p:cNvPr id="32" name="Shape 29"/>
          <p:cNvSpPr/>
          <p:nvPr/>
        </p:nvSpPr>
        <p:spPr>
          <a:xfrm>
            <a:off x="3367964" y="3566160"/>
            <a:ext cx="2636444" cy="1417320"/>
          </a:xfrm>
          <a:prstGeom prst="roundRect">
            <a:avLst>
              <a:gd name="adj" fmla="val 7742"/>
            </a:avLst>
          </a:prstGeom>
          <a:solidFill>
            <a:srgbClr val="FFE4EA"/>
          </a:solidFill>
          <a:ln w="25400">
            <a:solidFill>
              <a:srgbClr val="FF5178"/>
            </a:solidFill>
            <a:prstDash val="solid"/>
          </a:ln>
        </p:spPr>
      </p:sp>
      <p:sp>
        <p:nvSpPr>
          <p:cNvPr id="33" name="Text 30"/>
          <p:cNvSpPr txBox="1"/>
          <p:nvPr/>
        </p:nvSpPr>
        <p:spPr>
          <a:xfrm>
            <a:off x="3550844" y="3657600"/>
            <a:ext cx="2270684" cy="45720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Partner-owned</a:t>
            </a:r>
            <a:endParaRPr lang="en-US" sz="1600" dirty="0"/>
          </a:p>
        </p:txBody>
      </p:sp>
      <p:sp>
        <p:nvSpPr>
          <p:cNvPr id="34" name="Text 31"/>
          <p:cNvSpPr txBox="1"/>
          <p:nvPr/>
        </p:nvSpPr>
        <p:spPr>
          <a:xfrm>
            <a:off x="3550844" y="4114800"/>
            <a:ext cx="2270684" cy="777240"/>
          </a:xfrm>
          <a:prstGeom prst="rect">
            <a:avLst/>
          </a:prstGeom>
          <a:noFill/>
          <a:ln/>
        </p:spPr>
        <p:txBody>
          <a:bodyPr wrap="square" lIns="0" tIns="0" rIns="0" bIns="0" rtlCol="0" anchor="t"/>
          <a:lstStyle/>
          <a:p>
            <a:pPr indent="0" marL="0">
              <a:buNone/>
            </a:pPr>
            <a:r>
              <a:rPr lang="en-US" sz="1300" dirty="0">
                <a:solidFill>
                  <a:srgbClr val="2A2238"/>
                </a:solidFill>
                <a:latin typeface="Alexandria" pitchFamily="34" charset="0"/>
                <a:ea typeface="Alexandria" pitchFamily="34" charset="-122"/>
                <a:cs typeface="Alexandria" pitchFamily="34" charset="-120"/>
              </a:rPr>
              <a:t>do đối tác sở hữu — hôm nay: nhà cung cấp</a:t>
            </a:r>
            <a:endParaRPr lang="en-US" sz="1300" dirty="0"/>
          </a:p>
        </p:txBody>
      </p:sp>
      <p:sp>
        <p:nvSpPr>
          <p:cNvPr id="35" name="Shape 32"/>
          <p:cNvSpPr/>
          <p:nvPr/>
        </p:nvSpPr>
        <p:spPr>
          <a:xfrm>
            <a:off x="6187288" y="3566160"/>
            <a:ext cx="2636444" cy="1417320"/>
          </a:xfrm>
          <a:prstGeom prst="roundRect">
            <a:avLst>
              <a:gd name="adj" fmla="val 7742"/>
            </a:avLst>
          </a:prstGeom>
          <a:solidFill>
            <a:srgbClr val="FFFFFF"/>
          </a:solidFill>
          <a:ln w="12700">
            <a:solidFill>
              <a:srgbClr val="DCD7C8"/>
            </a:solidFill>
            <a:prstDash val="solid"/>
          </a:ln>
        </p:spPr>
      </p:sp>
      <p:sp>
        <p:nvSpPr>
          <p:cNvPr id="36" name="Text 33"/>
          <p:cNvSpPr txBox="1"/>
          <p:nvPr/>
        </p:nvSpPr>
        <p:spPr>
          <a:xfrm>
            <a:off x="6370168" y="3657600"/>
            <a:ext cx="2270684" cy="45720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Customer-owned</a:t>
            </a:r>
            <a:endParaRPr lang="en-US" sz="1600" dirty="0"/>
          </a:p>
        </p:txBody>
      </p:sp>
      <p:sp>
        <p:nvSpPr>
          <p:cNvPr id="37" name="Text 34"/>
          <p:cNvSpPr txBox="1"/>
          <p:nvPr/>
        </p:nvSpPr>
        <p:spPr>
          <a:xfrm>
            <a:off x="6370168" y="4114800"/>
            <a:ext cx="2270684" cy="777240"/>
          </a:xfrm>
          <a:prstGeom prst="rect">
            <a:avLst/>
          </a:prstGeom>
          <a:noFill/>
          <a:ln/>
        </p:spPr>
        <p:txBody>
          <a:bodyPr wrap="square" lIns="0" tIns="0" rIns="0" bIns="0" rtlCol="0" anchor="t"/>
          <a:lstStyle/>
          <a:p>
            <a:pPr indent="0" marL="0">
              <a:buNone/>
            </a:pPr>
            <a:r>
              <a:rPr lang="en-US" sz="1300" dirty="0">
                <a:solidFill>
                  <a:srgbClr val="2A2238"/>
                </a:solidFill>
                <a:latin typeface="Alexandria" pitchFamily="34" charset="0"/>
                <a:ea typeface="Alexandria" pitchFamily="34" charset="-122"/>
                <a:cs typeface="Alexandria" pitchFamily="34" charset="-120"/>
              </a:rPr>
              <a:t>do khách tự làm</a:t>
            </a:r>
            <a:endParaRPr lang="en-US" sz="1300" dirty="0"/>
          </a:p>
        </p:txBody>
      </p:sp>
      <p:sp>
        <p:nvSpPr>
          <p:cNvPr id="38" name="Shape 35"/>
          <p:cNvSpPr/>
          <p:nvPr/>
        </p:nvSpPr>
        <p:spPr>
          <a:xfrm>
            <a:off x="9006611" y="3566160"/>
            <a:ext cx="2636444" cy="1417320"/>
          </a:xfrm>
          <a:prstGeom prst="roundRect">
            <a:avLst>
              <a:gd name="adj" fmla="val 7742"/>
            </a:avLst>
          </a:prstGeom>
          <a:solidFill>
            <a:srgbClr val="FFFFFF"/>
          </a:solidFill>
          <a:ln w="12700">
            <a:solidFill>
              <a:srgbClr val="DCD7C8"/>
            </a:solidFill>
            <a:prstDash val="solid"/>
          </a:ln>
        </p:spPr>
      </p:sp>
      <p:sp>
        <p:nvSpPr>
          <p:cNvPr id="39" name="Text 36"/>
          <p:cNvSpPr txBox="1"/>
          <p:nvPr/>
        </p:nvSpPr>
        <p:spPr>
          <a:xfrm>
            <a:off x="9189491" y="3657600"/>
            <a:ext cx="2270684" cy="45720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Social / external</a:t>
            </a:r>
            <a:endParaRPr lang="en-US" sz="1600" dirty="0"/>
          </a:p>
        </p:txBody>
      </p:sp>
      <p:sp>
        <p:nvSpPr>
          <p:cNvPr id="40" name="Text 37"/>
          <p:cNvSpPr txBox="1"/>
          <p:nvPr/>
        </p:nvSpPr>
        <p:spPr>
          <a:xfrm>
            <a:off x="9189491" y="4114800"/>
            <a:ext cx="2270684" cy="777240"/>
          </a:xfrm>
          <a:prstGeom prst="rect">
            <a:avLst/>
          </a:prstGeom>
          <a:noFill/>
          <a:ln/>
        </p:spPr>
        <p:txBody>
          <a:bodyPr wrap="square" lIns="0" tIns="0" rIns="0" bIns="0" rtlCol="0" anchor="t"/>
          <a:lstStyle/>
          <a:p>
            <a:pPr indent="0" marL="0">
              <a:buNone/>
            </a:pPr>
            <a:r>
              <a:rPr lang="en-US" sz="1300" dirty="0">
                <a:solidFill>
                  <a:srgbClr val="2A2238"/>
                </a:solidFill>
                <a:latin typeface="Alexandria" pitchFamily="34" charset="0"/>
                <a:ea typeface="Alexandria" pitchFamily="34" charset="-122"/>
                <a:cs typeface="Alexandria" pitchFamily="34" charset="-120"/>
              </a:rPr>
              <a:t>bên ngoài</a:t>
            </a:r>
            <a:endParaRPr lang="en-US" sz="1300" dirty="0"/>
          </a:p>
        </p:txBody>
      </p:sp>
      <p:sp>
        <p:nvSpPr>
          <p:cNvPr id="41" name="Shape 38"/>
          <p:cNvSpPr/>
          <p:nvPr/>
        </p:nvSpPr>
        <p:spPr>
          <a:xfrm>
            <a:off x="548640" y="5212080"/>
            <a:ext cx="11094415" cy="777240"/>
          </a:xfrm>
          <a:prstGeom prst="roundRect">
            <a:avLst>
              <a:gd name="adj" fmla="val 14118"/>
            </a:avLst>
          </a:prstGeom>
          <a:solidFill>
            <a:srgbClr val="FFF3C4"/>
          </a:solidFill>
          <a:ln w="12700">
            <a:solidFill>
              <a:srgbClr val="FFD23B"/>
            </a:solidFill>
            <a:prstDash val="solid"/>
          </a:ln>
        </p:spPr>
      </p:sp>
      <p:sp>
        <p:nvSpPr>
          <p:cNvPr id="42" name="Text 39"/>
          <p:cNvSpPr txBox="1"/>
          <p:nvPr/>
        </p:nvSpPr>
        <p:spPr>
          <a:xfrm>
            <a:off x="868680" y="5212080"/>
            <a:ext cx="10454335" cy="777240"/>
          </a:xfrm>
          <a:prstGeom prst="rect">
            <a:avLst/>
          </a:prstGeom>
          <a:noFill/>
          <a:ln/>
        </p:spPr>
        <p:txBody>
          <a:bodyPr wrap="square" lIns="0" tIns="0" rIns="0" bIns="0" rtlCol="0" anchor="ctr"/>
          <a:lstStyle/>
          <a:p>
            <a:pPr indent="0" marL="0">
              <a:buNone/>
            </a:pPr>
            <a:r>
              <a:rPr lang="en-US" sz="1600" i="1" dirty="0">
                <a:solidFill>
                  <a:srgbClr val="2A2238"/>
                </a:solidFill>
                <a:latin typeface="Alexandria" pitchFamily="34" charset="0"/>
                <a:ea typeface="Alexandria" pitchFamily="34" charset="-122"/>
                <a:cs typeface="Alexandria" pitchFamily="34" charset="-120"/>
              </a:rPr>
              <a:t>“Partners can include marketing agencies…” </a:t>
            </a:r>
            <a:pPr indent="0" marL="0">
              <a:buNone/>
            </a:pPr>
            <a:r>
              <a:rPr lang="en-US" sz="1200" dirty="0">
                <a:solidFill>
                  <a:srgbClr val="6E6878"/>
                </a:solidFill>
                <a:latin typeface="Alexandria" pitchFamily="34" charset="0"/>
                <a:ea typeface="Alexandria" pitchFamily="34" charset="-122"/>
                <a:cs typeface="Alexandria" pitchFamily="34" charset="-120"/>
              </a:rPr>
              <a:t>— Lemon &amp; Verhoef (2016)</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655064"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65506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10.1 Quy trình mua</a:t>
            </a:r>
            <a:endParaRPr lang="en-US" sz="1000" dirty="0"/>
          </a:p>
        </p:txBody>
      </p:sp>
      <p:sp>
        <p:nvSpPr>
          <p:cNvPr id="6" name="Shape 4"/>
          <p:cNvSpPr/>
          <p:nvPr/>
        </p:nvSpPr>
        <p:spPr>
          <a:xfrm>
            <a:off x="3145536" y="274320"/>
            <a:ext cx="1266444"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145536" y="274320"/>
            <a:ext cx="126644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10.2 Địa điểm</a:t>
            </a:r>
            <a:endParaRPr lang="en-US" sz="1000" dirty="0"/>
          </a:p>
        </p:txBody>
      </p:sp>
      <p:sp>
        <p:nvSpPr>
          <p:cNvPr id="8" name="Shape 6"/>
          <p:cNvSpPr/>
          <p:nvPr/>
        </p:nvSpPr>
        <p:spPr>
          <a:xfrm>
            <a:off x="4521708" y="274320"/>
            <a:ext cx="2354580" cy="292608"/>
          </a:xfrm>
          <a:prstGeom prst="roundRect">
            <a:avLst>
              <a:gd name="adj" fmla="val 50000"/>
            </a:avLst>
          </a:prstGeom>
          <a:solidFill>
            <a:srgbClr val="FF5178"/>
          </a:solidFill>
          <a:ln w="9525">
            <a:solidFill>
              <a:srgbClr val="FF5178"/>
            </a:solidFill>
            <a:prstDash val="solid"/>
          </a:ln>
        </p:spPr>
      </p:sp>
      <p:sp>
        <p:nvSpPr>
          <p:cNvPr id="9" name="Text 7"/>
          <p:cNvSpPr txBox="1"/>
          <p:nvPr/>
        </p:nvSpPr>
        <p:spPr>
          <a:xfrm>
            <a:off x="4521708" y="274320"/>
            <a:ext cx="235458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10.3 Hành trình Key Account</a:t>
            </a:r>
            <a:endParaRPr lang="en-US" sz="1000" dirty="0"/>
          </a:p>
        </p:txBody>
      </p:sp>
      <p:sp>
        <p:nvSpPr>
          <p:cNvPr id="10" name="Shape 8"/>
          <p:cNvSpPr/>
          <p:nvPr/>
        </p:nvSpPr>
        <p:spPr>
          <a:xfrm>
            <a:off x="6986016"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986016"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384048" cy="384048"/>
          </a:xfrm>
          <a:prstGeom prst="roundRect">
            <a:avLst>
              <a:gd name="adj" fmla="val 18000"/>
            </a:avLst>
          </a:prstGeom>
          <a:solidFill>
            <a:srgbClr val="FFFFFF"/>
          </a:solidFill>
          <a:ln w="12700">
            <a:solidFill>
              <a:srgbClr val="2A2238"/>
            </a:solidFill>
            <a:prstDash val="solid"/>
          </a:ln>
        </p:spPr>
      </p:sp>
      <p:sp>
        <p:nvSpPr>
          <p:cNvPr id="13" name="Shape 11"/>
          <p:cNvSpPr/>
          <p:nvPr/>
        </p:nvSpPr>
        <p:spPr>
          <a:xfrm>
            <a:off x="11343498" y="265542"/>
            <a:ext cx="215067" cy="53767"/>
          </a:xfrm>
          <a:prstGeom prst="rect">
            <a:avLst/>
          </a:prstGeom>
          <a:solidFill>
            <a:srgbClr val="962B7C"/>
          </a:solidFill>
          <a:ln w="12700">
            <a:solidFill>
              <a:srgbClr val="962B7C"/>
            </a:solidFill>
            <a:prstDash val="solid"/>
          </a:ln>
        </p:spPr>
      </p:sp>
      <p:sp>
        <p:nvSpPr>
          <p:cNvPr id="14" name="Shape 12"/>
          <p:cNvSpPr/>
          <p:nvPr/>
        </p:nvSpPr>
        <p:spPr>
          <a:xfrm>
            <a:off x="11335817" y="380756"/>
            <a:ext cx="76810" cy="76810"/>
          </a:xfrm>
          <a:prstGeom prst="ellipse">
            <a:avLst/>
          </a:prstGeom>
          <a:solidFill>
            <a:srgbClr val="FF9259"/>
          </a:solidFill>
          <a:ln w="12700">
            <a:solidFill>
              <a:srgbClr val="FF9259"/>
            </a:solidFill>
            <a:prstDash val="solid"/>
          </a:ln>
        </p:spPr>
      </p:sp>
      <p:sp>
        <p:nvSpPr>
          <p:cNvPr id="15" name="Shape 13"/>
          <p:cNvSpPr/>
          <p:nvPr/>
        </p:nvSpPr>
        <p:spPr>
          <a:xfrm>
            <a:off x="11489436" y="380756"/>
            <a:ext cx="76810" cy="76810"/>
          </a:xfrm>
          <a:prstGeom prst="ellipse">
            <a:avLst/>
          </a:prstGeom>
          <a:solidFill>
            <a:srgbClr val="09A1E5"/>
          </a:solidFill>
          <a:ln w="12700">
            <a:solidFill>
              <a:srgbClr val="09A1E5"/>
            </a:solidFill>
            <a:prstDash val="solid"/>
          </a:ln>
        </p:spPr>
      </p:sp>
      <p:sp>
        <p:nvSpPr>
          <p:cNvPr id="16" name="Shape 14"/>
          <p:cNvSpPr/>
          <p:nvPr/>
        </p:nvSpPr>
        <p:spPr>
          <a:xfrm>
            <a:off x="11335817" y="488290"/>
            <a:ext cx="76810" cy="76810"/>
          </a:xfrm>
          <a:prstGeom prst="ellipse">
            <a:avLst/>
          </a:prstGeom>
          <a:solidFill>
            <a:srgbClr val="49B296"/>
          </a:solidFill>
          <a:ln w="12700">
            <a:solidFill>
              <a:srgbClr val="49B296"/>
            </a:solidFill>
            <a:prstDash val="solid"/>
          </a:ln>
        </p:spPr>
      </p:sp>
      <p:sp>
        <p:nvSpPr>
          <p:cNvPr id="17" name="Shape 15"/>
          <p:cNvSpPr/>
          <p:nvPr/>
        </p:nvSpPr>
        <p:spPr>
          <a:xfrm>
            <a:off x="11489436" y="488290"/>
            <a:ext cx="76810" cy="76810"/>
          </a:xfrm>
          <a:prstGeom prst="ellipse">
            <a:avLst/>
          </a:prstGeom>
          <a:solidFill>
            <a:srgbClr val="FF5178"/>
          </a:solidFill>
          <a:ln w="12700">
            <a:solidFill>
              <a:srgbClr val="FF5178"/>
            </a:solidFill>
            <a:prstDash val="solid"/>
          </a:ln>
        </p:spPr>
      </p:sp>
      <p:sp>
        <p:nvSpPr>
          <p:cNvPr id="18" name="Text 16"/>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Hôm nay An Phát là khách hàng của Nova</a:t>
            </a:r>
            <a:endParaRPr lang="en-US" sz="2600" dirty="0"/>
          </a:p>
        </p:txBody>
      </p:sp>
      <p:sp>
        <p:nvSpPr>
          <p:cNvPr id="19" name="Text 17"/>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10   21</a:t>
            </a:r>
            <a:endParaRPr lang="en-US" sz="1000" dirty="0"/>
          </a:p>
        </p:txBody>
      </p:sp>
      <p:sp>
        <p:nvSpPr>
          <p:cNvPr id="21" name="Text 18"/>
          <p:cNvSpPr txBox="1"/>
          <p:nvPr/>
        </p:nvSpPr>
        <p:spPr>
          <a:xfrm>
            <a:off x="548640" y="1920240"/>
            <a:ext cx="1828800" cy="1097280"/>
          </a:xfrm>
          <a:prstGeom prst="rect">
            <a:avLst/>
          </a:prstGeom>
          <a:noFill/>
          <a:ln/>
        </p:spPr>
        <p:txBody>
          <a:bodyPr wrap="square" lIns="0" tIns="0" rIns="0" bIns="0" rtlCol="0" anchor="ctr"/>
          <a:lstStyle/>
          <a:p>
            <a:pPr indent="0" marL="0">
              <a:buNone/>
            </a:pPr>
            <a:r>
              <a:rPr lang="en-US" sz="1500" b="1" dirty="0">
                <a:solidFill>
                  <a:srgbClr val="6E6878"/>
                </a:solidFill>
                <a:latin typeface="Alexandria" pitchFamily="34" charset="0"/>
                <a:ea typeface="Alexandria" pitchFamily="34" charset="-122"/>
                <a:cs typeface="Alexandria" pitchFamily="34" charset="-120"/>
              </a:rPr>
              <a:t>Buổi 3, 9</a:t>
            </a:r>
            <a:endParaRPr lang="en-US" sz="1500" dirty="0"/>
          </a:p>
        </p:txBody>
      </p:sp>
      <p:sp>
        <p:nvSpPr>
          <p:cNvPr id="22" name="Shape 19"/>
          <p:cNvSpPr/>
          <p:nvPr/>
        </p:nvSpPr>
        <p:spPr>
          <a:xfrm>
            <a:off x="2468880" y="2103120"/>
            <a:ext cx="2926080" cy="731520"/>
          </a:xfrm>
          <a:prstGeom prst="roundRect">
            <a:avLst>
              <a:gd name="adj" fmla="val 50000"/>
            </a:avLst>
          </a:prstGeom>
          <a:solidFill>
            <a:srgbClr val="962B7C"/>
          </a:solidFill>
          <a:ln w="12700">
            <a:solidFill>
              <a:srgbClr val="962B7C"/>
            </a:solidFill>
            <a:prstDash val="solid"/>
          </a:ln>
        </p:spPr>
      </p:sp>
      <p:sp>
        <p:nvSpPr>
          <p:cNvPr id="23" name="Text 20"/>
          <p:cNvSpPr txBox="1"/>
          <p:nvPr/>
        </p:nvSpPr>
        <p:spPr>
          <a:xfrm>
            <a:off x="2542032" y="2103120"/>
            <a:ext cx="2779776" cy="731520"/>
          </a:xfrm>
          <a:prstGeom prst="rect">
            <a:avLst/>
          </a:prstGeom>
          <a:noFill/>
          <a:ln/>
        </p:spPr>
        <p:txBody>
          <a:bodyPr wrap="square" lIns="0" tIns="0" rIns="0" bIns="0" rtlCol="0" anchor="ctr"/>
          <a:lstStyle/>
          <a:p>
            <a:pPr algn="ctr" indent="0" marL="0">
              <a:buNone/>
            </a:pPr>
            <a:r>
              <a:rPr lang="en-US" sz="1500" b="1" dirty="0">
                <a:solidFill>
                  <a:srgbClr val="FFFFFF"/>
                </a:solidFill>
                <a:latin typeface="Alexandria" pitchFamily="34" charset="0"/>
                <a:ea typeface="Alexandria" pitchFamily="34" charset="-122"/>
                <a:cs typeface="Alexandria" pitchFamily="34" charset="-120"/>
              </a:rPr>
              <a:t>An Phát</a:t>
            </a:r>
            <a:endParaRPr lang="en-US" sz="1500" dirty="0"/>
          </a:p>
        </p:txBody>
      </p:sp>
      <p:sp>
        <p:nvSpPr>
          <p:cNvPr id="24" name="Shape 21"/>
          <p:cNvSpPr/>
          <p:nvPr/>
        </p:nvSpPr>
        <p:spPr>
          <a:xfrm>
            <a:off x="5486400" y="2468880"/>
            <a:ext cx="914400" cy="914"/>
          </a:xfrm>
          <a:prstGeom prst="line">
            <a:avLst/>
          </a:prstGeom>
          <a:noFill/>
          <a:ln w="38100">
            <a:solidFill>
              <a:srgbClr val="2A2238"/>
            </a:solidFill>
            <a:prstDash val="solid"/>
            <a:tailEnd type="triangle"/>
          </a:ln>
        </p:spPr>
      </p:sp>
      <p:sp>
        <p:nvSpPr>
          <p:cNvPr id="25" name="Text 22"/>
          <p:cNvSpPr txBox="1"/>
          <p:nvPr/>
        </p:nvSpPr>
        <p:spPr>
          <a:xfrm>
            <a:off x="5394960" y="1965960"/>
            <a:ext cx="1097280" cy="320040"/>
          </a:xfrm>
          <a:prstGeom prst="rect">
            <a:avLst/>
          </a:prstGeom>
          <a:noFill/>
          <a:ln/>
        </p:spPr>
        <p:txBody>
          <a:bodyPr wrap="square" lIns="0" tIns="0" rIns="0" bIns="0" rtlCol="0" anchor="ctr"/>
          <a:lstStyle/>
          <a:p>
            <a:pPr algn="ctr" indent="0" marL="0">
              <a:buNone/>
            </a:pPr>
            <a:r>
              <a:rPr lang="en-US" sz="1100" i="1" dirty="0">
                <a:solidFill>
                  <a:srgbClr val="6E6878"/>
                </a:solidFill>
                <a:latin typeface="Alexandria" pitchFamily="34" charset="0"/>
                <a:ea typeface="Alexandria" pitchFamily="34" charset="-122"/>
                <a:cs typeface="Alexandria" pitchFamily="34" charset="-120"/>
              </a:rPr>
              <a:t>phục vụ</a:t>
            </a:r>
            <a:endParaRPr lang="en-US" sz="1100" dirty="0"/>
          </a:p>
        </p:txBody>
      </p:sp>
      <p:sp>
        <p:nvSpPr>
          <p:cNvPr id="26" name="Shape 23"/>
          <p:cNvSpPr/>
          <p:nvPr/>
        </p:nvSpPr>
        <p:spPr>
          <a:xfrm>
            <a:off x="6492240" y="2103120"/>
            <a:ext cx="2926080" cy="731520"/>
          </a:xfrm>
          <a:prstGeom prst="roundRect">
            <a:avLst>
              <a:gd name="adj" fmla="val 50000"/>
            </a:avLst>
          </a:prstGeom>
          <a:solidFill>
            <a:srgbClr val="09A1E5"/>
          </a:solidFill>
          <a:ln w="12700">
            <a:solidFill>
              <a:srgbClr val="09A1E5"/>
            </a:solidFill>
            <a:prstDash val="solid"/>
          </a:ln>
        </p:spPr>
      </p:sp>
      <p:sp>
        <p:nvSpPr>
          <p:cNvPr id="27" name="Text 24"/>
          <p:cNvSpPr txBox="1"/>
          <p:nvPr/>
        </p:nvSpPr>
        <p:spPr>
          <a:xfrm>
            <a:off x="6565392" y="2103120"/>
            <a:ext cx="2779776" cy="731520"/>
          </a:xfrm>
          <a:prstGeom prst="rect">
            <a:avLst/>
          </a:prstGeom>
          <a:noFill/>
          <a:ln/>
        </p:spPr>
        <p:txBody>
          <a:bodyPr wrap="square" lIns="0" tIns="0" rIns="0" bIns="0" rtlCol="0" anchor="ctr"/>
          <a:lstStyle/>
          <a:p>
            <a:pPr algn="ctr" indent="0" marL="0">
              <a:buNone/>
            </a:pPr>
            <a:r>
              <a:rPr lang="en-US" sz="1500" b="1" dirty="0">
                <a:solidFill>
                  <a:srgbClr val="FFFFFF"/>
                </a:solidFill>
                <a:latin typeface="Alexandria" pitchFamily="34" charset="0"/>
                <a:ea typeface="Alexandria" pitchFamily="34" charset="-122"/>
                <a:cs typeface="Alexandria" pitchFamily="34" charset="-120"/>
              </a:rPr>
              <a:t>Khách của An Phát</a:t>
            </a:r>
            <a:endParaRPr lang="en-US" sz="1500" dirty="0"/>
          </a:p>
        </p:txBody>
      </p:sp>
      <p:sp>
        <p:nvSpPr>
          <p:cNvPr id="28" name="Text 25"/>
          <p:cNvSpPr txBox="1"/>
          <p:nvPr/>
        </p:nvSpPr>
        <p:spPr>
          <a:xfrm>
            <a:off x="9601200" y="1920240"/>
            <a:ext cx="2041855" cy="1097280"/>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600 lãnh đạo DN VIP là khách hàng</a:t>
            </a:r>
            <a:endParaRPr lang="en-US" sz="1300" dirty="0"/>
          </a:p>
        </p:txBody>
      </p:sp>
      <p:sp>
        <p:nvSpPr>
          <p:cNvPr id="29" name="Text 26"/>
          <p:cNvSpPr txBox="1"/>
          <p:nvPr/>
        </p:nvSpPr>
        <p:spPr>
          <a:xfrm>
            <a:off x="548640" y="3291840"/>
            <a:ext cx="1828800" cy="1097280"/>
          </a:xfrm>
          <a:prstGeom prst="rect">
            <a:avLst/>
          </a:prstGeom>
          <a:noFill/>
          <a:ln/>
        </p:spPr>
        <p:txBody>
          <a:bodyPr wrap="square" lIns="0" tIns="0" rIns="0" bIns="0" rtlCol="0" anchor="ctr"/>
          <a:lstStyle/>
          <a:p>
            <a:pPr indent="0" marL="0">
              <a:buNone/>
            </a:pPr>
            <a:r>
              <a:rPr lang="en-US" sz="1500" b="1" dirty="0">
                <a:solidFill>
                  <a:srgbClr val="6E6878"/>
                </a:solidFill>
                <a:latin typeface="Alexandria" pitchFamily="34" charset="0"/>
                <a:ea typeface="Alexandria" pitchFamily="34" charset="-122"/>
                <a:cs typeface="Alexandria" pitchFamily="34" charset="-120"/>
              </a:rPr>
              <a:t>Buổi 10</a:t>
            </a:r>
            <a:endParaRPr lang="en-US" sz="1500" dirty="0"/>
          </a:p>
        </p:txBody>
      </p:sp>
      <p:sp>
        <p:nvSpPr>
          <p:cNvPr id="30" name="Shape 27"/>
          <p:cNvSpPr/>
          <p:nvPr/>
        </p:nvSpPr>
        <p:spPr>
          <a:xfrm>
            <a:off x="2468880" y="3474720"/>
            <a:ext cx="2926080" cy="731520"/>
          </a:xfrm>
          <a:prstGeom prst="roundRect">
            <a:avLst>
              <a:gd name="adj" fmla="val 50000"/>
            </a:avLst>
          </a:prstGeom>
          <a:solidFill>
            <a:srgbClr val="FF5178"/>
          </a:solidFill>
          <a:ln w="12700">
            <a:solidFill>
              <a:srgbClr val="FF5178"/>
            </a:solidFill>
            <a:prstDash val="solid"/>
          </a:ln>
        </p:spPr>
      </p:sp>
      <p:sp>
        <p:nvSpPr>
          <p:cNvPr id="31" name="Text 28"/>
          <p:cNvSpPr txBox="1"/>
          <p:nvPr/>
        </p:nvSpPr>
        <p:spPr>
          <a:xfrm>
            <a:off x="2542032" y="3474720"/>
            <a:ext cx="2779776" cy="731520"/>
          </a:xfrm>
          <a:prstGeom prst="rect">
            <a:avLst/>
          </a:prstGeom>
          <a:noFill/>
          <a:ln/>
        </p:spPr>
        <p:txBody>
          <a:bodyPr wrap="square" lIns="0" tIns="0" rIns="0" bIns="0" rtlCol="0" anchor="ctr"/>
          <a:lstStyle/>
          <a:p>
            <a:pPr algn="ctr" indent="0" marL="0">
              <a:buNone/>
            </a:pPr>
            <a:r>
              <a:rPr lang="en-US" sz="1500" b="1" dirty="0">
                <a:solidFill>
                  <a:srgbClr val="FFFFFF"/>
                </a:solidFill>
                <a:latin typeface="Alexandria" pitchFamily="34" charset="0"/>
                <a:ea typeface="Alexandria" pitchFamily="34" charset="-122"/>
                <a:cs typeface="Alexandria" pitchFamily="34" charset="-120"/>
              </a:rPr>
              <a:t>Nova</a:t>
            </a:r>
            <a:endParaRPr lang="en-US" sz="1500" dirty="0"/>
          </a:p>
        </p:txBody>
      </p:sp>
      <p:sp>
        <p:nvSpPr>
          <p:cNvPr id="32" name="Shape 29"/>
          <p:cNvSpPr/>
          <p:nvPr/>
        </p:nvSpPr>
        <p:spPr>
          <a:xfrm>
            <a:off x="5486400" y="3840480"/>
            <a:ext cx="914400" cy="914"/>
          </a:xfrm>
          <a:prstGeom prst="line">
            <a:avLst/>
          </a:prstGeom>
          <a:noFill/>
          <a:ln w="38100">
            <a:solidFill>
              <a:srgbClr val="2A2238"/>
            </a:solidFill>
            <a:prstDash val="solid"/>
            <a:tailEnd type="triangle"/>
          </a:ln>
        </p:spPr>
      </p:sp>
      <p:sp>
        <p:nvSpPr>
          <p:cNvPr id="33" name="Text 30"/>
          <p:cNvSpPr txBox="1"/>
          <p:nvPr/>
        </p:nvSpPr>
        <p:spPr>
          <a:xfrm>
            <a:off x="5394960" y="3337560"/>
            <a:ext cx="1097280" cy="320040"/>
          </a:xfrm>
          <a:prstGeom prst="rect">
            <a:avLst/>
          </a:prstGeom>
          <a:noFill/>
          <a:ln/>
        </p:spPr>
        <p:txBody>
          <a:bodyPr wrap="square" lIns="0" tIns="0" rIns="0" bIns="0" rtlCol="0" anchor="ctr"/>
          <a:lstStyle/>
          <a:p>
            <a:pPr algn="ctr" indent="0" marL="0">
              <a:buNone/>
            </a:pPr>
            <a:r>
              <a:rPr lang="en-US" sz="1100" i="1" dirty="0">
                <a:solidFill>
                  <a:srgbClr val="6E6878"/>
                </a:solidFill>
                <a:latin typeface="Alexandria" pitchFamily="34" charset="0"/>
                <a:ea typeface="Alexandria" pitchFamily="34" charset="-122"/>
                <a:cs typeface="Alexandria" pitchFamily="34" charset="-120"/>
              </a:rPr>
              <a:t>phục vụ</a:t>
            </a:r>
            <a:endParaRPr lang="en-US" sz="1100" dirty="0"/>
          </a:p>
        </p:txBody>
      </p:sp>
      <p:sp>
        <p:nvSpPr>
          <p:cNvPr id="34" name="Shape 31"/>
          <p:cNvSpPr/>
          <p:nvPr/>
        </p:nvSpPr>
        <p:spPr>
          <a:xfrm>
            <a:off x="6492240" y="3474720"/>
            <a:ext cx="2926080" cy="731520"/>
          </a:xfrm>
          <a:prstGeom prst="roundRect">
            <a:avLst>
              <a:gd name="adj" fmla="val 50000"/>
            </a:avLst>
          </a:prstGeom>
          <a:solidFill>
            <a:srgbClr val="962B7C"/>
          </a:solidFill>
          <a:ln w="12700">
            <a:solidFill>
              <a:srgbClr val="962B7C"/>
            </a:solidFill>
            <a:prstDash val="solid"/>
          </a:ln>
        </p:spPr>
      </p:sp>
      <p:sp>
        <p:nvSpPr>
          <p:cNvPr id="35" name="Text 32"/>
          <p:cNvSpPr txBox="1"/>
          <p:nvPr/>
        </p:nvSpPr>
        <p:spPr>
          <a:xfrm>
            <a:off x="6565392" y="3474720"/>
            <a:ext cx="2779776" cy="731520"/>
          </a:xfrm>
          <a:prstGeom prst="rect">
            <a:avLst/>
          </a:prstGeom>
          <a:noFill/>
          <a:ln/>
        </p:spPr>
        <p:txBody>
          <a:bodyPr wrap="square" lIns="0" tIns="0" rIns="0" bIns="0" rtlCol="0" anchor="ctr"/>
          <a:lstStyle/>
          <a:p>
            <a:pPr algn="ctr" indent="0" marL="0">
              <a:buNone/>
            </a:pPr>
            <a:r>
              <a:rPr lang="en-US" sz="1500" b="1" dirty="0">
                <a:solidFill>
                  <a:srgbClr val="FFFFFF"/>
                </a:solidFill>
                <a:latin typeface="Alexandria" pitchFamily="34" charset="0"/>
                <a:ea typeface="Alexandria" pitchFamily="34" charset="-122"/>
                <a:cs typeface="Alexandria" pitchFamily="34" charset="-120"/>
              </a:rPr>
              <a:t>An Phát</a:t>
            </a:r>
            <a:endParaRPr lang="en-US" sz="1500" dirty="0"/>
          </a:p>
        </p:txBody>
      </p:sp>
      <p:sp>
        <p:nvSpPr>
          <p:cNvPr id="36" name="Text 33"/>
          <p:cNvSpPr txBox="1"/>
          <p:nvPr/>
        </p:nvSpPr>
        <p:spPr>
          <a:xfrm>
            <a:off x="9601200" y="3291840"/>
            <a:ext cx="2041855" cy="1097280"/>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An Phát là khách hàng của Nova</a:t>
            </a:r>
            <a:endParaRPr lang="en-US" sz="1300" dirty="0"/>
          </a:p>
        </p:txBody>
      </p:sp>
      <p:sp>
        <p:nvSpPr>
          <p:cNvPr id="37" name="Shape 34"/>
          <p:cNvSpPr/>
          <p:nvPr/>
        </p:nvSpPr>
        <p:spPr>
          <a:xfrm>
            <a:off x="2468880" y="4617720"/>
            <a:ext cx="6949440" cy="1325880"/>
          </a:xfrm>
          <a:prstGeom prst="roundRect">
            <a:avLst>
              <a:gd name="adj" fmla="val 8276"/>
            </a:avLst>
          </a:prstGeom>
          <a:solidFill>
            <a:srgbClr val="FFE4EA"/>
          </a:solidFill>
          <a:ln w="12700">
            <a:solidFill>
              <a:srgbClr val="FF5178"/>
            </a:solidFill>
            <a:prstDash val="solid"/>
          </a:ln>
        </p:spPr>
      </p:sp>
      <p:sp>
        <p:nvSpPr>
          <p:cNvPr id="38" name="Text 35"/>
          <p:cNvSpPr txBox="1"/>
          <p:nvPr/>
        </p:nvSpPr>
        <p:spPr>
          <a:xfrm>
            <a:off x="2743200" y="4617720"/>
            <a:ext cx="6400800" cy="132588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Khách sạn · AV · nhà in · xe · nhiếp ảnh… </a:t>
            </a:r>
            <a:pPr indent="0" marL="0">
              <a:buNone/>
            </a:pPr>
            <a:r>
              <a:rPr lang="en-US" sz="1600" dirty="0">
                <a:solidFill>
                  <a:srgbClr val="2A2238"/>
                </a:solidFill>
                <a:latin typeface="Alexandria" pitchFamily="34" charset="0"/>
                <a:ea typeface="Alexandria" pitchFamily="34" charset="-122"/>
                <a:cs typeface="Alexandria" pitchFamily="34" charset="-120"/>
              </a:rPr>
              <a:t>= điểm chạm partner-owned trên hành trình của An Phát</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655064"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65506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10.1 Quy trình mua</a:t>
            </a:r>
            <a:endParaRPr lang="en-US" sz="1000" dirty="0"/>
          </a:p>
        </p:txBody>
      </p:sp>
      <p:sp>
        <p:nvSpPr>
          <p:cNvPr id="6" name="Shape 4"/>
          <p:cNvSpPr/>
          <p:nvPr/>
        </p:nvSpPr>
        <p:spPr>
          <a:xfrm>
            <a:off x="3145536" y="274320"/>
            <a:ext cx="1266444"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145536" y="274320"/>
            <a:ext cx="126644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10.2 Địa điểm</a:t>
            </a:r>
            <a:endParaRPr lang="en-US" sz="1000" dirty="0"/>
          </a:p>
        </p:txBody>
      </p:sp>
      <p:sp>
        <p:nvSpPr>
          <p:cNvPr id="8" name="Shape 6"/>
          <p:cNvSpPr/>
          <p:nvPr/>
        </p:nvSpPr>
        <p:spPr>
          <a:xfrm>
            <a:off x="4521708" y="274320"/>
            <a:ext cx="2354580" cy="292608"/>
          </a:xfrm>
          <a:prstGeom prst="roundRect">
            <a:avLst>
              <a:gd name="adj" fmla="val 50000"/>
            </a:avLst>
          </a:prstGeom>
          <a:solidFill>
            <a:srgbClr val="FF5178"/>
          </a:solidFill>
          <a:ln w="9525">
            <a:solidFill>
              <a:srgbClr val="FF5178"/>
            </a:solidFill>
            <a:prstDash val="solid"/>
          </a:ln>
        </p:spPr>
      </p:sp>
      <p:sp>
        <p:nvSpPr>
          <p:cNvPr id="9" name="Text 7"/>
          <p:cNvSpPr txBox="1"/>
          <p:nvPr/>
        </p:nvSpPr>
        <p:spPr>
          <a:xfrm>
            <a:off x="4521708" y="274320"/>
            <a:ext cx="235458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10.3 Hành trình Key Account</a:t>
            </a:r>
            <a:endParaRPr lang="en-US" sz="1000" dirty="0"/>
          </a:p>
        </p:txBody>
      </p:sp>
      <p:sp>
        <p:nvSpPr>
          <p:cNvPr id="10" name="Shape 8"/>
          <p:cNvSpPr/>
          <p:nvPr/>
        </p:nvSpPr>
        <p:spPr>
          <a:xfrm>
            <a:off x="6986016"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986016"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384048" cy="384048"/>
          </a:xfrm>
          <a:prstGeom prst="roundRect">
            <a:avLst>
              <a:gd name="adj" fmla="val 18000"/>
            </a:avLst>
          </a:prstGeom>
          <a:solidFill>
            <a:srgbClr val="FFFFFF"/>
          </a:solidFill>
          <a:ln w="12700">
            <a:solidFill>
              <a:srgbClr val="2A2238"/>
            </a:solidFill>
            <a:prstDash val="solid"/>
          </a:ln>
        </p:spPr>
      </p:sp>
      <p:sp>
        <p:nvSpPr>
          <p:cNvPr id="13" name="Shape 11"/>
          <p:cNvSpPr/>
          <p:nvPr/>
        </p:nvSpPr>
        <p:spPr>
          <a:xfrm>
            <a:off x="11343498" y="265542"/>
            <a:ext cx="215067" cy="53767"/>
          </a:xfrm>
          <a:prstGeom prst="rect">
            <a:avLst/>
          </a:prstGeom>
          <a:solidFill>
            <a:srgbClr val="962B7C"/>
          </a:solidFill>
          <a:ln w="12700">
            <a:solidFill>
              <a:srgbClr val="962B7C"/>
            </a:solidFill>
            <a:prstDash val="solid"/>
          </a:ln>
        </p:spPr>
      </p:sp>
      <p:sp>
        <p:nvSpPr>
          <p:cNvPr id="14" name="Shape 12"/>
          <p:cNvSpPr/>
          <p:nvPr/>
        </p:nvSpPr>
        <p:spPr>
          <a:xfrm>
            <a:off x="11335817" y="380756"/>
            <a:ext cx="76810" cy="76810"/>
          </a:xfrm>
          <a:prstGeom prst="ellipse">
            <a:avLst/>
          </a:prstGeom>
          <a:solidFill>
            <a:srgbClr val="FF9259"/>
          </a:solidFill>
          <a:ln w="12700">
            <a:solidFill>
              <a:srgbClr val="FF9259"/>
            </a:solidFill>
            <a:prstDash val="solid"/>
          </a:ln>
        </p:spPr>
      </p:sp>
      <p:sp>
        <p:nvSpPr>
          <p:cNvPr id="15" name="Shape 13"/>
          <p:cNvSpPr/>
          <p:nvPr/>
        </p:nvSpPr>
        <p:spPr>
          <a:xfrm>
            <a:off x="11489436" y="380756"/>
            <a:ext cx="76810" cy="76810"/>
          </a:xfrm>
          <a:prstGeom prst="ellipse">
            <a:avLst/>
          </a:prstGeom>
          <a:solidFill>
            <a:srgbClr val="09A1E5"/>
          </a:solidFill>
          <a:ln w="12700">
            <a:solidFill>
              <a:srgbClr val="09A1E5"/>
            </a:solidFill>
            <a:prstDash val="solid"/>
          </a:ln>
        </p:spPr>
      </p:sp>
      <p:sp>
        <p:nvSpPr>
          <p:cNvPr id="16" name="Shape 14"/>
          <p:cNvSpPr/>
          <p:nvPr/>
        </p:nvSpPr>
        <p:spPr>
          <a:xfrm>
            <a:off x="11335817" y="488290"/>
            <a:ext cx="76810" cy="76810"/>
          </a:xfrm>
          <a:prstGeom prst="ellipse">
            <a:avLst/>
          </a:prstGeom>
          <a:solidFill>
            <a:srgbClr val="49B296"/>
          </a:solidFill>
          <a:ln w="12700">
            <a:solidFill>
              <a:srgbClr val="49B296"/>
            </a:solidFill>
            <a:prstDash val="solid"/>
          </a:ln>
        </p:spPr>
      </p:sp>
      <p:sp>
        <p:nvSpPr>
          <p:cNvPr id="17" name="Shape 15"/>
          <p:cNvSpPr/>
          <p:nvPr/>
        </p:nvSpPr>
        <p:spPr>
          <a:xfrm>
            <a:off x="11489436" y="488290"/>
            <a:ext cx="76810" cy="76810"/>
          </a:xfrm>
          <a:prstGeom prst="ellipse">
            <a:avLst/>
          </a:prstGeom>
          <a:solidFill>
            <a:srgbClr val="FF5178"/>
          </a:solidFill>
          <a:ln w="12700">
            <a:solidFill>
              <a:srgbClr val="FF5178"/>
            </a:solidFill>
            <a:prstDash val="solid"/>
          </a:ln>
        </p:spPr>
      </p:sp>
      <p:sp>
        <p:nvSpPr>
          <p:cNvPr id="18" name="Text 16"/>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Nhà cung cấp chạm An Phát ở cả giai đoạn mua và sau mua</a:t>
            </a:r>
            <a:endParaRPr lang="en-US" sz="2600" dirty="0"/>
          </a:p>
        </p:txBody>
      </p:sp>
      <p:sp>
        <p:nvSpPr>
          <p:cNvPr id="19" name="Text 17"/>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Hành trình do người soạn dựng từ V09 và V05 (PER đã học ở Buổi 8) — quyết định GV, phương án A.</a:t>
            </a:r>
            <a:endParaRPr lang="en-US" sz="1000" dirty="0"/>
          </a:p>
        </p:txBody>
      </p:sp>
      <p:sp>
        <p:nvSpPr>
          <p:cNvPr id="20" name="Text 18"/>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10   22</a:t>
            </a:r>
            <a:endParaRPr lang="en-US" sz="1000" dirty="0"/>
          </a:p>
        </p:txBody>
      </p:sp>
      <p:sp>
        <p:nvSpPr>
          <p:cNvPr id="22" name="Shape 19"/>
          <p:cNvSpPr/>
          <p:nvPr/>
        </p:nvSpPr>
        <p:spPr>
          <a:xfrm>
            <a:off x="2560320" y="1783080"/>
            <a:ext cx="3931920" cy="502920"/>
          </a:xfrm>
          <a:prstGeom prst="roundRect">
            <a:avLst>
              <a:gd name="adj" fmla="val 21818"/>
            </a:avLst>
          </a:prstGeom>
          <a:solidFill>
            <a:srgbClr val="962B7C"/>
          </a:solidFill>
          <a:ln w="12700">
            <a:solidFill>
              <a:srgbClr val="962B7C"/>
            </a:solidFill>
            <a:prstDash val="solid"/>
          </a:ln>
        </p:spPr>
      </p:sp>
      <p:sp>
        <p:nvSpPr>
          <p:cNvPr id="23" name="Text 20"/>
          <p:cNvSpPr txBox="1"/>
          <p:nvPr/>
        </p:nvSpPr>
        <p:spPr>
          <a:xfrm>
            <a:off x="2724912" y="1783080"/>
            <a:ext cx="3602736" cy="502920"/>
          </a:xfrm>
          <a:prstGeom prst="rect">
            <a:avLst/>
          </a:prstGeom>
          <a:noFill/>
          <a:ln/>
        </p:spPr>
        <p:txBody>
          <a:bodyPr wrap="square" lIns="0" tIns="0" rIns="0" bIns="0" rtlCol="0" anchor="ctr"/>
          <a:lstStyle/>
          <a:p>
            <a:pPr indent="0" marL="0">
              <a:buNone/>
            </a:pPr>
            <a:r>
              <a:rPr lang="en-US" sz="1500" b="1" dirty="0">
                <a:solidFill>
                  <a:srgbClr val="FFFFFF"/>
                </a:solidFill>
                <a:latin typeface="Alexandria" pitchFamily="34" charset="0"/>
                <a:ea typeface="Alexandria" pitchFamily="34" charset="-122"/>
                <a:cs typeface="Alexandria" pitchFamily="34" charset="-120"/>
              </a:rPr>
              <a:t>An Phát trải qua gì</a:t>
            </a:r>
            <a:endParaRPr lang="en-US" sz="1500" dirty="0"/>
          </a:p>
        </p:txBody>
      </p:sp>
      <p:sp>
        <p:nvSpPr>
          <p:cNvPr id="24" name="Shape 21"/>
          <p:cNvSpPr/>
          <p:nvPr/>
        </p:nvSpPr>
        <p:spPr>
          <a:xfrm>
            <a:off x="6583680" y="1783080"/>
            <a:ext cx="5059375" cy="502920"/>
          </a:xfrm>
          <a:prstGeom prst="roundRect">
            <a:avLst>
              <a:gd name="adj" fmla="val 21818"/>
            </a:avLst>
          </a:prstGeom>
          <a:solidFill>
            <a:srgbClr val="FF5178"/>
          </a:solidFill>
          <a:ln w="12700">
            <a:solidFill>
              <a:srgbClr val="FF5178"/>
            </a:solidFill>
            <a:prstDash val="solid"/>
          </a:ln>
        </p:spPr>
      </p:sp>
      <p:sp>
        <p:nvSpPr>
          <p:cNvPr id="25" name="Text 22"/>
          <p:cNvSpPr txBox="1"/>
          <p:nvPr/>
        </p:nvSpPr>
        <p:spPr>
          <a:xfrm>
            <a:off x="6748272" y="1783080"/>
            <a:ext cx="4730191" cy="502920"/>
          </a:xfrm>
          <a:prstGeom prst="rect">
            <a:avLst/>
          </a:prstGeom>
          <a:noFill/>
          <a:ln/>
        </p:spPr>
        <p:txBody>
          <a:bodyPr wrap="square" lIns="0" tIns="0" rIns="0" bIns="0" rtlCol="0" anchor="ctr"/>
          <a:lstStyle/>
          <a:p>
            <a:pPr indent="0" marL="0">
              <a:buNone/>
            </a:pPr>
            <a:r>
              <a:rPr lang="en-US" sz="1500" b="1" dirty="0">
                <a:solidFill>
                  <a:srgbClr val="FFFFFF"/>
                </a:solidFill>
                <a:latin typeface="Alexandria" pitchFamily="34" charset="0"/>
                <a:ea typeface="Alexandria" pitchFamily="34" charset="-122"/>
                <a:cs typeface="Alexandria" pitchFamily="34" charset="-120"/>
              </a:rPr>
              <a:t>Nhà cung cấp chạm An Phát ở đâu</a:t>
            </a:r>
            <a:endParaRPr lang="en-US" sz="1500" dirty="0"/>
          </a:p>
        </p:txBody>
      </p:sp>
      <p:sp>
        <p:nvSpPr>
          <p:cNvPr id="26" name="Shape 23"/>
          <p:cNvSpPr/>
          <p:nvPr/>
        </p:nvSpPr>
        <p:spPr>
          <a:xfrm>
            <a:off x="548640" y="2395728"/>
            <a:ext cx="11094415" cy="822960"/>
          </a:xfrm>
          <a:prstGeom prst="rect">
            <a:avLst/>
          </a:prstGeom>
          <a:solidFill>
            <a:srgbClr val="F3F0E6"/>
          </a:solidFill>
          <a:ln w="12700">
            <a:solidFill>
              <a:srgbClr val="F3F0E6"/>
            </a:solidFill>
            <a:prstDash val="solid"/>
          </a:ln>
        </p:spPr>
      </p:sp>
      <p:sp>
        <p:nvSpPr>
          <p:cNvPr id="27" name="Text 24"/>
          <p:cNvSpPr txBox="1"/>
          <p:nvPr/>
        </p:nvSpPr>
        <p:spPr>
          <a:xfrm>
            <a:off x="713232" y="2395728"/>
            <a:ext cx="1682496" cy="822960"/>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Trước mua (nhắc lại)</a:t>
            </a:r>
            <a:endParaRPr lang="en-US" sz="1400" dirty="0"/>
          </a:p>
        </p:txBody>
      </p:sp>
      <p:sp>
        <p:nvSpPr>
          <p:cNvPr id="28" name="Text 25"/>
          <p:cNvSpPr txBox="1"/>
          <p:nvPr/>
        </p:nvSpPr>
        <p:spPr>
          <a:xfrm>
            <a:off x="2724912" y="2395728"/>
            <a:ext cx="3694176" cy="82296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Brief, đề xuất, báo giá, site check cùng Nova</a:t>
            </a:r>
            <a:endParaRPr lang="en-US" sz="1400" dirty="0"/>
          </a:p>
        </p:txBody>
      </p:sp>
      <p:sp>
        <p:nvSpPr>
          <p:cNvPr id="29" name="Text 26"/>
          <p:cNvSpPr txBox="1"/>
          <p:nvPr/>
        </p:nvSpPr>
        <p:spPr>
          <a:xfrm>
            <a:off x="6748272" y="2395728"/>
            <a:ext cx="4821631" cy="82296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Khách sạn đón đoàn site check</a:t>
            </a:r>
            <a:endParaRPr lang="en-US" sz="1400" dirty="0"/>
          </a:p>
        </p:txBody>
      </p:sp>
      <p:sp>
        <p:nvSpPr>
          <p:cNvPr id="30" name="Text 27"/>
          <p:cNvSpPr txBox="1"/>
          <p:nvPr/>
        </p:nvSpPr>
        <p:spPr>
          <a:xfrm>
            <a:off x="713232" y="3273552"/>
            <a:ext cx="1682496" cy="1143000"/>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Mua</a:t>
            </a:r>
            <a:endParaRPr lang="en-US" sz="1400" dirty="0"/>
          </a:p>
        </p:txBody>
      </p:sp>
      <p:sp>
        <p:nvSpPr>
          <p:cNvPr id="31" name="Text 28"/>
          <p:cNvSpPr txBox="1"/>
          <p:nvPr/>
        </p:nvSpPr>
        <p:spPr>
          <a:xfrm>
            <a:off x="2724912" y="3273552"/>
            <a:ext cx="3694176" cy="114300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Ký hợp đồng; tổng duyệt; ngày 12/12</a:t>
            </a:r>
            <a:endParaRPr lang="en-US" sz="1400" dirty="0"/>
          </a:p>
        </p:txBody>
      </p:sp>
      <p:sp>
        <p:nvSpPr>
          <p:cNvPr id="32" name="Text 29"/>
          <p:cNvSpPr txBox="1"/>
          <p:nvPr/>
        </p:nvSpPr>
        <p:spPr>
          <a:xfrm>
            <a:off x="6748272" y="3273552"/>
            <a:ext cx="4821631" cy="114300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Khách sạn (sảnh, F&amp;B), AV – livestream, in ấn – backdrop, xe đưa đón, nhiếp ảnh, lễ tân thời vụ, quà tặng</a:t>
            </a:r>
            <a:endParaRPr lang="en-US" sz="1400" dirty="0"/>
          </a:p>
        </p:txBody>
      </p:sp>
      <p:sp>
        <p:nvSpPr>
          <p:cNvPr id="33" name="Shape 30"/>
          <p:cNvSpPr/>
          <p:nvPr/>
        </p:nvSpPr>
        <p:spPr>
          <a:xfrm>
            <a:off x="548640" y="4471416"/>
            <a:ext cx="11094415" cy="1371600"/>
          </a:xfrm>
          <a:prstGeom prst="rect">
            <a:avLst/>
          </a:prstGeom>
          <a:solidFill>
            <a:srgbClr val="F3F0E6"/>
          </a:solidFill>
          <a:ln w="12700">
            <a:solidFill>
              <a:srgbClr val="F3F0E6"/>
            </a:solidFill>
            <a:prstDash val="solid"/>
          </a:ln>
        </p:spPr>
      </p:sp>
      <p:sp>
        <p:nvSpPr>
          <p:cNvPr id="34" name="Text 31"/>
          <p:cNvSpPr txBox="1"/>
          <p:nvPr/>
        </p:nvSpPr>
        <p:spPr>
          <a:xfrm>
            <a:off x="713232" y="4471416"/>
            <a:ext cx="1682496" cy="1371600"/>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Sau mua</a:t>
            </a:r>
            <a:endParaRPr lang="en-US" sz="1400" dirty="0"/>
          </a:p>
        </p:txBody>
      </p:sp>
      <p:sp>
        <p:nvSpPr>
          <p:cNvPr id="35" name="Text 32"/>
          <p:cNvSpPr txBox="1"/>
          <p:nvPr/>
        </p:nvSpPr>
        <p:spPr>
          <a:xfrm>
            <a:off x="2724912" y="4471416"/>
            <a:ext cx="3694176" cy="137160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Nghiệm thu, báo cáo sau sự kiện (PER), hóa đơn – thanh toán, khiếu nại, đánh giá, đề xuất năm sau</a:t>
            </a:r>
            <a:endParaRPr lang="en-US" sz="1400" dirty="0"/>
          </a:p>
        </p:txBody>
      </p:sp>
      <p:sp>
        <p:nvSpPr>
          <p:cNvPr id="36" name="Text 33"/>
          <p:cNvSpPr txBox="1"/>
          <p:nvPr/>
        </p:nvSpPr>
        <p:spPr>
          <a:xfrm>
            <a:off x="6748272" y="4471416"/>
            <a:ext cx="4821631" cy="137160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Album ảnh, bản ghi livestream, đối soát số khách thực tế với khách sạn, hồ sơ thanh toán gửi anh Khoa</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655064"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65506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10.1 Quy trình mua</a:t>
            </a:r>
            <a:endParaRPr lang="en-US" sz="1000" dirty="0"/>
          </a:p>
        </p:txBody>
      </p:sp>
      <p:sp>
        <p:nvSpPr>
          <p:cNvPr id="6" name="Shape 4"/>
          <p:cNvSpPr/>
          <p:nvPr/>
        </p:nvSpPr>
        <p:spPr>
          <a:xfrm>
            <a:off x="3145536" y="274320"/>
            <a:ext cx="1266444"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145536" y="274320"/>
            <a:ext cx="126644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10.2 Địa điểm</a:t>
            </a:r>
            <a:endParaRPr lang="en-US" sz="1000" dirty="0"/>
          </a:p>
        </p:txBody>
      </p:sp>
      <p:sp>
        <p:nvSpPr>
          <p:cNvPr id="8" name="Shape 6"/>
          <p:cNvSpPr/>
          <p:nvPr/>
        </p:nvSpPr>
        <p:spPr>
          <a:xfrm>
            <a:off x="4521708" y="274320"/>
            <a:ext cx="2354580" cy="292608"/>
          </a:xfrm>
          <a:prstGeom prst="roundRect">
            <a:avLst>
              <a:gd name="adj" fmla="val 50000"/>
            </a:avLst>
          </a:prstGeom>
          <a:solidFill>
            <a:srgbClr val="FF5178"/>
          </a:solidFill>
          <a:ln w="9525">
            <a:solidFill>
              <a:srgbClr val="FF5178"/>
            </a:solidFill>
            <a:prstDash val="solid"/>
          </a:ln>
        </p:spPr>
      </p:sp>
      <p:sp>
        <p:nvSpPr>
          <p:cNvPr id="9" name="Text 7"/>
          <p:cNvSpPr txBox="1"/>
          <p:nvPr/>
        </p:nvSpPr>
        <p:spPr>
          <a:xfrm>
            <a:off x="4521708" y="274320"/>
            <a:ext cx="235458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10.3 Hành trình Key Account</a:t>
            </a:r>
            <a:endParaRPr lang="en-US" sz="1000" dirty="0"/>
          </a:p>
        </p:txBody>
      </p:sp>
      <p:sp>
        <p:nvSpPr>
          <p:cNvPr id="10" name="Shape 8"/>
          <p:cNvSpPr/>
          <p:nvPr/>
        </p:nvSpPr>
        <p:spPr>
          <a:xfrm>
            <a:off x="6986016"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986016"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384048" cy="384048"/>
          </a:xfrm>
          <a:prstGeom prst="roundRect">
            <a:avLst>
              <a:gd name="adj" fmla="val 18000"/>
            </a:avLst>
          </a:prstGeom>
          <a:solidFill>
            <a:srgbClr val="FFFFFF"/>
          </a:solidFill>
          <a:ln w="12700">
            <a:solidFill>
              <a:srgbClr val="2A2238"/>
            </a:solidFill>
            <a:prstDash val="solid"/>
          </a:ln>
        </p:spPr>
      </p:sp>
      <p:sp>
        <p:nvSpPr>
          <p:cNvPr id="13" name="Shape 11"/>
          <p:cNvSpPr/>
          <p:nvPr/>
        </p:nvSpPr>
        <p:spPr>
          <a:xfrm>
            <a:off x="11343498" y="265542"/>
            <a:ext cx="215067" cy="53767"/>
          </a:xfrm>
          <a:prstGeom prst="rect">
            <a:avLst/>
          </a:prstGeom>
          <a:solidFill>
            <a:srgbClr val="962B7C"/>
          </a:solidFill>
          <a:ln w="12700">
            <a:solidFill>
              <a:srgbClr val="962B7C"/>
            </a:solidFill>
            <a:prstDash val="solid"/>
          </a:ln>
        </p:spPr>
      </p:sp>
      <p:sp>
        <p:nvSpPr>
          <p:cNvPr id="14" name="Shape 12"/>
          <p:cNvSpPr/>
          <p:nvPr/>
        </p:nvSpPr>
        <p:spPr>
          <a:xfrm>
            <a:off x="11335817" y="380756"/>
            <a:ext cx="76810" cy="76810"/>
          </a:xfrm>
          <a:prstGeom prst="ellipse">
            <a:avLst/>
          </a:prstGeom>
          <a:solidFill>
            <a:srgbClr val="FF9259"/>
          </a:solidFill>
          <a:ln w="12700">
            <a:solidFill>
              <a:srgbClr val="FF9259"/>
            </a:solidFill>
            <a:prstDash val="solid"/>
          </a:ln>
        </p:spPr>
      </p:sp>
      <p:sp>
        <p:nvSpPr>
          <p:cNvPr id="15" name="Shape 13"/>
          <p:cNvSpPr/>
          <p:nvPr/>
        </p:nvSpPr>
        <p:spPr>
          <a:xfrm>
            <a:off x="11489436" y="380756"/>
            <a:ext cx="76810" cy="76810"/>
          </a:xfrm>
          <a:prstGeom prst="ellipse">
            <a:avLst/>
          </a:prstGeom>
          <a:solidFill>
            <a:srgbClr val="09A1E5"/>
          </a:solidFill>
          <a:ln w="12700">
            <a:solidFill>
              <a:srgbClr val="09A1E5"/>
            </a:solidFill>
            <a:prstDash val="solid"/>
          </a:ln>
        </p:spPr>
      </p:sp>
      <p:sp>
        <p:nvSpPr>
          <p:cNvPr id="16" name="Shape 14"/>
          <p:cNvSpPr/>
          <p:nvPr/>
        </p:nvSpPr>
        <p:spPr>
          <a:xfrm>
            <a:off x="11335817" y="488290"/>
            <a:ext cx="76810" cy="76810"/>
          </a:xfrm>
          <a:prstGeom prst="ellipse">
            <a:avLst/>
          </a:prstGeom>
          <a:solidFill>
            <a:srgbClr val="49B296"/>
          </a:solidFill>
          <a:ln w="12700">
            <a:solidFill>
              <a:srgbClr val="49B296"/>
            </a:solidFill>
            <a:prstDash val="solid"/>
          </a:ln>
        </p:spPr>
      </p:sp>
      <p:sp>
        <p:nvSpPr>
          <p:cNvPr id="17" name="Shape 15"/>
          <p:cNvSpPr/>
          <p:nvPr/>
        </p:nvSpPr>
        <p:spPr>
          <a:xfrm>
            <a:off x="11489436" y="488290"/>
            <a:ext cx="76810" cy="76810"/>
          </a:xfrm>
          <a:prstGeom prst="ellipse">
            <a:avLst/>
          </a:prstGeom>
          <a:solidFill>
            <a:srgbClr val="FF5178"/>
          </a:solidFill>
          <a:ln w="12700">
            <a:solidFill>
              <a:srgbClr val="FF5178"/>
            </a:solidFill>
            <a:prstDash val="solid"/>
          </a:ln>
        </p:spPr>
      </p:sp>
      <p:sp>
        <p:nvSpPr>
          <p:cNvPr id="18" name="Text 16"/>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Trong mắt Key Account, lỗi của nhà cung cấp là lỗi của agency</a:t>
            </a:r>
            <a:endParaRPr lang="en-US" sz="2600" dirty="0"/>
          </a:p>
        </p:txBody>
      </p:sp>
      <p:sp>
        <p:nvSpPr>
          <p:cNvPr id="19" name="Text 17"/>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Nhận định của người soạn · tình huống giả định.</a:t>
            </a:r>
            <a:endParaRPr lang="en-US" sz="1000" dirty="0"/>
          </a:p>
        </p:txBody>
      </p:sp>
      <p:sp>
        <p:nvSpPr>
          <p:cNvPr id="20" name="Text 18"/>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10   23</a:t>
            </a:r>
            <a:endParaRPr lang="en-US" sz="1000" dirty="0"/>
          </a:p>
        </p:txBody>
      </p:sp>
      <p:sp>
        <p:nvSpPr>
          <p:cNvPr id="22" name="Shape 19"/>
          <p:cNvSpPr/>
          <p:nvPr/>
        </p:nvSpPr>
        <p:spPr>
          <a:xfrm>
            <a:off x="548640" y="1874520"/>
            <a:ext cx="3515258" cy="3017520"/>
          </a:xfrm>
          <a:prstGeom prst="roundRect">
            <a:avLst>
              <a:gd name="adj" fmla="val 3636"/>
            </a:avLst>
          </a:prstGeom>
          <a:solidFill>
            <a:srgbClr val="FFE9DE"/>
          </a:solidFill>
          <a:ln w="12700">
            <a:solidFill>
              <a:srgbClr val="FF9259"/>
            </a:solidFill>
            <a:prstDash val="solid"/>
          </a:ln>
        </p:spPr>
      </p:sp>
      <p:sp>
        <p:nvSpPr>
          <p:cNvPr id="23" name="Text 20"/>
          <p:cNvSpPr txBox="1"/>
          <p:nvPr/>
        </p:nvSpPr>
        <p:spPr>
          <a:xfrm>
            <a:off x="822960" y="2011680"/>
            <a:ext cx="2966618" cy="411480"/>
          </a:xfrm>
          <a:prstGeom prst="rect">
            <a:avLst/>
          </a:prstGeom>
          <a:noFill/>
          <a:ln/>
        </p:spPr>
        <p:txBody>
          <a:bodyPr wrap="square" lIns="0" tIns="0" rIns="0" bIns="0" rtlCol="0" anchor="ctr"/>
          <a:lstStyle/>
          <a:p>
            <a:pPr indent="0" marL="0">
              <a:buNone/>
            </a:pPr>
            <a:r>
              <a:rPr lang="en-US" sz="1400" b="1" dirty="0">
                <a:solidFill>
                  <a:srgbClr val="6E6878"/>
                </a:solidFill>
                <a:latin typeface="Alexandria" pitchFamily="34" charset="0"/>
                <a:ea typeface="Alexandria" pitchFamily="34" charset="-122"/>
                <a:cs typeface="Alexandria" pitchFamily="34" charset="-120"/>
              </a:rPr>
              <a:t>Nhà in</a:t>
            </a:r>
            <a:endParaRPr lang="en-US" sz="1400" dirty="0"/>
          </a:p>
        </p:txBody>
      </p:sp>
      <p:sp>
        <p:nvSpPr>
          <p:cNvPr id="24" name="Text 21"/>
          <p:cNvSpPr txBox="1"/>
          <p:nvPr/>
        </p:nvSpPr>
        <p:spPr>
          <a:xfrm>
            <a:off x="822960" y="2468880"/>
            <a:ext cx="2966618" cy="914400"/>
          </a:xfrm>
          <a:prstGeom prst="rect">
            <a:avLst/>
          </a:prstGeom>
          <a:noFill/>
          <a:ln/>
        </p:spPr>
        <p:txBody>
          <a:bodyPr wrap="square" lIns="0" tIns="0" rIns="0" bIns="0" rtlCol="0" anchor="t"/>
          <a:lstStyle/>
          <a:p>
            <a:pPr indent="0" marL="0">
              <a:buNone/>
            </a:pPr>
            <a:r>
              <a:rPr lang="en-US" sz="2000" b="1" dirty="0">
                <a:solidFill>
                  <a:srgbClr val="2A2238"/>
                </a:solidFill>
                <a:latin typeface="Alexandria" pitchFamily="34" charset="0"/>
                <a:ea typeface="Alexandria" pitchFamily="34" charset="-122"/>
                <a:cs typeface="Alexandria" pitchFamily="34" charset="-120"/>
              </a:rPr>
              <a:t>Backdrop in sai logo</a:t>
            </a:r>
            <a:endParaRPr lang="en-US" sz="2000" dirty="0"/>
          </a:p>
        </p:txBody>
      </p:sp>
      <p:sp>
        <p:nvSpPr>
          <p:cNvPr id="25" name="Shape 22"/>
          <p:cNvSpPr/>
          <p:nvPr/>
        </p:nvSpPr>
        <p:spPr>
          <a:xfrm>
            <a:off x="1005840" y="3520440"/>
            <a:ext cx="914" cy="457200"/>
          </a:xfrm>
          <a:prstGeom prst="line">
            <a:avLst/>
          </a:prstGeom>
          <a:noFill/>
          <a:ln w="31750">
            <a:solidFill>
              <a:srgbClr val="2A2238"/>
            </a:solidFill>
            <a:prstDash val="solid"/>
            <a:tailEnd type="triangle"/>
          </a:ln>
        </p:spPr>
      </p:sp>
      <p:sp>
        <p:nvSpPr>
          <p:cNvPr id="26" name="Text 23"/>
          <p:cNvSpPr txBox="1"/>
          <p:nvPr/>
        </p:nvSpPr>
        <p:spPr>
          <a:xfrm>
            <a:off x="1280160" y="3474720"/>
            <a:ext cx="2509418" cy="123444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Chị Vy (Thương hiệu)</a:t>
            </a:r>
            <a:endParaRPr lang="en-US" sz="1500" dirty="0"/>
          </a:p>
          <a:p>
            <a:pPr indent="0" marL="0">
              <a:buNone/>
            </a:pPr>
            <a:r>
              <a:rPr lang="en-US" sz="1500" dirty="0">
                <a:solidFill>
                  <a:srgbClr val="E03A62"/>
                </a:solidFill>
                <a:latin typeface="Alexandria" pitchFamily="34" charset="0"/>
                <a:ea typeface="Alexandria" pitchFamily="34" charset="-122"/>
                <a:cs typeface="Alexandria" pitchFamily="34" charset="-120"/>
              </a:rPr>
              <a:t>sẽ hỏi Nova</a:t>
            </a:r>
            <a:endParaRPr lang="en-US" sz="1500" dirty="0"/>
          </a:p>
        </p:txBody>
      </p:sp>
      <p:sp>
        <p:nvSpPr>
          <p:cNvPr id="27" name="Shape 24"/>
          <p:cNvSpPr/>
          <p:nvPr/>
        </p:nvSpPr>
        <p:spPr>
          <a:xfrm>
            <a:off x="4338218" y="1874520"/>
            <a:ext cx="3515258" cy="3017520"/>
          </a:xfrm>
          <a:prstGeom prst="roundRect">
            <a:avLst>
              <a:gd name="adj" fmla="val 3636"/>
            </a:avLst>
          </a:prstGeom>
          <a:solidFill>
            <a:srgbClr val="F1E1EE"/>
          </a:solidFill>
          <a:ln w="12700">
            <a:solidFill>
              <a:srgbClr val="962B7C"/>
            </a:solidFill>
            <a:prstDash val="solid"/>
          </a:ln>
        </p:spPr>
      </p:sp>
      <p:sp>
        <p:nvSpPr>
          <p:cNvPr id="28" name="Text 25"/>
          <p:cNvSpPr txBox="1"/>
          <p:nvPr/>
        </p:nvSpPr>
        <p:spPr>
          <a:xfrm>
            <a:off x="4612538" y="2011680"/>
            <a:ext cx="2966618" cy="411480"/>
          </a:xfrm>
          <a:prstGeom prst="rect">
            <a:avLst/>
          </a:prstGeom>
          <a:noFill/>
          <a:ln/>
        </p:spPr>
        <p:txBody>
          <a:bodyPr wrap="square" lIns="0" tIns="0" rIns="0" bIns="0" rtlCol="0" anchor="ctr"/>
          <a:lstStyle/>
          <a:p>
            <a:pPr indent="0" marL="0">
              <a:buNone/>
            </a:pPr>
            <a:r>
              <a:rPr lang="en-US" sz="1400" b="1" dirty="0">
                <a:solidFill>
                  <a:srgbClr val="6E6878"/>
                </a:solidFill>
                <a:latin typeface="Alexandria" pitchFamily="34" charset="0"/>
                <a:ea typeface="Alexandria" pitchFamily="34" charset="-122"/>
                <a:cs typeface="Alexandria" pitchFamily="34" charset="-120"/>
              </a:rPr>
              <a:t>Khách sạn</a:t>
            </a:r>
            <a:endParaRPr lang="en-US" sz="1400" dirty="0"/>
          </a:p>
        </p:txBody>
      </p:sp>
      <p:sp>
        <p:nvSpPr>
          <p:cNvPr id="29" name="Text 26"/>
          <p:cNvSpPr txBox="1"/>
          <p:nvPr/>
        </p:nvSpPr>
        <p:spPr>
          <a:xfrm>
            <a:off x="4612538" y="2468880"/>
            <a:ext cx="2966618" cy="914400"/>
          </a:xfrm>
          <a:prstGeom prst="rect">
            <a:avLst/>
          </a:prstGeom>
          <a:noFill/>
          <a:ln/>
        </p:spPr>
        <p:txBody>
          <a:bodyPr wrap="square" lIns="0" tIns="0" rIns="0" bIns="0" rtlCol="0" anchor="t"/>
          <a:lstStyle/>
          <a:p>
            <a:pPr indent="0" marL="0">
              <a:buNone/>
            </a:pPr>
            <a:r>
              <a:rPr lang="en-US" sz="2000" b="1" dirty="0">
                <a:solidFill>
                  <a:srgbClr val="2A2238"/>
                </a:solidFill>
                <a:latin typeface="Alexandria" pitchFamily="34" charset="0"/>
                <a:ea typeface="Alexandria" pitchFamily="34" charset="-122"/>
                <a:cs typeface="Alexandria" pitchFamily="34" charset="-120"/>
              </a:rPr>
              <a:t>Hóa đơn tính dư 30 khách</a:t>
            </a:r>
            <a:endParaRPr lang="en-US" sz="2000" dirty="0"/>
          </a:p>
        </p:txBody>
      </p:sp>
      <p:sp>
        <p:nvSpPr>
          <p:cNvPr id="30" name="Shape 27"/>
          <p:cNvSpPr/>
          <p:nvPr/>
        </p:nvSpPr>
        <p:spPr>
          <a:xfrm>
            <a:off x="4795418" y="3520440"/>
            <a:ext cx="914" cy="457200"/>
          </a:xfrm>
          <a:prstGeom prst="line">
            <a:avLst/>
          </a:prstGeom>
          <a:noFill/>
          <a:ln w="31750">
            <a:solidFill>
              <a:srgbClr val="2A2238"/>
            </a:solidFill>
            <a:prstDash val="solid"/>
            <a:tailEnd type="triangle"/>
          </a:ln>
        </p:spPr>
      </p:sp>
      <p:sp>
        <p:nvSpPr>
          <p:cNvPr id="31" name="Text 28"/>
          <p:cNvSpPr txBox="1"/>
          <p:nvPr/>
        </p:nvSpPr>
        <p:spPr>
          <a:xfrm>
            <a:off x="5069738" y="3474720"/>
            <a:ext cx="2509418" cy="123444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Anh Khoa (ngân sách – mua sắm)</a:t>
            </a:r>
            <a:endParaRPr lang="en-US" sz="1500" dirty="0"/>
          </a:p>
          <a:p>
            <a:pPr indent="0" marL="0">
              <a:buNone/>
            </a:pPr>
            <a:r>
              <a:rPr lang="en-US" sz="1500" dirty="0">
                <a:solidFill>
                  <a:srgbClr val="E03A62"/>
                </a:solidFill>
                <a:latin typeface="Alexandria" pitchFamily="34" charset="0"/>
                <a:ea typeface="Alexandria" pitchFamily="34" charset="-122"/>
                <a:cs typeface="Alexandria" pitchFamily="34" charset="-120"/>
              </a:rPr>
              <a:t>sẽ hỏi Nova</a:t>
            </a:r>
            <a:endParaRPr lang="en-US" sz="1500" dirty="0"/>
          </a:p>
        </p:txBody>
      </p:sp>
      <p:sp>
        <p:nvSpPr>
          <p:cNvPr id="32" name="Shape 29"/>
          <p:cNvSpPr/>
          <p:nvPr/>
        </p:nvSpPr>
        <p:spPr>
          <a:xfrm>
            <a:off x="8127797" y="1874520"/>
            <a:ext cx="3515258" cy="3017520"/>
          </a:xfrm>
          <a:prstGeom prst="roundRect">
            <a:avLst>
              <a:gd name="adj" fmla="val 3636"/>
            </a:avLst>
          </a:prstGeom>
          <a:solidFill>
            <a:srgbClr val="DDF1FB"/>
          </a:solidFill>
          <a:ln w="12700">
            <a:solidFill>
              <a:srgbClr val="09A1E5"/>
            </a:solidFill>
            <a:prstDash val="solid"/>
          </a:ln>
        </p:spPr>
      </p:sp>
      <p:sp>
        <p:nvSpPr>
          <p:cNvPr id="33" name="Text 30"/>
          <p:cNvSpPr txBox="1"/>
          <p:nvPr/>
        </p:nvSpPr>
        <p:spPr>
          <a:xfrm>
            <a:off x="8402117" y="2011680"/>
            <a:ext cx="2966618" cy="411480"/>
          </a:xfrm>
          <a:prstGeom prst="rect">
            <a:avLst/>
          </a:prstGeom>
          <a:noFill/>
          <a:ln/>
        </p:spPr>
        <p:txBody>
          <a:bodyPr wrap="square" lIns="0" tIns="0" rIns="0" bIns="0" rtlCol="0" anchor="ctr"/>
          <a:lstStyle/>
          <a:p>
            <a:pPr indent="0" marL="0">
              <a:buNone/>
            </a:pPr>
            <a:r>
              <a:rPr lang="en-US" sz="1400" b="1" dirty="0">
                <a:solidFill>
                  <a:srgbClr val="6E6878"/>
                </a:solidFill>
                <a:latin typeface="Alexandria" pitchFamily="34" charset="0"/>
                <a:ea typeface="Alexandria" pitchFamily="34" charset="-122"/>
                <a:cs typeface="Alexandria" pitchFamily="34" charset="-120"/>
              </a:rPr>
              <a:t>AV – livestream</a:t>
            </a:r>
            <a:endParaRPr lang="en-US" sz="1400" dirty="0"/>
          </a:p>
        </p:txBody>
      </p:sp>
      <p:sp>
        <p:nvSpPr>
          <p:cNvPr id="34" name="Text 31"/>
          <p:cNvSpPr txBox="1"/>
          <p:nvPr/>
        </p:nvSpPr>
        <p:spPr>
          <a:xfrm>
            <a:off x="8402117" y="2468880"/>
            <a:ext cx="2966618" cy="914400"/>
          </a:xfrm>
          <a:prstGeom prst="rect">
            <a:avLst/>
          </a:prstGeom>
          <a:noFill/>
          <a:ln/>
        </p:spPr>
        <p:txBody>
          <a:bodyPr wrap="square" lIns="0" tIns="0" rIns="0" bIns="0" rtlCol="0" anchor="t"/>
          <a:lstStyle/>
          <a:p>
            <a:pPr indent="0" marL="0">
              <a:buNone/>
            </a:pPr>
            <a:r>
              <a:rPr lang="en-US" sz="2000" b="1" dirty="0">
                <a:solidFill>
                  <a:srgbClr val="2A2238"/>
                </a:solidFill>
                <a:latin typeface="Alexandria" pitchFamily="34" charset="0"/>
                <a:ea typeface="Alexandria" pitchFamily="34" charset="-122"/>
                <a:cs typeface="Alexandria" pitchFamily="34" charset="-120"/>
              </a:rPr>
              <a:t>Đứt livestream về 80 chi nhánh</a:t>
            </a:r>
            <a:endParaRPr lang="en-US" sz="2000" dirty="0"/>
          </a:p>
        </p:txBody>
      </p:sp>
      <p:sp>
        <p:nvSpPr>
          <p:cNvPr id="35" name="Shape 32"/>
          <p:cNvSpPr/>
          <p:nvPr/>
        </p:nvSpPr>
        <p:spPr>
          <a:xfrm>
            <a:off x="8584997" y="3520440"/>
            <a:ext cx="914" cy="457200"/>
          </a:xfrm>
          <a:prstGeom prst="line">
            <a:avLst/>
          </a:prstGeom>
          <a:noFill/>
          <a:ln w="31750">
            <a:solidFill>
              <a:srgbClr val="2A2238"/>
            </a:solidFill>
            <a:prstDash val="solid"/>
            <a:tailEnd type="triangle"/>
          </a:ln>
        </p:spPr>
      </p:sp>
      <p:sp>
        <p:nvSpPr>
          <p:cNvPr id="36" name="Text 33"/>
          <p:cNvSpPr txBox="1"/>
          <p:nvPr/>
        </p:nvSpPr>
        <p:spPr>
          <a:xfrm>
            <a:off x="8859317" y="3474720"/>
            <a:ext cx="2509418" cy="123444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Chị Lan (Truyền thông nội bộ)</a:t>
            </a:r>
            <a:endParaRPr lang="en-US" sz="1500" dirty="0"/>
          </a:p>
          <a:p>
            <a:pPr indent="0" marL="0">
              <a:buNone/>
            </a:pPr>
            <a:r>
              <a:rPr lang="en-US" sz="1500" dirty="0">
                <a:solidFill>
                  <a:srgbClr val="E03A62"/>
                </a:solidFill>
                <a:latin typeface="Alexandria" pitchFamily="34" charset="0"/>
                <a:ea typeface="Alexandria" pitchFamily="34" charset="-122"/>
                <a:cs typeface="Alexandria" pitchFamily="34" charset="-120"/>
              </a:rPr>
              <a:t>sẽ hỏi Nova</a:t>
            </a:r>
            <a:endParaRPr lang="en-US" sz="1500" dirty="0"/>
          </a:p>
        </p:txBody>
      </p:sp>
      <p:sp>
        <p:nvSpPr>
          <p:cNvPr id="37" name="Shape 34"/>
          <p:cNvSpPr/>
          <p:nvPr/>
        </p:nvSpPr>
        <p:spPr>
          <a:xfrm>
            <a:off x="548640" y="5166360"/>
            <a:ext cx="11094415" cy="822960"/>
          </a:xfrm>
          <a:prstGeom prst="roundRect">
            <a:avLst>
              <a:gd name="adj" fmla="val 13333"/>
            </a:avLst>
          </a:prstGeom>
          <a:solidFill>
            <a:srgbClr val="FFF3C4"/>
          </a:solidFill>
          <a:ln w="12700">
            <a:solidFill>
              <a:srgbClr val="FFD23B"/>
            </a:solidFill>
            <a:prstDash val="solid"/>
          </a:ln>
        </p:spPr>
      </p:sp>
      <p:sp>
        <p:nvSpPr>
          <p:cNvPr id="38" name="Text 35"/>
          <p:cNvSpPr txBox="1"/>
          <p:nvPr/>
        </p:nvSpPr>
        <p:spPr>
          <a:xfrm>
            <a:off x="868680" y="5166360"/>
            <a:ext cx="10454335" cy="82296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An Phát ký với Nova → quản lý nhà cung cấp là quản lý trải nghiệm của Key Account.</a:t>
            </a:r>
            <a:endParaRPr lang="en-US" sz="1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655064"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65506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10.1 Quy trình mua</a:t>
            </a:r>
            <a:endParaRPr lang="en-US" sz="1000" dirty="0"/>
          </a:p>
        </p:txBody>
      </p:sp>
      <p:sp>
        <p:nvSpPr>
          <p:cNvPr id="6" name="Shape 4"/>
          <p:cNvSpPr/>
          <p:nvPr/>
        </p:nvSpPr>
        <p:spPr>
          <a:xfrm>
            <a:off x="3145536" y="274320"/>
            <a:ext cx="1266444"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145536" y="274320"/>
            <a:ext cx="126644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10.2 Địa điểm</a:t>
            </a:r>
            <a:endParaRPr lang="en-US" sz="1000" dirty="0"/>
          </a:p>
        </p:txBody>
      </p:sp>
      <p:sp>
        <p:nvSpPr>
          <p:cNvPr id="8" name="Shape 6"/>
          <p:cNvSpPr/>
          <p:nvPr/>
        </p:nvSpPr>
        <p:spPr>
          <a:xfrm>
            <a:off x="4521708" y="274320"/>
            <a:ext cx="2354580" cy="292608"/>
          </a:xfrm>
          <a:prstGeom prst="roundRect">
            <a:avLst>
              <a:gd name="adj" fmla="val 50000"/>
            </a:avLst>
          </a:prstGeom>
          <a:solidFill>
            <a:srgbClr val="FF5178"/>
          </a:solidFill>
          <a:ln w="9525">
            <a:solidFill>
              <a:srgbClr val="FF5178"/>
            </a:solidFill>
            <a:prstDash val="solid"/>
          </a:ln>
        </p:spPr>
      </p:sp>
      <p:sp>
        <p:nvSpPr>
          <p:cNvPr id="9" name="Text 7"/>
          <p:cNvSpPr txBox="1"/>
          <p:nvPr/>
        </p:nvSpPr>
        <p:spPr>
          <a:xfrm>
            <a:off x="4521708" y="274320"/>
            <a:ext cx="235458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10.3 Hành trình Key Account</a:t>
            </a:r>
            <a:endParaRPr lang="en-US" sz="1000" dirty="0"/>
          </a:p>
        </p:txBody>
      </p:sp>
      <p:sp>
        <p:nvSpPr>
          <p:cNvPr id="10" name="Shape 8"/>
          <p:cNvSpPr/>
          <p:nvPr/>
        </p:nvSpPr>
        <p:spPr>
          <a:xfrm>
            <a:off x="6986016"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986016"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384048" cy="384048"/>
          </a:xfrm>
          <a:prstGeom prst="roundRect">
            <a:avLst>
              <a:gd name="adj" fmla="val 18000"/>
            </a:avLst>
          </a:prstGeom>
          <a:solidFill>
            <a:srgbClr val="FFFFFF"/>
          </a:solidFill>
          <a:ln w="12700">
            <a:solidFill>
              <a:srgbClr val="2A2238"/>
            </a:solidFill>
            <a:prstDash val="solid"/>
          </a:ln>
        </p:spPr>
      </p:sp>
      <p:sp>
        <p:nvSpPr>
          <p:cNvPr id="13" name="Shape 11"/>
          <p:cNvSpPr/>
          <p:nvPr/>
        </p:nvSpPr>
        <p:spPr>
          <a:xfrm>
            <a:off x="11343498" y="265542"/>
            <a:ext cx="215067" cy="53767"/>
          </a:xfrm>
          <a:prstGeom prst="rect">
            <a:avLst/>
          </a:prstGeom>
          <a:solidFill>
            <a:srgbClr val="962B7C"/>
          </a:solidFill>
          <a:ln w="12700">
            <a:solidFill>
              <a:srgbClr val="962B7C"/>
            </a:solidFill>
            <a:prstDash val="solid"/>
          </a:ln>
        </p:spPr>
      </p:sp>
      <p:sp>
        <p:nvSpPr>
          <p:cNvPr id="14" name="Shape 12"/>
          <p:cNvSpPr/>
          <p:nvPr/>
        </p:nvSpPr>
        <p:spPr>
          <a:xfrm>
            <a:off x="11335817" y="380756"/>
            <a:ext cx="76810" cy="76810"/>
          </a:xfrm>
          <a:prstGeom prst="ellipse">
            <a:avLst/>
          </a:prstGeom>
          <a:solidFill>
            <a:srgbClr val="FF9259"/>
          </a:solidFill>
          <a:ln w="12700">
            <a:solidFill>
              <a:srgbClr val="FF9259"/>
            </a:solidFill>
            <a:prstDash val="solid"/>
          </a:ln>
        </p:spPr>
      </p:sp>
      <p:sp>
        <p:nvSpPr>
          <p:cNvPr id="15" name="Shape 13"/>
          <p:cNvSpPr/>
          <p:nvPr/>
        </p:nvSpPr>
        <p:spPr>
          <a:xfrm>
            <a:off x="11489436" y="380756"/>
            <a:ext cx="76810" cy="76810"/>
          </a:xfrm>
          <a:prstGeom prst="ellipse">
            <a:avLst/>
          </a:prstGeom>
          <a:solidFill>
            <a:srgbClr val="09A1E5"/>
          </a:solidFill>
          <a:ln w="12700">
            <a:solidFill>
              <a:srgbClr val="09A1E5"/>
            </a:solidFill>
            <a:prstDash val="solid"/>
          </a:ln>
        </p:spPr>
      </p:sp>
      <p:sp>
        <p:nvSpPr>
          <p:cNvPr id="16" name="Shape 14"/>
          <p:cNvSpPr/>
          <p:nvPr/>
        </p:nvSpPr>
        <p:spPr>
          <a:xfrm>
            <a:off x="11335817" y="488290"/>
            <a:ext cx="76810" cy="76810"/>
          </a:xfrm>
          <a:prstGeom prst="ellipse">
            <a:avLst/>
          </a:prstGeom>
          <a:solidFill>
            <a:srgbClr val="49B296"/>
          </a:solidFill>
          <a:ln w="12700">
            <a:solidFill>
              <a:srgbClr val="49B296"/>
            </a:solidFill>
            <a:prstDash val="solid"/>
          </a:ln>
        </p:spPr>
      </p:sp>
      <p:sp>
        <p:nvSpPr>
          <p:cNvPr id="17" name="Shape 15"/>
          <p:cNvSpPr/>
          <p:nvPr/>
        </p:nvSpPr>
        <p:spPr>
          <a:xfrm>
            <a:off x="11489436" y="488290"/>
            <a:ext cx="76810" cy="76810"/>
          </a:xfrm>
          <a:prstGeom prst="ellipse">
            <a:avLst/>
          </a:prstGeom>
          <a:solidFill>
            <a:srgbClr val="FF5178"/>
          </a:solidFill>
          <a:ln w="12700">
            <a:solidFill>
              <a:srgbClr val="FF5178"/>
            </a:solidFill>
            <a:prstDash val="solid"/>
          </a:ln>
        </p:spPr>
      </p:sp>
      <p:sp>
        <p:nvSpPr>
          <p:cNvPr id="18" name="Text 16"/>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Bốn câu hỏi phân bổ nhà cung cấp</a:t>
            </a:r>
            <a:endParaRPr lang="en-US" sz="2600" dirty="0"/>
          </a:p>
        </p:txBody>
      </p:sp>
      <p:sp>
        <p:nvSpPr>
          <p:cNvPr id="19" name="Text 17"/>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10   24</a:t>
            </a:r>
            <a:endParaRPr lang="en-US" sz="1000" dirty="0"/>
          </a:p>
        </p:txBody>
      </p:sp>
      <p:sp>
        <p:nvSpPr>
          <p:cNvPr id="21" name="Shape 18"/>
          <p:cNvSpPr/>
          <p:nvPr/>
        </p:nvSpPr>
        <p:spPr>
          <a:xfrm>
            <a:off x="548640" y="1828800"/>
            <a:ext cx="11094415" cy="914400"/>
          </a:xfrm>
          <a:prstGeom prst="roundRect">
            <a:avLst>
              <a:gd name="adj" fmla="val 12000"/>
            </a:avLst>
          </a:prstGeom>
          <a:solidFill>
            <a:srgbClr val="FFFFFF"/>
          </a:solidFill>
          <a:ln w="19050">
            <a:solidFill>
              <a:srgbClr val="962B7C"/>
            </a:solidFill>
            <a:prstDash val="solid"/>
          </a:ln>
        </p:spPr>
      </p:sp>
      <p:sp>
        <p:nvSpPr>
          <p:cNvPr id="22" name="Shape 19"/>
          <p:cNvSpPr/>
          <p:nvPr/>
        </p:nvSpPr>
        <p:spPr>
          <a:xfrm>
            <a:off x="731520" y="1975104"/>
            <a:ext cx="621792" cy="621792"/>
          </a:xfrm>
          <a:prstGeom prst="ellipse">
            <a:avLst/>
          </a:prstGeom>
          <a:solidFill>
            <a:srgbClr val="962B7C"/>
          </a:solidFill>
          <a:ln w="12700">
            <a:solidFill>
              <a:srgbClr val="962B7C"/>
            </a:solidFill>
            <a:prstDash val="solid"/>
          </a:ln>
        </p:spPr>
      </p:sp>
      <p:sp>
        <p:nvSpPr>
          <p:cNvPr id="23" name="Text 20"/>
          <p:cNvSpPr txBox="1"/>
          <p:nvPr/>
        </p:nvSpPr>
        <p:spPr>
          <a:xfrm>
            <a:off x="731520" y="1975104"/>
            <a:ext cx="621792" cy="621792"/>
          </a:xfrm>
          <a:prstGeom prst="rect">
            <a:avLst/>
          </a:prstGeom>
          <a:noFill/>
          <a:ln/>
        </p:spPr>
        <p:txBody>
          <a:bodyPr wrap="square" lIns="0" tIns="0" rIns="0" bIns="0" rtlCol="0" anchor="ctr"/>
          <a:lstStyle/>
          <a:p>
            <a:pPr algn="ctr" indent="0" marL="0">
              <a:buNone/>
            </a:pPr>
            <a:r>
              <a:rPr lang="en-US" sz="2312" b="1" dirty="0">
                <a:solidFill>
                  <a:srgbClr val="FFFFFF"/>
                </a:solidFill>
                <a:latin typeface="Alexandria" pitchFamily="34" charset="0"/>
                <a:ea typeface="Alexandria" pitchFamily="34" charset="-122"/>
                <a:cs typeface="Alexandria" pitchFamily="34" charset="-120"/>
              </a:rPr>
              <a:t>1</a:t>
            </a:r>
            <a:endParaRPr lang="en-US" sz="2312" dirty="0"/>
          </a:p>
        </p:txBody>
      </p:sp>
      <p:sp>
        <p:nvSpPr>
          <p:cNvPr id="24" name="Text 21"/>
          <p:cNvSpPr txBox="1"/>
          <p:nvPr/>
        </p:nvSpPr>
        <p:spPr>
          <a:xfrm>
            <a:off x="1554480" y="1828800"/>
            <a:ext cx="9905695" cy="914400"/>
          </a:xfrm>
          <a:prstGeom prst="rect">
            <a:avLst/>
          </a:prstGeom>
          <a:noFill/>
          <a:ln/>
        </p:spPr>
        <p:txBody>
          <a:bodyPr wrap="square" lIns="0" tIns="0" rIns="0" bIns="0" rtlCol="0" anchor="ctr"/>
          <a:lstStyle/>
          <a:p>
            <a:pPr indent="0" marL="0">
              <a:buNone/>
            </a:pPr>
            <a:r>
              <a:rPr lang="en-US" sz="1900" b="1" dirty="0">
                <a:solidFill>
                  <a:srgbClr val="2A2238"/>
                </a:solidFill>
                <a:latin typeface="Alexandria" pitchFamily="34" charset="0"/>
                <a:ea typeface="Alexandria" pitchFamily="34" charset="-122"/>
                <a:cs typeface="Alexandria" pitchFamily="34" charset="-120"/>
              </a:rPr>
              <a:t>Chạm An Phát ở giai đoạn nào?</a:t>
            </a:r>
            <a:endParaRPr lang="en-US" sz="1900" dirty="0"/>
          </a:p>
          <a:p>
            <a:pPr indent="0" marL="0">
              <a:buNone/>
            </a:pPr>
            <a:r>
              <a:rPr lang="en-US" sz="1300" dirty="0">
                <a:solidFill>
                  <a:srgbClr val="6E6878"/>
                </a:solidFill>
                <a:latin typeface="Alexandria" pitchFamily="34" charset="0"/>
                <a:ea typeface="Alexandria" pitchFamily="34" charset="-122"/>
                <a:cs typeface="Alexandria" pitchFamily="34" charset="-120"/>
              </a:rPr>
              <a:t>mua / sau mua</a:t>
            </a:r>
            <a:endParaRPr lang="en-US" sz="1900" dirty="0"/>
          </a:p>
        </p:txBody>
      </p:sp>
      <p:sp>
        <p:nvSpPr>
          <p:cNvPr id="25" name="Shape 22"/>
          <p:cNvSpPr/>
          <p:nvPr/>
        </p:nvSpPr>
        <p:spPr>
          <a:xfrm>
            <a:off x="548640" y="2880360"/>
            <a:ext cx="11094415" cy="914400"/>
          </a:xfrm>
          <a:prstGeom prst="roundRect">
            <a:avLst>
              <a:gd name="adj" fmla="val 12000"/>
            </a:avLst>
          </a:prstGeom>
          <a:solidFill>
            <a:srgbClr val="FFFFFF"/>
          </a:solidFill>
          <a:ln w="19050">
            <a:solidFill>
              <a:srgbClr val="09A1E5"/>
            </a:solidFill>
            <a:prstDash val="solid"/>
          </a:ln>
        </p:spPr>
      </p:sp>
      <p:sp>
        <p:nvSpPr>
          <p:cNvPr id="26" name="Shape 23"/>
          <p:cNvSpPr/>
          <p:nvPr/>
        </p:nvSpPr>
        <p:spPr>
          <a:xfrm>
            <a:off x="731520" y="3026664"/>
            <a:ext cx="621792" cy="621792"/>
          </a:xfrm>
          <a:prstGeom prst="ellipse">
            <a:avLst/>
          </a:prstGeom>
          <a:solidFill>
            <a:srgbClr val="09A1E5"/>
          </a:solidFill>
          <a:ln w="12700">
            <a:solidFill>
              <a:srgbClr val="09A1E5"/>
            </a:solidFill>
            <a:prstDash val="solid"/>
          </a:ln>
        </p:spPr>
      </p:sp>
      <p:sp>
        <p:nvSpPr>
          <p:cNvPr id="27" name="Text 24"/>
          <p:cNvSpPr txBox="1"/>
          <p:nvPr/>
        </p:nvSpPr>
        <p:spPr>
          <a:xfrm>
            <a:off x="731520" y="3026664"/>
            <a:ext cx="621792" cy="621792"/>
          </a:xfrm>
          <a:prstGeom prst="rect">
            <a:avLst/>
          </a:prstGeom>
          <a:noFill/>
          <a:ln/>
        </p:spPr>
        <p:txBody>
          <a:bodyPr wrap="square" lIns="0" tIns="0" rIns="0" bIns="0" rtlCol="0" anchor="ctr"/>
          <a:lstStyle/>
          <a:p>
            <a:pPr algn="ctr" indent="0" marL="0">
              <a:buNone/>
            </a:pPr>
            <a:r>
              <a:rPr lang="en-US" sz="2312" b="1" dirty="0">
                <a:solidFill>
                  <a:srgbClr val="FFFFFF"/>
                </a:solidFill>
                <a:latin typeface="Alexandria" pitchFamily="34" charset="0"/>
                <a:ea typeface="Alexandria" pitchFamily="34" charset="-122"/>
                <a:cs typeface="Alexandria" pitchFamily="34" charset="-120"/>
              </a:rPr>
              <a:t>2</a:t>
            </a:r>
            <a:endParaRPr lang="en-US" sz="2312" dirty="0"/>
          </a:p>
        </p:txBody>
      </p:sp>
      <p:sp>
        <p:nvSpPr>
          <p:cNvPr id="28" name="Text 25"/>
          <p:cNvSpPr txBox="1"/>
          <p:nvPr/>
        </p:nvSpPr>
        <p:spPr>
          <a:xfrm>
            <a:off x="1554480" y="2880360"/>
            <a:ext cx="9905695" cy="914400"/>
          </a:xfrm>
          <a:prstGeom prst="rect">
            <a:avLst/>
          </a:prstGeom>
          <a:noFill/>
          <a:ln/>
        </p:spPr>
        <p:txBody>
          <a:bodyPr wrap="square" lIns="0" tIns="0" rIns="0" bIns="0" rtlCol="0" anchor="ctr"/>
          <a:lstStyle/>
          <a:p>
            <a:pPr indent="0" marL="0">
              <a:buNone/>
            </a:pPr>
            <a:r>
              <a:rPr lang="en-US" sz="1900" b="1" dirty="0">
                <a:solidFill>
                  <a:srgbClr val="2A2238"/>
                </a:solidFill>
                <a:latin typeface="Alexandria" pitchFamily="34" charset="0"/>
                <a:ea typeface="Alexandria" pitchFamily="34" charset="-122"/>
                <a:cs typeface="Alexandria" pitchFamily="34" charset="-120"/>
              </a:rPr>
              <a:t>Ai của An Phát nhìn thấy họ?</a:t>
            </a:r>
            <a:endParaRPr lang="en-US" sz="1900" dirty="0"/>
          </a:p>
          <a:p>
            <a:pPr indent="0" marL="0">
              <a:buNone/>
            </a:pPr>
            <a:r>
              <a:rPr lang="en-US" sz="1300" dirty="0">
                <a:solidFill>
                  <a:srgbClr val="6E6878"/>
                </a:solidFill>
                <a:latin typeface="Alexandria" pitchFamily="34" charset="0"/>
                <a:ea typeface="Alexandria" pitchFamily="34" charset="-122"/>
                <a:cs typeface="Alexandria" pitchFamily="34" charset="-120"/>
              </a:rPr>
              <a:t>anh Minh, ông Tuấn, chị Lan, chị Vy, anh Khoa, hay khách của An Phát</a:t>
            </a:r>
            <a:endParaRPr lang="en-US" sz="1900" dirty="0"/>
          </a:p>
        </p:txBody>
      </p:sp>
      <p:sp>
        <p:nvSpPr>
          <p:cNvPr id="29" name="Shape 26"/>
          <p:cNvSpPr/>
          <p:nvPr/>
        </p:nvSpPr>
        <p:spPr>
          <a:xfrm>
            <a:off x="548640" y="3931920"/>
            <a:ext cx="11094415" cy="914400"/>
          </a:xfrm>
          <a:prstGeom prst="roundRect">
            <a:avLst>
              <a:gd name="adj" fmla="val 12000"/>
            </a:avLst>
          </a:prstGeom>
          <a:solidFill>
            <a:srgbClr val="FFFFFF"/>
          </a:solidFill>
          <a:ln w="19050">
            <a:solidFill>
              <a:srgbClr val="FF5178"/>
            </a:solidFill>
            <a:prstDash val="solid"/>
          </a:ln>
        </p:spPr>
      </p:sp>
      <p:sp>
        <p:nvSpPr>
          <p:cNvPr id="30" name="Shape 27"/>
          <p:cNvSpPr/>
          <p:nvPr/>
        </p:nvSpPr>
        <p:spPr>
          <a:xfrm>
            <a:off x="731520" y="4078224"/>
            <a:ext cx="621792" cy="621792"/>
          </a:xfrm>
          <a:prstGeom prst="ellipse">
            <a:avLst/>
          </a:prstGeom>
          <a:solidFill>
            <a:srgbClr val="FF5178"/>
          </a:solidFill>
          <a:ln w="12700">
            <a:solidFill>
              <a:srgbClr val="FF5178"/>
            </a:solidFill>
            <a:prstDash val="solid"/>
          </a:ln>
        </p:spPr>
      </p:sp>
      <p:sp>
        <p:nvSpPr>
          <p:cNvPr id="31" name="Text 28"/>
          <p:cNvSpPr txBox="1"/>
          <p:nvPr/>
        </p:nvSpPr>
        <p:spPr>
          <a:xfrm>
            <a:off x="731520" y="4078224"/>
            <a:ext cx="621792" cy="621792"/>
          </a:xfrm>
          <a:prstGeom prst="rect">
            <a:avLst/>
          </a:prstGeom>
          <a:noFill/>
          <a:ln/>
        </p:spPr>
        <p:txBody>
          <a:bodyPr wrap="square" lIns="0" tIns="0" rIns="0" bIns="0" rtlCol="0" anchor="ctr"/>
          <a:lstStyle/>
          <a:p>
            <a:pPr algn="ctr" indent="0" marL="0">
              <a:buNone/>
            </a:pPr>
            <a:r>
              <a:rPr lang="en-US" sz="2312" b="1" dirty="0">
                <a:solidFill>
                  <a:srgbClr val="FFFFFF"/>
                </a:solidFill>
                <a:latin typeface="Alexandria" pitchFamily="34" charset="0"/>
                <a:ea typeface="Alexandria" pitchFamily="34" charset="-122"/>
                <a:cs typeface="Alexandria" pitchFamily="34" charset="-120"/>
              </a:rPr>
              <a:t>3</a:t>
            </a:r>
            <a:endParaRPr lang="en-US" sz="2312" dirty="0"/>
          </a:p>
        </p:txBody>
      </p:sp>
      <p:sp>
        <p:nvSpPr>
          <p:cNvPr id="32" name="Text 29"/>
          <p:cNvSpPr txBox="1"/>
          <p:nvPr/>
        </p:nvSpPr>
        <p:spPr>
          <a:xfrm>
            <a:off x="1554480" y="3931920"/>
            <a:ext cx="9905695" cy="914400"/>
          </a:xfrm>
          <a:prstGeom prst="rect">
            <a:avLst/>
          </a:prstGeom>
          <a:noFill/>
          <a:ln/>
        </p:spPr>
        <p:txBody>
          <a:bodyPr wrap="square" lIns="0" tIns="0" rIns="0" bIns="0" rtlCol="0" anchor="ctr"/>
          <a:lstStyle/>
          <a:p>
            <a:pPr indent="0" marL="0">
              <a:buNone/>
            </a:pPr>
            <a:r>
              <a:rPr lang="en-US" sz="1900" b="1" dirty="0">
                <a:solidFill>
                  <a:srgbClr val="2A2238"/>
                </a:solidFill>
                <a:latin typeface="Alexandria" pitchFamily="34" charset="0"/>
                <a:ea typeface="Alexandria" pitchFamily="34" charset="-122"/>
                <a:cs typeface="Alexandria" pitchFamily="34" charset="-120"/>
              </a:rPr>
              <a:t>Nếu họ làm hỏng, quan hệ Nova – An Phát bị ảnh hưởng thế nào?</a:t>
            </a:r>
            <a:endParaRPr lang="en-US" sz="1900" dirty="0"/>
          </a:p>
        </p:txBody>
      </p:sp>
      <p:sp>
        <p:nvSpPr>
          <p:cNvPr id="33" name="Shape 30"/>
          <p:cNvSpPr/>
          <p:nvPr/>
        </p:nvSpPr>
        <p:spPr>
          <a:xfrm>
            <a:off x="548640" y="4983480"/>
            <a:ext cx="11094415" cy="914400"/>
          </a:xfrm>
          <a:prstGeom prst="roundRect">
            <a:avLst>
              <a:gd name="adj" fmla="val 12000"/>
            </a:avLst>
          </a:prstGeom>
          <a:solidFill>
            <a:srgbClr val="FFFFFF"/>
          </a:solidFill>
          <a:ln w="19050">
            <a:solidFill>
              <a:srgbClr val="49B296"/>
            </a:solidFill>
            <a:prstDash val="solid"/>
          </a:ln>
        </p:spPr>
      </p:sp>
      <p:sp>
        <p:nvSpPr>
          <p:cNvPr id="34" name="Shape 31"/>
          <p:cNvSpPr/>
          <p:nvPr/>
        </p:nvSpPr>
        <p:spPr>
          <a:xfrm>
            <a:off x="731520" y="5129784"/>
            <a:ext cx="621792" cy="621792"/>
          </a:xfrm>
          <a:prstGeom prst="ellipse">
            <a:avLst/>
          </a:prstGeom>
          <a:solidFill>
            <a:srgbClr val="49B296"/>
          </a:solidFill>
          <a:ln w="12700">
            <a:solidFill>
              <a:srgbClr val="49B296"/>
            </a:solidFill>
            <a:prstDash val="solid"/>
          </a:ln>
        </p:spPr>
      </p:sp>
      <p:sp>
        <p:nvSpPr>
          <p:cNvPr id="35" name="Text 32"/>
          <p:cNvSpPr txBox="1"/>
          <p:nvPr/>
        </p:nvSpPr>
        <p:spPr>
          <a:xfrm>
            <a:off x="731520" y="5129784"/>
            <a:ext cx="621792" cy="621792"/>
          </a:xfrm>
          <a:prstGeom prst="rect">
            <a:avLst/>
          </a:prstGeom>
          <a:noFill/>
          <a:ln/>
        </p:spPr>
        <p:txBody>
          <a:bodyPr wrap="square" lIns="0" tIns="0" rIns="0" bIns="0" rtlCol="0" anchor="ctr"/>
          <a:lstStyle/>
          <a:p>
            <a:pPr algn="ctr" indent="0" marL="0">
              <a:buNone/>
            </a:pPr>
            <a:r>
              <a:rPr lang="en-US" sz="2312" b="1" dirty="0">
                <a:solidFill>
                  <a:srgbClr val="FFFFFF"/>
                </a:solidFill>
                <a:latin typeface="Alexandria" pitchFamily="34" charset="0"/>
                <a:ea typeface="Alexandria" pitchFamily="34" charset="-122"/>
                <a:cs typeface="Alexandria" pitchFamily="34" charset="-120"/>
              </a:rPr>
              <a:t>4</a:t>
            </a:r>
            <a:endParaRPr lang="en-US" sz="2312" dirty="0"/>
          </a:p>
        </p:txBody>
      </p:sp>
      <p:sp>
        <p:nvSpPr>
          <p:cNvPr id="36" name="Text 33"/>
          <p:cNvSpPr txBox="1"/>
          <p:nvPr/>
        </p:nvSpPr>
        <p:spPr>
          <a:xfrm>
            <a:off x="1554480" y="4983480"/>
            <a:ext cx="9905695" cy="914400"/>
          </a:xfrm>
          <a:prstGeom prst="rect">
            <a:avLst/>
          </a:prstGeom>
          <a:noFill/>
          <a:ln/>
        </p:spPr>
        <p:txBody>
          <a:bodyPr wrap="square" lIns="0" tIns="0" rIns="0" bIns="0" rtlCol="0" anchor="ctr"/>
          <a:lstStyle/>
          <a:p>
            <a:pPr indent="0" marL="0">
              <a:buNone/>
            </a:pPr>
            <a:r>
              <a:rPr lang="en-US" sz="1900" b="1" dirty="0">
                <a:solidFill>
                  <a:srgbClr val="2A2238"/>
                </a:solidFill>
                <a:latin typeface="Alexandria" pitchFamily="34" charset="0"/>
                <a:ea typeface="Alexandria" pitchFamily="34" charset="-122"/>
                <a:cs typeface="Alexandria" pitchFamily="34" charset="-120"/>
              </a:rPr>
              <a:t>Nova quản lý bằng gì?</a:t>
            </a:r>
            <a:endParaRPr lang="en-US" sz="1900" dirty="0"/>
          </a:p>
          <a:p>
            <a:pPr indent="0" marL="0">
              <a:buNone/>
            </a:pPr>
            <a:r>
              <a:rPr lang="en-US" sz="1300" dirty="0">
                <a:solidFill>
                  <a:srgbClr val="6E6878"/>
                </a:solidFill>
                <a:latin typeface="Alexandria" pitchFamily="34" charset="0"/>
                <a:ea typeface="Alexandria" pitchFamily="34" charset="-122"/>
                <a:cs typeface="Alexandria" pitchFamily="34" charset="-120"/>
              </a:rPr>
              <a:t>điều khoản hợp đồng, checklist, người phụ trách, chỉ số, đánh giá sau sự kiện</a:t>
            </a:r>
            <a:endParaRPr lang="en-US" sz="1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655064"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65506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10.1 Quy trình mua</a:t>
            </a:r>
            <a:endParaRPr lang="en-US" sz="1000" dirty="0"/>
          </a:p>
        </p:txBody>
      </p:sp>
      <p:sp>
        <p:nvSpPr>
          <p:cNvPr id="6" name="Shape 4"/>
          <p:cNvSpPr/>
          <p:nvPr/>
        </p:nvSpPr>
        <p:spPr>
          <a:xfrm>
            <a:off x="3145536" y="274320"/>
            <a:ext cx="1266444"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145536" y="274320"/>
            <a:ext cx="126644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10.2 Địa điểm</a:t>
            </a:r>
            <a:endParaRPr lang="en-US" sz="1000" dirty="0"/>
          </a:p>
        </p:txBody>
      </p:sp>
      <p:sp>
        <p:nvSpPr>
          <p:cNvPr id="8" name="Shape 6"/>
          <p:cNvSpPr/>
          <p:nvPr/>
        </p:nvSpPr>
        <p:spPr>
          <a:xfrm>
            <a:off x="4521708" y="274320"/>
            <a:ext cx="2354580" cy="292608"/>
          </a:xfrm>
          <a:prstGeom prst="roundRect">
            <a:avLst>
              <a:gd name="adj" fmla="val 50000"/>
            </a:avLst>
          </a:prstGeom>
          <a:solidFill>
            <a:srgbClr val="FF5178"/>
          </a:solidFill>
          <a:ln w="9525">
            <a:solidFill>
              <a:srgbClr val="FF5178"/>
            </a:solidFill>
            <a:prstDash val="solid"/>
          </a:ln>
        </p:spPr>
      </p:sp>
      <p:sp>
        <p:nvSpPr>
          <p:cNvPr id="9" name="Text 7"/>
          <p:cNvSpPr txBox="1"/>
          <p:nvPr/>
        </p:nvSpPr>
        <p:spPr>
          <a:xfrm>
            <a:off x="4521708" y="274320"/>
            <a:ext cx="235458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10.3 Hành trình Key Account</a:t>
            </a:r>
            <a:endParaRPr lang="en-US" sz="1000" dirty="0"/>
          </a:p>
        </p:txBody>
      </p:sp>
      <p:sp>
        <p:nvSpPr>
          <p:cNvPr id="10" name="Shape 8"/>
          <p:cNvSpPr/>
          <p:nvPr/>
        </p:nvSpPr>
        <p:spPr>
          <a:xfrm>
            <a:off x="6986016"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986016"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384048" cy="384048"/>
          </a:xfrm>
          <a:prstGeom prst="roundRect">
            <a:avLst>
              <a:gd name="adj" fmla="val 18000"/>
            </a:avLst>
          </a:prstGeom>
          <a:solidFill>
            <a:srgbClr val="FFFFFF"/>
          </a:solidFill>
          <a:ln w="12700">
            <a:solidFill>
              <a:srgbClr val="2A2238"/>
            </a:solidFill>
            <a:prstDash val="solid"/>
          </a:ln>
        </p:spPr>
      </p:sp>
      <p:sp>
        <p:nvSpPr>
          <p:cNvPr id="13" name="Shape 11"/>
          <p:cNvSpPr/>
          <p:nvPr/>
        </p:nvSpPr>
        <p:spPr>
          <a:xfrm>
            <a:off x="11343498" y="265542"/>
            <a:ext cx="215067" cy="53767"/>
          </a:xfrm>
          <a:prstGeom prst="rect">
            <a:avLst/>
          </a:prstGeom>
          <a:solidFill>
            <a:srgbClr val="962B7C"/>
          </a:solidFill>
          <a:ln w="12700">
            <a:solidFill>
              <a:srgbClr val="962B7C"/>
            </a:solidFill>
            <a:prstDash val="solid"/>
          </a:ln>
        </p:spPr>
      </p:sp>
      <p:sp>
        <p:nvSpPr>
          <p:cNvPr id="14" name="Shape 12"/>
          <p:cNvSpPr/>
          <p:nvPr/>
        </p:nvSpPr>
        <p:spPr>
          <a:xfrm>
            <a:off x="11335817" y="380756"/>
            <a:ext cx="76810" cy="76810"/>
          </a:xfrm>
          <a:prstGeom prst="ellipse">
            <a:avLst/>
          </a:prstGeom>
          <a:solidFill>
            <a:srgbClr val="FF9259"/>
          </a:solidFill>
          <a:ln w="12700">
            <a:solidFill>
              <a:srgbClr val="FF9259"/>
            </a:solidFill>
            <a:prstDash val="solid"/>
          </a:ln>
        </p:spPr>
      </p:sp>
      <p:sp>
        <p:nvSpPr>
          <p:cNvPr id="15" name="Shape 13"/>
          <p:cNvSpPr/>
          <p:nvPr/>
        </p:nvSpPr>
        <p:spPr>
          <a:xfrm>
            <a:off x="11489436" y="380756"/>
            <a:ext cx="76810" cy="76810"/>
          </a:xfrm>
          <a:prstGeom prst="ellipse">
            <a:avLst/>
          </a:prstGeom>
          <a:solidFill>
            <a:srgbClr val="09A1E5"/>
          </a:solidFill>
          <a:ln w="12700">
            <a:solidFill>
              <a:srgbClr val="09A1E5"/>
            </a:solidFill>
            <a:prstDash val="solid"/>
          </a:ln>
        </p:spPr>
      </p:sp>
      <p:sp>
        <p:nvSpPr>
          <p:cNvPr id="16" name="Shape 14"/>
          <p:cNvSpPr/>
          <p:nvPr/>
        </p:nvSpPr>
        <p:spPr>
          <a:xfrm>
            <a:off x="11335817" y="488290"/>
            <a:ext cx="76810" cy="76810"/>
          </a:xfrm>
          <a:prstGeom prst="ellipse">
            <a:avLst/>
          </a:prstGeom>
          <a:solidFill>
            <a:srgbClr val="49B296"/>
          </a:solidFill>
          <a:ln w="12700">
            <a:solidFill>
              <a:srgbClr val="49B296"/>
            </a:solidFill>
            <a:prstDash val="solid"/>
          </a:ln>
        </p:spPr>
      </p:sp>
      <p:sp>
        <p:nvSpPr>
          <p:cNvPr id="17" name="Shape 15"/>
          <p:cNvSpPr/>
          <p:nvPr/>
        </p:nvSpPr>
        <p:spPr>
          <a:xfrm>
            <a:off x="11489436" y="488290"/>
            <a:ext cx="76810" cy="76810"/>
          </a:xfrm>
          <a:prstGeom prst="ellipse">
            <a:avLst/>
          </a:prstGeom>
          <a:solidFill>
            <a:srgbClr val="FF5178"/>
          </a:solidFill>
          <a:ln w="12700">
            <a:solidFill>
              <a:srgbClr val="FF5178"/>
            </a:solidFill>
            <a:prstDash val="solid"/>
          </a:ln>
        </p:spPr>
      </p:sp>
      <p:sp>
        <p:nvSpPr>
          <p:cNvPr id="18" name="Text 16"/>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Thực hành 2 · Phân bổ nhà cung cấp vào giai đoạn mua và sau mua</a:t>
            </a:r>
            <a:endParaRPr lang="en-US" sz="2600" dirty="0"/>
          </a:p>
        </p:txBody>
      </p:sp>
      <p:sp>
        <p:nvSpPr>
          <p:cNvPr id="19" name="Text 17"/>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Phiếu W10_activity_S6_phan_bo_nha_cung_cap.md · Tình huống giả định.</a:t>
            </a:r>
            <a:endParaRPr lang="en-US" sz="1000" dirty="0"/>
          </a:p>
        </p:txBody>
      </p:sp>
      <p:sp>
        <p:nvSpPr>
          <p:cNvPr id="20" name="Text 18"/>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10   25</a:t>
            </a:r>
            <a:endParaRPr lang="en-US" sz="1000" dirty="0"/>
          </a:p>
        </p:txBody>
      </p:sp>
      <p:sp>
        <p:nvSpPr>
          <p:cNvPr id="22" name="Text 19"/>
          <p:cNvSpPr txBox="1"/>
          <p:nvPr/>
        </p:nvSpPr>
        <p:spPr>
          <a:xfrm>
            <a:off x="548640" y="1737360"/>
            <a:ext cx="11094415" cy="411480"/>
          </a:xfrm>
          <a:prstGeom prst="rect">
            <a:avLst/>
          </a:prstGeom>
          <a:noFill/>
          <a:ln/>
        </p:spPr>
        <p:txBody>
          <a:bodyPr wrap="square" lIns="0" tIns="0" rIns="0" bIns="0" rtlCol="0" anchor="ctr"/>
          <a:lstStyle/>
          <a:p>
            <a:pPr indent="0" marL="0">
              <a:buNone/>
            </a:pPr>
            <a:r>
              <a:rPr lang="en-US" sz="1300" dirty="0">
                <a:solidFill>
                  <a:srgbClr val="6E6878"/>
                </a:solidFill>
                <a:latin typeface="Alexandria" pitchFamily="34" charset="0"/>
                <a:ea typeface="Alexandria" pitchFamily="34" charset="-122"/>
                <a:cs typeface="Alexandria" pitchFamily="34" charset="-120"/>
              </a:rPr>
              <a:t>≥ 5 nhà cung cấp (bắt buộc khách sạn + AV) · ≥ 2 dòng ở giai đoạn sau mua · đánh dấu ⚠️ dòng rủi ro nhất</a:t>
            </a:r>
            <a:endParaRPr lang="en-US" sz="1300" dirty="0"/>
          </a:p>
        </p:txBody>
      </p:sp>
      <p:sp>
        <p:nvSpPr>
          <p:cNvPr id="23" name="Shape 20"/>
          <p:cNvSpPr/>
          <p:nvPr/>
        </p:nvSpPr>
        <p:spPr>
          <a:xfrm>
            <a:off x="548640" y="2286000"/>
            <a:ext cx="1772869" cy="640080"/>
          </a:xfrm>
          <a:prstGeom prst="roundRect">
            <a:avLst>
              <a:gd name="adj" fmla="val 50000"/>
            </a:avLst>
          </a:prstGeom>
          <a:solidFill>
            <a:srgbClr val="FF9259"/>
          </a:solidFill>
          <a:ln w="12700">
            <a:solidFill>
              <a:srgbClr val="FF9259"/>
            </a:solidFill>
            <a:prstDash val="solid"/>
          </a:ln>
        </p:spPr>
      </p:sp>
      <p:sp>
        <p:nvSpPr>
          <p:cNvPr id="24" name="Text 21"/>
          <p:cNvSpPr txBox="1"/>
          <p:nvPr/>
        </p:nvSpPr>
        <p:spPr>
          <a:xfrm>
            <a:off x="621792" y="2286000"/>
            <a:ext cx="1626565" cy="640080"/>
          </a:xfrm>
          <a:prstGeom prst="rect">
            <a:avLst/>
          </a:prstGeom>
          <a:noFill/>
          <a:ln/>
        </p:spPr>
        <p:txBody>
          <a:bodyPr wrap="square" lIns="0" tIns="0" rIns="0" bIns="0" rtlCol="0" anchor="ctr"/>
          <a:lstStyle/>
          <a:p>
            <a:pPr algn="ctr" indent="0" marL="0">
              <a:buNone/>
            </a:pPr>
            <a:r>
              <a:rPr lang="en-US" sz="1200" b="1" dirty="0">
                <a:solidFill>
                  <a:srgbClr val="2A2238"/>
                </a:solidFill>
                <a:latin typeface="Alexandria" pitchFamily="34" charset="0"/>
                <a:ea typeface="Alexandria" pitchFamily="34" charset="-122"/>
                <a:cs typeface="Alexandria" pitchFamily="34" charset="-120"/>
              </a:rPr>
              <a:t>Nhà cung cấp</a:t>
            </a:r>
            <a:endParaRPr lang="en-US" sz="1200" dirty="0"/>
          </a:p>
        </p:txBody>
      </p:sp>
      <p:sp>
        <p:nvSpPr>
          <p:cNvPr id="25" name="Shape 22"/>
          <p:cNvSpPr/>
          <p:nvPr/>
        </p:nvSpPr>
        <p:spPr>
          <a:xfrm>
            <a:off x="548640" y="3063240"/>
            <a:ext cx="1772869" cy="384048"/>
          </a:xfrm>
          <a:prstGeom prst="roundRect">
            <a:avLst>
              <a:gd name="adj" fmla="val 28571"/>
            </a:avLst>
          </a:prstGeom>
          <a:solidFill>
            <a:srgbClr val="F3F0E6"/>
          </a:solidFill>
          <a:ln w="12700">
            <a:solidFill>
              <a:srgbClr val="DCD7C8"/>
            </a:solidFill>
            <a:prstDash val="solid"/>
          </a:ln>
        </p:spPr>
      </p:sp>
      <p:sp>
        <p:nvSpPr>
          <p:cNvPr id="26" name="Text 23"/>
          <p:cNvSpPr txBox="1"/>
          <p:nvPr/>
        </p:nvSpPr>
        <p:spPr>
          <a:xfrm>
            <a:off x="640080" y="3063240"/>
            <a:ext cx="1589989" cy="384048"/>
          </a:xfrm>
          <a:prstGeom prst="rect">
            <a:avLst/>
          </a:prstGeom>
          <a:noFill/>
          <a:ln/>
        </p:spPr>
        <p:txBody>
          <a:bodyPr wrap="square" lIns="0" tIns="0" rIns="0" bIns="0" rtlCol="0" anchor="ctr"/>
          <a:lstStyle/>
          <a:p>
            <a:pPr algn="ctr" indent="0" marL="0">
              <a:buNone/>
            </a:pPr>
            <a:r>
              <a:rPr lang="en-US" sz="1200" b="1" dirty="0">
                <a:solidFill>
                  <a:srgbClr val="2A2238"/>
                </a:solidFill>
                <a:latin typeface="Alexandria" pitchFamily="34" charset="0"/>
                <a:ea typeface="Alexandria" pitchFamily="34" charset="-122"/>
                <a:cs typeface="Alexandria" pitchFamily="34" charset="-120"/>
              </a:rPr>
              <a:t>Khách sạn</a:t>
            </a:r>
            <a:endParaRPr lang="en-US" sz="1200" dirty="0"/>
          </a:p>
        </p:txBody>
      </p:sp>
      <p:sp>
        <p:nvSpPr>
          <p:cNvPr id="27" name="Shape 24"/>
          <p:cNvSpPr/>
          <p:nvPr/>
        </p:nvSpPr>
        <p:spPr>
          <a:xfrm>
            <a:off x="548640" y="3520440"/>
            <a:ext cx="1772869" cy="384048"/>
          </a:xfrm>
          <a:prstGeom prst="roundRect">
            <a:avLst>
              <a:gd name="adj" fmla="val 28571"/>
            </a:avLst>
          </a:prstGeom>
          <a:solidFill>
            <a:srgbClr val="F3F0E6"/>
          </a:solidFill>
          <a:ln w="12700">
            <a:solidFill>
              <a:srgbClr val="DCD7C8"/>
            </a:solidFill>
            <a:prstDash val="solid"/>
          </a:ln>
        </p:spPr>
      </p:sp>
      <p:sp>
        <p:nvSpPr>
          <p:cNvPr id="28" name="Text 25"/>
          <p:cNvSpPr txBox="1"/>
          <p:nvPr/>
        </p:nvSpPr>
        <p:spPr>
          <a:xfrm>
            <a:off x="640080" y="3520440"/>
            <a:ext cx="1589989" cy="384048"/>
          </a:xfrm>
          <a:prstGeom prst="rect">
            <a:avLst/>
          </a:prstGeom>
          <a:noFill/>
          <a:ln/>
        </p:spPr>
        <p:txBody>
          <a:bodyPr wrap="square" lIns="0" tIns="0" rIns="0" bIns="0" rtlCol="0" anchor="ctr"/>
          <a:lstStyle/>
          <a:p>
            <a:pPr algn="ctr" indent="0" marL="0">
              <a:buNone/>
            </a:pPr>
            <a:r>
              <a:rPr lang="en-US" sz="1200" b="1" dirty="0">
                <a:solidFill>
                  <a:srgbClr val="2A2238"/>
                </a:solidFill>
                <a:latin typeface="Alexandria" pitchFamily="34" charset="0"/>
                <a:ea typeface="Alexandria" pitchFamily="34" charset="-122"/>
                <a:cs typeface="Alexandria" pitchFamily="34" charset="-120"/>
              </a:rPr>
              <a:t>AV – livestream</a:t>
            </a:r>
            <a:endParaRPr lang="en-US" sz="1200" dirty="0"/>
          </a:p>
        </p:txBody>
      </p:sp>
      <p:sp>
        <p:nvSpPr>
          <p:cNvPr id="29" name="Shape 26"/>
          <p:cNvSpPr/>
          <p:nvPr/>
        </p:nvSpPr>
        <p:spPr>
          <a:xfrm>
            <a:off x="548640" y="3977640"/>
            <a:ext cx="1772869" cy="384048"/>
          </a:xfrm>
          <a:prstGeom prst="roundRect">
            <a:avLst>
              <a:gd name="adj" fmla="val 28571"/>
            </a:avLst>
          </a:prstGeom>
          <a:solidFill>
            <a:srgbClr val="F3F0E6"/>
          </a:solidFill>
          <a:ln w="12700">
            <a:solidFill>
              <a:srgbClr val="DCD7C8"/>
            </a:solidFill>
            <a:prstDash val="solid"/>
          </a:ln>
        </p:spPr>
      </p:sp>
      <p:sp>
        <p:nvSpPr>
          <p:cNvPr id="30" name="Text 27"/>
          <p:cNvSpPr txBox="1"/>
          <p:nvPr/>
        </p:nvSpPr>
        <p:spPr>
          <a:xfrm>
            <a:off x="640080" y="3977640"/>
            <a:ext cx="1589989" cy="384048"/>
          </a:xfrm>
          <a:prstGeom prst="rect">
            <a:avLst/>
          </a:prstGeom>
          <a:noFill/>
          <a:ln/>
        </p:spPr>
        <p:txBody>
          <a:bodyPr wrap="square" lIns="0" tIns="0" rIns="0" bIns="0" rtlCol="0" anchor="ctr"/>
          <a:lstStyle/>
          <a:p>
            <a:pPr algn="ctr" indent="0" marL="0">
              <a:buNone/>
            </a:pPr>
            <a:r>
              <a:rPr lang="en-US" sz="1200" b="1" dirty="0">
                <a:solidFill>
                  <a:srgbClr val="2A2238"/>
                </a:solidFill>
                <a:latin typeface="Alexandria" pitchFamily="34" charset="0"/>
                <a:ea typeface="Alexandria" pitchFamily="34" charset="-122"/>
                <a:cs typeface="Alexandria" pitchFamily="34" charset="-120"/>
              </a:rPr>
              <a:t>…</a:t>
            </a:r>
            <a:endParaRPr lang="en-US" sz="1200" dirty="0"/>
          </a:p>
        </p:txBody>
      </p:sp>
      <p:sp>
        <p:nvSpPr>
          <p:cNvPr id="31" name="Shape 28"/>
          <p:cNvSpPr/>
          <p:nvPr/>
        </p:nvSpPr>
        <p:spPr>
          <a:xfrm>
            <a:off x="2412949" y="2286000"/>
            <a:ext cx="1772869" cy="640080"/>
          </a:xfrm>
          <a:prstGeom prst="roundRect">
            <a:avLst>
              <a:gd name="adj" fmla="val 50000"/>
            </a:avLst>
          </a:prstGeom>
          <a:solidFill>
            <a:srgbClr val="962B7C"/>
          </a:solidFill>
          <a:ln w="12700">
            <a:solidFill>
              <a:srgbClr val="962B7C"/>
            </a:solidFill>
            <a:prstDash val="solid"/>
          </a:ln>
        </p:spPr>
      </p:sp>
      <p:sp>
        <p:nvSpPr>
          <p:cNvPr id="32" name="Text 29"/>
          <p:cNvSpPr txBox="1"/>
          <p:nvPr/>
        </p:nvSpPr>
        <p:spPr>
          <a:xfrm>
            <a:off x="2486101" y="2286000"/>
            <a:ext cx="1626565"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Alexandria" pitchFamily="34" charset="0"/>
                <a:ea typeface="Alexandria" pitchFamily="34" charset="-122"/>
                <a:cs typeface="Alexandria" pitchFamily="34" charset="-120"/>
              </a:rPr>
              <a:t>Giai đoạn</a:t>
            </a:r>
            <a:endParaRPr lang="en-US" sz="1200" dirty="0"/>
          </a:p>
        </p:txBody>
      </p:sp>
      <p:sp>
        <p:nvSpPr>
          <p:cNvPr id="33" name="Shape 30"/>
          <p:cNvSpPr/>
          <p:nvPr/>
        </p:nvSpPr>
        <p:spPr>
          <a:xfrm>
            <a:off x="2412949" y="3063240"/>
            <a:ext cx="1772869" cy="384048"/>
          </a:xfrm>
          <a:prstGeom prst="roundRect">
            <a:avLst>
              <a:gd name="adj" fmla="val 28571"/>
            </a:avLst>
          </a:prstGeom>
          <a:solidFill>
            <a:srgbClr val="FFFFFF"/>
          </a:solidFill>
          <a:ln w="12700">
            <a:solidFill>
              <a:srgbClr val="DCD7C8"/>
            </a:solidFill>
            <a:prstDash val="solid"/>
          </a:ln>
        </p:spPr>
      </p:sp>
      <p:sp>
        <p:nvSpPr>
          <p:cNvPr id="34" name="Text 31"/>
          <p:cNvSpPr txBox="1"/>
          <p:nvPr/>
        </p:nvSpPr>
        <p:spPr>
          <a:xfrm>
            <a:off x="2504389" y="3063240"/>
            <a:ext cx="1589989" cy="384048"/>
          </a:xfrm>
          <a:prstGeom prst="rect">
            <a:avLst/>
          </a:prstGeom>
          <a:noFill/>
          <a:ln/>
        </p:spPr>
        <p:txBody>
          <a:bodyPr wrap="square" lIns="0" tIns="0" rIns="0" bIns="0" rtlCol="0" anchor="ctr"/>
          <a:lstStyle/>
          <a:p>
            <a:pPr algn="ctr" indent="0" marL="0">
              <a:buNone/>
            </a:pPr>
            <a:r>
              <a:rPr lang="en-US" sz="1100" dirty="0">
                <a:solidFill>
                  <a:srgbClr val="6E6878"/>
                </a:solidFill>
                <a:latin typeface="Alexandria" pitchFamily="34" charset="0"/>
                <a:ea typeface="Alexandria" pitchFamily="34" charset="-122"/>
                <a:cs typeface="Alexandria" pitchFamily="34" charset="-120"/>
              </a:rPr>
              <a:t>mua</a:t>
            </a:r>
            <a:endParaRPr lang="en-US" sz="1100" dirty="0"/>
          </a:p>
        </p:txBody>
      </p:sp>
      <p:sp>
        <p:nvSpPr>
          <p:cNvPr id="35" name="Shape 32"/>
          <p:cNvSpPr/>
          <p:nvPr/>
        </p:nvSpPr>
        <p:spPr>
          <a:xfrm>
            <a:off x="2412949" y="3520440"/>
            <a:ext cx="1772869" cy="384048"/>
          </a:xfrm>
          <a:prstGeom prst="roundRect">
            <a:avLst>
              <a:gd name="adj" fmla="val 28571"/>
            </a:avLst>
          </a:prstGeom>
          <a:solidFill>
            <a:srgbClr val="FFFFFF"/>
          </a:solidFill>
          <a:ln w="12700">
            <a:solidFill>
              <a:srgbClr val="DCD7C8"/>
            </a:solidFill>
            <a:prstDash val="solid"/>
          </a:ln>
        </p:spPr>
      </p:sp>
      <p:sp>
        <p:nvSpPr>
          <p:cNvPr id="36" name="Text 33"/>
          <p:cNvSpPr txBox="1"/>
          <p:nvPr/>
        </p:nvSpPr>
        <p:spPr>
          <a:xfrm>
            <a:off x="2504389" y="3520440"/>
            <a:ext cx="1589989" cy="384048"/>
          </a:xfrm>
          <a:prstGeom prst="rect">
            <a:avLst/>
          </a:prstGeom>
          <a:noFill/>
          <a:ln/>
        </p:spPr>
        <p:txBody>
          <a:bodyPr wrap="square" lIns="0" tIns="0" rIns="0" bIns="0" rtlCol="0" anchor="ctr"/>
          <a:lstStyle/>
          <a:p>
            <a:pPr algn="ctr" indent="0" marL="0">
              <a:buNone/>
            </a:pPr>
            <a:r>
              <a:rPr lang="en-US" sz="1100" dirty="0">
                <a:solidFill>
                  <a:srgbClr val="6E6878"/>
                </a:solidFill>
                <a:latin typeface="Alexandria" pitchFamily="34" charset="0"/>
                <a:ea typeface="Alexandria" pitchFamily="34" charset="-122"/>
                <a:cs typeface="Alexandria" pitchFamily="34" charset="-120"/>
              </a:rPr>
              <a:t>mua / sau mua</a:t>
            </a:r>
            <a:endParaRPr lang="en-US" sz="1100" dirty="0"/>
          </a:p>
        </p:txBody>
      </p:sp>
      <p:sp>
        <p:nvSpPr>
          <p:cNvPr id="37" name="Shape 34"/>
          <p:cNvSpPr/>
          <p:nvPr/>
        </p:nvSpPr>
        <p:spPr>
          <a:xfrm>
            <a:off x="2412949" y="3977640"/>
            <a:ext cx="1772869" cy="384048"/>
          </a:xfrm>
          <a:prstGeom prst="roundRect">
            <a:avLst>
              <a:gd name="adj" fmla="val 28571"/>
            </a:avLst>
          </a:prstGeom>
          <a:solidFill>
            <a:srgbClr val="FFFFFF"/>
          </a:solidFill>
          <a:ln w="12700">
            <a:solidFill>
              <a:srgbClr val="DCD7C8"/>
            </a:solidFill>
            <a:prstDash val="solid"/>
          </a:ln>
        </p:spPr>
      </p:sp>
      <p:sp>
        <p:nvSpPr>
          <p:cNvPr id="38" name="Shape 35"/>
          <p:cNvSpPr/>
          <p:nvPr/>
        </p:nvSpPr>
        <p:spPr>
          <a:xfrm>
            <a:off x="4277258" y="2286000"/>
            <a:ext cx="1772869" cy="640080"/>
          </a:xfrm>
          <a:prstGeom prst="roundRect">
            <a:avLst>
              <a:gd name="adj" fmla="val 50000"/>
            </a:avLst>
          </a:prstGeom>
          <a:solidFill>
            <a:srgbClr val="09A1E5"/>
          </a:solidFill>
          <a:ln w="12700">
            <a:solidFill>
              <a:srgbClr val="09A1E5"/>
            </a:solidFill>
            <a:prstDash val="solid"/>
          </a:ln>
        </p:spPr>
      </p:sp>
      <p:sp>
        <p:nvSpPr>
          <p:cNvPr id="39" name="Text 36"/>
          <p:cNvSpPr txBox="1"/>
          <p:nvPr/>
        </p:nvSpPr>
        <p:spPr>
          <a:xfrm>
            <a:off x="4350410" y="2286000"/>
            <a:ext cx="1626565"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Alexandria" pitchFamily="34" charset="0"/>
                <a:ea typeface="Alexandria" pitchFamily="34" charset="-122"/>
                <a:cs typeface="Alexandria" pitchFamily="34" charset="-120"/>
              </a:rPr>
              <a:t>Điểm chạm với An Phát</a:t>
            </a:r>
            <a:endParaRPr lang="en-US" sz="1200" dirty="0"/>
          </a:p>
        </p:txBody>
      </p:sp>
      <p:sp>
        <p:nvSpPr>
          <p:cNvPr id="40" name="Shape 37"/>
          <p:cNvSpPr/>
          <p:nvPr/>
        </p:nvSpPr>
        <p:spPr>
          <a:xfrm>
            <a:off x="4277258" y="3063240"/>
            <a:ext cx="1772869" cy="384048"/>
          </a:xfrm>
          <a:prstGeom prst="roundRect">
            <a:avLst>
              <a:gd name="adj" fmla="val 28571"/>
            </a:avLst>
          </a:prstGeom>
          <a:solidFill>
            <a:srgbClr val="FFFFFF"/>
          </a:solidFill>
          <a:ln w="12700">
            <a:solidFill>
              <a:srgbClr val="DCD7C8"/>
            </a:solidFill>
            <a:prstDash val="solid"/>
          </a:ln>
        </p:spPr>
      </p:sp>
      <p:sp>
        <p:nvSpPr>
          <p:cNvPr id="41" name="Shape 38"/>
          <p:cNvSpPr/>
          <p:nvPr/>
        </p:nvSpPr>
        <p:spPr>
          <a:xfrm>
            <a:off x="4277258" y="3520440"/>
            <a:ext cx="1772869" cy="384048"/>
          </a:xfrm>
          <a:prstGeom prst="roundRect">
            <a:avLst>
              <a:gd name="adj" fmla="val 28571"/>
            </a:avLst>
          </a:prstGeom>
          <a:solidFill>
            <a:srgbClr val="FFFFFF"/>
          </a:solidFill>
          <a:ln w="12700">
            <a:solidFill>
              <a:srgbClr val="DCD7C8"/>
            </a:solidFill>
            <a:prstDash val="solid"/>
          </a:ln>
        </p:spPr>
      </p:sp>
      <p:sp>
        <p:nvSpPr>
          <p:cNvPr id="42" name="Shape 39"/>
          <p:cNvSpPr/>
          <p:nvPr/>
        </p:nvSpPr>
        <p:spPr>
          <a:xfrm>
            <a:off x="4277258" y="3977640"/>
            <a:ext cx="1772869" cy="384048"/>
          </a:xfrm>
          <a:prstGeom prst="roundRect">
            <a:avLst>
              <a:gd name="adj" fmla="val 28571"/>
            </a:avLst>
          </a:prstGeom>
          <a:solidFill>
            <a:srgbClr val="FFFFFF"/>
          </a:solidFill>
          <a:ln w="12700">
            <a:solidFill>
              <a:srgbClr val="DCD7C8"/>
            </a:solidFill>
            <a:prstDash val="solid"/>
          </a:ln>
        </p:spPr>
      </p:sp>
      <p:sp>
        <p:nvSpPr>
          <p:cNvPr id="43" name="Shape 40"/>
          <p:cNvSpPr/>
          <p:nvPr/>
        </p:nvSpPr>
        <p:spPr>
          <a:xfrm>
            <a:off x="6141568" y="2286000"/>
            <a:ext cx="1772869" cy="640080"/>
          </a:xfrm>
          <a:prstGeom prst="roundRect">
            <a:avLst>
              <a:gd name="adj" fmla="val 50000"/>
            </a:avLst>
          </a:prstGeom>
          <a:solidFill>
            <a:srgbClr val="FF5178"/>
          </a:solidFill>
          <a:ln w="12700">
            <a:solidFill>
              <a:srgbClr val="FF5178"/>
            </a:solidFill>
            <a:prstDash val="solid"/>
          </a:ln>
        </p:spPr>
      </p:sp>
      <p:sp>
        <p:nvSpPr>
          <p:cNvPr id="44" name="Text 41"/>
          <p:cNvSpPr txBox="1"/>
          <p:nvPr/>
        </p:nvSpPr>
        <p:spPr>
          <a:xfrm>
            <a:off x="6214720" y="2286000"/>
            <a:ext cx="1626565"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Alexandria" pitchFamily="34" charset="0"/>
                <a:ea typeface="Alexandria" pitchFamily="34" charset="-122"/>
                <a:cs typeface="Alexandria" pitchFamily="34" charset="-120"/>
              </a:rPr>
              <a:t>Ai của An Phát thấy</a:t>
            </a:r>
            <a:endParaRPr lang="en-US" sz="1200" dirty="0"/>
          </a:p>
        </p:txBody>
      </p:sp>
      <p:sp>
        <p:nvSpPr>
          <p:cNvPr id="45" name="Shape 42"/>
          <p:cNvSpPr/>
          <p:nvPr/>
        </p:nvSpPr>
        <p:spPr>
          <a:xfrm>
            <a:off x="6141568" y="3063240"/>
            <a:ext cx="1772869" cy="384048"/>
          </a:xfrm>
          <a:prstGeom prst="roundRect">
            <a:avLst>
              <a:gd name="adj" fmla="val 28571"/>
            </a:avLst>
          </a:prstGeom>
          <a:solidFill>
            <a:srgbClr val="FFFFFF"/>
          </a:solidFill>
          <a:ln w="12700">
            <a:solidFill>
              <a:srgbClr val="DCD7C8"/>
            </a:solidFill>
            <a:prstDash val="solid"/>
          </a:ln>
        </p:spPr>
      </p:sp>
      <p:sp>
        <p:nvSpPr>
          <p:cNvPr id="46" name="Shape 43"/>
          <p:cNvSpPr/>
          <p:nvPr/>
        </p:nvSpPr>
        <p:spPr>
          <a:xfrm>
            <a:off x="6141568" y="3520440"/>
            <a:ext cx="1772869" cy="384048"/>
          </a:xfrm>
          <a:prstGeom prst="roundRect">
            <a:avLst>
              <a:gd name="adj" fmla="val 28571"/>
            </a:avLst>
          </a:prstGeom>
          <a:solidFill>
            <a:srgbClr val="FFFFFF"/>
          </a:solidFill>
          <a:ln w="12700">
            <a:solidFill>
              <a:srgbClr val="DCD7C8"/>
            </a:solidFill>
            <a:prstDash val="solid"/>
          </a:ln>
        </p:spPr>
      </p:sp>
      <p:sp>
        <p:nvSpPr>
          <p:cNvPr id="47" name="Shape 44"/>
          <p:cNvSpPr/>
          <p:nvPr/>
        </p:nvSpPr>
        <p:spPr>
          <a:xfrm>
            <a:off x="6141568" y="3977640"/>
            <a:ext cx="1772869" cy="384048"/>
          </a:xfrm>
          <a:prstGeom prst="roundRect">
            <a:avLst>
              <a:gd name="adj" fmla="val 28571"/>
            </a:avLst>
          </a:prstGeom>
          <a:solidFill>
            <a:srgbClr val="FFFFFF"/>
          </a:solidFill>
          <a:ln w="12700">
            <a:solidFill>
              <a:srgbClr val="DCD7C8"/>
            </a:solidFill>
            <a:prstDash val="solid"/>
          </a:ln>
        </p:spPr>
      </p:sp>
      <p:sp>
        <p:nvSpPr>
          <p:cNvPr id="48" name="Shape 45"/>
          <p:cNvSpPr/>
          <p:nvPr/>
        </p:nvSpPr>
        <p:spPr>
          <a:xfrm>
            <a:off x="8005877" y="2286000"/>
            <a:ext cx="1772869" cy="640080"/>
          </a:xfrm>
          <a:prstGeom prst="roundRect">
            <a:avLst>
              <a:gd name="adj" fmla="val 50000"/>
            </a:avLst>
          </a:prstGeom>
          <a:solidFill>
            <a:srgbClr val="49B296"/>
          </a:solidFill>
          <a:ln w="12700">
            <a:solidFill>
              <a:srgbClr val="49B296"/>
            </a:solidFill>
            <a:prstDash val="solid"/>
          </a:ln>
        </p:spPr>
      </p:sp>
      <p:sp>
        <p:nvSpPr>
          <p:cNvPr id="49" name="Text 46"/>
          <p:cNvSpPr txBox="1"/>
          <p:nvPr/>
        </p:nvSpPr>
        <p:spPr>
          <a:xfrm>
            <a:off x="8079029" y="2286000"/>
            <a:ext cx="1626565"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Alexandria" pitchFamily="34" charset="0"/>
                <a:ea typeface="Alexandria" pitchFamily="34" charset="-122"/>
                <a:cs typeface="Alexandria" pitchFamily="34" charset="-120"/>
              </a:rPr>
              <a:t>Hỏng thì ảnh hưởng gì</a:t>
            </a:r>
            <a:endParaRPr lang="en-US" sz="1200" dirty="0"/>
          </a:p>
        </p:txBody>
      </p:sp>
      <p:sp>
        <p:nvSpPr>
          <p:cNvPr id="50" name="Shape 47"/>
          <p:cNvSpPr/>
          <p:nvPr/>
        </p:nvSpPr>
        <p:spPr>
          <a:xfrm>
            <a:off x="8005877" y="3063240"/>
            <a:ext cx="1772869" cy="384048"/>
          </a:xfrm>
          <a:prstGeom prst="roundRect">
            <a:avLst>
              <a:gd name="adj" fmla="val 28571"/>
            </a:avLst>
          </a:prstGeom>
          <a:solidFill>
            <a:srgbClr val="FFFFFF"/>
          </a:solidFill>
          <a:ln w="12700">
            <a:solidFill>
              <a:srgbClr val="DCD7C8"/>
            </a:solidFill>
            <a:prstDash val="solid"/>
          </a:ln>
        </p:spPr>
      </p:sp>
      <p:sp>
        <p:nvSpPr>
          <p:cNvPr id="51" name="Shape 48"/>
          <p:cNvSpPr/>
          <p:nvPr/>
        </p:nvSpPr>
        <p:spPr>
          <a:xfrm>
            <a:off x="8005877" y="3520440"/>
            <a:ext cx="1772869" cy="384048"/>
          </a:xfrm>
          <a:prstGeom prst="roundRect">
            <a:avLst>
              <a:gd name="adj" fmla="val 28571"/>
            </a:avLst>
          </a:prstGeom>
          <a:solidFill>
            <a:srgbClr val="FFFFFF"/>
          </a:solidFill>
          <a:ln w="12700">
            <a:solidFill>
              <a:srgbClr val="DCD7C8"/>
            </a:solidFill>
            <a:prstDash val="solid"/>
          </a:ln>
        </p:spPr>
      </p:sp>
      <p:sp>
        <p:nvSpPr>
          <p:cNvPr id="52" name="Shape 49"/>
          <p:cNvSpPr/>
          <p:nvPr/>
        </p:nvSpPr>
        <p:spPr>
          <a:xfrm>
            <a:off x="8005877" y="3977640"/>
            <a:ext cx="1772869" cy="384048"/>
          </a:xfrm>
          <a:prstGeom prst="roundRect">
            <a:avLst>
              <a:gd name="adj" fmla="val 28571"/>
            </a:avLst>
          </a:prstGeom>
          <a:solidFill>
            <a:srgbClr val="FFFFFF"/>
          </a:solidFill>
          <a:ln w="12700">
            <a:solidFill>
              <a:srgbClr val="DCD7C8"/>
            </a:solidFill>
            <a:prstDash val="solid"/>
          </a:ln>
        </p:spPr>
      </p:sp>
      <p:sp>
        <p:nvSpPr>
          <p:cNvPr id="53" name="Shape 50"/>
          <p:cNvSpPr/>
          <p:nvPr/>
        </p:nvSpPr>
        <p:spPr>
          <a:xfrm>
            <a:off x="9870186" y="2286000"/>
            <a:ext cx="1772869" cy="640080"/>
          </a:xfrm>
          <a:prstGeom prst="roundRect">
            <a:avLst>
              <a:gd name="adj" fmla="val 50000"/>
            </a:avLst>
          </a:prstGeom>
          <a:solidFill>
            <a:srgbClr val="962B7C"/>
          </a:solidFill>
          <a:ln w="12700">
            <a:solidFill>
              <a:srgbClr val="962B7C"/>
            </a:solidFill>
            <a:prstDash val="solid"/>
          </a:ln>
        </p:spPr>
      </p:sp>
      <p:sp>
        <p:nvSpPr>
          <p:cNvPr id="54" name="Text 51"/>
          <p:cNvSpPr txBox="1"/>
          <p:nvPr/>
        </p:nvSpPr>
        <p:spPr>
          <a:xfrm>
            <a:off x="9943338" y="2286000"/>
            <a:ext cx="1626565"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Alexandria" pitchFamily="34" charset="0"/>
                <a:ea typeface="Alexandria" pitchFamily="34" charset="-122"/>
                <a:cs typeface="Alexandria" pitchFamily="34" charset="-120"/>
              </a:rPr>
              <a:t>Nova quản lý bằng gì</a:t>
            </a:r>
            <a:endParaRPr lang="en-US" sz="1200" dirty="0"/>
          </a:p>
        </p:txBody>
      </p:sp>
      <p:sp>
        <p:nvSpPr>
          <p:cNvPr id="55" name="Shape 52"/>
          <p:cNvSpPr/>
          <p:nvPr/>
        </p:nvSpPr>
        <p:spPr>
          <a:xfrm>
            <a:off x="9870186" y="3063240"/>
            <a:ext cx="1772869" cy="384048"/>
          </a:xfrm>
          <a:prstGeom prst="roundRect">
            <a:avLst>
              <a:gd name="adj" fmla="val 28571"/>
            </a:avLst>
          </a:prstGeom>
          <a:solidFill>
            <a:srgbClr val="FFFFFF"/>
          </a:solidFill>
          <a:ln w="12700">
            <a:solidFill>
              <a:srgbClr val="DCD7C8"/>
            </a:solidFill>
            <a:prstDash val="solid"/>
          </a:ln>
        </p:spPr>
      </p:sp>
      <p:sp>
        <p:nvSpPr>
          <p:cNvPr id="56" name="Shape 53"/>
          <p:cNvSpPr/>
          <p:nvPr/>
        </p:nvSpPr>
        <p:spPr>
          <a:xfrm>
            <a:off x="9870186" y="3520440"/>
            <a:ext cx="1772869" cy="384048"/>
          </a:xfrm>
          <a:prstGeom prst="roundRect">
            <a:avLst>
              <a:gd name="adj" fmla="val 28571"/>
            </a:avLst>
          </a:prstGeom>
          <a:solidFill>
            <a:srgbClr val="FFFFFF"/>
          </a:solidFill>
          <a:ln w="12700">
            <a:solidFill>
              <a:srgbClr val="DCD7C8"/>
            </a:solidFill>
            <a:prstDash val="solid"/>
          </a:ln>
        </p:spPr>
      </p:sp>
      <p:sp>
        <p:nvSpPr>
          <p:cNvPr id="57" name="Shape 54"/>
          <p:cNvSpPr/>
          <p:nvPr/>
        </p:nvSpPr>
        <p:spPr>
          <a:xfrm>
            <a:off x="9870186" y="3977640"/>
            <a:ext cx="1772869" cy="384048"/>
          </a:xfrm>
          <a:prstGeom prst="roundRect">
            <a:avLst>
              <a:gd name="adj" fmla="val 28571"/>
            </a:avLst>
          </a:prstGeom>
          <a:solidFill>
            <a:srgbClr val="FFFFFF"/>
          </a:solidFill>
          <a:ln w="12700">
            <a:solidFill>
              <a:srgbClr val="DCD7C8"/>
            </a:solidFill>
            <a:prstDash val="solid"/>
          </a:ln>
        </p:spPr>
      </p:sp>
      <p:sp>
        <p:nvSpPr>
          <p:cNvPr id="58" name="Shape 55"/>
          <p:cNvSpPr/>
          <p:nvPr/>
        </p:nvSpPr>
        <p:spPr>
          <a:xfrm>
            <a:off x="548640" y="4572000"/>
            <a:ext cx="777240" cy="777240"/>
          </a:xfrm>
          <a:prstGeom prst="ellipse">
            <a:avLst/>
          </a:prstGeom>
          <a:solidFill>
            <a:srgbClr val="FF9259"/>
          </a:solidFill>
          <a:ln w="12700">
            <a:solidFill>
              <a:srgbClr val="FF9259"/>
            </a:solidFill>
            <a:prstDash val="solid"/>
          </a:ln>
        </p:spPr>
      </p:sp>
      <p:sp>
        <p:nvSpPr>
          <p:cNvPr id="59" name="Text 56"/>
          <p:cNvSpPr txBox="1"/>
          <p:nvPr/>
        </p:nvSpPr>
        <p:spPr>
          <a:xfrm>
            <a:off x="548640" y="4572000"/>
            <a:ext cx="777240" cy="777240"/>
          </a:xfrm>
          <a:prstGeom prst="rect">
            <a:avLst/>
          </a:prstGeom>
          <a:noFill/>
          <a:ln/>
        </p:spPr>
        <p:txBody>
          <a:bodyPr wrap="square" lIns="0" tIns="0" rIns="0" bIns="0" rtlCol="0" anchor="ctr"/>
          <a:lstStyle/>
          <a:p>
            <a:pPr algn="ctr" indent="0" marL="0">
              <a:buNone/>
            </a:pPr>
            <a:r>
              <a:rPr lang="en-US" sz="1700" b="1" dirty="0">
                <a:solidFill>
                  <a:srgbClr val="2A2238"/>
                </a:solidFill>
                <a:latin typeface="Alexandria" pitchFamily="34" charset="0"/>
                <a:ea typeface="Alexandria" pitchFamily="34" charset="-122"/>
                <a:cs typeface="Alexandria" pitchFamily="34" charset="-120"/>
              </a:rPr>
              <a:t>15’</a:t>
            </a:r>
            <a:endParaRPr lang="en-US" sz="1700" dirty="0"/>
          </a:p>
        </p:txBody>
      </p:sp>
      <p:sp>
        <p:nvSpPr>
          <p:cNvPr id="60" name="Text 57"/>
          <p:cNvSpPr txBox="1"/>
          <p:nvPr/>
        </p:nvSpPr>
        <p:spPr>
          <a:xfrm>
            <a:off x="1463040" y="4480560"/>
            <a:ext cx="2600858" cy="960120"/>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Lập bảng phân bổ trên A1</a:t>
            </a:r>
            <a:endParaRPr lang="en-US" sz="1300" dirty="0"/>
          </a:p>
        </p:txBody>
      </p:sp>
      <p:sp>
        <p:nvSpPr>
          <p:cNvPr id="61" name="Shape 58"/>
          <p:cNvSpPr/>
          <p:nvPr/>
        </p:nvSpPr>
        <p:spPr>
          <a:xfrm>
            <a:off x="4338218" y="4572000"/>
            <a:ext cx="777240" cy="777240"/>
          </a:xfrm>
          <a:prstGeom prst="ellipse">
            <a:avLst/>
          </a:prstGeom>
          <a:solidFill>
            <a:srgbClr val="FF5178"/>
          </a:solidFill>
          <a:ln w="12700">
            <a:solidFill>
              <a:srgbClr val="FF5178"/>
            </a:solidFill>
            <a:prstDash val="solid"/>
          </a:ln>
        </p:spPr>
      </p:sp>
      <p:sp>
        <p:nvSpPr>
          <p:cNvPr id="62" name="Text 59"/>
          <p:cNvSpPr txBox="1"/>
          <p:nvPr/>
        </p:nvSpPr>
        <p:spPr>
          <a:xfrm>
            <a:off x="4338218" y="4572000"/>
            <a:ext cx="77724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Alexandria" pitchFamily="34" charset="0"/>
                <a:ea typeface="Alexandria" pitchFamily="34" charset="-122"/>
                <a:cs typeface="Alexandria" pitchFamily="34" charset="-120"/>
              </a:rPr>
              <a:t>2×4’</a:t>
            </a:r>
            <a:endParaRPr lang="en-US" sz="1300" dirty="0"/>
          </a:p>
        </p:txBody>
      </p:sp>
      <p:sp>
        <p:nvSpPr>
          <p:cNvPr id="63" name="Text 60"/>
          <p:cNvSpPr txBox="1"/>
          <p:nvPr/>
        </p:nvSpPr>
        <p:spPr>
          <a:xfrm>
            <a:off x="5252618" y="4480560"/>
            <a:ext cx="2600858" cy="960120"/>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Xoay trạm: vai anh Khoa — 🟨 1 câu hỏi, 🟥 1 lo ngại</a:t>
            </a:r>
            <a:endParaRPr lang="en-US" sz="1300" dirty="0"/>
          </a:p>
        </p:txBody>
      </p:sp>
      <p:sp>
        <p:nvSpPr>
          <p:cNvPr id="64" name="Shape 61"/>
          <p:cNvSpPr/>
          <p:nvPr/>
        </p:nvSpPr>
        <p:spPr>
          <a:xfrm>
            <a:off x="8127797" y="4572000"/>
            <a:ext cx="777240" cy="777240"/>
          </a:xfrm>
          <a:prstGeom prst="ellipse">
            <a:avLst/>
          </a:prstGeom>
          <a:solidFill>
            <a:srgbClr val="49B296"/>
          </a:solidFill>
          <a:ln w="12700">
            <a:solidFill>
              <a:srgbClr val="49B296"/>
            </a:solidFill>
            <a:prstDash val="solid"/>
          </a:ln>
        </p:spPr>
      </p:sp>
      <p:sp>
        <p:nvSpPr>
          <p:cNvPr id="65" name="Text 62"/>
          <p:cNvSpPr txBox="1"/>
          <p:nvPr/>
        </p:nvSpPr>
        <p:spPr>
          <a:xfrm>
            <a:off x="8127797" y="4572000"/>
            <a:ext cx="777240" cy="777240"/>
          </a:xfrm>
          <a:prstGeom prst="rect">
            <a:avLst/>
          </a:prstGeom>
          <a:noFill/>
          <a:ln/>
        </p:spPr>
        <p:txBody>
          <a:bodyPr wrap="square" lIns="0" tIns="0" rIns="0" bIns="0" rtlCol="0" anchor="ctr"/>
          <a:lstStyle/>
          <a:p>
            <a:pPr algn="ctr" indent="0" marL="0">
              <a:buNone/>
            </a:pPr>
            <a:r>
              <a:rPr lang="en-US" sz="1700" b="1" dirty="0">
                <a:solidFill>
                  <a:srgbClr val="FFFFFF"/>
                </a:solidFill>
                <a:latin typeface="Alexandria" pitchFamily="34" charset="0"/>
                <a:ea typeface="Alexandria" pitchFamily="34" charset="-122"/>
                <a:cs typeface="Alexandria" pitchFamily="34" charset="-120"/>
              </a:rPr>
              <a:t>4’</a:t>
            </a:r>
            <a:endParaRPr lang="en-US" sz="1700" dirty="0"/>
          </a:p>
        </p:txBody>
      </p:sp>
      <p:sp>
        <p:nvSpPr>
          <p:cNvPr id="66" name="Text 63"/>
          <p:cNvSpPr txBox="1"/>
          <p:nvPr/>
        </p:nvSpPr>
        <p:spPr>
          <a:xfrm>
            <a:off x="9042197" y="4480560"/>
            <a:ext cx="2600858" cy="960120"/>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Về bàn, sửa một dòng</a:t>
            </a:r>
            <a:endParaRPr lang="en-US" sz="1300" dirty="0"/>
          </a:p>
        </p:txBody>
      </p:sp>
      <p:sp>
        <p:nvSpPr>
          <p:cNvPr id="67" name="Shape 64"/>
          <p:cNvSpPr/>
          <p:nvPr/>
        </p:nvSpPr>
        <p:spPr>
          <a:xfrm>
            <a:off x="548640" y="5577840"/>
            <a:ext cx="11094415" cy="548640"/>
          </a:xfrm>
          <a:prstGeom prst="roundRect">
            <a:avLst>
              <a:gd name="adj" fmla="val 20000"/>
            </a:avLst>
          </a:prstGeom>
          <a:solidFill>
            <a:srgbClr val="FFF3C4"/>
          </a:solidFill>
          <a:ln w="12700">
            <a:solidFill>
              <a:srgbClr val="FFD23B"/>
            </a:solidFill>
            <a:prstDash val="solid"/>
          </a:ln>
        </p:spPr>
      </p:sp>
      <p:sp>
        <p:nvSpPr>
          <p:cNvPr id="68" name="Text 65"/>
          <p:cNvSpPr txBox="1"/>
          <p:nvPr/>
        </p:nvSpPr>
        <p:spPr>
          <a:xfrm>
            <a:off x="822960" y="5577840"/>
            <a:ext cx="10545775" cy="548640"/>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Dùng bốn câu hỏi phân bổ (slide trước) cho mọi dòng.</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655064"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65506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10.1 Quy trình mua</a:t>
            </a:r>
            <a:endParaRPr lang="en-US" sz="1000" dirty="0"/>
          </a:p>
        </p:txBody>
      </p:sp>
      <p:sp>
        <p:nvSpPr>
          <p:cNvPr id="6" name="Shape 4"/>
          <p:cNvSpPr/>
          <p:nvPr/>
        </p:nvSpPr>
        <p:spPr>
          <a:xfrm>
            <a:off x="3145536" y="274320"/>
            <a:ext cx="1266444"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145536" y="274320"/>
            <a:ext cx="126644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10.2 Địa điểm</a:t>
            </a:r>
            <a:endParaRPr lang="en-US" sz="1000" dirty="0"/>
          </a:p>
        </p:txBody>
      </p:sp>
      <p:sp>
        <p:nvSpPr>
          <p:cNvPr id="8" name="Shape 6"/>
          <p:cNvSpPr/>
          <p:nvPr/>
        </p:nvSpPr>
        <p:spPr>
          <a:xfrm>
            <a:off x="4521708" y="274320"/>
            <a:ext cx="2354580"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521708" y="274320"/>
            <a:ext cx="235458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10.3 Hành trình Key Account</a:t>
            </a:r>
            <a:endParaRPr lang="en-US" sz="1000" dirty="0"/>
          </a:p>
        </p:txBody>
      </p:sp>
      <p:sp>
        <p:nvSpPr>
          <p:cNvPr id="10" name="Shape 8"/>
          <p:cNvSpPr/>
          <p:nvPr/>
        </p:nvSpPr>
        <p:spPr>
          <a:xfrm>
            <a:off x="6986016" y="274320"/>
            <a:ext cx="877824" cy="292608"/>
          </a:xfrm>
          <a:prstGeom prst="roundRect">
            <a:avLst>
              <a:gd name="adj" fmla="val 50000"/>
            </a:avLst>
          </a:prstGeom>
          <a:solidFill>
            <a:srgbClr val="49B296"/>
          </a:solidFill>
          <a:ln w="9525">
            <a:solidFill>
              <a:srgbClr val="49B296"/>
            </a:solidFill>
            <a:prstDash val="solid"/>
          </a:ln>
        </p:spPr>
      </p:sp>
      <p:sp>
        <p:nvSpPr>
          <p:cNvPr id="11" name="Text 9"/>
          <p:cNvSpPr txBox="1"/>
          <p:nvPr/>
        </p:nvSpPr>
        <p:spPr>
          <a:xfrm>
            <a:off x="6986016" y="274320"/>
            <a:ext cx="87782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384048" cy="384048"/>
          </a:xfrm>
          <a:prstGeom prst="roundRect">
            <a:avLst>
              <a:gd name="adj" fmla="val 18000"/>
            </a:avLst>
          </a:prstGeom>
          <a:solidFill>
            <a:srgbClr val="FFFFFF"/>
          </a:solidFill>
          <a:ln w="12700">
            <a:solidFill>
              <a:srgbClr val="2A2238"/>
            </a:solidFill>
            <a:prstDash val="solid"/>
          </a:ln>
        </p:spPr>
      </p:sp>
      <p:sp>
        <p:nvSpPr>
          <p:cNvPr id="13" name="Shape 11"/>
          <p:cNvSpPr/>
          <p:nvPr/>
        </p:nvSpPr>
        <p:spPr>
          <a:xfrm>
            <a:off x="11343498" y="265542"/>
            <a:ext cx="215067" cy="53767"/>
          </a:xfrm>
          <a:prstGeom prst="rect">
            <a:avLst/>
          </a:prstGeom>
          <a:solidFill>
            <a:srgbClr val="962B7C"/>
          </a:solidFill>
          <a:ln w="12700">
            <a:solidFill>
              <a:srgbClr val="962B7C"/>
            </a:solidFill>
            <a:prstDash val="solid"/>
          </a:ln>
        </p:spPr>
      </p:sp>
      <p:sp>
        <p:nvSpPr>
          <p:cNvPr id="14" name="Shape 12"/>
          <p:cNvSpPr/>
          <p:nvPr/>
        </p:nvSpPr>
        <p:spPr>
          <a:xfrm>
            <a:off x="11335817" y="380756"/>
            <a:ext cx="76810" cy="76810"/>
          </a:xfrm>
          <a:prstGeom prst="ellipse">
            <a:avLst/>
          </a:prstGeom>
          <a:solidFill>
            <a:srgbClr val="FF9259"/>
          </a:solidFill>
          <a:ln w="12700">
            <a:solidFill>
              <a:srgbClr val="FF9259"/>
            </a:solidFill>
            <a:prstDash val="solid"/>
          </a:ln>
        </p:spPr>
      </p:sp>
      <p:sp>
        <p:nvSpPr>
          <p:cNvPr id="15" name="Shape 13"/>
          <p:cNvSpPr/>
          <p:nvPr/>
        </p:nvSpPr>
        <p:spPr>
          <a:xfrm>
            <a:off x="11489436" y="380756"/>
            <a:ext cx="76810" cy="76810"/>
          </a:xfrm>
          <a:prstGeom prst="ellipse">
            <a:avLst/>
          </a:prstGeom>
          <a:solidFill>
            <a:srgbClr val="09A1E5"/>
          </a:solidFill>
          <a:ln w="12700">
            <a:solidFill>
              <a:srgbClr val="09A1E5"/>
            </a:solidFill>
            <a:prstDash val="solid"/>
          </a:ln>
        </p:spPr>
      </p:sp>
      <p:sp>
        <p:nvSpPr>
          <p:cNvPr id="16" name="Shape 14"/>
          <p:cNvSpPr/>
          <p:nvPr/>
        </p:nvSpPr>
        <p:spPr>
          <a:xfrm>
            <a:off x="11335817" y="488290"/>
            <a:ext cx="76810" cy="76810"/>
          </a:xfrm>
          <a:prstGeom prst="ellipse">
            <a:avLst/>
          </a:prstGeom>
          <a:solidFill>
            <a:srgbClr val="49B296"/>
          </a:solidFill>
          <a:ln w="12700">
            <a:solidFill>
              <a:srgbClr val="49B296"/>
            </a:solidFill>
            <a:prstDash val="solid"/>
          </a:ln>
        </p:spPr>
      </p:sp>
      <p:sp>
        <p:nvSpPr>
          <p:cNvPr id="17" name="Shape 15"/>
          <p:cNvSpPr/>
          <p:nvPr/>
        </p:nvSpPr>
        <p:spPr>
          <a:xfrm>
            <a:off x="11489436" y="488290"/>
            <a:ext cx="76810" cy="76810"/>
          </a:xfrm>
          <a:prstGeom prst="ellipse">
            <a:avLst/>
          </a:prstGeom>
          <a:solidFill>
            <a:srgbClr val="FF5178"/>
          </a:solidFill>
          <a:ln w="12700">
            <a:solidFill>
              <a:srgbClr val="FF5178"/>
            </a:solidFill>
            <a:prstDash val="solid"/>
          </a:ln>
        </p:spPr>
      </p:sp>
      <p:sp>
        <p:nvSpPr>
          <p:cNvPr id="18" name="Text 16"/>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Ba ý của Buổi 10</a:t>
            </a:r>
            <a:endParaRPr lang="en-US" sz="2600" dirty="0"/>
          </a:p>
        </p:txBody>
      </p:sp>
      <p:sp>
        <p:nvSpPr>
          <p:cNvPr id="19" name="Text 17"/>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10   26</a:t>
            </a:r>
            <a:endParaRPr lang="en-US" sz="1000" dirty="0"/>
          </a:p>
        </p:txBody>
      </p:sp>
      <p:sp>
        <p:nvSpPr>
          <p:cNvPr id="21" name="Shape 18"/>
          <p:cNvSpPr/>
          <p:nvPr/>
        </p:nvSpPr>
        <p:spPr>
          <a:xfrm>
            <a:off x="548640" y="1828800"/>
            <a:ext cx="11094415" cy="1051560"/>
          </a:xfrm>
          <a:prstGeom prst="roundRect">
            <a:avLst>
              <a:gd name="adj" fmla="val 10435"/>
            </a:avLst>
          </a:prstGeom>
          <a:solidFill>
            <a:srgbClr val="F1E1EE"/>
          </a:solidFill>
          <a:ln w="12700">
            <a:solidFill>
              <a:srgbClr val="962B7C"/>
            </a:solidFill>
            <a:prstDash val="solid"/>
          </a:ln>
        </p:spPr>
      </p:sp>
      <p:sp>
        <p:nvSpPr>
          <p:cNvPr id="22" name="Shape 19"/>
          <p:cNvSpPr/>
          <p:nvPr/>
        </p:nvSpPr>
        <p:spPr>
          <a:xfrm>
            <a:off x="731520" y="1938528"/>
            <a:ext cx="822960" cy="822960"/>
          </a:xfrm>
          <a:prstGeom prst="ellipse">
            <a:avLst/>
          </a:prstGeom>
          <a:solidFill>
            <a:srgbClr val="962B7C"/>
          </a:solidFill>
          <a:ln w="12700">
            <a:solidFill>
              <a:srgbClr val="962B7C"/>
            </a:solidFill>
            <a:prstDash val="solid"/>
          </a:ln>
        </p:spPr>
      </p:sp>
      <p:sp>
        <p:nvSpPr>
          <p:cNvPr id="23" name="Text 20"/>
          <p:cNvSpPr txBox="1"/>
          <p:nvPr/>
        </p:nvSpPr>
        <p:spPr>
          <a:xfrm>
            <a:off x="731520" y="1938528"/>
            <a:ext cx="822960" cy="822960"/>
          </a:xfrm>
          <a:prstGeom prst="rect">
            <a:avLst/>
          </a:prstGeom>
          <a:noFill/>
          <a:ln/>
        </p:spPr>
        <p:txBody>
          <a:bodyPr wrap="square" lIns="0" tIns="0" rIns="0" bIns="0" rtlCol="0" anchor="ctr"/>
          <a:lstStyle/>
          <a:p>
            <a:pPr algn="ctr" indent="0" marL="0">
              <a:buNone/>
            </a:pPr>
            <a:r>
              <a:rPr lang="en-US" sz="2000" b="1" dirty="0">
                <a:solidFill>
                  <a:srgbClr val="FFFFFF"/>
                </a:solidFill>
                <a:latin typeface="Alexandria" pitchFamily="34" charset="0"/>
                <a:ea typeface="Alexandria" pitchFamily="34" charset="-122"/>
                <a:cs typeface="Alexandria" pitchFamily="34" charset="-120"/>
              </a:rPr>
              <a:t>10.1</a:t>
            </a:r>
            <a:endParaRPr lang="en-US" sz="2000" dirty="0"/>
          </a:p>
        </p:txBody>
      </p:sp>
      <p:sp>
        <p:nvSpPr>
          <p:cNvPr id="24" name="Text 21"/>
          <p:cNvSpPr txBox="1"/>
          <p:nvPr/>
        </p:nvSpPr>
        <p:spPr>
          <a:xfrm>
            <a:off x="1783080" y="1828800"/>
            <a:ext cx="9631375" cy="1051560"/>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Chọn phương thức mua theo hạng mục (RFQ cho thông số rõ, RFP cho giải pháp). RFP tốt mang Key Account và khách của họ vào. Chấm có trọng số: value for money, công bằng, có dấu vết, phản hồi bên trượt.</a:t>
            </a:r>
            <a:endParaRPr lang="en-US" sz="1500" dirty="0"/>
          </a:p>
        </p:txBody>
      </p:sp>
      <p:sp>
        <p:nvSpPr>
          <p:cNvPr id="25" name="Shape 22"/>
          <p:cNvSpPr/>
          <p:nvPr/>
        </p:nvSpPr>
        <p:spPr>
          <a:xfrm>
            <a:off x="548640" y="3017520"/>
            <a:ext cx="11094415" cy="1051560"/>
          </a:xfrm>
          <a:prstGeom prst="roundRect">
            <a:avLst>
              <a:gd name="adj" fmla="val 10435"/>
            </a:avLst>
          </a:prstGeom>
          <a:solidFill>
            <a:srgbClr val="DDF1FB"/>
          </a:solidFill>
          <a:ln w="12700">
            <a:solidFill>
              <a:srgbClr val="09A1E5"/>
            </a:solidFill>
            <a:prstDash val="solid"/>
          </a:ln>
        </p:spPr>
      </p:sp>
      <p:sp>
        <p:nvSpPr>
          <p:cNvPr id="26" name="Shape 23"/>
          <p:cNvSpPr/>
          <p:nvPr/>
        </p:nvSpPr>
        <p:spPr>
          <a:xfrm>
            <a:off x="731520" y="3127248"/>
            <a:ext cx="822960" cy="822960"/>
          </a:xfrm>
          <a:prstGeom prst="ellipse">
            <a:avLst/>
          </a:prstGeom>
          <a:solidFill>
            <a:srgbClr val="09A1E5"/>
          </a:solidFill>
          <a:ln w="12700">
            <a:solidFill>
              <a:srgbClr val="09A1E5"/>
            </a:solidFill>
            <a:prstDash val="solid"/>
          </a:ln>
        </p:spPr>
      </p:sp>
      <p:sp>
        <p:nvSpPr>
          <p:cNvPr id="27" name="Text 24"/>
          <p:cNvSpPr txBox="1"/>
          <p:nvPr/>
        </p:nvSpPr>
        <p:spPr>
          <a:xfrm>
            <a:off x="731520" y="3127248"/>
            <a:ext cx="822960" cy="822960"/>
          </a:xfrm>
          <a:prstGeom prst="rect">
            <a:avLst/>
          </a:prstGeom>
          <a:noFill/>
          <a:ln/>
        </p:spPr>
        <p:txBody>
          <a:bodyPr wrap="square" lIns="0" tIns="0" rIns="0" bIns="0" rtlCol="0" anchor="ctr"/>
          <a:lstStyle/>
          <a:p>
            <a:pPr algn="ctr" indent="0" marL="0">
              <a:buNone/>
            </a:pPr>
            <a:r>
              <a:rPr lang="en-US" sz="2000" b="1" dirty="0">
                <a:solidFill>
                  <a:srgbClr val="FFFFFF"/>
                </a:solidFill>
                <a:latin typeface="Alexandria" pitchFamily="34" charset="0"/>
                <a:ea typeface="Alexandria" pitchFamily="34" charset="-122"/>
                <a:cs typeface="Alexandria" pitchFamily="34" charset="-120"/>
              </a:rPr>
              <a:t>10.2</a:t>
            </a:r>
            <a:endParaRPr lang="en-US" sz="2000" dirty="0"/>
          </a:p>
        </p:txBody>
      </p:sp>
      <p:sp>
        <p:nvSpPr>
          <p:cNvPr id="28" name="Text 25"/>
          <p:cNvSpPr txBox="1"/>
          <p:nvPr/>
        </p:nvSpPr>
        <p:spPr>
          <a:xfrm>
            <a:off x="1783080" y="3017520"/>
            <a:ext cx="9631375" cy="1051560"/>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Chọn địa điểm trước vì địa điểm quyết định nhà cung cấp. Site check là đi để hỏi: độc quyền, giờ dựng, lịch trước – sau, diện tích dùng được.</a:t>
            </a:r>
            <a:endParaRPr lang="en-US" sz="1500" dirty="0"/>
          </a:p>
        </p:txBody>
      </p:sp>
      <p:sp>
        <p:nvSpPr>
          <p:cNvPr id="29" name="Shape 26"/>
          <p:cNvSpPr/>
          <p:nvPr/>
        </p:nvSpPr>
        <p:spPr>
          <a:xfrm>
            <a:off x="548640" y="4206240"/>
            <a:ext cx="11094415" cy="1051560"/>
          </a:xfrm>
          <a:prstGeom prst="roundRect">
            <a:avLst>
              <a:gd name="adj" fmla="val 10435"/>
            </a:avLst>
          </a:prstGeom>
          <a:solidFill>
            <a:srgbClr val="FFE4EA"/>
          </a:solidFill>
          <a:ln w="12700">
            <a:solidFill>
              <a:srgbClr val="FF5178"/>
            </a:solidFill>
            <a:prstDash val="solid"/>
          </a:ln>
        </p:spPr>
      </p:sp>
      <p:sp>
        <p:nvSpPr>
          <p:cNvPr id="30" name="Shape 27"/>
          <p:cNvSpPr/>
          <p:nvPr/>
        </p:nvSpPr>
        <p:spPr>
          <a:xfrm>
            <a:off x="731520" y="4315968"/>
            <a:ext cx="822960" cy="822960"/>
          </a:xfrm>
          <a:prstGeom prst="ellipse">
            <a:avLst/>
          </a:prstGeom>
          <a:solidFill>
            <a:srgbClr val="FF5178"/>
          </a:solidFill>
          <a:ln w="12700">
            <a:solidFill>
              <a:srgbClr val="FF5178"/>
            </a:solidFill>
            <a:prstDash val="solid"/>
          </a:ln>
        </p:spPr>
      </p:sp>
      <p:sp>
        <p:nvSpPr>
          <p:cNvPr id="31" name="Text 28"/>
          <p:cNvSpPr txBox="1"/>
          <p:nvPr/>
        </p:nvSpPr>
        <p:spPr>
          <a:xfrm>
            <a:off x="731520" y="4315968"/>
            <a:ext cx="822960" cy="822960"/>
          </a:xfrm>
          <a:prstGeom prst="rect">
            <a:avLst/>
          </a:prstGeom>
          <a:noFill/>
          <a:ln/>
        </p:spPr>
        <p:txBody>
          <a:bodyPr wrap="square" lIns="0" tIns="0" rIns="0" bIns="0" rtlCol="0" anchor="ctr"/>
          <a:lstStyle/>
          <a:p>
            <a:pPr algn="ctr" indent="0" marL="0">
              <a:buNone/>
            </a:pPr>
            <a:r>
              <a:rPr lang="en-US" sz="2000" b="1" dirty="0">
                <a:solidFill>
                  <a:srgbClr val="FFFFFF"/>
                </a:solidFill>
                <a:latin typeface="Alexandria" pitchFamily="34" charset="0"/>
                <a:ea typeface="Alexandria" pitchFamily="34" charset="-122"/>
                <a:cs typeface="Alexandria" pitchFamily="34" charset="-120"/>
              </a:rPr>
              <a:t>10.3</a:t>
            </a:r>
            <a:endParaRPr lang="en-US" sz="2000" dirty="0"/>
          </a:p>
        </p:txBody>
      </p:sp>
      <p:sp>
        <p:nvSpPr>
          <p:cNvPr id="32" name="Text 29"/>
          <p:cNvSpPr txBox="1"/>
          <p:nvPr/>
        </p:nvSpPr>
        <p:spPr>
          <a:xfrm>
            <a:off x="1783080" y="4206240"/>
            <a:ext cx="9631375" cy="1051560"/>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Nhà cung cấp là điểm chạm do đối tác sở hữu trên hành trình mua của Key Account — quản lý họ ở cả giai đoạn mua và sau mua.</a:t>
            </a:r>
            <a:endParaRPr lang="en-US" sz="1500" dirty="0"/>
          </a:p>
        </p:txBody>
      </p:sp>
      <p:sp>
        <p:nvSpPr>
          <p:cNvPr id="33" name="Shape 30"/>
          <p:cNvSpPr/>
          <p:nvPr/>
        </p:nvSpPr>
        <p:spPr>
          <a:xfrm>
            <a:off x="548640" y="5486400"/>
            <a:ext cx="11094415" cy="685800"/>
          </a:xfrm>
          <a:prstGeom prst="roundRect">
            <a:avLst>
              <a:gd name="adj" fmla="val 16000"/>
            </a:avLst>
          </a:prstGeom>
          <a:solidFill>
            <a:srgbClr val="FFF3C4"/>
          </a:solidFill>
          <a:ln w="12700">
            <a:solidFill>
              <a:srgbClr val="FFD23B"/>
            </a:solidFill>
            <a:prstDash val="solid"/>
          </a:ln>
        </p:spPr>
      </p:sp>
      <p:sp>
        <p:nvSpPr>
          <p:cNvPr id="34" name="Text 31"/>
          <p:cNvSpPr txBox="1"/>
          <p:nvPr/>
        </p:nvSpPr>
        <p:spPr>
          <a:xfrm>
            <a:off x="822960" y="5486400"/>
            <a:ext cx="10545775" cy="685800"/>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Stakeholder Management Plan: </a:t>
            </a:r>
            <a:pPr indent="0" marL="0">
              <a:buNone/>
            </a:pPr>
            <a:r>
              <a:rPr lang="en-US" sz="1400" dirty="0">
                <a:solidFill>
                  <a:srgbClr val="2A2238"/>
                </a:solidFill>
                <a:latin typeface="Alexandria" pitchFamily="34" charset="0"/>
                <a:ea typeface="Alexandria" pitchFamily="34" charset="-122"/>
                <a:cs typeface="Alexandria" pitchFamily="34" charset="-120"/>
              </a:rPr>
              <a:t>thêm trang “nhà cung cấp và địa điểm” — hạng mục, phương thức mua, 3 tiêu chí, bảng phân bổ.</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655064"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65506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10.1 Quy trình mua</a:t>
            </a:r>
            <a:endParaRPr lang="en-US" sz="1000" dirty="0"/>
          </a:p>
        </p:txBody>
      </p:sp>
      <p:sp>
        <p:nvSpPr>
          <p:cNvPr id="6" name="Shape 4"/>
          <p:cNvSpPr/>
          <p:nvPr/>
        </p:nvSpPr>
        <p:spPr>
          <a:xfrm>
            <a:off x="3145536" y="274320"/>
            <a:ext cx="1266444"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145536" y="274320"/>
            <a:ext cx="126644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10.2 Địa điểm</a:t>
            </a:r>
            <a:endParaRPr lang="en-US" sz="1000" dirty="0"/>
          </a:p>
        </p:txBody>
      </p:sp>
      <p:sp>
        <p:nvSpPr>
          <p:cNvPr id="8" name="Shape 6"/>
          <p:cNvSpPr/>
          <p:nvPr/>
        </p:nvSpPr>
        <p:spPr>
          <a:xfrm>
            <a:off x="4521708" y="274320"/>
            <a:ext cx="2354580"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521708" y="274320"/>
            <a:ext cx="235458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10.3 Hành trình Key Account</a:t>
            </a:r>
            <a:endParaRPr lang="en-US" sz="1000" dirty="0"/>
          </a:p>
        </p:txBody>
      </p:sp>
      <p:sp>
        <p:nvSpPr>
          <p:cNvPr id="10" name="Shape 8"/>
          <p:cNvSpPr/>
          <p:nvPr/>
        </p:nvSpPr>
        <p:spPr>
          <a:xfrm>
            <a:off x="6986016" y="274320"/>
            <a:ext cx="877824" cy="292608"/>
          </a:xfrm>
          <a:prstGeom prst="roundRect">
            <a:avLst>
              <a:gd name="adj" fmla="val 50000"/>
            </a:avLst>
          </a:prstGeom>
          <a:solidFill>
            <a:srgbClr val="49B296"/>
          </a:solidFill>
          <a:ln w="9525">
            <a:solidFill>
              <a:srgbClr val="49B296"/>
            </a:solidFill>
            <a:prstDash val="solid"/>
          </a:ln>
        </p:spPr>
      </p:sp>
      <p:sp>
        <p:nvSpPr>
          <p:cNvPr id="11" name="Text 9"/>
          <p:cNvSpPr txBox="1"/>
          <p:nvPr/>
        </p:nvSpPr>
        <p:spPr>
          <a:xfrm>
            <a:off x="6986016" y="274320"/>
            <a:ext cx="87782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384048" cy="384048"/>
          </a:xfrm>
          <a:prstGeom prst="roundRect">
            <a:avLst>
              <a:gd name="adj" fmla="val 18000"/>
            </a:avLst>
          </a:prstGeom>
          <a:solidFill>
            <a:srgbClr val="FFFFFF"/>
          </a:solidFill>
          <a:ln w="12700">
            <a:solidFill>
              <a:srgbClr val="2A2238"/>
            </a:solidFill>
            <a:prstDash val="solid"/>
          </a:ln>
        </p:spPr>
      </p:sp>
      <p:sp>
        <p:nvSpPr>
          <p:cNvPr id="13" name="Shape 11"/>
          <p:cNvSpPr/>
          <p:nvPr/>
        </p:nvSpPr>
        <p:spPr>
          <a:xfrm>
            <a:off x="11343498" y="265542"/>
            <a:ext cx="215067" cy="53767"/>
          </a:xfrm>
          <a:prstGeom prst="rect">
            <a:avLst/>
          </a:prstGeom>
          <a:solidFill>
            <a:srgbClr val="962B7C"/>
          </a:solidFill>
          <a:ln w="12700">
            <a:solidFill>
              <a:srgbClr val="962B7C"/>
            </a:solidFill>
            <a:prstDash val="solid"/>
          </a:ln>
        </p:spPr>
      </p:sp>
      <p:sp>
        <p:nvSpPr>
          <p:cNvPr id="14" name="Shape 12"/>
          <p:cNvSpPr/>
          <p:nvPr/>
        </p:nvSpPr>
        <p:spPr>
          <a:xfrm>
            <a:off x="11335817" y="380756"/>
            <a:ext cx="76810" cy="76810"/>
          </a:xfrm>
          <a:prstGeom prst="ellipse">
            <a:avLst/>
          </a:prstGeom>
          <a:solidFill>
            <a:srgbClr val="FF9259"/>
          </a:solidFill>
          <a:ln w="12700">
            <a:solidFill>
              <a:srgbClr val="FF9259"/>
            </a:solidFill>
            <a:prstDash val="solid"/>
          </a:ln>
        </p:spPr>
      </p:sp>
      <p:sp>
        <p:nvSpPr>
          <p:cNvPr id="15" name="Shape 13"/>
          <p:cNvSpPr/>
          <p:nvPr/>
        </p:nvSpPr>
        <p:spPr>
          <a:xfrm>
            <a:off x="11489436" y="380756"/>
            <a:ext cx="76810" cy="76810"/>
          </a:xfrm>
          <a:prstGeom prst="ellipse">
            <a:avLst/>
          </a:prstGeom>
          <a:solidFill>
            <a:srgbClr val="09A1E5"/>
          </a:solidFill>
          <a:ln w="12700">
            <a:solidFill>
              <a:srgbClr val="09A1E5"/>
            </a:solidFill>
            <a:prstDash val="solid"/>
          </a:ln>
        </p:spPr>
      </p:sp>
      <p:sp>
        <p:nvSpPr>
          <p:cNvPr id="16" name="Shape 14"/>
          <p:cNvSpPr/>
          <p:nvPr/>
        </p:nvSpPr>
        <p:spPr>
          <a:xfrm>
            <a:off x="11335817" y="488290"/>
            <a:ext cx="76810" cy="76810"/>
          </a:xfrm>
          <a:prstGeom prst="ellipse">
            <a:avLst/>
          </a:prstGeom>
          <a:solidFill>
            <a:srgbClr val="49B296"/>
          </a:solidFill>
          <a:ln w="12700">
            <a:solidFill>
              <a:srgbClr val="49B296"/>
            </a:solidFill>
            <a:prstDash val="solid"/>
          </a:ln>
        </p:spPr>
      </p:sp>
      <p:sp>
        <p:nvSpPr>
          <p:cNvPr id="17" name="Shape 15"/>
          <p:cNvSpPr/>
          <p:nvPr/>
        </p:nvSpPr>
        <p:spPr>
          <a:xfrm>
            <a:off x="11489436" y="488290"/>
            <a:ext cx="76810" cy="76810"/>
          </a:xfrm>
          <a:prstGeom prst="ellipse">
            <a:avLst/>
          </a:prstGeom>
          <a:solidFill>
            <a:srgbClr val="FF5178"/>
          </a:solidFill>
          <a:ln w="12700">
            <a:solidFill>
              <a:srgbClr val="FF5178"/>
            </a:solidFill>
            <a:prstDash val="solid"/>
          </a:ln>
        </p:spPr>
      </p:sp>
      <p:sp>
        <p:nvSpPr>
          <p:cNvPr id="18" name="Text 16"/>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Phiếu kiểm tra cuối giờ</a:t>
            </a:r>
            <a:endParaRPr lang="en-US" sz="2600" dirty="0"/>
          </a:p>
        </p:txBody>
      </p:sp>
      <p:sp>
        <p:nvSpPr>
          <p:cNvPr id="19" name="Text 17"/>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10   27</a:t>
            </a:r>
            <a:endParaRPr lang="en-US" sz="1000" dirty="0"/>
          </a:p>
        </p:txBody>
      </p:sp>
      <p:sp>
        <p:nvSpPr>
          <p:cNvPr id="21" name="Shape 18"/>
          <p:cNvSpPr/>
          <p:nvPr/>
        </p:nvSpPr>
        <p:spPr>
          <a:xfrm>
            <a:off x="548640" y="1828800"/>
            <a:ext cx="11094415" cy="1280160"/>
          </a:xfrm>
          <a:prstGeom prst="roundRect">
            <a:avLst>
              <a:gd name="adj" fmla="val 8571"/>
            </a:avLst>
          </a:prstGeom>
          <a:solidFill>
            <a:srgbClr val="FFFFFF"/>
          </a:solidFill>
          <a:ln w="12700">
            <a:solidFill>
              <a:srgbClr val="DCD7C8"/>
            </a:solidFill>
            <a:prstDash val="solid"/>
          </a:ln>
        </p:spPr>
      </p:sp>
      <p:sp>
        <p:nvSpPr>
          <p:cNvPr id="22" name="Shape 19"/>
          <p:cNvSpPr/>
          <p:nvPr/>
        </p:nvSpPr>
        <p:spPr>
          <a:xfrm>
            <a:off x="777240" y="2148840"/>
            <a:ext cx="640080" cy="640080"/>
          </a:xfrm>
          <a:prstGeom prst="ellipse">
            <a:avLst/>
          </a:prstGeom>
          <a:solidFill>
            <a:srgbClr val="962B7C"/>
          </a:solidFill>
          <a:ln w="12700">
            <a:solidFill>
              <a:srgbClr val="962B7C"/>
            </a:solidFill>
            <a:prstDash val="solid"/>
          </a:ln>
        </p:spPr>
      </p:sp>
      <p:sp>
        <p:nvSpPr>
          <p:cNvPr id="23" name="Text 20"/>
          <p:cNvSpPr txBox="1"/>
          <p:nvPr/>
        </p:nvSpPr>
        <p:spPr>
          <a:xfrm>
            <a:off x="777240" y="2148840"/>
            <a:ext cx="640080" cy="640080"/>
          </a:xfrm>
          <a:prstGeom prst="rect">
            <a:avLst/>
          </a:prstGeom>
          <a:noFill/>
          <a:ln/>
        </p:spPr>
        <p:txBody>
          <a:bodyPr wrap="square" lIns="0" tIns="0" rIns="0" bIns="0" rtlCol="0" anchor="ctr"/>
          <a:lstStyle/>
          <a:p>
            <a:pPr algn="ctr" indent="0" marL="0">
              <a:buNone/>
            </a:pPr>
            <a:r>
              <a:rPr lang="en-US" sz="2380" b="1" dirty="0">
                <a:solidFill>
                  <a:srgbClr val="FFFFFF"/>
                </a:solidFill>
                <a:latin typeface="Alexandria" pitchFamily="34" charset="0"/>
                <a:ea typeface="Alexandria" pitchFamily="34" charset="-122"/>
                <a:cs typeface="Alexandria" pitchFamily="34" charset="-120"/>
              </a:rPr>
              <a:t>1</a:t>
            </a:r>
            <a:endParaRPr lang="en-US" sz="2380" dirty="0"/>
          </a:p>
        </p:txBody>
      </p:sp>
      <p:sp>
        <p:nvSpPr>
          <p:cNvPr id="24" name="Text 21"/>
          <p:cNvSpPr txBox="1"/>
          <p:nvPr/>
        </p:nvSpPr>
        <p:spPr>
          <a:xfrm>
            <a:off x="1645920" y="1828800"/>
            <a:ext cx="9768535" cy="1280160"/>
          </a:xfrm>
          <a:prstGeom prst="rect">
            <a:avLst/>
          </a:prstGeom>
          <a:noFill/>
          <a:ln/>
        </p:spPr>
        <p:txBody>
          <a:bodyPr wrap="square" lIns="0" tIns="0" rIns="0" bIns="0" rtlCol="0" anchor="ctr"/>
          <a:lstStyle/>
          <a:p>
            <a:pPr indent="0" marL="0">
              <a:buNone/>
            </a:pPr>
            <a:r>
              <a:rPr lang="en-US" sz="1700" dirty="0">
                <a:solidFill>
                  <a:srgbClr val="2A2238"/>
                </a:solidFill>
                <a:latin typeface="Alexandria" pitchFamily="34" charset="0"/>
                <a:ea typeface="Alexandria" pitchFamily="34" charset="-122"/>
                <a:cs typeface="Alexandria" pitchFamily="34" charset="-120"/>
              </a:rPr>
              <a:t>Với sự kiện trong dự án cũ của nhóm bạn, nêu 1 hạng mục bạn sẽ mua bằng RFQ và 1 hạng mục bằng RFP. Vì sao khác nhau?</a:t>
            </a:r>
            <a:endParaRPr lang="en-US" sz="1700" dirty="0"/>
          </a:p>
        </p:txBody>
      </p:sp>
      <p:sp>
        <p:nvSpPr>
          <p:cNvPr id="25" name="Shape 22"/>
          <p:cNvSpPr/>
          <p:nvPr/>
        </p:nvSpPr>
        <p:spPr>
          <a:xfrm>
            <a:off x="548640" y="3291840"/>
            <a:ext cx="11094415" cy="1280160"/>
          </a:xfrm>
          <a:prstGeom prst="roundRect">
            <a:avLst>
              <a:gd name="adj" fmla="val 8571"/>
            </a:avLst>
          </a:prstGeom>
          <a:solidFill>
            <a:srgbClr val="FFFFFF"/>
          </a:solidFill>
          <a:ln w="12700">
            <a:solidFill>
              <a:srgbClr val="DCD7C8"/>
            </a:solidFill>
            <a:prstDash val="solid"/>
          </a:ln>
        </p:spPr>
      </p:sp>
      <p:sp>
        <p:nvSpPr>
          <p:cNvPr id="26" name="Shape 23"/>
          <p:cNvSpPr/>
          <p:nvPr/>
        </p:nvSpPr>
        <p:spPr>
          <a:xfrm>
            <a:off x="777240" y="3611880"/>
            <a:ext cx="640080" cy="640080"/>
          </a:xfrm>
          <a:prstGeom prst="ellipse">
            <a:avLst/>
          </a:prstGeom>
          <a:solidFill>
            <a:srgbClr val="09A1E5"/>
          </a:solidFill>
          <a:ln w="12700">
            <a:solidFill>
              <a:srgbClr val="09A1E5"/>
            </a:solidFill>
            <a:prstDash val="solid"/>
          </a:ln>
        </p:spPr>
      </p:sp>
      <p:sp>
        <p:nvSpPr>
          <p:cNvPr id="27" name="Text 24"/>
          <p:cNvSpPr txBox="1"/>
          <p:nvPr/>
        </p:nvSpPr>
        <p:spPr>
          <a:xfrm>
            <a:off x="777240" y="3611880"/>
            <a:ext cx="640080" cy="640080"/>
          </a:xfrm>
          <a:prstGeom prst="rect">
            <a:avLst/>
          </a:prstGeom>
          <a:noFill/>
          <a:ln/>
        </p:spPr>
        <p:txBody>
          <a:bodyPr wrap="square" lIns="0" tIns="0" rIns="0" bIns="0" rtlCol="0" anchor="ctr"/>
          <a:lstStyle/>
          <a:p>
            <a:pPr algn="ctr" indent="0" marL="0">
              <a:buNone/>
            </a:pPr>
            <a:r>
              <a:rPr lang="en-US" sz="2380" b="1" dirty="0">
                <a:solidFill>
                  <a:srgbClr val="FFFFFF"/>
                </a:solidFill>
                <a:latin typeface="Alexandria" pitchFamily="34" charset="0"/>
                <a:ea typeface="Alexandria" pitchFamily="34" charset="-122"/>
                <a:cs typeface="Alexandria" pitchFamily="34" charset="-120"/>
              </a:rPr>
              <a:t>2</a:t>
            </a:r>
            <a:endParaRPr lang="en-US" sz="2380" dirty="0"/>
          </a:p>
        </p:txBody>
      </p:sp>
      <p:sp>
        <p:nvSpPr>
          <p:cNvPr id="28" name="Text 25"/>
          <p:cNvSpPr txBox="1"/>
          <p:nvPr/>
        </p:nvSpPr>
        <p:spPr>
          <a:xfrm>
            <a:off x="1645920" y="3291840"/>
            <a:ext cx="9768535" cy="1280160"/>
          </a:xfrm>
          <a:prstGeom prst="rect">
            <a:avLst/>
          </a:prstGeom>
          <a:noFill/>
          <a:ln/>
        </p:spPr>
        <p:txBody>
          <a:bodyPr wrap="square" lIns="0" tIns="0" rIns="0" bIns="0" rtlCol="0" anchor="ctr"/>
          <a:lstStyle/>
          <a:p>
            <a:pPr indent="0" marL="0">
              <a:buNone/>
            </a:pPr>
            <a:r>
              <a:rPr lang="en-US" sz="1700" dirty="0">
                <a:solidFill>
                  <a:srgbClr val="2A2238"/>
                </a:solidFill>
                <a:latin typeface="Alexandria" pitchFamily="34" charset="0"/>
                <a:ea typeface="Alexandria" pitchFamily="34" charset="-122"/>
                <a:cs typeface="Alexandria" pitchFamily="34" charset="-120"/>
              </a:rPr>
              <a:t>Một câu hỏi site check bạn sẽ không bao giờ quên hỏi. Câu đó bảo vệ Key Account thế nào?</a:t>
            </a:r>
            <a:endParaRPr lang="en-US" sz="1700" dirty="0"/>
          </a:p>
        </p:txBody>
      </p:sp>
      <p:sp>
        <p:nvSpPr>
          <p:cNvPr id="29" name="Shape 26"/>
          <p:cNvSpPr/>
          <p:nvPr/>
        </p:nvSpPr>
        <p:spPr>
          <a:xfrm>
            <a:off x="548640" y="4846320"/>
            <a:ext cx="11094415" cy="1188720"/>
          </a:xfrm>
          <a:prstGeom prst="roundRect">
            <a:avLst>
              <a:gd name="adj" fmla="val 9231"/>
            </a:avLst>
          </a:prstGeom>
          <a:solidFill>
            <a:srgbClr val="E1F3EE"/>
          </a:solidFill>
          <a:ln w="12700">
            <a:solidFill>
              <a:srgbClr val="49B296"/>
            </a:solidFill>
            <a:prstDash val="solid"/>
          </a:ln>
        </p:spPr>
      </p:sp>
      <p:sp>
        <p:nvSpPr>
          <p:cNvPr id="30" name="Text 27"/>
          <p:cNvSpPr txBox="1"/>
          <p:nvPr/>
        </p:nvSpPr>
        <p:spPr>
          <a:xfrm>
            <a:off x="822960" y="4846320"/>
            <a:ext cx="10545775" cy="118872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Buổi 11: </a:t>
            </a:r>
            <a:pPr indent="0" marL="0">
              <a:buNone/>
            </a:pPr>
            <a:r>
              <a:rPr lang="en-US" sz="1600" dirty="0">
                <a:solidFill>
                  <a:srgbClr val="2A2238"/>
                </a:solidFill>
                <a:latin typeface="Alexandria" pitchFamily="34" charset="0"/>
                <a:ea typeface="Alexandria" pitchFamily="34" charset="-122"/>
                <a:cs typeface="Alexandria" pitchFamily="34" charset="-120"/>
              </a:rPr>
              <a:t>những đối tác kể lại sự kiện — báo chí, KOL, influencer — và cách để họ kể đúng câu chuyện của Key Account.</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655064"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65506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10.1 Quy trình mua</a:t>
            </a:r>
            <a:endParaRPr lang="en-US" sz="1000" dirty="0"/>
          </a:p>
        </p:txBody>
      </p:sp>
      <p:sp>
        <p:nvSpPr>
          <p:cNvPr id="6" name="Shape 4"/>
          <p:cNvSpPr/>
          <p:nvPr/>
        </p:nvSpPr>
        <p:spPr>
          <a:xfrm>
            <a:off x="3145536" y="274320"/>
            <a:ext cx="1266444"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145536" y="274320"/>
            <a:ext cx="126644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10.2 Địa điểm</a:t>
            </a:r>
            <a:endParaRPr lang="en-US" sz="1000" dirty="0"/>
          </a:p>
        </p:txBody>
      </p:sp>
      <p:sp>
        <p:nvSpPr>
          <p:cNvPr id="8" name="Shape 6"/>
          <p:cNvSpPr/>
          <p:nvPr/>
        </p:nvSpPr>
        <p:spPr>
          <a:xfrm>
            <a:off x="4521708" y="274320"/>
            <a:ext cx="2354580"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521708" y="274320"/>
            <a:ext cx="235458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10.3 Hành trình Key Account</a:t>
            </a:r>
            <a:endParaRPr lang="en-US" sz="1000" dirty="0"/>
          </a:p>
        </p:txBody>
      </p:sp>
      <p:sp>
        <p:nvSpPr>
          <p:cNvPr id="10" name="Shape 8"/>
          <p:cNvSpPr/>
          <p:nvPr/>
        </p:nvSpPr>
        <p:spPr>
          <a:xfrm>
            <a:off x="6986016" y="274320"/>
            <a:ext cx="877824" cy="292608"/>
          </a:xfrm>
          <a:prstGeom prst="roundRect">
            <a:avLst>
              <a:gd name="adj" fmla="val 50000"/>
            </a:avLst>
          </a:prstGeom>
          <a:solidFill>
            <a:srgbClr val="49B296"/>
          </a:solidFill>
          <a:ln w="9525">
            <a:solidFill>
              <a:srgbClr val="49B296"/>
            </a:solidFill>
            <a:prstDash val="solid"/>
          </a:ln>
        </p:spPr>
      </p:sp>
      <p:sp>
        <p:nvSpPr>
          <p:cNvPr id="11" name="Text 9"/>
          <p:cNvSpPr txBox="1"/>
          <p:nvPr/>
        </p:nvSpPr>
        <p:spPr>
          <a:xfrm>
            <a:off x="6986016" y="274320"/>
            <a:ext cx="87782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384048" cy="384048"/>
          </a:xfrm>
          <a:prstGeom prst="roundRect">
            <a:avLst>
              <a:gd name="adj" fmla="val 18000"/>
            </a:avLst>
          </a:prstGeom>
          <a:solidFill>
            <a:srgbClr val="FFFFFF"/>
          </a:solidFill>
          <a:ln w="12700">
            <a:solidFill>
              <a:srgbClr val="2A2238"/>
            </a:solidFill>
            <a:prstDash val="solid"/>
          </a:ln>
        </p:spPr>
      </p:sp>
      <p:sp>
        <p:nvSpPr>
          <p:cNvPr id="13" name="Shape 11"/>
          <p:cNvSpPr/>
          <p:nvPr/>
        </p:nvSpPr>
        <p:spPr>
          <a:xfrm>
            <a:off x="11343498" y="265542"/>
            <a:ext cx="215067" cy="53767"/>
          </a:xfrm>
          <a:prstGeom prst="rect">
            <a:avLst/>
          </a:prstGeom>
          <a:solidFill>
            <a:srgbClr val="962B7C"/>
          </a:solidFill>
          <a:ln w="12700">
            <a:solidFill>
              <a:srgbClr val="962B7C"/>
            </a:solidFill>
            <a:prstDash val="solid"/>
          </a:ln>
        </p:spPr>
      </p:sp>
      <p:sp>
        <p:nvSpPr>
          <p:cNvPr id="14" name="Shape 12"/>
          <p:cNvSpPr/>
          <p:nvPr/>
        </p:nvSpPr>
        <p:spPr>
          <a:xfrm>
            <a:off x="11335817" y="380756"/>
            <a:ext cx="76810" cy="76810"/>
          </a:xfrm>
          <a:prstGeom prst="ellipse">
            <a:avLst/>
          </a:prstGeom>
          <a:solidFill>
            <a:srgbClr val="FF9259"/>
          </a:solidFill>
          <a:ln w="12700">
            <a:solidFill>
              <a:srgbClr val="FF9259"/>
            </a:solidFill>
            <a:prstDash val="solid"/>
          </a:ln>
        </p:spPr>
      </p:sp>
      <p:sp>
        <p:nvSpPr>
          <p:cNvPr id="15" name="Shape 13"/>
          <p:cNvSpPr/>
          <p:nvPr/>
        </p:nvSpPr>
        <p:spPr>
          <a:xfrm>
            <a:off x="11489436" y="380756"/>
            <a:ext cx="76810" cy="76810"/>
          </a:xfrm>
          <a:prstGeom prst="ellipse">
            <a:avLst/>
          </a:prstGeom>
          <a:solidFill>
            <a:srgbClr val="09A1E5"/>
          </a:solidFill>
          <a:ln w="12700">
            <a:solidFill>
              <a:srgbClr val="09A1E5"/>
            </a:solidFill>
            <a:prstDash val="solid"/>
          </a:ln>
        </p:spPr>
      </p:sp>
      <p:sp>
        <p:nvSpPr>
          <p:cNvPr id="16" name="Shape 14"/>
          <p:cNvSpPr/>
          <p:nvPr/>
        </p:nvSpPr>
        <p:spPr>
          <a:xfrm>
            <a:off x="11335817" y="488290"/>
            <a:ext cx="76810" cy="76810"/>
          </a:xfrm>
          <a:prstGeom prst="ellipse">
            <a:avLst/>
          </a:prstGeom>
          <a:solidFill>
            <a:srgbClr val="49B296"/>
          </a:solidFill>
          <a:ln w="12700">
            <a:solidFill>
              <a:srgbClr val="49B296"/>
            </a:solidFill>
            <a:prstDash val="solid"/>
          </a:ln>
        </p:spPr>
      </p:sp>
      <p:sp>
        <p:nvSpPr>
          <p:cNvPr id="17" name="Shape 15"/>
          <p:cNvSpPr/>
          <p:nvPr/>
        </p:nvSpPr>
        <p:spPr>
          <a:xfrm>
            <a:off x="11489436" y="488290"/>
            <a:ext cx="76810" cy="76810"/>
          </a:xfrm>
          <a:prstGeom prst="ellipse">
            <a:avLst/>
          </a:prstGeom>
          <a:solidFill>
            <a:srgbClr val="FF5178"/>
          </a:solidFill>
          <a:ln w="12700">
            <a:solidFill>
              <a:srgbClr val="FF5178"/>
            </a:solidFill>
            <a:prstDash val="solid"/>
          </a:ln>
        </p:spPr>
      </p:sp>
      <p:sp>
        <p:nvSpPr>
          <p:cNvPr id="18" name="Text 16"/>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Tài liệu tham khảo (1/2)</a:t>
            </a:r>
            <a:endParaRPr lang="en-US" sz="2600" dirty="0"/>
          </a:p>
        </p:txBody>
      </p:sp>
      <p:sp>
        <p:nvSpPr>
          <p:cNvPr id="19" name="Text 17"/>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Danh mục APA 7 đầy đủ (kèm DOI/URL): buoi-10_tu-lieu-tong-hop.md, mục 6.</a:t>
            </a:r>
            <a:endParaRPr lang="en-US" sz="1000" dirty="0"/>
          </a:p>
        </p:txBody>
      </p:sp>
      <p:sp>
        <p:nvSpPr>
          <p:cNvPr id="20" name="Text 18"/>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10   28</a:t>
            </a:r>
            <a:endParaRPr lang="en-US" sz="1000" dirty="0"/>
          </a:p>
        </p:txBody>
      </p:sp>
      <p:sp>
        <p:nvSpPr>
          <p:cNvPr id="22" name="Text 19"/>
          <p:cNvSpPr txBox="1"/>
          <p:nvPr/>
        </p:nvSpPr>
        <p:spPr>
          <a:xfrm>
            <a:off x="548640" y="1783080"/>
            <a:ext cx="640080" cy="566928"/>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V01</a:t>
            </a:r>
            <a:endParaRPr lang="en-US" sz="1100" dirty="0"/>
          </a:p>
        </p:txBody>
      </p:sp>
      <p:sp>
        <p:nvSpPr>
          <p:cNvPr id="23" name="Text 20"/>
          <p:cNvSpPr txBox="1"/>
          <p:nvPr/>
        </p:nvSpPr>
        <p:spPr>
          <a:xfrm>
            <a:off x="1234440" y="1783080"/>
            <a:ext cx="10408615" cy="566928"/>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Chartered Institute of Procurement &amp; Supply. (n.d.). What is procurement?</a:t>
            </a:r>
            <a:endParaRPr lang="en-US" sz="1100" dirty="0"/>
          </a:p>
        </p:txBody>
      </p:sp>
      <p:sp>
        <p:nvSpPr>
          <p:cNvPr id="24" name="Text 21"/>
          <p:cNvSpPr txBox="1"/>
          <p:nvPr/>
        </p:nvSpPr>
        <p:spPr>
          <a:xfrm>
            <a:off x="548640" y="2441448"/>
            <a:ext cx="640080" cy="566928"/>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V02</a:t>
            </a:r>
            <a:endParaRPr lang="en-US" sz="1100" dirty="0"/>
          </a:p>
        </p:txBody>
      </p:sp>
      <p:sp>
        <p:nvSpPr>
          <p:cNvPr id="25" name="Text 22"/>
          <p:cNvSpPr txBox="1"/>
          <p:nvPr/>
        </p:nvSpPr>
        <p:spPr>
          <a:xfrm>
            <a:off x="1234440" y="2441448"/>
            <a:ext cx="10408615" cy="566928"/>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Chartered Institute of Procurement &amp; Supply. (n.d.). Tender evaluation.</a:t>
            </a:r>
            <a:endParaRPr lang="en-US" sz="1100" dirty="0"/>
          </a:p>
        </p:txBody>
      </p:sp>
      <p:sp>
        <p:nvSpPr>
          <p:cNvPr id="26" name="Text 23"/>
          <p:cNvSpPr txBox="1"/>
          <p:nvPr/>
        </p:nvSpPr>
        <p:spPr>
          <a:xfrm>
            <a:off x="548640" y="3099816"/>
            <a:ext cx="640080" cy="566928"/>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V03</a:t>
            </a:r>
            <a:endParaRPr lang="en-US" sz="1100" dirty="0"/>
          </a:p>
        </p:txBody>
      </p:sp>
      <p:sp>
        <p:nvSpPr>
          <p:cNvPr id="27" name="Text 24"/>
          <p:cNvSpPr txBox="1"/>
          <p:nvPr/>
        </p:nvSpPr>
        <p:spPr>
          <a:xfrm>
            <a:off x="1234440" y="3099816"/>
            <a:ext cx="10408615" cy="566928"/>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Chartered Institute of Procurement &amp; Supply. (n.d.). Supplier evaluation.</a:t>
            </a:r>
            <a:endParaRPr lang="en-US" sz="1100" dirty="0"/>
          </a:p>
        </p:txBody>
      </p:sp>
      <p:sp>
        <p:nvSpPr>
          <p:cNvPr id="28" name="Text 25"/>
          <p:cNvSpPr txBox="1"/>
          <p:nvPr/>
        </p:nvSpPr>
        <p:spPr>
          <a:xfrm>
            <a:off x="548640" y="3758184"/>
            <a:ext cx="640080" cy="566928"/>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V04</a:t>
            </a:r>
            <a:endParaRPr lang="en-US" sz="1100" dirty="0"/>
          </a:p>
        </p:txBody>
      </p:sp>
      <p:sp>
        <p:nvSpPr>
          <p:cNvPr id="29" name="Text 26"/>
          <p:cNvSpPr txBox="1"/>
          <p:nvPr/>
        </p:nvSpPr>
        <p:spPr>
          <a:xfrm>
            <a:off x="1234440" y="3758184"/>
            <a:ext cx="10408615" cy="566928"/>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Dickson, G. W. (1966). An analysis of vendor selection systems and decisions. Journal of Purchasing, 2(1), 5–17. · Weber, C. A., Current, J. R., &amp; Benton, W. C. (1991). Vendor selection criteria and methods. EJOR, 50(1), 2–18. · Ho, W., Xu, X., &amp; Dey, P. K. (2010). EJOR, 202(1), 16–24.</a:t>
            </a:r>
            <a:endParaRPr lang="en-US" sz="1100" dirty="0"/>
          </a:p>
        </p:txBody>
      </p:sp>
      <p:sp>
        <p:nvSpPr>
          <p:cNvPr id="30" name="Text 27"/>
          <p:cNvSpPr txBox="1"/>
          <p:nvPr/>
        </p:nvSpPr>
        <p:spPr>
          <a:xfrm>
            <a:off x="548640" y="4416552"/>
            <a:ext cx="640080" cy="566928"/>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V05</a:t>
            </a:r>
            <a:endParaRPr lang="en-US" sz="1100" dirty="0"/>
          </a:p>
        </p:txBody>
      </p:sp>
      <p:sp>
        <p:nvSpPr>
          <p:cNvPr id="31" name="Text 28"/>
          <p:cNvSpPr txBox="1"/>
          <p:nvPr/>
        </p:nvSpPr>
        <p:spPr>
          <a:xfrm>
            <a:off x="1234440" y="4416552"/>
            <a:ext cx="10408615" cy="566928"/>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Events Industry Council. (n.d.). APEX RFP templates; APEX post-event report [Mẫu].</a:t>
            </a:r>
            <a:endParaRPr lang="en-US" sz="1100" dirty="0"/>
          </a:p>
        </p:txBody>
      </p:sp>
      <p:sp>
        <p:nvSpPr>
          <p:cNvPr id="32" name="Text 29"/>
          <p:cNvSpPr txBox="1"/>
          <p:nvPr/>
        </p:nvSpPr>
        <p:spPr>
          <a:xfrm>
            <a:off x="548640" y="5074920"/>
            <a:ext cx="640080" cy="566928"/>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V06</a:t>
            </a:r>
            <a:endParaRPr lang="en-US" sz="1100" dirty="0"/>
          </a:p>
        </p:txBody>
      </p:sp>
      <p:sp>
        <p:nvSpPr>
          <p:cNvPr id="33" name="Text 30"/>
          <p:cNvSpPr txBox="1"/>
          <p:nvPr/>
        </p:nvSpPr>
        <p:spPr>
          <a:xfrm>
            <a:off x="1234440" y="5074920"/>
            <a:ext cx="10408615" cy="566928"/>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Cvent. (n.d.). Event statistics. · BizBash. (n.d.). Cvent’s 2025 planner sourcing report.</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655064"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65506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10.1 Quy trình mua</a:t>
            </a:r>
            <a:endParaRPr lang="en-US" sz="1000" dirty="0"/>
          </a:p>
        </p:txBody>
      </p:sp>
      <p:sp>
        <p:nvSpPr>
          <p:cNvPr id="6" name="Shape 4"/>
          <p:cNvSpPr/>
          <p:nvPr/>
        </p:nvSpPr>
        <p:spPr>
          <a:xfrm>
            <a:off x="3145536" y="274320"/>
            <a:ext cx="1266444"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145536" y="274320"/>
            <a:ext cx="126644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10.2 Địa điểm</a:t>
            </a:r>
            <a:endParaRPr lang="en-US" sz="1000" dirty="0"/>
          </a:p>
        </p:txBody>
      </p:sp>
      <p:sp>
        <p:nvSpPr>
          <p:cNvPr id="8" name="Shape 6"/>
          <p:cNvSpPr/>
          <p:nvPr/>
        </p:nvSpPr>
        <p:spPr>
          <a:xfrm>
            <a:off x="4521708" y="274320"/>
            <a:ext cx="2354580"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521708" y="274320"/>
            <a:ext cx="235458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10.3 Hành trình Key Account</a:t>
            </a:r>
            <a:endParaRPr lang="en-US" sz="1000" dirty="0"/>
          </a:p>
        </p:txBody>
      </p:sp>
      <p:sp>
        <p:nvSpPr>
          <p:cNvPr id="10" name="Shape 8"/>
          <p:cNvSpPr/>
          <p:nvPr/>
        </p:nvSpPr>
        <p:spPr>
          <a:xfrm>
            <a:off x="6986016" y="274320"/>
            <a:ext cx="877824" cy="292608"/>
          </a:xfrm>
          <a:prstGeom prst="roundRect">
            <a:avLst>
              <a:gd name="adj" fmla="val 50000"/>
            </a:avLst>
          </a:prstGeom>
          <a:solidFill>
            <a:srgbClr val="49B296"/>
          </a:solidFill>
          <a:ln w="9525">
            <a:solidFill>
              <a:srgbClr val="49B296"/>
            </a:solidFill>
            <a:prstDash val="solid"/>
          </a:ln>
        </p:spPr>
      </p:sp>
      <p:sp>
        <p:nvSpPr>
          <p:cNvPr id="11" name="Text 9"/>
          <p:cNvSpPr txBox="1"/>
          <p:nvPr/>
        </p:nvSpPr>
        <p:spPr>
          <a:xfrm>
            <a:off x="6986016" y="274320"/>
            <a:ext cx="87782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384048" cy="384048"/>
          </a:xfrm>
          <a:prstGeom prst="roundRect">
            <a:avLst>
              <a:gd name="adj" fmla="val 18000"/>
            </a:avLst>
          </a:prstGeom>
          <a:solidFill>
            <a:srgbClr val="FFFFFF"/>
          </a:solidFill>
          <a:ln w="12700">
            <a:solidFill>
              <a:srgbClr val="2A2238"/>
            </a:solidFill>
            <a:prstDash val="solid"/>
          </a:ln>
        </p:spPr>
      </p:sp>
      <p:sp>
        <p:nvSpPr>
          <p:cNvPr id="13" name="Shape 11"/>
          <p:cNvSpPr/>
          <p:nvPr/>
        </p:nvSpPr>
        <p:spPr>
          <a:xfrm>
            <a:off x="11343498" y="265542"/>
            <a:ext cx="215067" cy="53767"/>
          </a:xfrm>
          <a:prstGeom prst="rect">
            <a:avLst/>
          </a:prstGeom>
          <a:solidFill>
            <a:srgbClr val="962B7C"/>
          </a:solidFill>
          <a:ln w="12700">
            <a:solidFill>
              <a:srgbClr val="962B7C"/>
            </a:solidFill>
            <a:prstDash val="solid"/>
          </a:ln>
        </p:spPr>
      </p:sp>
      <p:sp>
        <p:nvSpPr>
          <p:cNvPr id="14" name="Shape 12"/>
          <p:cNvSpPr/>
          <p:nvPr/>
        </p:nvSpPr>
        <p:spPr>
          <a:xfrm>
            <a:off x="11335817" y="380756"/>
            <a:ext cx="76810" cy="76810"/>
          </a:xfrm>
          <a:prstGeom prst="ellipse">
            <a:avLst/>
          </a:prstGeom>
          <a:solidFill>
            <a:srgbClr val="FF9259"/>
          </a:solidFill>
          <a:ln w="12700">
            <a:solidFill>
              <a:srgbClr val="FF9259"/>
            </a:solidFill>
            <a:prstDash val="solid"/>
          </a:ln>
        </p:spPr>
      </p:sp>
      <p:sp>
        <p:nvSpPr>
          <p:cNvPr id="15" name="Shape 13"/>
          <p:cNvSpPr/>
          <p:nvPr/>
        </p:nvSpPr>
        <p:spPr>
          <a:xfrm>
            <a:off x="11489436" y="380756"/>
            <a:ext cx="76810" cy="76810"/>
          </a:xfrm>
          <a:prstGeom prst="ellipse">
            <a:avLst/>
          </a:prstGeom>
          <a:solidFill>
            <a:srgbClr val="09A1E5"/>
          </a:solidFill>
          <a:ln w="12700">
            <a:solidFill>
              <a:srgbClr val="09A1E5"/>
            </a:solidFill>
            <a:prstDash val="solid"/>
          </a:ln>
        </p:spPr>
      </p:sp>
      <p:sp>
        <p:nvSpPr>
          <p:cNvPr id="16" name="Shape 14"/>
          <p:cNvSpPr/>
          <p:nvPr/>
        </p:nvSpPr>
        <p:spPr>
          <a:xfrm>
            <a:off x="11335817" y="488290"/>
            <a:ext cx="76810" cy="76810"/>
          </a:xfrm>
          <a:prstGeom prst="ellipse">
            <a:avLst/>
          </a:prstGeom>
          <a:solidFill>
            <a:srgbClr val="49B296"/>
          </a:solidFill>
          <a:ln w="12700">
            <a:solidFill>
              <a:srgbClr val="49B296"/>
            </a:solidFill>
            <a:prstDash val="solid"/>
          </a:ln>
        </p:spPr>
      </p:sp>
      <p:sp>
        <p:nvSpPr>
          <p:cNvPr id="17" name="Shape 15"/>
          <p:cNvSpPr/>
          <p:nvPr/>
        </p:nvSpPr>
        <p:spPr>
          <a:xfrm>
            <a:off x="11489436" y="488290"/>
            <a:ext cx="76810" cy="76810"/>
          </a:xfrm>
          <a:prstGeom prst="ellipse">
            <a:avLst/>
          </a:prstGeom>
          <a:solidFill>
            <a:srgbClr val="FF5178"/>
          </a:solidFill>
          <a:ln w="12700">
            <a:solidFill>
              <a:srgbClr val="FF5178"/>
            </a:solidFill>
            <a:prstDash val="solid"/>
          </a:ln>
        </p:spPr>
      </p:sp>
      <p:sp>
        <p:nvSpPr>
          <p:cNvPr id="18" name="Text 16"/>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Tài liệu tham khảo (2/2)</a:t>
            </a:r>
            <a:endParaRPr lang="en-US" sz="2600" dirty="0"/>
          </a:p>
        </p:txBody>
      </p:sp>
      <p:sp>
        <p:nvSpPr>
          <p:cNvPr id="19" name="Text 17"/>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Danh mục APA 7 đầy đủ (kèm DOI/URL): buoi-10_tu-lieu-tong-hop.md, mục 6.</a:t>
            </a:r>
            <a:endParaRPr lang="en-US" sz="1000" dirty="0"/>
          </a:p>
        </p:txBody>
      </p:sp>
      <p:sp>
        <p:nvSpPr>
          <p:cNvPr id="20" name="Text 18"/>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10   29</a:t>
            </a:r>
            <a:endParaRPr lang="en-US" sz="1000" dirty="0"/>
          </a:p>
        </p:txBody>
      </p:sp>
      <p:sp>
        <p:nvSpPr>
          <p:cNvPr id="22" name="Text 19"/>
          <p:cNvSpPr txBox="1"/>
          <p:nvPr/>
        </p:nvSpPr>
        <p:spPr>
          <a:xfrm>
            <a:off x="548640" y="1783080"/>
            <a:ext cx="640080" cy="566928"/>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V07</a:t>
            </a:r>
            <a:endParaRPr lang="en-US" sz="1100" dirty="0"/>
          </a:p>
        </p:txBody>
      </p:sp>
      <p:sp>
        <p:nvSpPr>
          <p:cNvPr id="23" name="Text 20"/>
          <p:cNvSpPr txBox="1"/>
          <p:nvPr/>
        </p:nvSpPr>
        <p:spPr>
          <a:xfrm>
            <a:off x="1234440" y="1783080"/>
            <a:ext cx="10408615" cy="566928"/>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BizBash. (n.d.). Site inspection checklist: 11 things event planners should never forget to ask.</a:t>
            </a:r>
            <a:endParaRPr lang="en-US" sz="1100" dirty="0"/>
          </a:p>
        </p:txBody>
      </p:sp>
      <p:sp>
        <p:nvSpPr>
          <p:cNvPr id="24" name="Text 21"/>
          <p:cNvSpPr txBox="1"/>
          <p:nvPr/>
        </p:nvSpPr>
        <p:spPr>
          <a:xfrm>
            <a:off x="548640" y="2441448"/>
            <a:ext cx="640080" cy="566928"/>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V08</a:t>
            </a:r>
            <a:endParaRPr lang="en-US" sz="1100" dirty="0"/>
          </a:p>
        </p:txBody>
      </p:sp>
      <p:sp>
        <p:nvSpPr>
          <p:cNvPr id="25" name="Text 22"/>
          <p:cNvSpPr txBox="1"/>
          <p:nvPr/>
        </p:nvSpPr>
        <p:spPr>
          <a:xfrm>
            <a:off x="1234440" y="2441448"/>
            <a:ext cx="10408615" cy="566928"/>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Social Tables. (n.d.). Capacity party space calculator.</a:t>
            </a:r>
            <a:endParaRPr lang="en-US" sz="1100" dirty="0"/>
          </a:p>
        </p:txBody>
      </p:sp>
      <p:sp>
        <p:nvSpPr>
          <p:cNvPr id="26" name="Text 23"/>
          <p:cNvSpPr txBox="1"/>
          <p:nvPr/>
        </p:nvSpPr>
        <p:spPr>
          <a:xfrm>
            <a:off x="548640" y="3099816"/>
            <a:ext cx="640080" cy="566928"/>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V09</a:t>
            </a:r>
            <a:endParaRPr lang="en-US" sz="1100" dirty="0"/>
          </a:p>
        </p:txBody>
      </p:sp>
      <p:sp>
        <p:nvSpPr>
          <p:cNvPr id="27" name="Text 24"/>
          <p:cNvSpPr txBox="1"/>
          <p:nvPr/>
        </p:nvSpPr>
        <p:spPr>
          <a:xfrm>
            <a:off x="1234440" y="3099816"/>
            <a:ext cx="10408615" cy="566928"/>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Lemon, K. N., &amp; Verhoef, P. C. (2016). Understanding customer experience throughout the customer journey. Journal of Marketing, 80(6), 69–96.</a:t>
            </a:r>
            <a:endParaRPr lang="en-US" sz="1100" dirty="0"/>
          </a:p>
        </p:txBody>
      </p:sp>
      <p:sp>
        <p:nvSpPr>
          <p:cNvPr id="28" name="Text 25"/>
          <p:cNvSpPr txBox="1"/>
          <p:nvPr/>
        </p:nvSpPr>
        <p:spPr>
          <a:xfrm>
            <a:off x="548640" y="3758184"/>
            <a:ext cx="640080" cy="566928"/>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V10</a:t>
            </a:r>
            <a:endParaRPr lang="en-US" sz="1100" dirty="0"/>
          </a:p>
        </p:txBody>
      </p:sp>
      <p:sp>
        <p:nvSpPr>
          <p:cNvPr id="29" name="Text 26"/>
          <p:cNvSpPr txBox="1"/>
          <p:nvPr/>
        </p:nvSpPr>
        <p:spPr>
          <a:xfrm>
            <a:off x="1234440" y="3758184"/>
            <a:ext cx="10408615" cy="566928"/>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Tuổi Trẻ Online. (2024, November 11); Thanh Niên (2025); Thể thao &amp; Văn hóa (2025); Dân trí (2025) — bài về sân Mỹ Đình và concert.</a:t>
            </a:r>
            <a:endParaRPr lang="en-US" sz="1100" dirty="0"/>
          </a:p>
        </p:txBody>
      </p:sp>
      <p:sp>
        <p:nvSpPr>
          <p:cNvPr id="30" name="Text 27"/>
          <p:cNvSpPr txBox="1"/>
          <p:nvPr/>
        </p:nvSpPr>
        <p:spPr>
          <a:xfrm>
            <a:off x="548640" y="4416552"/>
            <a:ext cx="640080" cy="566928"/>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V11</a:t>
            </a:r>
            <a:endParaRPr lang="en-US" sz="1100" dirty="0"/>
          </a:p>
        </p:txBody>
      </p:sp>
      <p:sp>
        <p:nvSpPr>
          <p:cNvPr id="31" name="Text 28"/>
          <p:cNvSpPr txBox="1"/>
          <p:nvPr/>
        </p:nvSpPr>
        <p:spPr>
          <a:xfrm>
            <a:off x="1234440" y="4416552"/>
            <a:ext cx="10408615" cy="566928"/>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Tiền Phong. (2026, July 13). Ban tổ chức concert Những thành phố mơ màng xin lỗi.</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EVM1110E — Buổi 10: Building Solutions: Supplier &amp; Venue Management</dc:title>
  <dc:subject>Quản trị mối quan hệ trong tổ chức sự kiện</dc:subject>
  <dc:creator>PptxGenJS</dc:creator>
  <cp:lastModifiedBy>PptxGenJS</cp:lastModifiedBy>
  <cp:revision>1</cp:revision>
  <dcterms:created xsi:type="dcterms:W3CDTF">2026-10-03T04:59:19Z</dcterms:created>
  <dcterms:modified xsi:type="dcterms:W3CDTF">2026-10-03T04:59:19Z</dcterms:modified>
</cp:coreProperties>
</file>