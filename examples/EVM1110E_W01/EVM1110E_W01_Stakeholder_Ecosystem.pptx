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(dàn ý #1).
Alt-text: agency ở giữa, sáu nhóm bên liên quan bên ngoài xếp quanh và nối với nhau bằng nét đứt — một hệ sinh thái, không chỉ một danh sách.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 — Khởi động. Hỏi to: “Nhớ lại một sự kiện các bạn từng làm hoặc từng dự mà có trục trặc. Trục trặc đến từ ai?”
Ghi từ khóa SV trả lời lên bảng — thường là khách sạn, nhà cung cấp, khách hàng đổi ý, thời tiết, giấy phép… Gần như không ai trong số đó là nhân viên của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công ty tổ chức sự kiện không tự làm ra sự kiện. Địa điểm là của khách sạn, âm thanh ánh sáng là của nhà cung cấp, tiền là của khách hàng và nhà tài trợ, sự chú ý là của báo chí và KOL, giấy phép là của cơ quan chức năng.
Câu hỏi của môn: làm thế nào để xây dựng, duy trì và phát triển quan hệ với các bên liên quan bên ngoài sao cho sự kiện thành công — và khách hàng quay lại?
Alt-text: năm nguồn lực của sự kiện đến từ năm bên khác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rõ: nhân sự, crew, tình nguyện viên thuộc môn Quản lý đội nhóm trong tổ chức sự kiện; quản lý và an toàn đám đông thuộc môn Quản trị rủi ro sự kiện.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 đồ 4 phần: (1) Nền tảng — Buổi 1: nhìn thấy toàn bộ hệ sinh thái, đo quyền lực. (2) KAM — Buổi 2–8: trục của môn. (3) Điều phối các bên liên quan phục vụ hành trình khách hàng — Buổi 9–12: mỗi bên được gắn vào một điểm chạm trên hành trình của khách hàng. (4) Đánh giá — Buổi 13–15: hoàn thiện và bảo vệ kế hoạch.
Nói: “Hãy hình dung khách hàng ở giữa; mọi bên khác là nguồn lực ta huy động để phục vụ hành trình của khách hàng đó.”
Alt-text: sơ đồ tâm – vòng ngoài: khách hàng ở tâm, bốn phần học phần xếp quanh.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đánh giá theo đề cương: chuyên cần 10% · bài tập 20% · giữa kỳ (thuyết trình + làm việc nhóm) 20% · cuối kỳ (Stakeholder Management Plan + phản biện)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nhóm chọn 1 khách hàng từ dự án sự kiện đã làm ở các môn trước — không làm dự án mới. Mỗi buổi học bổ sung một mảnh; hôm nay là bản đồ các bên liên quan. Mọi bài nộp qua LMS theo thời hạn quy định.
[NEEDS PROFESSOR INPUT: quy định chuyên cần, nộp trễ, sử dụng AI — nếu có]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Chú ý hai chiều của định nghĩa: có thể ảnh hưởng (nhà tài trợ rút tiền) hoặc bị ảnh hưởng (cư dân quanh địa điểm chịu tiếng ồn). Cả hai đều là bên liên quan.
Áp dụng vào sự kiện (Van Niekerk &amp; Getz, 2019): bên liên quan của sự kiện là những ai có “phần” (stake) trong sự kiện — góp nguồn lực, nhận lợi ích, chịu tác động, hoặc có quyền cho phép/ngăn cản sự kiện diễn ra.
Hiểu lầm: “Bên liên quan = người trả tiền cho mình” → định nghĩa gồm cả người bị ảnh hưởng và người có quyền ngăn cản.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danh sách liệt kê từng bên riêng lẻ. Một hệ sinh thái nhìn thêm quan hệ giữa các bên với nhau: nhà tài trợ quan tâm vì báo chí đưa tin; báo chí đến vì có KOL; KOL nhận lời vì thương hiệu của khách hàng. Kéo một sợi dây, cả mạng rung.
Câu hỏi gợi mở: “Nếu khách sạn đột ngột đổi phòng hội nghị sang phòng nhỏ hơn, những bên nào khác bị ảnh hưởng dây chuyền?” — vẽ nhanh chuỗi lên bảng.
Alt-text: bên trái danh sách rời rạc; bên phải cùng các bên nối thành mạng lưới.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thuật ngữ “pulsating organisation” (Toffler, 1990; Hanlon &amp; Cuskelly, 2002) — kiểm tra trích dẫn trước khi dùng]
Định nghĩa làm việc: hệ sinh thái bên liên quan bên ngoài của sự kiện là mạng lưới các tổ chức, cá nhân ngoài agency cùng góp nguồn lực, nhận giá trị, chịu tác động hoặc có quyền cho phép sự kiện, và phụ thuộc lẫn nhau.
Một bên, nhiều vai (Getz, Andersson &amp; Larson, 2006): bên liên quan chủ chốt giữ nhiều vai cùng lúc — ví dụ khách sạn vừa là địa điểm vừa là nhà cung cấp dịch vụ (quay lại ở Buổi 12).
Ví dụ thật — DIFF 2026 (30/5–11/7/2026): UBND TP Đà Nẵng và các đơn vị tổ chức; 10 đội pháo hoa từ 9 quốc gia, vùng lãnh thổ; khán giả, du khách; doanh nghiệp du lịch – lưu trú; nhà tài trợ; báo chí; người dân quanh sông Hàn. Hỏi: “Nếu Nova là agency làm dịch vụ cho một nhà tài trợ của DIFF, hệ sinh thái của Nova gồm những ai?” Vai trò cụ thể của từng doanh nghiệp trong DIFF chưa kiểm chứng — không khẳng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sự kiện: nhà tài trợ, địa điểm, cơ quan cấp phép nổi bật; trong sự kiện: nhà cung cấp kỹ thuật, khách tham dự; sau sự kiện: báo chí, khách hàng (đánh giá, tái ký).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Clarkson xếp cả chính quyền và cộng đồng — những bên cung cấp hạ tầng, thị trường, luật lệ — vào nhóm primary.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phạm vi: nhiều tài liệu xếp nhân viên, tình nguyện viên vào nhóm primary — đúng về lý thuyết — nhưng môn này không xét họ (bên nội bộ, thuộc môn Quản lý đội nhóm). Chỉ các bên nằm ngoài ranh giới công ty tổ chức sự kiện.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GV nói to lập luận từng dòng.
Điểm nhấn: cùng là báo chí, trong một sự kiện ra mắt sản phẩm mà mục tiêu chính là phủ sóng truyền thông, báo chí có thể là primary.
[VERIFY: hội nghị khách hàng trong khách sạn có phải thông báo/xin phép cơ quan địa phương hay không, tùy quy mô và nội dung — kiểm tra trước khi dùng cơ quan quản lý làm ví dụ primary]
→ Chuyển sang S4 —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S4 — Thực hành 1 (15 phút): 1 đọc · 9 làm · 5 chia sẻ. Đồng hồ đếm ngược 10 phút.
Thảo luận: bên nào các nhóm phân loại khác nhau? Có bên nào không ký hợp đồng với Nova nhưng vẫn có thể làm hỏng sự kiện?
Giữ lại tờ A0 để đối chiếu ở S6.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lao 8 phút. Ghi giờ quay lại lên slide/bảng.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đoạn S5: “Danh sách của các bạn ở S4 có 12–15 bên. Ta không thể chăm sóc tất cả như nhau — thời gian và ngân sách có hạn. Câu hỏi bây giờ: ai cần được ưu tiên, và ưu tiên theo cách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trục: quyền lực (khả năng tác động đến sự kiện) và mức độ quan tâm (mức độ họ để ý/bị ảnh hưởng). Dạng lưới 2×2 quen thuộc là phiên bản được các giáo trình chiến lược phổ biến lại; khi trình bày, ghi “phát triển từ Mendelow (1981)”.
Mỗi ô có tên và mô tả riêng, không phân biệt chỉ bằng màu.
Alt-text: ma trận 2×2 — trục dọc quyền lực, trục ngang mức độ quan tâm; bốn ô Keep Satisfied, Manage Closely, Monitor, Keep Informed.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Ngân hàng An Phát → Manage Closely (quyền lực cao: ký hợp đồng, trả tiền; quan tâm cao: sự kiện mang thương hiệu của họ).
Ban quản lý khách sạn → Keep Satisfied (quyền lực cao: kiểm soát không gian, giờ giấc, quy định; quan tâm vừa phải: một hợp đồng trong nhiều hợp đồng).
Báo chí tài chính → Keep Informed (quan tâm nếu có câu chuyện; quyền lực trực tiếp lên việc tổ chức thấp).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lớp trước khi lật: “Grid bỏ sót điều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Độ nổi bật (salience) = mức độ nhà quản lý ưu tiên yêu cầu của bên đó — tăng theo số thuộc tính họ có.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Bảy vùng: 1 thuộc tính (tiềm ẩn — latent): Dormant (P), Discretionary (L), Demanding (U). 2 thuộc tính (kỳ vọng — expectant): Dominant (P+L), Dangerous (P+U), Dependent (L+U). 3 thuộc tính: Definitive.
Alt-text: ba vòng tròn giao nhau Power, Legitimacy, Urgency tạo bảy loại bên liên quan.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lớp giơ tay đoán loại của 1–2 ví dụ trước khi chiếu cột “Loại”.
Hiểu lầm: “Quyền lực cao = phải chiều theo mọi yêu cầu” → nhóm Dangerous có quyền lực nhưng thiếu chính đáng; chiến lược là bảo vệ bằng hợp đồng/phương án dự phòng, không phải nhượng bộ.
“Salience và Grid cho cùng một kết quả” → Grid hỏi “họ quan tâm bao nhiêu”; Salience hỏi “yêu cầu của họ có chính đáng và gấp không”. Một bên Keep Informed trên Grid có thể là Dependent trên Salience — tín hiệu cảnh báo sớm.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cư dân quanh địa điểm (Dependent: L + U) → một bài báo đưa tin + phường vào cuộc kiểm tra → họ “mượn” được quyền lực → trở thành Definitive.
Hỏi lớp: “Nova Events nên làm gì từ khi họ còn là Dependent để không phải đối mặt khi họ đã là Definitive?”
→ Chuyển sang S6 — Thực hành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S6 — Thực hành 2 (33 phút): 3 chọn khách hàng · 18 làm poster · 12 xoay vòng các trạm + chốt.
Lời mở đầu: “Bây giờ các bạn áp dụng hai công cụ lên khách hàng thật của nhóm — khách hàng từ dự án cũ, cũng chính là khách hàng các bạn sẽ dùng cho bài cuối kỳ…”
Không chấp nhận phản biện kiểu “đẹp quá”, “tốt lắm”. Chỉ các bên bên ngoài.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S7 — chiếu slide này TRƯỚC (sửa poster), slide lộ trình SAU.
Đồng hồ 5 phút. Nhắc: ghi “sửa gì, vì sao” ở góc poster; chụp ảnh lưu lại (không nộp).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Lộ trình bài cuối kỳ: Buổi 1 bản đồ → Buổi 2–8 khách hàng → Buổi 9–12 các bên khác → Buổi 13–15 hoàn thiện và bảo vệ.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S8 — cá nhân, không chấm điểm. Giấy nhỏ hoặc Google Form (thêm QR nếu thu online).
Cần xem: (a) SV có dùng đúng 3 thuộc tính power/legitimacy/urgency để lập luận không, hay chỉ ghi cảm tính; (b) SV có còn liệt kê nhân sự nội bộ như một bên liên quan không (dấu hiệu chưa nắm phạm vi).
Câu nối Buổi 2: “Trong tất cả các bên liên quan, có một bên mà nếu mất, công ty sự kiện mất luôn doanh thu năm sau — khách hàng. Buổi sau: vì sao không phải khách hàng nào cũng là Key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phụ lục — không chiếu khi dạy; để tra cứu mã nguồn ghi ở chân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4"/>
        </a:solidFill>
      </p:bgPr>
    </p:bg>
    <p:spTree>
      <p:nvGrpSpPr>
        <p:cNvPr id="1" name=""/>
        <p:cNvGrpSpPr/>
        <p:nvPr/>
      </p:nvGrpSpPr>
      <p:grpSpPr>
        <a:xfrm>
          <a:off x="0" y="0"/>
          <a:ext cx="0" cy="0"/>
          <a:chOff x="0" y="0"/>
          <a:chExt cx="0" cy="0"/>
        </a:xfrm>
      </p:grpSpPr>
      <p:sp>
        <p:nvSpPr>
          <p:cNvPr id="2" name="Shape 0"/>
          <p:cNvSpPr/>
          <p:nvPr/>
        </p:nvSpPr>
        <p:spPr>
          <a:xfrm flipV="1">
            <a:off x="9281160" y="1371600"/>
            <a:ext cx="914" cy="1920240"/>
          </a:xfrm>
          <a:prstGeom prst="line">
            <a:avLst/>
          </a:prstGeom>
          <a:noFill/>
          <a:ln w="25400">
            <a:solidFill>
              <a:srgbClr val="962B7C"/>
            </a:solidFill>
            <a:prstDash val="solid"/>
          </a:ln>
        </p:spPr>
      </p:sp>
      <p:sp>
        <p:nvSpPr>
          <p:cNvPr id="3" name="Shape 1"/>
          <p:cNvSpPr/>
          <p:nvPr/>
        </p:nvSpPr>
        <p:spPr>
          <a:xfrm>
            <a:off x="9281160" y="1371600"/>
            <a:ext cx="1662977" cy="960120"/>
          </a:xfrm>
          <a:prstGeom prst="line">
            <a:avLst/>
          </a:prstGeom>
          <a:noFill/>
          <a:ln w="15875">
            <a:solidFill>
              <a:srgbClr val="DCD7C8"/>
            </a:solidFill>
            <a:prstDash val="dash"/>
          </a:ln>
        </p:spPr>
      </p:sp>
      <p:sp>
        <p:nvSpPr>
          <p:cNvPr id="4" name="Shape 2"/>
          <p:cNvSpPr/>
          <p:nvPr/>
        </p:nvSpPr>
        <p:spPr>
          <a:xfrm flipV="1">
            <a:off x="9281160" y="2331720"/>
            <a:ext cx="1662977" cy="960120"/>
          </a:xfrm>
          <a:prstGeom prst="line">
            <a:avLst/>
          </a:prstGeom>
          <a:noFill/>
          <a:ln w="25400">
            <a:solidFill>
              <a:srgbClr val="FF5178"/>
            </a:solidFill>
            <a:prstDash val="solid"/>
          </a:ln>
        </p:spPr>
      </p:sp>
      <p:sp>
        <p:nvSpPr>
          <p:cNvPr id="5" name="Shape 3"/>
          <p:cNvSpPr/>
          <p:nvPr/>
        </p:nvSpPr>
        <p:spPr>
          <a:xfrm>
            <a:off x="10944137" y="2331720"/>
            <a:ext cx="914" cy="1920240"/>
          </a:xfrm>
          <a:prstGeom prst="line">
            <a:avLst/>
          </a:prstGeom>
          <a:noFill/>
          <a:ln w="15875">
            <a:solidFill>
              <a:srgbClr val="DCD7C8"/>
            </a:solidFill>
            <a:prstDash val="dash"/>
          </a:ln>
        </p:spPr>
      </p:sp>
      <p:sp>
        <p:nvSpPr>
          <p:cNvPr id="6" name="Shape 4"/>
          <p:cNvSpPr/>
          <p:nvPr/>
        </p:nvSpPr>
        <p:spPr>
          <a:xfrm>
            <a:off x="9281160" y="3291840"/>
            <a:ext cx="1662977" cy="960120"/>
          </a:xfrm>
          <a:prstGeom prst="line">
            <a:avLst/>
          </a:prstGeom>
          <a:noFill/>
          <a:ln w="25400">
            <a:solidFill>
              <a:srgbClr val="09A1E5"/>
            </a:solidFill>
            <a:prstDash val="solid"/>
          </a:ln>
        </p:spPr>
      </p:sp>
      <p:sp>
        <p:nvSpPr>
          <p:cNvPr id="7" name="Shape 5"/>
          <p:cNvSpPr/>
          <p:nvPr/>
        </p:nvSpPr>
        <p:spPr>
          <a:xfrm flipH="1">
            <a:off x="9281160" y="4251960"/>
            <a:ext cx="1662977" cy="960120"/>
          </a:xfrm>
          <a:prstGeom prst="line">
            <a:avLst/>
          </a:prstGeom>
          <a:noFill/>
          <a:ln w="15875">
            <a:solidFill>
              <a:srgbClr val="DCD7C8"/>
            </a:solidFill>
            <a:prstDash val="dash"/>
          </a:ln>
        </p:spPr>
      </p:sp>
      <p:sp>
        <p:nvSpPr>
          <p:cNvPr id="8" name="Shape 6"/>
          <p:cNvSpPr/>
          <p:nvPr/>
        </p:nvSpPr>
        <p:spPr>
          <a:xfrm>
            <a:off x="9281160" y="3291840"/>
            <a:ext cx="914" cy="1920240"/>
          </a:xfrm>
          <a:prstGeom prst="line">
            <a:avLst/>
          </a:prstGeom>
          <a:noFill/>
          <a:ln w="25400">
            <a:solidFill>
              <a:srgbClr val="FF9259"/>
            </a:solidFill>
            <a:prstDash val="solid"/>
          </a:ln>
        </p:spPr>
      </p:sp>
      <p:sp>
        <p:nvSpPr>
          <p:cNvPr id="9" name="Shape 7"/>
          <p:cNvSpPr/>
          <p:nvPr/>
        </p:nvSpPr>
        <p:spPr>
          <a:xfrm flipH="1" flipV="1">
            <a:off x="7618183" y="4251960"/>
            <a:ext cx="1662977" cy="960120"/>
          </a:xfrm>
          <a:prstGeom prst="line">
            <a:avLst/>
          </a:prstGeom>
          <a:noFill/>
          <a:ln w="15875">
            <a:solidFill>
              <a:srgbClr val="DCD7C8"/>
            </a:solidFill>
            <a:prstDash val="dash"/>
          </a:ln>
        </p:spPr>
      </p:sp>
      <p:sp>
        <p:nvSpPr>
          <p:cNvPr id="10" name="Shape 8"/>
          <p:cNvSpPr/>
          <p:nvPr/>
        </p:nvSpPr>
        <p:spPr>
          <a:xfrm flipH="1">
            <a:off x="7618183" y="3291840"/>
            <a:ext cx="1662977" cy="960120"/>
          </a:xfrm>
          <a:prstGeom prst="line">
            <a:avLst/>
          </a:prstGeom>
          <a:noFill/>
          <a:ln w="25400">
            <a:solidFill>
              <a:srgbClr val="49B296"/>
            </a:solidFill>
            <a:prstDash val="solid"/>
          </a:ln>
        </p:spPr>
      </p:sp>
      <p:sp>
        <p:nvSpPr>
          <p:cNvPr id="11" name="Shape 9"/>
          <p:cNvSpPr/>
          <p:nvPr/>
        </p:nvSpPr>
        <p:spPr>
          <a:xfrm flipV="1">
            <a:off x="7618183" y="2331720"/>
            <a:ext cx="0" cy="1920240"/>
          </a:xfrm>
          <a:prstGeom prst="line">
            <a:avLst/>
          </a:prstGeom>
          <a:noFill/>
          <a:ln w="15875">
            <a:solidFill>
              <a:srgbClr val="DCD7C8"/>
            </a:solidFill>
            <a:prstDash val="dash"/>
          </a:ln>
        </p:spPr>
      </p:sp>
      <p:sp>
        <p:nvSpPr>
          <p:cNvPr id="12" name="Shape 10"/>
          <p:cNvSpPr/>
          <p:nvPr/>
        </p:nvSpPr>
        <p:spPr>
          <a:xfrm flipH="1" flipV="1">
            <a:off x="7618183" y="2331720"/>
            <a:ext cx="1662977" cy="960120"/>
          </a:xfrm>
          <a:prstGeom prst="line">
            <a:avLst/>
          </a:prstGeom>
          <a:noFill/>
          <a:ln w="25400">
            <a:solidFill>
              <a:srgbClr val="962B7C"/>
            </a:solidFill>
            <a:prstDash val="solid"/>
          </a:ln>
        </p:spPr>
      </p:sp>
      <p:sp>
        <p:nvSpPr>
          <p:cNvPr id="13" name="Shape 11"/>
          <p:cNvSpPr/>
          <p:nvPr/>
        </p:nvSpPr>
        <p:spPr>
          <a:xfrm flipV="1">
            <a:off x="7618183" y="1371600"/>
            <a:ext cx="1662977" cy="960120"/>
          </a:xfrm>
          <a:prstGeom prst="line">
            <a:avLst/>
          </a:prstGeom>
          <a:noFill/>
          <a:ln w="15875">
            <a:solidFill>
              <a:srgbClr val="DCD7C8"/>
            </a:solidFill>
            <a:prstDash val="dash"/>
          </a:ln>
        </p:spPr>
      </p:sp>
      <p:sp>
        <p:nvSpPr>
          <p:cNvPr id="14" name="Shape 12"/>
          <p:cNvSpPr/>
          <p:nvPr/>
        </p:nvSpPr>
        <p:spPr>
          <a:xfrm>
            <a:off x="8412480" y="1124712"/>
            <a:ext cx="1737360" cy="493776"/>
          </a:xfrm>
          <a:prstGeom prst="roundRect">
            <a:avLst>
              <a:gd name="adj" fmla="val 50000"/>
            </a:avLst>
          </a:prstGeom>
          <a:solidFill>
            <a:srgbClr val="962B7C"/>
          </a:solidFill>
          <a:ln w="12700">
            <a:solidFill>
              <a:srgbClr val="962B7C"/>
            </a:solidFill>
            <a:prstDash val="solid"/>
          </a:ln>
        </p:spPr>
      </p:sp>
      <p:sp>
        <p:nvSpPr>
          <p:cNvPr id="15" name="Text 13"/>
          <p:cNvSpPr txBox="1"/>
          <p:nvPr/>
        </p:nvSpPr>
        <p:spPr>
          <a:xfrm>
            <a:off x="8485632" y="1124712"/>
            <a:ext cx="1591056"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Khách hàng</a:t>
            </a:r>
            <a:endParaRPr lang="en-US" sz="1100" dirty="0"/>
          </a:p>
        </p:txBody>
      </p:sp>
      <p:sp>
        <p:nvSpPr>
          <p:cNvPr id="16" name="Shape 14"/>
          <p:cNvSpPr/>
          <p:nvPr/>
        </p:nvSpPr>
        <p:spPr>
          <a:xfrm>
            <a:off x="10075457" y="2084832"/>
            <a:ext cx="1737360" cy="493776"/>
          </a:xfrm>
          <a:prstGeom prst="roundRect">
            <a:avLst>
              <a:gd name="adj" fmla="val 50000"/>
            </a:avLst>
          </a:prstGeom>
          <a:solidFill>
            <a:srgbClr val="FF5178"/>
          </a:solidFill>
          <a:ln w="12700">
            <a:solidFill>
              <a:srgbClr val="FF5178"/>
            </a:solidFill>
            <a:prstDash val="solid"/>
          </a:ln>
        </p:spPr>
      </p:sp>
      <p:sp>
        <p:nvSpPr>
          <p:cNvPr id="17" name="Text 15"/>
          <p:cNvSpPr txBox="1"/>
          <p:nvPr/>
        </p:nvSpPr>
        <p:spPr>
          <a:xfrm>
            <a:off x="10148609" y="2084832"/>
            <a:ext cx="1591056"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Nhà tài trợ</a:t>
            </a:r>
            <a:endParaRPr lang="en-US" sz="1100" dirty="0"/>
          </a:p>
        </p:txBody>
      </p:sp>
      <p:sp>
        <p:nvSpPr>
          <p:cNvPr id="18" name="Shape 16"/>
          <p:cNvSpPr/>
          <p:nvPr/>
        </p:nvSpPr>
        <p:spPr>
          <a:xfrm>
            <a:off x="10075457" y="4005072"/>
            <a:ext cx="1737360" cy="493776"/>
          </a:xfrm>
          <a:prstGeom prst="roundRect">
            <a:avLst>
              <a:gd name="adj" fmla="val 50000"/>
            </a:avLst>
          </a:prstGeom>
          <a:solidFill>
            <a:srgbClr val="09A1E5"/>
          </a:solidFill>
          <a:ln w="12700">
            <a:solidFill>
              <a:srgbClr val="09A1E5"/>
            </a:solidFill>
            <a:prstDash val="solid"/>
          </a:ln>
        </p:spPr>
      </p:sp>
      <p:sp>
        <p:nvSpPr>
          <p:cNvPr id="19" name="Text 17"/>
          <p:cNvSpPr txBox="1"/>
          <p:nvPr/>
        </p:nvSpPr>
        <p:spPr>
          <a:xfrm>
            <a:off x="10148609" y="4005072"/>
            <a:ext cx="1591056"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Địa điểm</a:t>
            </a:r>
            <a:endParaRPr lang="en-US" sz="1100" dirty="0"/>
          </a:p>
        </p:txBody>
      </p:sp>
      <p:sp>
        <p:nvSpPr>
          <p:cNvPr id="20" name="Shape 18"/>
          <p:cNvSpPr/>
          <p:nvPr/>
        </p:nvSpPr>
        <p:spPr>
          <a:xfrm>
            <a:off x="8412480" y="4965192"/>
            <a:ext cx="1737360" cy="493776"/>
          </a:xfrm>
          <a:prstGeom prst="roundRect">
            <a:avLst>
              <a:gd name="adj" fmla="val 50000"/>
            </a:avLst>
          </a:prstGeom>
          <a:solidFill>
            <a:srgbClr val="FF9259"/>
          </a:solidFill>
          <a:ln w="12700">
            <a:solidFill>
              <a:srgbClr val="FF9259"/>
            </a:solidFill>
            <a:prstDash val="solid"/>
          </a:ln>
        </p:spPr>
      </p:sp>
      <p:sp>
        <p:nvSpPr>
          <p:cNvPr id="21" name="Text 19"/>
          <p:cNvSpPr txBox="1"/>
          <p:nvPr/>
        </p:nvSpPr>
        <p:spPr>
          <a:xfrm>
            <a:off x="8485632" y="4965192"/>
            <a:ext cx="1591056" cy="493776"/>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Báo chí – KOL</a:t>
            </a:r>
            <a:endParaRPr lang="en-US" sz="1100" dirty="0"/>
          </a:p>
        </p:txBody>
      </p:sp>
      <p:sp>
        <p:nvSpPr>
          <p:cNvPr id="22" name="Shape 20"/>
          <p:cNvSpPr/>
          <p:nvPr/>
        </p:nvSpPr>
        <p:spPr>
          <a:xfrm>
            <a:off x="6749503" y="4005072"/>
            <a:ext cx="1737360" cy="493776"/>
          </a:xfrm>
          <a:prstGeom prst="roundRect">
            <a:avLst>
              <a:gd name="adj" fmla="val 50000"/>
            </a:avLst>
          </a:prstGeom>
          <a:solidFill>
            <a:srgbClr val="49B296"/>
          </a:solidFill>
          <a:ln w="12700">
            <a:solidFill>
              <a:srgbClr val="49B296"/>
            </a:solidFill>
            <a:prstDash val="solid"/>
          </a:ln>
        </p:spPr>
      </p:sp>
      <p:sp>
        <p:nvSpPr>
          <p:cNvPr id="23" name="Text 21"/>
          <p:cNvSpPr txBox="1"/>
          <p:nvPr/>
        </p:nvSpPr>
        <p:spPr>
          <a:xfrm>
            <a:off x="6822655" y="4005072"/>
            <a:ext cx="1591056"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Nhà cung cấp</a:t>
            </a:r>
            <a:endParaRPr lang="en-US" sz="1100" dirty="0"/>
          </a:p>
        </p:txBody>
      </p:sp>
      <p:sp>
        <p:nvSpPr>
          <p:cNvPr id="24" name="Shape 22"/>
          <p:cNvSpPr/>
          <p:nvPr/>
        </p:nvSpPr>
        <p:spPr>
          <a:xfrm>
            <a:off x="6749503" y="2084832"/>
            <a:ext cx="1737360" cy="493776"/>
          </a:xfrm>
          <a:prstGeom prst="roundRect">
            <a:avLst>
              <a:gd name="adj" fmla="val 50000"/>
            </a:avLst>
          </a:prstGeom>
          <a:solidFill>
            <a:srgbClr val="962B7C"/>
          </a:solidFill>
          <a:ln w="12700">
            <a:solidFill>
              <a:srgbClr val="962B7C"/>
            </a:solidFill>
            <a:prstDash val="solid"/>
          </a:ln>
        </p:spPr>
      </p:sp>
      <p:sp>
        <p:nvSpPr>
          <p:cNvPr id="25" name="Text 23"/>
          <p:cNvSpPr txBox="1"/>
          <p:nvPr/>
        </p:nvSpPr>
        <p:spPr>
          <a:xfrm>
            <a:off x="6822655" y="2084832"/>
            <a:ext cx="1591056"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Cơ quan quản lý</a:t>
            </a:r>
            <a:endParaRPr lang="en-US" sz="1100" dirty="0"/>
          </a:p>
        </p:txBody>
      </p:sp>
      <p:sp>
        <p:nvSpPr>
          <p:cNvPr id="26" name="Shape 24"/>
          <p:cNvSpPr/>
          <p:nvPr/>
        </p:nvSpPr>
        <p:spPr>
          <a:xfrm>
            <a:off x="8641080" y="2651760"/>
            <a:ext cx="1280160" cy="1280160"/>
          </a:xfrm>
          <a:prstGeom prst="ellipse">
            <a:avLst/>
          </a:prstGeom>
          <a:solidFill>
            <a:srgbClr val="FFD23B"/>
          </a:solidFill>
          <a:ln w="12700">
            <a:solidFill>
              <a:srgbClr val="FFD23B"/>
            </a:solidFill>
            <a:prstDash val="solid"/>
          </a:ln>
        </p:spPr>
      </p:sp>
      <p:sp>
        <p:nvSpPr>
          <p:cNvPr id="27" name="Text 25"/>
          <p:cNvSpPr txBox="1"/>
          <p:nvPr/>
        </p:nvSpPr>
        <p:spPr>
          <a:xfrm>
            <a:off x="8641080" y="2651760"/>
            <a:ext cx="1280160" cy="1280160"/>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Agency</a:t>
            </a:r>
            <a:endParaRPr lang="en-US" sz="1500" dirty="0"/>
          </a:p>
        </p:txBody>
      </p:sp>
      <p:sp>
        <p:nvSpPr>
          <p:cNvPr id="28" name="Shape 26"/>
          <p:cNvSpPr/>
          <p:nvPr/>
        </p:nvSpPr>
        <p:spPr>
          <a:xfrm>
            <a:off x="548640" y="914400"/>
            <a:ext cx="2651760" cy="420624"/>
          </a:xfrm>
          <a:prstGeom prst="roundRect">
            <a:avLst>
              <a:gd name="adj" fmla="val 50000"/>
            </a:avLst>
          </a:prstGeom>
          <a:solidFill>
            <a:srgbClr val="FFD23B"/>
          </a:solidFill>
          <a:ln w="12700">
            <a:solidFill>
              <a:srgbClr val="FFD23B"/>
            </a:solidFill>
            <a:prstDash val="solid"/>
          </a:ln>
        </p:spPr>
      </p:sp>
      <p:sp>
        <p:nvSpPr>
          <p:cNvPr id="29" name="Text 27"/>
          <p:cNvSpPr txBox="1"/>
          <p:nvPr/>
        </p:nvSpPr>
        <p:spPr>
          <a:xfrm>
            <a:off x="621792" y="914400"/>
            <a:ext cx="2505456" cy="420624"/>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EVM1110E  ·  Buổi 1 / 15</a:t>
            </a:r>
            <a:endParaRPr lang="en-US" sz="1400" dirty="0"/>
          </a:p>
        </p:txBody>
      </p:sp>
      <p:sp>
        <p:nvSpPr>
          <p:cNvPr id="30" name="Text 28"/>
          <p:cNvSpPr txBox="1"/>
          <p:nvPr/>
        </p:nvSpPr>
        <p:spPr>
          <a:xfrm>
            <a:off x="548640" y="1600200"/>
            <a:ext cx="6035040" cy="1737360"/>
          </a:xfrm>
          <a:prstGeom prst="rect">
            <a:avLst/>
          </a:prstGeom>
          <a:noFill/>
          <a:ln/>
        </p:spPr>
        <p:txBody>
          <a:bodyPr wrap="square" lIns="0" tIns="0" rIns="0" bIns="0" rtlCol="0" anchor="t"/>
          <a:lstStyle/>
          <a:p>
            <a:pPr indent="0" marL="0">
              <a:buNone/>
            </a:pPr>
            <a:r>
              <a:rPr lang="en-US" sz="3800" b="1" dirty="0">
                <a:solidFill>
                  <a:srgbClr val="2A2238"/>
                </a:solidFill>
                <a:latin typeface="Alexandria" pitchFamily="34" charset="0"/>
                <a:ea typeface="Alexandria" pitchFamily="34" charset="-122"/>
                <a:cs typeface="Alexandria" pitchFamily="34" charset="-120"/>
              </a:rPr>
              <a:t>Quản trị mối quan hệ trong tổ chức sự kiện</a:t>
            </a:r>
            <a:endParaRPr lang="en-US" sz="3800" dirty="0"/>
          </a:p>
        </p:txBody>
      </p:sp>
      <p:sp>
        <p:nvSpPr>
          <p:cNvPr id="31" name="Text 29"/>
          <p:cNvSpPr txBox="1"/>
          <p:nvPr/>
        </p:nvSpPr>
        <p:spPr>
          <a:xfrm>
            <a:off x="548640" y="3429000"/>
            <a:ext cx="6035040" cy="914400"/>
          </a:xfrm>
          <a:prstGeom prst="rect">
            <a:avLst/>
          </a:prstGeom>
          <a:noFill/>
          <a:ln/>
        </p:spPr>
        <p:txBody>
          <a:bodyPr wrap="square" lIns="0" tIns="0" rIns="0" bIns="0" rtlCol="0" anchor="t"/>
          <a:lstStyle/>
          <a:p>
            <a:pPr indent="0" marL="0">
              <a:buNone/>
            </a:pPr>
            <a:r>
              <a:rPr lang="en-US" sz="2200" i="1" dirty="0">
                <a:solidFill>
                  <a:srgbClr val="962B7C"/>
                </a:solidFill>
                <a:latin typeface="Alexandria" pitchFamily="34" charset="0"/>
                <a:ea typeface="Alexandria" pitchFamily="34" charset="-122"/>
                <a:cs typeface="Alexandria" pitchFamily="34" charset="-120"/>
              </a:rPr>
              <a:t>Định hình hệ sinh thái các bên liên quan bên ngoài</a:t>
            </a:r>
            <a:endParaRPr lang="en-US" sz="2200" dirty="0"/>
          </a:p>
        </p:txBody>
      </p:sp>
      <p:sp>
        <p:nvSpPr>
          <p:cNvPr id="32" name="Text 30"/>
          <p:cNvSpPr txBox="1"/>
          <p:nvPr/>
        </p:nvSpPr>
        <p:spPr>
          <a:xfrm>
            <a:off x="548640" y="4572000"/>
            <a:ext cx="6035040" cy="1280160"/>
          </a:xfrm>
          <a:prstGeom prst="rect">
            <a:avLst/>
          </a:prstGeom>
          <a:noFill/>
          <a:ln/>
        </p:spPr>
        <p:txBody>
          <a:bodyPr wrap="square" lIns="0" tIns="0" rIns="0" bIns="0" rtlCol="0" anchor="t"/>
          <a:lstStyle/>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Stakeholders Management for Events</a:t>
            </a:r>
            <a:endParaRPr lang="en-US" sz="1500" dirty="0"/>
          </a:p>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Khoa Marketing · UEF</a:t>
            </a:r>
            <a:endParaRPr lang="en-US" sz="1500" dirty="0"/>
          </a:p>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Giảng viên: Đoàn Nguyễn Bảo Quyên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F9259"/>
          </a:solidFill>
          <a:ln w="9525">
            <a:solidFill>
              <a:srgbClr val="FF9259"/>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b="1" dirty="0">
                <a:solidFill>
                  <a:srgbClr val="2A223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Sự kiện hỏng thường vì những người ta không trực tiếp quản lý</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2</a:t>
            </a:r>
            <a:endParaRPr lang="en-US" sz="1000" dirty="0"/>
          </a:p>
        </p:txBody>
      </p:sp>
      <p:sp>
        <p:nvSpPr>
          <p:cNvPr id="19" name="Shape 16"/>
          <p:cNvSpPr/>
          <p:nvPr/>
        </p:nvSpPr>
        <p:spPr>
          <a:xfrm>
            <a:off x="548640" y="2011680"/>
            <a:ext cx="11094415" cy="2103120"/>
          </a:xfrm>
          <a:prstGeom prst="roundRect">
            <a:avLst>
              <a:gd name="adj" fmla="val 5217"/>
            </a:avLst>
          </a:prstGeom>
          <a:solidFill>
            <a:srgbClr val="FFE4EA"/>
          </a:solidFill>
          <a:ln w="12700">
            <a:solidFill>
              <a:srgbClr val="FF5178"/>
            </a:solidFill>
            <a:prstDash val="solid"/>
          </a:ln>
        </p:spPr>
      </p:sp>
      <p:sp>
        <p:nvSpPr>
          <p:cNvPr id="20" name="Text 17"/>
          <p:cNvSpPr txBox="1"/>
          <p:nvPr/>
        </p:nvSpPr>
        <p:spPr>
          <a:xfrm>
            <a:off x="1005840" y="2011680"/>
            <a:ext cx="10180015" cy="2103120"/>
          </a:xfrm>
          <a:prstGeom prst="rect">
            <a:avLst/>
          </a:prstGeom>
          <a:noFill/>
          <a:ln/>
        </p:spPr>
        <p:txBody>
          <a:bodyPr wrap="square" lIns="0" tIns="0" rIns="0" bIns="0" rtlCol="0" anchor="ctr"/>
          <a:lstStyle/>
          <a:p>
            <a:pPr algn="ctr" indent="0" marL="0">
              <a:buNone/>
            </a:pPr>
            <a:r>
              <a:rPr lang="en-US" sz="3200" b="1" dirty="0">
                <a:solidFill>
                  <a:srgbClr val="2A2238"/>
                </a:solidFill>
                <a:latin typeface="Alexandria" pitchFamily="34" charset="0"/>
                <a:ea typeface="Alexandria" pitchFamily="34" charset="-122"/>
                <a:cs typeface="Alexandria" pitchFamily="34" charset="-120"/>
              </a:rPr>
              <a:t>Nhớ lại một sự kiện có trục trặc. Trục trặc đến từ ai?</a:t>
            </a:r>
            <a:endParaRPr lang="en-US" sz="3200" dirty="0"/>
          </a:p>
        </p:txBody>
      </p:sp>
      <p:sp>
        <p:nvSpPr>
          <p:cNvPr id="21" name="Text 18"/>
          <p:cNvSpPr txBox="1"/>
          <p:nvPr/>
        </p:nvSpPr>
        <p:spPr>
          <a:xfrm>
            <a:off x="548640" y="4434840"/>
            <a:ext cx="11094415" cy="411480"/>
          </a:xfrm>
          <a:prstGeom prst="rect">
            <a:avLst/>
          </a:prstGeom>
          <a:noFill/>
          <a:ln/>
        </p:spPr>
        <p:txBody>
          <a:bodyPr wrap="square" lIns="0" tIns="0" rIns="0" bIns="0" rtlCol="0" anchor="ctr"/>
          <a:lstStyle/>
          <a:p>
            <a:pPr algn="ctr" indent="0" marL="0">
              <a:buNone/>
            </a:pPr>
            <a:r>
              <a:rPr lang="en-US" sz="1500" b="1" dirty="0">
                <a:solidFill>
                  <a:srgbClr val="6E6878"/>
                </a:solidFill>
                <a:latin typeface="Alexandria" pitchFamily="34" charset="0"/>
                <a:ea typeface="Alexandria" pitchFamily="34" charset="-122"/>
                <a:cs typeface="Alexandria" pitchFamily="34" charset="-120"/>
              </a:rPr>
              <a:t>Ghi từ khóa lên bảng</a:t>
            </a:r>
            <a:endParaRPr lang="en-US" sz="1500" dirty="0"/>
          </a:p>
        </p:txBody>
      </p:sp>
      <p:sp>
        <p:nvSpPr>
          <p:cNvPr id="22" name="Shape 19"/>
          <p:cNvSpPr/>
          <p:nvPr/>
        </p:nvSpPr>
        <p:spPr>
          <a:xfrm>
            <a:off x="548640" y="4983480"/>
            <a:ext cx="2072579" cy="640080"/>
          </a:xfrm>
          <a:prstGeom prst="roundRect">
            <a:avLst>
              <a:gd name="adj" fmla="val 50000"/>
            </a:avLst>
          </a:prstGeom>
          <a:solidFill>
            <a:srgbClr val="FFFFFF"/>
          </a:solidFill>
          <a:ln w="12700">
            <a:solidFill>
              <a:srgbClr val="09A1E5"/>
            </a:solidFill>
            <a:prstDash val="solid"/>
          </a:ln>
        </p:spPr>
      </p:sp>
      <p:sp>
        <p:nvSpPr>
          <p:cNvPr id="23" name="Text 20"/>
          <p:cNvSpPr txBox="1"/>
          <p:nvPr/>
        </p:nvSpPr>
        <p:spPr>
          <a:xfrm>
            <a:off x="621792" y="4983480"/>
            <a:ext cx="1926275" cy="640080"/>
          </a:xfrm>
          <a:prstGeom prst="rect">
            <a:avLst/>
          </a:prstGeom>
          <a:noFill/>
          <a:ln/>
        </p:spPr>
        <p:txBody>
          <a:bodyPr wrap="square" lIns="0" tIns="0" rIns="0" bIns="0" rtlCol="0" anchor="ctr"/>
          <a:lstStyle/>
          <a:p>
            <a:pPr algn="ctr" indent="0" marL="0">
              <a:buNone/>
            </a:pPr>
            <a:r>
              <a:rPr lang="en-US" sz="1500" dirty="0">
                <a:solidFill>
                  <a:srgbClr val="2A2238"/>
                </a:solidFill>
                <a:latin typeface="Alexandria" pitchFamily="34" charset="0"/>
                <a:ea typeface="Alexandria" pitchFamily="34" charset="-122"/>
                <a:cs typeface="Alexandria" pitchFamily="34" charset="-120"/>
              </a:rPr>
              <a:t>khách sạn?</a:t>
            </a:r>
            <a:endParaRPr lang="en-US" sz="1500" dirty="0"/>
          </a:p>
        </p:txBody>
      </p:sp>
      <p:sp>
        <p:nvSpPr>
          <p:cNvPr id="24" name="Shape 21"/>
          <p:cNvSpPr/>
          <p:nvPr/>
        </p:nvSpPr>
        <p:spPr>
          <a:xfrm>
            <a:off x="2804099" y="4983480"/>
            <a:ext cx="2072579" cy="640080"/>
          </a:xfrm>
          <a:prstGeom prst="roundRect">
            <a:avLst>
              <a:gd name="adj" fmla="val 50000"/>
            </a:avLst>
          </a:prstGeom>
          <a:solidFill>
            <a:srgbClr val="FFFFFF"/>
          </a:solidFill>
          <a:ln w="12700">
            <a:solidFill>
              <a:srgbClr val="FF9259"/>
            </a:solidFill>
            <a:prstDash val="solid"/>
          </a:ln>
        </p:spPr>
      </p:sp>
      <p:sp>
        <p:nvSpPr>
          <p:cNvPr id="25" name="Text 22"/>
          <p:cNvSpPr txBox="1"/>
          <p:nvPr/>
        </p:nvSpPr>
        <p:spPr>
          <a:xfrm>
            <a:off x="2877251" y="4983480"/>
            <a:ext cx="1926275" cy="640080"/>
          </a:xfrm>
          <a:prstGeom prst="rect">
            <a:avLst/>
          </a:prstGeom>
          <a:noFill/>
          <a:ln/>
        </p:spPr>
        <p:txBody>
          <a:bodyPr wrap="square" lIns="0" tIns="0" rIns="0" bIns="0" rtlCol="0" anchor="ctr"/>
          <a:lstStyle/>
          <a:p>
            <a:pPr algn="ctr" indent="0" marL="0">
              <a:buNone/>
            </a:pPr>
            <a:r>
              <a:rPr lang="en-US" sz="1500" dirty="0">
                <a:solidFill>
                  <a:srgbClr val="2A2238"/>
                </a:solidFill>
                <a:latin typeface="Alexandria" pitchFamily="34" charset="0"/>
                <a:ea typeface="Alexandria" pitchFamily="34" charset="-122"/>
                <a:cs typeface="Alexandria" pitchFamily="34" charset="-120"/>
              </a:rPr>
              <a:t>nhà cung cấp?</a:t>
            </a:r>
            <a:endParaRPr lang="en-US" sz="1500" dirty="0"/>
          </a:p>
        </p:txBody>
      </p:sp>
      <p:sp>
        <p:nvSpPr>
          <p:cNvPr id="26" name="Shape 23"/>
          <p:cNvSpPr/>
          <p:nvPr/>
        </p:nvSpPr>
        <p:spPr>
          <a:xfrm>
            <a:off x="5059558" y="4983480"/>
            <a:ext cx="2072579" cy="640080"/>
          </a:xfrm>
          <a:prstGeom prst="roundRect">
            <a:avLst>
              <a:gd name="adj" fmla="val 50000"/>
            </a:avLst>
          </a:prstGeom>
          <a:solidFill>
            <a:srgbClr val="FFFFFF"/>
          </a:solidFill>
          <a:ln w="12700">
            <a:solidFill>
              <a:srgbClr val="962B7C"/>
            </a:solidFill>
            <a:prstDash val="solid"/>
          </a:ln>
        </p:spPr>
      </p:sp>
      <p:sp>
        <p:nvSpPr>
          <p:cNvPr id="27" name="Text 24"/>
          <p:cNvSpPr txBox="1"/>
          <p:nvPr/>
        </p:nvSpPr>
        <p:spPr>
          <a:xfrm>
            <a:off x="5132710" y="4983480"/>
            <a:ext cx="1926275" cy="640080"/>
          </a:xfrm>
          <a:prstGeom prst="rect">
            <a:avLst/>
          </a:prstGeom>
          <a:noFill/>
          <a:ln/>
        </p:spPr>
        <p:txBody>
          <a:bodyPr wrap="square" lIns="0" tIns="0" rIns="0" bIns="0" rtlCol="0" anchor="ctr"/>
          <a:lstStyle/>
          <a:p>
            <a:pPr algn="ctr" indent="0" marL="0">
              <a:buNone/>
            </a:pPr>
            <a:r>
              <a:rPr lang="en-US" sz="1500" dirty="0">
                <a:solidFill>
                  <a:srgbClr val="2A2238"/>
                </a:solidFill>
                <a:latin typeface="Alexandria" pitchFamily="34" charset="0"/>
                <a:ea typeface="Alexandria" pitchFamily="34" charset="-122"/>
                <a:cs typeface="Alexandria" pitchFamily="34" charset="-120"/>
              </a:rPr>
              <a:t>khách hàng đổi ý?</a:t>
            </a:r>
            <a:endParaRPr lang="en-US" sz="1500" dirty="0"/>
          </a:p>
        </p:txBody>
      </p:sp>
      <p:sp>
        <p:nvSpPr>
          <p:cNvPr id="28" name="Shape 25"/>
          <p:cNvSpPr/>
          <p:nvPr/>
        </p:nvSpPr>
        <p:spPr>
          <a:xfrm>
            <a:off x="7315017" y="4983480"/>
            <a:ext cx="2072579" cy="640080"/>
          </a:xfrm>
          <a:prstGeom prst="roundRect">
            <a:avLst>
              <a:gd name="adj" fmla="val 50000"/>
            </a:avLst>
          </a:prstGeom>
          <a:solidFill>
            <a:srgbClr val="FFFFFF"/>
          </a:solidFill>
          <a:ln w="12700">
            <a:solidFill>
              <a:srgbClr val="49B296"/>
            </a:solidFill>
            <a:prstDash val="solid"/>
          </a:ln>
        </p:spPr>
      </p:sp>
      <p:sp>
        <p:nvSpPr>
          <p:cNvPr id="29" name="Text 26"/>
          <p:cNvSpPr txBox="1"/>
          <p:nvPr/>
        </p:nvSpPr>
        <p:spPr>
          <a:xfrm>
            <a:off x="7388169" y="4983480"/>
            <a:ext cx="1926275" cy="640080"/>
          </a:xfrm>
          <a:prstGeom prst="rect">
            <a:avLst/>
          </a:prstGeom>
          <a:noFill/>
          <a:ln/>
        </p:spPr>
        <p:txBody>
          <a:bodyPr wrap="square" lIns="0" tIns="0" rIns="0" bIns="0" rtlCol="0" anchor="ctr"/>
          <a:lstStyle/>
          <a:p>
            <a:pPr algn="ctr" indent="0" marL="0">
              <a:buNone/>
            </a:pPr>
            <a:r>
              <a:rPr lang="en-US" sz="1500" dirty="0">
                <a:solidFill>
                  <a:srgbClr val="2A2238"/>
                </a:solidFill>
                <a:latin typeface="Alexandria" pitchFamily="34" charset="0"/>
                <a:ea typeface="Alexandria" pitchFamily="34" charset="-122"/>
                <a:cs typeface="Alexandria" pitchFamily="34" charset="-120"/>
              </a:rPr>
              <a:t>giấy phép?</a:t>
            </a:r>
            <a:endParaRPr lang="en-US" sz="1500" dirty="0"/>
          </a:p>
        </p:txBody>
      </p:sp>
      <p:sp>
        <p:nvSpPr>
          <p:cNvPr id="30" name="Shape 27"/>
          <p:cNvSpPr/>
          <p:nvPr/>
        </p:nvSpPr>
        <p:spPr>
          <a:xfrm>
            <a:off x="9570476" y="4983480"/>
            <a:ext cx="2072579" cy="640080"/>
          </a:xfrm>
          <a:prstGeom prst="roundRect">
            <a:avLst>
              <a:gd name="adj" fmla="val 50000"/>
            </a:avLst>
          </a:prstGeom>
          <a:solidFill>
            <a:srgbClr val="FFFFFF"/>
          </a:solidFill>
          <a:ln w="12700">
            <a:solidFill>
              <a:srgbClr val="FF5178"/>
            </a:solidFill>
            <a:prstDash val="solid"/>
          </a:ln>
        </p:spPr>
      </p:sp>
      <p:sp>
        <p:nvSpPr>
          <p:cNvPr id="31" name="Text 28"/>
          <p:cNvSpPr txBox="1"/>
          <p:nvPr/>
        </p:nvSpPr>
        <p:spPr>
          <a:xfrm>
            <a:off x="9643628" y="4983480"/>
            <a:ext cx="1926275" cy="640080"/>
          </a:xfrm>
          <a:prstGeom prst="rect">
            <a:avLst/>
          </a:prstGeom>
          <a:noFill/>
          <a:ln/>
        </p:spPr>
        <p:txBody>
          <a:bodyPr wrap="square" lIns="0" tIns="0" rIns="0" bIns="0" rtlCol="0" anchor="ctr"/>
          <a:lstStyle/>
          <a:p>
            <a:pPr algn="ctr" indent="0" marL="0">
              <a:buNone/>
            </a:pPr>
            <a:r>
              <a:rPr lang="en-US" sz="1500" dirty="0">
                <a:solidFill>
                  <a:srgbClr val="2A2238"/>
                </a:solidFill>
                <a:latin typeface="Alexandria" pitchFamily="34" charset="0"/>
                <a:ea typeface="Alexandria" pitchFamily="34" charset="-122"/>
                <a:cs typeface="Alexandria" pitchFamily="34" charset="-120"/>
              </a:rPr>
              <a:t>báo chí?</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F9259"/>
          </a:solidFill>
          <a:ln w="9525">
            <a:solidFill>
              <a:srgbClr val="FF9259"/>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b="1" dirty="0">
                <a:solidFill>
                  <a:srgbClr val="2A223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Nghề sự kiện là điều phối những người mình không quản lý</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3</a:t>
            </a:r>
            <a:endParaRPr lang="en-US" sz="1000" dirty="0"/>
          </a:p>
        </p:txBody>
      </p:sp>
      <p:sp>
        <p:nvSpPr>
          <p:cNvPr id="19" name="Shape 16"/>
          <p:cNvSpPr/>
          <p:nvPr/>
        </p:nvSpPr>
        <p:spPr>
          <a:xfrm>
            <a:off x="548640" y="1965960"/>
            <a:ext cx="2036003" cy="2468880"/>
          </a:xfrm>
          <a:prstGeom prst="roundRect">
            <a:avLst>
              <a:gd name="adj" fmla="val 5389"/>
            </a:avLst>
          </a:prstGeom>
          <a:solidFill>
            <a:srgbClr val="DDF1FB"/>
          </a:solidFill>
          <a:ln w="19050">
            <a:solidFill>
              <a:srgbClr val="09A1E5"/>
            </a:solidFill>
            <a:prstDash val="solid"/>
          </a:ln>
        </p:spPr>
      </p:sp>
      <p:sp>
        <p:nvSpPr>
          <p:cNvPr id="20" name="Shape 17"/>
          <p:cNvSpPr/>
          <p:nvPr/>
        </p:nvSpPr>
        <p:spPr>
          <a:xfrm>
            <a:off x="1155162" y="2148840"/>
            <a:ext cx="822960" cy="822960"/>
          </a:xfrm>
          <a:prstGeom prst="ellipse">
            <a:avLst/>
          </a:prstGeom>
          <a:solidFill>
            <a:srgbClr val="09A1E5"/>
          </a:solidFill>
          <a:ln w="12700">
            <a:solidFill>
              <a:srgbClr val="09A1E5"/>
            </a:solidFill>
            <a:prstDash val="solid"/>
          </a:ln>
        </p:spPr>
      </p:sp>
      <p:sp>
        <p:nvSpPr>
          <p:cNvPr id="21" name="Text 18"/>
          <p:cNvSpPr txBox="1"/>
          <p:nvPr/>
        </p:nvSpPr>
        <p:spPr>
          <a:xfrm>
            <a:off x="1155162" y="214884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1</a:t>
            </a:r>
            <a:endParaRPr lang="en-US" sz="2200" dirty="0"/>
          </a:p>
        </p:txBody>
      </p:sp>
      <p:sp>
        <p:nvSpPr>
          <p:cNvPr id="22" name="Text 19"/>
          <p:cNvSpPr txBox="1"/>
          <p:nvPr/>
        </p:nvSpPr>
        <p:spPr>
          <a:xfrm>
            <a:off x="685800" y="3108960"/>
            <a:ext cx="1761683" cy="457200"/>
          </a:xfrm>
          <a:prstGeom prst="rect">
            <a:avLst/>
          </a:prstGeom>
          <a:noFill/>
          <a:ln/>
        </p:spPr>
        <p:txBody>
          <a:bodyPr wrap="square" lIns="0" tIns="0" rIns="0" bIns="0" rtlCol="0" anchor="ctr"/>
          <a:lstStyle/>
          <a:p>
            <a:pPr algn="ctr" indent="0" marL="0">
              <a:buNone/>
            </a:pPr>
            <a:r>
              <a:rPr lang="en-US" sz="1900" b="1" dirty="0">
                <a:solidFill>
                  <a:srgbClr val="2A2238"/>
                </a:solidFill>
                <a:latin typeface="Alexandria" pitchFamily="34" charset="0"/>
                <a:ea typeface="Alexandria" pitchFamily="34" charset="-122"/>
                <a:cs typeface="Alexandria" pitchFamily="34" charset="-120"/>
              </a:rPr>
              <a:t>Địa điểm</a:t>
            </a:r>
            <a:endParaRPr lang="en-US" sz="1900" dirty="0"/>
          </a:p>
        </p:txBody>
      </p:sp>
      <p:sp>
        <p:nvSpPr>
          <p:cNvPr id="23" name="Text 20"/>
          <p:cNvSpPr txBox="1"/>
          <p:nvPr/>
        </p:nvSpPr>
        <p:spPr>
          <a:xfrm>
            <a:off x="685800" y="3566160"/>
            <a:ext cx="1761683" cy="274320"/>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đến từ</a:t>
            </a:r>
            <a:endParaRPr lang="en-US" sz="1100" dirty="0"/>
          </a:p>
        </p:txBody>
      </p:sp>
      <p:sp>
        <p:nvSpPr>
          <p:cNvPr id="24" name="Text 21"/>
          <p:cNvSpPr txBox="1"/>
          <p:nvPr/>
        </p:nvSpPr>
        <p:spPr>
          <a:xfrm>
            <a:off x="685800" y="3840480"/>
            <a:ext cx="1761683" cy="548640"/>
          </a:xfrm>
          <a:prstGeom prst="rect">
            <a:avLst/>
          </a:prstGeom>
          <a:noFill/>
          <a:ln/>
        </p:spPr>
        <p:txBody>
          <a:bodyPr wrap="square" lIns="0" tIns="0" rIns="0" bIns="0" rtlCol="0" anchor="t"/>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khách sạn, trung tâm hội nghị</a:t>
            </a:r>
            <a:endParaRPr lang="en-US" sz="1300" dirty="0"/>
          </a:p>
        </p:txBody>
      </p:sp>
      <p:sp>
        <p:nvSpPr>
          <p:cNvPr id="25" name="Shape 22"/>
          <p:cNvSpPr/>
          <p:nvPr/>
        </p:nvSpPr>
        <p:spPr>
          <a:xfrm>
            <a:off x="2813243" y="1965960"/>
            <a:ext cx="2036003" cy="2468880"/>
          </a:xfrm>
          <a:prstGeom prst="roundRect">
            <a:avLst>
              <a:gd name="adj" fmla="val 5389"/>
            </a:avLst>
          </a:prstGeom>
          <a:solidFill>
            <a:srgbClr val="F1E1EE"/>
          </a:solidFill>
          <a:ln w="19050">
            <a:solidFill>
              <a:srgbClr val="962B7C"/>
            </a:solidFill>
            <a:prstDash val="solid"/>
          </a:ln>
        </p:spPr>
      </p:sp>
      <p:sp>
        <p:nvSpPr>
          <p:cNvPr id="26" name="Shape 23"/>
          <p:cNvSpPr/>
          <p:nvPr/>
        </p:nvSpPr>
        <p:spPr>
          <a:xfrm>
            <a:off x="3419765" y="2148840"/>
            <a:ext cx="822960" cy="822960"/>
          </a:xfrm>
          <a:prstGeom prst="ellipse">
            <a:avLst/>
          </a:prstGeom>
          <a:solidFill>
            <a:srgbClr val="962B7C"/>
          </a:solidFill>
          <a:ln w="12700">
            <a:solidFill>
              <a:srgbClr val="962B7C"/>
            </a:solidFill>
            <a:prstDash val="solid"/>
          </a:ln>
        </p:spPr>
      </p:sp>
      <p:sp>
        <p:nvSpPr>
          <p:cNvPr id="27" name="Text 24"/>
          <p:cNvSpPr txBox="1"/>
          <p:nvPr/>
        </p:nvSpPr>
        <p:spPr>
          <a:xfrm>
            <a:off x="3419765" y="214884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2</a:t>
            </a:r>
            <a:endParaRPr lang="en-US" sz="2200" dirty="0"/>
          </a:p>
        </p:txBody>
      </p:sp>
      <p:sp>
        <p:nvSpPr>
          <p:cNvPr id="28" name="Text 25"/>
          <p:cNvSpPr txBox="1"/>
          <p:nvPr/>
        </p:nvSpPr>
        <p:spPr>
          <a:xfrm>
            <a:off x="2950403" y="3108960"/>
            <a:ext cx="1761683" cy="457200"/>
          </a:xfrm>
          <a:prstGeom prst="rect">
            <a:avLst/>
          </a:prstGeom>
          <a:noFill/>
          <a:ln/>
        </p:spPr>
        <p:txBody>
          <a:bodyPr wrap="square" lIns="0" tIns="0" rIns="0" bIns="0" rtlCol="0" anchor="ctr"/>
          <a:lstStyle/>
          <a:p>
            <a:pPr algn="ctr" indent="0" marL="0">
              <a:buNone/>
            </a:pPr>
            <a:r>
              <a:rPr lang="en-US" sz="1900" b="1" dirty="0">
                <a:solidFill>
                  <a:srgbClr val="2A2238"/>
                </a:solidFill>
                <a:latin typeface="Alexandria" pitchFamily="34" charset="0"/>
                <a:ea typeface="Alexandria" pitchFamily="34" charset="-122"/>
                <a:cs typeface="Alexandria" pitchFamily="34" charset="-120"/>
              </a:rPr>
              <a:t>Tiền</a:t>
            </a:r>
            <a:endParaRPr lang="en-US" sz="1900" dirty="0"/>
          </a:p>
        </p:txBody>
      </p:sp>
      <p:sp>
        <p:nvSpPr>
          <p:cNvPr id="29" name="Text 26"/>
          <p:cNvSpPr txBox="1"/>
          <p:nvPr/>
        </p:nvSpPr>
        <p:spPr>
          <a:xfrm>
            <a:off x="2950403" y="3566160"/>
            <a:ext cx="1761683" cy="274320"/>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đến từ</a:t>
            </a:r>
            <a:endParaRPr lang="en-US" sz="1100" dirty="0"/>
          </a:p>
        </p:txBody>
      </p:sp>
      <p:sp>
        <p:nvSpPr>
          <p:cNvPr id="30" name="Text 27"/>
          <p:cNvSpPr txBox="1"/>
          <p:nvPr/>
        </p:nvSpPr>
        <p:spPr>
          <a:xfrm>
            <a:off x="2950403" y="3840480"/>
            <a:ext cx="1761683" cy="548640"/>
          </a:xfrm>
          <a:prstGeom prst="rect">
            <a:avLst/>
          </a:prstGeom>
          <a:noFill/>
          <a:ln/>
        </p:spPr>
        <p:txBody>
          <a:bodyPr wrap="square" lIns="0" tIns="0" rIns="0" bIns="0" rtlCol="0" anchor="t"/>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khách hàng, nhà tài trợ</a:t>
            </a:r>
            <a:endParaRPr lang="en-US" sz="1300" dirty="0"/>
          </a:p>
        </p:txBody>
      </p:sp>
      <p:sp>
        <p:nvSpPr>
          <p:cNvPr id="31" name="Shape 28"/>
          <p:cNvSpPr/>
          <p:nvPr/>
        </p:nvSpPr>
        <p:spPr>
          <a:xfrm>
            <a:off x="5077846" y="1965960"/>
            <a:ext cx="2036003" cy="2468880"/>
          </a:xfrm>
          <a:prstGeom prst="roundRect">
            <a:avLst>
              <a:gd name="adj" fmla="val 5389"/>
            </a:avLst>
          </a:prstGeom>
          <a:solidFill>
            <a:srgbClr val="FFE9DE"/>
          </a:solidFill>
          <a:ln w="19050">
            <a:solidFill>
              <a:srgbClr val="FF9259"/>
            </a:solidFill>
            <a:prstDash val="solid"/>
          </a:ln>
        </p:spPr>
      </p:sp>
      <p:sp>
        <p:nvSpPr>
          <p:cNvPr id="32" name="Shape 29"/>
          <p:cNvSpPr/>
          <p:nvPr/>
        </p:nvSpPr>
        <p:spPr>
          <a:xfrm>
            <a:off x="5684368" y="2148840"/>
            <a:ext cx="822960" cy="822960"/>
          </a:xfrm>
          <a:prstGeom prst="ellipse">
            <a:avLst/>
          </a:prstGeom>
          <a:solidFill>
            <a:srgbClr val="FF9259"/>
          </a:solidFill>
          <a:ln w="12700">
            <a:solidFill>
              <a:srgbClr val="FF9259"/>
            </a:solidFill>
            <a:prstDash val="solid"/>
          </a:ln>
        </p:spPr>
      </p:sp>
      <p:sp>
        <p:nvSpPr>
          <p:cNvPr id="33" name="Text 30"/>
          <p:cNvSpPr txBox="1"/>
          <p:nvPr/>
        </p:nvSpPr>
        <p:spPr>
          <a:xfrm>
            <a:off x="5684368" y="2148840"/>
            <a:ext cx="822960" cy="822960"/>
          </a:xfrm>
          <a:prstGeom prst="rect">
            <a:avLst/>
          </a:prstGeom>
          <a:noFill/>
          <a:ln/>
        </p:spPr>
        <p:txBody>
          <a:bodyPr wrap="square" lIns="0" tIns="0" rIns="0" bIns="0" rtlCol="0" anchor="ctr"/>
          <a:lstStyle/>
          <a:p>
            <a:pPr algn="ctr" indent="0" marL="0">
              <a:buNone/>
            </a:pPr>
            <a:r>
              <a:rPr lang="en-US" sz="2200" b="1" dirty="0">
                <a:solidFill>
                  <a:srgbClr val="2A2238"/>
                </a:solidFill>
                <a:latin typeface="Alexandria" pitchFamily="34" charset="0"/>
                <a:ea typeface="Alexandria" pitchFamily="34" charset="-122"/>
                <a:cs typeface="Alexandria" pitchFamily="34" charset="-120"/>
              </a:rPr>
              <a:t>3</a:t>
            </a:r>
            <a:endParaRPr lang="en-US" sz="2200" dirty="0"/>
          </a:p>
        </p:txBody>
      </p:sp>
      <p:sp>
        <p:nvSpPr>
          <p:cNvPr id="34" name="Text 31"/>
          <p:cNvSpPr txBox="1"/>
          <p:nvPr/>
        </p:nvSpPr>
        <p:spPr>
          <a:xfrm>
            <a:off x="5215006" y="3108960"/>
            <a:ext cx="1761683" cy="457200"/>
          </a:xfrm>
          <a:prstGeom prst="rect">
            <a:avLst/>
          </a:prstGeom>
          <a:noFill/>
          <a:ln/>
        </p:spPr>
        <p:txBody>
          <a:bodyPr wrap="square" lIns="0" tIns="0" rIns="0" bIns="0" rtlCol="0" anchor="ctr"/>
          <a:lstStyle/>
          <a:p>
            <a:pPr algn="ctr" indent="0" marL="0">
              <a:buNone/>
            </a:pPr>
            <a:r>
              <a:rPr lang="en-US" sz="1900" b="1" dirty="0">
                <a:solidFill>
                  <a:srgbClr val="2A2238"/>
                </a:solidFill>
                <a:latin typeface="Alexandria" pitchFamily="34" charset="0"/>
                <a:ea typeface="Alexandria" pitchFamily="34" charset="-122"/>
                <a:cs typeface="Alexandria" pitchFamily="34" charset="-120"/>
              </a:rPr>
              <a:t>Sự chú ý</a:t>
            </a:r>
            <a:endParaRPr lang="en-US" sz="1900" dirty="0"/>
          </a:p>
        </p:txBody>
      </p:sp>
      <p:sp>
        <p:nvSpPr>
          <p:cNvPr id="35" name="Text 32"/>
          <p:cNvSpPr txBox="1"/>
          <p:nvPr/>
        </p:nvSpPr>
        <p:spPr>
          <a:xfrm>
            <a:off x="5215006" y="3566160"/>
            <a:ext cx="1761683" cy="274320"/>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đến từ</a:t>
            </a:r>
            <a:endParaRPr lang="en-US" sz="1100" dirty="0"/>
          </a:p>
        </p:txBody>
      </p:sp>
      <p:sp>
        <p:nvSpPr>
          <p:cNvPr id="36" name="Text 33"/>
          <p:cNvSpPr txBox="1"/>
          <p:nvPr/>
        </p:nvSpPr>
        <p:spPr>
          <a:xfrm>
            <a:off x="5215006" y="3840480"/>
            <a:ext cx="1761683" cy="548640"/>
          </a:xfrm>
          <a:prstGeom prst="rect">
            <a:avLst/>
          </a:prstGeom>
          <a:noFill/>
          <a:ln/>
        </p:spPr>
        <p:txBody>
          <a:bodyPr wrap="square" lIns="0" tIns="0" rIns="0" bIns="0" rtlCol="0" anchor="t"/>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báo chí, KOL</a:t>
            </a:r>
            <a:endParaRPr lang="en-US" sz="1300" dirty="0"/>
          </a:p>
        </p:txBody>
      </p:sp>
      <p:sp>
        <p:nvSpPr>
          <p:cNvPr id="37" name="Shape 34"/>
          <p:cNvSpPr/>
          <p:nvPr/>
        </p:nvSpPr>
        <p:spPr>
          <a:xfrm>
            <a:off x="7342449" y="1965960"/>
            <a:ext cx="2036003" cy="2468880"/>
          </a:xfrm>
          <a:prstGeom prst="roundRect">
            <a:avLst>
              <a:gd name="adj" fmla="val 5389"/>
            </a:avLst>
          </a:prstGeom>
          <a:solidFill>
            <a:srgbClr val="E1F3EE"/>
          </a:solidFill>
          <a:ln w="19050">
            <a:solidFill>
              <a:srgbClr val="49B296"/>
            </a:solidFill>
            <a:prstDash val="solid"/>
          </a:ln>
        </p:spPr>
      </p:sp>
      <p:sp>
        <p:nvSpPr>
          <p:cNvPr id="38" name="Shape 35"/>
          <p:cNvSpPr/>
          <p:nvPr/>
        </p:nvSpPr>
        <p:spPr>
          <a:xfrm>
            <a:off x="7948971" y="2148840"/>
            <a:ext cx="822960" cy="822960"/>
          </a:xfrm>
          <a:prstGeom prst="ellipse">
            <a:avLst/>
          </a:prstGeom>
          <a:solidFill>
            <a:srgbClr val="49B296"/>
          </a:solidFill>
          <a:ln w="12700">
            <a:solidFill>
              <a:srgbClr val="49B296"/>
            </a:solidFill>
            <a:prstDash val="solid"/>
          </a:ln>
        </p:spPr>
      </p:sp>
      <p:sp>
        <p:nvSpPr>
          <p:cNvPr id="39" name="Text 36"/>
          <p:cNvSpPr txBox="1"/>
          <p:nvPr/>
        </p:nvSpPr>
        <p:spPr>
          <a:xfrm>
            <a:off x="7948971" y="214884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4</a:t>
            </a:r>
            <a:endParaRPr lang="en-US" sz="2200" dirty="0"/>
          </a:p>
        </p:txBody>
      </p:sp>
      <p:sp>
        <p:nvSpPr>
          <p:cNvPr id="40" name="Text 37"/>
          <p:cNvSpPr txBox="1"/>
          <p:nvPr/>
        </p:nvSpPr>
        <p:spPr>
          <a:xfrm>
            <a:off x="7479609" y="3108960"/>
            <a:ext cx="1761683" cy="457200"/>
          </a:xfrm>
          <a:prstGeom prst="rect">
            <a:avLst/>
          </a:prstGeom>
          <a:noFill/>
          <a:ln/>
        </p:spPr>
        <p:txBody>
          <a:bodyPr wrap="square" lIns="0" tIns="0" rIns="0" bIns="0" rtlCol="0" anchor="ctr"/>
          <a:lstStyle/>
          <a:p>
            <a:pPr algn="ctr" indent="0" marL="0">
              <a:buNone/>
            </a:pPr>
            <a:r>
              <a:rPr lang="en-US" sz="1900" b="1" dirty="0">
                <a:solidFill>
                  <a:srgbClr val="2A2238"/>
                </a:solidFill>
                <a:latin typeface="Alexandria" pitchFamily="34" charset="0"/>
                <a:ea typeface="Alexandria" pitchFamily="34" charset="-122"/>
                <a:cs typeface="Alexandria" pitchFamily="34" charset="-120"/>
              </a:rPr>
              <a:t>Giấy phép</a:t>
            </a:r>
            <a:endParaRPr lang="en-US" sz="1900" dirty="0"/>
          </a:p>
        </p:txBody>
      </p:sp>
      <p:sp>
        <p:nvSpPr>
          <p:cNvPr id="41" name="Text 38"/>
          <p:cNvSpPr txBox="1"/>
          <p:nvPr/>
        </p:nvSpPr>
        <p:spPr>
          <a:xfrm>
            <a:off x="7479609" y="3566160"/>
            <a:ext cx="1761683" cy="274320"/>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đến từ</a:t>
            </a:r>
            <a:endParaRPr lang="en-US" sz="1100" dirty="0"/>
          </a:p>
        </p:txBody>
      </p:sp>
      <p:sp>
        <p:nvSpPr>
          <p:cNvPr id="42" name="Text 39"/>
          <p:cNvSpPr txBox="1"/>
          <p:nvPr/>
        </p:nvSpPr>
        <p:spPr>
          <a:xfrm>
            <a:off x="7479609" y="3840480"/>
            <a:ext cx="1761683" cy="548640"/>
          </a:xfrm>
          <a:prstGeom prst="rect">
            <a:avLst/>
          </a:prstGeom>
          <a:noFill/>
          <a:ln/>
        </p:spPr>
        <p:txBody>
          <a:bodyPr wrap="square" lIns="0" tIns="0" rIns="0" bIns="0" rtlCol="0" anchor="t"/>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cơ quan chức năng</a:t>
            </a:r>
            <a:endParaRPr lang="en-US" sz="1300" dirty="0"/>
          </a:p>
        </p:txBody>
      </p:sp>
      <p:sp>
        <p:nvSpPr>
          <p:cNvPr id="43" name="Shape 40"/>
          <p:cNvSpPr/>
          <p:nvPr/>
        </p:nvSpPr>
        <p:spPr>
          <a:xfrm>
            <a:off x="9607052" y="1965960"/>
            <a:ext cx="2036003" cy="2468880"/>
          </a:xfrm>
          <a:prstGeom prst="roundRect">
            <a:avLst>
              <a:gd name="adj" fmla="val 5389"/>
            </a:avLst>
          </a:prstGeom>
          <a:solidFill>
            <a:srgbClr val="FFE4EA"/>
          </a:solidFill>
          <a:ln w="19050">
            <a:solidFill>
              <a:srgbClr val="FF5178"/>
            </a:solidFill>
            <a:prstDash val="solid"/>
          </a:ln>
        </p:spPr>
      </p:sp>
      <p:sp>
        <p:nvSpPr>
          <p:cNvPr id="44" name="Shape 41"/>
          <p:cNvSpPr/>
          <p:nvPr/>
        </p:nvSpPr>
        <p:spPr>
          <a:xfrm>
            <a:off x="10213574" y="2148840"/>
            <a:ext cx="822960" cy="822960"/>
          </a:xfrm>
          <a:prstGeom prst="ellipse">
            <a:avLst/>
          </a:prstGeom>
          <a:solidFill>
            <a:srgbClr val="FF5178"/>
          </a:solidFill>
          <a:ln w="12700">
            <a:solidFill>
              <a:srgbClr val="FF5178"/>
            </a:solidFill>
            <a:prstDash val="solid"/>
          </a:ln>
        </p:spPr>
      </p:sp>
      <p:sp>
        <p:nvSpPr>
          <p:cNvPr id="45" name="Text 42"/>
          <p:cNvSpPr txBox="1"/>
          <p:nvPr/>
        </p:nvSpPr>
        <p:spPr>
          <a:xfrm>
            <a:off x="10213574" y="214884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5</a:t>
            </a:r>
            <a:endParaRPr lang="en-US" sz="2200" dirty="0"/>
          </a:p>
        </p:txBody>
      </p:sp>
      <p:sp>
        <p:nvSpPr>
          <p:cNvPr id="46" name="Text 43"/>
          <p:cNvSpPr txBox="1"/>
          <p:nvPr/>
        </p:nvSpPr>
        <p:spPr>
          <a:xfrm>
            <a:off x="9744212" y="3108960"/>
            <a:ext cx="1761683" cy="457200"/>
          </a:xfrm>
          <a:prstGeom prst="rect">
            <a:avLst/>
          </a:prstGeom>
          <a:noFill/>
          <a:ln/>
        </p:spPr>
        <p:txBody>
          <a:bodyPr wrap="square" lIns="0" tIns="0" rIns="0" bIns="0" rtlCol="0" anchor="ctr"/>
          <a:lstStyle/>
          <a:p>
            <a:pPr algn="ctr" indent="0" marL="0">
              <a:buNone/>
            </a:pPr>
            <a:r>
              <a:rPr lang="en-US" sz="1900" b="1" dirty="0">
                <a:solidFill>
                  <a:srgbClr val="2A2238"/>
                </a:solidFill>
                <a:latin typeface="Alexandria" pitchFamily="34" charset="0"/>
                <a:ea typeface="Alexandria" pitchFamily="34" charset="-122"/>
                <a:cs typeface="Alexandria" pitchFamily="34" charset="-120"/>
              </a:rPr>
              <a:t>Thiết bị</a:t>
            </a:r>
            <a:endParaRPr lang="en-US" sz="1900" dirty="0"/>
          </a:p>
        </p:txBody>
      </p:sp>
      <p:sp>
        <p:nvSpPr>
          <p:cNvPr id="47" name="Text 44"/>
          <p:cNvSpPr txBox="1"/>
          <p:nvPr/>
        </p:nvSpPr>
        <p:spPr>
          <a:xfrm>
            <a:off x="9744212" y="3566160"/>
            <a:ext cx="1761683" cy="274320"/>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đến từ</a:t>
            </a:r>
            <a:endParaRPr lang="en-US" sz="1100" dirty="0"/>
          </a:p>
        </p:txBody>
      </p:sp>
      <p:sp>
        <p:nvSpPr>
          <p:cNvPr id="48" name="Text 45"/>
          <p:cNvSpPr txBox="1"/>
          <p:nvPr/>
        </p:nvSpPr>
        <p:spPr>
          <a:xfrm>
            <a:off x="9744212" y="3840480"/>
            <a:ext cx="1761683" cy="548640"/>
          </a:xfrm>
          <a:prstGeom prst="rect">
            <a:avLst/>
          </a:prstGeom>
          <a:noFill/>
          <a:ln/>
        </p:spPr>
        <p:txBody>
          <a:bodyPr wrap="square" lIns="0" tIns="0" rIns="0" bIns="0" rtlCol="0" anchor="t"/>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nhà cung cấp AV, sân khấu</a:t>
            </a:r>
            <a:endParaRPr lang="en-US" sz="1300" dirty="0"/>
          </a:p>
        </p:txBody>
      </p:sp>
      <p:sp>
        <p:nvSpPr>
          <p:cNvPr id="49" name="Shape 46"/>
          <p:cNvSpPr/>
          <p:nvPr/>
        </p:nvSpPr>
        <p:spPr>
          <a:xfrm>
            <a:off x="548640" y="4754880"/>
            <a:ext cx="11094415" cy="1234440"/>
          </a:xfrm>
          <a:prstGeom prst="roundRect">
            <a:avLst>
              <a:gd name="adj" fmla="val 8889"/>
            </a:avLst>
          </a:prstGeom>
          <a:solidFill>
            <a:srgbClr val="FFF3C4"/>
          </a:solidFill>
          <a:ln w="12700">
            <a:solidFill>
              <a:srgbClr val="FFD23B"/>
            </a:solidFill>
            <a:prstDash val="solid"/>
          </a:ln>
        </p:spPr>
      </p:sp>
      <p:sp>
        <p:nvSpPr>
          <p:cNvPr id="50" name="Text 47"/>
          <p:cNvSpPr txBox="1"/>
          <p:nvPr/>
        </p:nvSpPr>
        <p:spPr>
          <a:xfrm>
            <a:off x="868680" y="4754880"/>
            <a:ext cx="10454335" cy="123444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Câu hỏi của môn: </a:t>
            </a:r>
            <a:pPr indent="0" marL="0">
              <a:buNone/>
            </a:pPr>
            <a:r>
              <a:rPr lang="en-US" sz="1700" dirty="0">
                <a:solidFill>
                  <a:srgbClr val="2A2238"/>
                </a:solidFill>
                <a:latin typeface="Alexandria" pitchFamily="34" charset="0"/>
                <a:ea typeface="Alexandria" pitchFamily="34" charset="-122"/>
                <a:cs typeface="Alexandria" pitchFamily="34" charset="-120"/>
              </a:rPr>
              <a:t>xây dựng, duy trì và phát triển quan hệ với các bên bên ngoài thế nào để sự kiện thành công — và khách hàng quay lại?</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F9259"/>
          </a:solidFill>
          <a:ln w="9525">
            <a:solidFill>
              <a:srgbClr val="FF9259"/>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b="1" dirty="0">
                <a:solidFill>
                  <a:srgbClr val="2A223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Môn học chỉ xét các bên liên quan bên ngoài</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4</a:t>
            </a:r>
            <a:endParaRPr lang="en-US" sz="1000" dirty="0"/>
          </a:p>
        </p:txBody>
      </p:sp>
      <p:sp>
        <p:nvSpPr>
          <p:cNvPr id="19" name="Shape 16"/>
          <p:cNvSpPr/>
          <p:nvPr/>
        </p:nvSpPr>
        <p:spPr>
          <a:xfrm>
            <a:off x="548640" y="1874520"/>
            <a:ext cx="5410048" cy="548640"/>
          </a:xfrm>
          <a:prstGeom prst="roundRect">
            <a:avLst>
              <a:gd name="adj" fmla="val 50000"/>
            </a:avLst>
          </a:prstGeom>
          <a:solidFill>
            <a:srgbClr val="49B296"/>
          </a:solidFill>
          <a:ln w="12700">
            <a:solidFill>
              <a:srgbClr val="49B296"/>
            </a:solidFill>
            <a:prstDash val="solid"/>
          </a:ln>
        </p:spPr>
      </p:sp>
      <p:sp>
        <p:nvSpPr>
          <p:cNvPr id="20" name="Text 17"/>
          <p:cNvSpPr txBox="1"/>
          <p:nvPr/>
        </p:nvSpPr>
        <p:spPr>
          <a:xfrm>
            <a:off x="621792" y="1874520"/>
            <a:ext cx="5263744"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Trong môn này</a:t>
            </a:r>
            <a:endParaRPr lang="en-US" sz="1700" dirty="0"/>
          </a:p>
        </p:txBody>
      </p:sp>
      <p:sp>
        <p:nvSpPr>
          <p:cNvPr id="21" name="Shape 18"/>
          <p:cNvSpPr/>
          <p:nvPr/>
        </p:nvSpPr>
        <p:spPr>
          <a:xfrm>
            <a:off x="548640" y="2560320"/>
            <a:ext cx="5410048" cy="3429000"/>
          </a:xfrm>
          <a:prstGeom prst="roundRect">
            <a:avLst>
              <a:gd name="adj" fmla="val 3200"/>
            </a:avLst>
          </a:prstGeom>
          <a:solidFill>
            <a:srgbClr val="E1F3EE"/>
          </a:solidFill>
          <a:ln w="12700">
            <a:solidFill>
              <a:srgbClr val="E1F3EE"/>
            </a:solidFill>
            <a:prstDash val="solid"/>
          </a:ln>
        </p:spPr>
      </p:sp>
      <p:sp>
        <p:nvSpPr>
          <p:cNvPr id="22" name="Text 19"/>
          <p:cNvSpPr txBox="1"/>
          <p:nvPr/>
        </p:nvSpPr>
        <p:spPr>
          <a:xfrm>
            <a:off x="868680" y="2697480"/>
            <a:ext cx="4769968" cy="320040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A2238"/>
                </a:solidFill>
                <a:latin typeface="Alexandria" pitchFamily="34" charset="0"/>
                <a:ea typeface="Alexandria" pitchFamily="34" charset="-122"/>
                <a:cs typeface="Alexandria" pitchFamily="34" charset="-120"/>
              </a:rPr>
              <a:t>Khách hàng (Key Account)</a:t>
            </a:r>
            <a:endParaRPr lang="en-US" sz="1600" dirty="0"/>
          </a:p>
          <a:p>
            <a:pPr marL="342900" indent="-342900">
              <a:spcAft>
                <a:spcPts val="400"/>
              </a:spcAft>
              <a:buSzPct val="100000"/>
              <a:buChar char="•"/>
            </a:pPr>
            <a:r>
              <a:rPr lang="en-US" sz="1600" dirty="0">
                <a:solidFill>
                  <a:srgbClr val="2A2238"/>
                </a:solidFill>
                <a:latin typeface="Alexandria" pitchFamily="34" charset="0"/>
                <a:ea typeface="Alexandria" pitchFamily="34" charset="-122"/>
                <a:cs typeface="Alexandria" pitchFamily="34" charset="-120"/>
              </a:rPr>
              <a:t>Nhà đầu tư, nhà tài trợ</a:t>
            </a:r>
            <a:endParaRPr lang="en-US" sz="1600" dirty="0"/>
          </a:p>
          <a:p>
            <a:pPr marL="342900" indent="-342900">
              <a:spcAft>
                <a:spcPts val="400"/>
              </a:spcAft>
              <a:buSzPct val="100000"/>
              <a:buChar char="•"/>
            </a:pPr>
            <a:r>
              <a:rPr lang="en-US" sz="1600" dirty="0">
                <a:solidFill>
                  <a:srgbClr val="2A2238"/>
                </a:solidFill>
                <a:latin typeface="Alexandria" pitchFamily="34" charset="0"/>
                <a:ea typeface="Alexandria" pitchFamily="34" charset="-122"/>
                <a:cs typeface="Alexandria" pitchFamily="34" charset="-120"/>
              </a:rPr>
              <a:t>Nhà cung ứng</a:t>
            </a:r>
            <a:endParaRPr lang="en-US" sz="1600" dirty="0"/>
          </a:p>
          <a:p>
            <a:pPr marL="342900" indent="-342900">
              <a:spcAft>
                <a:spcPts val="400"/>
              </a:spcAft>
              <a:buSzPct val="100000"/>
              <a:buChar char="•"/>
            </a:pPr>
            <a:r>
              <a:rPr lang="en-US" sz="1600" dirty="0">
                <a:solidFill>
                  <a:srgbClr val="2A2238"/>
                </a:solidFill>
                <a:latin typeface="Alexandria" pitchFamily="34" charset="0"/>
                <a:ea typeface="Alexandria" pitchFamily="34" charset="-122"/>
                <a:cs typeface="Alexandria" pitchFamily="34" charset="-120"/>
              </a:rPr>
              <a:t>Địa điểm &amp; hạ tầng</a:t>
            </a:r>
            <a:endParaRPr lang="en-US" sz="1600" dirty="0"/>
          </a:p>
          <a:p>
            <a:pPr marL="342900" indent="-342900">
              <a:spcAft>
                <a:spcPts val="400"/>
              </a:spcAft>
              <a:buSzPct val="100000"/>
              <a:buChar char="•"/>
            </a:pPr>
            <a:r>
              <a:rPr lang="en-US" sz="1600" dirty="0">
                <a:solidFill>
                  <a:srgbClr val="2A2238"/>
                </a:solidFill>
                <a:latin typeface="Alexandria" pitchFamily="34" charset="0"/>
                <a:ea typeface="Alexandria" pitchFamily="34" charset="-122"/>
                <a:cs typeface="Alexandria" pitchFamily="34" charset="-120"/>
              </a:rPr>
              <a:t>Truyền thông, báo chí</a:t>
            </a:r>
            <a:endParaRPr lang="en-US" sz="1600" dirty="0"/>
          </a:p>
          <a:p>
            <a:pPr marL="342900" indent="-342900">
              <a:spcAft>
                <a:spcPts val="400"/>
              </a:spcAft>
              <a:buSzPct val="100000"/>
              <a:buChar char="•"/>
            </a:pPr>
            <a:r>
              <a:rPr lang="en-US" sz="1600" dirty="0">
                <a:solidFill>
                  <a:srgbClr val="2A2238"/>
                </a:solidFill>
                <a:latin typeface="Alexandria" pitchFamily="34" charset="0"/>
                <a:ea typeface="Alexandria" pitchFamily="34" charset="-122"/>
                <a:cs typeface="Alexandria" pitchFamily="34" charset="-120"/>
              </a:rPr>
              <a:t>KOL, influencer</a:t>
            </a:r>
            <a:endParaRPr lang="en-US" sz="1600" dirty="0"/>
          </a:p>
          <a:p>
            <a:pPr marL="342900" indent="-342900">
              <a:spcAft>
                <a:spcPts val="400"/>
              </a:spcAft>
              <a:buSzPct val="100000"/>
              <a:buChar char="•"/>
            </a:pPr>
            <a:r>
              <a:rPr lang="en-US" sz="1600" dirty="0">
                <a:solidFill>
                  <a:srgbClr val="2A2238"/>
                </a:solidFill>
                <a:latin typeface="Alexandria" pitchFamily="34" charset="0"/>
                <a:ea typeface="Alexandria" pitchFamily="34" charset="-122"/>
                <a:cs typeface="Alexandria" pitchFamily="34" charset="-120"/>
              </a:rPr>
              <a:t>Công chúng mục tiêu</a:t>
            </a:r>
            <a:endParaRPr lang="en-US" sz="1600" dirty="0"/>
          </a:p>
          <a:p>
            <a:pPr marL="342900" indent="-342900">
              <a:spcAft>
                <a:spcPts val="400"/>
              </a:spcAft>
              <a:buSzPct val="100000"/>
              <a:buChar char="•"/>
            </a:pPr>
            <a:r>
              <a:rPr lang="en-US" sz="1600" dirty="0">
                <a:solidFill>
                  <a:srgbClr val="2A2238"/>
                </a:solidFill>
                <a:latin typeface="Alexandria" pitchFamily="34" charset="0"/>
                <a:ea typeface="Alexandria" pitchFamily="34" charset="-122"/>
                <a:cs typeface="Alexandria" pitchFamily="34" charset="-120"/>
              </a:rPr>
              <a:t>Cơ quan quản lý</a:t>
            </a:r>
            <a:endParaRPr lang="en-US" sz="1600" dirty="0"/>
          </a:p>
        </p:txBody>
      </p:sp>
      <p:sp>
        <p:nvSpPr>
          <p:cNvPr id="23" name="Shape 20"/>
          <p:cNvSpPr/>
          <p:nvPr/>
        </p:nvSpPr>
        <p:spPr>
          <a:xfrm>
            <a:off x="6233008" y="1874520"/>
            <a:ext cx="5410048" cy="548640"/>
          </a:xfrm>
          <a:prstGeom prst="roundRect">
            <a:avLst>
              <a:gd name="adj" fmla="val 50000"/>
            </a:avLst>
          </a:prstGeom>
          <a:solidFill>
            <a:srgbClr val="6E6878"/>
          </a:solidFill>
          <a:ln w="12700">
            <a:solidFill>
              <a:srgbClr val="6E6878"/>
            </a:solidFill>
            <a:prstDash val="solid"/>
          </a:ln>
        </p:spPr>
      </p:sp>
      <p:sp>
        <p:nvSpPr>
          <p:cNvPr id="24" name="Text 21"/>
          <p:cNvSpPr txBox="1"/>
          <p:nvPr/>
        </p:nvSpPr>
        <p:spPr>
          <a:xfrm>
            <a:off x="6306160" y="1874520"/>
            <a:ext cx="5263744"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Không thuộc môn này</a:t>
            </a:r>
            <a:endParaRPr lang="en-US" sz="1700" dirty="0"/>
          </a:p>
        </p:txBody>
      </p:sp>
      <p:sp>
        <p:nvSpPr>
          <p:cNvPr id="25" name="Shape 22"/>
          <p:cNvSpPr/>
          <p:nvPr/>
        </p:nvSpPr>
        <p:spPr>
          <a:xfrm>
            <a:off x="6233008" y="2560320"/>
            <a:ext cx="5410048" cy="3429000"/>
          </a:xfrm>
          <a:prstGeom prst="roundRect">
            <a:avLst>
              <a:gd name="adj" fmla="val 3200"/>
            </a:avLst>
          </a:prstGeom>
          <a:solidFill>
            <a:srgbClr val="FFFFFF"/>
          </a:solidFill>
          <a:ln w="12700">
            <a:solidFill>
              <a:srgbClr val="DCD7C8"/>
            </a:solidFill>
            <a:prstDash val="solid"/>
          </a:ln>
        </p:spPr>
      </p:sp>
      <p:sp>
        <p:nvSpPr>
          <p:cNvPr id="26" name="Text 23"/>
          <p:cNvSpPr txBox="1"/>
          <p:nvPr/>
        </p:nvSpPr>
        <p:spPr>
          <a:xfrm>
            <a:off x="6553048" y="2697480"/>
            <a:ext cx="4769968" cy="3200400"/>
          </a:xfrm>
          <a:prstGeom prst="rect">
            <a:avLst/>
          </a:prstGeom>
          <a:noFill/>
          <a:ln/>
        </p:spPr>
        <p:txBody>
          <a:bodyPr wrap="square" lIns="0" tIns="0" rIns="0" bIns="0" rtlCol="0" anchor="t"/>
          <a:lstStyle/>
          <a:p>
            <a:pPr indent="0" marL="0">
              <a:spcAft>
                <a:spcPts val="400"/>
              </a:spcAft>
              <a:buNone/>
            </a:pPr>
            <a:r>
              <a:rPr lang="en-US" sz="1700" b="1" dirty="0">
                <a:solidFill>
                  <a:srgbClr val="2A2238"/>
                </a:solidFill>
                <a:latin typeface="Alexandria" pitchFamily="34" charset="0"/>
                <a:ea typeface="Alexandria" pitchFamily="34" charset="-122"/>
                <a:cs typeface="Alexandria" pitchFamily="34" charset="-120"/>
              </a:rPr>
              <a:t>Nhân sự, crew, tình nguyện viên</a:t>
            </a:r>
            <a:endParaRPr lang="en-US" sz="1700" dirty="0"/>
          </a:p>
          <a:p>
            <a:pPr indent="0" marL="0">
              <a:spcAft>
                <a:spcPts val="400"/>
              </a:spcAft>
              <a:buNone/>
            </a:pPr>
            <a:r>
              <a:rPr lang="en-US" sz="1400" dirty="0">
                <a:solidFill>
                  <a:srgbClr val="6E6878"/>
                </a:solidFill>
                <a:latin typeface="Alexandria" pitchFamily="34" charset="0"/>
                <a:ea typeface="Alexandria" pitchFamily="34" charset="-122"/>
                <a:cs typeface="Alexandria" pitchFamily="34" charset="-120"/>
              </a:rPr>
              <a:t>→ Quản lý đội nhóm trong tổ chức sự kiện</a:t>
            </a:r>
            <a:endParaRPr lang="en-US" sz="1700" dirty="0"/>
          </a:p>
          <a:p>
            <a:pPr indent="0" marL="0">
              <a:spcAft>
                <a:spcPts val="400"/>
              </a:spcAft>
              <a:buNone/>
            </a:pPr>
            <a:r>
              <a:rPr lang="en-US" sz="1700" dirty="0">
                <a:solidFill>
                  <a:srgbClr val="2A2238"/>
                </a:solidFill>
                <a:latin typeface="Alexandria" pitchFamily="34" charset="0"/>
                <a:ea typeface="Alexandria" pitchFamily="34" charset="-122"/>
                <a:cs typeface="Alexandria" pitchFamily="34" charset="-120"/>
              </a:rPr>
              <a:t> </a:t>
            </a:r>
            <a:endParaRPr lang="en-US" sz="1700" dirty="0"/>
          </a:p>
          <a:p>
            <a:pPr indent="0" marL="0">
              <a:spcAft>
                <a:spcPts val="400"/>
              </a:spcAft>
              <a:buNone/>
            </a:pPr>
            <a:r>
              <a:rPr lang="en-US" sz="1700" b="1" dirty="0">
                <a:solidFill>
                  <a:srgbClr val="2A2238"/>
                </a:solidFill>
                <a:latin typeface="Alexandria" pitchFamily="34" charset="0"/>
                <a:ea typeface="Alexandria" pitchFamily="34" charset="-122"/>
                <a:cs typeface="Alexandria" pitchFamily="34" charset="-120"/>
              </a:rPr>
              <a:t>Quản lý, an toàn đám đông</a:t>
            </a:r>
            <a:endParaRPr lang="en-US" sz="1700" dirty="0"/>
          </a:p>
          <a:p>
            <a:pPr indent="0" marL="0">
              <a:spcAft>
                <a:spcPts val="400"/>
              </a:spcAft>
              <a:buNone/>
            </a:pPr>
            <a:r>
              <a:rPr lang="en-US" sz="1400" dirty="0">
                <a:solidFill>
                  <a:srgbClr val="6E6878"/>
                </a:solidFill>
                <a:latin typeface="Alexandria" pitchFamily="34" charset="0"/>
                <a:ea typeface="Alexandria" pitchFamily="34" charset="-122"/>
                <a:cs typeface="Alexandria" pitchFamily="34" charset="-120"/>
              </a:rPr>
              <a:t>→ Quản trị rủi ro sự kiện</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F9259"/>
          </a:solidFill>
          <a:ln w="9525">
            <a:solidFill>
              <a:srgbClr val="FF9259"/>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b="1" dirty="0">
                <a:solidFill>
                  <a:srgbClr val="2A223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Khách hàng là trục; mọi bên khác phục vụ hành trình của khách hàng</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5</a:t>
            </a:r>
            <a:endParaRPr lang="en-US" sz="1000" dirty="0"/>
          </a:p>
        </p:txBody>
      </p:sp>
      <p:sp>
        <p:nvSpPr>
          <p:cNvPr id="19" name="Shape 16"/>
          <p:cNvSpPr/>
          <p:nvPr/>
        </p:nvSpPr>
        <p:spPr>
          <a:xfrm>
            <a:off x="4907128" y="3154680"/>
            <a:ext cx="2377440" cy="1554480"/>
          </a:xfrm>
          <a:prstGeom prst="ellipse">
            <a:avLst/>
          </a:prstGeom>
          <a:solidFill>
            <a:srgbClr val="FFD23B"/>
          </a:solidFill>
          <a:ln w="12700">
            <a:solidFill>
              <a:srgbClr val="FFD23B"/>
            </a:solidFill>
            <a:prstDash val="solid"/>
          </a:ln>
        </p:spPr>
      </p:sp>
      <p:sp>
        <p:nvSpPr>
          <p:cNvPr id="20" name="Text 17"/>
          <p:cNvSpPr txBox="1"/>
          <p:nvPr/>
        </p:nvSpPr>
        <p:spPr>
          <a:xfrm>
            <a:off x="4907128" y="3154680"/>
            <a:ext cx="2377440" cy="1554480"/>
          </a:xfrm>
          <a:prstGeom prst="rect">
            <a:avLst/>
          </a:prstGeom>
          <a:noFill/>
          <a:ln/>
        </p:spPr>
        <p:txBody>
          <a:bodyPr wrap="square" lIns="0" tIns="0" rIns="0" bIns="0" rtlCol="0" anchor="ctr"/>
          <a:lstStyle/>
          <a:p>
            <a:pPr algn="ctr" indent="0" marL="0">
              <a:buNone/>
            </a:pPr>
            <a:r>
              <a:rPr lang="en-US" sz="2200" b="1" dirty="0">
                <a:solidFill>
                  <a:srgbClr val="2A2238"/>
                </a:solidFill>
                <a:latin typeface="Alexandria" pitchFamily="34" charset="0"/>
                <a:ea typeface="Alexandria" pitchFamily="34" charset="-122"/>
                <a:cs typeface="Alexandria" pitchFamily="34" charset="-120"/>
              </a:rPr>
              <a:t>Khách hàng</a:t>
            </a:r>
            <a:endParaRPr lang="en-US" sz="2200" dirty="0"/>
          </a:p>
        </p:txBody>
      </p:sp>
      <p:sp>
        <p:nvSpPr>
          <p:cNvPr id="21" name="Shape 18"/>
          <p:cNvSpPr/>
          <p:nvPr/>
        </p:nvSpPr>
        <p:spPr>
          <a:xfrm>
            <a:off x="548640" y="1828800"/>
            <a:ext cx="3840480" cy="1188720"/>
          </a:xfrm>
          <a:prstGeom prst="roundRect">
            <a:avLst>
              <a:gd name="adj" fmla="val 9231"/>
            </a:avLst>
          </a:prstGeom>
          <a:solidFill>
            <a:srgbClr val="FF9259"/>
          </a:solidFill>
          <a:ln w="19050">
            <a:solidFill>
              <a:srgbClr val="FF9259"/>
            </a:solidFill>
            <a:prstDash val="solid"/>
          </a:ln>
        </p:spPr>
      </p:sp>
      <p:sp>
        <p:nvSpPr>
          <p:cNvPr id="22" name="Text 19"/>
          <p:cNvSpPr txBox="1"/>
          <p:nvPr/>
        </p:nvSpPr>
        <p:spPr>
          <a:xfrm>
            <a:off x="777240" y="1828800"/>
            <a:ext cx="3383280" cy="118872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Phần 1 · Buổi 1</a:t>
            </a:r>
            <a:endParaRPr lang="en-US" sz="1300" dirty="0"/>
          </a:p>
          <a:p>
            <a:pPr indent="0" marL="0">
              <a:buNone/>
            </a:pPr>
            <a:r>
              <a:rPr lang="en-US" sz="1500" b="1" dirty="0">
                <a:solidFill>
                  <a:srgbClr val="2A2238"/>
                </a:solidFill>
                <a:latin typeface="Alexandria" pitchFamily="34" charset="0"/>
                <a:ea typeface="Alexandria" pitchFamily="34" charset="-122"/>
                <a:cs typeface="Alexandria" pitchFamily="34" charset="-120"/>
              </a:rPr>
              <a:t>Nền tảng: hệ sinh thái, đo quyền lực</a:t>
            </a:r>
            <a:endParaRPr lang="en-US" sz="1300" dirty="0"/>
          </a:p>
        </p:txBody>
      </p:sp>
      <p:sp>
        <p:nvSpPr>
          <p:cNvPr id="23" name="Shape 20"/>
          <p:cNvSpPr/>
          <p:nvPr/>
        </p:nvSpPr>
        <p:spPr>
          <a:xfrm>
            <a:off x="4389120" y="2423160"/>
            <a:ext cx="655168" cy="1143000"/>
          </a:xfrm>
          <a:prstGeom prst="line">
            <a:avLst/>
          </a:prstGeom>
          <a:noFill/>
          <a:ln w="25400">
            <a:solidFill>
              <a:srgbClr val="FF9259"/>
            </a:solidFill>
            <a:prstDash val="dash"/>
          </a:ln>
        </p:spPr>
      </p:sp>
      <p:sp>
        <p:nvSpPr>
          <p:cNvPr id="24" name="Shape 21"/>
          <p:cNvSpPr/>
          <p:nvPr/>
        </p:nvSpPr>
        <p:spPr>
          <a:xfrm>
            <a:off x="7802575" y="1828800"/>
            <a:ext cx="3840480" cy="1188720"/>
          </a:xfrm>
          <a:prstGeom prst="roundRect">
            <a:avLst>
              <a:gd name="adj" fmla="val 9231"/>
            </a:avLst>
          </a:prstGeom>
          <a:solidFill>
            <a:srgbClr val="FFFFFF"/>
          </a:solidFill>
          <a:ln w="19050">
            <a:solidFill>
              <a:srgbClr val="962B7C"/>
            </a:solidFill>
            <a:prstDash val="solid"/>
          </a:ln>
        </p:spPr>
      </p:sp>
      <p:sp>
        <p:nvSpPr>
          <p:cNvPr id="25" name="Text 22"/>
          <p:cNvSpPr txBox="1"/>
          <p:nvPr/>
        </p:nvSpPr>
        <p:spPr>
          <a:xfrm>
            <a:off x="8031175" y="1828800"/>
            <a:ext cx="3383280" cy="118872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Phần 2 · Buổi 2–8</a:t>
            </a:r>
            <a:endParaRPr lang="en-US" sz="1300" dirty="0"/>
          </a:p>
          <a:p>
            <a:pPr indent="0" marL="0">
              <a:buNone/>
            </a:pPr>
            <a:r>
              <a:rPr lang="en-US" sz="1500" b="1" dirty="0">
                <a:solidFill>
                  <a:srgbClr val="2A2238"/>
                </a:solidFill>
                <a:latin typeface="Alexandria" pitchFamily="34" charset="0"/>
                <a:ea typeface="Alexandria" pitchFamily="34" charset="-122"/>
                <a:cs typeface="Alexandria" pitchFamily="34" charset="-120"/>
              </a:rPr>
              <a:t>Quản trị khách hàng trọng điểm (KAM)</a:t>
            </a:r>
            <a:endParaRPr lang="en-US" sz="1300" dirty="0"/>
          </a:p>
        </p:txBody>
      </p:sp>
      <p:sp>
        <p:nvSpPr>
          <p:cNvPr id="26" name="Shape 23"/>
          <p:cNvSpPr/>
          <p:nvPr/>
        </p:nvSpPr>
        <p:spPr>
          <a:xfrm flipH="1">
            <a:off x="7147408" y="2423160"/>
            <a:ext cx="655168" cy="1143000"/>
          </a:xfrm>
          <a:prstGeom prst="line">
            <a:avLst/>
          </a:prstGeom>
          <a:noFill/>
          <a:ln w="25400">
            <a:solidFill>
              <a:srgbClr val="962B7C"/>
            </a:solidFill>
            <a:prstDash val="dash"/>
          </a:ln>
        </p:spPr>
      </p:sp>
      <p:sp>
        <p:nvSpPr>
          <p:cNvPr id="27" name="Shape 24"/>
          <p:cNvSpPr/>
          <p:nvPr/>
        </p:nvSpPr>
        <p:spPr>
          <a:xfrm>
            <a:off x="548640" y="4800600"/>
            <a:ext cx="3840480" cy="1188720"/>
          </a:xfrm>
          <a:prstGeom prst="roundRect">
            <a:avLst>
              <a:gd name="adj" fmla="val 9231"/>
            </a:avLst>
          </a:prstGeom>
          <a:solidFill>
            <a:srgbClr val="FFFFFF"/>
          </a:solidFill>
          <a:ln w="19050">
            <a:solidFill>
              <a:srgbClr val="09A1E5"/>
            </a:solidFill>
            <a:prstDash val="solid"/>
          </a:ln>
        </p:spPr>
      </p:sp>
      <p:sp>
        <p:nvSpPr>
          <p:cNvPr id="28" name="Text 25"/>
          <p:cNvSpPr txBox="1"/>
          <p:nvPr/>
        </p:nvSpPr>
        <p:spPr>
          <a:xfrm>
            <a:off x="777240" y="4800600"/>
            <a:ext cx="3383280" cy="118872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Phần 3 · Buổi 9–12</a:t>
            </a:r>
            <a:endParaRPr lang="en-US" sz="1300" dirty="0"/>
          </a:p>
          <a:p>
            <a:pPr indent="0" marL="0">
              <a:buNone/>
            </a:pPr>
            <a:r>
              <a:rPr lang="en-US" sz="1500" b="1" dirty="0">
                <a:solidFill>
                  <a:srgbClr val="2A2238"/>
                </a:solidFill>
                <a:latin typeface="Alexandria" pitchFamily="34" charset="0"/>
                <a:ea typeface="Alexandria" pitchFamily="34" charset="-122"/>
                <a:cs typeface="Alexandria" pitchFamily="34" charset="-120"/>
              </a:rPr>
              <a:t>Điều phối các bên phục vụ hành trình khách hàng</a:t>
            </a:r>
            <a:endParaRPr lang="en-US" sz="1300" dirty="0"/>
          </a:p>
        </p:txBody>
      </p:sp>
      <p:sp>
        <p:nvSpPr>
          <p:cNvPr id="29" name="Shape 26"/>
          <p:cNvSpPr/>
          <p:nvPr/>
        </p:nvSpPr>
        <p:spPr>
          <a:xfrm flipV="1">
            <a:off x="4389120" y="4297680"/>
            <a:ext cx="655168" cy="1097280"/>
          </a:xfrm>
          <a:prstGeom prst="line">
            <a:avLst/>
          </a:prstGeom>
          <a:noFill/>
          <a:ln w="25400">
            <a:solidFill>
              <a:srgbClr val="09A1E5"/>
            </a:solidFill>
            <a:prstDash val="dash"/>
          </a:ln>
        </p:spPr>
      </p:sp>
      <p:sp>
        <p:nvSpPr>
          <p:cNvPr id="30" name="Shape 27"/>
          <p:cNvSpPr/>
          <p:nvPr/>
        </p:nvSpPr>
        <p:spPr>
          <a:xfrm>
            <a:off x="7802575" y="4800600"/>
            <a:ext cx="3840480" cy="1188720"/>
          </a:xfrm>
          <a:prstGeom prst="roundRect">
            <a:avLst>
              <a:gd name="adj" fmla="val 9231"/>
            </a:avLst>
          </a:prstGeom>
          <a:solidFill>
            <a:srgbClr val="FFFFFF"/>
          </a:solidFill>
          <a:ln w="19050">
            <a:solidFill>
              <a:srgbClr val="49B296"/>
            </a:solidFill>
            <a:prstDash val="solid"/>
          </a:ln>
        </p:spPr>
      </p:sp>
      <p:sp>
        <p:nvSpPr>
          <p:cNvPr id="31" name="Text 28"/>
          <p:cNvSpPr txBox="1"/>
          <p:nvPr/>
        </p:nvSpPr>
        <p:spPr>
          <a:xfrm>
            <a:off x="8031175" y="4800600"/>
            <a:ext cx="3383280" cy="118872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Phần 4 · Buổi 13–15</a:t>
            </a:r>
            <a:endParaRPr lang="en-US" sz="1300" dirty="0"/>
          </a:p>
          <a:p>
            <a:pPr indent="0" marL="0">
              <a:buNone/>
            </a:pPr>
            <a:r>
              <a:rPr lang="en-US" sz="1500" b="1" dirty="0">
                <a:solidFill>
                  <a:srgbClr val="2A2238"/>
                </a:solidFill>
                <a:latin typeface="Alexandria" pitchFamily="34" charset="0"/>
                <a:ea typeface="Alexandria" pitchFamily="34" charset="-122"/>
                <a:cs typeface="Alexandria" pitchFamily="34" charset="-120"/>
              </a:rPr>
              <a:t>Đánh giá: hoàn thiện, bảo vệ kế hoạch</a:t>
            </a:r>
            <a:endParaRPr lang="en-US" sz="1300" dirty="0"/>
          </a:p>
        </p:txBody>
      </p:sp>
      <p:sp>
        <p:nvSpPr>
          <p:cNvPr id="32" name="Shape 29"/>
          <p:cNvSpPr/>
          <p:nvPr/>
        </p:nvSpPr>
        <p:spPr>
          <a:xfrm flipH="1" flipV="1">
            <a:off x="7147408" y="4297680"/>
            <a:ext cx="655168" cy="1097280"/>
          </a:xfrm>
          <a:prstGeom prst="line">
            <a:avLst/>
          </a:prstGeom>
          <a:noFill/>
          <a:ln w="25400">
            <a:solidFill>
              <a:srgbClr val="49B296"/>
            </a:solidFill>
            <a:prstDash val="dash"/>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F9259"/>
          </a:solidFill>
          <a:ln w="9525">
            <a:solidFill>
              <a:srgbClr val="FF9259"/>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b="1" dirty="0">
                <a:solidFill>
                  <a:srgbClr val="2A223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Điểm cuối kỳ chiếm 50% và được xây dần từ hôm nay</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Đề cương chi tiết học phần EVM1110E (UEF).</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6</a:t>
            </a:r>
            <a:endParaRPr lang="en-US" sz="1000" dirty="0"/>
          </a:p>
        </p:txBody>
      </p:sp>
      <p:sp>
        <p:nvSpPr>
          <p:cNvPr id="20" name="Shape 17"/>
          <p:cNvSpPr/>
          <p:nvPr/>
        </p:nvSpPr>
        <p:spPr>
          <a:xfrm>
            <a:off x="548640" y="2103120"/>
            <a:ext cx="1063722" cy="1188720"/>
          </a:xfrm>
          <a:prstGeom prst="rect">
            <a:avLst/>
          </a:prstGeom>
          <a:solidFill>
            <a:srgbClr val="49B296"/>
          </a:solidFill>
          <a:ln w="12700">
            <a:solidFill>
              <a:srgbClr val="49B296"/>
            </a:solidFill>
            <a:prstDash val="solid"/>
          </a:ln>
        </p:spPr>
      </p:sp>
      <p:sp>
        <p:nvSpPr>
          <p:cNvPr id="21" name="Text 18"/>
          <p:cNvSpPr txBox="1"/>
          <p:nvPr/>
        </p:nvSpPr>
        <p:spPr>
          <a:xfrm>
            <a:off x="548640" y="2103120"/>
            <a:ext cx="1063722" cy="118872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10%</a:t>
            </a:r>
            <a:endParaRPr lang="en-US" sz="2200" dirty="0"/>
          </a:p>
        </p:txBody>
      </p:sp>
      <p:sp>
        <p:nvSpPr>
          <p:cNvPr id="22" name="Shape 19"/>
          <p:cNvSpPr/>
          <p:nvPr/>
        </p:nvSpPr>
        <p:spPr>
          <a:xfrm>
            <a:off x="1658082" y="2103120"/>
            <a:ext cx="2173163" cy="1188720"/>
          </a:xfrm>
          <a:prstGeom prst="rect">
            <a:avLst/>
          </a:prstGeom>
          <a:solidFill>
            <a:srgbClr val="09A1E5"/>
          </a:solidFill>
          <a:ln w="12700">
            <a:solidFill>
              <a:srgbClr val="09A1E5"/>
            </a:solidFill>
            <a:prstDash val="solid"/>
          </a:ln>
        </p:spPr>
      </p:sp>
      <p:sp>
        <p:nvSpPr>
          <p:cNvPr id="23" name="Text 20"/>
          <p:cNvSpPr txBox="1"/>
          <p:nvPr/>
        </p:nvSpPr>
        <p:spPr>
          <a:xfrm>
            <a:off x="1658082" y="2103120"/>
            <a:ext cx="2173163" cy="1188720"/>
          </a:xfrm>
          <a:prstGeom prst="rect">
            <a:avLst/>
          </a:prstGeom>
          <a:noFill/>
          <a:ln/>
        </p:spPr>
        <p:txBody>
          <a:bodyPr wrap="square" lIns="0" tIns="0" rIns="0" bIns="0" rtlCol="0" anchor="ctr"/>
          <a:lstStyle/>
          <a:p>
            <a:pPr algn="ctr" indent="0" marL="0">
              <a:buNone/>
            </a:pPr>
            <a:r>
              <a:rPr lang="en-US" sz="3200" b="1" dirty="0">
                <a:solidFill>
                  <a:srgbClr val="FFFFFF"/>
                </a:solidFill>
                <a:latin typeface="Alexandria" pitchFamily="34" charset="0"/>
                <a:ea typeface="Alexandria" pitchFamily="34" charset="-122"/>
                <a:cs typeface="Alexandria" pitchFamily="34" charset="-120"/>
              </a:rPr>
              <a:t>20%</a:t>
            </a:r>
            <a:endParaRPr lang="en-US" sz="3200" dirty="0"/>
          </a:p>
        </p:txBody>
      </p:sp>
      <p:sp>
        <p:nvSpPr>
          <p:cNvPr id="24" name="Shape 21"/>
          <p:cNvSpPr/>
          <p:nvPr/>
        </p:nvSpPr>
        <p:spPr>
          <a:xfrm>
            <a:off x="3876965" y="2103120"/>
            <a:ext cx="2173163" cy="1188720"/>
          </a:xfrm>
          <a:prstGeom prst="rect">
            <a:avLst/>
          </a:prstGeom>
          <a:solidFill>
            <a:srgbClr val="FF9259"/>
          </a:solidFill>
          <a:ln w="12700">
            <a:solidFill>
              <a:srgbClr val="FF9259"/>
            </a:solidFill>
            <a:prstDash val="solid"/>
          </a:ln>
        </p:spPr>
      </p:sp>
      <p:sp>
        <p:nvSpPr>
          <p:cNvPr id="25" name="Text 22"/>
          <p:cNvSpPr txBox="1"/>
          <p:nvPr/>
        </p:nvSpPr>
        <p:spPr>
          <a:xfrm>
            <a:off x="3876965" y="2103120"/>
            <a:ext cx="2173163" cy="1188720"/>
          </a:xfrm>
          <a:prstGeom prst="rect">
            <a:avLst/>
          </a:prstGeom>
          <a:noFill/>
          <a:ln/>
        </p:spPr>
        <p:txBody>
          <a:bodyPr wrap="square" lIns="0" tIns="0" rIns="0" bIns="0" rtlCol="0" anchor="ctr"/>
          <a:lstStyle/>
          <a:p>
            <a:pPr algn="ctr" indent="0" marL="0">
              <a:buNone/>
            </a:pPr>
            <a:r>
              <a:rPr lang="en-US" sz="3200" b="1" dirty="0">
                <a:solidFill>
                  <a:srgbClr val="2A2238"/>
                </a:solidFill>
                <a:latin typeface="Alexandria" pitchFamily="34" charset="0"/>
                <a:ea typeface="Alexandria" pitchFamily="34" charset="-122"/>
                <a:cs typeface="Alexandria" pitchFamily="34" charset="-120"/>
              </a:rPr>
              <a:t>20%</a:t>
            </a:r>
            <a:endParaRPr lang="en-US" sz="3200" dirty="0"/>
          </a:p>
        </p:txBody>
      </p:sp>
      <p:sp>
        <p:nvSpPr>
          <p:cNvPr id="26" name="Shape 23"/>
          <p:cNvSpPr/>
          <p:nvPr/>
        </p:nvSpPr>
        <p:spPr>
          <a:xfrm>
            <a:off x="6095848" y="2103120"/>
            <a:ext cx="5501488" cy="1188720"/>
          </a:xfrm>
          <a:prstGeom prst="rect">
            <a:avLst/>
          </a:prstGeom>
          <a:solidFill>
            <a:srgbClr val="962B7C"/>
          </a:solidFill>
          <a:ln w="12700">
            <a:solidFill>
              <a:srgbClr val="962B7C"/>
            </a:solidFill>
            <a:prstDash val="solid"/>
          </a:ln>
        </p:spPr>
      </p:sp>
      <p:sp>
        <p:nvSpPr>
          <p:cNvPr id="27" name="Text 24"/>
          <p:cNvSpPr txBox="1"/>
          <p:nvPr/>
        </p:nvSpPr>
        <p:spPr>
          <a:xfrm>
            <a:off x="6095848" y="2103120"/>
            <a:ext cx="5501488" cy="1188720"/>
          </a:xfrm>
          <a:prstGeom prst="rect">
            <a:avLst/>
          </a:prstGeom>
          <a:noFill/>
          <a:ln/>
        </p:spPr>
        <p:txBody>
          <a:bodyPr wrap="square" lIns="0" tIns="0" rIns="0" bIns="0" rtlCol="0" anchor="ctr"/>
          <a:lstStyle/>
          <a:p>
            <a:pPr algn="ctr" indent="0" marL="0">
              <a:buNone/>
            </a:pPr>
            <a:r>
              <a:rPr lang="en-US" sz="3200" b="1" dirty="0">
                <a:solidFill>
                  <a:srgbClr val="FFFFFF"/>
                </a:solidFill>
                <a:latin typeface="Alexandria" pitchFamily="34" charset="0"/>
                <a:ea typeface="Alexandria" pitchFamily="34" charset="-122"/>
                <a:cs typeface="Alexandria" pitchFamily="34" charset="-120"/>
              </a:rPr>
              <a:t>50%</a:t>
            </a:r>
            <a:endParaRPr lang="en-US" sz="3200" dirty="0"/>
          </a:p>
        </p:txBody>
      </p:sp>
      <p:sp>
        <p:nvSpPr>
          <p:cNvPr id="28" name="Shape 25"/>
          <p:cNvSpPr/>
          <p:nvPr/>
        </p:nvSpPr>
        <p:spPr>
          <a:xfrm>
            <a:off x="548640" y="3657600"/>
            <a:ext cx="2567864" cy="1463040"/>
          </a:xfrm>
          <a:prstGeom prst="roundRect">
            <a:avLst>
              <a:gd name="adj" fmla="val 7500"/>
            </a:avLst>
          </a:prstGeom>
          <a:solidFill>
            <a:srgbClr val="FFFFFF"/>
          </a:solidFill>
          <a:ln w="19050">
            <a:solidFill>
              <a:srgbClr val="49B296"/>
            </a:solidFill>
            <a:prstDash val="solid"/>
          </a:ln>
        </p:spPr>
      </p:sp>
      <p:sp>
        <p:nvSpPr>
          <p:cNvPr id="29" name="Text 26"/>
          <p:cNvSpPr txBox="1"/>
          <p:nvPr/>
        </p:nvSpPr>
        <p:spPr>
          <a:xfrm>
            <a:off x="731520" y="3657600"/>
            <a:ext cx="2202104" cy="146304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Chuyên cần</a:t>
            </a:r>
            <a:endParaRPr lang="en-US" sz="1500" dirty="0"/>
          </a:p>
          <a:p>
            <a:pPr indent="0" marL="0">
              <a:buNone/>
            </a:pPr>
            <a:r>
              <a:rPr lang="en-US" sz="1200" dirty="0">
                <a:solidFill>
                  <a:srgbClr val="6E6878"/>
                </a:solidFill>
                <a:latin typeface="Alexandria" pitchFamily="34" charset="0"/>
                <a:ea typeface="Alexandria" pitchFamily="34" charset="-122"/>
                <a:cs typeface="Alexandria" pitchFamily="34" charset="-120"/>
              </a:rPr>
              <a:t>AM1</a:t>
            </a:r>
            <a:endParaRPr lang="en-US" sz="1500" dirty="0"/>
          </a:p>
        </p:txBody>
      </p:sp>
      <p:sp>
        <p:nvSpPr>
          <p:cNvPr id="30" name="Shape 27"/>
          <p:cNvSpPr/>
          <p:nvPr/>
        </p:nvSpPr>
        <p:spPr>
          <a:xfrm>
            <a:off x="3390824" y="3657600"/>
            <a:ext cx="2567864" cy="1463040"/>
          </a:xfrm>
          <a:prstGeom prst="roundRect">
            <a:avLst>
              <a:gd name="adj" fmla="val 7500"/>
            </a:avLst>
          </a:prstGeom>
          <a:solidFill>
            <a:srgbClr val="FFFFFF"/>
          </a:solidFill>
          <a:ln w="19050">
            <a:solidFill>
              <a:srgbClr val="09A1E5"/>
            </a:solidFill>
            <a:prstDash val="solid"/>
          </a:ln>
        </p:spPr>
      </p:sp>
      <p:sp>
        <p:nvSpPr>
          <p:cNvPr id="31" name="Text 28"/>
          <p:cNvSpPr txBox="1"/>
          <p:nvPr/>
        </p:nvSpPr>
        <p:spPr>
          <a:xfrm>
            <a:off x="3573704" y="3657600"/>
            <a:ext cx="2202104" cy="146304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Bài tập</a:t>
            </a:r>
            <a:endParaRPr lang="en-US" sz="1500" dirty="0"/>
          </a:p>
          <a:p>
            <a:pPr indent="0" marL="0">
              <a:buNone/>
            </a:pPr>
            <a:r>
              <a:rPr lang="en-US" sz="1200" dirty="0">
                <a:solidFill>
                  <a:srgbClr val="6E6878"/>
                </a:solidFill>
                <a:latin typeface="Alexandria" pitchFamily="34" charset="0"/>
                <a:ea typeface="Alexandria" pitchFamily="34" charset="-122"/>
                <a:cs typeface="Alexandria" pitchFamily="34" charset="-120"/>
              </a:rPr>
              <a:t>AM2</a:t>
            </a:r>
            <a:endParaRPr lang="en-US" sz="1500" dirty="0"/>
          </a:p>
        </p:txBody>
      </p:sp>
      <p:sp>
        <p:nvSpPr>
          <p:cNvPr id="32" name="Shape 29"/>
          <p:cNvSpPr/>
          <p:nvPr/>
        </p:nvSpPr>
        <p:spPr>
          <a:xfrm>
            <a:off x="6233008" y="3657600"/>
            <a:ext cx="2567864" cy="1463040"/>
          </a:xfrm>
          <a:prstGeom prst="roundRect">
            <a:avLst>
              <a:gd name="adj" fmla="val 7500"/>
            </a:avLst>
          </a:prstGeom>
          <a:solidFill>
            <a:srgbClr val="FFFFFF"/>
          </a:solidFill>
          <a:ln w="19050">
            <a:solidFill>
              <a:srgbClr val="FF9259"/>
            </a:solidFill>
            <a:prstDash val="solid"/>
          </a:ln>
        </p:spPr>
      </p:sp>
      <p:sp>
        <p:nvSpPr>
          <p:cNvPr id="33" name="Text 30"/>
          <p:cNvSpPr txBox="1"/>
          <p:nvPr/>
        </p:nvSpPr>
        <p:spPr>
          <a:xfrm>
            <a:off x="6415888" y="3657600"/>
            <a:ext cx="2202104" cy="146304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Giữa kỳ · thuyết trình + làm việc nhóm</a:t>
            </a:r>
            <a:endParaRPr lang="en-US" sz="1500" dirty="0"/>
          </a:p>
          <a:p>
            <a:pPr indent="0" marL="0">
              <a:buNone/>
            </a:pPr>
            <a:r>
              <a:rPr lang="en-US" sz="1200" dirty="0">
                <a:solidFill>
                  <a:srgbClr val="6E6878"/>
                </a:solidFill>
                <a:latin typeface="Alexandria" pitchFamily="34" charset="0"/>
                <a:ea typeface="Alexandria" pitchFamily="34" charset="-122"/>
                <a:cs typeface="Alexandria" pitchFamily="34" charset="-120"/>
              </a:rPr>
              <a:t>AM3, AM9</a:t>
            </a:r>
            <a:endParaRPr lang="en-US" sz="1500" dirty="0"/>
          </a:p>
        </p:txBody>
      </p:sp>
      <p:sp>
        <p:nvSpPr>
          <p:cNvPr id="34" name="Shape 31"/>
          <p:cNvSpPr/>
          <p:nvPr/>
        </p:nvSpPr>
        <p:spPr>
          <a:xfrm>
            <a:off x="9075191" y="3657600"/>
            <a:ext cx="2567864" cy="1463040"/>
          </a:xfrm>
          <a:prstGeom prst="roundRect">
            <a:avLst>
              <a:gd name="adj" fmla="val 7500"/>
            </a:avLst>
          </a:prstGeom>
          <a:solidFill>
            <a:srgbClr val="FFFFFF"/>
          </a:solidFill>
          <a:ln w="19050">
            <a:solidFill>
              <a:srgbClr val="962B7C"/>
            </a:solidFill>
            <a:prstDash val="solid"/>
          </a:ln>
        </p:spPr>
      </p:sp>
      <p:sp>
        <p:nvSpPr>
          <p:cNvPr id="35" name="Text 32"/>
          <p:cNvSpPr txBox="1"/>
          <p:nvPr/>
        </p:nvSpPr>
        <p:spPr>
          <a:xfrm>
            <a:off x="9258071" y="3657600"/>
            <a:ext cx="2202104" cy="146304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Cuối kỳ · Stakeholder Management Plan + phản biện</a:t>
            </a:r>
            <a:endParaRPr lang="en-US" sz="1500" dirty="0"/>
          </a:p>
          <a:p>
            <a:pPr indent="0" marL="0">
              <a:buNone/>
            </a:pPr>
            <a:r>
              <a:rPr lang="en-US" sz="1200" dirty="0">
                <a:solidFill>
                  <a:srgbClr val="6E6878"/>
                </a:solidFill>
                <a:latin typeface="Alexandria" pitchFamily="34" charset="0"/>
                <a:ea typeface="Alexandria" pitchFamily="34" charset="-122"/>
                <a:cs typeface="Alexandria" pitchFamily="34" charset="-120"/>
              </a:rPr>
              <a:t>AM7, AM9</a:t>
            </a:r>
            <a:endParaRPr lang="en-US" sz="1500" dirty="0"/>
          </a:p>
        </p:txBody>
      </p:sp>
      <p:sp>
        <p:nvSpPr>
          <p:cNvPr id="36" name="Shape 33"/>
          <p:cNvSpPr/>
          <p:nvPr/>
        </p:nvSpPr>
        <p:spPr>
          <a:xfrm>
            <a:off x="548640" y="5349240"/>
            <a:ext cx="11094415" cy="685800"/>
          </a:xfrm>
          <a:prstGeom prst="roundRect">
            <a:avLst>
              <a:gd name="adj" fmla="val 16000"/>
            </a:avLst>
          </a:prstGeom>
          <a:solidFill>
            <a:srgbClr val="FFF3C4"/>
          </a:solidFill>
          <a:ln w="12700">
            <a:solidFill>
              <a:srgbClr val="FFD23B"/>
            </a:solidFill>
            <a:prstDash val="solid"/>
          </a:ln>
        </p:spPr>
      </p:sp>
      <p:sp>
        <p:nvSpPr>
          <p:cNvPr id="37" name="Text 34"/>
          <p:cNvSpPr txBox="1"/>
          <p:nvPr/>
        </p:nvSpPr>
        <p:spPr>
          <a:xfrm>
            <a:off x="822960" y="5349240"/>
            <a:ext cx="10545775" cy="6858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Bài cuối kỳ được xây từng mảnh qua mỗi buổi học — hôm nay là mảnh đầu tiên.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F9259"/>
          </a:solidFill>
          <a:ln w="9525">
            <a:solidFill>
              <a:srgbClr val="FF9259"/>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b="1" dirty="0">
                <a:solidFill>
                  <a:srgbClr val="2A223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Bài cuối kỳ: Stakeholder Management Plan cho khách hàng từ dự án cũ</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7</a:t>
            </a:r>
            <a:endParaRPr lang="en-US" sz="1000" dirty="0"/>
          </a:p>
        </p:txBody>
      </p:sp>
      <p:sp>
        <p:nvSpPr>
          <p:cNvPr id="19" name="Shape 16"/>
          <p:cNvSpPr/>
          <p:nvPr/>
        </p:nvSpPr>
        <p:spPr>
          <a:xfrm>
            <a:off x="548640" y="2011680"/>
            <a:ext cx="3362858" cy="2743200"/>
          </a:xfrm>
          <a:prstGeom prst="roundRect">
            <a:avLst>
              <a:gd name="adj" fmla="val 4000"/>
            </a:avLst>
          </a:prstGeom>
          <a:solidFill>
            <a:srgbClr val="F1E1EE"/>
          </a:solidFill>
          <a:ln w="19050">
            <a:solidFill>
              <a:srgbClr val="962B7C"/>
            </a:solidFill>
            <a:prstDash val="solid"/>
          </a:ln>
        </p:spPr>
      </p:sp>
      <p:sp>
        <p:nvSpPr>
          <p:cNvPr id="20" name="Shape 17"/>
          <p:cNvSpPr/>
          <p:nvPr/>
        </p:nvSpPr>
        <p:spPr>
          <a:xfrm>
            <a:off x="822960" y="2240280"/>
            <a:ext cx="822960" cy="822960"/>
          </a:xfrm>
          <a:prstGeom prst="ellipse">
            <a:avLst/>
          </a:prstGeom>
          <a:solidFill>
            <a:srgbClr val="962B7C"/>
          </a:solidFill>
          <a:ln w="12700">
            <a:solidFill>
              <a:srgbClr val="962B7C"/>
            </a:solidFill>
            <a:prstDash val="solid"/>
          </a:ln>
        </p:spPr>
      </p:sp>
      <p:sp>
        <p:nvSpPr>
          <p:cNvPr id="21" name="Text 18"/>
          <p:cNvSpPr txBox="1"/>
          <p:nvPr/>
        </p:nvSpPr>
        <p:spPr>
          <a:xfrm>
            <a:off x="822960" y="224028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1</a:t>
            </a:r>
            <a:endParaRPr lang="en-US" sz="2600" dirty="0"/>
          </a:p>
        </p:txBody>
      </p:sp>
      <p:sp>
        <p:nvSpPr>
          <p:cNvPr id="22" name="Text 19"/>
          <p:cNvSpPr txBox="1"/>
          <p:nvPr/>
        </p:nvSpPr>
        <p:spPr>
          <a:xfrm>
            <a:off x="822960" y="3246120"/>
            <a:ext cx="2814218" cy="822960"/>
          </a:xfrm>
          <a:prstGeom prst="rect">
            <a:avLst/>
          </a:prstGeom>
          <a:noFill/>
          <a:ln/>
        </p:spPr>
        <p:txBody>
          <a:bodyPr wrap="square" lIns="0" tIns="0" rIns="0" bIns="0" rtlCol="0" anchor="t"/>
          <a:lstStyle/>
          <a:p>
            <a:pPr indent="0" marL="0">
              <a:buNone/>
            </a:pPr>
            <a:r>
              <a:rPr lang="en-US" sz="2000" b="1" dirty="0">
                <a:solidFill>
                  <a:srgbClr val="2A2238"/>
                </a:solidFill>
                <a:latin typeface="Alexandria" pitchFamily="34" charset="0"/>
                <a:ea typeface="Alexandria" pitchFamily="34" charset="-122"/>
                <a:cs typeface="Alexandria" pitchFamily="34" charset="-120"/>
              </a:rPr>
              <a:t>Chọn 1 khách hàng từ dự án cũ</a:t>
            </a:r>
            <a:endParaRPr lang="en-US" sz="2000" dirty="0"/>
          </a:p>
        </p:txBody>
      </p:sp>
      <p:sp>
        <p:nvSpPr>
          <p:cNvPr id="23" name="Text 20"/>
          <p:cNvSpPr txBox="1"/>
          <p:nvPr/>
        </p:nvSpPr>
        <p:spPr>
          <a:xfrm>
            <a:off x="822960" y="4069080"/>
            <a:ext cx="2814218" cy="594360"/>
          </a:xfrm>
          <a:prstGeom prst="rect">
            <a:avLst/>
          </a:prstGeom>
          <a:noFill/>
          <a:ln/>
        </p:spPr>
        <p:txBody>
          <a:bodyPr wrap="square" lIns="0" tIns="0" rIns="0" bIns="0" rtlCol="0" anchor="t"/>
          <a:lstStyle/>
          <a:p>
            <a:pPr indent="0" marL="0">
              <a:buNone/>
            </a:pPr>
            <a:r>
              <a:rPr lang="en-US" sz="1400" dirty="0">
                <a:solidFill>
                  <a:srgbClr val="6E6878"/>
                </a:solidFill>
                <a:latin typeface="Alexandria" pitchFamily="34" charset="0"/>
                <a:ea typeface="Alexandria" pitchFamily="34" charset="-122"/>
                <a:cs typeface="Alexandria" pitchFamily="34" charset="-120"/>
              </a:rPr>
              <a:t>không làm dự án mới</a:t>
            </a:r>
            <a:endParaRPr lang="en-US" sz="1400" dirty="0"/>
          </a:p>
        </p:txBody>
      </p:sp>
      <p:sp>
        <p:nvSpPr>
          <p:cNvPr id="24" name="Shape 21"/>
          <p:cNvSpPr/>
          <p:nvPr/>
        </p:nvSpPr>
        <p:spPr>
          <a:xfrm>
            <a:off x="3984650" y="3383280"/>
            <a:ext cx="356616" cy="914"/>
          </a:xfrm>
          <a:prstGeom prst="line">
            <a:avLst/>
          </a:prstGeom>
          <a:noFill/>
          <a:ln w="31750">
            <a:solidFill>
              <a:srgbClr val="2A2238"/>
            </a:solidFill>
            <a:prstDash val="solid"/>
            <a:tailEnd type="triangle"/>
          </a:ln>
        </p:spPr>
      </p:sp>
      <p:sp>
        <p:nvSpPr>
          <p:cNvPr id="25" name="Shape 22"/>
          <p:cNvSpPr/>
          <p:nvPr/>
        </p:nvSpPr>
        <p:spPr>
          <a:xfrm>
            <a:off x="4414418" y="2011680"/>
            <a:ext cx="3362858" cy="2743200"/>
          </a:xfrm>
          <a:prstGeom prst="roundRect">
            <a:avLst>
              <a:gd name="adj" fmla="val 4000"/>
            </a:avLst>
          </a:prstGeom>
          <a:solidFill>
            <a:srgbClr val="DDF1FB"/>
          </a:solidFill>
          <a:ln w="19050">
            <a:solidFill>
              <a:srgbClr val="09A1E5"/>
            </a:solidFill>
            <a:prstDash val="solid"/>
          </a:ln>
        </p:spPr>
      </p:sp>
      <p:sp>
        <p:nvSpPr>
          <p:cNvPr id="26" name="Shape 23"/>
          <p:cNvSpPr/>
          <p:nvPr/>
        </p:nvSpPr>
        <p:spPr>
          <a:xfrm>
            <a:off x="4688738" y="2240280"/>
            <a:ext cx="822960" cy="822960"/>
          </a:xfrm>
          <a:prstGeom prst="ellipse">
            <a:avLst/>
          </a:prstGeom>
          <a:solidFill>
            <a:srgbClr val="09A1E5"/>
          </a:solidFill>
          <a:ln w="12700">
            <a:solidFill>
              <a:srgbClr val="09A1E5"/>
            </a:solidFill>
            <a:prstDash val="solid"/>
          </a:ln>
        </p:spPr>
      </p:sp>
      <p:sp>
        <p:nvSpPr>
          <p:cNvPr id="27" name="Text 24"/>
          <p:cNvSpPr txBox="1"/>
          <p:nvPr/>
        </p:nvSpPr>
        <p:spPr>
          <a:xfrm>
            <a:off x="4688738" y="224028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2</a:t>
            </a:r>
            <a:endParaRPr lang="en-US" sz="2600" dirty="0"/>
          </a:p>
        </p:txBody>
      </p:sp>
      <p:sp>
        <p:nvSpPr>
          <p:cNvPr id="28" name="Text 25"/>
          <p:cNvSpPr txBox="1"/>
          <p:nvPr/>
        </p:nvSpPr>
        <p:spPr>
          <a:xfrm>
            <a:off x="4688738" y="3246120"/>
            <a:ext cx="2814218" cy="822960"/>
          </a:xfrm>
          <a:prstGeom prst="rect">
            <a:avLst/>
          </a:prstGeom>
          <a:noFill/>
          <a:ln/>
        </p:spPr>
        <p:txBody>
          <a:bodyPr wrap="square" lIns="0" tIns="0" rIns="0" bIns="0" rtlCol="0" anchor="t"/>
          <a:lstStyle/>
          <a:p>
            <a:pPr indent="0" marL="0">
              <a:buNone/>
            </a:pPr>
            <a:r>
              <a:rPr lang="en-US" sz="2000" b="1" dirty="0">
                <a:solidFill>
                  <a:srgbClr val="2A2238"/>
                </a:solidFill>
                <a:latin typeface="Alexandria" pitchFamily="34" charset="0"/>
                <a:ea typeface="Alexandria" pitchFamily="34" charset="-122"/>
                <a:cs typeface="Alexandria" pitchFamily="34" charset="-120"/>
              </a:rPr>
              <a:t>Mỗi buổi thêm 1 mảnh</a:t>
            </a:r>
            <a:endParaRPr lang="en-US" sz="2000" dirty="0"/>
          </a:p>
        </p:txBody>
      </p:sp>
      <p:sp>
        <p:nvSpPr>
          <p:cNvPr id="29" name="Text 26"/>
          <p:cNvSpPr txBox="1"/>
          <p:nvPr/>
        </p:nvSpPr>
        <p:spPr>
          <a:xfrm>
            <a:off x="4688738" y="4069080"/>
            <a:ext cx="2814218" cy="594360"/>
          </a:xfrm>
          <a:prstGeom prst="rect">
            <a:avLst/>
          </a:prstGeom>
          <a:noFill/>
          <a:ln/>
        </p:spPr>
        <p:txBody>
          <a:bodyPr wrap="square" lIns="0" tIns="0" rIns="0" bIns="0" rtlCol="0" anchor="t"/>
          <a:lstStyle/>
          <a:p>
            <a:pPr indent="0" marL="0">
              <a:buNone/>
            </a:pPr>
            <a:r>
              <a:rPr lang="en-US" sz="1400" dirty="0">
                <a:solidFill>
                  <a:srgbClr val="6E6878"/>
                </a:solidFill>
                <a:latin typeface="Alexandria" pitchFamily="34" charset="0"/>
                <a:ea typeface="Alexandria" pitchFamily="34" charset="-122"/>
                <a:cs typeface="Alexandria" pitchFamily="34" charset="-120"/>
              </a:rPr>
              <a:t>hôm nay: bản đồ các bên liên quan</a:t>
            </a:r>
            <a:endParaRPr lang="en-US" sz="1400" dirty="0"/>
          </a:p>
        </p:txBody>
      </p:sp>
      <p:sp>
        <p:nvSpPr>
          <p:cNvPr id="30" name="Shape 27"/>
          <p:cNvSpPr/>
          <p:nvPr/>
        </p:nvSpPr>
        <p:spPr>
          <a:xfrm>
            <a:off x="7850429" y="3383280"/>
            <a:ext cx="356616" cy="914"/>
          </a:xfrm>
          <a:prstGeom prst="line">
            <a:avLst/>
          </a:prstGeom>
          <a:noFill/>
          <a:ln w="31750">
            <a:solidFill>
              <a:srgbClr val="2A2238"/>
            </a:solidFill>
            <a:prstDash val="solid"/>
            <a:tailEnd type="triangle"/>
          </a:ln>
        </p:spPr>
      </p:sp>
      <p:sp>
        <p:nvSpPr>
          <p:cNvPr id="31" name="Shape 28"/>
          <p:cNvSpPr/>
          <p:nvPr/>
        </p:nvSpPr>
        <p:spPr>
          <a:xfrm>
            <a:off x="8280197" y="2011680"/>
            <a:ext cx="3362858" cy="2743200"/>
          </a:xfrm>
          <a:prstGeom prst="roundRect">
            <a:avLst>
              <a:gd name="adj" fmla="val 4000"/>
            </a:avLst>
          </a:prstGeom>
          <a:solidFill>
            <a:srgbClr val="FFE4EA"/>
          </a:solidFill>
          <a:ln w="19050">
            <a:solidFill>
              <a:srgbClr val="FF5178"/>
            </a:solidFill>
            <a:prstDash val="solid"/>
          </a:ln>
        </p:spPr>
      </p:sp>
      <p:sp>
        <p:nvSpPr>
          <p:cNvPr id="32" name="Shape 29"/>
          <p:cNvSpPr/>
          <p:nvPr/>
        </p:nvSpPr>
        <p:spPr>
          <a:xfrm>
            <a:off x="8554517" y="2240280"/>
            <a:ext cx="822960" cy="822960"/>
          </a:xfrm>
          <a:prstGeom prst="ellipse">
            <a:avLst/>
          </a:prstGeom>
          <a:solidFill>
            <a:srgbClr val="FF5178"/>
          </a:solidFill>
          <a:ln w="12700">
            <a:solidFill>
              <a:srgbClr val="FF5178"/>
            </a:solidFill>
            <a:prstDash val="solid"/>
          </a:ln>
        </p:spPr>
      </p:sp>
      <p:sp>
        <p:nvSpPr>
          <p:cNvPr id="33" name="Text 30"/>
          <p:cNvSpPr txBox="1"/>
          <p:nvPr/>
        </p:nvSpPr>
        <p:spPr>
          <a:xfrm>
            <a:off x="8554517" y="224028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3</a:t>
            </a:r>
            <a:endParaRPr lang="en-US" sz="2600" dirty="0"/>
          </a:p>
        </p:txBody>
      </p:sp>
      <p:sp>
        <p:nvSpPr>
          <p:cNvPr id="34" name="Text 31"/>
          <p:cNvSpPr txBox="1"/>
          <p:nvPr/>
        </p:nvSpPr>
        <p:spPr>
          <a:xfrm>
            <a:off x="8554517" y="3246120"/>
            <a:ext cx="2814218" cy="822960"/>
          </a:xfrm>
          <a:prstGeom prst="rect">
            <a:avLst/>
          </a:prstGeom>
          <a:noFill/>
          <a:ln/>
        </p:spPr>
        <p:txBody>
          <a:bodyPr wrap="square" lIns="0" tIns="0" rIns="0" bIns="0" rtlCol="0" anchor="t"/>
          <a:lstStyle/>
          <a:p>
            <a:pPr indent="0" marL="0">
              <a:buNone/>
            </a:pPr>
            <a:r>
              <a:rPr lang="en-US" sz="2000" b="1" dirty="0">
                <a:solidFill>
                  <a:srgbClr val="2A2238"/>
                </a:solidFill>
                <a:latin typeface="Alexandria" pitchFamily="34" charset="0"/>
                <a:ea typeface="Alexandria" pitchFamily="34" charset="-122"/>
                <a:cs typeface="Alexandria" pitchFamily="34" charset="-120"/>
              </a:rPr>
              <a:t>Phản biện cuối kỳ</a:t>
            </a:r>
            <a:endParaRPr lang="en-US" sz="2000" dirty="0"/>
          </a:p>
        </p:txBody>
      </p:sp>
      <p:sp>
        <p:nvSpPr>
          <p:cNvPr id="35" name="Text 32"/>
          <p:cNvSpPr txBox="1"/>
          <p:nvPr/>
        </p:nvSpPr>
        <p:spPr>
          <a:xfrm>
            <a:off x="8554517" y="4069080"/>
            <a:ext cx="2814218" cy="594360"/>
          </a:xfrm>
          <a:prstGeom prst="rect">
            <a:avLst/>
          </a:prstGeom>
          <a:noFill/>
          <a:ln/>
        </p:spPr>
        <p:txBody>
          <a:bodyPr wrap="square" lIns="0" tIns="0" rIns="0" bIns="0" rtlCol="0" anchor="t"/>
          <a:lstStyle/>
          <a:p>
            <a:pPr indent="0" marL="0">
              <a:buNone/>
            </a:pPr>
            <a:r>
              <a:rPr lang="en-US" sz="1400" dirty="0">
                <a:solidFill>
                  <a:srgbClr val="6E6878"/>
                </a:solidFill>
                <a:latin typeface="Alexandria" pitchFamily="34" charset="0"/>
                <a:ea typeface="Alexandria" pitchFamily="34" charset="-122"/>
                <a:cs typeface="Alexandria" pitchFamily="34" charset="-120"/>
              </a:rPr>
              <a:t>bảo vệ kế hoạch trước hội đồng</a:t>
            </a:r>
            <a:endParaRPr lang="en-US" sz="1400" dirty="0"/>
          </a:p>
        </p:txBody>
      </p:sp>
      <p:sp>
        <p:nvSpPr>
          <p:cNvPr id="36" name="Shape 33"/>
          <p:cNvSpPr/>
          <p:nvPr/>
        </p:nvSpPr>
        <p:spPr>
          <a:xfrm>
            <a:off x="548640" y="5074920"/>
            <a:ext cx="11094415" cy="914400"/>
          </a:xfrm>
          <a:prstGeom prst="roundRect">
            <a:avLst>
              <a:gd name="adj" fmla="val 12000"/>
            </a:avLst>
          </a:prstGeom>
          <a:solidFill>
            <a:srgbClr val="FFFFFF"/>
          </a:solidFill>
          <a:ln w="12700">
            <a:solidFill>
              <a:srgbClr val="DCD7C8"/>
            </a:solidFill>
            <a:prstDash val="solid"/>
          </a:ln>
        </p:spPr>
      </p:sp>
      <p:sp>
        <p:nvSpPr>
          <p:cNvPr id="37" name="Text 34"/>
          <p:cNvSpPr txBox="1"/>
          <p:nvPr/>
        </p:nvSpPr>
        <p:spPr>
          <a:xfrm>
            <a:off x="868680" y="5074920"/>
            <a:ext cx="10454335" cy="91440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Nộp qua LMS </a:t>
            </a:r>
            <a:pPr indent="0" marL="0">
              <a:buNone/>
            </a:pPr>
            <a:r>
              <a:rPr lang="en-US" sz="1500" dirty="0">
                <a:solidFill>
                  <a:srgbClr val="2A2238"/>
                </a:solidFill>
                <a:latin typeface="Alexandria" pitchFamily="34" charset="0"/>
                <a:ea typeface="Alexandria" pitchFamily="34" charset="-122"/>
                <a:cs typeface="Alexandria" pitchFamily="34" charset="-120"/>
              </a:rPr>
              <a:t>theo thời hạn quy định · quy định chuyên cần, nộp trễ, dùng AI: [giảng viên bổ sung]</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Bên liên quan là ai có thể ảnh hưởng — hoặc bị ảnh hưởng — bởi sự kiện</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A01: Freeman (1984), Strategic management: A stakeholder approach · A02: Van Niekerk &amp; Getz (2019).</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8</a:t>
            </a:r>
            <a:endParaRPr lang="en-US" sz="1000" dirty="0"/>
          </a:p>
        </p:txBody>
      </p:sp>
      <p:sp>
        <p:nvSpPr>
          <p:cNvPr id="20" name="Shape 17"/>
          <p:cNvSpPr/>
          <p:nvPr/>
        </p:nvSpPr>
        <p:spPr>
          <a:xfrm>
            <a:off x="548640" y="1874520"/>
            <a:ext cx="11094415" cy="1371600"/>
          </a:xfrm>
          <a:prstGeom prst="roundRect">
            <a:avLst>
              <a:gd name="adj" fmla="val 8000"/>
            </a:avLst>
          </a:prstGeom>
          <a:solidFill>
            <a:srgbClr val="F1E1EE"/>
          </a:solidFill>
          <a:ln w="12700">
            <a:solidFill>
              <a:srgbClr val="962B7C"/>
            </a:solidFill>
            <a:prstDash val="solid"/>
          </a:ln>
        </p:spPr>
      </p:sp>
      <p:sp>
        <p:nvSpPr>
          <p:cNvPr id="21" name="Text 18"/>
          <p:cNvSpPr txBox="1"/>
          <p:nvPr/>
        </p:nvSpPr>
        <p:spPr>
          <a:xfrm>
            <a:off x="868680" y="1874520"/>
            <a:ext cx="10454335" cy="137160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Bên liên quan (stakeholder): </a:t>
            </a:r>
            <a:pPr indent="0" marL="0">
              <a:buNone/>
            </a:pPr>
            <a:r>
              <a:rPr lang="en-US" sz="1900" dirty="0">
                <a:solidFill>
                  <a:srgbClr val="2A2238"/>
                </a:solidFill>
                <a:latin typeface="Alexandria" pitchFamily="34" charset="0"/>
                <a:ea typeface="Alexandria" pitchFamily="34" charset="-122"/>
                <a:cs typeface="Alexandria" pitchFamily="34" charset="-120"/>
              </a:rPr>
              <a:t>bất kỳ nhóm hoặc cá nhân nào có thể ảnh hưởng đến, hoặc bị ảnh hưởng bởi, việc đạt được mục tiêu của tổ chức.</a:t>
            </a:r>
            <a:pPr indent="0" marL="0">
              <a:buNone/>
            </a:pPr>
            <a:r>
              <a:rPr lang="en-US" sz="1300" dirty="0">
                <a:solidFill>
                  <a:srgbClr val="6E6878"/>
                </a:solidFill>
                <a:latin typeface="Alexandria" pitchFamily="34" charset="0"/>
                <a:ea typeface="Alexandria" pitchFamily="34" charset="-122"/>
                <a:cs typeface="Alexandria" pitchFamily="34" charset="-120"/>
              </a:rPr>
              <a:t>  — Freeman (1984)</a:t>
            </a:r>
            <a:endParaRPr lang="en-US" sz="1900" dirty="0"/>
          </a:p>
        </p:txBody>
      </p:sp>
      <p:sp>
        <p:nvSpPr>
          <p:cNvPr id="22" name="Shape 19"/>
          <p:cNvSpPr/>
          <p:nvPr/>
        </p:nvSpPr>
        <p:spPr>
          <a:xfrm>
            <a:off x="4297680" y="4023360"/>
            <a:ext cx="3840480" cy="914400"/>
          </a:xfrm>
          <a:prstGeom prst="roundRect">
            <a:avLst>
              <a:gd name="adj" fmla="val 50000"/>
            </a:avLst>
          </a:prstGeom>
          <a:solidFill>
            <a:srgbClr val="FFD23B"/>
          </a:solidFill>
          <a:ln w="12700">
            <a:solidFill>
              <a:srgbClr val="FFD23B"/>
            </a:solidFill>
            <a:prstDash val="solid"/>
          </a:ln>
        </p:spPr>
      </p:sp>
      <p:sp>
        <p:nvSpPr>
          <p:cNvPr id="23" name="Text 20"/>
          <p:cNvSpPr txBox="1"/>
          <p:nvPr/>
        </p:nvSpPr>
        <p:spPr>
          <a:xfrm>
            <a:off x="4370832" y="4023360"/>
            <a:ext cx="3694176" cy="914400"/>
          </a:xfrm>
          <a:prstGeom prst="rect">
            <a:avLst/>
          </a:prstGeom>
          <a:noFill/>
          <a:ln/>
        </p:spPr>
        <p:txBody>
          <a:bodyPr wrap="square" lIns="0" tIns="0" rIns="0" bIns="0" rtlCol="0" anchor="ctr"/>
          <a:lstStyle/>
          <a:p>
            <a:pPr algn="ctr" indent="0" marL="0">
              <a:buNone/>
            </a:pPr>
            <a:r>
              <a:rPr lang="en-US" sz="2200" b="1" dirty="0">
                <a:solidFill>
                  <a:srgbClr val="2A2238"/>
                </a:solidFill>
                <a:latin typeface="Alexandria" pitchFamily="34" charset="0"/>
                <a:ea typeface="Alexandria" pitchFamily="34" charset="-122"/>
                <a:cs typeface="Alexandria" pitchFamily="34" charset="-120"/>
              </a:rPr>
              <a:t>Sự kiện</a:t>
            </a:r>
            <a:endParaRPr lang="en-US" sz="2200" dirty="0"/>
          </a:p>
        </p:txBody>
      </p:sp>
      <p:sp>
        <p:nvSpPr>
          <p:cNvPr id="24" name="Shape 21"/>
          <p:cNvSpPr/>
          <p:nvPr/>
        </p:nvSpPr>
        <p:spPr>
          <a:xfrm>
            <a:off x="548640" y="3657600"/>
            <a:ext cx="3108960" cy="1645920"/>
          </a:xfrm>
          <a:prstGeom prst="roundRect">
            <a:avLst>
              <a:gd name="adj" fmla="val 6667"/>
            </a:avLst>
          </a:prstGeom>
          <a:solidFill>
            <a:srgbClr val="FFE4EA"/>
          </a:solidFill>
          <a:ln w="12700">
            <a:solidFill>
              <a:srgbClr val="FF5178"/>
            </a:solidFill>
            <a:prstDash val="solid"/>
          </a:ln>
        </p:spPr>
      </p:sp>
      <p:sp>
        <p:nvSpPr>
          <p:cNvPr id="25" name="Text 22"/>
          <p:cNvSpPr txBox="1"/>
          <p:nvPr/>
        </p:nvSpPr>
        <p:spPr>
          <a:xfrm>
            <a:off x="777240" y="3657600"/>
            <a:ext cx="2651760" cy="164592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Có thể ảnh hưởng</a:t>
            </a:r>
            <a:endParaRPr lang="en-US" sz="1800" dirty="0"/>
          </a:p>
          <a:p>
            <a:pPr indent="0" marL="0">
              <a:buNone/>
            </a:pPr>
            <a:r>
              <a:rPr lang="en-US" sz="1400" dirty="0">
                <a:solidFill>
                  <a:srgbClr val="2A2238"/>
                </a:solidFill>
                <a:latin typeface="Alexandria" pitchFamily="34" charset="0"/>
                <a:ea typeface="Alexandria" pitchFamily="34" charset="-122"/>
                <a:cs typeface="Alexandria" pitchFamily="34" charset="-120"/>
              </a:rPr>
              <a:t>nhà tài trợ rút tiền</a:t>
            </a:r>
            <a:endParaRPr lang="en-US" sz="1800" dirty="0"/>
          </a:p>
        </p:txBody>
      </p:sp>
      <p:sp>
        <p:nvSpPr>
          <p:cNvPr id="26" name="Shape 23"/>
          <p:cNvSpPr/>
          <p:nvPr/>
        </p:nvSpPr>
        <p:spPr>
          <a:xfrm>
            <a:off x="3703320" y="4297680"/>
            <a:ext cx="548640" cy="914"/>
          </a:xfrm>
          <a:prstGeom prst="line">
            <a:avLst/>
          </a:prstGeom>
          <a:noFill/>
          <a:ln w="38100">
            <a:solidFill>
              <a:srgbClr val="FF5178"/>
            </a:solidFill>
            <a:prstDash val="solid"/>
            <a:tailEnd type="triangle"/>
          </a:ln>
        </p:spPr>
      </p:sp>
      <p:sp>
        <p:nvSpPr>
          <p:cNvPr id="27" name="Shape 24"/>
          <p:cNvSpPr/>
          <p:nvPr/>
        </p:nvSpPr>
        <p:spPr>
          <a:xfrm>
            <a:off x="8534095" y="3657600"/>
            <a:ext cx="3108960" cy="1645920"/>
          </a:xfrm>
          <a:prstGeom prst="roundRect">
            <a:avLst>
              <a:gd name="adj" fmla="val 6667"/>
            </a:avLst>
          </a:prstGeom>
          <a:solidFill>
            <a:srgbClr val="DDF1FB"/>
          </a:solidFill>
          <a:ln w="12700">
            <a:solidFill>
              <a:srgbClr val="09A1E5"/>
            </a:solidFill>
            <a:prstDash val="solid"/>
          </a:ln>
        </p:spPr>
      </p:sp>
      <p:sp>
        <p:nvSpPr>
          <p:cNvPr id="28" name="Text 25"/>
          <p:cNvSpPr txBox="1"/>
          <p:nvPr/>
        </p:nvSpPr>
        <p:spPr>
          <a:xfrm>
            <a:off x="8762695" y="3657600"/>
            <a:ext cx="2651760" cy="164592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Bị ảnh hưởng</a:t>
            </a:r>
            <a:endParaRPr lang="en-US" sz="1800" dirty="0"/>
          </a:p>
          <a:p>
            <a:pPr indent="0" marL="0">
              <a:buNone/>
            </a:pPr>
            <a:r>
              <a:rPr lang="en-US" sz="1400" dirty="0">
                <a:solidFill>
                  <a:srgbClr val="2A2238"/>
                </a:solidFill>
                <a:latin typeface="Alexandria" pitchFamily="34" charset="0"/>
                <a:ea typeface="Alexandria" pitchFamily="34" charset="-122"/>
                <a:cs typeface="Alexandria" pitchFamily="34" charset="-120"/>
              </a:rPr>
              <a:t>cư dân chịu tiếng ồn</a:t>
            </a:r>
            <a:endParaRPr lang="en-US" sz="1800" dirty="0"/>
          </a:p>
        </p:txBody>
      </p:sp>
      <p:sp>
        <p:nvSpPr>
          <p:cNvPr id="29" name="Shape 26"/>
          <p:cNvSpPr/>
          <p:nvPr/>
        </p:nvSpPr>
        <p:spPr>
          <a:xfrm>
            <a:off x="8183880" y="4663440"/>
            <a:ext cx="304495" cy="914"/>
          </a:xfrm>
          <a:prstGeom prst="line">
            <a:avLst/>
          </a:prstGeom>
          <a:noFill/>
          <a:ln w="38100">
            <a:solidFill>
              <a:srgbClr val="09A1E5"/>
            </a:solidFill>
            <a:prstDash val="solid"/>
            <a:tailEnd type="triangle"/>
          </a:ln>
        </p:spPr>
      </p:sp>
      <p:sp>
        <p:nvSpPr>
          <p:cNvPr id="30" name="Text 27"/>
          <p:cNvSpPr txBox="1"/>
          <p:nvPr/>
        </p:nvSpPr>
        <p:spPr>
          <a:xfrm>
            <a:off x="548640" y="5532120"/>
            <a:ext cx="11094415" cy="457200"/>
          </a:xfrm>
          <a:prstGeom prst="rect">
            <a:avLst/>
          </a:prstGeom>
          <a:noFill/>
          <a:ln/>
        </p:spPr>
        <p:txBody>
          <a:bodyPr wrap="square" lIns="0" tIns="0" rIns="0" bIns="0" rtlCol="0" anchor="ctr"/>
          <a:lstStyle/>
          <a:p>
            <a:pPr algn="ctr" indent="0" marL="0">
              <a:buNone/>
            </a:pPr>
            <a:r>
              <a:rPr lang="en-US" sz="1300" i="1" dirty="0">
                <a:solidFill>
                  <a:srgbClr val="6E6878"/>
                </a:solidFill>
                <a:latin typeface="Alexandria" pitchFamily="34" charset="0"/>
                <a:ea typeface="Alexandria" pitchFamily="34" charset="-122"/>
                <a:cs typeface="Alexandria" pitchFamily="34" charset="-120"/>
              </a:rPr>
              <a:t>+ ai góp nguồn lực, nhận lợi ích, hoặc có quyền cho phép / ngăn cản sự kiện (Van Niekerk &amp; Getz, 2019)</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Một hệ sinh thái nhìn thấy quan hệ giữa các bên, không chỉ danh sách</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9</a:t>
            </a:r>
            <a:endParaRPr lang="en-US" sz="1000" dirty="0"/>
          </a:p>
        </p:txBody>
      </p:sp>
      <p:sp>
        <p:nvSpPr>
          <p:cNvPr id="19" name="Text 16"/>
          <p:cNvSpPr txBox="1"/>
          <p:nvPr/>
        </p:nvSpPr>
        <p:spPr>
          <a:xfrm>
            <a:off x="548640" y="1828800"/>
            <a:ext cx="4389120" cy="411480"/>
          </a:xfrm>
          <a:prstGeom prst="rect">
            <a:avLst/>
          </a:prstGeom>
          <a:noFill/>
          <a:ln/>
        </p:spPr>
        <p:txBody>
          <a:bodyPr wrap="square" lIns="0" tIns="0" rIns="0" bIns="0" rtlCol="0" anchor="ctr"/>
          <a:lstStyle/>
          <a:p>
            <a:pPr indent="0" marL="0">
              <a:buNone/>
            </a:pPr>
            <a:r>
              <a:rPr lang="en-US" sz="1700" b="1" dirty="0">
                <a:solidFill>
                  <a:srgbClr val="6E6878"/>
                </a:solidFill>
                <a:latin typeface="Alexandria" pitchFamily="34" charset="0"/>
                <a:ea typeface="Alexandria" pitchFamily="34" charset="-122"/>
                <a:cs typeface="Alexandria" pitchFamily="34" charset="-120"/>
              </a:rPr>
              <a:t>Danh sách</a:t>
            </a:r>
            <a:endParaRPr lang="en-US" sz="1700" dirty="0"/>
          </a:p>
        </p:txBody>
      </p:sp>
      <p:sp>
        <p:nvSpPr>
          <p:cNvPr id="20" name="Shape 17"/>
          <p:cNvSpPr/>
          <p:nvPr/>
        </p:nvSpPr>
        <p:spPr>
          <a:xfrm>
            <a:off x="548640" y="2331720"/>
            <a:ext cx="4389120" cy="512064"/>
          </a:xfrm>
          <a:prstGeom prst="roundRect">
            <a:avLst>
              <a:gd name="adj" fmla="val 21429"/>
            </a:avLst>
          </a:prstGeom>
          <a:solidFill>
            <a:srgbClr val="FFFFFF"/>
          </a:solidFill>
          <a:ln w="12700">
            <a:solidFill>
              <a:srgbClr val="DCD7C8"/>
            </a:solidFill>
            <a:prstDash val="solid"/>
          </a:ln>
        </p:spPr>
      </p:sp>
      <p:sp>
        <p:nvSpPr>
          <p:cNvPr id="21" name="Text 18"/>
          <p:cNvSpPr txBox="1"/>
          <p:nvPr/>
        </p:nvSpPr>
        <p:spPr>
          <a:xfrm>
            <a:off x="777240" y="2331720"/>
            <a:ext cx="4023360" cy="512064"/>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  Khách hàng</a:t>
            </a:r>
            <a:endParaRPr lang="en-US" sz="1500" dirty="0"/>
          </a:p>
        </p:txBody>
      </p:sp>
      <p:sp>
        <p:nvSpPr>
          <p:cNvPr id="22" name="Shape 19"/>
          <p:cNvSpPr/>
          <p:nvPr/>
        </p:nvSpPr>
        <p:spPr>
          <a:xfrm>
            <a:off x="548640" y="2953512"/>
            <a:ext cx="4389120" cy="512064"/>
          </a:xfrm>
          <a:prstGeom prst="roundRect">
            <a:avLst>
              <a:gd name="adj" fmla="val 21429"/>
            </a:avLst>
          </a:prstGeom>
          <a:solidFill>
            <a:srgbClr val="FFFFFF"/>
          </a:solidFill>
          <a:ln w="12700">
            <a:solidFill>
              <a:srgbClr val="DCD7C8"/>
            </a:solidFill>
            <a:prstDash val="solid"/>
          </a:ln>
        </p:spPr>
      </p:sp>
      <p:sp>
        <p:nvSpPr>
          <p:cNvPr id="23" name="Text 20"/>
          <p:cNvSpPr txBox="1"/>
          <p:nvPr/>
        </p:nvSpPr>
        <p:spPr>
          <a:xfrm>
            <a:off x="777240" y="2953512"/>
            <a:ext cx="4023360" cy="512064"/>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  Nhà tài trợ</a:t>
            </a:r>
            <a:endParaRPr lang="en-US" sz="1500" dirty="0"/>
          </a:p>
        </p:txBody>
      </p:sp>
      <p:sp>
        <p:nvSpPr>
          <p:cNvPr id="24" name="Shape 21"/>
          <p:cNvSpPr/>
          <p:nvPr/>
        </p:nvSpPr>
        <p:spPr>
          <a:xfrm>
            <a:off x="548640" y="3575304"/>
            <a:ext cx="4389120" cy="512064"/>
          </a:xfrm>
          <a:prstGeom prst="roundRect">
            <a:avLst>
              <a:gd name="adj" fmla="val 21429"/>
            </a:avLst>
          </a:prstGeom>
          <a:solidFill>
            <a:srgbClr val="FFFFFF"/>
          </a:solidFill>
          <a:ln w="12700">
            <a:solidFill>
              <a:srgbClr val="DCD7C8"/>
            </a:solidFill>
            <a:prstDash val="solid"/>
          </a:ln>
        </p:spPr>
      </p:sp>
      <p:sp>
        <p:nvSpPr>
          <p:cNvPr id="25" name="Text 22"/>
          <p:cNvSpPr txBox="1"/>
          <p:nvPr/>
        </p:nvSpPr>
        <p:spPr>
          <a:xfrm>
            <a:off x="777240" y="3575304"/>
            <a:ext cx="4023360" cy="512064"/>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  Báo chí</a:t>
            </a:r>
            <a:endParaRPr lang="en-US" sz="1500" dirty="0"/>
          </a:p>
        </p:txBody>
      </p:sp>
      <p:sp>
        <p:nvSpPr>
          <p:cNvPr id="26" name="Shape 23"/>
          <p:cNvSpPr/>
          <p:nvPr/>
        </p:nvSpPr>
        <p:spPr>
          <a:xfrm>
            <a:off x="548640" y="4197096"/>
            <a:ext cx="4389120" cy="512064"/>
          </a:xfrm>
          <a:prstGeom prst="roundRect">
            <a:avLst>
              <a:gd name="adj" fmla="val 21429"/>
            </a:avLst>
          </a:prstGeom>
          <a:solidFill>
            <a:srgbClr val="FFFFFF"/>
          </a:solidFill>
          <a:ln w="12700">
            <a:solidFill>
              <a:srgbClr val="DCD7C8"/>
            </a:solidFill>
            <a:prstDash val="solid"/>
          </a:ln>
        </p:spPr>
      </p:sp>
      <p:sp>
        <p:nvSpPr>
          <p:cNvPr id="27" name="Text 24"/>
          <p:cNvSpPr txBox="1"/>
          <p:nvPr/>
        </p:nvSpPr>
        <p:spPr>
          <a:xfrm>
            <a:off x="777240" y="4197096"/>
            <a:ext cx="4023360" cy="512064"/>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  KOL</a:t>
            </a:r>
            <a:endParaRPr lang="en-US" sz="1500" dirty="0"/>
          </a:p>
        </p:txBody>
      </p:sp>
      <p:sp>
        <p:nvSpPr>
          <p:cNvPr id="28" name="Shape 25"/>
          <p:cNvSpPr/>
          <p:nvPr/>
        </p:nvSpPr>
        <p:spPr>
          <a:xfrm>
            <a:off x="548640" y="4818888"/>
            <a:ext cx="4389120" cy="512064"/>
          </a:xfrm>
          <a:prstGeom prst="roundRect">
            <a:avLst>
              <a:gd name="adj" fmla="val 21429"/>
            </a:avLst>
          </a:prstGeom>
          <a:solidFill>
            <a:srgbClr val="FFFFFF"/>
          </a:solidFill>
          <a:ln w="12700">
            <a:solidFill>
              <a:srgbClr val="DCD7C8"/>
            </a:solidFill>
            <a:prstDash val="solid"/>
          </a:ln>
        </p:spPr>
      </p:sp>
      <p:sp>
        <p:nvSpPr>
          <p:cNvPr id="29" name="Text 26"/>
          <p:cNvSpPr txBox="1"/>
          <p:nvPr/>
        </p:nvSpPr>
        <p:spPr>
          <a:xfrm>
            <a:off x="777240" y="4818888"/>
            <a:ext cx="4023360" cy="512064"/>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  Khách sạn</a:t>
            </a:r>
            <a:endParaRPr lang="en-US" sz="1500" dirty="0"/>
          </a:p>
        </p:txBody>
      </p:sp>
      <p:sp>
        <p:nvSpPr>
          <p:cNvPr id="30" name="Text 27"/>
          <p:cNvSpPr txBox="1"/>
          <p:nvPr/>
        </p:nvSpPr>
        <p:spPr>
          <a:xfrm>
            <a:off x="5669280" y="1828800"/>
            <a:ext cx="5486400" cy="411480"/>
          </a:xfrm>
          <a:prstGeom prst="rect">
            <a:avLst/>
          </a:prstGeom>
          <a:noFill/>
          <a:ln/>
        </p:spPr>
        <p:txBody>
          <a:bodyPr wrap="square" lIns="0" tIns="0" rIns="0" bIns="0" rtlCol="0" anchor="ctr"/>
          <a:lstStyle/>
          <a:p>
            <a:pPr indent="0" marL="0">
              <a:buNone/>
            </a:pPr>
            <a:r>
              <a:rPr lang="en-US" sz="1700" b="1" dirty="0">
                <a:solidFill>
                  <a:srgbClr val="962B7C"/>
                </a:solidFill>
                <a:latin typeface="Alexandria" pitchFamily="34" charset="0"/>
                <a:ea typeface="Alexandria" pitchFamily="34" charset="-122"/>
                <a:cs typeface="Alexandria" pitchFamily="34" charset="-120"/>
              </a:rPr>
              <a:t>Hệ sinh thái</a:t>
            </a:r>
            <a:endParaRPr lang="en-US" sz="1700" dirty="0"/>
          </a:p>
        </p:txBody>
      </p:sp>
      <p:sp>
        <p:nvSpPr>
          <p:cNvPr id="31" name="Shape 28"/>
          <p:cNvSpPr/>
          <p:nvPr/>
        </p:nvSpPr>
        <p:spPr>
          <a:xfrm>
            <a:off x="8412480" y="2331720"/>
            <a:ext cx="1978445" cy="1105711"/>
          </a:xfrm>
          <a:prstGeom prst="line">
            <a:avLst/>
          </a:prstGeom>
          <a:noFill/>
          <a:ln w="19050">
            <a:solidFill>
              <a:srgbClr val="6E6878"/>
            </a:solidFill>
            <a:prstDash val="solid"/>
          </a:ln>
        </p:spPr>
      </p:sp>
      <p:sp>
        <p:nvSpPr>
          <p:cNvPr id="32" name="Shape 29"/>
          <p:cNvSpPr/>
          <p:nvPr/>
        </p:nvSpPr>
        <p:spPr>
          <a:xfrm flipH="1">
            <a:off x="9635226" y="3437431"/>
            <a:ext cx="755699" cy="1789078"/>
          </a:xfrm>
          <a:prstGeom prst="line">
            <a:avLst/>
          </a:prstGeom>
          <a:noFill/>
          <a:ln w="19050">
            <a:solidFill>
              <a:srgbClr val="6E6878"/>
            </a:solidFill>
            <a:prstDash val="solid"/>
          </a:ln>
        </p:spPr>
      </p:sp>
      <p:sp>
        <p:nvSpPr>
          <p:cNvPr id="33" name="Shape 30"/>
          <p:cNvSpPr/>
          <p:nvPr/>
        </p:nvSpPr>
        <p:spPr>
          <a:xfrm flipH="1">
            <a:off x="7189734" y="5226509"/>
            <a:ext cx="2445492" cy="914"/>
          </a:xfrm>
          <a:prstGeom prst="line">
            <a:avLst/>
          </a:prstGeom>
          <a:noFill/>
          <a:ln w="19050">
            <a:solidFill>
              <a:srgbClr val="6E6878"/>
            </a:solidFill>
            <a:prstDash val="solid"/>
          </a:ln>
        </p:spPr>
      </p:sp>
      <p:sp>
        <p:nvSpPr>
          <p:cNvPr id="34" name="Shape 31"/>
          <p:cNvSpPr/>
          <p:nvPr/>
        </p:nvSpPr>
        <p:spPr>
          <a:xfrm flipV="1">
            <a:off x="7189734" y="2331720"/>
            <a:ext cx="1222746" cy="2894789"/>
          </a:xfrm>
          <a:prstGeom prst="line">
            <a:avLst/>
          </a:prstGeom>
          <a:noFill/>
          <a:ln w="19050">
            <a:solidFill>
              <a:srgbClr val="6E6878"/>
            </a:solidFill>
            <a:prstDash val="solid"/>
          </a:ln>
        </p:spPr>
      </p:sp>
      <p:sp>
        <p:nvSpPr>
          <p:cNvPr id="35" name="Shape 32"/>
          <p:cNvSpPr/>
          <p:nvPr/>
        </p:nvSpPr>
        <p:spPr>
          <a:xfrm flipV="1">
            <a:off x="6434035" y="2331720"/>
            <a:ext cx="1978445" cy="1105711"/>
          </a:xfrm>
          <a:prstGeom prst="line">
            <a:avLst/>
          </a:prstGeom>
          <a:noFill/>
          <a:ln w="19050">
            <a:solidFill>
              <a:srgbClr val="6E6878"/>
            </a:solidFill>
            <a:prstDash val="solid"/>
          </a:ln>
        </p:spPr>
      </p:sp>
      <p:sp>
        <p:nvSpPr>
          <p:cNvPr id="36" name="Shape 33"/>
          <p:cNvSpPr/>
          <p:nvPr/>
        </p:nvSpPr>
        <p:spPr>
          <a:xfrm>
            <a:off x="6434035" y="3437431"/>
            <a:ext cx="3956890" cy="0"/>
          </a:xfrm>
          <a:prstGeom prst="line">
            <a:avLst/>
          </a:prstGeom>
          <a:noFill/>
          <a:ln w="19050">
            <a:solidFill>
              <a:srgbClr val="6E6878"/>
            </a:solidFill>
            <a:prstDash val="solid"/>
          </a:ln>
        </p:spPr>
      </p:sp>
      <p:sp>
        <p:nvSpPr>
          <p:cNvPr id="37" name="Shape 34"/>
          <p:cNvSpPr/>
          <p:nvPr/>
        </p:nvSpPr>
        <p:spPr>
          <a:xfrm flipH="1">
            <a:off x="7189734" y="3437431"/>
            <a:ext cx="3201191" cy="1789078"/>
          </a:xfrm>
          <a:prstGeom prst="line">
            <a:avLst/>
          </a:prstGeom>
          <a:noFill/>
          <a:ln w="19050">
            <a:solidFill>
              <a:srgbClr val="6E6878"/>
            </a:solidFill>
            <a:prstDash val="solid"/>
          </a:ln>
        </p:spPr>
      </p:sp>
      <p:sp>
        <p:nvSpPr>
          <p:cNvPr id="38" name="Shape 35"/>
          <p:cNvSpPr/>
          <p:nvPr/>
        </p:nvSpPr>
        <p:spPr>
          <a:xfrm>
            <a:off x="7589520" y="2084832"/>
            <a:ext cx="1645920" cy="493776"/>
          </a:xfrm>
          <a:prstGeom prst="roundRect">
            <a:avLst>
              <a:gd name="adj" fmla="val 50000"/>
            </a:avLst>
          </a:prstGeom>
          <a:solidFill>
            <a:srgbClr val="962B7C"/>
          </a:solidFill>
          <a:ln w="12700">
            <a:solidFill>
              <a:srgbClr val="962B7C"/>
            </a:solidFill>
            <a:prstDash val="solid"/>
          </a:ln>
        </p:spPr>
      </p:sp>
      <p:sp>
        <p:nvSpPr>
          <p:cNvPr id="39" name="Text 36"/>
          <p:cNvSpPr txBox="1"/>
          <p:nvPr/>
        </p:nvSpPr>
        <p:spPr>
          <a:xfrm>
            <a:off x="7662672" y="2084832"/>
            <a:ext cx="1499616"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Khách hàng</a:t>
            </a:r>
            <a:endParaRPr lang="en-US" sz="1200" dirty="0"/>
          </a:p>
        </p:txBody>
      </p:sp>
      <p:sp>
        <p:nvSpPr>
          <p:cNvPr id="40" name="Shape 37"/>
          <p:cNvSpPr/>
          <p:nvPr/>
        </p:nvSpPr>
        <p:spPr>
          <a:xfrm>
            <a:off x="9567965" y="3190543"/>
            <a:ext cx="1645920" cy="493776"/>
          </a:xfrm>
          <a:prstGeom prst="roundRect">
            <a:avLst>
              <a:gd name="adj" fmla="val 50000"/>
            </a:avLst>
          </a:prstGeom>
          <a:solidFill>
            <a:srgbClr val="FF5178"/>
          </a:solidFill>
          <a:ln w="12700">
            <a:solidFill>
              <a:srgbClr val="FF5178"/>
            </a:solidFill>
            <a:prstDash val="solid"/>
          </a:ln>
        </p:spPr>
      </p:sp>
      <p:sp>
        <p:nvSpPr>
          <p:cNvPr id="41" name="Text 38"/>
          <p:cNvSpPr txBox="1"/>
          <p:nvPr/>
        </p:nvSpPr>
        <p:spPr>
          <a:xfrm>
            <a:off x="9641117" y="3190543"/>
            <a:ext cx="1499616"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Nhà tài trợ</a:t>
            </a:r>
            <a:endParaRPr lang="en-US" sz="1200" dirty="0"/>
          </a:p>
        </p:txBody>
      </p:sp>
      <p:sp>
        <p:nvSpPr>
          <p:cNvPr id="42" name="Shape 39"/>
          <p:cNvSpPr/>
          <p:nvPr/>
        </p:nvSpPr>
        <p:spPr>
          <a:xfrm>
            <a:off x="8812266" y="4979621"/>
            <a:ext cx="1645920" cy="493776"/>
          </a:xfrm>
          <a:prstGeom prst="roundRect">
            <a:avLst>
              <a:gd name="adj" fmla="val 50000"/>
            </a:avLst>
          </a:prstGeom>
          <a:solidFill>
            <a:srgbClr val="FF9259"/>
          </a:solidFill>
          <a:ln w="12700">
            <a:solidFill>
              <a:srgbClr val="FF9259"/>
            </a:solidFill>
            <a:prstDash val="solid"/>
          </a:ln>
        </p:spPr>
      </p:sp>
      <p:sp>
        <p:nvSpPr>
          <p:cNvPr id="43" name="Text 40"/>
          <p:cNvSpPr txBox="1"/>
          <p:nvPr/>
        </p:nvSpPr>
        <p:spPr>
          <a:xfrm>
            <a:off x="8885418" y="4979621"/>
            <a:ext cx="1499616" cy="493776"/>
          </a:xfrm>
          <a:prstGeom prst="rect">
            <a:avLst/>
          </a:prstGeom>
          <a:noFill/>
          <a:ln/>
        </p:spPr>
        <p:txBody>
          <a:bodyPr wrap="square" lIns="0" tIns="0" rIns="0" bIns="0" rtlCol="0" anchor="ctr"/>
          <a:lstStyle/>
          <a:p>
            <a:pPr algn="ctr" indent="0" marL="0">
              <a:buNone/>
            </a:pPr>
            <a:r>
              <a:rPr lang="en-US" sz="1200" b="1" dirty="0">
                <a:solidFill>
                  <a:srgbClr val="2A2238"/>
                </a:solidFill>
                <a:latin typeface="Alexandria" pitchFamily="34" charset="0"/>
                <a:ea typeface="Alexandria" pitchFamily="34" charset="-122"/>
                <a:cs typeface="Alexandria" pitchFamily="34" charset="-120"/>
              </a:rPr>
              <a:t>Báo chí</a:t>
            </a:r>
            <a:endParaRPr lang="en-US" sz="1200" dirty="0"/>
          </a:p>
        </p:txBody>
      </p:sp>
      <p:sp>
        <p:nvSpPr>
          <p:cNvPr id="44" name="Shape 41"/>
          <p:cNvSpPr/>
          <p:nvPr/>
        </p:nvSpPr>
        <p:spPr>
          <a:xfrm>
            <a:off x="6366774" y="4979621"/>
            <a:ext cx="1645920" cy="493776"/>
          </a:xfrm>
          <a:prstGeom prst="roundRect">
            <a:avLst>
              <a:gd name="adj" fmla="val 50000"/>
            </a:avLst>
          </a:prstGeom>
          <a:solidFill>
            <a:srgbClr val="49B296"/>
          </a:solidFill>
          <a:ln w="12700">
            <a:solidFill>
              <a:srgbClr val="49B296"/>
            </a:solidFill>
            <a:prstDash val="solid"/>
          </a:ln>
        </p:spPr>
      </p:sp>
      <p:sp>
        <p:nvSpPr>
          <p:cNvPr id="45" name="Text 42"/>
          <p:cNvSpPr txBox="1"/>
          <p:nvPr/>
        </p:nvSpPr>
        <p:spPr>
          <a:xfrm>
            <a:off x="6439926" y="4979621"/>
            <a:ext cx="1499616"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KOL</a:t>
            </a:r>
            <a:endParaRPr lang="en-US" sz="1200" dirty="0"/>
          </a:p>
        </p:txBody>
      </p:sp>
      <p:sp>
        <p:nvSpPr>
          <p:cNvPr id="46" name="Shape 43"/>
          <p:cNvSpPr/>
          <p:nvPr/>
        </p:nvSpPr>
        <p:spPr>
          <a:xfrm>
            <a:off x="5611075" y="3190543"/>
            <a:ext cx="1645920" cy="493776"/>
          </a:xfrm>
          <a:prstGeom prst="roundRect">
            <a:avLst>
              <a:gd name="adj" fmla="val 50000"/>
            </a:avLst>
          </a:prstGeom>
          <a:solidFill>
            <a:srgbClr val="09A1E5"/>
          </a:solidFill>
          <a:ln w="12700">
            <a:solidFill>
              <a:srgbClr val="09A1E5"/>
            </a:solidFill>
            <a:prstDash val="solid"/>
          </a:ln>
        </p:spPr>
      </p:sp>
      <p:sp>
        <p:nvSpPr>
          <p:cNvPr id="47" name="Text 44"/>
          <p:cNvSpPr txBox="1"/>
          <p:nvPr/>
        </p:nvSpPr>
        <p:spPr>
          <a:xfrm>
            <a:off x="5684227" y="3190543"/>
            <a:ext cx="1499616"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Khách sạn</a:t>
            </a:r>
            <a:endParaRPr lang="en-US" sz="1200" dirty="0"/>
          </a:p>
        </p:txBody>
      </p:sp>
      <p:sp>
        <p:nvSpPr>
          <p:cNvPr id="48" name="Shape 45"/>
          <p:cNvSpPr/>
          <p:nvPr/>
        </p:nvSpPr>
        <p:spPr>
          <a:xfrm>
            <a:off x="548640" y="5532120"/>
            <a:ext cx="4389120" cy="502920"/>
          </a:xfrm>
          <a:prstGeom prst="roundRect">
            <a:avLst>
              <a:gd name="adj" fmla="val 21818"/>
            </a:avLst>
          </a:prstGeom>
          <a:solidFill>
            <a:srgbClr val="FFF3C4"/>
          </a:solidFill>
          <a:ln w="12700">
            <a:solidFill>
              <a:srgbClr val="FFD23B"/>
            </a:solidFill>
            <a:prstDash val="solid"/>
          </a:ln>
        </p:spPr>
      </p:sp>
      <p:sp>
        <p:nvSpPr>
          <p:cNvPr id="49" name="Text 46"/>
          <p:cNvSpPr txBox="1"/>
          <p:nvPr/>
        </p:nvSpPr>
        <p:spPr>
          <a:xfrm>
            <a:off x="777240" y="5532120"/>
            <a:ext cx="4023360" cy="50292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Kéo một sợi dây, cả mạng rung.</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Hệ sinh thái sự kiện có 6 đặc điểm riêng</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Định nghĩa làm việc của môn, dựng từ Freeman (1984), Van Niekerk &amp; Getz (2019), Getz, Andersson &amp; Larson (2006) · A09: Tuổi Trẻ (29/1/2026).</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10</a:t>
            </a:r>
            <a:endParaRPr lang="en-US" sz="1000" dirty="0"/>
          </a:p>
        </p:txBody>
      </p:sp>
      <p:sp>
        <p:nvSpPr>
          <p:cNvPr id="20" name="Shape 17"/>
          <p:cNvSpPr/>
          <p:nvPr/>
        </p:nvSpPr>
        <p:spPr>
          <a:xfrm>
            <a:off x="548640" y="1828800"/>
            <a:ext cx="3515258" cy="1371600"/>
          </a:xfrm>
          <a:prstGeom prst="roundRect">
            <a:avLst>
              <a:gd name="adj" fmla="val 8000"/>
            </a:avLst>
          </a:prstGeom>
          <a:solidFill>
            <a:srgbClr val="FFFFFF"/>
          </a:solidFill>
          <a:ln w="19050">
            <a:solidFill>
              <a:srgbClr val="962B7C"/>
            </a:solidFill>
            <a:prstDash val="solid"/>
          </a:ln>
        </p:spPr>
      </p:sp>
      <p:sp>
        <p:nvSpPr>
          <p:cNvPr id="21" name="Shape 18"/>
          <p:cNvSpPr/>
          <p:nvPr/>
        </p:nvSpPr>
        <p:spPr>
          <a:xfrm>
            <a:off x="731520" y="2212848"/>
            <a:ext cx="603504" cy="603504"/>
          </a:xfrm>
          <a:prstGeom prst="ellipse">
            <a:avLst/>
          </a:prstGeom>
          <a:solidFill>
            <a:srgbClr val="962B7C"/>
          </a:solidFill>
          <a:ln w="12700">
            <a:solidFill>
              <a:srgbClr val="962B7C"/>
            </a:solidFill>
            <a:prstDash val="solid"/>
          </a:ln>
        </p:spPr>
      </p:sp>
      <p:sp>
        <p:nvSpPr>
          <p:cNvPr id="22" name="Text 19"/>
          <p:cNvSpPr txBox="1"/>
          <p:nvPr/>
        </p:nvSpPr>
        <p:spPr>
          <a:xfrm>
            <a:off x="731520" y="2212848"/>
            <a:ext cx="603504" cy="603504"/>
          </a:xfrm>
          <a:prstGeom prst="rect">
            <a:avLst/>
          </a:prstGeom>
          <a:noFill/>
          <a:ln/>
        </p:spPr>
        <p:txBody>
          <a:bodyPr wrap="square" lIns="0" tIns="0" rIns="0" bIns="0" rtlCol="0" anchor="ctr"/>
          <a:lstStyle/>
          <a:p>
            <a:pPr algn="ctr" indent="0" marL="0">
              <a:buNone/>
            </a:pPr>
            <a:r>
              <a:rPr lang="en-US" sz="2244" b="1" dirty="0">
                <a:solidFill>
                  <a:srgbClr val="FFFFFF"/>
                </a:solidFill>
                <a:latin typeface="Alexandria" pitchFamily="34" charset="0"/>
                <a:ea typeface="Alexandria" pitchFamily="34" charset="-122"/>
                <a:cs typeface="Alexandria" pitchFamily="34" charset="-120"/>
              </a:rPr>
              <a:t>1</a:t>
            </a:r>
            <a:endParaRPr lang="en-US" sz="2244" dirty="0"/>
          </a:p>
        </p:txBody>
      </p:sp>
      <p:sp>
        <p:nvSpPr>
          <p:cNvPr id="23" name="Text 20"/>
          <p:cNvSpPr txBox="1"/>
          <p:nvPr/>
        </p:nvSpPr>
        <p:spPr>
          <a:xfrm>
            <a:off x="1508760" y="1828800"/>
            <a:ext cx="2417978" cy="13716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Tạm thời</a:t>
            </a:r>
            <a:endParaRPr lang="en-US" sz="1600" dirty="0"/>
          </a:p>
          <a:p>
            <a:pPr indent="0" marL="0">
              <a:buNone/>
            </a:pPr>
            <a:r>
              <a:rPr lang="en-US" sz="1200" dirty="0">
                <a:solidFill>
                  <a:srgbClr val="6E6878"/>
                </a:solidFill>
                <a:latin typeface="Alexandria" pitchFamily="34" charset="0"/>
                <a:ea typeface="Alexandria" pitchFamily="34" charset="-122"/>
                <a:cs typeface="Alexandria" pitchFamily="34" charset="-120"/>
              </a:rPr>
              <a:t>tập hợp quanh một sự kiện rồi tan</a:t>
            </a:r>
            <a:endParaRPr lang="en-US" sz="1600" dirty="0"/>
          </a:p>
        </p:txBody>
      </p:sp>
      <p:sp>
        <p:nvSpPr>
          <p:cNvPr id="24" name="Shape 21"/>
          <p:cNvSpPr/>
          <p:nvPr/>
        </p:nvSpPr>
        <p:spPr>
          <a:xfrm>
            <a:off x="4338218" y="1828800"/>
            <a:ext cx="3515258" cy="1371600"/>
          </a:xfrm>
          <a:prstGeom prst="roundRect">
            <a:avLst>
              <a:gd name="adj" fmla="val 8000"/>
            </a:avLst>
          </a:prstGeom>
          <a:solidFill>
            <a:srgbClr val="FFFFFF"/>
          </a:solidFill>
          <a:ln w="19050">
            <a:solidFill>
              <a:srgbClr val="09A1E5"/>
            </a:solidFill>
            <a:prstDash val="solid"/>
          </a:ln>
        </p:spPr>
      </p:sp>
      <p:sp>
        <p:nvSpPr>
          <p:cNvPr id="25" name="Shape 22"/>
          <p:cNvSpPr/>
          <p:nvPr/>
        </p:nvSpPr>
        <p:spPr>
          <a:xfrm>
            <a:off x="4521098" y="2212848"/>
            <a:ext cx="603504" cy="603504"/>
          </a:xfrm>
          <a:prstGeom prst="ellipse">
            <a:avLst/>
          </a:prstGeom>
          <a:solidFill>
            <a:srgbClr val="09A1E5"/>
          </a:solidFill>
          <a:ln w="12700">
            <a:solidFill>
              <a:srgbClr val="09A1E5"/>
            </a:solidFill>
            <a:prstDash val="solid"/>
          </a:ln>
        </p:spPr>
      </p:sp>
      <p:sp>
        <p:nvSpPr>
          <p:cNvPr id="26" name="Text 23"/>
          <p:cNvSpPr txBox="1"/>
          <p:nvPr/>
        </p:nvSpPr>
        <p:spPr>
          <a:xfrm>
            <a:off x="4521098" y="2212848"/>
            <a:ext cx="603504" cy="603504"/>
          </a:xfrm>
          <a:prstGeom prst="rect">
            <a:avLst/>
          </a:prstGeom>
          <a:noFill/>
          <a:ln/>
        </p:spPr>
        <p:txBody>
          <a:bodyPr wrap="square" lIns="0" tIns="0" rIns="0" bIns="0" rtlCol="0" anchor="ctr"/>
          <a:lstStyle/>
          <a:p>
            <a:pPr algn="ctr" indent="0" marL="0">
              <a:buNone/>
            </a:pPr>
            <a:r>
              <a:rPr lang="en-US" sz="2244" b="1" dirty="0">
                <a:solidFill>
                  <a:srgbClr val="FFFFFF"/>
                </a:solidFill>
                <a:latin typeface="Alexandria" pitchFamily="34" charset="0"/>
                <a:ea typeface="Alexandria" pitchFamily="34" charset="-122"/>
                <a:cs typeface="Alexandria" pitchFamily="34" charset="-120"/>
              </a:rPr>
              <a:t>2</a:t>
            </a:r>
            <a:endParaRPr lang="en-US" sz="2244" dirty="0"/>
          </a:p>
        </p:txBody>
      </p:sp>
      <p:sp>
        <p:nvSpPr>
          <p:cNvPr id="27" name="Text 24"/>
          <p:cNvSpPr txBox="1"/>
          <p:nvPr/>
        </p:nvSpPr>
        <p:spPr>
          <a:xfrm>
            <a:off x="5298338" y="1828800"/>
            <a:ext cx="2417978" cy="13716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Phụ thuộc lẫn nhau</a:t>
            </a:r>
            <a:endParaRPr lang="en-US" sz="1600" dirty="0"/>
          </a:p>
          <a:p>
            <a:pPr indent="0" marL="0">
              <a:buNone/>
            </a:pPr>
            <a:r>
              <a:rPr lang="en-US" sz="1200" dirty="0">
                <a:solidFill>
                  <a:srgbClr val="6E6878"/>
                </a:solidFill>
                <a:latin typeface="Alexandria" pitchFamily="34" charset="0"/>
                <a:ea typeface="Alexandria" pitchFamily="34" charset="-122"/>
                <a:cs typeface="Alexandria" pitchFamily="34" charset="-120"/>
              </a:rPr>
              <a:t>một mắt xích hỏng kéo cả chuỗi</a:t>
            </a:r>
            <a:endParaRPr lang="en-US" sz="1600" dirty="0"/>
          </a:p>
        </p:txBody>
      </p:sp>
      <p:sp>
        <p:nvSpPr>
          <p:cNvPr id="28" name="Shape 25"/>
          <p:cNvSpPr/>
          <p:nvPr/>
        </p:nvSpPr>
        <p:spPr>
          <a:xfrm>
            <a:off x="8127797" y="1828800"/>
            <a:ext cx="3515258" cy="1371600"/>
          </a:xfrm>
          <a:prstGeom prst="roundRect">
            <a:avLst>
              <a:gd name="adj" fmla="val 8000"/>
            </a:avLst>
          </a:prstGeom>
          <a:solidFill>
            <a:srgbClr val="FFFFFF"/>
          </a:solidFill>
          <a:ln w="19050">
            <a:solidFill>
              <a:srgbClr val="FF5178"/>
            </a:solidFill>
            <a:prstDash val="solid"/>
          </a:ln>
        </p:spPr>
      </p:sp>
      <p:sp>
        <p:nvSpPr>
          <p:cNvPr id="29" name="Shape 26"/>
          <p:cNvSpPr/>
          <p:nvPr/>
        </p:nvSpPr>
        <p:spPr>
          <a:xfrm>
            <a:off x="8310677" y="2212848"/>
            <a:ext cx="603504" cy="603504"/>
          </a:xfrm>
          <a:prstGeom prst="ellipse">
            <a:avLst/>
          </a:prstGeom>
          <a:solidFill>
            <a:srgbClr val="FF5178"/>
          </a:solidFill>
          <a:ln w="12700">
            <a:solidFill>
              <a:srgbClr val="FF5178"/>
            </a:solidFill>
            <a:prstDash val="solid"/>
          </a:ln>
        </p:spPr>
      </p:sp>
      <p:sp>
        <p:nvSpPr>
          <p:cNvPr id="30" name="Text 27"/>
          <p:cNvSpPr txBox="1"/>
          <p:nvPr/>
        </p:nvSpPr>
        <p:spPr>
          <a:xfrm>
            <a:off x="8310677" y="2212848"/>
            <a:ext cx="603504" cy="603504"/>
          </a:xfrm>
          <a:prstGeom prst="rect">
            <a:avLst/>
          </a:prstGeom>
          <a:noFill/>
          <a:ln/>
        </p:spPr>
        <p:txBody>
          <a:bodyPr wrap="square" lIns="0" tIns="0" rIns="0" bIns="0" rtlCol="0" anchor="ctr"/>
          <a:lstStyle/>
          <a:p>
            <a:pPr algn="ctr" indent="0" marL="0">
              <a:buNone/>
            </a:pPr>
            <a:r>
              <a:rPr lang="en-US" sz="2244" b="1" dirty="0">
                <a:solidFill>
                  <a:srgbClr val="FFFFFF"/>
                </a:solidFill>
                <a:latin typeface="Alexandria" pitchFamily="34" charset="0"/>
                <a:ea typeface="Alexandria" pitchFamily="34" charset="-122"/>
                <a:cs typeface="Alexandria" pitchFamily="34" charset="-120"/>
              </a:rPr>
              <a:t>3</a:t>
            </a:r>
            <a:endParaRPr lang="en-US" sz="2244" dirty="0"/>
          </a:p>
        </p:txBody>
      </p:sp>
      <p:sp>
        <p:nvSpPr>
          <p:cNvPr id="31" name="Text 28"/>
          <p:cNvSpPr txBox="1"/>
          <p:nvPr/>
        </p:nvSpPr>
        <p:spPr>
          <a:xfrm>
            <a:off x="9087917" y="1828800"/>
            <a:ext cx="2417978" cy="13716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Mục tiêu có thể xung đột</a:t>
            </a:r>
            <a:endParaRPr lang="en-US" sz="1600" dirty="0"/>
          </a:p>
          <a:p>
            <a:pPr indent="0" marL="0">
              <a:buNone/>
            </a:pPr>
            <a:r>
              <a:rPr lang="en-US" sz="1200" dirty="0">
                <a:solidFill>
                  <a:srgbClr val="6E6878"/>
                </a:solidFill>
                <a:latin typeface="Alexandria" pitchFamily="34" charset="0"/>
                <a:ea typeface="Alexandria" pitchFamily="34" charset="-122"/>
                <a:cs typeface="Alexandria" pitchFamily="34" charset="-120"/>
              </a:rPr>
              <a:t>tiết kiệm ↔ biên lợi nhuận ↔ hiển thị ↔ yên tĩnh</a:t>
            </a:r>
            <a:endParaRPr lang="en-US" sz="1600" dirty="0"/>
          </a:p>
        </p:txBody>
      </p:sp>
      <p:sp>
        <p:nvSpPr>
          <p:cNvPr id="32" name="Shape 29"/>
          <p:cNvSpPr/>
          <p:nvPr/>
        </p:nvSpPr>
        <p:spPr>
          <a:xfrm>
            <a:off x="548640" y="3383280"/>
            <a:ext cx="3515258" cy="1371600"/>
          </a:xfrm>
          <a:prstGeom prst="roundRect">
            <a:avLst>
              <a:gd name="adj" fmla="val 8000"/>
            </a:avLst>
          </a:prstGeom>
          <a:solidFill>
            <a:srgbClr val="FFFFFF"/>
          </a:solidFill>
          <a:ln w="19050">
            <a:solidFill>
              <a:srgbClr val="FF9259"/>
            </a:solidFill>
            <a:prstDash val="solid"/>
          </a:ln>
        </p:spPr>
      </p:sp>
      <p:sp>
        <p:nvSpPr>
          <p:cNvPr id="33" name="Shape 30"/>
          <p:cNvSpPr/>
          <p:nvPr/>
        </p:nvSpPr>
        <p:spPr>
          <a:xfrm>
            <a:off x="731520" y="3767328"/>
            <a:ext cx="603504" cy="603504"/>
          </a:xfrm>
          <a:prstGeom prst="ellipse">
            <a:avLst/>
          </a:prstGeom>
          <a:solidFill>
            <a:srgbClr val="FF9259"/>
          </a:solidFill>
          <a:ln w="12700">
            <a:solidFill>
              <a:srgbClr val="FF9259"/>
            </a:solidFill>
            <a:prstDash val="solid"/>
          </a:ln>
        </p:spPr>
      </p:sp>
      <p:sp>
        <p:nvSpPr>
          <p:cNvPr id="34" name="Text 31"/>
          <p:cNvSpPr txBox="1"/>
          <p:nvPr/>
        </p:nvSpPr>
        <p:spPr>
          <a:xfrm>
            <a:off x="731520" y="3767328"/>
            <a:ext cx="603504" cy="603504"/>
          </a:xfrm>
          <a:prstGeom prst="rect">
            <a:avLst/>
          </a:prstGeom>
          <a:noFill/>
          <a:ln/>
        </p:spPr>
        <p:txBody>
          <a:bodyPr wrap="square" lIns="0" tIns="0" rIns="0" bIns="0" rtlCol="0" anchor="ctr"/>
          <a:lstStyle/>
          <a:p>
            <a:pPr algn="ctr" indent="0" marL="0">
              <a:buNone/>
            </a:pPr>
            <a:r>
              <a:rPr lang="en-US" sz="2244" b="1" dirty="0">
                <a:solidFill>
                  <a:srgbClr val="2A2238"/>
                </a:solidFill>
                <a:latin typeface="Alexandria" pitchFamily="34" charset="0"/>
                <a:ea typeface="Alexandria" pitchFamily="34" charset="-122"/>
                <a:cs typeface="Alexandria" pitchFamily="34" charset="-120"/>
              </a:rPr>
              <a:t>4</a:t>
            </a:r>
            <a:endParaRPr lang="en-US" sz="2244" dirty="0"/>
          </a:p>
        </p:txBody>
      </p:sp>
      <p:sp>
        <p:nvSpPr>
          <p:cNvPr id="35" name="Text 32"/>
          <p:cNvSpPr txBox="1"/>
          <p:nvPr/>
        </p:nvSpPr>
        <p:spPr>
          <a:xfrm>
            <a:off x="1508760" y="3383280"/>
            <a:ext cx="2417978" cy="13716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Trao đổi giá trị</a:t>
            </a:r>
            <a:endParaRPr lang="en-US" sz="1600" dirty="0"/>
          </a:p>
          <a:p>
            <a:pPr indent="0" marL="0">
              <a:buNone/>
            </a:pPr>
            <a:r>
              <a:rPr lang="en-US" sz="1200" dirty="0">
                <a:solidFill>
                  <a:srgbClr val="6E6878"/>
                </a:solidFill>
                <a:latin typeface="Alexandria" pitchFamily="34" charset="0"/>
                <a:ea typeface="Alexandria" pitchFamily="34" charset="-122"/>
                <a:cs typeface="Alexandria" pitchFamily="34" charset="-120"/>
              </a:rPr>
              <a:t>góp nguồn lực để đổi lấy lợi ích</a:t>
            </a:r>
            <a:endParaRPr lang="en-US" sz="1600" dirty="0"/>
          </a:p>
        </p:txBody>
      </p:sp>
      <p:sp>
        <p:nvSpPr>
          <p:cNvPr id="36" name="Shape 33"/>
          <p:cNvSpPr/>
          <p:nvPr/>
        </p:nvSpPr>
        <p:spPr>
          <a:xfrm>
            <a:off x="4338218" y="3383280"/>
            <a:ext cx="3515258" cy="1371600"/>
          </a:xfrm>
          <a:prstGeom prst="roundRect">
            <a:avLst>
              <a:gd name="adj" fmla="val 8000"/>
            </a:avLst>
          </a:prstGeom>
          <a:solidFill>
            <a:srgbClr val="FFFFFF"/>
          </a:solidFill>
          <a:ln w="19050">
            <a:solidFill>
              <a:srgbClr val="49B296"/>
            </a:solidFill>
            <a:prstDash val="solid"/>
          </a:ln>
        </p:spPr>
      </p:sp>
      <p:sp>
        <p:nvSpPr>
          <p:cNvPr id="37" name="Shape 34"/>
          <p:cNvSpPr/>
          <p:nvPr/>
        </p:nvSpPr>
        <p:spPr>
          <a:xfrm>
            <a:off x="4521098" y="3767328"/>
            <a:ext cx="603504" cy="603504"/>
          </a:xfrm>
          <a:prstGeom prst="ellipse">
            <a:avLst/>
          </a:prstGeom>
          <a:solidFill>
            <a:srgbClr val="49B296"/>
          </a:solidFill>
          <a:ln w="12700">
            <a:solidFill>
              <a:srgbClr val="49B296"/>
            </a:solidFill>
            <a:prstDash val="solid"/>
          </a:ln>
        </p:spPr>
      </p:sp>
      <p:sp>
        <p:nvSpPr>
          <p:cNvPr id="38" name="Text 35"/>
          <p:cNvSpPr txBox="1"/>
          <p:nvPr/>
        </p:nvSpPr>
        <p:spPr>
          <a:xfrm>
            <a:off x="4521098" y="3767328"/>
            <a:ext cx="603504" cy="603504"/>
          </a:xfrm>
          <a:prstGeom prst="rect">
            <a:avLst/>
          </a:prstGeom>
          <a:noFill/>
          <a:ln/>
        </p:spPr>
        <p:txBody>
          <a:bodyPr wrap="square" lIns="0" tIns="0" rIns="0" bIns="0" rtlCol="0" anchor="ctr"/>
          <a:lstStyle/>
          <a:p>
            <a:pPr algn="ctr" indent="0" marL="0">
              <a:buNone/>
            </a:pPr>
            <a:r>
              <a:rPr lang="en-US" sz="2244" b="1" dirty="0">
                <a:solidFill>
                  <a:srgbClr val="FFFFFF"/>
                </a:solidFill>
                <a:latin typeface="Alexandria" pitchFamily="34" charset="0"/>
                <a:ea typeface="Alexandria" pitchFamily="34" charset="-122"/>
                <a:cs typeface="Alexandria" pitchFamily="34" charset="-120"/>
              </a:rPr>
              <a:t>5</a:t>
            </a:r>
            <a:endParaRPr lang="en-US" sz="2244" dirty="0"/>
          </a:p>
        </p:txBody>
      </p:sp>
      <p:sp>
        <p:nvSpPr>
          <p:cNvPr id="39" name="Text 36"/>
          <p:cNvSpPr txBox="1"/>
          <p:nvPr/>
        </p:nvSpPr>
        <p:spPr>
          <a:xfrm>
            <a:off x="5298338" y="3383280"/>
            <a:ext cx="2417978" cy="13716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Thay đổi theo giai đoạn</a:t>
            </a:r>
            <a:endParaRPr lang="en-US" sz="1600" dirty="0"/>
          </a:p>
          <a:p>
            <a:pPr indent="0" marL="0">
              <a:buNone/>
            </a:pPr>
            <a:r>
              <a:rPr lang="en-US" sz="1200" dirty="0">
                <a:solidFill>
                  <a:srgbClr val="6E6878"/>
                </a:solidFill>
                <a:latin typeface="Alexandria" pitchFamily="34" charset="0"/>
                <a:ea typeface="Alexandria" pitchFamily="34" charset="-122"/>
                <a:cs typeface="Alexandria" pitchFamily="34" charset="-120"/>
              </a:rPr>
              <a:t>trước – trong – sau, mỗi lúc một bên nổi bật</a:t>
            </a:r>
            <a:endParaRPr lang="en-US" sz="1600" dirty="0"/>
          </a:p>
        </p:txBody>
      </p:sp>
      <p:sp>
        <p:nvSpPr>
          <p:cNvPr id="40" name="Shape 37"/>
          <p:cNvSpPr/>
          <p:nvPr/>
        </p:nvSpPr>
        <p:spPr>
          <a:xfrm>
            <a:off x="8127797" y="3383280"/>
            <a:ext cx="3515258" cy="1371600"/>
          </a:xfrm>
          <a:prstGeom prst="roundRect">
            <a:avLst>
              <a:gd name="adj" fmla="val 8000"/>
            </a:avLst>
          </a:prstGeom>
          <a:solidFill>
            <a:srgbClr val="FFFFFF"/>
          </a:solidFill>
          <a:ln w="19050">
            <a:solidFill>
              <a:srgbClr val="962B7C"/>
            </a:solidFill>
            <a:prstDash val="solid"/>
          </a:ln>
        </p:spPr>
      </p:sp>
      <p:sp>
        <p:nvSpPr>
          <p:cNvPr id="41" name="Shape 38"/>
          <p:cNvSpPr/>
          <p:nvPr/>
        </p:nvSpPr>
        <p:spPr>
          <a:xfrm>
            <a:off x="8310677" y="3767328"/>
            <a:ext cx="603504" cy="603504"/>
          </a:xfrm>
          <a:prstGeom prst="ellipse">
            <a:avLst/>
          </a:prstGeom>
          <a:solidFill>
            <a:srgbClr val="962B7C"/>
          </a:solidFill>
          <a:ln w="12700">
            <a:solidFill>
              <a:srgbClr val="962B7C"/>
            </a:solidFill>
            <a:prstDash val="solid"/>
          </a:ln>
        </p:spPr>
      </p:sp>
      <p:sp>
        <p:nvSpPr>
          <p:cNvPr id="42" name="Text 39"/>
          <p:cNvSpPr txBox="1"/>
          <p:nvPr/>
        </p:nvSpPr>
        <p:spPr>
          <a:xfrm>
            <a:off x="8310677" y="3767328"/>
            <a:ext cx="603504" cy="603504"/>
          </a:xfrm>
          <a:prstGeom prst="rect">
            <a:avLst/>
          </a:prstGeom>
          <a:noFill/>
          <a:ln/>
        </p:spPr>
        <p:txBody>
          <a:bodyPr wrap="square" lIns="0" tIns="0" rIns="0" bIns="0" rtlCol="0" anchor="ctr"/>
          <a:lstStyle/>
          <a:p>
            <a:pPr algn="ctr" indent="0" marL="0">
              <a:buNone/>
            </a:pPr>
            <a:r>
              <a:rPr lang="en-US" sz="2244" b="1" dirty="0">
                <a:solidFill>
                  <a:srgbClr val="FFFFFF"/>
                </a:solidFill>
                <a:latin typeface="Alexandria" pitchFamily="34" charset="0"/>
                <a:ea typeface="Alexandria" pitchFamily="34" charset="-122"/>
                <a:cs typeface="Alexandria" pitchFamily="34" charset="-120"/>
              </a:rPr>
              <a:t>6</a:t>
            </a:r>
            <a:endParaRPr lang="en-US" sz="2244" dirty="0"/>
          </a:p>
        </p:txBody>
      </p:sp>
      <p:sp>
        <p:nvSpPr>
          <p:cNvPr id="43" name="Text 40"/>
          <p:cNvSpPr txBox="1"/>
          <p:nvPr/>
        </p:nvSpPr>
        <p:spPr>
          <a:xfrm>
            <a:off x="9087917" y="3383280"/>
            <a:ext cx="2417978" cy="13716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Lây lan danh tiếng</a:t>
            </a:r>
            <a:endParaRPr lang="en-US" sz="1600" dirty="0"/>
          </a:p>
          <a:p>
            <a:pPr indent="0" marL="0">
              <a:buNone/>
            </a:pPr>
            <a:r>
              <a:rPr lang="en-US" sz="1200" dirty="0">
                <a:solidFill>
                  <a:srgbClr val="6E6878"/>
                </a:solidFill>
                <a:latin typeface="Alexandria" pitchFamily="34" charset="0"/>
                <a:ea typeface="Alexandria" pitchFamily="34" charset="-122"/>
                <a:cs typeface="Alexandria" pitchFamily="34" charset="-120"/>
              </a:rPr>
              <a:t>sự cố của một bên lan sang khách hàng và agency</a:t>
            </a:r>
            <a:endParaRPr lang="en-US" sz="1600" dirty="0"/>
          </a:p>
        </p:txBody>
      </p:sp>
      <p:sp>
        <p:nvSpPr>
          <p:cNvPr id="44" name="Shape 41"/>
          <p:cNvSpPr/>
          <p:nvPr/>
        </p:nvSpPr>
        <p:spPr>
          <a:xfrm>
            <a:off x="548640" y="5029200"/>
            <a:ext cx="11094415" cy="1005840"/>
          </a:xfrm>
          <a:prstGeom prst="roundRect">
            <a:avLst>
              <a:gd name="adj" fmla="val 10909"/>
            </a:avLst>
          </a:prstGeom>
          <a:solidFill>
            <a:srgbClr val="FFF3C4"/>
          </a:solidFill>
          <a:ln w="12700">
            <a:solidFill>
              <a:srgbClr val="FFD23B"/>
            </a:solidFill>
            <a:prstDash val="solid"/>
          </a:ln>
        </p:spPr>
      </p:sp>
      <p:sp>
        <p:nvSpPr>
          <p:cNvPr id="45" name="Text 42"/>
          <p:cNvSpPr txBox="1"/>
          <p:nvPr/>
        </p:nvSpPr>
        <p:spPr>
          <a:xfrm>
            <a:off x="822960" y="5029200"/>
            <a:ext cx="10545775" cy="100584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Một bên, nhiều vai: </a:t>
            </a:r>
            <a:pPr indent="0" marL="0">
              <a:buNone/>
            </a:pPr>
            <a:r>
              <a:rPr lang="en-US" sz="1300" dirty="0">
                <a:solidFill>
                  <a:srgbClr val="2A2238"/>
                </a:solidFill>
                <a:latin typeface="Alexandria" pitchFamily="34" charset="0"/>
                <a:ea typeface="Alexandria" pitchFamily="34" charset="-122"/>
                <a:cs typeface="Alexandria" pitchFamily="34" charset="-120"/>
              </a:rPr>
              <a:t>khách sạn vừa là địa điểm vừa là nhà cung cấp dịch vụ (Getz et al., 2006). Ví dụ thật: DIFF 2026 — chính quyền, đội pháo hoa, du khách, doanh nghiệp lưu trú, nhà tài trợ, báo chí, người dân sông Hàn.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Tầm quan trọng của mỗi bên thay đổi theo giai đoạn sự kiện</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11</a:t>
            </a:r>
            <a:endParaRPr lang="en-US" sz="1000" dirty="0"/>
          </a:p>
        </p:txBody>
      </p:sp>
      <p:sp>
        <p:nvSpPr>
          <p:cNvPr id="19" name="Shape 16"/>
          <p:cNvSpPr/>
          <p:nvPr/>
        </p:nvSpPr>
        <p:spPr>
          <a:xfrm>
            <a:off x="548640" y="1920240"/>
            <a:ext cx="3576218" cy="914400"/>
          </a:xfrm>
          <a:prstGeom prst="chevron">
            <a:avLst/>
          </a:prstGeom>
          <a:solidFill>
            <a:srgbClr val="FF9259"/>
          </a:solidFill>
          <a:ln w="12700">
            <a:solidFill>
              <a:srgbClr val="FF9259"/>
            </a:solidFill>
            <a:prstDash val="solid"/>
          </a:ln>
        </p:spPr>
      </p:sp>
      <p:sp>
        <p:nvSpPr>
          <p:cNvPr id="20" name="Text 17"/>
          <p:cNvSpPr txBox="1"/>
          <p:nvPr/>
        </p:nvSpPr>
        <p:spPr>
          <a:xfrm>
            <a:off x="1005840" y="1920240"/>
            <a:ext cx="2661818" cy="914400"/>
          </a:xfrm>
          <a:prstGeom prst="rect">
            <a:avLst/>
          </a:prstGeom>
          <a:noFill/>
          <a:ln/>
        </p:spPr>
        <p:txBody>
          <a:bodyPr wrap="square" lIns="0" tIns="0" rIns="0" bIns="0" rtlCol="0" anchor="ctr"/>
          <a:lstStyle/>
          <a:p>
            <a:pPr indent="0" marL="0">
              <a:buNone/>
            </a:pPr>
            <a:r>
              <a:rPr lang="en-US" sz="2100" b="1" dirty="0">
                <a:solidFill>
                  <a:srgbClr val="2A2238"/>
                </a:solidFill>
                <a:latin typeface="Alexandria" pitchFamily="34" charset="0"/>
                <a:ea typeface="Alexandria" pitchFamily="34" charset="-122"/>
                <a:cs typeface="Alexandria" pitchFamily="34" charset="-120"/>
              </a:rPr>
              <a:t>Trước sự kiện</a:t>
            </a:r>
            <a:endParaRPr lang="en-US" sz="2100" dirty="0"/>
          </a:p>
        </p:txBody>
      </p:sp>
      <p:sp>
        <p:nvSpPr>
          <p:cNvPr id="21" name="Shape 18"/>
          <p:cNvSpPr/>
          <p:nvPr/>
        </p:nvSpPr>
        <p:spPr>
          <a:xfrm>
            <a:off x="548640" y="3108960"/>
            <a:ext cx="3576218" cy="749808"/>
          </a:xfrm>
          <a:prstGeom prst="roundRect">
            <a:avLst>
              <a:gd name="adj" fmla="val 14634"/>
            </a:avLst>
          </a:prstGeom>
          <a:solidFill>
            <a:srgbClr val="FFE9DE"/>
          </a:solidFill>
          <a:ln w="12700">
            <a:solidFill>
              <a:srgbClr val="FF9259"/>
            </a:solidFill>
            <a:prstDash val="solid"/>
          </a:ln>
        </p:spPr>
      </p:sp>
      <p:sp>
        <p:nvSpPr>
          <p:cNvPr id="22" name="Text 19"/>
          <p:cNvSpPr txBox="1"/>
          <p:nvPr/>
        </p:nvSpPr>
        <p:spPr>
          <a:xfrm>
            <a:off x="822960" y="3108960"/>
            <a:ext cx="3027578" cy="749808"/>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Nhà tài trợ</a:t>
            </a:r>
            <a:endParaRPr lang="en-US" sz="1700" dirty="0"/>
          </a:p>
        </p:txBody>
      </p:sp>
      <p:sp>
        <p:nvSpPr>
          <p:cNvPr id="23" name="Shape 20"/>
          <p:cNvSpPr/>
          <p:nvPr/>
        </p:nvSpPr>
        <p:spPr>
          <a:xfrm>
            <a:off x="548640" y="4023360"/>
            <a:ext cx="3576218" cy="749808"/>
          </a:xfrm>
          <a:prstGeom prst="roundRect">
            <a:avLst>
              <a:gd name="adj" fmla="val 14634"/>
            </a:avLst>
          </a:prstGeom>
          <a:solidFill>
            <a:srgbClr val="FFE9DE"/>
          </a:solidFill>
          <a:ln w="12700">
            <a:solidFill>
              <a:srgbClr val="FF9259"/>
            </a:solidFill>
            <a:prstDash val="solid"/>
          </a:ln>
        </p:spPr>
      </p:sp>
      <p:sp>
        <p:nvSpPr>
          <p:cNvPr id="24" name="Text 21"/>
          <p:cNvSpPr txBox="1"/>
          <p:nvPr/>
        </p:nvSpPr>
        <p:spPr>
          <a:xfrm>
            <a:off x="822960" y="4023360"/>
            <a:ext cx="3027578" cy="749808"/>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Địa điểm</a:t>
            </a:r>
            <a:endParaRPr lang="en-US" sz="1700" dirty="0"/>
          </a:p>
        </p:txBody>
      </p:sp>
      <p:sp>
        <p:nvSpPr>
          <p:cNvPr id="25" name="Shape 22"/>
          <p:cNvSpPr/>
          <p:nvPr/>
        </p:nvSpPr>
        <p:spPr>
          <a:xfrm>
            <a:off x="548640" y="4937760"/>
            <a:ext cx="3576218" cy="749808"/>
          </a:xfrm>
          <a:prstGeom prst="roundRect">
            <a:avLst>
              <a:gd name="adj" fmla="val 14634"/>
            </a:avLst>
          </a:prstGeom>
          <a:solidFill>
            <a:srgbClr val="FFE9DE"/>
          </a:solidFill>
          <a:ln w="12700">
            <a:solidFill>
              <a:srgbClr val="FF9259"/>
            </a:solidFill>
            <a:prstDash val="solid"/>
          </a:ln>
        </p:spPr>
      </p:sp>
      <p:sp>
        <p:nvSpPr>
          <p:cNvPr id="26" name="Text 23"/>
          <p:cNvSpPr txBox="1"/>
          <p:nvPr/>
        </p:nvSpPr>
        <p:spPr>
          <a:xfrm>
            <a:off x="822960" y="4937760"/>
            <a:ext cx="3027578" cy="749808"/>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Cơ quan cấp phép</a:t>
            </a:r>
            <a:endParaRPr lang="en-US" sz="1700" dirty="0"/>
          </a:p>
        </p:txBody>
      </p:sp>
      <p:sp>
        <p:nvSpPr>
          <p:cNvPr id="27" name="Shape 24"/>
          <p:cNvSpPr/>
          <p:nvPr/>
        </p:nvSpPr>
        <p:spPr>
          <a:xfrm>
            <a:off x="4307738" y="1920240"/>
            <a:ext cx="3576218" cy="914400"/>
          </a:xfrm>
          <a:prstGeom prst="chevron">
            <a:avLst/>
          </a:prstGeom>
          <a:solidFill>
            <a:srgbClr val="962B7C"/>
          </a:solidFill>
          <a:ln w="12700">
            <a:solidFill>
              <a:srgbClr val="962B7C"/>
            </a:solidFill>
            <a:prstDash val="solid"/>
          </a:ln>
        </p:spPr>
      </p:sp>
      <p:sp>
        <p:nvSpPr>
          <p:cNvPr id="28" name="Text 25"/>
          <p:cNvSpPr txBox="1"/>
          <p:nvPr/>
        </p:nvSpPr>
        <p:spPr>
          <a:xfrm>
            <a:off x="4764938" y="1920240"/>
            <a:ext cx="2661818" cy="914400"/>
          </a:xfrm>
          <a:prstGeom prst="rect">
            <a:avLst/>
          </a:prstGeom>
          <a:noFill/>
          <a:ln/>
        </p:spPr>
        <p:txBody>
          <a:bodyPr wrap="square" lIns="0" tIns="0" rIns="0" bIns="0" rtlCol="0" anchor="ctr"/>
          <a:lstStyle/>
          <a:p>
            <a:pPr indent="0" marL="0">
              <a:buNone/>
            </a:pPr>
            <a:r>
              <a:rPr lang="en-US" sz="2100" b="1" dirty="0">
                <a:solidFill>
                  <a:srgbClr val="FFFFFF"/>
                </a:solidFill>
                <a:latin typeface="Alexandria" pitchFamily="34" charset="0"/>
                <a:ea typeface="Alexandria" pitchFamily="34" charset="-122"/>
                <a:cs typeface="Alexandria" pitchFamily="34" charset="-120"/>
              </a:rPr>
              <a:t>Trong sự kiện</a:t>
            </a:r>
            <a:endParaRPr lang="en-US" sz="2100" dirty="0"/>
          </a:p>
        </p:txBody>
      </p:sp>
      <p:sp>
        <p:nvSpPr>
          <p:cNvPr id="29" name="Shape 26"/>
          <p:cNvSpPr/>
          <p:nvPr/>
        </p:nvSpPr>
        <p:spPr>
          <a:xfrm>
            <a:off x="4307738" y="3108960"/>
            <a:ext cx="3576218" cy="749808"/>
          </a:xfrm>
          <a:prstGeom prst="roundRect">
            <a:avLst>
              <a:gd name="adj" fmla="val 14634"/>
            </a:avLst>
          </a:prstGeom>
          <a:solidFill>
            <a:srgbClr val="F1E1EE"/>
          </a:solidFill>
          <a:ln w="12700">
            <a:solidFill>
              <a:srgbClr val="962B7C"/>
            </a:solidFill>
            <a:prstDash val="solid"/>
          </a:ln>
        </p:spPr>
      </p:sp>
      <p:sp>
        <p:nvSpPr>
          <p:cNvPr id="30" name="Text 27"/>
          <p:cNvSpPr txBox="1"/>
          <p:nvPr/>
        </p:nvSpPr>
        <p:spPr>
          <a:xfrm>
            <a:off x="4582058" y="3108960"/>
            <a:ext cx="3027578" cy="749808"/>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Nhà cung cấp kỹ thuật</a:t>
            </a:r>
            <a:endParaRPr lang="en-US" sz="1700" dirty="0"/>
          </a:p>
        </p:txBody>
      </p:sp>
      <p:sp>
        <p:nvSpPr>
          <p:cNvPr id="31" name="Shape 28"/>
          <p:cNvSpPr/>
          <p:nvPr/>
        </p:nvSpPr>
        <p:spPr>
          <a:xfrm>
            <a:off x="4307738" y="4023360"/>
            <a:ext cx="3576218" cy="749808"/>
          </a:xfrm>
          <a:prstGeom prst="roundRect">
            <a:avLst>
              <a:gd name="adj" fmla="val 14634"/>
            </a:avLst>
          </a:prstGeom>
          <a:solidFill>
            <a:srgbClr val="F1E1EE"/>
          </a:solidFill>
          <a:ln w="12700">
            <a:solidFill>
              <a:srgbClr val="962B7C"/>
            </a:solidFill>
            <a:prstDash val="solid"/>
          </a:ln>
        </p:spPr>
      </p:sp>
      <p:sp>
        <p:nvSpPr>
          <p:cNvPr id="32" name="Text 29"/>
          <p:cNvSpPr txBox="1"/>
          <p:nvPr/>
        </p:nvSpPr>
        <p:spPr>
          <a:xfrm>
            <a:off x="4582058" y="4023360"/>
            <a:ext cx="3027578" cy="749808"/>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Khách tham dự</a:t>
            </a:r>
            <a:endParaRPr lang="en-US" sz="1700" dirty="0"/>
          </a:p>
        </p:txBody>
      </p:sp>
      <p:sp>
        <p:nvSpPr>
          <p:cNvPr id="33" name="Shape 30"/>
          <p:cNvSpPr/>
          <p:nvPr/>
        </p:nvSpPr>
        <p:spPr>
          <a:xfrm>
            <a:off x="8066837" y="1920240"/>
            <a:ext cx="3576218" cy="914400"/>
          </a:xfrm>
          <a:prstGeom prst="chevron">
            <a:avLst/>
          </a:prstGeom>
          <a:solidFill>
            <a:srgbClr val="09A1E5"/>
          </a:solidFill>
          <a:ln w="12700">
            <a:solidFill>
              <a:srgbClr val="09A1E5"/>
            </a:solidFill>
            <a:prstDash val="solid"/>
          </a:ln>
        </p:spPr>
      </p:sp>
      <p:sp>
        <p:nvSpPr>
          <p:cNvPr id="34" name="Text 31"/>
          <p:cNvSpPr txBox="1"/>
          <p:nvPr/>
        </p:nvSpPr>
        <p:spPr>
          <a:xfrm>
            <a:off x="8524037" y="1920240"/>
            <a:ext cx="2661818" cy="914400"/>
          </a:xfrm>
          <a:prstGeom prst="rect">
            <a:avLst/>
          </a:prstGeom>
          <a:noFill/>
          <a:ln/>
        </p:spPr>
        <p:txBody>
          <a:bodyPr wrap="square" lIns="0" tIns="0" rIns="0" bIns="0" rtlCol="0" anchor="ctr"/>
          <a:lstStyle/>
          <a:p>
            <a:pPr indent="0" marL="0">
              <a:buNone/>
            </a:pPr>
            <a:r>
              <a:rPr lang="en-US" sz="2100" b="1" dirty="0">
                <a:solidFill>
                  <a:srgbClr val="FFFFFF"/>
                </a:solidFill>
                <a:latin typeface="Alexandria" pitchFamily="34" charset="0"/>
                <a:ea typeface="Alexandria" pitchFamily="34" charset="-122"/>
                <a:cs typeface="Alexandria" pitchFamily="34" charset="-120"/>
              </a:rPr>
              <a:t>Sau sự kiện</a:t>
            </a:r>
            <a:endParaRPr lang="en-US" sz="2100" dirty="0"/>
          </a:p>
        </p:txBody>
      </p:sp>
      <p:sp>
        <p:nvSpPr>
          <p:cNvPr id="35" name="Shape 32"/>
          <p:cNvSpPr/>
          <p:nvPr/>
        </p:nvSpPr>
        <p:spPr>
          <a:xfrm>
            <a:off x="8066837" y="3108960"/>
            <a:ext cx="3576218" cy="749808"/>
          </a:xfrm>
          <a:prstGeom prst="roundRect">
            <a:avLst>
              <a:gd name="adj" fmla="val 14634"/>
            </a:avLst>
          </a:prstGeom>
          <a:solidFill>
            <a:srgbClr val="DDF1FB"/>
          </a:solidFill>
          <a:ln w="12700">
            <a:solidFill>
              <a:srgbClr val="09A1E5"/>
            </a:solidFill>
            <a:prstDash val="solid"/>
          </a:ln>
        </p:spPr>
      </p:sp>
      <p:sp>
        <p:nvSpPr>
          <p:cNvPr id="36" name="Text 33"/>
          <p:cNvSpPr txBox="1"/>
          <p:nvPr/>
        </p:nvSpPr>
        <p:spPr>
          <a:xfrm>
            <a:off x="8341157" y="3108960"/>
            <a:ext cx="3027578" cy="749808"/>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Báo chí</a:t>
            </a:r>
            <a:endParaRPr lang="en-US" sz="1700" dirty="0"/>
          </a:p>
        </p:txBody>
      </p:sp>
      <p:sp>
        <p:nvSpPr>
          <p:cNvPr id="37" name="Shape 34"/>
          <p:cNvSpPr/>
          <p:nvPr/>
        </p:nvSpPr>
        <p:spPr>
          <a:xfrm>
            <a:off x="8066837" y="4023360"/>
            <a:ext cx="3576218" cy="749808"/>
          </a:xfrm>
          <a:prstGeom prst="roundRect">
            <a:avLst>
              <a:gd name="adj" fmla="val 14634"/>
            </a:avLst>
          </a:prstGeom>
          <a:solidFill>
            <a:srgbClr val="DDF1FB"/>
          </a:solidFill>
          <a:ln w="12700">
            <a:solidFill>
              <a:srgbClr val="09A1E5"/>
            </a:solidFill>
            <a:prstDash val="solid"/>
          </a:ln>
        </p:spPr>
      </p:sp>
      <p:sp>
        <p:nvSpPr>
          <p:cNvPr id="38" name="Text 35"/>
          <p:cNvSpPr txBox="1"/>
          <p:nvPr/>
        </p:nvSpPr>
        <p:spPr>
          <a:xfrm>
            <a:off x="8341157" y="4023360"/>
            <a:ext cx="3027578" cy="749808"/>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Khách hàng — đánh giá, tái ký</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Primary: không có họ, sự kiện không diễn ra</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A03: Clarkson (1995), Academy of Management Review.</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12</a:t>
            </a:r>
            <a:endParaRPr lang="en-US" sz="1000" dirty="0"/>
          </a:p>
        </p:txBody>
      </p:sp>
      <p:sp>
        <p:nvSpPr>
          <p:cNvPr id="20" name="Shape 17"/>
          <p:cNvSpPr/>
          <p:nvPr/>
        </p:nvSpPr>
        <p:spPr>
          <a:xfrm>
            <a:off x="548640" y="1920240"/>
            <a:ext cx="11094415" cy="2011680"/>
          </a:xfrm>
          <a:prstGeom prst="roundRect">
            <a:avLst>
              <a:gd name="adj" fmla="val 5455"/>
            </a:avLst>
          </a:prstGeom>
          <a:solidFill>
            <a:srgbClr val="F1E1EE"/>
          </a:solidFill>
          <a:ln w="12700">
            <a:solidFill>
              <a:srgbClr val="962B7C"/>
            </a:solidFill>
            <a:prstDash val="solid"/>
          </a:ln>
        </p:spPr>
      </p:sp>
      <p:sp>
        <p:nvSpPr>
          <p:cNvPr id="21" name="Text 18"/>
          <p:cNvSpPr txBox="1"/>
          <p:nvPr/>
        </p:nvSpPr>
        <p:spPr>
          <a:xfrm>
            <a:off x="914400" y="1920240"/>
            <a:ext cx="10362895" cy="2011680"/>
          </a:xfrm>
          <a:prstGeom prst="rect">
            <a:avLst/>
          </a:prstGeom>
          <a:noFill/>
          <a:ln/>
        </p:spPr>
        <p:txBody>
          <a:bodyPr wrap="square" lIns="0" tIns="0" rIns="0" bIns="0" rtlCol="0" anchor="ctr"/>
          <a:lstStyle/>
          <a:p>
            <a:pPr indent="0" marL="0">
              <a:spcAft>
                <a:spcPts val="600"/>
              </a:spcAft>
              <a:buNone/>
            </a:pPr>
            <a:r>
              <a:rPr lang="en-US" sz="2200" b="1" dirty="0">
                <a:solidFill>
                  <a:srgbClr val="962B7C"/>
                </a:solidFill>
                <a:latin typeface="Alexandria" pitchFamily="34" charset="0"/>
                <a:ea typeface="Alexandria" pitchFamily="34" charset="-122"/>
                <a:cs typeface="Alexandria" pitchFamily="34" charset="-120"/>
              </a:rPr>
              <a:t>Bên liên quan chính (Primary)</a:t>
            </a:r>
            <a:endParaRPr lang="en-US" sz="2200" dirty="0"/>
          </a:p>
          <a:p>
            <a:pPr indent="0" marL="0">
              <a:spcAft>
                <a:spcPts val="600"/>
              </a:spcAft>
              <a:buNone/>
            </a:pPr>
            <a:r>
              <a:rPr lang="en-US" sz="2000" dirty="0">
                <a:solidFill>
                  <a:srgbClr val="2A2238"/>
                </a:solidFill>
                <a:latin typeface="Alexandria" pitchFamily="34" charset="0"/>
                <a:ea typeface="Alexandria" pitchFamily="34" charset="-122"/>
                <a:cs typeface="Alexandria" pitchFamily="34" charset="-120"/>
              </a:rPr>
              <a:t>nếu không có sự tham gia liên tục của họ, tổ chức — ở đây là sự kiện — không thể tồn tại, diễn ra.</a:t>
            </a:r>
            <a:pPr indent="0" marL="0">
              <a:spcAft>
                <a:spcPts val="600"/>
              </a:spcAft>
              <a:buNone/>
            </a:pPr>
            <a:r>
              <a:rPr lang="en-US" sz="1300" dirty="0">
                <a:solidFill>
                  <a:srgbClr val="6E6878"/>
                </a:solidFill>
                <a:latin typeface="Alexandria" pitchFamily="34" charset="0"/>
                <a:ea typeface="Alexandria" pitchFamily="34" charset="-122"/>
                <a:cs typeface="Alexandria" pitchFamily="34" charset="-120"/>
              </a:rPr>
              <a:t>  — Clarkson (1995)</a:t>
            </a:r>
            <a:endParaRPr lang="en-US" sz="2200" dirty="0"/>
          </a:p>
        </p:txBody>
      </p:sp>
      <p:sp>
        <p:nvSpPr>
          <p:cNvPr id="22" name="Shape 19"/>
          <p:cNvSpPr/>
          <p:nvPr/>
        </p:nvSpPr>
        <p:spPr>
          <a:xfrm>
            <a:off x="548640" y="4251960"/>
            <a:ext cx="11094415" cy="1737360"/>
          </a:xfrm>
          <a:prstGeom prst="roundRect">
            <a:avLst>
              <a:gd name="adj" fmla="val 6316"/>
            </a:avLst>
          </a:prstGeom>
          <a:solidFill>
            <a:srgbClr val="FFF3C4"/>
          </a:solidFill>
          <a:ln w="12700">
            <a:solidFill>
              <a:srgbClr val="FFD23B"/>
            </a:solidFill>
            <a:prstDash val="solid"/>
          </a:ln>
        </p:spPr>
      </p:sp>
      <p:sp>
        <p:nvSpPr>
          <p:cNvPr id="23" name="Text 20"/>
          <p:cNvSpPr txBox="1"/>
          <p:nvPr/>
        </p:nvSpPr>
        <p:spPr>
          <a:xfrm>
            <a:off x="914400" y="4251960"/>
            <a:ext cx="10362895" cy="1737360"/>
          </a:xfrm>
          <a:prstGeom prst="rect">
            <a:avLst/>
          </a:prstGeom>
          <a:noFill/>
          <a:ln/>
        </p:spPr>
        <p:txBody>
          <a:bodyPr wrap="square" lIns="0" tIns="0" rIns="0" bIns="0" rtlCol="0" anchor="ctr"/>
          <a:lstStyle/>
          <a:p>
            <a:pPr algn="ctr" indent="0" marL="0">
              <a:buNone/>
            </a:pPr>
            <a:r>
              <a:rPr lang="en-US" sz="1500" dirty="0">
                <a:solidFill>
                  <a:srgbClr val="6E6878"/>
                </a:solidFill>
                <a:latin typeface="Alexandria" pitchFamily="34" charset="0"/>
                <a:ea typeface="Alexandria" pitchFamily="34" charset="-122"/>
                <a:cs typeface="Alexandria" pitchFamily="34" charset="-120"/>
              </a:rPr>
              <a:t>Câu kiểm tra nhanh</a:t>
            </a:r>
            <a:endParaRPr lang="en-US" sz="1500" dirty="0"/>
          </a:p>
          <a:p>
            <a:pPr algn="ctr" indent="0" marL="0">
              <a:buNone/>
            </a:pPr>
            <a:r>
              <a:rPr lang="en-US" sz="2600" b="1" dirty="0">
                <a:solidFill>
                  <a:srgbClr val="2A2238"/>
                </a:solidFill>
                <a:latin typeface="Alexandria" pitchFamily="34" charset="0"/>
                <a:ea typeface="Alexandria" pitchFamily="34" charset="-122"/>
                <a:cs typeface="Alexandria" pitchFamily="34" charset="-120"/>
              </a:rPr>
              <a:t>“Không có họ, sự kiện có diễn ra được không?”</a:t>
            </a:r>
            <a:endParaRPr lang="en-US" sz="1500" dirty="0"/>
          </a:p>
          <a:p>
            <a:pPr algn="ctr" indent="0" marL="0">
              <a:buNone/>
            </a:pPr>
            <a:r>
              <a:rPr lang="en-US" sz="1500" dirty="0">
                <a:solidFill>
                  <a:srgbClr val="2A2238"/>
                </a:solidFill>
                <a:latin typeface="Alexandria" pitchFamily="34" charset="0"/>
                <a:ea typeface="Alexandria" pitchFamily="34" charset="-122"/>
                <a:cs typeface="Alexandria" pitchFamily="34" charset="-120"/>
              </a:rPr>
              <a:t>Không → thường là primary · Có → thường là secondary</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Secondary: ảnh hưởng hoặc bị ảnh hưởng, nhưng không thiết yếu</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A03: Clarkson (1995).</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13</a:t>
            </a:r>
            <a:endParaRPr lang="en-US" sz="1000" dirty="0"/>
          </a:p>
        </p:txBody>
      </p:sp>
      <p:sp>
        <p:nvSpPr>
          <p:cNvPr id="20" name="Shape 17"/>
          <p:cNvSpPr/>
          <p:nvPr/>
        </p:nvSpPr>
        <p:spPr>
          <a:xfrm>
            <a:off x="548640" y="1920240"/>
            <a:ext cx="11094415" cy="1828800"/>
          </a:xfrm>
          <a:prstGeom prst="roundRect">
            <a:avLst>
              <a:gd name="adj" fmla="val 6000"/>
            </a:avLst>
          </a:prstGeom>
          <a:solidFill>
            <a:srgbClr val="DDF1FB"/>
          </a:solidFill>
          <a:ln w="12700">
            <a:solidFill>
              <a:srgbClr val="09A1E5"/>
            </a:solidFill>
            <a:prstDash val="solid"/>
          </a:ln>
        </p:spPr>
      </p:sp>
      <p:sp>
        <p:nvSpPr>
          <p:cNvPr id="21" name="Text 18"/>
          <p:cNvSpPr txBox="1"/>
          <p:nvPr/>
        </p:nvSpPr>
        <p:spPr>
          <a:xfrm>
            <a:off x="914400" y="1920240"/>
            <a:ext cx="10362895" cy="1828800"/>
          </a:xfrm>
          <a:prstGeom prst="rect">
            <a:avLst/>
          </a:prstGeom>
          <a:noFill/>
          <a:ln/>
        </p:spPr>
        <p:txBody>
          <a:bodyPr wrap="square" lIns="0" tIns="0" rIns="0" bIns="0" rtlCol="0" anchor="ctr"/>
          <a:lstStyle/>
          <a:p>
            <a:pPr indent="0" marL="0">
              <a:spcAft>
                <a:spcPts val="600"/>
              </a:spcAft>
              <a:buNone/>
            </a:pPr>
            <a:r>
              <a:rPr lang="en-US" sz="2200" b="1" dirty="0">
                <a:solidFill>
                  <a:srgbClr val="0A7FB5"/>
                </a:solidFill>
                <a:latin typeface="Alexandria" pitchFamily="34" charset="0"/>
                <a:ea typeface="Alexandria" pitchFamily="34" charset="-122"/>
                <a:cs typeface="Alexandria" pitchFamily="34" charset="-120"/>
              </a:rPr>
              <a:t>Bên liên quan thứ yếu (Secondary)</a:t>
            </a:r>
            <a:endParaRPr lang="en-US" sz="2200" dirty="0"/>
          </a:p>
          <a:p>
            <a:pPr indent="0" marL="0">
              <a:spcAft>
                <a:spcPts val="600"/>
              </a:spcAft>
              <a:buNone/>
            </a:pPr>
            <a:r>
              <a:rPr lang="en-US" sz="1900" dirty="0">
                <a:solidFill>
                  <a:srgbClr val="2A2238"/>
                </a:solidFill>
                <a:latin typeface="Alexandria" pitchFamily="34" charset="0"/>
                <a:ea typeface="Alexandria" pitchFamily="34" charset="-122"/>
                <a:cs typeface="Alexandria" pitchFamily="34" charset="-120"/>
              </a:rPr>
              <a:t>ảnh hưởng hoặc bị ảnh hưởng bởi tổ chức, nhưng không giao dịch trực tiếp và không thiết yếu cho sự tồn tại của tổ chức.</a:t>
            </a:r>
            <a:endParaRPr lang="en-US" sz="2200" dirty="0"/>
          </a:p>
        </p:txBody>
      </p:sp>
      <p:sp>
        <p:nvSpPr>
          <p:cNvPr id="22" name="Shape 19"/>
          <p:cNvSpPr/>
          <p:nvPr/>
        </p:nvSpPr>
        <p:spPr>
          <a:xfrm>
            <a:off x="548640" y="4023360"/>
            <a:ext cx="5410048" cy="1965960"/>
          </a:xfrm>
          <a:prstGeom prst="roundRect">
            <a:avLst>
              <a:gd name="adj" fmla="val 5581"/>
            </a:avLst>
          </a:prstGeom>
          <a:solidFill>
            <a:srgbClr val="FFFFFF"/>
          </a:solidFill>
          <a:ln w="12700">
            <a:solidFill>
              <a:srgbClr val="DCD7C8"/>
            </a:solidFill>
            <a:prstDash val="solid"/>
          </a:ln>
        </p:spPr>
      </p:sp>
      <p:sp>
        <p:nvSpPr>
          <p:cNvPr id="23" name="Text 20"/>
          <p:cNvSpPr txBox="1"/>
          <p:nvPr/>
        </p:nvSpPr>
        <p:spPr>
          <a:xfrm>
            <a:off x="822960" y="4023360"/>
            <a:ext cx="4861408" cy="196596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Ví dụ: báo chí</a:t>
            </a:r>
            <a:endParaRPr lang="en-US" sz="1800" dirty="0"/>
          </a:p>
          <a:p>
            <a:pPr indent="0" marL="0">
              <a:buNone/>
            </a:pPr>
            <a:r>
              <a:rPr lang="en-US" sz="1500" dirty="0">
                <a:solidFill>
                  <a:srgbClr val="2A2238"/>
                </a:solidFill>
                <a:latin typeface="Alexandria" pitchFamily="34" charset="0"/>
                <a:ea typeface="Alexandria" pitchFamily="34" charset="-122"/>
                <a:cs typeface="Alexandria" pitchFamily="34" charset="-120"/>
              </a:rPr>
              <a:t>Sự kiện vẫn diễn ra nếu báo chí không đến — nhưng họ ảnh hưởng hình ảnh sau sự kiện.</a:t>
            </a:r>
            <a:endParaRPr lang="en-US" sz="1800" dirty="0"/>
          </a:p>
        </p:txBody>
      </p:sp>
      <p:sp>
        <p:nvSpPr>
          <p:cNvPr id="24" name="Shape 21"/>
          <p:cNvSpPr/>
          <p:nvPr/>
        </p:nvSpPr>
        <p:spPr>
          <a:xfrm>
            <a:off x="6233008" y="4023360"/>
            <a:ext cx="5410048" cy="1965960"/>
          </a:xfrm>
          <a:prstGeom prst="roundRect">
            <a:avLst>
              <a:gd name="adj" fmla="val 5581"/>
            </a:avLst>
          </a:prstGeom>
          <a:solidFill>
            <a:srgbClr val="FFE4EA"/>
          </a:solidFill>
          <a:ln w="12700">
            <a:solidFill>
              <a:srgbClr val="FF5178"/>
            </a:solidFill>
            <a:prstDash val="solid"/>
          </a:ln>
        </p:spPr>
      </p:sp>
      <p:sp>
        <p:nvSpPr>
          <p:cNvPr id="25" name="Text 22"/>
          <p:cNvSpPr txBox="1"/>
          <p:nvPr/>
        </p:nvSpPr>
        <p:spPr>
          <a:xfrm>
            <a:off x="6507328" y="4023360"/>
            <a:ext cx="4861408" cy="196596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Nhắc phạm vi</a:t>
            </a:r>
            <a:endParaRPr lang="en-US" sz="1800" dirty="0"/>
          </a:p>
          <a:p>
            <a:pPr indent="0" marL="0">
              <a:buNone/>
            </a:pPr>
            <a:r>
              <a:rPr lang="en-US" sz="1500" dirty="0">
                <a:solidFill>
                  <a:srgbClr val="2A2238"/>
                </a:solidFill>
                <a:latin typeface="Alexandria" pitchFamily="34" charset="0"/>
                <a:ea typeface="Alexandria" pitchFamily="34" charset="-122"/>
                <a:cs typeface="Alexandria" pitchFamily="34" charset="-120"/>
              </a:rPr>
              <a:t>Nhân viên, tình nguyện viên có thể là primary trong lý thuyết — nhưng môn này không xét bên nội bộ.</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Phân loại là quyết định có lập luận, không phải tra bảng</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Tình huống giả định Nova Events – Ngân hàng An Phát; góc nhìn phân tích: Nova Events.</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14</a:t>
            </a:r>
            <a:endParaRPr lang="en-US" sz="1000" dirty="0"/>
          </a:p>
        </p:txBody>
      </p:sp>
      <p:sp>
        <p:nvSpPr>
          <p:cNvPr id="20" name="Text 17"/>
          <p:cNvSpPr txBox="1"/>
          <p:nvPr/>
        </p:nvSpPr>
        <p:spPr>
          <a:xfrm>
            <a:off x="548640" y="1737360"/>
            <a:ext cx="11094415" cy="365760"/>
          </a:xfrm>
          <a:prstGeom prst="rect">
            <a:avLst/>
          </a:prstGeom>
          <a:noFill/>
          <a:ln/>
        </p:spPr>
        <p:txBody>
          <a:bodyPr wrap="square" lIns="0" tIns="0" rIns="0" bIns="0" rtlCol="0" anchor="ctr"/>
          <a:lstStyle/>
          <a:p>
            <a:pPr indent="0" marL="0">
              <a:buNone/>
            </a:pPr>
            <a:r>
              <a:rPr lang="en-US" sz="1300" dirty="0">
                <a:solidFill>
                  <a:srgbClr val="6E6878"/>
                </a:solidFill>
                <a:latin typeface="Alexandria" pitchFamily="34" charset="0"/>
                <a:ea typeface="Alexandria" pitchFamily="34" charset="-122"/>
                <a:cs typeface="Alexandria" pitchFamily="34" charset="-120"/>
              </a:rPr>
              <a:t>Nova Events tổ chức Hội nghị khách hàng thường niên cho Ngân hàng An Phát · ~600 khách VIP · khách sạn 5 sao, TP.HCM</a:t>
            </a:r>
            <a:endParaRPr lang="en-US" sz="1300" dirty="0"/>
          </a:p>
        </p:txBody>
      </p:sp>
      <p:sp>
        <p:nvSpPr>
          <p:cNvPr id="21" name="Shape 18"/>
          <p:cNvSpPr/>
          <p:nvPr/>
        </p:nvSpPr>
        <p:spPr>
          <a:xfrm>
            <a:off x="3840480" y="2240280"/>
            <a:ext cx="2011680" cy="502920"/>
          </a:xfrm>
          <a:prstGeom prst="roundRect">
            <a:avLst>
              <a:gd name="adj" fmla="val 21818"/>
            </a:avLst>
          </a:prstGeom>
          <a:solidFill>
            <a:srgbClr val="962B7C"/>
          </a:solidFill>
          <a:ln w="12700">
            <a:solidFill>
              <a:srgbClr val="962B7C"/>
            </a:solidFill>
            <a:prstDash val="solid"/>
          </a:ln>
        </p:spPr>
      </p:sp>
      <p:sp>
        <p:nvSpPr>
          <p:cNvPr id="22" name="Text 19"/>
          <p:cNvSpPr txBox="1"/>
          <p:nvPr/>
        </p:nvSpPr>
        <p:spPr>
          <a:xfrm>
            <a:off x="4005072" y="2240280"/>
            <a:ext cx="1682496"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Phân loại</a:t>
            </a:r>
            <a:endParaRPr lang="en-US" sz="1500" dirty="0"/>
          </a:p>
        </p:txBody>
      </p:sp>
      <p:sp>
        <p:nvSpPr>
          <p:cNvPr id="23" name="Shape 20"/>
          <p:cNvSpPr/>
          <p:nvPr/>
        </p:nvSpPr>
        <p:spPr>
          <a:xfrm>
            <a:off x="5943600" y="2240280"/>
            <a:ext cx="5699455" cy="502920"/>
          </a:xfrm>
          <a:prstGeom prst="roundRect">
            <a:avLst>
              <a:gd name="adj" fmla="val 21818"/>
            </a:avLst>
          </a:prstGeom>
          <a:solidFill>
            <a:srgbClr val="09A1E5"/>
          </a:solidFill>
          <a:ln w="12700">
            <a:solidFill>
              <a:srgbClr val="09A1E5"/>
            </a:solidFill>
            <a:prstDash val="solid"/>
          </a:ln>
        </p:spPr>
      </p:sp>
      <p:sp>
        <p:nvSpPr>
          <p:cNvPr id="24" name="Text 21"/>
          <p:cNvSpPr txBox="1"/>
          <p:nvPr/>
        </p:nvSpPr>
        <p:spPr>
          <a:xfrm>
            <a:off x="6108192" y="2240280"/>
            <a:ext cx="5370271"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Lập luận</a:t>
            </a:r>
            <a:endParaRPr lang="en-US" sz="1500" dirty="0"/>
          </a:p>
        </p:txBody>
      </p:sp>
      <p:sp>
        <p:nvSpPr>
          <p:cNvPr id="25" name="Shape 22"/>
          <p:cNvSpPr/>
          <p:nvPr/>
        </p:nvSpPr>
        <p:spPr>
          <a:xfrm>
            <a:off x="548640" y="2852928"/>
            <a:ext cx="11094415" cy="749808"/>
          </a:xfrm>
          <a:prstGeom prst="rect">
            <a:avLst/>
          </a:prstGeom>
          <a:solidFill>
            <a:srgbClr val="F3F0E6"/>
          </a:solidFill>
          <a:ln w="12700">
            <a:solidFill>
              <a:srgbClr val="F3F0E6"/>
            </a:solidFill>
            <a:prstDash val="solid"/>
          </a:ln>
        </p:spPr>
      </p:sp>
      <p:sp>
        <p:nvSpPr>
          <p:cNvPr id="26" name="Text 23"/>
          <p:cNvSpPr txBox="1"/>
          <p:nvPr/>
        </p:nvSpPr>
        <p:spPr>
          <a:xfrm>
            <a:off x="713232" y="2852928"/>
            <a:ext cx="2962656" cy="749808"/>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Ngân hàng An Phát (khách hàng)</a:t>
            </a:r>
            <a:endParaRPr lang="en-US" sz="1400" dirty="0"/>
          </a:p>
        </p:txBody>
      </p:sp>
      <p:sp>
        <p:nvSpPr>
          <p:cNvPr id="27" name="Text 24"/>
          <p:cNvSpPr txBox="1"/>
          <p:nvPr/>
        </p:nvSpPr>
        <p:spPr>
          <a:xfrm>
            <a:off x="4005072" y="2852928"/>
            <a:ext cx="1773936" cy="749808"/>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Primary</a:t>
            </a:r>
            <a:endParaRPr lang="en-US" sz="1400" dirty="0"/>
          </a:p>
        </p:txBody>
      </p:sp>
      <p:sp>
        <p:nvSpPr>
          <p:cNvPr id="28" name="Text 25"/>
          <p:cNvSpPr txBox="1"/>
          <p:nvPr/>
        </p:nvSpPr>
        <p:spPr>
          <a:xfrm>
            <a:off x="6108192" y="2852928"/>
            <a:ext cx="5461711" cy="749808"/>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Người đặt hàng và trả tiền; không có họ, không có sự kiện</a:t>
            </a:r>
            <a:endParaRPr lang="en-US" sz="1400" dirty="0"/>
          </a:p>
        </p:txBody>
      </p:sp>
      <p:sp>
        <p:nvSpPr>
          <p:cNvPr id="29" name="Text 26"/>
          <p:cNvSpPr txBox="1"/>
          <p:nvPr/>
        </p:nvSpPr>
        <p:spPr>
          <a:xfrm>
            <a:off x="713232" y="3657600"/>
            <a:ext cx="2962656" cy="749808"/>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Khách sạn (địa điểm)</a:t>
            </a:r>
            <a:endParaRPr lang="en-US" sz="1400" dirty="0"/>
          </a:p>
        </p:txBody>
      </p:sp>
      <p:sp>
        <p:nvSpPr>
          <p:cNvPr id="30" name="Text 27"/>
          <p:cNvSpPr txBox="1"/>
          <p:nvPr/>
        </p:nvSpPr>
        <p:spPr>
          <a:xfrm>
            <a:off x="4005072" y="3657600"/>
            <a:ext cx="1773936" cy="749808"/>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Primary</a:t>
            </a:r>
            <a:endParaRPr lang="en-US" sz="1400" dirty="0"/>
          </a:p>
        </p:txBody>
      </p:sp>
      <p:sp>
        <p:nvSpPr>
          <p:cNvPr id="31" name="Text 28"/>
          <p:cNvSpPr txBox="1"/>
          <p:nvPr/>
        </p:nvSpPr>
        <p:spPr>
          <a:xfrm>
            <a:off x="6108192" y="3657600"/>
            <a:ext cx="5461711" cy="749808"/>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Không có địa điểm, sự kiện không diễn ra vào ngày đã định</a:t>
            </a:r>
            <a:endParaRPr lang="en-US" sz="1400" dirty="0"/>
          </a:p>
        </p:txBody>
      </p:sp>
      <p:sp>
        <p:nvSpPr>
          <p:cNvPr id="32" name="Shape 29"/>
          <p:cNvSpPr/>
          <p:nvPr/>
        </p:nvSpPr>
        <p:spPr>
          <a:xfrm>
            <a:off x="548640" y="4462272"/>
            <a:ext cx="11094415" cy="749808"/>
          </a:xfrm>
          <a:prstGeom prst="rect">
            <a:avLst/>
          </a:prstGeom>
          <a:solidFill>
            <a:srgbClr val="F3F0E6"/>
          </a:solidFill>
          <a:ln w="12700">
            <a:solidFill>
              <a:srgbClr val="F3F0E6"/>
            </a:solidFill>
            <a:prstDash val="solid"/>
          </a:ln>
        </p:spPr>
      </p:sp>
      <p:sp>
        <p:nvSpPr>
          <p:cNvPr id="33" name="Text 30"/>
          <p:cNvSpPr txBox="1"/>
          <p:nvPr/>
        </p:nvSpPr>
        <p:spPr>
          <a:xfrm>
            <a:off x="713232" y="4462272"/>
            <a:ext cx="2962656" cy="749808"/>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Công ty bảo hiểm (nhà tài trợ)</a:t>
            </a:r>
            <a:endParaRPr lang="en-US" sz="1400" dirty="0"/>
          </a:p>
        </p:txBody>
      </p:sp>
      <p:sp>
        <p:nvSpPr>
          <p:cNvPr id="34" name="Text 31"/>
          <p:cNvSpPr txBox="1"/>
          <p:nvPr/>
        </p:nvSpPr>
        <p:spPr>
          <a:xfrm>
            <a:off x="4005072" y="4462272"/>
            <a:ext cx="1773936" cy="749808"/>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Tùy bối cảnh</a:t>
            </a:r>
            <a:endParaRPr lang="en-US" sz="1400" dirty="0"/>
          </a:p>
        </p:txBody>
      </p:sp>
      <p:sp>
        <p:nvSpPr>
          <p:cNvPr id="35" name="Text 32"/>
          <p:cNvSpPr txBox="1"/>
          <p:nvPr/>
        </p:nvSpPr>
        <p:spPr>
          <a:xfrm>
            <a:off x="6108192" y="4462272"/>
            <a:ext cx="5461711" cy="749808"/>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Khoản cộng thêm → secondary; ngân sách phụ thuộc khoản tài trợ → primary</a:t>
            </a:r>
            <a:endParaRPr lang="en-US" sz="1400" dirty="0"/>
          </a:p>
        </p:txBody>
      </p:sp>
      <p:sp>
        <p:nvSpPr>
          <p:cNvPr id="36" name="Text 33"/>
          <p:cNvSpPr txBox="1"/>
          <p:nvPr/>
        </p:nvSpPr>
        <p:spPr>
          <a:xfrm>
            <a:off x="713232" y="5266944"/>
            <a:ext cx="2962656" cy="749808"/>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Báo chí tài chính</a:t>
            </a:r>
            <a:endParaRPr lang="en-US" sz="1400" dirty="0"/>
          </a:p>
        </p:txBody>
      </p:sp>
      <p:sp>
        <p:nvSpPr>
          <p:cNvPr id="37" name="Text 34"/>
          <p:cNvSpPr txBox="1"/>
          <p:nvPr/>
        </p:nvSpPr>
        <p:spPr>
          <a:xfrm>
            <a:off x="4005072" y="5266944"/>
            <a:ext cx="1773936" cy="749808"/>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Secondary</a:t>
            </a:r>
            <a:endParaRPr lang="en-US" sz="1400" dirty="0"/>
          </a:p>
        </p:txBody>
      </p:sp>
      <p:sp>
        <p:nvSpPr>
          <p:cNvPr id="38" name="Text 35"/>
          <p:cNvSpPr txBox="1"/>
          <p:nvPr/>
        </p:nvSpPr>
        <p:spPr>
          <a:xfrm>
            <a:off x="6108192" y="5266944"/>
            <a:ext cx="5461711" cy="749808"/>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Sự kiện vẫn diễn ra nếu báo không đến; nhưng ảnh hưởng hình ảnh sau sự kiện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Thực hành 1 · Ai đứng quanh sự kiện này?</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Phiếu W01_activity_S4_phan_loai_ben_lien_quan.md · Tình huống giả định.</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15</a:t>
            </a:r>
            <a:endParaRPr lang="en-US" sz="1000" dirty="0"/>
          </a:p>
        </p:txBody>
      </p:sp>
      <p:sp>
        <p:nvSpPr>
          <p:cNvPr id="20" name="Shape 17"/>
          <p:cNvSpPr/>
          <p:nvPr/>
        </p:nvSpPr>
        <p:spPr>
          <a:xfrm>
            <a:off x="548640" y="1828800"/>
            <a:ext cx="5852160" cy="4206240"/>
          </a:xfrm>
          <a:prstGeom prst="roundRect">
            <a:avLst>
              <a:gd name="adj" fmla="val 2609"/>
            </a:avLst>
          </a:prstGeom>
          <a:solidFill>
            <a:srgbClr val="FFFFFF"/>
          </a:solidFill>
          <a:ln w="12700">
            <a:solidFill>
              <a:srgbClr val="DCD7C8"/>
            </a:solidFill>
            <a:prstDash val="solid"/>
          </a:ln>
        </p:spPr>
      </p:sp>
      <p:sp>
        <p:nvSpPr>
          <p:cNvPr id="21" name="Text 18"/>
          <p:cNvSpPr txBox="1"/>
          <p:nvPr/>
        </p:nvSpPr>
        <p:spPr>
          <a:xfrm>
            <a:off x="822960" y="1920240"/>
            <a:ext cx="5303520" cy="365760"/>
          </a:xfrm>
          <a:prstGeom prst="rect">
            <a:avLst/>
          </a:prstGeom>
          <a:noFill/>
          <a:ln/>
        </p:spPr>
        <p:txBody>
          <a:bodyPr wrap="square" lIns="0" tIns="0" rIns="0" bIns="0" rtlCol="0" anchor="ctr"/>
          <a:lstStyle/>
          <a:p>
            <a:pPr indent="0" marL="0">
              <a:buNone/>
            </a:pPr>
            <a:r>
              <a:rPr lang="en-US" sz="1400" b="1" dirty="0">
                <a:solidFill>
                  <a:srgbClr val="962B7C"/>
                </a:solidFill>
                <a:latin typeface="Alexandria" pitchFamily="34" charset="0"/>
                <a:ea typeface="Alexandria" pitchFamily="34" charset="-122"/>
                <a:cs typeface="Alexandria" pitchFamily="34" charset="-120"/>
              </a:rPr>
              <a:t>Tình huống</a:t>
            </a:r>
            <a:endParaRPr lang="en-US" sz="1400" dirty="0"/>
          </a:p>
        </p:txBody>
      </p:sp>
      <p:sp>
        <p:nvSpPr>
          <p:cNvPr id="22" name="Text 19"/>
          <p:cNvSpPr txBox="1"/>
          <p:nvPr/>
        </p:nvSpPr>
        <p:spPr>
          <a:xfrm>
            <a:off x="822960" y="2331720"/>
            <a:ext cx="5303520" cy="3611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A2238"/>
                </a:solidFill>
                <a:latin typeface="Alexandria" pitchFamily="34" charset="0"/>
                <a:ea typeface="Alexandria" pitchFamily="34" charset="-122"/>
                <a:cs typeface="Alexandria" pitchFamily="34" charset="-120"/>
              </a:rPr>
              <a:t>Hội nghị khách hàng thường niên của Ngân hàng An Phát: hội thảo, gala, nghệ thuật · ~600 khách VIP</a:t>
            </a:r>
            <a:endParaRPr lang="en-US" sz="1300" dirty="0"/>
          </a:p>
          <a:p>
            <a:pPr marL="342900" indent="-342900">
              <a:spcAft>
                <a:spcPts val="600"/>
              </a:spcAft>
              <a:buSzPct val="100000"/>
              <a:buChar char="•"/>
            </a:pPr>
            <a:r>
              <a:rPr lang="en-US" sz="1300" dirty="0">
                <a:solidFill>
                  <a:srgbClr val="2A2238"/>
                </a:solidFill>
                <a:latin typeface="Alexandria" pitchFamily="34" charset="0"/>
                <a:ea typeface="Alexandria" pitchFamily="34" charset="-122"/>
                <a:cs typeface="Alexandria" pitchFamily="34" charset="-120"/>
              </a:rPr>
              <a:t>Phòng đại tiệc khách sạn 5 sao, Quận 1 — cạnh khu dân cư; chương trình đến 22h</a:t>
            </a:r>
            <a:endParaRPr lang="en-US" sz="1300" dirty="0"/>
          </a:p>
          <a:p>
            <a:pPr marL="342900" indent="-342900">
              <a:spcAft>
                <a:spcPts val="600"/>
              </a:spcAft>
              <a:buSzPct val="100000"/>
              <a:buChar char="•"/>
            </a:pPr>
            <a:r>
              <a:rPr lang="en-US" sz="1300" dirty="0">
                <a:solidFill>
                  <a:srgbClr val="2A2238"/>
                </a:solidFill>
                <a:latin typeface="Alexandria" pitchFamily="34" charset="0"/>
                <a:ea typeface="Alexandria" pitchFamily="34" charset="-122"/>
                <a:cs typeface="Alexandria" pitchFamily="34" charset="-120"/>
              </a:rPr>
              <a:t>Công ty bảo hiểm đồng tài trợ: gian trưng bày + 5 phút phát biểu</a:t>
            </a:r>
            <a:endParaRPr lang="en-US" sz="1300" dirty="0"/>
          </a:p>
          <a:p>
            <a:pPr marL="342900" indent="-342900">
              <a:spcAft>
                <a:spcPts val="600"/>
              </a:spcAft>
              <a:buSzPct val="100000"/>
              <a:buChar char="•"/>
            </a:pPr>
            <a:r>
              <a:rPr lang="en-US" sz="1300" dirty="0">
                <a:solidFill>
                  <a:srgbClr val="2A2238"/>
                </a:solidFill>
                <a:latin typeface="Alexandria" pitchFamily="34" charset="0"/>
                <a:ea typeface="Alexandria" pitchFamily="34" charset="-122"/>
                <a:cs typeface="Alexandria" pitchFamily="34" charset="-120"/>
              </a:rPr>
              <a:t>Nova thuê ngoài AV – LED, in ấn, quà, xe đưa đón</a:t>
            </a:r>
            <a:endParaRPr lang="en-US" sz="1300" dirty="0"/>
          </a:p>
          <a:p>
            <a:pPr marL="342900" indent="-342900">
              <a:spcAft>
                <a:spcPts val="600"/>
              </a:spcAft>
              <a:buSzPct val="100000"/>
              <a:buChar char="•"/>
            </a:pPr>
            <a:r>
              <a:rPr lang="en-US" sz="1300" dirty="0">
                <a:solidFill>
                  <a:srgbClr val="2A2238"/>
                </a:solidFill>
                <a:latin typeface="Alexandria" pitchFamily="34" charset="0"/>
                <a:ea typeface="Alexandria" pitchFamily="34" charset="-122"/>
                <a:cs typeface="Alexandria" pitchFamily="34" charset="-120"/>
              </a:rPr>
              <a:t>Diễn giả kinh tế nổi tiếng · MC/KOL · bài trên báo tài chính</a:t>
            </a:r>
            <a:endParaRPr lang="en-US" sz="1300" dirty="0"/>
          </a:p>
        </p:txBody>
      </p:sp>
      <p:sp>
        <p:nvSpPr>
          <p:cNvPr id="23" name="Shape 20"/>
          <p:cNvSpPr/>
          <p:nvPr/>
        </p:nvSpPr>
        <p:spPr>
          <a:xfrm>
            <a:off x="6675120" y="1920240"/>
            <a:ext cx="566928" cy="566928"/>
          </a:xfrm>
          <a:prstGeom prst="ellipse">
            <a:avLst/>
          </a:prstGeom>
          <a:solidFill>
            <a:srgbClr val="FF9259"/>
          </a:solidFill>
          <a:ln w="12700">
            <a:solidFill>
              <a:srgbClr val="FF9259"/>
            </a:solidFill>
            <a:prstDash val="solid"/>
          </a:ln>
        </p:spPr>
      </p:sp>
      <p:sp>
        <p:nvSpPr>
          <p:cNvPr id="24" name="Text 21"/>
          <p:cNvSpPr txBox="1"/>
          <p:nvPr/>
        </p:nvSpPr>
        <p:spPr>
          <a:xfrm>
            <a:off x="6675120" y="1920240"/>
            <a:ext cx="566928" cy="566928"/>
          </a:xfrm>
          <a:prstGeom prst="rect">
            <a:avLst/>
          </a:prstGeom>
          <a:noFill/>
          <a:ln/>
        </p:spPr>
        <p:txBody>
          <a:bodyPr wrap="square" lIns="0" tIns="0" rIns="0" bIns="0" rtlCol="0" anchor="ctr"/>
          <a:lstStyle/>
          <a:p>
            <a:pPr algn="ctr" indent="0" marL="0">
              <a:buNone/>
            </a:pPr>
            <a:r>
              <a:rPr lang="en-US" sz="2108" b="1" dirty="0">
                <a:solidFill>
                  <a:srgbClr val="2A2238"/>
                </a:solidFill>
                <a:latin typeface="Alexandria" pitchFamily="34" charset="0"/>
                <a:ea typeface="Alexandria" pitchFamily="34" charset="-122"/>
                <a:cs typeface="Alexandria" pitchFamily="34" charset="-120"/>
              </a:rPr>
              <a:t>1</a:t>
            </a:r>
            <a:endParaRPr lang="en-US" sz="2108" dirty="0"/>
          </a:p>
        </p:txBody>
      </p:sp>
      <p:sp>
        <p:nvSpPr>
          <p:cNvPr id="25" name="Text 22"/>
          <p:cNvSpPr txBox="1"/>
          <p:nvPr/>
        </p:nvSpPr>
        <p:spPr>
          <a:xfrm>
            <a:off x="7406640" y="1828800"/>
            <a:ext cx="4236415" cy="749808"/>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Sơ đồ tư duy: Nova ở giữa, ≥ 10 bên bên ngoài</a:t>
            </a:r>
            <a:endParaRPr lang="en-US" sz="1400" dirty="0"/>
          </a:p>
        </p:txBody>
      </p:sp>
      <p:sp>
        <p:nvSpPr>
          <p:cNvPr id="26" name="Shape 23"/>
          <p:cNvSpPr/>
          <p:nvPr/>
        </p:nvSpPr>
        <p:spPr>
          <a:xfrm>
            <a:off x="6675120" y="2788920"/>
            <a:ext cx="566928" cy="566928"/>
          </a:xfrm>
          <a:prstGeom prst="ellipse">
            <a:avLst/>
          </a:prstGeom>
          <a:solidFill>
            <a:srgbClr val="962B7C"/>
          </a:solidFill>
          <a:ln w="12700">
            <a:solidFill>
              <a:srgbClr val="962B7C"/>
            </a:solidFill>
            <a:prstDash val="solid"/>
          </a:ln>
        </p:spPr>
      </p:sp>
      <p:sp>
        <p:nvSpPr>
          <p:cNvPr id="27" name="Text 24"/>
          <p:cNvSpPr txBox="1"/>
          <p:nvPr/>
        </p:nvSpPr>
        <p:spPr>
          <a:xfrm>
            <a:off x="6675120" y="2788920"/>
            <a:ext cx="566928" cy="566928"/>
          </a:xfrm>
          <a:prstGeom prst="rect">
            <a:avLst/>
          </a:prstGeom>
          <a:noFill/>
          <a:ln/>
        </p:spPr>
        <p:txBody>
          <a:bodyPr wrap="square" lIns="0" tIns="0" rIns="0" bIns="0" rtlCol="0" anchor="ctr"/>
          <a:lstStyle/>
          <a:p>
            <a:pPr algn="ctr" indent="0" marL="0">
              <a:buNone/>
            </a:pPr>
            <a:r>
              <a:rPr lang="en-US" sz="2108" b="1" dirty="0">
                <a:solidFill>
                  <a:srgbClr val="FFFFFF"/>
                </a:solidFill>
                <a:latin typeface="Alexandria" pitchFamily="34" charset="0"/>
                <a:ea typeface="Alexandria" pitchFamily="34" charset="-122"/>
                <a:cs typeface="Alexandria" pitchFamily="34" charset="-120"/>
              </a:rPr>
              <a:t>2</a:t>
            </a:r>
            <a:endParaRPr lang="en-US" sz="2108" dirty="0"/>
          </a:p>
        </p:txBody>
      </p:sp>
      <p:sp>
        <p:nvSpPr>
          <p:cNvPr id="28" name="Text 25"/>
          <p:cNvSpPr txBox="1"/>
          <p:nvPr/>
        </p:nvSpPr>
        <p:spPr>
          <a:xfrm>
            <a:off x="7406640" y="2697480"/>
            <a:ext cx="4236415" cy="749808"/>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Đánh dấu P (primary) hoặc S (secondary)</a:t>
            </a:r>
            <a:endParaRPr lang="en-US" sz="1400" dirty="0"/>
          </a:p>
        </p:txBody>
      </p:sp>
      <p:sp>
        <p:nvSpPr>
          <p:cNvPr id="29" name="Shape 26"/>
          <p:cNvSpPr/>
          <p:nvPr/>
        </p:nvSpPr>
        <p:spPr>
          <a:xfrm>
            <a:off x="6675120" y="3657600"/>
            <a:ext cx="566928" cy="566928"/>
          </a:xfrm>
          <a:prstGeom prst="ellipse">
            <a:avLst/>
          </a:prstGeom>
          <a:solidFill>
            <a:srgbClr val="09A1E5"/>
          </a:solidFill>
          <a:ln w="12700">
            <a:solidFill>
              <a:srgbClr val="09A1E5"/>
            </a:solidFill>
            <a:prstDash val="solid"/>
          </a:ln>
        </p:spPr>
      </p:sp>
      <p:sp>
        <p:nvSpPr>
          <p:cNvPr id="30" name="Text 27"/>
          <p:cNvSpPr txBox="1"/>
          <p:nvPr/>
        </p:nvSpPr>
        <p:spPr>
          <a:xfrm>
            <a:off x="6675120" y="3657600"/>
            <a:ext cx="566928" cy="566928"/>
          </a:xfrm>
          <a:prstGeom prst="rect">
            <a:avLst/>
          </a:prstGeom>
          <a:noFill/>
          <a:ln/>
        </p:spPr>
        <p:txBody>
          <a:bodyPr wrap="square" lIns="0" tIns="0" rIns="0" bIns="0" rtlCol="0" anchor="ctr"/>
          <a:lstStyle/>
          <a:p>
            <a:pPr algn="ctr" indent="0" marL="0">
              <a:buNone/>
            </a:pPr>
            <a:r>
              <a:rPr lang="en-US" sz="2108" b="1" dirty="0">
                <a:solidFill>
                  <a:srgbClr val="FFFFFF"/>
                </a:solidFill>
                <a:latin typeface="Alexandria" pitchFamily="34" charset="0"/>
                <a:ea typeface="Alexandria" pitchFamily="34" charset="-122"/>
                <a:cs typeface="Alexandria" pitchFamily="34" charset="-120"/>
              </a:rPr>
              <a:t>3</a:t>
            </a:r>
            <a:endParaRPr lang="en-US" sz="2108" dirty="0"/>
          </a:p>
        </p:txBody>
      </p:sp>
      <p:sp>
        <p:nvSpPr>
          <p:cNvPr id="31" name="Text 28"/>
          <p:cNvSpPr txBox="1"/>
          <p:nvPr/>
        </p:nvSpPr>
        <p:spPr>
          <a:xfrm>
            <a:off x="7406640" y="3566160"/>
            <a:ext cx="4236415" cy="749808"/>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3 bên tranh luận nhiều nhất: 1 câu lý do</a:t>
            </a:r>
            <a:endParaRPr lang="en-US" sz="1400" dirty="0"/>
          </a:p>
        </p:txBody>
      </p:sp>
      <p:sp>
        <p:nvSpPr>
          <p:cNvPr id="32" name="Shape 29"/>
          <p:cNvSpPr/>
          <p:nvPr/>
        </p:nvSpPr>
        <p:spPr>
          <a:xfrm>
            <a:off x="6675120" y="4526280"/>
            <a:ext cx="566928" cy="566928"/>
          </a:xfrm>
          <a:prstGeom prst="ellipse">
            <a:avLst/>
          </a:prstGeom>
          <a:solidFill>
            <a:srgbClr val="49B296"/>
          </a:solidFill>
          <a:ln w="12700">
            <a:solidFill>
              <a:srgbClr val="49B296"/>
            </a:solidFill>
            <a:prstDash val="solid"/>
          </a:ln>
        </p:spPr>
      </p:sp>
      <p:sp>
        <p:nvSpPr>
          <p:cNvPr id="33" name="Text 30"/>
          <p:cNvSpPr txBox="1"/>
          <p:nvPr/>
        </p:nvSpPr>
        <p:spPr>
          <a:xfrm>
            <a:off x="6675120" y="4526280"/>
            <a:ext cx="566928" cy="566928"/>
          </a:xfrm>
          <a:prstGeom prst="rect">
            <a:avLst/>
          </a:prstGeom>
          <a:noFill/>
          <a:ln/>
        </p:spPr>
        <p:txBody>
          <a:bodyPr wrap="square" lIns="0" tIns="0" rIns="0" bIns="0" rtlCol="0" anchor="ctr"/>
          <a:lstStyle/>
          <a:p>
            <a:pPr algn="ctr" indent="0" marL="0">
              <a:buNone/>
            </a:pPr>
            <a:r>
              <a:rPr lang="en-US" sz="2108" b="1" dirty="0">
                <a:solidFill>
                  <a:srgbClr val="FFFFFF"/>
                </a:solidFill>
                <a:latin typeface="Alexandria" pitchFamily="34" charset="0"/>
                <a:ea typeface="Alexandria" pitchFamily="34" charset="-122"/>
                <a:cs typeface="Alexandria" pitchFamily="34" charset="-120"/>
              </a:rPr>
              <a:t>4</a:t>
            </a:r>
            <a:endParaRPr lang="en-US" sz="2108" dirty="0"/>
          </a:p>
        </p:txBody>
      </p:sp>
      <p:sp>
        <p:nvSpPr>
          <p:cNvPr id="34" name="Text 31"/>
          <p:cNvSpPr txBox="1"/>
          <p:nvPr/>
        </p:nvSpPr>
        <p:spPr>
          <a:xfrm>
            <a:off x="7406640" y="4434840"/>
            <a:ext cx="4236415" cy="749808"/>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 2 mũi tên giữa các bên với nhau (không qua Nova)</a:t>
            </a:r>
            <a:endParaRPr lang="en-US" sz="1400" dirty="0"/>
          </a:p>
        </p:txBody>
      </p:sp>
      <p:sp>
        <p:nvSpPr>
          <p:cNvPr id="35" name="Shape 32"/>
          <p:cNvSpPr/>
          <p:nvPr/>
        </p:nvSpPr>
        <p:spPr>
          <a:xfrm>
            <a:off x="6675120" y="5349240"/>
            <a:ext cx="4967935" cy="685800"/>
          </a:xfrm>
          <a:prstGeom prst="roundRect">
            <a:avLst>
              <a:gd name="adj" fmla="val 16000"/>
            </a:avLst>
          </a:prstGeom>
          <a:solidFill>
            <a:srgbClr val="FFE4EA"/>
          </a:solidFill>
          <a:ln w="12700">
            <a:solidFill>
              <a:srgbClr val="FF5178"/>
            </a:solidFill>
            <a:prstDash val="solid"/>
          </a:ln>
        </p:spPr>
      </p:sp>
      <p:sp>
        <p:nvSpPr>
          <p:cNvPr id="36" name="Text 33"/>
          <p:cNvSpPr txBox="1"/>
          <p:nvPr/>
        </p:nvSpPr>
        <p:spPr>
          <a:xfrm>
            <a:off x="6858000" y="5349240"/>
            <a:ext cx="4602175" cy="68580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Không liệt kê nhân sự, crew, tình nguyện viên của Nova.</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3840480" y="1554480"/>
            <a:ext cx="548640" cy="548640"/>
          </a:xfrm>
          <a:prstGeom prst="ellipse">
            <a:avLst/>
          </a:prstGeom>
          <a:solidFill>
            <a:srgbClr val="FF9259"/>
          </a:solidFill>
          <a:ln w="12700">
            <a:solidFill>
              <a:srgbClr val="FF9259"/>
            </a:solidFill>
            <a:prstDash val="solid"/>
          </a:ln>
        </p:spPr>
      </p:sp>
      <p:sp>
        <p:nvSpPr>
          <p:cNvPr id="3" name="Shape 1"/>
          <p:cNvSpPr/>
          <p:nvPr/>
        </p:nvSpPr>
        <p:spPr>
          <a:xfrm>
            <a:off x="4617720" y="1554480"/>
            <a:ext cx="548640" cy="548640"/>
          </a:xfrm>
          <a:prstGeom prst="ellipse">
            <a:avLst/>
          </a:prstGeom>
          <a:solidFill>
            <a:srgbClr val="FFD23B"/>
          </a:solidFill>
          <a:ln w="12700">
            <a:solidFill>
              <a:srgbClr val="FFD23B"/>
            </a:solidFill>
            <a:prstDash val="solid"/>
          </a:ln>
        </p:spPr>
      </p:sp>
      <p:sp>
        <p:nvSpPr>
          <p:cNvPr id="4" name="Shape 2"/>
          <p:cNvSpPr/>
          <p:nvPr/>
        </p:nvSpPr>
        <p:spPr>
          <a:xfrm>
            <a:off x="5394960" y="1554480"/>
            <a:ext cx="548640" cy="548640"/>
          </a:xfrm>
          <a:prstGeom prst="ellipse">
            <a:avLst/>
          </a:prstGeom>
          <a:solidFill>
            <a:srgbClr val="49B296"/>
          </a:solidFill>
          <a:ln w="12700">
            <a:solidFill>
              <a:srgbClr val="49B296"/>
            </a:solidFill>
            <a:prstDash val="solid"/>
          </a:ln>
        </p:spPr>
      </p:sp>
      <p:sp>
        <p:nvSpPr>
          <p:cNvPr id="5" name="Shape 3"/>
          <p:cNvSpPr/>
          <p:nvPr/>
        </p:nvSpPr>
        <p:spPr>
          <a:xfrm>
            <a:off x="6172200" y="1554480"/>
            <a:ext cx="548640" cy="548640"/>
          </a:xfrm>
          <a:prstGeom prst="ellipse">
            <a:avLst/>
          </a:prstGeom>
          <a:solidFill>
            <a:srgbClr val="09A1E5"/>
          </a:solidFill>
          <a:ln w="12700">
            <a:solidFill>
              <a:srgbClr val="09A1E5"/>
            </a:solidFill>
            <a:prstDash val="solid"/>
          </a:ln>
        </p:spPr>
      </p:sp>
      <p:sp>
        <p:nvSpPr>
          <p:cNvPr id="6" name="Shape 4"/>
          <p:cNvSpPr/>
          <p:nvPr/>
        </p:nvSpPr>
        <p:spPr>
          <a:xfrm>
            <a:off x="6949440" y="1554480"/>
            <a:ext cx="548640" cy="548640"/>
          </a:xfrm>
          <a:prstGeom prst="ellipse">
            <a:avLst/>
          </a:prstGeom>
          <a:solidFill>
            <a:srgbClr val="962B7C"/>
          </a:solidFill>
          <a:ln w="12700">
            <a:solidFill>
              <a:srgbClr val="962B7C"/>
            </a:solidFill>
            <a:prstDash val="solid"/>
          </a:ln>
        </p:spPr>
      </p:sp>
      <p:sp>
        <p:nvSpPr>
          <p:cNvPr id="7" name="Shape 5"/>
          <p:cNvSpPr/>
          <p:nvPr/>
        </p:nvSpPr>
        <p:spPr>
          <a:xfrm>
            <a:off x="7726680" y="1554480"/>
            <a:ext cx="548640" cy="548640"/>
          </a:xfrm>
          <a:prstGeom prst="ellipse">
            <a:avLst/>
          </a:prstGeom>
          <a:solidFill>
            <a:srgbClr val="FF5178"/>
          </a:solidFill>
          <a:ln w="12700">
            <a:solidFill>
              <a:srgbClr val="FF5178"/>
            </a:solidFill>
            <a:prstDash val="solid"/>
          </a:ln>
        </p:spPr>
      </p:sp>
      <p:sp>
        <p:nvSpPr>
          <p:cNvPr id="8" name="Text 6"/>
          <p:cNvSpPr txBox="1"/>
          <p:nvPr/>
        </p:nvSpPr>
        <p:spPr>
          <a:xfrm>
            <a:off x="548640" y="2468880"/>
            <a:ext cx="11094415" cy="1097280"/>
          </a:xfrm>
          <a:prstGeom prst="rect">
            <a:avLst/>
          </a:prstGeom>
          <a:noFill/>
          <a:ln/>
        </p:spPr>
        <p:txBody>
          <a:bodyPr wrap="square" lIns="0" tIns="0" rIns="0" bIns="0" rtlCol="0" anchor="ctr"/>
          <a:lstStyle/>
          <a:p>
            <a:pPr algn="ctr" indent="0" marL="0">
              <a:buNone/>
            </a:pPr>
            <a:r>
              <a:rPr lang="en-US" sz="5400" b="1" dirty="0">
                <a:solidFill>
                  <a:srgbClr val="2A2238"/>
                </a:solidFill>
                <a:latin typeface="Alexandria" pitchFamily="34" charset="0"/>
                <a:ea typeface="Alexandria" pitchFamily="34" charset="-122"/>
                <a:cs typeface="Alexandria" pitchFamily="34" charset="-120"/>
              </a:rPr>
              <a:t>Giải lao 8 phút</a:t>
            </a:r>
            <a:endParaRPr lang="en-US" sz="5400" dirty="0"/>
          </a:p>
        </p:txBody>
      </p:sp>
      <p:sp>
        <p:nvSpPr>
          <p:cNvPr id="9" name="Text 7"/>
          <p:cNvSpPr txBox="1"/>
          <p:nvPr/>
        </p:nvSpPr>
        <p:spPr>
          <a:xfrm>
            <a:off x="548640" y="3749040"/>
            <a:ext cx="11094415" cy="640080"/>
          </a:xfrm>
          <a:prstGeom prst="rect">
            <a:avLst/>
          </a:prstGeom>
          <a:noFill/>
          <a:ln/>
        </p:spPr>
        <p:txBody>
          <a:bodyPr wrap="square" lIns="0" tIns="0" rIns="0" bIns="0" rtlCol="0" anchor="ctr"/>
          <a:lstStyle/>
          <a:p>
            <a:pPr algn="ctr" indent="0" marL="0">
              <a:buNone/>
            </a:pPr>
            <a:r>
              <a:rPr lang="en-US" sz="2600" dirty="0">
                <a:solidFill>
                  <a:srgbClr val="962B7C"/>
                </a:solidFill>
                <a:latin typeface="Alexandria" pitchFamily="34" charset="0"/>
                <a:ea typeface="Alexandria" pitchFamily="34" charset="-122"/>
                <a:cs typeface="Alexandria" pitchFamily="34" charset="-120"/>
              </a:rPr>
              <a:t>Quay lại lúc  ____ : ____</a:t>
            </a:r>
            <a:endParaRPr lang="en-US" sz="2600" dirty="0"/>
          </a:p>
        </p:txBody>
      </p:sp>
      <p:sp>
        <p:nvSpPr>
          <p:cNvPr id="10" name="Text 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Không thể chăm sóc mọi bên như nhau — cần công cụ ưu tiên</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17</a:t>
            </a:r>
            <a:endParaRPr lang="en-US" sz="1000" dirty="0"/>
          </a:p>
        </p:txBody>
      </p:sp>
      <p:sp>
        <p:nvSpPr>
          <p:cNvPr id="19" name="Shape 16"/>
          <p:cNvSpPr/>
          <p:nvPr/>
        </p:nvSpPr>
        <p:spPr>
          <a:xfrm>
            <a:off x="731520" y="2194560"/>
            <a:ext cx="640080" cy="640080"/>
          </a:xfrm>
          <a:prstGeom prst="ellipse">
            <a:avLst/>
          </a:prstGeom>
          <a:solidFill>
            <a:srgbClr val="962B7C"/>
          </a:solidFill>
          <a:ln w="12700">
            <a:solidFill>
              <a:srgbClr val="962B7C"/>
            </a:solidFill>
            <a:prstDash val="solid"/>
          </a:ln>
        </p:spPr>
      </p:sp>
      <p:sp>
        <p:nvSpPr>
          <p:cNvPr id="20" name="Shape 17"/>
          <p:cNvSpPr/>
          <p:nvPr/>
        </p:nvSpPr>
        <p:spPr>
          <a:xfrm>
            <a:off x="1600200" y="2194560"/>
            <a:ext cx="640080" cy="640080"/>
          </a:xfrm>
          <a:prstGeom prst="ellipse">
            <a:avLst/>
          </a:prstGeom>
          <a:solidFill>
            <a:srgbClr val="09A1E5"/>
          </a:solidFill>
          <a:ln w="12700">
            <a:solidFill>
              <a:srgbClr val="09A1E5"/>
            </a:solidFill>
            <a:prstDash val="solid"/>
          </a:ln>
        </p:spPr>
      </p:sp>
      <p:sp>
        <p:nvSpPr>
          <p:cNvPr id="21" name="Shape 18"/>
          <p:cNvSpPr/>
          <p:nvPr/>
        </p:nvSpPr>
        <p:spPr>
          <a:xfrm>
            <a:off x="2468880" y="2194560"/>
            <a:ext cx="640080" cy="640080"/>
          </a:xfrm>
          <a:prstGeom prst="ellipse">
            <a:avLst/>
          </a:prstGeom>
          <a:solidFill>
            <a:srgbClr val="FF9259"/>
          </a:solidFill>
          <a:ln w="12700">
            <a:solidFill>
              <a:srgbClr val="FF9259"/>
            </a:solidFill>
            <a:prstDash val="solid"/>
          </a:ln>
        </p:spPr>
      </p:sp>
      <p:sp>
        <p:nvSpPr>
          <p:cNvPr id="22" name="Shape 19"/>
          <p:cNvSpPr/>
          <p:nvPr/>
        </p:nvSpPr>
        <p:spPr>
          <a:xfrm>
            <a:off x="3337560" y="2194560"/>
            <a:ext cx="640080" cy="640080"/>
          </a:xfrm>
          <a:prstGeom prst="ellipse">
            <a:avLst/>
          </a:prstGeom>
          <a:solidFill>
            <a:srgbClr val="49B296"/>
          </a:solidFill>
          <a:ln w="12700">
            <a:solidFill>
              <a:srgbClr val="49B296"/>
            </a:solidFill>
            <a:prstDash val="solid"/>
          </a:ln>
        </p:spPr>
      </p:sp>
      <p:sp>
        <p:nvSpPr>
          <p:cNvPr id="23" name="Shape 20"/>
          <p:cNvSpPr/>
          <p:nvPr/>
        </p:nvSpPr>
        <p:spPr>
          <a:xfrm>
            <a:off x="4206240" y="2194560"/>
            <a:ext cx="640080" cy="640080"/>
          </a:xfrm>
          <a:prstGeom prst="ellipse">
            <a:avLst/>
          </a:prstGeom>
          <a:solidFill>
            <a:srgbClr val="FF5178"/>
          </a:solidFill>
          <a:ln w="12700">
            <a:solidFill>
              <a:srgbClr val="FF5178"/>
            </a:solidFill>
            <a:prstDash val="solid"/>
          </a:ln>
        </p:spPr>
      </p:sp>
      <p:sp>
        <p:nvSpPr>
          <p:cNvPr id="24" name="Shape 21"/>
          <p:cNvSpPr/>
          <p:nvPr/>
        </p:nvSpPr>
        <p:spPr>
          <a:xfrm>
            <a:off x="5074920" y="2194560"/>
            <a:ext cx="640080" cy="640080"/>
          </a:xfrm>
          <a:prstGeom prst="ellipse">
            <a:avLst/>
          </a:prstGeom>
          <a:solidFill>
            <a:srgbClr val="962B7C"/>
          </a:solidFill>
          <a:ln w="12700">
            <a:solidFill>
              <a:srgbClr val="962B7C"/>
            </a:solidFill>
            <a:prstDash val="solid"/>
          </a:ln>
        </p:spPr>
      </p:sp>
      <p:sp>
        <p:nvSpPr>
          <p:cNvPr id="25" name="Shape 22"/>
          <p:cNvSpPr/>
          <p:nvPr/>
        </p:nvSpPr>
        <p:spPr>
          <a:xfrm>
            <a:off x="5943600" y="2194560"/>
            <a:ext cx="640080" cy="640080"/>
          </a:xfrm>
          <a:prstGeom prst="ellipse">
            <a:avLst/>
          </a:prstGeom>
          <a:solidFill>
            <a:srgbClr val="09A1E5"/>
          </a:solidFill>
          <a:ln w="12700">
            <a:solidFill>
              <a:srgbClr val="09A1E5"/>
            </a:solidFill>
            <a:prstDash val="solid"/>
          </a:ln>
        </p:spPr>
      </p:sp>
      <p:sp>
        <p:nvSpPr>
          <p:cNvPr id="26" name="Shape 23"/>
          <p:cNvSpPr/>
          <p:nvPr/>
        </p:nvSpPr>
        <p:spPr>
          <a:xfrm>
            <a:off x="731520" y="3108960"/>
            <a:ext cx="640080" cy="640080"/>
          </a:xfrm>
          <a:prstGeom prst="ellipse">
            <a:avLst/>
          </a:prstGeom>
          <a:solidFill>
            <a:srgbClr val="FF9259"/>
          </a:solidFill>
          <a:ln w="12700">
            <a:solidFill>
              <a:srgbClr val="FF9259"/>
            </a:solidFill>
            <a:prstDash val="solid"/>
          </a:ln>
        </p:spPr>
      </p:sp>
      <p:sp>
        <p:nvSpPr>
          <p:cNvPr id="27" name="Shape 24"/>
          <p:cNvSpPr/>
          <p:nvPr/>
        </p:nvSpPr>
        <p:spPr>
          <a:xfrm>
            <a:off x="1600200" y="3108960"/>
            <a:ext cx="640080" cy="640080"/>
          </a:xfrm>
          <a:prstGeom prst="ellipse">
            <a:avLst/>
          </a:prstGeom>
          <a:solidFill>
            <a:srgbClr val="49B296"/>
          </a:solidFill>
          <a:ln w="12700">
            <a:solidFill>
              <a:srgbClr val="49B296"/>
            </a:solidFill>
            <a:prstDash val="solid"/>
          </a:ln>
        </p:spPr>
      </p:sp>
      <p:sp>
        <p:nvSpPr>
          <p:cNvPr id="28" name="Shape 25"/>
          <p:cNvSpPr/>
          <p:nvPr/>
        </p:nvSpPr>
        <p:spPr>
          <a:xfrm>
            <a:off x="2468880" y="3108960"/>
            <a:ext cx="640080" cy="640080"/>
          </a:xfrm>
          <a:prstGeom prst="ellipse">
            <a:avLst/>
          </a:prstGeom>
          <a:solidFill>
            <a:srgbClr val="FF5178"/>
          </a:solidFill>
          <a:ln w="12700">
            <a:solidFill>
              <a:srgbClr val="FF5178"/>
            </a:solidFill>
            <a:prstDash val="solid"/>
          </a:ln>
        </p:spPr>
      </p:sp>
      <p:sp>
        <p:nvSpPr>
          <p:cNvPr id="29" name="Shape 26"/>
          <p:cNvSpPr/>
          <p:nvPr/>
        </p:nvSpPr>
        <p:spPr>
          <a:xfrm>
            <a:off x="3337560" y="3108960"/>
            <a:ext cx="640080" cy="640080"/>
          </a:xfrm>
          <a:prstGeom prst="ellipse">
            <a:avLst/>
          </a:prstGeom>
          <a:solidFill>
            <a:srgbClr val="962B7C"/>
          </a:solidFill>
          <a:ln w="12700">
            <a:solidFill>
              <a:srgbClr val="962B7C"/>
            </a:solidFill>
            <a:prstDash val="solid"/>
          </a:ln>
        </p:spPr>
      </p:sp>
      <p:sp>
        <p:nvSpPr>
          <p:cNvPr id="30" name="Shape 27"/>
          <p:cNvSpPr/>
          <p:nvPr/>
        </p:nvSpPr>
        <p:spPr>
          <a:xfrm>
            <a:off x="4206240" y="3108960"/>
            <a:ext cx="640080" cy="640080"/>
          </a:xfrm>
          <a:prstGeom prst="ellipse">
            <a:avLst/>
          </a:prstGeom>
          <a:solidFill>
            <a:srgbClr val="09A1E5"/>
          </a:solidFill>
          <a:ln w="12700">
            <a:solidFill>
              <a:srgbClr val="09A1E5"/>
            </a:solidFill>
            <a:prstDash val="solid"/>
          </a:ln>
        </p:spPr>
      </p:sp>
      <p:sp>
        <p:nvSpPr>
          <p:cNvPr id="31" name="Shape 28"/>
          <p:cNvSpPr/>
          <p:nvPr/>
        </p:nvSpPr>
        <p:spPr>
          <a:xfrm>
            <a:off x="5074920" y="3108960"/>
            <a:ext cx="640080" cy="640080"/>
          </a:xfrm>
          <a:prstGeom prst="ellipse">
            <a:avLst/>
          </a:prstGeom>
          <a:solidFill>
            <a:srgbClr val="FF9259"/>
          </a:solidFill>
          <a:ln w="12700">
            <a:solidFill>
              <a:srgbClr val="FF9259"/>
            </a:solidFill>
            <a:prstDash val="solid"/>
          </a:ln>
        </p:spPr>
      </p:sp>
      <p:sp>
        <p:nvSpPr>
          <p:cNvPr id="32" name="Shape 29"/>
          <p:cNvSpPr/>
          <p:nvPr/>
        </p:nvSpPr>
        <p:spPr>
          <a:xfrm>
            <a:off x="5943600" y="3108960"/>
            <a:ext cx="640080" cy="640080"/>
          </a:xfrm>
          <a:prstGeom prst="ellipse">
            <a:avLst/>
          </a:prstGeom>
          <a:solidFill>
            <a:srgbClr val="49B296"/>
          </a:solidFill>
          <a:ln w="12700">
            <a:solidFill>
              <a:srgbClr val="49B296"/>
            </a:solidFill>
            <a:prstDash val="solid"/>
          </a:ln>
        </p:spPr>
      </p:sp>
      <p:sp>
        <p:nvSpPr>
          <p:cNvPr id="33" name="Text 30"/>
          <p:cNvSpPr txBox="1"/>
          <p:nvPr/>
        </p:nvSpPr>
        <p:spPr>
          <a:xfrm>
            <a:off x="548640" y="4114800"/>
            <a:ext cx="6400800" cy="411480"/>
          </a:xfrm>
          <a:prstGeom prst="rect">
            <a:avLst/>
          </a:prstGeom>
          <a:noFill/>
          <a:ln/>
        </p:spPr>
        <p:txBody>
          <a:bodyPr wrap="square" lIns="0" tIns="0" rIns="0" bIns="0" rtlCol="0" anchor="ctr"/>
          <a:lstStyle/>
          <a:p>
            <a:pPr indent="0" marL="0">
              <a:buNone/>
            </a:pPr>
            <a:r>
              <a:rPr lang="en-US" sz="1500" dirty="0">
                <a:solidFill>
                  <a:srgbClr val="6E6878"/>
                </a:solidFill>
                <a:latin typeface="Alexandria" pitchFamily="34" charset="0"/>
                <a:ea typeface="Alexandria" pitchFamily="34" charset="-122"/>
                <a:cs typeface="Alexandria" pitchFamily="34" charset="-120"/>
              </a:rPr>
              <a:t>12–15 bên liên quan trên sơ đồ của các bạn</a:t>
            </a:r>
            <a:endParaRPr lang="en-US" sz="1500" dirty="0"/>
          </a:p>
        </p:txBody>
      </p:sp>
      <p:sp>
        <p:nvSpPr>
          <p:cNvPr id="34" name="Shape 31"/>
          <p:cNvSpPr/>
          <p:nvPr/>
        </p:nvSpPr>
        <p:spPr>
          <a:xfrm>
            <a:off x="7223760" y="1920240"/>
            <a:ext cx="4419295" cy="2743200"/>
          </a:xfrm>
          <a:prstGeom prst="roundRect">
            <a:avLst>
              <a:gd name="adj" fmla="val 4000"/>
            </a:avLst>
          </a:prstGeom>
          <a:solidFill>
            <a:srgbClr val="FFF3C4"/>
          </a:solidFill>
          <a:ln w="12700">
            <a:solidFill>
              <a:srgbClr val="FFD23B"/>
            </a:solidFill>
            <a:prstDash val="solid"/>
          </a:ln>
        </p:spPr>
      </p:sp>
      <p:sp>
        <p:nvSpPr>
          <p:cNvPr id="35" name="Text 32"/>
          <p:cNvSpPr txBox="1"/>
          <p:nvPr/>
        </p:nvSpPr>
        <p:spPr>
          <a:xfrm>
            <a:off x="7543800" y="1920240"/>
            <a:ext cx="3779215" cy="2743200"/>
          </a:xfrm>
          <a:prstGeom prst="rect">
            <a:avLst/>
          </a:prstGeom>
          <a:noFill/>
          <a:ln/>
        </p:spPr>
        <p:txBody>
          <a:bodyPr wrap="square" lIns="0" tIns="0" rIns="0" bIns="0" rtlCol="0" anchor="ctr"/>
          <a:lstStyle/>
          <a:p>
            <a:pPr indent="0" marL="0">
              <a:spcAft>
                <a:spcPts val="800"/>
              </a:spcAft>
              <a:buNone/>
            </a:pPr>
            <a:r>
              <a:rPr lang="en-US" sz="1700" dirty="0">
                <a:solidFill>
                  <a:srgbClr val="2A2238"/>
                </a:solidFill>
                <a:latin typeface="Alexandria" pitchFamily="34" charset="0"/>
                <a:ea typeface="Alexandria" pitchFamily="34" charset="-122"/>
                <a:cs typeface="Alexandria" pitchFamily="34" charset="-120"/>
              </a:rPr>
              <a:t>Thời gian và ngân sách có hạn.</a:t>
            </a:r>
            <a:endParaRPr lang="en-US" sz="1700" dirty="0"/>
          </a:p>
          <a:p>
            <a:pPr indent="0" marL="0">
              <a:spcAft>
                <a:spcPts val="800"/>
              </a:spcAft>
              <a:buNone/>
            </a:pPr>
            <a:r>
              <a:rPr lang="en-US" sz="2200" b="1" dirty="0">
                <a:solidFill>
                  <a:srgbClr val="2A2238"/>
                </a:solidFill>
                <a:latin typeface="Alexandria" pitchFamily="34" charset="0"/>
                <a:ea typeface="Alexandria" pitchFamily="34" charset="-122"/>
                <a:cs typeface="Alexandria" pitchFamily="34" charset="-120"/>
              </a:rPr>
              <a:t>Ai cần được ưu tiên — và ưu tiên theo cách nào?</a:t>
            </a:r>
            <a:endParaRPr lang="en-US" sz="1700" dirty="0"/>
          </a:p>
        </p:txBody>
      </p:sp>
      <p:sp>
        <p:nvSpPr>
          <p:cNvPr id="36" name="Shape 33"/>
          <p:cNvSpPr/>
          <p:nvPr/>
        </p:nvSpPr>
        <p:spPr>
          <a:xfrm>
            <a:off x="548640" y="5120640"/>
            <a:ext cx="5410048" cy="731520"/>
          </a:xfrm>
          <a:prstGeom prst="roundRect">
            <a:avLst>
              <a:gd name="adj" fmla="val 50000"/>
            </a:avLst>
          </a:prstGeom>
          <a:solidFill>
            <a:srgbClr val="962B7C"/>
          </a:solidFill>
          <a:ln w="12700">
            <a:solidFill>
              <a:srgbClr val="962B7C"/>
            </a:solidFill>
            <a:prstDash val="solid"/>
          </a:ln>
        </p:spPr>
      </p:sp>
      <p:sp>
        <p:nvSpPr>
          <p:cNvPr id="37" name="Text 34"/>
          <p:cNvSpPr txBox="1"/>
          <p:nvPr/>
        </p:nvSpPr>
        <p:spPr>
          <a:xfrm>
            <a:off x="621792" y="5120640"/>
            <a:ext cx="5263744"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Power-Interest Grid</a:t>
            </a:r>
            <a:endParaRPr lang="en-US" sz="1600" dirty="0"/>
          </a:p>
        </p:txBody>
      </p:sp>
      <p:sp>
        <p:nvSpPr>
          <p:cNvPr id="38" name="Shape 35"/>
          <p:cNvSpPr/>
          <p:nvPr/>
        </p:nvSpPr>
        <p:spPr>
          <a:xfrm>
            <a:off x="6233008" y="5120640"/>
            <a:ext cx="5410048" cy="731520"/>
          </a:xfrm>
          <a:prstGeom prst="roundRect">
            <a:avLst>
              <a:gd name="adj" fmla="val 50000"/>
            </a:avLst>
          </a:prstGeom>
          <a:solidFill>
            <a:srgbClr val="09A1E5"/>
          </a:solidFill>
          <a:ln w="12700">
            <a:solidFill>
              <a:srgbClr val="09A1E5"/>
            </a:solidFill>
            <a:prstDash val="solid"/>
          </a:ln>
        </p:spPr>
      </p:sp>
      <p:sp>
        <p:nvSpPr>
          <p:cNvPr id="39" name="Text 36"/>
          <p:cNvSpPr txBox="1"/>
          <p:nvPr/>
        </p:nvSpPr>
        <p:spPr>
          <a:xfrm>
            <a:off x="6306160" y="5120640"/>
            <a:ext cx="5263744"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Stakeholder Salience Model</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Power-Interest Grid chia các bên thành 4 chiến lược ứng xử</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A07: phát triển từ Mendelow (1981), ICIS 1981 Proceedings — đã xác minh.</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18</a:t>
            </a:r>
            <a:endParaRPr lang="en-US" sz="1000" dirty="0"/>
          </a:p>
        </p:txBody>
      </p:sp>
      <p:sp>
        <p:nvSpPr>
          <p:cNvPr id="20" name="Shape 17"/>
          <p:cNvSpPr/>
          <p:nvPr/>
        </p:nvSpPr>
        <p:spPr>
          <a:xfrm>
            <a:off x="960120" y="1828800"/>
            <a:ext cx="5295748" cy="1943100"/>
          </a:xfrm>
          <a:prstGeom prst="roundRect">
            <a:avLst>
              <a:gd name="adj" fmla="val 5647"/>
            </a:avLst>
          </a:prstGeom>
          <a:solidFill>
            <a:srgbClr val="DDF1FB"/>
          </a:solidFill>
          <a:ln w="19050">
            <a:solidFill>
              <a:srgbClr val="09A1E5"/>
            </a:solidFill>
            <a:prstDash val="solid"/>
          </a:ln>
        </p:spPr>
      </p:sp>
      <p:sp>
        <p:nvSpPr>
          <p:cNvPr id="21" name="Text 18"/>
          <p:cNvSpPr txBox="1"/>
          <p:nvPr/>
        </p:nvSpPr>
        <p:spPr>
          <a:xfrm>
            <a:off x="1143000" y="1938528"/>
            <a:ext cx="4929988" cy="4114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Keep Satisfied</a:t>
            </a:r>
            <a:endParaRPr lang="en-US" sz="1600" dirty="0"/>
          </a:p>
        </p:txBody>
      </p:sp>
      <p:sp>
        <p:nvSpPr>
          <p:cNvPr id="22" name="Text 19"/>
          <p:cNvSpPr txBox="1"/>
          <p:nvPr/>
        </p:nvSpPr>
        <p:spPr>
          <a:xfrm>
            <a:off x="1143000" y="2377440"/>
            <a:ext cx="4929988" cy="130302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Giữ hài lòng: đáp ứng yêu cầu, không làm phiền quá mức, theo dõi dấu hiệu họ “thức dậy”</a:t>
            </a:r>
            <a:endParaRPr lang="en-US" sz="1400" dirty="0"/>
          </a:p>
        </p:txBody>
      </p:sp>
      <p:sp>
        <p:nvSpPr>
          <p:cNvPr id="23" name="Shape 20"/>
          <p:cNvSpPr/>
          <p:nvPr/>
        </p:nvSpPr>
        <p:spPr>
          <a:xfrm>
            <a:off x="6347308" y="1828800"/>
            <a:ext cx="5295748" cy="1943100"/>
          </a:xfrm>
          <a:prstGeom prst="roundRect">
            <a:avLst>
              <a:gd name="adj" fmla="val 5647"/>
            </a:avLst>
          </a:prstGeom>
          <a:solidFill>
            <a:srgbClr val="F1E1EE"/>
          </a:solidFill>
          <a:ln w="19050">
            <a:solidFill>
              <a:srgbClr val="962B7C"/>
            </a:solidFill>
            <a:prstDash val="solid"/>
          </a:ln>
        </p:spPr>
      </p:sp>
      <p:sp>
        <p:nvSpPr>
          <p:cNvPr id="24" name="Text 21"/>
          <p:cNvSpPr txBox="1"/>
          <p:nvPr/>
        </p:nvSpPr>
        <p:spPr>
          <a:xfrm>
            <a:off x="6530188" y="1938528"/>
            <a:ext cx="4929988" cy="4114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Manage Closely</a:t>
            </a:r>
            <a:endParaRPr lang="en-US" sz="1600" dirty="0"/>
          </a:p>
        </p:txBody>
      </p:sp>
      <p:sp>
        <p:nvSpPr>
          <p:cNvPr id="25" name="Text 22"/>
          <p:cNvSpPr txBox="1"/>
          <p:nvPr/>
        </p:nvSpPr>
        <p:spPr>
          <a:xfrm>
            <a:off x="6530188" y="2377440"/>
            <a:ext cx="4929988" cy="130302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Quản lý chặt: tham vấn thường xuyên, cùng ra quyết định</a:t>
            </a:r>
            <a:endParaRPr lang="en-US" sz="1400" dirty="0"/>
          </a:p>
        </p:txBody>
      </p:sp>
      <p:sp>
        <p:nvSpPr>
          <p:cNvPr id="26" name="Shape 23"/>
          <p:cNvSpPr/>
          <p:nvPr/>
        </p:nvSpPr>
        <p:spPr>
          <a:xfrm>
            <a:off x="960120" y="3863340"/>
            <a:ext cx="5295748" cy="1943100"/>
          </a:xfrm>
          <a:prstGeom prst="roundRect">
            <a:avLst>
              <a:gd name="adj" fmla="val 5647"/>
            </a:avLst>
          </a:prstGeom>
          <a:solidFill>
            <a:srgbClr val="E1F3EE"/>
          </a:solidFill>
          <a:ln w="19050">
            <a:solidFill>
              <a:srgbClr val="49B296"/>
            </a:solidFill>
            <a:prstDash val="solid"/>
          </a:ln>
        </p:spPr>
      </p:sp>
      <p:sp>
        <p:nvSpPr>
          <p:cNvPr id="27" name="Text 24"/>
          <p:cNvSpPr txBox="1"/>
          <p:nvPr/>
        </p:nvSpPr>
        <p:spPr>
          <a:xfrm>
            <a:off x="1143000" y="3973068"/>
            <a:ext cx="4929988" cy="4114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Monitor</a:t>
            </a:r>
            <a:endParaRPr lang="en-US" sz="1600" dirty="0"/>
          </a:p>
        </p:txBody>
      </p:sp>
      <p:sp>
        <p:nvSpPr>
          <p:cNvPr id="28" name="Text 25"/>
          <p:cNvSpPr txBox="1"/>
          <p:nvPr/>
        </p:nvSpPr>
        <p:spPr>
          <a:xfrm>
            <a:off x="1143000" y="4411980"/>
            <a:ext cx="4929988" cy="130302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Theo dõi: nỗ lực tối thiểu</a:t>
            </a:r>
            <a:endParaRPr lang="en-US" sz="1400" dirty="0"/>
          </a:p>
        </p:txBody>
      </p:sp>
      <p:sp>
        <p:nvSpPr>
          <p:cNvPr id="29" name="Shape 26"/>
          <p:cNvSpPr/>
          <p:nvPr/>
        </p:nvSpPr>
        <p:spPr>
          <a:xfrm>
            <a:off x="6347308" y="3863340"/>
            <a:ext cx="5295748" cy="1943100"/>
          </a:xfrm>
          <a:prstGeom prst="roundRect">
            <a:avLst>
              <a:gd name="adj" fmla="val 5647"/>
            </a:avLst>
          </a:prstGeom>
          <a:solidFill>
            <a:srgbClr val="FFE9DE"/>
          </a:solidFill>
          <a:ln w="19050">
            <a:solidFill>
              <a:srgbClr val="FF9259"/>
            </a:solidFill>
            <a:prstDash val="solid"/>
          </a:ln>
        </p:spPr>
      </p:sp>
      <p:sp>
        <p:nvSpPr>
          <p:cNvPr id="30" name="Text 27"/>
          <p:cNvSpPr txBox="1"/>
          <p:nvPr/>
        </p:nvSpPr>
        <p:spPr>
          <a:xfrm>
            <a:off x="6530188" y="3973068"/>
            <a:ext cx="4929988" cy="4114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Keep Informed</a:t>
            </a:r>
            <a:endParaRPr lang="en-US" sz="1600" dirty="0"/>
          </a:p>
        </p:txBody>
      </p:sp>
      <p:sp>
        <p:nvSpPr>
          <p:cNvPr id="31" name="Text 28"/>
          <p:cNvSpPr txBox="1"/>
          <p:nvPr/>
        </p:nvSpPr>
        <p:spPr>
          <a:xfrm>
            <a:off x="6530188" y="4411980"/>
            <a:ext cx="4929988" cy="130302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Thông tin đầy đủ: cập nhật định kỳ, lắng nghe — có thể thành đồng minh hoặc nguồn khủng hoảng</a:t>
            </a:r>
            <a:endParaRPr lang="en-US" sz="1400" dirty="0"/>
          </a:p>
        </p:txBody>
      </p:sp>
      <p:sp>
        <p:nvSpPr>
          <p:cNvPr id="32" name="Shape 29"/>
          <p:cNvSpPr/>
          <p:nvPr/>
        </p:nvSpPr>
        <p:spPr>
          <a:xfrm flipV="1">
            <a:off x="877824" y="1828800"/>
            <a:ext cx="914" cy="3977640"/>
          </a:xfrm>
          <a:prstGeom prst="line">
            <a:avLst/>
          </a:prstGeom>
          <a:noFill/>
          <a:ln w="19050">
            <a:solidFill>
              <a:srgbClr val="6E6878"/>
            </a:solidFill>
            <a:prstDash val="solid"/>
            <a:tailEnd type="triangle"/>
          </a:ln>
        </p:spPr>
      </p:sp>
      <p:sp>
        <p:nvSpPr>
          <p:cNvPr id="33" name="Text 30"/>
          <p:cNvSpPr txBox="1"/>
          <p:nvPr/>
        </p:nvSpPr>
        <p:spPr>
          <a:xfrm rot="16200000">
            <a:off x="-1348740" y="3680460"/>
            <a:ext cx="3977640" cy="274320"/>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Quyền lực  →  cao</a:t>
            </a:r>
            <a:endParaRPr lang="en-US" sz="1100" dirty="0"/>
          </a:p>
        </p:txBody>
      </p:sp>
      <p:sp>
        <p:nvSpPr>
          <p:cNvPr id="34" name="Shape 31"/>
          <p:cNvSpPr/>
          <p:nvPr/>
        </p:nvSpPr>
        <p:spPr>
          <a:xfrm>
            <a:off x="960120" y="5989320"/>
            <a:ext cx="10682935" cy="914"/>
          </a:xfrm>
          <a:prstGeom prst="line">
            <a:avLst/>
          </a:prstGeom>
          <a:noFill/>
          <a:ln w="19050">
            <a:solidFill>
              <a:srgbClr val="6E6878"/>
            </a:solidFill>
            <a:prstDash val="solid"/>
            <a:tailEnd type="triangle"/>
          </a:ln>
        </p:spPr>
      </p:sp>
      <p:sp>
        <p:nvSpPr>
          <p:cNvPr id="35" name="Text 32"/>
          <p:cNvSpPr txBox="1"/>
          <p:nvPr/>
        </p:nvSpPr>
        <p:spPr>
          <a:xfrm>
            <a:off x="960120" y="6025896"/>
            <a:ext cx="10682935" cy="201168"/>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Mức độ quan tâm  →  cao</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Ví dụ: ngân hàng cần quản lý chặt, khách sạn cần giữ hài lòng</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Ví dụ mẫu — tình huống giả định Nova Events – An Phát.</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19</a:t>
            </a:r>
            <a:endParaRPr lang="en-US" sz="1000" dirty="0"/>
          </a:p>
        </p:txBody>
      </p:sp>
      <p:sp>
        <p:nvSpPr>
          <p:cNvPr id="20" name="Shape 17"/>
          <p:cNvSpPr/>
          <p:nvPr/>
        </p:nvSpPr>
        <p:spPr>
          <a:xfrm>
            <a:off x="960120" y="1828800"/>
            <a:ext cx="3223260" cy="1943100"/>
          </a:xfrm>
          <a:prstGeom prst="roundRect">
            <a:avLst>
              <a:gd name="adj" fmla="val 5647"/>
            </a:avLst>
          </a:prstGeom>
          <a:solidFill>
            <a:srgbClr val="DDF1FB"/>
          </a:solidFill>
          <a:ln w="19050">
            <a:solidFill>
              <a:srgbClr val="09A1E5"/>
            </a:solidFill>
            <a:prstDash val="solid"/>
          </a:ln>
        </p:spPr>
      </p:sp>
      <p:sp>
        <p:nvSpPr>
          <p:cNvPr id="21" name="Text 18"/>
          <p:cNvSpPr txBox="1"/>
          <p:nvPr/>
        </p:nvSpPr>
        <p:spPr>
          <a:xfrm>
            <a:off x="1143000" y="1938528"/>
            <a:ext cx="2857500" cy="4114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Keep Satisfied</a:t>
            </a:r>
            <a:endParaRPr lang="en-US" sz="1500" dirty="0"/>
          </a:p>
        </p:txBody>
      </p:sp>
      <p:sp>
        <p:nvSpPr>
          <p:cNvPr id="22" name="Shape 19"/>
          <p:cNvSpPr/>
          <p:nvPr/>
        </p:nvSpPr>
        <p:spPr>
          <a:xfrm>
            <a:off x="4274820" y="1828800"/>
            <a:ext cx="3223260" cy="1943100"/>
          </a:xfrm>
          <a:prstGeom prst="roundRect">
            <a:avLst>
              <a:gd name="adj" fmla="val 5647"/>
            </a:avLst>
          </a:prstGeom>
          <a:solidFill>
            <a:srgbClr val="F1E1EE"/>
          </a:solidFill>
          <a:ln w="19050">
            <a:solidFill>
              <a:srgbClr val="962B7C"/>
            </a:solidFill>
            <a:prstDash val="solid"/>
          </a:ln>
        </p:spPr>
      </p:sp>
      <p:sp>
        <p:nvSpPr>
          <p:cNvPr id="23" name="Text 20"/>
          <p:cNvSpPr txBox="1"/>
          <p:nvPr/>
        </p:nvSpPr>
        <p:spPr>
          <a:xfrm>
            <a:off x="4457700" y="1938528"/>
            <a:ext cx="2857500" cy="4114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Manage Closely</a:t>
            </a:r>
            <a:endParaRPr lang="en-US" sz="1500" dirty="0"/>
          </a:p>
        </p:txBody>
      </p:sp>
      <p:sp>
        <p:nvSpPr>
          <p:cNvPr id="24" name="Shape 21"/>
          <p:cNvSpPr/>
          <p:nvPr/>
        </p:nvSpPr>
        <p:spPr>
          <a:xfrm>
            <a:off x="960120" y="3863340"/>
            <a:ext cx="3223260" cy="1943100"/>
          </a:xfrm>
          <a:prstGeom prst="roundRect">
            <a:avLst>
              <a:gd name="adj" fmla="val 5647"/>
            </a:avLst>
          </a:prstGeom>
          <a:solidFill>
            <a:srgbClr val="E1F3EE"/>
          </a:solidFill>
          <a:ln w="19050">
            <a:solidFill>
              <a:srgbClr val="49B296"/>
            </a:solidFill>
            <a:prstDash val="solid"/>
          </a:ln>
        </p:spPr>
      </p:sp>
      <p:sp>
        <p:nvSpPr>
          <p:cNvPr id="25" name="Text 22"/>
          <p:cNvSpPr txBox="1"/>
          <p:nvPr/>
        </p:nvSpPr>
        <p:spPr>
          <a:xfrm>
            <a:off x="1143000" y="3973068"/>
            <a:ext cx="2857500" cy="4114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Monitor</a:t>
            </a:r>
            <a:endParaRPr lang="en-US" sz="1500" dirty="0"/>
          </a:p>
        </p:txBody>
      </p:sp>
      <p:sp>
        <p:nvSpPr>
          <p:cNvPr id="26" name="Shape 23"/>
          <p:cNvSpPr/>
          <p:nvPr/>
        </p:nvSpPr>
        <p:spPr>
          <a:xfrm>
            <a:off x="4274820" y="3863340"/>
            <a:ext cx="3223260" cy="1943100"/>
          </a:xfrm>
          <a:prstGeom prst="roundRect">
            <a:avLst>
              <a:gd name="adj" fmla="val 5647"/>
            </a:avLst>
          </a:prstGeom>
          <a:solidFill>
            <a:srgbClr val="FFE9DE"/>
          </a:solidFill>
          <a:ln w="19050">
            <a:solidFill>
              <a:srgbClr val="FF9259"/>
            </a:solidFill>
            <a:prstDash val="solid"/>
          </a:ln>
        </p:spPr>
      </p:sp>
      <p:sp>
        <p:nvSpPr>
          <p:cNvPr id="27" name="Text 24"/>
          <p:cNvSpPr txBox="1"/>
          <p:nvPr/>
        </p:nvSpPr>
        <p:spPr>
          <a:xfrm>
            <a:off x="4457700" y="3973068"/>
            <a:ext cx="2857500" cy="4114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Keep Informed</a:t>
            </a:r>
            <a:endParaRPr lang="en-US" sz="1500" dirty="0"/>
          </a:p>
        </p:txBody>
      </p:sp>
      <p:sp>
        <p:nvSpPr>
          <p:cNvPr id="28" name="Shape 25"/>
          <p:cNvSpPr/>
          <p:nvPr/>
        </p:nvSpPr>
        <p:spPr>
          <a:xfrm flipV="1">
            <a:off x="877824" y="1828800"/>
            <a:ext cx="914" cy="3977640"/>
          </a:xfrm>
          <a:prstGeom prst="line">
            <a:avLst/>
          </a:prstGeom>
          <a:noFill/>
          <a:ln w="19050">
            <a:solidFill>
              <a:srgbClr val="6E6878"/>
            </a:solidFill>
            <a:prstDash val="solid"/>
            <a:tailEnd type="triangle"/>
          </a:ln>
        </p:spPr>
      </p:sp>
      <p:sp>
        <p:nvSpPr>
          <p:cNvPr id="29" name="Text 26"/>
          <p:cNvSpPr txBox="1"/>
          <p:nvPr/>
        </p:nvSpPr>
        <p:spPr>
          <a:xfrm rot="16200000">
            <a:off x="-1348740" y="3680460"/>
            <a:ext cx="3977640" cy="274320"/>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Quyền lực  →  cao</a:t>
            </a:r>
            <a:endParaRPr lang="en-US" sz="1100" dirty="0"/>
          </a:p>
        </p:txBody>
      </p:sp>
      <p:sp>
        <p:nvSpPr>
          <p:cNvPr id="30" name="Shape 27"/>
          <p:cNvSpPr/>
          <p:nvPr/>
        </p:nvSpPr>
        <p:spPr>
          <a:xfrm>
            <a:off x="960120" y="5989320"/>
            <a:ext cx="6537960" cy="914"/>
          </a:xfrm>
          <a:prstGeom prst="line">
            <a:avLst/>
          </a:prstGeom>
          <a:noFill/>
          <a:ln w="19050">
            <a:solidFill>
              <a:srgbClr val="6E6878"/>
            </a:solidFill>
            <a:prstDash val="solid"/>
            <a:tailEnd type="triangle"/>
          </a:ln>
        </p:spPr>
      </p:sp>
      <p:sp>
        <p:nvSpPr>
          <p:cNvPr id="31" name="Text 28"/>
          <p:cNvSpPr txBox="1"/>
          <p:nvPr/>
        </p:nvSpPr>
        <p:spPr>
          <a:xfrm>
            <a:off x="960120" y="6025896"/>
            <a:ext cx="6537960" cy="201168"/>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Mức độ quan tâm  →  cao</a:t>
            </a:r>
            <a:endParaRPr lang="en-US" sz="1100" dirty="0"/>
          </a:p>
        </p:txBody>
      </p:sp>
      <p:sp>
        <p:nvSpPr>
          <p:cNvPr id="32" name="Shape 29"/>
          <p:cNvSpPr/>
          <p:nvPr/>
        </p:nvSpPr>
        <p:spPr>
          <a:xfrm>
            <a:off x="4503420" y="2560320"/>
            <a:ext cx="2766060" cy="685800"/>
          </a:xfrm>
          <a:prstGeom prst="roundRect">
            <a:avLst>
              <a:gd name="adj" fmla="val 16000"/>
            </a:avLst>
          </a:prstGeom>
          <a:solidFill>
            <a:srgbClr val="FFFFFF"/>
          </a:solidFill>
          <a:ln w="25400">
            <a:solidFill>
              <a:srgbClr val="962B7C"/>
            </a:solidFill>
            <a:prstDash val="solid"/>
          </a:ln>
        </p:spPr>
      </p:sp>
      <p:sp>
        <p:nvSpPr>
          <p:cNvPr id="33" name="Text 30"/>
          <p:cNvSpPr txBox="1"/>
          <p:nvPr/>
        </p:nvSpPr>
        <p:spPr>
          <a:xfrm>
            <a:off x="4594860" y="2560320"/>
            <a:ext cx="2583180" cy="68580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Ngân hàng An Phát</a:t>
            </a:r>
            <a:endParaRPr lang="en-US" sz="1400" dirty="0"/>
          </a:p>
        </p:txBody>
      </p:sp>
      <p:sp>
        <p:nvSpPr>
          <p:cNvPr id="34" name="Shape 31"/>
          <p:cNvSpPr/>
          <p:nvPr/>
        </p:nvSpPr>
        <p:spPr>
          <a:xfrm>
            <a:off x="1188720" y="2560320"/>
            <a:ext cx="2766060" cy="685800"/>
          </a:xfrm>
          <a:prstGeom prst="roundRect">
            <a:avLst>
              <a:gd name="adj" fmla="val 16000"/>
            </a:avLst>
          </a:prstGeom>
          <a:solidFill>
            <a:srgbClr val="FFFFFF"/>
          </a:solidFill>
          <a:ln w="25400">
            <a:solidFill>
              <a:srgbClr val="09A1E5"/>
            </a:solidFill>
            <a:prstDash val="solid"/>
          </a:ln>
        </p:spPr>
      </p:sp>
      <p:sp>
        <p:nvSpPr>
          <p:cNvPr id="35" name="Text 32"/>
          <p:cNvSpPr txBox="1"/>
          <p:nvPr/>
        </p:nvSpPr>
        <p:spPr>
          <a:xfrm>
            <a:off x="1280160" y="2560320"/>
            <a:ext cx="2583180" cy="68580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Ban quản lý khách sạn</a:t>
            </a:r>
            <a:endParaRPr lang="en-US" sz="1400" dirty="0"/>
          </a:p>
        </p:txBody>
      </p:sp>
      <p:sp>
        <p:nvSpPr>
          <p:cNvPr id="36" name="Shape 33"/>
          <p:cNvSpPr/>
          <p:nvPr/>
        </p:nvSpPr>
        <p:spPr>
          <a:xfrm>
            <a:off x="4503420" y="4594860"/>
            <a:ext cx="2766060" cy="685800"/>
          </a:xfrm>
          <a:prstGeom prst="roundRect">
            <a:avLst>
              <a:gd name="adj" fmla="val 16000"/>
            </a:avLst>
          </a:prstGeom>
          <a:solidFill>
            <a:srgbClr val="FFFFFF"/>
          </a:solidFill>
          <a:ln w="25400">
            <a:solidFill>
              <a:srgbClr val="FF9259"/>
            </a:solidFill>
            <a:prstDash val="solid"/>
          </a:ln>
        </p:spPr>
      </p:sp>
      <p:sp>
        <p:nvSpPr>
          <p:cNvPr id="37" name="Text 34"/>
          <p:cNvSpPr txBox="1"/>
          <p:nvPr/>
        </p:nvSpPr>
        <p:spPr>
          <a:xfrm>
            <a:off x="4594860" y="4594860"/>
            <a:ext cx="2583180" cy="68580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Báo chí tài chính</a:t>
            </a:r>
            <a:endParaRPr lang="en-US" sz="1400" dirty="0"/>
          </a:p>
        </p:txBody>
      </p:sp>
      <p:sp>
        <p:nvSpPr>
          <p:cNvPr id="38" name="Shape 35"/>
          <p:cNvSpPr/>
          <p:nvPr/>
        </p:nvSpPr>
        <p:spPr>
          <a:xfrm>
            <a:off x="7863840" y="1828800"/>
            <a:ext cx="3779215" cy="1234440"/>
          </a:xfrm>
          <a:prstGeom prst="roundRect">
            <a:avLst>
              <a:gd name="adj" fmla="val 8889"/>
            </a:avLst>
          </a:prstGeom>
          <a:solidFill>
            <a:srgbClr val="F1E1EE"/>
          </a:solidFill>
          <a:ln w="12700">
            <a:solidFill>
              <a:srgbClr val="962B7C"/>
            </a:solidFill>
            <a:prstDash val="solid"/>
          </a:ln>
        </p:spPr>
      </p:sp>
      <p:sp>
        <p:nvSpPr>
          <p:cNvPr id="39" name="Text 36"/>
          <p:cNvSpPr txBox="1"/>
          <p:nvPr/>
        </p:nvSpPr>
        <p:spPr>
          <a:xfrm>
            <a:off x="8092440" y="1828800"/>
            <a:ext cx="3322015" cy="123444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Ngân hàng</a:t>
            </a:r>
            <a:endParaRPr lang="en-US" sz="1600" dirty="0"/>
          </a:p>
          <a:p>
            <a:pPr indent="0" marL="0">
              <a:buNone/>
            </a:pPr>
            <a:r>
              <a:rPr lang="en-US" sz="1300" dirty="0">
                <a:solidFill>
                  <a:srgbClr val="2A2238"/>
                </a:solidFill>
                <a:latin typeface="Alexandria" pitchFamily="34" charset="0"/>
                <a:ea typeface="Alexandria" pitchFamily="34" charset="-122"/>
                <a:cs typeface="Alexandria" pitchFamily="34" charset="-120"/>
              </a:rPr>
              <a:t>ký hợp đồng, trả tiền; sự kiện mang thương hiệu của họ</a:t>
            </a:r>
            <a:endParaRPr lang="en-US" sz="1600" dirty="0"/>
          </a:p>
        </p:txBody>
      </p:sp>
      <p:sp>
        <p:nvSpPr>
          <p:cNvPr id="40" name="Shape 37"/>
          <p:cNvSpPr/>
          <p:nvPr/>
        </p:nvSpPr>
        <p:spPr>
          <a:xfrm>
            <a:off x="7863840" y="3200400"/>
            <a:ext cx="3779215" cy="1234440"/>
          </a:xfrm>
          <a:prstGeom prst="roundRect">
            <a:avLst>
              <a:gd name="adj" fmla="val 8889"/>
            </a:avLst>
          </a:prstGeom>
          <a:solidFill>
            <a:srgbClr val="DDF1FB"/>
          </a:solidFill>
          <a:ln w="12700">
            <a:solidFill>
              <a:srgbClr val="09A1E5"/>
            </a:solidFill>
            <a:prstDash val="solid"/>
          </a:ln>
        </p:spPr>
      </p:sp>
      <p:sp>
        <p:nvSpPr>
          <p:cNvPr id="41" name="Text 38"/>
          <p:cNvSpPr txBox="1"/>
          <p:nvPr/>
        </p:nvSpPr>
        <p:spPr>
          <a:xfrm>
            <a:off x="8092440" y="3200400"/>
            <a:ext cx="3322015" cy="123444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Khách sạn</a:t>
            </a:r>
            <a:endParaRPr lang="en-US" sz="1600" dirty="0"/>
          </a:p>
          <a:p>
            <a:pPr indent="0" marL="0">
              <a:buNone/>
            </a:pPr>
            <a:r>
              <a:rPr lang="en-US" sz="1300" dirty="0">
                <a:solidFill>
                  <a:srgbClr val="2A2238"/>
                </a:solidFill>
                <a:latin typeface="Alexandria" pitchFamily="34" charset="0"/>
                <a:ea typeface="Alexandria" pitchFamily="34" charset="-122"/>
                <a:cs typeface="Alexandria" pitchFamily="34" charset="-120"/>
              </a:rPr>
              <a:t>kiểm soát không gian, giờ giấc; một hợp đồng trong nhiều hợp đồng</a:t>
            </a:r>
            <a:endParaRPr lang="en-US" sz="1600" dirty="0"/>
          </a:p>
        </p:txBody>
      </p:sp>
      <p:sp>
        <p:nvSpPr>
          <p:cNvPr id="42" name="Shape 39"/>
          <p:cNvSpPr/>
          <p:nvPr/>
        </p:nvSpPr>
        <p:spPr>
          <a:xfrm>
            <a:off x="7863840" y="4572000"/>
            <a:ext cx="3779215" cy="1234440"/>
          </a:xfrm>
          <a:prstGeom prst="roundRect">
            <a:avLst>
              <a:gd name="adj" fmla="val 8889"/>
            </a:avLst>
          </a:prstGeom>
          <a:solidFill>
            <a:srgbClr val="FFE9DE"/>
          </a:solidFill>
          <a:ln w="12700">
            <a:solidFill>
              <a:srgbClr val="FF9259"/>
            </a:solidFill>
            <a:prstDash val="solid"/>
          </a:ln>
        </p:spPr>
      </p:sp>
      <p:sp>
        <p:nvSpPr>
          <p:cNvPr id="43" name="Text 40"/>
          <p:cNvSpPr txBox="1"/>
          <p:nvPr/>
        </p:nvSpPr>
        <p:spPr>
          <a:xfrm>
            <a:off x="8092440" y="4572000"/>
            <a:ext cx="3322015" cy="123444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Báo chí</a:t>
            </a:r>
            <a:endParaRPr lang="en-US" sz="1600" dirty="0"/>
          </a:p>
          <a:p>
            <a:pPr indent="0" marL="0">
              <a:buNone/>
            </a:pPr>
            <a:r>
              <a:rPr lang="en-US" sz="1300" dirty="0">
                <a:solidFill>
                  <a:srgbClr val="2A2238"/>
                </a:solidFill>
                <a:latin typeface="Alexandria" pitchFamily="34" charset="0"/>
                <a:ea typeface="Alexandria" pitchFamily="34" charset="-122"/>
                <a:cs typeface="Alexandria" pitchFamily="34" charset="-120"/>
              </a:rPr>
              <a:t>quan tâm nếu có câu chuyện; quyền lực trực tiếp thấp</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Grid là ảnh chụp tĩnh và bỏ qua tính chính đáng</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20</a:t>
            </a:r>
            <a:endParaRPr lang="en-US" sz="1000" dirty="0"/>
          </a:p>
        </p:txBody>
      </p:sp>
      <p:sp>
        <p:nvSpPr>
          <p:cNvPr id="19" name="Shape 16"/>
          <p:cNvSpPr/>
          <p:nvPr/>
        </p:nvSpPr>
        <p:spPr>
          <a:xfrm>
            <a:off x="548640" y="1920240"/>
            <a:ext cx="5410048" cy="1508760"/>
          </a:xfrm>
          <a:prstGeom prst="roundRect">
            <a:avLst>
              <a:gd name="adj" fmla="val 7273"/>
            </a:avLst>
          </a:prstGeom>
          <a:solidFill>
            <a:srgbClr val="FFFFFF"/>
          </a:solidFill>
          <a:ln w="19050">
            <a:solidFill>
              <a:srgbClr val="962B7C"/>
            </a:solidFill>
            <a:prstDash val="solid"/>
          </a:ln>
        </p:spPr>
      </p:sp>
      <p:sp>
        <p:nvSpPr>
          <p:cNvPr id="20" name="Shape 17"/>
          <p:cNvSpPr/>
          <p:nvPr/>
        </p:nvSpPr>
        <p:spPr>
          <a:xfrm>
            <a:off x="822960" y="2286000"/>
            <a:ext cx="777240" cy="777240"/>
          </a:xfrm>
          <a:prstGeom prst="ellipse">
            <a:avLst/>
          </a:prstGeom>
          <a:solidFill>
            <a:srgbClr val="962B7C"/>
          </a:solidFill>
          <a:ln w="12700">
            <a:solidFill>
              <a:srgbClr val="962B7C"/>
            </a:solidFill>
            <a:prstDash val="solid"/>
          </a:ln>
        </p:spPr>
      </p:sp>
      <p:sp>
        <p:nvSpPr>
          <p:cNvPr id="21" name="Text 18"/>
          <p:cNvSpPr txBox="1"/>
          <p:nvPr/>
        </p:nvSpPr>
        <p:spPr>
          <a:xfrm>
            <a:off x="822960" y="2286000"/>
            <a:ext cx="77724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1</a:t>
            </a:r>
            <a:endParaRPr lang="en-US" sz="2200" dirty="0"/>
          </a:p>
        </p:txBody>
      </p:sp>
      <p:sp>
        <p:nvSpPr>
          <p:cNvPr id="22" name="Text 19"/>
          <p:cNvSpPr txBox="1"/>
          <p:nvPr/>
        </p:nvSpPr>
        <p:spPr>
          <a:xfrm>
            <a:off x="1828800" y="1920240"/>
            <a:ext cx="3947008" cy="150876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Chỉ có 2 chiều</a:t>
            </a:r>
            <a:endParaRPr lang="en-US" sz="2000" dirty="0"/>
          </a:p>
          <a:p>
            <a:pPr indent="0" marL="0">
              <a:buNone/>
            </a:pPr>
            <a:r>
              <a:rPr lang="en-US" sz="1400" dirty="0">
                <a:solidFill>
                  <a:srgbClr val="6E6878"/>
                </a:solidFill>
                <a:latin typeface="Alexandria" pitchFamily="34" charset="0"/>
                <a:ea typeface="Alexandria" pitchFamily="34" charset="-122"/>
                <a:cs typeface="Alexandria" pitchFamily="34" charset="-120"/>
              </a:rPr>
              <a:t>quyền lực và quan tâm</a:t>
            </a:r>
            <a:endParaRPr lang="en-US" sz="2000" dirty="0"/>
          </a:p>
        </p:txBody>
      </p:sp>
      <p:sp>
        <p:nvSpPr>
          <p:cNvPr id="23" name="Shape 20"/>
          <p:cNvSpPr/>
          <p:nvPr/>
        </p:nvSpPr>
        <p:spPr>
          <a:xfrm>
            <a:off x="6233008" y="1920240"/>
            <a:ext cx="5410048" cy="1508760"/>
          </a:xfrm>
          <a:prstGeom prst="roundRect">
            <a:avLst>
              <a:gd name="adj" fmla="val 7273"/>
            </a:avLst>
          </a:prstGeom>
          <a:solidFill>
            <a:srgbClr val="FFFFFF"/>
          </a:solidFill>
          <a:ln w="19050">
            <a:solidFill>
              <a:srgbClr val="09A1E5"/>
            </a:solidFill>
            <a:prstDash val="solid"/>
          </a:ln>
        </p:spPr>
      </p:sp>
      <p:sp>
        <p:nvSpPr>
          <p:cNvPr id="24" name="Shape 21"/>
          <p:cNvSpPr/>
          <p:nvPr/>
        </p:nvSpPr>
        <p:spPr>
          <a:xfrm>
            <a:off x="6507328" y="2286000"/>
            <a:ext cx="777240" cy="777240"/>
          </a:xfrm>
          <a:prstGeom prst="ellipse">
            <a:avLst/>
          </a:prstGeom>
          <a:solidFill>
            <a:srgbClr val="09A1E5"/>
          </a:solidFill>
          <a:ln w="12700">
            <a:solidFill>
              <a:srgbClr val="09A1E5"/>
            </a:solidFill>
            <a:prstDash val="solid"/>
          </a:ln>
        </p:spPr>
      </p:sp>
      <p:sp>
        <p:nvSpPr>
          <p:cNvPr id="25" name="Text 22"/>
          <p:cNvSpPr txBox="1"/>
          <p:nvPr/>
        </p:nvSpPr>
        <p:spPr>
          <a:xfrm>
            <a:off x="6507328" y="2286000"/>
            <a:ext cx="77724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2</a:t>
            </a:r>
            <a:endParaRPr lang="en-US" sz="2200" dirty="0"/>
          </a:p>
        </p:txBody>
      </p:sp>
      <p:sp>
        <p:nvSpPr>
          <p:cNvPr id="26" name="Text 23"/>
          <p:cNvSpPr txBox="1"/>
          <p:nvPr/>
        </p:nvSpPr>
        <p:spPr>
          <a:xfrm>
            <a:off x="7513168" y="1920240"/>
            <a:ext cx="3947008" cy="150876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Ảnh chụp tĩnh</a:t>
            </a:r>
            <a:endParaRPr lang="en-US" sz="2000" dirty="0"/>
          </a:p>
          <a:p>
            <a:pPr indent="0" marL="0">
              <a:buNone/>
            </a:pPr>
            <a:r>
              <a:rPr lang="en-US" sz="1400" dirty="0">
                <a:solidFill>
                  <a:srgbClr val="6E6878"/>
                </a:solidFill>
                <a:latin typeface="Alexandria" pitchFamily="34" charset="0"/>
                <a:ea typeface="Alexandria" pitchFamily="34" charset="-122"/>
                <a:cs typeface="Alexandria" pitchFamily="34" charset="-120"/>
              </a:rPr>
              <a:t>vị trí thay đổi theo thời gian</a:t>
            </a:r>
            <a:endParaRPr lang="en-US" sz="2000" dirty="0"/>
          </a:p>
        </p:txBody>
      </p:sp>
      <p:sp>
        <p:nvSpPr>
          <p:cNvPr id="27" name="Shape 24"/>
          <p:cNvSpPr/>
          <p:nvPr/>
        </p:nvSpPr>
        <p:spPr>
          <a:xfrm>
            <a:off x="548640" y="3657600"/>
            <a:ext cx="5410048" cy="1508760"/>
          </a:xfrm>
          <a:prstGeom prst="roundRect">
            <a:avLst>
              <a:gd name="adj" fmla="val 7273"/>
            </a:avLst>
          </a:prstGeom>
          <a:solidFill>
            <a:srgbClr val="FFFFFF"/>
          </a:solidFill>
          <a:ln w="19050">
            <a:solidFill>
              <a:srgbClr val="FF9259"/>
            </a:solidFill>
            <a:prstDash val="solid"/>
          </a:ln>
        </p:spPr>
      </p:sp>
      <p:sp>
        <p:nvSpPr>
          <p:cNvPr id="28" name="Shape 25"/>
          <p:cNvSpPr/>
          <p:nvPr/>
        </p:nvSpPr>
        <p:spPr>
          <a:xfrm>
            <a:off x="822960" y="4023360"/>
            <a:ext cx="777240" cy="777240"/>
          </a:xfrm>
          <a:prstGeom prst="ellipse">
            <a:avLst/>
          </a:prstGeom>
          <a:solidFill>
            <a:srgbClr val="FF9259"/>
          </a:solidFill>
          <a:ln w="12700">
            <a:solidFill>
              <a:srgbClr val="FF9259"/>
            </a:solidFill>
            <a:prstDash val="solid"/>
          </a:ln>
        </p:spPr>
      </p:sp>
      <p:sp>
        <p:nvSpPr>
          <p:cNvPr id="29" name="Text 26"/>
          <p:cNvSpPr txBox="1"/>
          <p:nvPr/>
        </p:nvSpPr>
        <p:spPr>
          <a:xfrm>
            <a:off x="822960" y="4023360"/>
            <a:ext cx="777240" cy="777240"/>
          </a:xfrm>
          <a:prstGeom prst="rect">
            <a:avLst/>
          </a:prstGeom>
          <a:noFill/>
          <a:ln/>
        </p:spPr>
        <p:txBody>
          <a:bodyPr wrap="square" lIns="0" tIns="0" rIns="0" bIns="0" rtlCol="0" anchor="ctr"/>
          <a:lstStyle/>
          <a:p>
            <a:pPr algn="ctr" indent="0" marL="0">
              <a:buNone/>
            </a:pPr>
            <a:r>
              <a:rPr lang="en-US" sz="2200" b="1" dirty="0">
                <a:solidFill>
                  <a:srgbClr val="2A2238"/>
                </a:solidFill>
                <a:latin typeface="Alexandria" pitchFamily="34" charset="0"/>
                <a:ea typeface="Alexandria" pitchFamily="34" charset="-122"/>
                <a:cs typeface="Alexandria" pitchFamily="34" charset="-120"/>
              </a:rPr>
              <a:t>3</a:t>
            </a:r>
            <a:endParaRPr lang="en-US" sz="2200" dirty="0"/>
          </a:p>
        </p:txBody>
      </p:sp>
      <p:sp>
        <p:nvSpPr>
          <p:cNvPr id="30" name="Text 27"/>
          <p:cNvSpPr txBox="1"/>
          <p:nvPr/>
        </p:nvSpPr>
        <p:spPr>
          <a:xfrm>
            <a:off x="1828800" y="3657600"/>
            <a:ext cx="3947008" cy="150876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Đánh giá chủ quan</a:t>
            </a:r>
            <a:endParaRPr lang="en-US" sz="2000" dirty="0"/>
          </a:p>
          <a:p>
            <a:pPr indent="0" marL="0">
              <a:buNone/>
            </a:pPr>
            <a:r>
              <a:rPr lang="en-US" sz="1400" dirty="0">
                <a:solidFill>
                  <a:srgbClr val="6E6878"/>
                </a:solidFill>
                <a:latin typeface="Alexandria" pitchFamily="34" charset="0"/>
                <a:ea typeface="Alexandria" pitchFamily="34" charset="-122"/>
                <a:cs typeface="Alexandria" pitchFamily="34" charset="-120"/>
              </a:rPr>
              <a:t>cần bằng chứng</a:t>
            </a:r>
            <a:endParaRPr lang="en-US" sz="2000" dirty="0"/>
          </a:p>
        </p:txBody>
      </p:sp>
      <p:sp>
        <p:nvSpPr>
          <p:cNvPr id="31" name="Shape 28"/>
          <p:cNvSpPr/>
          <p:nvPr/>
        </p:nvSpPr>
        <p:spPr>
          <a:xfrm>
            <a:off x="6233008" y="3657600"/>
            <a:ext cx="5410048" cy="1508760"/>
          </a:xfrm>
          <a:prstGeom prst="roundRect">
            <a:avLst>
              <a:gd name="adj" fmla="val 7273"/>
            </a:avLst>
          </a:prstGeom>
          <a:solidFill>
            <a:srgbClr val="FFE4EA"/>
          </a:solidFill>
          <a:ln w="19050">
            <a:solidFill>
              <a:srgbClr val="FF5178"/>
            </a:solidFill>
            <a:prstDash val="solid"/>
          </a:ln>
        </p:spPr>
      </p:sp>
      <p:sp>
        <p:nvSpPr>
          <p:cNvPr id="32" name="Shape 29"/>
          <p:cNvSpPr/>
          <p:nvPr/>
        </p:nvSpPr>
        <p:spPr>
          <a:xfrm>
            <a:off x="6507328" y="4023360"/>
            <a:ext cx="777240" cy="777240"/>
          </a:xfrm>
          <a:prstGeom prst="ellipse">
            <a:avLst/>
          </a:prstGeom>
          <a:solidFill>
            <a:srgbClr val="FF5178"/>
          </a:solidFill>
          <a:ln w="12700">
            <a:solidFill>
              <a:srgbClr val="FF5178"/>
            </a:solidFill>
            <a:prstDash val="solid"/>
          </a:ln>
        </p:spPr>
      </p:sp>
      <p:sp>
        <p:nvSpPr>
          <p:cNvPr id="33" name="Text 30"/>
          <p:cNvSpPr txBox="1"/>
          <p:nvPr/>
        </p:nvSpPr>
        <p:spPr>
          <a:xfrm>
            <a:off x="6507328" y="4023360"/>
            <a:ext cx="77724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4</a:t>
            </a:r>
            <a:endParaRPr lang="en-US" sz="2200" dirty="0"/>
          </a:p>
        </p:txBody>
      </p:sp>
      <p:sp>
        <p:nvSpPr>
          <p:cNvPr id="34" name="Text 31"/>
          <p:cNvSpPr txBox="1"/>
          <p:nvPr/>
        </p:nvSpPr>
        <p:spPr>
          <a:xfrm>
            <a:off x="7513168" y="3657600"/>
            <a:ext cx="3947008" cy="150876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Bỏ qua tính chính đáng</a:t>
            </a:r>
            <a:endParaRPr lang="en-US" sz="2000" dirty="0"/>
          </a:p>
          <a:p>
            <a:pPr indent="0" marL="0">
              <a:buNone/>
            </a:pPr>
            <a:r>
              <a:rPr lang="en-US" sz="1400" dirty="0">
                <a:solidFill>
                  <a:srgbClr val="6E6878"/>
                </a:solidFill>
                <a:latin typeface="Alexandria" pitchFamily="34" charset="0"/>
                <a:ea typeface="Alexandria" pitchFamily="34" charset="-122"/>
                <a:cs typeface="Alexandria" pitchFamily="34" charset="-120"/>
              </a:rPr>
              <a:t>yêu cầu của họ có hợp lý không?</a:t>
            </a:r>
            <a:endParaRPr lang="en-US" sz="2000" dirty="0"/>
          </a:p>
        </p:txBody>
      </p:sp>
      <p:sp>
        <p:nvSpPr>
          <p:cNvPr id="35" name="Text 32"/>
          <p:cNvSpPr txBox="1"/>
          <p:nvPr/>
        </p:nvSpPr>
        <p:spPr>
          <a:xfrm>
            <a:off x="548640" y="5486400"/>
            <a:ext cx="11094415" cy="457200"/>
          </a:xfrm>
          <a:prstGeom prst="rect">
            <a:avLst/>
          </a:prstGeom>
          <a:noFill/>
          <a:ln/>
        </p:spPr>
        <p:txBody>
          <a:bodyPr wrap="square" lIns="0" tIns="0" rIns="0" bIns="0" rtlCol="0" anchor="ctr"/>
          <a:lstStyle/>
          <a:p>
            <a:pPr indent="0" marL="0">
              <a:buNone/>
            </a:pPr>
            <a:r>
              <a:rPr lang="en-US" sz="1600" b="1" dirty="0">
                <a:solidFill>
                  <a:srgbClr val="0A7FB5"/>
                </a:solidFill>
                <a:latin typeface="Alexandria" pitchFamily="34" charset="0"/>
                <a:ea typeface="Alexandria" pitchFamily="34" charset="-122"/>
                <a:cs typeface="Alexandria" pitchFamily="34" charset="-120"/>
              </a:rPr>
              <a:t>→ cần thêm một công cụ: Salience Model</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Salience Model đo 3 thuộc tính: quyền lực, chính đáng, cấp bách</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A08: Mitchell, Agle &amp; Wood (1997), Academy of Management Review.</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21</a:t>
            </a:r>
            <a:endParaRPr lang="en-US" sz="1000" dirty="0"/>
          </a:p>
        </p:txBody>
      </p:sp>
      <p:sp>
        <p:nvSpPr>
          <p:cNvPr id="20" name="Shape 17"/>
          <p:cNvSpPr/>
          <p:nvPr/>
        </p:nvSpPr>
        <p:spPr>
          <a:xfrm>
            <a:off x="548640" y="1920240"/>
            <a:ext cx="3515258" cy="3108960"/>
          </a:xfrm>
          <a:prstGeom prst="roundRect">
            <a:avLst>
              <a:gd name="adj" fmla="val 3529"/>
            </a:avLst>
          </a:prstGeom>
          <a:solidFill>
            <a:srgbClr val="F1E1EE"/>
          </a:solidFill>
          <a:ln w="19050">
            <a:solidFill>
              <a:srgbClr val="962B7C"/>
            </a:solidFill>
            <a:prstDash val="solid"/>
          </a:ln>
        </p:spPr>
      </p:sp>
      <p:sp>
        <p:nvSpPr>
          <p:cNvPr id="21" name="Text 18"/>
          <p:cNvSpPr txBox="1"/>
          <p:nvPr/>
        </p:nvSpPr>
        <p:spPr>
          <a:xfrm>
            <a:off x="868680" y="2103120"/>
            <a:ext cx="2875178" cy="548640"/>
          </a:xfrm>
          <a:prstGeom prst="rect">
            <a:avLst/>
          </a:prstGeom>
          <a:noFill/>
          <a:ln/>
        </p:spPr>
        <p:txBody>
          <a:bodyPr wrap="square" lIns="0" tIns="0" rIns="0" bIns="0" rtlCol="0" anchor="ctr"/>
          <a:lstStyle/>
          <a:p>
            <a:pPr indent="0" marL="0">
              <a:buNone/>
            </a:pPr>
            <a:r>
              <a:rPr lang="en-US" sz="2400" b="1" dirty="0">
                <a:solidFill>
                  <a:srgbClr val="962B7C"/>
                </a:solidFill>
                <a:latin typeface="Alexandria" pitchFamily="34" charset="0"/>
                <a:ea typeface="Alexandria" pitchFamily="34" charset="-122"/>
                <a:cs typeface="Alexandria" pitchFamily="34" charset="-120"/>
              </a:rPr>
              <a:t>Quyền lực</a:t>
            </a:r>
            <a:endParaRPr lang="en-US" sz="2400" dirty="0"/>
          </a:p>
        </p:txBody>
      </p:sp>
      <p:sp>
        <p:nvSpPr>
          <p:cNvPr id="22" name="Text 19"/>
          <p:cNvSpPr txBox="1"/>
          <p:nvPr/>
        </p:nvSpPr>
        <p:spPr>
          <a:xfrm>
            <a:off x="868680" y="2651760"/>
            <a:ext cx="2875178" cy="365760"/>
          </a:xfrm>
          <a:prstGeom prst="rect">
            <a:avLst/>
          </a:prstGeom>
          <a:noFill/>
          <a:ln/>
        </p:spPr>
        <p:txBody>
          <a:bodyPr wrap="square" lIns="0" tIns="0" rIns="0" bIns="0" rtlCol="0" anchor="ctr"/>
          <a:lstStyle/>
          <a:p>
            <a:pPr indent="0" marL="0">
              <a:buNone/>
            </a:pPr>
            <a:r>
              <a:rPr lang="en-US" sz="1400" i="1" dirty="0">
                <a:solidFill>
                  <a:srgbClr val="6E6878"/>
                </a:solidFill>
                <a:latin typeface="Alexandria" pitchFamily="34" charset="0"/>
                <a:ea typeface="Alexandria" pitchFamily="34" charset="-122"/>
                <a:cs typeface="Alexandria" pitchFamily="34" charset="-120"/>
              </a:rPr>
              <a:t>Power</a:t>
            </a:r>
            <a:endParaRPr lang="en-US" sz="1400" dirty="0"/>
          </a:p>
        </p:txBody>
      </p:sp>
      <p:sp>
        <p:nvSpPr>
          <p:cNvPr id="23" name="Text 20"/>
          <p:cNvSpPr txBox="1"/>
          <p:nvPr/>
        </p:nvSpPr>
        <p:spPr>
          <a:xfrm>
            <a:off x="868680" y="3154680"/>
            <a:ext cx="2875178" cy="173736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khả năng buộc bên kia làm điều họ lẽ ra không làm — bằng sức ép, tiền/nguồn lực, hoặc uy tín</a:t>
            </a:r>
            <a:endParaRPr lang="en-US" sz="1500" dirty="0"/>
          </a:p>
        </p:txBody>
      </p:sp>
      <p:sp>
        <p:nvSpPr>
          <p:cNvPr id="24" name="Shape 21"/>
          <p:cNvSpPr/>
          <p:nvPr/>
        </p:nvSpPr>
        <p:spPr>
          <a:xfrm>
            <a:off x="4338218" y="1920240"/>
            <a:ext cx="3515258" cy="3108960"/>
          </a:xfrm>
          <a:prstGeom prst="roundRect">
            <a:avLst>
              <a:gd name="adj" fmla="val 3529"/>
            </a:avLst>
          </a:prstGeom>
          <a:solidFill>
            <a:srgbClr val="DDF1FB"/>
          </a:solidFill>
          <a:ln w="19050">
            <a:solidFill>
              <a:srgbClr val="09A1E5"/>
            </a:solidFill>
            <a:prstDash val="solid"/>
          </a:ln>
        </p:spPr>
      </p:sp>
      <p:sp>
        <p:nvSpPr>
          <p:cNvPr id="25" name="Text 22"/>
          <p:cNvSpPr txBox="1"/>
          <p:nvPr/>
        </p:nvSpPr>
        <p:spPr>
          <a:xfrm>
            <a:off x="4658258" y="2103120"/>
            <a:ext cx="2875178" cy="548640"/>
          </a:xfrm>
          <a:prstGeom prst="rect">
            <a:avLst/>
          </a:prstGeom>
          <a:noFill/>
          <a:ln/>
        </p:spPr>
        <p:txBody>
          <a:bodyPr wrap="square" lIns="0" tIns="0" rIns="0" bIns="0" rtlCol="0" anchor="ctr"/>
          <a:lstStyle/>
          <a:p>
            <a:pPr indent="0" marL="0">
              <a:buNone/>
            </a:pPr>
            <a:r>
              <a:rPr lang="en-US" sz="2400" b="1" dirty="0">
                <a:solidFill>
                  <a:srgbClr val="0A7FB5"/>
                </a:solidFill>
                <a:latin typeface="Alexandria" pitchFamily="34" charset="0"/>
                <a:ea typeface="Alexandria" pitchFamily="34" charset="-122"/>
                <a:cs typeface="Alexandria" pitchFamily="34" charset="-120"/>
              </a:rPr>
              <a:t>Tính chính đáng</a:t>
            </a:r>
            <a:endParaRPr lang="en-US" sz="2400" dirty="0"/>
          </a:p>
        </p:txBody>
      </p:sp>
      <p:sp>
        <p:nvSpPr>
          <p:cNvPr id="26" name="Text 23"/>
          <p:cNvSpPr txBox="1"/>
          <p:nvPr/>
        </p:nvSpPr>
        <p:spPr>
          <a:xfrm>
            <a:off x="4658258" y="2651760"/>
            <a:ext cx="2875178" cy="365760"/>
          </a:xfrm>
          <a:prstGeom prst="rect">
            <a:avLst/>
          </a:prstGeom>
          <a:noFill/>
          <a:ln/>
        </p:spPr>
        <p:txBody>
          <a:bodyPr wrap="square" lIns="0" tIns="0" rIns="0" bIns="0" rtlCol="0" anchor="ctr"/>
          <a:lstStyle/>
          <a:p>
            <a:pPr indent="0" marL="0">
              <a:buNone/>
            </a:pPr>
            <a:r>
              <a:rPr lang="en-US" sz="1400" i="1" dirty="0">
                <a:solidFill>
                  <a:srgbClr val="6E6878"/>
                </a:solidFill>
                <a:latin typeface="Alexandria" pitchFamily="34" charset="0"/>
                <a:ea typeface="Alexandria" pitchFamily="34" charset="-122"/>
                <a:cs typeface="Alexandria" pitchFamily="34" charset="-120"/>
              </a:rPr>
              <a:t>Legitimacy</a:t>
            </a:r>
            <a:endParaRPr lang="en-US" sz="1400" dirty="0"/>
          </a:p>
        </p:txBody>
      </p:sp>
      <p:sp>
        <p:nvSpPr>
          <p:cNvPr id="27" name="Text 24"/>
          <p:cNvSpPr txBox="1"/>
          <p:nvPr/>
        </p:nvSpPr>
        <p:spPr>
          <a:xfrm>
            <a:off x="4658258" y="3154680"/>
            <a:ext cx="2875178" cy="173736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yêu cầu được xem là hợp lý, phù hợp chuẩn mực: hợp đồng, luật, đạo đức xã hội</a:t>
            </a:r>
            <a:endParaRPr lang="en-US" sz="1500" dirty="0"/>
          </a:p>
        </p:txBody>
      </p:sp>
      <p:sp>
        <p:nvSpPr>
          <p:cNvPr id="28" name="Shape 25"/>
          <p:cNvSpPr/>
          <p:nvPr/>
        </p:nvSpPr>
        <p:spPr>
          <a:xfrm>
            <a:off x="8127797" y="1920240"/>
            <a:ext cx="3515258" cy="3108960"/>
          </a:xfrm>
          <a:prstGeom prst="roundRect">
            <a:avLst>
              <a:gd name="adj" fmla="val 3529"/>
            </a:avLst>
          </a:prstGeom>
          <a:solidFill>
            <a:srgbClr val="FFE4EA"/>
          </a:solidFill>
          <a:ln w="19050">
            <a:solidFill>
              <a:srgbClr val="FF5178"/>
            </a:solidFill>
            <a:prstDash val="solid"/>
          </a:ln>
        </p:spPr>
      </p:sp>
      <p:sp>
        <p:nvSpPr>
          <p:cNvPr id="29" name="Text 26"/>
          <p:cNvSpPr txBox="1"/>
          <p:nvPr/>
        </p:nvSpPr>
        <p:spPr>
          <a:xfrm>
            <a:off x="8447837" y="2103120"/>
            <a:ext cx="2875178" cy="548640"/>
          </a:xfrm>
          <a:prstGeom prst="rect">
            <a:avLst/>
          </a:prstGeom>
          <a:noFill/>
          <a:ln/>
        </p:spPr>
        <p:txBody>
          <a:bodyPr wrap="square" lIns="0" tIns="0" rIns="0" bIns="0" rtlCol="0" anchor="ctr"/>
          <a:lstStyle/>
          <a:p>
            <a:pPr indent="0" marL="0">
              <a:buNone/>
            </a:pPr>
            <a:r>
              <a:rPr lang="en-US" sz="2400" b="1" dirty="0">
                <a:solidFill>
                  <a:srgbClr val="E03A62"/>
                </a:solidFill>
                <a:latin typeface="Alexandria" pitchFamily="34" charset="0"/>
                <a:ea typeface="Alexandria" pitchFamily="34" charset="-122"/>
                <a:cs typeface="Alexandria" pitchFamily="34" charset="-120"/>
              </a:rPr>
              <a:t>Tính cấp bách</a:t>
            </a:r>
            <a:endParaRPr lang="en-US" sz="2400" dirty="0"/>
          </a:p>
        </p:txBody>
      </p:sp>
      <p:sp>
        <p:nvSpPr>
          <p:cNvPr id="30" name="Text 27"/>
          <p:cNvSpPr txBox="1"/>
          <p:nvPr/>
        </p:nvSpPr>
        <p:spPr>
          <a:xfrm>
            <a:off x="8447837" y="2651760"/>
            <a:ext cx="2875178" cy="365760"/>
          </a:xfrm>
          <a:prstGeom prst="rect">
            <a:avLst/>
          </a:prstGeom>
          <a:noFill/>
          <a:ln/>
        </p:spPr>
        <p:txBody>
          <a:bodyPr wrap="square" lIns="0" tIns="0" rIns="0" bIns="0" rtlCol="0" anchor="ctr"/>
          <a:lstStyle/>
          <a:p>
            <a:pPr indent="0" marL="0">
              <a:buNone/>
            </a:pPr>
            <a:r>
              <a:rPr lang="en-US" sz="1400" i="1" dirty="0">
                <a:solidFill>
                  <a:srgbClr val="6E6878"/>
                </a:solidFill>
                <a:latin typeface="Alexandria" pitchFamily="34" charset="0"/>
                <a:ea typeface="Alexandria" pitchFamily="34" charset="-122"/>
                <a:cs typeface="Alexandria" pitchFamily="34" charset="-120"/>
              </a:rPr>
              <a:t>Urgency</a:t>
            </a:r>
            <a:endParaRPr lang="en-US" sz="1400" dirty="0"/>
          </a:p>
        </p:txBody>
      </p:sp>
      <p:sp>
        <p:nvSpPr>
          <p:cNvPr id="31" name="Text 28"/>
          <p:cNvSpPr txBox="1"/>
          <p:nvPr/>
        </p:nvSpPr>
        <p:spPr>
          <a:xfrm>
            <a:off x="8447837" y="3154680"/>
            <a:ext cx="2875178" cy="173736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yêu cầu nhạy cảm về thời gian và quan trọng với họ, đòi phản hồi ngay</a:t>
            </a:r>
            <a:endParaRPr lang="en-US" sz="1500" dirty="0"/>
          </a:p>
        </p:txBody>
      </p:sp>
      <p:sp>
        <p:nvSpPr>
          <p:cNvPr id="32" name="Shape 29"/>
          <p:cNvSpPr/>
          <p:nvPr/>
        </p:nvSpPr>
        <p:spPr>
          <a:xfrm>
            <a:off x="548640" y="5303520"/>
            <a:ext cx="11094415" cy="731520"/>
          </a:xfrm>
          <a:prstGeom prst="roundRect">
            <a:avLst>
              <a:gd name="adj" fmla="val 15000"/>
            </a:avLst>
          </a:prstGeom>
          <a:solidFill>
            <a:srgbClr val="FFF3C4"/>
          </a:solidFill>
          <a:ln w="12700">
            <a:solidFill>
              <a:srgbClr val="FFD23B"/>
            </a:solidFill>
            <a:prstDash val="solid"/>
          </a:ln>
        </p:spPr>
      </p:sp>
      <p:sp>
        <p:nvSpPr>
          <p:cNvPr id="33" name="Text 30"/>
          <p:cNvSpPr txBox="1"/>
          <p:nvPr/>
        </p:nvSpPr>
        <p:spPr>
          <a:xfrm>
            <a:off x="868680" y="5303520"/>
            <a:ext cx="10454335" cy="73152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Độ nổi bật (salience) tăng theo số thuộc tính một bên có.</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Càng nhiều thuộc tính, bên liên quan càng nổi bật</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A08: Mitchell, Agle &amp; Wood (1997).</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22</a:t>
            </a:r>
            <a:endParaRPr lang="en-US" sz="1000" dirty="0"/>
          </a:p>
        </p:txBody>
      </p:sp>
      <p:sp>
        <p:nvSpPr>
          <p:cNvPr id="20" name="Shape 17"/>
          <p:cNvSpPr/>
          <p:nvPr/>
        </p:nvSpPr>
        <p:spPr>
          <a:xfrm>
            <a:off x="1883664" y="2203704"/>
            <a:ext cx="2560320" cy="2560320"/>
          </a:xfrm>
          <a:prstGeom prst="ellipse">
            <a:avLst/>
          </a:prstGeom>
          <a:solidFill>
            <a:srgbClr val="962B7C">
              <a:alpha val="28000"/>
            </a:srgbClr>
          </a:solidFill>
          <a:ln w="25400">
            <a:solidFill>
              <a:srgbClr val="962B7C"/>
            </a:solidFill>
            <a:prstDash val="solid"/>
          </a:ln>
        </p:spPr>
      </p:sp>
      <p:sp>
        <p:nvSpPr>
          <p:cNvPr id="21" name="Shape 18"/>
          <p:cNvSpPr/>
          <p:nvPr/>
        </p:nvSpPr>
        <p:spPr>
          <a:xfrm>
            <a:off x="3419856" y="2203704"/>
            <a:ext cx="2560320" cy="2560320"/>
          </a:xfrm>
          <a:prstGeom prst="ellipse">
            <a:avLst/>
          </a:prstGeom>
          <a:solidFill>
            <a:srgbClr val="09A1E5">
              <a:alpha val="28000"/>
            </a:srgbClr>
          </a:solidFill>
          <a:ln w="25400">
            <a:solidFill>
              <a:srgbClr val="09A1E5"/>
            </a:solidFill>
            <a:prstDash val="solid"/>
          </a:ln>
        </p:spPr>
      </p:sp>
      <p:sp>
        <p:nvSpPr>
          <p:cNvPr id="22" name="Shape 19"/>
          <p:cNvSpPr/>
          <p:nvPr/>
        </p:nvSpPr>
        <p:spPr>
          <a:xfrm>
            <a:off x="2651760" y="3445459"/>
            <a:ext cx="2560320" cy="2560320"/>
          </a:xfrm>
          <a:prstGeom prst="ellipse">
            <a:avLst/>
          </a:prstGeom>
          <a:solidFill>
            <a:srgbClr val="FF5178">
              <a:alpha val="28000"/>
            </a:srgbClr>
          </a:solidFill>
          <a:ln w="25400">
            <a:solidFill>
              <a:srgbClr val="FF5178"/>
            </a:solidFill>
            <a:prstDash val="solid"/>
          </a:ln>
        </p:spPr>
      </p:sp>
      <p:sp>
        <p:nvSpPr>
          <p:cNvPr id="23" name="Text 20"/>
          <p:cNvSpPr txBox="1"/>
          <p:nvPr/>
        </p:nvSpPr>
        <p:spPr>
          <a:xfrm>
            <a:off x="2011680" y="1730045"/>
            <a:ext cx="1536192" cy="41148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Power</a:t>
            </a:r>
            <a:endParaRPr lang="en-US" sz="1400" dirty="0"/>
          </a:p>
        </p:txBody>
      </p:sp>
      <p:sp>
        <p:nvSpPr>
          <p:cNvPr id="24" name="Text 21"/>
          <p:cNvSpPr txBox="1"/>
          <p:nvPr/>
        </p:nvSpPr>
        <p:spPr>
          <a:xfrm>
            <a:off x="4315968" y="1730045"/>
            <a:ext cx="1536192" cy="41148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Legitimacy</a:t>
            </a:r>
            <a:endParaRPr lang="en-US" sz="1400" dirty="0"/>
          </a:p>
        </p:txBody>
      </p:sp>
      <p:sp>
        <p:nvSpPr>
          <p:cNvPr id="25" name="Text 22"/>
          <p:cNvSpPr txBox="1"/>
          <p:nvPr/>
        </p:nvSpPr>
        <p:spPr>
          <a:xfrm>
            <a:off x="3163824" y="5468112"/>
            <a:ext cx="1536192" cy="41148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Urgency</a:t>
            </a:r>
            <a:endParaRPr lang="en-US" sz="1400" dirty="0"/>
          </a:p>
        </p:txBody>
      </p:sp>
      <p:sp>
        <p:nvSpPr>
          <p:cNvPr id="26" name="Text 23"/>
          <p:cNvSpPr txBox="1"/>
          <p:nvPr/>
        </p:nvSpPr>
        <p:spPr>
          <a:xfrm>
            <a:off x="1856232" y="3044952"/>
            <a:ext cx="1463040" cy="365760"/>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Dormant</a:t>
            </a:r>
            <a:endParaRPr lang="en-US" sz="1100" dirty="0"/>
          </a:p>
        </p:txBody>
      </p:sp>
      <p:sp>
        <p:nvSpPr>
          <p:cNvPr id="27" name="Text 24"/>
          <p:cNvSpPr txBox="1"/>
          <p:nvPr/>
        </p:nvSpPr>
        <p:spPr>
          <a:xfrm>
            <a:off x="4544568" y="3044952"/>
            <a:ext cx="1463040" cy="365760"/>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Discretionary</a:t>
            </a:r>
            <a:endParaRPr lang="en-US" sz="1100" dirty="0"/>
          </a:p>
        </p:txBody>
      </p:sp>
      <p:sp>
        <p:nvSpPr>
          <p:cNvPr id="28" name="Text 25"/>
          <p:cNvSpPr txBox="1"/>
          <p:nvPr/>
        </p:nvSpPr>
        <p:spPr>
          <a:xfrm>
            <a:off x="3200400" y="5093208"/>
            <a:ext cx="1463040" cy="365760"/>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Demanding</a:t>
            </a:r>
            <a:endParaRPr lang="en-US" sz="1100" dirty="0"/>
          </a:p>
        </p:txBody>
      </p:sp>
      <p:sp>
        <p:nvSpPr>
          <p:cNvPr id="29" name="Text 26"/>
          <p:cNvSpPr txBox="1"/>
          <p:nvPr/>
        </p:nvSpPr>
        <p:spPr>
          <a:xfrm>
            <a:off x="3200400" y="2788920"/>
            <a:ext cx="1463040" cy="365760"/>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Dominant</a:t>
            </a:r>
            <a:endParaRPr lang="en-US" sz="1100" dirty="0"/>
          </a:p>
        </p:txBody>
      </p:sp>
      <p:sp>
        <p:nvSpPr>
          <p:cNvPr id="30" name="Text 27"/>
          <p:cNvSpPr txBox="1"/>
          <p:nvPr/>
        </p:nvSpPr>
        <p:spPr>
          <a:xfrm>
            <a:off x="2406701" y="4197096"/>
            <a:ext cx="1463040" cy="365760"/>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Dangerous</a:t>
            </a:r>
            <a:endParaRPr lang="en-US" sz="1100" dirty="0"/>
          </a:p>
        </p:txBody>
      </p:sp>
      <p:sp>
        <p:nvSpPr>
          <p:cNvPr id="31" name="Text 28"/>
          <p:cNvSpPr txBox="1"/>
          <p:nvPr/>
        </p:nvSpPr>
        <p:spPr>
          <a:xfrm>
            <a:off x="3994099" y="4197096"/>
            <a:ext cx="1463040" cy="365760"/>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Dependent</a:t>
            </a:r>
            <a:endParaRPr lang="en-US" sz="1100" dirty="0"/>
          </a:p>
        </p:txBody>
      </p:sp>
      <p:sp>
        <p:nvSpPr>
          <p:cNvPr id="32" name="Shape 29"/>
          <p:cNvSpPr/>
          <p:nvPr/>
        </p:nvSpPr>
        <p:spPr>
          <a:xfrm>
            <a:off x="3337560" y="3822192"/>
            <a:ext cx="1188720" cy="365760"/>
          </a:xfrm>
          <a:prstGeom prst="roundRect">
            <a:avLst>
              <a:gd name="adj" fmla="val 50000"/>
            </a:avLst>
          </a:prstGeom>
          <a:solidFill>
            <a:srgbClr val="FFD23B"/>
          </a:solidFill>
          <a:ln w="12700">
            <a:solidFill>
              <a:srgbClr val="FFD23B"/>
            </a:solidFill>
            <a:prstDash val="solid"/>
          </a:ln>
        </p:spPr>
      </p:sp>
      <p:sp>
        <p:nvSpPr>
          <p:cNvPr id="33" name="Text 30"/>
          <p:cNvSpPr txBox="1"/>
          <p:nvPr/>
        </p:nvSpPr>
        <p:spPr>
          <a:xfrm>
            <a:off x="3410712" y="3822192"/>
            <a:ext cx="1042416" cy="365760"/>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Definitive</a:t>
            </a:r>
            <a:endParaRPr lang="en-US" sz="1100" dirty="0"/>
          </a:p>
        </p:txBody>
      </p:sp>
      <p:sp>
        <p:nvSpPr>
          <p:cNvPr id="34" name="Shape 31"/>
          <p:cNvSpPr/>
          <p:nvPr/>
        </p:nvSpPr>
        <p:spPr>
          <a:xfrm>
            <a:off x="7498080" y="1920240"/>
            <a:ext cx="4144975" cy="1188720"/>
          </a:xfrm>
          <a:prstGeom prst="roundRect">
            <a:avLst>
              <a:gd name="adj" fmla="val 9231"/>
            </a:avLst>
          </a:prstGeom>
          <a:solidFill>
            <a:srgbClr val="E1F3EE"/>
          </a:solidFill>
          <a:ln w="12700">
            <a:solidFill>
              <a:srgbClr val="49B296"/>
            </a:solidFill>
            <a:prstDash val="solid"/>
          </a:ln>
        </p:spPr>
      </p:sp>
      <p:sp>
        <p:nvSpPr>
          <p:cNvPr id="35" name="Text 32"/>
          <p:cNvSpPr txBox="1"/>
          <p:nvPr/>
        </p:nvSpPr>
        <p:spPr>
          <a:xfrm>
            <a:off x="7772400" y="1920240"/>
            <a:ext cx="3596335" cy="118872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1 thuộc tính · Tiềm ẩn</a:t>
            </a:r>
            <a:endParaRPr lang="en-US" sz="1700" dirty="0"/>
          </a:p>
          <a:p>
            <a:pPr indent="0" marL="0">
              <a:buNone/>
            </a:pPr>
            <a:r>
              <a:rPr lang="en-US" sz="1400" dirty="0">
                <a:solidFill>
                  <a:srgbClr val="2A2238"/>
                </a:solidFill>
                <a:latin typeface="Alexandria" pitchFamily="34" charset="0"/>
                <a:ea typeface="Alexandria" pitchFamily="34" charset="-122"/>
                <a:cs typeface="Alexandria" pitchFamily="34" charset="-120"/>
              </a:rPr>
              <a:t>Dormant · Discretionary · Demanding</a:t>
            </a:r>
            <a:endParaRPr lang="en-US" sz="1700" dirty="0"/>
          </a:p>
        </p:txBody>
      </p:sp>
      <p:sp>
        <p:nvSpPr>
          <p:cNvPr id="36" name="Shape 33"/>
          <p:cNvSpPr/>
          <p:nvPr/>
        </p:nvSpPr>
        <p:spPr>
          <a:xfrm>
            <a:off x="7498080" y="3291840"/>
            <a:ext cx="4144975" cy="1188720"/>
          </a:xfrm>
          <a:prstGeom prst="roundRect">
            <a:avLst>
              <a:gd name="adj" fmla="val 9231"/>
            </a:avLst>
          </a:prstGeom>
          <a:solidFill>
            <a:srgbClr val="FFE9DE"/>
          </a:solidFill>
          <a:ln w="12700">
            <a:solidFill>
              <a:srgbClr val="FF9259"/>
            </a:solidFill>
            <a:prstDash val="solid"/>
          </a:ln>
        </p:spPr>
      </p:sp>
      <p:sp>
        <p:nvSpPr>
          <p:cNvPr id="37" name="Text 34"/>
          <p:cNvSpPr txBox="1"/>
          <p:nvPr/>
        </p:nvSpPr>
        <p:spPr>
          <a:xfrm>
            <a:off x="7772400" y="3291840"/>
            <a:ext cx="3596335" cy="118872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2 thuộc tính · Kỳ vọng</a:t>
            </a:r>
            <a:endParaRPr lang="en-US" sz="1700" dirty="0"/>
          </a:p>
          <a:p>
            <a:pPr indent="0" marL="0">
              <a:buNone/>
            </a:pPr>
            <a:r>
              <a:rPr lang="en-US" sz="1400" dirty="0">
                <a:solidFill>
                  <a:srgbClr val="2A2238"/>
                </a:solidFill>
                <a:latin typeface="Alexandria" pitchFamily="34" charset="0"/>
                <a:ea typeface="Alexandria" pitchFamily="34" charset="-122"/>
                <a:cs typeface="Alexandria" pitchFamily="34" charset="-120"/>
              </a:rPr>
              <a:t>Dominant · Dangerous · Dependent</a:t>
            </a:r>
            <a:endParaRPr lang="en-US" sz="1700" dirty="0"/>
          </a:p>
        </p:txBody>
      </p:sp>
      <p:sp>
        <p:nvSpPr>
          <p:cNvPr id="38" name="Shape 35"/>
          <p:cNvSpPr/>
          <p:nvPr/>
        </p:nvSpPr>
        <p:spPr>
          <a:xfrm>
            <a:off x="7498080" y="4663440"/>
            <a:ext cx="4144975" cy="1188720"/>
          </a:xfrm>
          <a:prstGeom prst="roundRect">
            <a:avLst>
              <a:gd name="adj" fmla="val 9231"/>
            </a:avLst>
          </a:prstGeom>
          <a:solidFill>
            <a:srgbClr val="F1E1EE"/>
          </a:solidFill>
          <a:ln w="12700">
            <a:solidFill>
              <a:srgbClr val="962B7C"/>
            </a:solidFill>
            <a:prstDash val="solid"/>
          </a:ln>
        </p:spPr>
      </p:sp>
      <p:sp>
        <p:nvSpPr>
          <p:cNvPr id="39" name="Text 36"/>
          <p:cNvSpPr txBox="1"/>
          <p:nvPr/>
        </p:nvSpPr>
        <p:spPr>
          <a:xfrm>
            <a:off x="7772400" y="4663440"/>
            <a:ext cx="3596335" cy="118872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3 thuộc tính · Quyết định</a:t>
            </a:r>
            <a:endParaRPr lang="en-US" sz="1700" dirty="0"/>
          </a:p>
          <a:p>
            <a:pPr indent="0" marL="0">
              <a:buNone/>
            </a:pPr>
            <a:r>
              <a:rPr lang="en-US" sz="1400" dirty="0">
                <a:solidFill>
                  <a:srgbClr val="2A2238"/>
                </a:solidFill>
                <a:latin typeface="Alexandria" pitchFamily="34" charset="0"/>
                <a:ea typeface="Alexandria" pitchFamily="34" charset="-122"/>
                <a:cs typeface="Alexandria" pitchFamily="34" charset="-120"/>
              </a:rPr>
              <a:t>Definitive — ưu tiên cao nhất</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Mỗi loại salience có một ví dụ trong sự kiện</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A08: Mitchell, Agle &amp; Wood (1997) · ví dụ trong sự kiện: nhận định của người soạn.</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23</a:t>
            </a:r>
            <a:endParaRPr lang="en-US" sz="1000" dirty="0"/>
          </a:p>
        </p:txBody>
      </p:sp>
      <p:sp>
        <p:nvSpPr>
          <p:cNvPr id="20" name="Shape 17"/>
          <p:cNvSpPr/>
          <p:nvPr/>
        </p:nvSpPr>
        <p:spPr>
          <a:xfrm>
            <a:off x="3017520" y="1783080"/>
            <a:ext cx="1828800" cy="457200"/>
          </a:xfrm>
          <a:prstGeom prst="roundRect">
            <a:avLst>
              <a:gd name="adj" fmla="val 24000"/>
            </a:avLst>
          </a:prstGeom>
          <a:solidFill>
            <a:srgbClr val="962B7C"/>
          </a:solidFill>
          <a:ln w="12700">
            <a:solidFill>
              <a:srgbClr val="962B7C"/>
            </a:solidFill>
            <a:prstDash val="solid"/>
          </a:ln>
        </p:spPr>
      </p:sp>
      <p:sp>
        <p:nvSpPr>
          <p:cNvPr id="21" name="Text 18"/>
          <p:cNvSpPr txBox="1"/>
          <p:nvPr/>
        </p:nvSpPr>
        <p:spPr>
          <a:xfrm>
            <a:off x="3182112" y="1783080"/>
            <a:ext cx="1499616" cy="45720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Thuộc tính</a:t>
            </a:r>
            <a:endParaRPr lang="en-US" sz="1500" dirty="0"/>
          </a:p>
        </p:txBody>
      </p:sp>
      <p:sp>
        <p:nvSpPr>
          <p:cNvPr id="22" name="Shape 19"/>
          <p:cNvSpPr/>
          <p:nvPr/>
        </p:nvSpPr>
        <p:spPr>
          <a:xfrm>
            <a:off x="4937760" y="1783080"/>
            <a:ext cx="6705295" cy="457200"/>
          </a:xfrm>
          <a:prstGeom prst="roundRect">
            <a:avLst>
              <a:gd name="adj" fmla="val 24000"/>
            </a:avLst>
          </a:prstGeom>
          <a:solidFill>
            <a:srgbClr val="09A1E5"/>
          </a:solidFill>
          <a:ln w="12700">
            <a:solidFill>
              <a:srgbClr val="09A1E5"/>
            </a:solidFill>
            <a:prstDash val="solid"/>
          </a:ln>
        </p:spPr>
      </p:sp>
      <p:sp>
        <p:nvSpPr>
          <p:cNvPr id="23" name="Text 20"/>
          <p:cNvSpPr txBox="1"/>
          <p:nvPr/>
        </p:nvSpPr>
        <p:spPr>
          <a:xfrm>
            <a:off x="5102352" y="1783080"/>
            <a:ext cx="6376111" cy="45720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Ví dụ trong sự kiện</a:t>
            </a:r>
            <a:endParaRPr lang="en-US" sz="1500" dirty="0"/>
          </a:p>
        </p:txBody>
      </p:sp>
      <p:sp>
        <p:nvSpPr>
          <p:cNvPr id="24" name="Shape 21"/>
          <p:cNvSpPr/>
          <p:nvPr/>
        </p:nvSpPr>
        <p:spPr>
          <a:xfrm>
            <a:off x="548640" y="2350008"/>
            <a:ext cx="11094415" cy="502920"/>
          </a:xfrm>
          <a:prstGeom prst="rect">
            <a:avLst/>
          </a:prstGeom>
          <a:solidFill>
            <a:srgbClr val="F3F0E6"/>
          </a:solidFill>
          <a:ln w="12700">
            <a:solidFill>
              <a:srgbClr val="F3F0E6"/>
            </a:solidFill>
            <a:prstDash val="solid"/>
          </a:ln>
        </p:spPr>
      </p:sp>
      <p:sp>
        <p:nvSpPr>
          <p:cNvPr id="25" name="Text 22"/>
          <p:cNvSpPr txBox="1"/>
          <p:nvPr/>
        </p:nvSpPr>
        <p:spPr>
          <a:xfrm>
            <a:off x="713232" y="2350008"/>
            <a:ext cx="2139696" cy="50292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Dormant</a:t>
            </a:r>
            <a:endParaRPr lang="en-US" sz="1400" dirty="0"/>
          </a:p>
        </p:txBody>
      </p:sp>
      <p:sp>
        <p:nvSpPr>
          <p:cNvPr id="26" name="Text 23"/>
          <p:cNvSpPr txBox="1"/>
          <p:nvPr/>
        </p:nvSpPr>
        <p:spPr>
          <a:xfrm>
            <a:off x="3182112" y="2350008"/>
            <a:ext cx="1591056"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P</a:t>
            </a:r>
            <a:endParaRPr lang="en-US" sz="1400" dirty="0"/>
          </a:p>
        </p:txBody>
      </p:sp>
      <p:sp>
        <p:nvSpPr>
          <p:cNvPr id="27" name="Text 24"/>
          <p:cNvSpPr txBox="1"/>
          <p:nvPr/>
        </p:nvSpPr>
        <p:spPr>
          <a:xfrm>
            <a:off x="5102352" y="2350008"/>
            <a:ext cx="6467551"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Cơ quan quản lý khi mọi thủ tục đã ổn</a:t>
            </a:r>
            <a:endParaRPr lang="en-US" sz="1400" dirty="0"/>
          </a:p>
        </p:txBody>
      </p:sp>
      <p:sp>
        <p:nvSpPr>
          <p:cNvPr id="28" name="Text 25"/>
          <p:cNvSpPr txBox="1"/>
          <p:nvPr/>
        </p:nvSpPr>
        <p:spPr>
          <a:xfrm>
            <a:off x="713232" y="2907792"/>
            <a:ext cx="2139696" cy="50292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Discretionary</a:t>
            </a:r>
            <a:endParaRPr lang="en-US" sz="1400" dirty="0"/>
          </a:p>
        </p:txBody>
      </p:sp>
      <p:sp>
        <p:nvSpPr>
          <p:cNvPr id="29" name="Text 26"/>
          <p:cNvSpPr txBox="1"/>
          <p:nvPr/>
        </p:nvSpPr>
        <p:spPr>
          <a:xfrm>
            <a:off x="3182112" y="2907792"/>
            <a:ext cx="1591056"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L</a:t>
            </a:r>
            <a:endParaRPr lang="en-US" sz="1400" dirty="0"/>
          </a:p>
        </p:txBody>
      </p:sp>
      <p:sp>
        <p:nvSpPr>
          <p:cNvPr id="30" name="Text 27"/>
          <p:cNvSpPr txBox="1"/>
          <p:nvPr/>
        </p:nvSpPr>
        <p:spPr>
          <a:xfrm>
            <a:off x="5102352" y="2907792"/>
            <a:ext cx="6467551"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Hội đoàn từ thiện muốn được mời tham dự</a:t>
            </a:r>
            <a:endParaRPr lang="en-US" sz="1400" dirty="0"/>
          </a:p>
        </p:txBody>
      </p:sp>
      <p:sp>
        <p:nvSpPr>
          <p:cNvPr id="31" name="Shape 28"/>
          <p:cNvSpPr/>
          <p:nvPr/>
        </p:nvSpPr>
        <p:spPr>
          <a:xfrm>
            <a:off x="548640" y="3465576"/>
            <a:ext cx="11094415" cy="502920"/>
          </a:xfrm>
          <a:prstGeom prst="rect">
            <a:avLst/>
          </a:prstGeom>
          <a:solidFill>
            <a:srgbClr val="F3F0E6"/>
          </a:solidFill>
          <a:ln w="12700">
            <a:solidFill>
              <a:srgbClr val="F3F0E6"/>
            </a:solidFill>
            <a:prstDash val="solid"/>
          </a:ln>
        </p:spPr>
      </p:sp>
      <p:sp>
        <p:nvSpPr>
          <p:cNvPr id="32" name="Text 29"/>
          <p:cNvSpPr txBox="1"/>
          <p:nvPr/>
        </p:nvSpPr>
        <p:spPr>
          <a:xfrm>
            <a:off x="713232" y="3465576"/>
            <a:ext cx="2139696" cy="50292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Demanding</a:t>
            </a:r>
            <a:endParaRPr lang="en-US" sz="1400" dirty="0"/>
          </a:p>
        </p:txBody>
      </p:sp>
      <p:sp>
        <p:nvSpPr>
          <p:cNvPr id="33" name="Text 30"/>
          <p:cNvSpPr txBox="1"/>
          <p:nvPr/>
        </p:nvSpPr>
        <p:spPr>
          <a:xfrm>
            <a:off x="3182112" y="3465576"/>
            <a:ext cx="1591056"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U</a:t>
            </a:r>
            <a:endParaRPr lang="en-US" sz="1400" dirty="0"/>
          </a:p>
        </p:txBody>
      </p:sp>
      <p:sp>
        <p:nvSpPr>
          <p:cNvPr id="34" name="Text 31"/>
          <p:cNvSpPr txBox="1"/>
          <p:nvPr/>
        </p:nvSpPr>
        <p:spPr>
          <a:xfrm>
            <a:off x="5102352" y="3465576"/>
            <a:ext cx="6467551"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Cá nhân liên tục phàn nàn trên mạng xã hội nhưng ít ảnh hưởng</a:t>
            </a:r>
            <a:endParaRPr lang="en-US" sz="1400" dirty="0"/>
          </a:p>
        </p:txBody>
      </p:sp>
      <p:sp>
        <p:nvSpPr>
          <p:cNvPr id="35" name="Text 32"/>
          <p:cNvSpPr txBox="1"/>
          <p:nvPr/>
        </p:nvSpPr>
        <p:spPr>
          <a:xfrm>
            <a:off x="713232" y="4023360"/>
            <a:ext cx="2139696" cy="50292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Dominant</a:t>
            </a:r>
            <a:endParaRPr lang="en-US" sz="1400" dirty="0"/>
          </a:p>
        </p:txBody>
      </p:sp>
      <p:sp>
        <p:nvSpPr>
          <p:cNvPr id="36" name="Text 33"/>
          <p:cNvSpPr txBox="1"/>
          <p:nvPr/>
        </p:nvSpPr>
        <p:spPr>
          <a:xfrm>
            <a:off x="3182112" y="4023360"/>
            <a:ext cx="1591056"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P + L</a:t>
            </a:r>
            <a:endParaRPr lang="en-US" sz="1400" dirty="0"/>
          </a:p>
        </p:txBody>
      </p:sp>
      <p:sp>
        <p:nvSpPr>
          <p:cNvPr id="37" name="Text 34"/>
          <p:cNvSpPr txBox="1"/>
          <p:nvPr/>
        </p:nvSpPr>
        <p:spPr>
          <a:xfrm>
            <a:off x="5102352" y="4023360"/>
            <a:ext cx="6467551"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Nhà tài trợ chính có hợp đồng</a:t>
            </a:r>
            <a:endParaRPr lang="en-US" sz="1400" dirty="0"/>
          </a:p>
        </p:txBody>
      </p:sp>
      <p:sp>
        <p:nvSpPr>
          <p:cNvPr id="38" name="Shape 35"/>
          <p:cNvSpPr/>
          <p:nvPr/>
        </p:nvSpPr>
        <p:spPr>
          <a:xfrm>
            <a:off x="548640" y="4581144"/>
            <a:ext cx="11094415" cy="502920"/>
          </a:xfrm>
          <a:prstGeom prst="rect">
            <a:avLst/>
          </a:prstGeom>
          <a:solidFill>
            <a:srgbClr val="F3F0E6"/>
          </a:solidFill>
          <a:ln w="12700">
            <a:solidFill>
              <a:srgbClr val="F3F0E6"/>
            </a:solidFill>
            <a:prstDash val="solid"/>
          </a:ln>
        </p:spPr>
      </p:sp>
      <p:sp>
        <p:nvSpPr>
          <p:cNvPr id="39" name="Text 36"/>
          <p:cNvSpPr txBox="1"/>
          <p:nvPr/>
        </p:nvSpPr>
        <p:spPr>
          <a:xfrm>
            <a:off x="713232" y="4581144"/>
            <a:ext cx="2139696" cy="50292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Dangerous</a:t>
            </a:r>
            <a:endParaRPr lang="en-US" sz="1400" dirty="0"/>
          </a:p>
        </p:txBody>
      </p:sp>
      <p:sp>
        <p:nvSpPr>
          <p:cNvPr id="40" name="Text 37"/>
          <p:cNvSpPr txBox="1"/>
          <p:nvPr/>
        </p:nvSpPr>
        <p:spPr>
          <a:xfrm>
            <a:off x="3182112" y="4581144"/>
            <a:ext cx="1591056"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P + U</a:t>
            </a:r>
            <a:endParaRPr lang="en-US" sz="1400" dirty="0"/>
          </a:p>
        </p:txBody>
      </p:sp>
      <p:sp>
        <p:nvSpPr>
          <p:cNvPr id="41" name="Text 38"/>
          <p:cNvSpPr txBox="1"/>
          <p:nvPr/>
        </p:nvSpPr>
        <p:spPr>
          <a:xfrm>
            <a:off x="5102352" y="4581144"/>
            <a:ext cx="6467551"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Nhà cung cấp dọa ngừng thi công ngay trước giờ G để ép giá</a:t>
            </a:r>
            <a:endParaRPr lang="en-US" sz="1400" dirty="0"/>
          </a:p>
        </p:txBody>
      </p:sp>
      <p:sp>
        <p:nvSpPr>
          <p:cNvPr id="42" name="Text 39"/>
          <p:cNvSpPr txBox="1"/>
          <p:nvPr/>
        </p:nvSpPr>
        <p:spPr>
          <a:xfrm>
            <a:off x="713232" y="5138928"/>
            <a:ext cx="2139696" cy="50292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Dependent</a:t>
            </a:r>
            <a:endParaRPr lang="en-US" sz="1400" dirty="0"/>
          </a:p>
        </p:txBody>
      </p:sp>
      <p:sp>
        <p:nvSpPr>
          <p:cNvPr id="43" name="Text 40"/>
          <p:cNvSpPr txBox="1"/>
          <p:nvPr/>
        </p:nvSpPr>
        <p:spPr>
          <a:xfrm>
            <a:off x="3182112" y="5138928"/>
            <a:ext cx="1591056"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L + U</a:t>
            </a:r>
            <a:endParaRPr lang="en-US" sz="1400" dirty="0"/>
          </a:p>
        </p:txBody>
      </p:sp>
      <p:sp>
        <p:nvSpPr>
          <p:cNvPr id="44" name="Text 41"/>
          <p:cNvSpPr txBox="1"/>
          <p:nvPr/>
        </p:nvSpPr>
        <p:spPr>
          <a:xfrm>
            <a:off x="5102352" y="5138928"/>
            <a:ext cx="6467551"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Cư dân quanh địa điểm phản ánh tiếng ồn</a:t>
            </a:r>
            <a:endParaRPr lang="en-US" sz="1400" dirty="0"/>
          </a:p>
        </p:txBody>
      </p:sp>
      <p:sp>
        <p:nvSpPr>
          <p:cNvPr id="45" name="Shape 42"/>
          <p:cNvSpPr/>
          <p:nvPr/>
        </p:nvSpPr>
        <p:spPr>
          <a:xfrm>
            <a:off x="548640" y="5696712"/>
            <a:ext cx="11094415" cy="502920"/>
          </a:xfrm>
          <a:prstGeom prst="rect">
            <a:avLst/>
          </a:prstGeom>
          <a:solidFill>
            <a:srgbClr val="F3F0E6"/>
          </a:solidFill>
          <a:ln w="12700">
            <a:solidFill>
              <a:srgbClr val="F3F0E6"/>
            </a:solidFill>
            <a:prstDash val="solid"/>
          </a:ln>
        </p:spPr>
      </p:sp>
      <p:sp>
        <p:nvSpPr>
          <p:cNvPr id="46" name="Text 43"/>
          <p:cNvSpPr txBox="1"/>
          <p:nvPr/>
        </p:nvSpPr>
        <p:spPr>
          <a:xfrm>
            <a:off x="713232" y="5696712"/>
            <a:ext cx="2139696" cy="50292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Definitive</a:t>
            </a:r>
            <a:endParaRPr lang="en-US" sz="1400" dirty="0"/>
          </a:p>
        </p:txBody>
      </p:sp>
      <p:sp>
        <p:nvSpPr>
          <p:cNvPr id="47" name="Text 44"/>
          <p:cNvSpPr txBox="1"/>
          <p:nvPr/>
        </p:nvSpPr>
        <p:spPr>
          <a:xfrm>
            <a:off x="3182112" y="5696712"/>
            <a:ext cx="1591056"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P + L + U</a:t>
            </a:r>
            <a:endParaRPr lang="en-US" sz="1400" dirty="0"/>
          </a:p>
        </p:txBody>
      </p:sp>
      <p:sp>
        <p:nvSpPr>
          <p:cNvPr id="48" name="Text 45"/>
          <p:cNvSpPr txBox="1"/>
          <p:nvPr/>
        </p:nvSpPr>
        <p:spPr>
          <a:xfrm>
            <a:off x="5102352" y="5696712"/>
            <a:ext cx="6467551"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Khách hàng yêu cầu đổi kịch bản 48 giờ trước sự kiện</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Bên liên quan có thể “leo hạng” — cư dân thành Definitive khi có báo chí và chính quyền vào cuộc</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A08: Mitchell, Agle &amp; Wood (1997) — mô hình động · ví dụ: nhận định của người soạn.</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24</a:t>
            </a:r>
            <a:endParaRPr lang="en-US" sz="1000" dirty="0"/>
          </a:p>
        </p:txBody>
      </p:sp>
      <p:sp>
        <p:nvSpPr>
          <p:cNvPr id="20" name="Shape 17"/>
          <p:cNvSpPr/>
          <p:nvPr/>
        </p:nvSpPr>
        <p:spPr>
          <a:xfrm>
            <a:off x="548640" y="2103120"/>
            <a:ext cx="3200400" cy="2103120"/>
          </a:xfrm>
          <a:prstGeom prst="roundRect">
            <a:avLst>
              <a:gd name="adj" fmla="val 5217"/>
            </a:avLst>
          </a:prstGeom>
          <a:solidFill>
            <a:srgbClr val="DDF1FB"/>
          </a:solidFill>
          <a:ln w="19050">
            <a:solidFill>
              <a:srgbClr val="09A1E5"/>
            </a:solidFill>
            <a:prstDash val="solid"/>
          </a:ln>
        </p:spPr>
      </p:sp>
      <p:sp>
        <p:nvSpPr>
          <p:cNvPr id="21" name="Text 18"/>
          <p:cNvSpPr txBox="1"/>
          <p:nvPr/>
        </p:nvSpPr>
        <p:spPr>
          <a:xfrm>
            <a:off x="777240" y="2240280"/>
            <a:ext cx="2743200" cy="822960"/>
          </a:xfrm>
          <a:prstGeom prst="rect">
            <a:avLst/>
          </a:prstGeom>
          <a:noFill/>
          <a:ln/>
        </p:spPr>
        <p:txBody>
          <a:bodyPr wrap="square" lIns="0" tIns="0" rIns="0" bIns="0" rtlCol="0" anchor="t"/>
          <a:lstStyle/>
          <a:p>
            <a:pPr indent="0" marL="0">
              <a:buNone/>
            </a:pPr>
            <a:r>
              <a:rPr lang="en-US" sz="2400" b="1" dirty="0">
                <a:solidFill>
                  <a:srgbClr val="0A7FB5"/>
                </a:solidFill>
                <a:latin typeface="Alexandria" pitchFamily="34" charset="0"/>
                <a:ea typeface="Alexandria" pitchFamily="34" charset="-122"/>
                <a:cs typeface="Alexandria" pitchFamily="34" charset="-120"/>
              </a:rPr>
              <a:t>Dependent</a:t>
            </a:r>
            <a:endParaRPr lang="en-US" sz="2400" dirty="0"/>
          </a:p>
        </p:txBody>
      </p:sp>
      <p:sp>
        <p:nvSpPr>
          <p:cNvPr id="22" name="Text 19"/>
          <p:cNvSpPr txBox="1"/>
          <p:nvPr/>
        </p:nvSpPr>
        <p:spPr>
          <a:xfrm>
            <a:off x="777240" y="3108960"/>
            <a:ext cx="2743200" cy="365760"/>
          </a:xfrm>
          <a:prstGeom prst="rect">
            <a:avLst/>
          </a:prstGeom>
          <a:noFill/>
          <a:ln/>
        </p:spPr>
        <p:txBody>
          <a:bodyPr wrap="square" lIns="0" tIns="0" rIns="0" bIns="0" rtlCol="0" anchor="ctr"/>
          <a:lstStyle/>
          <a:p>
            <a:pPr indent="0" marL="0">
              <a:buNone/>
            </a:pPr>
            <a:r>
              <a:rPr lang="en-US" sz="1400" i="1" dirty="0">
                <a:solidFill>
                  <a:srgbClr val="6E6878"/>
                </a:solidFill>
                <a:latin typeface="Alexandria" pitchFamily="34" charset="0"/>
                <a:ea typeface="Alexandria" pitchFamily="34" charset="-122"/>
                <a:cs typeface="Alexandria" pitchFamily="34" charset="-120"/>
              </a:rPr>
              <a:t>L + U</a:t>
            </a:r>
            <a:endParaRPr lang="en-US" sz="1400" dirty="0"/>
          </a:p>
        </p:txBody>
      </p:sp>
      <p:sp>
        <p:nvSpPr>
          <p:cNvPr id="23" name="Text 20"/>
          <p:cNvSpPr txBox="1"/>
          <p:nvPr/>
        </p:nvSpPr>
        <p:spPr>
          <a:xfrm>
            <a:off x="777240" y="3520440"/>
            <a:ext cx="2743200" cy="59436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Cư dân phản ánh tiếng ồn</a:t>
            </a:r>
            <a:endParaRPr lang="en-US" sz="1400" dirty="0"/>
          </a:p>
        </p:txBody>
      </p:sp>
      <p:sp>
        <p:nvSpPr>
          <p:cNvPr id="24" name="Shape 21"/>
          <p:cNvSpPr/>
          <p:nvPr/>
        </p:nvSpPr>
        <p:spPr>
          <a:xfrm>
            <a:off x="3822192" y="3154680"/>
            <a:ext cx="448056" cy="914"/>
          </a:xfrm>
          <a:prstGeom prst="line">
            <a:avLst/>
          </a:prstGeom>
          <a:noFill/>
          <a:ln w="38100">
            <a:solidFill>
              <a:srgbClr val="2A2238"/>
            </a:solidFill>
            <a:prstDash val="solid"/>
            <a:tailEnd type="triangle"/>
          </a:ln>
        </p:spPr>
      </p:sp>
      <p:sp>
        <p:nvSpPr>
          <p:cNvPr id="25" name="Shape 22"/>
          <p:cNvSpPr/>
          <p:nvPr/>
        </p:nvSpPr>
        <p:spPr>
          <a:xfrm>
            <a:off x="4343400" y="2103120"/>
            <a:ext cx="3200400" cy="2103120"/>
          </a:xfrm>
          <a:prstGeom prst="roundRect">
            <a:avLst>
              <a:gd name="adj" fmla="val 5217"/>
            </a:avLst>
          </a:prstGeom>
          <a:solidFill>
            <a:srgbClr val="FFE9DE"/>
          </a:solidFill>
          <a:ln w="19050">
            <a:solidFill>
              <a:srgbClr val="FF9259"/>
            </a:solidFill>
            <a:prstDash val="solid"/>
          </a:ln>
        </p:spPr>
      </p:sp>
      <p:sp>
        <p:nvSpPr>
          <p:cNvPr id="26" name="Text 23"/>
          <p:cNvSpPr txBox="1"/>
          <p:nvPr/>
        </p:nvSpPr>
        <p:spPr>
          <a:xfrm>
            <a:off x="4572000" y="2240280"/>
            <a:ext cx="2743200" cy="822960"/>
          </a:xfrm>
          <a:prstGeom prst="rect">
            <a:avLst/>
          </a:prstGeom>
          <a:noFill/>
          <a:ln/>
        </p:spPr>
        <p:txBody>
          <a:bodyPr wrap="square" lIns="0" tIns="0" rIns="0" bIns="0" rtlCol="0" anchor="t"/>
          <a:lstStyle/>
          <a:p>
            <a:pPr indent="0" marL="0">
              <a:buNone/>
            </a:pPr>
            <a:r>
              <a:rPr lang="en-US" sz="1600" b="1" dirty="0">
                <a:solidFill>
                  <a:srgbClr val="2A2238"/>
                </a:solidFill>
                <a:latin typeface="Alexandria" pitchFamily="34" charset="0"/>
                <a:ea typeface="Alexandria" pitchFamily="34" charset="-122"/>
                <a:cs typeface="Alexandria" pitchFamily="34" charset="-120"/>
              </a:rPr>
              <a:t>+ báo chí đưa tin</a:t>
            </a:r>
            <a:endParaRPr lang="en-US" sz="1600" dirty="0"/>
          </a:p>
          <a:p>
            <a:pPr indent="0" marL="0">
              <a:buNone/>
            </a:pPr>
            <a:r>
              <a:rPr lang="en-US" sz="1600" b="1" dirty="0">
                <a:solidFill>
                  <a:srgbClr val="2A2238"/>
                </a:solidFill>
                <a:latin typeface="Alexandria" pitchFamily="34" charset="0"/>
                <a:ea typeface="Alexandria" pitchFamily="34" charset="-122"/>
                <a:cs typeface="Alexandria" pitchFamily="34" charset="-120"/>
              </a:rPr>
              <a:t>+ phường kiểm tra</a:t>
            </a:r>
            <a:endParaRPr lang="en-US" sz="1600" dirty="0"/>
          </a:p>
        </p:txBody>
      </p:sp>
      <p:sp>
        <p:nvSpPr>
          <p:cNvPr id="27" name="Text 24"/>
          <p:cNvSpPr txBox="1"/>
          <p:nvPr/>
        </p:nvSpPr>
        <p:spPr>
          <a:xfrm>
            <a:off x="4572000" y="3108960"/>
            <a:ext cx="2743200" cy="365760"/>
          </a:xfrm>
          <a:prstGeom prst="rect">
            <a:avLst/>
          </a:prstGeom>
          <a:noFill/>
          <a:ln/>
        </p:spPr>
        <p:txBody>
          <a:bodyPr wrap="square" lIns="0" tIns="0" rIns="0" bIns="0" rtlCol="0" anchor="ctr"/>
          <a:lstStyle/>
          <a:p>
            <a:pPr indent="0" marL="0">
              <a:buNone/>
            </a:pPr>
            <a:r>
              <a:rPr lang="en-US" sz="1400" i="1" dirty="0">
                <a:solidFill>
                  <a:srgbClr val="6E6878"/>
                </a:solidFill>
                <a:latin typeface="Alexandria" pitchFamily="34" charset="0"/>
                <a:ea typeface="Alexandria" pitchFamily="34" charset="-122"/>
                <a:cs typeface="Alexandria" pitchFamily="34" charset="-120"/>
              </a:rPr>
              <a:t>mượn quyền lực</a:t>
            </a:r>
            <a:endParaRPr lang="en-US" sz="1400" dirty="0"/>
          </a:p>
        </p:txBody>
      </p:sp>
      <p:sp>
        <p:nvSpPr>
          <p:cNvPr id="28" name="Shape 25"/>
          <p:cNvSpPr/>
          <p:nvPr/>
        </p:nvSpPr>
        <p:spPr>
          <a:xfrm>
            <a:off x="7616952" y="3154680"/>
            <a:ext cx="448056" cy="914"/>
          </a:xfrm>
          <a:prstGeom prst="line">
            <a:avLst/>
          </a:prstGeom>
          <a:noFill/>
          <a:ln w="38100">
            <a:solidFill>
              <a:srgbClr val="2A2238"/>
            </a:solidFill>
            <a:prstDash val="solid"/>
            <a:tailEnd type="triangle"/>
          </a:ln>
        </p:spPr>
      </p:sp>
      <p:sp>
        <p:nvSpPr>
          <p:cNvPr id="29" name="Shape 26"/>
          <p:cNvSpPr/>
          <p:nvPr/>
        </p:nvSpPr>
        <p:spPr>
          <a:xfrm>
            <a:off x="8138160" y="2103120"/>
            <a:ext cx="3200400" cy="2103120"/>
          </a:xfrm>
          <a:prstGeom prst="roundRect">
            <a:avLst>
              <a:gd name="adj" fmla="val 5217"/>
            </a:avLst>
          </a:prstGeom>
          <a:solidFill>
            <a:srgbClr val="F1E1EE"/>
          </a:solidFill>
          <a:ln w="19050">
            <a:solidFill>
              <a:srgbClr val="962B7C"/>
            </a:solidFill>
            <a:prstDash val="solid"/>
          </a:ln>
        </p:spPr>
      </p:sp>
      <p:sp>
        <p:nvSpPr>
          <p:cNvPr id="30" name="Text 27"/>
          <p:cNvSpPr txBox="1"/>
          <p:nvPr/>
        </p:nvSpPr>
        <p:spPr>
          <a:xfrm>
            <a:off x="8366760" y="2240280"/>
            <a:ext cx="2743200" cy="822960"/>
          </a:xfrm>
          <a:prstGeom prst="rect">
            <a:avLst/>
          </a:prstGeom>
          <a:noFill/>
          <a:ln/>
        </p:spPr>
        <p:txBody>
          <a:bodyPr wrap="square" lIns="0" tIns="0" rIns="0" bIns="0" rtlCol="0" anchor="t"/>
          <a:lstStyle/>
          <a:p>
            <a:pPr indent="0" marL="0">
              <a:buNone/>
            </a:pPr>
            <a:r>
              <a:rPr lang="en-US" sz="2400" b="1" dirty="0">
                <a:solidFill>
                  <a:srgbClr val="962B7C"/>
                </a:solidFill>
                <a:latin typeface="Alexandria" pitchFamily="34" charset="0"/>
                <a:ea typeface="Alexandria" pitchFamily="34" charset="-122"/>
                <a:cs typeface="Alexandria" pitchFamily="34" charset="-120"/>
              </a:rPr>
              <a:t>Definitive</a:t>
            </a:r>
            <a:endParaRPr lang="en-US" sz="2400" dirty="0"/>
          </a:p>
        </p:txBody>
      </p:sp>
      <p:sp>
        <p:nvSpPr>
          <p:cNvPr id="31" name="Text 28"/>
          <p:cNvSpPr txBox="1"/>
          <p:nvPr/>
        </p:nvSpPr>
        <p:spPr>
          <a:xfrm>
            <a:off x="8366760" y="3108960"/>
            <a:ext cx="2743200" cy="365760"/>
          </a:xfrm>
          <a:prstGeom prst="rect">
            <a:avLst/>
          </a:prstGeom>
          <a:noFill/>
          <a:ln/>
        </p:spPr>
        <p:txBody>
          <a:bodyPr wrap="square" lIns="0" tIns="0" rIns="0" bIns="0" rtlCol="0" anchor="ctr"/>
          <a:lstStyle/>
          <a:p>
            <a:pPr indent="0" marL="0">
              <a:buNone/>
            </a:pPr>
            <a:r>
              <a:rPr lang="en-US" sz="1400" i="1" dirty="0">
                <a:solidFill>
                  <a:srgbClr val="6E6878"/>
                </a:solidFill>
                <a:latin typeface="Alexandria" pitchFamily="34" charset="0"/>
                <a:ea typeface="Alexandria" pitchFamily="34" charset="-122"/>
                <a:cs typeface="Alexandria" pitchFamily="34" charset="-120"/>
              </a:rPr>
              <a:t>P + L + U</a:t>
            </a:r>
            <a:endParaRPr lang="en-US" sz="1400" dirty="0"/>
          </a:p>
        </p:txBody>
      </p:sp>
      <p:sp>
        <p:nvSpPr>
          <p:cNvPr id="32" name="Text 29"/>
          <p:cNvSpPr txBox="1"/>
          <p:nvPr/>
        </p:nvSpPr>
        <p:spPr>
          <a:xfrm>
            <a:off x="8366760" y="3520440"/>
            <a:ext cx="2743200" cy="59436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Yêu cầu của cư dân phải xử lý ngay</a:t>
            </a:r>
            <a:endParaRPr lang="en-US" sz="1400" dirty="0"/>
          </a:p>
        </p:txBody>
      </p:sp>
      <p:sp>
        <p:nvSpPr>
          <p:cNvPr id="33" name="Shape 30"/>
          <p:cNvSpPr/>
          <p:nvPr/>
        </p:nvSpPr>
        <p:spPr>
          <a:xfrm>
            <a:off x="548640" y="4572000"/>
            <a:ext cx="11094415" cy="1417320"/>
          </a:xfrm>
          <a:prstGeom prst="roundRect">
            <a:avLst>
              <a:gd name="adj" fmla="val 7742"/>
            </a:avLst>
          </a:prstGeom>
          <a:solidFill>
            <a:srgbClr val="FFF3C4"/>
          </a:solidFill>
          <a:ln w="12700">
            <a:solidFill>
              <a:srgbClr val="FFD23B"/>
            </a:solidFill>
            <a:prstDash val="solid"/>
          </a:ln>
        </p:spPr>
      </p:sp>
      <p:sp>
        <p:nvSpPr>
          <p:cNvPr id="34" name="Text 31"/>
          <p:cNvSpPr txBox="1"/>
          <p:nvPr/>
        </p:nvSpPr>
        <p:spPr>
          <a:xfrm>
            <a:off x="914400" y="4572000"/>
            <a:ext cx="10362895" cy="1417320"/>
          </a:xfrm>
          <a:prstGeom prst="rect">
            <a:avLst/>
          </a:prstGeom>
          <a:noFill/>
          <a:ln/>
        </p:spPr>
        <p:txBody>
          <a:bodyPr wrap="square" lIns="0" tIns="0" rIns="0" bIns="0" rtlCol="0" anchor="ctr"/>
          <a:lstStyle/>
          <a:p>
            <a:pPr indent="0" marL="0">
              <a:buNone/>
            </a:pPr>
            <a:r>
              <a:rPr lang="en-US" sz="2100" b="1" dirty="0">
                <a:solidFill>
                  <a:srgbClr val="2A2238"/>
                </a:solidFill>
                <a:latin typeface="Alexandria" pitchFamily="34" charset="0"/>
                <a:ea typeface="Alexandria" pitchFamily="34" charset="-122"/>
                <a:cs typeface="Alexandria" pitchFamily="34" charset="-120"/>
              </a:rPr>
              <a:t>Nova nên làm gì từ khi họ còn là Dependent — để không phải đối mặt khi họ đã là Definitive?</a:t>
            </a:r>
            <a:endParaRPr lang="en-US" sz="2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Thực hành 2 · Bản đồ quyền lực quanh khách hàng của nhóm</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Phiếu W01_activity_S6_ban_do_quyen_luc.md.</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25</a:t>
            </a:r>
            <a:endParaRPr lang="en-US" sz="1000" dirty="0"/>
          </a:p>
        </p:txBody>
      </p:sp>
      <p:sp>
        <p:nvSpPr>
          <p:cNvPr id="20" name="Text 17"/>
          <p:cNvSpPr txBox="1"/>
          <p:nvPr/>
        </p:nvSpPr>
        <p:spPr>
          <a:xfrm>
            <a:off x="548640" y="1737360"/>
            <a:ext cx="11094415" cy="365760"/>
          </a:xfrm>
          <a:prstGeom prst="rect">
            <a:avLst/>
          </a:prstGeom>
          <a:noFill/>
          <a:ln/>
        </p:spPr>
        <p:txBody>
          <a:bodyPr wrap="square" lIns="0" tIns="0" rIns="0" bIns="0" rtlCol="0" anchor="ctr"/>
          <a:lstStyle/>
          <a:p>
            <a:pPr indent="0" marL="0">
              <a:buNone/>
            </a:pPr>
            <a:r>
              <a:rPr lang="en-US" sz="1300" dirty="0">
                <a:solidFill>
                  <a:srgbClr val="6E6878"/>
                </a:solidFill>
                <a:latin typeface="Alexandria" pitchFamily="34" charset="0"/>
                <a:ea typeface="Alexandria" pitchFamily="34" charset="-122"/>
                <a:cs typeface="Alexandria" pitchFamily="34" charset="-120"/>
              </a:rPr>
              <a:t>Khách hàng thật từ dự án cũ của nhóm — đây là phần 1 của Stakeholder Management Plan</a:t>
            </a:r>
            <a:endParaRPr lang="en-US" sz="1300" dirty="0"/>
          </a:p>
        </p:txBody>
      </p:sp>
      <p:sp>
        <p:nvSpPr>
          <p:cNvPr id="21" name="Shape 18"/>
          <p:cNvSpPr/>
          <p:nvPr/>
        </p:nvSpPr>
        <p:spPr>
          <a:xfrm>
            <a:off x="548640" y="2240280"/>
            <a:ext cx="3515258" cy="1417320"/>
          </a:xfrm>
          <a:prstGeom prst="roundRect">
            <a:avLst>
              <a:gd name="adj" fmla="val 7742"/>
            </a:avLst>
          </a:prstGeom>
          <a:solidFill>
            <a:srgbClr val="FFE9DE"/>
          </a:solidFill>
          <a:ln w="19050">
            <a:solidFill>
              <a:srgbClr val="FF9259"/>
            </a:solidFill>
            <a:prstDash val="solid"/>
          </a:ln>
        </p:spPr>
      </p:sp>
      <p:sp>
        <p:nvSpPr>
          <p:cNvPr id="22" name="Text 19"/>
          <p:cNvSpPr txBox="1"/>
          <p:nvPr/>
        </p:nvSpPr>
        <p:spPr>
          <a:xfrm>
            <a:off x="822960" y="2240280"/>
            <a:ext cx="2966618" cy="141732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A · Danh sách</a:t>
            </a:r>
            <a:endParaRPr lang="en-US" sz="1700" dirty="0"/>
          </a:p>
          <a:p>
            <a:pPr indent="0" marL="0">
              <a:buNone/>
            </a:pPr>
            <a:r>
              <a:rPr lang="en-US" sz="1300" dirty="0">
                <a:solidFill>
                  <a:srgbClr val="2A2238"/>
                </a:solidFill>
                <a:latin typeface="Alexandria" pitchFamily="34" charset="0"/>
                <a:ea typeface="Alexandria" pitchFamily="34" charset="-122"/>
                <a:cs typeface="Alexandria" pitchFamily="34" charset="-120"/>
              </a:rPr>
              <a:t>≥ 8 bên bên ngoài, đánh dấu P/S</a:t>
            </a:r>
            <a:endParaRPr lang="en-US" sz="1700" dirty="0"/>
          </a:p>
        </p:txBody>
      </p:sp>
      <p:sp>
        <p:nvSpPr>
          <p:cNvPr id="23" name="Shape 20"/>
          <p:cNvSpPr/>
          <p:nvPr/>
        </p:nvSpPr>
        <p:spPr>
          <a:xfrm>
            <a:off x="4338218" y="2240280"/>
            <a:ext cx="3515258" cy="1417320"/>
          </a:xfrm>
          <a:prstGeom prst="roundRect">
            <a:avLst>
              <a:gd name="adj" fmla="val 7742"/>
            </a:avLst>
          </a:prstGeom>
          <a:solidFill>
            <a:srgbClr val="F1E1EE"/>
          </a:solidFill>
          <a:ln w="19050">
            <a:solidFill>
              <a:srgbClr val="962B7C"/>
            </a:solidFill>
            <a:prstDash val="solid"/>
          </a:ln>
        </p:spPr>
      </p:sp>
      <p:sp>
        <p:nvSpPr>
          <p:cNvPr id="24" name="Text 21"/>
          <p:cNvSpPr txBox="1"/>
          <p:nvPr/>
        </p:nvSpPr>
        <p:spPr>
          <a:xfrm>
            <a:off x="4612538" y="2240280"/>
            <a:ext cx="2966618" cy="141732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B · Power-Interest Grid</a:t>
            </a:r>
            <a:endParaRPr lang="en-US" sz="1700" dirty="0"/>
          </a:p>
          <a:p>
            <a:pPr indent="0" marL="0">
              <a:buNone/>
            </a:pPr>
            <a:r>
              <a:rPr lang="en-US" sz="1300" dirty="0">
                <a:solidFill>
                  <a:srgbClr val="2A2238"/>
                </a:solidFill>
                <a:latin typeface="Alexandria" pitchFamily="34" charset="0"/>
                <a:ea typeface="Alexandria" pitchFamily="34" charset="-122"/>
                <a:cs typeface="Alexandria" pitchFamily="34" charset="-120"/>
              </a:rPr>
              <a:t>đặt từng bên vào ô; mỗi ô 1 hành động cụ thể</a:t>
            </a:r>
            <a:endParaRPr lang="en-US" sz="1700" dirty="0"/>
          </a:p>
        </p:txBody>
      </p:sp>
      <p:sp>
        <p:nvSpPr>
          <p:cNvPr id="25" name="Shape 22"/>
          <p:cNvSpPr/>
          <p:nvPr/>
        </p:nvSpPr>
        <p:spPr>
          <a:xfrm>
            <a:off x="8127797" y="2240280"/>
            <a:ext cx="3515258" cy="1417320"/>
          </a:xfrm>
          <a:prstGeom prst="roundRect">
            <a:avLst>
              <a:gd name="adj" fmla="val 7742"/>
            </a:avLst>
          </a:prstGeom>
          <a:solidFill>
            <a:srgbClr val="DDF1FB"/>
          </a:solidFill>
          <a:ln w="19050">
            <a:solidFill>
              <a:srgbClr val="09A1E5"/>
            </a:solidFill>
            <a:prstDash val="solid"/>
          </a:ln>
        </p:spPr>
      </p:sp>
      <p:sp>
        <p:nvSpPr>
          <p:cNvPr id="26" name="Text 23"/>
          <p:cNvSpPr txBox="1"/>
          <p:nvPr/>
        </p:nvSpPr>
        <p:spPr>
          <a:xfrm>
            <a:off x="8402117" y="2240280"/>
            <a:ext cx="2966618" cy="141732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C · Salience Model</a:t>
            </a:r>
            <a:endParaRPr lang="en-US" sz="1700" dirty="0"/>
          </a:p>
          <a:p>
            <a:pPr indent="0" marL="0">
              <a:buNone/>
            </a:pPr>
            <a:r>
              <a:rPr lang="en-US" sz="1300" dirty="0">
                <a:solidFill>
                  <a:srgbClr val="2A2238"/>
                </a:solidFill>
                <a:latin typeface="Alexandria" pitchFamily="34" charset="0"/>
                <a:ea typeface="Alexandria" pitchFamily="34" charset="-122"/>
                <a:cs typeface="Alexandria" pitchFamily="34" charset="-120"/>
              </a:rPr>
              <a:t>3 vòng tròn; đặt từng bên vào đúng vùng</a:t>
            </a:r>
            <a:endParaRPr lang="en-US" sz="1700" dirty="0"/>
          </a:p>
        </p:txBody>
      </p:sp>
      <p:sp>
        <p:nvSpPr>
          <p:cNvPr id="27" name="Shape 24"/>
          <p:cNvSpPr/>
          <p:nvPr/>
        </p:nvSpPr>
        <p:spPr>
          <a:xfrm>
            <a:off x="548640" y="3840480"/>
            <a:ext cx="11094415" cy="685800"/>
          </a:xfrm>
          <a:prstGeom prst="roundRect">
            <a:avLst>
              <a:gd name="adj" fmla="val 16000"/>
            </a:avLst>
          </a:prstGeom>
          <a:solidFill>
            <a:srgbClr val="FFF3C4"/>
          </a:solidFill>
          <a:ln w="12700">
            <a:solidFill>
              <a:srgbClr val="FFD23B"/>
            </a:solidFill>
            <a:prstDash val="solid"/>
          </a:ln>
        </p:spPr>
      </p:sp>
      <p:sp>
        <p:nvSpPr>
          <p:cNvPr id="28" name="Text 25"/>
          <p:cNvSpPr txBox="1"/>
          <p:nvPr/>
        </p:nvSpPr>
        <p:spPr>
          <a:xfrm>
            <a:off x="822960" y="3840480"/>
            <a:ext cx="10545775" cy="68580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 Một bên mà Grid và Salience “không khớp nhau” — viết 1 câu: điều đó cảnh báo gì?</a:t>
            </a:r>
            <a:endParaRPr lang="en-US" sz="1500" dirty="0"/>
          </a:p>
        </p:txBody>
      </p:sp>
      <p:sp>
        <p:nvSpPr>
          <p:cNvPr id="29" name="Shape 26"/>
          <p:cNvSpPr/>
          <p:nvPr/>
        </p:nvSpPr>
        <p:spPr>
          <a:xfrm>
            <a:off x="548640" y="4846320"/>
            <a:ext cx="777240" cy="777240"/>
          </a:xfrm>
          <a:prstGeom prst="ellipse">
            <a:avLst/>
          </a:prstGeom>
          <a:solidFill>
            <a:srgbClr val="FF9259"/>
          </a:solidFill>
          <a:ln w="12700">
            <a:solidFill>
              <a:srgbClr val="FF9259"/>
            </a:solidFill>
            <a:prstDash val="solid"/>
          </a:ln>
        </p:spPr>
      </p:sp>
      <p:sp>
        <p:nvSpPr>
          <p:cNvPr id="30" name="Text 27"/>
          <p:cNvSpPr txBox="1"/>
          <p:nvPr/>
        </p:nvSpPr>
        <p:spPr>
          <a:xfrm>
            <a:off x="548640" y="4846320"/>
            <a:ext cx="777240" cy="777240"/>
          </a:xfrm>
          <a:prstGeom prst="rect">
            <a:avLst/>
          </a:prstGeom>
          <a:noFill/>
          <a:ln/>
        </p:spPr>
        <p:txBody>
          <a:bodyPr wrap="square" lIns="0" tIns="0" rIns="0" bIns="0" rtlCol="0" anchor="ctr"/>
          <a:lstStyle/>
          <a:p>
            <a:pPr algn="ctr" indent="0" marL="0">
              <a:buNone/>
            </a:pPr>
            <a:r>
              <a:rPr lang="en-US" sz="1700" b="1" dirty="0">
                <a:solidFill>
                  <a:srgbClr val="2A2238"/>
                </a:solidFill>
                <a:latin typeface="Alexandria" pitchFamily="34" charset="0"/>
                <a:ea typeface="Alexandria" pitchFamily="34" charset="-122"/>
                <a:cs typeface="Alexandria" pitchFamily="34" charset="-120"/>
              </a:rPr>
              <a:t>3’</a:t>
            </a:r>
            <a:endParaRPr lang="en-US" sz="1700" dirty="0"/>
          </a:p>
        </p:txBody>
      </p:sp>
      <p:sp>
        <p:nvSpPr>
          <p:cNvPr id="31" name="Text 28"/>
          <p:cNvSpPr txBox="1"/>
          <p:nvPr/>
        </p:nvSpPr>
        <p:spPr>
          <a:xfrm>
            <a:off x="1463040" y="4754880"/>
            <a:ext cx="2600858" cy="9601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Chọn khách hàng từ dự án cũ</a:t>
            </a:r>
            <a:endParaRPr lang="en-US" sz="1400" dirty="0"/>
          </a:p>
        </p:txBody>
      </p:sp>
      <p:sp>
        <p:nvSpPr>
          <p:cNvPr id="32" name="Shape 29"/>
          <p:cNvSpPr/>
          <p:nvPr/>
        </p:nvSpPr>
        <p:spPr>
          <a:xfrm>
            <a:off x="4338218" y="4846320"/>
            <a:ext cx="777240" cy="777240"/>
          </a:xfrm>
          <a:prstGeom prst="ellipse">
            <a:avLst/>
          </a:prstGeom>
          <a:solidFill>
            <a:srgbClr val="962B7C"/>
          </a:solidFill>
          <a:ln w="12700">
            <a:solidFill>
              <a:srgbClr val="962B7C"/>
            </a:solidFill>
            <a:prstDash val="solid"/>
          </a:ln>
        </p:spPr>
      </p:sp>
      <p:sp>
        <p:nvSpPr>
          <p:cNvPr id="33" name="Text 30"/>
          <p:cNvSpPr txBox="1"/>
          <p:nvPr/>
        </p:nvSpPr>
        <p:spPr>
          <a:xfrm>
            <a:off x="4338218" y="4846320"/>
            <a:ext cx="77724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18’</a:t>
            </a:r>
            <a:endParaRPr lang="en-US" sz="1700" dirty="0"/>
          </a:p>
        </p:txBody>
      </p:sp>
      <p:sp>
        <p:nvSpPr>
          <p:cNvPr id="34" name="Text 31"/>
          <p:cNvSpPr txBox="1"/>
          <p:nvPr/>
        </p:nvSpPr>
        <p:spPr>
          <a:xfrm>
            <a:off x="5252618" y="4754880"/>
            <a:ext cx="2600858" cy="9601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Làm poster 3 khu vực trên A0</a:t>
            </a:r>
            <a:endParaRPr lang="en-US" sz="1400" dirty="0"/>
          </a:p>
        </p:txBody>
      </p:sp>
      <p:sp>
        <p:nvSpPr>
          <p:cNvPr id="35" name="Shape 32"/>
          <p:cNvSpPr/>
          <p:nvPr/>
        </p:nvSpPr>
        <p:spPr>
          <a:xfrm>
            <a:off x="8127797" y="4846320"/>
            <a:ext cx="777240" cy="777240"/>
          </a:xfrm>
          <a:prstGeom prst="ellipse">
            <a:avLst/>
          </a:prstGeom>
          <a:solidFill>
            <a:srgbClr val="FF5178"/>
          </a:solidFill>
          <a:ln w="12700">
            <a:solidFill>
              <a:srgbClr val="FF5178"/>
            </a:solidFill>
            <a:prstDash val="solid"/>
          </a:ln>
        </p:spPr>
      </p:sp>
      <p:sp>
        <p:nvSpPr>
          <p:cNvPr id="36" name="Text 33"/>
          <p:cNvSpPr txBox="1"/>
          <p:nvPr/>
        </p:nvSpPr>
        <p:spPr>
          <a:xfrm>
            <a:off x="8127797" y="4846320"/>
            <a:ext cx="77724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12’</a:t>
            </a:r>
            <a:endParaRPr lang="en-US" sz="1700" dirty="0"/>
          </a:p>
        </p:txBody>
      </p:sp>
      <p:sp>
        <p:nvSpPr>
          <p:cNvPr id="37" name="Text 34"/>
          <p:cNvSpPr txBox="1"/>
          <p:nvPr/>
        </p:nvSpPr>
        <p:spPr>
          <a:xfrm>
            <a:off x="9042197" y="4754880"/>
            <a:ext cx="2600858" cy="9601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Xoay trạm: 🟨 1 câu hỏi, 🟥 1 phản biện có lý do</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Sửa poster ngay bây giờ — mỗi phản biện là một cơ hội</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26</a:t>
            </a:r>
            <a:endParaRPr lang="en-US" sz="1000" dirty="0"/>
          </a:p>
        </p:txBody>
      </p:sp>
      <p:sp>
        <p:nvSpPr>
          <p:cNvPr id="19" name="Shape 16"/>
          <p:cNvSpPr/>
          <p:nvPr/>
        </p:nvSpPr>
        <p:spPr>
          <a:xfrm>
            <a:off x="822960" y="2103120"/>
            <a:ext cx="2377440" cy="2377440"/>
          </a:xfrm>
          <a:prstGeom prst="ellipse">
            <a:avLst/>
          </a:prstGeom>
          <a:solidFill>
            <a:srgbClr val="FF5178"/>
          </a:solidFill>
          <a:ln w="12700">
            <a:solidFill>
              <a:srgbClr val="FF5178"/>
            </a:solidFill>
            <a:prstDash val="solid"/>
          </a:ln>
        </p:spPr>
      </p:sp>
      <p:sp>
        <p:nvSpPr>
          <p:cNvPr id="20" name="Text 17"/>
          <p:cNvSpPr txBox="1"/>
          <p:nvPr/>
        </p:nvSpPr>
        <p:spPr>
          <a:xfrm>
            <a:off x="822960" y="2103120"/>
            <a:ext cx="2377440" cy="2377440"/>
          </a:xfrm>
          <a:prstGeom prst="rect">
            <a:avLst/>
          </a:prstGeom>
          <a:noFill/>
          <a:ln/>
        </p:spPr>
        <p:txBody>
          <a:bodyPr wrap="square" lIns="0" tIns="0" rIns="0" bIns="0" rtlCol="0" anchor="ctr"/>
          <a:lstStyle/>
          <a:p>
            <a:pPr algn="ctr" indent="0" marL="0">
              <a:buNone/>
            </a:pPr>
            <a:r>
              <a:rPr lang="en-US" sz="6000" b="1" dirty="0">
                <a:solidFill>
                  <a:srgbClr val="FFFFFF"/>
                </a:solidFill>
                <a:latin typeface="Alexandria" pitchFamily="34" charset="0"/>
                <a:ea typeface="Alexandria" pitchFamily="34" charset="-122"/>
                <a:cs typeface="Alexandria" pitchFamily="34" charset="-120"/>
              </a:rPr>
              <a:t>5’</a:t>
            </a:r>
            <a:endParaRPr lang="en-US" sz="6000" dirty="0"/>
          </a:p>
        </p:txBody>
      </p:sp>
      <p:sp>
        <p:nvSpPr>
          <p:cNvPr id="21" name="Shape 18"/>
          <p:cNvSpPr/>
          <p:nvPr/>
        </p:nvSpPr>
        <p:spPr>
          <a:xfrm>
            <a:off x="3749040" y="1920240"/>
            <a:ext cx="7894015" cy="804672"/>
          </a:xfrm>
          <a:prstGeom prst="roundRect">
            <a:avLst>
              <a:gd name="adj" fmla="val 13636"/>
            </a:avLst>
          </a:prstGeom>
          <a:solidFill>
            <a:srgbClr val="FFFFFF"/>
          </a:solidFill>
          <a:ln w="19050">
            <a:solidFill>
              <a:srgbClr val="FF9259"/>
            </a:solidFill>
            <a:prstDash val="solid"/>
          </a:ln>
        </p:spPr>
      </p:sp>
      <p:sp>
        <p:nvSpPr>
          <p:cNvPr id="22" name="Shape 19"/>
          <p:cNvSpPr/>
          <p:nvPr/>
        </p:nvSpPr>
        <p:spPr>
          <a:xfrm>
            <a:off x="3931920" y="2048256"/>
            <a:ext cx="548640" cy="548640"/>
          </a:xfrm>
          <a:prstGeom prst="ellipse">
            <a:avLst/>
          </a:prstGeom>
          <a:solidFill>
            <a:srgbClr val="FF9259"/>
          </a:solidFill>
          <a:ln w="12700">
            <a:solidFill>
              <a:srgbClr val="FF9259"/>
            </a:solidFill>
            <a:prstDash val="solid"/>
          </a:ln>
        </p:spPr>
      </p:sp>
      <p:sp>
        <p:nvSpPr>
          <p:cNvPr id="23" name="Text 20"/>
          <p:cNvSpPr txBox="1"/>
          <p:nvPr/>
        </p:nvSpPr>
        <p:spPr>
          <a:xfrm>
            <a:off x="3931920" y="2048256"/>
            <a:ext cx="548640" cy="548640"/>
          </a:xfrm>
          <a:prstGeom prst="rect">
            <a:avLst/>
          </a:prstGeom>
          <a:noFill/>
          <a:ln/>
        </p:spPr>
        <p:txBody>
          <a:bodyPr wrap="square" lIns="0" tIns="0" rIns="0" bIns="0" rtlCol="0" anchor="ctr"/>
          <a:lstStyle/>
          <a:p>
            <a:pPr algn="ctr" indent="0" marL="0">
              <a:buNone/>
            </a:pPr>
            <a:r>
              <a:rPr lang="en-US" sz="2040" b="1" dirty="0">
                <a:solidFill>
                  <a:srgbClr val="2A2238"/>
                </a:solidFill>
                <a:latin typeface="Alexandria" pitchFamily="34" charset="0"/>
                <a:ea typeface="Alexandria" pitchFamily="34" charset="-122"/>
                <a:cs typeface="Alexandria" pitchFamily="34" charset="-120"/>
              </a:rPr>
              <a:t>1</a:t>
            </a:r>
            <a:endParaRPr lang="en-US" sz="2040" dirty="0"/>
          </a:p>
        </p:txBody>
      </p:sp>
      <p:sp>
        <p:nvSpPr>
          <p:cNvPr id="24" name="Text 21"/>
          <p:cNvSpPr txBox="1"/>
          <p:nvPr/>
        </p:nvSpPr>
        <p:spPr>
          <a:xfrm>
            <a:off x="4663440" y="1920240"/>
            <a:ext cx="6796735" cy="804672"/>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Đọc các note vàng và hồng</a:t>
            </a:r>
            <a:endParaRPr lang="en-US" sz="1800" dirty="0"/>
          </a:p>
        </p:txBody>
      </p:sp>
      <p:sp>
        <p:nvSpPr>
          <p:cNvPr id="25" name="Shape 22"/>
          <p:cNvSpPr/>
          <p:nvPr/>
        </p:nvSpPr>
        <p:spPr>
          <a:xfrm>
            <a:off x="3749040" y="2880360"/>
            <a:ext cx="7894015" cy="804672"/>
          </a:xfrm>
          <a:prstGeom prst="roundRect">
            <a:avLst>
              <a:gd name="adj" fmla="val 13636"/>
            </a:avLst>
          </a:prstGeom>
          <a:solidFill>
            <a:srgbClr val="FFFFFF"/>
          </a:solidFill>
          <a:ln w="19050">
            <a:solidFill>
              <a:srgbClr val="962B7C"/>
            </a:solidFill>
            <a:prstDash val="solid"/>
          </a:ln>
        </p:spPr>
      </p:sp>
      <p:sp>
        <p:nvSpPr>
          <p:cNvPr id="26" name="Shape 23"/>
          <p:cNvSpPr/>
          <p:nvPr/>
        </p:nvSpPr>
        <p:spPr>
          <a:xfrm>
            <a:off x="3931920" y="3008376"/>
            <a:ext cx="548640" cy="548640"/>
          </a:xfrm>
          <a:prstGeom prst="ellipse">
            <a:avLst/>
          </a:prstGeom>
          <a:solidFill>
            <a:srgbClr val="962B7C"/>
          </a:solidFill>
          <a:ln w="12700">
            <a:solidFill>
              <a:srgbClr val="962B7C"/>
            </a:solidFill>
            <a:prstDash val="solid"/>
          </a:ln>
        </p:spPr>
      </p:sp>
      <p:sp>
        <p:nvSpPr>
          <p:cNvPr id="27" name="Text 24"/>
          <p:cNvSpPr txBox="1"/>
          <p:nvPr/>
        </p:nvSpPr>
        <p:spPr>
          <a:xfrm>
            <a:off x="3931920" y="3008376"/>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2</a:t>
            </a:r>
            <a:endParaRPr lang="en-US" sz="2040" dirty="0"/>
          </a:p>
        </p:txBody>
      </p:sp>
      <p:sp>
        <p:nvSpPr>
          <p:cNvPr id="28" name="Text 25"/>
          <p:cNvSpPr txBox="1"/>
          <p:nvPr/>
        </p:nvSpPr>
        <p:spPr>
          <a:xfrm>
            <a:off x="4663440" y="2880360"/>
            <a:ext cx="6796735" cy="804672"/>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Sửa ít nhất một vị trí trên Grid hoặc Salience</a:t>
            </a:r>
            <a:endParaRPr lang="en-US" sz="1800" dirty="0"/>
          </a:p>
        </p:txBody>
      </p:sp>
      <p:sp>
        <p:nvSpPr>
          <p:cNvPr id="29" name="Shape 26"/>
          <p:cNvSpPr/>
          <p:nvPr/>
        </p:nvSpPr>
        <p:spPr>
          <a:xfrm>
            <a:off x="3749040" y="3840480"/>
            <a:ext cx="7894015" cy="804672"/>
          </a:xfrm>
          <a:prstGeom prst="roundRect">
            <a:avLst>
              <a:gd name="adj" fmla="val 13636"/>
            </a:avLst>
          </a:prstGeom>
          <a:solidFill>
            <a:srgbClr val="FFFFFF"/>
          </a:solidFill>
          <a:ln w="19050">
            <a:solidFill>
              <a:srgbClr val="09A1E5"/>
            </a:solidFill>
            <a:prstDash val="solid"/>
          </a:ln>
        </p:spPr>
      </p:sp>
      <p:sp>
        <p:nvSpPr>
          <p:cNvPr id="30" name="Shape 27"/>
          <p:cNvSpPr/>
          <p:nvPr/>
        </p:nvSpPr>
        <p:spPr>
          <a:xfrm>
            <a:off x="3931920" y="3968496"/>
            <a:ext cx="548640" cy="548640"/>
          </a:xfrm>
          <a:prstGeom prst="ellipse">
            <a:avLst/>
          </a:prstGeom>
          <a:solidFill>
            <a:srgbClr val="09A1E5"/>
          </a:solidFill>
          <a:ln w="12700">
            <a:solidFill>
              <a:srgbClr val="09A1E5"/>
            </a:solidFill>
            <a:prstDash val="solid"/>
          </a:ln>
        </p:spPr>
      </p:sp>
      <p:sp>
        <p:nvSpPr>
          <p:cNvPr id="31" name="Text 28"/>
          <p:cNvSpPr txBox="1"/>
          <p:nvPr/>
        </p:nvSpPr>
        <p:spPr>
          <a:xfrm>
            <a:off x="3931920" y="3968496"/>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3</a:t>
            </a:r>
            <a:endParaRPr lang="en-US" sz="2040" dirty="0"/>
          </a:p>
        </p:txBody>
      </p:sp>
      <p:sp>
        <p:nvSpPr>
          <p:cNvPr id="32" name="Text 29"/>
          <p:cNvSpPr txBox="1"/>
          <p:nvPr/>
        </p:nvSpPr>
        <p:spPr>
          <a:xfrm>
            <a:off x="4663440" y="3840480"/>
            <a:ext cx="6796735" cy="804672"/>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Ghi “sửa gì, vì sao” ở góc poster</a:t>
            </a:r>
            <a:endParaRPr lang="en-US" sz="1800" dirty="0"/>
          </a:p>
        </p:txBody>
      </p:sp>
      <p:sp>
        <p:nvSpPr>
          <p:cNvPr id="33" name="Shape 30"/>
          <p:cNvSpPr/>
          <p:nvPr/>
        </p:nvSpPr>
        <p:spPr>
          <a:xfrm>
            <a:off x="3749040" y="4800600"/>
            <a:ext cx="7894015" cy="804672"/>
          </a:xfrm>
          <a:prstGeom prst="roundRect">
            <a:avLst>
              <a:gd name="adj" fmla="val 13636"/>
            </a:avLst>
          </a:prstGeom>
          <a:solidFill>
            <a:srgbClr val="FFFFFF"/>
          </a:solidFill>
          <a:ln w="19050">
            <a:solidFill>
              <a:srgbClr val="49B296"/>
            </a:solidFill>
            <a:prstDash val="solid"/>
          </a:ln>
        </p:spPr>
      </p:sp>
      <p:sp>
        <p:nvSpPr>
          <p:cNvPr id="34" name="Shape 31"/>
          <p:cNvSpPr/>
          <p:nvPr/>
        </p:nvSpPr>
        <p:spPr>
          <a:xfrm>
            <a:off x="3931920" y="4928616"/>
            <a:ext cx="548640" cy="548640"/>
          </a:xfrm>
          <a:prstGeom prst="ellipse">
            <a:avLst/>
          </a:prstGeom>
          <a:solidFill>
            <a:srgbClr val="49B296"/>
          </a:solidFill>
          <a:ln w="12700">
            <a:solidFill>
              <a:srgbClr val="49B296"/>
            </a:solidFill>
            <a:prstDash val="solid"/>
          </a:ln>
        </p:spPr>
      </p:sp>
      <p:sp>
        <p:nvSpPr>
          <p:cNvPr id="35" name="Text 32"/>
          <p:cNvSpPr txBox="1"/>
          <p:nvPr/>
        </p:nvSpPr>
        <p:spPr>
          <a:xfrm>
            <a:off x="3931920" y="4928616"/>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4</a:t>
            </a:r>
            <a:endParaRPr lang="en-US" sz="2040" dirty="0"/>
          </a:p>
        </p:txBody>
      </p:sp>
      <p:sp>
        <p:nvSpPr>
          <p:cNvPr id="36" name="Text 33"/>
          <p:cNvSpPr txBox="1"/>
          <p:nvPr/>
        </p:nvSpPr>
        <p:spPr>
          <a:xfrm>
            <a:off x="4663440" y="4800600"/>
            <a:ext cx="6796735" cy="804672"/>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Chụp ảnh lưu lại — không nộp</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Poster hôm nay là trang 1 của Stakeholder Management Plan</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27</a:t>
            </a:r>
            <a:endParaRPr lang="en-US" sz="1000" dirty="0"/>
          </a:p>
        </p:txBody>
      </p:sp>
      <p:sp>
        <p:nvSpPr>
          <p:cNvPr id="19" name="Shape 16"/>
          <p:cNvSpPr/>
          <p:nvPr/>
        </p:nvSpPr>
        <p:spPr>
          <a:xfrm>
            <a:off x="548640" y="2194560"/>
            <a:ext cx="2670734" cy="1371600"/>
          </a:xfrm>
          <a:prstGeom prst="chevron">
            <a:avLst/>
          </a:prstGeom>
          <a:solidFill>
            <a:srgbClr val="FF9259"/>
          </a:solidFill>
          <a:ln w="25400">
            <a:solidFill>
              <a:srgbClr val="FF9259"/>
            </a:solidFill>
            <a:prstDash val="solid"/>
          </a:ln>
        </p:spPr>
      </p:sp>
      <p:sp>
        <p:nvSpPr>
          <p:cNvPr id="20" name="Text 17"/>
          <p:cNvSpPr txBox="1"/>
          <p:nvPr/>
        </p:nvSpPr>
        <p:spPr>
          <a:xfrm>
            <a:off x="1325880" y="2194560"/>
            <a:ext cx="1344854" cy="137160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Buổi 1</a:t>
            </a:r>
            <a:endParaRPr lang="en-US" sz="1800" dirty="0"/>
          </a:p>
          <a:p>
            <a:pPr indent="0" marL="0">
              <a:buNone/>
            </a:pPr>
            <a:r>
              <a:rPr lang="en-US" sz="1200" dirty="0">
                <a:solidFill>
                  <a:srgbClr val="2A2238"/>
                </a:solidFill>
                <a:latin typeface="Alexandria" pitchFamily="34" charset="0"/>
                <a:ea typeface="Alexandria" pitchFamily="34" charset="-122"/>
                <a:cs typeface="Alexandria" pitchFamily="34" charset="-120"/>
              </a:rPr>
              <a:t>Bản đồ các bên liên quan</a:t>
            </a:r>
            <a:endParaRPr lang="en-US" sz="1800" dirty="0"/>
          </a:p>
        </p:txBody>
      </p:sp>
      <p:sp>
        <p:nvSpPr>
          <p:cNvPr id="21" name="Shape 18"/>
          <p:cNvSpPr/>
          <p:nvPr/>
        </p:nvSpPr>
        <p:spPr>
          <a:xfrm>
            <a:off x="3356534" y="2194560"/>
            <a:ext cx="2670734" cy="1371600"/>
          </a:xfrm>
          <a:prstGeom prst="chevron">
            <a:avLst/>
          </a:prstGeom>
          <a:solidFill>
            <a:srgbClr val="FFFFFF"/>
          </a:solidFill>
          <a:ln w="25400">
            <a:solidFill>
              <a:srgbClr val="962B7C"/>
            </a:solidFill>
            <a:prstDash val="solid"/>
          </a:ln>
        </p:spPr>
      </p:sp>
      <p:sp>
        <p:nvSpPr>
          <p:cNvPr id="22" name="Text 19"/>
          <p:cNvSpPr txBox="1"/>
          <p:nvPr/>
        </p:nvSpPr>
        <p:spPr>
          <a:xfrm>
            <a:off x="4133774" y="2194560"/>
            <a:ext cx="1344854" cy="137160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Buổi 2–8</a:t>
            </a:r>
            <a:endParaRPr lang="en-US" sz="1800" dirty="0"/>
          </a:p>
          <a:p>
            <a:pPr indent="0" marL="0">
              <a:buNone/>
            </a:pPr>
            <a:r>
              <a:rPr lang="en-US" sz="1200" dirty="0">
                <a:solidFill>
                  <a:srgbClr val="2A2238"/>
                </a:solidFill>
                <a:latin typeface="Alexandria" pitchFamily="34" charset="0"/>
                <a:ea typeface="Alexandria" pitchFamily="34" charset="-122"/>
                <a:cs typeface="Alexandria" pitchFamily="34" charset="-120"/>
              </a:rPr>
              <a:t>Khách hàng trọng điểm</a:t>
            </a:r>
            <a:endParaRPr lang="en-US" sz="1800" dirty="0"/>
          </a:p>
        </p:txBody>
      </p:sp>
      <p:sp>
        <p:nvSpPr>
          <p:cNvPr id="23" name="Shape 20"/>
          <p:cNvSpPr/>
          <p:nvPr/>
        </p:nvSpPr>
        <p:spPr>
          <a:xfrm>
            <a:off x="6164428" y="2194560"/>
            <a:ext cx="2670734" cy="1371600"/>
          </a:xfrm>
          <a:prstGeom prst="chevron">
            <a:avLst/>
          </a:prstGeom>
          <a:solidFill>
            <a:srgbClr val="FFFFFF"/>
          </a:solidFill>
          <a:ln w="25400">
            <a:solidFill>
              <a:srgbClr val="09A1E5"/>
            </a:solidFill>
            <a:prstDash val="solid"/>
          </a:ln>
        </p:spPr>
      </p:sp>
      <p:sp>
        <p:nvSpPr>
          <p:cNvPr id="24" name="Text 21"/>
          <p:cNvSpPr txBox="1"/>
          <p:nvPr/>
        </p:nvSpPr>
        <p:spPr>
          <a:xfrm>
            <a:off x="6941668" y="2194560"/>
            <a:ext cx="1344854" cy="137160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Buổi 9–12</a:t>
            </a:r>
            <a:endParaRPr lang="en-US" sz="1800" dirty="0"/>
          </a:p>
          <a:p>
            <a:pPr indent="0" marL="0">
              <a:buNone/>
            </a:pPr>
            <a:r>
              <a:rPr lang="en-US" sz="1200" dirty="0">
                <a:solidFill>
                  <a:srgbClr val="2A2238"/>
                </a:solidFill>
                <a:latin typeface="Alexandria" pitchFamily="34" charset="0"/>
                <a:ea typeface="Alexandria" pitchFamily="34" charset="-122"/>
                <a:cs typeface="Alexandria" pitchFamily="34" charset="-120"/>
              </a:rPr>
              <a:t>Các bên khác quanh hành trình khách hàng</a:t>
            </a:r>
            <a:endParaRPr lang="en-US" sz="1800" dirty="0"/>
          </a:p>
        </p:txBody>
      </p:sp>
      <p:sp>
        <p:nvSpPr>
          <p:cNvPr id="25" name="Shape 22"/>
          <p:cNvSpPr/>
          <p:nvPr/>
        </p:nvSpPr>
        <p:spPr>
          <a:xfrm>
            <a:off x="8972321" y="2194560"/>
            <a:ext cx="2670734" cy="1371600"/>
          </a:xfrm>
          <a:prstGeom prst="chevron">
            <a:avLst/>
          </a:prstGeom>
          <a:solidFill>
            <a:srgbClr val="FFFFFF"/>
          </a:solidFill>
          <a:ln w="25400">
            <a:solidFill>
              <a:srgbClr val="49B296"/>
            </a:solidFill>
            <a:prstDash val="solid"/>
          </a:ln>
        </p:spPr>
      </p:sp>
      <p:sp>
        <p:nvSpPr>
          <p:cNvPr id="26" name="Text 23"/>
          <p:cNvSpPr txBox="1"/>
          <p:nvPr/>
        </p:nvSpPr>
        <p:spPr>
          <a:xfrm>
            <a:off x="9749561" y="2194560"/>
            <a:ext cx="1344854" cy="137160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Buổi 13–15</a:t>
            </a:r>
            <a:endParaRPr lang="en-US" sz="1800" dirty="0"/>
          </a:p>
          <a:p>
            <a:pPr indent="0" marL="0">
              <a:buNone/>
            </a:pPr>
            <a:r>
              <a:rPr lang="en-US" sz="1200" dirty="0">
                <a:solidFill>
                  <a:srgbClr val="2A2238"/>
                </a:solidFill>
                <a:latin typeface="Alexandria" pitchFamily="34" charset="0"/>
                <a:ea typeface="Alexandria" pitchFamily="34" charset="-122"/>
                <a:cs typeface="Alexandria" pitchFamily="34" charset="-120"/>
              </a:rPr>
              <a:t>Hoàn thiện và bảo vệ</a:t>
            </a:r>
            <a:endParaRPr lang="en-US" sz="1800" dirty="0"/>
          </a:p>
        </p:txBody>
      </p:sp>
      <p:sp>
        <p:nvSpPr>
          <p:cNvPr id="27" name="Shape 24"/>
          <p:cNvSpPr/>
          <p:nvPr/>
        </p:nvSpPr>
        <p:spPr>
          <a:xfrm>
            <a:off x="548640" y="4114800"/>
            <a:ext cx="11094415" cy="1463040"/>
          </a:xfrm>
          <a:prstGeom prst="roundRect">
            <a:avLst>
              <a:gd name="adj" fmla="val 7500"/>
            </a:avLst>
          </a:prstGeom>
          <a:solidFill>
            <a:srgbClr val="FFF3C4"/>
          </a:solidFill>
          <a:ln w="12700">
            <a:solidFill>
              <a:srgbClr val="FFD23B"/>
            </a:solidFill>
            <a:prstDash val="solid"/>
          </a:ln>
        </p:spPr>
      </p:sp>
      <p:sp>
        <p:nvSpPr>
          <p:cNvPr id="28" name="Text 25"/>
          <p:cNvSpPr txBox="1"/>
          <p:nvPr/>
        </p:nvSpPr>
        <p:spPr>
          <a:xfrm>
            <a:off x="914400" y="4114800"/>
            <a:ext cx="10362895" cy="146304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Hôm nay: </a:t>
            </a:r>
            <a:pPr indent="0" marL="0">
              <a:buNone/>
            </a:pPr>
            <a:r>
              <a:rPr lang="en-US" sz="1900" dirty="0">
                <a:solidFill>
                  <a:srgbClr val="2A2238"/>
                </a:solidFill>
                <a:latin typeface="Alexandria" pitchFamily="34" charset="0"/>
                <a:ea typeface="Alexandria" pitchFamily="34" charset="-122"/>
                <a:cs typeface="Alexandria" pitchFamily="34" charset="-120"/>
              </a:rPr>
              <a:t>danh sách P/S, Power-Interest Grid và Salience Model cho khách hàng từ dự án cũ — trang đầu tiên của kế hoạch cuối kỳ.</a:t>
            </a:r>
            <a:endParaRPr lang="en-US" sz="1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Phiếu kiểm tra cuối giờ</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28</a:t>
            </a:r>
            <a:endParaRPr lang="en-US" sz="1000" dirty="0"/>
          </a:p>
        </p:txBody>
      </p:sp>
      <p:sp>
        <p:nvSpPr>
          <p:cNvPr id="19" name="Shape 16"/>
          <p:cNvSpPr/>
          <p:nvPr/>
        </p:nvSpPr>
        <p:spPr>
          <a:xfrm>
            <a:off x="548640" y="1828800"/>
            <a:ext cx="11094415" cy="1280160"/>
          </a:xfrm>
          <a:prstGeom prst="roundRect">
            <a:avLst>
              <a:gd name="adj" fmla="val 8571"/>
            </a:avLst>
          </a:prstGeom>
          <a:solidFill>
            <a:srgbClr val="FFFFFF"/>
          </a:solidFill>
          <a:ln w="12700">
            <a:solidFill>
              <a:srgbClr val="DCD7C8"/>
            </a:solidFill>
            <a:prstDash val="solid"/>
          </a:ln>
        </p:spPr>
      </p:sp>
      <p:sp>
        <p:nvSpPr>
          <p:cNvPr id="20" name="Shape 17"/>
          <p:cNvSpPr/>
          <p:nvPr/>
        </p:nvSpPr>
        <p:spPr>
          <a:xfrm>
            <a:off x="777240" y="2148840"/>
            <a:ext cx="640080" cy="640080"/>
          </a:xfrm>
          <a:prstGeom prst="ellipse">
            <a:avLst/>
          </a:prstGeom>
          <a:solidFill>
            <a:srgbClr val="962B7C"/>
          </a:solidFill>
          <a:ln w="12700">
            <a:solidFill>
              <a:srgbClr val="962B7C"/>
            </a:solidFill>
            <a:prstDash val="solid"/>
          </a:ln>
        </p:spPr>
      </p:sp>
      <p:sp>
        <p:nvSpPr>
          <p:cNvPr id="21" name="Text 18"/>
          <p:cNvSpPr txBox="1"/>
          <p:nvPr/>
        </p:nvSpPr>
        <p:spPr>
          <a:xfrm>
            <a:off x="777240" y="214884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1</a:t>
            </a:r>
            <a:endParaRPr lang="en-US" sz="2380" dirty="0"/>
          </a:p>
        </p:txBody>
      </p:sp>
      <p:sp>
        <p:nvSpPr>
          <p:cNvPr id="22" name="Text 19"/>
          <p:cNvSpPr txBox="1"/>
          <p:nvPr/>
        </p:nvSpPr>
        <p:spPr>
          <a:xfrm>
            <a:off x="1645920" y="1828800"/>
            <a:ext cx="9768535" cy="12801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Trong dự án cũ của nhóm, bên liên quan nào bạn đã đánh giá thấp? Theo Salience Model, nó thiếu thuộc tính nào — và điều gì có thể khiến nó có thêm thuộc tính đó?</a:t>
            </a:r>
            <a:endParaRPr lang="en-US" sz="1700" dirty="0"/>
          </a:p>
        </p:txBody>
      </p:sp>
      <p:sp>
        <p:nvSpPr>
          <p:cNvPr id="23" name="Shape 20"/>
          <p:cNvSpPr/>
          <p:nvPr/>
        </p:nvSpPr>
        <p:spPr>
          <a:xfrm>
            <a:off x="548640" y="3291840"/>
            <a:ext cx="11094415" cy="1280160"/>
          </a:xfrm>
          <a:prstGeom prst="roundRect">
            <a:avLst>
              <a:gd name="adj" fmla="val 8571"/>
            </a:avLst>
          </a:prstGeom>
          <a:solidFill>
            <a:srgbClr val="FFFFFF"/>
          </a:solidFill>
          <a:ln w="12700">
            <a:solidFill>
              <a:srgbClr val="DCD7C8"/>
            </a:solidFill>
            <a:prstDash val="solid"/>
          </a:ln>
        </p:spPr>
      </p:sp>
      <p:sp>
        <p:nvSpPr>
          <p:cNvPr id="24" name="Shape 21"/>
          <p:cNvSpPr/>
          <p:nvPr/>
        </p:nvSpPr>
        <p:spPr>
          <a:xfrm>
            <a:off x="777240" y="3611880"/>
            <a:ext cx="640080" cy="640080"/>
          </a:xfrm>
          <a:prstGeom prst="ellipse">
            <a:avLst/>
          </a:prstGeom>
          <a:solidFill>
            <a:srgbClr val="09A1E5"/>
          </a:solidFill>
          <a:ln w="12700">
            <a:solidFill>
              <a:srgbClr val="09A1E5"/>
            </a:solidFill>
            <a:prstDash val="solid"/>
          </a:ln>
        </p:spPr>
      </p:sp>
      <p:sp>
        <p:nvSpPr>
          <p:cNvPr id="25" name="Text 22"/>
          <p:cNvSpPr txBox="1"/>
          <p:nvPr/>
        </p:nvSpPr>
        <p:spPr>
          <a:xfrm>
            <a:off x="777240" y="361188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2</a:t>
            </a:r>
            <a:endParaRPr lang="en-US" sz="2380" dirty="0"/>
          </a:p>
        </p:txBody>
      </p:sp>
      <p:sp>
        <p:nvSpPr>
          <p:cNvPr id="26" name="Text 23"/>
          <p:cNvSpPr txBox="1"/>
          <p:nvPr/>
        </p:nvSpPr>
        <p:spPr>
          <a:xfrm>
            <a:off x="1645920" y="3291840"/>
            <a:ext cx="9768535" cy="12801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Điều bạn còn mơ hồ nhất sau buổi hôm nay là gì?</a:t>
            </a:r>
            <a:endParaRPr lang="en-US" sz="1700" dirty="0"/>
          </a:p>
        </p:txBody>
      </p:sp>
      <p:sp>
        <p:nvSpPr>
          <p:cNvPr id="27" name="Shape 24"/>
          <p:cNvSpPr/>
          <p:nvPr/>
        </p:nvSpPr>
        <p:spPr>
          <a:xfrm>
            <a:off x="548640" y="4846320"/>
            <a:ext cx="11094415" cy="1188720"/>
          </a:xfrm>
          <a:prstGeom prst="roundRect">
            <a:avLst>
              <a:gd name="adj" fmla="val 9231"/>
            </a:avLst>
          </a:prstGeom>
          <a:solidFill>
            <a:srgbClr val="E1F3EE"/>
          </a:solidFill>
          <a:ln w="12700">
            <a:solidFill>
              <a:srgbClr val="49B296"/>
            </a:solidFill>
            <a:prstDash val="solid"/>
          </a:ln>
        </p:spPr>
      </p:sp>
      <p:sp>
        <p:nvSpPr>
          <p:cNvPr id="28" name="Text 25"/>
          <p:cNvSpPr txBox="1"/>
          <p:nvPr/>
        </p:nvSpPr>
        <p:spPr>
          <a:xfrm>
            <a:off x="822960" y="4846320"/>
            <a:ext cx="10545775" cy="118872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Buổi 2: </a:t>
            </a:r>
            <a:pPr indent="0" marL="0">
              <a:buNone/>
            </a:pPr>
            <a:r>
              <a:rPr lang="en-US" sz="1600" dirty="0">
                <a:solidFill>
                  <a:srgbClr val="2A2238"/>
                </a:solidFill>
                <a:latin typeface="Alexandria" pitchFamily="34" charset="0"/>
                <a:ea typeface="Alexandria" pitchFamily="34" charset="-122"/>
                <a:cs typeface="Alexandria" pitchFamily="34" charset="-120"/>
              </a:rPr>
              <a:t>nếu mất khách hàng, agency mất luôn doanh thu năm sau — vì sao không phải khách hàng nào cũng là Key Account.</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1.1 Hệ sinh thái</a:t>
            </a:r>
            <a:endParaRPr lang="en-US" sz="1000" dirty="0"/>
          </a:p>
        </p:txBody>
      </p:sp>
      <p:sp>
        <p:nvSpPr>
          <p:cNvPr id="6" name="Shape 4"/>
          <p:cNvSpPr/>
          <p:nvPr/>
        </p:nvSpPr>
        <p:spPr>
          <a:xfrm>
            <a:off x="2990088" y="274320"/>
            <a:ext cx="2043684"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204368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 Primary · Secondary</a:t>
            </a:r>
            <a:endParaRPr lang="en-US" sz="1000" dirty="0"/>
          </a:p>
        </p:txBody>
      </p:sp>
      <p:sp>
        <p:nvSpPr>
          <p:cNvPr id="8" name="Shape 6"/>
          <p:cNvSpPr/>
          <p:nvPr/>
        </p:nvSpPr>
        <p:spPr>
          <a:xfrm>
            <a:off x="5143500" y="274320"/>
            <a:ext cx="1499616"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143500"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1.3 Đo quyền lực</a:t>
            </a:r>
            <a:endParaRPr lang="en-US" sz="1000" dirty="0"/>
          </a:p>
        </p:txBody>
      </p:sp>
      <p:sp>
        <p:nvSpPr>
          <p:cNvPr id="10" name="Shape 8"/>
          <p:cNvSpPr/>
          <p:nvPr/>
        </p:nvSpPr>
        <p:spPr>
          <a:xfrm>
            <a:off x="6752844"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172822" cy="172822"/>
          </a:xfrm>
          <a:prstGeom prst="rect">
            <a:avLst/>
          </a:prstGeom>
          <a:solidFill>
            <a:srgbClr val="09A1E5"/>
          </a:solidFill>
          <a:ln w="12700">
            <a:solidFill>
              <a:srgbClr val="09A1E5"/>
            </a:solidFill>
            <a:prstDash val="solid"/>
          </a:ln>
        </p:spPr>
      </p:sp>
      <p:sp>
        <p:nvSpPr>
          <p:cNvPr id="13" name="Shape 11"/>
          <p:cNvSpPr/>
          <p:nvPr/>
        </p:nvSpPr>
        <p:spPr>
          <a:xfrm>
            <a:off x="11470234" y="219456"/>
            <a:ext cx="172822" cy="172822"/>
          </a:xfrm>
          <a:prstGeom prst="rect">
            <a:avLst/>
          </a:prstGeom>
          <a:solidFill>
            <a:srgbClr val="962B7C"/>
          </a:solidFill>
          <a:ln w="12700">
            <a:solidFill>
              <a:srgbClr val="962B7C"/>
            </a:solidFill>
            <a:prstDash val="solid"/>
          </a:ln>
        </p:spPr>
      </p:sp>
      <p:sp>
        <p:nvSpPr>
          <p:cNvPr id="14" name="Shape 12"/>
          <p:cNvSpPr/>
          <p:nvPr/>
        </p:nvSpPr>
        <p:spPr>
          <a:xfrm>
            <a:off x="11259007" y="430682"/>
            <a:ext cx="172822" cy="172822"/>
          </a:xfrm>
          <a:prstGeom prst="rect">
            <a:avLst/>
          </a:prstGeom>
          <a:solidFill>
            <a:srgbClr val="49B296"/>
          </a:solidFill>
          <a:ln w="12700">
            <a:solidFill>
              <a:srgbClr val="49B296"/>
            </a:solidFill>
            <a:prstDash val="solid"/>
          </a:ln>
        </p:spPr>
      </p:sp>
      <p:sp>
        <p:nvSpPr>
          <p:cNvPr id="15" name="Shape 13"/>
          <p:cNvSpPr/>
          <p:nvPr/>
        </p:nvSpPr>
        <p:spPr>
          <a:xfrm>
            <a:off x="11470234" y="430682"/>
            <a:ext cx="172822" cy="172822"/>
          </a:xfrm>
          <a:prstGeom prst="rect">
            <a:avLst/>
          </a:prstGeom>
          <a:solidFill>
            <a:srgbClr val="FF9259"/>
          </a:solidFill>
          <a:ln w="12700">
            <a:solidFill>
              <a:srgbClr val="FF9259"/>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Tài liệu tham khảo</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Danh mục APA 7 đầy đủ (kèm DOI/URL): buoi-01_tu-lieu-tong-hop.md, mục 6.</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   29</a:t>
            </a:r>
            <a:endParaRPr lang="en-US" sz="1000" dirty="0"/>
          </a:p>
        </p:txBody>
      </p:sp>
      <p:sp>
        <p:nvSpPr>
          <p:cNvPr id="20" name="Text 17"/>
          <p:cNvSpPr txBox="1"/>
          <p:nvPr/>
        </p:nvSpPr>
        <p:spPr>
          <a:xfrm>
            <a:off x="548640" y="1783080"/>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A01</a:t>
            </a:r>
            <a:endParaRPr lang="en-US" sz="1200" dirty="0"/>
          </a:p>
        </p:txBody>
      </p:sp>
      <p:sp>
        <p:nvSpPr>
          <p:cNvPr id="21" name="Text 18"/>
          <p:cNvSpPr txBox="1"/>
          <p:nvPr/>
        </p:nvSpPr>
        <p:spPr>
          <a:xfrm>
            <a:off x="1234440" y="1783080"/>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Freeman, R. E. (1984). Strategic management: A stakeholder approach. Pitman.</a:t>
            </a:r>
            <a:endParaRPr lang="en-US" sz="1200" dirty="0"/>
          </a:p>
        </p:txBody>
      </p:sp>
      <p:sp>
        <p:nvSpPr>
          <p:cNvPr id="22" name="Text 19"/>
          <p:cNvSpPr txBox="1"/>
          <p:nvPr/>
        </p:nvSpPr>
        <p:spPr>
          <a:xfrm>
            <a:off x="548640" y="2397034"/>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A02</a:t>
            </a:r>
            <a:endParaRPr lang="en-US" sz="1200" dirty="0"/>
          </a:p>
        </p:txBody>
      </p:sp>
      <p:sp>
        <p:nvSpPr>
          <p:cNvPr id="23" name="Text 20"/>
          <p:cNvSpPr txBox="1"/>
          <p:nvPr/>
        </p:nvSpPr>
        <p:spPr>
          <a:xfrm>
            <a:off x="1234440" y="2397034"/>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Van Niekerk, M., &amp; Getz, D. (2019). Event stakeholders: Theory and methods for event management and tourism. Goodfellow Publishers.</a:t>
            </a:r>
            <a:endParaRPr lang="en-US" sz="1200" dirty="0"/>
          </a:p>
        </p:txBody>
      </p:sp>
      <p:sp>
        <p:nvSpPr>
          <p:cNvPr id="24" name="Text 21"/>
          <p:cNvSpPr txBox="1"/>
          <p:nvPr/>
        </p:nvSpPr>
        <p:spPr>
          <a:xfrm>
            <a:off x="548640" y="3010989"/>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A03</a:t>
            </a:r>
            <a:endParaRPr lang="en-US" sz="1200" dirty="0"/>
          </a:p>
        </p:txBody>
      </p:sp>
      <p:sp>
        <p:nvSpPr>
          <p:cNvPr id="25" name="Text 22"/>
          <p:cNvSpPr txBox="1"/>
          <p:nvPr/>
        </p:nvSpPr>
        <p:spPr>
          <a:xfrm>
            <a:off x="1234440" y="3010989"/>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Clarkson, M. B. E. (1995). A stakeholder framework for analyzing and evaluating corporate social performance. Academy of Management Review, 20(1), 92–117.</a:t>
            </a:r>
            <a:endParaRPr lang="en-US" sz="1200" dirty="0"/>
          </a:p>
        </p:txBody>
      </p:sp>
      <p:sp>
        <p:nvSpPr>
          <p:cNvPr id="26" name="Text 23"/>
          <p:cNvSpPr txBox="1"/>
          <p:nvPr/>
        </p:nvSpPr>
        <p:spPr>
          <a:xfrm>
            <a:off x="548640" y="3624943"/>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A04</a:t>
            </a:r>
            <a:endParaRPr lang="en-US" sz="1200" dirty="0"/>
          </a:p>
        </p:txBody>
      </p:sp>
      <p:sp>
        <p:nvSpPr>
          <p:cNvPr id="27" name="Text 24"/>
          <p:cNvSpPr txBox="1"/>
          <p:nvPr/>
        </p:nvSpPr>
        <p:spPr>
          <a:xfrm>
            <a:off x="1234440" y="3624943"/>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Getz, D., Andersson, T., &amp; Larson, M. (2006). Festival stakeholder roles: Concepts and case studies. Event Management, 10(2), 103–122.</a:t>
            </a:r>
            <a:endParaRPr lang="en-US" sz="1200" dirty="0"/>
          </a:p>
        </p:txBody>
      </p:sp>
      <p:sp>
        <p:nvSpPr>
          <p:cNvPr id="28" name="Text 25"/>
          <p:cNvSpPr txBox="1"/>
          <p:nvPr/>
        </p:nvSpPr>
        <p:spPr>
          <a:xfrm>
            <a:off x="548640" y="4238897"/>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A07</a:t>
            </a:r>
            <a:endParaRPr lang="en-US" sz="1200" dirty="0"/>
          </a:p>
        </p:txBody>
      </p:sp>
      <p:sp>
        <p:nvSpPr>
          <p:cNvPr id="29" name="Text 26"/>
          <p:cNvSpPr txBox="1"/>
          <p:nvPr/>
        </p:nvSpPr>
        <p:spPr>
          <a:xfrm>
            <a:off x="1234440" y="4238897"/>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Mendelow, A. L. (1981). Environmental scanning — The impact of the stakeholder concept. ICIS 1981 Proceedings, 20.</a:t>
            </a:r>
            <a:endParaRPr lang="en-US" sz="1200" dirty="0"/>
          </a:p>
        </p:txBody>
      </p:sp>
      <p:sp>
        <p:nvSpPr>
          <p:cNvPr id="30" name="Text 27"/>
          <p:cNvSpPr txBox="1"/>
          <p:nvPr/>
        </p:nvSpPr>
        <p:spPr>
          <a:xfrm>
            <a:off x="548640" y="4852851"/>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A08</a:t>
            </a:r>
            <a:endParaRPr lang="en-US" sz="1200" dirty="0"/>
          </a:p>
        </p:txBody>
      </p:sp>
      <p:sp>
        <p:nvSpPr>
          <p:cNvPr id="31" name="Text 28"/>
          <p:cNvSpPr txBox="1"/>
          <p:nvPr/>
        </p:nvSpPr>
        <p:spPr>
          <a:xfrm>
            <a:off x="1234440" y="4852851"/>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Mitchell, R. K., Agle, B. R., &amp; Wood, D. J. (1997). Toward a theory of stakeholder identification and salience. Academy of Management Review, 22(4), 853–886.</a:t>
            </a:r>
            <a:endParaRPr lang="en-US" sz="1200" dirty="0"/>
          </a:p>
        </p:txBody>
      </p:sp>
      <p:sp>
        <p:nvSpPr>
          <p:cNvPr id="32" name="Text 29"/>
          <p:cNvSpPr txBox="1"/>
          <p:nvPr/>
        </p:nvSpPr>
        <p:spPr>
          <a:xfrm>
            <a:off x="548640" y="5466806"/>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A09</a:t>
            </a:r>
            <a:endParaRPr lang="en-US" sz="1200" dirty="0"/>
          </a:p>
        </p:txBody>
      </p:sp>
      <p:sp>
        <p:nvSpPr>
          <p:cNvPr id="33" name="Text 30"/>
          <p:cNvSpPr txBox="1"/>
          <p:nvPr/>
        </p:nvSpPr>
        <p:spPr>
          <a:xfrm>
            <a:off x="1234440" y="5466806"/>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Tuổi Trẻ Online. (2026, January 29). Công bố lịch thi đấu Lễ hội Pháo hoa quốc tế Đà Nẵng DIFF 2026, sông Hàn lại bùng nổ.</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EVM1110E — Buổi 1: Định hình hệ sinh thái các bên liên quan bên ngoài</dc:title>
  <dc:subject>Quản trị mối quan hệ trong tổ chức sự kiện</dc:subject>
  <dc:creator>PptxGenJS</dc:creator>
  <cp:lastModifiedBy>PptxGenJS</cp:lastModifiedBy>
  <cp:revision>1</cp:revision>
  <dcterms:created xsi:type="dcterms:W3CDTF">2026-10-03T04:41:56Z</dcterms:created>
  <dcterms:modified xsi:type="dcterms:W3CDTF">2026-10-03T04:41:56Z</dcterms:modified>
</cp:coreProperties>
</file>