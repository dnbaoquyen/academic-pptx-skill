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(dàn ý #1). Mở Phần 3 của học phần.
Alt-text: ba vòng tròn giao nhau — nhà tài trợ, Key Account, khách của Key Account — agency ở vùng giao giữa.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 Khởi động (5 phút). Đọc: “Tháng 6. An Phát báo Nova: ngân sách gala cuối năm nay giảm khoảng 10%, nhưng anh Minh muốn chất lượng không giảm. Cùng tuần đó, hai đối tác của ngân hàng là Bảo hiểm Bình An và tổ chức thẻ GlobalCard ngỏ ý muốn ‘có mặt’ ở gala.”
Giơ tay: cứu cánh hay rắc rối? Ghi số phiếu lên bảng.
Chốt: “Cả hai. Nhà tài trợ có thể bù phần ngân sách bị cắt, và nếu làm khéo còn làm sự kiện hay hơn. Nhưng nếu làm vụng, 600 khách VIP của An Phát sẽ thấy mình bị mời đến để nghe bán hàng. Hôm nay: làm sao để nhà tài trợ, An Phát và khách của An Phát cùng được lợi.”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Phần 3 (Buổi 9–12): điều phối các bên liên quan phục vụ hành trình khách hàng. Buổi 9 bắt đầu với nhà tài trợ và nhà đầu tư — đối tác của Key Account.
Alt-text: Key Account ở giữa, bốn buổi học xếp quanh: 9 nhà tài trợ – nhà đầu tư, 10 nhà cung cấp – địa điểm, 11 truyền thông – KOL, 12 xung đột.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Tài trợ thương mại được nghiên cứu có hệ thống từ Meenaghan (1983). Đặt mục tiêu là nền tảng: bắt đầu từ câu hỏi nhà tài trợ muốn đạt điều gì.
Nghiên cứu tài trợ đi theo năm dòng (Cornwell &amp; Maignan, 1998): bản chất tài trợ; quản trị tài trợ; đo lường hiệu quả; sử dụng chiến lược; pháp lý – đạo đức. Buổi 9 đi qua cả năm dòng.
Hiểu lầm: “Nhà tài trợ = người cho tiền để in logo” → nhà tài trợ mua quyền lợi để đạt mục tiêu; logo chỉ là một quyền lợi, thường không phải quan trọng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đây là định nghĩa làm việc của môn.
Hiểu lầm: “Nhà đầu tư và nhà tài trợ như nhau” → khác nhau ở chỗ ai chịu rủi ro tài chính và ai nhận phần lợi nhuận.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tham chiếu: “Anh trai vượt ngàn chông gai” do Yeah1 sản xuất.
Hỏi lớp: “Vì sao một ngân hàng muốn chuyển từ nhà tài trợ sang nhà đồng đầu tư?” Gợi ý: khi sự kiện thành công vượt kỳ vọng, nhà tài trợ chỉ nhận quyền lợi cố định, còn nhà đầu tư nhận thêm phần lợi nhuận; đổi lại phải chịu rủi ro lỗ.
Lưu ý: hình thức đầu tư mới, không phải đầu tư cổ phần. Logo thương hiệu thật chỉ dùng khi GV chấp nhận — slide này dùng tên chữ.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góc agency, một thỏa thuận tài trợ tốt phải có lợi cho bốn bên. Agency: nối Buổi 5 (CVP).
Hiểu lầm: “Nhà tài trợ càng lớn càng tốt” → phải phù hợp với Key Account và với khách của Key Account; sai phù hợp thì hại cả ba.
Alt-text: bảng bốn hàng (nhà tài trợ, Key Account, khách của Key Account, agency) × hai cột (hữu hình, vô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Techcombank CASA “ở mức” khoảng 40%, không phải “tăng” 40%. Khách “săn vé 0 đồng” qua ứng dụng, gắn với tiền gửi và tính năng sinh lời tự động; số dư mảng sinh lời tự động tăng 35% so với quý trước.
VIB: hỏi “Có thể quy hết mức tăng 6 năm này cho một chương trình tài trợ không?” → không; nối Buổi 8: phải tách tác động.
VPBank: nhà tài trợ danh vị (title sponsor) tour G-Dragon tại Hà Nội.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nhiều liveshow và concert tầm trung tại Việt Nam, theo một số bầu show, chỉ nên làm khi nhà tài trợ gánh ít nhất 50% chi phí (U14).
Nối Buổi 1: nhà tài trợ là primary hay secondary TÙY BỐI CẢNH. Khi ngân sách phụ thuộc vào nhà tài trợ, họ trở thành primary.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Happy Day Concert, Đà Lạt, 3/2025: thương hiệu của đơn vị tổ chức bị các trang cờ bạc cắt ghép để quảng cáo; nhiều nghệ sĩ rút lui sát giờ; hai đêm diễn bị dừng, sau đó dời lịch với sự chấp thuận của Sở VHTTDL Lâm Đồng.
Ý cần chốt: “Ở đây thương hiệu bị GIẢ MẠO liên đới, không phải nhà tài trợ cờ bạc thật. Vậy mà sự kiện vẫn sụp. Với agency, thẩm định nhà tài trợ và theo dõi thương hiệu trên mạng là một phần của quản trị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Góc nhìn của môn: Nova không “xin tài trợ cho mình”. Nova giúp An Phát biến quan hệ đối tác của An Phát thành giá trị cho khách của An Phát.
→ Chuyển sang S3 — Thực hành 1.
Alt-text: sơ đồ bốn bên — Key Account ở trên; nhà tài trợ bên trái là đối tác của Key Account; khách của Key Account bên phải; agency ở dưới giữa, thiết kế quyền lợi, kích hoạt, đo lường thay mặt Key Account và tạo trải nghiệm tại các điểm chạm cho khách.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 Thực hành 1 (20 phút). Đồng hồ 8 / 7 / 5 phút. Phát phiếu, đi vòng. 47–50’: chốt 3 ý.
Thảo luận: ứng viên nào nhóm nào cũng từ chối? Bình An là đối tác lâu năm — nhận Bình An nhưng thay đổi quyền lợi họ xin thì nên đổi thế nào?
Giữ lại kết quả: 2 nhà tài trợ nhóm chọn sẽ dùng ở S6.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8 phút. Ghi giờ quay lại lên slide/bảng.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đoạn S4: “Bình An hỏi Nova: ‘Gói 400 triệu của các bạn mang lại gì cho tôi?’ Nếu Nova chỉ trả lời ‘logo trên backdrop và 2 phút phát biểu’, Bình An sẽ trả giá 100 triệu.”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Mục tiêu nhà tài trợ: nhận biết, thái độ, khách hàng tiềm năng, doanh số, quan hệ với Key Account (U01).
2 Khán giả: ai là khách của Key Account, số lượng, hồ sơ, vì sao có giá trị với nhà tài trợ.
3 Gói quyền lợi theo hạng (danh vị, kim cương, vàng) — gắn với điểm chạm (U07, U10).
4 Kế hoạch kích hoạt: nhà tài trợ làm gì tại điểm chạm; ngân sách kích hoạt ngoài phí quyền (U04, U05).
5 Cam kết đo lường: chỉ số ROO và ROI; ai cung cấp dữ liệu; báo cáo khi nào (U06; Buổi 8).
6 Điều khoản: quyền và nghĩa vụ; kỳ vọng đo lường ghi vào hợp đồng; giới hạn pháp lý và trải nghiệm khách (U06, U13).
7 Giá: phí quyền; phần kích hoạt nhà tài trợ tự chi.
Hiểu lầm: “Đề xuất tài trợ là bảng giá logo” → bắt đầu từ mục tiêu nhà tài trợ, kết thúc bằng cam kết đo lường.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Win-win nghĩa là cả ba (bốn) bên: nhà tài trợ đạt mục tiêu, Key Account giữ được hình ảnh và bù được ngân sách, khách của Key Account thấy có ích, agency làm được sự kiện chất lượng.
Alt-text: ba vòng tròn giao nhau — nhà tài trợ, Key Account, khách của Key Account — agency ở vùng giao giữa.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Activation: khoản đầu tư của nhà tài trợ NGOÀI phí mua quyền để khai thác quyền lợi; đo bằng activation ratio = chi phí kích hoạt / phí quyền (U04).
Nghiên cứu trước khuyến nghị 1:1 đến 8:1; nhưng nghiên cứu tình huống cho thấy chất lượng chiến lược kích hoạt quan trọng hơn con số tỷ lệ.
Nhận định của người soạn: với agency, đây là cơ hội — đề xuất cả phần thiết kế kích hoạt cho nhà tài trợ, để quyền lợi không bị “mua rồi bỏ đó”.
Hiểu lầm: “Mua quyền xong là xong” → không có kích hoạt thì quyền lợi gần như vô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MASB khuyến nghị dùng mức độ ưa thích thương hiệu (brand preference) làm chỉ số then chốt.
Nhắc: số liệu Bắc Mỹ, 2018.
Hiểu lầm: “ROI tài trợ chỉ tính bằng doanh số” → gồm cả ROO; và phải tách tác động của sự kiện khỏi các yếu tố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Nhìn khung ROI 6 cấp từ phía nhà tài trợ, ví dụ gala An Phát – Bảo hiểm Bình An.
Cấp 3: chỉ tính doanh nghiệp ĐỒNG Ý hẹn tư vấn. Cấp 4: dữ liệu của Bình An — phải thống nhất chia sẻ từ đầu.
Alt-text: bậc thang sáu cấp từ 0 đến 5, mỗi bậc có câu hỏi cho nhà tài trợ và ví dụ chỉ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rõ GIẢ ĐỊNH. Nên tính từng bước trên bảng cùng lớp.
ROI = (Lợi ích quy ra tiền − Tổng chi phí tài trợ) / Tổng chi phí tài trợ; tổng chi phí = phí quyền + chi phí kích hoạt.
Bình An: phí quyền 250 tr + kích hoạt 150 tr (tỷ lệ 0,6:1) = 400 tr. 60 DN đồng ý hẹn tư vấn (cấp 3); giả sử 20% ký (12 hợp đồng) × lợi nhuận gộp năm đầu 50 tr = 600 tr. Chỉ một nửa quy cho sự kiện (tách tác động, Buổi 8) → 300 tr. ROI = (300 − 400)/400 = −25%. Tính cả tái tục năm 2 thì có thể dương.
Ý cần chốt: “Con số âm không có nghĩa là tài trợ thất bại: có thể mục tiêu chính là ROO (thái độ, quan hệ với An Phát). Đó là lý do phải thống nhất mục tiêu và cách đo ngay trong đề xuất, và ghi vào hợp đồng.”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Cornwell (2019): tài trợ đã được đo và vận hành như quảng cáo suốt nhiều thập kỷ; tiềm năng tạo gắn kết thật còn bị bỏ ngỏ.
Bizzabo: 57% nhà tài trợ đánh giá cao trải nghiệm thương hiệu (tiệc chọn lọc, buổi gặp riêng) hơn gian hàng; 84% coi networking của người tham dự là quan trọng.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Nối Buổi 3 (hành trình khách hàng).
Trong: Bình An làm phiên chuyên đề do chuyên gia trình bày; góc tư vấn THEO LỊCH HẸN, không chào mời tại bàn tiệc.
Sau: chỉ liên hệ khách đã đồng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Luật Kinh doanh bảo hiểm sửa đổi (hiệu lực 1/1/2023): tổ chức tín dụng không được ép khách vay mua bảo hiểm.
Thông tư 67/2023/TT-BTC (hiệu lực 2/11/2023): ngân hàng không được tư vấn, giới thiệu, chào bán bảo hiểm liên kết đầu tư cho khách trong 60 ngày trước và 60 ngày sau ngày giải ngân toàn bộ khoản vay.
Nhận định của người soạn: quy định nhắm vào hoạt động bán bảo hiểm của ngân hàng, không trực tiếp vào sự kiện; nhưng cho thấy khách hàng và cơ quan quản lý rất nhạy cảm với việc ngân hàng “bán kèm” bảo hiểm. Nếu Bình An chào bán tại gala, rủi ro uy tín rơi vào An Phát trước tiên.
[VERIFY: quy định hiện hành về hoạt động giới thiệu bảo hiểm tại sự kiện do ngân hàng tổ chức cho khách hàng doanh nghiệp — hỏi pháp chế]
[VERIFY: văn bản hiện hành về bảo vệ dữ liệu cá nhân áp dụng cho việc chia sẻ danh sách khách mời với nhà tài trợ]
Phạm vi: dừng ở mức nhận diện rủi ro cho Key Account; không tư vấn pháp lý chi tiết.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chiếu suốt S6 — các nhóm dùng checklist này khi vẽ bản đồ và khi phản biện chéo.
→ Chuyển sang S6 —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S6 — Thực hành 2 (30 phút): 3 mở đầu · 15 vẽ · 8 xoay trạm (2 vòng × 4 phút) · 4 sửa và chốt.
Lời mở đầu: “Hai nhà tài trợ đã vào. Giờ Nova phải cho anh Minh thấy họ xuất hiện ở đâu trên hành trình của 600 khách, và mỗi lần xuất hiện khách được gì. 15 phút vẽ ít nhất 5 điểm chạm, đủ 6 cột. Sau đó các bạn sang bàn bạn và đóng vai hội đồng An Phát: mỗi bản đồ nhận một câu hỏi và một lo ngại thật sự.”
Mặc định: Bình An và GlobalCard; nếu nhóm chọn khác ở S3, cho dùng lựa chọn của nhóm miễn có ít nhất 1 đối tác của An Phát.
Khi chốt: ghi các lo ngại lặp lại nhiều nhất lên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S7 — Tổng hợp (3 phút).
Liên hệ Stakeholder Management Plan: với khách hàng từ dự án cũ, nhóm bổ sung một trang — 1–2 nhà tài trợ phù hợp, quyền lợi gắn điểm chạm, chỉ số ROO/ROI. Làm dần trên lớp, không giao về nhà.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S8 — cá nhân, không chấm điểm. Giấy nhỏ hoặc Google Form (thêm QR nếu thu online).
Cần xem: (a) SV nói được lợi ích cho KHÁCH của Key Account, không chỉ cho nhà tài trợ; (b) phân biệt đúng ROO (mục tiêu) và ROI (tài chính); (c) chỉ số đo được thật.
Câu nối Buổi 10: “Hôm nay ta đưa đối tác của Key Account vào sự kiện. Buổi sau ta quay lại phía mua: quy trình chọn nhà cung cấp và địa điểm (RFP/RFQ, site check), và gắn họ vào các giai đoạn trên hành trình của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U01–U15 ghi ở chân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U01–U15 ghi ở chân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6800850" y="1042416"/>
            <a:ext cx="3200400" cy="3200400"/>
          </a:xfrm>
          <a:prstGeom prst="ellipse">
            <a:avLst/>
          </a:prstGeom>
          <a:solidFill>
            <a:srgbClr val="962B7C">
              <a:alpha val="28000"/>
            </a:srgbClr>
          </a:solidFill>
          <a:ln w="25400">
            <a:solidFill>
              <a:srgbClr val="962B7C"/>
            </a:solidFill>
            <a:prstDash val="solid"/>
          </a:ln>
        </p:spPr>
      </p:sp>
      <p:sp>
        <p:nvSpPr>
          <p:cNvPr id="3" name="Shape 1"/>
          <p:cNvSpPr/>
          <p:nvPr/>
        </p:nvSpPr>
        <p:spPr>
          <a:xfrm>
            <a:off x="8561070" y="1042416"/>
            <a:ext cx="3200400" cy="3200400"/>
          </a:xfrm>
          <a:prstGeom prst="ellipse">
            <a:avLst/>
          </a:prstGeom>
          <a:solidFill>
            <a:srgbClr val="09A1E5">
              <a:alpha val="28000"/>
            </a:srgbClr>
          </a:solidFill>
          <a:ln w="25400">
            <a:solidFill>
              <a:srgbClr val="09A1E5"/>
            </a:solidFill>
            <a:prstDash val="solid"/>
          </a:ln>
        </p:spPr>
      </p:sp>
      <p:sp>
        <p:nvSpPr>
          <p:cNvPr id="4" name="Shape 2"/>
          <p:cNvSpPr/>
          <p:nvPr/>
        </p:nvSpPr>
        <p:spPr>
          <a:xfrm>
            <a:off x="7680960" y="2546604"/>
            <a:ext cx="3200400" cy="3200400"/>
          </a:xfrm>
          <a:prstGeom prst="ellipse">
            <a:avLst/>
          </a:prstGeom>
          <a:solidFill>
            <a:srgbClr val="FF5178">
              <a:alpha val="28000"/>
            </a:srgbClr>
          </a:solidFill>
          <a:ln w="25400">
            <a:solidFill>
              <a:srgbClr val="FF5178"/>
            </a:solidFill>
            <a:prstDash val="solid"/>
          </a:ln>
        </p:spPr>
      </p:sp>
      <p:sp>
        <p:nvSpPr>
          <p:cNvPr id="5" name="Text 3"/>
          <p:cNvSpPr txBox="1"/>
          <p:nvPr/>
        </p:nvSpPr>
        <p:spPr>
          <a:xfrm>
            <a:off x="7509510" y="1954530"/>
            <a:ext cx="1703070" cy="6400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Nhà tài trợ</a:t>
            </a:r>
            <a:endParaRPr lang="en-US" sz="1400" dirty="0"/>
          </a:p>
        </p:txBody>
      </p:sp>
      <p:sp>
        <p:nvSpPr>
          <p:cNvPr id="6" name="Text 4"/>
          <p:cNvSpPr txBox="1"/>
          <p:nvPr/>
        </p:nvSpPr>
        <p:spPr>
          <a:xfrm>
            <a:off x="9509760" y="1954530"/>
            <a:ext cx="1703070" cy="6400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Key Account</a:t>
            </a:r>
            <a:endParaRPr lang="en-US" sz="1400" dirty="0"/>
          </a:p>
        </p:txBody>
      </p:sp>
      <p:sp>
        <p:nvSpPr>
          <p:cNvPr id="7" name="Text 5"/>
          <p:cNvSpPr txBox="1"/>
          <p:nvPr/>
        </p:nvSpPr>
        <p:spPr>
          <a:xfrm>
            <a:off x="8517636" y="4754880"/>
            <a:ext cx="1703070" cy="6400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Khách của Key Account</a:t>
            </a:r>
            <a:endParaRPr lang="en-US" sz="1400" dirty="0"/>
          </a:p>
        </p:txBody>
      </p:sp>
      <p:sp>
        <p:nvSpPr>
          <p:cNvPr id="8" name="Shape 6"/>
          <p:cNvSpPr/>
          <p:nvPr/>
        </p:nvSpPr>
        <p:spPr>
          <a:xfrm>
            <a:off x="8595360" y="3044952"/>
            <a:ext cx="1371600" cy="457200"/>
          </a:xfrm>
          <a:prstGeom prst="roundRect">
            <a:avLst>
              <a:gd name="adj" fmla="val 50000"/>
            </a:avLst>
          </a:prstGeom>
          <a:solidFill>
            <a:srgbClr val="FFD23B"/>
          </a:solidFill>
          <a:ln w="12700">
            <a:solidFill>
              <a:srgbClr val="FFD23B"/>
            </a:solidFill>
            <a:prstDash val="solid"/>
          </a:ln>
        </p:spPr>
      </p:sp>
      <p:sp>
        <p:nvSpPr>
          <p:cNvPr id="9" name="Text 7"/>
          <p:cNvSpPr txBox="1"/>
          <p:nvPr/>
        </p:nvSpPr>
        <p:spPr>
          <a:xfrm>
            <a:off x="8668512" y="3044952"/>
            <a:ext cx="1225296" cy="45720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Agency</a:t>
            </a:r>
            <a:endParaRPr lang="en-US" sz="1300" dirty="0"/>
          </a:p>
        </p:txBody>
      </p:sp>
      <p:sp>
        <p:nvSpPr>
          <p:cNvPr id="10" name="Shape 8"/>
          <p:cNvSpPr/>
          <p:nvPr/>
        </p:nvSpPr>
        <p:spPr>
          <a:xfrm>
            <a:off x="548640" y="914400"/>
            <a:ext cx="2651760" cy="420624"/>
          </a:xfrm>
          <a:prstGeom prst="roundRect">
            <a:avLst>
              <a:gd name="adj" fmla="val 50000"/>
            </a:avLst>
          </a:prstGeom>
          <a:solidFill>
            <a:srgbClr val="FFD23B"/>
          </a:solidFill>
          <a:ln w="12700">
            <a:solidFill>
              <a:srgbClr val="FFD23B"/>
            </a:solidFill>
            <a:prstDash val="solid"/>
          </a:ln>
        </p:spPr>
      </p:sp>
      <p:sp>
        <p:nvSpPr>
          <p:cNvPr id="11" name="Text 9"/>
          <p:cNvSpPr txBox="1"/>
          <p:nvPr/>
        </p:nvSpPr>
        <p:spPr>
          <a:xfrm>
            <a:off x="621792" y="914400"/>
            <a:ext cx="2505456" cy="420624"/>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EVM1110E  ·  Buổi 9 / 15</a:t>
            </a:r>
            <a:endParaRPr lang="en-US" sz="1400" dirty="0"/>
          </a:p>
        </p:txBody>
      </p:sp>
      <p:sp>
        <p:nvSpPr>
          <p:cNvPr id="12" name="Text 10"/>
          <p:cNvSpPr txBox="1"/>
          <p:nvPr/>
        </p:nvSpPr>
        <p:spPr>
          <a:xfrm>
            <a:off x="548640" y="1600200"/>
            <a:ext cx="6217920" cy="1737360"/>
          </a:xfrm>
          <a:prstGeom prst="rect">
            <a:avLst/>
          </a:prstGeom>
          <a:noFill/>
          <a:ln/>
        </p:spPr>
        <p:txBody>
          <a:bodyPr wrap="square" lIns="0" tIns="0" rIns="0" bIns="0" rtlCol="0" anchor="t"/>
          <a:lstStyle/>
          <a:p>
            <a:pPr indent="0" marL="0">
              <a:buNone/>
            </a:pPr>
            <a:r>
              <a:rPr lang="en-US" sz="3800" b="1" dirty="0">
                <a:solidFill>
                  <a:srgbClr val="2A2238"/>
                </a:solidFill>
                <a:latin typeface="Alexandria" pitchFamily="34" charset="0"/>
                <a:ea typeface="Alexandria" pitchFamily="34" charset="-122"/>
                <a:cs typeface="Alexandria" pitchFamily="34" charset="-120"/>
              </a:rPr>
              <a:t>Quản trị mối quan hệ trong tổ chức sự kiện</a:t>
            </a:r>
            <a:endParaRPr lang="en-US" sz="3800" dirty="0"/>
          </a:p>
        </p:txBody>
      </p:sp>
      <p:sp>
        <p:nvSpPr>
          <p:cNvPr id="13" name="Text 11"/>
          <p:cNvSpPr txBox="1"/>
          <p:nvPr/>
        </p:nvSpPr>
        <p:spPr>
          <a:xfrm>
            <a:off x="548640" y="3429000"/>
            <a:ext cx="6217920" cy="822960"/>
          </a:xfrm>
          <a:prstGeom prst="rect">
            <a:avLst/>
          </a:prstGeom>
          <a:noFill/>
          <a:ln/>
        </p:spPr>
        <p:txBody>
          <a:bodyPr wrap="square" lIns="0" tIns="0" rIns="0" bIns="0" rtlCol="0" anchor="t"/>
          <a:lstStyle/>
          <a:p>
            <a:pPr indent="0" marL="0">
              <a:buNone/>
            </a:pPr>
            <a:r>
              <a:rPr lang="en-US" sz="2200" i="1" dirty="0">
                <a:solidFill>
                  <a:srgbClr val="962B7C"/>
                </a:solidFill>
                <a:latin typeface="Alexandria" pitchFamily="34" charset="0"/>
                <a:ea typeface="Alexandria" pitchFamily="34" charset="-122"/>
                <a:cs typeface="Alexandria" pitchFamily="34" charset="-120"/>
              </a:rPr>
              <a:t>Resource Matching: Investors &amp; Sponsors</a:t>
            </a:r>
            <a:endParaRPr lang="en-US" sz="2200" dirty="0"/>
          </a:p>
        </p:txBody>
      </p:sp>
      <p:sp>
        <p:nvSpPr>
          <p:cNvPr id="14" name="Text 12"/>
          <p:cNvSpPr txBox="1"/>
          <p:nvPr/>
        </p:nvSpPr>
        <p:spPr>
          <a:xfrm>
            <a:off x="548640" y="4572000"/>
            <a:ext cx="6217920" cy="1280160"/>
          </a:xfrm>
          <a:prstGeom prst="rect">
            <a:avLst/>
          </a:prstGeom>
          <a:noFill/>
          <a:ln/>
        </p:spPr>
        <p:txBody>
          <a:bodyPr wrap="square" lIns="0" tIns="0" rIns="0" bIns="0" rtlCol="0" anchor="t"/>
          <a:lstStyle/>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Phần 3 · Điều phối các bên liên quan phục vụ hành trình khách hàng</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Khoa Marketing · UEF</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Giảng viên: Đoàn Nguyễn Bảo Quyên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Ngân sách giảm 10%, hai đối tác muốn “có mặt” — cứu cánh hay rắc rối?</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Tình huống giả định (tiếp nối Buổi 1, 7, 8) — tên và con số chỉ dùng cho học tập.</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2</a:t>
            </a:r>
            <a:endParaRPr lang="en-US" sz="1000" dirty="0"/>
          </a:p>
        </p:txBody>
      </p:sp>
      <p:sp>
        <p:nvSpPr>
          <p:cNvPr id="19" name="Shape 16"/>
          <p:cNvSpPr/>
          <p:nvPr/>
        </p:nvSpPr>
        <p:spPr>
          <a:xfrm>
            <a:off x="548640" y="2011680"/>
            <a:ext cx="1737360" cy="548640"/>
          </a:xfrm>
          <a:prstGeom prst="roundRect">
            <a:avLst>
              <a:gd name="adj" fmla="val 50000"/>
            </a:avLst>
          </a:prstGeom>
          <a:solidFill>
            <a:srgbClr val="FF9259"/>
          </a:solidFill>
          <a:ln w="12700">
            <a:solidFill>
              <a:srgbClr val="FF9259"/>
            </a:solidFill>
            <a:prstDash val="solid"/>
          </a:ln>
        </p:spPr>
      </p:sp>
      <p:sp>
        <p:nvSpPr>
          <p:cNvPr id="20" name="Text 17"/>
          <p:cNvSpPr txBox="1"/>
          <p:nvPr/>
        </p:nvSpPr>
        <p:spPr>
          <a:xfrm>
            <a:off x="621792" y="2011680"/>
            <a:ext cx="1591056" cy="54864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Tháng 6</a:t>
            </a:r>
            <a:endParaRPr lang="en-US" sz="1400" dirty="0"/>
          </a:p>
        </p:txBody>
      </p:sp>
      <p:sp>
        <p:nvSpPr>
          <p:cNvPr id="21" name="Text 18"/>
          <p:cNvSpPr txBox="1"/>
          <p:nvPr/>
        </p:nvSpPr>
        <p:spPr>
          <a:xfrm>
            <a:off x="2514600" y="1920240"/>
            <a:ext cx="4754880" cy="73152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An Phát báo ngân sách gala cuối năm giảm ~10%</a:t>
            </a:r>
            <a:endParaRPr lang="en-US" sz="1700" dirty="0"/>
          </a:p>
        </p:txBody>
      </p:sp>
      <p:sp>
        <p:nvSpPr>
          <p:cNvPr id="22" name="Shape 19"/>
          <p:cNvSpPr/>
          <p:nvPr/>
        </p:nvSpPr>
        <p:spPr>
          <a:xfrm>
            <a:off x="548640" y="2880360"/>
            <a:ext cx="1737360" cy="548640"/>
          </a:xfrm>
          <a:prstGeom prst="roundRect">
            <a:avLst>
              <a:gd name="adj" fmla="val 50000"/>
            </a:avLst>
          </a:prstGeom>
          <a:solidFill>
            <a:srgbClr val="962B7C"/>
          </a:solidFill>
          <a:ln w="12700">
            <a:solidFill>
              <a:srgbClr val="962B7C"/>
            </a:solidFill>
            <a:prstDash val="solid"/>
          </a:ln>
        </p:spPr>
      </p:sp>
      <p:sp>
        <p:nvSpPr>
          <p:cNvPr id="23" name="Text 20"/>
          <p:cNvSpPr txBox="1"/>
          <p:nvPr/>
        </p:nvSpPr>
        <p:spPr>
          <a:xfrm>
            <a:off x="621792" y="2880360"/>
            <a:ext cx="1591056"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Anh Minh</a:t>
            </a:r>
            <a:endParaRPr lang="en-US" sz="1400" dirty="0"/>
          </a:p>
        </p:txBody>
      </p:sp>
      <p:sp>
        <p:nvSpPr>
          <p:cNvPr id="24" name="Text 21"/>
          <p:cNvSpPr txBox="1"/>
          <p:nvPr/>
        </p:nvSpPr>
        <p:spPr>
          <a:xfrm>
            <a:off x="2514600" y="2788920"/>
            <a:ext cx="4754880" cy="73152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muốn chất lượng không giảm</a:t>
            </a:r>
            <a:endParaRPr lang="en-US" sz="1700" dirty="0"/>
          </a:p>
        </p:txBody>
      </p:sp>
      <p:sp>
        <p:nvSpPr>
          <p:cNvPr id="25" name="Shape 22"/>
          <p:cNvSpPr/>
          <p:nvPr/>
        </p:nvSpPr>
        <p:spPr>
          <a:xfrm>
            <a:off x="548640" y="3749040"/>
            <a:ext cx="1737360" cy="548640"/>
          </a:xfrm>
          <a:prstGeom prst="roundRect">
            <a:avLst>
              <a:gd name="adj" fmla="val 50000"/>
            </a:avLst>
          </a:prstGeom>
          <a:solidFill>
            <a:srgbClr val="09A1E5"/>
          </a:solidFill>
          <a:ln w="12700">
            <a:solidFill>
              <a:srgbClr val="09A1E5"/>
            </a:solidFill>
            <a:prstDash val="solid"/>
          </a:ln>
        </p:spPr>
      </p:sp>
      <p:sp>
        <p:nvSpPr>
          <p:cNvPr id="26" name="Text 23"/>
          <p:cNvSpPr txBox="1"/>
          <p:nvPr/>
        </p:nvSpPr>
        <p:spPr>
          <a:xfrm>
            <a:off x="621792" y="3749040"/>
            <a:ext cx="1591056"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Cùng tuần</a:t>
            </a:r>
            <a:endParaRPr lang="en-US" sz="1400" dirty="0"/>
          </a:p>
        </p:txBody>
      </p:sp>
      <p:sp>
        <p:nvSpPr>
          <p:cNvPr id="27" name="Text 24"/>
          <p:cNvSpPr txBox="1"/>
          <p:nvPr/>
        </p:nvSpPr>
        <p:spPr>
          <a:xfrm>
            <a:off x="2514600" y="3657600"/>
            <a:ext cx="4754880" cy="73152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Bảo hiểm Bình An và GlobalCard muốn “có mặt” ở gala</a:t>
            </a:r>
            <a:endParaRPr lang="en-US" sz="1700" dirty="0"/>
          </a:p>
        </p:txBody>
      </p:sp>
      <p:sp>
        <p:nvSpPr>
          <p:cNvPr id="28" name="Shape 25"/>
          <p:cNvSpPr/>
          <p:nvPr/>
        </p:nvSpPr>
        <p:spPr>
          <a:xfrm>
            <a:off x="7589520" y="1920240"/>
            <a:ext cx="4053535" cy="1737360"/>
          </a:xfrm>
          <a:prstGeom prst="roundRect">
            <a:avLst>
              <a:gd name="adj" fmla="val 6316"/>
            </a:avLst>
          </a:prstGeom>
          <a:solidFill>
            <a:srgbClr val="E1F3EE"/>
          </a:solidFill>
          <a:ln w="19050">
            <a:solidFill>
              <a:srgbClr val="49B296"/>
            </a:solidFill>
            <a:prstDash val="solid"/>
          </a:ln>
        </p:spPr>
      </p:sp>
      <p:sp>
        <p:nvSpPr>
          <p:cNvPr id="29" name="Text 26"/>
          <p:cNvSpPr txBox="1"/>
          <p:nvPr/>
        </p:nvSpPr>
        <p:spPr>
          <a:xfrm>
            <a:off x="7863840" y="1920240"/>
            <a:ext cx="3504895" cy="1737360"/>
          </a:xfrm>
          <a:prstGeom prst="rect">
            <a:avLst/>
          </a:prstGeom>
          <a:noFill/>
          <a:ln/>
        </p:spPr>
        <p:txBody>
          <a:bodyPr wrap="square" lIns="0" tIns="0" rIns="0" bIns="0" rtlCol="0" anchor="ctr"/>
          <a:lstStyle/>
          <a:p>
            <a:pPr indent="0" marL="0">
              <a:buNone/>
            </a:pPr>
            <a:r>
              <a:rPr lang="en-US" sz="2400" b="1" dirty="0">
                <a:solidFill>
                  <a:srgbClr val="2A2238"/>
                </a:solidFill>
                <a:latin typeface="Alexandria" pitchFamily="34" charset="0"/>
                <a:ea typeface="Alexandria" pitchFamily="34" charset="-122"/>
                <a:cs typeface="Alexandria" pitchFamily="34" charset="-120"/>
              </a:rPr>
              <a:t>Cứu cánh?</a:t>
            </a:r>
            <a:endParaRPr lang="en-US" sz="2400" dirty="0"/>
          </a:p>
          <a:p>
            <a:pPr indent="0" marL="0">
              <a:buNone/>
            </a:pPr>
            <a:r>
              <a:rPr lang="en-US" sz="1400" dirty="0">
                <a:solidFill>
                  <a:srgbClr val="2A2238"/>
                </a:solidFill>
                <a:latin typeface="Alexandria" pitchFamily="34" charset="0"/>
                <a:ea typeface="Alexandria" pitchFamily="34" charset="-122"/>
                <a:cs typeface="Alexandria" pitchFamily="34" charset="-120"/>
              </a:rPr>
              <a:t>bù ngân sách, thêm nội dung cho khách</a:t>
            </a:r>
            <a:endParaRPr lang="en-US" sz="2400" dirty="0"/>
          </a:p>
        </p:txBody>
      </p:sp>
      <p:sp>
        <p:nvSpPr>
          <p:cNvPr id="30" name="Shape 27"/>
          <p:cNvSpPr/>
          <p:nvPr/>
        </p:nvSpPr>
        <p:spPr>
          <a:xfrm>
            <a:off x="7589520" y="3840480"/>
            <a:ext cx="4053535" cy="1737360"/>
          </a:xfrm>
          <a:prstGeom prst="roundRect">
            <a:avLst>
              <a:gd name="adj" fmla="val 6316"/>
            </a:avLst>
          </a:prstGeom>
          <a:solidFill>
            <a:srgbClr val="FFE4EA"/>
          </a:solidFill>
          <a:ln w="19050">
            <a:solidFill>
              <a:srgbClr val="FF5178"/>
            </a:solidFill>
            <a:prstDash val="solid"/>
          </a:ln>
        </p:spPr>
      </p:sp>
      <p:sp>
        <p:nvSpPr>
          <p:cNvPr id="31" name="Text 28"/>
          <p:cNvSpPr txBox="1"/>
          <p:nvPr/>
        </p:nvSpPr>
        <p:spPr>
          <a:xfrm>
            <a:off x="7863840" y="3840480"/>
            <a:ext cx="3504895" cy="1737360"/>
          </a:xfrm>
          <a:prstGeom prst="rect">
            <a:avLst/>
          </a:prstGeom>
          <a:noFill/>
          <a:ln/>
        </p:spPr>
        <p:txBody>
          <a:bodyPr wrap="square" lIns="0" tIns="0" rIns="0" bIns="0" rtlCol="0" anchor="ctr"/>
          <a:lstStyle/>
          <a:p>
            <a:pPr indent="0" marL="0">
              <a:buNone/>
            </a:pPr>
            <a:r>
              <a:rPr lang="en-US" sz="2400" b="1" dirty="0">
                <a:solidFill>
                  <a:srgbClr val="2A2238"/>
                </a:solidFill>
                <a:latin typeface="Alexandria" pitchFamily="34" charset="0"/>
                <a:ea typeface="Alexandria" pitchFamily="34" charset="-122"/>
                <a:cs typeface="Alexandria" pitchFamily="34" charset="-120"/>
              </a:rPr>
              <a:t>Rắc rối?</a:t>
            </a:r>
            <a:endParaRPr lang="en-US" sz="2400" dirty="0"/>
          </a:p>
          <a:p>
            <a:pPr indent="0" marL="0">
              <a:buNone/>
            </a:pPr>
            <a:r>
              <a:rPr lang="en-US" sz="1400" dirty="0">
                <a:solidFill>
                  <a:srgbClr val="2A2238"/>
                </a:solidFill>
                <a:latin typeface="Alexandria" pitchFamily="34" charset="0"/>
                <a:ea typeface="Alexandria" pitchFamily="34" charset="-122"/>
                <a:cs typeface="Alexandria" pitchFamily="34" charset="-120"/>
              </a:rPr>
              <a:t>600 khách VIP thấy mình bị mời đến để nghe bán hàng</a:t>
            </a:r>
            <a:endParaRPr lang="en-US" sz="2400" dirty="0"/>
          </a:p>
        </p:txBody>
      </p:sp>
      <p:sp>
        <p:nvSpPr>
          <p:cNvPr id="32" name="Shape 29"/>
          <p:cNvSpPr/>
          <p:nvPr/>
        </p:nvSpPr>
        <p:spPr>
          <a:xfrm>
            <a:off x="548640" y="4800600"/>
            <a:ext cx="6675120" cy="777240"/>
          </a:xfrm>
          <a:prstGeom prst="roundRect">
            <a:avLst>
              <a:gd name="adj" fmla="val 14118"/>
            </a:avLst>
          </a:prstGeom>
          <a:solidFill>
            <a:srgbClr val="FFF3C4"/>
          </a:solidFill>
          <a:ln w="12700">
            <a:solidFill>
              <a:srgbClr val="FFD23B"/>
            </a:solidFill>
            <a:prstDash val="solid"/>
          </a:ln>
        </p:spPr>
      </p:sp>
      <p:sp>
        <p:nvSpPr>
          <p:cNvPr id="33" name="Text 30"/>
          <p:cNvSpPr txBox="1"/>
          <p:nvPr/>
        </p:nvSpPr>
        <p:spPr>
          <a:xfrm>
            <a:off x="822960" y="4800600"/>
            <a:ext cx="6126480" cy="77724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Giơ tay: với Nova, hai đối tác này là gì?</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Phần 3: mỗi bên liên quan được gắn vào hành trình của Key Account</a:t>
            </a:r>
            <a:endParaRPr lang="en-US" sz="2600" dirty="0"/>
          </a:p>
        </p:txBody>
      </p:sp>
      <p:sp>
        <p:nvSpPr>
          <p:cNvPr id="16" name="Text 14"/>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3</a:t>
            </a:r>
            <a:endParaRPr lang="en-US" sz="1000" dirty="0"/>
          </a:p>
        </p:txBody>
      </p:sp>
      <p:sp>
        <p:nvSpPr>
          <p:cNvPr id="18" name="Shape 15"/>
          <p:cNvSpPr/>
          <p:nvPr/>
        </p:nvSpPr>
        <p:spPr>
          <a:xfrm>
            <a:off x="4678528" y="3017520"/>
            <a:ext cx="2834640" cy="1828800"/>
          </a:xfrm>
          <a:prstGeom prst="ellipse">
            <a:avLst/>
          </a:prstGeom>
          <a:solidFill>
            <a:srgbClr val="FFD23B"/>
          </a:solidFill>
          <a:ln w="12700">
            <a:solidFill>
              <a:srgbClr val="FFD23B"/>
            </a:solidFill>
            <a:prstDash val="solid"/>
          </a:ln>
        </p:spPr>
      </p:sp>
      <p:sp>
        <p:nvSpPr>
          <p:cNvPr id="19" name="Text 16"/>
          <p:cNvSpPr txBox="1"/>
          <p:nvPr/>
        </p:nvSpPr>
        <p:spPr>
          <a:xfrm>
            <a:off x="4769968" y="3017520"/>
            <a:ext cx="2651760" cy="1828800"/>
          </a:xfrm>
          <a:prstGeom prst="rect">
            <a:avLst/>
          </a:prstGeom>
          <a:noFill/>
          <a:ln/>
        </p:spPr>
        <p:txBody>
          <a:bodyPr wrap="square" lIns="0" tIns="0" rIns="0" bIns="0" rtlCol="0" anchor="ctr"/>
          <a:lstStyle/>
          <a:p>
            <a:pPr algn="ctr" indent="0" marL="0">
              <a:buNone/>
            </a:pPr>
            <a:r>
              <a:rPr lang="en-US" sz="2000" b="1" dirty="0">
                <a:solidFill>
                  <a:srgbClr val="2A2238"/>
                </a:solidFill>
                <a:latin typeface="Alexandria" pitchFamily="34" charset="0"/>
                <a:ea typeface="Alexandria" pitchFamily="34" charset="-122"/>
                <a:cs typeface="Alexandria" pitchFamily="34" charset="-120"/>
              </a:rPr>
              <a:t>Key Account</a:t>
            </a:r>
            <a:endParaRPr lang="en-US" sz="2000" dirty="0"/>
          </a:p>
          <a:p>
            <a:pPr algn="ctr" indent="0" marL="0">
              <a:buNone/>
            </a:pPr>
            <a:r>
              <a:rPr lang="en-US" sz="1300" dirty="0">
                <a:solidFill>
                  <a:srgbClr val="2A2238"/>
                </a:solidFill>
                <a:latin typeface="Alexandria" pitchFamily="34" charset="0"/>
                <a:ea typeface="Alexandria" pitchFamily="34" charset="-122"/>
                <a:cs typeface="Alexandria" pitchFamily="34" charset="-120"/>
              </a:rPr>
              <a:t>và hành trình khách hàng</a:t>
            </a:r>
            <a:endParaRPr lang="en-US" sz="2000" dirty="0"/>
          </a:p>
        </p:txBody>
      </p:sp>
      <p:sp>
        <p:nvSpPr>
          <p:cNvPr id="20" name="Shape 17"/>
          <p:cNvSpPr/>
          <p:nvPr/>
        </p:nvSpPr>
        <p:spPr>
          <a:xfrm>
            <a:off x="548640" y="1874520"/>
            <a:ext cx="3291840" cy="1234440"/>
          </a:xfrm>
          <a:prstGeom prst="roundRect">
            <a:avLst>
              <a:gd name="adj" fmla="val 8889"/>
            </a:avLst>
          </a:prstGeom>
          <a:solidFill>
            <a:srgbClr val="962B7C"/>
          </a:solidFill>
          <a:ln w="12700">
            <a:solidFill>
              <a:srgbClr val="962B7C"/>
            </a:solidFill>
            <a:prstDash val="solid"/>
          </a:ln>
        </p:spPr>
      </p:sp>
      <p:sp>
        <p:nvSpPr>
          <p:cNvPr id="21" name="Text 18"/>
          <p:cNvSpPr txBox="1"/>
          <p:nvPr/>
        </p:nvSpPr>
        <p:spPr>
          <a:xfrm>
            <a:off x="822960" y="2011680"/>
            <a:ext cx="2743200" cy="411480"/>
          </a:xfrm>
          <a:prstGeom prst="rect">
            <a:avLst/>
          </a:prstGeom>
          <a:noFill/>
          <a:ln/>
        </p:spPr>
        <p:txBody>
          <a:bodyPr wrap="square" lIns="0" tIns="0" rIns="0" bIns="0" rtlCol="0" anchor="ctr"/>
          <a:lstStyle/>
          <a:p>
            <a:pPr indent="0" marL="0">
              <a:buNone/>
            </a:pPr>
            <a:r>
              <a:rPr lang="en-US" sz="1400" b="1" dirty="0">
                <a:solidFill>
                  <a:srgbClr val="FFFFFF"/>
                </a:solidFill>
                <a:latin typeface="Alexandria" pitchFamily="34" charset="0"/>
                <a:ea typeface="Alexandria" pitchFamily="34" charset="-122"/>
                <a:cs typeface="Alexandria" pitchFamily="34" charset="-120"/>
              </a:rPr>
              <a:t>Buổi 9</a:t>
            </a:r>
            <a:endParaRPr lang="en-US" sz="1400" dirty="0"/>
          </a:p>
        </p:txBody>
      </p:sp>
      <p:sp>
        <p:nvSpPr>
          <p:cNvPr id="22" name="Text 19"/>
          <p:cNvSpPr txBox="1"/>
          <p:nvPr/>
        </p:nvSpPr>
        <p:spPr>
          <a:xfrm>
            <a:off x="822960" y="2423160"/>
            <a:ext cx="2743200" cy="502920"/>
          </a:xfrm>
          <a:prstGeom prst="rect">
            <a:avLst/>
          </a:prstGeom>
          <a:noFill/>
          <a:ln/>
        </p:spPr>
        <p:txBody>
          <a:bodyPr wrap="square" lIns="0" tIns="0" rIns="0" bIns="0" rtlCol="0" anchor="ctr"/>
          <a:lstStyle/>
          <a:p>
            <a:pPr indent="0" marL="0">
              <a:buNone/>
            </a:pPr>
            <a:r>
              <a:rPr lang="en-US" sz="1700" b="1" dirty="0">
                <a:solidFill>
                  <a:srgbClr val="FFFFFF"/>
                </a:solidFill>
                <a:latin typeface="Alexandria" pitchFamily="34" charset="0"/>
                <a:ea typeface="Alexandria" pitchFamily="34" charset="-122"/>
                <a:cs typeface="Alexandria" pitchFamily="34" charset="-120"/>
              </a:rPr>
              <a:t>Nhà tài trợ – nhà đầu tư</a:t>
            </a:r>
            <a:endParaRPr lang="en-US" sz="1700" dirty="0"/>
          </a:p>
        </p:txBody>
      </p:sp>
      <p:sp>
        <p:nvSpPr>
          <p:cNvPr id="23" name="Shape 20"/>
          <p:cNvSpPr/>
          <p:nvPr/>
        </p:nvSpPr>
        <p:spPr>
          <a:xfrm>
            <a:off x="3840480" y="2487168"/>
            <a:ext cx="975208" cy="987552"/>
          </a:xfrm>
          <a:prstGeom prst="line">
            <a:avLst/>
          </a:prstGeom>
          <a:noFill/>
          <a:ln w="25400">
            <a:solidFill>
              <a:srgbClr val="962B7C"/>
            </a:solidFill>
            <a:prstDash val="solid"/>
          </a:ln>
        </p:spPr>
      </p:sp>
      <p:sp>
        <p:nvSpPr>
          <p:cNvPr id="24" name="Shape 21"/>
          <p:cNvSpPr/>
          <p:nvPr/>
        </p:nvSpPr>
        <p:spPr>
          <a:xfrm>
            <a:off x="8351215" y="1874520"/>
            <a:ext cx="3291840" cy="1234440"/>
          </a:xfrm>
          <a:prstGeom prst="roundRect">
            <a:avLst>
              <a:gd name="adj" fmla="val 8889"/>
            </a:avLst>
          </a:prstGeom>
          <a:solidFill>
            <a:srgbClr val="FFFFFF"/>
          </a:solidFill>
          <a:ln w="19050">
            <a:solidFill>
              <a:srgbClr val="09A1E5"/>
            </a:solidFill>
            <a:prstDash val="solid"/>
          </a:ln>
        </p:spPr>
      </p:sp>
      <p:sp>
        <p:nvSpPr>
          <p:cNvPr id="25" name="Text 22"/>
          <p:cNvSpPr txBox="1"/>
          <p:nvPr/>
        </p:nvSpPr>
        <p:spPr>
          <a:xfrm>
            <a:off x="8625535" y="2011680"/>
            <a:ext cx="2743200" cy="411480"/>
          </a:xfrm>
          <a:prstGeom prst="rect">
            <a:avLst/>
          </a:prstGeom>
          <a:noFill/>
          <a:ln/>
        </p:spPr>
        <p:txBody>
          <a:bodyPr wrap="square" lIns="0" tIns="0" rIns="0" bIns="0" rtlCol="0" anchor="ctr"/>
          <a:lstStyle/>
          <a:p>
            <a:pPr indent="0" marL="0">
              <a:buNone/>
            </a:pPr>
            <a:r>
              <a:rPr lang="en-US" sz="1400" b="1" dirty="0">
                <a:solidFill>
                  <a:srgbClr val="0A7FB5"/>
                </a:solidFill>
                <a:latin typeface="Alexandria" pitchFamily="34" charset="0"/>
                <a:ea typeface="Alexandria" pitchFamily="34" charset="-122"/>
                <a:cs typeface="Alexandria" pitchFamily="34" charset="-120"/>
              </a:rPr>
              <a:t>Buổi 10</a:t>
            </a:r>
            <a:endParaRPr lang="en-US" sz="1400" dirty="0"/>
          </a:p>
        </p:txBody>
      </p:sp>
      <p:sp>
        <p:nvSpPr>
          <p:cNvPr id="26" name="Text 23"/>
          <p:cNvSpPr txBox="1"/>
          <p:nvPr/>
        </p:nvSpPr>
        <p:spPr>
          <a:xfrm>
            <a:off x="8625535" y="2423160"/>
            <a:ext cx="2743200" cy="5029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Nhà cung cấp – địa điểm</a:t>
            </a:r>
            <a:endParaRPr lang="en-US" sz="1700" dirty="0"/>
          </a:p>
        </p:txBody>
      </p:sp>
      <p:sp>
        <p:nvSpPr>
          <p:cNvPr id="27" name="Shape 24"/>
          <p:cNvSpPr/>
          <p:nvPr/>
        </p:nvSpPr>
        <p:spPr>
          <a:xfrm flipH="1">
            <a:off x="7376008" y="2487168"/>
            <a:ext cx="975208" cy="987552"/>
          </a:xfrm>
          <a:prstGeom prst="line">
            <a:avLst/>
          </a:prstGeom>
          <a:noFill/>
          <a:ln w="25400">
            <a:solidFill>
              <a:srgbClr val="09A1E5"/>
            </a:solidFill>
            <a:prstDash val="dash"/>
          </a:ln>
        </p:spPr>
      </p:sp>
      <p:sp>
        <p:nvSpPr>
          <p:cNvPr id="28" name="Shape 25"/>
          <p:cNvSpPr/>
          <p:nvPr/>
        </p:nvSpPr>
        <p:spPr>
          <a:xfrm>
            <a:off x="548640" y="4709160"/>
            <a:ext cx="3291840" cy="1234440"/>
          </a:xfrm>
          <a:prstGeom prst="roundRect">
            <a:avLst>
              <a:gd name="adj" fmla="val 8889"/>
            </a:avLst>
          </a:prstGeom>
          <a:solidFill>
            <a:srgbClr val="FFFFFF"/>
          </a:solidFill>
          <a:ln w="19050">
            <a:solidFill>
              <a:srgbClr val="FF9259"/>
            </a:solidFill>
            <a:prstDash val="solid"/>
          </a:ln>
        </p:spPr>
      </p:sp>
      <p:sp>
        <p:nvSpPr>
          <p:cNvPr id="29" name="Text 26"/>
          <p:cNvSpPr txBox="1"/>
          <p:nvPr/>
        </p:nvSpPr>
        <p:spPr>
          <a:xfrm>
            <a:off x="822960" y="4846320"/>
            <a:ext cx="2743200" cy="411480"/>
          </a:xfrm>
          <a:prstGeom prst="rect">
            <a:avLst/>
          </a:prstGeom>
          <a:noFill/>
          <a:ln/>
        </p:spPr>
        <p:txBody>
          <a:bodyPr wrap="square" lIns="0" tIns="0" rIns="0" bIns="0" rtlCol="0" anchor="ctr"/>
          <a:lstStyle/>
          <a:p>
            <a:pPr indent="0" marL="0">
              <a:buNone/>
            </a:pPr>
            <a:r>
              <a:rPr lang="en-US" sz="1400" b="1" dirty="0">
                <a:solidFill>
                  <a:srgbClr val="D9622B"/>
                </a:solidFill>
                <a:latin typeface="Alexandria" pitchFamily="34" charset="0"/>
                <a:ea typeface="Alexandria" pitchFamily="34" charset="-122"/>
                <a:cs typeface="Alexandria" pitchFamily="34" charset="-120"/>
              </a:rPr>
              <a:t>Buổi 11</a:t>
            </a:r>
            <a:endParaRPr lang="en-US" sz="1400" dirty="0"/>
          </a:p>
        </p:txBody>
      </p:sp>
      <p:sp>
        <p:nvSpPr>
          <p:cNvPr id="30" name="Text 27"/>
          <p:cNvSpPr txBox="1"/>
          <p:nvPr/>
        </p:nvSpPr>
        <p:spPr>
          <a:xfrm>
            <a:off x="822960" y="5257800"/>
            <a:ext cx="2743200" cy="5029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Truyền thông – KOL</a:t>
            </a:r>
            <a:endParaRPr lang="en-US" sz="1700" dirty="0"/>
          </a:p>
        </p:txBody>
      </p:sp>
      <p:sp>
        <p:nvSpPr>
          <p:cNvPr id="31" name="Shape 28"/>
          <p:cNvSpPr/>
          <p:nvPr/>
        </p:nvSpPr>
        <p:spPr>
          <a:xfrm flipV="1">
            <a:off x="3840480" y="4389120"/>
            <a:ext cx="975208" cy="932688"/>
          </a:xfrm>
          <a:prstGeom prst="line">
            <a:avLst/>
          </a:prstGeom>
          <a:noFill/>
          <a:ln w="25400">
            <a:solidFill>
              <a:srgbClr val="FF9259"/>
            </a:solidFill>
            <a:prstDash val="dash"/>
          </a:ln>
        </p:spPr>
      </p:sp>
      <p:sp>
        <p:nvSpPr>
          <p:cNvPr id="32" name="Shape 29"/>
          <p:cNvSpPr/>
          <p:nvPr/>
        </p:nvSpPr>
        <p:spPr>
          <a:xfrm>
            <a:off x="8351215" y="4709160"/>
            <a:ext cx="3291840" cy="1234440"/>
          </a:xfrm>
          <a:prstGeom prst="roundRect">
            <a:avLst>
              <a:gd name="adj" fmla="val 8889"/>
            </a:avLst>
          </a:prstGeom>
          <a:solidFill>
            <a:srgbClr val="FFFFFF"/>
          </a:solidFill>
          <a:ln w="19050">
            <a:solidFill>
              <a:srgbClr val="49B296"/>
            </a:solidFill>
            <a:prstDash val="solid"/>
          </a:ln>
        </p:spPr>
      </p:sp>
      <p:sp>
        <p:nvSpPr>
          <p:cNvPr id="33" name="Text 30"/>
          <p:cNvSpPr txBox="1"/>
          <p:nvPr/>
        </p:nvSpPr>
        <p:spPr>
          <a:xfrm>
            <a:off x="8625535" y="4846320"/>
            <a:ext cx="2743200" cy="411480"/>
          </a:xfrm>
          <a:prstGeom prst="rect">
            <a:avLst/>
          </a:prstGeom>
          <a:noFill/>
          <a:ln/>
        </p:spPr>
        <p:txBody>
          <a:bodyPr wrap="square" lIns="0" tIns="0" rIns="0" bIns="0" rtlCol="0" anchor="ctr"/>
          <a:lstStyle/>
          <a:p>
            <a:pPr indent="0" marL="0">
              <a:buNone/>
            </a:pPr>
            <a:r>
              <a:rPr lang="en-US" sz="1400" b="1" dirty="0">
                <a:solidFill>
                  <a:srgbClr val="2E8A71"/>
                </a:solidFill>
                <a:latin typeface="Alexandria" pitchFamily="34" charset="0"/>
                <a:ea typeface="Alexandria" pitchFamily="34" charset="-122"/>
                <a:cs typeface="Alexandria" pitchFamily="34" charset="-120"/>
              </a:rPr>
              <a:t>Buổi 12</a:t>
            </a:r>
            <a:endParaRPr lang="en-US" sz="1400" dirty="0"/>
          </a:p>
        </p:txBody>
      </p:sp>
      <p:sp>
        <p:nvSpPr>
          <p:cNvPr id="34" name="Text 31"/>
          <p:cNvSpPr txBox="1"/>
          <p:nvPr/>
        </p:nvSpPr>
        <p:spPr>
          <a:xfrm>
            <a:off x="8625535" y="5257800"/>
            <a:ext cx="2743200" cy="5029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Xung đột giữa các bên</a:t>
            </a:r>
            <a:endParaRPr lang="en-US" sz="1700" dirty="0"/>
          </a:p>
        </p:txBody>
      </p:sp>
      <p:sp>
        <p:nvSpPr>
          <p:cNvPr id="35" name="Shape 32"/>
          <p:cNvSpPr/>
          <p:nvPr/>
        </p:nvSpPr>
        <p:spPr>
          <a:xfrm flipH="1" flipV="1">
            <a:off x="7376008" y="4389120"/>
            <a:ext cx="975208" cy="932688"/>
          </a:xfrm>
          <a:prstGeom prst="line">
            <a:avLst/>
          </a:prstGeom>
          <a:noFill/>
          <a:ln w="25400">
            <a:solidFill>
              <a:srgbClr val="49B296"/>
            </a:solidFill>
            <a:prstDash val="dash"/>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trợ bắt đầu từ mục tiêu của nhà tài trợ, không từ chỗ in logo</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U01: Meenaghan (1983), European Journal of Marketing · U02: Cornwell &amp; Maignan (1998), Journal of Advertising.</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4</a:t>
            </a:r>
            <a:endParaRPr lang="en-US" sz="1000" dirty="0"/>
          </a:p>
        </p:txBody>
      </p:sp>
      <p:sp>
        <p:nvSpPr>
          <p:cNvPr id="19" name="Shape 16"/>
          <p:cNvSpPr/>
          <p:nvPr/>
        </p:nvSpPr>
        <p:spPr>
          <a:xfrm>
            <a:off x="548640" y="1920240"/>
            <a:ext cx="6035040" cy="2194560"/>
          </a:xfrm>
          <a:prstGeom prst="roundRect">
            <a:avLst>
              <a:gd name="adj" fmla="val 5000"/>
            </a:avLst>
          </a:prstGeom>
          <a:solidFill>
            <a:srgbClr val="F1E1EE"/>
          </a:solidFill>
          <a:ln w="12700">
            <a:solidFill>
              <a:srgbClr val="962B7C"/>
            </a:solidFill>
            <a:prstDash val="solid"/>
          </a:ln>
        </p:spPr>
      </p:sp>
      <p:sp>
        <p:nvSpPr>
          <p:cNvPr id="20" name="Text 17"/>
          <p:cNvSpPr txBox="1"/>
          <p:nvPr/>
        </p:nvSpPr>
        <p:spPr>
          <a:xfrm>
            <a:off x="868680" y="1920240"/>
            <a:ext cx="5394960" cy="2194560"/>
          </a:xfrm>
          <a:prstGeom prst="rect">
            <a:avLst/>
          </a:prstGeom>
          <a:noFill/>
          <a:ln/>
        </p:spPr>
        <p:txBody>
          <a:bodyPr wrap="square" lIns="0" tIns="0" rIns="0" bIns="0" rtlCol="0" anchor="ctr"/>
          <a:lstStyle/>
          <a:p>
            <a:pPr indent="0" marL="0">
              <a:spcAft>
                <a:spcPts val="800"/>
              </a:spcAft>
              <a:buNone/>
            </a:pPr>
            <a:r>
              <a:rPr lang="en-US" sz="2200" i="1" dirty="0">
                <a:solidFill>
                  <a:srgbClr val="2A2238"/>
                </a:solidFill>
                <a:latin typeface="Alexandria" pitchFamily="34" charset="0"/>
                <a:ea typeface="Alexandria" pitchFamily="34" charset="-122"/>
                <a:cs typeface="Alexandria" pitchFamily="34" charset="-120"/>
              </a:rPr>
              <a:t>“Views objective‐setting as the cornerstone of sponsorship management…”</a:t>
            </a:r>
            <a:endParaRPr lang="en-US" sz="2200" dirty="0"/>
          </a:p>
          <a:p>
            <a:pPr indent="0" marL="0">
              <a:spcAft>
                <a:spcPts val="800"/>
              </a:spcAft>
              <a:buNone/>
            </a:pPr>
            <a:r>
              <a:rPr lang="en-US" sz="1300" dirty="0">
                <a:solidFill>
                  <a:srgbClr val="6E6878"/>
                </a:solidFill>
                <a:latin typeface="Alexandria" pitchFamily="34" charset="0"/>
                <a:ea typeface="Alexandria" pitchFamily="34" charset="-122"/>
                <a:cs typeface="Alexandria" pitchFamily="34" charset="-120"/>
              </a:rPr>
              <a:t>— Meenaghan (1983)</a:t>
            </a:r>
            <a:endParaRPr lang="en-US" sz="2200" dirty="0"/>
          </a:p>
        </p:txBody>
      </p:sp>
      <p:sp>
        <p:nvSpPr>
          <p:cNvPr id="21" name="Shape 18"/>
          <p:cNvSpPr/>
          <p:nvPr/>
        </p:nvSpPr>
        <p:spPr>
          <a:xfrm>
            <a:off x="6949440" y="1920240"/>
            <a:ext cx="4693615" cy="1005840"/>
          </a:xfrm>
          <a:prstGeom prst="roundRect">
            <a:avLst>
              <a:gd name="adj" fmla="val 10909"/>
            </a:avLst>
          </a:prstGeom>
          <a:solidFill>
            <a:srgbClr val="E1F3EE"/>
          </a:solidFill>
          <a:ln w="12700">
            <a:solidFill>
              <a:srgbClr val="49B296"/>
            </a:solidFill>
            <a:prstDash val="solid"/>
          </a:ln>
        </p:spPr>
      </p:sp>
      <p:sp>
        <p:nvSpPr>
          <p:cNvPr id="22" name="Text 19"/>
          <p:cNvSpPr txBox="1"/>
          <p:nvPr/>
        </p:nvSpPr>
        <p:spPr>
          <a:xfrm>
            <a:off x="7223760" y="1920240"/>
            <a:ext cx="4144975" cy="100584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Bắt đầu từ: </a:t>
            </a:r>
            <a:pPr indent="0" marL="0">
              <a:buNone/>
            </a:pPr>
            <a:r>
              <a:rPr lang="en-US" sz="1700" dirty="0">
                <a:solidFill>
                  <a:srgbClr val="2A2238"/>
                </a:solidFill>
                <a:latin typeface="Alexandria" pitchFamily="34" charset="0"/>
                <a:ea typeface="Alexandria" pitchFamily="34" charset="-122"/>
                <a:cs typeface="Alexandria" pitchFamily="34" charset="-120"/>
              </a:rPr>
              <a:t>nhà tài trợ muốn đạt điều gì?</a:t>
            </a:r>
            <a:endParaRPr lang="en-US" sz="1700" dirty="0"/>
          </a:p>
        </p:txBody>
      </p:sp>
      <p:sp>
        <p:nvSpPr>
          <p:cNvPr id="23" name="Shape 20"/>
          <p:cNvSpPr/>
          <p:nvPr/>
        </p:nvSpPr>
        <p:spPr>
          <a:xfrm>
            <a:off x="6949440" y="3108960"/>
            <a:ext cx="4693615" cy="1005840"/>
          </a:xfrm>
          <a:prstGeom prst="roundRect">
            <a:avLst>
              <a:gd name="adj" fmla="val 10909"/>
            </a:avLst>
          </a:prstGeom>
          <a:solidFill>
            <a:srgbClr val="FFFFFF"/>
          </a:solidFill>
          <a:ln w="12700">
            <a:solidFill>
              <a:srgbClr val="DCD7C8"/>
            </a:solidFill>
            <a:prstDash val="solid"/>
          </a:ln>
        </p:spPr>
      </p:sp>
      <p:sp>
        <p:nvSpPr>
          <p:cNvPr id="24" name="Text 21"/>
          <p:cNvSpPr txBox="1"/>
          <p:nvPr/>
        </p:nvSpPr>
        <p:spPr>
          <a:xfrm>
            <a:off x="7223760" y="3108960"/>
            <a:ext cx="4144975" cy="1005840"/>
          </a:xfrm>
          <a:prstGeom prst="rect">
            <a:avLst/>
          </a:prstGeom>
          <a:noFill/>
          <a:ln/>
        </p:spPr>
        <p:txBody>
          <a:bodyPr wrap="square" lIns="0" tIns="0" rIns="0" bIns="0" rtlCol="0" anchor="ctr"/>
          <a:lstStyle/>
          <a:p>
            <a:pPr indent="0" marL="0">
              <a:buNone/>
            </a:pPr>
            <a:r>
              <a:rPr lang="en-US" sz="1700" b="1" dirty="0">
                <a:solidFill>
                  <a:srgbClr val="6E6878"/>
                </a:solidFill>
                <a:latin typeface="Alexandria" pitchFamily="34" charset="0"/>
                <a:ea typeface="Alexandria" pitchFamily="34" charset="-122"/>
                <a:cs typeface="Alexandria" pitchFamily="34" charset="-120"/>
              </a:rPr>
              <a:t>Không phải: </a:t>
            </a:r>
            <a:pPr indent="0" marL="0">
              <a:buNone/>
            </a:pPr>
            <a:r>
              <a:rPr lang="en-US" sz="1700" dirty="0">
                <a:solidFill>
                  <a:srgbClr val="6E6878"/>
                </a:solidFill>
                <a:latin typeface="Alexandria" pitchFamily="34" charset="0"/>
                <a:ea typeface="Alexandria" pitchFamily="34" charset="-122"/>
                <a:cs typeface="Alexandria" pitchFamily="34" charset="-120"/>
              </a:rPr>
              <a:t>sự kiện có chỗ nào để in logo?</a:t>
            </a:r>
            <a:endParaRPr lang="en-US" sz="1700" dirty="0"/>
          </a:p>
        </p:txBody>
      </p:sp>
      <p:sp>
        <p:nvSpPr>
          <p:cNvPr id="25" name="Text 22"/>
          <p:cNvSpPr txBox="1"/>
          <p:nvPr/>
        </p:nvSpPr>
        <p:spPr>
          <a:xfrm>
            <a:off x="548640" y="4434840"/>
            <a:ext cx="11094415" cy="365760"/>
          </a:xfrm>
          <a:prstGeom prst="rect">
            <a:avLst/>
          </a:prstGeom>
          <a:noFill/>
          <a:ln/>
        </p:spPr>
        <p:txBody>
          <a:bodyPr wrap="square" lIns="0" tIns="0" rIns="0" bIns="0" rtlCol="0" anchor="ctr"/>
          <a:lstStyle/>
          <a:p>
            <a:pPr indent="0" marL="0">
              <a:buNone/>
            </a:pPr>
            <a:r>
              <a:rPr lang="en-US" sz="1400" b="1" dirty="0">
                <a:solidFill>
                  <a:srgbClr val="6E6878"/>
                </a:solidFill>
                <a:latin typeface="Alexandria" pitchFamily="34" charset="0"/>
                <a:ea typeface="Alexandria" pitchFamily="34" charset="-122"/>
                <a:cs typeface="Alexandria" pitchFamily="34" charset="-120"/>
              </a:rPr>
              <a:t>Năm dòng nghiên cứu tài trợ (U02) — Buổi 9 đi qua cả năm</a:t>
            </a:r>
            <a:endParaRPr lang="en-US" sz="1400" dirty="0"/>
          </a:p>
        </p:txBody>
      </p:sp>
      <p:sp>
        <p:nvSpPr>
          <p:cNvPr id="26" name="Shape 23"/>
          <p:cNvSpPr/>
          <p:nvPr/>
        </p:nvSpPr>
        <p:spPr>
          <a:xfrm>
            <a:off x="548640" y="4937760"/>
            <a:ext cx="2072579" cy="731520"/>
          </a:xfrm>
          <a:prstGeom prst="roundRect">
            <a:avLst>
              <a:gd name="adj" fmla="val 50000"/>
            </a:avLst>
          </a:prstGeom>
          <a:solidFill>
            <a:srgbClr val="FF9259"/>
          </a:solidFill>
          <a:ln w="12700">
            <a:solidFill>
              <a:srgbClr val="FF9259"/>
            </a:solidFill>
            <a:prstDash val="solid"/>
          </a:ln>
        </p:spPr>
      </p:sp>
      <p:sp>
        <p:nvSpPr>
          <p:cNvPr id="27" name="Text 24"/>
          <p:cNvSpPr txBox="1"/>
          <p:nvPr/>
        </p:nvSpPr>
        <p:spPr>
          <a:xfrm>
            <a:off x="621792" y="4937760"/>
            <a:ext cx="1926275" cy="73152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Bản chất</a:t>
            </a:r>
            <a:endParaRPr lang="en-US" sz="1400" dirty="0"/>
          </a:p>
        </p:txBody>
      </p:sp>
      <p:sp>
        <p:nvSpPr>
          <p:cNvPr id="28" name="Shape 25"/>
          <p:cNvSpPr/>
          <p:nvPr/>
        </p:nvSpPr>
        <p:spPr>
          <a:xfrm>
            <a:off x="2804099" y="4937760"/>
            <a:ext cx="2072579" cy="731520"/>
          </a:xfrm>
          <a:prstGeom prst="roundRect">
            <a:avLst>
              <a:gd name="adj" fmla="val 50000"/>
            </a:avLst>
          </a:prstGeom>
          <a:solidFill>
            <a:srgbClr val="962B7C"/>
          </a:solidFill>
          <a:ln w="12700">
            <a:solidFill>
              <a:srgbClr val="962B7C"/>
            </a:solidFill>
            <a:prstDash val="solid"/>
          </a:ln>
        </p:spPr>
      </p:sp>
      <p:sp>
        <p:nvSpPr>
          <p:cNvPr id="29" name="Text 26"/>
          <p:cNvSpPr txBox="1"/>
          <p:nvPr/>
        </p:nvSpPr>
        <p:spPr>
          <a:xfrm>
            <a:off x="2877251" y="4937760"/>
            <a:ext cx="1926275"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Quản trị</a:t>
            </a:r>
            <a:endParaRPr lang="en-US" sz="1400" dirty="0"/>
          </a:p>
        </p:txBody>
      </p:sp>
      <p:sp>
        <p:nvSpPr>
          <p:cNvPr id="30" name="Shape 27"/>
          <p:cNvSpPr/>
          <p:nvPr/>
        </p:nvSpPr>
        <p:spPr>
          <a:xfrm>
            <a:off x="5059558" y="4937760"/>
            <a:ext cx="2072579" cy="731520"/>
          </a:xfrm>
          <a:prstGeom prst="roundRect">
            <a:avLst>
              <a:gd name="adj" fmla="val 50000"/>
            </a:avLst>
          </a:prstGeom>
          <a:solidFill>
            <a:srgbClr val="09A1E5"/>
          </a:solidFill>
          <a:ln w="12700">
            <a:solidFill>
              <a:srgbClr val="09A1E5"/>
            </a:solidFill>
            <a:prstDash val="solid"/>
          </a:ln>
        </p:spPr>
      </p:sp>
      <p:sp>
        <p:nvSpPr>
          <p:cNvPr id="31" name="Text 28"/>
          <p:cNvSpPr txBox="1"/>
          <p:nvPr/>
        </p:nvSpPr>
        <p:spPr>
          <a:xfrm>
            <a:off x="5132710" y="4937760"/>
            <a:ext cx="1926275"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Đo lường hiệu quả</a:t>
            </a:r>
            <a:endParaRPr lang="en-US" sz="1400" dirty="0"/>
          </a:p>
        </p:txBody>
      </p:sp>
      <p:sp>
        <p:nvSpPr>
          <p:cNvPr id="32" name="Shape 29"/>
          <p:cNvSpPr/>
          <p:nvPr/>
        </p:nvSpPr>
        <p:spPr>
          <a:xfrm>
            <a:off x="7315017" y="4937760"/>
            <a:ext cx="2072579" cy="731520"/>
          </a:xfrm>
          <a:prstGeom prst="roundRect">
            <a:avLst>
              <a:gd name="adj" fmla="val 50000"/>
            </a:avLst>
          </a:prstGeom>
          <a:solidFill>
            <a:srgbClr val="49B296"/>
          </a:solidFill>
          <a:ln w="12700">
            <a:solidFill>
              <a:srgbClr val="49B296"/>
            </a:solidFill>
            <a:prstDash val="solid"/>
          </a:ln>
        </p:spPr>
      </p:sp>
      <p:sp>
        <p:nvSpPr>
          <p:cNvPr id="33" name="Text 30"/>
          <p:cNvSpPr txBox="1"/>
          <p:nvPr/>
        </p:nvSpPr>
        <p:spPr>
          <a:xfrm>
            <a:off x="7388169" y="4937760"/>
            <a:ext cx="1926275"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Sử dụng chiến lược</a:t>
            </a:r>
            <a:endParaRPr lang="en-US" sz="1400" dirty="0"/>
          </a:p>
        </p:txBody>
      </p:sp>
      <p:sp>
        <p:nvSpPr>
          <p:cNvPr id="34" name="Shape 31"/>
          <p:cNvSpPr/>
          <p:nvPr/>
        </p:nvSpPr>
        <p:spPr>
          <a:xfrm>
            <a:off x="9570476" y="4937760"/>
            <a:ext cx="2072579" cy="731520"/>
          </a:xfrm>
          <a:prstGeom prst="roundRect">
            <a:avLst>
              <a:gd name="adj" fmla="val 50000"/>
            </a:avLst>
          </a:prstGeom>
          <a:solidFill>
            <a:srgbClr val="FF5178"/>
          </a:solidFill>
          <a:ln w="12700">
            <a:solidFill>
              <a:srgbClr val="FF5178"/>
            </a:solidFill>
            <a:prstDash val="solid"/>
          </a:ln>
        </p:spPr>
      </p:sp>
      <p:sp>
        <p:nvSpPr>
          <p:cNvPr id="35" name="Text 32"/>
          <p:cNvSpPr txBox="1"/>
          <p:nvPr/>
        </p:nvSpPr>
        <p:spPr>
          <a:xfrm>
            <a:off x="9643628" y="4937760"/>
            <a:ext cx="1926275"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Pháp lý – đạo đức</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Nhà tài trợ mua quyền lợi, nhà đầu tư chia sẻ rủi ro – lợi nhuận</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Định nghĩa làm việc của môn học (quyết định GV) — không phải định nghĩa chuẩn từ một nguồn học thuật.</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5</a:t>
            </a:r>
            <a:endParaRPr lang="en-US" sz="1000" dirty="0"/>
          </a:p>
        </p:txBody>
      </p:sp>
      <p:sp>
        <p:nvSpPr>
          <p:cNvPr id="19" name="Shape 16"/>
          <p:cNvSpPr/>
          <p:nvPr/>
        </p:nvSpPr>
        <p:spPr>
          <a:xfrm>
            <a:off x="2560320" y="1783080"/>
            <a:ext cx="4449928" cy="502920"/>
          </a:xfrm>
          <a:prstGeom prst="roundRect">
            <a:avLst>
              <a:gd name="adj" fmla="val 21818"/>
            </a:avLst>
          </a:prstGeom>
          <a:solidFill>
            <a:srgbClr val="962B7C"/>
          </a:solidFill>
          <a:ln w="12700">
            <a:solidFill>
              <a:srgbClr val="962B7C"/>
            </a:solidFill>
            <a:prstDash val="solid"/>
          </a:ln>
        </p:spPr>
      </p:sp>
      <p:sp>
        <p:nvSpPr>
          <p:cNvPr id="20" name="Text 17"/>
          <p:cNvSpPr txBox="1"/>
          <p:nvPr/>
        </p:nvSpPr>
        <p:spPr>
          <a:xfrm>
            <a:off x="2724912" y="1783080"/>
            <a:ext cx="4120744"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Nhà tài trợ · sponsor</a:t>
            </a:r>
            <a:endParaRPr lang="en-US" sz="1500" dirty="0"/>
          </a:p>
        </p:txBody>
      </p:sp>
      <p:sp>
        <p:nvSpPr>
          <p:cNvPr id="21" name="Shape 18"/>
          <p:cNvSpPr/>
          <p:nvPr/>
        </p:nvSpPr>
        <p:spPr>
          <a:xfrm>
            <a:off x="7101688" y="1783080"/>
            <a:ext cx="4449928" cy="502920"/>
          </a:xfrm>
          <a:prstGeom prst="roundRect">
            <a:avLst>
              <a:gd name="adj" fmla="val 21818"/>
            </a:avLst>
          </a:prstGeom>
          <a:solidFill>
            <a:srgbClr val="09A1E5"/>
          </a:solidFill>
          <a:ln w="12700">
            <a:solidFill>
              <a:srgbClr val="09A1E5"/>
            </a:solidFill>
            <a:prstDash val="solid"/>
          </a:ln>
        </p:spPr>
      </p:sp>
      <p:sp>
        <p:nvSpPr>
          <p:cNvPr id="22" name="Text 19"/>
          <p:cNvSpPr txBox="1"/>
          <p:nvPr/>
        </p:nvSpPr>
        <p:spPr>
          <a:xfrm>
            <a:off x="7266280" y="1783080"/>
            <a:ext cx="4120744"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Nhà đầu tư · investor</a:t>
            </a:r>
            <a:endParaRPr lang="en-US" sz="1500" dirty="0"/>
          </a:p>
        </p:txBody>
      </p:sp>
      <p:sp>
        <p:nvSpPr>
          <p:cNvPr id="23" name="Shape 20"/>
          <p:cNvSpPr/>
          <p:nvPr/>
        </p:nvSpPr>
        <p:spPr>
          <a:xfrm>
            <a:off x="548640" y="2395728"/>
            <a:ext cx="11002975" cy="731520"/>
          </a:xfrm>
          <a:prstGeom prst="rect">
            <a:avLst/>
          </a:prstGeom>
          <a:solidFill>
            <a:srgbClr val="F3F0E6"/>
          </a:solidFill>
          <a:ln w="12700">
            <a:solidFill>
              <a:srgbClr val="F3F0E6"/>
            </a:solidFill>
            <a:prstDash val="solid"/>
          </a:ln>
        </p:spPr>
      </p:sp>
      <p:sp>
        <p:nvSpPr>
          <p:cNvPr id="24" name="Text 21"/>
          <p:cNvSpPr txBox="1"/>
          <p:nvPr/>
        </p:nvSpPr>
        <p:spPr>
          <a:xfrm>
            <a:off x="713232" y="2395728"/>
            <a:ext cx="1682496" cy="73152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Đưa gì</a:t>
            </a:r>
            <a:endParaRPr lang="en-US" sz="1500" dirty="0"/>
          </a:p>
        </p:txBody>
      </p:sp>
      <p:sp>
        <p:nvSpPr>
          <p:cNvPr id="25" name="Text 22"/>
          <p:cNvSpPr txBox="1"/>
          <p:nvPr/>
        </p:nvSpPr>
        <p:spPr>
          <a:xfrm>
            <a:off x="2724912" y="2395728"/>
            <a:ext cx="4212184" cy="73152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Tiền, hiện vật, dịch vụ</a:t>
            </a:r>
            <a:endParaRPr lang="en-US" sz="1500" dirty="0"/>
          </a:p>
        </p:txBody>
      </p:sp>
      <p:sp>
        <p:nvSpPr>
          <p:cNvPr id="26" name="Text 23"/>
          <p:cNvSpPr txBox="1"/>
          <p:nvPr/>
        </p:nvSpPr>
        <p:spPr>
          <a:xfrm>
            <a:off x="7266280" y="2395728"/>
            <a:ext cx="4212184" cy="73152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Vốn cho sự kiện hoặc cho đơn vị sở hữu sự kiện</a:t>
            </a:r>
            <a:endParaRPr lang="en-US" sz="1500" dirty="0"/>
          </a:p>
        </p:txBody>
      </p:sp>
      <p:sp>
        <p:nvSpPr>
          <p:cNvPr id="27" name="Text 24"/>
          <p:cNvSpPr txBox="1"/>
          <p:nvPr/>
        </p:nvSpPr>
        <p:spPr>
          <a:xfrm>
            <a:off x="713232" y="3182112"/>
            <a:ext cx="1682496" cy="91440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Nhận gì</a:t>
            </a:r>
            <a:endParaRPr lang="en-US" sz="1500" dirty="0"/>
          </a:p>
        </p:txBody>
      </p:sp>
      <p:sp>
        <p:nvSpPr>
          <p:cNvPr id="28" name="Text 25"/>
          <p:cNvSpPr txBox="1"/>
          <p:nvPr/>
        </p:nvSpPr>
        <p:spPr>
          <a:xfrm>
            <a:off x="2724912" y="3182112"/>
            <a:ext cx="4212184" cy="91440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Quyền lợi đã thỏa thuận: hiển thị, kích hoạt, tiếp cận khán giả, dữ liệu</a:t>
            </a:r>
            <a:endParaRPr lang="en-US" sz="1500" dirty="0"/>
          </a:p>
        </p:txBody>
      </p:sp>
      <p:sp>
        <p:nvSpPr>
          <p:cNvPr id="29" name="Text 26"/>
          <p:cNvSpPr txBox="1"/>
          <p:nvPr/>
        </p:nvSpPr>
        <p:spPr>
          <a:xfrm>
            <a:off x="7266280" y="3182112"/>
            <a:ext cx="4212184" cy="91440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Phần lợi nhuận (hoặc lỗ) của sự kiện</a:t>
            </a:r>
            <a:endParaRPr lang="en-US" sz="1500" dirty="0"/>
          </a:p>
        </p:txBody>
      </p:sp>
      <p:sp>
        <p:nvSpPr>
          <p:cNvPr id="30" name="Shape 27"/>
          <p:cNvSpPr/>
          <p:nvPr/>
        </p:nvSpPr>
        <p:spPr>
          <a:xfrm>
            <a:off x="548640" y="4151376"/>
            <a:ext cx="11002975" cy="777240"/>
          </a:xfrm>
          <a:prstGeom prst="rect">
            <a:avLst/>
          </a:prstGeom>
          <a:solidFill>
            <a:srgbClr val="F3F0E6"/>
          </a:solidFill>
          <a:ln w="12700">
            <a:solidFill>
              <a:srgbClr val="F3F0E6"/>
            </a:solidFill>
            <a:prstDash val="solid"/>
          </a:ln>
        </p:spPr>
      </p:sp>
      <p:sp>
        <p:nvSpPr>
          <p:cNvPr id="31" name="Text 28"/>
          <p:cNvSpPr txBox="1"/>
          <p:nvPr/>
        </p:nvSpPr>
        <p:spPr>
          <a:xfrm>
            <a:off x="713232" y="4151376"/>
            <a:ext cx="1682496" cy="7772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Rủi ro</a:t>
            </a:r>
            <a:endParaRPr lang="en-US" sz="1500" dirty="0"/>
          </a:p>
        </p:txBody>
      </p:sp>
      <p:sp>
        <p:nvSpPr>
          <p:cNvPr id="32" name="Text 29"/>
          <p:cNvSpPr txBox="1"/>
          <p:nvPr/>
        </p:nvSpPr>
        <p:spPr>
          <a:xfrm>
            <a:off x="2724912" y="4151376"/>
            <a:ext cx="4212184" cy="77724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Chủ yếu rủi ro hình ảnh và hiệu quả truyền thông</a:t>
            </a:r>
            <a:endParaRPr lang="en-US" sz="1500" dirty="0"/>
          </a:p>
        </p:txBody>
      </p:sp>
      <p:sp>
        <p:nvSpPr>
          <p:cNvPr id="33" name="Text 30"/>
          <p:cNvSpPr txBox="1"/>
          <p:nvPr/>
        </p:nvSpPr>
        <p:spPr>
          <a:xfrm>
            <a:off x="7266280" y="4151376"/>
            <a:ext cx="4212184" cy="77724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Thêm rủi ro tài chính: sự kiện lỗ thì mất vốn</a:t>
            </a:r>
            <a:endParaRPr lang="en-US" sz="1500" dirty="0"/>
          </a:p>
        </p:txBody>
      </p:sp>
      <p:sp>
        <p:nvSpPr>
          <p:cNvPr id="34" name="Text 31"/>
          <p:cNvSpPr txBox="1"/>
          <p:nvPr/>
        </p:nvSpPr>
        <p:spPr>
          <a:xfrm>
            <a:off x="713232" y="4983480"/>
            <a:ext cx="1682496"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Câu hỏi chính</a:t>
            </a:r>
            <a:endParaRPr lang="en-US" sz="1500" dirty="0"/>
          </a:p>
        </p:txBody>
      </p:sp>
      <p:sp>
        <p:nvSpPr>
          <p:cNvPr id="35" name="Text 32"/>
          <p:cNvSpPr txBox="1"/>
          <p:nvPr/>
        </p:nvSpPr>
        <p:spPr>
          <a:xfrm>
            <a:off x="2724912" y="4983480"/>
            <a:ext cx="4212184"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“Quyền lợi này giúp tôi đạt mục tiêu marketing không?”</a:t>
            </a:r>
            <a:endParaRPr lang="en-US" sz="1500" dirty="0"/>
          </a:p>
        </p:txBody>
      </p:sp>
      <p:sp>
        <p:nvSpPr>
          <p:cNvPr id="36" name="Text 33"/>
          <p:cNvSpPr txBox="1"/>
          <p:nvPr/>
        </p:nvSpPr>
        <p:spPr>
          <a:xfrm>
            <a:off x="7266280" y="4983480"/>
            <a:ext cx="4212184"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“Sự kiện này có sinh lời không?”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Techcombank: từ nhà tài trợ kim cương đến “nhà đồng đầu tư”</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U08: Znews (20/1/2025); Tuổi Trẻ (3/1/2025) · U11: Tuổi Trẻ (23/1/2025). Đã kiểm chứng chéo.</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6</a:t>
            </a:r>
            <a:endParaRPr lang="en-US" sz="1000" dirty="0"/>
          </a:p>
        </p:txBody>
      </p:sp>
      <p:sp>
        <p:nvSpPr>
          <p:cNvPr id="19" name="Shape 16"/>
          <p:cNvSpPr/>
          <p:nvPr/>
        </p:nvSpPr>
        <p:spPr>
          <a:xfrm>
            <a:off x="1005840" y="2743200"/>
            <a:ext cx="6217920" cy="914"/>
          </a:xfrm>
          <a:prstGeom prst="line">
            <a:avLst/>
          </a:prstGeom>
          <a:noFill/>
          <a:ln w="38100">
            <a:solidFill>
              <a:srgbClr val="2A2238"/>
            </a:solidFill>
            <a:prstDash val="solid"/>
            <a:tailEnd type="triangle"/>
          </a:ln>
        </p:spPr>
      </p:sp>
      <p:sp>
        <p:nvSpPr>
          <p:cNvPr id="20" name="Shape 17"/>
          <p:cNvSpPr/>
          <p:nvPr/>
        </p:nvSpPr>
        <p:spPr>
          <a:xfrm>
            <a:off x="960120" y="2487168"/>
            <a:ext cx="512064" cy="512064"/>
          </a:xfrm>
          <a:prstGeom prst="ellipse">
            <a:avLst/>
          </a:prstGeom>
          <a:solidFill>
            <a:srgbClr val="962B7C"/>
          </a:solidFill>
          <a:ln w="12700">
            <a:solidFill>
              <a:srgbClr val="962B7C"/>
            </a:solidFill>
            <a:prstDash val="solid"/>
          </a:ln>
        </p:spPr>
      </p:sp>
      <p:sp>
        <p:nvSpPr>
          <p:cNvPr id="21" name="Text 18"/>
          <p:cNvSpPr txBox="1"/>
          <p:nvPr/>
        </p:nvSpPr>
        <p:spPr>
          <a:xfrm>
            <a:off x="960120" y="2487168"/>
            <a:ext cx="512064" cy="512064"/>
          </a:xfrm>
          <a:prstGeom prst="rect">
            <a:avLst/>
          </a:prstGeom>
          <a:noFill/>
          <a:ln/>
        </p:spPr>
        <p:txBody>
          <a:bodyPr wrap="square" lIns="0" tIns="0" rIns="0" bIns="0" rtlCol="0" anchor="ctr"/>
          <a:lstStyle/>
          <a:p>
            <a:pPr algn="ctr" indent="0" marL="0">
              <a:buNone/>
            </a:pPr>
            <a:endParaRPr lang="en-US" sz="1904" dirty="0"/>
          </a:p>
        </p:txBody>
      </p:sp>
      <p:sp>
        <p:nvSpPr>
          <p:cNvPr id="22" name="Text 19"/>
          <p:cNvSpPr txBox="1"/>
          <p:nvPr/>
        </p:nvSpPr>
        <p:spPr>
          <a:xfrm>
            <a:off x="1005840" y="1874520"/>
            <a:ext cx="1828800" cy="457200"/>
          </a:xfrm>
          <a:prstGeom prst="rect">
            <a:avLst/>
          </a:prstGeom>
          <a:noFill/>
          <a:ln/>
        </p:spPr>
        <p:txBody>
          <a:bodyPr wrap="square" lIns="0" tIns="0" rIns="0" bIns="0" rtlCol="0" anchor="ctr"/>
          <a:lstStyle/>
          <a:p>
            <a:pPr indent="0" marL="0">
              <a:buNone/>
            </a:pPr>
            <a:r>
              <a:rPr lang="en-US" sz="2000" b="1" dirty="0">
                <a:solidFill>
                  <a:srgbClr val="962B7C"/>
                </a:solidFill>
                <a:latin typeface="Alexandria" pitchFamily="34" charset="0"/>
                <a:ea typeface="Alexandria" pitchFamily="34" charset="-122"/>
                <a:cs typeface="Alexandria" pitchFamily="34" charset="-120"/>
              </a:rPr>
              <a:t>2024</a:t>
            </a:r>
            <a:endParaRPr lang="en-US" sz="2000" dirty="0"/>
          </a:p>
        </p:txBody>
      </p:sp>
      <p:sp>
        <p:nvSpPr>
          <p:cNvPr id="23" name="Shape 20"/>
          <p:cNvSpPr/>
          <p:nvPr/>
        </p:nvSpPr>
        <p:spPr>
          <a:xfrm>
            <a:off x="960120" y="3154680"/>
            <a:ext cx="3017520" cy="1600200"/>
          </a:xfrm>
          <a:prstGeom prst="roundRect">
            <a:avLst>
              <a:gd name="adj" fmla="val 6857"/>
            </a:avLst>
          </a:prstGeom>
          <a:solidFill>
            <a:srgbClr val="F1E1EE"/>
          </a:solidFill>
          <a:ln w="12700">
            <a:solidFill>
              <a:srgbClr val="962B7C"/>
            </a:solidFill>
            <a:prstDash val="solid"/>
          </a:ln>
        </p:spPr>
      </p:sp>
      <p:sp>
        <p:nvSpPr>
          <p:cNvPr id="24" name="Text 21"/>
          <p:cNvSpPr txBox="1"/>
          <p:nvPr/>
        </p:nvSpPr>
        <p:spPr>
          <a:xfrm>
            <a:off x="1143000" y="3246120"/>
            <a:ext cx="2651760" cy="4572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Nhà tài trợ kim cương</a:t>
            </a:r>
            <a:endParaRPr lang="en-US" sz="1600" dirty="0"/>
          </a:p>
        </p:txBody>
      </p:sp>
      <p:sp>
        <p:nvSpPr>
          <p:cNvPr id="25" name="Text 22"/>
          <p:cNvSpPr txBox="1"/>
          <p:nvPr/>
        </p:nvSpPr>
        <p:spPr>
          <a:xfrm>
            <a:off x="1143000" y="3703320"/>
            <a:ext cx="2651760" cy="96012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chương trình và các đêm concert do Yeah1 sản xuất</a:t>
            </a:r>
            <a:endParaRPr lang="en-US" sz="1300" dirty="0"/>
          </a:p>
        </p:txBody>
      </p:sp>
      <p:sp>
        <p:nvSpPr>
          <p:cNvPr id="26" name="Shape 23"/>
          <p:cNvSpPr/>
          <p:nvPr/>
        </p:nvSpPr>
        <p:spPr>
          <a:xfrm>
            <a:off x="4251960" y="2487168"/>
            <a:ext cx="512064" cy="512064"/>
          </a:xfrm>
          <a:prstGeom prst="ellipse">
            <a:avLst/>
          </a:prstGeom>
          <a:solidFill>
            <a:srgbClr val="09A1E5"/>
          </a:solidFill>
          <a:ln w="12700">
            <a:solidFill>
              <a:srgbClr val="09A1E5"/>
            </a:solidFill>
            <a:prstDash val="solid"/>
          </a:ln>
        </p:spPr>
      </p:sp>
      <p:sp>
        <p:nvSpPr>
          <p:cNvPr id="27" name="Text 24"/>
          <p:cNvSpPr txBox="1"/>
          <p:nvPr/>
        </p:nvSpPr>
        <p:spPr>
          <a:xfrm>
            <a:off x="4251960" y="2487168"/>
            <a:ext cx="512064" cy="512064"/>
          </a:xfrm>
          <a:prstGeom prst="rect">
            <a:avLst/>
          </a:prstGeom>
          <a:noFill/>
          <a:ln/>
        </p:spPr>
        <p:txBody>
          <a:bodyPr wrap="square" lIns="0" tIns="0" rIns="0" bIns="0" rtlCol="0" anchor="ctr"/>
          <a:lstStyle/>
          <a:p>
            <a:pPr algn="ctr" indent="0" marL="0">
              <a:buNone/>
            </a:pPr>
            <a:endParaRPr lang="en-US" sz="1904" dirty="0"/>
          </a:p>
        </p:txBody>
      </p:sp>
      <p:sp>
        <p:nvSpPr>
          <p:cNvPr id="28" name="Text 25"/>
          <p:cNvSpPr txBox="1"/>
          <p:nvPr/>
        </p:nvSpPr>
        <p:spPr>
          <a:xfrm>
            <a:off x="4297680" y="1874520"/>
            <a:ext cx="1828800" cy="457200"/>
          </a:xfrm>
          <a:prstGeom prst="rect">
            <a:avLst/>
          </a:prstGeom>
          <a:noFill/>
          <a:ln/>
        </p:spPr>
        <p:txBody>
          <a:bodyPr wrap="square" lIns="0" tIns="0" rIns="0" bIns="0" rtlCol="0" anchor="ctr"/>
          <a:lstStyle/>
          <a:p>
            <a:pPr indent="0" marL="0">
              <a:buNone/>
            </a:pPr>
            <a:r>
              <a:rPr lang="en-US" sz="2000" b="1" dirty="0">
                <a:solidFill>
                  <a:srgbClr val="0A7FB5"/>
                </a:solidFill>
                <a:latin typeface="Alexandria" pitchFamily="34" charset="0"/>
                <a:ea typeface="Alexandria" pitchFamily="34" charset="-122"/>
                <a:cs typeface="Alexandria" pitchFamily="34" charset="-120"/>
              </a:rPr>
              <a:t>2025</a:t>
            </a:r>
            <a:endParaRPr lang="en-US" sz="2000" dirty="0"/>
          </a:p>
        </p:txBody>
      </p:sp>
      <p:sp>
        <p:nvSpPr>
          <p:cNvPr id="29" name="Shape 26"/>
          <p:cNvSpPr/>
          <p:nvPr/>
        </p:nvSpPr>
        <p:spPr>
          <a:xfrm>
            <a:off x="4251960" y="3154680"/>
            <a:ext cx="3017520" cy="1600200"/>
          </a:xfrm>
          <a:prstGeom prst="roundRect">
            <a:avLst>
              <a:gd name="adj" fmla="val 6857"/>
            </a:avLst>
          </a:prstGeom>
          <a:solidFill>
            <a:srgbClr val="DDF1FB"/>
          </a:solidFill>
          <a:ln w="12700">
            <a:solidFill>
              <a:srgbClr val="09A1E5"/>
            </a:solidFill>
            <a:prstDash val="solid"/>
          </a:ln>
        </p:spPr>
      </p:sp>
      <p:sp>
        <p:nvSpPr>
          <p:cNvPr id="30" name="Text 27"/>
          <p:cNvSpPr txBox="1"/>
          <p:nvPr/>
        </p:nvSpPr>
        <p:spPr>
          <a:xfrm>
            <a:off x="4434840" y="3246120"/>
            <a:ext cx="2651760" cy="4572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“Nhà đồng đầu tư”</a:t>
            </a:r>
            <a:endParaRPr lang="en-US" sz="1600" dirty="0"/>
          </a:p>
        </p:txBody>
      </p:sp>
      <p:sp>
        <p:nvSpPr>
          <p:cNvPr id="31" name="Text 28"/>
          <p:cNvSpPr txBox="1"/>
          <p:nvPr/>
        </p:nvSpPr>
        <p:spPr>
          <a:xfrm>
            <a:off x="4434840" y="3703320"/>
            <a:ext cx="2651760" cy="96012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đầu tư vào Yeah1 theo hình thức mới, không phải cổ phần</a:t>
            </a:r>
            <a:endParaRPr lang="en-US" sz="1300" dirty="0"/>
          </a:p>
        </p:txBody>
      </p:sp>
      <p:sp>
        <p:nvSpPr>
          <p:cNvPr id="32" name="Shape 29"/>
          <p:cNvSpPr/>
          <p:nvPr/>
        </p:nvSpPr>
        <p:spPr>
          <a:xfrm>
            <a:off x="548640" y="4983480"/>
            <a:ext cx="6720840" cy="1051560"/>
          </a:xfrm>
          <a:prstGeom prst="roundRect">
            <a:avLst>
              <a:gd name="adj" fmla="val 10435"/>
            </a:avLst>
          </a:prstGeom>
          <a:solidFill>
            <a:srgbClr val="FFF3C4"/>
          </a:solidFill>
          <a:ln w="12700">
            <a:solidFill>
              <a:srgbClr val="FFD23B"/>
            </a:solidFill>
            <a:prstDash val="solid"/>
          </a:ln>
        </p:spPr>
      </p:sp>
      <p:sp>
        <p:nvSpPr>
          <p:cNvPr id="33" name="Text 30"/>
          <p:cNvSpPr txBox="1"/>
          <p:nvPr/>
        </p:nvSpPr>
        <p:spPr>
          <a:xfrm>
            <a:off x="822960" y="4983480"/>
            <a:ext cx="6172200" cy="1051560"/>
          </a:xfrm>
          <a:prstGeom prst="rect">
            <a:avLst/>
          </a:prstGeom>
          <a:noFill/>
          <a:ln/>
        </p:spPr>
        <p:txBody>
          <a:bodyPr wrap="square" lIns="0" tIns="0" rIns="0" bIns="0" rtlCol="0" anchor="ctr"/>
          <a:lstStyle/>
          <a:p>
            <a:pPr indent="0" marL="0">
              <a:buNone/>
            </a:pPr>
            <a:r>
              <a:rPr lang="en-US" sz="1400" i="1" dirty="0">
                <a:solidFill>
                  <a:srgbClr val="2A2238"/>
                </a:solidFill>
                <a:latin typeface="Alexandria" pitchFamily="34" charset="0"/>
                <a:ea typeface="Alexandria" pitchFamily="34" charset="-122"/>
                <a:cs typeface="Alexandria" pitchFamily="34" charset="-120"/>
              </a:rPr>
              <a:t>“…Techcombank đều sẽ đồng hành không chỉ với vai trò nhà tài trợ, mà trở thành ‘nhà đồng đầu tư’.” </a:t>
            </a:r>
            <a:pPr indent="0" marL="0">
              <a:buNone/>
            </a:pPr>
            <a:r>
              <a:rPr lang="en-US" sz="1200" dirty="0">
                <a:solidFill>
                  <a:srgbClr val="6E6878"/>
                </a:solidFill>
                <a:latin typeface="Alexandria" pitchFamily="34" charset="0"/>
                <a:ea typeface="Alexandria" pitchFamily="34" charset="-122"/>
                <a:cs typeface="Alexandria" pitchFamily="34" charset="-120"/>
              </a:rPr>
              <a:t>— Znews</a:t>
            </a:r>
            <a:endParaRPr lang="en-US" sz="1400" dirty="0"/>
          </a:p>
        </p:txBody>
      </p:sp>
      <p:sp>
        <p:nvSpPr>
          <p:cNvPr id="34" name="Shape 31"/>
          <p:cNvSpPr/>
          <p:nvPr/>
        </p:nvSpPr>
        <p:spPr>
          <a:xfrm>
            <a:off x="7635240" y="1874520"/>
            <a:ext cx="4007815" cy="4160520"/>
          </a:xfrm>
          <a:prstGeom prst="roundRect">
            <a:avLst>
              <a:gd name="adj" fmla="val 2738"/>
            </a:avLst>
          </a:prstGeom>
          <a:solidFill>
            <a:srgbClr val="FFFFFF"/>
          </a:solidFill>
          <a:ln w="12700">
            <a:solidFill>
              <a:srgbClr val="DCD7C8"/>
            </a:solidFill>
            <a:prstDash val="solid"/>
          </a:ln>
        </p:spPr>
      </p:sp>
      <p:sp>
        <p:nvSpPr>
          <p:cNvPr id="35" name="Text 32"/>
          <p:cNvSpPr txBox="1"/>
          <p:nvPr/>
        </p:nvSpPr>
        <p:spPr>
          <a:xfrm>
            <a:off x="7909560" y="2011680"/>
            <a:ext cx="3459175" cy="365760"/>
          </a:xfrm>
          <a:prstGeom prst="rect">
            <a:avLst/>
          </a:prstGeom>
          <a:noFill/>
          <a:ln/>
        </p:spPr>
        <p:txBody>
          <a:bodyPr wrap="square" lIns="0" tIns="0" rIns="0" bIns="0" rtlCol="0" anchor="ctr"/>
          <a:lstStyle/>
          <a:p>
            <a:pPr indent="0" marL="0">
              <a:buNone/>
            </a:pPr>
            <a:r>
              <a:rPr lang="en-US" sz="1300" b="1" dirty="0">
                <a:solidFill>
                  <a:srgbClr val="6E6878"/>
                </a:solidFill>
                <a:latin typeface="Alexandria" pitchFamily="34" charset="0"/>
                <a:ea typeface="Alexandria" pitchFamily="34" charset="-122"/>
                <a:cs typeface="Alexandria" pitchFamily="34" charset="-120"/>
              </a:rPr>
              <a:t>Phía được tài trợ: Yeah1, năm 2024</a:t>
            </a:r>
            <a:endParaRPr lang="en-US" sz="1300" dirty="0"/>
          </a:p>
        </p:txBody>
      </p:sp>
      <p:sp>
        <p:nvSpPr>
          <p:cNvPr id="36" name="Text 33"/>
          <p:cNvSpPr txBox="1"/>
          <p:nvPr/>
        </p:nvSpPr>
        <p:spPr>
          <a:xfrm>
            <a:off x="7909560" y="2468880"/>
            <a:ext cx="3459175" cy="822960"/>
          </a:xfrm>
          <a:prstGeom prst="rect">
            <a:avLst/>
          </a:prstGeom>
          <a:noFill/>
          <a:ln/>
        </p:spPr>
        <p:txBody>
          <a:bodyPr wrap="square" lIns="0" tIns="0" rIns="0" bIns="0" rtlCol="0" anchor="ctr"/>
          <a:lstStyle/>
          <a:p>
            <a:pPr indent="0" marL="0">
              <a:buNone/>
            </a:pPr>
            <a:r>
              <a:rPr lang="en-US" sz="4400" b="1" dirty="0">
                <a:solidFill>
                  <a:srgbClr val="962B7C"/>
                </a:solidFill>
                <a:latin typeface="Alexandria" pitchFamily="34" charset="0"/>
                <a:ea typeface="Alexandria" pitchFamily="34" charset="-122"/>
                <a:cs typeface="Alexandria" pitchFamily="34" charset="-120"/>
              </a:rPr>
              <a:t>845</a:t>
            </a:r>
            <a:pPr indent="0" marL="0">
              <a:buNone/>
            </a:pPr>
            <a:r>
              <a:rPr lang="en-US" sz="2000" b="1" dirty="0">
                <a:solidFill>
                  <a:srgbClr val="2A2238"/>
                </a:solidFill>
                <a:latin typeface="Alexandria" pitchFamily="34" charset="0"/>
                <a:ea typeface="Alexandria" pitchFamily="34" charset="-122"/>
                <a:cs typeface="Alexandria" pitchFamily="34" charset="-120"/>
              </a:rPr>
              <a:t> / 1.000+ tỷ</a:t>
            </a:r>
            <a:endParaRPr lang="en-US" sz="4400" dirty="0"/>
          </a:p>
        </p:txBody>
      </p:sp>
      <p:sp>
        <p:nvSpPr>
          <p:cNvPr id="37" name="Text 34"/>
          <p:cNvSpPr txBox="1"/>
          <p:nvPr/>
        </p:nvSpPr>
        <p:spPr>
          <a:xfrm>
            <a:off x="7909560" y="3291840"/>
            <a:ext cx="3459175" cy="68580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doanh thu từ quảng cáo và tư vấn truyền thông</a:t>
            </a:r>
            <a:endParaRPr lang="en-US" sz="1400" dirty="0"/>
          </a:p>
        </p:txBody>
      </p:sp>
      <p:sp>
        <p:nvSpPr>
          <p:cNvPr id="38" name="Text 35"/>
          <p:cNvSpPr txBox="1"/>
          <p:nvPr/>
        </p:nvSpPr>
        <p:spPr>
          <a:xfrm>
            <a:off x="7909560" y="4114800"/>
            <a:ext cx="3459175" cy="640080"/>
          </a:xfrm>
          <a:prstGeom prst="rect">
            <a:avLst/>
          </a:prstGeom>
          <a:noFill/>
          <a:ln/>
        </p:spPr>
        <p:txBody>
          <a:bodyPr wrap="square" lIns="0" tIns="0" rIns="0" bIns="0" rtlCol="0" anchor="ctr"/>
          <a:lstStyle/>
          <a:p>
            <a:pPr indent="0" marL="0">
              <a:buNone/>
            </a:pPr>
            <a:r>
              <a:rPr lang="en-US" sz="2600" b="1" dirty="0">
                <a:solidFill>
                  <a:srgbClr val="2E8A71"/>
                </a:solidFill>
                <a:latin typeface="Alexandria" pitchFamily="34" charset="0"/>
                <a:ea typeface="Alexandria" pitchFamily="34" charset="-122"/>
                <a:cs typeface="Alexandria" pitchFamily="34" charset="-120"/>
              </a:rPr>
              <a:t>126 tỷ </a:t>
            </a:r>
            <a:pPr indent="0" marL="0">
              <a:buNone/>
            </a:pPr>
            <a:r>
              <a:rPr lang="en-US" sz="1400" dirty="0">
                <a:solidFill>
                  <a:srgbClr val="2A2238"/>
                </a:solidFill>
                <a:latin typeface="Alexandria" pitchFamily="34" charset="0"/>
                <a:ea typeface="Alexandria" pitchFamily="34" charset="-122"/>
                <a:cs typeface="Alexandria" pitchFamily="34" charset="-120"/>
              </a:rPr>
              <a:t>lãi sau thuế (+378%)</a:t>
            </a:r>
            <a:endParaRPr lang="en-US" sz="2600" dirty="0"/>
          </a:p>
        </p:txBody>
      </p:sp>
      <p:sp>
        <p:nvSpPr>
          <p:cNvPr id="39" name="Shape 36"/>
          <p:cNvSpPr/>
          <p:nvPr/>
        </p:nvSpPr>
        <p:spPr>
          <a:xfrm>
            <a:off x="7909560" y="4937760"/>
            <a:ext cx="3459175" cy="868680"/>
          </a:xfrm>
          <a:prstGeom prst="roundRect">
            <a:avLst>
              <a:gd name="adj" fmla="val 12632"/>
            </a:avLst>
          </a:prstGeom>
          <a:solidFill>
            <a:srgbClr val="DDF1FB"/>
          </a:solidFill>
          <a:ln w="12700">
            <a:solidFill>
              <a:srgbClr val="DDF1FB"/>
            </a:solidFill>
            <a:prstDash val="solid"/>
          </a:ln>
        </p:spPr>
      </p:sp>
      <p:sp>
        <p:nvSpPr>
          <p:cNvPr id="40" name="Text 37"/>
          <p:cNvSpPr txBox="1"/>
          <p:nvPr/>
        </p:nvSpPr>
        <p:spPr>
          <a:xfrm>
            <a:off x="8046720" y="4937760"/>
            <a:ext cx="3184855" cy="86868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Vì sao ngân hàng muốn chuyển vai?</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Một thỏa thuận tốt có lợi cho bốn bên</a:t>
            </a:r>
            <a:endParaRPr lang="en-US" sz="2600" dirty="0"/>
          </a:p>
        </p:txBody>
      </p:sp>
      <p:sp>
        <p:nvSpPr>
          <p:cNvPr id="16" name="Text 14"/>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7</a:t>
            </a:r>
            <a:endParaRPr lang="en-US" sz="1000" dirty="0"/>
          </a:p>
        </p:txBody>
      </p:sp>
      <p:sp>
        <p:nvSpPr>
          <p:cNvPr id="18" name="Shape 15"/>
          <p:cNvSpPr/>
          <p:nvPr/>
        </p:nvSpPr>
        <p:spPr>
          <a:xfrm>
            <a:off x="3200400" y="1783080"/>
            <a:ext cx="4129888" cy="502920"/>
          </a:xfrm>
          <a:prstGeom prst="roundRect">
            <a:avLst>
              <a:gd name="adj" fmla="val 21818"/>
            </a:avLst>
          </a:prstGeom>
          <a:solidFill>
            <a:srgbClr val="FF9259"/>
          </a:solidFill>
          <a:ln w="12700">
            <a:solidFill>
              <a:srgbClr val="FF9259"/>
            </a:solidFill>
            <a:prstDash val="solid"/>
          </a:ln>
        </p:spPr>
      </p:sp>
      <p:sp>
        <p:nvSpPr>
          <p:cNvPr id="19" name="Text 16"/>
          <p:cNvSpPr txBox="1"/>
          <p:nvPr/>
        </p:nvSpPr>
        <p:spPr>
          <a:xfrm>
            <a:off x="3364992" y="1783080"/>
            <a:ext cx="3800704" cy="50292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Hữu hình</a:t>
            </a:r>
            <a:endParaRPr lang="en-US" sz="1500" dirty="0"/>
          </a:p>
        </p:txBody>
      </p:sp>
      <p:sp>
        <p:nvSpPr>
          <p:cNvPr id="20" name="Shape 17"/>
          <p:cNvSpPr/>
          <p:nvPr/>
        </p:nvSpPr>
        <p:spPr>
          <a:xfrm>
            <a:off x="7421728" y="1783080"/>
            <a:ext cx="4129888" cy="502920"/>
          </a:xfrm>
          <a:prstGeom prst="roundRect">
            <a:avLst>
              <a:gd name="adj" fmla="val 21818"/>
            </a:avLst>
          </a:prstGeom>
          <a:solidFill>
            <a:srgbClr val="962B7C"/>
          </a:solidFill>
          <a:ln w="12700">
            <a:solidFill>
              <a:srgbClr val="962B7C"/>
            </a:solidFill>
            <a:prstDash val="solid"/>
          </a:ln>
        </p:spPr>
      </p:sp>
      <p:sp>
        <p:nvSpPr>
          <p:cNvPr id="21" name="Text 18"/>
          <p:cNvSpPr txBox="1"/>
          <p:nvPr/>
        </p:nvSpPr>
        <p:spPr>
          <a:xfrm>
            <a:off x="7586320" y="1783080"/>
            <a:ext cx="3800704"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Vô hình</a:t>
            </a:r>
            <a:endParaRPr lang="en-US" sz="1500" dirty="0"/>
          </a:p>
        </p:txBody>
      </p:sp>
      <p:sp>
        <p:nvSpPr>
          <p:cNvPr id="22" name="Shape 19"/>
          <p:cNvSpPr/>
          <p:nvPr/>
        </p:nvSpPr>
        <p:spPr>
          <a:xfrm>
            <a:off x="548640" y="2395728"/>
            <a:ext cx="11002975" cy="868680"/>
          </a:xfrm>
          <a:prstGeom prst="rect">
            <a:avLst/>
          </a:prstGeom>
          <a:solidFill>
            <a:srgbClr val="F3F0E6"/>
          </a:solidFill>
          <a:ln w="12700">
            <a:solidFill>
              <a:srgbClr val="F3F0E6"/>
            </a:solidFill>
            <a:prstDash val="solid"/>
          </a:ln>
        </p:spPr>
      </p:sp>
      <p:sp>
        <p:nvSpPr>
          <p:cNvPr id="23" name="Text 20"/>
          <p:cNvSpPr txBox="1"/>
          <p:nvPr/>
        </p:nvSpPr>
        <p:spPr>
          <a:xfrm>
            <a:off x="713232" y="2395728"/>
            <a:ext cx="2322576" cy="86868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Nhà tài trợ</a:t>
            </a:r>
            <a:endParaRPr lang="en-US" sz="1400" dirty="0"/>
          </a:p>
        </p:txBody>
      </p:sp>
      <p:sp>
        <p:nvSpPr>
          <p:cNvPr id="24" name="Text 21"/>
          <p:cNvSpPr txBox="1"/>
          <p:nvPr/>
        </p:nvSpPr>
        <p:spPr>
          <a:xfrm>
            <a:off x="3364992" y="2395728"/>
            <a:ext cx="3892144"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Khách hàng tiềm năng, doanh số, dữ liệu (có đồng ý), mở tài khoản/thẻ</a:t>
            </a:r>
            <a:endParaRPr lang="en-US" sz="1400" dirty="0"/>
          </a:p>
        </p:txBody>
      </p:sp>
      <p:sp>
        <p:nvSpPr>
          <p:cNvPr id="25" name="Text 22"/>
          <p:cNvSpPr txBox="1"/>
          <p:nvPr/>
        </p:nvSpPr>
        <p:spPr>
          <a:xfrm>
            <a:off x="7586320" y="2395728"/>
            <a:ext cx="3892144"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Nhận biết, thái độ tích cực, liên tưởng hình ảnh, quan hệ đối tác</a:t>
            </a:r>
            <a:endParaRPr lang="en-US" sz="1400" dirty="0"/>
          </a:p>
        </p:txBody>
      </p:sp>
      <p:sp>
        <p:nvSpPr>
          <p:cNvPr id="26" name="Text 23"/>
          <p:cNvSpPr txBox="1"/>
          <p:nvPr/>
        </p:nvSpPr>
        <p:spPr>
          <a:xfrm>
            <a:off x="713232" y="3319272"/>
            <a:ext cx="2322576" cy="86868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Key Account (An Phát)</a:t>
            </a:r>
            <a:endParaRPr lang="en-US" sz="1400" dirty="0"/>
          </a:p>
        </p:txBody>
      </p:sp>
      <p:sp>
        <p:nvSpPr>
          <p:cNvPr id="27" name="Text 24"/>
          <p:cNvSpPr txBox="1"/>
          <p:nvPr/>
        </p:nvSpPr>
        <p:spPr>
          <a:xfrm>
            <a:off x="3364992" y="3319272"/>
            <a:ext cx="3892144"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Bù ngân sách, thêm nội dung/tiện ích cho khách</a:t>
            </a:r>
            <a:endParaRPr lang="en-US" sz="1400" dirty="0"/>
          </a:p>
        </p:txBody>
      </p:sp>
      <p:sp>
        <p:nvSpPr>
          <p:cNvPr id="28" name="Text 25"/>
          <p:cNvSpPr txBox="1"/>
          <p:nvPr/>
        </p:nvSpPr>
        <p:spPr>
          <a:xfrm>
            <a:off x="7586320" y="3319272"/>
            <a:ext cx="3892144"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Hình ảnh “hệ sinh thái đối tác”, quan hệ đối tác được củng cố</a:t>
            </a:r>
            <a:endParaRPr lang="en-US" sz="1400" dirty="0"/>
          </a:p>
        </p:txBody>
      </p:sp>
      <p:sp>
        <p:nvSpPr>
          <p:cNvPr id="29" name="Shape 26"/>
          <p:cNvSpPr/>
          <p:nvPr/>
        </p:nvSpPr>
        <p:spPr>
          <a:xfrm>
            <a:off x="548640" y="4242816"/>
            <a:ext cx="11002975" cy="868680"/>
          </a:xfrm>
          <a:prstGeom prst="rect">
            <a:avLst/>
          </a:prstGeom>
          <a:solidFill>
            <a:srgbClr val="F3F0E6"/>
          </a:solidFill>
          <a:ln w="12700">
            <a:solidFill>
              <a:srgbClr val="F3F0E6"/>
            </a:solidFill>
            <a:prstDash val="solid"/>
          </a:ln>
        </p:spPr>
      </p:sp>
      <p:sp>
        <p:nvSpPr>
          <p:cNvPr id="30" name="Text 27"/>
          <p:cNvSpPr txBox="1"/>
          <p:nvPr/>
        </p:nvSpPr>
        <p:spPr>
          <a:xfrm>
            <a:off x="713232" y="4242816"/>
            <a:ext cx="2322576" cy="86868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Khách của Key Account</a:t>
            </a:r>
            <a:endParaRPr lang="en-US" sz="1400" dirty="0"/>
          </a:p>
        </p:txBody>
      </p:sp>
      <p:sp>
        <p:nvSpPr>
          <p:cNvPr id="31" name="Text 28"/>
          <p:cNvSpPr txBox="1"/>
          <p:nvPr/>
        </p:nvSpPr>
        <p:spPr>
          <a:xfrm>
            <a:off x="3364992" y="4242816"/>
            <a:ext cx="3892144"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Quà, dịch vụ, tư vấn hữu ích</a:t>
            </a:r>
            <a:endParaRPr lang="en-US" sz="1400" dirty="0"/>
          </a:p>
        </p:txBody>
      </p:sp>
      <p:sp>
        <p:nvSpPr>
          <p:cNvPr id="32" name="Text 29"/>
          <p:cNvSpPr txBox="1"/>
          <p:nvPr/>
        </p:nvSpPr>
        <p:spPr>
          <a:xfrm>
            <a:off x="7586320" y="4242816"/>
            <a:ext cx="3892144"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Trải nghiệm tốt hơn, cảm giác được quan tâm</a:t>
            </a:r>
            <a:endParaRPr lang="en-US" sz="1400" dirty="0"/>
          </a:p>
        </p:txBody>
      </p:sp>
      <p:sp>
        <p:nvSpPr>
          <p:cNvPr id="33" name="Text 30"/>
          <p:cNvSpPr txBox="1"/>
          <p:nvPr/>
        </p:nvSpPr>
        <p:spPr>
          <a:xfrm>
            <a:off x="713232" y="5166360"/>
            <a:ext cx="2322576" cy="86868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Agency (Nova)</a:t>
            </a:r>
            <a:endParaRPr lang="en-US" sz="1400" dirty="0"/>
          </a:p>
        </p:txBody>
      </p:sp>
      <p:sp>
        <p:nvSpPr>
          <p:cNvPr id="34" name="Text 31"/>
          <p:cNvSpPr txBox="1"/>
          <p:nvPr/>
        </p:nvSpPr>
        <p:spPr>
          <a:xfrm>
            <a:off x="3364992" y="5166360"/>
            <a:ext cx="3892144"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Đủ ngân sách giữ chất lượng; phí dịch vụ kích hoạt</a:t>
            </a:r>
            <a:endParaRPr lang="en-US" sz="1400" dirty="0"/>
          </a:p>
        </p:txBody>
      </p:sp>
      <p:sp>
        <p:nvSpPr>
          <p:cNvPr id="35" name="Text 32"/>
          <p:cNvSpPr txBox="1"/>
          <p:nvPr/>
        </p:nvSpPr>
        <p:spPr>
          <a:xfrm>
            <a:off x="7586320" y="5166360"/>
            <a:ext cx="3892144"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Vị thế đối tác tạo giá trị với Key Account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Nhà tài trợ đo lợi ích bằng hành vi khách: gửi tiền, mở thẻ</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U08: Znews, Báo Đầu tư (đã KCC) · U09: Báo Đầu tư, số liệu VPBankS (chưa KCC) · U10: VnExpress, nội dung được tài trợ.</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8</a:t>
            </a:r>
            <a:endParaRPr lang="en-US" sz="1000" dirty="0"/>
          </a:p>
        </p:txBody>
      </p:sp>
      <p:sp>
        <p:nvSpPr>
          <p:cNvPr id="19" name="Shape 16"/>
          <p:cNvSpPr/>
          <p:nvPr/>
        </p:nvSpPr>
        <p:spPr>
          <a:xfrm>
            <a:off x="548640" y="1874520"/>
            <a:ext cx="3515258" cy="4114800"/>
          </a:xfrm>
          <a:prstGeom prst="roundRect">
            <a:avLst>
              <a:gd name="adj" fmla="val 3121"/>
            </a:avLst>
          </a:prstGeom>
          <a:solidFill>
            <a:srgbClr val="F1E1EE"/>
          </a:solidFill>
          <a:ln w="12700">
            <a:solidFill>
              <a:srgbClr val="962B7C"/>
            </a:solidFill>
            <a:prstDash val="solid"/>
          </a:ln>
        </p:spPr>
      </p:sp>
      <p:sp>
        <p:nvSpPr>
          <p:cNvPr id="20" name="Text 17"/>
          <p:cNvSpPr txBox="1"/>
          <p:nvPr/>
        </p:nvSpPr>
        <p:spPr>
          <a:xfrm>
            <a:off x="822960" y="2011680"/>
            <a:ext cx="2966618"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Techcombank</a:t>
            </a:r>
            <a:endParaRPr lang="en-US" sz="1600" dirty="0"/>
          </a:p>
        </p:txBody>
      </p:sp>
      <p:sp>
        <p:nvSpPr>
          <p:cNvPr id="21" name="Text 18"/>
          <p:cNvSpPr txBox="1"/>
          <p:nvPr/>
        </p:nvSpPr>
        <p:spPr>
          <a:xfrm>
            <a:off x="822960" y="2468880"/>
            <a:ext cx="2966618" cy="868680"/>
          </a:xfrm>
          <a:prstGeom prst="rect">
            <a:avLst/>
          </a:prstGeom>
          <a:noFill/>
          <a:ln/>
        </p:spPr>
        <p:txBody>
          <a:bodyPr wrap="square" lIns="0" tIns="0" rIns="0" bIns="0" rtlCol="0" anchor="ctr"/>
          <a:lstStyle/>
          <a:p>
            <a:pPr indent="0" marL="0">
              <a:buNone/>
            </a:pPr>
            <a:r>
              <a:rPr lang="en-US" sz="3600" b="1" dirty="0">
                <a:solidFill>
                  <a:srgbClr val="962B7C"/>
                </a:solidFill>
                <a:latin typeface="Alexandria" pitchFamily="34" charset="0"/>
                <a:ea typeface="Alexandria" pitchFamily="34" charset="-122"/>
                <a:cs typeface="Alexandria" pitchFamily="34" charset="-120"/>
              </a:rPr>
              <a:t>~40%</a:t>
            </a:r>
            <a:endParaRPr lang="en-US" sz="3600" dirty="0"/>
          </a:p>
        </p:txBody>
      </p:sp>
      <p:sp>
        <p:nvSpPr>
          <p:cNvPr id="22" name="Text 19"/>
          <p:cNvSpPr txBox="1"/>
          <p:nvPr/>
        </p:nvSpPr>
        <p:spPr>
          <a:xfrm>
            <a:off x="822960" y="3383280"/>
            <a:ext cx="2966618" cy="128016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tỷ lệ CASA giữ ở mức khoảng 40% — vé 0 đồng gắn với tiền gửi, sinh lời tự động</a:t>
            </a:r>
            <a:endParaRPr lang="en-US" sz="1400" dirty="0"/>
          </a:p>
        </p:txBody>
      </p:sp>
      <p:sp>
        <p:nvSpPr>
          <p:cNvPr id="23" name="Shape 20"/>
          <p:cNvSpPr/>
          <p:nvPr/>
        </p:nvSpPr>
        <p:spPr>
          <a:xfrm>
            <a:off x="822960" y="4754880"/>
            <a:ext cx="2966618" cy="502920"/>
          </a:xfrm>
          <a:prstGeom prst="roundRect">
            <a:avLst>
              <a:gd name="adj" fmla="val 50000"/>
            </a:avLst>
          </a:prstGeom>
          <a:solidFill>
            <a:srgbClr val="FFFFFF"/>
          </a:solidFill>
          <a:ln w="12700">
            <a:solidFill>
              <a:srgbClr val="962B7C"/>
            </a:solidFill>
            <a:prstDash val="solid"/>
          </a:ln>
        </p:spPr>
      </p:sp>
      <p:sp>
        <p:nvSpPr>
          <p:cNvPr id="24" name="Text 21"/>
          <p:cNvSpPr txBox="1"/>
          <p:nvPr/>
        </p:nvSpPr>
        <p:spPr>
          <a:xfrm>
            <a:off x="896112" y="4754880"/>
            <a:ext cx="2820314" cy="50292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“ở mức”, không phải “tăng”</a:t>
            </a:r>
            <a:endParaRPr lang="en-US" sz="1100" dirty="0"/>
          </a:p>
        </p:txBody>
      </p:sp>
      <p:sp>
        <p:nvSpPr>
          <p:cNvPr id="25" name="Text 22"/>
          <p:cNvSpPr txBox="1"/>
          <p:nvPr/>
        </p:nvSpPr>
        <p:spPr>
          <a:xfrm>
            <a:off x="822960" y="5394960"/>
            <a:ext cx="2966618" cy="320040"/>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U08</a:t>
            </a:r>
            <a:endParaRPr lang="en-US" sz="1100" dirty="0"/>
          </a:p>
        </p:txBody>
      </p:sp>
      <p:sp>
        <p:nvSpPr>
          <p:cNvPr id="26" name="Shape 23"/>
          <p:cNvSpPr/>
          <p:nvPr/>
        </p:nvSpPr>
        <p:spPr>
          <a:xfrm>
            <a:off x="4338218" y="1874520"/>
            <a:ext cx="3515258" cy="4114800"/>
          </a:xfrm>
          <a:prstGeom prst="roundRect">
            <a:avLst>
              <a:gd name="adj" fmla="val 3121"/>
            </a:avLst>
          </a:prstGeom>
          <a:solidFill>
            <a:srgbClr val="DDF1FB"/>
          </a:solidFill>
          <a:ln w="12700">
            <a:solidFill>
              <a:srgbClr val="09A1E5"/>
            </a:solidFill>
            <a:prstDash val="solid"/>
          </a:ln>
        </p:spPr>
      </p:sp>
      <p:sp>
        <p:nvSpPr>
          <p:cNvPr id="27" name="Text 24"/>
          <p:cNvSpPr txBox="1"/>
          <p:nvPr/>
        </p:nvSpPr>
        <p:spPr>
          <a:xfrm>
            <a:off x="4612538" y="2011680"/>
            <a:ext cx="2966618"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VIB</a:t>
            </a:r>
            <a:endParaRPr lang="en-US" sz="1600" dirty="0"/>
          </a:p>
        </p:txBody>
      </p:sp>
      <p:sp>
        <p:nvSpPr>
          <p:cNvPr id="28" name="Text 25"/>
          <p:cNvSpPr txBox="1"/>
          <p:nvPr/>
        </p:nvSpPr>
        <p:spPr>
          <a:xfrm>
            <a:off x="4612538" y="2468880"/>
            <a:ext cx="2966618" cy="868680"/>
          </a:xfrm>
          <a:prstGeom prst="rect">
            <a:avLst/>
          </a:prstGeom>
          <a:noFill/>
          <a:ln/>
        </p:spPr>
        <p:txBody>
          <a:bodyPr wrap="square" lIns="0" tIns="0" rIns="0" bIns="0" rtlCol="0" anchor="ctr"/>
          <a:lstStyle/>
          <a:p>
            <a:pPr indent="0" marL="0">
              <a:buNone/>
            </a:pPr>
            <a:r>
              <a:rPr lang="en-US" sz="3600" b="1" dirty="0">
                <a:solidFill>
                  <a:srgbClr val="0A7FB5"/>
                </a:solidFill>
                <a:latin typeface="Alexandria" pitchFamily="34" charset="0"/>
                <a:ea typeface="Alexandria" pitchFamily="34" charset="-122"/>
                <a:cs typeface="Alexandria" pitchFamily="34" charset="-120"/>
              </a:rPr>
              <a:t>+44%/năm</a:t>
            </a:r>
            <a:endParaRPr lang="en-US" sz="3600" dirty="0"/>
          </a:p>
        </p:txBody>
      </p:sp>
      <p:sp>
        <p:nvSpPr>
          <p:cNvPr id="29" name="Text 26"/>
          <p:cNvSpPr txBox="1"/>
          <p:nvPr/>
        </p:nvSpPr>
        <p:spPr>
          <a:xfrm>
            <a:off x="4612538" y="3383280"/>
            <a:ext cx="2966618" cy="128016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số thẻ tăng kép trong 6 năm (nhà tài trợ kim cương Anh trai Say Hi)</a:t>
            </a:r>
            <a:endParaRPr lang="en-US" sz="1400" dirty="0"/>
          </a:p>
        </p:txBody>
      </p:sp>
      <p:sp>
        <p:nvSpPr>
          <p:cNvPr id="30" name="Shape 27"/>
          <p:cNvSpPr/>
          <p:nvPr/>
        </p:nvSpPr>
        <p:spPr>
          <a:xfrm>
            <a:off x="4612538" y="4754880"/>
            <a:ext cx="2966618" cy="502920"/>
          </a:xfrm>
          <a:prstGeom prst="roundRect">
            <a:avLst>
              <a:gd name="adj" fmla="val 50000"/>
            </a:avLst>
          </a:prstGeom>
          <a:solidFill>
            <a:srgbClr val="FFFFFF"/>
          </a:solidFill>
          <a:ln w="12700">
            <a:solidFill>
              <a:srgbClr val="09A1E5"/>
            </a:solidFill>
            <a:prstDash val="solid"/>
          </a:ln>
        </p:spPr>
      </p:sp>
      <p:sp>
        <p:nvSpPr>
          <p:cNvPr id="31" name="Text 28"/>
          <p:cNvSpPr txBox="1"/>
          <p:nvPr/>
        </p:nvSpPr>
        <p:spPr>
          <a:xfrm>
            <a:off x="4685690" y="4754880"/>
            <a:ext cx="2820314" cy="50292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không quy hết cho tài trợ → tách tác động</a:t>
            </a:r>
            <a:endParaRPr lang="en-US" sz="1100" dirty="0"/>
          </a:p>
        </p:txBody>
      </p:sp>
      <p:sp>
        <p:nvSpPr>
          <p:cNvPr id="32" name="Text 29"/>
          <p:cNvSpPr txBox="1"/>
          <p:nvPr/>
        </p:nvSpPr>
        <p:spPr>
          <a:xfrm>
            <a:off x="4612538" y="5394960"/>
            <a:ext cx="2966618" cy="320040"/>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U09 · chưa KCC</a:t>
            </a:r>
            <a:endParaRPr lang="en-US" sz="1100" dirty="0"/>
          </a:p>
        </p:txBody>
      </p:sp>
      <p:sp>
        <p:nvSpPr>
          <p:cNvPr id="33" name="Shape 30"/>
          <p:cNvSpPr/>
          <p:nvPr/>
        </p:nvSpPr>
        <p:spPr>
          <a:xfrm>
            <a:off x="8127797" y="1874520"/>
            <a:ext cx="3515258" cy="4114800"/>
          </a:xfrm>
          <a:prstGeom prst="roundRect">
            <a:avLst>
              <a:gd name="adj" fmla="val 3121"/>
            </a:avLst>
          </a:prstGeom>
          <a:solidFill>
            <a:srgbClr val="FFE9DE"/>
          </a:solidFill>
          <a:ln w="12700">
            <a:solidFill>
              <a:srgbClr val="FF9259"/>
            </a:solidFill>
            <a:prstDash val="solid"/>
          </a:ln>
        </p:spPr>
      </p:sp>
      <p:sp>
        <p:nvSpPr>
          <p:cNvPr id="34" name="Text 31"/>
          <p:cNvSpPr txBox="1"/>
          <p:nvPr/>
        </p:nvSpPr>
        <p:spPr>
          <a:xfrm>
            <a:off x="8402117" y="2011680"/>
            <a:ext cx="2966618"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VPBank</a:t>
            </a:r>
            <a:endParaRPr lang="en-US" sz="1600" dirty="0"/>
          </a:p>
        </p:txBody>
      </p:sp>
      <p:sp>
        <p:nvSpPr>
          <p:cNvPr id="35" name="Text 32"/>
          <p:cNvSpPr txBox="1"/>
          <p:nvPr/>
        </p:nvSpPr>
        <p:spPr>
          <a:xfrm>
            <a:off x="8402117" y="2468880"/>
            <a:ext cx="2966618" cy="868680"/>
          </a:xfrm>
          <a:prstGeom prst="rect">
            <a:avLst/>
          </a:prstGeom>
          <a:noFill/>
          <a:ln/>
        </p:spPr>
        <p:txBody>
          <a:bodyPr wrap="square" lIns="0" tIns="0" rIns="0" bIns="0" rtlCol="0" anchor="ctr"/>
          <a:lstStyle/>
          <a:p>
            <a:pPr indent="0" marL="0">
              <a:buNone/>
            </a:pPr>
            <a:r>
              <a:rPr lang="en-US" sz="3600" b="1" dirty="0">
                <a:solidFill>
                  <a:srgbClr val="D9622B"/>
                </a:solidFill>
                <a:latin typeface="Alexandria" pitchFamily="34" charset="0"/>
                <a:ea typeface="Alexandria" pitchFamily="34" charset="-122"/>
                <a:cs typeface="Alexandria" pitchFamily="34" charset="-120"/>
              </a:rPr>
              <a:t>sớm 1 ngày</a:t>
            </a:r>
            <a:endParaRPr lang="en-US" sz="3600" dirty="0"/>
          </a:p>
        </p:txBody>
      </p:sp>
      <p:sp>
        <p:nvSpPr>
          <p:cNvPr id="36" name="Text 33"/>
          <p:cNvSpPr txBox="1"/>
          <p:nvPr/>
        </p:nvSpPr>
        <p:spPr>
          <a:xfrm>
            <a:off x="8402117" y="3383280"/>
            <a:ext cx="2966618" cy="128016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chủ thẻ VPBank Mastercard được mua vé tour G-Dragon trước (title sponsor)</a:t>
            </a:r>
            <a:endParaRPr lang="en-US" sz="1400" dirty="0"/>
          </a:p>
        </p:txBody>
      </p:sp>
      <p:sp>
        <p:nvSpPr>
          <p:cNvPr id="37" name="Shape 34"/>
          <p:cNvSpPr/>
          <p:nvPr/>
        </p:nvSpPr>
        <p:spPr>
          <a:xfrm>
            <a:off x="8402117" y="4754880"/>
            <a:ext cx="2966618" cy="502920"/>
          </a:xfrm>
          <a:prstGeom prst="roundRect">
            <a:avLst>
              <a:gd name="adj" fmla="val 50000"/>
            </a:avLst>
          </a:prstGeom>
          <a:solidFill>
            <a:srgbClr val="FFFFFF"/>
          </a:solidFill>
          <a:ln w="12700">
            <a:solidFill>
              <a:srgbClr val="FF9259"/>
            </a:solidFill>
            <a:prstDash val="solid"/>
          </a:ln>
        </p:spPr>
      </p:sp>
      <p:sp>
        <p:nvSpPr>
          <p:cNvPr id="38" name="Text 35"/>
          <p:cNvSpPr txBox="1"/>
          <p:nvPr/>
        </p:nvSpPr>
        <p:spPr>
          <a:xfrm>
            <a:off x="8475269" y="4754880"/>
            <a:ext cx="2820314" cy="50292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quyền lợi gắn với mở thẻ</a:t>
            </a:r>
            <a:endParaRPr lang="en-US" sz="1100" dirty="0"/>
          </a:p>
        </p:txBody>
      </p:sp>
      <p:sp>
        <p:nvSpPr>
          <p:cNvPr id="39" name="Text 36"/>
          <p:cNvSpPr txBox="1"/>
          <p:nvPr/>
        </p:nvSpPr>
        <p:spPr>
          <a:xfrm>
            <a:off x="8402117" y="5394960"/>
            <a:ext cx="2966618" cy="320040"/>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U10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Ở Việt Nam, nhà tài trợ quyết định sự kiện có khả thi hay không</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U14: Nhân Dân (7/9/2026) · U15: Amex GBT, 2026 Global Meetings &amp; Events Forecast. Cả hai chưa kiểm chứng chéo.</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9</a:t>
            </a:r>
            <a:endParaRPr lang="en-US" sz="1000" dirty="0"/>
          </a:p>
        </p:txBody>
      </p:sp>
      <p:sp>
        <p:nvSpPr>
          <p:cNvPr id="19" name="Shape 16"/>
          <p:cNvSpPr/>
          <p:nvPr/>
        </p:nvSpPr>
        <p:spPr>
          <a:xfrm>
            <a:off x="548640" y="1920240"/>
            <a:ext cx="3566160" cy="3977640"/>
          </a:xfrm>
          <a:prstGeom prst="roundRect">
            <a:avLst>
              <a:gd name="adj" fmla="val 3077"/>
            </a:avLst>
          </a:prstGeom>
          <a:solidFill>
            <a:srgbClr val="FFE4EA"/>
          </a:solidFill>
          <a:ln w="12700">
            <a:solidFill>
              <a:srgbClr val="FFE4EA"/>
            </a:solidFill>
            <a:prstDash val="solid"/>
          </a:ln>
        </p:spPr>
      </p:sp>
      <p:sp>
        <p:nvSpPr>
          <p:cNvPr id="20" name="Text 17"/>
          <p:cNvSpPr txBox="1"/>
          <p:nvPr/>
        </p:nvSpPr>
        <p:spPr>
          <a:xfrm>
            <a:off x="822960" y="2194560"/>
            <a:ext cx="3017520" cy="1097280"/>
          </a:xfrm>
          <a:prstGeom prst="rect">
            <a:avLst/>
          </a:prstGeom>
          <a:noFill/>
          <a:ln/>
        </p:spPr>
        <p:txBody>
          <a:bodyPr wrap="square" lIns="0" tIns="0" rIns="0" bIns="0" rtlCol="0" anchor="ctr"/>
          <a:lstStyle/>
          <a:p>
            <a:pPr indent="0" marL="0">
              <a:buNone/>
            </a:pPr>
            <a:r>
              <a:rPr lang="en-US" sz="5200" b="1" dirty="0">
                <a:solidFill>
                  <a:srgbClr val="E03A62"/>
                </a:solidFill>
                <a:latin typeface="Alexandria" pitchFamily="34" charset="0"/>
                <a:ea typeface="Alexandria" pitchFamily="34" charset="-122"/>
                <a:cs typeface="Alexandria" pitchFamily="34" charset="-120"/>
              </a:rPr>
              <a:t>≥ 50%</a:t>
            </a:r>
            <a:endParaRPr lang="en-US" sz="5200" dirty="0"/>
          </a:p>
        </p:txBody>
      </p:sp>
      <p:sp>
        <p:nvSpPr>
          <p:cNvPr id="21" name="Text 18"/>
          <p:cNvSpPr txBox="1"/>
          <p:nvPr/>
        </p:nvSpPr>
        <p:spPr>
          <a:xfrm>
            <a:off x="822960" y="3429000"/>
            <a:ext cx="3017520" cy="164592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chi phí liveshow, concert tầm trung nên do nhà tài trợ gánh — theo một số bầu show</a:t>
            </a:r>
            <a:endParaRPr lang="en-US" sz="1600" dirty="0"/>
          </a:p>
        </p:txBody>
      </p:sp>
      <p:sp>
        <p:nvSpPr>
          <p:cNvPr id="22" name="Text 19"/>
          <p:cNvSpPr txBox="1"/>
          <p:nvPr/>
        </p:nvSpPr>
        <p:spPr>
          <a:xfrm>
            <a:off x="822960" y="5303520"/>
            <a:ext cx="3017520" cy="320040"/>
          </a:xfrm>
          <a:prstGeom prst="rect">
            <a:avLst/>
          </a:prstGeom>
          <a:noFill/>
          <a:ln/>
        </p:spPr>
        <p:txBody>
          <a:bodyPr wrap="square" lIns="0" tIns="0" rIns="0" bIns="0" rtlCol="0" anchor="ctr"/>
          <a:lstStyle/>
          <a:p>
            <a:pPr indent="0" marL="0">
              <a:buNone/>
            </a:pPr>
            <a:r>
              <a:rPr lang="en-US" sz="1200" dirty="0">
                <a:solidFill>
                  <a:srgbClr val="6E6878"/>
                </a:solidFill>
                <a:latin typeface="Alexandria" pitchFamily="34" charset="0"/>
                <a:ea typeface="Alexandria" pitchFamily="34" charset="-122"/>
                <a:cs typeface="Alexandria" pitchFamily="34" charset="-120"/>
              </a:rPr>
              <a:t>U14</a:t>
            </a:r>
            <a:endParaRPr lang="en-US" sz="1200" dirty="0"/>
          </a:p>
        </p:txBody>
      </p:sp>
      <p:sp>
        <p:nvSpPr>
          <p:cNvPr id="23" name="Shape 20"/>
          <p:cNvSpPr/>
          <p:nvPr/>
        </p:nvSpPr>
        <p:spPr>
          <a:xfrm>
            <a:off x="4389120" y="1920240"/>
            <a:ext cx="3566160" cy="3977640"/>
          </a:xfrm>
          <a:prstGeom prst="roundRect">
            <a:avLst>
              <a:gd name="adj" fmla="val 3077"/>
            </a:avLst>
          </a:prstGeom>
          <a:solidFill>
            <a:srgbClr val="DDF1FB"/>
          </a:solidFill>
          <a:ln w="12700">
            <a:solidFill>
              <a:srgbClr val="DDF1FB"/>
            </a:solidFill>
            <a:prstDash val="solid"/>
          </a:ln>
        </p:spPr>
      </p:sp>
      <p:sp>
        <p:nvSpPr>
          <p:cNvPr id="24" name="Text 21"/>
          <p:cNvSpPr txBox="1"/>
          <p:nvPr/>
        </p:nvSpPr>
        <p:spPr>
          <a:xfrm>
            <a:off x="4663440" y="2194560"/>
            <a:ext cx="3017520" cy="1097280"/>
          </a:xfrm>
          <a:prstGeom prst="rect">
            <a:avLst/>
          </a:prstGeom>
          <a:noFill/>
          <a:ln/>
        </p:spPr>
        <p:txBody>
          <a:bodyPr wrap="square" lIns="0" tIns="0" rIns="0" bIns="0" rtlCol="0" anchor="ctr"/>
          <a:lstStyle/>
          <a:p>
            <a:pPr indent="0" marL="0">
              <a:buNone/>
            </a:pPr>
            <a:r>
              <a:rPr lang="en-US" sz="5200" b="1" dirty="0">
                <a:solidFill>
                  <a:srgbClr val="0A7FB5"/>
                </a:solidFill>
                <a:latin typeface="Alexandria" pitchFamily="34" charset="0"/>
                <a:ea typeface="Alexandria" pitchFamily="34" charset="-122"/>
                <a:cs typeface="Alexandria" pitchFamily="34" charset="-120"/>
              </a:rPr>
              <a:t>35%</a:t>
            </a:r>
            <a:endParaRPr lang="en-US" sz="5200" dirty="0"/>
          </a:p>
        </p:txBody>
      </p:sp>
      <p:sp>
        <p:nvSpPr>
          <p:cNvPr id="25" name="Text 22"/>
          <p:cNvSpPr txBox="1"/>
          <p:nvPr/>
        </p:nvSpPr>
        <p:spPr>
          <a:xfrm>
            <a:off x="4663440" y="3429000"/>
            <a:ext cx="3017520" cy="164592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chuyên gia sự kiện trên thế giới tìm thêm nguồn tài trợ trước áp lực chi phí</a:t>
            </a:r>
            <a:endParaRPr lang="en-US" sz="1600" dirty="0"/>
          </a:p>
        </p:txBody>
      </p:sp>
      <p:sp>
        <p:nvSpPr>
          <p:cNvPr id="26" name="Text 23"/>
          <p:cNvSpPr txBox="1"/>
          <p:nvPr/>
        </p:nvSpPr>
        <p:spPr>
          <a:xfrm>
            <a:off x="4663440" y="5303520"/>
            <a:ext cx="3017520" cy="320040"/>
          </a:xfrm>
          <a:prstGeom prst="rect">
            <a:avLst/>
          </a:prstGeom>
          <a:noFill/>
          <a:ln/>
        </p:spPr>
        <p:txBody>
          <a:bodyPr wrap="square" lIns="0" tIns="0" rIns="0" bIns="0" rtlCol="0" anchor="ctr"/>
          <a:lstStyle/>
          <a:p>
            <a:pPr indent="0" marL="0">
              <a:buNone/>
            </a:pPr>
            <a:r>
              <a:rPr lang="en-US" sz="1200" dirty="0">
                <a:solidFill>
                  <a:srgbClr val="6E6878"/>
                </a:solidFill>
                <a:latin typeface="Alexandria" pitchFamily="34" charset="0"/>
                <a:ea typeface="Alexandria" pitchFamily="34" charset="-122"/>
                <a:cs typeface="Alexandria" pitchFamily="34" charset="-120"/>
              </a:rPr>
              <a:t>U15</a:t>
            </a:r>
            <a:endParaRPr lang="en-US" sz="1200" dirty="0"/>
          </a:p>
        </p:txBody>
      </p:sp>
      <p:sp>
        <p:nvSpPr>
          <p:cNvPr id="27" name="Shape 24"/>
          <p:cNvSpPr/>
          <p:nvPr/>
        </p:nvSpPr>
        <p:spPr>
          <a:xfrm>
            <a:off x="8229600" y="1920240"/>
            <a:ext cx="3413455" cy="3977640"/>
          </a:xfrm>
          <a:prstGeom prst="roundRect">
            <a:avLst>
              <a:gd name="adj" fmla="val 3215"/>
            </a:avLst>
          </a:prstGeom>
          <a:solidFill>
            <a:srgbClr val="FFF3C4"/>
          </a:solidFill>
          <a:ln w="12700">
            <a:solidFill>
              <a:srgbClr val="FFD23B"/>
            </a:solidFill>
            <a:prstDash val="solid"/>
          </a:ln>
        </p:spPr>
      </p:sp>
      <p:sp>
        <p:nvSpPr>
          <p:cNvPr id="28" name="Text 25"/>
          <p:cNvSpPr txBox="1"/>
          <p:nvPr/>
        </p:nvSpPr>
        <p:spPr>
          <a:xfrm>
            <a:off x="8503920" y="2148840"/>
            <a:ext cx="2864815" cy="411480"/>
          </a:xfrm>
          <a:prstGeom prst="rect">
            <a:avLst/>
          </a:prstGeom>
          <a:noFill/>
          <a:ln/>
        </p:spPr>
        <p:txBody>
          <a:bodyPr wrap="square" lIns="0" tIns="0" rIns="0" bIns="0" rtlCol="0" anchor="ctr"/>
          <a:lstStyle/>
          <a:p>
            <a:pPr indent="0" marL="0">
              <a:buNone/>
            </a:pPr>
            <a:r>
              <a:rPr lang="en-US" sz="1500" b="1" dirty="0">
                <a:solidFill>
                  <a:srgbClr val="6E6878"/>
                </a:solidFill>
                <a:latin typeface="Alexandria" pitchFamily="34" charset="0"/>
                <a:ea typeface="Alexandria" pitchFamily="34" charset="-122"/>
                <a:cs typeface="Alexandria" pitchFamily="34" charset="-120"/>
              </a:rPr>
              <a:t>Nối Buổi 1</a:t>
            </a:r>
            <a:endParaRPr lang="en-US" sz="1500" dirty="0"/>
          </a:p>
        </p:txBody>
      </p:sp>
      <p:sp>
        <p:nvSpPr>
          <p:cNvPr id="29" name="Text 26"/>
          <p:cNvSpPr txBox="1"/>
          <p:nvPr/>
        </p:nvSpPr>
        <p:spPr>
          <a:xfrm>
            <a:off x="8503920" y="2606040"/>
            <a:ext cx="2864815" cy="1097280"/>
          </a:xfrm>
          <a:prstGeom prst="rect">
            <a:avLst/>
          </a:prstGeom>
          <a:noFill/>
          <a:ln/>
        </p:spPr>
        <p:txBody>
          <a:bodyPr wrap="square" lIns="0" tIns="0" rIns="0" bIns="0" rtlCol="0" anchor="t"/>
          <a:lstStyle/>
          <a:p>
            <a:pPr indent="0" marL="0">
              <a:buNone/>
            </a:pPr>
            <a:r>
              <a:rPr lang="en-US" sz="2100" b="1" dirty="0">
                <a:solidFill>
                  <a:srgbClr val="2A2238"/>
                </a:solidFill>
                <a:latin typeface="Alexandria" pitchFamily="34" charset="0"/>
                <a:ea typeface="Alexandria" pitchFamily="34" charset="-122"/>
                <a:cs typeface="Alexandria" pitchFamily="34" charset="-120"/>
              </a:rPr>
              <a:t>Primary hay secondary tùy bối cảnh</a:t>
            </a:r>
            <a:endParaRPr lang="en-US" sz="2100" dirty="0"/>
          </a:p>
        </p:txBody>
      </p:sp>
      <p:sp>
        <p:nvSpPr>
          <p:cNvPr id="30" name="Text 27"/>
          <p:cNvSpPr txBox="1"/>
          <p:nvPr/>
        </p:nvSpPr>
        <p:spPr>
          <a:xfrm>
            <a:off x="8503920" y="3840480"/>
            <a:ext cx="2864815" cy="164592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Khi ngân sách phụ thuộc vào nhà tài trợ, họ trở thành bên liên quan primary.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trợ là chuyển giao hình ảnh hai chiều</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U12: Tuổi Trẻ; Công an Nhân dân (7/3/2025). Đã kiểm chứng chéo.</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10</a:t>
            </a:r>
            <a:endParaRPr lang="en-US" sz="1000" dirty="0"/>
          </a:p>
        </p:txBody>
      </p:sp>
      <p:sp>
        <p:nvSpPr>
          <p:cNvPr id="19" name="Shape 16"/>
          <p:cNvSpPr/>
          <p:nvPr/>
        </p:nvSpPr>
        <p:spPr>
          <a:xfrm>
            <a:off x="548640" y="2011680"/>
            <a:ext cx="2743200" cy="822960"/>
          </a:xfrm>
          <a:prstGeom prst="roundRect">
            <a:avLst>
              <a:gd name="adj" fmla="val 50000"/>
            </a:avLst>
          </a:prstGeom>
          <a:solidFill>
            <a:srgbClr val="962B7C"/>
          </a:solidFill>
          <a:ln w="12700">
            <a:solidFill>
              <a:srgbClr val="962B7C"/>
            </a:solidFill>
            <a:prstDash val="solid"/>
          </a:ln>
        </p:spPr>
      </p:sp>
      <p:sp>
        <p:nvSpPr>
          <p:cNvPr id="20" name="Text 17"/>
          <p:cNvSpPr txBox="1"/>
          <p:nvPr/>
        </p:nvSpPr>
        <p:spPr>
          <a:xfrm>
            <a:off x="621792" y="2011680"/>
            <a:ext cx="2596896"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Thương hiệu</a:t>
            </a:r>
            <a:endParaRPr lang="en-US" sz="1800" dirty="0"/>
          </a:p>
        </p:txBody>
      </p:sp>
      <p:sp>
        <p:nvSpPr>
          <p:cNvPr id="21" name="Shape 18"/>
          <p:cNvSpPr/>
          <p:nvPr/>
        </p:nvSpPr>
        <p:spPr>
          <a:xfrm>
            <a:off x="4572000" y="2011680"/>
            <a:ext cx="2743200" cy="822960"/>
          </a:xfrm>
          <a:prstGeom prst="roundRect">
            <a:avLst>
              <a:gd name="adj" fmla="val 50000"/>
            </a:avLst>
          </a:prstGeom>
          <a:solidFill>
            <a:srgbClr val="09A1E5"/>
          </a:solidFill>
          <a:ln w="12700">
            <a:solidFill>
              <a:srgbClr val="09A1E5"/>
            </a:solidFill>
            <a:prstDash val="solid"/>
          </a:ln>
        </p:spPr>
      </p:sp>
      <p:sp>
        <p:nvSpPr>
          <p:cNvPr id="22" name="Text 19"/>
          <p:cNvSpPr txBox="1"/>
          <p:nvPr/>
        </p:nvSpPr>
        <p:spPr>
          <a:xfrm>
            <a:off x="4645152" y="2011680"/>
            <a:ext cx="2596896"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Sự kiện</a:t>
            </a:r>
            <a:endParaRPr lang="en-US" sz="1800" dirty="0"/>
          </a:p>
        </p:txBody>
      </p:sp>
      <p:sp>
        <p:nvSpPr>
          <p:cNvPr id="23" name="Shape 20"/>
          <p:cNvSpPr/>
          <p:nvPr/>
        </p:nvSpPr>
        <p:spPr>
          <a:xfrm>
            <a:off x="3383280" y="2286000"/>
            <a:ext cx="1097280" cy="914"/>
          </a:xfrm>
          <a:prstGeom prst="line">
            <a:avLst/>
          </a:prstGeom>
          <a:noFill/>
          <a:ln w="31750">
            <a:solidFill>
              <a:srgbClr val="2A2238"/>
            </a:solidFill>
            <a:prstDash val="solid"/>
            <a:tailEnd type="triangle"/>
          </a:ln>
        </p:spPr>
      </p:sp>
      <p:sp>
        <p:nvSpPr>
          <p:cNvPr id="24" name="Shape 21"/>
          <p:cNvSpPr/>
          <p:nvPr/>
        </p:nvSpPr>
        <p:spPr>
          <a:xfrm flipH="1">
            <a:off x="3383280" y="2578608"/>
            <a:ext cx="1097280" cy="914"/>
          </a:xfrm>
          <a:prstGeom prst="line">
            <a:avLst/>
          </a:prstGeom>
          <a:noFill/>
          <a:ln w="31750">
            <a:solidFill>
              <a:srgbClr val="2A2238"/>
            </a:solidFill>
            <a:prstDash val="solid"/>
            <a:tailEnd type="triangle"/>
          </a:ln>
        </p:spPr>
      </p:sp>
      <p:sp>
        <p:nvSpPr>
          <p:cNvPr id="25" name="Text 22"/>
          <p:cNvSpPr txBox="1"/>
          <p:nvPr/>
        </p:nvSpPr>
        <p:spPr>
          <a:xfrm>
            <a:off x="548640" y="2971800"/>
            <a:ext cx="6766560" cy="365760"/>
          </a:xfrm>
          <a:prstGeom prst="rect">
            <a:avLst/>
          </a:prstGeom>
          <a:noFill/>
          <a:ln/>
        </p:spPr>
        <p:txBody>
          <a:bodyPr wrap="square" lIns="0" tIns="0" rIns="0" bIns="0" rtlCol="0" anchor="ctr"/>
          <a:lstStyle/>
          <a:p>
            <a:pPr algn="ctr" indent="0" marL="0">
              <a:buNone/>
            </a:pPr>
            <a:r>
              <a:rPr lang="en-US" sz="1400" i="1" dirty="0">
                <a:solidFill>
                  <a:srgbClr val="6E6878"/>
                </a:solidFill>
                <a:latin typeface="Alexandria" pitchFamily="34" charset="0"/>
                <a:ea typeface="Alexandria" pitchFamily="34" charset="-122"/>
                <a:cs typeface="Alexandria" pitchFamily="34" charset="-120"/>
              </a:rPr>
              <a:t>hình ảnh đi cả hai chiều — tốt lẫn xấu</a:t>
            </a:r>
            <a:endParaRPr lang="en-US" sz="1400" dirty="0"/>
          </a:p>
        </p:txBody>
      </p:sp>
      <p:sp>
        <p:nvSpPr>
          <p:cNvPr id="26" name="Text 23"/>
          <p:cNvSpPr txBox="1"/>
          <p:nvPr/>
        </p:nvSpPr>
        <p:spPr>
          <a:xfrm>
            <a:off x="548640" y="3611880"/>
            <a:ext cx="6766560" cy="365760"/>
          </a:xfrm>
          <a:prstGeom prst="rect">
            <a:avLst/>
          </a:prstGeom>
          <a:noFill/>
          <a:ln/>
        </p:spPr>
        <p:txBody>
          <a:bodyPr wrap="square" lIns="0" tIns="0" rIns="0" bIns="0" rtlCol="0" anchor="ctr"/>
          <a:lstStyle/>
          <a:p>
            <a:pPr indent="0" marL="0">
              <a:buNone/>
            </a:pPr>
            <a:r>
              <a:rPr lang="en-US" sz="1500" b="1" dirty="0">
                <a:solidFill>
                  <a:srgbClr val="E03A62"/>
                </a:solidFill>
                <a:latin typeface="Alexandria" pitchFamily="34" charset="0"/>
                <a:ea typeface="Alexandria" pitchFamily="34" charset="-122"/>
                <a:cs typeface="Alexandria" pitchFamily="34" charset="-120"/>
              </a:rPr>
              <a:t>Happy Day Concert · Đà Lạt · 3/2025</a:t>
            </a:r>
            <a:endParaRPr lang="en-US" sz="1500" dirty="0"/>
          </a:p>
        </p:txBody>
      </p:sp>
      <p:sp>
        <p:nvSpPr>
          <p:cNvPr id="27" name="Shape 24"/>
          <p:cNvSpPr/>
          <p:nvPr/>
        </p:nvSpPr>
        <p:spPr>
          <a:xfrm>
            <a:off x="548640" y="4069080"/>
            <a:ext cx="2011680" cy="1645920"/>
          </a:xfrm>
          <a:prstGeom prst="roundRect">
            <a:avLst>
              <a:gd name="adj" fmla="val 6667"/>
            </a:avLst>
          </a:prstGeom>
          <a:solidFill>
            <a:srgbClr val="FFFFFF"/>
          </a:solidFill>
          <a:ln w="19050">
            <a:solidFill>
              <a:srgbClr val="FF9259"/>
            </a:solidFill>
            <a:prstDash val="solid"/>
          </a:ln>
        </p:spPr>
      </p:sp>
      <p:sp>
        <p:nvSpPr>
          <p:cNvPr id="28" name="Shape 25"/>
          <p:cNvSpPr/>
          <p:nvPr/>
        </p:nvSpPr>
        <p:spPr>
          <a:xfrm>
            <a:off x="731520" y="4206240"/>
            <a:ext cx="411480" cy="411480"/>
          </a:xfrm>
          <a:prstGeom prst="ellipse">
            <a:avLst/>
          </a:prstGeom>
          <a:solidFill>
            <a:srgbClr val="FF9259"/>
          </a:solidFill>
          <a:ln w="12700">
            <a:solidFill>
              <a:srgbClr val="FF9259"/>
            </a:solidFill>
            <a:prstDash val="solid"/>
          </a:ln>
        </p:spPr>
      </p:sp>
      <p:sp>
        <p:nvSpPr>
          <p:cNvPr id="29" name="Text 26"/>
          <p:cNvSpPr txBox="1"/>
          <p:nvPr/>
        </p:nvSpPr>
        <p:spPr>
          <a:xfrm>
            <a:off x="731520" y="4206240"/>
            <a:ext cx="411480" cy="4114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1</a:t>
            </a:r>
            <a:endParaRPr lang="en-US" sz="1400" dirty="0"/>
          </a:p>
        </p:txBody>
      </p:sp>
      <p:sp>
        <p:nvSpPr>
          <p:cNvPr id="30" name="Text 27"/>
          <p:cNvSpPr txBox="1"/>
          <p:nvPr/>
        </p:nvSpPr>
        <p:spPr>
          <a:xfrm>
            <a:off x="731520" y="4709160"/>
            <a:ext cx="1645920" cy="914400"/>
          </a:xfrm>
          <a:prstGeom prst="rect">
            <a:avLst/>
          </a:prstGeom>
          <a:noFill/>
          <a:ln/>
        </p:spPr>
        <p:txBody>
          <a:bodyPr wrap="square" lIns="0" tIns="0" rIns="0" bIns="0" rtlCol="0" anchor="t"/>
          <a:lstStyle/>
          <a:p>
            <a:pPr indent="0" marL="0">
              <a:buNone/>
            </a:pPr>
            <a:r>
              <a:rPr lang="en-US" sz="1300" b="1" dirty="0">
                <a:solidFill>
                  <a:srgbClr val="2A2238"/>
                </a:solidFill>
                <a:latin typeface="Alexandria" pitchFamily="34" charset="0"/>
                <a:ea typeface="Alexandria" pitchFamily="34" charset="-122"/>
                <a:cs typeface="Alexandria" pitchFamily="34" charset="-120"/>
              </a:rPr>
              <a:t>Thương hiệu bị trang cờ bạc cắt ghép, giả mạo</a:t>
            </a:r>
            <a:endParaRPr lang="en-US" sz="1300" dirty="0"/>
          </a:p>
        </p:txBody>
      </p:sp>
      <p:sp>
        <p:nvSpPr>
          <p:cNvPr id="31" name="Shape 28"/>
          <p:cNvSpPr/>
          <p:nvPr/>
        </p:nvSpPr>
        <p:spPr>
          <a:xfrm>
            <a:off x="2606040" y="4892040"/>
            <a:ext cx="274320" cy="914"/>
          </a:xfrm>
          <a:prstGeom prst="line">
            <a:avLst/>
          </a:prstGeom>
          <a:noFill/>
          <a:ln w="25400">
            <a:solidFill>
              <a:srgbClr val="2A2238"/>
            </a:solidFill>
            <a:prstDash val="solid"/>
            <a:tailEnd type="triangle"/>
          </a:ln>
        </p:spPr>
      </p:sp>
      <p:sp>
        <p:nvSpPr>
          <p:cNvPr id="32" name="Shape 29"/>
          <p:cNvSpPr/>
          <p:nvPr/>
        </p:nvSpPr>
        <p:spPr>
          <a:xfrm>
            <a:off x="2926080" y="4069080"/>
            <a:ext cx="2011680" cy="1645920"/>
          </a:xfrm>
          <a:prstGeom prst="roundRect">
            <a:avLst>
              <a:gd name="adj" fmla="val 6667"/>
            </a:avLst>
          </a:prstGeom>
          <a:solidFill>
            <a:srgbClr val="FFFFFF"/>
          </a:solidFill>
          <a:ln w="19050">
            <a:solidFill>
              <a:srgbClr val="FF5178"/>
            </a:solidFill>
            <a:prstDash val="solid"/>
          </a:ln>
        </p:spPr>
      </p:sp>
      <p:sp>
        <p:nvSpPr>
          <p:cNvPr id="33" name="Shape 30"/>
          <p:cNvSpPr/>
          <p:nvPr/>
        </p:nvSpPr>
        <p:spPr>
          <a:xfrm>
            <a:off x="3108960" y="4206240"/>
            <a:ext cx="411480" cy="411480"/>
          </a:xfrm>
          <a:prstGeom prst="ellipse">
            <a:avLst/>
          </a:prstGeom>
          <a:solidFill>
            <a:srgbClr val="FF5178"/>
          </a:solidFill>
          <a:ln w="12700">
            <a:solidFill>
              <a:srgbClr val="FF5178"/>
            </a:solidFill>
            <a:prstDash val="solid"/>
          </a:ln>
        </p:spPr>
      </p:sp>
      <p:sp>
        <p:nvSpPr>
          <p:cNvPr id="34" name="Text 31"/>
          <p:cNvSpPr txBox="1"/>
          <p:nvPr/>
        </p:nvSpPr>
        <p:spPr>
          <a:xfrm>
            <a:off x="3108960" y="4206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2</a:t>
            </a:r>
            <a:endParaRPr lang="en-US" sz="1400" dirty="0"/>
          </a:p>
        </p:txBody>
      </p:sp>
      <p:sp>
        <p:nvSpPr>
          <p:cNvPr id="35" name="Text 32"/>
          <p:cNvSpPr txBox="1"/>
          <p:nvPr/>
        </p:nvSpPr>
        <p:spPr>
          <a:xfrm>
            <a:off x="3108960" y="4709160"/>
            <a:ext cx="1645920" cy="914400"/>
          </a:xfrm>
          <a:prstGeom prst="rect">
            <a:avLst/>
          </a:prstGeom>
          <a:noFill/>
          <a:ln/>
        </p:spPr>
        <p:txBody>
          <a:bodyPr wrap="square" lIns="0" tIns="0" rIns="0" bIns="0" rtlCol="0" anchor="t"/>
          <a:lstStyle/>
          <a:p>
            <a:pPr indent="0" marL="0">
              <a:buNone/>
            </a:pPr>
            <a:r>
              <a:rPr lang="en-US" sz="1300" b="1" dirty="0">
                <a:solidFill>
                  <a:srgbClr val="2A2238"/>
                </a:solidFill>
                <a:latin typeface="Alexandria" pitchFamily="34" charset="0"/>
                <a:ea typeface="Alexandria" pitchFamily="34" charset="-122"/>
                <a:cs typeface="Alexandria" pitchFamily="34" charset="-120"/>
              </a:rPr>
              <a:t>Nhiều nghệ sĩ rút lui sát giờ</a:t>
            </a:r>
            <a:endParaRPr lang="en-US" sz="1300" dirty="0"/>
          </a:p>
        </p:txBody>
      </p:sp>
      <p:sp>
        <p:nvSpPr>
          <p:cNvPr id="36" name="Shape 33"/>
          <p:cNvSpPr/>
          <p:nvPr/>
        </p:nvSpPr>
        <p:spPr>
          <a:xfrm>
            <a:off x="4983480" y="4892040"/>
            <a:ext cx="274320" cy="914"/>
          </a:xfrm>
          <a:prstGeom prst="line">
            <a:avLst/>
          </a:prstGeom>
          <a:noFill/>
          <a:ln w="25400">
            <a:solidFill>
              <a:srgbClr val="2A2238"/>
            </a:solidFill>
            <a:prstDash val="solid"/>
            <a:tailEnd type="triangle"/>
          </a:ln>
        </p:spPr>
      </p:sp>
      <p:sp>
        <p:nvSpPr>
          <p:cNvPr id="37" name="Shape 34"/>
          <p:cNvSpPr/>
          <p:nvPr/>
        </p:nvSpPr>
        <p:spPr>
          <a:xfrm>
            <a:off x="5303520" y="4069080"/>
            <a:ext cx="2011680" cy="1645920"/>
          </a:xfrm>
          <a:prstGeom prst="roundRect">
            <a:avLst>
              <a:gd name="adj" fmla="val 6667"/>
            </a:avLst>
          </a:prstGeom>
          <a:solidFill>
            <a:srgbClr val="FFFFFF"/>
          </a:solidFill>
          <a:ln w="19050">
            <a:solidFill>
              <a:srgbClr val="962B7C"/>
            </a:solidFill>
            <a:prstDash val="solid"/>
          </a:ln>
        </p:spPr>
      </p:sp>
      <p:sp>
        <p:nvSpPr>
          <p:cNvPr id="38" name="Shape 35"/>
          <p:cNvSpPr/>
          <p:nvPr/>
        </p:nvSpPr>
        <p:spPr>
          <a:xfrm>
            <a:off x="5486400" y="4206240"/>
            <a:ext cx="411480" cy="411480"/>
          </a:xfrm>
          <a:prstGeom prst="ellipse">
            <a:avLst/>
          </a:prstGeom>
          <a:solidFill>
            <a:srgbClr val="962B7C"/>
          </a:solidFill>
          <a:ln w="12700">
            <a:solidFill>
              <a:srgbClr val="962B7C"/>
            </a:solidFill>
            <a:prstDash val="solid"/>
          </a:ln>
        </p:spPr>
      </p:sp>
      <p:sp>
        <p:nvSpPr>
          <p:cNvPr id="39" name="Text 36"/>
          <p:cNvSpPr txBox="1"/>
          <p:nvPr/>
        </p:nvSpPr>
        <p:spPr>
          <a:xfrm>
            <a:off x="5486400" y="4206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3</a:t>
            </a:r>
            <a:endParaRPr lang="en-US" sz="1400" dirty="0"/>
          </a:p>
        </p:txBody>
      </p:sp>
      <p:sp>
        <p:nvSpPr>
          <p:cNvPr id="40" name="Text 37"/>
          <p:cNvSpPr txBox="1"/>
          <p:nvPr/>
        </p:nvSpPr>
        <p:spPr>
          <a:xfrm>
            <a:off x="5486400" y="4709160"/>
            <a:ext cx="1645920" cy="914400"/>
          </a:xfrm>
          <a:prstGeom prst="rect">
            <a:avLst/>
          </a:prstGeom>
          <a:noFill/>
          <a:ln/>
        </p:spPr>
        <p:txBody>
          <a:bodyPr wrap="square" lIns="0" tIns="0" rIns="0" bIns="0" rtlCol="0" anchor="t"/>
          <a:lstStyle/>
          <a:p>
            <a:pPr indent="0" marL="0">
              <a:buNone/>
            </a:pPr>
            <a:r>
              <a:rPr lang="en-US" sz="1300" b="1" dirty="0">
                <a:solidFill>
                  <a:srgbClr val="2A2238"/>
                </a:solidFill>
                <a:latin typeface="Alexandria" pitchFamily="34" charset="0"/>
                <a:ea typeface="Alexandria" pitchFamily="34" charset="-122"/>
                <a:cs typeface="Alexandria" pitchFamily="34" charset="-120"/>
              </a:rPr>
              <a:t>Dừng 2 đêm diễn, dời lịch</a:t>
            </a:r>
            <a:endParaRPr lang="en-US" sz="1300" dirty="0"/>
          </a:p>
        </p:txBody>
      </p:sp>
      <p:sp>
        <p:nvSpPr>
          <p:cNvPr id="41" name="Shape 38"/>
          <p:cNvSpPr/>
          <p:nvPr/>
        </p:nvSpPr>
        <p:spPr>
          <a:xfrm>
            <a:off x="7772400" y="2011680"/>
            <a:ext cx="3870655" cy="3703320"/>
          </a:xfrm>
          <a:prstGeom prst="roundRect">
            <a:avLst>
              <a:gd name="adj" fmla="val 2963"/>
            </a:avLst>
          </a:prstGeom>
          <a:solidFill>
            <a:srgbClr val="FFF3C4"/>
          </a:solidFill>
          <a:ln w="12700">
            <a:solidFill>
              <a:srgbClr val="FFD23B"/>
            </a:solidFill>
            <a:prstDash val="solid"/>
          </a:ln>
        </p:spPr>
      </p:sp>
      <p:sp>
        <p:nvSpPr>
          <p:cNvPr id="42" name="Text 39"/>
          <p:cNvSpPr txBox="1"/>
          <p:nvPr/>
        </p:nvSpPr>
        <p:spPr>
          <a:xfrm>
            <a:off x="8046720" y="2011680"/>
            <a:ext cx="3322015" cy="3703320"/>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Thương hiệu bị giả mạo liên đới — không phải nhà tài trợ cờ bạc thật. Sự kiện vẫn sụp.</a:t>
            </a:r>
            <a:endParaRPr lang="en-US" sz="1600" dirty="0"/>
          </a:p>
          <a:p>
            <a:pPr indent="0" marL="0">
              <a:buNone/>
            </a:pPr>
            <a:r>
              <a:rPr lang="en-US" sz="1600" dirty="0">
                <a:solidFill>
                  <a:srgbClr val="2A2238"/>
                </a:solidFill>
                <a:latin typeface="Alexandria" pitchFamily="34" charset="0"/>
                <a:ea typeface="Alexandria" pitchFamily="34" charset="-122"/>
                <a:cs typeface="Alexandria" pitchFamily="34" charset="-120"/>
              </a:rPr>
              <a:t> </a:t>
            </a:r>
            <a:endParaRPr lang="en-US" sz="1600" dirty="0"/>
          </a:p>
          <a:p>
            <a:pPr indent="0" marL="0">
              <a:buNone/>
            </a:pPr>
            <a:r>
              <a:rPr lang="en-US" sz="1600" b="1" dirty="0">
                <a:solidFill>
                  <a:srgbClr val="2A2238"/>
                </a:solidFill>
                <a:latin typeface="Alexandria" pitchFamily="34" charset="0"/>
                <a:ea typeface="Alexandria" pitchFamily="34" charset="-122"/>
                <a:cs typeface="Alexandria" pitchFamily="34" charset="-120"/>
              </a:rPr>
              <a:t>Với agency: thẩm định nhà tài trợ và theo dõi thương hiệu trên mạng là một phần của quản trị quan hệ.</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Agency không xin tài trợ cho mình — agency biến đối tác của Key Account thành giá trị cho khách</a:t>
            </a:r>
            <a:endParaRPr lang="en-US" sz="2600" dirty="0"/>
          </a:p>
        </p:txBody>
      </p:sp>
      <p:sp>
        <p:nvSpPr>
          <p:cNvPr id="16" name="Text 14"/>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11</a:t>
            </a:r>
            <a:endParaRPr lang="en-US" sz="1000" dirty="0"/>
          </a:p>
        </p:txBody>
      </p:sp>
      <p:sp>
        <p:nvSpPr>
          <p:cNvPr id="18" name="Shape 15"/>
          <p:cNvSpPr/>
          <p:nvPr/>
        </p:nvSpPr>
        <p:spPr>
          <a:xfrm>
            <a:off x="4541368" y="1965960"/>
            <a:ext cx="3108960" cy="777240"/>
          </a:xfrm>
          <a:prstGeom prst="roundRect">
            <a:avLst>
              <a:gd name="adj" fmla="val 50000"/>
            </a:avLst>
          </a:prstGeom>
          <a:solidFill>
            <a:srgbClr val="FFD23B"/>
          </a:solidFill>
          <a:ln w="12700">
            <a:solidFill>
              <a:srgbClr val="FFD23B"/>
            </a:solidFill>
            <a:prstDash val="solid"/>
          </a:ln>
        </p:spPr>
      </p:sp>
      <p:sp>
        <p:nvSpPr>
          <p:cNvPr id="19" name="Text 16"/>
          <p:cNvSpPr txBox="1"/>
          <p:nvPr/>
        </p:nvSpPr>
        <p:spPr>
          <a:xfrm>
            <a:off x="4614520" y="1965960"/>
            <a:ext cx="2962656" cy="77724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Key Account · An Phát</a:t>
            </a:r>
            <a:endParaRPr lang="en-US" sz="1600" dirty="0"/>
          </a:p>
        </p:txBody>
      </p:sp>
      <p:sp>
        <p:nvSpPr>
          <p:cNvPr id="20" name="Shape 17"/>
          <p:cNvSpPr/>
          <p:nvPr/>
        </p:nvSpPr>
        <p:spPr>
          <a:xfrm>
            <a:off x="822960" y="3429000"/>
            <a:ext cx="3108960" cy="1005840"/>
          </a:xfrm>
          <a:prstGeom prst="roundRect">
            <a:avLst>
              <a:gd name="adj" fmla="val 10909"/>
            </a:avLst>
          </a:prstGeom>
          <a:solidFill>
            <a:srgbClr val="F1E1EE"/>
          </a:solidFill>
          <a:ln w="19050">
            <a:solidFill>
              <a:srgbClr val="962B7C"/>
            </a:solidFill>
            <a:prstDash val="solid"/>
          </a:ln>
        </p:spPr>
      </p:sp>
      <p:sp>
        <p:nvSpPr>
          <p:cNvPr id="21" name="Text 18"/>
          <p:cNvSpPr txBox="1"/>
          <p:nvPr/>
        </p:nvSpPr>
        <p:spPr>
          <a:xfrm>
            <a:off x="1005840" y="3429000"/>
            <a:ext cx="2743200" cy="100584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Nhà tài trợ</a:t>
            </a:r>
            <a:endParaRPr lang="en-US" sz="1700" dirty="0"/>
          </a:p>
          <a:p>
            <a:pPr algn="ctr" indent="0" marL="0">
              <a:buNone/>
            </a:pPr>
            <a:r>
              <a:rPr lang="en-US" sz="1300" dirty="0">
                <a:solidFill>
                  <a:srgbClr val="2A2238"/>
                </a:solidFill>
                <a:latin typeface="Alexandria" pitchFamily="34" charset="0"/>
                <a:ea typeface="Alexandria" pitchFamily="34" charset="-122"/>
                <a:cs typeface="Alexandria" pitchFamily="34" charset="-120"/>
              </a:rPr>
              <a:t>Bình An, GlobalCard</a:t>
            </a:r>
            <a:endParaRPr lang="en-US" sz="1700" dirty="0"/>
          </a:p>
        </p:txBody>
      </p:sp>
      <p:sp>
        <p:nvSpPr>
          <p:cNvPr id="22" name="Shape 19"/>
          <p:cNvSpPr/>
          <p:nvPr/>
        </p:nvSpPr>
        <p:spPr>
          <a:xfrm>
            <a:off x="8259775" y="3429000"/>
            <a:ext cx="3108960" cy="1005840"/>
          </a:xfrm>
          <a:prstGeom prst="roundRect">
            <a:avLst>
              <a:gd name="adj" fmla="val 10909"/>
            </a:avLst>
          </a:prstGeom>
          <a:solidFill>
            <a:srgbClr val="DDF1FB"/>
          </a:solidFill>
          <a:ln w="19050">
            <a:solidFill>
              <a:srgbClr val="09A1E5"/>
            </a:solidFill>
            <a:prstDash val="solid"/>
          </a:ln>
        </p:spPr>
      </p:sp>
      <p:sp>
        <p:nvSpPr>
          <p:cNvPr id="23" name="Text 20"/>
          <p:cNvSpPr txBox="1"/>
          <p:nvPr/>
        </p:nvSpPr>
        <p:spPr>
          <a:xfrm>
            <a:off x="8442655" y="3429000"/>
            <a:ext cx="2743200" cy="100584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Khách của Key Account</a:t>
            </a:r>
            <a:endParaRPr lang="en-US" sz="1700" dirty="0"/>
          </a:p>
          <a:p>
            <a:pPr algn="ctr" indent="0" marL="0">
              <a:buNone/>
            </a:pPr>
            <a:r>
              <a:rPr lang="en-US" sz="1300" dirty="0">
                <a:solidFill>
                  <a:srgbClr val="2A2238"/>
                </a:solidFill>
                <a:latin typeface="Alexandria" pitchFamily="34" charset="0"/>
                <a:ea typeface="Alexandria" pitchFamily="34" charset="-122"/>
                <a:cs typeface="Alexandria" pitchFamily="34" charset="-120"/>
              </a:rPr>
              <a:t>600 lãnh đạo doanh nghiệp VIP</a:t>
            </a:r>
            <a:endParaRPr lang="en-US" sz="1700" dirty="0"/>
          </a:p>
        </p:txBody>
      </p:sp>
      <p:sp>
        <p:nvSpPr>
          <p:cNvPr id="24" name="Shape 21"/>
          <p:cNvSpPr/>
          <p:nvPr/>
        </p:nvSpPr>
        <p:spPr>
          <a:xfrm>
            <a:off x="4358488" y="4846320"/>
            <a:ext cx="3474720" cy="1234440"/>
          </a:xfrm>
          <a:prstGeom prst="roundRect">
            <a:avLst>
              <a:gd name="adj" fmla="val 8889"/>
            </a:avLst>
          </a:prstGeom>
          <a:solidFill>
            <a:srgbClr val="FF5178"/>
          </a:solidFill>
          <a:ln w="12700">
            <a:solidFill>
              <a:srgbClr val="FF5178"/>
            </a:solidFill>
            <a:prstDash val="solid"/>
          </a:ln>
        </p:spPr>
      </p:sp>
      <p:sp>
        <p:nvSpPr>
          <p:cNvPr id="25" name="Text 22"/>
          <p:cNvSpPr txBox="1"/>
          <p:nvPr/>
        </p:nvSpPr>
        <p:spPr>
          <a:xfrm>
            <a:off x="4541368" y="4846320"/>
            <a:ext cx="3108960" cy="123444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Agency · Nova</a:t>
            </a:r>
            <a:endParaRPr lang="en-US" sz="1700" dirty="0"/>
          </a:p>
          <a:p>
            <a:pPr algn="ctr" indent="0" marL="0">
              <a:buNone/>
            </a:pPr>
            <a:r>
              <a:rPr lang="en-US" sz="1200" dirty="0">
                <a:solidFill>
                  <a:srgbClr val="FFFFFF"/>
                </a:solidFill>
                <a:latin typeface="Alexandria" pitchFamily="34" charset="0"/>
                <a:ea typeface="Alexandria" pitchFamily="34" charset="-122"/>
                <a:cs typeface="Alexandria" pitchFamily="34" charset="-120"/>
              </a:rPr>
              <a:t>thiết kế quyền lợi, kích hoạt, đo lường — thay mặt Key Account</a:t>
            </a:r>
            <a:endParaRPr lang="en-US" sz="1700" dirty="0"/>
          </a:p>
        </p:txBody>
      </p:sp>
      <p:sp>
        <p:nvSpPr>
          <p:cNvPr id="26" name="Shape 23"/>
          <p:cNvSpPr/>
          <p:nvPr/>
        </p:nvSpPr>
        <p:spPr>
          <a:xfrm flipV="1">
            <a:off x="2377440" y="2743200"/>
            <a:ext cx="2529688" cy="685800"/>
          </a:xfrm>
          <a:prstGeom prst="line">
            <a:avLst/>
          </a:prstGeom>
          <a:noFill/>
          <a:ln w="25400">
            <a:solidFill>
              <a:srgbClr val="962B7C"/>
            </a:solidFill>
            <a:prstDash val="solid"/>
          </a:ln>
        </p:spPr>
      </p:sp>
      <p:sp>
        <p:nvSpPr>
          <p:cNvPr id="27" name="Text 24"/>
          <p:cNvSpPr txBox="1"/>
          <p:nvPr/>
        </p:nvSpPr>
        <p:spPr>
          <a:xfrm>
            <a:off x="2011680" y="2331720"/>
            <a:ext cx="1737360" cy="320040"/>
          </a:xfrm>
          <a:prstGeom prst="rect">
            <a:avLst/>
          </a:prstGeom>
          <a:noFill/>
          <a:ln/>
        </p:spPr>
        <p:txBody>
          <a:bodyPr wrap="square" lIns="0" tIns="0" rIns="0" bIns="0" rtlCol="0" anchor="ctr"/>
          <a:lstStyle/>
          <a:p>
            <a:pPr indent="0" marL="0">
              <a:buNone/>
            </a:pPr>
            <a:r>
              <a:rPr lang="en-US" sz="1200" i="1" dirty="0">
                <a:solidFill>
                  <a:srgbClr val="962B7C"/>
                </a:solidFill>
                <a:latin typeface="Alexandria" pitchFamily="34" charset="0"/>
                <a:ea typeface="Alexandria" pitchFamily="34" charset="-122"/>
                <a:cs typeface="Alexandria" pitchFamily="34" charset="-120"/>
              </a:rPr>
              <a:t>đối tác của</a:t>
            </a:r>
            <a:endParaRPr lang="en-US" sz="1200" dirty="0"/>
          </a:p>
        </p:txBody>
      </p:sp>
      <p:sp>
        <p:nvSpPr>
          <p:cNvPr id="28" name="Shape 25"/>
          <p:cNvSpPr/>
          <p:nvPr/>
        </p:nvSpPr>
        <p:spPr>
          <a:xfrm flipH="1" flipV="1">
            <a:off x="7284568" y="2743200"/>
            <a:ext cx="2529688" cy="685800"/>
          </a:xfrm>
          <a:prstGeom prst="line">
            <a:avLst/>
          </a:prstGeom>
          <a:noFill/>
          <a:ln w="25400">
            <a:solidFill>
              <a:srgbClr val="09A1E5"/>
            </a:solidFill>
            <a:prstDash val="solid"/>
          </a:ln>
        </p:spPr>
      </p:sp>
      <p:sp>
        <p:nvSpPr>
          <p:cNvPr id="29" name="Text 26"/>
          <p:cNvSpPr txBox="1"/>
          <p:nvPr/>
        </p:nvSpPr>
        <p:spPr>
          <a:xfrm>
            <a:off x="8534095" y="2331720"/>
            <a:ext cx="1828800" cy="320040"/>
          </a:xfrm>
          <a:prstGeom prst="rect">
            <a:avLst/>
          </a:prstGeom>
          <a:noFill/>
          <a:ln/>
        </p:spPr>
        <p:txBody>
          <a:bodyPr wrap="square" lIns="0" tIns="0" rIns="0" bIns="0" rtlCol="0" anchor="ctr"/>
          <a:lstStyle/>
          <a:p>
            <a:pPr algn="r" indent="0" marL="0">
              <a:buNone/>
            </a:pPr>
            <a:r>
              <a:rPr lang="en-US" sz="1200" i="1" dirty="0">
                <a:solidFill>
                  <a:srgbClr val="0A7FB5"/>
                </a:solidFill>
                <a:latin typeface="Alexandria" pitchFamily="34" charset="0"/>
                <a:ea typeface="Alexandria" pitchFamily="34" charset="-122"/>
                <a:cs typeface="Alexandria" pitchFamily="34" charset="-120"/>
              </a:rPr>
              <a:t>khách hàng của</a:t>
            </a:r>
            <a:endParaRPr lang="en-US" sz="1200" dirty="0"/>
          </a:p>
        </p:txBody>
      </p:sp>
      <p:sp>
        <p:nvSpPr>
          <p:cNvPr id="30" name="Shape 27"/>
          <p:cNvSpPr/>
          <p:nvPr/>
        </p:nvSpPr>
        <p:spPr>
          <a:xfrm flipH="1" flipV="1">
            <a:off x="3931920" y="4160520"/>
            <a:ext cx="426568" cy="1143000"/>
          </a:xfrm>
          <a:prstGeom prst="line">
            <a:avLst/>
          </a:prstGeom>
          <a:noFill/>
          <a:ln w="25400">
            <a:solidFill>
              <a:srgbClr val="2A2238"/>
            </a:solidFill>
            <a:prstDash val="solid"/>
            <a:headEnd type="triangle"/>
          </a:ln>
        </p:spPr>
      </p:sp>
      <p:sp>
        <p:nvSpPr>
          <p:cNvPr id="31" name="Shape 28"/>
          <p:cNvSpPr/>
          <p:nvPr/>
        </p:nvSpPr>
        <p:spPr>
          <a:xfrm flipV="1">
            <a:off x="7833208" y="4160520"/>
            <a:ext cx="426568" cy="1143000"/>
          </a:xfrm>
          <a:prstGeom prst="line">
            <a:avLst/>
          </a:prstGeom>
          <a:noFill/>
          <a:ln w="25400">
            <a:solidFill>
              <a:srgbClr val="2A2238"/>
            </a:solidFill>
            <a:prstDash val="solid"/>
            <a:tailEnd type="triangle"/>
          </a:ln>
        </p:spPr>
      </p:sp>
      <p:sp>
        <p:nvSpPr>
          <p:cNvPr id="32" name="Text 29"/>
          <p:cNvSpPr txBox="1"/>
          <p:nvPr/>
        </p:nvSpPr>
        <p:spPr>
          <a:xfrm>
            <a:off x="7924648" y="5074920"/>
            <a:ext cx="2651760" cy="320040"/>
          </a:xfrm>
          <a:prstGeom prst="rect">
            <a:avLst/>
          </a:prstGeom>
          <a:noFill/>
          <a:ln/>
        </p:spPr>
        <p:txBody>
          <a:bodyPr wrap="square" lIns="0" tIns="0" rIns="0" bIns="0" rtlCol="0" anchor="ctr"/>
          <a:lstStyle/>
          <a:p>
            <a:pPr indent="0" marL="0">
              <a:buNone/>
            </a:pPr>
            <a:r>
              <a:rPr lang="en-US" sz="1200" i="1" dirty="0">
                <a:solidFill>
                  <a:srgbClr val="6E6878"/>
                </a:solidFill>
                <a:latin typeface="Alexandria" pitchFamily="34" charset="0"/>
                <a:ea typeface="Alexandria" pitchFamily="34" charset="-122"/>
                <a:cs typeface="Alexandria" pitchFamily="34" charset="-120"/>
              </a:rPr>
              <a:t>trải nghiệm tại các điểm chạm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1 · Chọn nhà tài trợ cho gala của Key Account</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W09_activity_S3_chon_nha_tai_tro.md · Tình huống giả định.</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12</a:t>
            </a:r>
            <a:endParaRPr lang="en-US" sz="1000" dirty="0"/>
          </a:p>
        </p:txBody>
      </p:sp>
      <p:sp>
        <p:nvSpPr>
          <p:cNvPr id="19" name="Text 16"/>
          <p:cNvSpPr txBox="1"/>
          <p:nvPr/>
        </p:nvSpPr>
        <p:spPr>
          <a:xfrm>
            <a:off x="548640" y="1737360"/>
            <a:ext cx="11094415" cy="36576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Gala An Phát · ~600 lãnh đạo DN VIP · ngân sách giảm ~220 triệu · không bán vé</a:t>
            </a:r>
            <a:endParaRPr lang="en-US" sz="1300" dirty="0"/>
          </a:p>
        </p:txBody>
      </p:sp>
      <p:sp>
        <p:nvSpPr>
          <p:cNvPr id="20" name="Shape 17"/>
          <p:cNvSpPr/>
          <p:nvPr/>
        </p:nvSpPr>
        <p:spPr>
          <a:xfrm>
            <a:off x="548640" y="2240280"/>
            <a:ext cx="6675120" cy="685800"/>
          </a:xfrm>
          <a:prstGeom prst="roundRect">
            <a:avLst>
              <a:gd name="adj" fmla="val 16000"/>
            </a:avLst>
          </a:prstGeom>
          <a:solidFill>
            <a:srgbClr val="F3F0E6"/>
          </a:solidFill>
          <a:ln w="12700">
            <a:solidFill>
              <a:srgbClr val="F3F0E6"/>
            </a:solidFill>
            <a:prstDash val="solid"/>
          </a:ln>
        </p:spPr>
      </p:sp>
      <p:sp>
        <p:nvSpPr>
          <p:cNvPr id="21" name="Shape 18"/>
          <p:cNvSpPr/>
          <p:nvPr/>
        </p:nvSpPr>
        <p:spPr>
          <a:xfrm>
            <a:off x="685800" y="2377440"/>
            <a:ext cx="411480" cy="411480"/>
          </a:xfrm>
          <a:prstGeom prst="ellipse">
            <a:avLst/>
          </a:prstGeom>
          <a:solidFill>
            <a:srgbClr val="962B7C"/>
          </a:solidFill>
          <a:ln w="12700">
            <a:solidFill>
              <a:srgbClr val="962B7C"/>
            </a:solidFill>
            <a:prstDash val="solid"/>
          </a:ln>
        </p:spPr>
      </p:sp>
      <p:sp>
        <p:nvSpPr>
          <p:cNvPr id="22" name="Text 19"/>
          <p:cNvSpPr txBox="1"/>
          <p:nvPr/>
        </p:nvSpPr>
        <p:spPr>
          <a:xfrm>
            <a:off x="685800" y="2377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1</a:t>
            </a:r>
            <a:endParaRPr lang="en-US" sz="1400" dirty="0"/>
          </a:p>
        </p:txBody>
      </p:sp>
      <p:sp>
        <p:nvSpPr>
          <p:cNvPr id="23" name="Text 20"/>
          <p:cNvSpPr txBox="1"/>
          <p:nvPr/>
        </p:nvSpPr>
        <p:spPr>
          <a:xfrm>
            <a:off x="1234440" y="2240280"/>
            <a:ext cx="201168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Bảo hiểm Bình An</a:t>
            </a:r>
            <a:endParaRPr lang="en-US" sz="1300" dirty="0"/>
          </a:p>
          <a:p>
            <a:pPr indent="0" marL="0">
              <a:buNone/>
            </a:pPr>
            <a:r>
              <a:rPr lang="en-US" sz="1000" dirty="0">
                <a:solidFill>
                  <a:srgbClr val="6E6878"/>
                </a:solidFill>
                <a:latin typeface="Alexandria" pitchFamily="34" charset="0"/>
                <a:ea typeface="Alexandria" pitchFamily="34" charset="-122"/>
                <a:cs typeface="Alexandria" pitchFamily="34" charset="-120"/>
              </a:rPr>
              <a:t>đối tác lâu năm</a:t>
            </a:r>
            <a:endParaRPr lang="en-US" sz="1300" dirty="0"/>
          </a:p>
        </p:txBody>
      </p:sp>
      <p:sp>
        <p:nvSpPr>
          <p:cNvPr id="24" name="Text 21"/>
          <p:cNvSpPr txBox="1"/>
          <p:nvPr/>
        </p:nvSpPr>
        <p:spPr>
          <a:xfrm>
            <a:off x="3246120" y="2240280"/>
            <a:ext cx="82296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400 tr</a:t>
            </a:r>
            <a:endParaRPr lang="en-US" sz="1300" dirty="0"/>
          </a:p>
        </p:txBody>
      </p:sp>
      <p:sp>
        <p:nvSpPr>
          <p:cNvPr id="25" name="Text 22"/>
          <p:cNvSpPr txBox="1"/>
          <p:nvPr/>
        </p:nvSpPr>
        <p:spPr>
          <a:xfrm>
            <a:off x="4069080" y="2240280"/>
            <a:ext cx="3017520" cy="6858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phát biểu 10’; bàn tư vấn cạnh khu tiệc</a:t>
            </a:r>
            <a:endParaRPr lang="en-US" sz="1100" dirty="0"/>
          </a:p>
        </p:txBody>
      </p:sp>
      <p:sp>
        <p:nvSpPr>
          <p:cNvPr id="26" name="Shape 23"/>
          <p:cNvSpPr/>
          <p:nvPr/>
        </p:nvSpPr>
        <p:spPr>
          <a:xfrm>
            <a:off x="548640" y="3017520"/>
            <a:ext cx="6675120" cy="685800"/>
          </a:xfrm>
          <a:prstGeom prst="roundRect">
            <a:avLst>
              <a:gd name="adj" fmla="val 16000"/>
            </a:avLst>
          </a:prstGeom>
          <a:solidFill>
            <a:srgbClr val="FFFFFF"/>
          </a:solidFill>
          <a:ln w="12700">
            <a:solidFill>
              <a:srgbClr val="DCD7C8"/>
            </a:solidFill>
            <a:prstDash val="solid"/>
          </a:ln>
        </p:spPr>
      </p:sp>
      <p:sp>
        <p:nvSpPr>
          <p:cNvPr id="27" name="Shape 24"/>
          <p:cNvSpPr/>
          <p:nvPr/>
        </p:nvSpPr>
        <p:spPr>
          <a:xfrm>
            <a:off x="685800" y="3154680"/>
            <a:ext cx="411480" cy="411480"/>
          </a:xfrm>
          <a:prstGeom prst="ellipse">
            <a:avLst/>
          </a:prstGeom>
          <a:solidFill>
            <a:srgbClr val="09A1E5"/>
          </a:solidFill>
          <a:ln w="12700">
            <a:solidFill>
              <a:srgbClr val="09A1E5"/>
            </a:solidFill>
            <a:prstDash val="solid"/>
          </a:ln>
        </p:spPr>
      </p:sp>
      <p:sp>
        <p:nvSpPr>
          <p:cNvPr id="28" name="Text 25"/>
          <p:cNvSpPr txBox="1"/>
          <p:nvPr/>
        </p:nvSpPr>
        <p:spPr>
          <a:xfrm>
            <a:off x="685800" y="3154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2</a:t>
            </a:r>
            <a:endParaRPr lang="en-US" sz="1400" dirty="0"/>
          </a:p>
        </p:txBody>
      </p:sp>
      <p:sp>
        <p:nvSpPr>
          <p:cNvPr id="29" name="Text 26"/>
          <p:cNvSpPr txBox="1"/>
          <p:nvPr/>
        </p:nvSpPr>
        <p:spPr>
          <a:xfrm>
            <a:off x="1234440" y="3017520"/>
            <a:ext cx="201168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GlobalCard</a:t>
            </a:r>
            <a:endParaRPr lang="en-US" sz="1300" dirty="0"/>
          </a:p>
          <a:p>
            <a:pPr indent="0" marL="0">
              <a:buNone/>
            </a:pPr>
            <a:r>
              <a:rPr lang="en-US" sz="1000" dirty="0">
                <a:solidFill>
                  <a:srgbClr val="6E6878"/>
                </a:solidFill>
                <a:latin typeface="Alexandria" pitchFamily="34" charset="0"/>
                <a:ea typeface="Alexandria" pitchFamily="34" charset="-122"/>
                <a:cs typeface="Alexandria" pitchFamily="34" charset="-120"/>
              </a:rPr>
              <a:t>đối tác thẻ DN</a:t>
            </a:r>
            <a:endParaRPr lang="en-US" sz="1300" dirty="0"/>
          </a:p>
        </p:txBody>
      </p:sp>
      <p:sp>
        <p:nvSpPr>
          <p:cNvPr id="30" name="Text 27"/>
          <p:cNvSpPr txBox="1"/>
          <p:nvPr/>
        </p:nvSpPr>
        <p:spPr>
          <a:xfrm>
            <a:off x="3246120" y="3017520"/>
            <a:ext cx="82296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300 tr</a:t>
            </a:r>
            <a:endParaRPr lang="en-US" sz="1300" dirty="0"/>
          </a:p>
        </p:txBody>
      </p:sp>
      <p:sp>
        <p:nvSpPr>
          <p:cNvPr id="31" name="Text 28"/>
          <p:cNvSpPr txBox="1"/>
          <p:nvPr/>
        </p:nvSpPr>
        <p:spPr>
          <a:xfrm>
            <a:off x="4069080" y="3017520"/>
            <a:ext cx="3017520" cy="6858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ưu đãi chủ thẻ; nhận diện ở check-in</a:t>
            </a:r>
            <a:endParaRPr lang="en-US" sz="1100" dirty="0"/>
          </a:p>
        </p:txBody>
      </p:sp>
      <p:sp>
        <p:nvSpPr>
          <p:cNvPr id="32" name="Shape 29"/>
          <p:cNvSpPr/>
          <p:nvPr/>
        </p:nvSpPr>
        <p:spPr>
          <a:xfrm>
            <a:off x="548640" y="3794760"/>
            <a:ext cx="6675120" cy="685800"/>
          </a:xfrm>
          <a:prstGeom prst="roundRect">
            <a:avLst>
              <a:gd name="adj" fmla="val 16000"/>
            </a:avLst>
          </a:prstGeom>
          <a:solidFill>
            <a:srgbClr val="F3F0E6"/>
          </a:solidFill>
          <a:ln w="12700">
            <a:solidFill>
              <a:srgbClr val="F3F0E6"/>
            </a:solidFill>
            <a:prstDash val="solid"/>
          </a:ln>
        </p:spPr>
      </p:sp>
      <p:sp>
        <p:nvSpPr>
          <p:cNvPr id="33" name="Shape 30"/>
          <p:cNvSpPr/>
          <p:nvPr/>
        </p:nvSpPr>
        <p:spPr>
          <a:xfrm>
            <a:off x="685800" y="3931920"/>
            <a:ext cx="411480" cy="411480"/>
          </a:xfrm>
          <a:prstGeom prst="ellipse">
            <a:avLst/>
          </a:prstGeom>
          <a:solidFill>
            <a:srgbClr val="FF9259"/>
          </a:solidFill>
          <a:ln w="12700">
            <a:solidFill>
              <a:srgbClr val="FF9259"/>
            </a:solidFill>
            <a:prstDash val="solid"/>
          </a:ln>
        </p:spPr>
      </p:sp>
      <p:sp>
        <p:nvSpPr>
          <p:cNvPr id="34" name="Text 31"/>
          <p:cNvSpPr txBox="1"/>
          <p:nvPr/>
        </p:nvSpPr>
        <p:spPr>
          <a:xfrm>
            <a:off x="685800" y="3931920"/>
            <a:ext cx="411480" cy="4114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3</a:t>
            </a:r>
            <a:endParaRPr lang="en-US" sz="1400" dirty="0"/>
          </a:p>
        </p:txBody>
      </p:sp>
      <p:sp>
        <p:nvSpPr>
          <p:cNvPr id="35" name="Text 32"/>
          <p:cNvSpPr txBox="1"/>
          <p:nvPr/>
        </p:nvSpPr>
        <p:spPr>
          <a:xfrm>
            <a:off x="1234440" y="3794760"/>
            <a:ext cx="201168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Xe điện Sao Việt</a:t>
            </a:r>
            <a:endParaRPr lang="en-US" sz="1300" dirty="0"/>
          </a:p>
          <a:p>
            <a:pPr indent="0" marL="0">
              <a:buNone/>
            </a:pPr>
            <a:r>
              <a:rPr lang="en-US" sz="1000" dirty="0">
                <a:solidFill>
                  <a:srgbClr val="6E6878"/>
                </a:solidFill>
                <a:latin typeface="Alexandria" pitchFamily="34" charset="0"/>
                <a:ea typeface="Alexandria" pitchFamily="34" charset="-122"/>
                <a:cs typeface="Alexandria" pitchFamily="34" charset="-120"/>
              </a:rPr>
              <a:t>chưa có quan hệ</a:t>
            </a:r>
            <a:endParaRPr lang="en-US" sz="1300" dirty="0"/>
          </a:p>
        </p:txBody>
      </p:sp>
      <p:sp>
        <p:nvSpPr>
          <p:cNvPr id="36" name="Text 33"/>
          <p:cNvSpPr txBox="1"/>
          <p:nvPr/>
        </p:nvSpPr>
        <p:spPr>
          <a:xfrm>
            <a:off x="3246120" y="3794760"/>
            <a:ext cx="82296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500 tr</a:t>
            </a:r>
            <a:endParaRPr lang="en-US" sz="1300" dirty="0"/>
          </a:p>
        </p:txBody>
      </p:sp>
      <p:sp>
        <p:nvSpPr>
          <p:cNvPr id="37" name="Text 34"/>
          <p:cNvSpPr txBox="1"/>
          <p:nvPr/>
        </p:nvSpPr>
        <p:spPr>
          <a:xfrm>
            <a:off x="4069080" y="3794760"/>
            <a:ext cx="3017520" cy="6858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trưng bày, lái thử; nhận danh sách khách</a:t>
            </a:r>
            <a:endParaRPr lang="en-US" sz="1100" dirty="0"/>
          </a:p>
        </p:txBody>
      </p:sp>
      <p:sp>
        <p:nvSpPr>
          <p:cNvPr id="38" name="Shape 35"/>
          <p:cNvSpPr/>
          <p:nvPr/>
        </p:nvSpPr>
        <p:spPr>
          <a:xfrm>
            <a:off x="548640" y="4572000"/>
            <a:ext cx="6675120" cy="685800"/>
          </a:xfrm>
          <a:prstGeom prst="roundRect">
            <a:avLst>
              <a:gd name="adj" fmla="val 16000"/>
            </a:avLst>
          </a:prstGeom>
          <a:solidFill>
            <a:srgbClr val="FFFFFF"/>
          </a:solidFill>
          <a:ln w="12700">
            <a:solidFill>
              <a:srgbClr val="DCD7C8"/>
            </a:solidFill>
            <a:prstDash val="solid"/>
          </a:ln>
        </p:spPr>
      </p:sp>
      <p:sp>
        <p:nvSpPr>
          <p:cNvPr id="39" name="Shape 36"/>
          <p:cNvSpPr/>
          <p:nvPr/>
        </p:nvSpPr>
        <p:spPr>
          <a:xfrm>
            <a:off x="685800" y="4709160"/>
            <a:ext cx="411480" cy="411480"/>
          </a:xfrm>
          <a:prstGeom prst="ellipse">
            <a:avLst/>
          </a:prstGeom>
          <a:solidFill>
            <a:srgbClr val="49B296"/>
          </a:solidFill>
          <a:ln w="12700">
            <a:solidFill>
              <a:srgbClr val="49B296"/>
            </a:solidFill>
            <a:prstDash val="solid"/>
          </a:ln>
        </p:spPr>
      </p:sp>
      <p:sp>
        <p:nvSpPr>
          <p:cNvPr id="40" name="Text 37"/>
          <p:cNvSpPr txBox="1"/>
          <p:nvPr/>
        </p:nvSpPr>
        <p:spPr>
          <a:xfrm>
            <a:off x="68580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4</a:t>
            </a:r>
            <a:endParaRPr lang="en-US" sz="1400" dirty="0"/>
          </a:p>
        </p:txBody>
      </p:sp>
      <p:sp>
        <p:nvSpPr>
          <p:cNvPr id="41" name="Text 38"/>
          <p:cNvSpPr txBox="1"/>
          <p:nvPr/>
        </p:nvSpPr>
        <p:spPr>
          <a:xfrm>
            <a:off x="1234440" y="4572000"/>
            <a:ext cx="201168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Phần mềm Sổ Xanh</a:t>
            </a:r>
            <a:endParaRPr lang="en-US" sz="1300" dirty="0"/>
          </a:p>
          <a:p>
            <a:pPr indent="0" marL="0">
              <a:buNone/>
            </a:pPr>
            <a:r>
              <a:rPr lang="en-US" sz="1000" dirty="0">
                <a:solidFill>
                  <a:srgbClr val="6E6878"/>
                </a:solidFill>
                <a:latin typeface="Alexandria" pitchFamily="34" charset="0"/>
                <a:ea typeface="Alexandria" pitchFamily="34" charset="-122"/>
                <a:cs typeface="Alexandria" pitchFamily="34" charset="-120"/>
              </a:rPr>
              <a:t>chưa có quan hệ</a:t>
            </a:r>
            <a:endParaRPr lang="en-US" sz="1300" dirty="0"/>
          </a:p>
        </p:txBody>
      </p:sp>
      <p:sp>
        <p:nvSpPr>
          <p:cNvPr id="42" name="Text 39"/>
          <p:cNvSpPr txBox="1"/>
          <p:nvPr/>
        </p:nvSpPr>
        <p:spPr>
          <a:xfrm>
            <a:off x="3246120" y="4572000"/>
            <a:ext cx="82296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80 tr</a:t>
            </a:r>
            <a:endParaRPr lang="en-US" sz="1300" dirty="0"/>
          </a:p>
        </p:txBody>
      </p:sp>
      <p:sp>
        <p:nvSpPr>
          <p:cNvPr id="43" name="Text 40"/>
          <p:cNvSpPr txBox="1"/>
          <p:nvPr/>
        </p:nvSpPr>
        <p:spPr>
          <a:xfrm>
            <a:off x="4069080" y="4572000"/>
            <a:ext cx="3017520" cy="6858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gian hàng phần mềm cho DN nhỏ</a:t>
            </a:r>
            <a:endParaRPr lang="en-US" sz="1100" dirty="0"/>
          </a:p>
        </p:txBody>
      </p:sp>
      <p:sp>
        <p:nvSpPr>
          <p:cNvPr id="44" name="Shape 41"/>
          <p:cNvSpPr/>
          <p:nvPr/>
        </p:nvSpPr>
        <p:spPr>
          <a:xfrm>
            <a:off x="548640" y="5349240"/>
            <a:ext cx="6675120" cy="685800"/>
          </a:xfrm>
          <a:prstGeom prst="roundRect">
            <a:avLst>
              <a:gd name="adj" fmla="val 16000"/>
            </a:avLst>
          </a:prstGeom>
          <a:solidFill>
            <a:srgbClr val="F3F0E6"/>
          </a:solidFill>
          <a:ln w="12700">
            <a:solidFill>
              <a:srgbClr val="F3F0E6"/>
            </a:solidFill>
            <a:prstDash val="solid"/>
          </a:ln>
        </p:spPr>
      </p:sp>
      <p:sp>
        <p:nvSpPr>
          <p:cNvPr id="45" name="Shape 42"/>
          <p:cNvSpPr/>
          <p:nvPr/>
        </p:nvSpPr>
        <p:spPr>
          <a:xfrm>
            <a:off x="685800" y="5486400"/>
            <a:ext cx="411480" cy="411480"/>
          </a:xfrm>
          <a:prstGeom prst="ellipse">
            <a:avLst/>
          </a:prstGeom>
          <a:solidFill>
            <a:srgbClr val="FF5178"/>
          </a:solidFill>
          <a:ln w="12700">
            <a:solidFill>
              <a:srgbClr val="FF5178"/>
            </a:solidFill>
            <a:prstDash val="solid"/>
          </a:ln>
        </p:spPr>
      </p:sp>
      <p:sp>
        <p:nvSpPr>
          <p:cNvPr id="46" name="Text 43"/>
          <p:cNvSpPr txBox="1"/>
          <p:nvPr/>
        </p:nvSpPr>
        <p:spPr>
          <a:xfrm>
            <a:off x="685800" y="54864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5</a:t>
            </a:r>
            <a:endParaRPr lang="en-US" sz="1400" dirty="0"/>
          </a:p>
        </p:txBody>
      </p:sp>
      <p:sp>
        <p:nvSpPr>
          <p:cNvPr id="47" name="Text 44"/>
          <p:cNvSpPr txBox="1"/>
          <p:nvPr/>
        </p:nvSpPr>
        <p:spPr>
          <a:xfrm>
            <a:off x="1234440" y="5349240"/>
            <a:ext cx="201168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Nhanh Tiền</a:t>
            </a:r>
            <a:endParaRPr lang="en-US" sz="1300" dirty="0"/>
          </a:p>
          <a:p>
            <a:pPr indent="0" marL="0">
              <a:buNone/>
            </a:pPr>
            <a:r>
              <a:rPr lang="en-US" sz="1000" dirty="0">
                <a:solidFill>
                  <a:srgbClr val="6E6878"/>
                </a:solidFill>
                <a:latin typeface="Alexandria" pitchFamily="34" charset="0"/>
                <a:ea typeface="Alexandria" pitchFamily="34" charset="-122"/>
                <a:cs typeface="Alexandria" pitchFamily="34" charset="-120"/>
              </a:rPr>
              <a:t>chưa có quan hệ</a:t>
            </a:r>
            <a:endParaRPr lang="en-US" sz="1300" dirty="0"/>
          </a:p>
        </p:txBody>
      </p:sp>
      <p:sp>
        <p:nvSpPr>
          <p:cNvPr id="48" name="Text 45"/>
          <p:cNvSpPr txBox="1"/>
          <p:nvPr/>
        </p:nvSpPr>
        <p:spPr>
          <a:xfrm>
            <a:off x="3246120" y="5349240"/>
            <a:ext cx="822960"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800 tr</a:t>
            </a:r>
            <a:endParaRPr lang="en-US" sz="1300" dirty="0"/>
          </a:p>
        </p:txBody>
      </p:sp>
      <p:sp>
        <p:nvSpPr>
          <p:cNvPr id="49" name="Text 46"/>
          <p:cNvSpPr txBox="1"/>
          <p:nvPr/>
        </p:nvSpPr>
        <p:spPr>
          <a:xfrm>
            <a:off x="4069080" y="5349240"/>
            <a:ext cx="3017520" cy="6858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“đồng tổ chức”, góp vốn chia lợi nhuận; từng bị phản ánh về đòi nợ</a:t>
            </a:r>
            <a:endParaRPr lang="en-US" sz="1100" dirty="0"/>
          </a:p>
        </p:txBody>
      </p:sp>
      <p:sp>
        <p:nvSpPr>
          <p:cNvPr id="50" name="Shape 47"/>
          <p:cNvSpPr/>
          <p:nvPr/>
        </p:nvSpPr>
        <p:spPr>
          <a:xfrm>
            <a:off x="7498080" y="2423160"/>
            <a:ext cx="685800" cy="685800"/>
          </a:xfrm>
          <a:prstGeom prst="ellipse">
            <a:avLst/>
          </a:prstGeom>
          <a:solidFill>
            <a:srgbClr val="FF9259"/>
          </a:solidFill>
          <a:ln w="12700">
            <a:solidFill>
              <a:srgbClr val="FF9259"/>
            </a:solidFill>
            <a:prstDash val="solid"/>
          </a:ln>
        </p:spPr>
      </p:sp>
      <p:sp>
        <p:nvSpPr>
          <p:cNvPr id="51" name="Text 48"/>
          <p:cNvSpPr txBox="1"/>
          <p:nvPr/>
        </p:nvSpPr>
        <p:spPr>
          <a:xfrm>
            <a:off x="7498080" y="2423160"/>
            <a:ext cx="685800" cy="68580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8’</a:t>
            </a:r>
            <a:endParaRPr lang="en-US" sz="1600" dirty="0"/>
          </a:p>
        </p:txBody>
      </p:sp>
      <p:sp>
        <p:nvSpPr>
          <p:cNvPr id="52" name="Text 49"/>
          <p:cNvSpPr txBox="1"/>
          <p:nvPr/>
        </p:nvSpPr>
        <p:spPr>
          <a:xfrm>
            <a:off x="8366760" y="2240280"/>
            <a:ext cx="3276295" cy="109728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Chấm 1–5: phù hợp với An Phát · với khách của An Phát · rủi ro</a:t>
            </a:r>
            <a:endParaRPr lang="en-US" sz="1300" dirty="0"/>
          </a:p>
        </p:txBody>
      </p:sp>
      <p:sp>
        <p:nvSpPr>
          <p:cNvPr id="53" name="Shape 50"/>
          <p:cNvSpPr/>
          <p:nvPr/>
        </p:nvSpPr>
        <p:spPr>
          <a:xfrm>
            <a:off x="7498080" y="3703320"/>
            <a:ext cx="685800" cy="685800"/>
          </a:xfrm>
          <a:prstGeom prst="ellipse">
            <a:avLst/>
          </a:prstGeom>
          <a:solidFill>
            <a:srgbClr val="962B7C"/>
          </a:solidFill>
          <a:ln w="12700">
            <a:solidFill>
              <a:srgbClr val="962B7C"/>
            </a:solidFill>
            <a:prstDash val="solid"/>
          </a:ln>
        </p:spPr>
      </p:sp>
      <p:sp>
        <p:nvSpPr>
          <p:cNvPr id="54" name="Text 51"/>
          <p:cNvSpPr txBox="1"/>
          <p:nvPr/>
        </p:nvSpPr>
        <p:spPr>
          <a:xfrm>
            <a:off x="7498080" y="370332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7’</a:t>
            </a:r>
            <a:endParaRPr lang="en-US" sz="1600" dirty="0"/>
          </a:p>
        </p:txBody>
      </p:sp>
      <p:sp>
        <p:nvSpPr>
          <p:cNvPr id="55" name="Text 52"/>
          <p:cNvSpPr txBox="1"/>
          <p:nvPr/>
        </p:nvSpPr>
        <p:spPr>
          <a:xfrm>
            <a:off x="8366760" y="3520440"/>
            <a:ext cx="3276295" cy="109728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Chọn 2 ứng viên: 1 lợi ích hữu hình + 1 vô hình cho bốn bên</a:t>
            </a:r>
            <a:endParaRPr lang="en-US" sz="1300" dirty="0"/>
          </a:p>
        </p:txBody>
      </p:sp>
      <p:sp>
        <p:nvSpPr>
          <p:cNvPr id="56" name="Shape 53"/>
          <p:cNvSpPr/>
          <p:nvPr/>
        </p:nvSpPr>
        <p:spPr>
          <a:xfrm>
            <a:off x="7498080" y="4983480"/>
            <a:ext cx="685800" cy="685800"/>
          </a:xfrm>
          <a:prstGeom prst="ellipse">
            <a:avLst/>
          </a:prstGeom>
          <a:solidFill>
            <a:srgbClr val="09A1E5"/>
          </a:solidFill>
          <a:ln w="12700">
            <a:solidFill>
              <a:srgbClr val="09A1E5"/>
            </a:solidFill>
            <a:prstDash val="solid"/>
          </a:ln>
        </p:spPr>
      </p:sp>
      <p:sp>
        <p:nvSpPr>
          <p:cNvPr id="57" name="Text 54"/>
          <p:cNvSpPr txBox="1"/>
          <p:nvPr/>
        </p:nvSpPr>
        <p:spPr>
          <a:xfrm>
            <a:off x="7498080" y="498348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5’</a:t>
            </a:r>
            <a:endParaRPr lang="en-US" sz="1600" dirty="0"/>
          </a:p>
        </p:txBody>
      </p:sp>
      <p:sp>
        <p:nvSpPr>
          <p:cNvPr id="58" name="Text 55"/>
          <p:cNvSpPr txBox="1"/>
          <p:nvPr/>
        </p:nvSpPr>
        <p:spPr>
          <a:xfrm>
            <a:off x="8366760" y="4800600"/>
            <a:ext cx="3276295" cy="109728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Nhanh Tiền: tài trợ hay đầu tư? + 1 câu giải thích với anh Minh về ứng viên bị từ chối</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3840480" y="1554480"/>
            <a:ext cx="548640" cy="548640"/>
          </a:xfrm>
          <a:prstGeom prst="ellipse">
            <a:avLst/>
          </a:prstGeom>
          <a:solidFill>
            <a:srgbClr val="FF9259"/>
          </a:solidFill>
          <a:ln w="12700">
            <a:solidFill>
              <a:srgbClr val="FF9259"/>
            </a:solidFill>
            <a:prstDash val="solid"/>
          </a:ln>
        </p:spPr>
      </p:sp>
      <p:sp>
        <p:nvSpPr>
          <p:cNvPr id="3" name="Shape 1"/>
          <p:cNvSpPr/>
          <p:nvPr/>
        </p:nvSpPr>
        <p:spPr>
          <a:xfrm>
            <a:off x="4617720" y="1554480"/>
            <a:ext cx="548640" cy="548640"/>
          </a:xfrm>
          <a:prstGeom prst="ellipse">
            <a:avLst/>
          </a:prstGeom>
          <a:solidFill>
            <a:srgbClr val="FFD23B"/>
          </a:solidFill>
          <a:ln w="12700">
            <a:solidFill>
              <a:srgbClr val="FFD23B"/>
            </a:solidFill>
            <a:prstDash val="solid"/>
          </a:ln>
        </p:spPr>
      </p:sp>
      <p:sp>
        <p:nvSpPr>
          <p:cNvPr id="4" name="Shape 2"/>
          <p:cNvSpPr/>
          <p:nvPr/>
        </p:nvSpPr>
        <p:spPr>
          <a:xfrm>
            <a:off x="5394960" y="1554480"/>
            <a:ext cx="548640" cy="548640"/>
          </a:xfrm>
          <a:prstGeom prst="ellipse">
            <a:avLst/>
          </a:prstGeom>
          <a:solidFill>
            <a:srgbClr val="49B296"/>
          </a:solidFill>
          <a:ln w="12700">
            <a:solidFill>
              <a:srgbClr val="49B296"/>
            </a:solidFill>
            <a:prstDash val="solid"/>
          </a:ln>
        </p:spPr>
      </p:sp>
      <p:sp>
        <p:nvSpPr>
          <p:cNvPr id="5" name="Shape 3"/>
          <p:cNvSpPr/>
          <p:nvPr/>
        </p:nvSpPr>
        <p:spPr>
          <a:xfrm>
            <a:off x="6172200" y="1554480"/>
            <a:ext cx="548640" cy="548640"/>
          </a:xfrm>
          <a:prstGeom prst="ellipse">
            <a:avLst/>
          </a:prstGeom>
          <a:solidFill>
            <a:srgbClr val="09A1E5"/>
          </a:solidFill>
          <a:ln w="12700">
            <a:solidFill>
              <a:srgbClr val="09A1E5"/>
            </a:solidFill>
            <a:prstDash val="solid"/>
          </a:ln>
        </p:spPr>
      </p:sp>
      <p:sp>
        <p:nvSpPr>
          <p:cNvPr id="6" name="Shape 4"/>
          <p:cNvSpPr/>
          <p:nvPr/>
        </p:nvSpPr>
        <p:spPr>
          <a:xfrm>
            <a:off x="6949440" y="1554480"/>
            <a:ext cx="548640" cy="548640"/>
          </a:xfrm>
          <a:prstGeom prst="ellipse">
            <a:avLst/>
          </a:prstGeom>
          <a:solidFill>
            <a:srgbClr val="962B7C"/>
          </a:solidFill>
          <a:ln w="12700">
            <a:solidFill>
              <a:srgbClr val="962B7C"/>
            </a:solidFill>
            <a:prstDash val="solid"/>
          </a:ln>
        </p:spPr>
      </p:sp>
      <p:sp>
        <p:nvSpPr>
          <p:cNvPr id="7" name="Shape 5"/>
          <p:cNvSpPr/>
          <p:nvPr/>
        </p:nvSpPr>
        <p:spPr>
          <a:xfrm>
            <a:off x="7726680" y="1554480"/>
            <a:ext cx="548640" cy="548640"/>
          </a:xfrm>
          <a:prstGeom prst="ellipse">
            <a:avLst/>
          </a:prstGeom>
          <a:solidFill>
            <a:srgbClr val="FF5178"/>
          </a:solidFill>
          <a:ln w="12700">
            <a:solidFill>
              <a:srgbClr val="FF5178"/>
            </a:solidFill>
            <a:prstDash val="solid"/>
          </a:ln>
        </p:spPr>
      </p:sp>
      <p:sp>
        <p:nvSpPr>
          <p:cNvPr id="8" name="Text 6"/>
          <p:cNvSpPr txBox="1"/>
          <p:nvPr/>
        </p:nvSpPr>
        <p:spPr>
          <a:xfrm>
            <a:off x="548640" y="2468880"/>
            <a:ext cx="11094415" cy="1097280"/>
          </a:xfrm>
          <a:prstGeom prst="rect">
            <a:avLst/>
          </a:prstGeom>
          <a:noFill/>
          <a:ln/>
        </p:spPr>
        <p:txBody>
          <a:bodyPr wrap="square" lIns="0" tIns="0" rIns="0" bIns="0" rtlCol="0" anchor="ctr"/>
          <a:lstStyle/>
          <a:p>
            <a:pPr algn="ctr" indent="0" marL="0">
              <a:buNone/>
            </a:pPr>
            <a:r>
              <a:rPr lang="en-US" sz="5400" b="1" dirty="0">
                <a:solidFill>
                  <a:srgbClr val="2A2238"/>
                </a:solidFill>
                <a:latin typeface="Alexandria" pitchFamily="34" charset="0"/>
                <a:ea typeface="Alexandria" pitchFamily="34" charset="-122"/>
                <a:cs typeface="Alexandria" pitchFamily="34" charset="-120"/>
              </a:rPr>
              <a:t>Giải lao 8 phút</a:t>
            </a:r>
            <a:endParaRPr lang="en-US" sz="5400" dirty="0"/>
          </a:p>
        </p:txBody>
      </p:sp>
      <p:sp>
        <p:nvSpPr>
          <p:cNvPr id="9" name="Text 7"/>
          <p:cNvSpPr txBox="1"/>
          <p:nvPr/>
        </p:nvSpPr>
        <p:spPr>
          <a:xfrm>
            <a:off x="548640" y="3749040"/>
            <a:ext cx="11094415" cy="640080"/>
          </a:xfrm>
          <a:prstGeom prst="rect">
            <a:avLst/>
          </a:prstGeom>
          <a:noFill/>
          <a:ln/>
        </p:spPr>
        <p:txBody>
          <a:bodyPr wrap="square" lIns="0" tIns="0" rIns="0" bIns="0" rtlCol="0" anchor="ctr"/>
          <a:lstStyle/>
          <a:p>
            <a:pPr algn="ctr" indent="0" marL="0">
              <a:buNone/>
            </a:pPr>
            <a:r>
              <a:rPr lang="en-US" sz="2600" dirty="0">
                <a:solidFill>
                  <a:srgbClr val="962B7C"/>
                </a:solidFill>
                <a:latin typeface="Alexandria" pitchFamily="34" charset="0"/>
                <a:ea typeface="Alexandria" pitchFamily="34" charset="-122"/>
                <a:cs typeface="Alexandria" pitchFamily="34" charset="-120"/>
              </a:rPr>
              <a:t>Quay lại lúc  ____ : ____</a:t>
            </a:r>
            <a:endParaRPr lang="en-US" sz="2600" dirty="0"/>
          </a:p>
        </p:txBody>
      </p:sp>
      <p:sp>
        <p:nvSpPr>
          <p:cNvPr id="10" name="Text 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“Gói 400 triệu mang lại gì cho tôi?”</a:t>
            </a:r>
            <a:endParaRPr lang="en-US" sz="2600" dirty="0"/>
          </a:p>
        </p:txBody>
      </p:sp>
      <p:sp>
        <p:nvSpPr>
          <p:cNvPr id="16" name="Text 14"/>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14</a:t>
            </a:r>
            <a:endParaRPr lang="en-US" sz="1000" dirty="0"/>
          </a:p>
        </p:txBody>
      </p:sp>
      <p:sp>
        <p:nvSpPr>
          <p:cNvPr id="18" name="Shape 15"/>
          <p:cNvSpPr/>
          <p:nvPr/>
        </p:nvSpPr>
        <p:spPr>
          <a:xfrm>
            <a:off x="548640" y="1920240"/>
            <a:ext cx="11094415" cy="1371600"/>
          </a:xfrm>
          <a:prstGeom prst="roundRect">
            <a:avLst>
              <a:gd name="adj" fmla="val 8000"/>
            </a:avLst>
          </a:prstGeom>
          <a:solidFill>
            <a:srgbClr val="F1E1EE"/>
          </a:solidFill>
          <a:ln w="12700">
            <a:solidFill>
              <a:srgbClr val="962B7C"/>
            </a:solidFill>
            <a:prstDash val="solid"/>
          </a:ln>
        </p:spPr>
      </p:sp>
      <p:sp>
        <p:nvSpPr>
          <p:cNvPr id="19" name="Text 16"/>
          <p:cNvSpPr txBox="1"/>
          <p:nvPr/>
        </p:nvSpPr>
        <p:spPr>
          <a:xfrm>
            <a:off x="914400" y="1920240"/>
            <a:ext cx="10362895" cy="1371600"/>
          </a:xfrm>
          <a:prstGeom prst="rect">
            <a:avLst/>
          </a:prstGeom>
          <a:noFill/>
          <a:ln/>
        </p:spPr>
        <p:txBody>
          <a:bodyPr wrap="square" lIns="0" tIns="0" rIns="0" bIns="0" rtlCol="0" anchor="ctr"/>
          <a:lstStyle/>
          <a:p>
            <a:pPr algn="ctr" indent="0" marL="0">
              <a:buNone/>
            </a:pPr>
            <a:r>
              <a:rPr lang="en-US" sz="1600" dirty="0">
                <a:solidFill>
                  <a:srgbClr val="6E6878"/>
                </a:solidFill>
                <a:latin typeface="Alexandria" pitchFamily="34" charset="0"/>
                <a:ea typeface="Alexandria" pitchFamily="34" charset="-122"/>
                <a:cs typeface="Alexandria" pitchFamily="34" charset="-120"/>
              </a:rPr>
              <a:t>Bảo hiểm Bình An hỏi Nova: </a:t>
            </a:r>
            <a:endParaRPr lang="en-US" sz="1600" dirty="0"/>
          </a:p>
          <a:p>
            <a:pPr algn="ctr" indent="0" marL="0">
              <a:buNone/>
            </a:pPr>
            <a:r>
              <a:rPr lang="en-US" sz="2600" b="1" i="1" dirty="0">
                <a:solidFill>
                  <a:srgbClr val="2A2238"/>
                </a:solidFill>
                <a:latin typeface="Alexandria" pitchFamily="34" charset="0"/>
                <a:ea typeface="Alexandria" pitchFamily="34" charset="-122"/>
                <a:cs typeface="Alexandria" pitchFamily="34" charset="-120"/>
              </a:rPr>
              <a:t>“Gói 400 triệu của các bạn mang lại gì cho tôi?”</a:t>
            </a:r>
            <a:endParaRPr lang="en-US" sz="1600" dirty="0"/>
          </a:p>
        </p:txBody>
      </p:sp>
      <p:sp>
        <p:nvSpPr>
          <p:cNvPr id="20" name="Shape 17"/>
          <p:cNvSpPr/>
          <p:nvPr/>
        </p:nvSpPr>
        <p:spPr>
          <a:xfrm>
            <a:off x="548640" y="3657600"/>
            <a:ext cx="5410048" cy="2286000"/>
          </a:xfrm>
          <a:prstGeom prst="roundRect">
            <a:avLst>
              <a:gd name="adj" fmla="val 4800"/>
            </a:avLst>
          </a:prstGeom>
          <a:solidFill>
            <a:srgbClr val="FFFFFF"/>
          </a:solidFill>
          <a:ln w="12700">
            <a:solidFill>
              <a:srgbClr val="DCD7C8"/>
            </a:solidFill>
            <a:prstDash val="solid"/>
          </a:ln>
        </p:spPr>
      </p:sp>
      <p:sp>
        <p:nvSpPr>
          <p:cNvPr id="21" name="Text 18"/>
          <p:cNvSpPr txBox="1"/>
          <p:nvPr/>
        </p:nvSpPr>
        <p:spPr>
          <a:xfrm>
            <a:off x="868680" y="3840480"/>
            <a:ext cx="4769968" cy="411480"/>
          </a:xfrm>
          <a:prstGeom prst="rect">
            <a:avLst/>
          </a:prstGeom>
          <a:noFill/>
          <a:ln/>
        </p:spPr>
        <p:txBody>
          <a:bodyPr wrap="square" lIns="0" tIns="0" rIns="0" bIns="0" rtlCol="0" anchor="ctr"/>
          <a:lstStyle/>
          <a:p>
            <a:pPr indent="0" marL="0">
              <a:buNone/>
            </a:pPr>
            <a:r>
              <a:rPr lang="en-US" sz="1500" dirty="0">
                <a:solidFill>
                  <a:srgbClr val="6E6878"/>
                </a:solidFill>
                <a:latin typeface="Alexandria" pitchFamily="34" charset="0"/>
                <a:ea typeface="Alexandria" pitchFamily="34" charset="-122"/>
                <a:cs typeface="Alexandria" pitchFamily="34" charset="-120"/>
              </a:rPr>
              <a:t>Nếu Nova trả lời</a:t>
            </a:r>
            <a:endParaRPr lang="en-US" sz="1500" dirty="0"/>
          </a:p>
        </p:txBody>
      </p:sp>
      <p:sp>
        <p:nvSpPr>
          <p:cNvPr id="22" name="Text 19"/>
          <p:cNvSpPr txBox="1"/>
          <p:nvPr/>
        </p:nvSpPr>
        <p:spPr>
          <a:xfrm>
            <a:off x="868680" y="4297680"/>
            <a:ext cx="4769968" cy="822960"/>
          </a:xfrm>
          <a:prstGeom prst="rect">
            <a:avLst/>
          </a:prstGeom>
          <a:noFill/>
          <a:ln/>
        </p:spPr>
        <p:txBody>
          <a:bodyPr wrap="square" lIns="0" tIns="0" rIns="0" bIns="0" rtlCol="0" anchor="ctr"/>
          <a:lstStyle/>
          <a:p>
            <a:pPr indent="0" marL="0">
              <a:buNone/>
            </a:pPr>
            <a:r>
              <a:rPr lang="en-US" sz="1900" i="1" dirty="0">
                <a:solidFill>
                  <a:srgbClr val="6E6878"/>
                </a:solidFill>
                <a:latin typeface="Alexandria" pitchFamily="34" charset="0"/>
                <a:ea typeface="Alexandria" pitchFamily="34" charset="-122"/>
                <a:cs typeface="Alexandria" pitchFamily="34" charset="-120"/>
              </a:rPr>
              <a:t>“Logo trên backdrop và 2 phút phát biểu.”</a:t>
            </a:r>
            <a:endParaRPr lang="en-US" sz="1900" dirty="0"/>
          </a:p>
        </p:txBody>
      </p:sp>
      <p:sp>
        <p:nvSpPr>
          <p:cNvPr id="23" name="Text 20"/>
          <p:cNvSpPr txBox="1"/>
          <p:nvPr/>
        </p:nvSpPr>
        <p:spPr>
          <a:xfrm>
            <a:off x="868680" y="5212080"/>
            <a:ext cx="4769968" cy="502920"/>
          </a:xfrm>
          <a:prstGeom prst="rect">
            <a:avLst/>
          </a:prstGeom>
          <a:noFill/>
          <a:ln/>
        </p:spPr>
        <p:txBody>
          <a:bodyPr wrap="square" lIns="0" tIns="0" rIns="0" bIns="0" rtlCol="0" anchor="ctr"/>
          <a:lstStyle/>
          <a:p>
            <a:pPr indent="0" marL="0">
              <a:buNone/>
            </a:pPr>
            <a:r>
              <a:rPr lang="en-US" sz="1800" dirty="0">
                <a:solidFill>
                  <a:srgbClr val="2A2238"/>
                </a:solidFill>
                <a:latin typeface="Alexandria" pitchFamily="34" charset="0"/>
                <a:ea typeface="Alexandria" pitchFamily="34" charset="-122"/>
                <a:cs typeface="Alexandria" pitchFamily="34" charset="-120"/>
              </a:rPr>
              <a:t>→ Bình An trả giá </a:t>
            </a:r>
            <a:pPr indent="0" marL="0">
              <a:buNone/>
            </a:pPr>
            <a:r>
              <a:rPr lang="en-US" sz="1800" b="1" dirty="0">
                <a:solidFill>
                  <a:srgbClr val="E03A62"/>
                </a:solidFill>
                <a:latin typeface="Alexandria" pitchFamily="34" charset="0"/>
                <a:ea typeface="Alexandria" pitchFamily="34" charset="-122"/>
                <a:cs typeface="Alexandria" pitchFamily="34" charset="-120"/>
              </a:rPr>
              <a:t>100 triệu</a:t>
            </a:r>
            <a:endParaRPr lang="en-US" sz="1800" dirty="0"/>
          </a:p>
        </p:txBody>
      </p:sp>
      <p:sp>
        <p:nvSpPr>
          <p:cNvPr id="24" name="Shape 21"/>
          <p:cNvSpPr/>
          <p:nvPr/>
        </p:nvSpPr>
        <p:spPr>
          <a:xfrm>
            <a:off x="6233008" y="3657600"/>
            <a:ext cx="5410048" cy="2286000"/>
          </a:xfrm>
          <a:prstGeom prst="roundRect">
            <a:avLst>
              <a:gd name="adj" fmla="val 4800"/>
            </a:avLst>
          </a:prstGeom>
          <a:solidFill>
            <a:srgbClr val="FFF3C4"/>
          </a:solidFill>
          <a:ln w="12700">
            <a:solidFill>
              <a:srgbClr val="FFD23B"/>
            </a:solidFill>
            <a:prstDash val="solid"/>
          </a:ln>
        </p:spPr>
      </p:sp>
      <p:sp>
        <p:nvSpPr>
          <p:cNvPr id="25" name="Text 22"/>
          <p:cNvSpPr txBox="1"/>
          <p:nvPr/>
        </p:nvSpPr>
        <p:spPr>
          <a:xfrm>
            <a:off x="6553048" y="3840480"/>
            <a:ext cx="4769968" cy="411480"/>
          </a:xfrm>
          <a:prstGeom prst="rect">
            <a:avLst/>
          </a:prstGeom>
          <a:noFill/>
          <a:ln/>
        </p:spPr>
        <p:txBody>
          <a:bodyPr wrap="square" lIns="0" tIns="0" rIns="0" bIns="0" rtlCol="0" anchor="ctr"/>
          <a:lstStyle/>
          <a:p>
            <a:pPr indent="0" marL="0">
              <a:buNone/>
            </a:pPr>
            <a:r>
              <a:rPr lang="en-US" sz="1500" dirty="0">
                <a:solidFill>
                  <a:srgbClr val="6E6878"/>
                </a:solidFill>
                <a:latin typeface="Alexandria" pitchFamily="34" charset="0"/>
                <a:ea typeface="Alexandria" pitchFamily="34" charset="-122"/>
                <a:cs typeface="Alexandria" pitchFamily="34" charset="-120"/>
              </a:rPr>
              <a:t>Nova cần trả lời bằng</a:t>
            </a:r>
            <a:endParaRPr lang="en-US" sz="1500" dirty="0"/>
          </a:p>
        </p:txBody>
      </p:sp>
      <p:sp>
        <p:nvSpPr>
          <p:cNvPr id="26" name="Text 23"/>
          <p:cNvSpPr txBox="1"/>
          <p:nvPr/>
        </p:nvSpPr>
        <p:spPr>
          <a:xfrm>
            <a:off x="6553048" y="4297680"/>
            <a:ext cx="4769968" cy="1371600"/>
          </a:xfrm>
          <a:prstGeom prst="rect">
            <a:avLst/>
          </a:prstGeom>
          <a:noFill/>
          <a:ln/>
        </p:spPr>
        <p:txBody>
          <a:bodyPr wrap="square" lIns="0" tIns="0" rIns="0" bIns="0" rtlCol="0" anchor="t"/>
          <a:lstStyle/>
          <a:p>
            <a:pPr indent="0" marL="0">
              <a:buNone/>
            </a:pPr>
            <a:r>
              <a:rPr lang="en-US" sz="1900" b="1" dirty="0">
                <a:solidFill>
                  <a:srgbClr val="2A2238"/>
                </a:solidFill>
                <a:latin typeface="Alexandria" pitchFamily="34" charset="0"/>
                <a:ea typeface="Alexandria" pitchFamily="34" charset="-122"/>
                <a:cs typeface="Alexandria" pitchFamily="34" charset="-120"/>
              </a:rPr>
              <a:t>mục tiêu của Bình An → khán giả → quyền lợi → kích hoạt → cách đo</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Đề xuất win-win có 7 phần</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Cấu trúc do người soạn dựng từ U01, U04–U07 — chưa có hướng dẫn chuẩn từ một hiệp hội.</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15</a:t>
            </a:r>
            <a:endParaRPr lang="en-US" sz="1000" dirty="0"/>
          </a:p>
        </p:txBody>
      </p:sp>
      <p:sp>
        <p:nvSpPr>
          <p:cNvPr id="19" name="Shape 16"/>
          <p:cNvSpPr/>
          <p:nvPr/>
        </p:nvSpPr>
        <p:spPr>
          <a:xfrm>
            <a:off x="548640" y="2103120"/>
            <a:ext cx="1490864" cy="1005840"/>
          </a:xfrm>
          <a:prstGeom prst="chevron">
            <a:avLst/>
          </a:prstGeom>
          <a:solidFill>
            <a:srgbClr val="962B7C"/>
          </a:solidFill>
          <a:ln w="12700">
            <a:solidFill>
              <a:srgbClr val="962B7C"/>
            </a:solidFill>
            <a:prstDash val="solid"/>
          </a:ln>
        </p:spPr>
      </p:sp>
      <p:sp>
        <p:nvSpPr>
          <p:cNvPr id="20" name="Text 17"/>
          <p:cNvSpPr txBox="1"/>
          <p:nvPr/>
        </p:nvSpPr>
        <p:spPr>
          <a:xfrm>
            <a:off x="731520" y="2103120"/>
            <a:ext cx="1216544"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1</a:t>
            </a:r>
            <a:endParaRPr lang="en-US" sz="2600" dirty="0"/>
          </a:p>
        </p:txBody>
      </p:sp>
      <p:sp>
        <p:nvSpPr>
          <p:cNvPr id="21" name="Text 18"/>
          <p:cNvSpPr txBox="1"/>
          <p:nvPr/>
        </p:nvSpPr>
        <p:spPr>
          <a:xfrm>
            <a:off x="548640" y="3291840"/>
            <a:ext cx="1490864" cy="45720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Mục tiêu</a:t>
            </a:r>
            <a:endParaRPr lang="en-US" sz="1500" dirty="0"/>
          </a:p>
        </p:txBody>
      </p:sp>
      <p:sp>
        <p:nvSpPr>
          <p:cNvPr id="22" name="Text 19"/>
          <p:cNvSpPr txBox="1"/>
          <p:nvPr/>
        </p:nvSpPr>
        <p:spPr>
          <a:xfrm>
            <a:off x="594360" y="3749040"/>
            <a:ext cx="1399424" cy="914400"/>
          </a:xfrm>
          <a:prstGeom prst="rect">
            <a:avLst/>
          </a:prstGeom>
          <a:noFill/>
          <a:ln/>
        </p:spPr>
        <p:txBody>
          <a:bodyPr wrap="square" lIns="0" tIns="0" rIns="0" bIns="0" rtlCol="0" anchor="t"/>
          <a:lstStyle/>
          <a:p>
            <a:pPr algn="ctr" indent="0" marL="0">
              <a:buNone/>
            </a:pPr>
            <a:r>
              <a:rPr lang="en-US" sz="1200" dirty="0">
                <a:solidFill>
                  <a:srgbClr val="6E6878"/>
                </a:solidFill>
                <a:latin typeface="Alexandria" pitchFamily="34" charset="0"/>
                <a:ea typeface="Alexandria" pitchFamily="34" charset="-122"/>
                <a:cs typeface="Alexandria" pitchFamily="34" charset="-120"/>
              </a:rPr>
              <a:t>nhà tài trợ muốn gì</a:t>
            </a:r>
            <a:endParaRPr lang="en-US" sz="1200" dirty="0"/>
          </a:p>
        </p:txBody>
      </p:sp>
      <p:sp>
        <p:nvSpPr>
          <p:cNvPr id="23" name="Shape 20"/>
          <p:cNvSpPr/>
          <p:nvPr/>
        </p:nvSpPr>
        <p:spPr>
          <a:xfrm>
            <a:off x="2149232" y="2103120"/>
            <a:ext cx="1490864" cy="1005840"/>
          </a:xfrm>
          <a:prstGeom prst="chevron">
            <a:avLst/>
          </a:prstGeom>
          <a:solidFill>
            <a:srgbClr val="09A1E5"/>
          </a:solidFill>
          <a:ln w="12700">
            <a:solidFill>
              <a:srgbClr val="09A1E5"/>
            </a:solidFill>
            <a:prstDash val="solid"/>
          </a:ln>
        </p:spPr>
      </p:sp>
      <p:sp>
        <p:nvSpPr>
          <p:cNvPr id="24" name="Text 21"/>
          <p:cNvSpPr txBox="1"/>
          <p:nvPr/>
        </p:nvSpPr>
        <p:spPr>
          <a:xfrm>
            <a:off x="2332112" y="2103120"/>
            <a:ext cx="1216544"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2</a:t>
            </a:r>
            <a:endParaRPr lang="en-US" sz="2600" dirty="0"/>
          </a:p>
        </p:txBody>
      </p:sp>
      <p:sp>
        <p:nvSpPr>
          <p:cNvPr id="25" name="Text 22"/>
          <p:cNvSpPr txBox="1"/>
          <p:nvPr/>
        </p:nvSpPr>
        <p:spPr>
          <a:xfrm>
            <a:off x="2149232" y="3291840"/>
            <a:ext cx="1490864" cy="45720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Khán giả</a:t>
            </a:r>
            <a:endParaRPr lang="en-US" sz="1500" dirty="0"/>
          </a:p>
        </p:txBody>
      </p:sp>
      <p:sp>
        <p:nvSpPr>
          <p:cNvPr id="26" name="Text 23"/>
          <p:cNvSpPr txBox="1"/>
          <p:nvPr/>
        </p:nvSpPr>
        <p:spPr>
          <a:xfrm>
            <a:off x="2194952" y="3749040"/>
            <a:ext cx="1399424" cy="914400"/>
          </a:xfrm>
          <a:prstGeom prst="rect">
            <a:avLst/>
          </a:prstGeom>
          <a:noFill/>
          <a:ln/>
        </p:spPr>
        <p:txBody>
          <a:bodyPr wrap="square" lIns="0" tIns="0" rIns="0" bIns="0" rtlCol="0" anchor="t"/>
          <a:lstStyle/>
          <a:p>
            <a:pPr algn="ctr" indent="0" marL="0">
              <a:buNone/>
            </a:pPr>
            <a:r>
              <a:rPr lang="en-US" sz="1200" dirty="0">
                <a:solidFill>
                  <a:srgbClr val="6E6878"/>
                </a:solidFill>
                <a:latin typeface="Alexandria" pitchFamily="34" charset="0"/>
                <a:ea typeface="Alexandria" pitchFamily="34" charset="-122"/>
                <a:cs typeface="Alexandria" pitchFamily="34" charset="-120"/>
              </a:rPr>
              <a:t>khách của Key Account là ai</a:t>
            </a:r>
            <a:endParaRPr lang="en-US" sz="1200" dirty="0"/>
          </a:p>
        </p:txBody>
      </p:sp>
      <p:sp>
        <p:nvSpPr>
          <p:cNvPr id="27" name="Shape 24"/>
          <p:cNvSpPr/>
          <p:nvPr/>
        </p:nvSpPr>
        <p:spPr>
          <a:xfrm>
            <a:off x="3749824" y="2103120"/>
            <a:ext cx="1490864" cy="1005840"/>
          </a:xfrm>
          <a:prstGeom prst="chevron">
            <a:avLst/>
          </a:prstGeom>
          <a:solidFill>
            <a:srgbClr val="FF9259"/>
          </a:solidFill>
          <a:ln w="12700">
            <a:solidFill>
              <a:srgbClr val="FF9259"/>
            </a:solidFill>
            <a:prstDash val="solid"/>
          </a:ln>
        </p:spPr>
      </p:sp>
      <p:sp>
        <p:nvSpPr>
          <p:cNvPr id="28" name="Text 25"/>
          <p:cNvSpPr txBox="1"/>
          <p:nvPr/>
        </p:nvSpPr>
        <p:spPr>
          <a:xfrm>
            <a:off x="3932704" y="2103120"/>
            <a:ext cx="1216544"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3</a:t>
            </a:r>
            <a:endParaRPr lang="en-US" sz="2600" dirty="0"/>
          </a:p>
        </p:txBody>
      </p:sp>
      <p:sp>
        <p:nvSpPr>
          <p:cNvPr id="29" name="Text 26"/>
          <p:cNvSpPr txBox="1"/>
          <p:nvPr/>
        </p:nvSpPr>
        <p:spPr>
          <a:xfrm>
            <a:off x="3749824" y="3291840"/>
            <a:ext cx="1490864" cy="45720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Quyền lợi</a:t>
            </a:r>
            <a:endParaRPr lang="en-US" sz="1500" dirty="0"/>
          </a:p>
        </p:txBody>
      </p:sp>
      <p:sp>
        <p:nvSpPr>
          <p:cNvPr id="30" name="Text 27"/>
          <p:cNvSpPr txBox="1"/>
          <p:nvPr/>
        </p:nvSpPr>
        <p:spPr>
          <a:xfrm>
            <a:off x="3795544" y="3749040"/>
            <a:ext cx="1399424" cy="914400"/>
          </a:xfrm>
          <a:prstGeom prst="rect">
            <a:avLst/>
          </a:prstGeom>
          <a:noFill/>
          <a:ln/>
        </p:spPr>
        <p:txBody>
          <a:bodyPr wrap="square" lIns="0" tIns="0" rIns="0" bIns="0" rtlCol="0" anchor="t"/>
          <a:lstStyle/>
          <a:p>
            <a:pPr algn="ctr" indent="0" marL="0">
              <a:buNone/>
            </a:pPr>
            <a:r>
              <a:rPr lang="en-US" sz="1200" dirty="0">
                <a:solidFill>
                  <a:srgbClr val="6E6878"/>
                </a:solidFill>
                <a:latin typeface="Alexandria" pitchFamily="34" charset="0"/>
                <a:ea typeface="Alexandria" pitchFamily="34" charset="-122"/>
                <a:cs typeface="Alexandria" pitchFamily="34" charset="-120"/>
              </a:rPr>
              <a:t>theo hạng, gắn điểm chạm</a:t>
            </a:r>
            <a:endParaRPr lang="en-US" sz="1200" dirty="0"/>
          </a:p>
        </p:txBody>
      </p:sp>
      <p:sp>
        <p:nvSpPr>
          <p:cNvPr id="31" name="Shape 28"/>
          <p:cNvSpPr/>
          <p:nvPr/>
        </p:nvSpPr>
        <p:spPr>
          <a:xfrm>
            <a:off x="5350416" y="2103120"/>
            <a:ext cx="1490864" cy="1005840"/>
          </a:xfrm>
          <a:prstGeom prst="chevron">
            <a:avLst/>
          </a:prstGeom>
          <a:solidFill>
            <a:srgbClr val="FF5178"/>
          </a:solidFill>
          <a:ln w="12700">
            <a:solidFill>
              <a:srgbClr val="FF5178"/>
            </a:solidFill>
            <a:prstDash val="solid"/>
          </a:ln>
        </p:spPr>
      </p:sp>
      <p:sp>
        <p:nvSpPr>
          <p:cNvPr id="32" name="Text 29"/>
          <p:cNvSpPr txBox="1"/>
          <p:nvPr/>
        </p:nvSpPr>
        <p:spPr>
          <a:xfrm>
            <a:off x="5533296" y="2103120"/>
            <a:ext cx="1216544"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4</a:t>
            </a:r>
            <a:endParaRPr lang="en-US" sz="2600" dirty="0"/>
          </a:p>
        </p:txBody>
      </p:sp>
      <p:sp>
        <p:nvSpPr>
          <p:cNvPr id="33" name="Text 30"/>
          <p:cNvSpPr txBox="1"/>
          <p:nvPr/>
        </p:nvSpPr>
        <p:spPr>
          <a:xfrm>
            <a:off x="5350416" y="3291840"/>
            <a:ext cx="1490864" cy="45720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Kích hoạt</a:t>
            </a:r>
            <a:endParaRPr lang="en-US" sz="1500" dirty="0"/>
          </a:p>
        </p:txBody>
      </p:sp>
      <p:sp>
        <p:nvSpPr>
          <p:cNvPr id="34" name="Text 31"/>
          <p:cNvSpPr txBox="1"/>
          <p:nvPr/>
        </p:nvSpPr>
        <p:spPr>
          <a:xfrm>
            <a:off x="5396136" y="3749040"/>
            <a:ext cx="1399424" cy="914400"/>
          </a:xfrm>
          <a:prstGeom prst="rect">
            <a:avLst/>
          </a:prstGeom>
          <a:noFill/>
          <a:ln/>
        </p:spPr>
        <p:txBody>
          <a:bodyPr wrap="square" lIns="0" tIns="0" rIns="0" bIns="0" rtlCol="0" anchor="t"/>
          <a:lstStyle/>
          <a:p>
            <a:pPr algn="ctr" indent="0" marL="0">
              <a:buNone/>
            </a:pPr>
            <a:r>
              <a:rPr lang="en-US" sz="1200" dirty="0">
                <a:solidFill>
                  <a:srgbClr val="6E6878"/>
                </a:solidFill>
                <a:latin typeface="Alexandria" pitchFamily="34" charset="0"/>
                <a:ea typeface="Alexandria" pitchFamily="34" charset="-122"/>
                <a:cs typeface="Alexandria" pitchFamily="34" charset="-120"/>
              </a:rPr>
              <a:t>làm gì, ngân sách riêng</a:t>
            </a:r>
            <a:endParaRPr lang="en-US" sz="1200" dirty="0"/>
          </a:p>
        </p:txBody>
      </p:sp>
      <p:sp>
        <p:nvSpPr>
          <p:cNvPr id="35" name="Shape 32"/>
          <p:cNvSpPr/>
          <p:nvPr/>
        </p:nvSpPr>
        <p:spPr>
          <a:xfrm>
            <a:off x="6951008" y="2103120"/>
            <a:ext cx="1490864" cy="1005840"/>
          </a:xfrm>
          <a:prstGeom prst="chevron">
            <a:avLst/>
          </a:prstGeom>
          <a:solidFill>
            <a:srgbClr val="49B296"/>
          </a:solidFill>
          <a:ln w="12700">
            <a:solidFill>
              <a:srgbClr val="49B296"/>
            </a:solidFill>
            <a:prstDash val="solid"/>
          </a:ln>
        </p:spPr>
      </p:sp>
      <p:sp>
        <p:nvSpPr>
          <p:cNvPr id="36" name="Text 33"/>
          <p:cNvSpPr txBox="1"/>
          <p:nvPr/>
        </p:nvSpPr>
        <p:spPr>
          <a:xfrm>
            <a:off x="7133888" y="2103120"/>
            <a:ext cx="1216544"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5</a:t>
            </a:r>
            <a:endParaRPr lang="en-US" sz="2600" dirty="0"/>
          </a:p>
        </p:txBody>
      </p:sp>
      <p:sp>
        <p:nvSpPr>
          <p:cNvPr id="37" name="Text 34"/>
          <p:cNvSpPr txBox="1"/>
          <p:nvPr/>
        </p:nvSpPr>
        <p:spPr>
          <a:xfrm>
            <a:off x="6951008" y="3291840"/>
            <a:ext cx="1490864" cy="45720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Đo lường</a:t>
            </a:r>
            <a:endParaRPr lang="en-US" sz="1500" dirty="0"/>
          </a:p>
        </p:txBody>
      </p:sp>
      <p:sp>
        <p:nvSpPr>
          <p:cNvPr id="38" name="Text 35"/>
          <p:cNvSpPr txBox="1"/>
          <p:nvPr/>
        </p:nvSpPr>
        <p:spPr>
          <a:xfrm>
            <a:off x="6996728" y="3749040"/>
            <a:ext cx="1399424" cy="914400"/>
          </a:xfrm>
          <a:prstGeom prst="rect">
            <a:avLst/>
          </a:prstGeom>
          <a:noFill/>
          <a:ln/>
        </p:spPr>
        <p:txBody>
          <a:bodyPr wrap="square" lIns="0" tIns="0" rIns="0" bIns="0" rtlCol="0" anchor="t"/>
          <a:lstStyle/>
          <a:p>
            <a:pPr algn="ctr" indent="0" marL="0">
              <a:buNone/>
            </a:pPr>
            <a:r>
              <a:rPr lang="en-US" sz="1200" dirty="0">
                <a:solidFill>
                  <a:srgbClr val="6E6878"/>
                </a:solidFill>
                <a:latin typeface="Alexandria" pitchFamily="34" charset="0"/>
                <a:ea typeface="Alexandria" pitchFamily="34" charset="-122"/>
                <a:cs typeface="Alexandria" pitchFamily="34" charset="-120"/>
              </a:rPr>
              <a:t>ROO + ROI, ai cấp dữ liệu</a:t>
            </a:r>
            <a:endParaRPr lang="en-US" sz="1200" dirty="0"/>
          </a:p>
        </p:txBody>
      </p:sp>
      <p:sp>
        <p:nvSpPr>
          <p:cNvPr id="39" name="Shape 36"/>
          <p:cNvSpPr/>
          <p:nvPr/>
        </p:nvSpPr>
        <p:spPr>
          <a:xfrm>
            <a:off x="8551599" y="2103120"/>
            <a:ext cx="1490864" cy="1005840"/>
          </a:xfrm>
          <a:prstGeom prst="chevron">
            <a:avLst/>
          </a:prstGeom>
          <a:solidFill>
            <a:srgbClr val="962B7C"/>
          </a:solidFill>
          <a:ln w="12700">
            <a:solidFill>
              <a:srgbClr val="962B7C"/>
            </a:solidFill>
            <a:prstDash val="solid"/>
          </a:ln>
        </p:spPr>
      </p:sp>
      <p:sp>
        <p:nvSpPr>
          <p:cNvPr id="40" name="Text 37"/>
          <p:cNvSpPr txBox="1"/>
          <p:nvPr/>
        </p:nvSpPr>
        <p:spPr>
          <a:xfrm>
            <a:off x="8734479" y="2103120"/>
            <a:ext cx="1216544"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6</a:t>
            </a:r>
            <a:endParaRPr lang="en-US" sz="2600" dirty="0"/>
          </a:p>
        </p:txBody>
      </p:sp>
      <p:sp>
        <p:nvSpPr>
          <p:cNvPr id="41" name="Text 38"/>
          <p:cNvSpPr txBox="1"/>
          <p:nvPr/>
        </p:nvSpPr>
        <p:spPr>
          <a:xfrm>
            <a:off x="8551599" y="3291840"/>
            <a:ext cx="1490864" cy="45720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Điều khoản</a:t>
            </a:r>
            <a:endParaRPr lang="en-US" sz="1500" dirty="0"/>
          </a:p>
        </p:txBody>
      </p:sp>
      <p:sp>
        <p:nvSpPr>
          <p:cNvPr id="42" name="Text 39"/>
          <p:cNvSpPr txBox="1"/>
          <p:nvPr/>
        </p:nvSpPr>
        <p:spPr>
          <a:xfrm>
            <a:off x="8597319" y="3749040"/>
            <a:ext cx="1399424" cy="914400"/>
          </a:xfrm>
          <a:prstGeom prst="rect">
            <a:avLst/>
          </a:prstGeom>
          <a:noFill/>
          <a:ln/>
        </p:spPr>
        <p:txBody>
          <a:bodyPr wrap="square" lIns="0" tIns="0" rIns="0" bIns="0" rtlCol="0" anchor="t"/>
          <a:lstStyle/>
          <a:p>
            <a:pPr algn="ctr" indent="0" marL="0">
              <a:buNone/>
            </a:pPr>
            <a:r>
              <a:rPr lang="en-US" sz="1200" dirty="0">
                <a:solidFill>
                  <a:srgbClr val="6E6878"/>
                </a:solidFill>
                <a:latin typeface="Alexandria" pitchFamily="34" charset="0"/>
                <a:ea typeface="Alexandria" pitchFamily="34" charset="-122"/>
                <a:cs typeface="Alexandria" pitchFamily="34" charset="-120"/>
              </a:rPr>
              <a:t>đo lường ghi vào hợp đồng</a:t>
            </a:r>
            <a:endParaRPr lang="en-US" sz="1200" dirty="0"/>
          </a:p>
        </p:txBody>
      </p:sp>
      <p:sp>
        <p:nvSpPr>
          <p:cNvPr id="43" name="Shape 40"/>
          <p:cNvSpPr/>
          <p:nvPr/>
        </p:nvSpPr>
        <p:spPr>
          <a:xfrm>
            <a:off x="10152191" y="2103120"/>
            <a:ext cx="1490864" cy="1005840"/>
          </a:xfrm>
          <a:prstGeom prst="chevron">
            <a:avLst/>
          </a:prstGeom>
          <a:solidFill>
            <a:srgbClr val="09A1E5"/>
          </a:solidFill>
          <a:ln w="12700">
            <a:solidFill>
              <a:srgbClr val="09A1E5"/>
            </a:solidFill>
            <a:prstDash val="solid"/>
          </a:ln>
        </p:spPr>
      </p:sp>
      <p:sp>
        <p:nvSpPr>
          <p:cNvPr id="44" name="Text 41"/>
          <p:cNvSpPr txBox="1"/>
          <p:nvPr/>
        </p:nvSpPr>
        <p:spPr>
          <a:xfrm>
            <a:off x="10335071" y="2103120"/>
            <a:ext cx="1216544"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7</a:t>
            </a:r>
            <a:endParaRPr lang="en-US" sz="2600" dirty="0"/>
          </a:p>
        </p:txBody>
      </p:sp>
      <p:sp>
        <p:nvSpPr>
          <p:cNvPr id="45" name="Text 42"/>
          <p:cNvSpPr txBox="1"/>
          <p:nvPr/>
        </p:nvSpPr>
        <p:spPr>
          <a:xfrm>
            <a:off x="10152191" y="3291840"/>
            <a:ext cx="1490864" cy="45720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Giá</a:t>
            </a:r>
            <a:endParaRPr lang="en-US" sz="1500" dirty="0"/>
          </a:p>
        </p:txBody>
      </p:sp>
      <p:sp>
        <p:nvSpPr>
          <p:cNvPr id="46" name="Text 43"/>
          <p:cNvSpPr txBox="1"/>
          <p:nvPr/>
        </p:nvSpPr>
        <p:spPr>
          <a:xfrm>
            <a:off x="10197911" y="3749040"/>
            <a:ext cx="1399424" cy="914400"/>
          </a:xfrm>
          <a:prstGeom prst="rect">
            <a:avLst/>
          </a:prstGeom>
          <a:noFill/>
          <a:ln/>
        </p:spPr>
        <p:txBody>
          <a:bodyPr wrap="square" lIns="0" tIns="0" rIns="0" bIns="0" rtlCol="0" anchor="t"/>
          <a:lstStyle/>
          <a:p>
            <a:pPr algn="ctr" indent="0" marL="0">
              <a:buNone/>
            </a:pPr>
            <a:r>
              <a:rPr lang="en-US" sz="1200" dirty="0">
                <a:solidFill>
                  <a:srgbClr val="6E6878"/>
                </a:solidFill>
                <a:latin typeface="Alexandria" pitchFamily="34" charset="0"/>
                <a:ea typeface="Alexandria" pitchFamily="34" charset="-122"/>
                <a:cs typeface="Alexandria" pitchFamily="34" charset="-120"/>
              </a:rPr>
              <a:t>phí quyền + kích hoạt</a:t>
            </a:r>
            <a:endParaRPr lang="en-US" sz="1200" dirty="0"/>
          </a:p>
        </p:txBody>
      </p:sp>
      <p:sp>
        <p:nvSpPr>
          <p:cNvPr id="47" name="Shape 44"/>
          <p:cNvSpPr/>
          <p:nvPr/>
        </p:nvSpPr>
        <p:spPr>
          <a:xfrm>
            <a:off x="548640" y="4892040"/>
            <a:ext cx="11094415" cy="1097280"/>
          </a:xfrm>
          <a:prstGeom prst="roundRect">
            <a:avLst>
              <a:gd name="adj" fmla="val 10000"/>
            </a:avLst>
          </a:prstGeom>
          <a:solidFill>
            <a:srgbClr val="FFF3C4"/>
          </a:solidFill>
          <a:ln w="12700">
            <a:solidFill>
              <a:srgbClr val="FFD23B"/>
            </a:solidFill>
            <a:prstDash val="solid"/>
          </a:ln>
        </p:spPr>
      </p:sp>
      <p:sp>
        <p:nvSpPr>
          <p:cNvPr id="48" name="Text 45"/>
          <p:cNvSpPr txBox="1"/>
          <p:nvPr/>
        </p:nvSpPr>
        <p:spPr>
          <a:xfrm>
            <a:off x="868680" y="4892040"/>
            <a:ext cx="10454335" cy="109728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Bắt đầu </a:t>
            </a:r>
            <a:pPr indent="0" marL="0">
              <a:buNone/>
            </a:pPr>
            <a:r>
              <a:rPr lang="en-US" sz="1700" b="1" dirty="0">
                <a:solidFill>
                  <a:srgbClr val="2A2238"/>
                </a:solidFill>
                <a:latin typeface="Alexandria" pitchFamily="34" charset="0"/>
                <a:ea typeface="Alexandria" pitchFamily="34" charset="-122"/>
                <a:cs typeface="Alexandria" pitchFamily="34" charset="-120"/>
              </a:rPr>
              <a:t>từ mục tiêu của nhà tài trợ</a:t>
            </a:r>
            <a:pPr indent="0" marL="0">
              <a:buNone/>
            </a:pPr>
            <a:r>
              <a:rPr lang="en-US" sz="1700" dirty="0">
                <a:solidFill>
                  <a:srgbClr val="2A2238"/>
                </a:solidFill>
                <a:latin typeface="Alexandria" pitchFamily="34" charset="0"/>
                <a:ea typeface="Alexandria" pitchFamily="34" charset="-122"/>
                <a:cs typeface="Alexandria" pitchFamily="34" charset="-120"/>
              </a:rPr>
              <a:t>, kết thúc </a:t>
            </a:r>
            <a:pPr indent="0" marL="0">
              <a:buNone/>
            </a:pPr>
            <a:r>
              <a:rPr lang="en-US" sz="1700" b="1" dirty="0">
                <a:solidFill>
                  <a:srgbClr val="2A2238"/>
                </a:solidFill>
                <a:latin typeface="Alexandria" pitchFamily="34" charset="0"/>
                <a:ea typeface="Alexandria" pitchFamily="34" charset="-122"/>
                <a:cs typeface="Alexandria" pitchFamily="34" charset="-120"/>
              </a:rPr>
              <a:t>bằng cam kết đo lường ghi vào hợp đồng</a:t>
            </a:r>
            <a:pPr indent="0" marL="0">
              <a:buNone/>
            </a:pPr>
            <a:r>
              <a:rPr lang="en-US" sz="1700" dirty="0">
                <a:solidFill>
                  <a:srgbClr val="2A2238"/>
                </a:solidFill>
                <a:latin typeface="Alexandria" pitchFamily="34" charset="0"/>
                <a:ea typeface="Alexandria" pitchFamily="34" charset="-122"/>
                <a:cs typeface="Alexandria" pitchFamily="34" charset="-120"/>
              </a:rPr>
              <a:t> — không phải bảng giá logo.</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Win-win nghĩa là cả nhà tài trợ, Key Account và khách đều được lợi</a:t>
            </a:r>
            <a:endParaRPr lang="en-US" sz="2600" dirty="0"/>
          </a:p>
        </p:txBody>
      </p:sp>
      <p:sp>
        <p:nvSpPr>
          <p:cNvPr id="16" name="Text 14"/>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16</a:t>
            </a:r>
            <a:endParaRPr lang="en-US" sz="1000" dirty="0"/>
          </a:p>
        </p:txBody>
      </p:sp>
      <p:sp>
        <p:nvSpPr>
          <p:cNvPr id="18" name="Shape 15"/>
          <p:cNvSpPr/>
          <p:nvPr/>
        </p:nvSpPr>
        <p:spPr>
          <a:xfrm>
            <a:off x="1527048" y="1909267"/>
            <a:ext cx="2926080" cy="2926080"/>
          </a:xfrm>
          <a:prstGeom prst="ellipse">
            <a:avLst/>
          </a:prstGeom>
          <a:solidFill>
            <a:srgbClr val="962B7C">
              <a:alpha val="28000"/>
            </a:srgbClr>
          </a:solidFill>
          <a:ln w="25400">
            <a:solidFill>
              <a:srgbClr val="962B7C"/>
            </a:solidFill>
            <a:prstDash val="solid"/>
          </a:ln>
        </p:spPr>
      </p:sp>
      <p:sp>
        <p:nvSpPr>
          <p:cNvPr id="19" name="Shape 16"/>
          <p:cNvSpPr/>
          <p:nvPr/>
        </p:nvSpPr>
        <p:spPr>
          <a:xfrm>
            <a:off x="3136392" y="1909267"/>
            <a:ext cx="2926080" cy="2926080"/>
          </a:xfrm>
          <a:prstGeom prst="ellipse">
            <a:avLst/>
          </a:prstGeom>
          <a:solidFill>
            <a:srgbClr val="09A1E5">
              <a:alpha val="28000"/>
            </a:srgbClr>
          </a:solidFill>
          <a:ln w="25400">
            <a:solidFill>
              <a:srgbClr val="09A1E5"/>
            </a:solidFill>
            <a:prstDash val="solid"/>
          </a:ln>
        </p:spPr>
      </p:sp>
      <p:sp>
        <p:nvSpPr>
          <p:cNvPr id="20" name="Shape 17"/>
          <p:cNvSpPr/>
          <p:nvPr/>
        </p:nvSpPr>
        <p:spPr>
          <a:xfrm>
            <a:off x="2331720" y="3284525"/>
            <a:ext cx="2926080" cy="2926080"/>
          </a:xfrm>
          <a:prstGeom prst="ellipse">
            <a:avLst/>
          </a:prstGeom>
          <a:solidFill>
            <a:srgbClr val="FF5178">
              <a:alpha val="28000"/>
            </a:srgbClr>
          </a:solidFill>
          <a:ln w="25400">
            <a:solidFill>
              <a:srgbClr val="FF5178"/>
            </a:solidFill>
            <a:prstDash val="solid"/>
          </a:ln>
        </p:spPr>
      </p:sp>
      <p:sp>
        <p:nvSpPr>
          <p:cNvPr id="21" name="Text 18"/>
          <p:cNvSpPr txBox="1"/>
          <p:nvPr/>
        </p:nvSpPr>
        <p:spPr>
          <a:xfrm>
            <a:off x="2167128" y="2743200"/>
            <a:ext cx="1572768" cy="6400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Nhà tài trợ</a:t>
            </a:r>
            <a:endParaRPr lang="en-US" sz="1400" dirty="0"/>
          </a:p>
        </p:txBody>
      </p:sp>
      <p:sp>
        <p:nvSpPr>
          <p:cNvPr id="22" name="Text 19"/>
          <p:cNvSpPr txBox="1"/>
          <p:nvPr/>
        </p:nvSpPr>
        <p:spPr>
          <a:xfrm>
            <a:off x="3995928" y="2743200"/>
            <a:ext cx="1572768" cy="6400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Key Account</a:t>
            </a:r>
            <a:endParaRPr lang="en-US" sz="1400" dirty="0"/>
          </a:p>
        </p:txBody>
      </p:sp>
      <p:sp>
        <p:nvSpPr>
          <p:cNvPr id="23" name="Text 20"/>
          <p:cNvSpPr txBox="1"/>
          <p:nvPr/>
        </p:nvSpPr>
        <p:spPr>
          <a:xfrm>
            <a:off x="3088843" y="5303520"/>
            <a:ext cx="1572768" cy="6400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Khách của KA</a:t>
            </a:r>
            <a:endParaRPr lang="en-US" sz="1400" dirty="0"/>
          </a:p>
        </p:txBody>
      </p:sp>
      <p:sp>
        <p:nvSpPr>
          <p:cNvPr id="24" name="Shape 21"/>
          <p:cNvSpPr/>
          <p:nvPr/>
        </p:nvSpPr>
        <p:spPr>
          <a:xfrm>
            <a:off x="3108960" y="3730752"/>
            <a:ext cx="1371600" cy="457200"/>
          </a:xfrm>
          <a:prstGeom prst="roundRect">
            <a:avLst>
              <a:gd name="adj" fmla="val 50000"/>
            </a:avLst>
          </a:prstGeom>
          <a:solidFill>
            <a:srgbClr val="FFD23B"/>
          </a:solidFill>
          <a:ln w="12700">
            <a:solidFill>
              <a:srgbClr val="FFD23B"/>
            </a:solidFill>
            <a:prstDash val="solid"/>
          </a:ln>
        </p:spPr>
      </p:sp>
      <p:sp>
        <p:nvSpPr>
          <p:cNvPr id="25" name="Text 22"/>
          <p:cNvSpPr txBox="1"/>
          <p:nvPr/>
        </p:nvSpPr>
        <p:spPr>
          <a:xfrm>
            <a:off x="3182112" y="3730752"/>
            <a:ext cx="1225296" cy="45720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Agency</a:t>
            </a:r>
            <a:endParaRPr lang="en-US" sz="1300" dirty="0"/>
          </a:p>
        </p:txBody>
      </p:sp>
      <p:sp>
        <p:nvSpPr>
          <p:cNvPr id="26" name="Shape 23"/>
          <p:cNvSpPr/>
          <p:nvPr/>
        </p:nvSpPr>
        <p:spPr>
          <a:xfrm>
            <a:off x="7132320" y="1874520"/>
            <a:ext cx="4510735" cy="896112"/>
          </a:xfrm>
          <a:prstGeom prst="roundRect">
            <a:avLst>
              <a:gd name="adj" fmla="val 12245"/>
            </a:avLst>
          </a:prstGeom>
          <a:solidFill>
            <a:srgbClr val="F1E1EE"/>
          </a:solidFill>
          <a:ln w="12700">
            <a:solidFill>
              <a:srgbClr val="962B7C"/>
            </a:solidFill>
            <a:prstDash val="solid"/>
          </a:ln>
        </p:spPr>
      </p:sp>
      <p:sp>
        <p:nvSpPr>
          <p:cNvPr id="27" name="Text 24"/>
          <p:cNvSpPr txBox="1"/>
          <p:nvPr/>
        </p:nvSpPr>
        <p:spPr>
          <a:xfrm>
            <a:off x="7406640" y="1874520"/>
            <a:ext cx="3962095" cy="896112"/>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Nhà tài trợ</a:t>
            </a:r>
            <a:endParaRPr lang="en-US" sz="1600" dirty="0"/>
          </a:p>
          <a:p>
            <a:pPr indent="0" marL="0">
              <a:buNone/>
            </a:pPr>
            <a:r>
              <a:rPr lang="en-US" sz="1400" dirty="0">
                <a:solidFill>
                  <a:srgbClr val="2A2238"/>
                </a:solidFill>
                <a:latin typeface="Alexandria" pitchFamily="34" charset="0"/>
                <a:ea typeface="Alexandria" pitchFamily="34" charset="-122"/>
                <a:cs typeface="Alexandria" pitchFamily="34" charset="-120"/>
              </a:rPr>
              <a:t>đạt mục tiêu (ROO/ROI)</a:t>
            </a:r>
            <a:endParaRPr lang="en-US" sz="1600" dirty="0"/>
          </a:p>
        </p:txBody>
      </p:sp>
      <p:sp>
        <p:nvSpPr>
          <p:cNvPr id="28" name="Shape 25"/>
          <p:cNvSpPr/>
          <p:nvPr/>
        </p:nvSpPr>
        <p:spPr>
          <a:xfrm>
            <a:off x="7132320" y="2898648"/>
            <a:ext cx="4510735" cy="896112"/>
          </a:xfrm>
          <a:prstGeom prst="roundRect">
            <a:avLst>
              <a:gd name="adj" fmla="val 12245"/>
            </a:avLst>
          </a:prstGeom>
          <a:solidFill>
            <a:srgbClr val="DDF1FB"/>
          </a:solidFill>
          <a:ln w="12700">
            <a:solidFill>
              <a:srgbClr val="09A1E5"/>
            </a:solidFill>
            <a:prstDash val="solid"/>
          </a:ln>
        </p:spPr>
      </p:sp>
      <p:sp>
        <p:nvSpPr>
          <p:cNvPr id="29" name="Text 26"/>
          <p:cNvSpPr txBox="1"/>
          <p:nvPr/>
        </p:nvSpPr>
        <p:spPr>
          <a:xfrm>
            <a:off x="7406640" y="2898648"/>
            <a:ext cx="3962095" cy="896112"/>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Key Account</a:t>
            </a:r>
            <a:endParaRPr lang="en-US" sz="1600" dirty="0"/>
          </a:p>
          <a:p>
            <a:pPr indent="0" marL="0">
              <a:buNone/>
            </a:pPr>
            <a:r>
              <a:rPr lang="en-US" sz="1400" dirty="0">
                <a:solidFill>
                  <a:srgbClr val="2A2238"/>
                </a:solidFill>
                <a:latin typeface="Alexandria" pitchFamily="34" charset="0"/>
                <a:ea typeface="Alexandria" pitchFamily="34" charset="-122"/>
                <a:cs typeface="Alexandria" pitchFamily="34" charset="-120"/>
              </a:rPr>
              <a:t>giữ hình ảnh, bù ngân sách</a:t>
            </a:r>
            <a:endParaRPr lang="en-US" sz="1600" dirty="0"/>
          </a:p>
        </p:txBody>
      </p:sp>
      <p:sp>
        <p:nvSpPr>
          <p:cNvPr id="30" name="Shape 27"/>
          <p:cNvSpPr/>
          <p:nvPr/>
        </p:nvSpPr>
        <p:spPr>
          <a:xfrm>
            <a:off x="7132320" y="3922776"/>
            <a:ext cx="4510735" cy="896112"/>
          </a:xfrm>
          <a:prstGeom prst="roundRect">
            <a:avLst>
              <a:gd name="adj" fmla="val 12245"/>
            </a:avLst>
          </a:prstGeom>
          <a:solidFill>
            <a:srgbClr val="FFE4EA"/>
          </a:solidFill>
          <a:ln w="12700">
            <a:solidFill>
              <a:srgbClr val="FF5178"/>
            </a:solidFill>
            <a:prstDash val="solid"/>
          </a:ln>
        </p:spPr>
      </p:sp>
      <p:sp>
        <p:nvSpPr>
          <p:cNvPr id="31" name="Text 28"/>
          <p:cNvSpPr txBox="1"/>
          <p:nvPr/>
        </p:nvSpPr>
        <p:spPr>
          <a:xfrm>
            <a:off x="7406640" y="3922776"/>
            <a:ext cx="3962095" cy="896112"/>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Khách của Key Account</a:t>
            </a:r>
            <a:endParaRPr lang="en-US" sz="1600" dirty="0"/>
          </a:p>
          <a:p>
            <a:pPr indent="0" marL="0">
              <a:buNone/>
            </a:pPr>
            <a:r>
              <a:rPr lang="en-US" sz="1400" dirty="0">
                <a:solidFill>
                  <a:srgbClr val="2A2238"/>
                </a:solidFill>
                <a:latin typeface="Alexandria" pitchFamily="34" charset="0"/>
                <a:ea typeface="Alexandria" pitchFamily="34" charset="-122"/>
                <a:cs typeface="Alexandria" pitchFamily="34" charset="-120"/>
              </a:rPr>
              <a:t>thấy có ích, không bị làm phiền</a:t>
            </a:r>
            <a:endParaRPr lang="en-US" sz="1600" dirty="0"/>
          </a:p>
        </p:txBody>
      </p:sp>
      <p:sp>
        <p:nvSpPr>
          <p:cNvPr id="32" name="Shape 29"/>
          <p:cNvSpPr/>
          <p:nvPr/>
        </p:nvSpPr>
        <p:spPr>
          <a:xfrm>
            <a:off x="7132320" y="4946904"/>
            <a:ext cx="4510735" cy="896112"/>
          </a:xfrm>
          <a:prstGeom prst="roundRect">
            <a:avLst>
              <a:gd name="adj" fmla="val 12245"/>
            </a:avLst>
          </a:prstGeom>
          <a:solidFill>
            <a:srgbClr val="FFF3C4"/>
          </a:solidFill>
          <a:ln w="12700">
            <a:solidFill>
              <a:srgbClr val="FF9259"/>
            </a:solidFill>
            <a:prstDash val="solid"/>
          </a:ln>
        </p:spPr>
      </p:sp>
      <p:sp>
        <p:nvSpPr>
          <p:cNvPr id="33" name="Text 30"/>
          <p:cNvSpPr txBox="1"/>
          <p:nvPr/>
        </p:nvSpPr>
        <p:spPr>
          <a:xfrm>
            <a:off x="7406640" y="4946904"/>
            <a:ext cx="3962095" cy="896112"/>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Agency</a:t>
            </a:r>
            <a:endParaRPr lang="en-US" sz="1600" dirty="0"/>
          </a:p>
          <a:p>
            <a:pPr indent="0" marL="0">
              <a:buNone/>
            </a:pPr>
            <a:r>
              <a:rPr lang="en-US" sz="1400" dirty="0">
                <a:solidFill>
                  <a:srgbClr val="2A2238"/>
                </a:solidFill>
                <a:latin typeface="Alexandria" pitchFamily="34" charset="0"/>
                <a:ea typeface="Alexandria" pitchFamily="34" charset="-122"/>
                <a:cs typeface="Alexandria" pitchFamily="34" charset="-120"/>
              </a:rPr>
              <a:t>làm được sự kiện chất lượng</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Quyền lợi không kích hoạt là quyền lợi bỏ phí</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U04: O’Reilly &amp; Lafrance Horning (2013), Sport Management Review · U05: Lumency / WFA (2024), chưa kiểm chứng chéo.</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17</a:t>
            </a:r>
            <a:endParaRPr lang="en-US" sz="1000" dirty="0"/>
          </a:p>
        </p:txBody>
      </p:sp>
      <p:sp>
        <p:nvSpPr>
          <p:cNvPr id="19" name="Text 16"/>
          <p:cNvSpPr txBox="1"/>
          <p:nvPr/>
        </p:nvSpPr>
        <p:spPr>
          <a:xfrm>
            <a:off x="548640" y="1783080"/>
            <a:ext cx="11094415" cy="4114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Activation ratio</a:t>
            </a:r>
            <a:pPr indent="0" marL="0">
              <a:buNone/>
            </a:pPr>
            <a:r>
              <a:rPr lang="en-US" sz="1700" dirty="0">
                <a:solidFill>
                  <a:srgbClr val="2A2238"/>
                </a:solidFill>
                <a:latin typeface="Alexandria" pitchFamily="34" charset="0"/>
                <a:ea typeface="Alexandria" pitchFamily="34" charset="-122"/>
                <a:cs typeface="Alexandria" pitchFamily="34" charset="-120"/>
              </a:rPr>
              <a:t> = chi phí kích hoạt ÷ phí mua quyền</a:t>
            </a:r>
            <a:endParaRPr lang="en-US" sz="1700" dirty="0"/>
          </a:p>
        </p:txBody>
      </p:sp>
      <p:sp>
        <p:nvSpPr>
          <p:cNvPr id="20" name="Shape 17"/>
          <p:cNvSpPr/>
          <p:nvPr/>
        </p:nvSpPr>
        <p:spPr>
          <a:xfrm>
            <a:off x="2926080" y="4526280"/>
            <a:ext cx="914" cy="91440"/>
          </a:xfrm>
          <a:prstGeom prst="line">
            <a:avLst/>
          </a:prstGeom>
          <a:noFill/>
          <a:ln w="12700">
            <a:solidFill>
              <a:srgbClr val="6E6878"/>
            </a:solidFill>
            <a:prstDash val="solid"/>
          </a:ln>
        </p:spPr>
      </p:sp>
      <p:sp>
        <p:nvSpPr>
          <p:cNvPr id="21" name="Text 18"/>
          <p:cNvSpPr txBox="1"/>
          <p:nvPr/>
        </p:nvSpPr>
        <p:spPr>
          <a:xfrm>
            <a:off x="2651760" y="4645152"/>
            <a:ext cx="54864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0:1</a:t>
            </a:r>
            <a:endParaRPr lang="en-US" sz="1100" dirty="0"/>
          </a:p>
        </p:txBody>
      </p:sp>
      <p:sp>
        <p:nvSpPr>
          <p:cNvPr id="22" name="Shape 19"/>
          <p:cNvSpPr/>
          <p:nvPr/>
        </p:nvSpPr>
        <p:spPr>
          <a:xfrm>
            <a:off x="3969982" y="4526280"/>
            <a:ext cx="914" cy="91440"/>
          </a:xfrm>
          <a:prstGeom prst="line">
            <a:avLst/>
          </a:prstGeom>
          <a:noFill/>
          <a:ln w="12700">
            <a:solidFill>
              <a:srgbClr val="6E6878"/>
            </a:solidFill>
            <a:prstDash val="solid"/>
          </a:ln>
        </p:spPr>
      </p:sp>
      <p:sp>
        <p:nvSpPr>
          <p:cNvPr id="23" name="Text 20"/>
          <p:cNvSpPr txBox="1"/>
          <p:nvPr/>
        </p:nvSpPr>
        <p:spPr>
          <a:xfrm>
            <a:off x="3695662" y="4645152"/>
            <a:ext cx="54864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1:1</a:t>
            </a:r>
            <a:endParaRPr lang="en-US" sz="1100" dirty="0"/>
          </a:p>
        </p:txBody>
      </p:sp>
      <p:sp>
        <p:nvSpPr>
          <p:cNvPr id="24" name="Shape 21"/>
          <p:cNvSpPr/>
          <p:nvPr/>
        </p:nvSpPr>
        <p:spPr>
          <a:xfrm>
            <a:off x="5013884" y="4526280"/>
            <a:ext cx="914" cy="91440"/>
          </a:xfrm>
          <a:prstGeom prst="line">
            <a:avLst/>
          </a:prstGeom>
          <a:noFill/>
          <a:ln w="12700">
            <a:solidFill>
              <a:srgbClr val="6E6878"/>
            </a:solidFill>
            <a:prstDash val="solid"/>
          </a:ln>
        </p:spPr>
      </p:sp>
      <p:sp>
        <p:nvSpPr>
          <p:cNvPr id="25" name="Text 22"/>
          <p:cNvSpPr txBox="1"/>
          <p:nvPr/>
        </p:nvSpPr>
        <p:spPr>
          <a:xfrm>
            <a:off x="4739564" y="4645152"/>
            <a:ext cx="54864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2:1</a:t>
            </a:r>
            <a:endParaRPr lang="en-US" sz="1100" dirty="0"/>
          </a:p>
        </p:txBody>
      </p:sp>
      <p:sp>
        <p:nvSpPr>
          <p:cNvPr id="26" name="Shape 23"/>
          <p:cNvSpPr/>
          <p:nvPr/>
        </p:nvSpPr>
        <p:spPr>
          <a:xfrm>
            <a:off x="6057786" y="4526280"/>
            <a:ext cx="914" cy="91440"/>
          </a:xfrm>
          <a:prstGeom prst="line">
            <a:avLst/>
          </a:prstGeom>
          <a:noFill/>
          <a:ln w="12700">
            <a:solidFill>
              <a:srgbClr val="6E6878"/>
            </a:solidFill>
            <a:prstDash val="solid"/>
          </a:ln>
        </p:spPr>
      </p:sp>
      <p:sp>
        <p:nvSpPr>
          <p:cNvPr id="27" name="Text 24"/>
          <p:cNvSpPr txBox="1"/>
          <p:nvPr/>
        </p:nvSpPr>
        <p:spPr>
          <a:xfrm>
            <a:off x="5783466" y="4645152"/>
            <a:ext cx="54864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3:1</a:t>
            </a:r>
            <a:endParaRPr lang="en-US" sz="1100" dirty="0"/>
          </a:p>
        </p:txBody>
      </p:sp>
      <p:sp>
        <p:nvSpPr>
          <p:cNvPr id="28" name="Shape 25"/>
          <p:cNvSpPr/>
          <p:nvPr/>
        </p:nvSpPr>
        <p:spPr>
          <a:xfrm>
            <a:off x="7101688" y="4526280"/>
            <a:ext cx="914" cy="91440"/>
          </a:xfrm>
          <a:prstGeom prst="line">
            <a:avLst/>
          </a:prstGeom>
          <a:noFill/>
          <a:ln w="12700">
            <a:solidFill>
              <a:srgbClr val="6E6878"/>
            </a:solidFill>
            <a:prstDash val="solid"/>
          </a:ln>
        </p:spPr>
      </p:sp>
      <p:sp>
        <p:nvSpPr>
          <p:cNvPr id="29" name="Text 26"/>
          <p:cNvSpPr txBox="1"/>
          <p:nvPr/>
        </p:nvSpPr>
        <p:spPr>
          <a:xfrm>
            <a:off x="6827368" y="4645152"/>
            <a:ext cx="54864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4:1</a:t>
            </a:r>
            <a:endParaRPr lang="en-US" sz="1100" dirty="0"/>
          </a:p>
        </p:txBody>
      </p:sp>
      <p:sp>
        <p:nvSpPr>
          <p:cNvPr id="30" name="Shape 27"/>
          <p:cNvSpPr/>
          <p:nvPr/>
        </p:nvSpPr>
        <p:spPr>
          <a:xfrm>
            <a:off x="8145590" y="4526280"/>
            <a:ext cx="914" cy="91440"/>
          </a:xfrm>
          <a:prstGeom prst="line">
            <a:avLst/>
          </a:prstGeom>
          <a:noFill/>
          <a:ln w="12700">
            <a:solidFill>
              <a:srgbClr val="6E6878"/>
            </a:solidFill>
            <a:prstDash val="solid"/>
          </a:ln>
        </p:spPr>
      </p:sp>
      <p:sp>
        <p:nvSpPr>
          <p:cNvPr id="31" name="Text 28"/>
          <p:cNvSpPr txBox="1"/>
          <p:nvPr/>
        </p:nvSpPr>
        <p:spPr>
          <a:xfrm>
            <a:off x="7871270" y="4645152"/>
            <a:ext cx="54864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5:1</a:t>
            </a:r>
            <a:endParaRPr lang="en-US" sz="1100" dirty="0"/>
          </a:p>
        </p:txBody>
      </p:sp>
      <p:sp>
        <p:nvSpPr>
          <p:cNvPr id="32" name="Shape 29"/>
          <p:cNvSpPr/>
          <p:nvPr/>
        </p:nvSpPr>
        <p:spPr>
          <a:xfrm>
            <a:off x="9189491" y="4526280"/>
            <a:ext cx="914" cy="91440"/>
          </a:xfrm>
          <a:prstGeom prst="line">
            <a:avLst/>
          </a:prstGeom>
          <a:noFill/>
          <a:ln w="12700">
            <a:solidFill>
              <a:srgbClr val="6E6878"/>
            </a:solidFill>
            <a:prstDash val="solid"/>
          </a:ln>
        </p:spPr>
      </p:sp>
      <p:sp>
        <p:nvSpPr>
          <p:cNvPr id="33" name="Text 30"/>
          <p:cNvSpPr txBox="1"/>
          <p:nvPr/>
        </p:nvSpPr>
        <p:spPr>
          <a:xfrm>
            <a:off x="8915171" y="4645152"/>
            <a:ext cx="54864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6:1</a:t>
            </a:r>
            <a:endParaRPr lang="en-US" sz="1100" dirty="0"/>
          </a:p>
        </p:txBody>
      </p:sp>
      <p:sp>
        <p:nvSpPr>
          <p:cNvPr id="34" name="Shape 31"/>
          <p:cNvSpPr/>
          <p:nvPr/>
        </p:nvSpPr>
        <p:spPr>
          <a:xfrm>
            <a:off x="10233393" y="4526280"/>
            <a:ext cx="914" cy="91440"/>
          </a:xfrm>
          <a:prstGeom prst="line">
            <a:avLst/>
          </a:prstGeom>
          <a:noFill/>
          <a:ln w="12700">
            <a:solidFill>
              <a:srgbClr val="6E6878"/>
            </a:solidFill>
            <a:prstDash val="solid"/>
          </a:ln>
        </p:spPr>
      </p:sp>
      <p:sp>
        <p:nvSpPr>
          <p:cNvPr id="35" name="Text 32"/>
          <p:cNvSpPr txBox="1"/>
          <p:nvPr/>
        </p:nvSpPr>
        <p:spPr>
          <a:xfrm>
            <a:off x="9959073" y="4645152"/>
            <a:ext cx="54864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7:1</a:t>
            </a:r>
            <a:endParaRPr lang="en-US" sz="1100" dirty="0"/>
          </a:p>
        </p:txBody>
      </p:sp>
      <p:sp>
        <p:nvSpPr>
          <p:cNvPr id="36" name="Shape 33"/>
          <p:cNvSpPr/>
          <p:nvPr/>
        </p:nvSpPr>
        <p:spPr>
          <a:xfrm>
            <a:off x="11277295" y="4526280"/>
            <a:ext cx="914" cy="91440"/>
          </a:xfrm>
          <a:prstGeom prst="line">
            <a:avLst/>
          </a:prstGeom>
          <a:noFill/>
          <a:ln w="12700">
            <a:solidFill>
              <a:srgbClr val="6E6878"/>
            </a:solidFill>
            <a:prstDash val="solid"/>
          </a:ln>
        </p:spPr>
      </p:sp>
      <p:sp>
        <p:nvSpPr>
          <p:cNvPr id="37" name="Text 34"/>
          <p:cNvSpPr txBox="1"/>
          <p:nvPr/>
        </p:nvSpPr>
        <p:spPr>
          <a:xfrm>
            <a:off x="11002975" y="4645152"/>
            <a:ext cx="54864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8:1</a:t>
            </a:r>
            <a:endParaRPr lang="en-US" sz="1100" dirty="0"/>
          </a:p>
        </p:txBody>
      </p:sp>
      <p:sp>
        <p:nvSpPr>
          <p:cNvPr id="38" name="Shape 35"/>
          <p:cNvSpPr/>
          <p:nvPr/>
        </p:nvSpPr>
        <p:spPr>
          <a:xfrm>
            <a:off x="2926080" y="4526280"/>
            <a:ext cx="8351215" cy="914"/>
          </a:xfrm>
          <a:prstGeom prst="line">
            <a:avLst/>
          </a:prstGeom>
          <a:noFill/>
          <a:ln w="12700">
            <a:solidFill>
              <a:srgbClr val="6E6878"/>
            </a:solidFill>
            <a:prstDash val="solid"/>
          </a:ln>
        </p:spPr>
      </p:sp>
      <p:sp>
        <p:nvSpPr>
          <p:cNvPr id="39" name="Text 36"/>
          <p:cNvSpPr txBox="1"/>
          <p:nvPr/>
        </p:nvSpPr>
        <p:spPr>
          <a:xfrm>
            <a:off x="548640" y="2743200"/>
            <a:ext cx="2286000" cy="54864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Khuyến nghị (U04)</a:t>
            </a:r>
            <a:endParaRPr lang="en-US" sz="1400" dirty="0"/>
          </a:p>
        </p:txBody>
      </p:sp>
      <p:sp>
        <p:nvSpPr>
          <p:cNvPr id="40" name="Shape 37"/>
          <p:cNvSpPr/>
          <p:nvPr/>
        </p:nvSpPr>
        <p:spPr>
          <a:xfrm>
            <a:off x="3969982" y="2743200"/>
            <a:ext cx="7307313" cy="548640"/>
          </a:xfrm>
          <a:prstGeom prst="rect">
            <a:avLst/>
          </a:prstGeom>
          <a:solidFill>
            <a:srgbClr val="49B296">
              <a:alpha val="60000"/>
            </a:srgbClr>
          </a:solidFill>
          <a:ln w="19050">
            <a:solidFill>
              <a:srgbClr val="49B296"/>
            </a:solidFill>
            <a:prstDash val="solid"/>
          </a:ln>
        </p:spPr>
      </p:sp>
      <p:sp>
        <p:nvSpPr>
          <p:cNvPr id="41" name="Text 38"/>
          <p:cNvSpPr txBox="1"/>
          <p:nvPr/>
        </p:nvSpPr>
        <p:spPr>
          <a:xfrm>
            <a:off x="4152862" y="2743200"/>
            <a:ext cx="2743200" cy="5486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1:1 → 8:1</a:t>
            </a:r>
            <a:endParaRPr lang="en-US" sz="1500" dirty="0"/>
          </a:p>
        </p:txBody>
      </p:sp>
      <p:sp>
        <p:nvSpPr>
          <p:cNvPr id="42" name="Text 39"/>
          <p:cNvSpPr txBox="1"/>
          <p:nvPr/>
        </p:nvSpPr>
        <p:spPr>
          <a:xfrm>
            <a:off x="548640" y="3657600"/>
            <a:ext cx="2286000" cy="54864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Thực tế toàn cầu (U05)</a:t>
            </a:r>
            <a:endParaRPr lang="en-US" sz="1400" dirty="0"/>
          </a:p>
        </p:txBody>
      </p:sp>
      <p:sp>
        <p:nvSpPr>
          <p:cNvPr id="43" name="Shape 40"/>
          <p:cNvSpPr/>
          <p:nvPr/>
        </p:nvSpPr>
        <p:spPr>
          <a:xfrm>
            <a:off x="2926080" y="3657600"/>
            <a:ext cx="845561" cy="548640"/>
          </a:xfrm>
          <a:prstGeom prst="rect">
            <a:avLst/>
          </a:prstGeom>
          <a:solidFill>
            <a:srgbClr val="FF5178"/>
          </a:solidFill>
          <a:ln w="12700">
            <a:solidFill>
              <a:srgbClr val="FF5178"/>
            </a:solidFill>
            <a:prstDash val="solid"/>
          </a:ln>
        </p:spPr>
      </p:sp>
      <p:sp>
        <p:nvSpPr>
          <p:cNvPr id="44" name="Text 41"/>
          <p:cNvSpPr txBox="1"/>
          <p:nvPr/>
        </p:nvSpPr>
        <p:spPr>
          <a:xfrm>
            <a:off x="3881369" y="3657600"/>
            <a:ext cx="1371600" cy="548640"/>
          </a:xfrm>
          <a:prstGeom prst="rect">
            <a:avLst/>
          </a:prstGeom>
          <a:noFill/>
          <a:ln/>
        </p:spPr>
        <p:txBody>
          <a:bodyPr wrap="square" lIns="0" tIns="0" rIns="0" bIns="0" rtlCol="0" anchor="ctr"/>
          <a:lstStyle/>
          <a:p>
            <a:pPr indent="0" marL="0">
              <a:buNone/>
            </a:pPr>
            <a:r>
              <a:rPr lang="en-US" sz="1800" b="1" dirty="0">
                <a:solidFill>
                  <a:srgbClr val="E03A62"/>
                </a:solidFill>
                <a:latin typeface="Alexandria" pitchFamily="34" charset="0"/>
                <a:ea typeface="Alexandria" pitchFamily="34" charset="-122"/>
                <a:cs typeface="Alexandria" pitchFamily="34" charset="-120"/>
              </a:rPr>
              <a:t>0,81:1</a:t>
            </a:r>
            <a:endParaRPr lang="en-US" sz="1800" dirty="0"/>
          </a:p>
        </p:txBody>
      </p:sp>
      <p:sp>
        <p:nvSpPr>
          <p:cNvPr id="45" name="Shape 42"/>
          <p:cNvSpPr/>
          <p:nvPr/>
        </p:nvSpPr>
        <p:spPr>
          <a:xfrm>
            <a:off x="548640" y="5074920"/>
            <a:ext cx="3383280" cy="960120"/>
          </a:xfrm>
          <a:prstGeom prst="roundRect">
            <a:avLst>
              <a:gd name="adj" fmla="val 11429"/>
            </a:avLst>
          </a:prstGeom>
          <a:solidFill>
            <a:srgbClr val="FFE9DE"/>
          </a:solidFill>
          <a:ln w="12700">
            <a:solidFill>
              <a:srgbClr val="FFE9DE"/>
            </a:solidFill>
            <a:prstDash val="solid"/>
          </a:ln>
        </p:spPr>
      </p:sp>
      <p:sp>
        <p:nvSpPr>
          <p:cNvPr id="46" name="Text 43"/>
          <p:cNvSpPr txBox="1"/>
          <p:nvPr/>
        </p:nvSpPr>
        <p:spPr>
          <a:xfrm>
            <a:off x="777240" y="5074920"/>
            <a:ext cx="2926080" cy="960120"/>
          </a:xfrm>
          <a:prstGeom prst="rect">
            <a:avLst/>
          </a:prstGeom>
          <a:noFill/>
          <a:ln/>
        </p:spPr>
        <p:txBody>
          <a:bodyPr wrap="square" lIns="0" tIns="0" rIns="0" bIns="0" rtlCol="0" anchor="ctr"/>
          <a:lstStyle/>
          <a:p>
            <a:pPr indent="0" marL="0">
              <a:buNone/>
            </a:pPr>
            <a:r>
              <a:rPr lang="en-US" sz="2800" b="1" dirty="0">
                <a:solidFill>
                  <a:srgbClr val="D9622B"/>
                </a:solidFill>
                <a:latin typeface="Alexandria" pitchFamily="34" charset="0"/>
                <a:ea typeface="Alexandria" pitchFamily="34" charset="-122"/>
                <a:cs typeface="Alexandria" pitchFamily="34" charset="-120"/>
              </a:rPr>
              <a:t>43% </a:t>
            </a:r>
            <a:pPr indent="0" marL="0">
              <a:buNone/>
            </a:pPr>
            <a:r>
              <a:rPr lang="en-US" sz="1300" dirty="0">
                <a:solidFill>
                  <a:srgbClr val="2A2238"/>
                </a:solidFill>
                <a:latin typeface="Alexandria" pitchFamily="34" charset="0"/>
                <a:ea typeface="Alexandria" pitchFamily="34" charset="-122"/>
                <a:cs typeface="Alexandria" pitchFamily="34" charset="-120"/>
              </a:rPr>
              <a:t>nhà tài trợ không biết mình chi bao nhiêu cho kích hoạt</a:t>
            </a:r>
            <a:endParaRPr lang="en-US" sz="2800" dirty="0"/>
          </a:p>
        </p:txBody>
      </p:sp>
      <p:sp>
        <p:nvSpPr>
          <p:cNvPr id="47" name="Shape 44"/>
          <p:cNvSpPr/>
          <p:nvPr/>
        </p:nvSpPr>
        <p:spPr>
          <a:xfrm>
            <a:off x="4114800" y="5074920"/>
            <a:ext cx="3383280" cy="960120"/>
          </a:xfrm>
          <a:prstGeom prst="roundRect">
            <a:avLst>
              <a:gd name="adj" fmla="val 11429"/>
            </a:avLst>
          </a:prstGeom>
          <a:solidFill>
            <a:srgbClr val="DDF1FB"/>
          </a:solidFill>
          <a:ln w="12700">
            <a:solidFill>
              <a:srgbClr val="DDF1FB"/>
            </a:solidFill>
            <a:prstDash val="solid"/>
          </a:ln>
        </p:spPr>
      </p:sp>
      <p:sp>
        <p:nvSpPr>
          <p:cNvPr id="48" name="Text 45"/>
          <p:cNvSpPr txBox="1"/>
          <p:nvPr/>
        </p:nvSpPr>
        <p:spPr>
          <a:xfrm>
            <a:off x="4343400" y="5074920"/>
            <a:ext cx="2926080" cy="960120"/>
          </a:xfrm>
          <a:prstGeom prst="rect">
            <a:avLst/>
          </a:prstGeom>
          <a:noFill/>
          <a:ln/>
        </p:spPr>
        <p:txBody>
          <a:bodyPr wrap="square" lIns="0" tIns="0" rIns="0" bIns="0" rtlCol="0" anchor="ctr"/>
          <a:lstStyle/>
          <a:p>
            <a:pPr indent="0" marL="0">
              <a:buNone/>
            </a:pPr>
            <a:r>
              <a:rPr lang="en-US" sz="2800" b="1" dirty="0">
                <a:solidFill>
                  <a:srgbClr val="0A7FB5"/>
                </a:solidFill>
                <a:latin typeface="Alexandria" pitchFamily="34" charset="0"/>
                <a:ea typeface="Alexandria" pitchFamily="34" charset="-122"/>
                <a:cs typeface="Alexandria" pitchFamily="34" charset="-120"/>
              </a:rPr>
              <a:t>18% </a:t>
            </a:r>
            <a:pPr indent="0" marL="0">
              <a:buNone/>
            </a:pPr>
            <a:r>
              <a:rPr lang="en-US" sz="1300" dirty="0">
                <a:solidFill>
                  <a:srgbClr val="2A2238"/>
                </a:solidFill>
                <a:latin typeface="Alexandria" pitchFamily="34" charset="0"/>
                <a:ea typeface="Alexandria" pitchFamily="34" charset="-122"/>
                <a:cs typeface="Alexandria" pitchFamily="34" charset="-120"/>
              </a:rPr>
              <a:t>đạt tỷ lệ 1:1 trở lên</a:t>
            </a:r>
            <a:endParaRPr lang="en-US" sz="2800" dirty="0"/>
          </a:p>
        </p:txBody>
      </p:sp>
      <p:sp>
        <p:nvSpPr>
          <p:cNvPr id="49" name="Shape 46"/>
          <p:cNvSpPr/>
          <p:nvPr/>
        </p:nvSpPr>
        <p:spPr>
          <a:xfrm>
            <a:off x="7680960" y="5074920"/>
            <a:ext cx="3962095" cy="960120"/>
          </a:xfrm>
          <a:prstGeom prst="roundRect">
            <a:avLst>
              <a:gd name="adj" fmla="val 11429"/>
            </a:avLst>
          </a:prstGeom>
          <a:solidFill>
            <a:srgbClr val="FFF3C4"/>
          </a:solidFill>
          <a:ln w="12700">
            <a:solidFill>
              <a:srgbClr val="FFD23B"/>
            </a:solidFill>
            <a:prstDash val="solid"/>
          </a:ln>
        </p:spPr>
      </p:sp>
      <p:sp>
        <p:nvSpPr>
          <p:cNvPr id="50" name="Text 47"/>
          <p:cNvSpPr txBox="1"/>
          <p:nvPr/>
        </p:nvSpPr>
        <p:spPr>
          <a:xfrm>
            <a:off x="7909560" y="5074920"/>
            <a:ext cx="3504895" cy="9601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Chất lượng chiến lược kích hoạt quan trọng hơn con số tỷ lệ.</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Đo tài trợ bằng cả ROI và ROO</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U06: ANA &amp; MASB (2018) — số liệu Bắc Mỹ.</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18</a:t>
            </a:r>
            <a:endParaRPr lang="en-US" sz="1000" dirty="0"/>
          </a:p>
        </p:txBody>
      </p:sp>
      <p:sp>
        <p:nvSpPr>
          <p:cNvPr id="19" name="Shape 16"/>
          <p:cNvSpPr/>
          <p:nvPr/>
        </p:nvSpPr>
        <p:spPr>
          <a:xfrm>
            <a:off x="548640" y="1874520"/>
            <a:ext cx="5410048" cy="2148840"/>
          </a:xfrm>
          <a:prstGeom prst="roundRect">
            <a:avLst>
              <a:gd name="adj" fmla="val 5106"/>
            </a:avLst>
          </a:prstGeom>
          <a:solidFill>
            <a:srgbClr val="DDF1FB"/>
          </a:solidFill>
          <a:ln w="12700">
            <a:solidFill>
              <a:srgbClr val="09A1E5"/>
            </a:solidFill>
            <a:prstDash val="solid"/>
          </a:ln>
        </p:spPr>
      </p:sp>
      <p:sp>
        <p:nvSpPr>
          <p:cNvPr id="20" name="Text 17"/>
          <p:cNvSpPr txBox="1"/>
          <p:nvPr/>
        </p:nvSpPr>
        <p:spPr>
          <a:xfrm>
            <a:off x="822960" y="1965960"/>
            <a:ext cx="4861408" cy="685800"/>
          </a:xfrm>
          <a:prstGeom prst="rect">
            <a:avLst/>
          </a:prstGeom>
          <a:noFill/>
          <a:ln/>
        </p:spPr>
        <p:txBody>
          <a:bodyPr wrap="square" lIns="0" tIns="0" rIns="0" bIns="0" rtlCol="0" anchor="ctr"/>
          <a:lstStyle/>
          <a:p>
            <a:pPr indent="0" marL="0">
              <a:buNone/>
            </a:pPr>
            <a:r>
              <a:rPr lang="en-US" sz="3000" b="1" dirty="0">
                <a:solidFill>
                  <a:srgbClr val="0A7FB5"/>
                </a:solidFill>
                <a:latin typeface="Alexandria" pitchFamily="34" charset="0"/>
                <a:ea typeface="Alexandria" pitchFamily="34" charset="-122"/>
                <a:cs typeface="Alexandria" pitchFamily="34" charset="-120"/>
              </a:rPr>
              <a:t>ROI  </a:t>
            </a:r>
            <a:pPr indent="0" marL="0">
              <a:buNone/>
            </a:pPr>
            <a:r>
              <a:rPr lang="en-US" sz="1400" i="1" dirty="0">
                <a:solidFill>
                  <a:srgbClr val="6E6878"/>
                </a:solidFill>
                <a:latin typeface="Alexandria" pitchFamily="34" charset="0"/>
                <a:ea typeface="Alexandria" pitchFamily="34" charset="-122"/>
                <a:cs typeface="Alexandria" pitchFamily="34" charset="-120"/>
              </a:rPr>
              <a:t>return on investment</a:t>
            </a:r>
            <a:endParaRPr lang="en-US" sz="3000" dirty="0"/>
          </a:p>
        </p:txBody>
      </p:sp>
      <p:sp>
        <p:nvSpPr>
          <p:cNvPr id="21" name="Text 18"/>
          <p:cNvSpPr txBox="1"/>
          <p:nvPr/>
        </p:nvSpPr>
        <p:spPr>
          <a:xfrm>
            <a:off x="822960" y="2697480"/>
            <a:ext cx="4861408" cy="118872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Kết quả tài chính: lợi tức tài chính của khoản tài trợ, giá trị truyền thông quy đổi, doanh số</a:t>
            </a:r>
            <a:endParaRPr lang="en-US" sz="1500" dirty="0"/>
          </a:p>
        </p:txBody>
      </p:sp>
      <p:sp>
        <p:nvSpPr>
          <p:cNvPr id="22" name="Shape 19"/>
          <p:cNvSpPr/>
          <p:nvPr/>
        </p:nvSpPr>
        <p:spPr>
          <a:xfrm>
            <a:off x="6233008" y="1874520"/>
            <a:ext cx="5410048" cy="2148840"/>
          </a:xfrm>
          <a:prstGeom prst="roundRect">
            <a:avLst>
              <a:gd name="adj" fmla="val 5106"/>
            </a:avLst>
          </a:prstGeom>
          <a:solidFill>
            <a:srgbClr val="F1E1EE"/>
          </a:solidFill>
          <a:ln w="12700">
            <a:solidFill>
              <a:srgbClr val="962B7C"/>
            </a:solidFill>
            <a:prstDash val="solid"/>
          </a:ln>
        </p:spPr>
      </p:sp>
      <p:sp>
        <p:nvSpPr>
          <p:cNvPr id="23" name="Text 20"/>
          <p:cNvSpPr txBox="1"/>
          <p:nvPr/>
        </p:nvSpPr>
        <p:spPr>
          <a:xfrm>
            <a:off x="6507328" y="1965960"/>
            <a:ext cx="4861408" cy="685800"/>
          </a:xfrm>
          <a:prstGeom prst="rect">
            <a:avLst/>
          </a:prstGeom>
          <a:noFill/>
          <a:ln/>
        </p:spPr>
        <p:txBody>
          <a:bodyPr wrap="square" lIns="0" tIns="0" rIns="0" bIns="0" rtlCol="0" anchor="ctr"/>
          <a:lstStyle/>
          <a:p>
            <a:pPr indent="0" marL="0">
              <a:buNone/>
            </a:pPr>
            <a:r>
              <a:rPr lang="en-US" sz="3000" b="1" dirty="0">
                <a:solidFill>
                  <a:srgbClr val="962B7C"/>
                </a:solidFill>
                <a:latin typeface="Alexandria" pitchFamily="34" charset="0"/>
                <a:ea typeface="Alexandria" pitchFamily="34" charset="-122"/>
                <a:cs typeface="Alexandria" pitchFamily="34" charset="-120"/>
              </a:rPr>
              <a:t>ROO  </a:t>
            </a:r>
            <a:pPr indent="0" marL="0">
              <a:buNone/>
            </a:pPr>
            <a:r>
              <a:rPr lang="en-US" sz="1400" i="1" dirty="0">
                <a:solidFill>
                  <a:srgbClr val="6E6878"/>
                </a:solidFill>
                <a:latin typeface="Alexandria" pitchFamily="34" charset="0"/>
                <a:ea typeface="Alexandria" pitchFamily="34" charset="-122"/>
                <a:cs typeface="Alexandria" pitchFamily="34" charset="-120"/>
              </a:rPr>
              <a:t>return on objectives</a:t>
            </a:r>
            <a:endParaRPr lang="en-US" sz="3000" dirty="0"/>
          </a:p>
        </p:txBody>
      </p:sp>
      <p:sp>
        <p:nvSpPr>
          <p:cNvPr id="24" name="Text 21"/>
          <p:cNvSpPr txBox="1"/>
          <p:nvPr/>
        </p:nvSpPr>
        <p:spPr>
          <a:xfrm>
            <a:off x="6507328" y="2697480"/>
            <a:ext cx="4861408" cy="118872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Kết quả theo mục tiêu: nhận biết thương hiệu, nhận biết việc tài trợ, thái độ, độ phủ truyền thông và mạng xã hội</a:t>
            </a:r>
            <a:endParaRPr lang="en-US" sz="1500" dirty="0"/>
          </a:p>
        </p:txBody>
      </p:sp>
      <p:sp>
        <p:nvSpPr>
          <p:cNvPr id="25" name="Shape 22"/>
          <p:cNvSpPr/>
          <p:nvPr/>
        </p:nvSpPr>
        <p:spPr>
          <a:xfrm>
            <a:off x="548640" y="4297680"/>
            <a:ext cx="2880360" cy="1691640"/>
          </a:xfrm>
          <a:prstGeom prst="roundRect">
            <a:avLst>
              <a:gd name="adj" fmla="val 6486"/>
            </a:avLst>
          </a:prstGeom>
          <a:solidFill>
            <a:srgbClr val="FFFFFF"/>
          </a:solidFill>
          <a:ln w="12700">
            <a:solidFill>
              <a:srgbClr val="DCD7C8"/>
            </a:solidFill>
            <a:prstDash val="solid"/>
          </a:ln>
        </p:spPr>
      </p:sp>
      <p:sp>
        <p:nvSpPr>
          <p:cNvPr id="26" name="Text 23"/>
          <p:cNvSpPr txBox="1"/>
          <p:nvPr/>
        </p:nvSpPr>
        <p:spPr>
          <a:xfrm>
            <a:off x="777240" y="4389120"/>
            <a:ext cx="2468880" cy="731520"/>
          </a:xfrm>
          <a:prstGeom prst="rect">
            <a:avLst/>
          </a:prstGeom>
          <a:noFill/>
          <a:ln/>
        </p:spPr>
        <p:txBody>
          <a:bodyPr wrap="square" lIns="0" tIns="0" rIns="0" bIns="0" rtlCol="0" anchor="ctr"/>
          <a:lstStyle/>
          <a:p>
            <a:pPr indent="0" marL="0">
              <a:buNone/>
            </a:pPr>
            <a:r>
              <a:rPr lang="en-US" sz="3600" b="1" dirty="0">
                <a:solidFill>
                  <a:srgbClr val="E03A62"/>
                </a:solidFill>
                <a:latin typeface="Alexandria" pitchFamily="34" charset="0"/>
                <a:ea typeface="Alexandria" pitchFamily="34" charset="-122"/>
                <a:cs typeface="Alexandria" pitchFamily="34" charset="-120"/>
              </a:rPr>
              <a:t>37%</a:t>
            </a:r>
            <a:endParaRPr lang="en-US" sz="3600" dirty="0"/>
          </a:p>
        </p:txBody>
      </p:sp>
      <p:sp>
        <p:nvSpPr>
          <p:cNvPr id="27" name="Text 24"/>
          <p:cNvSpPr txBox="1"/>
          <p:nvPr/>
        </p:nvSpPr>
        <p:spPr>
          <a:xfrm>
            <a:off x="777240" y="5120640"/>
            <a:ext cx="2468880" cy="7772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có quy trình chuẩn đo lợi tức tài trợ</a:t>
            </a:r>
            <a:endParaRPr lang="en-US" sz="1300" dirty="0"/>
          </a:p>
        </p:txBody>
      </p:sp>
      <p:sp>
        <p:nvSpPr>
          <p:cNvPr id="28" name="Shape 25"/>
          <p:cNvSpPr/>
          <p:nvPr/>
        </p:nvSpPr>
        <p:spPr>
          <a:xfrm>
            <a:off x="3611880" y="4297680"/>
            <a:ext cx="2880360" cy="1691640"/>
          </a:xfrm>
          <a:prstGeom prst="roundRect">
            <a:avLst>
              <a:gd name="adj" fmla="val 6486"/>
            </a:avLst>
          </a:prstGeom>
          <a:solidFill>
            <a:srgbClr val="FFFFFF"/>
          </a:solidFill>
          <a:ln w="12700">
            <a:solidFill>
              <a:srgbClr val="DCD7C8"/>
            </a:solidFill>
            <a:prstDash val="solid"/>
          </a:ln>
        </p:spPr>
      </p:sp>
      <p:sp>
        <p:nvSpPr>
          <p:cNvPr id="29" name="Text 26"/>
          <p:cNvSpPr txBox="1"/>
          <p:nvPr/>
        </p:nvSpPr>
        <p:spPr>
          <a:xfrm>
            <a:off x="3840480" y="4389120"/>
            <a:ext cx="2468880" cy="731520"/>
          </a:xfrm>
          <a:prstGeom prst="rect">
            <a:avLst/>
          </a:prstGeom>
          <a:noFill/>
          <a:ln/>
        </p:spPr>
        <p:txBody>
          <a:bodyPr wrap="square" lIns="0" tIns="0" rIns="0" bIns="0" rtlCol="0" anchor="ctr"/>
          <a:lstStyle/>
          <a:p>
            <a:pPr indent="0" marL="0">
              <a:buNone/>
            </a:pPr>
            <a:r>
              <a:rPr lang="en-US" sz="3600" b="1" dirty="0">
                <a:solidFill>
                  <a:srgbClr val="E03A62"/>
                </a:solidFill>
                <a:latin typeface="Alexandria" pitchFamily="34" charset="0"/>
                <a:ea typeface="Alexandria" pitchFamily="34" charset="-122"/>
                <a:cs typeface="Alexandria" pitchFamily="34" charset="-120"/>
              </a:rPr>
              <a:t>40%</a:t>
            </a:r>
            <a:endParaRPr lang="en-US" sz="3600" dirty="0"/>
          </a:p>
        </p:txBody>
      </p:sp>
      <p:sp>
        <p:nvSpPr>
          <p:cNvPr id="30" name="Text 27"/>
          <p:cNvSpPr txBox="1"/>
          <p:nvPr/>
        </p:nvSpPr>
        <p:spPr>
          <a:xfrm>
            <a:off x="3840480" y="5120640"/>
            <a:ext cx="2468880" cy="7772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ghi kỳ vọng đo lường vào hợp đồng</a:t>
            </a:r>
            <a:endParaRPr lang="en-US" sz="1300" dirty="0"/>
          </a:p>
        </p:txBody>
      </p:sp>
      <p:sp>
        <p:nvSpPr>
          <p:cNvPr id="31" name="Shape 28"/>
          <p:cNvSpPr/>
          <p:nvPr/>
        </p:nvSpPr>
        <p:spPr>
          <a:xfrm>
            <a:off x="6675120" y="4297680"/>
            <a:ext cx="4967935" cy="1691640"/>
          </a:xfrm>
          <a:prstGeom prst="roundRect">
            <a:avLst>
              <a:gd name="adj" fmla="val 6486"/>
            </a:avLst>
          </a:prstGeom>
          <a:solidFill>
            <a:srgbClr val="FFF3C4"/>
          </a:solidFill>
          <a:ln w="12700">
            <a:solidFill>
              <a:srgbClr val="FFD23B"/>
            </a:solidFill>
            <a:prstDash val="solid"/>
          </a:ln>
        </p:spPr>
      </p:sp>
      <p:sp>
        <p:nvSpPr>
          <p:cNvPr id="32" name="Text 29"/>
          <p:cNvSpPr txBox="1"/>
          <p:nvPr/>
        </p:nvSpPr>
        <p:spPr>
          <a:xfrm>
            <a:off x="6903720" y="4297680"/>
            <a:ext cx="4510735" cy="1691640"/>
          </a:xfrm>
          <a:prstGeom prst="rect">
            <a:avLst/>
          </a:prstGeom>
          <a:noFill/>
          <a:ln/>
        </p:spPr>
        <p:txBody>
          <a:bodyPr wrap="square" lIns="0" tIns="0" rIns="0" bIns="0" rtlCol="0" anchor="ctr"/>
          <a:lstStyle/>
          <a:p>
            <a:pPr indent="0" marL="0">
              <a:buNone/>
            </a:pPr>
            <a:r>
              <a:rPr lang="en-US" sz="1400" i="1" dirty="0">
                <a:solidFill>
                  <a:srgbClr val="2A2238"/>
                </a:solidFill>
                <a:latin typeface="Alexandria" pitchFamily="34" charset="0"/>
                <a:ea typeface="Alexandria" pitchFamily="34" charset="-122"/>
                <a:cs typeface="Alexandria" pitchFamily="34" charset="-120"/>
              </a:rPr>
              <a:t>“Only 40 percent of respondents write expectations about sponsorship measurement into contracts with properties…”</a:t>
            </a:r>
            <a:endParaRPr lang="en-US" sz="1400" dirty="0"/>
          </a:p>
          <a:p>
            <a:pPr indent="0" marL="0">
              <a:buNone/>
            </a:pPr>
            <a:r>
              <a:rPr lang="en-US" sz="1200" dirty="0">
                <a:solidFill>
                  <a:srgbClr val="6E6878"/>
                </a:solidFill>
                <a:latin typeface="Alexandria" pitchFamily="34" charset="0"/>
                <a:ea typeface="Alexandria" pitchFamily="34" charset="-122"/>
                <a:cs typeface="Alexandria" pitchFamily="34" charset="-120"/>
              </a:rPr>
              <a:t>— ANA (U06)</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Khung 6 cấp của Buổi 8 cũng dùng được cho nhà tài trợ</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Khung 6 cấp: Event ROI Institute (Buổi 8, T11). Ví dụ chỉ số: nhận định của người soạn, tình huống giả định.</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19</a:t>
            </a:r>
            <a:endParaRPr lang="en-US" sz="1000" dirty="0"/>
          </a:p>
        </p:txBody>
      </p:sp>
      <p:sp>
        <p:nvSpPr>
          <p:cNvPr id="19" name="Shape 16"/>
          <p:cNvSpPr/>
          <p:nvPr/>
        </p:nvSpPr>
        <p:spPr>
          <a:xfrm>
            <a:off x="548640" y="5532120"/>
            <a:ext cx="11094415" cy="603504"/>
          </a:xfrm>
          <a:prstGeom prst="roundRect">
            <a:avLst>
              <a:gd name="adj" fmla="val 18182"/>
            </a:avLst>
          </a:prstGeom>
          <a:solidFill>
            <a:srgbClr val="E1F3EE"/>
          </a:solidFill>
          <a:ln w="12700">
            <a:solidFill>
              <a:srgbClr val="49B296"/>
            </a:solidFill>
            <a:prstDash val="solid"/>
          </a:ln>
        </p:spPr>
      </p:sp>
      <p:sp>
        <p:nvSpPr>
          <p:cNvPr id="20" name="Shape 17"/>
          <p:cNvSpPr/>
          <p:nvPr/>
        </p:nvSpPr>
        <p:spPr>
          <a:xfrm>
            <a:off x="658368" y="5605272"/>
            <a:ext cx="457200" cy="457200"/>
          </a:xfrm>
          <a:prstGeom prst="ellipse">
            <a:avLst/>
          </a:prstGeom>
          <a:solidFill>
            <a:srgbClr val="49B296"/>
          </a:solidFill>
          <a:ln w="12700">
            <a:solidFill>
              <a:srgbClr val="49B296"/>
            </a:solidFill>
            <a:prstDash val="solid"/>
          </a:ln>
        </p:spPr>
      </p:sp>
      <p:sp>
        <p:nvSpPr>
          <p:cNvPr id="21" name="Text 18"/>
          <p:cNvSpPr txBox="1"/>
          <p:nvPr/>
        </p:nvSpPr>
        <p:spPr>
          <a:xfrm>
            <a:off x="658368" y="56052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0</a:t>
            </a:r>
            <a:endParaRPr lang="en-US" sz="1600" dirty="0"/>
          </a:p>
        </p:txBody>
      </p:sp>
      <p:sp>
        <p:nvSpPr>
          <p:cNvPr id="22" name="Text 19"/>
          <p:cNvSpPr txBox="1"/>
          <p:nvPr/>
        </p:nvSpPr>
        <p:spPr>
          <a:xfrm>
            <a:off x="1280160" y="5532120"/>
            <a:ext cx="1737360" cy="603504"/>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Đúng người</a:t>
            </a:r>
            <a:endParaRPr lang="en-US" sz="1400" dirty="0"/>
          </a:p>
        </p:txBody>
      </p:sp>
      <p:sp>
        <p:nvSpPr>
          <p:cNvPr id="23" name="Text 20"/>
          <p:cNvSpPr txBox="1"/>
          <p:nvPr/>
        </p:nvSpPr>
        <p:spPr>
          <a:xfrm>
            <a:off x="3063240" y="5532120"/>
            <a:ext cx="8396935"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Số DN thuộc phân khúc mục tiêu của Bình An có mặt</a:t>
            </a:r>
            <a:endParaRPr lang="en-US" sz="1300" dirty="0"/>
          </a:p>
        </p:txBody>
      </p:sp>
      <p:sp>
        <p:nvSpPr>
          <p:cNvPr id="24" name="Shape 21"/>
          <p:cNvSpPr/>
          <p:nvPr/>
        </p:nvSpPr>
        <p:spPr>
          <a:xfrm>
            <a:off x="1051560" y="4818888"/>
            <a:ext cx="10591495" cy="603504"/>
          </a:xfrm>
          <a:prstGeom prst="roundRect">
            <a:avLst>
              <a:gd name="adj" fmla="val 18182"/>
            </a:avLst>
          </a:prstGeom>
          <a:solidFill>
            <a:srgbClr val="E1F3EE"/>
          </a:solidFill>
          <a:ln w="12700">
            <a:solidFill>
              <a:srgbClr val="49B296"/>
            </a:solidFill>
            <a:prstDash val="solid"/>
          </a:ln>
        </p:spPr>
      </p:sp>
      <p:sp>
        <p:nvSpPr>
          <p:cNvPr id="25" name="Shape 22"/>
          <p:cNvSpPr/>
          <p:nvPr/>
        </p:nvSpPr>
        <p:spPr>
          <a:xfrm>
            <a:off x="1161288" y="4892040"/>
            <a:ext cx="457200" cy="457200"/>
          </a:xfrm>
          <a:prstGeom prst="ellipse">
            <a:avLst/>
          </a:prstGeom>
          <a:solidFill>
            <a:srgbClr val="49B296"/>
          </a:solidFill>
          <a:ln w="12700">
            <a:solidFill>
              <a:srgbClr val="49B296"/>
            </a:solidFill>
            <a:prstDash val="solid"/>
          </a:ln>
        </p:spPr>
      </p:sp>
      <p:sp>
        <p:nvSpPr>
          <p:cNvPr id="26" name="Text 23"/>
          <p:cNvSpPr txBox="1"/>
          <p:nvPr/>
        </p:nvSpPr>
        <p:spPr>
          <a:xfrm>
            <a:off x="1161288" y="4892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1</a:t>
            </a:r>
            <a:endParaRPr lang="en-US" sz="1600" dirty="0"/>
          </a:p>
        </p:txBody>
      </p:sp>
      <p:sp>
        <p:nvSpPr>
          <p:cNvPr id="27" name="Text 24"/>
          <p:cNvSpPr txBox="1"/>
          <p:nvPr/>
        </p:nvSpPr>
        <p:spPr>
          <a:xfrm>
            <a:off x="1783080" y="4818888"/>
            <a:ext cx="1737360" cy="603504"/>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Hài lòng</a:t>
            </a:r>
            <a:endParaRPr lang="en-US" sz="1400" dirty="0"/>
          </a:p>
        </p:txBody>
      </p:sp>
      <p:sp>
        <p:nvSpPr>
          <p:cNvPr id="28" name="Text 25"/>
          <p:cNvSpPr txBox="1"/>
          <p:nvPr/>
        </p:nvSpPr>
        <p:spPr>
          <a:xfrm>
            <a:off x="3566160" y="4818888"/>
            <a:ext cx="7894015"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Điểm đánh giá phiên tư vấn</a:t>
            </a:r>
            <a:endParaRPr lang="en-US" sz="1300" dirty="0"/>
          </a:p>
        </p:txBody>
      </p:sp>
      <p:sp>
        <p:nvSpPr>
          <p:cNvPr id="29" name="Shape 26"/>
          <p:cNvSpPr/>
          <p:nvPr/>
        </p:nvSpPr>
        <p:spPr>
          <a:xfrm>
            <a:off x="1554480" y="4105656"/>
            <a:ext cx="10088575" cy="603504"/>
          </a:xfrm>
          <a:prstGeom prst="roundRect">
            <a:avLst>
              <a:gd name="adj" fmla="val 18182"/>
            </a:avLst>
          </a:prstGeom>
          <a:solidFill>
            <a:srgbClr val="E1F3EE"/>
          </a:solidFill>
          <a:ln w="12700">
            <a:solidFill>
              <a:srgbClr val="49B296"/>
            </a:solidFill>
            <a:prstDash val="solid"/>
          </a:ln>
        </p:spPr>
      </p:sp>
      <p:sp>
        <p:nvSpPr>
          <p:cNvPr id="30" name="Shape 27"/>
          <p:cNvSpPr/>
          <p:nvPr/>
        </p:nvSpPr>
        <p:spPr>
          <a:xfrm>
            <a:off x="1664208" y="4178808"/>
            <a:ext cx="457200" cy="457200"/>
          </a:xfrm>
          <a:prstGeom prst="ellipse">
            <a:avLst/>
          </a:prstGeom>
          <a:solidFill>
            <a:srgbClr val="49B296"/>
          </a:solidFill>
          <a:ln w="12700">
            <a:solidFill>
              <a:srgbClr val="49B296"/>
            </a:solidFill>
            <a:prstDash val="solid"/>
          </a:ln>
        </p:spPr>
      </p:sp>
      <p:sp>
        <p:nvSpPr>
          <p:cNvPr id="31" name="Text 28"/>
          <p:cNvSpPr txBox="1"/>
          <p:nvPr/>
        </p:nvSpPr>
        <p:spPr>
          <a:xfrm>
            <a:off x="1664208" y="41788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2</a:t>
            </a:r>
            <a:endParaRPr lang="en-US" sz="1600" dirty="0"/>
          </a:p>
        </p:txBody>
      </p:sp>
      <p:sp>
        <p:nvSpPr>
          <p:cNvPr id="32" name="Text 29"/>
          <p:cNvSpPr txBox="1"/>
          <p:nvPr/>
        </p:nvSpPr>
        <p:spPr>
          <a:xfrm>
            <a:off x="2286000" y="4105656"/>
            <a:ext cx="1737360" cy="603504"/>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Learning</a:t>
            </a:r>
            <a:endParaRPr lang="en-US" sz="1400" dirty="0"/>
          </a:p>
        </p:txBody>
      </p:sp>
      <p:sp>
        <p:nvSpPr>
          <p:cNvPr id="33" name="Text 30"/>
          <p:cNvSpPr txBox="1"/>
          <p:nvPr/>
        </p:nvSpPr>
        <p:spPr>
          <a:xfrm>
            <a:off x="4069080" y="4105656"/>
            <a:ext cx="7391095"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 khách biết thêm về giải pháp quản trị rủi ro DN</a:t>
            </a:r>
            <a:endParaRPr lang="en-US" sz="1300" dirty="0"/>
          </a:p>
        </p:txBody>
      </p:sp>
      <p:sp>
        <p:nvSpPr>
          <p:cNvPr id="34" name="Shape 31"/>
          <p:cNvSpPr/>
          <p:nvPr/>
        </p:nvSpPr>
        <p:spPr>
          <a:xfrm>
            <a:off x="2057400" y="3392424"/>
            <a:ext cx="9585655" cy="603504"/>
          </a:xfrm>
          <a:prstGeom prst="roundRect">
            <a:avLst>
              <a:gd name="adj" fmla="val 18182"/>
            </a:avLst>
          </a:prstGeom>
          <a:solidFill>
            <a:srgbClr val="E1F3EE"/>
          </a:solidFill>
          <a:ln w="12700">
            <a:solidFill>
              <a:srgbClr val="49B296"/>
            </a:solidFill>
            <a:prstDash val="solid"/>
          </a:ln>
        </p:spPr>
      </p:sp>
      <p:sp>
        <p:nvSpPr>
          <p:cNvPr id="35" name="Shape 32"/>
          <p:cNvSpPr/>
          <p:nvPr/>
        </p:nvSpPr>
        <p:spPr>
          <a:xfrm>
            <a:off x="2167128" y="3465576"/>
            <a:ext cx="457200" cy="457200"/>
          </a:xfrm>
          <a:prstGeom prst="ellipse">
            <a:avLst/>
          </a:prstGeom>
          <a:solidFill>
            <a:srgbClr val="49B296"/>
          </a:solidFill>
          <a:ln w="12700">
            <a:solidFill>
              <a:srgbClr val="49B296"/>
            </a:solidFill>
            <a:prstDash val="solid"/>
          </a:ln>
        </p:spPr>
      </p:sp>
      <p:sp>
        <p:nvSpPr>
          <p:cNvPr id="36" name="Text 33"/>
          <p:cNvSpPr txBox="1"/>
          <p:nvPr/>
        </p:nvSpPr>
        <p:spPr>
          <a:xfrm>
            <a:off x="2167128" y="34655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3</a:t>
            </a:r>
            <a:endParaRPr lang="en-US" sz="1600" dirty="0"/>
          </a:p>
        </p:txBody>
      </p:sp>
      <p:sp>
        <p:nvSpPr>
          <p:cNvPr id="37" name="Text 34"/>
          <p:cNvSpPr txBox="1"/>
          <p:nvPr/>
        </p:nvSpPr>
        <p:spPr>
          <a:xfrm>
            <a:off x="2788920" y="3392424"/>
            <a:ext cx="1737360" cy="603504"/>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Behaviour</a:t>
            </a:r>
            <a:endParaRPr lang="en-US" sz="1400" dirty="0"/>
          </a:p>
        </p:txBody>
      </p:sp>
      <p:sp>
        <p:nvSpPr>
          <p:cNvPr id="38" name="Text 35"/>
          <p:cNvSpPr txBox="1"/>
          <p:nvPr/>
        </p:nvSpPr>
        <p:spPr>
          <a:xfrm>
            <a:off x="4572000" y="3392424"/>
            <a:ext cx="6888175"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Số DN đồng ý hẹn tư vấn sau sự kiện</a:t>
            </a:r>
            <a:endParaRPr lang="en-US" sz="1300" dirty="0"/>
          </a:p>
        </p:txBody>
      </p:sp>
      <p:sp>
        <p:nvSpPr>
          <p:cNvPr id="39" name="Shape 36"/>
          <p:cNvSpPr/>
          <p:nvPr/>
        </p:nvSpPr>
        <p:spPr>
          <a:xfrm>
            <a:off x="2560320" y="2679192"/>
            <a:ext cx="9082735" cy="603504"/>
          </a:xfrm>
          <a:prstGeom prst="roundRect">
            <a:avLst>
              <a:gd name="adj" fmla="val 18182"/>
            </a:avLst>
          </a:prstGeom>
          <a:solidFill>
            <a:srgbClr val="F1E1EE"/>
          </a:solidFill>
          <a:ln w="12700">
            <a:solidFill>
              <a:srgbClr val="962B7C"/>
            </a:solidFill>
            <a:prstDash val="solid"/>
          </a:ln>
        </p:spPr>
      </p:sp>
      <p:sp>
        <p:nvSpPr>
          <p:cNvPr id="40" name="Shape 37"/>
          <p:cNvSpPr/>
          <p:nvPr/>
        </p:nvSpPr>
        <p:spPr>
          <a:xfrm>
            <a:off x="2670048" y="2752344"/>
            <a:ext cx="457200" cy="457200"/>
          </a:xfrm>
          <a:prstGeom prst="ellipse">
            <a:avLst/>
          </a:prstGeom>
          <a:solidFill>
            <a:srgbClr val="962B7C"/>
          </a:solidFill>
          <a:ln w="12700">
            <a:solidFill>
              <a:srgbClr val="962B7C"/>
            </a:solidFill>
            <a:prstDash val="solid"/>
          </a:ln>
        </p:spPr>
      </p:sp>
      <p:sp>
        <p:nvSpPr>
          <p:cNvPr id="41" name="Text 38"/>
          <p:cNvSpPr txBox="1"/>
          <p:nvPr/>
        </p:nvSpPr>
        <p:spPr>
          <a:xfrm>
            <a:off x="2670048" y="27523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4</a:t>
            </a:r>
            <a:endParaRPr lang="en-US" sz="1600" dirty="0"/>
          </a:p>
        </p:txBody>
      </p:sp>
      <p:sp>
        <p:nvSpPr>
          <p:cNvPr id="42" name="Text 39"/>
          <p:cNvSpPr txBox="1"/>
          <p:nvPr/>
        </p:nvSpPr>
        <p:spPr>
          <a:xfrm>
            <a:off x="3291840" y="2679192"/>
            <a:ext cx="1737360" cy="603504"/>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Impact</a:t>
            </a:r>
            <a:endParaRPr lang="en-US" sz="1400" dirty="0"/>
          </a:p>
        </p:txBody>
      </p:sp>
      <p:sp>
        <p:nvSpPr>
          <p:cNvPr id="43" name="Text 40"/>
          <p:cNvSpPr txBox="1"/>
          <p:nvPr/>
        </p:nvSpPr>
        <p:spPr>
          <a:xfrm>
            <a:off x="5074920" y="2679192"/>
            <a:ext cx="6385255"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Số hợp đồng mới trong 3 tháng (dữ liệu Bình An)</a:t>
            </a:r>
            <a:endParaRPr lang="en-US" sz="1300" dirty="0"/>
          </a:p>
        </p:txBody>
      </p:sp>
      <p:sp>
        <p:nvSpPr>
          <p:cNvPr id="44" name="Shape 41"/>
          <p:cNvSpPr/>
          <p:nvPr/>
        </p:nvSpPr>
        <p:spPr>
          <a:xfrm>
            <a:off x="3063240" y="1965960"/>
            <a:ext cx="8579815" cy="603504"/>
          </a:xfrm>
          <a:prstGeom prst="roundRect">
            <a:avLst>
              <a:gd name="adj" fmla="val 18182"/>
            </a:avLst>
          </a:prstGeom>
          <a:solidFill>
            <a:srgbClr val="F1E1EE"/>
          </a:solidFill>
          <a:ln w="12700">
            <a:solidFill>
              <a:srgbClr val="962B7C"/>
            </a:solidFill>
            <a:prstDash val="solid"/>
          </a:ln>
        </p:spPr>
      </p:sp>
      <p:sp>
        <p:nvSpPr>
          <p:cNvPr id="45" name="Shape 42"/>
          <p:cNvSpPr/>
          <p:nvPr/>
        </p:nvSpPr>
        <p:spPr>
          <a:xfrm>
            <a:off x="3172968" y="2039112"/>
            <a:ext cx="457200" cy="457200"/>
          </a:xfrm>
          <a:prstGeom prst="ellipse">
            <a:avLst/>
          </a:prstGeom>
          <a:solidFill>
            <a:srgbClr val="962B7C"/>
          </a:solidFill>
          <a:ln w="12700">
            <a:solidFill>
              <a:srgbClr val="962B7C"/>
            </a:solidFill>
            <a:prstDash val="solid"/>
          </a:ln>
        </p:spPr>
      </p:sp>
      <p:sp>
        <p:nvSpPr>
          <p:cNvPr id="46" name="Text 43"/>
          <p:cNvSpPr txBox="1"/>
          <p:nvPr/>
        </p:nvSpPr>
        <p:spPr>
          <a:xfrm>
            <a:off x="3172968" y="2039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5</a:t>
            </a:r>
            <a:endParaRPr lang="en-US" sz="1600" dirty="0"/>
          </a:p>
        </p:txBody>
      </p:sp>
      <p:sp>
        <p:nvSpPr>
          <p:cNvPr id="47" name="Text 44"/>
          <p:cNvSpPr txBox="1"/>
          <p:nvPr/>
        </p:nvSpPr>
        <p:spPr>
          <a:xfrm>
            <a:off x="3794760" y="1965960"/>
            <a:ext cx="1737360" cy="603504"/>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ROI</a:t>
            </a:r>
            <a:endParaRPr lang="en-US" sz="1400" dirty="0"/>
          </a:p>
        </p:txBody>
      </p:sp>
      <p:sp>
        <p:nvSpPr>
          <p:cNvPr id="48" name="Text 45"/>
          <p:cNvSpPr txBox="1"/>
          <p:nvPr/>
        </p:nvSpPr>
        <p:spPr>
          <a:xfrm>
            <a:off x="5577840" y="1965960"/>
            <a:ext cx="5882335" cy="603504"/>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Lợi ích quy tiền so với tổng chi phí</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ROI năm đầu có thể âm — vì vậy phải thống nhất mục tiêu từ đầu</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VÍ DỤ GIẢ ĐỊNH, chỉ minh họa — không phải số liệu thật.</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20</a:t>
            </a:r>
            <a:endParaRPr lang="en-US" sz="1000" dirty="0"/>
          </a:p>
        </p:txBody>
      </p:sp>
      <p:sp>
        <p:nvSpPr>
          <p:cNvPr id="19" name="Shape 16"/>
          <p:cNvSpPr/>
          <p:nvPr/>
        </p:nvSpPr>
        <p:spPr>
          <a:xfrm>
            <a:off x="9265615" y="1783080"/>
            <a:ext cx="2377440" cy="457200"/>
          </a:xfrm>
          <a:prstGeom prst="roundRect">
            <a:avLst>
              <a:gd name="adj" fmla="val 50000"/>
            </a:avLst>
          </a:prstGeom>
          <a:solidFill>
            <a:srgbClr val="FFD23B"/>
          </a:solidFill>
          <a:ln w="12700">
            <a:solidFill>
              <a:srgbClr val="FFD23B"/>
            </a:solidFill>
            <a:prstDash val="solid"/>
          </a:ln>
        </p:spPr>
      </p:sp>
      <p:sp>
        <p:nvSpPr>
          <p:cNvPr id="20" name="Text 17"/>
          <p:cNvSpPr txBox="1"/>
          <p:nvPr/>
        </p:nvSpPr>
        <p:spPr>
          <a:xfrm>
            <a:off x="9338767" y="1783080"/>
            <a:ext cx="2231136" cy="45720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VÍ DỤ GIẢ ĐỊNH</a:t>
            </a:r>
            <a:endParaRPr lang="en-US" sz="1300" dirty="0"/>
          </a:p>
        </p:txBody>
      </p:sp>
      <p:sp>
        <p:nvSpPr>
          <p:cNvPr id="21" name="Shape 18"/>
          <p:cNvSpPr/>
          <p:nvPr/>
        </p:nvSpPr>
        <p:spPr>
          <a:xfrm>
            <a:off x="548640" y="2423160"/>
            <a:ext cx="2651760" cy="2011680"/>
          </a:xfrm>
          <a:prstGeom prst="roundRect">
            <a:avLst>
              <a:gd name="adj" fmla="val 5455"/>
            </a:avLst>
          </a:prstGeom>
          <a:solidFill>
            <a:srgbClr val="FFE9DE"/>
          </a:solidFill>
          <a:ln w="12700">
            <a:solidFill>
              <a:srgbClr val="FF9259"/>
            </a:solidFill>
            <a:prstDash val="solid"/>
          </a:ln>
        </p:spPr>
      </p:sp>
      <p:sp>
        <p:nvSpPr>
          <p:cNvPr id="22" name="Text 19"/>
          <p:cNvSpPr txBox="1"/>
          <p:nvPr/>
        </p:nvSpPr>
        <p:spPr>
          <a:xfrm>
            <a:off x="777240" y="2560320"/>
            <a:ext cx="2194560" cy="4114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Tổng chi phí</a:t>
            </a:r>
            <a:endParaRPr lang="en-US" sz="1500" dirty="0"/>
          </a:p>
        </p:txBody>
      </p:sp>
      <p:sp>
        <p:nvSpPr>
          <p:cNvPr id="23" name="Text 20"/>
          <p:cNvSpPr txBox="1"/>
          <p:nvPr/>
        </p:nvSpPr>
        <p:spPr>
          <a:xfrm>
            <a:off x="777240" y="2971800"/>
            <a:ext cx="2194560" cy="777240"/>
          </a:xfrm>
          <a:prstGeom prst="rect">
            <a:avLst/>
          </a:prstGeom>
          <a:noFill/>
          <a:ln/>
        </p:spPr>
        <p:txBody>
          <a:bodyPr wrap="square" lIns="0" tIns="0" rIns="0" bIns="0" rtlCol="0" anchor="ctr"/>
          <a:lstStyle/>
          <a:p>
            <a:pPr indent="0" marL="0">
              <a:buNone/>
            </a:pPr>
            <a:r>
              <a:rPr lang="en-US" sz="3400" b="1" dirty="0">
                <a:solidFill>
                  <a:srgbClr val="D9622B"/>
                </a:solidFill>
                <a:latin typeface="Alexandria" pitchFamily="34" charset="0"/>
                <a:ea typeface="Alexandria" pitchFamily="34" charset="-122"/>
                <a:cs typeface="Alexandria" pitchFamily="34" charset="-120"/>
              </a:rPr>
              <a:t>400 tr</a:t>
            </a:r>
            <a:endParaRPr lang="en-US" sz="3400" dirty="0"/>
          </a:p>
        </p:txBody>
      </p:sp>
      <p:sp>
        <p:nvSpPr>
          <p:cNvPr id="24" name="Text 21"/>
          <p:cNvSpPr txBox="1"/>
          <p:nvPr/>
        </p:nvSpPr>
        <p:spPr>
          <a:xfrm>
            <a:off x="777240" y="3749040"/>
            <a:ext cx="2194560" cy="59436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250 phí quyền + 150 kích hoạt</a:t>
            </a:r>
            <a:endParaRPr lang="en-US" sz="1200" dirty="0"/>
          </a:p>
        </p:txBody>
      </p:sp>
      <p:sp>
        <p:nvSpPr>
          <p:cNvPr id="25" name="Shape 22"/>
          <p:cNvSpPr/>
          <p:nvPr/>
        </p:nvSpPr>
        <p:spPr>
          <a:xfrm>
            <a:off x="3264408" y="3429000"/>
            <a:ext cx="283464" cy="914"/>
          </a:xfrm>
          <a:prstGeom prst="line">
            <a:avLst/>
          </a:prstGeom>
          <a:noFill/>
          <a:ln w="31750">
            <a:solidFill>
              <a:srgbClr val="2A2238"/>
            </a:solidFill>
            <a:prstDash val="solid"/>
            <a:tailEnd type="triangle"/>
          </a:ln>
        </p:spPr>
      </p:sp>
      <p:sp>
        <p:nvSpPr>
          <p:cNvPr id="26" name="Shape 23"/>
          <p:cNvSpPr/>
          <p:nvPr/>
        </p:nvSpPr>
        <p:spPr>
          <a:xfrm>
            <a:off x="3611880" y="2423160"/>
            <a:ext cx="2651760" cy="2011680"/>
          </a:xfrm>
          <a:prstGeom prst="roundRect">
            <a:avLst>
              <a:gd name="adj" fmla="val 5455"/>
            </a:avLst>
          </a:prstGeom>
          <a:solidFill>
            <a:srgbClr val="DDF1FB"/>
          </a:solidFill>
          <a:ln w="12700">
            <a:solidFill>
              <a:srgbClr val="09A1E5"/>
            </a:solidFill>
            <a:prstDash val="solid"/>
          </a:ln>
        </p:spPr>
      </p:sp>
      <p:sp>
        <p:nvSpPr>
          <p:cNvPr id="27" name="Text 24"/>
          <p:cNvSpPr txBox="1"/>
          <p:nvPr/>
        </p:nvSpPr>
        <p:spPr>
          <a:xfrm>
            <a:off x="3840480" y="2560320"/>
            <a:ext cx="2194560" cy="4114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Hợp đồng mới</a:t>
            </a:r>
            <a:endParaRPr lang="en-US" sz="1500" dirty="0"/>
          </a:p>
        </p:txBody>
      </p:sp>
      <p:sp>
        <p:nvSpPr>
          <p:cNvPr id="28" name="Text 25"/>
          <p:cNvSpPr txBox="1"/>
          <p:nvPr/>
        </p:nvSpPr>
        <p:spPr>
          <a:xfrm>
            <a:off x="3840480" y="2971800"/>
            <a:ext cx="2194560" cy="777240"/>
          </a:xfrm>
          <a:prstGeom prst="rect">
            <a:avLst/>
          </a:prstGeom>
          <a:noFill/>
          <a:ln/>
        </p:spPr>
        <p:txBody>
          <a:bodyPr wrap="square" lIns="0" tIns="0" rIns="0" bIns="0" rtlCol="0" anchor="ctr"/>
          <a:lstStyle/>
          <a:p>
            <a:pPr indent="0" marL="0">
              <a:buNone/>
            </a:pPr>
            <a:r>
              <a:rPr lang="en-US" sz="3400" b="1" dirty="0">
                <a:solidFill>
                  <a:srgbClr val="0A7FB5"/>
                </a:solidFill>
                <a:latin typeface="Alexandria" pitchFamily="34" charset="0"/>
                <a:ea typeface="Alexandria" pitchFamily="34" charset="-122"/>
                <a:cs typeface="Alexandria" pitchFamily="34" charset="-120"/>
              </a:rPr>
              <a:t>600 tr</a:t>
            </a:r>
            <a:endParaRPr lang="en-US" sz="3400" dirty="0"/>
          </a:p>
        </p:txBody>
      </p:sp>
      <p:sp>
        <p:nvSpPr>
          <p:cNvPr id="29" name="Text 26"/>
          <p:cNvSpPr txBox="1"/>
          <p:nvPr/>
        </p:nvSpPr>
        <p:spPr>
          <a:xfrm>
            <a:off x="3840480" y="3749040"/>
            <a:ext cx="2194560" cy="59436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60 DN hẹn × 20% ký = 12 × 50 tr</a:t>
            </a:r>
            <a:endParaRPr lang="en-US" sz="1200" dirty="0"/>
          </a:p>
        </p:txBody>
      </p:sp>
      <p:sp>
        <p:nvSpPr>
          <p:cNvPr id="30" name="Shape 27"/>
          <p:cNvSpPr/>
          <p:nvPr/>
        </p:nvSpPr>
        <p:spPr>
          <a:xfrm>
            <a:off x="6327648" y="3429000"/>
            <a:ext cx="283464" cy="914"/>
          </a:xfrm>
          <a:prstGeom prst="line">
            <a:avLst/>
          </a:prstGeom>
          <a:noFill/>
          <a:ln w="31750">
            <a:solidFill>
              <a:srgbClr val="2A2238"/>
            </a:solidFill>
            <a:prstDash val="solid"/>
            <a:tailEnd type="triangle"/>
          </a:ln>
        </p:spPr>
      </p:sp>
      <p:sp>
        <p:nvSpPr>
          <p:cNvPr id="31" name="Shape 28"/>
          <p:cNvSpPr/>
          <p:nvPr/>
        </p:nvSpPr>
        <p:spPr>
          <a:xfrm>
            <a:off x="6675120" y="2423160"/>
            <a:ext cx="2651760" cy="2011680"/>
          </a:xfrm>
          <a:prstGeom prst="roundRect">
            <a:avLst>
              <a:gd name="adj" fmla="val 5455"/>
            </a:avLst>
          </a:prstGeom>
          <a:solidFill>
            <a:srgbClr val="F1E1EE"/>
          </a:solidFill>
          <a:ln w="12700">
            <a:solidFill>
              <a:srgbClr val="962B7C"/>
            </a:solidFill>
            <a:prstDash val="solid"/>
          </a:ln>
        </p:spPr>
      </p:sp>
      <p:sp>
        <p:nvSpPr>
          <p:cNvPr id="32" name="Text 29"/>
          <p:cNvSpPr txBox="1"/>
          <p:nvPr/>
        </p:nvSpPr>
        <p:spPr>
          <a:xfrm>
            <a:off x="6903720" y="2560320"/>
            <a:ext cx="2194560" cy="4114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Quy cho sự kiện</a:t>
            </a:r>
            <a:endParaRPr lang="en-US" sz="1500" dirty="0"/>
          </a:p>
        </p:txBody>
      </p:sp>
      <p:sp>
        <p:nvSpPr>
          <p:cNvPr id="33" name="Text 30"/>
          <p:cNvSpPr txBox="1"/>
          <p:nvPr/>
        </p:nvSpPr>
        <p:spPr>
          <a:xfrm>
            <a:off x="6903720" y="2971800"/>
            <a:ext cx="2194560" cy="777240"/>
          </a:xfrm>
          <a:prstGeom prst="rect">
            <a:avLst/>
          </a:prstGeom>
          <a:noFill/>
          <a:ln/>
        </p:spPr>
        <p:txBody>
          <a:bodyPr wrap="square" lIns="0" tIns="0" rIns="0" bIns="0" rtlCol="0" anchor="ctr"/>
          <a:lstStyle/>
          <a:p>
            <a:pPr indent="0" marL="0">
              <a:buNone/>
            </a:pPr>
            <a:r>
              <a:rPr lang="en-US" sz="3400" b="1" dirty="0">
                <a:solidFill>
                  <a:srgbClr val="962B7C"/>
                </a:solidFill>
                <a:latin typeface="Alexandria" pitchFamily="34" charset="0"/>
                <a:ea typeface="Alexandria" pitchFamily="34" charset="-122"/>
                <a:cs typeface="Alexandria" pitchFamily="34" charset="-120"/>
              </a:rPr>
              <a:t>300 tr</a:t>
            </a:r>
            <a:endParaRPr lang="en-US" sz="3400" dirty="0"/>
          </a:p>
        </p:txBody>
      </p:sp>
      <p:sp>
        <p:nvSpPr>
          <p:cNvPr id="34" name="Text 31"/>
          <p:cNvSpPr txBox="1"/>
          <p:nvPr/>
        </p:nvSpPr>
        <p:spPr>
          <a:xfrm>
            <a:off x="6903720" y="3749040"/>
            <a:ext cx="2194560" cy="594360"/>
          </a:xfrm>
          <a:prstGeom prst="rect">
            <a:avLst/>
          </a:prstGeom>
          <a:noFill/>
          <a:ln/>
        </p:spPr>
        <p:txBody>
          <a:bodyPr wrap="square" lIns="0" tIns="0" rIns="0" bIns="0" rtlCol="0" anchor="t"/>
          <a:lstStyle/>
          <a:p>
            <a:pPr indent="0" marL="0">
              <a:buNone/>
            </a:pPr>
            <a:r>
              <a:rPr lang="en-US" sz="1200" dirty="0">
                <a:solidFill>
                  <a:srgbClr val="2A2238"/>
                </a:solidFill>
                <a:latin typeface="Alexandria" pitchFamily="34" charset="0"/>
                <a:ea typeface="Alexandria" pitchFamily="34" charset="-122"/>
                <a:cs typeface="Alexandria" pitchFamily="34" charset="-120"/>
              </a:rPr>
              <a:t>chỉ ½ do sự kiện (tách tác động)</a:t>
            </a:r>
            <a:endParaRPr lang="en-US" sz="1200" dirty="0"/>
          </a:p>
        </p:txBody>
      </p:sp>
      <p:sp>
        <p:nvSpPr>
          <p:cNvPr id="35" name="Shape 32"/>
          <p:cNvSpPr/>
          <p:nvPr/>
        </p:nvSpPr>
        <p:spPr>
          <a:xfrm>
            <a:off x="9738360" y="2423160"/>
            <a:ext cx="1904695" cy="2011680"/>
          </a:xfrm>
          <a:prstGeom prst="roundRect">
            <a:avLst>
              <a:gd name="adj" fmla="val 5761"/>
            </a:avLst>
          </a:prstGeom>
          <a:solidFill>
            <a:srgbClr val="FF5178"/>
          </a:solidFill>
          <a:ln w="12700">
            <a:solidFill>
              <a:srgbClr val="FF5178"/>
            </a:solidFill>
            <a:prstDash val="solid"/>
          </a:ln>
        </p:spPr>
      </p:sp>
      <p:sp>
        <p:nvSpPr>
          <p:cNvPr id="36" name="Text 33"/>
          <p:cNvSpPr txBox="1"/>
          <p:nvPr/>
        </p:nvSpPr>
        <p:spPr>
          <a:xfrm>
            <a:off x="9875520" y="2423160"/>
            <a:ext cx="1630375" cy="201168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ROI</a:t>
            </a:r>
            <a:endParaRPr lang="en-US" sz="1500" dirty="0"/>
          </a:p>
          <a:p>
            <a:pPr algn="ctr" indent="0" marL="0">
              <a:buNone/>
            </a:pPr>
            <a:r>
              <a:rPr lang="en-US" sz="3600" b="1" dirty="0">
                <a:solidFill>
                  <a:srgbClr val="FFFFFF"/>
                </a:solidFill>
                <a:latin typeface="Alexandria" pitchFamily="34" charset="0"/>
                <a:ea typeface="Alexandria" pitchFamily="34" charset="-122"/>
                <a:cs typeface="Alexandria" pitchFamily="34" charset="-120"/>
              </a:rPr>
              <a:t>−25%</a:t>
            </a:r>
            <a:endParaRPr lang="en-US" sz="1500" dirty="0"/>
          </a:p>
        </p:txBody>
      </p:sp>
      <p:sp>
        <p:nvSpPr>
          <p:cNvPr id="37" name="Shape 34"/>
          <p:cNvSpPr/>
          <p:nvPr/>
        </p:nvSpPr>
        <p:spPr>
          <a:xfrm>
            <a:off x="548640" y="4754880"/>
            <a:ext cx="11094415" cy="1234440"/>
          </a:xfrm>
          <a:prstGeom prst="roundRect">
            <a:avLst>
              <a:gd name="adj" fmla="val 8889"/>
            </a:avLst>
          </a:prstGeom>
          <a:solidFill>
            <a:srgbClr val="FFF3C4"/>
          </a:solidFill>
          <a:ln w="12700">
            <a:solidFill>
              <a:srgbClr val="FFD23B"/>
            </a:solidFill>
            <a:prstDash val="solid"/>
          </a:ln>
        </p:spPr>
      </p:sp>
      <p:sp>
        <p:nvSpPr>
          <p:cNvPr id="38" name="Text 35"/>
          <p:cNvSpPr txBox="1"/>
          <p:nvPr/>
        </p:nvSpPr>
        <p:spPr>
          <a:xfrm>
            <a:off x="868680" y="4754880"/>
            <a:ext cx="10454335" cy="12344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ROI = (300 − 400) / 400 = −25% năm đầu. </a:t>
            </a:r>
            <a:pPr indent="0" marL="0">
              <a:buNone/>
            </a:pPr>
            <a:r>
              <a:rPr lang="en-US" sz="1500" dirty="0">
                <a:solidFill>
                  <a:srgbClr val="2A2238"/>
                </a:solidFill>
                <a:latin typeface="Alexandria" pitchFamily="34" charset="0"/>
                <a:ea typeface="Alexandria" pitchFamily="34" charset="-122"/>
                <a:cs typeface="Alexandria" pitchFamily="34" charset="-120"/>
              </a:rPr>
              <a:t>Không có nghĩa là thất bại: mục tiêu chính có thể là ROO — nên phải thống nhất mục tiêu và cách đo ngay trong đề xuất, ghi vào hợp đồng.</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trợ phải làm giàu hành trình, không làm gián đoạn</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U07: Bizzabo (2026), số liệu khảo sát chưa kiểm chứng chéo · U03: Cornwell (2019), Journal of Advertising.</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21</a:t>
            </a:r>
            <a:endParaRPr lang="en-US" sz="1000" dirty="0"/>
          </a:p>
        </p:txBody>
      </p:sp>
      <p:sp>
        <p:nvSpPr>
          <p:cNvPr id="19" name="Shape 16"/>
          <p:cNvSpPr/>
          <p:nvPr/>
        </p:nvSpPr>
        <p:spPr>
          <a:xfrm>
            <a:off x="548640" y="1920240"/>
            <a:ext cx="11094415" cy="1280160"/>
          </a:xfrm>
          <a:prstGeom prst="roundRect">
            <a:avLst>
              <a:gd name="adj" fmla="val 8571"/>
            </a:avLst>
          </a:prstGeom>
          <a:solidFill>
            <a:srgbClr val="FFE4EA"/>
          </a:solidFill>
          <a:ln w="12700">
            <a:solidFill>
              <a:srgbClr val="FF5178"/>
            </a:solidFill>
            <a:prstDash val="solid"/>
          </a:ln>
        </p:spPr>
      </p:sp>
      <p:sp>
        <p:nvSpPr>
          <p:cNvPr id="20" name="Text 17"/>
          <p:cNvSpPr txBox="1"/>
          <p:nvPr/>
        </p:nvSpPr>
        <p:spPr>
          <a:xfrm>
            <a:off x="914400" y="1920240"/>
            <a:ext cx="10362895" cy="1280160"/>
          </a:xfrm>
          <a:prstGeom prst="rect">
            <a:avLst/>
          </a:prstGeom>
          <a:noFill/>
          <a:ln/>
        </p:spPr>
        <p:txBody>
          <a:bodyPr wrap="square" lIns="0" tIns="0" rIns="0" bIns="0" rtlCol="0" anchor="ctr"/>
          <a:lstStyle/>
          <a:p>
            <a:pPr algn="ctr" indent="0" marL="0">
              <a:buNone/>
            </a:pPr>
            <a:r>
              <a:rPr lang="en-US" sz="2400" b="1" i="1" dirty="0">
                <a:solidFill>
                  <a:srgbClr val="2A2238"/>
                </a:solidFill>
                <a:latin typeface="Alexandria" pitchFamily="34" charset="0"/>
                <a:ea typeface="Alexandria" pitchFamily="34" charset="-122"/>
                <a:cs typeface="Alexandria" pitchFamily="34" charset="-120"/>
              </a:rPr>
              <a:t>“Sponsorships should enhance the attendee journey, not disrupt it.” </a:t>
            </a:r>
            <a:pPr algn="ctr" indent="0" marL="0">
              <a:buNone/>
            </a:pPr>
            <a:r>
              <a:rPr lang="en-US" sz="1300" dirty="0">
                <a:solidFill>
                  <a:srgbClr val="6E6878"/>
                </a:solidFill>
                <a:latin typeface="Alexandria" pitchFamily="34" charset="0"/>
                <a:ea typeface="Alexandria" pitchFamily="34" charset="-122"/>
                <a:cs typeface="Alexandria" pitchFamily="34" charset="-120"/>
              </a:rPr>
              <a:t>— Bizzabo (U07)</a:t>
            </a:r>
            <a:endParaRPr lang="en-US" sz="2400" dirty="0"/>
          </a:p>
        </p:txBody>
      </p:sp>
      <p:sp>
        <p:nvSpPr>
          <p:cNvPr id="21" name="Shape 18"/>
          <p:cNvSpPr/>
          <p:nvPr/>
        </p:nvSpPr>
        <p:spPr>
          <a:xfrm>
            <a:off x="548640" y="3520440"/>
            <a:ext cx="3515258" cy="2468880"/>
          </a:xfrm>
          <a:prstGeom prst="roundRect">
            <a:avLst>
              <a:gd name="adj" fmla="val 4444"/>
            </a:avLst>
          </a:prstGeom>
          <a:solidFill>
            <a:srgbClr val="FFFFFF"/>
          </a:solidFill>
          <a:ln w="12700">
            <a:solidFill>
              <a:srgbClr val="DCD7C8"/>
            </a:solidFill>
            <a:prstDash val="solid"/>
          </a:ln>
        </p:spPr>
      </p:sp>
      <p:sp>
        <p:nvSpPr>
          <p:cNvPr id="22" name="Text 19"/>
          <p:cNvSpPr txBox="1"/>
          <p:nvPr/>
        </p:nvSpPr>
        <p:spPr>
          <a:xfrm>
            <a:off x="822960" y="3657600"/>
            <a:ext cx="2966618" cy="411480"/>
          </a:xfrm>
          <a:prstGeom prst="rect">
            <a:avLst/>
          </a:prstGeom>
          <a:noFill/>
          <a:ln/>
        </p:spPr>
        <p:txBody>
          <a:bodyPr wrap="square" lIns="0" tIns="0" rIns="0" bIns="0" rtlCol="0" anchor="ctr"/>
          <a:lstStyle/>
          <a:p>
            <a:pPr indent="0" marL="0">
              <a:buNone/>
            </a:pPr>
            <a:r>
              <a:rPr lang="en-US" sz="1400" b="1" dirty="0">
                <a:solidFill>
                  <a:srgbClr val="6E6878"/>
                </a:solidFill>
                <a:latin typeface="Alexandria" pitchFamily="34" charset="0"/>
                <a:ea typeface="Alexandria" pitchFamily="34" charset="-122"/>
                <a:cs typeface="Alexandria" pitchFamily="34" charset="-120"/>
              </a:rPr>
              <a:t>Cornwell (2019)</a:t>
            </a:r>
            <a:endParaRPr lang="en-US" sz="1400" dirty="0"/>
          </a:p>
        </p:txBody>
      </p:sp>
      <p:sp>
        <p:nvSpPr>
          <p:cNvPr id="23" name="Text 20"/>
          <p:cNvSpPr txBox="1"/>
          <p:nvPr/>
        </p:nvSpPr>
        <p:spPr>
          <a:xfrm>
            <a:off x="822960" y="4114800"/>
            <a:ext cx="2966618" cy="1645920"/>
          </a:xfrm>
          <a:prstGeom prst="rect">
            <a:avLst/>
          </a:prstGeom>
          <a:noFill/>
          <a:ln/>
        </p:spPr>
        <p:txBody>
          <a:bodyPr wrap="square" lIns="0" tIns="0" rIns="0" bIns="0" rtlCol="0" anchor="t"/>
          <a:lstStyle/>
          <a:p>
            <a:pPr indent="0" marL="0">
              <a:spcAft>
                <a:spcPts val="600"/>
              </a:spcAft>
              <a:buNone/>
            </a:pPr>
            <a:r>
              <a:rPr lang="en-US" sz="1600" dirty="0">
                <a:solidFill>
                  <a:srgbClr val="6E6878"/>
                </a:solidFill>
                <a:latin typeface="Alexandria" pitchFamily="34" charset="0"/>
                <a:ea typeface="Alexandria" pitchFamily="34" charset="-122"/>
                <a:cs typeface="Alexandria" pitchFamily="34" charset="-120"/>
              </a:rPr>
              <a:t>Bớt “tài trợ như quảng cáo”</a:t>
            </a:r>
            <a:endParaRPr lang="en-US" sz="1600" dirty="0"/>
          </a:p>
          <a:p>
            <a:pPr indent="0" marL="0">
              <a:spcAft>
                <a:spcPts val="600"/>
              </a:spcAft>
              <a:buNone/>
            </a:pPr>
            <a:r>
              <a:rPr lang="en-US" sz="1600" b="1" dirty="0">
                <a:solidFill>
                  <a:srgbClr val="2A2238"/>
                </a:solidFill>
                <a:latin typeface="Alexandria" pitchFamily="34" charset="0"/>
                <a:ea typeface="Alexandria" pitchFamily="34" charset="-122"/>
                <a:cs typeface="Alexandria" pitchFamily="34" charset="-120"/>
              </a:rPr>
              <a:t>→ thêm gắn kết thật với người tham dự</a:t>
            </a:r>
            <a:endParaRPr lang="en-US" sz="1600" dirty="0"/>
          </a:p>
        </p:txBody>
      </p:sp>
      <p:sp>
        <p:nvSpPr>
          <p:cNvPr id="24" name="Shape 21"/>
          <p:cNvSpPr/>
          <p:nvPr/>
        </p:nvSpPr>
        <p:spPr>
          <a:xfrm>
            <a:off x="4338218" y="3520440"/>
            <a:ext cx="3515258" cy="2468880"/>
          </a:xfrm>
          <a:prstGeom prst="roundRect">
            <a:avLst>
              <a:gd name="adj" fmla="val 4444"/>
            </a:avLst>
          </a:prstGeom>
          <a:solidFill>
            <a:srgbClr val="F1E1EE"/>
          </a:solidFill>
          <a:ln w="12700">
            <a:solidFill>
              <a:srgbClr val="F1E1EE"/>
            </a:solidFill>
            <a:prstDash val="solid"/>
          </a:ln>
        </p:spPr>
      </p:sp>
      <p:sp>
        <p:nvSpPr>
          <p:cNvPr id="25" name="Text 22"/>
          <p:cNvSpPr txBox="1"/>
          <p:nvPr/>
        </p:nvSpPr>
        <p:spPr>
          <a:xfrm>
            <a:off x="4612538" y="3657600"/>
            <a:ext cx="2966618" cy="914400"/>
          </a:xfrm>
          <a:prstGeom prst="rect">
            <a:avLst/>
          </a:prstGeom>
          <a:noFill/>
          <a:ln/>
        </p:spPr>
        <p:txBody>
          <a:bodyPr wrap="square" lIns="0" tIns="0" rIns="0" bIns="0" rtlCol="0" anchor="ctr"/>
          <a:lstStyle/>
          <a:p>
            <a:pPr indent="0" marL="0">
              <a:buNone/>
            </a:pPr>
            <a:r>
              <a:rPr lang="en-US" sz="4200" b="1" dirty="0">
                <a:solidFill>
                  <a:srgbClr val="962B7C"/>
                </a:solidFill>
                <a:latin typeface="Alexandria" pitchFamily="34" charset="0"/>
                <a:ea typeface="Alexandria" pitchFamily="34" charset="-122"/>
                <a:cs typeface="Alexandria" pitchFamily="34" charset="-120"/>
              </a:rPr>
              <a:t>57%</a:t>
            </a:r>
            <a:endParaRPr lang="en-US" sz="4200" dirty="0"/>
          </a:p>
        </p:txBody>
      </p:sp>
      <p:sp>
        <p:nvSpPr>
          <p:cNvPr id="26" name="Text 23"/>
          <p:cNvSpPr txBox="1"/>
          <p:nvPr/>
        </p:nvSpPr>
        <p:spPr>
          <a:xfrm>
            <a:off x="4612538" y="4572000"/>
            <a:ext cx="2966618" cy="128016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nhà tài trợ đánh giá cao trải nghiệm thương hiệu (tiệc chọn lọc, gặp riêng) hơn gian hàng</a:t>
            </a:r>
            <a:endParaRPr lang="en-US" sz="1400" dirty="0"/>
          </a:p>
        </p:txBody>
      </p:sp>
      <p:sp>
        <p:nvSpPr>
          <p:cNvPr id="27" name="Shape 24"/>
          <p:cNvSpPr/>
          <p:nvPr/>
        </p:nvSpPr>
        <p:spPr>
          <a:xfrm>
            <a:off x="8127797" y="3520440"/>
            <a:ext cx="3515258" cy="2468880"/>
          </a:xfrm>
          <a:prstGeom prst="roundRect">
            <a:avLst>
              <a:gd name="adj" fmla="val 4444"/>
            </a:avLst>
          </a:prstGeom>
          <a:solidFill>
            <a:srgbClr val="DDF1FB"/>
          </a:solidFill>
          <a:ln w="12700">
            <a:solidFill>
              <a:srgbClr val="DDF1FB"/>
            </a:solidFill>
            <a:prstDash val="solid"/>
          </a:ln>
        </p:spPr>
      </p:sp>
      <p:sp>
        <p:nvSpPr>
          <p:cNvPr id="28" name="Text 25"/>
          <p:cNvSpPr txBox="1"/>
          <p:nvPr/>
        </p:nvSpPr>
        <p:spPr>
          <a:xfrm>
            <a:off x="8402117" y="3657600"/>
            <a:ext cx="2966618" cy="914400"/>
          </a:xfrm>
          <a:prstGeom prst="rect">
            <a:avLst/>
          </a:prstGeom>
          <a:noFill/>
          <a:ln/>
        </p:spPr>
        <p:txBody>
          <a:bodyPr wrap="square" lIns="0" tIns="0" rIns="0" bIns="0" rtlCol="0" anchor="ctr"/>
          <a:lstStyle/>
          <a:p>
            <a:pPr indent="0" marL="0">
              <a:buNone/>
            </a:pPr>
            <a:r>
              <a:rPr lang="en-US" sz="4200" b="1" dirty="0">
                <a:solidFill>
                  <a:srgbClr val="0A7FB5"/>
                </a:solidFill>
                <a:latin typeface="Alexandria" pitchFamily="34" charset="0"/>
                <a:ea typeface="Alexandria" pitchFamily="34" charset="-122"/>
                <a:cs typeface="Alexandria" pitchFamily="34" charset="-120"/>
              </a:rPr>
              <a:t>84%</a:t>
            </a:r>
            <a:endParaRPr lang="en-US" sz="4200" dirty="0"/>
          </a:p>
        </p:txBody>
      </p:sp>
      <p:sp>
        <p:nvSpPr>
          <p:cNvPr id="29" name="Text 26"/>
          <p:cNvSpPr txBox="1"/>
          <p:nvPr/>
        </p:nvSpPr>
        <p:spPr>
          <a:xfrm>
            <a:off x="8402117" y="4572000"/>
            <a:ext cx="2966618" cy="128016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coi networking của người tham dự là quan trọng</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Mỗi giai đoạn trước – trong – sau có điểm chạm cho nhà tài trợ</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Nhận định của người soạn; tham chiếu cách VPBank dùng quyền mua vé sớm cho chủ thẻ (U10). Tình huống giả định.</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22</a:t>
            </a:r>
            <a:endParaRPr lang="en-US" sz="1000" dirty="0"/>
          </a:p>
        </p:txBody>
      </p:sp>
      <p:sp>
        <p:nvSpPr>
          <p:cNvPr id="19" name="Shape 16"/>
          <p:cNvSpPr/>
          <p:nvPr/>
        </p:nvSpPr>
        <p:spPr>
          <a:xfrm>
            <a:off x="548640" y="1828800"/>
            <a:ext cx="3576218" cy="685800"/>
          </a:xfrm>
          <a:prstGeom prst="chevron">
            <a:avLst/>
          </a:prstGeom>
          <a:solidFill>
            <a:srgbClr val="FF9259"/>
          </a:solidFill>
          <a:ln w="12700">
            <a:solidFill>
              <a:srgbClr val="FF9259"/>
            </a:solidFill>
            <a:prstDash val="solid"/>
          </a:ln>
        </p:spPr>
      </p:sp>
      <p:sp>
        <p:nvSpPr>
          <p:cNvPr id="20" name="Text 17"/>
          <p:cNvSpPr txBox="1"/>
          <p:nvPr/>
        </p:nvSpPr>
        <p:spPr>
          <a:xfrm>
            <a:off x="914400" y="1828800"/>
            <a:ext cx="3027578" cy="6858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Trước</a:t>
            </a:r>
            <a:endParaRPr lang="en-US" sz="1800" dirty="0"/>
          </a:p>
        </p:txBody>
      </p:sp>
      <p:sp>
        <p:nvSpPr>
          <p:cNvPr id="21" name="Text 18"/>
          <p:cNvSpPr txBox="1"/>
          <p:nvPr/>
        </p:nvSpPr>
        <p:spPr>
          <a:xfrm>
            <a:off x="640080" y="2697480"/>
            <a:ext cx="3393338" cy="320040"/>
          </a:xfrm>
          <a:prstGeom prst="rect">
            <a:avLst/>
          </a:prstGeom>
          <a:noFill/>
          <a:ln/>
        </p:spPr>
        <p:txBody>
          <a:bodyPr wrap="square" lIns="0" tIns="0" rIns="0" bIns="0" rtlCol="0" anchor="ctr"/>
          <a:lstStyle/>
          <a:p>
            <a:pPr indent="0" marL="0">
              <a:buNone/>
            </a:pPr>
            <a:r>
              <a:rPr lang="en-US" sz="1200" b="1" dirty="0">
                <a:solidFill>
                  <a:srgbClr val="6E6878"/>
                </a:solidFill>
                <a:latin typeface="Alexandria" pitchFamily="34" charset="0"/>
                <a:ea typeface="Alexandria" pitchFamily="34" charset="-122"/>
                <a:cs typeface="Alexandria" pitchFamily="34" charset="-120"/>
              </a:rPr>
              <a:t>Điểm chạm</a:t>
            </a:r>
            <a:endParaRPr lang="en-US" sz="1200" dirty="0"/>
          </a:p>
        </p:txBody>
      </p:sp>
      <p:sp>
        <p:nvSpPr>
          <p:cNvPr id="22" name="Text 19"/>
          <p:cNvSpPr txBox="1"/>
          <p:nvPr/>
        </p:nvSpPr>
        <p:spPr>
          <a:xfrm>
            <a:off x="640080" y="3017520"/>
            <a:ext cx="3393338" cy="86868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Thư mời · đăng ký · xác nhận · di chuyển</a:t>
            </a:r>
            <a:endParaRPr lang="en-US" sz="1400" dirty="0"/>
          </a:p>
        </p:txBody>
      </p:sp>
      <p:sp>
        <p:nvSpPr>
          <p:cNvPr id="23" name="Shape 20"/>
          <p:cNvSpPr/>
          <p:nvPr/>
        </p:nvSpPr>
        <p:spPr>
          <a:xfrm>
            <a:off x="548640" y="3977640"/>
            <a:ext cx="3576218" cy="2011680"/>
          </a:xfrm>
          <a:prstGeom prst="roundRect">
            <a:avLst>
              <a:gd name="adj" fmla="val 5455"/>
            </a:avLst>
          </a:prstGeom>
          <a:solidFill>
            <a:srgbClr val="FFE9DE"/>
          </a:solidFill>
          <a:ln w="12700">
            <a:solidFill>
              <a:srgbClr val="FF9259"/>
            </a:solidFill>
            <a:prstDash val="solid"/>
          </a:ln>
        </p:spPr>
      </p:sp>
      <p:sp>
        <p:nvSpPr>
          <p:cNvPr id="24" name="Text 21"/>
          <p:cNvSpPr txBox="1"/>
          <p:nvPr/>
        </p:nvSpPr>
        <p:spPr>
          <a:xfrm>
            <a:off x="777240" y="4069080"/>
            <a:ext cx="3119018" cy="320040"/>
          </a:xfrm>
          <a:prstGeom prst="rect">
            <a:avLst/>
          </a:prstGeom>
          <a:noFill/>
          <a:ln/>
        </p:spPr>
        <p:txBody>
          <a:bodyPr wrap="square" lIns="0" tIns="0" rIns="0" bIns="0" rtlCol="0" anchor="ctr"/>
          <a:lstStyle/>
          <a:p>
            <a:pPr indent="0" marL="0">
              <a:buNone/>
            </a:pPr>
            <a:r>
              <a:rPr lang="en-US" sz="1200" b="1" dirty="0">
                <a:solidFill>
                  <a:srgbClr val="6E6878"/>
                </a:solidFill>
                <a:latin typeface="Alexandria" pitchFamily="34" charset="0"/>
                <a:ea typeface="Alexandria" pitchFamily="34" charset="-122"/>
                <a:cs typeface="Alexandria" pitchFamily="34" charset="-120"/>
              </a:rPr>
              <a:t>Gắn nhà tài trợ</a:t>
            </a:r>
            <a:endParaRPr lang="en-US" sz="1200" dirty="0"/>
          </a:p>
        </p:txBody>
      </p:sp>
      <p:sp>
        <p:nvSpPr>
          <p:cNvPr id="25" name="Text 22"/>
          <p:cNvSpPr txBox="1"/>
          <p:nvPr/>
        </p:nvSpPr>
        <p:spPr>
          <a:xfrm>
            <a:off x="777240" y="4389120"/>
            <a:ext cx="3119018" cy="1508760"/>
          </a:xfrm>
          <a:prstGeom prst="rect">
            <a:avLst/>
          </a:prstGeom>
          <a:noFill/>
          <a:ln/>
        </p:spPr>
        <p:txBody>
          <a:bodyPr wrap="square" lIns="0" tIns="0" rIns="0" bIns="0" rtlCol="0" anchor="t"/>
          <a:lstStyle/>
          <a:p>
            <a:pPr indent="0" marL="0">
              <a:buNone/>
            </a:pPr>
            <a:r>
              <a:rPr lang="en-US" sz="1400" b="1" dirty="0">
                <a:solidFill>
                  <a:srgbClr val="2A2238"/>
                </a:solidFill>
                <a:latin typeface="Alexandria" pitchFamily="34" charset="0"/>
                <a:ea typeface="Alexandria" pitchFamily="34" charset="-122"/>
                <a:cs typeface="Alexandria" pitchFamily="34" charset="-120"/>
              </a:rPr>
              <a:t>GlobalCard: ưu đãi xe đưa đón cho chủ thẻ</a:t>
            </a:r>
            <a:endParaRPr lang="en-US" sz="1400" dirty="0"/>
          </a:p>
        </p:txBody>
      </p:sp>
      <p:sp>
        <p:nvSpPr>
          <p:cNvPr id="26" name="Shape 23"/>
          <p:cNvSpPr/>
          <p:nvPr/>
        </p:nvSpPr>
        <p:spPr>
          <a:xfrm>
            <a:off x="4307738" y="1828800"/>
            <a:ext cx="3576218" cy="685800"/>
          </a:xfrm>
          <a:prstGeom prst="chevron">
            <a:avLst/>
          </a:prstGeom>
          <a:solidFill>
            <a:srgbClr val="962B7C"/>
          </a:solidFill>
          <a:ln w="12700">
            <a:solidFill>
              <a:srgbClr val="962B7C"/>
            </a:solidFill>
            <a:prstDash val="solid"/>
          </a:ln>
        </p:spPr>
      </p:sp>
      <p:sp>
        <p:nvSpPr>
          <p:cNvPr id="27" name="Text 24"/>
          <p:cNvSpPr txBox="1"/>
          <p:nvPr/>
        </p:nvSpPr>
        <p:spPr>
          <a:xfrm>
            <a:off x="4673498" y="1828800"/>
            <a:ext cx="3027578" cy="685800"/>
          </a:xfrm>
          <a:prstGeom prst="rect">
            <a:avLst/>
          </a:prstGeom>
          <a:noFill/>
          <a:ln/>
        </p:spPr>
        <p:txBody>
          <a:bodyPr wrap="square" lIns="0" tIns="0" rIns="0" bIns="0" rtlCol="0" anchor="ctr"/>
          <a:lstStyle/>
          <a:p>
            <a:pPr indent="0" marL="0">
              <a:buNone/>
            </a:pPr>
            <a:r>
              <a:rPr lang="en-US" sz="1800" b="1" dirty="0">
                <a:solidFill>
                  <a:srgbClr val="FFFFFF"/>
                </a:solidFill>
                <a:latin typeface="Alexandria" pitchFamily="34" charset="0"/>
                <a:ea typeface="Alexandria" pitchFamily="34" charset="-122"/>
                <a:cs typeface="Alexandria" pitchFamily="34" charset="-120"/>
              </a:rPr>
              <a:t>Trong</a:t>
            </a:r>
            <a:endParaRPr lang="en-US" sz="1800" dirty="0"/>
          </a:p>
        </p:txBody>
      </p:sp>
      <p:sp>
        <p:nvSpPr>
          <p:cNvPr id="28" name="Text 25"/>
          <p:cNvSpPr txBox="1"/>
          <p:nvPr/>
        </p:nvSpPr>
        <p:spPr>
          <a:xfrm>
            <a:off x="4399178" y="2697480"/>
            <a:ext cx="3393338" cy="320040"/>
          </a:xfrm>
          <a:prstGeom prst="rect">
            <a:avLst/>
          </a:prstGeom>
          <a:noFill/>
          <a:ln/>
        </p:spPr>
        <p:txBody>
          <a:bodyPr wrap="square" lIns="0" tIns="0" rIns="0" bIns="0" rtlCol="0" anchor="ctr"/>
          <a:lstStyle/>
          <a:p>
            <a:pPr indent="0" marL="0">
              <a:buNone/>
            </a:pPr>
            <a:r>
              <a:rPr lang="en-US" sz="1200" b="1" dirty="0">
                <a:solidFill>
                  <a:srgbClr val="6E6878"/>
                </a:solidFill>
                <a:latin typeface="Alexandria" pitchFamily="34" charset="0"/>
                <a:ea typeface="Alexandria" pitchFamily="34" charset="-122"/>
                <a:cs typeface="Alexandria" pitchFamily="34" charset="-120"/>
              </a:rPr>
              <a:t>Điểm chạm</a:t>
            </a:r>
            <a:endParaRPr lang="en-US" sz="1200" dirty="0"/>
          </a:p>
        </p:txBody>
      </p:sp>
      <p:sp>
        <p:nvSpPr>
          <p:cNvPr id="29" name="Text 26"/>
          <p:cNvSpPr txBox="1"/>
          <p:nvPr/>
        </p:nvSpPr>
        <p:spPr>
          <a:xfrm>
            <a:off x="4399178" y="3017520"/>
            <a:ext cx="3393338" cy="86868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Check-in · phiên hội nghị · giải lao · networking · gala · quà</a:t>
            </a:r>
            <a:endParaRPr lang="en-US" sz="1400" dirty="0"/>
          </a:p>
        </p:txBody>
      </p:sp>
      <p:sp>
        <p:nvSpPr>
          <p:cNvPr id="30" name="Shape 27"/>
          <p:cNvSpPr/>
          <p:nvPr/>
        </p:nvSpPr>
        <p:spPr>
          <a:xfrm>
            <a:off x="4307738" y="3977640"/>
            <a:ext cx="3576218" cy="2011680"/>
          </a:xfrm>
          <a:prstGeom prst="roundRect">
            <a:avLst>
              <a:gd name="adj" fmla="val 5455"/>
            </a:avLst>
          </a:prstGeom>
          <a:solidFill>
            <a:srgbClr val="F1E1EE"/>
          </a:solidFill>
          <a:ln w="12700">
            <a:solidFill>
              <a:srgbClr val="962B7C"/>
            </a:solidFill>
            <a:prstDash val="solid"/>
          </a:ln>
        </p:spPr>
      </p:sp>
      <p:sp>
        <p:nvSpPr>
          <p:cNvPr id="31" name="Text 28"/>
          <p:cNvSpPr txBox="1"/>
          <p:nvPr/>
        </p:nvSpPr>
        <p:spPr>
          <a:xfrm>
            <a:off x="4536338" y="4069080"/>
            <a:ext cx="3119018" cy="320040"/>
          </a:xfrm>
          <a:prstGeom prst="rect">
            <a:avLst/>
          </a:prstGeom>
          <a:noFill/>
          <a:ln/>
        </p:spPr>
        <p:txBody>
          <a:bodyPr wrap="square" lIns="0" tIns="0" rIns="0" bIns="0" rtlCol="0" anchor="ctr"/>
          <a:lstStyle/>
          <a:p>
            <a:pPr indent="0" marL="0">
              <a:buNone/>
            </a:pPr>
            <a:r>
              <a:rPr lang="en-US" sz="1200" b="1" dirty="0">
                <a:solidFill>
                  <a:srgbClr val="6E6878"/>
                </a:solidFill>
                <a:latin typeface="Alexandria" pitchFamily="34" charset="0"/>
                <a:ea typeface="Alexandria" pitchFamily="34" charset="-122"/>
                <a:cs typeface="Alexandria" pitchFamily="34" charset="-120"/>
              </a:rPr>
              <a:t>Gắn nhà tài trợ</a:t>
            </a:r>
            <a:endParaRPr lang="en-US" sz="1200" dirty="0"/>
          </a:p>
        </p:txBody>
      </p:sp>
      <p:sp>
        <p:nvSpPr>
          <p:cNvPr id="32" name="Text 29"/>
          <p:cNvSpPr txBox="1"/>
          <p:nvPr/>
        </p:nvSpPr>
        <p:spPr>
          <a:xfrm>
            <a:off x="4536338" y="4389120"/>
            <a:ext cx="3119018" cy="1508760"/>
          </a:xfrm>
          <a:prstGeom prst="rect">
            <a:avLst/>
          </a:prstGeom>
          <a:noFill/>
          <a:ln/>
        </p:spPr>
        <p:txBody>
          <a:bodyPr wrap="square" lIns="0" tIns="0" rIns="0" bIns="0" rtlCol="0" anchor="t"/>
          <a:lstStyle/>
          <a:p>
            <a:pPr indent="0" marL="0">
              <a:buNone/>
            </a:pPr>
            <a:r>
              <a:rPr lang="en-US" sz="1400" b="1" dirty="0">
                <a:solidFill>
                  <a:srgbClr val="2A2238"/>
                </a:solidFill>
                <a:latin typeface="Alexandria" pitchFamily="34" charset="0"/>
                <a:ea typeface="Alexandria" pitchFamily="34" charset="-122"/>
                <a:cs typeface="Alexandria" pitchFamily="34" charset="-120"/>
              </a:rPr>
              <a:t>Bình An: phiên chuyên đề “quản trị rủi ro cho doanh nghiệp”; góc tư vấn theo lịch hẹn — không chào mời tại bàn tiệc</a:t>
            </a:r>
            <a:endParaRPr lang="en-US" sz="1400" dirty="0"/>
          </a:p>
        </p:txBody>
      </p:sp>
      <p:sp>
        <p:nvSpPr>
          <p:cNvPr id="33" name="Shape 30"/>
          <p:cNvSpPr/>
          <p:nvPr/>
        </p:nvSpPr>
        <p:spPr>
          <a:xfrm>
            <a:off x="8066837" y="1828800"/>
            <a:ext cx="3576218" cy="685800"/>
          </a:xfrm>
          <a:prstGeom prst="chevron">
            <a:avLst/>
          </a:prstGeom>
          <a:solidFill>
            <a:srgbClr val="09A1E5"/>
          </a:solidFill>
          <a:ln w="12700">
            <a:solidFill>
              <a:srgbClr val="09A1E5"/>
            </a:solidFill>
            <a:prstDash val="solid"/>
          </a:ln>
        </p:spPr>
      </p:sp>
      <p:sp>
        <p:nvSpPr>
          <p:cNvPr id="34" name="Text 31"/>
          <p:cNvSpPr txBox="1"/>
          <p:nvPr/>
        </p:nvSpPr>
        <p:spPr>
          <a:xfrm>
            <a:off x="8432597" y="1828800"/>
            <a:ext cx="3027578" cy="685800"/>
          </a:xfrm>
          <a:prstGeom prst="rect">
            <a:avLst/>
          </a:prstGeom>
          <a:noFill/>
          <a:ln/>
        </p:spPr>
        <p:txBody>
          <a:bodyPr wrap="square" lIns="0" tIns="0" rIns="0" bIns="0" rtlCol="0" anchor="ctr"/>
          <a:lstStyle/>
          <a:p>
            <a:pPr indent="0" marL="0">
              <a:buNone/>
            </a:pPr>
            <a:r>
              <a:rPr lang="en-US" sz="1800" b="1" dirty="0">
                <a:solidFill>
                  <a:srgbClr val="FFFFFF"/>
                </a:solidFill>
                <a:latin typeface="Alexandria" pitchFamily="34" charset="0"/>
                <a:ea typeface="Alexandria" pitchFamily="34" charset="-122"/>
                <a:cs typeface="Alexandria" pitchFamily="34" charset="-120"/>
              </a:rPr>
              <a:t>Sau</a:t>
            </a:r>
            <a:endParaRPr lang="en-US" sz="1800" dirty="0"/>
          </a:p>
        </p:txBody>
      </p:sp>
      <p:sp>
        <p:nvSpPr>
          <p:cNvPr id="35" name="Text 32"/>
          <p:cNvSpPr txBox="1"/>
          <p:nvPr/>
        </p:nvSpPr>
        <p:spPr>
          <a:xfrm>
            <a:off x="8158277" y="2697480"/>
            <a:ext cx="3393338" cy="320040"/>
          </a:xfrm>
          <a:prstGeom prst="rect">
            <a:avLst/>
          </a:prstGeom>
          <a:noFill/>
          <a:ln/>
        </p:spPr>
        <p:txBody>
          <a:bodyPr wrap="square" lIns="0" tIns="0" rIns="0" bIns="0" rtlCol="0" anchor="ctr"/>
          <a:lstStyle/>
          <a:p>
            <a:pPr indent="0" marL="0">
              <a:buNone/>
            </a:pPr>
            <a:r>
              <a:rPr lang="en-US" sz="1200" b="1" dirty="0">
                <a:solidFill>
                  <a:srgbClr val="6E6878"/>
                </a:solidFill>
                <a:latin typeface="Alexandria" pitchFamily="34" charset="0"/>
                <a:ea typeface="Alexandria" pitchFamily="34" charset="-122"/>
                <a:cs typeface="Alexandria" pitchFamily="34" charset="-120"/>
              </a:rPr>
              <a:t>Điểm chạm</a:t>
            </a:r>
            <a:endParaRPr lang="en-US" sz="1200" dirty="0"/>
          </a:p>
        </p:txBody>
      </p:sp>
      <p:sp>
        <p:nvSpPr>
          <p:cNvPr id="36" name="Text 33"/>
          <p:cNvSpPr txBox="1"/>
          <p:nvPr/>
        </p:nvSpPr>
        <p:spPr>
          <a:xfrm>
            <a:off x="8158277" y="3017520"/>
            <a:ext cx="3393338" cy="86868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Thư cảm ơn · khảo sát · gặp chuyên viên quan hệ khách hàng</a:t>
            </a:r>
            <a:endParaRPr lang="en-US" sz="1400" dirty="0"/>
          </a:p>
        </p:txBody>
      </p:sp>
      <p:sp>
        <p:nvSpPr>
          <p:cNvPr id="37" name="Shape 34"/>
          <p:cNvSpPr/>
          <p:nvPr/>
        </p:nvSpPr>
        <p:spPr>
          <a:xfrm>
            <a:off x="8066837" y="3977640"/>
            <a:ext cx="3576218" cy="2011680"/>
          </a:xfrm>
          <a:prstGeom prst="roundRect">
            <a:avLst>
              <a:gd name="adj" fmla="val 5455"/>
            </a:avLst>
          </a:prstGeom>
          <a:solidFill>
            <a:srgbClr val="DDF1FB"/>
          </a:solidFill>
          <a:ln w="12700">
            <a:solidFill>
              <a:srgbClr val="09A1E5"/>
            </a:solidFill>
            <a:prstDash val="solid"/>
          </a:ln>
        </p:spPr>
      </p:sp>
      <p:sp>
        <p:nvSpPr>
          <p:cNvPr id="38" name="Text 35"/>
          <p:cNvSpPr txBox="1"/>
          <p:nvPr/>
        </p:nvSpPr>
        <p:spPr>
          <a:xfrm>
            <a:off x="8295437" y="4069080"/>
            <a:ext cx="3119018" cy="320040"/>
          </a:xfrm>
          <a:prstGeom prst="rect">
            <a:avLst/>
          </a:prstGeom>
          <a:noFill/>
          <a:ln/>
        </p:spPr>
        <p:txBody>
          <a:bodyPr wrap="square" lIns="0" tIns="0" rIns="0" bIns="0" rtlCol="0" anchor="ctr"/>
          <a:lstStyle/>
          <a:p>
            <a:pPr indent="0" marL="0">
              <a:buNone/>
            </a:pPr>
            <a:r>
              <a:rPr lang="en-US" sz="1200" b="1" dirty="0">
                <a:solidFill>
                  <a:srgbClr val="6E6878"/>
                </a:solidFill>
                <a:latin typeface="Alexandria" pitchFamily="34" charset="0"/>
                <a:ea typeface="Alexandria" pitchFamily="34" charset="-122"/>
                <a:cs typeface="Alexandria" pitchFamily="34" charset="-120"/>
              </a:rPr>
              <a:t>Gắn nhà tài trợ</a:t>
            </a:r>
            <a:endParaRPr lang="en-US" sz="1200" dirty="0"/>
          </a:p>
        </p:txBody>
      </p:sp>
      <p:sp>
        <p:nvSpPr>
          <p:cNvPr id="39" name="Text 36"/>
          <p:cNvSpPr txBox="1"/>
          <p:nvPr/>
        </p:nvSpPr>
        <p:spPr>
          <a:xfrm>
            <a:off x="8295437" y="4389120"/>
            <a:ext cx="3119018" cy="1508760"/>
          </a:xfrm>
          <a:prstGeom prst="rect">
            <a:avLst/>
          </a:prstGeom>
          <a:noFill/>
          <a:ln/>
        </p:spPr>
        <p:txBody>
          <a:bodyPr wrap="square" lIns="0" tIns="0" rIns="0" bIns="0" rtlCol="0" anchor="t"/>
          <a:lstStyle/>
          <a:p>
            <a:pPr indent="0" marL="0">
              <a:buNone/>
            </a:pPr>
            <a:r>
              <a:rPr lang="en-US" sz="1400" b="1" dirty="0">
                <a:solidFill>
                  <a:srgbClr val="2A2238"/>
                </a:solidFill>
                <a:latin typeface="Alexandria" pitchFamily="34" charset="0"/>
                <a:ea typeface="Alexandria" pitchFamily="34" charset="-122"/>
                <a:cs typeface="Alexandria" pitchFamily="34" charset="-120"/>
              </a:rPr>
              <a:t>Gửi tài liệu chuyên đề; chỉ liên hệ khách đã đồng ý</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Điểm chạm của nhà tài trợ phải bảo vệ Key Account</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U13: Tạp chí Tài chính (11/11/2023) — đã kiểm chứng chéo · Tạp chí Ngân hàng (2022).</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23</a:t>
            </a:r>
            <a:endParaRPr lang="en-US" sz="1000" dirty="0"/>
          </a:p>
        </p:txBody>
      </p:sp>
      <p:sp>
        <p:nvSpPr>
          <p:cNvPr id="19" name="Shape 16"/>
          <p:cNvSpPr/>
          <p:nvPr/>
        </p:nvSpPr>
        <p:spPr>
          <a:xfrm>
            <a:off x="548640" y="1874520"/>
            <a:ext cx="5760720" cy="2240280"/>
          </a:xfrm>
          <a:prstGeom prst="roundRect">
            <a:avLst>
              <a:gd name="adj" fmla="val 4898"/>
            </a:avLst>
          </a:prstGeom>
          <a:solidFill>
            <a:srgbClr val="DDF1FB"/>
          </a:solidFill>
          <a:ln w="12700">
            <a:solidFill>
              <a:srgbClr val="09A1E5"/>
            </a:solidFill>
            <a:prstDash val="solid"/>
          </a:ln>
        </p:spPr>
      </p:sp>
      <p:sp>
        <p:nvSpPr>
          <p:cNvPr id="20" name="Text 17"/>
          <p:cNvSpPr txBox="1"/>
          <p:nvPr/>
        </p:nvSpPr>
        <p:spPr>
          <a:xfrm>
            <a:off x="822960" y="2011680"/>
            <a:ext cx="5212080" cy="411480"/>
          </a:xfrm>
          <a:prstGeom prst="rect">
            <a:avLst/>
          </a:prstGeom>
          <a:noFill/>
          <a:ln/>
        </p:spPr>
        <p:txBody>
          <a:bodyPr wrap="square" lIns="0" tIns="0" rIns="0" bIns="0" rtlCol="0" anchor="ctr"/>
          <a:lstStyle/>
          <a:p>
            <a:pPr indent="0" marL="0">
              <a:buNone/>
            </a:pPr>
            <a:r>
              <a:rPr lang="en-US" sz="1500" b="1" dirty="0">
                <a:solidFill>
                  <a:srgbClr val="0A7FB5"/>
                </a:solidFill>
                <a:latin typeface="Alexandria" pitchFamily="34" charset="0"/>
                <a:ea typeface="Alexandria" pitchFamily="34" charset="-122"/>
                <a:cs typeface="Alexandria" pitchFamily="34" charset="-120"/>
              </a:rPr>
              <a:t>Thông tư 67/2023/TT-BTC</a:t>
            </a:r>
            <a:endParaRPr lang="en-US" sz="1500" dirty="0"/>
          </a:p>
        </p:txBody>
      </p:sp>
      <p:sp>
        <p:nvSpPr>
          <p:cNvPr id="21" name="Text 18"/>
          <p:cNvSpPr txBox="1"/>
          <p:nvPr/>
        </p:nvSpPr>
        <p:spPr>
          <a:xfrm>
            <a:off x="822960" y="2468880"/>
            <a:ext cx="5212080" cy="777240"/>
          </a:xfrm>
          <a:prstGeom prst="rect">
            <a:avLst/>
          </a:prstGeom>
          <a:noFill/>
          <a:ln/>
        </p:spPr>
        <p:txBody>
          <a:bodyPr wrap="square" lIns="0" tIns="0" rIns="0" bIns="0" rtlCol="0" anchor="ctr"/>
          <a:lstStyle/>
          <a:p>
            <a:pPr indent="0" marL="0">
              <a:buNone/>
            </a:pPr>
            <a:r>
              <a:rPr lang="en-US" sz="3400" b="1" dirty="0">
                <a:solidFill>
                  <a:srgbClr val="2A2238"/>
                </a:solidFill>
                <a:latin typeface="Alexandria" pitchFamily="34" charset="0"/>
                <a:ea typeface="Alexandria" pitchFamily="34" charset="-122"/>
                <a:cs typeface="Alexandria" pitchFamily="34" charset="-120"/>
              </a:rPr>
              <a:t>60 ngày</a:t>
            </a:r>
            <a:pPr indent="0" marL="0">
              <a:buNone/>
            </a:pPr>
            <a:r>
              <a:rPr lang="en-US" sz="1600" dirty="0">
                <a:solidFill>
                  <a:srgbClr val="2A2238"/>
                </a:solidFill>
                <a:latin typeface="Alexandria" pitchFamily="34" charset="0"/>
                <a:ea typeface="Alexandria" pitchFamily="34" charset="-122"/>
                <a:cs typeface="Alexandria" pitchFamily="34" charset="-120"/>
              </a:rPr>
              <a:t>  trước và sau giải ngân</a:t>
            </a:r>
            <a:endParaRPr lang="en-US" sz="3400" dirty="0"/>
          </a:p>
        </p:txBody>
      </p:sp>
      <p:sp>
        <p:nvSpPr>
          <p:cNvPr id="22" name="Text 19"/>
          <p:cNvSpPr txBox="1"/>
          <p:nvPr/>
        </p:nvSpPr>
        <p:spPr>
          <a:xfrm>
            <a:off x="822960" y="3246120"/>
            <a:ext cx="5212080" cy="7772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ngân hàng không được tư vấn, giới thiệu, chào bán bảo hiểm liên kết đầu tư cho khách vay</a:t>
            </a:r>
            <a:endParaRPr lang="en-US" sz="1300" dirty="0"/>
          </a:p>
        </p:txBody>
      </p:sp>
      <p:sp>
        <p:nvSpPr>
          <p:cNvPr id="23" name="Shape 20"/>
          <p:cNvSpPr/>
          <p:nvPr/>
        </p:nvSpPr>
        <p:spPr>
          <a:xfrm>
            <a:off x="548640" y="4343400"/>
            <a:ext cx="5760720" cy="1645920"/>
          </a:xfrm>
          <a:prstGeom prst="roundRect">
            <a:avLst>
              <a:gd name="adj" fmla="val 6667"/>
            </a:avLst>
          </a:prstGeom>
          <a:solidFill>
            <a:srgbClr val="F1E1EE"/>
          </a:solidFill>
          <a:ln w="12700">
            <a:solidFill>
              <a:srgbClr val="962B7C"/>
            </a:solidFill>
            <a:prstDash val="solid"/>
          </a:ln>
        </p:spPr>
      </p:sp>
      <p:sp>
        <p:nvSpPr>
          <p:cNvPr id="24" name="Text 21"/>
          <p:cNvSpPr txBox="1"/>
          <p:nvPr/>
        </p:nvSpPr>
        <p:spPr>
          <a:xfrm>
            <a:off x="822960" y="4343400"/>
            <a:ext cx="5212080" cy="16459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Dữ liệu khách: </a:t>
            </a:r>
            <a:pPr indent="0" marL="0">
              <a:buNone/>
            </a:pPr>
            <a:r>
              <a:rPr lang="en-US" sz="1600" dirty="0">
                <a:solidFill>
                  <a:srgbClr val="2A2238"/>
                </a:solidFill>
                <a:latin typeface="Alexandria" pitchFamily="34" charset="0"/>
                <a:ea typeface="Alexandria" pitchFamily="34" charset="-122"/>
                <a:cs typeface="Alexandria" pitchFamily="34" charset="-120"/>
              </a:rPr>
              <a:t>chia sẻ danh sách khách của An Phát cho nhà tài trợ cần sự đồng ý của khách.</a:t>
            </a:r>
            <a:endParaRPr lang="en-US" sz="1600" dirty="0"/>
          </a:p>
        </p:txBody>
      </p:sp>
      <p:sp>
        <p:nvSpPr>
          <p:cNvPr id="25" name="Text 22"/>
          <p:cNvSpPr txBox="1"/>
          <p:nvPr/>
        </p:nvSpPr>
        <p:spPr>
          <a:xfrm>
            <a:off x="6583680" y="1874520"/>
            <a:ext cx="5059375" cy="4114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Với Bảo hiểm Bình An tại gala</a:t>
            </a:r>
            <a:endParaRPr lang="en-US" sz="1500" dirty="0"/>
          </a:p>
        </p:txBody>
      </p:sp>
      <p:sp>
        <p:nvSpPr>
          <p:cNvPr id="26" name="Shape 23"/>
          <p:cNvSpPr/>
          <p:nvPr/>
        </p:nvSpPr>
        <p:spPr>
          <a:xfrm>
            <a:off x="6583680" y="2377440"/>
            <a:ext cx="5059375" cy="1371600"/>
          </a:xfrm>
          <a:prstGeom prst="roundRect">
            <a:avLst>
              <a:gd name="adj" fmla="val 8000"/>
            </a:avLst>
          </a:prstGeom>
          <a:solidFill>
            <a:srgbClr val="E1F3EE"/>
          </a:solidFill>
          <a:ln w="12700">
            <a:solidFill>
              <a:srgbClr val="49B296"/>
            </a:solidFill>
            <a:prstDash val="solid"/>
          </a:ln>
        </p:spPr>
      </p:sp>
      <p:sp>
        <p:nvSpPr>
          <p:cNvPr id="27" name="Text 24"/>
          <p:cNvSpPr txBox="1"/>
          <p:nvPr/>
        </p:nvSpPr>
        <p:spPr>
          <a:xfrm>
            <a:off x="6858000" y="2377440"/>
            <a:ext cx="4510735" cy="1371600"/>
          </a:xfrm>
          <a:prstGeom prst="rect">
            <a:avLst/>
          </a:prstGeom>
          <a:noFill/>
          <a:ln/>
        </p:spPr>
        <p:txBody>
          <a:bodyPr wrap="square" lIns="0" tIns="0" rIns="0" bIns="0" rtlCol="0" anchor="ctr"/>
          <a:lstStyle/>
          <a:p>
            <a:pPr indent="0" marL="0">
              <a:buNone/>
            </a:pPr>
            <a:r>
              <a:rPr lang="en-US" sz="1700" b="1" dirty="0">
                <a:solidFill>
                  <a:srgbClr val="2E8A71"/>
                </a:solidFill>
                <a:latin typeface="Alexandria" pitchFamily="34" charset="0"/>
                <a:ea typeface="Alexandria" pitchFamily="34" charset="-122"/>
                <a:cs typeface="Alexandria" pitchFamily="34" charset="-120"/>
              </a:rPr>
              <a:t>Nên: </a:t>
            </a:r>
            <a:pPr indent="0" marL="0">
              <a:buNone/>
            </a:pPr>
            <a:r>
              <a:rPr lang="en-US" sz="1700" dirty="0">
                <a:solidFill>
                  <a:srgbClr val="2A2238"/>
                </a:solidFill>
                <a:latin typeface="Alexandria" pitchFamily="34" charset="0"/>
                <a:ea typeface="Alexandria" pitchFamily="34" charset="-122"/>
                <a:cs typeface="Alexandria" pitchFamily="34" charset="-120"/>
              </a:rPr>
              <a:t>kiến thức chuyên đề + tư vấn theo lịch hẹn</a:t>
            </a:r>
            <a:endParaRPr lang="en-US" sz="1700" dirty="0"/>
          </a:p>
        </p:txBody>
      </p:sp>
      <p:sp>
        <p:nvSpPr>
          <p:cNvPr id="28" name="Shape 25"/>
          <p:cNvSpPr/>
          <p:nvPr/>
        </p:nvSpPr>
        <p:spPr>
          <a:xfrm>
            <a:off x="6583680" y="3931920"/>
            <a:ext cx="5059375" cy="1371600"/>
          </a:xfrm>
          <a:prstGeom prst="roundRect">
            <a:avLst>
              <a:gd name="adj" fmla="val 8000"/>
            </a:avLst>
          </a:prstGeom>
          <a:solidFill>
            <a:srgbClr val="FFE4EA"/>
          </a:solidFill>
          <a:ln w="12700">
            <a:solidFill>
              <a:srgbClr val="FF5178"/>
            </a:solidFill>
            <a:prstDash val="solid"/>
          </a:ln>
        </p:spPr>
      </p:sp>
      <p:sp>
        <p:nvSpPr>
          <p:cNvPr id="29" name="Text 26"/>
          <p:cNvSpPr txBox="1"/>
          <p:nvPr/>
        </p:nvSpPr>
        <p:spPr>
          <a:xfrm>
            <a:off x="6858000" y="3931920"/>
            <a:ext cx="4510735" cy="1371600"/>
          </a:xfrm>
          <a:prstGeom prst="rect">
            <a:avLst/>
          </a:prstGeom>
          <a:noFill/>
          <a:ln/>
        </p:spPr>
        <p:txBody>
          <a:bodyPr wrap="square" lIns="0" tIns="0" rIns="0" bIns="0" rtlCol="0" anchor="ctr"/>
          <a:lstStyle/>
          <a:p>
            <a:pPr indent="0" marL="0">
              <a:buNone/>
            </a:pPr>
            <a:r>
              <a:rPr lang="en-US" sz="1700" b="1" dirty="0">
                <a:solidFill>
                  <a:srgbClr val="E03A62"/>
                </a:solidFill>
                <a:latin typeface="Alexandria" pitchFamily="34" charset="0"/>
                <a:ea typeface="Alexandria" pitchFamily="34" charset="-122"/>
                <a:cs typeface="Alexandria" pitchFamily="34" charset="-120"/>
              </a:rPr>
              <a:t>Tránh: </a:t>
            </a:r>
            <a:pPr indent="0" marL="0">
              <a:buNone/>
            </a:pPr>
            <a:r>
              <a:rPr lang="en-US" sz="1700" dirty="0">
                <a:solidFill>
                  <a:srgbClr val="2A2238"/>
                </a:solidFill>
                <a:latin typeface="Alexandria" pitchFamily="34" charset="0"/>
                <a:ea typeface="Alexandria" pitchFamily="34" charset="-122"/>
                <a:cs typeface="Alexandria" pitchFamily="34" charset="-120"/>
              </a:rPr>
              <a:t>chào bán sản phẩm tại chỗ, bàn tư vấn cạnh khu tiệc</a:t>
            </a:r>
            <a:endParaRPr lang="en-US" sz="1700" dirty="0"/>
          </a:p>
        </p:txBody>
      </p:sp>
      <p:sp>
        <p:nvSpPr>
          <p:cNvPr id="30" name="Text 27"/>
          <p:cNvSpPr txBox="1"/>
          <p:nvPr/>
        </p:nvSpPr>
        <p:spPr>
          <a:xfrm>
            <a:off x="6583680" y="5440680"/>
            <a:ext cx="5059375" cy="502920"/>
          </a:xfrm>
          <a:prstGeom prst="rect">
            <a:avLst/>
          </a:prstGeom>
          <a:noFill/>
          <a:ln/>
        </p:spPr>
        <p:txBody>
          <a:bodyPr wrap="square" lIns="0" tIns="0" rIns="0" bIns="0" rtlCol="0" anchor="ctr"/>
          <a:lstStyle/>
          <a:p>
            <a:pPr indent="0" marL="0">
              <a:buNone/>
            </a:pPr>
            <a:r>
              <a:rPr lang="en-US" sz="1400" i="1" dirty="0">
                <a:solidFill>
                  <a:srgbClr val="962B7C"/>
                </a:solidFill>
                <a:latin typeface="Alexandria" pitchFamily="34" charset="0"/>
                <a:ea typeface="Alexandria" pitchFamily="34" charset="-122"/>
                <a:cs typeface="Alexandria" pitchFamily="34" charset="-120"/>
              </a:rPr>
              <a:t>Rủi ro uy tín rơi vào An Phát trước tiên.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Checklist 5 câu cho mỗi điểm chạm</a:t>
            </a:r>
            <a:endParaRPr lang="en-US" sz="2600" dirty="0"/>
          </a:p>
        </p:txBody>
      </p:sp>
      <p:sp>
        <p:nvSpPr>
          <p:cNvPr id="16" name="Text 14"/>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24</a:t>
            </a:r>
            <a:endParaRPr lang="en-US" sz="1000" dirty="0"/>
          </a:p>
        </p:txBody>
      </p:sp>
      <p:sp>
        <p:nvSpPr>
          <p:cNvPr id="18" name="Shape 15"/>
          <p:cNvSpPr/>
          <p:nvPr/>
        </p:nvSpPr>
        <p:spPr>
          <a:xfrm>
            <a:off x="548640" y="1828800"/>
            <a:ext cx="11094415" cy="731520"/>
          </a:xfrm>
          <a:prstGeom prst="roundRect">
            <a:avLst>
              <a:gd name="adj" fmla="val 15000"/>
            </a:avLst>
          </a:prstGeom>
          <a:solidFill>
            <a:srgbClr val="FFFFFF"/>
          </a:solidFill>
          <a:ln w="19050">
            <a:solidFill>
              <a:srgbClr val="FF9259"/>
            </a:solidFill>
            <a:prstDash val="solid"/>
          </a:ln>
        </p:spPr>
      </p:sp>
      <p:sp>
        <p:nvSpPr>
          <p:cNvPr id="19" name="Shape 16"/>
          <p:cNvSpPr/>
          <p:nvPr/>
        </p:nvSpPr>
        <p:spPr>
          <a:xfrm>
            <a:off x="731520" y="1920240"/>
            <a:ext cx="548640" cy="548640"/>
          </a:xfrm>
          <a:prstGeom prst="ellipse">
            <a:avLst/>
          </a:prstGeom>
          <a:solidFill>
            <a:srgbClr val="FF9259"/>
          </a:solidFill>
          <a:ln w="12700">
            <a:solidFill>
              <a:srgbClr val="FF9259"/>
            </a:solidFill>
            <a:prstDash val="solid"/>
          </a:ln>
        </p:spPr>
      </p:sp>
      <p:sp>
        <p:nvSpPr>
          <p:cNvPr id="20" name="Text 17"/>
          <p:cNvSpPr txBox="1"/>
          <p:nvPr/>
        </p:nvSpPr>
        <p:spPr>
          <a:xfrm>
            <a:off x="731520" y="1920240"/>
            <a:ext cx="548640" cy="548640"/>
          </a:xfrm>
          <a:prstGeom prst="rect">
            <a:avLst/>
          </a:prstGeom>
          <a:noFill/>
          <a:ln/>
        </p:spPr>
        <p:txBody>
          <a:bodyPr wrap="square" lIns="0" tIns="0" rIns="0" bIns="0" rtlCol="0" anchor="ctr"/>
          <a:lstStyle/>
          <a:p>
            <a:pPr algn="ctr" indent="0" marL="0">
              <a:buNone/>
            </a:pPr>
            <a:r>
              <a:rPr lang="en-US" sz="2040" b="1" dirty="0">
                <a:solidFill>
                  <a:srgbClr val="2A2238"/>
                </a:solidFill>
                <a:latin typeface="Alexandria" pitchFamily="34" charset="0"/>
                <a:ea typeface="Alexandria" pitchFamily="34" charset="-122"/>
                <a:cs typeface="Alexandria" pitchFamily="34" charset="-120"/>
              </a:rPr>
              <a:t>1</a:t>
            </a:r>
            <a:endParaRPr lang="en-US" sz="2040" dirty="0"/>
          </a:p>
        </p:txBody>
      </p:sp>
      <p:sp>
        <p:nvSpPr>
          <p:cNvPr id="21" name="Text 18"/>
          <p:cNvSpPr txBox="1"/>
          <p:nvPr/>
        </p:nvSpPr>
        <p:spPr>
          <a:xfrm>
            <a:off x="1508760" y="1828800"/>
            <a:ext cx="9905695" cy="73152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Khách được lợi gì?</a:t>
            </a:r>
            <a:endParaRPr lang="en-US" sz="2000" dirty="0"/>
          </a:p>
        </p:txBody>
      </p:sp>
      <p:sp>
        <p:nvSpPr>
          <p:cNvPr id="22" name="Shape 19"/>
          <p:cNvSpPr/>
          <p:nvPr/>
        </p:nvSpPr>
        <p:spPr>
          <a:xfrm>
            <a:off x="548640" y="2679192"/>
            <a:ext cx="11094415" cy="731520"/>
          </a:xfrm>
          <a:prstGeom prst="roundRect">
            <a:avLst>
              <a:gd name="adj" fmla="val 15000"/>
            </a:avLst>
          </a:prstGeom>
          <a:solidFill>
            <a:srgbClr val="FFFFFF"/>
          </a:solidFill>
          <a:ln w="19050">
            <a:solidFill>
              <a:srgbClr val="962B7C"/>
            </a:solidFill>
            <a:prstDash val="solid"/>
          </a:ln>
        </p:spPr>
      </p:sp>
      <p:sp>
        <p:nvSpPr>
          <p:cNvPr id="23" name="Shape 20"/>
          <p:cNvSpPr/>
          <p:nvPr/>
        </p:nvSpPr>
        <p:spPr>
          <a:xfrm>
            <a:off x="731520" y="2770632"/>
            <a:ext cx="548640" cy="548640"/>
          </a:xfrm>
          <a:prstGeom prst="ellipse">
            <a:avLst/>
          </a:prstGeom>
          <a:solidFill>
            <a:srgbClr val="962B7C"/>
          </a:solidFill>
          <a:ln w="12700">
            <a:solidFill>
              <a:srgbClr val="962B7C"/>
            </a:solidFill>
            <a:prstDash val="solid"/>
          </a:ln>
        </p:spPr>
      </p:sp>
      <p:sp>
        <p:nvSpPr>
          <p:cNvPr id="24" name="Text 21"/>
          <p:cNvSpPr txBox="1"/>
          <p:nvPr/>
        </p:nvSpPr>
        <p:spPr>
          <a:xfrm>
            <a:off x="731520" y="2770632"/>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2</a:t>
            </a:r>
            <a:endParaRPr lang="en-US" sz="2040" dirty="0"/>
          </a:p>
        </p:txBody>
      </p:sp>
      <p:sp>
        <p:nvSpPr>
          <p:cNvPr id="25" name="Text 22"/>
          <p:cNvSpPr txBox="1"/>
          <p:nvPr/>
        </p:nvSpPr>
        <p:spPr>
          <a:xfrm>
            <a:off x="1508760" y="2679192"/>
            <a:ext cx="9905695" cy="73152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Nhà tài trợ đạt mục tiêu nào (ROO/ROI, cấp mấy)?</a:t>
            </a:r>
            <a:endParaRPr lang="en-US" sz="2000" dirty="0"/>
          </a:p>
        </p:txBody>
      </p:sp>
      <p:sp>
        <p:nvSpPr>
          <p:cNvPr id="26" name="Shape 23"/>
          <p:cNvSpPr/>
          <p:nvPr/>
        </p:nvSpPr>
        <p:spPr>
          <a:xfrm>
            <a:off x="548640" y="3529584"/>
            <a:ext cx="11094415" cy="731520"/>
          </a:xfrm>
          <a:prstGeom prst="roundRect">
            <a:avLst>
              <a:gd name="adj" fmla="val 15000"/>
            </a:avLst>
          </a:prstGeom>
          <a:solidFill>
            <a:srgbClr val="FFFFFF"/>
          </a:solidFill>
          <a:ln w="19050">
            <a:solidFill>
              <a:srgbClr val="FF5178"/>
            </a:solidFill>
            <a:prstDash val="solid"/>
          </a:ln>
        </p:spPr>
      </p:sp>
      <p:sp>
        <p:nvSpPr>
          <p:cNvPr id="27" name="Shape 24"/>
          <p:cNvSpPr/>
          <p:nvPr/>
        </p:nvSpPr>
        <p:spPr>
          <a:xfrm>
            <a:off x="731520" y="3621024"/>
            <a:ext cx="548640" cy="548640"/>
          </a:xfrm>
          <a:prstGeom prst="ellipse">
            <a:avLst/>
          </a:prstGeom>
          <a:solidFill>
            <a:srgbClr val="FF5178"/>
          </a:solidFill>
          <a:ln w="12700">
            <a:solidFill>
              <a:srgbClr val="FF5178"/>
            </a:solidFill>
            <a:prstDash val="solid"/>
          </a:ln>
        </p:spPr>
      </p:sp>
      <p:sp>
        <p:nvSpPr>
          <p:cNvPr id="28" name="Text 25"/>
          <p:cNvSpPr txBox="1"/>
          <p:nvPr/>
        </p:nvSpPr>
        <p:spPr>
          <a:xfrm>
            <a:off x="731520" y="3621024"/>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3</a:t>
            </a:r>
            <a:endParaRPr lang="en-US" sz="2040" dirty="0"/>
          </a:p>
        </p:txBody>
      </p:sp>
      <p:sp>
        <p:nvSpPr>
          <p:cNvPr id="29" name="Text 26"/>
          <p:cNvSpPr txBox="1"/>
          <p:nvPr/>
        </p:nvSpPr>
        <p:spPr>
          <a:xfrm>
            <a:off x="1508760" y="3529584"/>
            <a:ext cx="9905695" cy="73152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Có làm phiền, gián đoạn trải nghiệm không?</a:t>
            </a:r>
            <a:endParaRPr lang="en-US" sz="2000" dirty="0"/>
          </a:p>
        </p:txBody>
      </p:sp>
      <p:sp>
        <p:nvSpPr>
          <p:cNvPr id="30" name="Shape 27"/>
          <p:cNvSpPr/>
          <p:nvPr/>
        </p:nvSpPr>
        <p:spPr>
          <a:xfrm>
            <a:off x="548640" y="4379976"/>
            <a:ext cx="11094415" cy="731520"/>
          </a:xfrm>
          <a:prstGeom prst="roundRect">
            <a:avLst>
              <a:gd name="adj" fmla="val 15000"/>
            </a:avLst>
          </a:prstGeom>
          <a:solidFill>
            <a:srgbClr val="FFFFFF"/>
          </a:solidFill>
          <a:ln w="19050">
            <a:solidFill>
              <a:srgbClr val="09A1E5"/>
            </a:solidFill>
            <a:prstDash val="solid"/>
          </a:ln>
        </p:spPr>
      </p:sp>
      <p:sp>
        <p:nvSpPr>
          <p:cNvPr id="31" name="Shape 28"/>
          <p:cNvSpPr/>
          <p:nvPr/>
        </p:nvSpPr>
        <p:spPr>
          <a:xfrm>
            <a:off x="731520" y="4471416"/>
            <a:ext cx="548640" cy="548640"/>
          </a:xfrm>
          <a:prstGeom prst="ellipse">
            <a:avLst/>
          </a:prstGeom>
          <a:solidFill>
            <a:srgbClr val="09A1E5"/>
          </a:solidFill>
          <a:ln w="12700">
            <a:solidFill>
              <a:srgbClr val="09A1E5"/>
            </a:solidFill>
            <a:prstDash val="solid"/>
          </a:ln>
        </p:spPr>
      </p:sp>
      <p:sp>
        <p:nvSpPr>
          <p:cNvPr id="32" name="Text 29"/>
          <p:cNvSpPr txBox="1"/>
          <p:nvPr/>
        </p:nvSpPr>
        <p:spPr>
          <a:xfrm>
            <a:off x="731520" y="4471416"/>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4</a:t>
            </a:r>
            <a:endParaRPr lang="en-US" sz="2040" dirty="0"/>
          </a:p>
        </p:txBody>
      </p:sp>
      <p:sp>
        <p:nvSpPr>
          <p:cNvPr id="33" name="Text 30"/>
          <p:cNvSpPr txBox="1"/>
          <p:nvPr/>
        </p:nvSpPr>
        <p:spPr>
          <a:xfrm>
            <a:off x="1508760" y="4379976"/>
            <a:ext cx="9905695" cy="73152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Có rủi ro pháp lý, uy tín cho Key Account không?</a:t>
            </a:r>
            <a:endParaRPr lang="en-US" sz="2000" dirty="0"/>
          </a:p>
        </p:txBody>
      </p:sp>
      <p:sp>
        <p:nvSpPr>
          <p:cNvPr id="34" name="Shape 31"/>
          <p:cNvSpPr/>
          <p:nvPr/>
        </p:nvSpPr>
        <p:spPr>
          <a:xfrm>
            <a:off x="548640" y="5230368"/>
            <a:ext cx="11094415" cy="731520"/>
          </a:xfrm>
          <a:prstGeom prst="roundRect">
            <a:avLst>
              <a:gd name="adj" fmla="val 15000"/>
            </a:avLst>
          </a:prstGeom>
          <a:solidFill>
            <a:srgbClr val="FFFFFF"/>
          </a:solidFill>
          <a:ln w="19050">
            <a:solidFill>
              <a:srgbClr val="49B296"/>
            </a:solidFill>
            <a:prstDash val="solid"/>
          </a:ln>
        </p:spPr>
      </p:sp>
      <p:sp>
        <p:nvSpPr>
          <p:cNvPr id="35" name="Shape 32"/>
          <p:cNvSpPr/>
          <p:nvPr/>
        </p:nvSpPr>
        <p:spPr>
          <a:xfrm>
            <a:off x="731520" y="5321808"/>
            <a:ext cx="548640" cy="548640"/>
          </a:xfrm>
          <a:prstGeom prst="ellipse">
            <a:avLst/>
          </a:prstGeom>
          <a:solidFill>
            <a:srgbClr val="49B296"/>
          </a:solidFill>
          <a:ln w="12700">
            <a:solidFill>
              <a:srgbClr val="49B296"/>
            </a:solidFill>
            <a:prstDash val="solid"/>
          </a:ln>
        </p:spPr>
      </p:sp>
      <p:sp>
        <p:nvSpPr>
          <p:cNvPr id="36" name="Text 33"/>
          <p:cNvSpPr txBox="1"/>
          <p:nvPr/>
        </p:nvSpPr>
        <p:spPr>
          <a:xfrm>
            <a:off x="731520" y="5321808"/>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5</a:t>
            </a:r>
            <a:endParaRPr lang="en-US" sz="2040" dirty="0"/>
          </a:p>
        </p:txBody>
      </p:sp>
      <p:sp>
        <p:nvSpPr>
          <p:cNvPr id="37" name="Text 34"/>
          <p:cNvSpPr txBox="1"/>
          <p:nvPr/>
        </p:nvSpPr>
        <p:spPr>
          <a:xfrm>
            <a:off x="1508760" y="5230368"/>
            <a:ext cx="9905695" cy="73152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Đo bằng chỉ số gì, ai cung cấp dữ liệu?</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2 · Bản đồ điểm chạm tài trợ cho khách của An Phát</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W09_activity_S6_ban_do_diem_cham.md · Tình huống giả định.</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25</a:t>
            </a:r>
            <a:endParaRPr lang="en-US" sz="1000" dirty="0"/>
          </a:p>
        </p:txBody>
      </p:sp>
      <p:sp>
        <p:nvSpPr>
          <p:cNvPr id="19" name="Text 16"/>
          <p:cNvSpPr txBox="1"/>
          <p:nvPr/>
        </p:nvSpPr>
        <p:spPr>
          <a:xfrm>
            <a:off x="548640" y="1737360"/>
            <a:ext cx="11094415" cy="41148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Nhà tài trợ mặc định: Bảo hiểm Bình An + GlobalCard · ≥ 5 điểm chạm, mỗi nhà tài trợ ≥ 2 · đánh dấu ⭐ điểm chạm tự hào nhất</a:t>
            </a:r>
            <a:endParaRPr lang="en-US" sz="1300" dirty="0"/>
          </a:p>
        </p:txBody>
      </p:sp>
      <p:sp>
        <p:nvSpPr>
          <p:cNvPr id="20" name="Shape 17"/>
          <p:cNvSpPr/>
          <p:nvPr/>
        </p:nvSpPr>
        <p:spPr>
          <a:xfrm>
            <a:off x="548640" y="2286000"/>
            <a:ext cx="1772869" cy="640080"/>
          </a:xfrm>
          <a:prstGeom prst="roundRect">
            <a:avLst>
              <a:gd name="adj" fmla="val 50000"/>
            </a:avLst>
          </a:prstGeom>
          <a:solidFill>
            <a:srgbClr val="FF9259"/>
          </a:solidFill>
          <a:ln w="12700">
            <a:solidFill>
              <a:srgbClr val="FF9259"/>
            </a:solidFill>
            <a:prstDash val="solid"/>
          </a:ln>
        </p:spPr>
      </p:sp>
      <p:sp>
        <p:nvSpPr>
          <p:cNvPr id="21" name="Text 18"/>
          <p:cNvSpPr txBox="1"/>
          <p:nvPr/>
        </p:nvSpPr>
        <p:spPr>
          <a:xfrm>
            <a:off x="621792" y="2286000"/>
            <a:ext cx="1626565" cy="640080"/>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Giai đoạn</a:t>
            </a:r>
            <a:endParaRPr lang="en-US" sz="1200" dirty="0"/>
          </a:p>
        </p:txBody>
      </p:sp>
      <p:sp>
        <p:nvSpPr>
          <p:cNvPr id="22" name="Shape 19"/>
          <p:cNvSpPr/>
          <p:nvPr/>
        </p:nvSpPr>
        <p:spPr>
          <a:xfrm>
            <a:off x="548640" y="3063240"/>
            <a:ext cx="1772869" cy="384048"/>
          </a:xfrm>
          <a:prstGeom prst="roundRect">
            <a:avLst>
              <a:gd name="adj" fmla="val 28571"/>
            </a:avLst>
          </a:prstGeom>
          <a:solidFill>
            <a:srgbClr val="F3F0E6"/>
          </a:solidFill>
          <a:ln w="12700">
            <a:solidFill>
              <a:srgbClr val="DCD7C8"/>
            </a:solidFill>
            <a:prstDash val="solid"/>
          </a:ln>
        </p:spPr>
      </p:sp>
      <p:sp>
        <p:nvSpPr>
          <p:cNvPr id="23" name="Text 20"/>
          <p:cNvSpPr txBox="1"/>
          <p:nvPr/>
        </p:nvSpPr>
        <p:spPr>
          <a:xfrm>
            <a:off x="640080" y="3063240"/>
            <a:ext cx="1589989" cy="384048"/>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Trước</a:t>
            </a:r>
            <a:endParaRPr lang="en-US" sz="1200" dirty="0"/>
          </a:p>
        </p:txBody>
      </p:sp>
      <p:sp>
        <p:nvSpPr>
          <p:cNvPr id="24" name="Shape 21"/>
          <p:cNvSpPr/>
          <p:nvPr/>
        </p:nvSpPr>
        <p:spPr>
          <a:xfrm>
            <a:off x="548640" y="3520440"/>
            <a:ext cx="1772869" cy="384048"/>
          </a:xfrm>
          <a:prstGeom prst="roundRect">
            <a:avLst>
              <a:gd name="adj" fmla="val 28571"/>
            </a:avLst>
          </a:prstGeom>
          <a:solidFill>
            <a:srgbClr val="F3F0E6"/>
          </a:solidFill>
          <a:ln w="12700">
            <a:solidFill>
              <a:srgbClr val="DCD7C8"/>
            </a:solidFill>
            <a:prstDash val="solid"/>
          </a:ln>
        </p:spPr>
      </p:sp>
      <p:sp>
        <p:nvSpPr>
          <p:cNvPr id="25" name="Text 22"/>
          <p:cNvSpPr txBox="1"/>
          <p:nvPr/>
        </p:nvSpPr>
        <p:spPr>
          <a:xfrm>
            <a:off x="640080" y="3520440"/>
            <a:ext cx="1589989" cy="384048"/>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Trong</a:t>
            </a:r>
            <a:endParaRPr lang="en-US" sz="1200" dirty="0"/>
          </a:p>
        </p:txBody>
      </p:sp>
      <p:sp>
        <p:nvSpPr>
          <p:cNvPr id="26" name="Shape 23"/>
          <p:cNvSpPr/>
          <p:nvPr/>
        </p:nvSpPr>
        <p:spPr>
          <a:xfrm>
            <a:off x="548640" y="3977640"/>
            <a:ext cx="1772869" cy="384048"/>
          </a:xfrm>
          <a:prstGeom prst="roundRect">
            <a:avLst>
              <a:gd name="adj" fmla="val 28571"/>
            </a:avLst>
          </a:prstGeom>
          <a:solidFill>
            <a:srgbClr val="F3F0E6"/>
          </a:solidFill>
          <a:ln w="12700">
            <a:solidFill>
              <a:srgbClr val="DCD7C8"/>
            </a:solidFill>
            <a:prstDash val="solid"/>
          </a:ln>
        </p:spPr>
      </p:sp>
      <p:sp>
        <p:nvSpPr>
          <p:cNvPr id="27" name="Text 24"/>
          <p:cNvSpPr txBox="1"/>
          <p:nvPr/>
        </p:nvSpPr>
        <p:spPr>
          <a:xfrm>
            <a:off x="640080" y="3977640"/>
            <a:ext cx="1589989" cy="384048"/>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Sau</a:t>
            </a:r>
            <a:endParaRPr lang="en-US" sz="1200" dirty="0"/>
          </a:p>
        </p:txBody>
      </p:sp>
      <p:sp>
        <p:nvSpPr>
          <p:cNvPr id="28" name="Shape 25"/>
          <p:cNvSpPr/>
          <p:nvPr/>
        </p:nvSpPr>
        <p:spPr>
          <a:xfrm>
            <a:off x="2412949" y="2286000"/>
            <a:ext cx="1772869" cy="640080"/>
          </a:xfrm>
          <a:prstGeom prst="roundRect">
            <a:avLst>
              <a:gd name="adj" fmla="val 50000"/>
            </a:avLst>
          </a:prstGeom>
          <a:solidFill>
            <a:srgbClr val="962B7C"/>
          </a:solidFill>
          <a:ln w="12700">
            <a:solidFill>
              <a:srgbClr val="962B7C"/>
            </a:solidFill>
            <a:prstDash val="solid"/>
          </a:ln>
        </p:spPr>
      </p:sp>
      <p:sp>
        <p:nvSpPr>
          <p:cNvPr id="29" name="Text 26"/>
          <p:cNvSpPr txBox="1"/>
          <p:nvPr/>
        </p:nvSpPr>
        <p:spPr>
          <a:xfrm>
            <a:off x="2486101" y="2286000"/>
            <a:ext cx="1626565"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Điểm chạm</a:t>
            </a:r>
            <a:endParaRPr lang="en-US" sz="1200" dirty="0"/>
          </a:p>
        </p:txBody>
      </p:sp>
      <p:sp>
        <p:nvSpPr>
          <p:cNvPr id="30" name="Shape 27"/>
          <p:cNvSpPr/>
          <p:nvPr/>
        </p:nvSpPr>
        <p:spPr>
          <a:xfrm>
            <a:off x="2412949" y="3063240"/>
            <a:ext cx="1772869" cy="384048"/>
          </a:xfrm>
          <a:prstGeom prst="roundRect">
            <a:avLst>
              <a:gd name="adj" fmla="val 28571"/>
            </a:avLst>
          </a:prstGeom>
          <a:solidFill>
            <a:srgbClr val="FFFFFF"/>
          </a:solidFill>
          <a:ln w="12700">
            <a:solidFill>
              <a:srgbClr val="DCD7C8"/>
            </a:solidFill>
            <a:prstDash val="solid"/>
          </a:ln>
        </p:spPr>
      </p:sp>
      <p:sp>
        <p:nvSpPr>
          <p:cNvPr id="31" name="Shape 28"/>
          <p:cNvSpPr/>
          <p:nvPr/>
        </p:nvSpPr>
        <p:spPr>
          <a:xfrm>
            <a:off x="2412949" y="3520440"/>
            <a:ext cx="1772869" cy="384048"/>
          </a:xfrm>
          <a:prstGeom prst="roundRect">
            <a:avLst>
              <a:gd name="adj" fmla="val 28571"/>
            </a:avLst>
          </a:prstGeom>
          <a:solidFill>
            <a:srgbClr val="FFFFFF"/>
          </a:solidFill>
          <a:ln w="12700">
            <a:solidFill>
              <a:srgbClr val="DCD7C8"/>
            </a:solidFill>
            <a:prstDash val="solid"/>
          </a:ln>
        </p:spPr>
      </p:sp>
      <p:sp>
        <p:nvSpPr>
          <p:cNvPr id="32" name="Shape 29"/>
          <p:cNvSpPr/>
          <p:nvPr/>
        </p:nvSpPr>
        <p:spPr>
          <a:xfrm>
            <a:off x="2412949" y="3977640"/>
            <a:ext cx="1772869" cy="384048"/>
          </a:xfrm>
          <a:prstGeom prst="roundRect">
            <a:avLst>
              <a:gd name="adj" fmla="val 28571"/>
            </a:avLst>
          </a:prstGeom>
          <a:solidFill>
            <a:srgbClr val="FFFFFF"/>
          </a:solidFill>
          <a:ln w="12700">
            <a:solidFill>
              <a:srgbClr val="DCD7C8"/>
            </a:solidFill>
            <a:prstDash val="solid"/>
          </a:ln>
        </p:spPr>
      </p:sp>
      <p:sp>
        <p:nvSpPr>
          <p:cNvPr id="33" name="Shape 30"/>
          <p:cNvSpPr/>
          <p:nvPr/>
        </p:nvSpPr>
        <p:spPr>
          <a:xfrm>
            <a:off x="4277258" y="2286000"/>
            <a:ext cx="1772869" cy="640080"/>
          </a:xfrm>
          <a:prstGeom prst="roundRect">
            <a:avLst>
              <a:gd name="adj" fmla="val 50000"/>
            </a:avLst>
          </a:prstGeom>
          <a:solidFill>
            <a:srgbClr val="09A1E5"/>
          </a:solidFill>
          <a:ln w="12700">
            <a:solidFill>
              <a:srgbClr val="09A1E5"/>
            </a:solidFill>
            <a:prstDash val="solid"/>
          </a:ln>
        </p:spPr>
      </p:sp>
      <p:sp>
        <p:nvSpPr>
          <p:cNvPr id="34" name="Text 31"/>
          <p:cNvSpPr txBox="1"/>
          <p:nvPr/>
        </p:nvSpPr>
        <p:spPr>
          <a:xfrm>
            <a:off x="4350410" y="2286000"/>
            <a:ext cx="1626565"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Nhà tài trợ làm gì</a:t>
            </a:r>
            <a:endParaRPr lang="en-US" sz="1200" dirty="0"/>
          </a:p>
        </p:txBody>
      </p:sp>
      <p:sp>
        <p:nvSpPr>
          <p:cNvPr id="35" name="Shape 32"/>
          <p:cNvSpPr/>
          <p:nvPr/>
        </p:nvSpPr>
        <p:spPr>
          <a:xfrm>
            <a:off x="4277258" y="3063240"/>
            <a:ext cx="1772869" cy="384048"/>
          </a:xfrm>
          <a:prstGeom prst="roundRect">
            <a:avLst>
              <a:gd name="adj" fmla="val 28571"/>
            </a:avLst>
          </a:prstGeom>
          <a:solidFill>
            <a:srgbClr val="FFFFFF"/>
          </a:solidFill>
          <a:ln w="12700">
            <a:solidFill>
              <a:srgbClr val="DCD7C8"/>
            </a:solidFill>
            <a:prstDash val="solid"/>
          </a:ln>
        </p:spPr>
      </p:sp>
      <p:sp>
        <p:nvSpPr>
          <p:cNvPr id="36" name="Shape 33"/>
          <p:cNvSpPr/>
          <p:nvPr/>
        </p:nvSpPr>
        <p:spPr>
          <a:xfrm>
            <a:off x="4277258" y="3520440"/>
            <a:ext cx="1772869" cy="384048"/>
          </a:xfrm>
          <a:prstGeom prst="roundRect">
            <a:avLst>
              <a:gd name="adj" fmla="val 28571"/>
            </a:avLst>
          </a:prstGeom>
          <a:solidFill>
            <a:srgbClr val="FFFFFF"/>
          </a:solidFill>
          <a:ln w="12700">
            <a:solidFill>
              <a:srgbClr val="DCD7C8"/>
            </a:solidFill>
            <a:prstDash val="solid"/>
          </a:ln>
        </p:spPr>
      </p:sp>
      <p:sp>
        <p:nvSpPr>
          <p:cNvPr id="37" name="Shape 34"/>
          <p:cNvSpPr/>
          <p:nvPr/>
        </p:nvSpPr>
        <p:spPr>
          <a:xfrm>
            <a:off x="4277258" y="3977640"/>
            <a:ext cx="1772869" cy="384048"/>
          </a:xfrm>
          <a:prstGeom prst="roundRect">
            <a:avLst>
              <a:gd name="adj" fmla="val 28571"/>
            </a:avLst>
          </a:prstGeom>
          <a:solidFill>
            <a:srgbClr val="FFFFFF"/>
          </a:solidFill>
          <a:ln w="12700">
            <a:solidFill>
              <a:srgbClr val="DCD7C8"/>
            </a:solidFill>
            <a:prstDash val="solid"/>
          </a:ln>
        </p:spPr>
      </p:sp>
      <p:sp>
        <p:nvSpPr>
          <p:cNvPr id="38" name="Shape 35"/>
          <p:cNvSpPr/>
          <p:nvPr/>
        </p:nvSpPr>
        <p:spPr>
          <a:xfrm>
            <a:off x="6141568" y="2286000"/>
            <a:ext cx="1772869" cy="640080"/>
          </a:xfrm>
          <a:prstGeom prst="roundRect">
            <a:avLst>
              <a:gd name="adj" fmla="val 50000"/>
            </a:avLst>
          </a:prstGeom>
          <a:solidFill>
            <a:srgbClr val="FF5178"/>
          </a:solidFill>
          <a:ln w="12700">
            <a:solidFill>
              <a:srgbClr val="FF5178"/>
            </a:solidFill>
            <a:prstDash val="solid"/>
          </a:ln>
        </p:spPr>
      </p:sp>
      <p:sp>
        <p:nvSpPr>
          <p:cNvPr id="39" name="Text 36"/>
          <p:cNvSpPr txBox="1"/>
          <p:nvPr/>
        </p:nvSpPr>
        <p:spPr>
          <a:xfrm>
            <a:off x="6214720" y="2286000"/>
            <a:ext cx="1626565"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Khách được gì</a:t>
            </a:r>
            <a:endParaRPr lang="en-US" sz="1200" dirty="0"/>
          </a:p>
        </p:txBody>
      </p:sp>
      <p:sp>
        <p:nvSpPr>
          <p:cNvPr id="40" name="Shape 37"/>
          <p:cNvSpPr/>
          <p:nvPr/>
        </p:nvSpPr>
        <p:spPr>
          <a:xfrm>
            <a:off x="6141568" y="3063240"/>
            <a:ext cx="1772869" cy="384048"/>
          </a:xfrm>
          <a:prstGeom prst="roundRect">
            <a:avLst>
              <a:gd name="adj" fmla="val 28571"/>
            </a:avLst>
          </a:prstGeom>
          <a:solidFill>
            <a:srgbClr val="FFFFFF"/>
          </a:solidFill>
          <a:ln w="12700">
            <a:solidFill>
              <a:srgbClr val="DCD7C8"/>
            </a:solidFill>
            <a:prstDash val="solid"/>
          </a:ln>
        </p:spPr>
      </p:sp>
      <p:sp>
        <p:nvSpPr>
          <p:cNvPr id="41" name="Shape 38"/>
          <p:cNvSpPr/>
          <p:nvPr/>
        </p:nvSpPr>
        <p:spPr>
          <a:xfrm>
            <a:off x="6141568" y="3520440"/>
            <a:ext cx="1772869" cy="384048"/>
          </a:xfrm>
          <a:prstGeom prst="roundRect">
            <a:avLst>
              <a:gd name="adj" fmla="val 28571"/>
            </a:avLst>
          </a:prstGeom>
          <a:solidFill>
            <a:srgbClr val="FFFFFF"/>
          </a:solidFill>
          <a:ln w="12700">
            <a:solidFill>
              <a:srgbClr val="DCD7C8"/>
            </a:solidFill>
            <a:prstDash val="solid"/>
          </a:ln>
        </p:spPr>
      </p:sp>
      <p:sp>
        <p:nvSpPr>
          <p:cNvPr id="42" name="Shape 39"/>
          <p:cNvSpPr/>
          <p:nvPr/>
        </p:nvSpPr>
        <p:spPr>
          <a:xfrm>
            <a:off x="6141568" y="3977640"/>
            <a:ext cx="1772869" cy="384048"/>
          </a:xfrm>
          <a:prstGeom prst="roundRect">
            <a:avLst>
              <a:gd name="adj" fmla="val 28571"/>
            </a:avLst>
          </a:prstGeom>
          <a:solidFill>
            <a:srgbClr val="FFFFFF"/>
          </a:solidFill>
          <a:ln w="12700">
            <a:solidFill>
              <a:srgbClr val="DCD7C8"/>
            </a:solidFill>
            <a:prstDash val="solid"/>
          </a:ln>
        </p:spPr>
      </p:sp>
      <p:sp>
        <p:nvSpPr>
          <p:cNvPr id="43" name="Shape 40"/>
          <p:cNvSpPr/>
          <p:nvPr/>
        </p:nvSpPr>
        <p:spPr>
          <a:xfrm>
            <a:off x="8005877" y="2286000"/>
            <a:ext cx="1772869" cy="640080"/>
          </a:xfrm>
          <a:prstGeom prst="roundRect">
            <a:avLst>
              <a:gd name="adj" fmla="val 50000"/>
            </a:avLst>
          </a:prstGeom>
          <a:solidFill>
            <a:srgbClr val="49B296"/>
          </a:solidFill>
          <a:ln w="12700">
            <a:solidFill>
              <a:srgbClr val="49B296"/>
            </a:solidFill>
            <a:prstDash val="solid"/>
          </a:ln>
        </p:spPr>
      </p:sp>
      <p:sp>
        <p:nvSpPr>
          <p:cNvPr id="44" name="Text 41"/>
          <p:cNvSpPr txBox="1"/>
          <p:nvPr/>
        </p:nvSpPr>
        <p:spPr>
          <a:xfrm>
            <a:off x="8079029" y="2286000"/>
            <a:ext cx="1626565"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Nhà tài trợ đạt gì (cấp mấy)</a:t>
            </a:r>
            <a:endParaRPr lang="en-US" sz="1200" dirty="0"/>
          </a:p>
        </p:txBody>
      </p:sp>
      <p:sp>
        <p:nvSpPr>
          <p:cNvPr id="45" name="Shape 42"/>
          <p:cNvSpPr/>
          <p:nvPr/>
        </p:nvSpPr>
        <p:spPr>
          <a:xfrm>
            <a:off x="8005877" y="3063240"/>
            <a:ext cx="1772869" cy="384048"/>
          </a:xfrm>
          <a:prstGeom prst="roundRect">
            <a:avLst>
              <a:gd name="adj" fmla="val 28571"/>
            </a:avLst>
          </a:prstGeom>
          <a:solidFill>
            <a:srgbClr val="FFFFFF"/>
          </a:solidFill>
          <a:ln w="12700">
            <a:solidFill>
              <a:srgbClr val="DCD7C8"/>
            </a:solidFill>
            <a:prstDash val="solid"/>
          </a:ln>
        </p:spPr>
      </p:sp>
      <p:sp>
        <p:nvSpPr>
          <p:cNvPr id="46" name="Shape 43"/>
          <p:cNvSpPr/>
          <p:nvPr/>
        </p:nvSpPr>
        <p:spPr>
          <a:xfrm>
            <a:off x="8005877" y="3520440"/>
            <a:ext cx="1772869" cy="384048"/>
          </a:xfrm>
          <a:prstGeom prst="roundRect">
            <a:avLst>
              <a:gd name="adj" fmla="val 28571"/>
            </a:avLst>
          </a:prstGeom>
          <a:solidFill>
            <a:srgbClr val="FFFFFF"/>
          </a:solidFill>
          <a:ln w="12700">
            <a:solidFill>
              <a:srgbClr val="DCD7C8"/>
            </a:solidFill>
            <a:prstDash val="solid"/>
          </a:ln>
        </p:spPr>
      </p:sp>
      <p:sp>
        <p:nvSpPr>
          <p:cNvPr id="47" name="Shape 44"/>
          <p:cNvSpPr/>
          <p:nvPr/>
        </p:nvSpPr>
        <p:spPr>
          <a:xfrm>
            <a:off x="8005877" y="3977640"/>
            <a:ext cx="1772869" cy="384048"/>
          </a:xfrm>
          <a:prstGeom prst="roundRect">
            <a:avLst>
              <a:gd name="adj" fmla="val 28571"/>
            </a:avLst>
          </a:prstGeom>
          <a:solidFill>
            <a:srgbClr val="FFFFFF"/>
          </a:solidFill>
          <a:ln w="12700">
            <a:solidFill>
              <a:srgbClr val="DCD7C8"/>
            </a:solidFill>
            <a:prstDash val="solid"/>
          </a:ln>
        </p:spPr>
      </p:sp>
      <p:sp>
        <p:nvSpPr>
          <p:cNvPr id="48" name="Shape 45"/>
          <p:cNvSpPr/>
          <p:nvPr/>
        </p:nvSpPr>
        <p:spPr>
          <a:xfrm>
            <a:off x="9870186" y="2286000"/>
            <a:ext cx="1772869" cy="640080"/>
          </a:xfrm>
          <a:prstGeom prst="roundRect">
            <a:avLst>
              <a:gd name="adj" fmla="val 50000"/>
            </a:avLst>
          </a:prstGeom>
          <a:solidFill>
            <a:srgbClr val="962B7C"/>
          </a:solidFill>
          <a:ln w="12700">
            <a:solidFill>
              <a:srgbClr val="962B7C"/>
            </a:solidFill>
            <a:prstDash val="solid"/>
          </a:ln>
        </p:spPr>
      </p:sp>
      <p:sp>
        <p:nvSpPr>
          <p:cNvPr id="49" name="Text 46"/>
          <p:cNvSpPr txBox="1"/>
          <p:nvPr/>
        </p:nvSpPr>
        <p:spPr>
          <a:xfrm>
            <a:off x="9943338" y="2286000"/>
            <a:ext cx="1626565"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Rủi ro / cách phòng</a:t>
            </a:r>
            <a:endParaRPr lang="en-US" sz="1200" dirty="0"/>
          </a:p>
        </p:txBody>
      </p:sp>
      <p:sp>
        <p:nvSpPr>
          <p:cNvPr id="50" name="Shape 47"/>
          <p:cNvSpPr/>
          <p:nvPr/>
        </p:nvSpPr>
        <p:spPr>
          <a:xfrm>
            <a:off x="9870186" y="3063240"/>
            <a:ext cx="1772869" cy="384048"/>
          </a:xfrm>
          <a:prstGeom prst="roundRect">
            <a:avLst>
              <a:gd name="adj" fmla="val 28571"/>
            </a:avLst>
          </a:prstGeom>
          <a:solidFill>
            <a:srgbClr val="FFFFFF"/>
          </a:solidFill>
          <a:ln w="12700">
            <a:solidFill>
              <a:srgbClr val="DCD7C8"/>
            </a:solidFill>
            <a:prstDash val="solid"/>
          </a:ln>
        </p:spPr>
      </p:sp>
      <p:sp>
        <p:nvSpPr>
          <p:cNvPr id="51" name="Shape 48"/>
          <p:cNvSpPr/>
          <p:nvPr/>
        </p:nvSpPr>
        <p:spPr>
          <a:xfrm>
            <a:off x="9870186" y="3520440"/>
            <a:ext cx="1772869" cy="384048"/>
          </a:xfrm>
          <a:prstGeom prst="roundRect">
            <a:avLst>
              <a:gd name="adj" fmla="val 28571"/>
            </a:avLst>
          </a:prstGeom>
          <a:solidFill>
            <a:srgbClr val="FFFFFF"/>
          </a:solidFill>
          <a:ln w="12700">
            <a:solidFill>
              <a:srgbClr val="DCD7C8"/>
            </a:solidFill>
            <a:prstDash val="solid"/>
          </a:ln>
        </p:spPr>
      </p:sp>
      <p:sp>
        <p:nvSpPr>
          <p:cNvPr id="52" name="Shape 49"/>
          <p:cNvSpPr/>
          <p:nvPr/>
        </p:nvSpPr>
        <p:spPr>
          <a:xfrm>
            <a:off x="9870186" y="3977640"/>
            <a:ext cx="1772869" cy="384048"/>
          </a:xfrm>
          <a:prstGeom prst="roundRect">
            <a:avLst>
              <a:gd name="adj" fmla="val 28571"/>
            </a:avLst>
          </a:prstGeom>
          <a:solidFill>
            <a:srgbClr val="FFFFFF"/>
          </a:solidFill>
          <a:ln w="12700">
            <a:solidFill>
              <a:srgbClr val="DCD7C8"/>
            </a:solidFill>
            <a:prstDash val="solid"/>
          </a:ln>
        </p:spPr>
      </p:sp>
      <p:sp>
        <p:nvSpPr>
          <p:cNvPr id="53" name="Shape 50"/>
          <p:cNvSpPr/>
          <p:nvPr/>
        </p:nvSpPr>
        <p:spPr>
          <a:xfrm>
            <a:off x="548640" y="4572000"/>
            <a:ext cx="777240" cy="777240"/>
          </a:xfrm>
          <a:prstGeom prst="ellipse">
            <a:avLst/>
          </a:prstGeom>
          <a:solidFill>
            <a:srgbClr val="FF9259"/>
          </a:solidFill>
          <a:ln w="12700">
            <a:solidFill>
              <a:srgbClr val="FF9259"/>
            </a:solidFill>
            <a:prstDash val="solid"/>
          </a:ln>
        </p:spPr>
      </p:sp>
      <p:sp>
        <p:nvSpPr>
          <p:cNvPr id="54" name="Text 51"/>
          <p:cNvSpPr txBox="1"/>
          <p:nvPr/>
        </p:nvSpPr>
        <p:spPr>
          <a:xfrm>
            <a:off x="548640" y="4572000"/>
            <a:ext cx="777240" cy="77724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15’</a:t>
            </a:r>
            <a:endParaRPr lang="en-US" sz="1700" dirty="0"/>
          </a:p>
        </p:txBody>
      </p:sp>
      <p:sp>
        <p:nvSpPr>
          <p:cNvPr id="55" name="Text 52"/>
          <p:cNvSpPr txBox="1"/>
          <p:nvPr/>
        </p:nvSpPr>
        <p:spPr>
          <a:xfrm>
            <a:off x="1463040" y="4480560"/>
            <a:ext cx="2600858" cy="96012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Vẽ bản đồ trên A1</a:t>
            </a:r>
            <a:endParaRPr lang="en-US" sz="1300" dirty="0"/>
          </a:p>
        </p:txBody>
      </p:sp>
      <p:sp>
        <p:nvSpPr>
          <p:cNvPr id="56" name="Shape 53"/>
          <p:cNvSpPr/>
          <p:nvPr/>
        </p:nvSpPr>
        <p:spPr>
          <a:xfrm>
            <a:off x="4338218" y="4572000"/>
            <a:ext cx="777240" cy="777240"/>
          </a:xfrm>
          <a:prstGeom prst="ellipse">
            <a:avLst/>
          </a:prstGeom>
          <a:solidFill>
            <a:srgbClr val="FF5178"/>
          </a:solidFill>
          <a:ln w="12700">
            <a:solidFill>
              <a:srgbClr val="FF5178"/>
            </a:solidFill>
            <a:prstDash val="solid"/>
          </a:ln>
        </p:spPr>
      </p:sp>
      <p:sp>
        <p:nvSpPr>
          <p:cNvPr id="57" name="Text 54"/>
          <p:cNvSpPr txBox="1"/>
          <p:nvPr/>
        </p:nvSpPr>
        <p:spPr>
          <a:xfrm>
            <a:off x="4338218" y="4572000"/>
            <a:ext cx="77724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2×4’</a:t>
            </a:r>
            <a:endParaRPr lang="en-US" sz="1300" dirty="0"/>
          </a:p>
        </p:txBody>
      </p:sp>
      <p:sp>
        <p:nvSpPr>
          <p:cNvPr id="58" name="Text 55"/>
          <p:cNvSpPr txBox="1"/>
          <p:nvPr/>
        </p:nvSpPr>
        <p:spPr>
          <a:xfrm>
            <a:off x="5252618" y="4480560"/>
            <a:ext cx="2600858" cy="96012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Xoay trạm: vai hội đồng An Phát — 🟨 1 câu hỏi, 🟥 1 lo ngại</a:t>
            </a:r>
            <a:endParaRPr lang="en-US" sz="1300" dirty="0"/>
          </a:p>
        </p:txBody>
      </p:sp>
      <p:sp>
        <p:nvSpPr>
          <p:cNvPr id="59" name="Shape 56"/>
          <p:cNvSpPr/>
          <p:nvPr/>
        </p:nvSpPr>
        <p:spPr>
          <a:xfrm>
            <a:off x="8127797" y="4572000"/>
            <a:ext cx="777240" cy="777240"/>
          </a:xfrm>
          <a:prstGeom prst="ellipse">
            <a:avLst/>
          </a:prstGeom>
          <a:solidFill>
            <a:srgbClr val="49B296"/>
          </a:solidFill>
          <a:ln w="12700">
            <a:solidFill>
              <a:srgbClr val="49B296"/>
            </a:solidFill>
            <a:prstDash val="solid"/>
          </a:ln>
        </p:spPr>
      </p:sp>
      <p:sp>
        <p:nvSpPr>
          <p:cNvPr id="60" name="Text 57"/>
          <p:cNvSpPr txBox="1"/>
          <p:nvPr/>
        </p:nvSpPr>
        <p:spPr>
          <a:xfrm>
            <a:off x="8127797" y="4572000"/>
            <a:ext cx="77724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4’</a:t>
            </a:r>
            <a:endParaRPr lang="en-US" sz="1700" dirty="0"/>
          </a:p>
        </p:txBody>
      </p:sp>
      <p:sp>
        <p:nvSpPr>
          <p:cNvPr id="61" name="Text 58"/>
          <p:cNvSpPr txBox="1"/>
          <p:nvPr/>
        </p:nvSpPr>
        <p:spPr>
          <a:xfrm>
            <a:off x="9042197" y="4480560"/>
            <a:ext cx="2600858" cy="96012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Về bàn, sửa một điểm chạm</a:t>
            </a:r>
            <a:endParaRPr lang="en-US" sz="1300" dirty="0"/>
          </a:p>
        </p:txBody>
      </p:sp>
      <p:sp>
        <p:nvSpPr>
          <p:cNvPr id="62" name="Shape 59"/>
          <p:cNvSpPr/>
          <p:nvPr/>
        </p:nvSpPr>
        <p:spPr>
          <a:xfrm>
            <a:off x="548640" y="5577840"/>
            <a:ext cx="11094415" cy="548640"/>
          </a:xfrm>
          <a:prstGeom prst="roundRect">
            <a:avLst>
              <a:gd name="adj" fmla="val 20000"/>
            </a:avLst>
          </a:prstGeom>
          <a:solidFill>
            <a:srgbClr val="FFF3C4"/>
          </a:solidFill>
          <a:ln w="12700">
            <a:solidFill>
              <a:srgbClr val="FFD23B"/>
            </a:solidFill>
            <a:prstDash val="solid"/>
          </a:ln>
        </p:spPr>
      </p:sp>
      <p:sp>
        <p:nvSpPr>
          <p:cNvPr id="63" name="Text 60"/>
          <p:cNvSpPr txBox="1"/>
          <p:nvPr/>
        </p:nvSpPr>
        <p:spPr>
          <a:xfrm>
            <a:off x="822960" y="5577840"/>
            <a:ext cx="10545775" cy="54864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Dùng checklist 5 câu (slide trước) cho mọi điểm chạm.</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Ba ý của Buổi 9</a:t>
            </a:r>
            <a:endParaRPr lang="en-US" sz="2600" dirty="0"/>
          </a:p>
        </p:txBody>
      </p:sp>
      <p:sp>
        <p:nvSpPr>
          <p:cNvPr id="16" name="Text 14"/>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26</a:t>
            </a:r>
            <a:endParaRPr lang="en-US" sz="1000" dirty="0"/>
          </a:p>
        </p:txBody>
      </p:sp>
      <p:sp>
        <p:nvSpPr>
          <p:cNvPr id="18" name="Shape 15"/>
          <p:cNvSpPr/>
          <p:nvPr/>
        </p:nvSpPr>
        <p:spPr>
          <a:xfrm>
            <a:off x="548640" y="1828800"/>
            <a:ext cx="11094415" cy="1051560"/>
          </a:xfrm>
          <a:prstGeom prst="roundRect">
            <a:avLst>
              <a:gd name="adj" fmla="val 10435"/>
            </a:avLst>
          </a:prstGeom>
          <a:solidFill>
            <a:srgbClr val="F1E1EE"/>
          </a:solidFill>
          <a:ln w="12700">
            <a:solidFill>
              <a:srgbClr val="962B7C"/>
            </a:solidFill>
            <a:prstDash val="solid"/>
          </a:ln>
        </p:spPr>
      </p:sp>
      <p:sp>
        <p:nvSpPr>
          <p:cNvPr id="19" name="Shape 16"/>
          <p:cNvSpPr/>
          <p:nvPr/>
        </p:nvSpPr>
        <p:spPr>
          <a:xfrm>
            <a:off x="777240" y="1965960"/>
            <a:ext cx="777240" cy="777240"/>
          </a:xfrm>
          <a:prstGeom prst="ellipse">
            <a:avLst/>
          </a:prstGeom>
          <a:solidFill>
            <a:srgbClr val="962B7C"/>
          </a:solidFill>
          <a:ln w="12700">
            <a:solidFill>
              <a:srgbClr val="962B7C"/>
            </a:solidFill>
            <a:prstDash val="solid"/>
          </a:ln>
        </p:spPr>
      </p:sp>
      <p:sp>
        <p:nvSpPr>
          <p:cNvPr id="20" name="Text 17"/>
          <p:cNvSpPr txBox="1"/>
          <p:nvPr/>
        </p:nvSpPr>
        <p:spPr>
          <a:xfrm>
            <a:off x="777240" y="196596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9.1</a:t>
            </a:r>
            <a:endParaRPr lang="en-US" sz="2200" dirty="0"/>
          </a:p>
        </p:txBody>
      </p:sp>
      <p:sp>
        <p:nvSpPr>
          <p:cNvPr id="21" name="Text 18"/>
          <p:cNvSpPr txBox="1"/>
          <p:nvPr/>
        </p:nvSpPr>
        <p:spPr>
          <a:xfrm>
            <a:off x="1783080" y="1828800"/>
            <a:ext cx="9631375" cy="1051560"/>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Nhà tài trợ mua quyền lợi, nhà đầu tư chia sẻ rủi ro – lợi nhuận. Lợi ích phải có cho cả bốn bên. Tài trợ là chuyển giao hình ảnh hai chiều.</a:t>
            </a:r>
            <a:endParaRPr lang="en-US" sz="1600" dirty="0"/>
          </a:p>
        </p:txBody>
      </p:sp>
      <p:sp>
        <p:nvSpPr>
          <p:cNvPr id="22" name="Shape 19"/>
          <p:cNvSpPr/>
          <p:nvPr/>
        </p:nvSpPr>
        <p:spPr>
          <a:xfrm>
            <a:off x="548640" y="3017520"/>
            <a:ext cx="11094415" cy="1051560"/>
          </a:xfrm>
          <a:prstGeom prst="roundRect">
            <a:avLst>
              <a:gd name="adj" fmla="val 10435"/>
            </a:avLst>
          </a:prstGeom>
          <a:solidFill>
            <a:srgbClr val="DDF1FB"/>
          </a:solidFill>
          <a:ln w="12700">
            <a:solidFill>
              <a:srgbClr val="09A1E5"/>
            </a:solidFill>
            <a:prstDash val="solid"/>
          </a:ln>
        </p:spPr>
      </p:sp>
      <p:sp>
        <p:nvSpPr>
          <p:cNvPr id="23" name="Shape 20"/>
          <p:cNvSpPr/>
          <p:nvPr/>
        </p:nvSpPr>
        <p:spPr>
          <a:xfrm>
            <a:off x="777240" y="3154680"/>
            <a:ext cx="777240" cy="777240"/>
          </a:xfrm>
          <a:prstGeom prst="ellipse">
            <a:avLst/>
          </a:prstGeom>
          <a:solidFill>
            <a:srgbClr val="09A1E5"/>
          </a:solidFill>
          <a:ln w="12700">
            <a:solidFill>
              <a:srgbClr val="09A1E5"/>
            </a:solidFill>
            <a:prstDash val="solid"/>
          </a:ln>
        </p:spPr>
      </p:sp>
      <p:sp>
        <p:nvSpPr>
          <p:cNvPr id="24" name="Text 21"/>
          <p:cNvSpPr txBox="1"/>
          <p:nvPr/>
        </p:nvSpPr>
        <p:spPr>
          <a:xfrm>
            <a:off x="777240" y="315468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9.2</a:t>
            </a:r>
            <a:endParaRPr lang="en-US" sz="2200" dirty="0"/>
          </a:p>
        </p:txBody>
      </p:sp>
      <p:sp>
        <p:nvSpPr>
          <p:cNvPr id="25" name="Text 22"/>
          <p:cNvSpPr txBox="1"/>
          <p:nvPr/>
        </p:nvSpPr>
        <p:spPr>
          <a:xfrm>
            <a:off x="1783080" y="3017520"/>
            <a:ext cx="9631375" cy="1051560"/>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Đề xuất win-win bắt đầu từ mục tiêu nhà tài trợ, có kế hoạch kích hoạt, kết thúc bằng cam kết đo lường (ROI + ROO) ghi vào hợp đồng.</a:t>
            </a:r>
            <a:endParaRPr lang="en-US" sz="1600" dirty="0"/>
          </a:p>
        </p:txBody>
      </p:sp>
      <p:sp>
        <p:nvSpPr>
          <p:cNvPr id="26" name="Shape 23"/>
          <p:cNvSpPr/>
          <p:nvPr/>
        </p:nvSpPr>
        <p:spPr>
          <a:xfrm>
            <a:off x="548640" y="4206240"/>
            <a:ext cx="11094415" cy="1051560"/>
          </a:xfrm>
          <a:prstGeom prst="roundRect">
            <a:avLst>
              <a:gd name="adj" fmla="val 10435"/>
            </a:avLst>
          </a:prstGeom>
          <a:solidFill>
            <a:srgbClr val="FFE4EA"/>
          </a:solidFill>
          <a:ln w="12700">
            <a:solidFill>
              <a:srgbClr val="FF5178"/>
            </a:solidFill>
            <a:prstDash val="solid"/>
          </a:ln>
        </p:spPr>
      </p:sp>
      <p:sp>
        <p:nvSpPr>
          <p:cNvPr id="27" name="Shape 24"/>
          <p:cNvSpPr/>
          <p:nvPr/>
        </p:nvSpPr>
        <p:spPr>
          <a:xfrm>
            <a:off x="777240" y="4343400"/>
            <a:ext cx="777240" cy="777240"/>
          </a:xfrm>
          <a:prstGeom prst="ellipse">
            <a:avLst/>
          </a:prstGeom>
          <a:solidFill>
            <a:srgbClr val="FF5178"/>
          </a:solidFill>
          <a:ln w="12700">
            <a:solidFill>
              <a:srgbClr val="FF5178"/>
            </a:solidFill>
            <a:prstDash val="solid"/>
          </a:ln>
        </p:spPr>
      </p:sp>
      <p:sp>
        <p:nvSpPr>
          <p:cNvPr id="28" name="Text 25"/>
          <p:cNvSpPr txBox="1"/>
          <p:nvPr/>
        </p:nvSpPr>
        <p:spPr>
          <a:xfrm>
            <a:off x="777240" y="434340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9.3</a:t>
            </a:r>
            <a:endParaRPr lang="en-US" sz="2200" dirty="0"/>
          </a:p>
        </p:txBody>
      </p:sp>
      <p:sp>
        <p:nvSpPr>
          <p:cNvPr id="29" name="Text 26"/>
          <p:cNvSpPr txBox="1"/>
          <p:nvPr/>
        </p:nvSpPr>
        <p:spPr>
          <a:xfrm>
            <a:off x="1783080" y="4206240"/>
            <a:ext cx="9631375" cy="1051560"/>
          </a:xfrm>
          <a:prstGeom prst="rect">
            <a:avLst/>
          </a:prstGeom>
          <a:noFill/>
          <a:ln/>
        </p:spPr>
        <p:txBody>
          <a:bodyPr wrap="square" lIns="0" tIns="0" rIns="0" bIns="0" rtlCol="0" anchor="ctr"/>
          <a:lstStyle/>
          <a:p>
            <a:pPr indent="0" marL="0">
              <a:buNone/>
            </a:pPr>
            <a:r>
              <a:rPr lang="en-US" sz="1600" dirty="0">
                <a:solidFill>
                  <a:srgbClr val="2A2238"/>
                </a:solidFill>
                <a:latin typeface="Alexandria" pitchFamily="34" charset="0"/>
                <a:ea typeface="Alexandria" pitchFamily="34" charset="-122"/>
                <a:cs typeface="Alexandria" pitchFamily="34" charset="-120"/>
              </a:rPr>
              <a:t>Gắn nhà tài trợ vào điểm chạm để làm giàu hành trình của khách hàng của Key Account — và bảo vệ Key Account khỏi rủi ro pháp lý, uy tín.</a:t>
            </a:r>
            <a:endParaRPr lang="en-US" sz="1600" dirty="0"/>
          </a:p>
        </p:txBody>
      </p:sp>
      <p:sp>
        <p:nvSpPr>
          <p:cNvPr id="30" name="Shape 27"/>
          <p:cNvSpPr/>
          <p:nvPr/>
        </p:nvSpPr>
        <p:spPr>
          <a:xfrm>
            <a:off x="548640" y="5486400"/>
            <a:ext cx="11094415" cy="685800"/>
          </a:xfrm>
          <a:prstGeom prst="roundRect">
            <a:avLst>
              <a:gd name="adj" fmla="val 16000"/>
            </a:avLst>
          </a:prstGeom>
          <a:solidFill>
            <a:srgbClr val="FFF3C4"/>
          </a:solidFill>
          <a:ln w="12700">
            <a:solidFill>
              <a:srgbClr val="FFD23B"/>
            </a:solidFill>
            <a:prstDash val="solid"/>
          </a:ln>
        </p:spPr>
      </p:sp>
      <p:sp>
        <p:nvSpPr>
          <p:cNvPr id="31" name="Text 28"/>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Stakeholder Management Plan: </a:t>
            </a:r>
            <a:pPr indent="0" marL="0">
              <a:buNone/>
            </a:pPr>
            <a:r>
              <a:rPr lang="en-US" sz="1400" dirty="0">
                <a:solidFill>
                  <a:srgbClr val="2A2238"/>
                </a:solidFill>
                <a:latin typeface="Alexandria" pitchFamily="34" charset="0"/>
                <a:ea typeface="Alexandria" pitchFamily="34" charset="-122"/>
                <a:cs typeface="Alexandria" pitchFamily="34" charset="-120"/>
              </a:rPr>
              <a:t>thêm một trang — 1–2 nhà tài trợ phù hợp, quyền lợi gắn điểm chạm, chỉ số ROO/ROI.</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Phiếu kiểm tra cuối giờ</a:t>
            </a:r>
            <a:endParaRPr lang="en-US" sz="2600" dirty="0"/>
          </a:p>
        </p:txBody>
      </p:sp>
      <p:sp>
        <p:nvSpPr>
          <p:cNvPr id="16" name="Text 14"/>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27</a:t>
            </a:r>
            <a:endParaRPr lang="en-US" sz="1000" dirty="0"/>
          </a:p>
        </p:txBody>
      </p:sp>
      <p:sp>
        <p:nvSpPr>
          <p:cNvPr id="18" name="Shape 15"/>
          <p:cNvSpPr/>
          <p:nvPr/>
        </p:nvSpPr>
        <p:spPr>
          <a:xfrm>
            <a:off x="548640" y="1828800"/>
            <a:ext cx="11094415" cy="1463040"/>
          </a:xfrm>
          <a:prstGeom prst="roundRect">
            <a:avLst>
              <a:gd name="adj" fmla="val 7500"/>
            </a:avLst>
          </a:prstGeom>
          <a:solidFill>
            <a:srgbClr val="FFFFFF"/>
          </a:solidFill>
          <a:ln w="12700">
            <a:solidFill>
              <a:srgbClr val="DCD7C8"/>
            </a:solidFill>
            <a:prstDash val="solid"/>
          </a:ln>
        </p:spPr>
      </p:sp>
      <p:sp>
        <p:nvSpPr>
          <p:cNvPr id="19" name="Shape 16"/>
          <p:cNvSpPr/>
          <p:nvPr/>
        </p:nvSpPr>
        <p:spPr>
          <a:xfrm>
            <a:off x="777240" y="2240280"/>
            <a:ext cx="640080" cy="640080"/>
          </a:xfrm>
          <a:prstGeom prst="ellipse">
            <a:avLst/>
          </a:prstGeom>
          <a:solidFill>
            <a:srgbClr val="962B7C"/>
          </a:solidFill>
          <a:ln w="12700">
            <a:solidFill>
              <a:srgbClr val="962B7C"/>
            </a:solidFill>
            <a:prstDash val="solid"/>
          </a:ln>
        </p:spPr>
      </p:sp>
      <p:sp>
        <p:nvSpPr>
          <p:cNvPr id="20" name="Text 17"/>
          <p:cNvSpPr txBox="1"/>
          <p:nvPr/>
        </p:nvSpPr>
        <p:spPr>
          <a:xfrm>
            <a:off x="777240" y="224028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1</a:t>
            </a:r>
            <a:endParaRPr lang="en-US" sz="2380" dirty="0"/>
          </a:p>
        </p:txBody>
      </p:sp>
      <p:sp>
        <p:nvSpPr>
          <p:cNvPr id="21" name="Text 18"/>
          <p:cNvSpPr txBox="1"/>
          <p:nvPr/>
        </p:nvSpPr>
        <p:spPr>
          <a:xfrm>
            <a:off x="1645920" y="1828800"/>
            <a:ext cx="9768535" cy="146304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Với khách hàng trong dự án cũ của nhóm bạn, một nhà tài trợ phù hợp nhất là ai (loại doanh nghiệp)? Khách của khách hàng đó được gì từ nhà tài trợ này?</a:t>
            </a:r>
            <a:endParaRPr lang="en-US" sz="1700" dirty="0"/>
          </a:p>
        </p:txBody>
      </p:sp>
      <p:sp>
        <p:nvSpPr>
          <p:cNvPr id="22" name="Shape 19"/>
          <p:cNvSpPr/>
          <p:nvPr/>
        </p:nvSpPr>
        <p:spPr>
          <a:xfrm>
            <a:off x="548640" y="3474720"/>
            <a:ext cx="11094415" cy="1097280"/>
          </a:xfrm>
          <a:prstGeom prst="roundRect">
            <a:avLst>
              <a:gd name="adj" fmla="val 10000"/>
            </a:avLst>
          </a:prstGeom>
          <a:solidFill>
            <a:srgbClr val="FFFFFF"/>
          </a:solidFill>
          <a:ln w="12700">
            <a:solidFill>
              <a:srgbClr val="DCD7C8"/>
            </a:solidFill>
            <a:prstDash val="solid"/>
          </a:ln>
        </p:spPr>
      </p:sp>
      <p:sp>
        <p:nvSpPr>
          <p:cNvPr id="23" name="Shape 20"/>
          <p:cNvSpPr/>
          <p:nvPr/>
        </p:nvSpPr>
        <p:spPr>
          <a:xfrm>
            <a:off x="777240" y="3703320"/>
            <a:ext cx="640080" cy="640080"/>
          </a:xfrm>
          <a:prstGeom prst="ellipse">
            <a:avLst/>
          </a:prstGeom>
          <a:solidFill>
            <a:srgbClr val="09A1E5"/>
          </a:solidFill>
          <a:ln w="12700">
            <a:solidFill>
              <a:srgbClr val="09A1E5"/>
            </a:solidFill>
            <a:prstDash val="solid"/>
          </a:ln>
        </p:spPr>
      </p:sp>
      <p:sp>
        <p:nvSpPr>
          <p:cNvPr id="24" name="Text 21"/>
          <p:cNvSpPr txBox="1"/>
          <p:nvPr/>
        </p:nvSpPr>
        <p:spPr>
          <a:xfrm>
            <a:off x="777240" y="370332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2</a:t>
            </a:r>
            <a:endParaRPr lang="en-US" sz="2380" dirty="0"/>
          </a:p>
        </p:txBody>
      </p:sp>
      <p:sp>
        <p:nvSpPr>
          <p:cNvPr id="25" name="Text 22"/>
          <p:cNvSpPr txBox="1"/>
          <p:nvPr/>
        </p:nvSpPr>
        <p:spPr>
          <a:xfrm>
            <a:off x="1645920" y="3474720"/>
            <a:ext cx="9768535" cy="109728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Viết 1 chỉ số ROO và 1 chỉ số ROI bạn sẽ ghi vào hợp đồng tài trợ đó.</a:t>
            </a:r>
            <a:endParaRPr lang="en-US" sz="1700" dirty="0"/>
          </a:p>
        </p:txBody>
      </p:sp>
      <p:sp>
        <p:nvSpPr>
          <p:cNvPr id="26" name="Shape 23"/>
          <p:cNvSpPr/>
          <p:nvPr/>
        </p:nvSpPr>
        <p:spPr>
          <a:xfrm>
            <a:off x="548640" y="4846320"/>
            <a:ext cx="11094415" cy="1188720"/>
          </a:xfrm>
          <a:prstGeom prst="roundRect">
            <a:avLst>
              <a:gd name="adj" fmla="val 9231"/>
            </a:avLst>
          </a:prstGeom>
          <a:solidFill>
            <a:srgbClr val="E1F3EE"/>
          </a:solidFill>
          <a:ln w="12700">
            <a:solidFill>
              <a:srgbClr val="49B296"/>
            </a:solidFill>
            <a:prstDash val="solid"/>
          </a:ln>
        </p:spPr>
      </p:sp>
      <p:sp>
        <p:nvSpPr>
          <p:cNvPr id="27" name="Text 24"/>
          <p:cNvSpPr txBox="1"/>
          <p:nvPr/>
        </p:nvSpPr>
        <p:spPr>
          <a:xfrm>
            <a:off x="822960" y="4846320"/>
            <a:ext cx="10545775" cy="11887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Buổi 10: </a:t>
            </a:r>
            <a:pPr indent="0" marL="0">
              <a:buNone/>
            </a:pPr>
            <a:r>
              <a:rPr lang="en-US" sz="1600" dirty="0">
                <a:solidFill>
                  <a:srgbClr val="2A2238"/>
                </a:solidFill>
                <a:latin typeface="Alexandria" pitchFamily="34" charset="0"/>
                <a:ea typeface="Alexandria" pitchFamily="34" charset="-122"/>
                <a:cs typeface="Alexandria" pitchFamily="34" charset="-120"/>
              </a:rPr>
              <a:t>quay lại phía mua — quy trình chọn nhà cung cấp và địa điểm (RFP/RFQ, site check), gắn họ vào các giai đoạn trên hành trình của Key Account.</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 (1/2)</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và nguồn phụ): buoi-09_tu-lieu-tong-hop.md, mục 6.</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28</a:t>
            </a:r>
            <a:endParaRPr lang="en-US" sz="1000" dirty="0"/>
          </a:p>
        </p:txBody>
      </p:sp>
      <p:sp>
        <p:nvSpPr>
          <p:cNvPr id="19" name="Text 16"/>
          <p:cNvSpPr txBox="1"/>
          <p:nvPr/>
        </p:nvSpPr>
        <p:spPr>
          <a:xfrm>
            <a:off x="548640" y="1783080"/>
            <a:ext cx="640080" cy="45720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U01</a:t>
            </a:r>
            <a:endParaRPr lang="en-US" sz="1100" dirty="0"/>
          </a:p>
        </p:txBody>
      </p:sp>
      <p:sp>
        <p:nvSpPr>
          <p:cNvPr id="20" name="Text 17"/>
          <p:cNvSpPr txBox="1"/>
          <p:nvPr/>
        </p:nvSpPr>
        <p:spPr>
          <a:xfrm>
            <a:off x="1234440" y="1783080"/>
            <a:ext cx="10408615"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Meenaghan, J. A. (1983). Commercial sponsorship. European Journal of Marketing, 17(7), 5–73.</a:t>
            </a:r>
            <a:endParaRPr lang="en-US" sz="1100" dirty="0"/>
          </a:p>
        </p:txBody>
      </p:sp>
      <p:sp>
        <p:nvSpPr>
          <p:cNvPr id="21" name="Text 18"/>
          <p:cNvSpPr txBox="1"/>
          <p:nvPr/>
        </p:nvSpPr>
        <p:spPr>
          <a:xfrm>
            <a:off x="548640" y="2313432"/>
            <a:ext cx="640080" cy="45720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U02</a:t>
            </a:r>
            <a:endParaRPr lang="en-US" sz="1100" dirty="0"/>
          </a:p>
        </p:txBody>
      </p:sp>
      <p:sp>
        <p:nvSpPr>
          <p:cNvPr id="22" name="Text 19"/>
          <p:cNvSpPr txBox="1"/>
          <p:nvPr/>
        </p:nvSpPr>
        <p:spPr>
          <a:xfrm>
            <a:off x="1234440" y="2313432"/>
            <a:ext cx="10408615"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Cornwell, T. B., &amp; Maignan, I. (1998). An international review of sponsorship research. Journal of Advertising, 27(1), 1–21.</a:t>
            </a:r>
            <a:endParaRPr lang="en-US" sz="1100" dirty="0"/>
          </a:p>
        </p:txBody>
      </p:sp>
      <p:sp>
        <p:nvSpPr>
          <p:cNvPr id="23" name="Text 20"/>
          <p:cNvSpPr txBox="1"/>
          <p:nvPr/>
        </p:nvSpPr>
        <p:spPr>
          <a:xfrm>
            <a:off x="548640" y="2843784"/>
            <a:ext cx="640080" cy="45720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U03</a:t>
            </a:r>
            <a:endParaRPr lang="en-US" sz="1100" dirty="0"/>
          </a:p>
        </p:txBody>
      </p:sp>
      <p:sp>
        <p:nvSpPr>
          <p:cNvPr id="24" name="Text 21"/>
          <p:cNvSpPr txBox="1"/>
          <p:nvPr/>
        </p:nvSpPr>
        <p:spPr>
          <a:xfrm>
            <a:off x="1234440" y="2843784"/>
            <a:ext cx="10408615"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Cornwell, T. B. (2019). Less “sponsorship as advertising” and more sponsorship-linked marketing as authentic engagement. Journal of Advertising, 48(1), 49–60.</a:t>
            </a:r>
            <a:endParaRPr lang="en-US" sz="1100" dirty="0"/>
          </a:p>
        </p:txBody>
      </p:sp>
      <p:sp>
        <p:nvSpPr>
          <p:cNvPr id="25" name="Text 22"/>
          <p:cNvSpPr txBox="1"/>
          <p:nvPr/>
        </p:nvSpPr>
        <p:spPr>
          <a:xfrm>
            <a:off x="548640" y="3374136"/>
            <a:ext cx="640080" cy="45720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U04</a:t>
            </a:r>
            <a:endParaRPr lang="en-US" sz="1100" dirty="0"/>
          </a:p>
        </p:txBody>
      </p:sp>
      <p:sp>
        <p:nvSpPr>
          <p:cNvPr id="26" name="Text 23"/>
          <p:cNvSpPr txBox="1"/>
          <p:nvPr/>
        </p:nvSpPr>
        <p:spPr>
          <a:xfrm>
            <a:off x="1234440" y="3374136"/>
            <a:ext cx="10408615"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O’Reilly, N., &amp; Lafrance Horning, D. (2013). Leveraging sponsorship: The activation ratio. Sport Management Review, 16(4), 424–437.</a:t>
            </a:r>
            <a:endParaRPr lang="en-US" sz="1100" dirty="0"/>
          </a:p>
        </p:txBody>
      </p:sp>
      <p:sp>
        <p:nvSpPr>
          <p:cNvPr id="27" name="Text 24"/>
          <p:cNvSpPr txBox="1"/>
          <p:nvPr/>
        </p:nvSpPr>
        <p:spPr>
          <a:xfrm>
            <a:off x="548640" y="3904488"/>
            <a:ext cx="640080" cy="45720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U05</a:t>
            </a:r>
            <a:endParaRPr lang="en-US" sz="1100" dirty="0"/>
          </a:p>
        </p:txBody>
      </p:sp>
      <p:sp>
        <p:nvSpPr>
          <p:cNvPr id="28" name="Text 25"/>
          <p:cNvSpPr txBox="1"/>
          <p:nvPr/>
        </p:nvSpPr>
        <p:spPr>
          <a:xfrm>
            <a:off x="1234440" y="3904488"/>
            <a:ext cx="10408615"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Lumency. (2024, May 10). Why activation ratios matter.</a:t>
            </a:r>
            <a:endParaRPr lang="en-US" sz="1100" dirty="0"/>
          </a:p>
        </p:txBody>
      </p:sp>
      <p:sp>
        <p:nvSpPr>
          <p:cNvPr id="29" name="Text 26"/>
          <p:cNvSpPr txBox="1"/>
          <p:nvPr/>
        </p:nvSpPr>
        <p:spPr>
          <a:xfrm>
            <a:off x="548640" y="4434840"/>
            <a:ext cx="640080" cy="45720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U06</a:t>
            </a:r>
            <a:endParaRPr lang="en-US" sz="1100" dirty="0"/>
          </a:p>
        </p:txBody>
      </p:sp>
      <p:sp>
        <p:nvSpPr>
          <p:cNvPr id="30" name="Text 27"/>
          <p:cNvSpPr txBox="1"/>
          <p:nvPr/>
        </p:nvSpPr>
        <p:spPr>
          <a:xfrm>
            <a:off x="1234440" y="4434840"/>
            <a:ext cx="10408615"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Association of National Advertisers. (2018). Sponsorship measurement needs improvement: Study [Press release].</a:t>
            </a:r>
            <a:endParaRPr lang="en-US" sz="1100" dirty="0"/>
          </a:p>
        </p:txBody>
      </p:sp>
      <p:sp>
        <p:nvSpPr>
          <p:cNvPr id="31" name="Text 28"/>
          <p:cNvSpPr txBox="1"/>
          <p:nvPr/>
        </p:nvSpPr>
        <p:spPr>
          <a:xfrm>
            <a:off x="548640" y="4965192"/>
            <a:ext cx="640080" cy="45720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U07</a:t>
            </a:r>
            <a:endParaRPr lang="en-US" sz="1100" dirty="0"/>
          </a:p>
        </p:txBody>
      </p:sp>
      <p:sp>
        <p:nvSpPr>
          <p:cNvPr id="32" name="Text 29"/>
          <p:cNvSpPr txBox="1"/>
          <p:nvPr/>
        </p:nvSpPr>
        <p:spPr>
          <a:xfrm>
            <a:off x="1234440" y="4965192"/>
            <a:ext cx="10408615"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Bizzabo. (2026, August 5). Event sponsorship strategies: A guide for enterprise event leaders.</a:t>
            </a:r>
            <a:endParaRPr lang="en-US" sz="1100" dirty="0"/>
          </a:p>
        </p:txBody>
      </p:sp>
      <p:sp>
        <p:nvSpPr>
          <p:cNvPr id="33" name="Text 30"/>
          <p:cNvSpPr txBox="1"/>
          <p:nvPr/>
        </p:nvSpPr>
        <p:spPr>
          <a:xfrm>
            <a:off x="548640" y="5495544"/>
            <a:ext cx="640080" cy="45720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U08</a:t>
            </a:r>
            <a:endParaRPr lang="en-US" sz="1100" dirty="0"/>
          </a:p>
        </p:txBody>
      </p:sp>
      <p:sp>
        <p:nvSpPr>
          <p:cNvPr id="34" name="Text 31"/>
          <p:cNvSpPr txBox="1"/>
          <p:nvPr/>
        </p:nvSpPr>
        <p:spPr>
          <a:xfrm>
            <a:off x="1234440" y="5495544"/>
            <a:ext cx="10408615"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Znews. (2025, January 20). Techcombank lại rót tiền cho concert mới của các “anh trai”. · Tuổi Trẻ Online. (2025, January 3). Đồng đầu tư cho concert Anh trai vượt ngàn chông gai…</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81051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9.1 Tài trợ &amp; đầu tư</a:t>
            </a:r>
            <a:endParaRPr lang="en-US" sz="1000" dirty="0"/>
          </a:p>
        </p:txBody>
      </p:sp>
      <p:sp>
        <p:nvSpPr>
          <p:cNvPr id="6" name="Shape 4"/>
          <p:cNvSpPr/>
          <p:nvPr/>
        </p:nvSpPr>
        <p:spPr>
          <a:xfrm>
            <a:off x="3300984" y="274320"/>
            <a:ext cx="1577340"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300984"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9.2 Đề xuất &amp; ROI</a:t>
            </a:r>
            <a:endParaRPr lang="en-US" sz="1000" dirty="0"/>
          </a:p>
        </p:txBody>
      </p:sp>
      <p:sp>
        <p:nvSpPr>
          <p:cNvPr id="8" name="Shape 6"/>
          <p:cNvSpPr/>
          <p:nvPr/>
        </p:nvSpPr>
        <p:spPr>
          <a:xfrm>
            <a:off x="4988052" y="274320"/>
            <a:ext cx="1266444"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26644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9.3 Điểm chạm</a:t>
            </a:r>
            <a:endParaRPr lang="en-US" sz="1000" dirty="0"/>
          </a:p>
        </p:txBody>
      </p:sp>
      <p:sp>
        <p:nvSpPr>
          <p:cNvPr id="10" name="Shape 8"/>
          <p:cNvSpPr/>
          <p:nvPr/>
        </p:nvSpPr>
        <p:spPr>
          <a:xfrm>
            <a:off x="6364224"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36422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219456"/>
            <a:ext cx="238110" cy="238110"/>
          </a:xfrm>
          <a:prstGeom prst="ellipse">
            <a:avLst/>
          </a:prstGeom>
          <a:solidFill>
            <a:srgbClr val="962B7C">
              <a:alpha val="75000"/>
            </a:srgbClr>
          </a:solidFill>
          <a:ln w="12700">
            <a:solidFill>
              <a:srgbClr val="962B7C"/>
            </a:solidFill>
            <a:prstDash val="solid"/>
          </a:ln>
        </p:spPr>
      </p:sp>
      <p:sp>
        <p:nvSpPr>
          <p:cNvPr id="13" name="Shape 11"/>
          <p:cNvSpPr/>
          <p:nvPr/>
        </p:nvSpPr>
        <p:spPr>
          <a:xfrm>
            <a:off x="11404945" y="219456"/>
            <a:ext cx="238110" cy="238110"/>
          </a:xfrm>
          <a:prstGeom prst="ellipse">
            <a:avLst/>
          </a:prstGeom>
          <a:solidFill>
            <a:srgbClr val="09A1E5">
              <a:alpha val="75000"/>
            </a:srgbClr>
          </a:solidFill>
          <a:ln w="12700">
            <a:solidFill>
              <a:srgbClr val="09A1E5"/>
            </a:solidFill>
            <a:prstDash val="solid"/>
          </a:ln>
        </p:spPr>
      </p:sp>
      <p:sp>
        <p:nvSpPr>
          <p:cNvPr id="14" name="Shape 12"/>
          <p:cNvSpPr/>
          <p:nvPr/>
        </p:nvSpPr>
        <p:spPr>
          <a:xfrm>
            <a:off x="11331976" y="365394"/>
            <a:ext cx="238110" cy="238110"/>
          </a:xfrm>
          <a:prstGeom prst="ellipse">
            <a:avLst/>
          </a:prstGeom>
          <a:solidFill>
            <a:srgbClr val="FF5178">
              <a:alpha val="75000"/>
            </a:srgbClr>
          </a:solidFill>
          <a:ln w="12700">
            <a:solidFill>
              <a:srgbClr val="FF5178"/>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 (2/2)</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và nguồn phụ): buoi-09_tu-lieu-tong-hop.md, mục 6.</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9   29</a:t>
            </a:r>
            <a:endParaRPr lang="en-US" sz="1000" dirty="0"/>
          </a:p>
        </p:txBody>
      </p:sp>
      <p:sp>
        <p:nvSpPr>
          <p:cNvPr id="19" name="Text 16"/>
          <p:cNvSpPr txBox="1"/>
          <p:nvPr/>
        </p:nvSpPr>
        <p:spPr>
          <a:xfrm>
            <a:off x="548640" y="1783080"/>
            <a:ext cx="640080" cy="45720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U09</a:t>
            </a:r>
            <a:endParaRPr lang="en-US" sz="1100" dirty="0"/>
          </a:p>
        </p:txBody>
      </p:sp>
      <p:sp>
        <p:nvSpPr>
          <p:cNvPr id="20" name="Text 17"/>
          <p:cNvSpPr txBox="1"/>
          <p:nvPr/>
        </p:nvSpPr>
        <p:spPr>
          <a:xfrm>
            <a:off x="1234440" y="1783080"/>
            <a:ext cx="10408615"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Báo Đầu tư. (n.d.). Concert “Anh trai vượt ngàn chông gai” và “Anh trai Say Hi” bùng nổ, nhà sản xuất và nhà tài trợ hưởng lợi thế nào?</a:t>
            </a:r>
            <a:endParaRPr lang="en-US" sz="1100" dirty="0"/>
          </a:p>
        </p:txBody>
      </p:sp>
      <p:sp>
        <p:nvSpPr>
          <p:cNvPr id="21" name="Text 18"/>
          <p:cNvSpPr txBox="1"/>
          <p:nvPr/>
        </p:nvSpPr>
        <p:spPr>
          <a:xfrm>
            <a:off x="548640" y="2313432"/>
            <a:ext cx="640080" cy="45720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U10</a:t>
            </a:r>
            <a:endParaRPr lang="en-US" sz="1100" dirty="0"/>
          </a:p>
        </p:txBody>
      </p:sp>
      <p:sp>
        <p:nvSpPr>
          <p:cNvPr id="22" name="Text 19"/>
          <p:cNvSpPr txBox="1"/>
          <p:nvPr/>
        </p:nvSpPr>
        <p:spPr>
          <a:xfrm>
            <a:off x="1234440" y="2313432"/>
            <a:ext cx="10408615"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VnExpress. (2025, October 5). Cơ hội mua vé sớm concert G-DRAGON khi mở thẻ VPBank Mastercard [Nội dung được tài trợ].</a:t>
            </a:r>
            <a:endParaRPr lang="en-US" sz="1100" dirty="0"/>
          </a:p>
        </p:txBody>
      </p:sp>
      <p:sp>
        <p:nvSpPr>
          <p:cNvPr id="23" name="Text 20"/>
          <p:cNvSpPr txBox="1"/>
          <p:nvPr/>
        </p:nvSpPr>
        <p:spPr>
          <a:xfrm>
            <a:off x="548640" y="2843784"/>
            <a:ext cx="640080" cy="45720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U11</a:t>
            </a:r>
            <a:endParaRPr lang="en-US" sz="1100" dirty="0"/>
          </a:p>
        </p:txBody>
      </p:sp>
      <p:sp>
        <p:nvSpPr>
          <p:cNvPr id="24" name="Text 21"/>
          <p:cNvSpPr txBox="1"/>
          <p:nvPr/>
        </p:nvSpPr>
        <p:spPr>
          <a:xfrm>
            <a:off x="1234440" y="2843784"/>
            <a:ext cx="10408615"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Tuổi Trẻ Online. (2025, January 23). Nhà sản xuất show “Anh trai vượt ngàn chông gai” lãi đậm.</a:t>
            </a:r>
            <a:endParaRPr lang="en-US" sz="1100" dirty="0"/>
          </a:p>
        </p:txBody>
      </p:sp>
      <p:sp>
        <p:nvSpPr>
          <p:cNvPr id="25" name="Text 22"/>
          <p:cNvSpPr txBox="1"/>
          <p:nvPr/>
        </p:nvSpPr>
        <p:spPr>
          <a:xfrm>
            <a:off x="548640" y="3374136"/>
            <a:ext cx="640080" cy="45720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U12</a:t>
            </a:r>
            <a:endParaRPr lang="en-US" sz="1100" dirty="0"/>
          </a:p>
        </p:txBody>
      </p:sp>
      <p:sp>
        <p:nvSpPr>
          <p:cNvPr id="26" name="Text 23"/>
          <p:cNvSpPr txBox="1"/>
          <p:nvPr/>
        </p:nvSpPr>
        <p:spPr>
          <a:xfrm>
            <a:off x="1234440" y="3374136"/>
            <a:ext cx="10408615"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Tuổi Trẻ Online. (2025, March 7). Happy Day Concert tại Đà Lạt ngừng 2 đêm diễn vì hình ảnh nghệ sĩ bị quảng cáo cờ bạc.</a:t>
            </a:r>
            <a:endParaRPr lang="en-US" sz="1100" dirty="0"/>
          </a:p>
        </p:txBody>
      </p:sp>
      <p:sp>
        <p:nvSpPr>
          <p:cNvPr id="27" name="Text 24"/>
          <p:cNvSpPr txBox="1"/>
          <p:nvPr/>
        </p:nvSpPr>
        <p:spPr>
          <a:xfrm>
            <a:off x="548640" y="3904488"/>
            <a:ext cx="640080" cy="45720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U13</a:t>
            </a:r>
            <a:endParaRPr lang="en-US" sz="1100" dirty="0"/>
          </a:p>
        </p:txBody>
      </p:sp>
      <p:sp>
        <p:nvSpPr>
          <p:cNvPr id="28" name="Text 25"/>
          <p:cNvSpPr txBox="1"/>
          <p:nvPr/>
        </p:nvSpPr>
        <p:spPr>
          <a:xfrm>
            <a:off x="1234440" y="3904488"/>
            <a:ext cx="10408615"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Tạp chí Tài chính. (2023, November 11). Thông tư số 67/2023/TT-BTC hạn chế tình trạng ép khách mua bảo hiểm kèm khoản vay.</a:t>
            </a:r>
            <a:endParaRPr lang="en-US" sz="1100" dirty="0"/>
          </a:p>
        </p:txBody>
      </p:sp>
      <p:sp>
        <p:nvSpPr>
          <p:cNvPr id="29" name="Text 26"/>
          <p:cNvSpPr txBox="1"/>
          <p:nvPr/>
        </p:nvSpPr>
        <p:spPr>
          <a:xfrm>
            <a:off x="548640" y="4434840"/>
            <a:ext cx="640080" cy="45720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U14</a:t>
            </a:r>
            <a:endParaRPr lang="en-US" sz="1100" dirty="0"/>
          </a:p>
        </p:txBody>
      </p:sp>
      <p:sp>
        <p:nvSpPr>
          <p:cNvPr id="30" name="Text 27"/>
          <p:cNvSpPr txBox="1"/>
          <p:nvPr/>
        </p:nvSpPr>
        <p:spPr>
          <a:xfrm>
            <a:off x="1234440" y="4434840"/>
            <a:ext cx="10408615"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Nhân Dân. (2026, September 7). Nghệ sĩ Việt chật vật làm liveshow.</a:t>
            </a:r>
            <a:endParaRPr lang="en-US" sz="1100" dirty="0"/>
          </a:p>
        </p:txBody>
      </p:sp>
      <p:sp>
        <p:nvSpPr>
          <p:cNvPr id="31" name="Text 28"/>
          <p:cNvSpPr txBox="1"/>
          <p:nvPr/>
        </p:nvSpPr>
        <p:spPr>
          <a:xfrm>
            <a:off x="548640" y="4965192"/>
            <a:ext cx="640080" cy="45720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U15</a:t>
            </a:r>
            <a:endParaRPr lang="en-US" sz="1100" dirty="0"/>
          </a:p>
        </p:txBody>
      </p:sp>
      <p:sp>
        <p:nvSpPr>
          <p:cNvPr id="32" name="Text 29"/>
          <p:cNvSpPr txBox="1"/>
          <p:nvPr/>
        </p:nvSpPr>
        <p:spPr>
          <a:xfrm>
            <a:off x="1234440" y="4965192"/>
            <a:ext cx="10408615" cy="45720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American Express Global Business Travel. (2025). 2026 global meetings &amp; events forecast.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EVM1110E — Buổi 9: Resource Matching: Investors &amp; Sponsors</dc:title>
  <dc:subject>Quản trị mối quan hệ trong tổ chức sự kiện</dc:subject>
  <dc:creator>PptxGenJS</dc:creator>
  <cp:lastModifiedBy>PptxGenJS</cp:lastModifiedBy>
  <cp:revision>1</cp:revision>
  <dcterms:created xsi:type="dcterms:W3CDTF">2026-10-03T04:59:19Z</dcterms:created>
  <dcterms:modified xsi:type="dcterms:W3CDTF">2026-10-03T04:59:19Z</dcterms:modified>
</cp:coreProperties>
</file>