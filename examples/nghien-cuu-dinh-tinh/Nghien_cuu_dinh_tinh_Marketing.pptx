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6309360" y="-1005840"/>
            <a:ext cx="3474720" cy="3474720"/>
          </a:xfrm>
          <a:prstGeom prst="ellipse">
            <a:avLst/>
          </a:prstGeom>
          <a:solidFill>
            <a:srgbClr val="FFD23B"/>
          </a:solidFill>
          <a:ln w="12700">
            <a:solidFill>
              <a:srgbClr val="FFD23B"/>
            </a:solidFill>
            <a:prstDash val="solid"/>
          </a:ln>
        </p:spPr>
      </p:sp>
      <p:sp>
        <p:nvSpPr>
          <p:cNvPr id="3" name="Shape 1"/>
          <p:cNvSpPr/>
          <p:nvPr/>
        </p:nvSpPr>
        <p:spPr>
          <a:xfrm>
            <a:off x="7818120" y="1965960"/>
            <a:ext cx="1645920" cy="1645920"/>
          </a:xfrm>
          <a:prstGeom prst="ellipse">
            <a:avLst/>
          </a:prstGeom>
          <a:solidFill>
            <a:srgbClr val="FF5178"/>
          </a:solidFill>
          <a:ln w="12700">
            <a:solidFill>
              <a:srgbClr val="FF5178"/>
            </a:solidFill>
            <a:prstDash val="solid"/>
          </a:ln>
        </p:spPr>
      </p:sp>
      <p:sp>
        <p:nvSpPr>
          <p:cNvPr id="4" name="Shape 2"/>
          <p:cNvSpPr/>
          <p:nvPr/>
        </p:nvSpPr>
        <p:spPr>
          <a:xfrm>
            <a:off x="5989320" y="2606040"/>
            <a:ext cx="1051560" cy="1051560"/>
          </a:xfrm>
          <a:prstGeom prst="ellipse">
            <a:avLst/>
          </a:prstGeom>
          <a:solidFill>
            <a:srgbClr val="09A1E5"/>
          </a:solidFill>
          <a:ln w="12700">
            <a:solidFill>
              <a:srgbClr val="09A1E5"/>
            </a:solidFill>
            <a:prstDash val="solid"/>
          </a:ln>
        </p:spPr>
      </p:sp>
      <p:sp>
        <p:nvSpPr>
          <p:cNvPr id="5" name="Shape 3"/>
          <p:cNvSpPr/>
          <p:nvPr/>
        </p:nvSpPr>
        <p:spPr>
          <a:xfrm>
            <a:off x="7086600" y="3749040"/>
            <a:ext cx="640080" cy="640080"/>
          </a:xfrm>
          <a:prstGeom prst="ellipse">
            <a:avLst/>
          </a:prstGeom>
          <a:solidFill>
            <a:srgbClr val="49B296"/>
          </a:solidFill>
          <a:ln w="12700">
            <a:solidFill>
              <a:srgbClr val="49B296"/>
            </a:solidFill>
            <a:prstDash val="solid"/>
          </a:ln>
        </p:spPr>
      </p:sp>
      <p:sp>
        <p:nvSpPr>
          <p:cNvPr id="6" name="Shape 4"/>
          <p:cNvSpPr/>
          <p:nvPr/>
        </p:nvSpPr>
        <p:spPr>
          <a:xfrm>
            <a:off x="8275320" y="4023360"/>
            <a:ext cx="411480" cy="411480"/>
          </a:xfrm>
          <a:prstGeom prst="ellipse">
            <a:avLst/>
          </a:prstGeom>
          <a:solidFill>
            <a:srgbClr val="FF9259"/>
          </a:solidFill>
          <a:ln w="12700">
            <a:solidFill>
              <a:srgbClr val="FF9259"/>
            </a:solidFill>
            <a:prstDash val="solid"/>
          </a:ln>
        </p:spPr>
      </p:sp>
      <p:sp>
        <p:nvSpPr>
          <p:cNvPr id="7" name="Shape 5"/>
          <p:cNvSpPr/>
          <p:nvPr/>
        </p:nvSpPr>
        <p:spPr>
          <a:xfrm>
            <a:off x="7086600" y="320040"/>
            <a:ext cx="1737360" cy="548640"/>
          </a:xfrm>
          <a:prstGeom prst="roundRect">
            <a:avLst>
              <a:gd name="adj" fmla="val 41667"/>
            </a:avLst>
          </a:prstGeom>
          <a:solidFill>
            <a:srgbClr val="FFFFFF"/>
          </a:solidFill>
          <a:ln w="12700">
            <a:solidFill>
              <a:srgbClr val="FFFFFF"/>
            </a:solidFill>
            <a:prstDash val="solid"/>
          </a:ln>
        </p:spPr>
      </p:sp>
      <p:sp>
        <p:nvSpPr>
          <p:cNvPr id="8" name="Text 6"/>
          <p:cNvSpPr/>
          <p:nvPr/>
        </p:nvSpPr>
        <p:spPr>
          <a:xfrm>
            <a:off x="7086600" y="320040"/>
            <a:ext cx="1737360" cy="548640"/>
          </a:xfrm>
          <a:prstGeom prst="rect">
            <a:avLst/>
          </a:prstGeom>
          <a:noFill/>
          <a:ln/>
        </p:spPr>
        <p:txBody>
          <a:bodyPr wrap="square" lIns="0" tIns="0" rIns="0" bIns="0" rtlCol="0" anchor="ctr"/>
          <a:lstStyle/>
          <a:p>
            <a:pPr algn="ctr" indent="0" marL="0">
              <a:buNone/>
            </a:pPr>
            <a:r>
              <a:rPr lang="en-US" sz="1800" b="1" dirty="0">
                <a:solidFill>
                  <a:srgbClr val="962B7C"/>
                </a:solidFill>
                <a:latin typeface="Alexandria" pitchFamily="34" charset="0"/>
                <a:ea typeface="Alexandria" pitchFamily="34" charset="-122"/>
                <a:cs typeface="Alexandria" pitchFamily="34" charset="-120"/>
              </a:rPr>
              <a:t>Vì sao?</a:t>
            </a:r>
            <a:endParaRPr lang="en-US" sz="1800" dirty="0"/>
          </a:p>
        </p:txBody>
      </p:sp>
      <p:sp>
        <p:nvSpPr>
          <p:cNvPr id="9" name="Shape 7"/>
          <p:cNvSpPr/>
          <p:nvPr/>
        </p:nvSpPr>
        <p:spPr>
          <a:xfrm>
            <a:off x="6720840" y="1051560"/>
            <a:ext cx="1463040" cy="411480"/>
          </a:xfrm>
          <a:prstGeom prst="roundRect">
            <a:avLst>
              <a:gd name="adj" fmla="val 44444"/>
            </a:avLst>
          </a:prstGeom>
          <a:solidFill>
            <a:srgbClr val="962B7C"/>
          </a:solidFill>
          <a:ln w="12700">
            <a:solidFill>
              <a:srgbClr val="962B7C"/>
            </a:solidFill>
            <a:prstDash val="solid"/>
          </a:ln>
        </p:spPr>
      </p:sp>
      <p:sp>
        <p:nvSpPr>
          <p:cNvPr id="10" name="Text 8"/>
          <p:cNvSpPr/>
          <p:nvPr/>
        </p:nvSpPr>
        <p:spPr>
          <a:xfrm>
            <a:off x="6720840" y="1051560"/>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Vì sao?</a:t>
            </a:r>
            <a:endParaRPr lang="en-US" sz="1300" dirty="0"/>
          </a:p>
        </p:txBody>
      </p:sp>
      <p:sp>
        <p:nvSpPr>
          <p:cNvPr id="11" name="Shape 9"/>
          <p:cNvSpPr/>
          <p:nvPr/>
        </p:nvSpPr>
        <p:spPr>
          <a:xfrm>
            <a:off x="457200" y="822960"/>
            <a:ext cx="2194560" cy="329184"/>
          </a:xfrm>
          <a:prstGeom prst="roundRect">
            <a:avLst>
              <a:gd name="adj" fmla="val 50000"/>
            </a:avLst>
          </a:prstGeom>
          <a:solidFill>
            <a:srgbClr val="962B7C"/>
          </a:solidFill>
          <a:ln w="12700">
            <a:solidFill>
              <a:srgbClr val="962B7C"/>
            </a:solidFill>
            <a:prstDash val="solid"/>
          </a:ln>
        </p:spPr>
      </p:sp>
      <p:sp>
        <p:nvSpPr>
          <p:cNvPr id="12" name="Text 10"/>
          <p:cNvSpPr/>
          <p:nvPr/>
        </p:nvSpPr>
        <p:spPr>
          <a:xfrm>
            <a:off x="457200" y="822960"/>
            <a:ext cx="2194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NGHIÊN CỨU MARKETING</a:t>
            </a:r>
            <a:endParaRPr lang="en-US" sz="1100" dirty="0"/>
          </a:p>
        </p:txBody>
      </p:sp>
      <p:sp>
        <p:nvSpPr>
          <p:cNvPr id="13" name="Text 11"/>
          <p:cNvSpPr/>
          <p:nvPr/>
        </p:nvSpPr>
        <p:spPr>
          <a:xfrm>
            <a:off x="457200" y="1280160"/>
            <a:ext cx="5669280" cy="1554480"/>
          </a:xfrm>
          <a:prstGeom prst="rect">
            <a:avLst/>
          </a:prstGeom>
          <a:noFill/>
          <a:ln/>
        </p:spPr>
        <p:txBody>
          <a:bodyPr wrap="square" lIns="0" tIns="0" rIns="0" bIns="0" rtlCol="0" anchor="t"/>
          <a:lstStyle/>
          <a:p>
            <a:pPr indent="0" marL="0">
              <a:lnSpc>
                <a:spcPct val="95000"/>
              </a:lnSpc>
              <a:buNone/>
            </a:pPr>
            <a:r>
              <a:rPr lang="en-US" sz="4400" b="1" dirty="0">
                <a:solidFill>
                  <a:srgbClr val="2B2633"/>
                </a:solidFill>
                <a:latin typeface="Alexandria" pitchFamily="34" charset="0"/>
                <a:ea typeface="Alexandria" pitchFamily="34" charset="-122"/>
                <a:cs typeface="Alexandria" pitchFamily="34" charset="-120"/>
              </a:rPr>
              <a:t>Nghiên cứu</a:t>
            </a:r>
            <a:endParaRPr lang="en-US" sz="4400" dirty="0"/>
          </a:p>
          <a:p>
            <a:pPr indent="0" marL="0">
              <a:lnSpc>
                <a:spcPct val="95000"/>
              </a:lnSpc>
              <a:buNone/>
            </a:pPr>
            <a:r>
              <a:rPr lang="en-US" sz="4400" b="1" dirty="0">
                <a:solidFill>
                  <a:srgbClr val="2B2633"/>
                </a:solidFill>
                <a:latin typeface="Alexandria" pitchFamily="34" charset="0"/>
                <a:ea typeface="Alexandria" pitchFamily="34" charset="-122"/>
                <a:cs typeface="Alexandria" pitchFamily="34" charset="-120"/>
              </a:rPr>
              <a:t>định tính</a:t>
            </a:r>
            <a:endParaRPr lang="en-US" sz="4400" dirty="0"/>
          </a:p>
        </p:txBody>
      </p:sp>
      <p:sp>
        <p:nvSpPr>
          <p:cNvPr id="14" name="Text 12"/>
          <p:cNvSpPr/>
          <p:nvPr/>
        </p:nvSpPr>
        <p:spPr>
          <a:xfrm>
            <a:off x="457200" y="2926080"/>
            <a:ext cx="5394960" cy="731520"/>
          </a:xfrm>
          <a:prstGeom prst="rect">
            <a:avLst/>
          </a:prstGeom>
          <a:noFill/>
          <a:ln/>
        </p:spPr>
        <p:txBody>
          <a:bodyPr wrap="square" lIns="0" tIns="0" rIns="0" bIns="0" rtlCol="0" anchor="t"/>
          <a:lstStyle/>
          <a:p>
            <a:pPr algn="l" indent="0" marL="0">
              <a:buNone/>
            </a:pPr>
            <a:r>
              <a:rPr lang="en-US" sz="1500" dirty="0">
                <a:solidFill>
                  <a:srgbClr val="3A3542"/>
                </a:solidFill>
                <a:latin typeface="Alexandria" pitchFamily="34" charset="0"/>
                <a:ea typeface="Alexandria" pitchFamily="34" charset="-122"/>
                <a:cs typeface="Alexandria" pitchFamily="34" charset="-120"/>
              </a:rPr>
              <a:t>Số liệu định lượng cho biết điều gì đang xảy ra — nghiên cứu định tính giải thích vì sao khách hàng hành động như vậy</a:t>
            </a:r>
            <a:endParaRPr lang="en-US" sz="1500" dirty="0"/>
          </a:p>
        </p:txBody>
      </p:sp>
      <p:sp>
        <p:nvSpPr>
          <p:cNvPr id="15" name="Shape 13"/>
          <p:cNvSpPr/>
          <p:nvPr/>
        </p:nvSpPr>
        <p:spPr>
          <a:xfrm>
            <a:off x="457200" y="3931920"/>
            <a:ext cx="365760" cy="73152"/>
          </a:xfrm>
          <a:prstGeom prst="rect">
            <a:avLst/>
          </a:prstGeom>
          <a:solidFill>
            <a:srgbClr val="49B296"/>
          </a:solidFill>
          <a:ln w="12700">
            <a:solidFill>
              <a:srgbClr val="49B296"/>
            </a:solidFill>
            <a:prstDash val="solid"/>
          </a:ln>
        </p:spPr>
      </p:sp>
      <p:sp>
        <p:nvSpPr>
          <p:cNvPr id="16" name="Shape 14"/>
          <p:cNvSpPr/>
          <p:nvPr/>
        </p:nvSpPr>
        <p:spPr>
          <a:xfrm>
            <a:off x="822960" y="3931920"/>
            <a:ext cx="365760" cy="73152"/>
          </a:xfrm>
          <a:prstGeom prst="rect">
            <a:avLst/>
          </a:prstGeom>
          <a:solidFill>
            <a:srgbClr val="FFD23B"/>
          </a:solidFill>
          <a:ln w="12700">
            <a:solidFill>
              <a:srgbClr val="FFD23B"/>
            </a:solidFill>
            <a:prstDash val="solid"/>
          </a:ln>
        </p:spPr>
      </p:sp>
      <p:sp>
        <p:nvSpPr>
          <p:cNvPr id="17" name="Shape 15"/>
          <p:cNvSpPr/>
          <p:nvPr/>
        </p:nvSpPr>
        <p:spPr>
          <a:xfrm>
            <a:off x="1188720" y="3931920"/>
            <a:ext cx="365760" cy="73152"/>
          </a:xfrm>
          <a:prstGeom prst="rect">
            <a:avLst/>
          </a:prstGeom>
          <a:solidFill>
            <a:srgbClr val="FF5178"/>
          </a:solidFill>
          <a:ln w="12700">
            <a:solidFill>
              <a:srgbClr val="FF5178"/>
            </a:solidFill>
            <a:prstDash val="solid"/>
          </a:ln>
        </p:spPr>
      </p:sp>
      <p:sp>
        <p:nvSpPr>
          <p:cNvPr id="18" name="Shape 16"/>
          <p:cNvSpPr/>
          <p:nvPr/>
        </p:nvSpPr>
        <p:spPr>
          <a:xfrm>
            <a:off x="1554480" y="3931920"/>
            <a:ext cx="365760" cy="73152"/>
          </a:xfrm>
          <a:prstGeom prst="rect">
            <a:avLst/>
          </a:prstGeom>
          <a:solidFill>
            <a:srgbClr val="962B7C"/>
          </a:solidFill>
          <a:ln w="12700">
            <a:solidFill>
              <a:srgbClr val="962B7C"/>
            </a:solidFill>
            <a:prstDash val="solid"/>
          </a:ln>
        </p:spPr>
      </p:sp>
      <p:sp>
        <p:nvSpPr>
          <p:cNvPr id="19" name="Shape 17"/>
          <p:cNvSpPr/>
          <p:nvPr/>
        </p:nvSpPr>
        <p:spPr>
          <a:xfrm>
            <a:off x="1920240" y="3931920"/>
            <a:ext cx="365760" cy="73152"/>
          </a:xfrm>
          <a:prstGeom prst="rect">
            <a:avLst/>
          </a:prstGeom>
          <a:solidFill>
            <a:srgbClr val="09A1E5"/>
          </a:solidFill>
          <a:ln w="12700">
            <a:solidFill>
              <a:srgbClr val="09A1E5"/>
            </a:solidFill>
            <a:prstDash val="solid"/>
          </a:ln>
        </p:spPr>
      </p:sp>
      <p:sp>
        <p:nvSpPr>
          <p:cNvPr id="20" name="Shape 18"/>
          <p:cNvSpPr/>
          <p:nvPr/>
        </p:nvSpPr>
        <p:spPr>
          <a:xfrm>
            <a:off x="2286000" y="3931920"/>
            <a:ext cx="365760" cy="73152"/>
          </a:xfrm>
          <a:prstGeom prst="rect">
            <a:avLst/>
          </a:prstGeom>
          <a:solidFill>
            <a:srgbClr val="FF9259"/>
          </a:solidFill>
          <a:ln w="12700">
            <a:solidFill>
              <a:srgbClr val="FF9259"/>
            </a:solidFill>
            <a:prstDash val="solid"/>
          </a:ln>
        </p:spPr>
      </p:sp>
      <p:sp>
        <p:nvSpPr>
          <p:cNvPr id="21" name="Text 19"/>
          <p:cNvSpPr/>
          <p:nvPr/>
        </p:nvSpPr>
        <p:spPr>
          <a:xfrm>
            <a:off x="457200" y="4069080"/>
            <a:ext cx="5486400" cy="457200"/>
          </a:xfrm>
          <a:prstGeom prst="rect">
            <a:avLst/>
          </a:prstGeom>
          <a:noFill/>
          <a:ln/>
        </p:spPr>
        <p:txBody>
          <a:bodyPr wrap="square" lIns="0" tIns="0" rIns="0" bIns="0" rtlCol="0" anchor="t"/>
          <a:lstStyle/>
          <a:p>
            <a:pPr algn="l" indent="0" marL="0">
              <a:buNone/>
            </a:pPr>
            <a:r>
              <a:rPr lang="en-US" sz="1050" dirty="0">
                <a:solidFill>
                  <a:srgbClr val="7A7480"/>
                </a:solidFill>
                <a:latin typeface="Alexandria" pitchFamily="34" charset="0"/>
                <a:ea typeface="Alexandria" pitchFamily="34" charset="-122"/>
                <a:cs typeface="Alexandria" pitchFamily="34" charset="-120"/>
              </a:rPr>
              <a:t>Biên soạn từ tài liệu “Qualitative Research” (bản ghi khóa học về nghiên cứu định tính cho marketing)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962B7C"/>
          </a:solidFill>
          <a:ln w="12700">
            <a:solidFill>
              <a:srgbClr val="962B7C"/>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Giới thiệu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Bài học đi từ “định tính là gì” đến cách biến dữ liệu thành hành động</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962B7C"/>
                </a:solidFill>
                <a:latin typeface="Alexandria" pitchFamily="34" charset="0"/>
                <a:ea typeface="Alexandria" pitchFamily="34" charset="-122"/>
                <a:cs typeface="Alexandria" pitchFamily="34" charset="-120"/>
              </a:rPr>
              <a:t>2</a:t>
            </a:r>
            <a:endParaRPr lang="en-US" sz="1000" dirty="0"/>
          </a:p>
        </p:txBody>
      </p:sp>
      <p:sp>
        <p:nvSpPr>
          <p:cNvPr id="13" name="Shape 11"/>
          <p:cNvSpPr/>
          <p:nvPr/>
        </p:nvSpPr>
        <p:spPr>
          <a:xfrm>
            <a:off x="457200" y="1463040"/>
            <a:ext cx="566928" cy="566928"/>
          </a:xfrm>
          <a:prstGeom prst="ellipse">
            <a:avLst/>
          </a:prstGeom>
          <a:solidFill>
            <a:srgbClr val="FF5178"/>
          </a:solidFill>
          <a:ln w="12700">
            <a:solidFill>
              <a:srgbClr val="FF5178"/>
            </a:solidFill>
            <a:prstDash val="solid"/>
          </a:ln>
        </p:spPr>
      </p:sp>
      <p:sp>
        <p:nvSpPr>
          <p:cNvPr id="14" name="Text 12"/>
          <p:cNvSpPr/>
          <p:nvPr/>
        </p:nvSpPr>
        <p:spPr>
          <a:xfrm>
            <a:off x="457200" y="1463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a:t>
            </a:r>
            <a:endParaRPr lang="en-US" sz="2000" dirty="0"/>
          </a:p>
        </p:txBody>
      </p:sp>
      <p:sp>
        <p:nvSpPr>
          <p:cNvPr id="15" name="Text 13"/>
          <p:cNvSpPr/>
          <p:nvPr/>
        </p:nvSpPr>
        <p:spPr>
          <a:xfrm>
            <a:off x="1188720" y="1463040"/>
            <a:ext cx="3017520" cy="566928"/>
          </a:xfrm>
          <a:prstGeom prst="rect">
            <a:avLst/>
          </a:prstGeom>
          <a:noFill/>
          <a:ln/>
        </p:spPr>
        <p:txBody>
          <a:bodyPr wrap="square" lIns="0" tIns="0" rIns="0" bIns="0" rtlCol="0" anchor="ctr"/>
          <a:lstStyle/>
          <a:p>
            <a:pPr algn="l" indent="0" marL="0">
              <a:buNone/>
            </a:pPr>
            <a:r>
              <a:rPr lang="en-US" sz="1600" b="1" dirty="0">
                <a:solidFill>
                  <a:srgbClr val="2B2633"/>
                </a:solidFill>
                <a:latin typeface="Alexandria" pitchFamily="34" charset="0"/>
                <a:ea typeface="Alexandria" pitchFamily="34" charset="-122"/>
                <a:cs typeface="Alexandria" pitchFamily="34" charset="-120"/>
              </a:rPr>
              <a:t>Nghiên cứu định tính là gì?</a:t>
            </a:r>
            <a:endParaRPr lang="en-US" sz="1600" dirty="0"/>
          </a:p>
        </p:txBody>
      </p:sp>
      <p:sp>
        <p:nvSpPr>
          <p:cNvPr id="16" name="Text 14"/>
          <p:cNvSpPr/>
          <p:nvPr/>
        </p:nvSpPr>
        <p:spPr>
          <a:xfrm>
            <a:off x="4206240" y="1463040"/>
            <a:ext cx="4480560" cy="566928"/>
          </a:xfrm>
          <a:prstGeom prst="rect">
            <a:avLst/>
          </a:prstGeom>
          <a:noFill/>
          <a:ln/>
        </p:spPr>
        <p:txBody>
          <a:bodyPr wrap="square" lIns="0" tIns="0" rIns="0" bIns="0" rtlCol="0" anchor="ctr"/>
          <a:lstStyle/>
          <a:p>
            <a:pPr algn="l" indent="0" marL="0">
              <a:buNone/>
            </a:pPr>
            <a:r>
              <a:rPr lang="en-US" sz="1200" dirty="0">
                <a:solidFill>
                  <a:srgbClr val="3A3542"/>
                </a:solidFill>
                <a:latin typeface="Alexandria" pitchFamily="34" charset="0"/>
                <a:ea typeface="Alexandria" pitchFamily="34" charset="-122"/>
                <a:cs typeface="Alexandria" pitchFamily="34" charset="-120"/>
              </a:rPr>
              <a:t>Khi nào dùng · cảm xúc · phân khúc · phương pháp sandwich</a:t>
            </a:r>
            <a:endParaRPr lang="en-US" sz="1200" dirty="0"/>
          </a:p>
        </p:txBody>
      </p:sp>
      <p:sp>
        <p:nvSpPr>
          <p:cNvPr id="17" name="Shape 15"/>
          <p:cNvSpPr/>
          <p:nvPr/>
        </p:nvSpPr>
        <p:spPr>
          <a:xfrm>
            <a:off x="1188720" y="2121408"/>
            <a:ext cx="7498080" cy="0"/>
          </a:xfrm>
          <a:prstGeom prst="line">
            <a:avLst/>
          </a:prstGeom>
          <a:noFill/>
          <a:ln w="12700">
            <a:solidFill>
              <a:srgbClr val="E6E2D6"/>
            </a:solidFill>
            <a:prstDash val="solid"/>
          </a:ln>
        </p:spPr>
      </p:sp>
      <p:sp>
        <p:nvSpPr>
          <p:cNvPr id="18" name="Shape 16"/>
          <p:cNvSpPr/>
          <p:nvPr/>
        </p:nvSpPr>
        <p:spPr>
          <a:xfrm>
            <a:off x="457200" y="2212848"/>
            <a:ext cx="566928" cy="566928"/>
          </a:xfrm>
          <a:prstGeom prst="ellipse">
            <a:avLst/>
          </a:prstGeom>
          <a:solidFill>
            <a:srgbClr val="09A1E5"/>
          </a:solidFill>
          <a:ln w="12700">
            <a:solidFill>
              <a:srgbClr val="09A1E5"/>
            </a:solidFill>
            <a:prstDash val="solid"/>
          </a:ln>
        </p:spPr>
      </p:sp>
      <p:sp>
        <p:nvSpPr>
          <p:cNvPr id="19" name="Text 17"/>
          <p:cNvSpPr/>
          <p:nvPr/>
        </p:nvSpPr>
        <p:spPr>
          <a:xfrm>
            <a:off x="457200" y="22128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2</a:t>
            </a:r>
            <a:endParaRPr lang="en-US" sz="2000" dirty="0"/>
          </a:p>
        </p:txBody>
      </p:sp>
      <p:sp>
        <p:nvSpPr>
          <p:cNvPr id="20" name="Text 18"/>
          <p:cNvSpPr/>
          <p:nvPr/>
        </p:nvSpPr>
        <p:spPr>
          <a:xfrm>
            <a:off x="1188720" y="2212848"/>
            <a:ext cx="3017520" cy="566928"/>
          </a:xfrm>
          <a:prstGeom prst="rect">
            <a:avLst/>
          </a:prstGeom>
          <a:noFill/>
          <a:ln/>
        </p:spPr>
        <p:txBody>
          <a:bodyPr wrap="square" lIns="0" tIns="0" rIns="0" bIns="0" rtlCol="0" anchor="ctr"/>
          <a:lstStyle/>
          <a:p>
            <a:pPr algn="l" indent="0" marL="0">
              <a:buNone/>
            </a:pPr>
            <a:r>
              <a:rPr lang="en-US" sz="1600" b="1" dirty="0">
                <a:solidFill>
                  <a:srgbClr val="2B2633"/>
                </a:solidFill>
                <a:latin typeface="Alexandria" pitchFamily="34" charset="0"/>
                <a:ea typeface="Alexandria" pitchFamily="34" charset="-122"/>
                <a:cs typeface="Alexandria" pitchFamily="34" charset="-120"/>
              </a:rPr>
              <a:t>Phương pháp nghiên cứu</a:t>
            </a:r>
            <a:endParaRPr lang="en-US" sz="1600" dirty="0"/>
          </a:p>
        </p:txBody>
      </p:sp>
      <p:sp>
        <p:nvSpPr>
          <p:cNvPr id="21" name="Text 19"/>
          <p:cNvSpPr/>
          <p:nvPr/>
        </p:nvSpPr>
        <p:spPr>
          <a:xfrm>
            <a:off x="4206240" y="2212848"/>
            <a:ext cx="4480560" cy="566928"/>
          </a:xfrm>
          <a:prstGeom prst="rect">
            <a:avLst/>
          </a:prstGeom>
          <a:noFill/>
          <a:ln/>
        </p:spPr>
        <p:txBody>
          <a:bodyPr wrap="square" lIns="0" tIns="0" rIns="0" bIns="0" rtlCol="0" anchor="ctr"/>
          <a:lstStyle/>
          <a:p>
            <a:pPr algn="l" indent="0" marL="0">
              <a:buNone/>
            </a:pPr>
            <a:r>
              <a:rPr lang="en-US" sz="1200" dirty="0">
                <a:solidFill>
                  <a:srgbClr val="3A3542"/>
                </a:solidFill>
                <a:latin typeface="Alexandria" pitchFamily="34" charset="0"/>
                <a:ea typeface="Alexandria" pitchFamily="34" charset="-122"/>
                <a:cs typeface="Alexandria" pitchFamily="34" charset="-120"/>
              </a:rPr>
              <a:t>Phỏng vấn sâu · nhóm tập trung · dân tộc học · nhật ký video · kiểm thử khả dụng</a:t>
            </a:r>
            <a:endParaRPr lang="en-US" sz="1200" dirty="0"/>
          </a:p>
        </p:txBody>
      </p:sp>
      <p:sp>
        <p:nvSpPr>
          <p:cNvPr id="22" name="Shape 20"/>
          <p:cNvSpPr/>
          <p:nvPr/>
        </p:nvSpPr>
        <p:spPr>
          <a:xfrm>
            <a:off x="1188720" y="2871216"/>
            <a:ext cx="7498080" cy="0"/>
          </a:xfrm>
          <a:prstGeom prst="line">
            <a:avLst/>
          </a:prstGeom>
          <a:noFill/>
          <a:ln w="12700">
            <a:solidFill>
              <a:srgbClr val="E6E2D6"/>
            </a:solidFill>
            <a:prstDash val="solid"/>
          </a:ln>
        </p:spPr>
      </p:sp>
      <p:sp>
        <p:nvSpPr>
          <p:cNvPr id="23" name="Shape 21"/>
          <p:cNvSpPr/>
          <p:nvPr/>
        </p:nvSpPr>
        <p:spPr>
          <a:xfrm>
            <a:off x="457200" y="2962656"/>
            <a:ext cx="566928" cy="566928"/>
          </a:xfrm>
          <a:prstGeom prst="ellipse">
            <a:avLst/>
          </a:prstGeom>
          <a:solidFill>
            <a:srgbClr val="49B296"/>
          </a:solidFill>
          <a:ln w="12700">
            <a:solidFill>
              <a:srgbClr val="49B296"/>
            </a:solidFill>
            <a:prstDash val="solid"/>
          </a:ln>
        </p:spPr>
      </p:sp>
      <p:sp>
        <p:nvSpPr>
          <p:cNvPr id="24" name="Text 22"/>
          <p:cNvSpPr/>
          <p:nvPr/>
        </p:nvSpPr>
        <p:spPr>
          <a:xfrm>
            <a:off x="457200" y="296265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3</a:t>
            </a:r>
            <a:endParaRPr lang="en-US" sz="2000" dirty="0"/>
          </a:p>
        </p:txBody>
      </p:sp>
      <p:sp>
        <p:nvSpPr>
          <p:cNvPr id="25" name="Text 23"/>
          <p:cNvSpPr/>
          <p:nvPr/>
        </p:nvSpPr>
        <p:spPr>
          <a:xfrm>
            <a:off x="1188720" y="2962656"/>
            <a:ext cx="3017520" cy="566928"/>
          </a:xfrm>
          <a:prstGeom prst="rect">
            <a:avLst/>
          </a:prstGeom>
          <a:noFill/>
          <a:ln/>
        </p:spPr>
        <p:txBody>
          <a:bodyPr wrap="square" lIns="0" tIns="0" rIns="0" bIns="0" rtlCol="0" anchor="ctr"/>
          <a:lstStyle/>
          <a:p>
            <a:pPr algn="l" indent="0" marL="0">
              <a:buNone/>
            </a:pPr>
            <a:r>
              <a:rPr lang="en-US" sz="1600" b="1" dirty="0">
                <a:solidFill>
                  <a:srgbClr val="2B2633"/>
                </a:solidFill>
                <a:latin typeface="Alexandria" pitchFamily="34" charset="0"/>
                <a:ea typeface="Alexandria" pitchFamily="34" charset="-122"/>
                <a:cs typeface="Alexandria" pitchFamily="34" charset="-120"/>
              </a:rPr>
              <a:t>Lập kế hoạch &amp; điều phối</a:t>
            </a:r>
            <a:endParaRPr lang="en-US" sz="1600" dirty="0"/>
          </a:p>
        </p:txBody>
      </p:sp>
      <p:sp>
        <p:nvSpPr>
          <p:cNvPr id="26" name="Text 24"/>
          <p:cNvSpPr/>
          <p:nvPr/>
        </p:nvSpPr>
        <p:spPr>
          <a:xfrm>
            <a:off x="4206240" y="2962656"/>
            <a:ext cx="4480560" cy="566928"/>
          </a:xfrm>
          <a:prstGeom prst="rect">
            <a:avLst/>
          </a:prstGeom>
          <a:noFill/>
          <a:ln/>
        </p:spPr>
        <p:txBody>
          <a:bodyPr wrap="square" lIns="0" tIns="0" rIns="0" bIns="0" rtlCol="0" anchor="ctr"/>
          <a:lstStyle/>
          <a:p>
            <a:pPr algn="l" indent="0" marL="0">
              <a:buNone/>
            </a:pPr>
            <a:r>
              <a:rPr lang="en-US" sz="1200" dirty="0">
                <a:solidFill>
                  <a:srgbClr val="3A3542"/>
                </a:solidFill>
                <a:latin typeface="Alexandria" pitchFamily="34" charset="0"/>
                <a:ea typeface="Alexandria" pitchFamily="34" charset="-122"/>
                <a:cs typeface="Alexandria" pitchFamily="34" charset="-120"/>
              </a:rPr>
              <a:t>Người điều phối · viết câu hỏi · câu hỏi về giá · tạo thiện cảm · chạy thử</a:t>
            </a:r>
            <a:endParaRPr lang="en-US" sz="1200" dirty="0"/>
          </a:p>
        </p:txBody>
      </p:sp>
      <p:sp>
        <p:nvSpPr>
          <p:cNvPr id="27" name="Shape 25"/>
          <p:cNvSpPr/>
          <p:nvPr/>
        </p:nvSpPr>
        <p:spPr>
          <a:xfrm>
            <a:off x="1188720" y="3621024"/>
            <a:ext cx="7498080" cy="0"/>
          </a:xfrm>
          <a:prstGeom prst="line">
            <a:avLst/>
          </a:prstGeom>
          <a:noFill/>
          <a:ln w="12700">
            <a:solidFill>
              <a:srgbClr val="E6E2D6"/>
            </a:solidFill>
            <a:prstDash val="solid"/>
          </a:ln>
        </p:spPr>
      </p:sp>
      <p:sp>
        <p:nvSpPr>
          <p:cNvPr id="28" name="Shape 26"/>
          <p:cNvSpPr/>
          <p:nvPr/>
        </p:nvSpPr>
        <p:spPr>
          <a:xfrm>
            <a:off x="457200" y="3712464"/>
            <a:ext cx="566928" cy="566928"/>
          </a:xfrm>
          <a:prstGeom prst="ellipse">
            <a:avLst/>
          </a:prstGeom>
          <a:solidFill>
            <a:srgbClr val="FF9259"/>
          </a:solidFill>
          <a:ln w="12700">
            <a:solidFill>
              <a:srgbClr val="FF9259"/>
            </a:solidFill>
            <a:prstDash val="solid"/>
          </a:ln>
        </p:spPr>
      </p:sp>
      <p:sp>
        <p:nvSpPr>
          <p:cNvPr id="29" name="Text 27"/>
          <p:cNvSpPr/>
          <p:nvPr/>
        </p:nvSpPr>
        <p:spPr>
          <a:xfrm>
            <a:off x="457200" y="371246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4</a:t>
            </a:r>
            <a:endParaRPr lang="en-US" sz="2000" dirty="0"/>
          </a:p>
        </p:txBody>
      </p:sp>
      <p:sp>
        <p:nvSpPr>
          <p:cNvPr id="30" name="Text 28"/>
          <p:cNvSpPr/>
          <p:nvPr/>
        </p:nvSpPr>
        <p:spPr>
          <a:xfrm>
            <a:off x="1188720" y="3712464"/>
            <a:ext cx="3017520" cy="566928"/>
          </a:xfrm>
          <a:prstGeom prst="rect">
            <a:avLst/>
          </a:prstGeom>
          <a:noFill/>
          <a:ln/>
        </p:spPr>
        <p:txBody>
          <a:bodyPr wrap="square" lIns="0" tIns="0" rIns="0" bIns="0" rtlCol="0" anchor="ctr"/>
          <a:lstStyle/>
          <a:p>
            <a:pPr algn="l" indent="0" marL="0">
              <a:buNone/>
            </a:pPr>
            <a:r>
              <a:rPr lang="en-US" sz="1600" b="1" dirty="0">
                <a:solidFill>
                  <a:srgbClr val="2B2633"/>
                </a:solidFill>
                <a:latin typeface="Alexandria" pitchFamily="34" charset="0"/>
                <a:ea typeface="Alexandria" pitchFamily="34" charset="-122"/>
                <a:cs typeface="Alexandria" pitchFamily="34" charset="-120"/>
              </a:rPr>
              <a:t>Tổng hợp &amp; báo cáo</a:t>
            </a:r>
            <a:endParaRPr lang="en-US" sz="1600" dirty="0"/>
          </a:p>
        </p:txBody>
      </p:sp>
      <p:sp>
        <p:nvSpPr>
          <p:cNvPr id="31" name="Text 29"/>
          <p:cNvSpPr/>
          <p:nvPr/>
        </p:nvSpPr>
        <p:spPr>
          <a:xfrm>
            <a:off x="4206240" y="3712464"/>
            <a:ext cx="4480560" cy="566928"/>
          </a:xfrm>
          <a:prstGeom prst="rect">
            <a:avLst/>
          </a:prstGeom>
          <a:noFill/>
          <a:ln/>
        </p:spPr>
        <p:txBody>
          <a:bodyPr wrap="square" lIns="0" tIns="0" rIns="0" bIns="0" rtlCol="0" anchor="ctr"/>
          <a:lstStyle/>
          <a:p>
            <a:pPr algn="l" indent="0" marL="0">
              <a:buNone/>
            </a:pPr>
            <a:r>
              <a:rPr lang="en-US" sz="1200" dirty="0">
                <a:solidFill>
                  <a:srgbClr val="3A3542"/>
                </a:solidFill>
                <a:latin typeface="Alexandria" pitchFamily="34" charset="0"/>
                <a:ea typeface="Alexandria" pitchFamily="34" charset="-122"/>
                <a:cs typeface="Alexandria" pitchFamily="34" charset="-120"/>
              </a:rPr>
              <a:t>Mã hóa dữ liệu · vai trò của AI · cấu trúc báo cáo · kể chuyện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Định lượng cho biết CÁI GÌ đang xảy ra; định tính khám phá TẠI SAO</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3</a:t>
            </a:r>
            <a:endParaRPr lang="en-US" sz="1000" dirty="0"/>
          </a:p>
        </p:txBody>
      </p:sp>
      <p:sp>
        <p:nvSpPr>
          <p:cNvPr id="13" name="Shape 11"/>
          <p:cNvSpPr/>
          <p:nvPr/>
        </p:nvSpPr>
        <p:spPr>
          <a:xfrm>
            <a:off x="457200" y="1417320"/>
            <a:ext cx="4023360" cy="2286000"/>
          </a:xfrm>
          <a:prstGeom prst="roundRect">
            <a:avLst>
              <a:gd name="adj" fmla="val 3200"/>
            </a:avLst>
          </a:prstGeom>
          <a:solidFill>
            <a:srgbClr val="FFFFFF"/>
          </a:solidFill>
          <a:ln w="12700">
            <a:solidFill>
              <a:srgbClr val="E6E2D6"/>
            </a:solidFill>
            <a:prstDash val="solid"/>
          </a:ln>
        </p:spPr>
      </p:sp>
      <p:sp>
        <p:nvSpPr>
          <p:cNvPr id="14" name="Shape 12"/>
          <p:cNvSpPr/>
          <p:nvPr/>
        </p:nvSpPr>
        <p:spPr>
          <a:xfrm>
            <a:off x="640080" y="1572768"/>
            <a:ext cx="822960" cy="822960"/>
          </a:xfrm>
          <a:prstGeom prst="ellipse">
            <a:avLst/>
          </a:prstGeom>
          <a:solidFill>
            <a:srgbClr val="09A1E5"/>
          </a:solidFill>
          <a:ln w="12700">
            <a:solidFill>
              <a:srgbClr val="09A1E5"/>
            </a:solidFill>
            <a:prstDash val="solid"/>
          </a:ln>
        </p:spPr>
      </p:sp>
      <p:sp>
        <p:nvSpPr>
          <p:cNvPr id="15" name="Text 13"/>
          <p:cNvSpPr/>
          <p:nvPr/>
        </p:nvSpPr>
        <p:spPr>
          <a:xfrm>
            <a:off x="640080" y="1572768"/>
            <a:ext cx="822960" cy="822960"/>
          </a:xfrm>
          <a:prstGeom prst="rect">
            <a:avLst/>
          </a:prstGeom>
          <a:noFill/>
          <a:ln/>
        </p:spPr>
        <p:txBody>
          <a:bodyPr wrap="square" lIns="0" tIns="0" rIns="0" bIns="0" rtlCol="0" anchor="ctr"/>
          <a:lstStyle/>
          <a:p>
            <a:pPr algn="ctr" indent="0" marL="0">
              <a:buNone/>
            </a:pPr>
            <a:r>
              <a:rPr lang="en-US" sz="1050" b="1" dirty="0">
                <a:solidFill>
                  <a:srgbClr val="FFFFFF"/>
                </a:solidFill>
                <a:latin typeface="Alexandria" pitchFamily="34" charset="0"/>
                <a:ea typeface="Alexandria" pitchFamily="34" charset="-122"/>
                <a:cs typeface="Alexandria" pitchFamily="34" charset="-120"/>
              </a:rPr>
              <a:t>CÁI GÌ?</a:t>
            </a:r>
            <a:endParaRPr lang="en-US" sz="1050" dirty="0"/>
          </a:p>
        </p:txBody>
      </p:sp>
      <p:sp>
        <p:nvSpPr>
          <p:cNvPr id="16" name="Text 14"/>
          <p:cNvSpPr/>
          <p:nvPr/>
        </p:nvSpPr>
        <p:spPr>
          <a:xfrm>
            <a:off x="1600200" y="1572768"/>
            <a:ext cx="2743200" cy="822960"/>
          </a:xfrm>
          <a:prstGeom prst="rect">
            <a:avLst/>
          </a:prstGeom>
          <a:noFill/>
          <a:ln/>
        </p:spPr>
        <p:txBody>
          <a:bodyPr wrap="square" lIns="0" tIns="0" rIns="0" bIns="0" rtlCol="0" anchor="ctr"/>
          <a:lstStyle/>
          <a:p>
            <a:pPr algn="l" indent="0" marL="0">
              <a:buNone/>
            </a:pPr>
            <a:r>
              <a:rPr lang="en-US" sz="1800" b="1" dirty="0">
                <a:solidFill>
                  <a:srgbClr val="09A1E5"/>
                </a:solidFill>
                <a:latin typeface="Alexandria" pitchFamily="34" charset="0"/>
                <a:ea typeface="Alexandria" pitchFamily="34" charset="-122"/>
                <a:cs typeface="Alexandria" pitchFamily="34" charset="-120"/>
              </a:rPr>
              <a:t>Định lượng</a:t>
            </a:r>
            <a:endParaRPr lang="en-US" sz="1800" dirty="0"/>
          </a:p>
        </p:txBody>
      </p:sp>
      <p:sp>
        <p:nvSpPr>
          <p:cNvPr id="17" name="Text 15"/>
          <p:cNvSpPr/>
          <p:nvPr/>
        </p:nvSpPr>
        <p:spPr>
          <a:xfrm>
            <a:off x="594360" y="2514600"/>
            <a:ext cx="3749040" cy="11430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3542"/>
                </a:solidFill>
                <a:latin typeface="Alexandria" pitchFamily="34" charset="0"/>
                <a:ea typeface="Alexandria" pitchFamily="34" charset="-122"/>
                <a:cs typeface="Alexandria" pitchFamily="34" charset="-120"/>
              </a:rPr>
              <a:t>Khảo sát, phân tích từ khóa, analytics, nghiên cứu quy mô lớn</a:t>
            </a:r>
            <a:endParaRPr lang="en-US" sz="1200" dirty="0"/>
          </a:p>
          <a:p>
            <a:pPr marL="152400" indent="-152400">
              <a:spcAft>
                <a:spcPts val="400"/>
              </a:spcAft>
              <a:buSzPct val="100000"/>
              <a:buChar char="•"/>
            </a:pPr>
            <a:r>
              <a:rPr lang="en-US" sz="1200" dirty="0">
                <a:solidFill>
                  <a:srgbClr val="3A3542"/>
                </a:solidFill>
                <a:latin typeface="Alexandria" pitchFamily="34" charset="0"/>
                <a:ea typeface="Alexandria" pitchFamily="34" charset="-122"/>
                <a:cs typeface="Alexandria" pitchFamily="34" charset="-120"/>
              </a:rPr>
              <a:t>Doanh số, lưu lượng khách, tốc độ bán hàng</a:t>
            </a:r>
            <a:endParaRPr lang="en-US" sz="1200" dirty="0"/>
          </a:p>
          <a:p>
            <a:pPr marL="152400" indent="-152400">
              <a:spcAft>
                <a:spcPts val="400"/>
              </a:spcAft>
              <a:buSzPct val="100000"/>
              <a:buChar char="•"/>
            </a:pPr>
            <a:r>
              <a:rPr lang="en-US" sz="1200" dirty="0">
                <a:solidFill>
                  <a:srgbClr val="3A3542"/>
                </a:solidFill>
                <a:latin typeface="Alexandria" pitchFamily="34" charset="0"/>
                <a:ea typeface="Alexandria" pitchFamily="34" charset="-122"/>
                <a:cs typeface="Alexandria" pitchFamily="34" charset="-120"/>
              </a:rPr>
              <a:t>Gọn trong vài biểu đồ, dễ trình bày</a:t>
            </a:r>
            <a:endParaRPr lang="en-US" sz="1200" dirty="0"/>
          </a:p>
        </p:txBody>
      </p:sp>
      <p:sp>
        <p:nvSpPr>
          <p:cNvPr id="18" name="Shape 16"/>
          <p:cNvSpPr/>
          <p:nvPr/>
        </p:nvSpPr>
        <p:spPr>
          <a:xfrm>
            <a:off x="4663440" y="1417320"/>
            <a:ext cx="4023360" cy="2286000"/>
          </a:xfrm>
          <a:prstGeom prst="roundRect">
            <a:avLst>
              <a:gd name="adj" fmla="val 3200"/>
            </a:avLst>
          </a:prstGeom>
          <a:solidFill>
            <a:srgbClr val="FFFFFF"/>
          </a:solidFill>
          <a:ln w="12700">
            <a:solidFill>
              <a:srgbClr val="E6E2D6"/>
            </a:solidFill>
            <a:prstDash val="solid"/>
          </a:ln>
        </p:spPr>
      </p:sp>
      <p:sp>
        <p:nvSpPr>
          <p:cNvPr id="19" name="Shape 17"/>
          <p:cNvSpPr/>
          <p:nvPr/>
        </p:nvSpPr>
        <p:spPr>
          <a:xfrm>
            <a:off x="4846320" y="1572768"/>
            <a:ext cx="822960" cy="822960"/>
          </a:xfrm>
          <a:prstGeom prst="ellipse">
            <a:avLst/>
          </a:prstGeom>
          <a:solidFill>
            <a:srgbClr val="FF5178"/>
          </a:solidFill>
          <a:ln w="12700">
            <a:solidFill>
              <a:srgbClr val="FF5178"/>
            </a:solidFill>
            <a:prstDash val="solid"/>
          </a:ln>
        </p:spPr>
      </p:sp>
      <p:sp>
        <p:nvSpPr>
          <p:cNvPr id="20" name="Text 18"/>
          <p:cNvSpPr/>
          <p:nvPr/>
        </p:nvSpPr>
        <p:spPr>
          <a:xfrm>
            <a:off x="4846320" y="1572768"/>
            <a:ext cx="822960" cy="822960"/>
          </a:xfrm>
          <a:prstGeom prst="rect">
            <a:avLst/>
          </a:prstGeom>
          <a:noFill/>
          <a:ln/>
        </p:spPr>
        <p:txBody>
          <a:bodyPr wrap="square" lIns="0" tIns="0" rIns="0" bIns="0" rtlCol="0" anchor="ctr"/>
          <a:lstStyle/>
          <a:p>
            <a:pPr algn="ctr" indent="0" marL="0">
              <a:buNone/>
            </a:pPr>
            <a:r>
              <a:rPr lang="en-US" sz="1050" b="1" dirty="0">
                <a:solidFill>
                  <a:srgbClr val="FFFFFF"/>
                </a:solidFill>
                <a:latin typeface="Alexandria" pitchFamily="34" charset="0"/>
                <a:ea typeface="Alexandria" pitchFamily="34" charset="-122"/>
                <a:cs typeface="Alexandria" pitchFamily="34" charset="-120"/>
              </a:rPr>
              <a:t>TẠI SAO?</a:t>
            </a:r>
            <a:endParaRPr lang="en-US" sz="1050" dirty="0"/>
          </a:p>
        </p:txBody>
      </p:sp>
      <p:sp>
        <p:nvSpPr>
          <p:cNvPr id="21" name="Text 19"/>
          <p:cNvSpPr/>
          <p:nvPr/>
        </p:nvSpPr>
        <p:spPr>
          <a:xfrm>
            <a:off x="5806440" y="1572768"/>
            <a:ext cx="2743200" cy="822960"/>
          </a:xfrm>
          <a:prstGeom prst="rect">
            <a:avLst/>
          </a:prstGeom>
          <a:noFill/>
          <a:ln/>
        </p:spPr>
        <p:txBody>
          <a:bodyPr wrap="square" lIns="0" tIns="0" rIns="0" bIns="0" rtlCol="0" anchor="ctr"/>
          <a:lstStyle/>
          <a:p>
            <a:pPr algn="l" indent="0" marL="0">
              <a:buNone/>
            </a:pPr>
            <a:r>
              <a:rPr lang="en-US" sz="1800" b="1" dirty="0">
                <a:solidFill>
                  <a:srgbClr val="FF5178"/>
                </a:solidFill>
                <a:latin typeface="Alexandria" pitchFamily="34" charset="0"/>
                <a:ea typeface="Alexandria" pitchFamily="34" charset="-122"/>
                <a:cs typeface="Alexandria" pitchFamily="34" charset="-120"/>
              </a:rPr>
              <a:t>Định tính</a:t>
            </a:r>
            <a:endParaRPr lang="en-US" sz="1800" dirty="0"/>
          </a:p>
        </p:txBody>
      </p:sp>
      <p:sp>
        <p:nvSpPr>
          <p:cNvPr id="22" name="Text 20"/>
          <p:cNvSpPr/>
          <p:nvPr/>
        </p:nvSpPr>
        <p:spPr>
          <a:xfrm>
            <a:off x="4800600" y="2514600"/>
            <a:ext cx="3749040" cy="114300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3A3542"/>
                </a:solidFill>
                <a:latin typeface="Alexandria" pitchFamily="34" charset="0"/>
                <a:ea typeface="Alexandria" pitchFamily="34" charset="-122"/>
                <a:cs typeface="Alexandria" pitchFamily="34" charset="-120"/>
              </a:rPr>
              <a:t>Trò chuyện thật với khách hàng</a:t>
            </a:r>
            <a:endParaRPr lang="en-US" sz="1200" dirty="0"/>
          </a:p>
          <a:p>
            <a:pPr marL="152400" indent="-152400">
              <a:spcAft>
                <a:spcPts val="400"/>
              </a:spcAft>
              <a:buSzPct val="100000"/>
              <a:buChar char="•"/>
            </a:pPr>
            <a:r>
              <a:rPr lang="en-US" sz="1200" dirty="0">
                <a:solidFill>
                  <a:srgbClr val="3A3542"/>
                </a:solidFill>
                <a:latin typeface="Alexandria" pitchFamily="34" charset="0"/>
                <a:ea typeface="Alexandria" pitchFamily="34" charset="-122"/>
                <a:cs typeface="Alexandria" pitchFamily="34" charset="-120"/>
              </a:rPr>
              <a:t>Quan sát khách hàng trong bối cảnh thực</a:t>
            </a:r>
            <a:endParaRPr lang="en-US" sz="1200" dirty="0"/>
          </a:p>
          <a:p>
            <a:pPr marL="152400" indent="-152400">
              <a:spcAft>
                <a:spcPts val="400"/>
              </a:spcAft>
              <a:buSzPct val="100000"/>
              <a:buChar char="•"/>
            </a:pPr>
            <a:r>
              <a:rPr lang="en-US" sz="1200" dirty="0">
                <a:solidFill>
                  <a:srgbClr val="3A3542"/>
                </a:solidFill>
                <a:latin typeface="Alexandria" pitchFamily="34" charset="0"/>
                <a:ea typeface="Alexandria" pitchFamily="34" charset="-122"/>
                <a:cs typeface="Alexandria" pitchFamily="34" charset="-120"/>
              </a:rPr>
              <a:t>Đào sâu động cơ và rào cản ra quyết định</a:t>
            </a:r>
            <a:endParaRPr lang="en-US" sz="1200" dirty="0"/>
          </a:p>
        </p:txBody>
      </p:sp>
      <p:sp>
        <p:nvSpPr>
          <p:cNvPr id="23" name="Shape 21"/>
          <p:cNvSpPr/>
          <p:nvPr/>
        </p:nvSpPr>
        <p:spPr>
          <a:xfrm>
            <a:off x="457200" y="3840480"/>
            <a:ext cx="8229600" cy="594360"/>
          </a:xfrm>
          <a:prstGeom prst="roundRect">
            <a:avLst>
              <a:gd name="adj" fmla="val 12308"/>
            </a:avLst>
          </a:prstGeom>
          <a:solidFill>
            <a:srgbClr val="FFD23B"/>
          </a:solidFill>
          <a:ln w="12700">
            <a:solidFill>
              <a:srgbClr val="FFD23B"/>
            </a:solidFill>
            <a:prstDash val="solid"/>
          </a:ln>
        </p:spPr>
      </p:sp>
      <p:sp>
        <p:nvSpPr>
          <p:cNvPr id="24" name="Text 22"/>
          <p:cNvSpPr/>
          <p:nvPr/>
        </p:nvSpPr>
        <p:spPr>
          <a:xfrm>
            <a:off x="640080" y="3840480"/>
            <a:ext cx="7863840" cy="594360"/>
          </a:xfrm>
          <a:prstGeom prst="rect">
            <a:avLst/>
          </a:prstGeom>
          <a:noFill/>
          <a:ln/>
        </p:spPr>
        <p:txBody>
          <a:bodyPr wrap="square" lIns="0" tIns="0" rIns="0" bIns="0" rtlCol="0" anchor="ctr"/>
          <a:lstStyle/>
          <a:p>
            <a:pPr indent="0" marL="0">
              <a:buNone/>
            </a:pPr>
            <a:r>
              <a:rPr lang="en-US" sz="1150" b="1" dirty="0">
                <a:solidFill>
                  <a:srgbClr val="2B2633"/>
                </a:solidFill>
                <a:latin typeface="Alexandria" pitchFamily="34" charset="0"/>
                <a:ea typeface="Alexandria" pitchFamily="34" charset="-122"/>
                <a:cs typeface="Alexandria" pitchFamily="34" charset="-120"/>
              </a:rPr>
              <a:t>Ví dụ: </a:t>
            </a:r>
            <a:pPr indent="0" marL="0">
              <a:buNone/>
            </a:pPr>
            <a:r>
              <a:rPr lang="en-US" sz="1150" dirty="0">
                <a:solidFill>
                  <a:srgbClr val="2B2633"/>
                </a:solidFill>
                <a:latin typeface="Alexandria" pitchFamily="34" charset="0"/>
                <a:ea typeface="Alexandria" pitchFamily="34" charset="-122"/>
                <a:cs typeface="Alexandria" pitchFamily="34" charset="-120"/>
              </a:rPr>
              <a:t>Hiệp hội siêu thị có rất nhiều số liệu nhưng vẫn hỏi: vì sao Gen Z là nhóm duy nhất mua ít bánh mì tươi hơn? Muốn biết câu trả lời thì cần định tính.</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Năm mục tiêu nghiên cứu mà phương pháp định tính là lựa chọn tốt nhất</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4</a:t>
            </a:r>
            <a:endParaRPr lang="en-US" sz="1000" dirty="0"/>
          </a:p>
        </p:txBody>
      </p:sp>
      <p:sp>
        <p:nvSpPr>
          <p:cNvPr id="13" name="Shape 11"/>
          <p:cNvSpPr/>
          <p:nvPr/>
        </p:nvSpPr>
        <p:spPr>
          <a:xfrm>
            <a:off x="457200" y="1417320"/>
            <a:ext cx="1517904" cy="2971800"/>
          </a:xfrm>
          <a:prstGeom prst="roundRect">
            <a:avLst>
              <a:gd name="adj" fmla="val 4819"/>
            </a:avLst>
          </a:prstGeom>
          <a:solidFill>
            <a:srgbClr val="FFFFFF"/>
          </a:solidFill>
          <a:ln w="12700">
            <a:solidFill>
              <a:srgbClr val="E6E2D6"/>
            </a:solidFill>
            <a:prstDash val="solid"/>
          </a:ln>
        </p:spPr>
      </p:sp>
      <p:sp>
        <p:nvSpPr>
          <p:cNvPr id="14" name="Shape 12"/>
          <p:cNvSpPr/>
          <p:nvPr/>
        </p:nvSpPr>
        <p:spPr>
          <a:xfrm>
            <a:off x="621792" y="1600200"/>
            <a:ext cx="502920" cy="502920"/>
          </a:xfrm>
          <a:prstGeom prst="ellipse">
            <a:avLst/>
          </a:prstGeom>
          <a:solidFill>
            <a:srgbClr val="FF5178"/>
          </a:solidFill>
          <a:ln w="12700">
            <a:solidFill>
              <a:srgbClr val="FF5178"/>
            </a:solidFill>
            <a:prstDash val="solid"/>
          </a:ln>
        </p:spPr>
      </p:sp>
      <p:sp>
        <p:nvSpPr>
          <p:cNvPr id="15" name="Text 13"/>
          <p:cNvSpPr/>
          <p:nvPr/>
        </p:nvSpPr>
        <p:spPr>
          <a:xfrm>
            <a:off x="621792" y="16002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1</a:t>
            </a:r>
            <a:endParaRPr lang="en-US" sz="1700" dirty="0"/>
          </a:p>
        </p:txBody>
      </p:sp>
      <p:sp>
        <p:nvSpPr>
          <p:cNvPr id="16" name="Text 14"/>
          <p:cNvSpPr/>
          <p:nvPr/>
        </p:nvSpPr>
        <p:spPr>
          <a:xfrm>
            <a:off x="621792" y="2240280"/>
            <a:ext cx="1243584" cy="365760"/>
          </a:xfrm>
          <a:prstGeom prst="rect">
            <a:avLst/>
          </a:prstGeom>
          <a:noFill/>
          <a:ln/>
        </p:spPr>
        <p:txBody>
          <a:bodyPr wrap="square" lIns="0" tIns="0" rIns="0" bIns="0" rtlCol="0" anchor="t"/>
          <a:lstStyle/>
          <a:p>
            <a:pPr algn="l" indent="0" marL="0">
              <a:buNone/>
            </a:pPr>
            <a:r>
              <a:rPr lang="en-US" sz="1400" b="1" dirty="0">
                <a:solidFill>
                  <a:srgbClr val="FF5178"/>
                </a:solidFill>
                <a:latin typeface="Alexandria" pitchFamily="34" charset="0"/>
                <a:ea typeface="Alexandria" pitchFamily="34" charset="-122"/>
                <a:cs typeface="Alexandria" pitchFamily="34" charset="-120"/>
              </a:rPr>
              <a:t>Động cơ</a:t>
            </a:r>
            <a:endParaRPr lang="en-US" sz="1400" dirty="0"/>
          </a:p>
        </p:txBody>
      </p:sp>
      <p:sp>
        <p:nvSpPr>
          <p:cNvPr id="17" name="Text 15"/>
          <p:cNvSpPr/>
          <p:nvPr/>
        </p:nvSpPr>
        <p:spPr>
          <a:xfrm>
            <a:off x="621792" y="2651760"/>
            <a:ext cx="1243584" cy="16459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Gen Z ít mua bánh tươi vì thấy bất tiện: mua cho 1–2 người, sợ ăn không hết</a:t>
            </a:r>
            <a:endParaRPr lang="en-US" sz="1100" dirty="0"/>
          </a:p>
        </p:txBody>
      </p:sp>
      <p:sp>
        <p:nvSpPr>
          <p:cNvPr id="18" name="Shape 16"/>
          <p:cNvSpPr/>
          <p:nvPr/>
        </p:nvSpPr>
        <p:spPr>
          <a:xfrm>
            <a:off x="2135124" y="1417320"/>
            <a:ext cx="1517904" cy="2971800"/>
          </a:xfrm>
          <a:prstGeom prst="roundRect">
            <a:avLst>
              <a:gd name="adj" fmla="val 4819"/>
            </a:avLst>
          </a:prstGeom>
          <a:solidFill>
            <a:srgbClr val="FFFFFF"/>
          </a:solidFill>
          <a:ln w="12700">
            <a:solidFill>
              <a:srgbClr val="E6E2D6"/>
            </a:solidFill>
            <a:prstDash val="solid"/>
          </a:ln>
        </p:spPr>
      </p:sp>
      <p:sp>
        <p:nvSpPr>
          <p:cNvPr id="19" name="Shape 17"/>
          <p:cNvSpPr/>
          <p:nvPr/>
        </p:nvSpPr>
        <p:spPr>
          <a:xfrm>
            <a:off x="2299716" y="1600200"/>
            <a:ext cx="502920" cy="502920"/>
          </a:xfrm>
          <a:prstGeom prst="ellipse">
            <a:avLst/>
          </a:prstGeom>
          <a:solidFill>
            <a:srgbClr val="FF9259"/>
          </a:solidFill>
          <a:ln w="12700">
            <a:solidFill>
              <a:srgbClr val="FF9259"/>
            </a:solidFill>
            <a:prstDash val="solid"/>
          </a:ln>
        </p:spPr>
      </p:sp>
      <p:sp>
        <p:nvSpPr>
          <p:cNvPr id="20" name="Text 18"/>
          <p:cNvSpPr/>
          <p:nvPr/>
        </p:nvSpPr>
        <p:spPr>
          <a:xfrm>
            <a:off x="2299716" y="16002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2</a:t>
            </a:r>
            <a:endParaRPr lang="en-US" sz="1700" dirty="0"/>
          </a:p>
        </p:txBody>
      </p:sp>
      <p:sp>
        <p:nvSpPr>
          <p:cNvPr id="21" name="Text 19"/>
          <p:cNvSpPr/>
          <p:nvPr/>
        </p:nvSpPr>
        <p:spPr>
          <a:xfrm>
            <a:off x="2299716" y="2240280"/>
            <a:ext cx="1243584" cy="365760"/>
          </a:xfrm>
          <a:prstGeom prst="rect">
            <a:avLst/>
          </a:prstGeom>
          <a:noFill/>
          <a:ln/>
        </p:spPr>
        <p:txBody>
          <a:bodyPr wrap="square" lIns="0" tIns="0" rIns="0" bIns="0" rtlCol="0" anchor="t"/>
          <a:lstStyle/>
          <a:p>
            <a:pPr algn="l" indent="0" marL="0">
              <a:buNone/>
            </a:pPr>
            <a:r>
              <a:rPr lang="en-US" sz="1400" b="1" dirty="0">
                <a:solidFill>
                  <a:srgbClr val="FF9259"/>
                </a:solidFill>
                <a:latin typeface="Alexandria" pitchFamily="34" charset="0"/>
                <a:ea typeface="Alexandria" pitchFamily="34" charset="-122"/>
                <a:cs typeface="Alexandria" pitchFamily="34" charset="-120"/>
              </a:rPr>
              <a:t>Rào cản</a:t>
            </a:r>
            <a:endParaRPr lang="en-US" sz="1400" dirty="0"/>
          </a:p>
        </p:txBody>
      </p:sp>
      <p:sp>
        <p:nvSpPr>
          <p:cNvPr id="22" name="Text 20"/>
          <p:cNvSpPr/>
          <p:nvPr/>
        </p:nvSpPr>
        <p:spPr>
          <a:xfrm>
            <a:off x="2299716" y="2651760"/>
            <a:ext cx="1243584" cy="16459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Quầy bánh nằm khuất trong góc nên ít người nhìn thấy</a:t>
            </a:r>
            <a:endParaRPr lang="en-US" sz="1100" dirty="0"/>
          </a:p>
        </p:txBody>
      </p:sp>
      <p:sp>
        <p:nvSpPr>
          <p:cNvPr id="23" name="Shape 21"/>
          <p:cNvSpPr/>
          <p:nvPr/>
        </p:nvSpPr>
        <p:spPr>
          <a:xfrm>
            <a:off x="3813048" y="1417320"/>
            <a:ext cx="1517904" cy="2971800"/>
          </a:xfrm>
          <a:prstGeom prst="roundRect">
            <a:avLst>
              <a:gd name="adj" fmla="val 4819"/>
            </a:avLst>
          </a:prstGeom>
          <a:solidFill>
            <a:srgbClr val="FFFFFF"/>
          </a:solidFill>
          <a:ln w="12700">
            <a:solidFill>
              <a:srgbClr val="E6E2D6"/>
            </a:solidFill>
            <a:prstDash val="solid"/>
          </a:ln>
        </p:spPr>
      </p:sp>
      <p:sp>
        <p:nvSpPr>
          <p:cNvPr id="24" name="Shape 22"/>
          <p:cNvSpPr/>
          <p:nvPr/>
        </p:nvSpPr>
        <p:spPr>
          <a:xfrm>
            <a:off x="3977640" y="1600200"/>
            <a:ext cx="502920" cy="502920"/>
          </a:xfrm>
          <a:prstGeom prst="ellipse">
            <a:avLst/>
          </a:prstGeom>
          <a:solidFill>
            <a:srgbClr val="FFD23B"/>
          </a:solidFill>
          <a:ln w="12700">
            <a:solidFill>
              <a:srgbClr val="FFD23B"/>
            </a:solidFill>
            <a:prstDash val="solid"/>
          </a:ln>
        </p:spPr>
      </p:sp>
      <p:sp>
        <p:nvSpPr>
          <p:cNvPr id="25" name="Text 23"/>
          <p:cNvSpPr/>
          <p:nvPr/>
        </p:nvSpPr>
        <p:spPr>
          <a:xfrm>
            <a:off x="3977640" y="1600200"/>
            <a:ext cx="502920" cy="502920"/>
          </a:xfrm>
          <a:prstGeom prst="rect">
            <a:avLst/>
          </a:prstGeom>
          <a:noFill/>
          <a:ln/>
        </p:spPr>
        <p:txBody>
          <a:bodyPr wrap="square" lIns="0" tIns="0" rIns="0" bIns="0" rtlCol="0" anchor="ctr"/>
          <a:lstStyle/>
          <a:p>
            <a:pPr algn="ctr" indent="0" marL="0">
              <a:buNone/>
            </a:pPr>
            <a:r>
              <a:rPr lang="en-US" sz="1700" b="1" dirty="0">
                <a:solidFill>
                  <a:srgbClr val="2B2633"/>
                </a:solidFill>
                <a:latin typeface="Alexandria" pitchFamily="34" charset="0"/>
                <a:ea typeface="Alexandria" pitchFamily="34" charset="-122"/>
                <a:cs typeface="Alexandria" pitchFamily="34" charset="-120"/>
              </a:rPr>
              <a:t>3</a:t>
            </a:r>
            <a:endParaRPr lang="en-US" sz="1700" dirty="0"/>
          </a:p>
        </p:txBody>
      </p:sp>
      <p:sp>
        <p:nvSpPr>
          <p:cNvPr id="26" name="Text 24"/>
          <p:cNvSpPr/>
          <p:nvPr/>
        </p:nvSpPr>
        <p:spPr>
          <a:xfrm>
            <a:off x="3977640" y="2240280"/>
            <a:ext cx="1243584" cy="365760"/>
          </a:xfrm>
          <a:prstGeom prst="rect">
            <a:avLst/>
          </a:prstGeom>
          <a:noFill/>
          <a:ln/>
        </p:spPr>
        <p:txBody>
          <a:bodyPr wrap="square" lIns="0" tIns="0" rIns="0" bIns="0" rtlCol="0" anchor="t"/>
          <a:lstStyle/>
          <a:p>
            <a:pPr algn="l" indent="0" marL="0">
              <a:buNone/>
            </a:pPr>
            <a:r>
              <a:rPr lang="en-US" sz="1400" b="1" dirty="0">
                <a:solidFill>
                  <a:srgbClr val="2B2633"/>
                </a:solidFill>
                <a:latin typeface="Alexandria" pitchFamily="34" charset="0"/>
                <a:ea typeface="Alexandria" pitchFamily="34" charset="-122"/>
                <a:cs typeface="Alexandria" pitchFamily="34" charset="-120"/>
              </a:rPr>
              <a:t>Xu hướng</a:t>
            </a:r>
            <a:endParaRPr lang="en-US" sz="1400" dirty="0"/>
          </a:p>
        </p:txBody>
      </p:sp>
      <p:sp>
        <p:nvSpPr>
          <p:cNvPr id="27" name="Text 25"/>
          <p:cNvSpPr/>
          <p:nvPr/>
        </p:nvSpPr>
        <p:spPr>
          <a:xfrm>
            <a:off x="3977640" y="2651760"/>
            <a:ext cx="1243584" cy="16459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Phô mai đặc sản bán chạy vì khách tụ tập ở nhà nhiều hơn khi nhà hàng đắt đỏ</a:t>
            </a:r>
            <a:endParaRPr lang="en-US" sz="1100" dirty="0"/>
          </a:p>
        </p:txBody>
      </p:sp>
      <p:sp>
        <p:nvSpPr>
          <p:cNvPr id="28" name="Shape 26"/>
          <p:cNvSpPr/>
          <p:nvPr/>
        </p:nvSpPr>
        <p:spPr>
          <a:xfrm>
            <a:off x="5490972" y="1417320"/>
            <a:ext cx="1517904" cy="2971800"/>
          </a:xfrm>
          <a:prstGeom prst="roundRect">
            <a:avLst>
              <a:gd name="adj" fmla="val 4819"/>
            </a:avLst>
          </a:prstGeom>
          <a:solidFill>
            <a:srgbClr val="FFFFFF"/>
          </a:solidFill>
          <a:ln w="12700">
            <a:solidFill>
              <a:srgbClr val="E6E2D6"/>
            </a:solidFill>
            <a:prstDash val="solid"/>
          </a:ln>
        </p:spPr>
      </p:sp>
      <p:sp>
        <p:nvSpPr>
          <p:cNvPr id="29" name="Shape 27"/>
          <p:cNvSpPr/>
          <p:nvPr/>
        </p:nvSpPr>
        <p:spPr>
          <a:xfrm>
            <a:off x="5655564" y="1600200"/>
            <a:ext cx="502920" cy="502920"/>
          </a:xfrm>
          <a:prstGeom prst="ellipse">
            <a:avLst/>
          </a:prstGeom>
          <a:solidFill>
            <a:srgbClr val="49B296"/>
          </a:solidFill>
          <a:ln w="12700">
            <a:solidFill>
              <a:srgbClr val="49B296"/>
            </a:solidFill>
            <a:prstDash val="solid"/>
          </a:ln>
        </p:spPr>
      </p:sp>
      <p:sp>
        <p:nvSpPr>
          <p:cNvPr id="30" name="Text 28"/>
          <p:cNvSpPr/>
          <p:nvPr/>
        </p:nvSpPr>
        <p:spPr>
          <a:xfrm>
            <a:off x="5655564" y="16002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4</a:t>
            </a:r>
            <a:endParaRPr lang="en-US" sz="1700" dirty="0"/>
          </a:p>
        </p:txBody>
      </p:sp>
      <p:sp>
        <p:nvSpPr>
          <p:cNvPr id="31" name="Text 29"/>
          <p:cNvSpPr/>
          <p:nvPr/>
        </p:nvSpPr>
        <p:spPr>
          <a:xfrm>
            <a:off x="5655564" y="2240280"/>
            <a:ext cx="1243584" cy="365760"/>
          </a:xfrm>
          <a:prstGeom prst="rect">
            <a:avLst/>
          </a:prstGeom>
          <a:noFill/>
          <a:ln/>
        </p:spPr>
        <p:txBody>
          <a:bodyPr wrap="square" lIns="0" tIns="0" rIns="0" bIns="0" rtlCol="0" anchor="t"/>
          <a:lstStyle/>
          <a:p>
            <a:pPr algn="l" indent="0" marL="0">
              <a:buNone/>
            </a:pPr>
            <a:r>
              <a:rPr lang="en-US" sz="1400" b="1" dirty="0">
                <a:solidFill>
                  <a:srgbClr val="49B296"/>
                </a:solidFill>
                <a:latin typeface="Alexandria" pitchFamily="34" charset="0"/>
                <a:ea typeface="Alexandria" pitchFamily="34" charset="-122"/>
                <a:cs typeface="Alexandria" pitchFamily="34" charset="-120"/>
              </a:rPr>
              <a:t>Cơ hội mới</a:t>
            </a:r>
            <a:endParaRPr lang="en-US" sz="1400" dirty="0"/>
          </a:p>
        </p:txBody>
      </p:sp>
      <p:sp>
        <p:nvSpPr>
          <p:cNvPr id="32" name="Text 30"/>
          <p:cNvSpPr/>
          <p:nvPr/>
        </p:nvSpPr>
        <p:spPr>
          <a:xfrm>
            <a:off x="5655564" y="2651760"/>
            <a:ext cx="1243584" cy="16459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Siêu thị gần khu văn phòng thiếu lựa chọn bữa trưa nhanh, lành mạnh</a:t>
            </a:r>
            <a:endParaRPr lang="en-US" sz="1100" dirty="0"/>
          </a:p>
        </p:txBody>
      </p:sp>
      <p:sp>
        <p:nvSpPr>
          <p:cNvPr id="33" name="Shape 31"/>
          <p:cNvSpPr/>
          <p:nvPr/>
        </p:nvSpPr>
        <p:spPr>
          <a:xfrm>
            <a:off x="7168896" y="1417320"/>
            <a:ext cx="1517904" cy="2971800"/>
          </a:xfrm>
          <a:prstGeom prst="roundRect">
            <a:avLst>
              <a:gd name="adj" fmla="val 4819"/>
            </a:avLst>
          </a:prstGeom>
          <a:solidFill>
            <a:srgbClr val="FFFFFF"/>
          </a:solidFill>
          <a:ln w="12700">
            <a:solidFill>
              <a:srgbClr val="E6E2D6"/>
            </a:solidFill>
            <a:prstDash val="solid"/>
          </a:ln>
        </p:spPr>
      </p:sp>
      <p:sp>
        <p:nvSpPr>
          <p:cNvPr id="34" name="Shape 32"/>
          <p:cNvSpPr/>
          <p:nvPr/>
        </p:nvSpPr>
        <p:spPr>
          <a:xfrm>
            <a:off x="7333488" y="1600200"/>
            <a:ext cx="502920" cy="502920"/>
          </a:xfrm>
          <a:prstGeom prst="ellipse">
            <a:avLst/>
          </a:prstGeom>
          <a:solidFill>
            <a:srgbClr val="09A1E5"/>
          </a:solidFill>
          <a:ln w="12700">
            <a:solidFill>
              <a:srgbClr val="09A1E5"/>
            </a:solidFill>
            <a:prstDash val="solid"/>
          </a:ln>
        </p:spPr>
      </p:sp>
      <p:sp>
        <p:nvSpPr>
          <p:cNvPr id="35" name="Text 33"/>
          <p:cNvSpPr/>
          <p:nvPr/>
        </p:nvSpPr>
        <p:spPr>
          <a:xfrm>
            <a:off x="7333488" y="16002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5</a:t>
            </a:r>
            <a:endParaRPr lang="en-US" sz="1700" dirty="0"/>
          </a:p>
        </p:txBody>
      </p:sp>
      <p:sp>
        <p:nvSpPr>
          <p:cNvPr id="36" name="Text 34"/>
          <p:cNvSpPr/>
          <p:nvPr/>
        </p:nvSpPr>
        <p:spPr>
          <a:xfrm>
            <a:off x="7333488" y="2240280"/>
            <a:ext cx="1243584" cy="365760"/>
          </a:xfrm>
          <a:prstGeom prst="rect">
            <a:avLst/>
          </a:prstGeom>
          <a:noFill/>
          <a:ln/>
        </p:spPr>
        <p:txBody>
          <a:bodyPr wrap="square" lIns="0" tIns="0" rIns="0" bIns="0" rtlCol="0" anchor="t"/>
          <a:lstStyle/>
          <a:p>
            <a:pPr algn="l" indent="0" marL="0">
              <a:buNone/>
            </a:pPr>
            <a:r>
              <a:rPr lang="en-US" sz="1400" b="1" dirty="0">
                <a:solidFill>
                  <a:srgbClr val="09A1E5"/>
                </a:solidFill>
                <a:latin typeface="Alexandria" pitchFamily="34" charset="0"/>
                <a:ea typeface="Alexandria" pitchFamily="34" charset="-122"/>
                <a:cs typeface="Alexandria" pitchFamily="34" charset="-120"/>
              </a:rPr>
              <a:t>Sản phẩm mới</a:t>
            </a:r>
            <a:endParaRPr lang="en-US" sz="1400" dirty="0"/>
          </a:p>
        </p:txBody>
      </p:sp>
      <p:sp>
        <p:nvSpPr>
          <p:cNvPr id="37" name="Text 35"/>
          <p:cNvSpPr/>
          <p:nvPr/>
        </p:nvSpPr>
        <p:spPr>
          <a:xfrm>
            <a:off x="7333488" y="2651760"/>
            <a:ext cx="1243584" cy="16459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Thử khái niệm “hộp charcuterie” hoặc app đặt đồ ăn vặt trước khi đầu tư</a:t>
            </a:r>
            <a:endParaRPr lang="en-US" sz="1100" dirty="0"/>
          </a:p>
        </p:txBody>
      </p:sp>
      <p:sp>
        <p:nvSpPr>
          <p:cNvPr id="38" name="Text 36"/>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Các ví dụ đều lấy từ một chuỗi siêu thị bán lẻ.</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Đo nhiều biến hơn không có nghĩa là chính xác hơn: tương quan giả luôn có thể xuất hiện</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5</a:t>
            </a:r>
            <a:endParaRPr lang="en-US" sz="1000" dirty="0"/>
          </a:p>
        </p:txBody>
      </p:sp>
      <p:sp>
        <p:nvSpPr>
          <p:cNvPr id="13" name="Text 11"/>
          <p:cNvSpPr/>
          <p:nvPr/>
        </p:nvSpPr>
        <p:spPr>
          <a:xfrm>
            <a:off x="457200" y="1463040"/>
            <a:ext cx="1280160" cy="731520"/>
          </a:xfrm>
          <a:prstGeom prst="rect">
            <a:avLst/>
          </a:prstGeom>
          <a:noFill/>
          <a:ln/>
        </p:spPr>
        <p:txBody>
          <a:bodyPr wrap="square" lIns="0" tIns="0" rIns="0" bIns="0" rtlCol="0" anchor="ctr"/>
          <a:lstStyle/>
          <a:p>
            <a:pPr algn="ctr" indent="0" marL="0">
              <a:buNone/>
            </a:pPr>
            <a:r>
              <a:rPr lang="en-US" sz="3600" b="1" dirty="0">
                <a:solidFill>
                  <a:srgbClr val="09A1E5"/>
                </a:solidFill>
                <a:latin typeface="Alexandria" pitchFamily="34" charset="0"/>
                <a:ea typeface="Alexandria" pitchFamily="34" charset="-122"/>
                <a:cs typeface="Alexandria" pitchFamily="34" charset="-120"/>
              </a:rPr>
              <a:t>7</a:t>
            </a:r>
            <a:endParaRPr lang="en-US" sz="3600" dirty="0"/>
          </a:p>
        </p:txBody>
      </p:sp>
      <p:sp>
        <p:nvSpPr>
          <p:cNvPr id="14" name="Text 12"/>
          <p:cNvSpPr/>
          <p:nvPr/>
        </p:nvSpPr>
        <p:spPr>
          <a:xfrm>
            <a:off x="457200" y="2194560"/>
            <a:ext cx="1280160" cy="548640"/>
          </a:xfrm>
          <a:prstGeom prst="rect">
            <a:avLst/>
          </a:prstGeom>
          <a:noFill/>
          <a:ln/>
        </p:spPr>
        <p:txBody>
          <a:bodyPr wrap="square" lIns="0" tIns="0" rIns="0" bIns="0" rtlCol="0" anchor="t"/>
          <a:lstStyle/>
          <a:p>
            <a:pPr algn="ctr" indent="0" marL="0">
              <a:buNone/>
            </a:pPr>
            <a:r>
              <a:rPr lang="en-US" sz="1100" dirty="0">
                <a:solidFill>
                  <a:srgbClr val="3A3542"/>
                </a:solidFill>
                <a:latin typeface="Alexandria" pitchFamily="34" charset="0"/>
                <a:ea typeface="Alexandria" pitchFamily="34" charset="-122"/>
                <a:cs typeface="Alexandria" pitchFamily="34" charset="-120"/>
              </a:rPr>
              <a:t>chỉ số được đo</a:t>
            </a:r>
            <a:endParaRPr lang="en-US" sz="1100" dirty="0"/>
          </a:p>
        </p:txBody>
      </p:sp>
      <p:sp>
        <p:nvSpPr>
          <p:cNvPr id="15" name="Text 13"/>
          <p:cNvSpPr/>
          <p:nvPr/>
        </p:nvSpPr>
        <p:spPr>
          <a:xfrm>
            <a:off x="1691640" y="1463040"/>
            <a:ext cx="228600" cy="731520"/>
          </a:xfrm>
          <a:prstGeom prst="rect">
            <a:avLst/>
          </a:prstGeom>
          <a:noFill/>
          <a:ln/>
        </p:spPr>
        <p:txBody>
          <a:bodyPr wrap="square" lIns="0" tIns="0" rIns="0" bIns="0" rtlCol="0" anchor="ctr"/>
          <a:lstStyle/>
          <a:p>
            <a:pPr algn="ctr" indent="0" marL="0">
              <a:buNone/>
            </a:pPr>
            <a:r>
              <a:rPr lang="en-US" sz="2200" dirty="0">
                <a:solidFill>
                  <a:srgbClr val="7A7480"/>
                </a:solidFill>
                <a:latin typeface="Alexandria" pitchFamily="34" charset="0"/>
                <a:ea typeface="Alexandria" pitchFamily="34" charset="-122"/>
                <a:cs typeface="Alexandria" pitchFamily="34" charset="-120"/>
              </a:rPr>
              <a:t>→</a:t>
            </a:r>
            <a:endParaRPr lang="en-US" sz="2200" dirty="0"/>
          </a:p>
        </p:txBody>
      </p:sp>
      <p:sp>
        <p:nvSpPr>
          <p:cNvPr id="16" name="Text 14"/>
          <p:cNvSpPr/>
          <p:nvPr/>
        </p:nvSpPr>
        <p:spPr>
          <a:xfrm>
            <a:off x="1874520" y="1463040"/>
            <a:ext cx="1280160" cy="731520"/>
          </a:xfrm>
          <a:prstGeom prst="rect">
            <a:avLst/>
          </a:prstGeom>
          <a:noFill/>
          <a:ln/>
        </p:spPr>
        <p:txBody>
          <a:bodyPr wrap="square" lIns="0" tIns="0" rIns="0" bIns="0" rtlCol="0" anchor="ctr"/>
          <a:lstStyle/>
          <a:p>
            <a:pPr algn="ctr" indent="0" marL="0">
              <a:buNone/>
            </a:pPr>
            <a:r>
              <a:rPr lang="en-US" sz="3600" b="1" dirty="0">
                <a:solidFill>
                  <a:srgbClr val="962B7C"/>
                </a:solidFill>
                <a:latin typeface="Alexandria" pitchFamily="34" charset="0"/>
                <a:ea typeface="Alexandria" pitchFamily="34" charset="-122"/>
                <a:cs typeface="Alexandria" pitchFamily="34" charset="-120"/>
              </a:rPr>
              <a:t>21</a:t>
            </a:r>
            <a:endParaRPr lang="en-US" sz="3600" dirty="0"/>
          </a:p>
        </p:txBody>
      </p:sp>
      <p:sp>
        <p:nvSpPr>
          <p:cNvPr id="17" name="Text 15"/>
          <p:cNvSpPr/>
          <p:nvPr/>
        </p:nvSpPr>
        <p:spPr>
          <a:xfrm>
            <a:off x="1874520" y="2194560"/>
            <a:ext cx="1280160" cy="548640"/>
          </a:xfrm>
          <a:prstGeom prst="rect">
            <a:avLst/>
          </a:prstGeom>
          <a:noFill/>
          <a:ln/>
        </p:spPr>
        <p:txBody>
          <a:bodyPr wrap="square" lIns="0" tIns="0" rIns="0" bIns="0" rtlCol="0" anchor="t"/>
          <a:lstStyle/>
          <a:p>
            <a:pPr algn="ctr" indent="0" marL="0">
              <a:buNone/>
            </a:pPr>
            <a:r>
              <a:rPr lang="en-US" sz="1100" dirty="0">
                <a:solidFill>
                  <a:srgbClr val="3A3542"/>
                </a:solidFill>
                <a:latin typeface="Alexandria" pitchFamily="34" charset="0"/>
                <a:ea typeface="Alexandria" pitchFamily="34" charset="-122"/>
                <a:cs typeface="Alexandria" pitchFamily="34" charset="-120"/>
              </a:rPr>
              <a:t>cặp tương quan có thể có</a:t>
            </a:r>
            <a:endParaRPr lang="en-US" sz="1100" dirty="0"/>
          </a:p>
        </p:txBody>
      </p:sp>
      <p:sp>
        <p:nvSpPr>
          <p:cNvPr id="18" name="Text 16"/>
          <p:cNvSpPr/>
          <p:nvPr/>
        </p:nvSpPr>
        <p:spPr>
          <a:xfrm>
            <a:off x="3108960" y="1463040"/>
            <a:ext cx="228600" cy="731520"/>
          </a:xfrm>
          <a:prstGeom prst="rect">
            <a:avLst/>
          </a:prstGeom>
          <a:noFill/>
          <a:ln/>
        </p:spPr>
        <p:txBody>
          <a:bodyPr wrap="square" lIns="0" tIns="0" rIns="0" bIns="0" rtlCol="0" anchor="ctr"/>
          <a:lstStyle/>
          <a:p>
            <a:pPr algn="ctr" indent="0" marL="0">
              <a:buNone/>
            </a:pPr>
            <a:r>
              <a:rPr lang="en-US" sz="2200" dirty="0">
                <a:solidFill>
                  <a:srgbClr val="7A7480"/>
                </a:solidFill>
                <a:latin typeface="Alexandria" pitchFamily="34" charset="0"/>
                <a:ea typeface="Alexandria" pitchFamily="34" charset="-122"/>
                <a:cs typeface="Alexandria" pitchFamily="34" charset="-120"/>
              </a:rPr>
              <a:t>→</a:t>
            </a:r>
            <a:endParaRPr lang="en-US" sz="2200" dirty="0"/>
          </a:p>
        </p:txBody>
      </p:sp>
      <p:sp>
        <p:nvSpPr>
          <p:cNvPr id="19" name="Text 17"/>
          <p:cNvSpPr/>
          <p:nvPr/>
        </p:nvSpPr>
        <p:spPr>
          <a:xfrm>
            <a:off x="3291840" y="1463040"/>
            <a:ext cx="1280160" cy="731520"/>
          </a:xfrm>
          <a:prstGeom prst="rect">
            <a:avLst/>
          </a:prstGeom>
          <a:noFill/>
          <a:ln/>
        </p:spPr>
        <p:txBody>
          <a:bodyPr wrap="square" lIns="0" tIns="0" rIns="0" bIns="0" rtlCol="0" anchor="ctr"/>
          <a:lstStyle/>
          <a:p>
            <a:pPr algn="ctr" indent="0" marL="0">
              <a:buNone/>
            </a:pPr>
            <a:r>
              <a:rPr lang="en-US" sz="3600" b="1" dirty="0">
                <a:solidFill>
                  <a:srgbClr val="FF5178"/>
                </a:solidFill>
                <a:latin typeface="Alexandria" pitchFamily="34" charset="0"/>
                <a:ea typeface="Alexandria" pitchFamily="34" charset="-122"/>
                <a:cs typeface="Alexandria" pitchFamily="34" charset="-120"/>
              </a:rPr>
              <a:t>≥ 1</a:t>
            </a:r>
            <a:endParaRPr lang="en-US" sz="3600" dirty="0"/>
          </a:p>
        </p:txBody>
      </p:sp>
      <p:sp>
        <p:nvSpPr>
          <p:cNvPr id="20" name="Text 18"/>
          <p:cNvSpPr/>
          <p:nvPr/>
        </p:nvSpPr>
        <p:spPr>
          <a:xfrm>
            <a:off x="3291840" y="2194560"/>
            <a:ext cx="1280160" cy="548640"/>
          </a:xfrm>
          <a:prstGeom prst="rect">
            <a:avLst/>
          </a:prstGeom>
          <a:noFill/>
          <a:ln/>
        </p:spPr>
        <p:txBody>
          <a:bodyPr wrap="square" lIns="0" tIns="0" rIns="0" bIns="0" rtlCol="0" anchor="t"/>
          <a:lstStyle/>
          <a:p>
            <a:pPr algn="ctr" indent="0" marL="0">
              <a:buNone/>
            </a:pPr>
            <a:r>
              <a:rPr lang="en-US" sz="1100" dirty="0">
                <a:solidFill>
                  <a:srgbClr val="3A3542"/>
                </a:solidFill>
                <a:latin typeface="Alexandria" pitchFamily="34" charset="0"/>
                <a:ea typeface="Alexandria" pitchFamily="34" charset="-122"/>
                <a:cs typeface="Alexandria" pitchFamily="34" charset="-120"/>
              </a:rPr>
              <a:t>tương quan giả về mặt thống kê</a:t>
            </a:r>
            <a:endParaRPr lang="en-US" sz="1100" dirty="0"/>
          </a:p>
        </p:txBody>
      </p:sp>
      <p:sp>
        <p:nvSpPr>
          <p:cNvPr id="21" name="Shape 19"/>
          <p:cNvSpPr/>
          <p:nvPr/>
        </p:nvSpPr>
        <p:spPr>
          <a:xfrm>
            <a:off x="457200" y="2926080"/>
            <a:ext cx="4114800" cy="1417320"/>
          </a:xfrm>
          <a:prstGeom prst="roundRect">
            <a:avLst>
              <a:gd name="adj" fmla="val 5161"/>
            </a:avLst>
          </a:prstGeom>
          <a:solidFill>
            <a:srgbClr val="FF5178"/>
          </a:solidFill>
          <a:ln w="12700">
            <a:solidFill>
              <a:srgbClr val="FF5178"/>
            </a:solidFill>
            <a:prstDash val="solid"/>
          </a:ln>
        </p:spPr>
      </p:sp>
      <p:sp>
        <p:nvSpPr>
          <p:cNvPr id="22" name="Text 20"/>
          <p:cNvSpPr/>
          <p:nvPr/>
        </p:nvSpPr>
        <p:spPr>
          <a:xfrm>
            <a:off x="640080" y="2971800"/>
            <a:ext cx="3749040" cy="1325880"/>
          </a:xfrm>
          <a:prstGeom prst="rect">
            <a:avLst/>
          </a:prstGeom>
          <a:noFill/>
          <a:ln/>
        </p:spPr>
        <p:txBody>
          <a:bodyPr wrap="square" lIns="0" tIns="0" rIns="0" bIns="0" rtlCol="0" anchor="ctr"/>
          <a:lstStyle/>
          <a:p>
            <a:pPr indent="0" marL="0">
              <a:spcAft>
                <a:spcPts val="400"/>
              </a:spcAft>
              <a:buNone/>
            </a:pPr>
            <a:r>
              <a:rPr lang="en-US" sz="1300" b="1" dirty="0">
                <a:solidFill>
                  <a:srgbClr val="FFD23B"/>
                </a:solidFill>
                <a:latin typeface="Alexandria" pitchFamily="34" charset="0"/>
                <a:ea typeface="Alexandria" pitchFamily="34" charset="-122"/>
                <a:cs typeface="Alexandria" pitchFamily="34" charset="-120"/>
              </a:rPr>
              <a:t>Rủi ro</a:t>
            </a:r>
            <a:endParaRPr lang="en-US" sz="1300" dirty="0"/>
          </a:p>
          <a:p>
            <a:pPr indent="0" marL="0">
              <a:spcAft>
                <a:spcPts val="400"/>
              </a:spcAft>
              <a:buNone/>
            </a:pPr>
            <a:r>
              <a:rPr lang="en-US" sz="1300" dirty="0">
                <a:solidFill>
                  <a:srgbClr val="FFFFFF"/>
                </a:solidFill>
                <a:latin typeface="Alexandria" pitchFamily="34" charset="0"/>
                <a:ea typeface="Alexandria" pitchFamily="34" charset="-122"/>
                <a:cs typeface="Alexandria" pitchFamily="34" charset="-120"/>
              </a:rPr>
              <a:t>Nếu quyết định kinh doanh lớn tiếp theo lại dựa đúng vào tương quan sai đó thì sao?</a:t>
            </a:r>
            <a:endParaRPr lang="en-US" sz="1300" dirty="0"/>
          </a:p>
        </p:txBody>
      </p:sp>
      <p:sp>
        <p:nvSpPr>
          <p:cNvPr id="23" name="Shape 21"/>
          <p:cNvSpPr/>
          <p:nvPr/>
        </p:nvSpPr>
        <p:spPr>
          <a:xfrm>
            <a:off x="4846320" y="1417320"/>
            <a:ext cx="3840480" cy="2926080"/>
          </a:xfrm>
          <a:prstGeom prst="roundRect">
            <a:avLst>
              <a:gd name="adj" fmla="val 2500"/>
            </a:avLst>
          </a:prstGeom>
          <a:solidFill>
            <a:srgbClr val="FFFFFF"/>
          </a:solidFill>
          <a:ln w="12700">
            <a:solidFill>
              <a:srgbClr val="E6E2D6"/>
            </a:solidFill>
            <a:prstDash val="solid"/>
          </a:ln>
        </p:spPr>
      </p:sp>
      <p:sp>
        <p:nvSpPr>
          <p:cNvPr id="24" name="Shape 22"/>
          <p:cNvSpPr/>
          <p:nvPr/>
        </p:nvSpPr>
        <p:spPr>
          <a:xfrm>
            <a:off x="4846320" y="1527048"/>
            <a:ext cx="64008" cy="2706624"/>
          </a:xfrm>
          <a:prstGeom prst="rect">
            <a:avLst/>
          </a:prstGeom>
          <a:solidFill>
            <a:srgbClr val="09A1E5"/>
          </a:solidFill>
          <a:ln w="12700">
            <a:solidFill>
              <a:srgbClr val="09A1E5"/>
            </a:solidFill>
            <a:prstDash val="solid"/>
          </a:ln>
        </p:spPr>
      </p:sp>
      <p:sp>
        <p:nvSpPr>
          <p:cNvPr id="25" name="Text 23"/>
          <p:cNvSpPr/>
          <p:nvPr/>
        </p:nvSpPr>
        <p:spPr>
          <a:xfrm>
            <a:off x="5047488" y="1508760"/>
            <a:ext cx="3547872"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Ví dụ: thời gian trên trang cao</a:t>
            </a:r>
            <a:endParaRPr lang="en-US" sz="1300" dirty="0"/>
          </a:p>
        </p:txBody>
      </p:sp>
      <p:sp>
        <p:nvSpPr>
          <p:cNvPr id="26" name="Text 24"/>
          <p:cNvSpPr/>
          <p:nvPr/>
        </p:nvSpPr>
        <p:spPr>
          <a:xfrm>
            <a:off x="5047488" y="1801368"/>
            <a:ext cx="3547872" cy="2468880"/>
          </a:xfrm>
          <a:prstGeom prst="rect">
            <a:avLst/>
          </a:prstGeom>
          <a:noFill/>
          <a:ln/>
        </p:spPr>
        <p:txBody>
          <a:bodyPr wrap="square" lIns="0" tIns="0" rIns="0" bIns="0" rtlCol="0" anchor="t"/>
          <a:lstStyle/>
          <a:p>
            <a:pPr algn="l" indent="0" marL="0">
              <a:buNone/>
            </a:pPr>
            <a:r>
              <a:rPr lang="en-US" sz="1200" dirty="0">
                <a:solidFill>
                  <a:srgbClr val="3A3542"/>
                </a:solidFill>
                <a:latin typeface="Alexandria" pitchFamily="34" charset="0"/>
                <a:ea typeface="Alexandria" pitchFamily="34" charset="-122"/>
                <a:cs typeface="Alexandria" pitchFamily="34" charset="-120"/>
              </a:rPr>
              <a:t>Analytics cho thấy khách ở rất lâu trên một trang. Có thể nội dung hay — hoặc họ đang bực bội tìm một thông tin bị thiếu.</a:t>
            </a:r>
            <a:endParaRPr lang="en-US" sz="1200" dirty="0"/>
          </a:p>
          <a:p>
            <a:pPr algn="l" indent="0" marL="0">
              <a:buNone/>
            </a:pPr>
            <a:endParaRPr lang="en-US" sz="1200" dirty="0"/>
          </a:p>
          <a:p>
            <a:pPr algn="l" indent="0" marL="0">
              <a:buNone/>
            </a:pPr>
            <a:r>
              <a:rPr lang="en-US" sz="1200" dirty="0">
                <a:solidFill>
                  <a:srgbClr val="3A3542"/>
                </a:solidFill>
                <a:latin typeface="Alexandria" pitchFamily="34" charset="0"/>
                <a:ea typeface="Alexandria" pitchFamily="34" charset="-122"/>
                <a:cs typeface="Alexandria" pitchFamily="34" charset="-120"/>
              </a:rPr>
              <a:t>Số liệu chỉ cho biết CÁI GÌ. Muốn biết TẠI SAO cần định tính.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Ba loại insight định tính tạo ra tác động lớn nhất cho doanh nghiệp</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6</a:t>
            </a:r>
            <a:endParaRPr lang="en-US" sz="1000" dirty="0"/>
          </a:p>
        </p:txBody>
      </p:sp>
      <p:sp>
        <p:nvSpPr>
          <p:cNvPr id="13" name="Shape 11"/>
          <p:cNvSpPr/>
          <p:nvPr/>
        </p:nvSpPr>
        <p:spPr>
          <a:xfrm>
            <a:off x="457200" y="1417320"/>
            <a:ext cx="2606040" cy="2971800"/>
          </a:xfrm>
          <a:prstGeom prst="roundRect">
            <a:avLst>
              <a:gd name="adj" fmla="val 2807"/>
            </a:avLst>
          </a:prstGeom>
          <a:solidFill>
            <a:srgbClr val="FFFFFF"/>
          </a:solidFill>
          <a:ln w="12700">
            <a:solidFill>
              <a:srgbClr val="E6E2D6"/>
            </a:solidFill>
            <a:prstDash val="solid"/>
          </a:ln>
        </p:spPr>
      </p:sp>
      <p:sp>
        <p:nvSpPr>
          <p:cNvPr id="14" name="Shape 12"/>
          <p:cNvSpPr/>
          <p:nvPr/>
        </p:nvSpPr>
        <p:spPr>
          <a:xfrm>
            <a:off x="457200" y="1417320"/>
            <a:ext cx="2606040" cy="685800"/>
          </a:xfrm>
          <a:prstGeom prst="roundRect">
            <a:avLst>
              <a:gd name="adj" fmla="val 10667"/>
            </a:avLst>
          </a:prstGeom>
          <a:solidFill>
            <a:srgbClr val="FF5178"/>
          </a:solidFill>
          <a:ln w="12700">
            <a:solidFill>
              <a:srgbClr val="FF5178"/>
            </a:solidFill>
            <a:prstDash val="solid"/>
          </a:ln>
        </p:spPr>
      </p:sp>
      <p:sp>
        <p:nvSpPr>
          <p:cNvPr id="15" name="Shape 13"/>
          <p:cNvSpPr/>
          <p:nvPr/>
        </p:nvSpPr>
        <p:spPr>
          <a:xfrm>
            <a:off x="457200" y="1874520"/>
            <a:ext cx="2606040" cy="228600"/>
          </a:xfrm>
          <a:prstGeom prst="rect">
            <a:avLst/>
          </a:prstGeom>
          <a:solidFill>
            <a:srgbClr val="FF5178"/>
          </a:solidFill>
          <a:ln w="12700">
            <a:solidFill>
              <a:srgbClr val="FF5178"/>
            </a:solidFill>
            <a:prstDash val="solid"/>
          </a:ln>
        </p:spPr>
      </p:sp>
      <p:sp>
        <p:nvSpPr>
          <p:cNvPr id="16" name="Text 14"/>
          <p:cNvSpPr/>
          <p:nvPr/>
        </p:nvSpPr>
        <p:spPr>
          <a:xfrm>
            <a:off x="594360" y="1444752"/>
            <a:ext cx="233172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Phân khúc khách hàng</a:t>
            </a:r>
            <a:endParaRPr lang="en-US" sz="1400" dirty="0"/>
          </a:p>
        </p:txBody>
      </p:sp>
      <p:sp>
        <p:nvSpPr>
          <p:cNvPr id="17" name="Text 15"/>
          <p:cNvSpPr/>
          <p:nvPr/>
        </p:nvSpPr>
        <p:spPr>
          <a:xfrm>
            <a:off x="548640" y="2221992"/>
            <a:ext cx="2404872" cy="2075688"/>
          </a:xfrm>
          <a:prstGeom prst="rect">
            <a:avLst/>
          </a:prstGeom>
          <a:noFill/>
          <a:ln/>
        </p:spPr>
        <p:txBody>
          <a:bodyPr wrap="square" lIns="0" tIns="0" rIns="0" bIns="0" rtlCol="0" anchor="t"/>
          <a:lstStyle/>
          <a:p>
            <a:pPr indent="0" marL="0">
              <a:spcAft>
                <a:spcPts val="500"/>
              </a:spcAft>
              <a:buNone/>
            </a:pPr>
            <a:r>
              <a:rPr lang="en-US" sz="1150" dirty="0">
                <a:solidFill>
                  <a:srgbClr val="3A3542"/>
                </a:solidFill>
                <a:latin typeface="Alexandria" pitchFamily="34" charset="0"/>
                <a:ea typeface="Alexandria" pitchFamily="34" charset="-122"/>
                <a:cs typeface="Alexandria" pitchFamily="34" charset="-120"/>
              </a:rPr>
              <a:t>Hiểu sâu từng nhóm khách và chủ động chọn vài nhóm để nhắm tới</a:t>
            </a:r>
            <a:endParaRPr lang="en-US" sz="1150" dirty="0"/>
          </a:p>
          <a:p>
            <a:pPr indent="0" marL="0">
              <a:spcAft>
                <a:spcPts val="500"/>
              </a:spcAft>
              <a:buNone/>
            </a:pPr>
            <a:r>
              <a:rPr lang="en-US" sz="600" dirty="0">
                <a:solidFill>
                  <a:srgbClr val="3A3542"/>
                </a:solidFill>
                <a:latin typeface="Alexandria" pitchFamily="34" charset="0"/>
                <a:ea typeface="Alexandria" pitchFamily="34" charset="-122"/>
                <a:cs typeface="Alexandria" pitchFamily="34" charset="-120"/>
              </a:rPr>
              <a:t> </a:t>
            </a:r>
            <a:endParaRPr lang="en-US" sz="1150" dirty="0"/>
          </a:p>
          <a:p>
            <a:pPr indent="0" marL="0">
              <a:spcAft>
                <a:spcPts val="500"/>
              </a:spcAft>
              <a:buNone/>
            </a:pPr>
            <a:r>
              <a:rPr lang="en-US" sz="1150" i="1" dirty="0">
                <a:solidFill>
                  <a:srgbClr val="7A7480"/>
                </a:solidFill>
                <a:latin typeface="Alexandria" pitchFamily="34" charset="0"/>
                <a:ea typeface="Alexandria" pitchFamily="34" charset="-122"/>
                <a:cs typeface="Alexandria" pitchFamily="34" charset="-120"/>
              </a:rPr>
              <a:t>Nghiên cứu bán lẻ: tìm ra 10 nhóm khách → chọn 3 nhóm cho marketing năm nay</a:t>
            </a:r>
            <a:endParaRPr lang="en-US" sz="1150" dirty="0"/>
          </a:p>
        </p:txBody>
      </p:sp>
      <p:sp>
        <p:nvSpPr>
          <p:cNvPr id="18" name="Shape 16"/>
          <p:cNvSpPr/>
          <p:nvPr/>
        </p:nvSpPr>
        <p:spPr>
          <a:xfrm>
            <a:off x="3246120" y="1417320"/>
            <a:ext cx="2606040" cy="2971800"/>
          </a:xfrm>
          <a:prstGeom prst="roundRect">
            <a:avLst>
              <a:gd name="adj" fmla="val 2807"/>
            </a:avLst>
          </a:prstGeom>
          <a:solidFill>
            <a:srgbClr val="FFFFFF"/>
          </a:solidFill>
          <a:ln w="12700">
            <a:solidFill>
              <a:srgbClr val="E6E2D6"/>
            </a:solidFill>
            <a:prstDash val="solid"/>
          </a:ln>
        </p:spPr>
      </p:sp>
      <p:sp>
        <p:nvSpPr>
          <p:cNvPr id="19" name="Shape 17"/>
          <p:cNvSpPr/>
          <p:nvPr/>
        </p:nvSpPr>
        <p:spPr>
          <a:xfrm>
            <a:off x="3246120" y="1417320"/>
            <a:ext cx="2606040" cy="685800"/>
          </a:xfrm>
          <a:prstGeom prst="roundRect">
            <a:avLst>
              <a:gd name="adj" fmla="val 10667"/>
            </a:avLst>
          </a:prstGeom>
          <a:solidFill>
            <a:srgbClr val="09A1E5"/>
          </a:solidFill>
          <a:ln w="12700">
            <a:solidFill>
              <a:srgbClr val="09A1E5"/>
            </a:solidFill>
            <a:prstDash val="solid"/>
          </a:ln>
        </p:spPr>
      </p:sp>
      <p:sp>
        <p:nvSpPr>
          <p:cNvPr id="20" name="Shape 18"/>
          <p:cNvSpPr/>
          <p:nvPr/>
        </p:nvSpPr>
        <p:spPr>
          <a:xfrm>
            <a:off x="3246120" y="1874520"/>
            <a:ext cx="2606040" cy="228600"/>
          </a:xfrm>
          <a:prstGeom prst="rect">
            <a:avLst/>
          </a:prstGeom>
          <a:solidFill>
            <a:srgbClr val="09A1E5"/>
          </a:solidFill>
          <a:ln w="12700">
            <a:solidFill>
              <a:srgbClr val="09A1E5"/>
            </a:solidFill>
            <a:prstDash val="solid"/>
          </a:ln>
        </p:spPr>
      </p:sp>
      <p:sp>
        <p:nvSpPr>
          <p:cNvPr id="21" name="Text 19"/>
          <p:cNvSpPr/>
          <p:nvPr/>
        </p:nvSpPr>
        <p:spPr>
          <a:xfrm>
            <a:off x="3383280" y="1444752"/>
            <a:ext cx="233172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Nội dung</a:t>
            </a:r>
            <a:endParaRPr lang="en-US" sz="1400" dirty="0"/>
          </a:p>
        </p:txBody>
      </p:sp>
      <p:sp>
        <p:nvSpPr>
          <p:cNvPr id="22" name="Text 20"/>
          <p:cNvSpPr/>
          <p:nvPr/>
        </p:nvSpPr>
        <p:spPr>
          <a:xfrm>
            <a:off x="3337560" y="2221992"/>
            <a:ext cx="2404872" cy="2075688"/>
          </a:xfrm>
          <a:prstGeom prst="rect">
            <a:avLst/>
          </a:prstGeom>
          <a:noFill/>
          <a:ln/>
        </p:spPr>
        <p:txBody>
          <a:bodyPr wrap="square" lIns="0" tIns="0" rIns="0" bIns="0" rtlCol="0" anchor="t"/>
          <a:lstStyle/>
          <a:p>
            <a:pPr indent="0" marL="0">
              <a:spcAft>
                <a:spcPts val="500"/>
              </a:spcAft>
              <a:buNone/>
            </a:pPr>
            <a:r>
              <a:rPr lang="en-US" sz="1150" dirty="0">
                <a:solidFill>
                  <a:srgbClr val="3A3542"/>
                </a:solidFill>
                <a:latin typeface="Alexandria" pitchFamily="34" charset="0"/>
                <a:ea typeface="Alexandria" pitchFamily="34" charset="-122"/>
                <a:cs typeface="Alexandria" pitchFamily="34" charset="-120"/>
              </a:rPr>
              <a:t>Chủ đề, thông điệp, từ ngữ, hình ảnh, sản phẩm mà khách hàng lý tưởng cần</a:t>
            </a:r>
            <a:endParaRPr lang="en-US" sz="1150" dirty="0"/>
          </a:p>
          <a:p>
            <a:pPr indent="0" marL="0">
              <a:spcAft>
                <a:spcPts val="500"/>
              </a:spcAft>
              <a:buNone/>
            </a:pPr>
            <a:r>
              <a:rPr lang="en-US" sz="600" dirty="0">
                <a:solidFill>
                  <a:srgbClr val="3A3542"/>
                </a:solidFill>
                <a:latin typeface="Alexandria" pitchFamily="34" charset="0"/>
                <a:ea typeface="Alexandria" pitchFamily="34" charset="-122"/>
                <a:cs typeface="Alexandria" pitchFamily="34" charset="-120"/>
              </a:rPr>
              <a:t> </a:t>
            </a:r>
            <a:endParaRPr lang="en-US" sz="1150" dirty="0"/>
          </a:p>
          <a:p>
            <a:pPr indent="0" marL="0">
              <a:spcAft>
                <a:spcPts val="500"/>
              </a:spcAft>
              <a:buNone/>
            </a:pPr>
            <a:r>
              <a:rPr lang="en-US" sz="1150" i="1" dirty="0">
                <a:solidFill>
                  <a:srgbClr val="7A7480"/>
                </a:solidFill>
                <a:latin typeface="Alexandria" pitchFamily="34" charset="0"/>
                <a:ea typeface="Alexandria" pitchFamily="34" charset="-122"/>
                <a:cs typeface="Alexandria" pitchFamily="34" charset="-120"/>
              </a:rPr>
              <a:t>Nhiều công ty tốn hàng chục nghìn USD thử-sai quảng cáo vì không lắng nghe từ ngữ khách dùng</a:t>
            </a:r>
            <a:endParaRPr lang="en-US" sz="1150" dirty="0"/>
          </a:p>
        </p:txBody>
      </p:sp>
      <p:sp>
        <p:nvSpPr>
          <p:cNvPr id="23" name="Shape 21"/>
          <p:cNvSpPr/>
          <p:nvPr/>
        </p:nvSpPr>
        <p:spPr>
          <a:xfrm>
            <a:off x="6035040" y="1417320"/>
            <a:ext cx="2606040" cy="2971800"/>
          </a:xfrm>
          <a:prstGeom prst="roundRect">
            <a:avLst>
              <a:gd name="adj" fmla="val 2807"/>
            </a:avLst>
          </a:prstGeom>
          <a:solidFill>
            <a:srgbClr val="FFFFFF"/>
          </a:solidFill>
          <a:ln w="12700">
            <a:solidFill>
              <a:srgbClr val="E6E2D6"/>
            </a:solidFill>
            <a:prstDash val="solid"/>
          </a:ln>
        </p:spPr>
      </p:sp>
      <p:sp>
        <p:nvSpPr>
          <p:cNvPr id="24" name="Shape 22"/>
          <p:cNvSpPr/>
          <p:nvPr/>
        </p:nvSpPr>
        <p:spPr>
          <a:xfrm>
            <a:off x="6035040" y="1417320"/>
            <a:ext cx="2606040" cy="685800"/>
          </a:xfrm>
          <a:prstGeom prst="roundRect">
            <a:avLst>
              <a:gd name="adj" fmla="val 10667"/>
            </a:avLst>
          </a:prstGeom>
          <a:solidFill>
            <a:srgbClr val="49B296"/>
          </a:solidFill>
          <a:ln w="12700">
            <a:solidFill>
              <a:srgbClr val="49B296"/>
            </a:solidFill>
            <a:prstDash val="solid"/>
          </a:ln>
        </p:spPr>
      </p:sp>
      <p:sp>
        <p:nvSpPr>
          <p:cNvPr id="25" name="Shape 23"/>
          <p:cNvSpPr/>
          <p:nvPr/>
        </p:nvSpPr>
        <p:spPr>
          <a:xfrm>
            <a:off x="6035040" y="1874520"/>
            <a:ext cx="2606040" cy="228600"/>
          </a:xfrm>
          <a:prstGeom prst="rect">
            <a:avLst/>
          </a:prstGeom>
          <a:solidFill>
            <a:srgbClr val="49B296"/>
          </a:solidFill>
          <a:ln w="12700">
            <a:solidFill>
              <a:srgbClr val="49B296"/>
            </a:solidFill>
            <a:prstDash val="solid"/>
          </a:ln>
        </p:spPr>
      </p:sp>
      <p:sp>
        <p:nvSpPr>
          <p:cNvPr id="26" name="Text 24"/>
          <p:cNvSpPr/>
          <p:nvPr/>
        </p:nvSpPr>
        <p:spPr>
          <a:xfrm>
            <a:off x="6172200" y="1444752"/>
            <a:ext cx="233172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Hành trình mua</a:t>
            </a:r>
            <a:endParaRPr lang="en-US" sz="1400" dirty="0"/>
          </a:p>
        </p:txBody>
      </p:sp>
      <p:sp>
        <p:nvSpPr>
          <p:cNvPr id="27" name="Text 25"/>
          <p:cNvSpPr/>
          <p:nvPr/>
        </p:nvSpPr>
        <p:spPr>
          <a:xfrm>
            <a:off x="6126480" y="2221992"/>
            <a:ext cx="2404872" cy="2075688"/>
          </a:xfrm>
          <a:prstGeom prst="rect">
            <a:avLst/>
          </a:prstGeom>
          <a:noFill/>
          <a:ln/>
        </p:spPr>
        <p:txBody>
          <a:bodyPr wrap="square" lIns="0" tIns="0" rIns="0" bIns="0" rtlCol="0" anchor="t"/>
          <a:lstStyle/>
          <a:p>
            <a:pPr indent="0" marL="0">
              <a:spcAft>
                <a:spcPts val="500"/>
              </a:spcAft>
              <a:buNone/>
            </a:pPr>
            <a:r>
              <a:rPr lang="en-US" sz="1150" dirty="0">
                <a:solidFill>
                  <a:srgbClr val="3A3542"/>
                </a:solidFill>
                <a:latin typeface="Alexandria" pitchFamily="34" charset="0"/>
                <a:ea typeface="Alexandria" pitchFamily="34" charset="-122"/>
                <a:cs typeface="Alexandria" pitchFamily="34" charset="-120"/>
              </a:rPr>
              <a:t>Cảm xúc, thái độ, hành vi qua trò chuyện và quan sát</a:t>
            </a:r>
            <a:endParaRPr lang="en-US" sz="1150" dirty="0"/>
          </a:p>
          <a:p>
            <a:pPr indent="0" marL="0">
              <a:spcAft>
                <a:spcPts val="500"/>
              </a:spcAft>
              <a:buNone/>
            </a:pPr>
            <a:r>
              <a:rPr lang="en-US" sz="600" dirty="0">
                <a:solidFill>
                  <a:srgbClr val="3A3542"/>
                </a:solidFill>
                <a:latin typeface="Alexandria" pitchFamily="34" charset="0"/>
                <a:ea typeface="Alexandria" pitchFamily="34" charset="-122"/>
                <a:cs typeface="Alexandria" pitchFamily="34" charset="-120"/>
              </a:rPr>
              <a:t> </a:t>
            </a:r>
            <a:endParaRPr lang="en-US" sz="1150" dirty="0"/>
          </a:p>
          <a:p>
            <a:pPr indent="0" marL="0">
              <a:spcAft>
                <a:spcPts val="500"/>
              </a:spcAft>
              <a:buNone/>
            </a:pPr>
            <a:r>
              <a:rPr lang="en-US" sz="1150" i="1" dirty="0">
                <a:solidFill>
                  <a:srgbClr val="7A7480"/>
                </a:solidFill>
                <a:latin typeface="Alexandria" pitchFamily="34" charset="0"/>
                <a:ea typeface="Alexandria" pitchFamily="34" charset="-122"/>
                <a:cs typeface="Alexandria" pitchFamily="34" charset="-120"/>
              </a:rPr>
              <a:t>Thấy khoảng cách giữa trải nghiệm dự kiến và thực tế, phát hiện vấn đề cần giải quyết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Ở đâu có cảm xúc mãnh liệt, ở đó có cơ hội lớn cho doanh nghiệp</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7</a:t>
            </a:r>
            <a:endParaRPr lang="en-US" sz="1000" dirty="0"/>
          </a:p>
        </p:txBody>
      </p:sp>
      <p:sp>
        <p:nvSpPr>
          <p:cNvPr id="13" name="Shape 11"/>
          <p:cNvSpPr/>
          <p:nvPr/>
        </p:nvSpPr>
        <p:spPr>
          <a:xfrm>
            <a:off x="457200" y="1417320"/>
            <a:ext cx="4023360" cy="1417320"/>
          </a:xfrm>
          <a:prstGeom prst="roundRect">
            <a:avLst>
              <a:gd name="adj" fmla="val 5161"/>
            </a:avLst>
          </a:prstGeom>
          <a:solidFill>
            <a:srgbClr val="962B7C"/>
          </a:solidFill>
          <a:ln w="12700">
            <a:solidFill>
              <a:srgbClr val="962B7C"/>
            </a:solidFill>
            <a:prstDash val="solid"/>
          </a:ln>
        </p:spPr>
      </p:sp>
      <p:sp>
        <p:nvSpPr>
          <p:cNvPr id="14" name="Text 12"/>
          <p:cNvSpPr/>
          <p:nvPr/>
        </p:nvSpPr>
        <p:spPr>
          <a:xfrm>
            <a:off x="640080" y="1463040"/>
            <a:ext cx="3657600" cy="1325880"/>
          </a:xfrm>
          <a:prstGeom prst="rect">
            <a:avLst/>
          </a:prstGeom>
          <a:noFill/>
          <a:ln/>
        </p:spPr>
        <p:txBody>
          <a:bodyPr wrap="square" lIns="0" tIns="0" rIns="0" bIns="0" rtlCol="0" anchor="ctr"/>
          <a:lstStyle/>
          <a:p>
            <a:pPr indent="0" marL="0">
              <a:spcAft>
                <a:spcPts val="600"/>
              </a:spcAft>
              <a:buNone/>
            </a:pPr>
            <a:r>
              <a:rPr lang="en-US" sz="1500" b="1" dirty="0">
                <a:solidFill>
                  <a:srgbClr val="FFFFFF"/>
                </a:solidFill>
                <a:latin typeface="Alexandria" pitchFamily="34" charset="0"/>
                <a:ea typeface="Alexandria" pitchFamily="34" charset="-122"/>
                <a:cs typeface="Alexandria" pitchFamily="34" charset="-120"/>
              </a:rPr>
              <a:t>“Nó khiến tôi không muốn làm khoa học nữa.”</a:t>
            </a:r>
            <a:endParaRPr lang="en-US" sz="1500" dirty="0"/>
          </a:p>
          <a:p>
            <a:pPr indent="0" marL="0">
              <a:spcAft>
                <a:spcPts val="600"/>
              </a:spcAft>
              <a:buNone/>
            </a:pPr>
            <a:r>
              <a:rPr lang="en-US" sz="1100" dirty="0">
                <a:solidFill>
                  <a:srgbClr val="FFFFFF"/>
                </a:solidFill>
                <a:latin typeface="Alexandria" pitchFamily="34" charset="0"/>
                <a:ea typeface="Alexandria" pitchFamily="34" charset="-122"/>
                <a:cs typeface="Alexandria" pitchFamily="34" charset="-120"/>
              </a:rPr>
              <a:t>Một nhà khoa học nói về biểu mẫu xin gia hạn tài trợ quá rườm rà. Câu nói đó là dấu hiệu của sự bực bội đến mức không còn từ nào để tả.</a:t>
            </a:r>
            <a:endParaRPr lang="en-US" sz="1500" dirty="0"/>
          </a:p>
        </p:txBody>
      </p:sp>
      <p:sp>
        <p:nvSpPr>
          <p:cNvPr id="15" name="Shape 13"/>
          <p:cNvSpPr/>
          <p:nvPr/>
        </p:nvSpPr>
        <p:spPr>
          <a:xfrm>
            <a:off x="457200" y="2971800"/>
            <a:ext cx="4023360" cy="685800"/>
          </a:xfrm>
          <a:prstGeom prst="roundRect">
            <a:avLst>
              <a:gd name="adj" fmla="val 10667"/>
            </a:avLst>
          </a:prstGeom>
          <a:solidFill>
            <a:srgbClr val="FFFFFF"/>
          </a:solidFill>
          <a:ln w="12700">
            <a:solidFill>
              <a:srgbClr val="E6E2D6"/>
            </a:solidFill>
            <a:prstDash val="solid"/>
          </a:ln>
        </p:spPr>
      </p:sp>
      <p:sp>
        <p:nvSpPr>
          <p:cNvPr id="16" name="Shape 14"/>
          <p:cNvSpPr/>
          <p:nvPr/>
        </p:nvSpPr>
        <p:spPr>
          <a:xfrm>
            <a:off x="457200" y="3081528"/>
            <a:ext cx="64008" cy="466344"/>
          </a:xfrm>
          <a:prstGeom prst="rect">
            <a:avLst/>
          </a:prstGeom>
          <a:solidFill>
            <a:srgbClr val="FF5178"/>
          </a:solidFill>
          <a:ln w="12700">
            <a:solidFill>
              <a:srgbClr val="FF5178"/>
            </a:solidFill>
            <a:prstDash val="solid"/>
          </a:ln>
        </p:spPr>
      </p:sp>
      <p:sp>
        <p:nvSpPr>
          <p:cNvPr id="17" name="Text 15"/>
          <p:cNvSpPr/>
          <p:nvPr/>
        </p:nvSpPr>
        <p:spPr>
          <a:xfrm>
            <a:off x="658368" y="3063240"/>
            <a:ext cx="3730752"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Gọi tên cảm xúc</a:t>
            </a:r>
            <a:endParaRPr lang="en-US" sz="1300" dirty="0"/>
          </a:p>
        </p:txBody>
      </p:sp>
      <p:sp>
        <p:nvSpPr>
          <p:cNvPr id="18" name="Text 16"/>
          <p:cNvSpPr/>
          <p:nvPr/>
        </p:nvSpPr>
        <p:spPr>
          <a:xfrm>
            <a:off x="658368" y="3355848"/>
            <a:ext cx="3730752" cy="22860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Phản chiếu điều bạn nghĩ họ đang cảm thấy: “Anh khó chịu vì hệ thống hết phiên mà không báo trước?”</a:t>
            </a:r>
            <a:endParaRPr lang="en-US" sz="1000" dirty="0"/>
          </a:p>
        </p:txBody>
      </p:sp>
      <p:sp>
        <p:nvSpPr>
          <p:cNvPr id="19" name="Shape 17"/>
          <p:cNvSpPr/>
          <p:nvPr/>
        </p:nvSpPr>
        <p:spPr>
          <a:xfrm>
            <a:off x="457200" y="3721608"/>
            <a:ext cx="4023360" cy="685800"/>
          </a:xfrm>
          <a:prstGeom prst="roundRect">
            <a:avLst>
              <a:gd name="adj" fmla="val 10667"/>
            </a:avLst>
          </a:prstGeom>
          <a:solidFill>
            <a:srgbClr val="FFFFFF"/>
          </a:solidFill>
          <a:ln w="12700">
            <a:solidFill>
              <a:srgbClr val="E6E2D6"/>
            </a:solidFill>
            <a:prstDash val="solid"/>
          </a:ln>
        </p:spPr>
      </p:sp>
      <p:sp>
        <p:nvSpPr>
          <p:cNvPr id="20" name="Shape 18"/>
          <p:cNvSpPr/>
          <p:nvPr/>
        </p:nvSpPr>
        <p:spPr>
          <a:xfrm>
            <a:off x="457200" y="3831336"/>
            <a:ext cx="64008" cy="466344"/>
          </a:xfrm>
          <a:prstGeom prst="rect">
            <a:avLst/>
          </a:prstGeom>
          <a:solidFill>
            <a:srgbClr val="FF9259"/>
          </a:solidFill>
          <a:ln w="12700">
            <a:solidFill>
              <a:srgbClr val="FF9259"/>
            </a:solidFill>
            <a:prstDash val="solid"/>
          </a:ln>
        </p:spPr>
      </p:sp>
      <p:sp>
        <p:nvSpPr>
          <p:cNvPr id="21" name="Text 19"/>
          <p:cNvSpPr/>
          <p:nvPr/>
        </p:nvSpPr>
        <p:spPr>
          <a:xfrm>
            <a:off x="658368" y="3813048"/>
            <a:ext cx="3730752" cy="274320"/>
          </a:xfrm>
          <a:prstGeom prst="rect">
            <a:avLst/>
          </a:prstGeom>
          <a:noFill/>
          <a:ln/>
        </p:spPr>
        <p:txBody>
          <a:bodyPr wrap="square" lIns="0" tIns="0" rIns="0" bIns="0" rtlCol="0" anchor="t"/>
          <a:lstStyle/>
          <a:p>
            <a:pPr algn="l" indent="0" marL="0">
              <a:buNone/>
            </a:pPr>
            <a:r>
              <a:rPr lang="en-US" sz="1300" b="1" dirty="0">
                <a:solidFill>
                  <a:srgbClr val="FF9259"/>
                </a:solidFill>
                <a:latin typeface="Alexandria" pitchFamily="34" charset="0"/>
                <a:ea typeface="Alexandria" pitchFamily="34" charset="-122"/>
                <a:cs typeface="Alexandria" pitchFamily="34" charset="-120"/>
              </a:rPr>
              <a:t>Gọi sai có chủ đích</a:t>
            </a:r>
            <a:endParaRPr lang="en-US" sz="1300" dirty="0"/>
          </a:p>
        </p:txBody>
      </p:sp>
      <p:sp>
        <p:nvSpPr>
          <p:cNvPr id="22" name="Text 20"/>
          <p:cNvSpPr/>
          <p:nvPr/>
        </p:nvSpPr>
        <p:spPr>
          <a:xfrm>
            <a:off x="658368" y="4105656"/>
            <a:ext cx="3730752" cy="22860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Đoán sai một chút để người tham gia tự sửa bằng từ ngữ của chính họ</a:t>
            </a:r>
            <a:endParaRPr lang="en-US" sz="1000" dirty="0"/>
          </a:p>
        </p:txBody>
      </p:sp>
      <p:sp>
        <p:nvSpPr>
          <p:cNvPr id="23" name="Text 21"/>
          <p:cNvSpPr/>
          <p:nvPr/>
        </p:nvSpPr>
        <p:spPr>
          <a:xfrm>
            <a:off x="4754880" y="1417320"/>
            <a:ext cx="3931920" cy="320040"/>
          </a:xfrm>
          <a:prstGeom prst="rect">
            <a:avLst/>
          </a:prstGeom>
          <a:noFill/>
          <a:ln/>
        </p:spPr>
        <p:txBody>
          <a:bodyPr wrap="square" lIns="0" tIns="0" rIns="0" bIns="0" rtlCol="0" anchor="t"/>
          <a:lstStyle/>
          <a:p>
            <a:pPr algn="l" indent="0" marL="0">
              <a:buNone/>
            </a:pPr>
            <a:r>
              <a:rPr lang="en-US" sz="1400" b="1" dirty="0">
                <a:solidFill>
                  <a:srgbClr val="2B2633"/>
                </a:solidFill>
                <a:latin typeface="Alexandria" pitchFamily="34" charset="0"/>
                <a:ea typeface="Alexandria" pitchFamily="34" charset="-122"/>
                <a:cs typeface="Alexandria" pitchFamily="34" charset="-120"/>
              </a:rPr>
              <a:t>Công cụ thể hiện cảm xúc</a:t>
            </a:r>
            <a:endParaRPr lang="en-US" sz="1400" dirty="0"/>
          </a:p>
        </p:txBody>
      </p:sp>
      <p:sp>
        <p:nvSpPr>
          <p:cNvPr id="24" name="Shape 22"/>
          <p:cNvSpPr/>
          <p:nvPr/>
        </p:nvSpPr>
        <p:spPr>
          <a:xfrm>
            <a:off x="4754880" y="1828800"/>
            <a:ext cx="1188720" cy="1188720"/>
          </a:xfrm>
          <a:prstGeom prst="pie">
            <a:avLst>
              <a:gd name="adj1" fmla="val 0"/>
              <a:gd name="adj2" fmla="val 3600000"/>
            </a:avLst>
          </a:prstGeom>
          <a:solidFill>
            <a:srgbClr val="FF5178"/>
          </a:solidFill>
          <a:ln w="19050">
            <a:solidFill>
              <a:srgbClr val="FBFAF4"/>
            </a:solidFill>
            <a:prstDash val="solid"/>
          </a:ln>
        </p:spPr>
      </p:sp>
      <p:sp>
        <p:nvSpPr>
          <p:cNvPr id="25" name="Shape 23"/>
          <p:cNvSpPr/>
          <p:nvPr/>
        </p:nvSpPr>
        <p:spPr>
          <a:xfrm>
            <a:off x="4754880" y="1828800"/>
            <a:ext cx="1188720" cy="1188720"/>
          </a:xfrm>
          <a:prstGeom prst="pie">
            <a:avLst>
              <a:gd name="adj1" fmla="val 3600000"/>
              <a:gd name="adj2" fmla="val 7200000"/>
            </a:avLst>
          </a:prstGeom>
          <a:solidFill>
            <a:srgbClr val="FF9259"/>
          </a:solidFill>
          <a:ln w="19050">
            <a:solidFill>
              <a:srgbClr val="FBFAF4"/>
            </a:solidFill>
            <a:prstDash val="solid"/>
          </a:ln>
        </p:spPr>
      </p:sp>
      <p:sp>
        <p:nvSpPr>
          <p:cNvPr id="26" name="Shape 24"/>
          <p:cNvSpPr/>
          <p:nvPr/>
        </p:nvSpPr>
        <p:spPr>
          <a:xfrm>
            <a:off x="4754880" y="1828800"/>
            <a:ext cx="1188720" cy="1188720"/>
          </a:xfrm>
          <a:prstGeom prst="pie">
            <a:avLst>
              <a:gd name="adj1" fmla="val 7200000"/>
              <a:gd name="adj2" fmla="val 10800000"/>
            </a:avLst>
          </a:prstGeom>
          <a:solidFill>
            <a:srgbClr val="FFD23B"/>
          </a:solidFill>
          <a:ln w="19050">
            <a:solidFill>
              <a:srgbClr val="FBFAF4"/>
            </a:solidFill>
            <a:prstDash val="solid"/>
          </a:ln>
        </p:spPr>
      </p:sp>
      <p:sp>
        <p:nvSpPr>
          <p:cNvPr id="27" name="Shape 25"/>
          <p:cNvSpPr/>
          <p:nvPr/>
        </p:nvSpPr>
        <p:spPr>
          <a:xfrm>
            <a:off x="4754880" y="1828800"/>
            <a:ext cx="1188720" cy="1188720"/>
          </a:xfrm>
          <a:prstGeom prst="pie">
            <a:avLst>
              <a:gd name="adj1" fmla="val 10800000"/>
              <a:gd name="adj2" fmla="val 14400000"/>
            </a:avLst>
          </a:prstGeom>
          <a:solidFill>
            <a:srgbClr val="49B296"/>
          </a:solidFill>
          <a:ln w="19050">
            <a:solidFill>
              <a:srgbClr val="FBFAF4"/>
            </a:solidFill>
            <a:prstDash val="solid"/>
          </a:ln>
        </p:spPr>
      </p:sp>
      <p:sp>
        <p:nvSpPr>
          <p:cNvPr id="28" name="Shape 26"/>
          <p:cNvSpPr/>
          <p:nvPr/>
        </p:nvSpPr>
        <p:spPr>
          <a:xfrm>
            <a:off x="4754880" y="1828800"/>
            <a:ext cx="1188720" cy="1188720"/>
          </a:xfrm>
          <a:prstGeom prst="pie">
            <a:avLst>
              <a:gd name="adj1" fmla="val 14400000"/>
              <a:gd name="adj2" fmla="val 18000000"/>
            </a:avLst>
          </a:prstGeom>
          <a:solidFill>
            <a:srgbClr val="09A1E5"/>
          </a:solidFill>
          <a:ln w="19050">
            <a:solidFill>
              <a:srgbClr val="FBFAF4"/>
            </a:solidFill>
            <a:prstDash val="solid"/>
          </a:ln>
        </p:spPr>
      </p:sp>
      <p:sp>
        <p:nvSpPr>
          <p:cNvPr id="29" name="Shape 27"/>
          <p:cNvSpPr/>
          <p:nvPr/>
        </p:nvSpPr>
        <p:spPr>
          <a:xfrm>
            <a:off x="4754880" y="1828800"/>
            <a:ext cx="1188720" cy="1188720"/>
          </a:xfrm>
          <a:prstGeom prst="pie">
            <a:avLst>
              <a:gd name="adj1" fmla="val 18000000"/>
              <a:gd name="adj2" fmla="val 21600000"/>
            </a:avLst>
          </a:prstGeom>
          <a:solidFill>
            <a:srgbClr val="962B7C"/>
          </a:solidFill>
          <a:ln w="19050">
            <a:solidFill>
              <a:srgbClr val="FBFAF4"/>
            </a:solidFill>
            <a:prstDash val="solid"/>
          </a:ln>
        </p:spPr>
      </p:sp>
      <p:sp>
        <p:nvSpPr>
          <p:cNvPr id="30" name="Text 28"/>
          <p:cNvSpPr/>
          <p:nvPr/>
        </p:nvSpPr>
        <p:spPr>
          <a:xfrm>
            <a:off x="6080760" y="1828800"/>
            <a:ext cx="2606040" cy="274320"/>
          </a:xfrm>
          <a:prstGeom prst="rect">
            <a:avLst/>
          </a:prstGeom>
          <a:noFill/>
          <a:ln/>
        </p:spPr>
        <p:txBody>
          <a:bodyPr wrap="square" lIns="0" tIns="0" rIns="0" bIns="0" rtlCol="0" anchor="t"/>
          <a:lstStyle/>
          <a:p>
            <a:pPr algn="l" indent="0" marL="0">
              <a:buNone/>
            </a:pPr>
            <a:r>
              <a:rPr lang="en-US" sz="1250" b="1" dirty="0">
                <a:solidFill>
                  <a:srgbClr val="962B7C"/>
                </a:solidFill>
                <a:latin typeface="Alexandria" pitchFamily="34" charset="0"/>
                <a:ea typeface="Alexandria" pitchFamily="34" charset="-122"/>
                <a:cs typeface="Alexandria" pitchFamily="34" charset="-120"/>
              </a:rPr>
              <a:t>Bánh xe cảm xúc</a:t>
            </a:r>
            <a:endParaRPr lang="en-US" sz="1250" dirty="0"/>
          </a:p>
        </p:txBody>
      </p:sp>
      <p:sp>
        <p:nvSpPr>
          <p:cNvPr id="31" name="Text 29"/>
          <p:cNvSpPr/>
          <p:nvPr/>
        </p:nvSpPr>
        <p:spPr>
          <a:xfrm>
            <a:off x="6080760" y="2103120"/>
            <a:ext cx="2606040" cy="8229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Diễn tả chính xác điều nhóm khách mục tiêu đang trải qua trong hồ sơ persona</a:t>
            </a:r>
            <a:endParaRPr lang="en-US" sz="1050" dirty="0"/>
          </a:p>
        </p:txBody>
      </p:sp>
      <p:sp>
        <p:nvSpPr>
          <p:cNvPr id="32" name="Shape 30"/>
          <p:cNvSpPr/>
          <p:nvPr/>
        </p:nvSpPr>
        <p:spPr>
          <a:xfrm flipV="1">
            <a:off x="4800600" y="3520440"/>
            <a:ext cx="457200" cy="457200"/>
          </a:xfrm>
          <a:prstGeom prst="line">
            <a:avLst/>
          </a:prstGeom>
          <a:noFill/>
          <a:ln w="25400">
            <a:solidFill>
              <a:srgbClr val="09A1E5"/>
            </a:solidFill>
            <a:prstDash val="solid"/>
          </a:ln>
        </p:spPr>
      </p:sp>
      <p:sp>
        <p:nvSpPr>
          <p:cNvPr id="33" name="Shape 31"/>
          <p:cNvSpPr/>
          <p:nvPr/>
        </p:nvSpPr>
        <p:spPr>
          <a:xfrm>
            <a:off x="5257800" y="3520440"/>
            <a:ext cx="457200" cy="640080"/>
          </a:xfrm>
          <a:prstGeom prst="line">
            <a:avLst/>
          </a:prstGeom>
          <a:noFill/>
          <a:ln w="25400">
            <a:solidFill>
              <a:srgbClr val="09A1E5"/>
            </a:solidFill>
            <a:prstDash val="solid"/>
          </a:ln>
        </p:spPr>
      </p:sp>
      <p:sp>
        <p:nvSpPr>
          <p:cNvPr id="34" name="Shape 32"/>
          <p:cNvSpPr/>
          <p:nvPr/>
        </p:nvSpPr>
        <p:spPr>
          <a:xfrm flipV="1">
            <a:off x="5715000" y="3429000"/>
            <a:ext cx="457200" cy="731520"/>
          </a:xfrm>
          <a:prstGeom prst="line">
            <a:avLst/>
          </a:prstGeom>
          <a:noFill/>
          <a:ln w="25400">
            <a:solidFill>
              <a:srgbClr val="09A1E5"/>
            </a:solidFill>
            <a:prstDash val="solid"/>
          </a:ln>
        </p:spPr>
      </p:sp>
      <p:sp>
        <p:nvSpPr>
          <p:cNvPr id="35" name="Shape 33"/>
          <p:cNvSpPr/>
          <p:nvPr/>
        </p:nvSpPr>
        <p:spPr>
          <a:xfrm>
            <a:off x="4736592" y="3913632"/>
            <a:ext cx="128016" cy="128016"/>
          </a:xfrm>
          <a:prstGeom prst="ellipse">
            <a:avLst/>
          </a:prstGeom>
          <a:solidFill>
            <a:srgbClr val="09A1E5"/>
          </a:solidFill>
          <a:ln w="12700">
            <a:solidFill>
              <a:srgbClr val="FFFFFF"/>
            </a:solidFill>
            <a:prstDash val="solid"/>
          </a:ln>
        </p:spPr>
      </p:sp>
      <p:sp>
        <p:nvSpPr>
          <p:cNvPr id="36" name="Shape 34"/>
          <p:cNvSpPr/>
          <p:nvPr/>
        </p:nvSpPr>
        <p:spPr>
          <a:xfrm>
            <a:off x="5193792" y="3456432"/>
            <a:ext cx="128016" cy="128016"/>
          </a:xfrm>
          <a:prstGeom prst="ellipse">
            <a:avLst/>
          </a:prstGeom>
          <a:solidFill>
            <a:srgbClr val="09A1E5"/>
          </a:solidFill>
          <a:ln w="12700">
            <a:solidFill>
              <a:srgbClr val="FFFFFF"/>
            </a:solidFill>
            <a:prstDash val="solid"/>
          </a:ln>
        </p:spPr>
      </p:sp>
      <p:sp>
        <p:nvSpPr>
          <p:cNvPr id="37" name="Shape 35"/>
          <p:cNvSpPr/>
          <p:nvPr/>
        </p:nvSpPr>
        <p:spPr>
          <a:xfrm>
            <a:off x="5650992" y="4096512"/>
            <a:ext cx="128016" cy="128016"/>
          </a:xfrm>
          <a:prstGeom prst="ellipse">
            <a:avLst/>
          </a:prstGeom>
          <a:solidFill>
            <a:srgbClr val="FF5178"/>
          </a:solidFill>
          <a:ln w="12700">
            <a:solidFill>
              <a:srgbClr val="FFFFFF"/>
            </a:solidFill>
            <a:prstDash val="solid"/>
          </a:ln>
        </p:spPr>
      </p:sp>
      <p:sp>
        <p:nvSpPr>
          <p:cNvPr id="38" name="Shape 36"/>
          <p:cNvSpPr/>
          <p:nvPr/>
        </p:nvSpPr>
        <p:spPr>
          <a:xfrm>
            <a:off x="6108192" y="3364992"/>
            <a:ext cx="128016" cy="128016"/>
          </a:xfrm>
          <a:prstGeom prst="ellipse">
            <a:avLst/>
          </a:prstGeom>
          <a:solidFill>
            <a:srgbClr val="09A1E5"/>
          </a:solidFill>
          <a:ln w="12700">
            <a:solidFill>
              <a:srgbClr val="FFFFFF"/>
            </a:solidFill>
            <a:prstDash val="solid"/>
          </a:ln>
        </p:spPr>
      </p:sp>
      <p:sp>
        <p:nvSpPr>
          <p:cNvPr id="39" name="Text 37"/>
          <p:cNvSpPr/>
          <p:nvPr/>
        </p:nvSpPr>
        <p:spPr>
          <a:xfrm>
            <a:off x="6355080" y="3246120"/>
            <a:ext cx="2331720" cy="274320"/>
          </a:xfrm>
          <a:prstGeom prst="rect">
            <a:avLst/>
          </a:prstGeom>
          <a:noFill/>
          <a:ln/>
        </p:spPr>
        <p:txBody>
          <a:bodyPr wrap="square" lIns="0" tIns="0" rIns="0" bIns="0" rtlCol="0" anchor="t"/>
          <a:lstStyle/>
          <a:p>
            <a:pPr algn="l" indent="0" marL="0">
              <a:buNone/>
            </a:pPr>
            <a:r>
              <a:rPr lang="en-US" sz="1250" b="1" dirty="0">
                <a:solidFill>
                  <a:srgbClr val="09A1E5"/>
                </a:solidFill>
                <a:latin typeface="Alexandria" pitchFamily="34" charset="0"/>
                <a:ea typeface="Alexandria" pitchFamily="34" charset="-122"/>
                <a:cs typeface="Alexandria" pitchFamily="34" charset="-120"/>
              </a:rPr>
              <a:t>Bản đồ hành trình</a:t>
            </a:r>
            <a:endParaRPr lang="en-US" sz="1250" dirty="0"/>
          </a:p>
        </p:txBody>
      </p:sp>
      <p:sp>
        <p:nvSpPr>
          <p:cNvPr id="40" name="Text 38"/>
          <p:cNvSpPr/>
          <p:nvPr/>
        </p:nvSpPr>
        <p:spPr>
          <a:xfrm>
            <a:off x="6355080" y="3520440"/>
            <a:ext cx="2331720" cy="8229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Vẽ đỉnh và đáy cảm xúc qua từng điểm chạm để tìm thời điểm then chốt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Phân khúc theo hành vi và động cơ, không theo nhân khẩu học</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8</a:t>
            </a:r>
            <a:endParaRPr lang="en-US" sz="1000" dirty="0"/>
          </a:p>
        </p:txBody>
      </p:sp>
      <p:sp>
        <p:nvSpPr>
          <p:cNvPr id="13" name="Shape 11"/>
          <p:cNvSpPr/>
          <p:nvPr/>
        </p:nvSpPr>
        <p:spPr>
          <a:xfrm>
            <a:off x="457200" y="1417320"/>
            <a:ext cx="2606040" cy="2468880"/>
          </a:xfrm>
          <a:prstGeom prst="roundRect">
            <a:avLst>
              <a:gd name="adj" fmla="val 2963"/>
            </a:avLst>
          </a:prstGeom>
          <a:solidFill>
            <a:srgbClr val="FFFFFF"/>
          </a:solidFill>
          <a:ln w="12700">
            <a:solidFill>
              <a:srgbClr val="E6E2D6"/>
            </a:solidFill>
            <a:prstDash val="solid"/>
          </a:ln>
        </p:spPr>
      </p:sp>
      <p:sp>
        <p:nvSpPr>
          <p:cNvPr id="14" name="Shape 12"/>
          <p:cNvSpPr/>
          <p:nvPr/>
        </p:nvSpPr>
        <p:spPr>
          <a:xfrm>
            <a:off x="621792" y="1554480"/>
            <a:ext cx="640080" cy="640080"/>
          </a:xfrm>
          <a:prstGeom prst="ellipse">
            <a:avLst/>
          </a:prstGeom>
          <a:solidFill>
            <a:srgbClr val="09A1E5"/>
          </a:solidFill>
          <a:ln w="12700">
            <a:solidFill>
              <a:srgbClr val="09A1E5"/>
            </a:solidFill>
            <a:prstDash val="solid"/>
          </a:ln>
        </p:spPr>
      </p:sp>
      <p:sp>
        <p:nvSpPr>
          <p:cNvPr id="15" name="Text 13"/>
          <p:cNvSpPr/>
          <p:nvPr/>
        </p:nvSpPr>
        <p:spPr>
          <a:xfrm>
            <a:off x="621792" y="1554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R</a:t>
            </a:r>
            <a:endParaRPr lang="en-US" sz="2200" dirty="0"/>
          </a:p>
        </p:txBody>
      </p:sp>
      <p:sp>
        <p:nvSpPr>
          <p:cNvPr id="16" name="Text 14"/>
          <p:cNvSpPr/>
          <p:nvPr/>
        </p:nvSpPr>
        <p:spPr>
          <a:xfrm>
            <a:off x="1371600" y="1554480"/>
            <a:ext cx="1645920" cy="347472"/>
          </a:xfrm>
          <a:prstGeom prst="rect">
            <a:avLst/>
          </a:prstGeom>
          <a:noFill/>
          <a:ln/>
        </p:spPr>
        <p:txBody>
          <a:bodyPr wrap="square" lIns="0" tIns="0" rIns="0" bIns="0" rtlCol="0" anchor="t"/>
          <a:lstStyle/>
          <a:p>
            <a:pPr algn="l" indent="0" marL="0">
              <a:buNone/>
            </a:pPr>
            <a:r>
              <a:rPr lang="en-US" sz="1600" b="1" dirty="0">
                <a:solidFill>
                  <a:srgbClr val="2B2633"/>
                </a:solidFill>
                <a:latin typeface="Alexandria" pitchFamily="34" charset="0"/>
                <a:ea typeface="Alexandria" pitchFamily="34" charset="-122"/>
                <a:cs typeface="Alexandria" pitchFamily="34" charset="-120"/>
              </a:rPr>
              <a:t>Roy</a:t>
            </a:r>
            <a:endParaRPr lang="en-US" sz="1600" dirty="0"/>
          </a:p>
        </p:txBody>
      </p:sp>
      <p:sp>
        <p:nvSpPr>
          <p:cNvPr id="17" name="Text 15"/>
          <p:cNvSpPr/>
          <p:nvPr/>
        </p:nvSpPr>
        <p:spPr>
          <a:xfrm>
            <a:off x="1371600" y="1892808"/>
            <a:ext cx="1645920" cy="274320"/>
          </a:xfrm>
          <a:prstGeom prst="rect">
            <a:avLst/>
          </a:prstGeom>
          <a:noFill/>
          <a:ln/>
        </p:spPr>
        <p:txBody>
          <a:bodyPr wrap="square" lIns="0" tIns="0" rIns="0" bIns="0" rtlCol="0" anchor="t"/>
          <a:lstStyle/>
          <a:p>
            <a:pPr algn="l" indent="0" marL="0">
              <a:buNone/>
            </a:pPr>
            <a:r>
              <a:rPr lang="en-US" sz="1100" i="1" dirty="0">
                <a:solidFill>
                  <a:srgbClr val="09A1E5"/>
                </a:solidFill>
                <a:latin typeface="Alexandria" pitchFamily="34" charset="0"/>
                <a:ea typeface="Alexandria" pitchFamily="34" charset="-122"/>
                <a:cs typeface="Alexandria" pitchFamily="34" charset="-120"/>
              </a:rPr>
              <a:t>Người bán lại</a:t>
            </a:r>
            <a:endParaRPr lang="en-US" sz="1100" dirty="0"/>
          </a:p>
        </p:txBody>
      </p:sp>
      <p:sp>
        <p:nvSpPr>
          <p:cNvPr id="18" name="Text 16"/>
          <p:cNvSpPr/>
          <p:nvPr/>
        </p:nvSpPr>
        <p:spPr>
          <a:xfrm>
            <a:off x="548640" y="2331720"/>
            <a:ext cx="2423160"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3A3542"/>
                </a:solidFill>
                <a:latin typeface="Alexandria" pitchFamily="34" charset="0"/>
                <a:ea typeface="Alexandria" pitchFamily="34" charset="-122"/>
                <a:cs typeface="Alexandria" pitchFamily="34" charset="-120"/>
              </a:rPr>
              <a:t>~30 giờ/tuần ở cửa hàng đồ cũ, sống bằng nghề này</a:t>
            </a:r>
            <a:endParaRPr lang="en-US" sz="1050" dirty="0"/>
          </a:p>
          <a:p>
            <a:pPr marL="152400" indent="-152400">
              <a:spcAft>
                <a:spcPts val="300"/>
              </a:spcAft>
              <a:buSzPct val="100000"/>
              <a:buChar char="•"/>
            </a:pPr>
            <a:r>
              <a:rPr lang="en-US" sz="1050" dirty="0">
                <a:solidFill>
                  <a:srgbClr val="3A3542"/>
                </a:solidFill>
                <a:latin typeface="Alexandria" pitchFamily="34" charset="0"/>
                <a:ea typeface="Alexandria" pitchFamily="34" charset="-122"/>
                <a:cs typeface="Alexandria" pitchFamily="34" charset="-120"/>
              </a:rPr>
              <a:t>Đi thẳng tới quầy sách và đồ điện tử</a:t>
            </a:r>
            <a:endParaRPr lang="en-US" sz="1050" dirty="0"/>
          </a:p>
        </p:txBody>
      </p:sp>
      <p:sp>
        <p:nvSpPr>
          <p:cNvPr id="19" name="Shape 17"/>
          <p:cNvSpPr/>
          <p:nvPr/>
        </p:nvSpPr>
        <p:spPr>
          <a:xfrm>
            <a:off x="594360" y="3200400"/>
            <a:ext cx="2331720" cy="594360"/>
          </a:xfrm>
          <a:prstGeom prst="rect">
            <a:avLst/>
          </a:prstGeom>
          <a:solidFill>
            <a:srgbClr val="F1EEE3"/>
          </a:solidFill>
          <a:ln w="12700">
            <a:solidFill>
              <a:srgbClr val="F1EEE3"/>
            </a:solidFill>
            <a:prstDash val="solid"/>
          </a:ln>
        </p:spPr>
      </p:sp>
      <p:sp>
        <p:nvSpPr>
          <p:cNvPr id="20" name="Text 18"/>
          <p:cNvSpPr/>
          <p:nvPr/>
        </p:nvSpPr>
        <p:spPr>
          <a:xfrm>
            <a:off x="658368" y="3200400"/>
            <a:ext cx="2240280" cy="594360"/>
          </a:xfrm>
          <a:prstGeom prst="rect">
            <a:avLst/>
          </a:prstGeom>
          <a:noFill/>
          <a:ln/>
        </p:spPr>
        <p:txBody>
          <a:bodyPr wrap="square" lIns="0" tIns="0" rIns="0" bIns="0" rtlCol="0" anchor="ctr"/>
          <a:lstStyle/>
          <a:p>
            <a:pPr algn="l" indent="0" marL="0">
              <a:buNone/>
            </a:pPr>
            <a:r>
              <a:rPr lang="en-US" sz="950" i="1" dirty="0">
                <a:solidFill>
                  <a:srgbClr val="2B2633"/>
                </a:solidFill>
                <a:latin typeface="Alexandria" pitchFamily="34" charset="0"/>
                <a:ea typeface="Alexandria" pitchFamily="34" charset="-122"/>
                <a:cs typeface="Alexandria" pitchFamily="34" charset="-120"/>
              </a:rPr>
              <a:t>Săn hàng giá hời để bán lại online</a:t>
            </a:r>
            <a:endParaRPr lang="en-US" sz="950" dirty="0"/>
          </a:p>
        </p:txBody>
      </p:sp>
      <p:sp>
        <p:nvSpPr>
          <p:cNvPr id="21" name="Shape 19"/>
          <p:cNvSpPr/>
          <p:nvPr/>
        </p:nvSpPr>
        <p:spPr>
          <a:xfrm>
            <a:off x="3246120" y="1417320"/>
            <a:ext cx="2606040" cy="2468880"/>
          </a:xfrm>
          <a:prstGeom prst="roundRect">
            <a:avLst>
              <a:gd name="adj" fmla="val 2963"/>
            </a:avLst>
          </a:prstGeom>
          <a:solidFill>
            <a:srgbClr val="FFFFFF"/>
          </a:solidFill>
          <a:ln w="12700">
            <a:solidFill>
              <a:srgbClr val="E6E2D6"/>
            </a:solidFill>
            <a:prstDash val="solid"/>
          </a:ln>
        </p:spPr>
      </p:sp>
      <p:sp>
        <p:nvSpPr>
          <p:cNvPr id="22" name="Shape 20"/>
          <p:cNvSpPr/>
          <p:nvPr/>
        </p:nvSpPr>
        <p:spPr>
          <a:xfrm>
            <a:off x="3410712" y="1554480"/>
            <a:ext cx="640080" cy="640080"/>
          </a:xfrm>
          <a:prstGeom prst="ellipse">
            <a:avLst/>
          </a:prstGeom>
          <a:solidFill>
            <a:srgbClr val="49B296"/>
          </a:solidFill>
          <a:ln w="12700">
            <a:solidFill>
              <a:srgbClr val="49B296"/>
            </a:solidFill>
            <a:prstDash val="solid"/>
          </a:ln>
        </p:spPr>
      </p:sp>
      <p:sp>
        <p:nvSpPr>
          <p:cNvPr id="23" name="Text 21"/>
          <p:cNvSpPr/>
          <p:nvPr/>
        </p:nvSpPr>
        <p:spPr>
          <a:xfrm>
            <a:off x="3410712" y="1554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C</a:t>
            </a:r>
            <a:endParaRPr lang="en-US" sz="2200" dirty="0"/>
          </a:p>
        </p:txBody>
      </p:sp>
      <p:sp>
        <p:nvSpPr>
          <p:cNvPr id="24" name="Text 22"/>
          <p:cNvSpPr/>
          <p:nvPr/>
        </p:nvSpPr>
        <p:spPr>
          <a:xfrm>
            <a:off x="4160520" y="1554480"/>
            <a:ext cx="1645920" cy="347472"/>
          </a:xfrm>
          <a:prstGeom prst="rect">
            <a:avLst/>
          </a:prstGeom>
          <a:noFill/>
          <a:ln/>
        </p:spPr>
        <p:txBody>
          <a:bodyPr wrap="square" lIns="0" tIns="0" rIns="0" bIns="0" rtlCol="0" anchor="t"/>
          <a:lstStyle/>
          <a:p>
            <a:pPr algn="l" indent="0" marL="0">
              <a:buNone/>
            </a:pPr>
            <a:r>
              <a:rPr lang="en-US" sz="1600" b="1" dirty="0">
                <a:solidFill>
                  <a:srgbClr val="2B2633"/>
                </a:solidFill>
                <a:latin typeface="Alexandria" pitchFamily="34" charset="0"/>
                <a:ea typeface="Alexandria" pitchFamily="34" charset="-122"/>
                <a:cs typeface="Alexandria" pitchFamily="34" charset="-120"/>
              </a:rPr>
              <a:t>Carrie</a:t>
            </a:r>
            <a:endParaRPr lang="en-US" sz="1600" dirty="0"/>
          </a:p>
        </p:txBody>
      </p:sp>
      <p:sp>
        <p:nvSpPr>
          <p:cNvPr id="25" name="Text 23"/>
          <p:cNvSpPr/>
          <p:nvPr/>
        </p:nvSpPr>
        <p:spPr>
          <a:xfrm>
            <a:off x="4160520" y="1892808"/>
            <a:ext cx="1645920" cy="274320"/>
          </a:xfrm>
          <a:prstGeom prst="rect">
            <a:avLst/>
          </a:prstGeom>
          <a:noFill/>
          <a:ln/>
        </p:spPr>
        <p:txBody>
          <a:bodyPr wrap="square" lIns="0" tIns="0" rIns="0" bIns="0" rtlCol="0" anchor="t"/>
          <a:lstStyle/>
          <a:p>
            <a:pPr algn="l" indent="0" marL="0">
              <a:buNone/>
            </a:pPr>
            <a:r>
              <a:rPr lang="en-US" sz="1100" i="1" dirty="0">
                <a:solidFill>
                  <a:srgbClr val="49B296"/>
                </a:solidFill>
                <a:latin typeface="Alexandria" pitchFamily="34" charset="0"/>
                <a:ea typeface="Alexandria" pitchFamily="34" charset="-122"/>
                <a:cs typeface="Alexandria" pitchFamily="34" charset="-120"/>
              </a:rPr>
              <a:t>Người thư giãn</a:t>
            </a:r>
            <a:endParaRPr lang="en-US" sz="1100" dirty="0"/>
          </a:p>
        </p:txBody>
      </p:sp>
      <p:sp>
        <p:nvSpPr>
          <p:cNvPr id="26" name="Text 24"/>
          <p:cNvSpPr/>
          <p:nvPr/>
        </p:nvSpPr>
        <p:spPr>
          <a:xfrm>
            <a:off x="3337560" y="2331720"/>
            <a:ext cx="2423160"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3A3542"/>
                </a:solidFill>
                <a:latin typeface="Alexandria" pitchFamily="34" charset="0"/>
                <a:ea typeface="Alexandria" pitchFamily="34" charset="-122"/>
                <a:cs typeface="Alexandria" pitchFamily="34" charset="-120"/>
              </a:rPr>
              <a:t>Đi chậm qua từng lối, lục từng giá đồ</a:t>
            </a:r>
            <a:endParaRPr lang="en-US" sz="1050" dirty="0"/>
          </a:p>
          <a:p>
            <a:pPr marL="152400" indent="-152400">
              <a:spcAft>
                <a:spcPts val="300"/>
              </a:spcAft>
              <a:buSzPct val="100000"/>
              <a:buChar char="•"/>
            </a:pPr>
            <a:r>
              <a:rPr lang="en-US" sz="1050" dirty="0">
                <a:solidFill>
                  <a:srgbClr val="3A3542"/>
                </a:solidFill>
                <a:latin typeface="Alexandria" pitchFamily="34" charset="0"/>
                <a:ea typeface="Alexandria" pitchFamily="34" charset="-122"/>
                <a:cs typeface="Alexandria" pitchFamily="34" charset="-120"/>
              </a:rPr>
              <a:t>Gọi việc đi mua đồ cũ là “liệu pháp”</a:t>
            </a:r>
            <a:endParaRPr lang="en-US" sz="1050" dirty="0"/>
          </a:p>
        </p:txBody>
      </p:sp>
      <p:sp>
        <p:nvSpPr>
          <p:cNvPr id="27" name="Shape 25"/>
          <p:cNvSpPr/>
          <p:nvPr/>
        </p:nvSpPr>
        <p:spPr>
          <a:xfrm>
            <a:off x="3383280" y="3200400"/>
            <a:ext cx="2331720" cy="594360"/>
          </a:xfrm>
          <a:prstGeom prst="rect">
            <a:avLst/>
          </a:prstGeom>
          <a:solidFill>
            <a:srgbClr val="F1EEE3"/>
          </a:solidFill>
          <a:ln w="12700">
            <a:solidFill>
              <a:srgbClr val="F1EEE3"/>
            </a:solidFill>
            <a:prstDash val="solid"/>
          </a:ln>
        </p:spPr>
      </p:sp>
      <p:sp>
        <p:nvSpPr>
          <p:cNvPr id="28" name="Text 26"/>
          <p:cNvSpPr/>
          <p:nvPr/>
        </p:nvSpPr>
        <p:spPr>
          <a:xfrm>
            <a:off x="3447288" y="3200400"/>
            <a:ext cx="2240280" cy="594360"/>
          </a:xfrm>
          <a:prstGeom prst="rect">
            <a:avLst/>
          </a:prstGeom>
          <a:noFill/>
          <a:ln/>
        </p:spPr>
        <p:txBody>
          <a:bodyPr wrap="square" lIns="0" tIns="0" rIns="0" bIns="0" rtlCol="0" anchor="ctr"/>
          <a:lstStyle/>
          <a:p>
            <a:pPr algn="l" indent="0" marL="0">
              <a:buNone/>
            </a:pPr>
            <a:r>
              <a:rPr lang="en-US" sz="950" i="1" dirty="0">
                <a:solidFill>
                  <a:srgbClr val="2B2633"/>
                </a:solidFill>
                <a:latin typeface="Alexandria" pitchFamily="34" charset="0"/>
                <a:ea typeface="Alexandria" pitchFamily="34" charset="-122"/>
                <a:cs typeface="Alexandria" pitchFamily="34" charset="-120"/>
              </a:rPr>
              <a:t>“Món đồ truyền cảm hứng — hàng nghìn sản phẩm mới mỗi ngày”</a:t>
            </a:r>
            <a:endParaRPr lang="en-US" sz="950" dirty="0"/>
          </a:p>
        </p:txBody>
      </p:sp>
      <p:sp>
        <p:nvSpPr>
          <p:cNvPr id="29" name="Shape 27"/>
          <p:cNvSpPr/>
          <p:nvPr/>
        </p:nvSpPr>
        <p:spPr>
          <a:xfrm>
            <a:off x="6035040" y="1417320"/>
            <a:ext cx="2606040" cy="2468880"/>
          </a:xfrm>
          <a:prstGeom prst="roundRect">
            <a:avLst>
              <a:gd name="adj" fmla="val 2963"/>
            </a:avLst>
          </a:prstGeom>
          <a:solidFill>
            <a:srgbClr val="FFFFFF"/>
          </a:solidFill>
          <a:ln w="12700">
            <a:solidFill>
              <a:srgbClr val="E6E2D6"/>
            </a:solidFill>
            <a:prstDash val="solid"/>
          </a:ln>
        </p:spPr>
      </p:sp>
      <p:sp>
        <p:nvSpPr>
          <p:cNvPr id="30" name="Shape 28"/>
          <p:cNvSpPr/>
          <p:nvPr/>
        </p:nvSpPr>
        <p:spPr>
          <a:xfrm>
            <a:off x="6199632" y="1554480"/>
            <a:ext cx="640080" cy="640080"/>
          </a:xfrm>
          <a:prstGeom prst="ellipse">
            <a:avLst/>
          </a:prstGeom>
          <a:solidFill>
            <a:srgbClr val="FF9259"/>
          </a:solidFill>
          <a:ln w="12700">
            <a:solidFill>
              <a:srgbClr val="FF9259"/>
            </a:solidFill>
            <a:prstDash val="solid"/>
          </a:ln>
        </p:spPr>
      </p:sp>
      <p:sp>
        <p:nvSpPr>
          <p:cNvPr id="31" name="Text 29"/>
          <p:cNvSpPr/>
          <p:nvPr/>
        </p:nvSpPr>
        <p:spPr>
          <a:xfrm>
            <a:off x="6199632" y="1554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lexandria" pitchFamily="34" charset="0"/>
                <a:ea typeface="Alexandria" pitchFamily="34" charset="-122"/>
                <a:cs typeface="Alexandria" pitchFamily="34" charset="-120"/>
              </a:rPr>
              <a:t>S</a:t>
            </a:r>
            <a:endParaRPr lang="en-US" sz="2200" dirty="0"/>
          </a:p>
        </p:txBody>
      </p:sp>
      <p:sp>
        <p:nvSpPr>
          <p:cNvPr id="32" name="Text 30"/>
          <p:cNvSpPr/>
          <p:nvPr/>
        </p:nvSpPr>
        <p:spPr>
          <a:xfrm>
            <a:off x="6949440" y="1554480"/>
            <a:ext cx="1645920" cy="347472"/>
          </a:xfrm>
          <a:prstGeom prst="rect">
            <a:avLst/>
          </a:prstGeom>
          <a:noFill/>
          <a:ln/>
        </p:spPr>
        <p:txBody>
          <a:bodyPr wrap="square" lIns="0" tIns="0" rIns="0" bIns="0" rtlCol="0" anchor="t"/>
          <a:lstStyle/>
          <a:p>
            <a:pPr algn="l" indent="0" marL="0">
              <a:buNone/>
            </a:pPr>
            <a:r>
              <a:rPr lang="en-US" sz="1600" b="1" dirty="0">
                <a:solidFill>
                  <a:srgbClr val="2B2633"/>
                </a:solidFill>
                <a:latin typeface="Alexandria" pitchFamily="34" charset="0"/>
                <a:ea typeface="Alexandria" pitchFamily="34" charset="-122"/>
                <a:cs typeface="Alexandria" pitchFamily="34" charset="-120"/>
              </a:rPr>
              <a:t>Stephanie</a:t>
            </a:r>
            <a:endParaRPr lang="en-US" sz="1600" dirty="0"/>
          </a:p>
        </p:txBody>
      </p:sp>
      <p:sp>
        <p:nvSpPr>
          <p:cNvPr id="33" name="Text 31"/>
          <p:cNvSpPr/>
          <p:nvPr/>
        </p:nvSpPr>
        <p:spPr>
          <a:xfrm>
            <a:off x="6949440" y="1892808"/>
            <a:ext cx="1645920" cy="274320"/>
          </a:xfrm>
          <a:prstGeom prst="rect">
            <a:avLst/>
          </a:prstGeom>
          <a:noFill/>
          <a:ln/>
        </p:spPr>
        <p:txBody>
          <a:bodyPr wrap="square" lIns="0" tIns="0" rIns="0" bIns="0" rtlCol="0" anchor="t"/>
          <a:lstStyle/>
          <a:p>
            <a:pPr algn="l" indent="0" marL="0">
              <a:buNone/>
            </a:pPr>
            <a:r>
              <a:rPr lang="en-US" sz="1100" i="1" dirty="0">
                <a:solidFill>
                  <a:srgbClr val="FF9259"/>
                </a:solidFill>
                <a:latin typeface="Alexandria" pitchFamily="34" charset="0"/>
                <a:ea typeface="Alexandria" pitchFamily="34" charset="-122"/>
                <a:cs typeface="Alexandria" pitchFamily="34" charset="-120"/>
              </a:rPr>
              <a:t>Mẹ bận rộn</a:t>
            </a:r>
            <a:endParaRPr lang="en-US" sz="1100" dirty="0"/>
          </a:p>
        </p:txBody>
      </p:sp>
      <p:sp>
        <p:nvSpPr>
          <p:cNvPr id="34" name="Text 32"/>
          <p:cNvSpPr/>
          <p:nvPr/>
        </p:nvSpPr>
        <p:spPr>
          <a:xfrm>
            <a:off x="6126480" y="2331720"/>
            <a:ext cx="2423160" cy="91440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3A3542"/>
                </a:solidFill>
                <a:latin typeface="Alexandria" pitchFamily="34" charset="0"/>
                <a:ea typeface="Alexandria" pitchFamily="34" charset="-122"/>
                <a:cs typeface="Alexandria" pitchFamily="34" charset="-120"/>
              </a:rPr>
              <a:t>Vài lần/năm, mua quần áo cho con</a:t>
            </a:r>
            <a:endParaRPr lang="en-US" sz="1050" dirty="0"/>
          </a:p>
          <a:p>
            <a:pPr marL="152400" indent="-152400">
              <a:spcAft>
                <a:spcPts val="300"/>
              </a:spcAft>
              <a:buSzPct val="100000"/>
              <a:buChar char="•"/>
            </a:pPr>
            <a:r>
              <a:rPr lang="en-US" sz="1050" dirty="0">
                <a:solidFill>
                  <a:srgbClr val="3A3542"/>
                </a:solidFill>
                <a:latin typeface="Alexandria" pitchFamily="34" charset="0"/>
                <a:ea typeface="Alexandria" pitchFamily="34" charset="-122"/>
                <a:cs typeface="Alexandria" pitchFamily="34" charset="-120"/>
              </a:rPr>
              <a:t>Ít đến nhưng mỗi lần chi nhiều hơn</a:t>
            </a:r>
            <a:endParaRPr lang="en-US" sz="1050" dirty="0"/>
          </a:p>
        </p:txBody>
      </p:sp>
      <p:sp>
        <p:nvSpPr>
          <p:cNvPr id="35" name="Shape 33"/>
          <p:cNvSpPr/>
          <p:nvPr/>
        </p:nvSpPr>
        <p:spPr>
          <a:xfrm>
            <a:off x="6172200" y="3200400"/>
            <a:ext cx="2331720" cy="594360"/>
          </a:xfrm>
          <a:prstGeom prst="rect">
            <a:avLst/>
          </a:prstGeom>
          <a:solidFill>
            <a:srgbClr val="F1EEE3"/>
          </a:solidFill>
          <a:ln w="12700">
            <a:solidFill>
              <a:srgbClr val="F1EEE3"/>
            </a:solidFill>
            <a:prstDash val="solid"/>
          </a:ln>
        </p:spPr>
      </p:sp>
      <p:sp>
        <p:nvSpPr>
          <p:cNvPr id="36" name="Text 34"/>
          <p:cNvSpPr/>
          <p:nvPr/>
        </p:nvSpPr>
        <p:spPr>
          <a:xfrm>
            <a:off x="6236208" y="3200400"/>
            <a:ext cx="2240280" cy="594360"/>
          </a:xfrm>
          <a:prstGeom prst="rect">
            <a:avLst/>
          </a:prstGeom>
          <a:noFill/>
          <a:ln/>
        </p:spPr>
        <p:txBody>
          <a:bodyPr wrap="square" lIns="0" tIns="0" rIns="0" bIns="0" rtlCol="0" anchor="ctr"/>
          <a:lstStyle/>
          <a:p>
            <a:pPr algn="l" indent="0" marL="0">
              <a:buNone/>
            </a:pPr>
            <a:r>
              <a:rPr lang="en-US" sz="950" i="1" dirty="0">
                <a:solidFill>
                  <a:srgbClr val="2B2633"/>
                </a:solidFill>
                <a:latin typeface="Alexandria" pitchFamily="34" charset="0"/>
                <a:ea typeface="Alexandria" pitchFamily="34" charset="-122"/>
                <a:cs typeface="Alexandria" pitchFamily="34" charset="-120"/>
              </a:rPr>
              <a:t>“Đồ trẻ em đa dạng, áo chỉ 1,99 USD”</a:t>
            </a:r>
            <a:endParaRPr lang="en-US" sz="950" dirty="0"/>
          </a:p>
        </p:txBody>
      </p:sp>
      <p:sp>
        <p:nvSpPr>
          <p:cNvPr id="37" name="Shape 35"/>
          <p:cNvSpPr/>
          <p:nvPr/>
        </p:nvSpPr>
        <p:spPr>
          <a:xfrm>
            <a:off x="457200" y="3977640"/>
            <a:ext cx="8229600" cy="457200"/>
          </a:xfrm>
          <a:prstGeom prst="roundRect">
            <a:avLst>
              <a:gd name="adj" fmla="val 16000"/>
            </a:avLst>
          </a:prstGeom>
          <a:solidFill>
            <a:srgbClr val="962B7C"/>
          </a:solidFill>
          <a:ln w="12700">
            <a:solidFill>
              <a:srgbClr val="962B7C"/>
            </a:solidFill>
            <a:prstDash val="solid"/>
          </a:ln>
        </p:spPr>
      </p:sp>
      <p:sp>
        <p:nvSpPr>
          <p:cNvPr id="38" name="Text 36"/>
          <p:cNvSpPr/>
          <p:nvPr/>
        </p:nvSpPr>
        <p:spPr>
          <a:xfrm>
            <a:off x="640080" y="3977640"/>
            <a:ext cx="7863840" cy="457200"/>
          </a:xfrm>
          <a:prstGeom prst="rect">
            <a:avLst/>
          </a:prstGeom>
          <a:noFill/>
          <a:ln/>
        </p:spPr>
        <p:txBody>
          <a:bodyPr wrap="square" lIns="0" tIns="0" rIns="0" bIns="0" rtlCol="0" anchor="ctr"/>
          <a:lstStyle/>
          <a:p>
            <a:pPr indent="0" marL="0">
              <a:buNone/>
            </a:pPr>
            <a:r>
              <a:rPr lang="en-US" sz="1100" b="1" dirty="0">
                <a:solidFill>
                  <a:srgbClr val="FFD23B"/>
                </a:solidFill>
                <a:latin typeface="Alexandria" pitchFamily="34" charset="0"/>
                <a:ea typeface="Alexandria" pitchFamily="34" charset="-122"/>
                <a:cs typeface="Alexandria" pitchFamily="34" charset="-120"/>
              </a:rPr>
              <a:t>Carrie và Stephanie </a:t>
            </a:r>
            <a:pPr indent="0" marL="0">
              <a:buNone/>
            </a:pPr>
            <a:r>
              <a:rPr lang="en-US" sz="1100" dirty="0">
                <a:solidFill>
                  <a:srgbClr val="FFFFFF"/>
                </a:solidFill>
                <a:latin typeface="Alexandria" pitchFamily="34" charset="0"/>
                <a:ea typeface="Alexandria" pitchFamily="34" charset="-122"/>
                <a:cs typeface="Alexandria" pitchFamily="34" charset="-120"/>
              </a:rPr>
              <a:t>cùng hồ sơ nhân khẩu học nhưng mua vì lý do khác nhau → cần chiến lược khác nhau.</a:t>
            </a:r>
            <a:endParaRPr lang="en-US" sz="1100" dirty="0"/>
          </a:p>
        </p:txBody>
      </p:sp>
      <p:sp>
        <p:nvSpPr>
          <p:cNvPr id="39" name="Text 37"/>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Dữ liệu từ gần 600 cuộc phỏng vấn tại chuỗi cửa hàng đồ cũ. Ô xám: thông điệp phù hợp với từng persona.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5178"/>
          </a:solidFill>
          <a:ln w="12700">
            <a:solidFill>
              <a:srgbClr val="FF5178"/>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1  Nghiên cứu định tính là gì?</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Phương pháp “bánh sandwich”: kẹp định lượng giữa hai vòng định tính</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5178"/>
                </a:solidFill>
                <a:latin typeface="Alexandria" pitchFamily="34" charset="0"/>
                <a:ea typeface="Alexandria" pitchFamily="34" charset="-122"/>
                <a:cs typeface="Alexandria" pitchFamily="34" charset="-120"/>
              </a:rPr>
              <a:t>9</a:t>
            </a:r>
            <a:endParaRPr lang="en-US" sz="1000" dirty="0"/>
          </a:p>
        </p:txBody>
      </p:sp>
      <p:sp>
        <p:nvSpPr>
          <p:cNvPr id="13" name="Shape 11"/>
          <p:cNvSpPr/>
          <p:nvPr/>
        </p:nvSpPr>
        <p:spPr>
          <a:xfrm>
            <a:off x="457200" y="1463040"/>
            <a:ext cx="4206240" cy="822960"/>
          </a:xfrm>
          <a:prstGeom prst="roundRect">
            <a:avLst>
              <a:gd name="adj" fmla="val 33333"/>
            </a:avLst>
          </a:prstGeom>
          <a:solidFill>
            <a:srgbClr val="FF5178"/>
          </a:solidFill>
          <a:ln w="12700">
            <a:solidFill>
              <a:srgbClr val="FF5178"/>
            </a:solidFill>
            <a:prstDash val="solid"/>
          </a:ln>
        </p:spPr>
      </p:sp>
      <p:sp>
        <p:nvSpPr>
          <p:cNvPr id="14" name="Text 12"/>
          <p:cNvSpPr/>
          <p:nvPr/>
        </p:nvSpPr>
        <p:spPr>
          <a:xfrm>
            <a:off x="685800" y="1463040"/>
            <a:ext cx="3749040" cy="822960"/>
          </a:xfrm>
          <a:prstGeom prst="rect">
            <a:avLst/>
          </a:prstGeom>
          <a:noFill/>
          <a:ln/>
        </p:spPr>
        <p:txBody>
          <a:bodyPr wrap="square" lIns="0" tIns="0" rIns="0" bIns="0" rtlCol="0" anchor="ctr"/>
          <a:lstStyle/>
          <a:p>
            <a:pPr indent="0" marL="0">
              <a:buNone/>
            </a:pPr>
            <a:r>
              <a:rPr lang="en-US" sz="1300" b="1" dirty="0">
                <a:solidFill>
                  <a:srgbClr val="FFFFFF"/>
                </a:solidFill>
                <a:latin typeface="Alexandria" pitchFamily="34" charset="0"/>
                <a:ea typeface="Alexandria" pitchFamily="34" charset="-122"/>
                <a:cs typeface="Alexandria" pitchFamily="34" charset="-120"/>
              </a:rPr>
              <a:t>ĐỊNH TÍNH 1 · Khám phá</a:t>
            </a:r>
            <a:endParaRPr lang="en-US" sz="1300" dirty="0"/>
          </a:p>
          <a:p>
            <a:pPr indent="0" marL="0">
              <a:buNone/>
            </a:pPr>
            <a:r>
              <a:rPr lang="en-US" sz="1050" dirty="0">
                <a:solidFill>
                  <a:srgbClr val="FFFFFF"/>
                </a:solidFill>
                <a:latin typeface="Alexandria" pitchFamily="34" charset="0"/>
                <a:ea typeface="Alexandria" pitchFamily="34" charset="-122"/>
                <a:cs typeface="Alexandria" pitchFamily="34" charset="-120"/>
              </a:rPr>
              <a:t>Tìm hiểu khách hàng, khó khăn, động cơ → hình thành giả thuyết</a:t>
            </a:r>
            <a:endParaRPr lang="en-US" sz="1300" dirty="0"/>
          </a:p>
        </p:txBody>
      </p:sp>
      <p:sp>
        <p:nvSpPr>
          <p:cNvPr id="15" name="Shape 13"/>
          <p:cNvSpPr/>
          <p:nvPr/>
        </p:nvSpPr>
        <p:spPr>
          <a:xfrm>
            <a:off x="457200" y="2423160"/>
            <a:ext cx="4206240" cy="822960"/>
          </a:xfrm>
          <a:prstGeom prst="roundRect">
            <a:avLst>
              <a:gd name="adj" fmla="val 5556"/>
            </a:avLst>
          </a:prstGeom>
          <a:solidFill>
            <a:srgbClr val="FFD23B"/>
          </a:solidFill>
          <a:ln w="12700">
            <a:solidFill>
              <a:srgbClr val="FFD23B"/>
            </a:solidFill>
            <a:prstDash val="solid"/>
          </a:ln>
        </p:spPr>
      </p:sp>
      <p:sp>
        <p:nvSpPr>
          <p:cNvPr id="16" name="Text 14"/>
          <p:cNvSpPr/>
          <p:nvPr/>
        </p:nvSpPr>
        <p:spPr>
          <a:xfrm>
            <a:off x="685800" y="2423160"/>
            <a:ext cx="3749040" cy="822960"/>
          </a:xfrm>
          <a:prstGeom prst="rect">
            <a:avLst/>
          </a:prstGeom>
          <a:noFill/>
          <a:ln/>
        </p:spPr>
        <p:txBody>
          <a:bodyPr wrap="square" lIns="0" tIns="0" rIns="0" bIns="0" rtlCol="0" anchor="ctr"/>
          <a:lstStyle/>
          <a:p>
            <a:pPr indent="0" marL="0">
              <a:buNone/>
            </a:pPr>
            <a:r>
              <a:rPr lang="en-US" sz="1300" b="1" dirty="0">
                <a:solidFill>
                  <a:srgbClr val="2B2633"/>
                </a:solidFill>
                <a:latin typeface="Alexandria" pitchFamily="34" charset="0"/>
                <a:ea typeface="Alexandria" pitchFamily="34" charset="-122"/>
                <a:cs typeface="Alexandria" pitchFamily="34" charset="-120"/>
              </a:rPr>
              <a:t>ĐỊNH LƯỢNG · Khảo sát</a:t>
            </a:r>
            <a:endParaRPr lang="en-US" sz="1300" dirty="0"/>
          </a:p>
          <a:p>
            <a:pPr indent="0" marL="0">
              <a:buNone/>
            </a:pPr>
            <a:r>
              <a:rPr lang="en-US" sz="1050" dirty="0">
                <a:solidFill>
                  <a:srgbClr val="2B2633"/>
                </a:solidFill>
                <a:latin typeface="Alexandria" pitchFamily="34" charset="0"/>
                <a:ea typeface="Alexandria" pitchFamily="34" charset="-122"/>
                <a:cs typeface="Alexandria" pitchFamily="34" charset="-120"/>
              </a:rPr>
              <a:t>Kiểm tra giả thuyết có đúng trên quy mô lớn không</a:t>
            </a:r>
            <a:endParaRPr lang="en-US" sz="1300" dirty="0"/>
          </a:p>
        </p:txBody>
      </p:sp>
      <p:sp>
        <p:nvSpPr>
          <p:cNvPr id="17" name="Shape 15"/>
          <p:cNvSpPr/>
          <p:nvPr/>
        </p:nvSpPr>
        <p:spPr>
          <a:xfrm>
            <a:off x="457200" y="3383280"/>
            <a:ext cx="4206240" cy="822960"/>
          </a:xfrm>
          <a:prstGeom prst="roundRect">
            <a:avLst>
              <a:gd name="adj" fmla="val 33333"/>
            </a:avLst>
          </a:prstGeom>
          <a:solidFill>
            <a:srgbClr val="FF5178"/>
          </a:solidFill>
          <a:ln w="12700">
            <a:solidFill>
              <a:srgbClr val="FF5178"/>
            </a:solidFill>
            <a:prstDash val="solid"/>
          </a:ln>
        </p:spPr>
      </p:sp>
      <p:sp>
        <p:nvSpPr>
          <p:cNvPr id="18" name="Text 16"/>
          <p:cNvSpPr/>
          <p:nvPr/>
        </p:nvSpPr>
        <p:spPr>
          <a:xfrm>
            <a:off x="685800" y="3383280"/>
            <a:ext cx="3749040" cy="822960"/>
          </a:xfrm>
          <a:prstGeom prst="rect">
            <a:avLst/>
          </a:prstGeom>
          <a:noFill/>
          <a:ln/>
        </p:spPr>
        <p:txBody>
          <a:bodyPr wrap="square" lIns="0" tIns="0" rIns="0" bIns="0" rtlCol="0" anchor="ctr"/>
          <a:lstStyle/>
          <a:p>
            <a:pPr indent="0" marL="0">
              <a:buNone/>
            </a:pPr>
            <a:r>
              <a:rPr lang="en-US" sz="1300" b="1" dirty="0">
                <a:solidFill>
                  <a:srgbClr val="FFFFFF"/>
                </a:solidFill>
                <a:latin typeface="Alexandria" pitchFamily="34" charset="0"/>
                <a:ea typeface="Alexandria" pitchFamily="34" charset="-122"/>
                <a:cs typeface="Alexandria" pitchFamily="34" charset="-120"/>
              </a:rPr>
              <a:t>ĐỊNH TÍNH 2 · Đào sâu</a:t>
            </a:r>
            <a:endParaRPr lang="en-US" sz="1300" dirty="0"/>
          </a:p>
          <a:p>
            <a:pPr indent="0" marL="0">
              <a:buNone/>
            </a:pPr>
            <a:r>
              <a:rPr lang="en-US" sz="1050" dirty="0">
                <a:solidFill>
                  <a:srgbClr val="FFFFFF"/>
                </a:solidFill>
                <a:latin typeface="Alexandria" pitchFamily="34" charset="0"/>
                <a:ea typeface="Alexandria" pitchFamily="34" charset="-122"/>
                <a:cs typeface="Alexandria" pitchFamily="34" charset="-120"/>
              </a:rPr>
              <a:t>Tìm hiểu kỹ những phát hiện mới mà khảo sát mới cho thấy</a:t>
            </a:r>
            <a:endParaRPr lang="en-US" sz="1300" dirty="0"/>
          </a:p>
        </p:txBody>
      </p:sp>
      <p:sp>
        <p:nvSpPr>
          <p:cNvPr id="19" name="Shape 17"/>
          <p:cNvSpPr/>
          <p:nvPr/>
        </p:nvSpPr>
        <p:spPr>
          <a:xfrm>
            <a:off x="4937760" y="1463040"/>
            <a:ext cx="3749040" cy="1188720"/>
          </a:xfrm>
          <a:prstGeom prst="roundRect">
            <a:avLst>
              <a:gd name="adj" fmla="val 6154"/>
            </a:avLst>
          </a:prstGeom>
          <a:solidFill>
            <a:srgbClr val="FFFFFF"/>
          </a:solidFill>
          <a:ln w="12700">
            <a:solidFill>
              <a:srgbClr val="E6E2D6"/>
            </a:solidFill>
            <a:prstDash val="solid"/>
          </a:ln>
        </p:spPr>
      </p:sp>
      <p:sp>
        <p:nvSpPr>
          <p:cNvPr id="20" name="Shape 18"/>
          <p:cNvSpPr/>
          <p:nvPr/>
        </p:nvSpPr>
        <p:spPr>
          <a:xfrm>
            <a:off x="4937760" y="1572768"/>
            <a:ext cx="64008" cy="969264"/>
          </a:xfrm>
          <a:prstGeom prst="rect">
            <a:avLst/>
          </a:prstGeom>
          <a:solidFill>
            <a:srgbClr val="09A1E5"/>
          </a:solidFill>
          <a:ln w="12700">
            <a:solidFill>
              <a:srgbClr val="09A1E5"/>
            </a:solidFill>
            <a:prstDash val="solid"/>
          </a:ln>
        </p:spPr>
      </p:sp>
      <p:sp>
        <p:nvSpPr>
          <p:cNvPr id="21" name="Text 19"/>
          <p:cNvSpPr/>
          <p:nvPr/>
        </p:nvSpPr>
        <p:spPr>
          <a:xfrm>
            <a:off x="5138928" y="1554480"/>
            <a:ext cx="3456432"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Định tính → Định lượng</a:t>
            </a:r>
            <a:endParaRPr lang="en-US" sz="1300" dirty="0"/>
          </a:p>
        </p:txBody>
      </p:sp>
      <p:sp>
        <p:nvSpPr>
          <p:cNvPr id="22" name="Text 20"/>
          <p:cNvSpPr/>
          <p:nvPr/>
        </p:nvSpPr>
        <p:spPr>
          <a:xfrm>
            <a:off x="5138928" y="1847088"/>
            <a:ext cx="3456432" cy="7315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Khảo sát lộ ra điều mới nhưng đã phỏng vấn xong, không hỏi thêm được.</a:t>
            </a:r>
            <a:endParaRPr lang="en-US" sz="1100" dirty="0"/>
          </a:p>
        </p:txBody>
      </p:sp>
      <p:sp>
        <p:nvSpPr>
          <p:cNvPr id="23" name="Shape 21"/>
          <p:cNvSpPr/>
          <p:nvPr/>
        </p:nvSpPr>
        <p:spPr>
          <a:xfrm>
            <a:off x="4937760" y="2788920"/>
            <a:ext cx="3749040" cy="1188720"/>
          </a:xfrm>
          <a:prstGeom prst="roundRect">
            <a:avLst>
              <a:gd name="adj" fmla="val 6154"/>
            </a:avLst>
          </a:prstGeom>
          <a:solidFill>
            <a:srgbClr val="FFFFFF"/>
          </a:solidFill>
          <a:ln w="12700">
            <a:solidFill>
              <a:srgbClr val="E6E2D6"/>
            </a:solidFill>
            <a:prstDash val="solid"/>
          </a:ln>
        </p:spPr>
      </p:sp>
      <p:sp>
        <p:nvSpPr>
          <p:cNvPr id="24" name="Shape 22"/>
          <p:cNvSpPr/>
          <p:nvPr/>
        </p:nvSpPr>
        <p:spPr>
          <a:xfrm>
            <a:off x="4937760" y="2898648"/>
            <a:ext cx="64008" cy="969264"/>
          </a:xfrm>
          <a:prstGeom prst="rect">
            <a:avLst/>
          </a:prstGeom>
          <a:solidFill>
            <a:srgbClr val="962B7C"/>
          </a:solidFill>
          <a:ln w="12700">
            <a:solidFill>
              <a:srgbClr val="962B7C"/>
            </a:solidFill>
            <a:prstDash val="solid"/>
          </a:ln>
        </p:spPr>
      </p:sp>
      <p:sp>
        <p:nvSpPr>
          <p:cNvPr id="25" name="Text 23"/>
          <p:cNvSpPr/>
          <p:nvPr/>
        </p:nvSpPr>
        <p:spPr>
          <a:xfrm>
            <a:off x="5138928" y="2880360"/>
            <a:ext cx="3456432" cy="274320"/>
          </a:xfrm>
          <a:prstGeom prst="rect">
            <a:avLst/>
          </a:prstGeom>
          <a:noFill/>
          <a:ln/>
        </p:spPr>
        <p:txBody>
          <a:bodyPr wrap="square" lIns="0" tIns="0" rIns="0" bIns="0" rtlCol="0" anchor="t"/>
          <a:lstStyle/>
          <a:p>
            <a:pPr algn="l" indent="0" marL="0">
              <a:buNone/>
            </a:pPr>
            <a:r>
              <a:rPr lang="en-US" sz="1300" b="1" dirty="0">
                <a:solidFill>
                  <a:srgbClr val="962B7C"/>
                </a:solidFill>
                <a:latin typeface="Alexandria" pitchFamily="34" charset="0"/>
                <a:ea typeface="Alexandria" pitchFamily="34" charset="-122"/>
                <a:cs typeface="Alexandria" pitchFamily="34" charset="-120"/>
              </a:rPr>
              <a:t>Định lượng → Định tính</a:t>
            </a:r>
            <a:endParaRPr lang="en-US" sz="1300" dirty="0"/>
          </a:p>
        </p:txBody>
      </p:sp>
      <p:sp>
        <p:nvSpPr>
          <p:cNvPr id="26" name="Text 24"/>
          <p:cNvSpPr/>
          <p:nvPr/>
        </p:nvSpPr>
        <p:spPr>
          <a:xfrm>
            <a:off x="5138928" y="3172968"/>
            <a:ext cx="3456432" cy="73152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Chưa biết hỏi gì cho đúng; tốn tiền cho khảo sát lớn mà vẫn sót câu quan trọng.</a:t>
            </a:r>
            <a:endParaRPr lang="en-US" sz="1100" dirty="0"/>
          </a:p>
        </p:txBody>
      </p:sp>
      <p:sp>
        <p:nvSpPr>
          <p:cNvPr id="27" name="Text 25"/>
          <p:cNvSpPr/>
          <p:nvPr/>
        </p:nvSpPr>
        <p:spPr>
          <a:xfrm>
            <a:off x="4937760" y="4069080"/>
            <a:ext cx="3749040" cy="365760"/>
          </a:xfrm>
          <a:prstGeom prst="rect">
            <a:avLst/>
          </a:prstGeom>
          <a:noFill/>
          <a:ln/>
        </p:spPr>
        <p:txBody>
          <a:bodyPr wrap="square" lIns="0" tIns="0" rIns="0" bIns="0" rtlCol="0" anchor="t"/>
          <a:lstStyle/>
          <a:p>
            <a:pPr algn="l" indent="0" marL="0">
              <a:buNone/>
            </a:pPr>
            <a:r>
              <a:rPr lang="en-US" sz="1100" b="1" dirty="0">
                <a:solidFill>
                  <a:srgbClr val="49B296"/>
                </a:solidFill>
                <a:latin typeface="Alexandria" pitchFamily="34" charset="0"/>
                <a:ea typeface="Alexandria" pitchFamily="34" charset="-122"/>
                <a:cs typeface="Alexandria" pitchFamily="34" charset="-120"/>
              </a:rPr>
              <a:t>Cùng tổng khối lượng nghiên cứu — chỉ chia phỏng vấn thành 2 đợt.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Phỏng vấn sâu là công cụ định tính quan trọng nhất vì ba lý do</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10</a:t>
            </a:r>
            <a:endParaRPr lang="en-US" sz="1000" dirty="0"/>
          </a:p>
        </p:txBody>
      </p:sp>
      <p:sp>
        <p:nvSpPr>
          <p:cNvPr id="13" name="Shape 11"/>
          <p:cNvSpPr/>
          <p:nvPr/>
        </p:nvSpPr>
        <p:spPr>
          <a:xfrm>
            <a:off x="457200" y="1417320"/>
            <a:ext cx="2606040" cy="2148840"/>
          </a:xfrm>
          <a:prstGeom prst="roundRect">
            <a:avLst>
              <a:gd name="adj" fmla="val 3404"/>
            </a:avLst>
          </a:prstGeom>
          <a:solidFill>
            <a:srgbClr val="FFFFFF"/>
          </a:solidFill>
          <a:ln w="12700">
            <a:solidFill>
              <a:srgbClr val="E6E2D6"/>
            </a:solidFill>
            <a:prstDash val="solid"/>
          </a:ln>
        </p:spPr>
      </p:sp>
      <p:sp>
        <p:nvSpPr>
          <p:cNvPr id="14" name="Shape 12"/>
          <p:cNvSpPr/>
          <p:nvPr/>
        </p:nvSpPr>
        <p:spPr>
          <a:xfrm>
            <a:off x="640080" y="1572768"/>
            <a:ext cx="502920" cy="502920"/>
          </a:xfrm>
          <a:prstGeom prst="ellipse">
            <a:avLst/>
          </a:prstGeom>
          <a:solidFill>
            <a:srgbClr val="09A1E5"/>
          </a:solidFill>
          <a:ln w="12700">
            <a:solidFill>
              <a:srgbClr val="09A1E5"/>
            </a:solidFill>
            <a:prstDash val="solid"/>
          </a:ln>
        </p:spPr>
      </p:sp>
      <p:sp>
        <p:nvSpPr>
          <p:cNvPr id="15" name="Text 13"/>
          <p:cNvSpPr/>
          <p:nvPr/>
        </p:nvSpPr>
        <p:spPr>
          <a:xfrm>
            <a:off x="64008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1</a:t>
            </a:r>
            <a:endParaRPr lang="en-US" sz="1600" dirty="0"/>
          </a:p>
        </p:txBody>
      </p:sp>
      <p:sp>
        <p:nvSpPr>
          <p:cNvPr id="16" name="Text 14"/>
          <p:cNvSpPr/>
          <p:nvPr/>
        </p:nvSpPr>
        <p:spPr>
          <a:xfrm>
            <a:off x="1280160" y="1572768"/>
            <a:ext cx="1691640" cy="502920"/>
          </a:xfrm>
          <a:prstGeom prst="rect">
            <a:avLst/>
          </a:prstGeom>
          <a:noFill/>
          <a:ln/>
        </p:spPr>
        <p:txBody>
          <a:bodyPr wrap="square" lIns="0" tIns="0" rIns="0" bIns="0" rtlCol="0" anchor="ctr"/>
          <a:lstStyle/>
          <a:p>
            <a:pPr algn="l" indent="0" marL="0">
              <a:buNone/>
            </a:pPr>
            <a:r>
              <a:rPr lang="en-US" sz="1400" b="1" dirty="0">
                <a:solidFill>
                  <a:srgbClr val="2B2633"/>
                </a:solidFill>
                <a:latin typeface="Alexandria" pitchFamily="34" charset="0"/>
                <a:ea typeface="Alexandria" pitchFamily="34" charset="-122"/>
                <a:cs typeface="Alexandria" pitchFamily="34" charset="-120"/>
              </a:rPr>
              <a:t>Linh hoạt</a:t>
            </a:r>
            <a:endParaRPr lang="en-US" sz="1400" dirty="0"/>
          </a:p>
        </p:txBody>
      </p:sp>
      <p:sp>
        <p:nvSpPr>
          <p:cNvPr id="17" name="Text 15"/>
          <p:cNvSpPr/>
          <p:nvPr/>
        </p:nvSpPr>
        <p:spPr>
          <a:xfrm>
            <a:off x="640080" y="2212848"/>
            <a:ext cx="2286000" cy="128016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Trang trọng hay thân mật; câu hỏi chi tiết hay chỉ vài chủ đề; có thể đi theo hướng bất ngờ nếu phục vụ mục tiêu</a:t>
            </a:r>
            <a:endParaRPr lang="en-US" sz="1100" dirty="0"/>
          </a:p>
        </p:txBody>
      </p:sp>
      <p:sp>
        <p:nvSpPr>
          <p:cNvPr id="18" name="Shape 16"/>
          <p:cNvSpPr/>
          <p:nvPr/>
        </p:nvSpPr>
        <p:spPr>
          <a:xfrm>
            <a:off x="3246120" y="1417320"/>
            <a:ext cx="2606040" cy="2148840"/>
          </a:xfrm>
          <a:prstGeom prst="roundRect">
            <a:avLst>
              <a:gd name="adj" fmla="val 3404"/>
            </a:avLst>
          </a:prstGeom>
          <a:solidFill>
            <a:srgbClr val="FFFFFF"/>
          </a:solidFill>
          <a:ln w="12700">
            <a:solidFill>
              <a:srgbClr val="E6E2D6"/>
            </a:solidFill>
            <a:prstDash val="solid"/>
          </a:ln>
        </p:spPr>
      </p:sp>
      <p:sp>
        <p:nvSpPr>
          <p:cNvPr id="19" name="Shape 17"/>
          <p:cNvSpPr/>
          <p:nvPr/>
        </p:nvSpPr>
        <p:spPr>
          <a:xfrm>
            <a:off x="3429000" y="1572768"/>
            <a:ext cx="502920" cy="502920"/>
          </a:xfrm>
          <a:prstGeom prst="ellipse">
            <a:avLst/>
          </a:prstGeom>
          <a:solidFill>
            <a:srgbClr val="49B296"/>
          </a:solidFill>
          <a:ln w="12700">
            <a:solidFill>
              <a:srgbClr val="49B296"/>
            </a:solidFill>
            <a:prstDash val="solid"/>
          </a:ln>
        </p:spPr>
      </p:sp>
      <p:sp>
        <p:nvSpPr>
          <p:cNvPr id="20" name="Text 18"/>
          <p:cNvSpPr/>
          <p:nvPr/>
        </p:nvSpPr>
        <p:spPr>
          <a:xfrm>
            <a:off x="342900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2</a:t>
            </a:r>
            <a:endParaRPr lang="en-US" sz="1600" dirty="0"/>
          </a:p>
        </p:txBody>
      </p:sp>
      <p:sp>
        <p:nvSpPr>
          <p:cNvPr id="21" name="Text 19"/>
          <p:cNvSpPr/>
          <p:nvPr/>
        </p:nvSpPr>
        <p:spPr>
          <a:xfrm>
            <a:off x="4069080" y="1572768"/>
            <a:ext cx="1691640" cy="502920"/>
          </a:xfrm>
          <a:prstGeom prst="rect">
            <a:avLst/>
          </a:prstGeom>
          <a:noFill/>
          <a:ln/>
        </p:spPr>
        <p:txBody>
          <a:bodyPr wrap="square" lIns="0" tIns="0" rIns="0" bIns="0" rtlCol="0" anchor="ctr"/>
          <a:lstStyle/>
          <a:p>
            <a:pPr algn="l" indent="0" marL="0">
              <a:buNone/>
            </a:pPr>
            <a:r>
              <a:rPr lang="en-US" sz="1400" b="1" dirty="0">
                <a:solidFill>
                  <a:srgbClr val="2B2633"/>
                </a:solidFill>
                <a:latin typeface="Alexandria" pitchFamily="34" charset="0"/>
                <a:ea typeface="Alexandria" pitchFamily="34" charset="-122"/>
                <a:cs typeface="Alexandria" pitchFamily="34" charset="-120"/>
              </a:rPr>
              <a:t>Nói nhiều hơn viết</a:t>
            </a:r>
            <a:endParaRPr lang="en-US" sz="1400" dirty="0"/>
          </a:p>
        </p:txBody>
      </p:sp>
      <p:sp>
        <p:nvSpPr>
          <p:cNvPr id="22" name="Text 20"/>
          <p:cNvSpPr/>
          <p:nvPr/>
        </p:nvSpPr>
        <p:spPr>
          <a:xfrm>
            <a:off x="3429000" y="2212848"/>
            <a:ext cx="2286000" cy="128016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Trong 30–60 phút người tham gia kể rất nhiều; từ ngữ khi nói khác khi viết — chất liệu cho thông điệp</a:t>
            </a:r>
            <a:endParaRPr lang="en-US" sz="1100" dirty="0"/>
          </a:p>
        </p:txBody>
      </p:sp>
      <p:sp>
        <p:nvSpPr>
          <p:cNvPr id="23" name="Shape 21"/>
          <p:cNvSpPr/>
          <p:nvPr/>
        </p:nvSpPr>
        <p:spPr>
          <a:xfrm>
            <a:off x="6035040" y="1417320"/>
            <a:ext cx="2606040" cy="2148840"/>
          </a:xfrm>
          <a:prstGeom prst="roundRect">
            <a:avLst>
              <a:gd name="adj" fmla="val 3404"/>
            </a:avLst>
          </a:prstGeom>
          <a:solidFill>
            <a:srgbClr val="FFFFFF"/>
          </a:solidFill>
          <a:ln w="12700">
            <a:solidFill>
              <a:srgbClr val="E6E2D6"/>
            </a:solidFill>
            <a:prstDash val="solid"/>
          </a:ln>
        </p:spPr>
      </p:sp>
      <p:sp>
        <p:nvSpPr>
          <p:cNvPr id="24" name="Shape 22"/>
          <p:cNvSpPr/>
          <p:nvPr/>
        </p:nvSpPr>
        <p:spPr>
          <a:xfrm>
            <a:off x="6217920" y="1572768"/>
            <a:ext cx="502920" cy="502920"/>
          </a:xfrm>
          <a:prstGeom prst="ellipse">
            <a:avLst/>
          </a:prstGeom>
          <a:solidFill>
            <a:srgbClr val="FF9259"/>
          </a:solidFill>
          <a:ln w="12700">
            <a:solidFill>
              <a:srgbClr val="FF9259"/>
            </a:solidFill>
            <a:prstDash val="solid"/>
          </a:ln>
        </p:spPr>
      </p:sp>
      <p:sp>
        <p:nvSpPr>
          <p:cNvPr id="25" name="Text 23"/>
          <p:cNvSpPr/>
          <p:nvPr/>
        </p:nvSpPr>
        <p:spPr>
          <a:xfrm>
            <a:off x="6217920" y="1572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3</a:t>
            </a:r>
            <a:endParaRPr lang="en-US" sz="1600" dirty="0"/>
          </a:p>
        </p:txBody>
      </p:sp>
      <p:sp>
        <p:nvSpPr>
          <p:cNvPr id="26" name="Text 24"/>
          <p:cNvSpPr/>
          <p:nvPr/>
        </p:nvSpPr>
        <p:spPr>
          <a:xfrm>
            <a:off x="6858000" y="1572768"/>
            <a:ext cx="1691640" cy="502920"/>
          </a:xfrm>
          <a:prstGeom prst="rect">
            <a:avLst/>
          </a:prstGeom>
          <a:noFill/>
          <a:ln/>
        </p:spPr>
        <p:txBody>
          <a:bodyPr wrap="square" lIns="0" tIns="0" rIns="0" bIns="0" rtlCol="0" anchor="ctr"/>
          <a:lstStyle/>
          <a:p>
            <a:pPr algn="l" indent="0" marL="0">
              <a:buNone/>
            </a:pPr>
            <a:r>
              <a:rPr lang="en-US" sz="1400" b="1" dirty="0">
                <a:solidFill>
                  <a:srgbClr val="2B2633"/>
                </a:solidFill>
                <a:latin typeface="Alexandria" pitchFamily="34" charset="0"/>
                <a:ea typeface="Alexandria" pitchFamily="34" charset="-122"/>
                <a:cs typeface="Alexandria" pitchFamily="34" charset="-120"/>
              </a:rPr>
              <a:t>Tín hiệu phi ngôn ngữ</a:t>
            </a:r>
            <a:endParaRPr lang="en-US" sz="1400" dirty="0"/>
          </a:p>
        </p:txBody>
      </p:sp>
      <p:sp>
        <p:nvSpPr>
          <p:cNvPr id="27" name="Text 25"/>
          <p:cNvSpPr/>
          <p:nvPr/>
        </p:nvSpPr>
        <p:spPr>
          <a:xfrm>
            <a:off x="6217920" y="2212848"/>
            <a:ext cx="2286000" cy="128016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Một thoáng ngập ngừng, tiếng thở dài, reo vui… giúp người phỏng vấn đào sâu đúng chỗ</a:t>
            </a:r>
            <a:endParaRPr lang="en-US" sz="1100" dirty="0"/>
          </a:p>
        </p:txBody>
      </p:sp>
      <p:sp>
        <p:nvSpPr>
          <p:cNvPr id="28" name="Shape 26"/>
          <p:cNvSpPr/>
          <p:nvPr/>
        </p:nvSpPr>
        <p:spPr>
          <a:xfrm>
            <a:off x="457200" y="3703320"/>
            <a:ext cx="8229600" cy="731520"/>
          </a:xfrm>
          <a:prstGeom prst="roundRect">
            <a:avLst>
              <a:gd name="adj" fmla="val 10000"/>
            </a:avLst>
          </a:prstGeom>
          <a:solidFill>
            <a:srgbClr val="09A1E5"/>
          </a:solidFill>
          <a:ln w="12700">
            <a:solidFill>
              <a:srgbClr val="09A1E5"/>
            </a:solidFill>
            <a:prstDash val="solid"/>
          </a:ln>
        </p:spPr>
      </p:sp>
      <p:sp>
        <p:nvSpPr>
          <p:cNvPr id="29" name="Text 27"/>
          <p:cNvSpPr/>
          <p:nvPr/>
        </p:nvSpPr>
        <p:spPr>
          <a:xfrm>
            <a:off x="685800" y="3703320"/>
            <a:ext cx="7772400" cy="731520"/>
          </a:xfrm>
          <a:prstGeom prst="rect">
            <a:avLst/>
          </a:prstGeom>
          <a:noFill/>
          <a:ln/>
        </p:spPr>
        <p:txBody>
          <a:bodyPr wrap="square" lIns="0" tIns="0" rIns="0" bIns="0" rtlCol="0" anchor="ctr"/>
          <a:lstStyle/>
          <a:p>
            <a:pPr indent="0" marL="0">
              <a:buNone/>
            </a:pPr>
            <a:r>
              <a:rPr lang="en-US" sz="2600" b="1" dirty="0">
                <a:solidFill>
                  <a:srgbClr val="FFD23B"/>
                </a:solidFill>
                <a:latin typeface="Alexandria" pitchFamily="34" charset="0"/>
                <a:ea typeface="Alexandria" pitchFamily="34" charset="-122"/>
                <a:cs typeface="Alexandria" pitchFamily="34" charset="-120"/>
              </a:rPr>
              <a:t>10</a:t>
            </a:r>
            <a:pPr indent="0" marL="0">
              <a:buNone/>
            </a:pPr>
            <a:r>
              <a:rPr lang="en-US" sz="1300" b="1" dirty="0">
                <a:solidFill>
                  <a:srgbClr val="FFFFFF"/>
                </a:solidFill>
                <a:latin typeface="Alexandria" pitchFamily="34" charset="0"/>
                <a:ea typeface="Alexandria" pitchFamily="34" charset="-122"/>
                <a:cs typeface="Alexandria" pitchFamily="34" charset="-120"/>
              </a:rPr>
              <a:t>  cuộc phỏng vấn có thể cho nhiều insight hơn khảo sát hàng trăm người — và thường rẻ hơn.</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Chọn hình thức nghiên cứu theo đúng mục tiêu cần trả lời</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3291840"/>
                <a:gridCol w="2743200"/>
              </a:tblGrid>
              <a:tr h="365760">
                <a:tc>
                  <a:txBody>
                    <a:bodyP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Hình thức</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2B2633"/>
                    </a:solidFill>
                  </a:tcPr>
                </a:tc>
                <a:tc>
                  <a:txBody>
                    <a:bodyP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Dùng khi cần</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09A1E5"/>
                    </a:solidFill>
                  </a:tcPr>
                </a:tc>
                <a:tc>
                  <a:txBody>
                    <a:bodyP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Lưu ý</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09A1E5"/>
                    </a:solidFill>
                  </a:tcPr>
                </a:tc>
              </a:tr>
              <a:tr h="502920">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Phỏng vấn sâu (IDI) 1:1</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Insight cá nhân sâu, câu chuyện riêng, chủ đề nhạy cảm</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Kém hiệu quả khi cần quan sát hành vi thật</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Dyad / Triad (2–3 người)</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Quyết định chung: cha mẹ – con, vợ chồng thuê hay mua nhà</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Hợp với người trẻ hay ngại nói một mình</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Nhóm tập trung</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Phản ứng tập thể với sản phẩm, ý tưởng, quảng cáo</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Online tối đa 4–6 người; tránh chủ đề nhạy cảm</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Dân tộc học</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Quan sát hành vi trong môi trường tự nhiên</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Trực tiếp hoặc qua nhật ký video</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Kiểm thử khả dụng</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Xem khách dùng website, app, sản phẩm thế nào</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Tìm điểm đau, đảm bảo trực quan</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bl>
          </a:graphicData>
        </a:graphic>
      </p:graphicFrame>
      <p:sp>
        <p:nvSpPr>
          <p:cNvPr id="14" name="Text 11"/>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Insight cá nhân → IDI · Động lực nhóm → dyad/triad, nhóm tập trung · Hành vi thật → dân tộc học · Khả dụng → kiểm thử.</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Phỏng vấn bằng hình ảnh khai thác những cảm xúc khó diễn đạt bằng lời</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12</a:t>
            </a:r>
            <a:endParaRPr lang="en-US" sz="1000" dirty="0"/>
          </a:p>
        </p:txBody>
      </p:sp>
      <p:sp>
        <p:nvSpPr>
          <p:cNvPr id="13" name="Shape 11"/>
          <p:cNvSpPr/>
          <p:nvPr/>
        </p:nvSpPr>
        <p:spPr>
          <a:xfrm>
            <a:off x="457200" y="1417320"/>
            <a:ext cx="3931920" cy="2971800"/>
          </a:xfrm>
          <a:prstGeom prst="roundRect">
            <a:avLst>
              <a:gd name="adj" fmla="val 2462"/>
            </a:avLst>
          </a:prstGeom>
          <a:solidFill>
            <a:srgbClr val="FFFFFF"/>
          </a:solidFill>
          <a:ln w="12700">
            <a:solidFill>
              <a:srgbClr val="E6E2D6"/>
            </a:solidFill>
            <a:prstDash val="solid"/>
          </a:ln>
        </p:spPr>
      </p:sp>
      <p:sp>
        <p:nvSpPr>
          <p:cNvPr id="14" name="Text 12"/>
          <p:cNvSpPr/>
          <p:nvPr/>
        </p:nvSpPr>
        <p:spPr>
          <a:xfrm>
            <a:off x="640080" y="1554480"/>
            <a:ext cx="3566160" cy="320040"/>
          </a:xfrm>
          <a:prstGeom prst="rect">
            <a:avLst/>
          </a:prstGeom>
          <a:noFill/>
          <a:ln/>
        </p:spPr>
        <p:txBody>
          <a:bodyPr wrap="square" lIns="0" tIns="0" rIns="0" bIns="0" rtlCol="0" anchor="t"/>
          <a:lstStyle/>
          <a:p>
            <a:pPr algn="l" indent="0" marL="0">
              <a:buNone/>
            </a:pPr>
            <a:r>
              <a:rPr lang="en-US" sz="1400" b="1" dirty="0">
                <a:solidFill>
                  <a:srgbClr val="09A1E5"/>
                </a:solidFill>
                <a:latin typeface="Alexandria" pitchFamily="34" charset="0"/>
                <a:ea typeface="Alexandria" pitchFamily="34" charset="-122"/>
                <a:cs typeface="Alexandria" pitchFamily="34" charset="-120"/>
              </a:rPr>
              <a:t>Tình huống: Downton Abbey</a:t>
            </a:r>
            <a:endParaRPr lang="en-US" sz="1400" dirty="0"/>
          </a:p>
        </p:txBody>
      </p:sp>
      <p:sp>
        <p:nvSpPr>
          <p:cNvPr id="15" name="Text 13"/>
          <p:cNvSpPr/>
          <p:nvPr/>
        </p:nvSpPr>
        <p:spPr>
          <a:xfrm>
            <a:off x="640080" y="1965960"/>
            <a:ext cx="1143000" cy="457200"/>
          </a:xfrm>
          <a:prstGeom prst="rect">
            <a:avLst/>
          </a:prstGeom>
          <a:noFill/>
          <a:ln/>
        </p:spPr>
        <p:txBody>
          <a:bodyPr wrap="square" lIns="0" tIns="0" rIns="0" bIns="0" rtlCol="0" anchor="t"/>
          <a:lstStyle/>
          <a:p>
            <a:pPr algn="l" indent="0" marL="0">
              <a:buNone/>
            </a:pPr>
            <a:r>
              <a:rPr lang="en-US" sz="2000" b="1" dirty="0">
                <a:solidFill>
                  <a:srgbClr val="FF5178"/>
                </a:solidFill>
                <a:latin typeface="Alexandria" pitchFamily="34" charset="0"/>
                <a:ea typeface="Alexandria" pitchFamily="34" charset="-122"/>
                <a:cs typeface="Alexandria" pitchFamily="34" charset="-120"/>
              </a:rPr>
              <a:t>120 tr.</a:t>
            </a:r>
            <a:endParaRPr lang="en-US" sz="2000" dirty="0"/>
          </a:p>
        </p:txBody>
      </p:sp>
      <p:sp>
        <p:nvSpPr>
          <p:cNvPr id="16" name="Text 14"/>
          <p:cNvSpPr/>
          <p:nvPr/>
        </p:nvSpPr>
        <p:spPr>
          <a:xfrm>
            <a:off x="640080" y="2423160"/>
            <a:ext cx="1143000" cy="411480"/>
          </a:xfrm>
          <a:prstGeom prst="rect">
            <a:avLst/>
          </a:prstGeom>
          <a:noFill/>
          <a:ln/>
        </p:spPr>
        <p:txBody>
          <a:bodyPr wrap="square" lIns="0" tIns="0" rIns="0" bIns="0" rtlCol="0" anchor="t"/>
          <a:lstStyle/>
          <a:p>
            <a:pPr algn="l" indent="0" marL="0">
              <a:buNone/>
            </a:pPr>
            <a:r>
              <a:rPr lang="en-US" sz="950" dirty="0">
                <a:solidFill>
                  <a:srgbClr val="7A7480"/>
                </a:solidFill>
                <a:latin typeface="Alexandria" pitchFamily="34" charset="0"/>
                <a:ea typeface="Alexandria" pitchFamily="34" charset="-122"/>
                <a:cs typeface="Alexandria" pitchFamily="34" charset="-120"/>
              </a:rPr>
              <a:t>khán giả quốc tế</a:t>
            </a:r>
            <a:endParaRPr lang="en-US" sz="950" dirty="0"/>
          </a:p>
        </p:txBody>
      </p:sp>
      <p:sp>
        <p:nvSpPr>
          <p:cNvPr id="17" name="Text 15"/>
          <p:cNvSpPr/>
          <p:nvPr/>
        </p:nvSpPr>
        <p:spPr>
          <a:xfrm>
            <a:off x="1856232" y="1965960"/>
            <a:ext cx="1143000" cy="457200"/>
          </a:xfrm>
          <a:prstGeom prst="rect">
            <a:avLst/>
          </a:prstGeom>
          <a:noFill/>
          <a:ln/>
        </p:spPr>
        <p:txBody>
          <a:bodyPr wrap="square" lIns="0" tIns="0" rIns="0" bIns="0" rtlCol="0" anchor="t"/>
          <a:lstStyle/>
          <a:p>
            <a:pPr algn="l" indent="0" marL="0">
              <a:buNone/>
            </a:pPr>
            <a:r>
              <a:rPr lang="en-US" sz="2000" b="1" dirty="0">
                <a:solidFill>
                  <a:srgbClr val="962B7C"/>
                </a:solidFill>
                <a:latin typeface="Alexandria" pitchFamily="34" charset="0"/>
                <a:ea typeface="Alexandria" pitchFamily="34" charset="-122"/>
                <a:cs typeface="Alexandria" pitchFamily="34" charset="-120"/>
              </a:rPr>
              <a:t>15</a:t>
            </a:r>
            <a:endParaRPr lang="en-US" sz="2000" dirty="0"/>
          </a:p>
        </p:txBody>
      </p:sp>
      <p:sp>
        <p:nvSpPr>
          <p:cNvPr id="18" name="Text 16"/>
          <p:cNvSpPr/>
          <p:nvPr/>
        </p:nvSpPr>
        <p:spPr>
          <a:xfrm>
            <a:off x="1856232" y="2423160"/>
            <a:ext cx="1143000" cy="411480"/>
          </a:xfrm>
          <a:prstGeom prst="rect">
            <a:avLst/>
          </a:prstGeom>
          <a:noFill/>
          <a:ln/>
        </p:spPr>
        <p:txBody>
          <a:bodyPr wrap="square" lIns="0" tIns="0" rIns="0" bIns="0" rtlCol="0" anchor="t"/>
          <a:lstStyle/>
          <a:p>
            <a:pPr algn="l" indent="0" marL="0">
              <a:buNone/>
            </a:pPr>
            <a:r>
              <a:rPr lang="en-US" sz="950" dirty="0">
                <a:solidFill>
                  <a:srgbClr val="7A7480"/>
                </a:solidFill>
                <a:latin typeface="Alexandria" pitchFamily="34" charset="0"/>
                <a:ea typeface="Alexandria" pitchFamily="34" charset="-122"/>
                <a:cs typeface="Alexandria" pitchFamily="34" charset="-120"/>
              </a:rPr>
              <a:t>giải Emmy</a:t>
            </a:r>
            <a:endParaRPr lang="en-US" sz="950" dirty="0"/>
          </a:p>
        </p:txBody>
      </p:sp>
      <p:sp>
        <p:nvSpPr>
          <p:cNvPr id="19" name="Text 17"/>
          <p:cNvSpPr/>
          <p:nvPr/>
        </p:nvSpPr>
        <p:spPr>
          <a:xfrm>
            <a:off x="3072384" y="1965960"/>
            <a:ext cx="1143000" cy="457200"/>
          </a:xfrm>
          <a:prstGeom prst="rect">
            <a:avLst/>
          </a:prstGeom>
          <a:noFill/>
          <a:ln/>
        </p:spPr>
        <p:txBody>
          <a:bodyPr wrap="square" lIns="0" tIns="0" rIns="0" bIns="0" rtlCol="0" anchor="t"/>
          <a:lstStyle/>
          <a:p>
            <a:pPr algn="l" indent="0" marL="0">
              <a:buNone/>
            </a:pPr>
            <a:r>
              <a:rPr lang="en-US" sz="2000" b="1" dirty="0">
                <a:solidFill>
                  <a:srgbClr val="FF9259"/>
                </a:solidFill>
                <a:latin typeface="Alexandria" pitchFamily="34" charset="0"/>
                <a:ea typeface="Alexandria" pitchFamily="34" charset="-122"/>
                <a:cs typeface="Alexandria" pitchFamily="34" charset="-120"/>
              </a:rPr>
              <a:t>10–15</a:t>
            </a:r>
            <a:endParaRPr lang="en-US" sz="2000" dirty="0"/>
          </a:p>
        </p:txBody>
      </p:sp>
      <p:sp>
        <p:nvSpPr>
          <p:cNvPr id="20" name="Text 18"/>
          <p:cNvSpPr/>
          <p:nvPr/>
        </p:nvSpPr>
        <p:spPr>
          <a:xfrm>
            <a:off x="3072384" y="2423160"/>
            <a:ext cx="1143000" cy="411480"/>
          </a:xfrm>
          <a:prstGeom prst="rect">
            <a:avLst/>
          </a:prstGeom>
          <a:noFill/>
          <a:ln/>
        </p:spPr>
        <p:txBody>
          <a:bodyPr wrap="square" lIns="0" tIns="0" rIns="0" bIns="0" rtlCol="0" anchor="t"/>
          <a:lstStyle/>
          <a:p>
            <a:pPr algn="l" indent="0" marL="0">
              <a:buNone/>
            </a:pPr>
            <a:r>
              <a:rPr lang="en-US" sz="950" dirty="0">
                <a:solidFill>
                  <a:srgbClr val="7A7480"/>
                </a:solidFill>
                <a:latin typeface="Alexandria" pitchFamily="34" charset="0"/>
                <a:ea typeface="Alexandria" pitchFamily="34" charset="-122"/>
                <a:cs typeface="Alexandria" pitchFamily="34" charset="-120"/>
              </a:rPr>
              <a:t>ảnh / người tham gia</a:t>
            </a:r>
            <a:endParaRPr lang="en-US" sz="950" dirty="0"/>
          </a:p>
        </p:txBody>
      </p:sp>
      <p:sp>
        <p:nvSpPr>
          <p:cNvPr id="21" name="Text 19"/>
          <p:cNvSpPr/>
          <p:nvPr/>
        </p:nvSpPr>
        <p:spPr>
          <a:xfrm>
            <a:off x="640080" y="2926080"/>
            <a:ext cx="3566160" cy="914400"/>
          </a:xfrm>
          <a:prstGeom prst="rect">
            <a:avLst/>
          </a:prstGeom>
          <a:noFill/>
          <a:ln/>
        </p:spPr>
        <p:txBody>
          <a:bodyPr wrap="square" lIns="0" tIns="0" rIns="0" bIns="0" rtlCol="0" anchor="t"/>
          <a:lstStyle/>
          <a:p>
            <a:pPr algn="l" indent="0" marL="0">
              <a:buNone/>
            </a:pPr>
            <a:r>
              <a:rPr lang="en-US" sz="1100" dirty="0">
                <a:solidFill>
                  <a:srgbClr val="3A3542"/>
                </a:solidFill>
                <a:latin typeface="Alexandria" pitchFamily="34" charset="0"/>
                <a:ea typeface="Alexandria" pitchFamily="34" charset="-122"/>
                <a:cs typeface="Alexandria" pitchFamily="34" charset="-120"/>
              </a:rPr>
              <a:t>Đài PBS biết khán giả mê bộ phim (cái gì) nhưng cần biết vì sao. Người tham gia tìm trước 10–15 ảnh thể hiện cảm xúc bộ phim mang lại, rồi trò chuyện về từng ảnh.</a:t>
            </a:r>
            <a:endParaRPr lang="en-US" sz="1100" dirty="0"/>
          </a:p>
        </p:txBody>
      </p:sp>
      <p:sp>
        <p:nvSpPr>
          <p:cNvPr id="22" name="Text 20"/>
          <p:cNvSpPr/>
          <p:nvPr/>
        </p:nvSpPr>
        <p:spPr>
          <a:xfrm>
            <a:off x="640080" y="3931920"/>
            <a:ext cx="3566160" cy="365760"/>
          </a:xfrm>
          <a:prstGeom prst="rect">
            <a:avLst/>
          </a:prstGeom>
          <a:noFill/>
          <a:ln/>
        </p:spPr>
        <p:txBody>
          <a:bodyPr wrap="square" lIns="0" tIns="0" rIns="0" bIns="0" rtlCol="0" anchor="t"/>
          <a:lstStyle/>
          <a:p>
            <a:pPr algn="l" indent="0" marL="0">
              <a:buNone/>
            </a:pPr>
            <a:r>
              <a:rPr lang="en-US" sz="1100" b="1" dirty="0">
                <a:solidFill>
                  <a:srgbClr val="49B296"/>
                </a:solidFill>
                <a:latin typeface="Alexandria" pitchFamily="34" charset="0"/>
                <a:ea typeface="Alexandria" pitchFamily="34" charset="-122"/>
                <a:cs typeface="Alexandria" pitchFamily="34" charset="-120"/>
              </a:rPr>
              <a:t>Não người gắn khoảnh khắc cảm xúc với hình ảnh.</a:t>
            </a:r>
            <a:endParaRPr lang="en-US" sz="1100" dirty="0"/>
          </a:p>
        </p:txBody>
      </p:sp>
      <p:sp>
        <p:nvSpPr>
          <p:cNvPr id="23" name="Text 21"/>
          <p:cNvSpPr/>
          <p:nvPr/>
        </p:nvSpPr>
        <p:spPr>
          <a:xfrm>
            <a:off x="4663440" y="1417320"/>
            <a:ext cx="4023360" cy="320040"/>
          </a:xfrm>
          <a:prstGeom prst="rect">
            <a:avLst/>
          </a:prstGeom>
          <a:noFill/>
          <a:ln/>
        </p:spPr>
        <p:txBody>
          <a:bodyPr wrap="square" lIns="0" tIns="0" rIns="0" bIns="0" rtlCol="0" anchor="t"/>
          <a:lstStyle/>
          <a:p>
            <a:pPr algn="l" indent="0" marL="0">
              <a:buNone/>
            </a:pPr>
            <a:r>
              <a:rPr lang="en-US" sz="1400" b="1" dirty="0">
                <a:solidFill>
                  <a:srgbClr val="2B2633"/>
                </a:solidFill>
                <a:latin typeface="Alexandria" pitchFamily="34" charset="0"/>
                <a:ea typeface="Alexandria" pitchFamily="34" charset="-122"/>
                <a:cs typeface="Alexandria" pitchFamily="34" charset="-120"/>
              </a:rPr>
              <a:t>Gợi ý câu hỏi cho mỗi hình ảnh</a:t>
            </a:r>
            <a:endParaRPr lang="en-US" sz="1400" dirty="0"/>
          </a:p>
        </p:txBody>
      </p:sp>
      <p:sp>
        <p:nvSpPr>
          <p:cNvPr id="24" name="Shape 22"/>
          <p:cNvSpPr/>
          <p:nvPr/>
        </p:nvSpPr>
        <p:spPr>
          <a:xfrm>
            <a:off x="4663440" y="1828800"/>
            <a:ext cx="4023360" cy="365760"/>
          </a:xfrm>
          <a:prstGeom prst="roundRect">
            <a:avLst>
              <a:gd name="adj" fmla="val 50000"/>
            </a:avLst>
          </a:prstGeom>
          <a:solidFill>
            <a:srgbClr val="FFFFFF"/>
          </a:solidFill>
          <a:ln w="15875">
            <a:solidFill>
              <a:srgbClr val="49B296"/>
            </a:solidFill>
            <a:prstDash val="solid"/>
          </a:ln>
        </p:spPr>
      </p:sp>
      <p:sp>
        <p:nvSpPr>
          <p:cNvPr id="25" name="Text 23"/>
          <p:cNvSpPr/>
          <p:nvPr/>
        </p:nvSpPr>
        <p:spPr>
          <a:xfrm>
            <a:off x="4800600" y="1828800"/>
            <a:ext cx="3794760" cy="365760"/>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Điều gì khiến bạn chọn hình ảnh này?</a:t>
            </a:r>
            <a:endParaRPr lang="en-US" sz="1050" dirty="0"/>
          </a:p>
        </p:txBody>
      </p:sp>
      <p:sp>
        <p:nvSpPr>
          <p:cNvPr id="26" name="Shape 24"/>
          <p:cNvSpPr/>
          <p:nvPr/>
        </p:nvSpPr>
        <p:spPr>
          <a:xfrm>
            <a:off x="4663440" y="2258568"/>
            <a:ext cx="4023360" cy="365760"/>
          </a:xfrm>
          <a:prstGeom prst="roundRect">
            <a:avLst>
              <a:gd name="adj" fmla="val 50000"/>
            </a:avLst>
          </a:prstGeom>
          <a:solidFill>
            <a:srgbClr val="FFFFFF"/>
          </a:solidFill>
          <a:ln w="15875">
            <a:solidFill>
              <a:srgbClr val="FF5178"/>
            </a:solidFill>
            <a:prstDash val="solid"/>
          </a:ln>
        </p:spPr>
      </p:sp>
      <p:sp>
        <p:nvSpPr>
          <p:cNvPr id="27" name="Text 25"/>
          <p:cNvSpPr/>
          <p:nvPr/>
        </p:nvSpPr>
        <p:spPr>
          <a:xfrm>
            <a:off x="4800600" y="2258568"/>
            <a:ext cx="3794760" cy="365760"/>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Nó khiến bạn cảm thấy thế nào?</a:t>
            </a:r>
            <a:endParaRPr lang="en-US" sz="1050" dirty="0"/>
          </a:p>
        </p:txBody>
      </p:sp>
      <p:sp>
        <p:nvSpPr>
          <p:cNvPr id="28" name="Shape 26"/>
          <p:cNvSpPr/>
          <p:nvPr/>
        </p:nvSpPr>
        <p:spPr>
          <a:xfrm>
            <a:off x="4663440" y="2688336"/>
            <a:ext cx="4023360" cy="365760"/>
          </a:xfrm>
          <a:prstGeom prst="roundRect">
            <a:avLst>
              <a:gd name="adj" fmla="val 50000"/>
            </a:avLst>
          </a:prstGeom>
          <a:solidFill>
            <a:srgbClr val="FFFFFF"/>
          </a:solidFill>
          <a:ln w="15875">
            <a:solidFill>
              <a:srgbClr val="962B7C"/>
            </a:solidFill>
            <a:prstDash val="solid"/>
          </a:ln>
        </p:spPr>
      </p:sp>
      <p:sp>
        <p:nvSpPr>
          <p:cNvPr id="29" name="Text 27"/>
          <p:cNvSpPr/>
          <p:nvPr/>
        </p:nvSpPr>
        <p:spPr>
          <a:xfrm>
            <a:off x="4800600" y="2688336"/>
            <a:ext cx="3794760" cy="365760"/>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Nếu nhân vật có thể nói, họ sẽ nói gì?</a:t>
            </a:r>
            <a:endParaRPr lang="en-US" sz="1050" dirty="0"/>
          </a:p>
        </p:txBody>
      </p:sp>
      <p:sp>
        <p:nvSpPr>
          <p:cNvPr id="30" name="Shape 28"/>
          <p:cNvSpPr/>
          <p:nvPr/>
        </p:nvSpPr>
        <p:spPr>
          <a:xfrm>
            <a:off x="4663440" y="3118104"/>
            <a:ext cx="4023360" cy="365760"/>
          </a:xfrm>
          <a:prstGeom prst="roundRect">
            <a:avLst>
              <a:gd name="adj" fmla="val 50000"/>
            </a:avLst>
          </a:prstGeom>
          <a:solidFill>
            <a:srgbClr val="FFFFFF"/>
          </a:solidFill>
          <a:ln w="15875">
            <a:solidFill>
              <a:srgbClr val="09A1E5"/>
            </a:solidFill>
            <a:prstDash val="solid"/>
          </a:ln>
        </p:spPr>
      </p:sp>
      <p:sp>
        <p:nvSpPr>
          <p:cNvPr id="31" name="Text 29"/>
          <p:cNvSpPr/>
          <p:nvPr/>
        </p:nvSpPr>
        <p:spPr>
          <a:xfrm>
            <a:off x="4800600" y="3118104"/>
            <a:ext cx="3794760" cy="365760"/>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Màu sắc trong ảnh gợi cảm giác gì?</a:t>
            </a:r>
            <a:endParaRPr lang="en-US" sz="1050" dirty="0"/>
          </a:p>
        </p:txBody>
      </p:sp>
      <p:sp>
        <p:nvSpPr>
          <p:cNvPr id="32" name="Shape 30"/>
          <p:cNvSpPr/>
          <p:nvPr/>
        </p:nvSpPr>
        <p:spPr>
          <a:xfrm>
            <a:off x="4663440" y="3547872"/>
            <a:ext cx="4023360" cy="365760"/>
          </a:xfrm>
          <a:prstGeom prst="roundRect">
            <a:avLst>
              <a:gd name="adj" fmla="val 50000"/>
            </a:avLst>
          </a:prstGeom>
          <a:solidFill>
            <a:srgbClr val="FFFFFF"/>
          </a:solidFill>
          <a:ln w="15875">
            <a:solidFill>
              <a:srgbClr val="FF9259"/>
            </a:solidFill>
            <a:prstDash val="solid"/>
          </a:ln>
        </p:spPr>
      </p:sp>
      <p:sp>
        <p:nvSpPr>
          <p:cNvPr id="33" name="Text 31"/>
          <p:cNvSpPr/>
          <p:nvPr/>
        </p:nvSpPr>
        <p:spPr>
          <a:xfrm>
            <a:off x="4800600" y="3547872"/>
            <a:ext cx="3794760" cy="365760"/>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Hình dung bạn ở trong ảnh: bạn đang làm, nghĩ, cảm thấy gì?</a:t>
            </a:r>
            <a:endParaRPr lang="en-US" sz="1050" dirty="0"/>
          </a:p>
        </p:txBody>
      </p:sp>
      <p:sp>
        <p:nvSpPr>
          <p:cNvPr id="34" name="Shape 32"/>
          <p:cNvSpPr/>
          <p:nvPr/>
        </p:nvSpPr>
        <p:spPr>
          <a:xfrm>
            <a:off x="4663440" y="3977640"/>
            <a:ext cx="4023360" cy="365760"/>
          </a:xfrm>
          <a:prstGeom prst="roundRect">
            <a:avLst>
              <a:gd name="adj" fmla="val 50000"/>
            </a:avLst>
          </a:prstGeom>
          <a:solidFill>
            <a:srgbClr val="FFFFFF"/>
          </a:solidFill>
          <a:ln w="15875">
            <a:solidFill>
              <a:srgbClr val="49B296"/>
            </a:solidFill>
            <a:prstDash val="solid"/>
          </a:ln>
        </p:spPr>
      </p:sp>
      <p:sp>
        <p:nvSpPr>
          <p:cNvPr id="35" name="Text 33"/>
          <p:cNvSpPr/>
          <p:nvPr/>
        </p:nvSpPr>
        <p:spPr>
          <a:xfrm>
            <a:off x="4800600" y="3977640"/>
            <a:ext cx="3794760" cy="365760"/>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Âm thanh, mùi hương nào gắn với hình ảnh này?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Dân tộc học cho thấy điều khách hàng làm nhưng không bao giờ nói ra</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13</a:t>
            </a:r>
            <a:endParaRPr lang="en-US" sz="1000" dirty="0"/>
          </a:p>
        </p:txBody>
      </p:sp>
      <p:sp>
        <p:nvSpPr>
          <p:cNvPr id="13" name="Shape 11"/>
          <p:cNvSpPr/>
          <p:nvPr/>
        </p:nvSpPr>
        <p:spPr>
          <a:xfrm>
            <a:off x="457200" y="1417320"/>
            <a:ext cx="3931920" cy="2971800"/>
          </a:xfrm>
          <a:prstGeom prst="roundRect">
            <a:avLst>
              <a:gd name="adj" fmla="val 2462"/>
            </a:avLst>
          </a:prstGeom>
          <a:solidFill>
            <a:srgbClr val="FFD23B"/>
          </a:solidFill>
          <a:ln w="12700">
            <a:solidFill>
              <a:srgbClr val="FFD23B"/>
            </a:solidFill>
            <a:prstDash val="solid"/>
          </a:ln>
        </p:spPr>
      </p:sp>
      <p:sp>
        <p:nvSpPr>
          <p:cNvPr id="14" name="Text 12"/>
          <p:cNvSpPr/>
          <p:nvPr/>
        </p:nvSpPr>
        <p:spPr>
          <a:xfrm>
            <a:off x="640080" y="1554480"/>
            <a:ext cx="3566160" cy="320040"/>
          </a:xfrm>
          <a:prstGeom prst="rect">
            <a:avLst/>
          </a:prstGeom>
          <a:noFill/>
          <a:ln/>
        </p:spPr>
        <p:txBody>
          <a:bodyPr wrap="square" lIns="0" tIns="0" rIns="0" bIns="0" rtlCol="0" anchor="t"/>
          <a:lstStyle/>
          <a:p>
            <a:pPr algn="l" indent="0" marL="0">
              <a:buNone/>
            </a:pPr>
            <a:r>
              <a:rPr lang="en-US" sz="1400" b="1" dirty="0">
                <a:solidFill>
                  <a:srgbClr val="2B2633"/>
                </a:solidFill>
                <a:latin typeface="Alexandria" pitchFamily="34" charset="0"/>
                <a:ea typeface="Alexandria" pitchFamily="34" charset="-122"/>
                <a:cs typeface="Alexandria" pitchFamily="34" charset="-120"/>
              </a:rPr>
              <a:t>Tình huống: muỗng xúc kem</a:t>
            </a:r>
            <a:endParaRPr lang="en-US" sz="1400" dirty="0"/>
          </a:p>
        </p:txBody>
      </p:sp>
      <p:sp>
        <p:nvSpPr>
          <p:cNvPr id="15" name="Text 13"/>
          <p:cNvSpPr/>
          <p:nvPr/>
        </p:nvSpPr>
        <p:spPr>
          <a:xfrm>
            <a:off x="640080" y="1920240"/>
            <a:ext cx="3566160" cy="822960"/>
          </a:xfrm>
          <a:prstGeom prst="rect">
            <a:avLst/>
          </a:prstGeom>
          <a:noFill/>
          <a:ln/>
        </p:spPr>
        <p:txBody>
          <a:bodyPr wrap="square" lIns="0" tIns="0" rIns="0" bIns="0" rtlCol="0" anchor="t"/>
          <a:lstStyle/>
          <a:p>
            <a:pPr algn="l" indent="0" marL="0">
              <a:buNone/>
            </a:pPr>
            <a:r>
              <a:rPr lang="en-US" sz="1100" dirty="0">
                <a:solidFill>
                  <a:srgbClr val="2B2633"/>
                </a:solidFill>
                <a:latin typeface="Alexandria" pitchFamily="34" charset="0"/>
                <a:ea typeface="Alexandria" pitchFamily="34" charset="-122"/>
                <a:cs typeface="Alexandria" pitchFamily="34" charset="-120"/>
              </a:rPr>
              <a:t>Khảo sát và nhóm tập trung đều nói: hãy làm lưỡi muỗng sắc hơn. Quan sát trong bếp nhà khách hàng cho thấy:</a:t>
            </a:r>
            <a:endParaRPr lang="en-US" sz="1100" dirty="0"/>
          </a:p>
        </p:txBody>
      </p:sp>
      <p:sp>
        <p:nvSpPr>
          <p:cNvPr id="16" name="Text 14"/>
          <p:cNvSpPr/>
          <p:nvPr/>
        </p:nvSpPr>
        <p:spPr>
          <a:xfrm>
            <a:off x="640080" y="2697480"/>
            <a:ext cx="3566160" cy="685800"/>
          </a:xfrm>
          <a:prstGeom prst="rect">
            <a:avLst/>
          </a:prstGeom>
          <a:noFill/>
          <a:ln/>
        </p:spPr>
        <p:txBody>
          <a:bodyPr wrap="square" lIns="0" tIns="0" rIns="0" bIns="0" rtlCol="0" anchor="t"/>
          <a:lstStyle/>
          <a:p>
            <a:pPr algn="l" indent="0" marL="0">
              <a:buNone/>
            </a:pPr>
            <a:r>
              <a:rPr lang="en-US" sz="4000" b="1" dirty="0">
                <a:solidFill>
                  <a:srgbClr val="962B7C"/>
                </a:solidFill>
                <a:latin typeface="Alexandria" pitchFamily="34" charset="0"/>
                <a:ea typeface="Alexandria" pitchFamily="34" charset="-122"/>
                <a:cs typeface="Alexandria" pitchFamily="34" charset="-120"/>
              </a:rPr>
              <a:t>&gt; 90%</a:t>
            </a:r>
            <a:endParaRPr lang="en-US" sz="4000" dirty="0"/>
          </a:p>
        </p:txBody>
      </p:sp>
      <p:sp>
        <p:nvSpPr>
          <p:cNvPr id="17" name="Text 15"/>
          <p:cNvSpPr/>
          <p:nvPr/>
        </p:nvSpPr>
        <p:spPr>
          <a:xfrm>
            <a:off x="640080" y="3383280"/>
            <a:ext cx="3566160" cy="914400"/>
          </a:xfrm>
          <a:prstGeom prst="rect">
            <a:avLst/>
          </a:prstGeom>
          <a:noFill/>
          <a:ln/>
        </p:spPr>
        <p:txBody>
          <a:bodyPr wrap="square" lIns="0" tIns="0" rIns="0" bIns="0" rtlCol="0" anchor="t"/>
          <a:lstStyle/>
          <a:p>
            <a:pPr algn="l" indent="0" marL="0">
              <a:buNone/>
            </a:pPr>
            <a:r>
              <a:rPr lang="en-US" sz="1100" dirty="0">
                <a:solidFill>
                  <a:srgbClr val="2B2633"/>
                </a:solidFill>
                <a:latin typeface="Alexandria" pitchFamily="34" charset="0"/>
                <a:ea typeface="Alexandria" pitchFamily="34" charset="-122"/>
                <a:cs typeface="Alexandria" pitchFamily="34" charset="-120"/>
              </a:rPr>
              <a:t>người liếm muỗng trước khi bỏ vào bồn rửa — nhưng khi được hỏi đều phủ nhận. Muỗng sắc hơn có thể đã là thảm họa.</a:t>
            </a:r>
            <a:endParaRPr lang="en-US" sz="1100" dirty="0"/>
          </a:p>
        </p:txBody>
      </p:sp>
      <p:sp>
        <p:nvSpPr>
          <p:cNvPr id="18" name="Shape 16"/>
          <p:cNvSpPr/>
          <p:nvPr/>
        </p:nvSpPr>
        <p:spPr>
          <a:xfrm>
            <a:off x="4663440" y="1417320"/>
            <a:ext cx="4023360" cy="868680"/>
          </a:xfrm>
          <a:prstGeom prst="roundRect">
            <a:avLst>
              <a:gd name="adj" fmla="val 8421"/>
            </a:avLst>
          </a:prstGeom>
          <a:solidFill>
            <a:srgbClr val="FFFFFF"/>
          </a:solidFill>
          <a:ln w="12700">
            <a:solidFill>
              <a:srgbClr val="E6E2D6"/>
            </a:solidFill>
            <a:prstDash val="solid"/>
          </a:ln>
        </p:spPr>
      </p:sp>
      <p:sp>
        <p:nvSpPr>
          <p:cNvPr id="19" name="Shape 17"/>
          <p:cNvSpPr/>
          <p:nvPr/>
        </p:nvSpPr>
        <p:spPr>
          <a:xfrm>
            <a:off x="4663440" y="1527048"/>
            <a:ext cx="64008" cy="649224"/>
          </a:xfrm>
          <a:prstGeom prst="rect">
            <a:avLst/>
          </a:prstGeom>
          <a:solidFill>
            <a:srgbClr val="09A1E5"/>
          </a:solidFill>
          <a:ln w="12700">
            <a:solidFill>
              <a:srgbClr val="09A1E5"/>
            </a:solidFill>
            <a:prstDash val="solid"/>
          </a:ln>
        </p:spPr>
      </p:sp>
      <p:sp>
        <p:nvSpPr>
          <p:cNvPr id="20" name="Text 18"/>
          <p:cNvSpPr/>
          <p:nvPr/>
        </p:nvSpPr>
        <p:spPr>
          <a:xfrm>
            <a:off x="4864608" y="1508760"/>
            <a:ext cx="3730752"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Quan sát tự nhiên</a:t>
            </a:r>
            <a:endParaRPr lang="en-US" sz="1300" dirty="0"/>
          </a:p>
        </p:txBody>
      </p:sp>
      <p:sp>
        <p:nvSpPr>
          <p:cNvPr id="21" name="Text 19"/>
          <p:cNvSpPr/>
          <p:nvPr/>
        </p:nvSpPr>
        <p:spPr>
          <a:xfrm>
            <a:off x="4864608" y="1801368"/>
            <a:ext cx="3730752" cy="41148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Không tương tác, ví dụ: ngồi ở quán cà phê xem khách pha cà phê</a:t>
            </a:r>
            <a:endParaRPr lang="en-US" sz="1050" dirty="0"/>
          </a:p>
        </p:txBody>
      </p:sp>
      <p:sp>
        <p:nvSpPr>
          <p:cNvPr id="22" name="Shape 20"/>
          <p:cNvSpPr/>
          <p:nvPr/>
        </p:nvSpPr>
        <p:spPr>
          <a:xfrm>
            <a:off x="4663440" y="2377440"/>
            <a:ext cx="4023360" cy="868680"/>
          </a:xfrm>
          <a:prstGeom prst="roundRect">
            <a:avLst>
              <a:gd name="adj" fmla="val 8421"/>
            </a:avLst>
          </a:prstGeom>
          <a:solidFill>
            <a:srgbClr val="FFFFFF"/>
          </a:solidFill>
          <a:ln w="12700">
            <a:solidFill>
              <a:srgbClr val="E6E2D6"/>
            </a:solidFill>
            <a:prstDash val="solid"/>
          </a:ln>
        </p:spPr>
      </p:sp>
      <p:sp>
        <p:nvSpPr>
          <p:cNvPr id="23" name="Shape 21"/>
          <p:cNvSpPr/>
          <p:nvPr/>
        </p:nvSpPr>
        <p:spPr>
          <a:xfrm>
            <a:off x="4663440" y="2487168"/>
            <a:ext cx="64008" cy="649224"/>
          </a:xfrm>
          <a:prstGeom prst="rect">
            <a:avLst/>
          </a:prstGeom>
          <a:solidFill>
            <a:srgbClr val="49B296"/>
          </a:solidFill>
          <a:ln w="12700">
            <a:solidFill>
              <a:srgbClr val="49B296"/>
            </a:solidFill>
            <a:prstDash val="solid"/>
          </a:ln>
        </p:spPr>
      </p:sp>
      <p:sp>
        <p:nvSpPr>
          <p:cNvPr id="24" name="Text 22"/>
          <p:cNvSpPr/>
          <p:nvPr/>
        </p:nvSpPr>
        <p:spPr>
          <a:xfrm>
            <a:off x="4864608" y="2468880"/>
            <a:ext cx="3730752" cy="274320"/>
          </a:xfrm>
          <a:prstGeom prst="rect">
            <a:avLst/>
          </a:prstGeom>
          <a:noFill/>
          <a:ln/>
        </p:spPr>
        <p:txBody>
          <a:bodyPr wrap="square" lIns="0" tIns="0" rIns="0" bIns="0" rtlCol="0" anchor="t"/>
          <a:lstStyle/>
          <a:p>
            <a:pPr algn="l" indent="0" marL="0">
              <a:buNone/>
            </a:pPr>
            <a:r>
              <a:rPr lang="en-US" sz="1300" b="1" dirty="0">
                <a:solidFill>
                  <a:srgbClr val="49B296"/>
                </a:solidFill>
                <a:latin typeface="Alexandria" pitchFamily="34" charset="0"/>
                <a:ea typeface="Alexandria" pitchFamily="34" charset="-122"/>
                <a:cs typeface="Alexandria" pitchFamily="34" charset="-120"/>
              </a:rPr>
              <a:t>Quan sát + phỏng vấn</a:t>
            </a:r>
            <a:endParaRPr lang="en-US" sz="1300" dirty="0"/>
          </a:p>
        </p:txBody>
      </p:sp>
      <p:sp>
        <p:nvSpPr>
          <p:cNvPr id="25" name="Text 23"/>
          <p:cNvSpPr/>
          <p:nvPr/>
        </p:nvSpPr>
        <p:spPr>
          <a:xfrm>
            <a:off x="4864608" y="2761488"/>
            <a:ext cx="3730752" cy="41148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Hỏi trong lúc quan sát để hiểu suy nghĩ, cảm xúc, động lực</a:t>
            </a:r>
            <a:endParaRPr lang="en-US" sz="1050" dirty="0"/>
          </a:p>
        </p:txBody>
      </p:sp>
      <p:sp>
        <p:nvSpPr>
          <p:cNvPr id="26" name="Shape 24"/>
          <p:cNvSpPr/>
          <p:nvPr/>
        </p:nvSpPr>
        <p:spPr>
          <a:xfrm>
            <a:off x="4663440" y="3337560"/>
            <a:ext cx="4023360" cy="1051560"/>
          </a:xfrm>
          <a:prstGeom prst="roundRect">
            <a:avLst>
              <a:gd name="adj" fmla="val 6957"/>
            </a:avLst>
          </a:prstGeom>
          <a:solidFill>
            <a:srgbClr val="FFFFFF"/>
          </a:solidFill>
          <a:ln w="12700">
            <a:solidFill>
              <a:srgbClr val="E6E2D6"/>
            </a:solidFill>
            <a:prstDash val="solid"/>
          </a:ln>
        </p:spPr>
      </p:sp>
      <p:sp>
        <p:nvSpPr>
          <p:cNvPr id="27" name="Shape 25"/>
          <p:cNvSpPr/>
          <p:nvPr/>
        </p:nvSpPr>
        <p:spPr>
          <a:xfrm>
            <a:off x="4663440" y="3447288"/>
            <a:ext cx="64008" cy="832104"/>
          </a:xfrm>
          <a:prstGeom prst="rect">
            <a:avLst/>
          </a:prstGeom>
          <a:solidFill>
            <a:srgbClr val="FF5178"/>
          </a:solidFill>
          <a:ln w="12700">
            <a:solidFill>
              <a:srgbClr val="FF5178"/>
            </a:solidFill>
            <a:prstDash val="solid"/>
          </a:ln>
        </p:spPr>
      </p:sp>
      <p:sp>
        <p:nvSpPr>
          <p:cNvPr id="28" name="Text 26"/>
          <p:cNvSpPr/>
          <p:nvPr/>
        </p:nvSpPr>
        <p:spPr>
          <a:xfrm>
            <a:off x="4864608" y="3429000"/>
            <a:ext cx="3730752"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Lưu ý khi diễn giải</a:t>
            </a:r>
            <a:endParaRPr lang="en-US" sz="1300" dirty="0"/>
          </a:p>
        </p:txBody>
      </p:sp>
      <p:sp>
        <p:nvSpPr>
          <p:cNvPr id="29" name="Text 27"/>
          <p:cNvSpPr/>
          <p:nvPr/>
        </p:nvSpPr>
        <p:spPr>
          <a:xfrm>
            <a:off x="4864608" y="3721608"/>
            <a:ext cx="3730752" cy="5943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Đặt hành vi trong bối cảnh gia đình, xã hội, kinh tế; nên dùng bên thứ ba độc lập để tránh thiên kiến tổ chức</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Nhật ký video trên điện thoại ghi lại cả hành trình mua theo thời gian thực</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14</a:t>
            </a:r>
            <a:endParaRPr lang="en-US" sz="1000" dirty="0"/>
          </a:p>
        </p:txBody>
      </p:sp>
      <p:sp>
        <p:nvSpPr>
          <p:cNvPr id="13" name="Text 11"/>
          <p:cNvSpPr/>
          <p:nvPr/>
        </p:nvSpPr>
        <p:spPr>
          <a:xfrm>
            <a:off x="457200" y="1371600"/>
            <a:ext cx="8229600" cy="274320"/>
          </a:xfrm>
          <a:prstGeom prst="rect">
            <a:avLst/>
          </a:prstGeom>
          <a:noFill/>
          <a:ln/>
        </p:spPr>
        <p:txBody>
          <a:bodyPr wrap="square" lIns="0" tIns="0" rIns="0" bIns="0" rtlCol="0" anchor="t"/>
          <a:lstStyle/>
          <a:p>
            <a:pPr algn="l" indent="0" marL="0">
              <a:buNone/>
            </a:pPr>
            <a:r>
              <a:rPr lang="en-US" sz="1200" b="1" dirty="0">
                <a:solidFill>
                  <a:srgbClr val="2B2633"/>
                </a:solidFill>
                <a:latin typeface="Alexandria" pitchFamily="34" charset="0"/>
                <a:ea typeface="Alexandria" pitchFamily="34" charset="-122"/>
                <a:cs typeface="Alexandria" pitchFamily="34" charset="-120"/>
              </a:rPr>
              <a:t>Tình huống: mua loa thông minh (Google Home / Amazon Echo) làm quà mùa lễ</a:t>
            </a:r>
            <a:endParaRPr lang="en-US" sz="1200" dirty="0"/>
          </a:p>
        </p:txBody>
      </p:sp>
      <p:sp>
        <p:nvSpPr>
          <p:cNvPr id="14" name="Shape 12"/>
          <p:cNvSpPr/>
          <p:nvPr/>
        </p:nvSpPr>
        <p:spPr>
          <a:xfrm>
            <a:off x="457200" y="1737360"/>
            <a:ext cx="1700784" cy="548640"/>
          </a:xfrm>
          <a:prstGeom prst="homePlate">
            <a:avLst/>
          </a:prstGeom>
          <a:solidFill>
            <a:srgbClr val="FF5178"/>
          </a:solidFill>
          <a:ln w="19050">
            <a:solidFill>
              <a:srgbClr val="FBFAF4"/>
            </a:solidFill>
            <a:prstDash val="solid"/>
          </a:ln>
        </p:spPr>
      </p:sp>
      <p:sp>
        <p:nvSpPr>
          <p:cNvPr id="15" name="Text 13"/>
          <p:cNvSpPr/>
          <p:nvPr/>
        </p:nvSpPr>
        <p:spPr>
          <a:xfrm>
            <a:off x="502920" y="173736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Nhận biết</a:t>
            </a:r>
            <a:endParaRPr lang="en-US" sz="1200" dirty="0"/>
          </a:p>
        </p:txBody>
      </p:sp>
      <p:sp>
        <p:nvSpPr>
          <p:cNvPr id="16" name="Shape 14"/>
          <p:cNvSpPr/>
          <p:nvPr/>
        </p:nvSpPr>
        <p:spPr>
          <a:xfrm>
            <a:off x="2103120" y="1737360"/>
            <a:ext cx="1700784" cy="548640"/>
          </a:xfrm>
          <a:prstGeom prst="chevron">
            <a:avLst/>
          </a:prstGeom>
          <a:solidFill>
            <a:srgbClr val="FF9259"/>
          </a:solidFill>
          <a:ln w="19050">
            <a:solidFill>
              <a:srgbClr val="FBFAF4"/>
            </a:solidFill>
            <a:prstDash val="solid"/>
          </a:ln>
        </p:spPr>
      </p:sp>
      <p:sp>
        <p:nvSpPr>
          <p:cNvPr id="17" name="Text 15"/>
          <p:cNvSpPr/>
          <p:nvPr/>
        </p:nvSpPr>
        <p:spPr>
          <a:xfrm>
            <a:off x="2377440" y="173736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Tìm hiểu</a:t>
            </a:r>
            <a:endParaRPr lang="en-US" sz="1200" dirty="0"/>
          </a:p>
        </p:txBody>
      </p:sp>
      <p:sp>
        <p:nvSpPr>
          <p:cNvPr id="18" name="Shape 16"/>
          <p:cNvSpPr/>
          <p:nvPr/>
        </p:nvSpPr>
        <p:spPr>
          <a:xfrm>
            <a:off x="3749040" y="1737360"/>
            <a:ext cx="1700784" cy="548640"/>
          </a:xfrm>
          <a:prstGeom prst="chevron">
            <a:avLst/>
          </a:prstGeom>
          <a:solidFill>
            <a:srgbClr val="FFD23B"/>
          </a:solidFill>
          <a:ln w="19050">
            <a:solidFill>
              <a:srgbClr val="FBFAF4"/>
            </a:solidFill>
            <a:prstDash val="solid"/>
          </a:ln>
        </p:spPr>
      </p:sp>
      <p:sp>
        <p:nvSpPr>
          <p:cNvPr id="19" name="Text 17"/>
          <p:cNvSpPr/>
          <p:nvPr/>
        </p:nvSpPr>
        <p:spPr>
          <a:xfrm>
            <a:off x="4023360" y="1737360"/>
            <a:ext cx="1188720" cy="548640"/>
          </a:xfrm>
          <a:prstGeom prst="rect">
            <a:avLst/>
          </a:prstGeom>
          <a:noFill/>
          <a:ln/>
        </p:spPr>
        <p:txBody>
          <a:bodyPr wrap="square" lIns="0" tIns="0" rIns="0" bIns="0" rtlCol="0" anchor="ctr"/>
          <a:lstStyle/>
          <a:p>
            <a:pPr algn="ctr" indent="0" marL="0">
              <a:buNone/>
            </a:pPr>
            <a:r>
              <a:rPr lang="en-US" sz="1200" b="1" dirty="0">
                <a:solidFill>
                  <a:srgbClr val="2B2633"/>
                </a:solidFill>
                <a:latin typeface="Alexandria" pitchFamily="34" charset="0"/>
                <a:ea typeface="Alexandria" pitchFamily="34" charset="-122"/>
                <a:cs typeface="Alexandria" pitchFamily="34" charset="-120"/>
              </a:rPr>
              <a:t>Mua hàng</a:t>
            </a:r>
            <a:endParaRPr lang="en-US" sz="1200" dirty="0"/>
          </a:p>
        </p:txBody>
      </p:sp>
      <p:sp>
        <p:nvSpPr>
          <p:cNvPr id="20" name="Shape 18"/>
          <p:cNvSpPr/>
          <p:nvPr/>
        </p:nvSpPr>
        <p:spPr>
          <a:xfrm>
            <a:off x="5394960" y="1737360"/>
            <a:ext cx="1700784" cy="548640"/>
          </a:xfrm>
          <a:prstGeom prst="chevron">
            <a:avLst/>
          </a:prstGeom>
          <a:solidFill>
            <a:srgbClr val="49B296"/>
          </a:solidFill>
          <a:ln w="19050">
            <a:solidFill>
              <a:srgbClr val="FBFAF4"/>
            </a:solidFill>
            <a:prstDash val="solid"/>
          </a:ln>
        </p:spPr>
      </p:sp>
      <p:sp>
        <p:nvSpPr>
          <p:cNvPr id="21" name="Text 19"/>
          <p:cNvSpPr/>
          <p:nvPr/>
        </p:nvSpPr>
        <p:spPr>
          <a:xfrm>
            <a:off x="5669280" y="173736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Mở hộp</a:t>
            </a:r>
            <a:endParaRPr lang="en-US" sz="1200" dirty="0"/>
          </a:p>
        </p:txBody>
      </p:sp>
      <p:sp>
        <p:nvSpPr>
          <p:cNvPr id="22" name="Shape 20"/>
          <p:cNvSpPr/>
          <p:nvPr/>
        </p:nvSpPr>
        <p:spPr>
          <a:xfrm>
            <a:off x="7040880" y="1737360"/>
            <a:ext cx="1700784" cy="548640"/>
          </a:xfrm>
          <a:prstGeom prst="chevron">
            <a:avLst/>
          </a:prstGeom>
          <a:solidFill>
            <a:srgbClr val="09A1E5"/>
          </a:solidFill>
          <a:ln w="19050">
            <a:solidFill>
              <a:srgbClr val="FBFAF4"/>
            </a:solidFill>
            <a:prstDash val="solid"/>
          </a:ln>
        </p:spPr>
      </p:sp>
      <p:sp>
        <p:nvSpPr>
          <p:cNvPr id="23" name="Text 21"/>
          <p:cNvSpPr/>
          <p:nvPr/>
        </p:nvSpPr>
        <p:spPr>
          <a:xfrm>
            <a:off x="7315200" y="173736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Sử dụng</a:t>
            </a:r>
            <a:endParaRPr lang="en-US" sz="1200" dirty="0"/>
          </a:p>
        </p:txBody>
      </p:sp>
      <p:sp>
        <p:nvSpPr>
          <p:cNvPr id="24" name="Text 22"/>
          <p:cNvSpPr/>
          <p:nvPr/>
        </p:nvSpPr>
        <p:spPr>
          <a:xfrm>
            <a:off x="457200" y="2331720"/>
            <a:ext cx="8229600" cy="274320"/>
          </a:xfrm>
          <a:prstGeom prst="rect">
            <a:avLst/>
          </a:prstGeom>
          <a:noFill/>
          <a:ln/>
        </p:spPr>
        <p:txBody>
          <a:bodyPr wrap="square" lIns="0" tIns="0" rIns="0" bIns="0" rtlCol="0" anchor="t"/>
          <a:lstStyle/>
          <a:p>
            <a:pPr algn="ctr" indent="0" marL="0">
              <a:buNone/>
            </a:pPr>
            <a:r>
              <a:rPr lang="en-US" sz="1000" i="1" dirty="0">
                <a:solidFill>
                  <a:srgbClr val="7A7480"/>
                </a:solidFill>
                <a:latin typeface="Alexandria" pitchFamily="34" charset="0"/>
                <a:ea typeface="Alexandria" pitchFamily="34" charset="-122"/>
                <a:cs typeface="Alexandria" pitchFamily="34" charset="-120"/>
              </a:rPr>
              <a:t>Hàng trăm video mở quà sáng Giáng sinh: phản ứng thật, tại nhà thật</a:t>
            </a:r>
            <a:endParaRPr lang="en-US" sz="1000" dirty="0"/>
          </a:p>
        </p:txBody>
      </p:sp>
      <p:sp>
        <p:nvSpPr>
          <p:cNvPr id="25" name="Shape 23"/>
          <p:cNvSpPr/>
          <p:nvPr/>
        </p:nvSpPr>
        <p:spPr>
          <a:xfrm>
            <a:off x="457200" y="2743200"/>
            <a:ext cx="1947672" cy="1645920"/>
          </a:xfrm>
          <a:prstGeom prst="roundRect">
            <a:avLst>
              <a:gd name="adj" fmla="val 4444"/>
            </a:avLst>
          </a:prstGeom>
          <a:solidFill>
            <a:srgbClr val="FFFFFF"/>
          </a:solidFill>
          <a:ln w="12700">
            <a:solidFill>
              <a:srgbClr val="E6E2D6"/>
            </a:solidFill>
            <a:prstDash val="solid"/>
          </a:ln>
        </p:spPr>
      </p:sp>
      <p:sp>
        <p:nvSpPr>
          <p:cNvPr id="26" name="Shape 24"/>
          <p:cNvSpPr/>
          <p:nvPr/>
        </p:nvSpPr>
        <p:spPr>
          <a:xfrm>
            <a:off x="457200" y="2852928"/>
            <a:ext cx="64008" cy="1426464"/>
          </a:xfrm>
          <a:prstGeom prst="rect">
            <a:avLst/>
          </a:prstGeom>
          <a:solidFill>
            <a:srgbClr val="FF5178"/>
          </a:solidFill>
          <a:ln w="12700">
            <a:solidFill>
              <a:srgbClr val="FF5178"/>
            </a:solidFill>
            <a:prstDash val="solid"/>
          </a:ln>
        </p:spPr>
      </p:sp>
      <p:sp>
        <p:nvSpPr>
          <p:cNvPr id="27" name="Text 25"/>
          <p:cNvSpPr/>
          <p:nvPr/>
        </p:nvSpPr>
        <p:spPr>
          <a:xfrm>
            <a:off x="658368" y="2834640"/>
            <a:ext cx="1655064"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Ngôn ngữ thật</a:t>
            </a:r>
            <a:endParaRPr lang="en-US" sz="1300" dirty="0"/>
          </a:p>
        </p:txBody>
      </p:sp>
      <p:sp>
        <p:nvSpPr>
          <p:cNvPr id="28" name="Text 26"/>
          <p:cNvSpPr/>
          <p:nvPr/>
        </p:nvSpPr>
        <p:spPr>
          <a:xfrm>
            <a:off x="658368" y="3127248"/>
            <a:ext cx="1655064" cy="118872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Nghe đúng từ ngữ mỗi nhóm khách dùng → thông điệp trúng đích</a:t>
            </a:r>
            <a:endParaRPr lang="en-US" sz="1050" dirty="0"/>
          </a:p>
        </p:txBody>
      </p:sp>
      <p:sp>
        <p:nvSpPr>
          <p:cNvPr id="29" name="Shape 27"/>
          <p:cNvSpPr/>
          <p:nvPr/>
        </p:nvSpPr>
        <p:spPr>
          <a:xfrm>
            <a:off x="2551176" y="2743200"/>
            <a:ext cx="1947672" cy="1645920"/>
          </a:xfrm>
          <a:prstGeom prst="roundRect">
            <a:avLst>
              <a:gd name="adj" fmla="val 4444"/>
            </a:avLst>
          </a:prstGeom>
          <a:solidFill>
            <a:srgbClr val="FFFFFF"/>
          </a:solidFill>
          <a:ln w="12700">
            <a:solidFill>
              <a:srgbClr val="E6E2D6"/>
            </a:solidFill>
            <a:prstDash val="solid"/>
          </a:ln>
        </p:spPr>
      </p:sp>
      <p:sp>
        <p:nvSpPr>
          <p:cNvPr id="30" name="Shape 28"/>
          <p:cNvSpPr/>
          <p:nvPr/>
        </p:nvSpPr>
        <p:spPr>
          <a:xfrm>
            <a:off x="2551176" y="2852928"/>
            <a:ext cx="64008" cy="1426464"/>
          </a:xfrm>
          <a:prstGeom prst="rect">
            <a:avLst/>
          </a:prstGeom>
          <a:solidFill>
            <a:srgbClr val="49B296"/>
          </a:solidFill>
          <a:ln w="12700">
            <a:solidFill>
              <a:srgbClr val="49B296"/>
            </a:solidFill>
            <a:prstDash val="solid"/>
          </a:ln>
        </p:spPr>
      </p:sp>
      <p:sp>
        <p:nvSpPr>
          <p:cNvPr id="31" name="Text 29"/>
          <p:cNvSpPr/>
          <p:nvPr/>
        </p:nvSpPr>
        <p:spPr>
          <a:xfrm>
            <a:off x="2752344" y="2834640"/>
            <a:ext cx="1655064" cy="274320"/>
          </a:xfrm>
          <a:prstGeom prst="rect">
            <a:avLst/>
          </a:prstGeom>
          <a:noFill/>
          <a:ln/>
        </p:spPr>
        <p:txBody>
          <a:bodyPr wrap="square" lIns="0" tIns="0" rIns="0" bIns="0" rtlCol="0" anchor="t"/>
          <a:lstStyle/>
          <a:p>
            <a:pPr algn="l" indent="0" marL="0">
              <a:buNone/>
            </a:pPr>
            <a:r>
              <a:rPr lang="en-US" sz="1300" b="1" dirty="0">
                <a:solidFill>
                  <a:srgbClr val="49B296"/>
                </a:solidFill>
                <a:latin typeface="Alexandria" pitchFamily="34" charset="0"/>
                <a:ea typeface="Alexandria" pitchFamily="34" charset="-122"/>
                <a:cs typeface="Alexandria" pitchFamily="34" charset="-120"/>
              </a:rPr>
              <a:t>Dễ tham gia</a:t>
            </a:r>
            <a:endParaRPr lang="en-US" sz="1300" dirty="0"/>
          </a:p>
        </p:txBody>
      </p:sp>
      <p:sp>
        <p:nvSpPr>
          <p:cNvPr id="32" name="Text 30"/>
          <p:cNvSpPr/>
          <p:nvPr/>
        </p:nvSpPr>
        <p:spPr>
          <a:xfrm>
            <a:off x="2752344" y="3127248"/>
            <a:ext cx="1655064" cy="118872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Nhanh, vui, làm lúc nào cũng được; nói nhanh hơn viết nên trả lời chi tiết hơn</a:t>
            </a:r>
            <a:endParaRPr lang="en-US" sz="1050" dirty="0"/>
          </a:p>
        </p:txBody>
      </p:sp>
      <p:sp>
        <p:nvSpPr>
          <p:cNvPr id="33" name="Shape 31"/>
          <p:cNvSpPr/>
          <p:nvPr/>
        </p:nvSpPr>
        <p:spPr>
          <a:xfrm>
            <a:off x="4645152" y="2743200"/>
            <a:ext cx="1947672" cy="1645920"/>
          </a:xfrm>
          <a:prstGeom prst="roundRect">
            <a:avLst>
              <a:gd name="adj" fmla="val 4444"/>
            </a:avLst>
          </a:prstGeom>
          <a:solidFill>
            <a:srgbClr val="FFFFFF"/>
          </a:solidFill>
          <a:ln w="12700">
            <a:solidFill>
              <a:srgbClr val="E6E2D6"/>
            </a:solidFill>
            <a:prstDash val="solid"/>
          </a:ln>
        </p:spPr>
      </p:sp>
      <p:sp>
        <p:nvSpPr>
          <p:cNvPr id="34" name="Shape 32"/>
          <p:cNvSpPr/>
          <p:nvPr/>
        </p:nvSpPr>
        <p:spPr>
          <a:xfrm>
            <a:off x="4645152" y="2852928"/>
            <a:ext cx="64008" cy="1426464"/>
          </a:xfrm>
          <a:prstGeom prst="rect">
            <a:avLst/>
          </a:prstGeom>
          <a:solidFill>
            <a:srgbClr val="09A1E5"/>
          </a:solidFill>
          <a:ln w="12700">
            <a:solidFill>
              <a:srgbClr val="09A1E5"/>
            </a:solidFill>
            <a:prstDash val="solid"/>
          </a:ln>
        </p:spPr>
      </p:sp>
      <p:sp>
        <p:nvSpPr>
          <p:cNvPr id="35" name="Text 33"/>
          <p:cNvSpPr/>
          <p:nvPr/>
        </p:nvSpPr>
        <p:spPr>
          <a:xfrm>
            <a:off x="4846320" y="2834640"/>
            <a:ext cx="1655064"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Thể hiện cảm xúc</a:t>
            </a:r>
            <a:endParaRPr lang="en-US" sz="1300" dirty="0"/>
          </a:p>
        </p:txBody>
      </p:sp>
      <p:sp>
        <p:nvSpPr>
          <p:cNvPr id="36" name="Text 34"/>
          <p:cNvSpPr/>
          <p:nvPr/>
        </p:nvSpPr>
        <p:spPr>
          <a:xfrm>
            <a:off x="4846320" y="3127248"/>
            <a:ext cx="1655064" cy="118872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Thấy cảm xúc thật — “vàng” với người tìm động lực cảm xúc</a:t>
            </a:r>
            <a:endParaRPr lang="en-US" sz="1050" dirty="0"/>
          </a:p>
        </p:txBody>
      </p:sp>
      <p:sp>
        <p:nvSpPr>
          <p:cNvPr id="37" name="Shape 35"/>
          <p:cNvSpPr/>
          <p:nvPr/>
        </p:nvSpPr>
        <p:spPr>
          <a:xfrm>
            <a:off x="6739128" y="2743200"/>
            <a:ext cx="1947672" cy="1645920"/>
          </a:xfrm>
          <a:prstGeom prst="roundRect">
            <a:avLst>
              <a:gd name="adj" fmla="val 4444"/>
            </a:avLst>
          </a:prstGeom>
          <a:solidFill>
            <a:srgbClr val="FFFFFF"/>
          </a:solidFill>
          <a:ln w="12700">
            <a:solidFill>
              <a:srgbClr val="E6E2D6"/>
            </a:solidFill>
            <a:prstDash val="solid"/>
          </a:ln>
        </p:spPr>
      </p:sp>
      <p:sp>
        <p:nvSpPr>
          <p:cNvPr id="38" name="Shape 36"/>
          <p:cNvSpPr/>
          <p:nvPr/>
        </p:nvSpPr>
        <p:spPr>
          <a:xfrm>
            <a:off x="6739128" y="2852928"/>
            <a:ext cx="64008" cy="1426464"/>
          </a:xfrm>
          <a:prstGeom prst="rect">
            <a:avLst/>
          </a:prstGeom>
          <a:solidFill>
            <a:srgbClr val="962B7C"/>
          </a:solidFill>
          <a:ln w="12700">
            <a:solidFill>
              <a:srgbClr val="962B7C"/>
            </a:solidFill>
            <a:prstDash val="solid"/>
          </a:ln>
        </p:spPr>
      </p:sp>
      <p:sp>
        <p:nvSpPr>
          <p:cNvPr id="39" name="Text 37"/>
          <p:cNvSpPr/>
          <p:nvPr/>
        </p:nvSpPr>
        <p:spPr>
          <a:xfrm>
            <a:off x="6940296" y="2834640"/>
            <a:ext cx="1655064" cy="274320"/>
          </a:xfrm>
          <a:prstGeom prst="rect">
            <a:avLst/>
          </a:prstGeom>
          <a:noFill/>
          <a:ln/>
        </p:spPr>
        <p:txBody>
          <a:bodyPr wrap="square" lIns="0" tIns="0" rIns="0" bIns="0" rtlCol="0" anchor="t"/>
          <a:lstStyle/>
          <a:p>
            <a:pPr algn="l" indent="0" marL="0">
              <a:buNone/>
            </a:pPr>
            <a:r>
              <a:rPr lang="en-US" sz="1300" b="1" dirty="0">
                <a:solidFill>
                  <a:srgbClr val="962B7C"/>
                </a:solidFill>
                <a:latin typeface="Alexandria" pitchFamily="34" charset="0"/>
                <a:ea typeface="Alexandria" pitchFamily="34" charset="-122"/>
                <a:cs typeface="Alexandria" pitchFamily="34" charset="-120"/>
              </a:rPr>
              <a:t>Dễ chia sẻ</a:t>
            </a:r>
            <a:endParaRPr lang="en-US" sz="1300" dirty="0"/>
          </a:p>
        </p:txBody>
      </p:sp>
      <p:sp>
        <p:nvSpPr>
          <p:cNvPr id="40" name="Text 38"/>
          <p:cNvSpPr/>
          <p:nvPr/>
        </p:nvSpPr>
        <p:spPr>
          <a:xfrm>
            <a:off x="6940296" y="3127248"/>
            <a:ext cx="1655064" cy="118872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Câu chuyện khách hàng thật cho lãnh đạo và các bên liên quan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Nhóm tập trung trực tuyến thành công nhờ bốn nguyên tắc điều phối</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15</a:t>
            </a:r>
            <a:endParaRPr lang="en-US" sz="1000" dirty="0"/>
          </a:p>
        </p:txBody>
      </p:sp>
      <p:sp>
        <p:nvSpPr>
          <p:cNvPr id="13" name="Shape 11"/>
          <p:cNvSpPr/>
          <p:nvPr/>
        </p:nvSpPr>
        <p:spPr>
          <a:xfrm>
            <a:off x="457200" y="1417320"/>
            <a:ext cx="4023360" cy="1325880"/>
          </a:xfrm>
          <a:prstGeom prst="roundRect">
            <a:avLst>
              <a:gd name="adj" fmla="val 5517"/>
            </a:avLst>
          </a:prstGeom>
          <a:solidFill>
            <a:srgbClr val="FFFFFF"/>
          </a:solidFill>
          <a:ln w="12700">
            <a:solidFill>
              <a:srgbClr val="E6E2D6"/>
            </a:solidFill>
            <a:prstDash val="solid"/>
          </a:ln>
        </p:spPr>
      </p:sp>
      <p:sp>
        <p:nvSpPr>
          <p:cNvPr id="14" name="Shape 12"/>
          <p:cNvSpPr/>
          <p:nvPr/>
        </p:nvSpPr>
        <p:spPr>
          <a:xfrm>
            <a:off x="640080" y="1600200"/>
            <a:ext cx="457200" cy="457200"/>
          </a:xfrm>
          <a:prstGeom prst="ellipse">
            <a:avLst/>
          </a:prstGeom>
          <a:solidFill>
            <a:srgbClr val="09A1E5"/>
          </a:solidFill>
          <a:ln w="12700">
            <a:solidFill>
              <a:srgbClr val="09A1E5"/>
            </a:solidFill>
            <a:prstDash val="solid"/>
          </a:ln>
        </p:spPr>
      </p:sp>
      <p:sp>
        <p:nvSpPr>
          <p:cNvPr id="15" name="Text 13"/>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a:t>
            </a:r>
            <a:endParaRPr lang="en-US" sz="1500" dirty="0"/>
          </a:p>
        </p:txBody>
      </p:sp>
      <p:sp>
        <p:nvSpPr>
          <p:cNvPr id="16" name="Text 14"/>
          <p:cNvSpPr/>
          <p:nvPr/>
        </p:nvSpPr>
        <p:spPr>
          <a:xfrm>
            <a:off x="1234440" y="1600200"/>
            <a:ext cx="3108960" cy="457200"/>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Tận dụng khung chat</a:t>
            </a:r>
            <a:endParaRPr lang="en-US" sz="1300" dirty="0"/>
          </a:p>
        </p:txBody>
      </p:sp>
      <p:sp>
        <p:nvSpPr>
          <p:cNvPr id="17" name="Text 15"/>
          <p:cNvSpPr/>
          <p:nvPr/>
        </p:nvSpPr>
        <p:spPr>
          <a:xfrm>
            <a:off x="1234440" y="2075688"/>
            <a:ext cx="3108960" cy="64008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Mọi người cùng gõ câu trả lời một lúc; người điều phối tóm tắt và chọn hướng đào sâu</a:t>
            </a:r>
            <a:endParaRPr lang="en-US" sz="1050" dirty="0"/>
          </a:p>
        </p:txBody>
      </p:sp>
      <p:sp>
        <p:nvSpPr>
          <p:cNvPr id="18" name="Shape 16"/>
          <p:cNvSpPr/>
          <p:nvPr/>
        </p:nvSpPr>
        <p:spPr>
          <a:xfrm>
            <a:off x="4663440" y="1417320"/>
            <a:ext cx="4023360" cy="1325880"/>
          </a:xfrm>
          <a:prstGeom prst="roundRect">
            <a:avLst>
              <a:gd name="adj" fmla="val 5517"/>
            </a:avLst>
          </a:prstGeom>
          <a:solidFill>
            <a:srgbClr val="FFFFFF"/>
          </a:solidFill>
          <a:ln w="12700">
            <a:solidFill>
              <a:srgbClr val="E6E2D6"/>
            </a:solidFill>
            <a:prstDash val="solid"/>
          </a:ln>
        </p:spPr>
      </p:sp>
      <p:sp>
        <p:nvSpPr>
          <p:cNvPr id="19" name="Shape 17"/>
          <p:cNvSpPr/>
          <p:nvPr/>
        </p:nvSpPr>
        <p:spPr>
          <a:xfrm>
            <a:off x="4846320" y="1600200"/>
            <a:ext cx="457200" cy="457200"/>
          </a:xfrm>
          <a:prstGeom prst="ellipse">
            <a:avLst/>
          </a:prstGeom>
          <a:solidFill>
            <a:srgbClr val="49B296"/>
          </a:solidFill>
          <a:ln w="12700">
            <a:solidFill>
              <a:srgbClr val="49B296"/>
            </a:solidFill>
            <a:prstDash val="solid"/>
          </a:ln>
        </p:spPr>
      </p:sp>
      <p:sp>
        <p:nvSpPr>
          <p:cNvPr id="20" name="Text 18"/>
          <p:cNvSpPr/>
          <p:nvPr/>
        </p:nvSpPr>
        <p:spPr>
          <a:xfrm>
            <a:off x="484632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2</a:t>
            </a:r>
            <a:endParaRPr lang="en-US" sz="1500" dirty="0"/>
          </a:p>
        </p:txBody>
      </p:sp>
      <p:sp>
        <p:nvSpPr>
          <p:cNvPr id="21" name="Text 19"/>
          <p:cNvSpPr/>
          <p:nvPr/>
        </p:nvSpPr>
        <p:spPr>
          <a:xfrm>
            <a:off x="5440680" y="1600200"/>
            <a:ext cx="3108960" cy="457200"/>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Ai cũng được nói</a:t>
            </a:r>
            <a:endParaRPr lang="en-US" sz="1300" dirty="0"/>
          </a:p>
        </p:txBody>
      </p:sp>
      <p:sp>
        <p:nvSpPr>
          <p:cNvPr id="22" name="Text 20"/>
          <p:cNvSpPr/>
          <p:nvPr/>
        </p:nvSpPr>
        <p:spPr>
          <a:xfrm>
            <a:off x="5440680" y="2075688"/>
            <a:ext cx="3108960" cy="64008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Gọi tên từng người, ghi nhận và tóm tắt ý họ để họ thấy được lắng nghe</a:t>
            </a:r>
            <a:endParaRPr lang="en-US" sz="1050" dirty="0"/>
          </a:p>
        </p:txBody>
      </p:sp>
      <p:sp>
        <p:nvSpPr>
          <p:cNvPr id="23" name="Shape 21"/>
          <p:cNvSpPr/>
          <p:nvPr/>
        </p:nvSpPr>
        <p:spPr>
          <a:xfrm>
            <a:off x="457200" y="2880360"/>
            <a:ext cx="4023360" cy="1325880"/>
          </a:xfrm>
          <a:prstGeom prst="roundRect">
            <a:avLst>
              <a:gd name="adj" fmla="val 5517"/>
            </a:avLst>
          </a:prstGeom>
          <a:solidFill>
            <a:srgbClr val="FFFFFF"/>
          </a:solidFill>
          <a:ln w="12700">
            <a:solidFill>
              <a:srgbClr val="E6E2D6"/>
            </a:solidFill>
            <a:prstDash val="solid"/>
          </a:ln>
        </p:spPr>
      </p:sp>
      <p:sp>
        <p:nvSpPr>
          <p:cNvPr id="24" name="Shape 22"/>
          <p:cNvSpPr/>
          <p:nvPr/>
        </p:nvSpPr>
        <p:spPr>
          <a:xfrm>
            <a:off x="640080" y="3063240"/>
            <a:ext cx="457200" cy="457200"/>
          </a:xfrm>
          <a:prstGeom prst="ellipse">
            <a:avLst/>
          </a:prstGeom>
          <a:solidFill>
            <a:srgbClr val="FF9259"/>
          </a:solidFill>
          <a:ln w="12700">
            <a:solidFill>
              <a:srgbClr val="FF9259"/>
            </a:solidFill>
            <a:prstDash val="solid"/>
          </a:ln>
        </p:spPr>
      </p:sp>
      <p:sp>
        <p:nvSpPr>
          <p:cNvPr id="25" name="Text 23"/>
          <p:cNvSpPr/>
          <p:nvPr/>
        </p:nvSpPr>
        <p:spPr>
          <a:xfrm>
            <a:off x="640080" y="3063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3</a:t>
            </a:r>
            <a:endParaRPr lang="en-US" sz="1500" dirty="0"/>
          </a:p>
        </p:txBody>
      </p:sp>
      <p:sp>
        <p:nvSpPr>
          <p:cNvPr id="26" name="Text 24"/>
          <p:cNvSpPr/>
          <p:nvPr/>
        </p:nvSpPr>
        <p:spPr>
          <a:xfrm>
            <a:off x="1234440" y="3063240"/>
            <a:ext cx="3108960" cy="457200"/>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Người nói đầu tiên định hình buổi</a:t>
            </a:r>
            <a:endParaRPr lang="en-US" sz="1300" dirty="0"/>
          </a:p>
        </p:txBody>
      </p:sp>
      <p:sp>
        <p:nvSpPr>
          <p:cNvPr id="27" name="Text 25"/>
          <p:cNvSpPr/>
          <p:nvPr/>
        </p:nvSpPr>
        <p:spPr>
          <a:xfrm>
            <a:off x="1234440" y="3538728"/>
            <a:ext cx="3108960" cy="64008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Muốn chi tiết hơn thì nói với người đầu; lan man thì cắt ngay — cả nhóm sẽ làm theo</a:t>
            </a:r>
            <a:endParaRPr lang="en-US" sz="1050" dirty="0"/>
          </a:p>
        </p:txBody>
      </p:sp>
      <p:sp>
        <p:nvSpPr>
          <p:cNvPr id="28" name="Shape 26"/>
          <p:cNvSpPr/>
          <p:nvPr/>
        </p:nvSpPr>
        <p:spPr>
          <a:xfrm>
            <a:off x="4663440" y="2880360"/>
            <a:ext cx="4023360" cy="1325880"/>
          </a:xfrm>
          <a:prstGeom prst="roundRect">
            <a:avLst>
              <a:gd name="adj" fmla="val 5517"/>
            </a:avLst>
          </a:prstGeom>
          <a:solidFill>
            <a:srgbClr val="FFFFFF"/>
          </a:solidFill>
          <a:ln w="12700">
            <a:solidFill>
              <a:srgbClr val="E6E2D6"/>
            </a:solidFill>
            <a:prstDash val="solid"/>
          </a:ln>
        </p:spPr>
      </p:sp>
      <p:sp>
        <p:nvSpPr>
          <p:cNvPr id="29" name="Shape 27"/>
          <p:cNvSpPr/>
          <p:nvPr/>
        </p:nvSpPr>
        <p:spPr>
          <a:xfrm>
            <a:off x="4846320" y="3063240"/>
            <a:ext cx="457200" cy="457200"/>
          </a:xfrm>
          <a:prstGeom prst="ellipse">
            <a:avLst/>
          </a:prstGeom>
          <a:solidFill>
            <a:srgbClr val="FF5178"/>
          </a:solidFill>
          <a:ln w="12700">
            <a:solidFill>
              <a:srgbClr val="FF5178"/>
            </a:solidFill>
            <a:prstDash val="solid"/>
          </a:ln>
        </p:spPr>
      </p:sp>
      <p:sp>
        <p:nvSpPr>
          <p:cNvPr id="30" name="Text 28"/>
          <p:cNvSpPr/>
          <p:nvPr/>
        </p:nvSpPr>
        <p:spPr>
          <a:xfrm>
            <a:off x="4846320" y="3063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4</a:t>
            </a:r>
            <a:endParaRPr lang="en-US" sz="1500" dirty="0"/>
          </a:p>
        </p:txBody>
      </p:sp>
      <p:sp>
        <p:nvSpPr>
          <p:cNvPr id="31" name="Text 29"/>
          <p:cNvSpPr/>
          <p:nvPr/>
        </p:nvSpPr>
        <p:spPr>
          <a:xfrm>
            <a:off x="5440680" y="3063240"/>
            <a:ext cx="3108960" cy="457200"/>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Năng lượng của bạn</a:t>
            </a:r>
            <a:endParaRPr lang="en-US" sz="1300" dirty="0"/>
          </a:p>
        </p:txBody>
      </p:sp>
      <p:sp>
        <p:nvSpPr>
          <p:cNvPr id="32" name="Text 30"/>
          <p:cNvSpPr/>
          <p:nvPr/>
        </p:nvSpPr>
        <p:spPr>
          <a:xfrm>
            <a:off x="5440680" y="3538728"/>
            <a:ext cx="3108960" cy="64008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Cười, giữ nhịp, không để khoảng lặng — online, im lặng rất ngượng</a:t>
            </a:r>
            <a:endParaRPr lang="en-US" sz="1050" dirty="0"/>
          </a:p>
        </p:txBody>
      </p:sp>
      <p:sp>
        <p:nvSpPr>
          <p:cNvPr id="33" name="Text 31"/>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Thiếu điều phối tốt, nhóm tập trung dễ thành một người nói mãi hoặc cả nhóm than phiền về trải nghiệm cũ.</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Kiểm thử khả dụng yêu cầu người dùng làm nhiệm vụ, không chỉ trả lời câu hỏi</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16</a:t>
            </a:r>
            <a:endParaRPr lang="en-US" sz="1000" dirty="0"/>
          </a:p>
        </p:txBody>
      </p:sp>
      <p:sp>
        <p:nvSpPr>
          <p:cNvPr id="13" name="Shape 11"/>
          <p:cNvSpPr/>
          <p:nvPr/>
        </p:nvSpPr>
        <p:spPr>
          <a:xfrm>
            <a:off x="457200" y="1417320"/>
            <a:ext cx="3931920" cy="1097280"/>
          </a:xfrm>
          <a:prstGeom prst="roundRect">
            <a:avLst>
              <a:gd name="adj" fmla="val 6667"/>
            </a:avLst>
          </a:prstGeom>
          <a:solidFill>
            <a:srgbClr val="F1EEE3"/>
          </a:solidFill>
          <a:ln w="12700">
            <a:solidFill>
              <a:srgbClr val="F1EEE3"/>
            </a:solidFill>
            <a:prstDash val="solid"/>
          </a:ln>
        </p:spPr>
      </p:sp>
      <p:sp>
        <p:nvSpPr>
          <p:cNvPr id="14" name="Text 12"/>
          <p:cNvSpPr/>
          <p:nvPr/>
        </p:nvSpPr>
        <p:spPr>
          <a:xfrm>
            <a:off x="640080" y="1481328"/>
            <a:ext cx="3566160" cy="274320"/>
          </a:xfrm>
          <a:prstGeom prst="rect">
            <a:avLst/>
          </a:prstGeom>
          <a:noFill/>
          <a:ln/>
        </p:spPr>
        <p:txBody>
          <a:bodyPr wrap="square" lIns="0" tIns="0" rIns="0" bIns="0" rtlCol="0" anchor="t"/>
          <a:lstStyle/>
          <a:p>
            <a:pPr algn="l" indent="0" marL="0">
              <a:buNone/>
            </a:pPr>
            <a:r>
              <a:rPr lang="en-US" sz="1150" b="1" dirty="0">
                <a:solidFill>
                  <a:srgbClr val="09A1E5"/>
                </a:solidFill>
                <a:latin typeface="Alexandria" pitchFamily="34" charset="0"/>
                <a:ea typeface="Alexandria" pitchFamily="34" charset="-122"/>
                <a:cs typeface="Alexandria" pitchFamily="34" charset="-120"/>
              </a:rPr>
              <a:t>Kịch bản ví dụ (website Quân đội Mỹ)</a:t>
            </a:r>
            <a:endParaRPr lang="en-US" sz="1150" dirty="0"/>
          </a:p>
        </p:txBody>
      </p:sp>
      <p:sp>
        <p:nvSpPr>
          <p:cNvPr id="15" name="Text 13"/>
          <p:cNvSpPr/>
          <p:nvPr/>
        </p:nvSpPr>
        <p:spPr>
          <a:xfrm>
            <a:off x="640080" y="1755648"/>
            <a:ext cx="3566160" cy="731520"/>
          </a:xfrm>
          <a:prstGeom prst="rect">
            <a:avLst/>
          </a:prstGeom>
          <a:noFill/>
          <a:ln/>
        </p:spPr>
        <p:txBody>
          <a:bodyPr wrap="square" lIns="0" tIns="0" rIns="0" bIns="0" rtlCol="0" anchor="t"/>
          <a:lstStyle/>
          <a:p>
            <a:pPr algn="l" indent="0" marL="0">
              <a:buNone/>
            </a:pPr>
            <a:r>
              <a:rPr lang="en-US" sz="1050" i="1" dirty="0">
                <a:solidFill>
                  <a:srgbClr val="2B2633"/>
                </a:solidFill>
                <a:latin typeface="Alexandria" pitchFamily="34" charset="0"/>
                <a:ea typeface="Alexandria" pitchFamily="34" charset="-122"/>
                <a:cs typeface="Alexandria" pitchFamily="34" charset="-120"/>
              </a:rPr>
              <a:t>“Gia đình bạn gặp khó khăn tài chính do khuyết tật của bạn. Hãy tìm nguồn hỗ trợ.” — người dùng vừa làm vừa nói to suy nghĩ.</a:t>
            </a:r>
            <a:endParaRPr lang="en-US" sz="1050" dirty="0"/>
          </a:p>
        </p:txBody>
      </p:sp>
      <p:sp>
        <p:nvSpPr>
          <p:cNvPr id="16" name="Shape 14"/>
          <p:cNvSpPr/>
          <p:nvPr/>
        </p:nvSpPr>
        <p:spPr>
          <a:xfrm>
            <a:off x="457200" y="2651760"/>
            <a:ext cx="3931920" cy="548640"/>
          </a:xfrm>
          <a:prstGeom prst="roundRect">
            <a:avLst>
              <a:gd name="adj" fmla="val 13333"/>
            </a:avLst>
          </a:prstGeom>
          <a:solidFill>
            <a:srgbClr val="FFFFFF"/>
          </a:solidFill>
          <a:ln w="12700">
            <a:solidFill>
              <a:srgbClr val="E6E2D6"/>
            </a:solidFill>
            <a:prstDash val="solid"/>
          </a:ln>
        </p:spPr>
      </p:sp>
      <p:sp>
        <p:nvSpPr>
          <p:cNvPr id="17" name="Shape 15"/>
          <p:cNvSpPr/>
          <p:nvPr/>
        </p:nvSpPr>
        <p:spPr>
          <a:xfrm>
            <a:off x="457200" y="2761488"/>
            <a:ext cx="64008" cy="329184"/>
          </a:xfrm>
          <a:prstGeom prst="rect">
            <a:avLst/>
          </a:prstGeom>
          <a:solidFill>
            <a:srgbClr val="49B296"/>
          </a:solidFill>
          <a:ln w="12700">
            <a:solidFill>
              <a:srgbClr val="49B296"/>
            </a:solidFill>
            <a:prstDash val="solid"/>
          </a:ln>
        </p:spPr>
      </p:sp>
      <p:sp>
        <p:nvSpPr>
          <p:cNvPr id="18" name="Text 16"/>
          <p:cNvSpPr/>
          <p:nvPr/>
        </p:nvSpPr>
        <p:spPr>
          <a:xfrm>
            <a:off x="658368" y="2743200"/>
            <a:ext cx="3639312" cy="274320"/>
          </a:xfrm>
          <a:prstGeom prst="rect">
            <a:avLst/>
          </a:prstGeom>
          <a:noFill/>
          <a:ln/>
        </p:spPr>
        <p:txBody>
          <a:bodyPr wrap="square" lIns="0" tIns="0" rIns="0" bIns="0" rtlCol="0" anchor="t"/>
          <a:lstStyle/>
          <a:p>
            <a:pPr algn="l" indent="0" marL="0">
              <a:buNone/>
            </a:pPr>
            <a:r>
              <a:rPr lang="en-US" sz="1300" b="1" dirty="0">
                <a:solidFill>
                  <a:srgbClr val="49B296"/>
                </a:solidFill>
                <a:latin typeface="Alexandria" pitchFamily="34" charset="0"/>
                <a:ea typeface="Alexandria" pitchFamily="34" charset="-122"/>
                <a:cs typeface="Alexandria" pitchFamily="34" charset="-120"/>
              </a:rPr>
              <a:t>Thời gian</a:t>
            </a:r>
            <a:endParaRPr lang="en-US" sz="1300" dirty="0"/>
          </a:p>
        </p:txBody>
      </p:sp>
      <p:sp>
        <p:nvSpPr>
          <p:cNvPr id="19" name="Text 17"/>
          <p:cNvSpPr/>
          <p:nvPr/>
        </p:nvSpPr>
        <p:spPr>
          <a:xfrm>
            <a:off x="658368" y="3035808"/>
            <a:ext cx="3639312" cy="91440"/>
          </a:xfrm>
          <a:prstGeom prst="rect">
            <a:avLst/>
          </a:prstGeom>
          <a:noFill/>
          <a:ln/>
        </p:spPr>
        <p:txBody>
          <a:bodyPr wrap="square" lIns="0" tIns="0" rIns="0" bIns="0" rtlCol="0" anchor="t"/>
          <a:lstStyle/>
          <a:p>
            <a:pPr algn="l" indent="0" marL="0">
              <a:buNone/>
            </a:pPr>
            <a:endParaRPr lang="en-US" sz="100" dirty="0"/>
          </a:p>
        </p:txBody>
      </p:sp>
      <p:sp>
        <p:nvSpPr>
          <p:cNvPr id="20" name="Shape 18"/>
          <p:cNvSpPr/>
          <p:nvPr/>
        </p:nvSpPr>
        <p:spPr>
          <a:xfrm>
            <a:off x="457200" y="3255264"/>
            <a:ext cx="3931920" cy="548640"/>
          </a:xfrm>
          <a:prstGeom prst="roundRect">
            <a:avLst>
              <a:gd name="adj" fmla="val 13333"/>
            </a:avLst>
          </a:prstGeom>
          <a:solidFill>
            <a:srgbClr val="FFFFFF"/>
          </a:solidFill>
          <a:ln w="12700">
            <a:solidFill>
              <a:srgbClr val="E6E2D6"/>
            </a:solidFill>
            <a:prstDash val="solid"/>
          </a:ln>
        </p:spPr>
      </p:sp>
      <p:sp>
        <p:nvSpPr>
          <p:cNvPr id="21" name="Shape 19"/>
          <p:cNvSpPr/>
          <p:nvPr/>
        </p:nvSpPr>
        <p:spPr>
          <a:xfrm>
            <a:off x="457200" y="3364992"/>
            <a:ext cx="64008" cy="329184"/>
          </a:xfrm>
          <a:prstGeom prst="rect">
            <a:avLst/>
          </a:prstGeom>
          <a:solidFill>
            <a:srgbClr val="FF9259"/>
          </a:solidFill>
          <a:ln w="12700">
            <a:solidFill>
              <a:srgbClr val="FF9259"/>
            </a:solidFill>
            <a:prstDash val="solid"/>
          </a:ln>
        </p:spPr>
      </p:sp>
      <p:sp>
        <p:nvSpPr>
          <p:cNvPr id="22" name="Text 20"/>
          <p:cNvSpPr/>
          <p:nvPr/>
        </p:nvSpPr>
        <p:spPr>
          <a:xfrm>
            <a:off x="658368" y="3346704"/>
            <a:ext cx="3639312" cy="274320"/>
          </a:xfrm>
          <a:prstGeom prst="rect">
            <a:avLst/>
          </a:prstGeom>
          <a:noFill/>
          <a:ln/>
        </p:spPr>
        <p:txBody>
          <a:bodyPr wrap="square" lIns="0" tIns="0" rIns="0" bIns="0" rtlCol="0" anchor="t"/>
          <a:lstStyle/>
          <a:p>
            <a:pPr algn="l" indent="0" marL="0">
              <a:buNone/>
            </a:pPr>
            <a:r>
              <a:rPr lang="en-US" sz="1300" b="1" dirty="0">
                <a:solidFill>
                  <a:srgbClr val="FF9259"/>
                </a:solidFill>
                <a:latin typeface="Alexandria" pitchFamily="34" charset="0"/>
                <a:ea typeface="Alexandria" pitchFamily="34" charset="-122"/>
                <a:cs typeface="Alexandria" pitchFamily="34" charset="-120"/>
              </a:rPr>
              <a:t>Hoàn thành</a:t>
            </a:r>
            <a:endParaRPr lang="en-US" sz="1300" dirty="0"/>
          </a:p>
        </p:txBody>
      </p:sp>
      <p:sp>
        <p:nvSpPr>
          <p:cNvPr id="23" name="Text 21"/>
          <p:cNvSpPr/>
          <p:nvPr/>
        </p:nvSpPr>
        <p:spPr>
          <a:xfrm>
            <a:off x="658368" y="3639312"/>
            <a:ext cx="3639312" cy="91440"/>
          </a:xfrm>
          <a:prstGeom prst="rect">
            <a:avLst/>
          </a:prstGeom>
          <a:noFill/>
          <a:ln/>
        </p:spPr>
        <p:txBody>
          <a:bodyPr wrap="square" lIns="0" tIns="0" rIns="0" bIns="0" rtlCol="0" anchor="t"/>
          <a:lstStyle/>
          <a:p>
            <a:pPr algn="l" indent="0" marL="0">
              <a:buNone/>
            </a:pPr>
            <a:endParaRPr lang="en-US" sz="100" dirty="0"/>
          </a:p>
        </p:txBody>
      </p:sp>
      <p:sp>
        <p:nvSpPr>
          <p:cNvPr id="24" name="Shape 22"/>
          <p:cNvSpPr/>
          <p:nvPr/>
        </p:nvSpPr>
        <p:spPr>
          <a:xfrm>
            <a:off x="457200" y="3858768"/>
            <a:ext cx="3931920" cy="548640"/>
          </a:xfrm>
          <a:prstGeom prst="roundRect">
            <a:avLst>
              <a:gd name="adj" fmla="val 13333"/>
            </a:avLst>
          </a:prstGeom>
          <a:solidFill>
            <a:srgbClr val="FFFFFF"/>
          </a:solidFill>
          <a:ln w="12700">
            <a:solidFill>
              <a:srgbClr val="E6E2D6"/>
            </a:solidFill>
            <a:prstDash val="solid"/>
          </a:ln>
        </p:spPr>
      </p:sp>
      <p:sp>
        <p:nvSpPr>
          <p:cNvPr id="25" name="Shape 23"/>
          <p:cNvSpPr/>
          <p:nvPr/>
        </p:nvSpPr>
        <p:spPr>
          <a:xfrm>
            <a:off x="457200" y="3968496"/>
            <a:ext cx="64008" cy="329184"/>
          </a:xfrm>
          <a:prstGeom prst="rect">
            <a:avLst/>
          </a:prstGeom>
          <a:solidFill>
            <a:srgbClr val="FF5178"/>
          </a:solidFill>
          <a:ln w="12700">
            <a:solidFill>
              <a:srgbClr val="FF5178"/>
            </a:solidFill>
            <a:prstDash val="solid"/>
          </a:ln>
        </p:spPr>
      </p:sp>
      <p:sp>
        <p:nvSpPr>
          <p:cNvPr id="26" name="Text 24"/>
          <p:cNvSpPr/>
          <p:nvPr/>
        </p:nvSpPr>
        <p:spPr>
          <a:xfrm>
            <a:off x="658368" y="3950208"/>
            <a:ext cx="3639312"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Dễ dùng 1–10</a:t>
            </a:r>
            <a:endParaRPr lang="en-US" sz="1300" dirty="0"/>
          </a:p>
        </p:txBody>
      </p:sp>
      <p:sp>
        <p:nvSpPr>
          <p:cNvPr id="27" name="Text 25"/>
          <p:cNvSpPr/>
          <p:nvPr/>
        </p:nvSpPr>
        <p:spPr>
          <a:xfrm>
            <a:off x="658368" y="4242816"/>
            <a:ext cx="3639312" cy="91440"/>
          </a:xfrm>
          <a:prstGeom prst="rect">
            <a:avLst/>
          </a:prstGeom>
          <a:noFill/>
          <a:ln/>
        </p:spPr>
        <p:txBody>
          <a:bodyPr wrap="square" lIns="0" tIns="0" rIns="0" bIns="0" rtlCol="0" anchor="t"/>
          <a:lstStyle/>
          <a:p>
            <a:pPr algn="l" indent="0" marL="0">
              <a:buNone/>
            </a:pPr>
            <a:endParaRPr lang="en-US" sz="100" dirty="0"/>
          </a:p>
        </p:txBody>
      </p:sp>
      <p:sp>
        <p:nvSpPr>
          <p:cNvPr id="28" name="Text 26"/>
          <p:cNvSpPr/>
          <p:nvPr/>
        </p:nvSpPr>
        <p:spPr>
          <a:xfrm>
            <a:off x="2057400" y="2651760"/>
            <a:ext cx="2240280" cy="548640"/>
          </a:xfrm>
          <a:prstGeom prst="rect">
            <a:avLst/>
          </a:prstGeom>
          <a:noFill/>
          <a:ln/>
        </p:spPr>
        <p:txBody>
          <a:bodyPr wrap="square" lIns="0" tIns="0" rIns="0" bIns="0" rtlCol="0" anchor="ctr"/>
          <a:lstStyle/>
          <a:p>
            <a:pPr algn="l" indent="0" marL="0">
              <a:buNone/>
            </a:pPr>
            <a:r>
              <a:rPr lang="en-US" sz="950" dirty="0">
                <a:solidFill>
                  <a:srgbClr val="3A3542"/>
                </a:solidFill>
                <a:latin typeface="Alexandria" pitchFamily="34" charset="0"/>
                <a:ea typeface="Alexandria" pitchFamily="34" charset="-122"/>
                <a:cs typeface="Alexandria" pitchFamily="34" charset="-120"/>
              </a:rPr>
              <a:t>Quá lâu → ngoài đời họ sẽ rời đi</a:t>
            </a:r>
            <a:endParaRPr lang="en-US" sz="950" dirty="0"/>
          </a:p>
        </p:txBody>
      </p:sp>
      <p:sp>
        <p:nvSpPr>
          <p:cNvPr id="29" name="Text 27"/>
          <p:cNvSpPr/>
          <p:nvPr/>
        </p:nvSpPr>
        <p:spPr>
          <a:xfrm>
            <a:off x="2057400" y="3255264"/>
            <a:ext cx="2240280" cy="548640"/>
          </a:xfrm>
          <a:prstGeom prst="rect">
            <a:avLst/>
          </a:prstGeom>
          <a:noFill/>
          <a:ln/>
        </p:spPr>
        <p:txBody>
          <a:bodyPr wrap="square" lIns="0" tIns="0" rIns="0" bIns="0" rtlCol="0" anchor="ctr"/>
          <a:lstStyle/>
          <a:p>
            <a:pPr algn="l" indent="0" marL="0">
              <a:buNone/>
            </a:pPr>
            <a:r>
              <a:rPr lang="en-US" sz="950" dirty="0">
                <a:solidFill>
                  <a:srgbClr val="3A3542"/>
                </a:solidFill>
                <a:latin typeface="Alexandria" pitchFamily="34" charset="0"/>
                <a:ea typeface="Alexandria" pitchFamily="34" charset="-122"/>
                <a:cs typeface="Alexandria" pitchFamily="34" charset="-120"/>
              </a:rPr>
              <a:t>0 không thấy · 1 thấy nhưng khó · 2 dễ, tự tin</a:t>
            </a:r>
            <a:endParaRPr lang="en-US" sz="950" dirty="0"/>
          </a:p>
        </p:txBody>
      </p:sp>
      <p:sp>
        <p:nvSpPr>
          <p:cNvPr id="30" name="Text 28"/>
          <p:cNvSpPr/>
          <p:nvPr/>
        </p:nvSpPr>
        <p:spPr>
          <a:xfrm>
            <a:off x="2057400" y="3858768"/>
            <a:ext cx="2240280" cy="548640"/>
          </a:xfrm>
          <a:prstGeom prst="rect">
            <a:avLst/>
          </a:prstGeom>
          <a:noFill/>
          <a:ln/>
        </p:spPr>
        <p:txBody>
          <a:bodyPr wrap="square" lIns="0" tIns="0" rIns="0" bIns="0" rtlCol="0" anchor="ctr"/>
          <a:lstStyle/>
          <a:p>
            <a:pPr algn="l" indent="0" marL="0">
              <a:buNone/>
            </a:pPr>
            <a:r>
              <a:rPr lang="en-US" sz="950" dirty="0">
                <a:solidFill>
                  <a:srgbClr val="3A3542"/>
                </a:solidFill>
                <a:latin typeface="Alexandria" pitchFamily="34" charset="0"/>
                <a:ea typeface="Alexandria" pitchFamily="34" charset="-122"/>
                <a:cs typeface="Alexandria" pitchFamily="34" charset="-120"/>
              </a:rPr>
              <a:t>Hoàn thành ~100% mà chỉ chấm 1–2 điểm → thiết kế có vấn đề</a:t>
            </a:r>
            <a:endParaRPr lang="en-US" sz="950" dirty="0"/>
          </a:p>
        </p:txBody>
      </p:sp>
      <p:sp>
        <p:nvSpPr>
          <p:cNvPr id="31" name="Text 29"/>
          <p:cNvSpPr/>
          <p:nvPr/>
        </p:nvSpPr>
        <p:spPr>
          <a:xfrm>
            <a:off x="4663440" y="1417320"/>
            <a:ext cx="4023360" cy="320040"/>
          </a:xfrm>
          <a:prstGeom prst="rect">
            <a:avLst/>
          </a:prstGeom>
          <a:noFill/>
          <a:ln/>
        </p:spPr>
        <p:txBody>
          <a:bodyPr wrap="square" lIns="0" tIns="0" rIns="0" bIns="0" rtlCol="0" anchor="t"/>
          <a:lstStyle/>
          <a:p>
            <a:pPr algn="l" indent="0" marL="0">
              <a:buNone/>
            </a:pPr>
            <a:r>
              <a:rPr lang="en-US" sz="1350" b="1" dirty="0">
                <a:solidFill>
                  <a:srgbClr val="2B2633"/>
                </a:solidFill>
                <a:latin typeface="Alexandria" pitchFamily="34" charset="0"/>
                <a:ea typeface="Alexandria" pitchFamily="34" charset="-122"/>
                <a:cs typeface="Alexandria" pitchFamily="34" charset="-120"/>
              </a:rPr>
              <a:t>Bốn khía cạnh trải nghiệm cần đánh giá</a:t>
            </a:r>
            <a:endParaRPr lang="en-US" sz="1350" dirty="0"/>
          </a:p>
        </p:txBody>
      </p:sp>
      <p:sp>
        <p:nvSpPr>
          <p:cNvPr id="32" name="Shape 30"/>
          <p:cNvSpPr/>
          <p:nvPr/>
        </p:nvSpPr>
        <p:spPr>
          <a:xfrm>
            <a:off x="4663440" y="1828800"/>
            <a:ext cx="1920240" cy="1143000"/>
          </a:xfrm>
          <a:prstGeom prst="roundRect">
            <a:avLst>
              <a:gd name="adj" fmla="val 6400"/>
            </a:avLst>
          </a:prstGeom>
          <a:solidFill>
            <a:srgbClr val="09A1E5"/>
          </a:solidFill>
          <a:ln w="12700">
            <a:solidFill>
              <a:srgbClr val="09A1E5"/>
            </a:solidFill>
            <a:prstDash val="solid"/>
          </a:ln>
        </p:spPr>
      </p:sp>
      <p:sp>
        <p:nvSpPr>
          <p:cNvPr id="33" name="Text 31"/>
          <p:cNvSpPr/>
          <p:nvPr/>
        </p:nvSpPr>
        <p:spPr>
          <a:xfrm>
            <a:off x="4800600" y="1965960"/>
            <a:ext cx="164592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Điều hướng</a:t>
            </a:r>
            <a:endParaRPr lang="en-US" sz="1400" dirty="0"/>
          </a:p>
        </p:txBody>
      </p:sp>
      <p:sp>
        <p:nvSpPr>
          <p:cNvPr id="34" name="Text 32"/>
          <p:cNvSpPr/>
          <p:nvPr/>
        </p:nvSpPr>
        <p:spPr>
          <a:xfrm>
            <a:off x="4800600" y="2359152"/>
            <a:ext cx="1645920" cy="54864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Cấu trúc thông tin, cách đi lại</a:t>
            </a:r>
            <a:endParaRPr lang="en-US" sz="1050" dirty="0"/>
          </a:p>
        </p:txBody>
      </p:sp>
      <p:sp>
        <p:nvSpPr>
          <p:cNvPr id="35" name="Shape 33"/>
          <p:cNvSpPr/>
          <p:nvPr/>
        </p:nvSpPr>
        <p:spPr>
          <a:xfrm>
            <a:off x="6720840" y="1828800"/>
            <a:ext cx="1920240" cy="1143000"/>
          </a:xfrm>
          <a:prstGeom prst="roundRect">
            <a:avLst>
              <a:gd name="adj" fmla="val 6400"/>
            </a:avLst>
          </a:prstGeom>
          <a:solidFill>
            <a:srgbClr val="962B7C"/>
          </a:solidFill>
          <a:ln w="12700">
            <a:solidFill>
              <a:srgbClr val="962B7C"/>
            </a:solidFill>
            <a:prstDash val="solid"/>
          </a:ln>
        </p:spPr>
      </p:sp>
      <p:sp>
        <p:nvSpPr>
          <p:cNvPr id="36" name="Text 34"/>
          <p:cNvSpPr/>
          <p:nvPr/>
        </p:nvSpPr>
        <p:spPr>
          <a:xfrm>
            <a:off x="6858000" y="1965960"/>
            <a:ext cx="164592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Trình bày</a:t>
            </a:r>
            <a:endParaRPr lang="en-US" sz="1400" dirty="0"/>
          </a:p>
        </p:txBody>
      </p:sp>
      <p:sp>
        <p:nvSpPr>
          <p:cNvPr id="37" name="Text 35"/>
          <p:cNvSpPr/>
          <p:nvPr/>
        </p:nvSpPr>
        <p:spPr>
          <a:xfrm>
            <a:off x="6858000" y="2359152"/>
            <a:ext cx="1645920" cy="54864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Hình ảnh, bố cục</a:t>
            </a:r>
            <a:endParaRPr lang="en-US" sz="1050" dirty="0"/>
          </a:p>
        </p:txBody>
      </p:sp>
      <p:sp>
        <p:nvSpPr>
          <p:cNvPr id="38" name="Shape 36"/>
          <p:cNvSpPr/>
          <p:nvPr/>
        </p:nvSpPr>
        <p:spPr>
          <a:xfrm>
            <a:off x="4663440" y="3108960"/>
            <a:ext cx="1920240" cy="1143000"/>
          </a:xfrm>
          <a:prstGeom prst="roundRect">
            <a:avLst>
              <a:gd name="adj" fmla="val 6400"/>
            </a:avLst>
          </a:prstGeom>
          <a:solidFill>
            <a:srgbClr val="49B296"/>
          </a:solidFill>
          <a:ln w="12700">
            <a:solidFill>
              <a:srgbClr val="49B296"/>
            </a:solidFill>
            <a:prstDash val="solid"/>
          </a:ln>
        </p:spPr>
      </p:sp>
      <p:sp>
        <p:nvSpPr>
          <p:cNvPr id="39" name="Text 37"/>
          <p:cNvSpPr/>
          <p:nvPr/>
        </p:nvSpPr>
        <p:spPr>
          <a:xfrm>
            <a:off x="4800600" y="3246120"/>
            <a:ext cx="164592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Nội dung</a:t>
            </a:r>
            <a:endParaRPr lang="en-US" sz="1400" dirty="0"/>
          </a:p>
        </p:txBody>
      </p:sp>
      <p:sp>
        <p:nvSpPr>
          <p:cNvPr id="40" name="Text 38"/>
          <p:cNvSpPr/>
          <p:nvPr/>
        </p:nvSpPr>
        <p:spPr>
          <a:xfrm>
            <a:off x="4800600" y="3639312"/>
            <a:ext cx="1645920" cy="54864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Có giá trị, dễ hiểu với persona</a:t>
            </a:r>
            <a:endParaRPr lang="en-US" sz="1050" dirty="0"/>
          </a:p>
        </p:txBody>
      </p:sp>
      <p:sp>
        <p:nvSpPr>
          <p:cNvPr id="41" name="Shape 39"/>
          <p:cNvSpPr/>
          <p:nvPr/>
        </p:nvSpPr>
        <p:spPr>
          <a:xfrm>
            <a:off x="6720840" y="3108960"/>
            <a:ext cx="1920240" cy="1143000"/>
          </a:xfrm>
          <a:prstGeom prst="roundRect">
            <a:avLst>
              <a:gd name="adj" fmla="val 6400"/>
            </a:avLst>
          </a:prstGeom>
          <a:solidFill>
            <a:srgbClr val="FF9259"/>
          </a:solidFill>
          <a:ln w="12700">
            <a:solidFill>
              <a:srgbClr val="FF9259"/>
            </a:solidFill>
            <a:prstDash val="solid"/>
          </a:ln>
        </p:spPr>
      </p:sp>
      <p:sp>
        <p:nvSpPr>
          <p:cNvPr id="42" name="Text 40"/>
          <p:cNvSpPr/>
          <p:nvPr/>
        </p:nvSpPr>
        <p:spPr>
          <a:xfrm>
            <a:off x="6858000" y="3246120"/>
            <a:ext cx="1645920" cy="36576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Tương tác</a:t>
            </a:r>
            <a:endParaRPr lang="en-US" sz="1400" dirty="0"/>
          </a:p>
        </p:txBody>
      </p:sp>
      <p:sp>
        <p:nvSpPr>
          <p:cNvPr id="43" name="Text 41"/>
          <p:cNvSpPr/>
          <p:nvPr/>
        </p:nvSpPr>
        <p:spPr>
          <a:xfrm>
            <a:off x="6858000" y="3639312"/>
            <a:ext cx="1645920" cy="54864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Chạm, kéo, nhấp…</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09A1E5"/>
          </a:solidFill>
          <a:ln w="12700">
            <a:solidFill>
              <a:srgbClr val="09A1E5"/>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2  Phương pháp nghiên cứu</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Năm câu hỏi giúp chọn đúng phương pháp (hoặc tổ hợp phương pháp)</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09A1E5"/>
                </a:solidFill>
                <a:latin typeface="Alexandria" pitchFamily="34" charset="0"/>
                <a:ea typeface="Alexandria" pitchFamily="34" charset="-122"/>
                <a:cs typeface="Alexandria" pitchFamily="34" charset="-120"/>
              </a:rPr>
              <a:t>17</a:t>
            </a:r>
            <a:endParaRPr lang="en-US" sz="1000" dirty="0"/>
          </a:p>
        </p:txBody>
      </p:sp>
      <p:sp>
        <p:nvSpPr>
          <p:cNvPr id="13" name="Shape 11"/>
          <p:cNvSpPr/>
          <p:nvPr/>
        </p:nvSpPr>
        <p:spPr>
          <a:xfrm>
            <a:off x="457200" y="1408176"/>
            <a:ext cx="457200" cy="457200"/>
          </a:xfrm>
          <a:prstGeom prst="ellipse">
            <a:avLst/>
          </a:prstGeom>
          <a:solidFill>
            <a:srgbClr val="FF5178"/>
          </a:solidFill>
          <a:ln w="12700">
            <a:solidFill>
              <a:srgbClr val="FF5178"/>
            </a:solidFill>
            <a:prstDash val="solid"/>
          </a:ln>
        </p:spPr>
      </p:sp>
      <p:sp>
        <p:nvSpPr>
          <p:cNvPr id="14" name="Text 12"/>
          <p:cNvSpPr/>
          <p:nvPr/>
        </p:nvSpPr>
        <p:spPr>
          <a:xfrm>
            <a:off x="457200" y="14081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1</a:t>
            </a:r>
            <a:endParaRPr lang="en-US" sz="1500" dirty="0"/>
          </a:p>
        </p:txBody>
      </p:sp>
      <p:sp>
        <p:nvSpPr>
          <p:cNvPr id="15" name="Text 13"/>
          <p:cNvSpPr/>
          <p:nvPr/>
        </p:nvSpPr>
        <p:spPr>
          <a:xfrm>
            <a:off x="1051560" y="1371600"/>
            <a:ext cx="2743200" cy="530352"/>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Tôi muốn cải thiện điều gì?</a:t>
            </a:r>
            <a:endParaRPr lang="en-US" sz="1300" dirty="0"/>
          </a:p>
        </p:txBody>
      </p:sp>
      <p:sp>
        <p:nvSpPr>
          <p:cNvPr id="16" name="Text 14"/>
          <p:cNvSpPr/>
          <p:nvPr/>
        </p:nvSpPr>
        <p:spPr>
          <a:xfrm>
            <a:off x="3840480" y="1371600"/>
            <a:ext cx="4846320" cy="530352"/>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Sản phẩm → kiểm thử khả dụng · Trải nghiệm → dân tộc học, nhật ký video · Chiến lược marketing → phỏng vấn sâu</a:t>
            </a:r>
            <a:endParaRPr lang="en-US" sz="1050" dirty="0"/>
          </a:p>
        </p:txBody>
      </p:sp>
      <p:sp>
        <p:nvSpPr>
          <p:cNvPr id="17" name="Shape 15"/>
          <p:cNvSpPr/>
          <p:nvPr/>
        </p:nvSpPr>
        <p:spPr>
          <a:xfrm>
            <a:off x="1051560" y="1947672"/>
            <a:ext cx="7635240" cy="0"/>
          </a:xfrm>
          <a:prstGeom prst="line">
            <a:avLst/>
          </a:prstGeom>
          <a:noFill/>
          <a:ln w="12700">
            <a:solidFill>
              <a:srgbClr val="E6E2D6"/>
            </a:solidFill>
            <a:prstDash val="solid"/>
          </a:ln>
        </p:spPr>
      </p:sp>
      <p:sp>
        <p:nvSpPr>
          <p:cNvPr id="18" name="Shape 16"/>
          <p:cNvSpPr/>
          <p:nvPr/>
        </p:nvSpPr>
        <p:spPr>
          <a:xfrm>
            <a:off x="457200" y="2029968"/>
            <a:ext cx="457200" cy="457200"/>
          </a:xfrm>
          <a:prstGeom prst="ellipse">
            <a:avLst/>
          </a:prstGeom>
          <a:solidFill>
            <a:srgbClr val="FF9259"/>
          </a:solidFill>
          <a:ln w="12700">
            <a:solidFill>
              <a:srgbClr val="FF9259"/>
            </a:solidFill>
            <a:prstDash val="solid"/>
          </a:ln>
        </p:spPr>
      </p:sp>
      <p:sp>
        <p:nvSpPr>
          <p:cNvPr id="19" name="Text 17"/>
          <p:cNvSpPr/>
          <p:nvPr/>
        </p:nvSpPr>
        <p:spPr>
          <a:xfrm>
            <a:off x="457200" y="20299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2</a:t>
            </a:r>
            <a:endParaRPr lang="en-US" sz="1500" dirty="0"/>
          </a:p>
        </p:txBody>
      </p:sp>
      <p:sp>
        <p:nvSpPr>
          <p:cNvPr id="20" name="Text 18"/>
          <p:cNvSpPr/>
          <p:nvPr/>
        </p:nvSpPr>
        <p:spPr>
          <a:xfrm>
            <a:off x="1051560" y="1993392"/>
            <a:ext cx="2743200" cy="530352"/>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Tìm nhận thức hay hành vi?</a:t>
            </a:r>
            <a:endParaRPr lang="en-US" sz="1300" dirty="0"/>
          </a:p>
        </p:txBody>
      </p:sp>
      <p:sp>
        <p:nvSpPr>
          <p:cNvPr id="21" name="Text 19"/>
          <p:cNvSpPr/>
          <p:nvPr/>
        </p:nvSpPr>
        <p:spPr>
          <a:xfrm>
            <a:off x="3840480" y="1993392"/>
            <a:ext cx="4846320" cy="530352"/>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Ý kiến, mức hài lòng hay cách khách dùng sản phẩm?</a:t>
            </a:r>
            <a:endParaRPr lang="en-US" sz="1050" dirty="0"/>
          </a:p>
        </p:txBody>
      </p:sp>
      <p:sp>
        <p:nvSpPr>
          <p:cNvPr id="22" name="Shape 20"/>
          <p:cNvSpPr/>
          <p:nvPr/>
        </p:nvSpPr>
        <p:spPr>
          <a:xfrm>
            <a:off x="1051560" y="2569464"/>
            <a:ext cx="7635240" cy="0"/>
          </a:xfrm>
          <a:prstGeom prst="line">
            <a:avLst/>
          </a:prstGeom>
          <a:noFill/>
          <a:ln w="12700">
            <a:solidFill>
              <a:srgbClr val="E6E2D6"/>
            </a:solidFill>
            <a:prstDash val="solid"/>
          </a:ln>
        </p:spPr>
      </p:sp>
      <p:sp>
        <p:nvSpPr>
          <p:cNvPr id="23" name="Shape 21"/>
          <p:cNvSpPr/>
          <p:nvPr/>
        </p:nvSpPr>
        <p:spPr>
          <a:xfrm>
            <a:off x="457200" y="2651760"/>
            <a:ext cx="457200" cy="457200"/>
          </a:xfrm>
          <a:prstGeom prst="ellipse">
            <a:avLst/>
          </a:prstGeom>
          <a:solidFill>
            <a:srgbClr val="FFD23B"/>
          </a:solidFill>
          <a:ln w="12700">
            <a:solidFill>
              <a:srgbClr val="FFD23B"/>
            </a:solidFill>
            <a:prstDash val="solid"/>
          </a:ln>
        </p:spPr>
      </p:sp>
      <p:sp>
        <p:nvSpPr>
          <p:cNvPr id="24" name="Text 22"/>
          <p:cNvSpPr/>
          <p:nvPr/>
        </p:nvSpPr>
        <p:spPr>
          <a:xfrm>
            <a:off x="457200" y="2651760"/>
            <a:ext cx="457200" cy="457200"/>
          </a:xfrm>
          <a:prstGeom prst="rect">
            <a:avLst/>
          </a:prstGeom>
          <a:noFill/>
          <a:ln/>
        </p:spPr>
        <p:txBody>
          <a:bodyPr wrap="square" lIns="0" tIns="0" rIns="0" bIns="0" rtlCol="0" anchor="ctr"/>
          <a:lstStyle/>
          <a:p>
            <a:pPr algn="ctr" indent="0" marL="0">
              <a:buNone/>
            </a:pPr>
            <a:r>
              <a:rPr lang="en-US" sz="1500" b="1" dirty="0">
                <a:solidFill>
                  <a:srgbClr val="2B2633"/>
                </a:solidFill>
                <a:latin typeface="Alexandria" pitchFamily="34" charset="0"/>
                <a:ea typeface="Alexandria" pitchFamily="34" charset="-122"/>
                <a:cs typeface="Alexandria" pitchFamily="34" charset="-120"/>
              </a:rPr>
              <a:t>3</a:t>
            </a:r>
            <a:endParaRPr lang="en-US" sz="1500" dirty="0"/>
          </a:p>
        </p:txBody>
      </p:sp>
      <p:sp>
        <p:nvSpPr>
          <p:cNvPr id="25" name="Text 23"/>
          <p:cNvSpPr/>
          <p:nvPr/>
        </p:nvSpPr>
        <p:spPr>
          <a:xfrm>
            <a:off x="1051560" y="2615184"/>
            <a:ext cx="2743200" cy="530352"/>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Cần CÁI GÌ hay TẠI SAO?</a:t>
            </a:r>
            <a:endParaRPr lang="en-US" sz="1300" dirty="0"/>
          </a:p>
        </p:txBody>
      </p:sp>
      <p:sp>
        <p:nvSpPr>
          <p:cNvPr id="26" name="Text 24"/>
          <p:cNvSpPr/>
          <p:nvPr/>
        </p:nvSpPr>
        <p:spPr>
          <a:xfrm>
            <a:off x="3840480" y="2615184"/>
            <a:ext cx="4846320" cy="530352"/>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Hành vi → dân tộc học, nhật ký video · Lý do → phỏng vấn sâu</a:t>
            </a:r>
            <a:endParaRPr lang="en-US" sz="1050" dirty="0"/>
          </a:p>
        </p:txBody>
      </p:sp>
      <p:sp>
        <p:nvSpPr>
          <p:cNvPr id="27" name="Shape 25"/>
          <p:cNvSpPr/>
          <p:nvPr/>
        </p:nvSpPr>
        <p:spPr>
          <a:xfrm>
            <a:off x="1051560" y="3191256"/>
            <a:ext cx="7635240" cy="0"/>
          </a:xfrm>
          <a:prstGeom prst="line">
            <a:avLst/>
          </a:prstGeom>
          <a:noFill/>
          <a:ln w="12700">
            <a:solidFill>
              <a:srgbClr val="E6E2D6"/>
            </a:solidFill>
            <a:prstDash val="solid"/>
          </a:ln>
        </p:spPr>
      </p:sp>
      <p:sp>
        <p:nvSpPr>
          <p:cNvPr id="28" name="Shape 26"/>
          <p:cNvSpPr/>
          <p:nvPr/>
        </p:nvSpPr>
        <p:spPr>
          <a:xfrm>
            <a:off x="457200" y="3273552"/>
            <a:ext cx="457200" cy="457200"/>
          </a:xfrm>
          <a:prstGeom prst="ellipse">
            <a:avLst/>
          </a:prstGeom>
          <a:solidFill>
            <a:srgbClr val="49B296"/>
          </a:solidFill>
          <a:ln w="12700">
            <a:solidFill>
              <a:srgbClr val="49B296"/>
            </a:solidFill>
            <a:prstDash val="solid"/>
          </a:ln>
        </p:spPr>
      </p:sp>
      <p:sp>
        <p:nvSpPr>
          <p:cNvPr id="29" name="Text 27"/>
          <p:cNvSpPr/>
          <p:nvPr/>
        </p:nvSpPr>
        <p:spPr>
          <a:xfrm>
            <a:off x="457200" y="32735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4</a:t>
            </a:r>
            <a:endParaRPr lang="en-US" sz="1500" dirty="0"/>
          </a:p>
        </p:txBody>
      </p:sp>
      <p:sp>
        <p:nvSpPr>
          <p:cNvPr id="30" name="Text 28"/>
          <p:cNvSpPr/>
          <p:nvPr/>
        </p:nvSpPr>
        <p:spPr>
          <a:xfrm>
            <a:off x="1051560" y="3236976"/>
            <a:ext cx="2743200" cy="530352"/>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Có cần từ ngữ của khách?</a:t>
            </a:r>
            <a:endParaRPr lang="en-US" sz="1300" dirty="0"/>
          </a:p>
        </p:txBody>
      </p:sp>
      <p:sp>
        <p:nvSpPr>
          <p:cNvPr id="31" name="Text 29"/>
          <p:cNvSpPr/>
          <p:nvPr/>
        </p:nvSpPr>
        <p:spPr>
          <a:xfrm>
            <a:off x="3840480" y="3236976"/>
            <a:ext cx="4846320" cy="530352"/>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Nếu thông điệp là ưu tiên → nghiên cứu không điều phối (video, kiểm thử không điều phối)</a:t>
            </a:r>
            <a:endParaRPr lang="en-US" sz="1050" dirty="0"/>
          </a:p>
        </p:txBody>
      </p:sp>
      <p:sp>
        <p:nvSpPr>
          <p:cNvPr id="32" name="Shape 30"/>
          <p:cNvSpPr/>
          <p:nvPr/>
        </p:nvSpPr>
        <p:spPr>
          <a:xfrm>
            <a:off x="1051560" y="3813048"/>
            <a:ext cx="7635240" cy="0"/>
          </a:xfrm>
          <a:prstGeom prst="line">
            <a:avLst/>
          </a:prstGeom>
          <a:noFill/>
          <a:ln w="12700">
            <a:solidFill>
              <a:srgbClr val="E6E2D6"/>
            </a:solidFill>
            <a:prstDash val="solid"/>
          </a:ln>
        </p:spPr>
      </p:sp>
      <p:sp>
        <p:nvSpPr>
          <p:cNvPr id="33" name="Shape 31"/>
          <p:cNvSpPr/>
          <p:nvPr/>
        </p:nvSpPr>
        <p:spPr>
          <a:xfrm>
            <a:off x="457200" y="3895344"/>
            <a:ext cx="457200" cy="457200"/>
          </a:xfrm>
          <a:prstGeom prst="ellipse">
            <a:avLst/>
          </a:prstGeom>
          <a:solidFill>
            <a:srgbClr val="09A1E5"/>
          </a:solidFill>
          <a:ln w="12700">
            <a:solidFill>
              <a:srgbClr val="09A1E5"/>
            </a:solidFill>
            <a:prstDash val="solid"/>
          </a:ln>
        </p:spPr>
      </p:sp>
      <p:sp>
        <p:nvSpPr>
          <p:cNvPr id="34" name="Text 32"/>
          <p:cNvSpPr/>
          <p:nvPr/>
        </p:nvSpPr>
        <p:spPr>
          <a:xfrm>
            <a:off x="457200" y="38953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5</a:t>
            </a:r>
            <a:endParaRPr lang="en-US" sz="1500" dirty="0"/>
          </a:p>
        </p:txBody>
      </p:sp>
      <p:sp>
        <p:nvSpPr>
          <p:cNvPr id="35" name="Text 33"/>
          <p:cNvSpPr/>
          <p:nvPr/>
        </p:nvSpPr>
        <p:spPr>
          <a:xfrm>
            <a:off x="1051560" y="3858768"/>
            <a:ext cx="2743200" cy="530352"/>
          </a:xfrm>
          <a:prstGeom prst="rect">
            <a:avLst/>
          </a:prstGeom>
          <a:noFill/>
          <a:ln/>
        </p:spPr>
        <p:txBody>
          <a:bodyPr wrap="square" lIns="0" tIns="0" rIns="0" bIns="0" rtlCol="0" anchor="ctr"/>
          <a:lstStyle/>
          <a:p>
            <a:pPr algn="l" indent="0" marL="0">
              <a:buNone/>
            </a:pPr>
            <a:r>
              <a:rPr lang="en-US" sz="1300" b="1" dirty="0">
                <a:solidFill>
                  <a:srgbClr val="2B2633"/>
                </a:solidFill>
                <a:latin typeface="Alexandria" pitchFamily="34" charset="0"/>
                <a:ea typeface="Alexandria" pitchFamily="34" charset="-122"/>
                <a:cs typeface="Alexandria" pitchFamily="34" charset="-120"/>
              </a:rPr>
              <a:t>Ngân sách bao nhiêu?</a:t>
            </a:r>
            <a:endParaRPr lang="en-US" sz="1300" dirty="0"/>
          </a:p>
        </p:txBody>
      </p:sp>
      <p:sp>
        <p:nvSpPr>
          <p:cNvPr id="36" name="Text 34"/>
          <p:cNvSpPr/>
          <p:nvPr/>
        </p:nvSpPr>
        <p:spPr>
          <a:xfrm>
            <a:off x="3840480" y="3858768"/>
            <a:ext cx="4846320" cy="530352"/>
          </a:xfrm>
          <a:prstGeom prst="rect">
            <a:avLst/>
          </a:prstGeom>
          <a:noFill/>
          <a:ln/>
        </p:spPr>
        <p:txBody>
          <a:bodyPr wrap="square" lIns="0" tIns="0" rIns="0" bIns="0" rtlCol="0" anchor="ctr"/>
          <a:lstStyle/>
          <a:p>
            <a:pPr algn="l" indent="0" marL="0">
              <a:buNone/>
            </a:pPr>
            <a:r>
              <a:rPr lang="en-US" sz="1050" dirty="0">
                <a:solidFill>
                  <a:srgbClr val="3A3542"/>
                </a:solidFill>
                <a:latin typeface="Alexandria" pitchFamily="34" charset="0"/>
                <a:ea typeface="Alexandria" pitchFamily="34" charset="-122"/>
                <a:cs typeface="Alexandria" pitchFamily="34" charset="-120"/>
              </a:rPr>
              <a:t>Có điều phối đắt hơn; nhóm ngách (vd: CFO phòng khám lớn) rất tốn công tuyển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49B296"/>
          </a:solidFill>
          <a:ln w="12700">
            <a:solidFill>
              <a:srgbClr val="49B296"/>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3  Lập kế hoạch &amp; điều phối</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Người điều phối giỏi giữ đúng mục tiêu, trung lập và trò chuyện tự nhiên</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49B296"/>
                </a:solidFill>
                <a:latin typeface="Alexandria" pitchFamily="34" charset="0"/>
                <a:ea typeface="Alexandria" pitchFamily="34" charset="-122"/>
                <a:cs typeface="Alexandria" pitchFamily="34" charset="-120"/>
              </a:rPr>
              <a:t>18</a:t>
            </a:r>
            <a:endParaRPr lang="en-US" sz="1000" dirty="0"/>
          </a:p>
        </p:txBody>
      </p:sp>
      <p:sp>
        <p:nvSpPr>
          <p:cNvPr id="13" name="Shape 11"/>
          <p:cNvSpPr/>
          <p:nvPr/>
        </p:nvSpPr>
        <p:spPr>
          <a:xfrm>
            <a:off x="457200" y="1417320"/>
            <a:ext cx="3931920" cy="2971800"/>
          </a:xfrm>
          <a:prstGeom prst="roundRect">
            <a:avLst>
              <a:gd name="adj" fmla="val 2462"/>
            </a:avLst>
          </a:prstGeom>
          <a:solidFill>
            <a:srgbClr val="FFFFFF"/>
          </a:solidFill>
          <a:ln w="12700">
            <a:solidFill>
              <a:srgbClr val="E6E2D6"/>
            </a:solidFill>
            <a:prstDash val="solid"/>
          </a:ln>
        </p:spPr>
      </p:sp>
      <p:sp>
        <p:nvSpPr>
          <p:cNvPr id="14" name="Shape 12"/>
          <p:cNvSpPr/>
          <p:nvPr/>
        </p:nvSpPr>
        <p:spPr>
          <a:xfrm>
            <a:off x="457200" y="1417320"/>
            <a:ext cx="3931920" cy="685800"/>
          </a:xfrm>
          <a:prstGeom prst="roundRect">
            <a:avLst>
              <a:gd name="adj" fmla="val 10667"/>
            </a:avLst>
          </a:prstGeom>
          <a:solidFill>
            <a:srgbClr val="49B296"/>
          </a:solidFill>
          <a:ln w="12700">
            <a:solidFill>
              <a:srgbClr val="49B296"/>
            </a:solidFill>
            <a:prstDash val="solid"/>
          </a:ln>
        </p:spPr>
      </p:sp>
      <p:sp>
        <p:nvSpPr>
          <p:cNvPr id="15" name="Shape 13"/>
          <p:cNvSpPr/>
          <p:nvPr/>
        </p:nvSpPr>
        <p:spPr>
          <a:xfrm>
            <a:off x="457200" y="1874520"/>
            <a:ext cx="3931920" cy="228600"/>
          </a:xfrm>
          <a:prstGeom prst="rect">
            <a:avLst/>
          </a:prstGeom>
          <a:solidFill>
            <a:srgbClr val="49B296"/>
          </a:solidFill>
          <a:ln w="12700">
            <a:solidFill>
              <a:srgbClr val="49B296"/>
            </a:solidFill>
            <a:prstDash val="solid"/>
          </a:ln>
        </p:spPr>
      </p:sp>
      <p:sp>
        <p:nvSpPr>
          <p:cNvPr id="16" name="Text 14"/>
          <p:cNvSpPr/>
          <p:nvPr/>
        </p:nvSpPr>
        <p:spPr>
          <a:xfrm>
            <a:off x="594360" y="1444752"/>
            <a:ext cx="365760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Vai trò</a:t>
            </a:r>
            <a:endParaRPr lang="en-US" sz="1400" dirty="0"/>
          </a:p>
        </p:txBody>
      </p:sp>
      <p:sp>
        <p:nvSpPr>
          <p:cNvPr id="17" name="Text 15"/>
          <p:cNvSpPr/>
          <p:nvPr/>
        </p:nvSpPr>
        <p:spPr>
          <a:xfrm>
            <a:off x="548640" y="2221992"/>
            <a:ext cx="3730752" cy="2075688"/>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Giữ thảo luận bám mục tiêu nghiên cứu</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Lắng nghe chủ động, hỏi tiếp — không đọc nguyên văn kịch bản</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Trong nhóm: gọi tên, tóm tắt để ai cũng được lắng nghe</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Trung lập: không giải thích hay bảo vệ thương hiệu — đây là lúc lắng nghe</a:t>
            </a:r>
            <a:endParaRPr lang="en-US" sz="1150" dirty="0"/>
          </a:p>
        </p:txBody>
      </p:sp>
      <p:sp>
        <p:nvSpPr>
          <p:cNvPr id="18" name="Text 16"/>
          <p:cNvSpPr/>
          <p:nvPr/>
        </p:nvSpPr>
        <p:spPr>
          <a:xfrm>
            <a:off x="4663440" y="1417320"/>
            <a:ext cx="4023360" cy="320040"/>
          </a:xfrm>
          <a:prstGeom prst="rect">
            <a:avLst/>
          </a:prstGeom>
          <a:noFill/>
          <a:ln/>
        </p:spPr>
        <p:txBody>
          <a:bodyPr wrap="square" lIns="0" tIns="0" rIns="0" bIns="0" rtlCol="0" anchor="t"/>
          <a:lstStyle/>
          <a:p>
            <a:pPr algn="l" indent="0" marL="0">
              <a:buNone/>
            </a:pPr>
            <a:r>
              <a:rPr lang="en-US" sz="1350" b="1" dirty="0">
                <a:solidFill>
                  <a:srgbClr val="2B2633"/>
                </a:solidFill>
                <a:latin typeface="Alexandria" pitchFamily="34" charset="0"/>
                <a:ea typeface="Alexandria" pitchFamily="34" charset="-122"/>
                <a:cs typeface="Alexandria" pitchFamily="34" charset="-120"/>
              </a:rPr>
              <a:t>Ba kỹ năng của người giỏi nhất</a:t>
            </a:r>
            <a:endParaRPr lang="en-US" sz="1350" dirty="0"/>
          </a:p>
        </p:txBody>
      </p:sp>
      <p:sp>
        <p:nvSpPr>
          <p:cNvPr id="19" name="Shape 17"/>
          <p:cNvSpPr/>
          <p:nvPr/>
        </p:nvSpPr>
        <p:spPr>
          <a:xfrm>
            <a:off x="4663440" y="1783080"/>
            <a:ext cx="4023360" cy="804672"/>
          </a:xfrm>
          <a:prstGeom prst="roundRect">
            <a:avLst>
              <a:gd name="adj" fmla="val 9091"/>
            </a:avLst>
          </a:prstGeom>
          <a:solidFill>
            <a:srgbClr val="FFFFFF"/>
          </a:solidFill>
          <a:ln w="12700">
            <a:solidFill>
              <a:srgbClr val="E6E2D6"/>
            </a:solidFill>
            <a:prstDash val="solid"/>
          </a:ln>
        </p:spPr>
      </p:sp>
      <p:sp>
        <p:nvSpPr>
          <p:cNvPr id="20" name="Shape 18"/>
          <p:cNvSpPr/>
          <p:nvPr/>
        </p:nvSpPr>
        <p:spPr>
          <a:xfrm>
            <a:off x="4663440" y="1892808"/>
            <a:ext cx="64008" cy="585216"/>
          </a:xfrm>
          <a:prstGeom prst="rect">
            <a:avLst/>
          </a:prstGeom>
          <a:solidFill>
            <a:srgbClr val="09A1E5"/>
          </a:solidFill>
          <a:ln w="12700">
            <a:solidFill>
              <a:srgbClr val="09A1E5"/>
            </a:solidFill>
            <a:prstDash val="solid"/>
          </a:ln>
        </p:spPr>
      </p:sp>
      <p:sp>
        <p:nvSpPr>
          <p:cNvPr id="21" name="Text 19"/>
          <p:cNvSpPr/>
          <p:nvPr/>
        </p:nvSpPr>
        <p:spPr>
          <a:xfrm>
            <a:off x="4864608" y="1874520"/>
            <a:ext cx="3730752"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Lập kế hoạch &amp; quản lý thời gian</a:t>
            </a:r>
            <a:endParaRPr lang="en-US" sz="1300" dirty="0"/>
          </a:p>
        </p:txBody>
      </p:sp>
      <p:sp>
        <p:nvSpPr>
          <p:cNvPr id="22" name="Text 20"/>
          <p:cNvSpPr/>
          <p:nvPr/>
        </p:nvSpPr>
        <p:spPr>
          <a:xfrm>
            <a:off x="4864608" y="2167128"/>
            <a:ext cx="3730752" cy="347472"/>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Chạy thử trước; biết cắt phần nào nếu đi lạc hướng; kết thúc đúng giờ</a:t>
            </a:r>
            <a:endParaRPr lang="en-US" sz="1050" dirty="0"/>
          </a:p>
        </p:txBody>
      </p:sp>
      <p:sp>
        <p:nvSpPr>
          <p:cNvPr id="23" name="Shape 21"/>
          <p:cNvSpPr/>
          <p:nvPr/>
        </p:nvSpPr>
        <p:spPr>
          <a:xfrm>
            <a:off x="4663440" y="2670048"/>
            <a:ext cx="4023360" cy="804672"/>
          </a:xfrm>
          <a:prstGeom prst="roundRect">
            <a:avLst>
              <a:gd name="adj" fmla="val 9091"/>
            </a:avLst>
          </a:prstGeom>
          <a:solidFill>
            <a:srgbClr val="FFFFFF"/>
          </a:solidFill>
          <a:ln w="12700">
            <a:solidFill>
              <a:srgbClr val="E6E2D6"/>
            </a:solidFill>
            <a:prstDash val="solid"/>
          </a:ln>
        </p:spPr>
      </p:sp>
      <p:sp>
        <p:nvSpPr>
          <p:cNvPr id="24" name="Shape 22"/>
          <p:cNvSpPr/>
          <p:nvPr/>
        </p:nvSpPr>
        <p:spPr>
          <a:xfrm>
            <a:off x="4663440" y="2779776"/>
            <a:ext cx="64008" cy="585216"/>
          </a:xfrm>
          <a:prstGeom prst="rect">
            <a:avLst/>
          </a:prstGeom>
          <a:solidFill>
            <a:srgbClr val="FF9259"/>
          </a:solidFill>
          <a:ln w="12700">
            <a:solidFill>
              <a:srgbClr val="FF9259"/>
            </a:solidFill>
            <a:prstDash val="solid"/>
          </a:ln>
        </p:spPr>
      </p:sp>
      <p:sp>
        <p:nvSpPr>
          <p:cNvPr id="25" name="Text 23"/>
          <p:cNvSpPr/>
          <p:nvPr/>
        </p:nvSpPr>
        <p:spPr>
          <a:xfrm>
            <a:off x="4864608" y="2761488"/>
            <a:ext cx="3730752" cy="274320"/>
          </a:xfrm>
          <a:prstGeom prst="rect">
            <a:avLst/>
          </a:prstGeom>
          <a:noFill/>
          <a:ln/>
        </p:spPr>
        <p:txBody>
          <a:bodyPr wrap="square" lIns="0" tIns="0" rIns="0" bIns="0" rtlCol="0" anchor="t"/>
          <a:lstStyle/>
          <a:p>
            <a:pPr algn="l" indent="0" marL="0">
              <a:buNone/>
            </a:pPr>
            <a:r>
              <a:rPr lang="en-US" sz="1300" b="1" dirty="0">
                <a:solidFill>
                  <a:srgbClr val="FF9259"/>
                </a:solidFill>
                <a:latin typeface="Alexandria" pitchFamily="34" charset="0"/>
                <a:ea typeface="Alexandria" pitchFamily="34" charset="-122"/>
                <a:cs typeface="Alexandria" pitchFamily="34" charset="-120"/>
              </a:rPr>
              <a:t>Phong cách trò chuyện</a:t>
            </a:r>
            <a:endParaRPr lang="en-US" sz="1300" dirty="0"/>
          </a:p>
        </p:txBody>
      </p:sp>
      <p:sp>
        <p:nvSpPr>
          <p:cNvPr id="26" name="Text 24"/>
          <p:cNvSpPr/>
          <p:nvPr/>
        </p:nvSpPr>
        <p:spPr>
          <a:xfrm>
            <a:off x="4864608" y="3054096"/>
            <a:ext cx="3730752" cy="347472"/>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Bộ câu hỏi chỉ là hướng dẫn; chào hỏi, hỏi thăm thời tiết trước</a:t>
            </a:r>
            <a:endParaRPr lang="en-US" sz="1050" dirty="0"/>
          </a:p>
        </p:txBody>
      </p:sp>
      <p:sp>
        <p:nvSpPr>
          <p:cNvPr id="27" name="Shape 25"/>
          <p:cNvSpPr/>
          <p:nvPr/>
        </p:nvSpPr>
        <p:spPr>
          <a:xfrm>
            <a:off x="4663440" y="3557016"/>
            <a:ext cx="4023360" cy="804672"/>
          </a:xfrm>
          <a:prstGeom prst="roundRect">
            <a:avLst>
              <a:gd name="adj" fmla="val 9091"/>
            </a:avLst>
          </a:prstGeom>
          <a:solidFill>
            <a:srgbClr val="FFFFFF"/>
          </a:solidFill>
          <a:ln w="12700">
            <a:solidFill>
              <a:srgbClr val="E6E2D6"/>
            </a:solidFill>
            <a:prstDash val="solid"/>
          </a:ln>
        </p:spPr>
      </p:sp>
      <p:sp>
        <p:nvSpPr>
          <p:cNvPr id="28" name="Shape 26"/>
          <p:cNvSpPr/>
          <p:nvPr/>
        </p:nvSpPr>
        <p:spPr>
          <a:xfrm>
            <a:off x="4663440" y="3666744"/>
            <a:ext cx="64008" cy="585216"/>
          </a:xfrm>
          <a:prstGeom prst="rect">
            <a:avLst/>
          </a:prstGeom>
          <a:solidFill>
            <a:srgbClr val="FF5178"/>
          </a:solidFill>
          <a:ln w="12700">
            <a:solidFill>
              <a:srgbClr val="FF5178"/>
            </a:solidFill>
            <a:prstDash val="solid"/>
          </a:ln>
        </p:spPr>
      </p:sp>
      <p:sp>
        <p:nvSpPr>
          <p:cNvPr id="29" name="Text 27"/>
          <p:cNvSpPr/>
          <p:nvPr/>
        </p:nvSpPr>
        <p:spPr>
          <a:xfrm>
            <a:off x="4864608" y="3648456"/>
            <a:ext cx="3730752"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Thực hành</a:t>
            </a:r>
            <a:endParaRPr lang="en-US" sz="1300" dirty="0"/>
          </a:p>
        </p:txBody>
      </p:sp>
      <p:sp>
        <p:nvSpPr>
          <p:cNvPr id="30" name="Text 28"/>
          <p:cNvSpPr/>
          <p:nvPr/>
        </p:nvSpPr>
        <p:spPr>
          <a:xfrm>
            <a:off x="4864608" y="3941064"/>
            <a:ext cx="3730752" cy="347472"/>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Kỹ năng lắng nghe không đến sau một đêm; xin góp ý từ người dự thính</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49B296"/>
          </a:solidFill>
          <a:ln w="12700">
            <a:solidFill>
              <a:srgbClr val="49B296"/>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3  Lập kế hoạch &amp; điều phối</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Năm lỗi phổ biến khi viết câu hỏi phỏng vấn — và cách sửa</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49B296"/>
                </a:solidFill>
                <a:latin typeface="Alexandria" pitchFamily="34" charset="0"/>
                <a:ea typeface="Alexandria" pitchFamily="34" charset="-122"/>
                <a:cs typeface="Alexandria"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3291840"/>
                <a:gridCol w="2743200"/>
              </a:tblGrid>
              <a:tr h="347472">
                <a:tc>
                  <a:txBody>
                    <a:bodyPr/>
                    <a:lstStyle/>
                    <a:p>
                      <a:pPr algn="ctr" indent="0" marL="0">
                        <a:buNone/>
                      </a:pPr>
                      <a:r>
                        <a:rPr lang="en-US" sz="1050" b="1" dirty="0">
                          <a:solidFill>
                            <a:srgbClr val="FFFFFF"/>
                          </a:solidFill>
                          <a:latin typeface="Alexandria" pitchFamily="34" charset="0"/>
                          <a:ea typeface="Alexandria" pitchFamily="34" charset="-122"/>
                          <a:cs typeface="Alexandria" pitchFamily="34" charset="-120"/>
                        </a:rPr>
                        <a:t>Lỗi</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2B2633"/>
                    </a:solidFill>
                  </a:tcPr>
                </a:tc>
                <a:tc>
                  <a:txBody>
                    <a:bodyPr/>
                    <a:lstStyle/>
                    <a:p>
                      <a:pPr algn="ctr" indent="0" marL="0">
                        <a:buNone/>
                      </a:pPr>
                      <a:r>
                        <a:rPr lang="en-US" sz="1050" b="1" dirty="0">
                          <a:solidFill>
                            <a:srgbClr val="FFFFFF"/>
                          </a:solidFill>
                          <a:latin typeface="Alexandria" pitchFamily="34" charset="0"/>
                          <a:ea typeface="Alexandria" pitchFamily="34" charset="-122"/>
                          <a:cs typeface="Alexandria" pitchFamily="34" charset="-120"/>
                        </a:rPr>
                        <a:t>Câu hỏi chưa tốt</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5178"/>
                    </a:solidFill>
                  </a:tcPr>
                </a:tc>
                <a:tc>
                  <a:txBody>
                    <a:bodyPr/>
                    <a:lstStyle/>
                    <a:p>
                      <a:pPr algn="ctr" indent="0" marL="0">
                        <a:buNone/>
                      </a:pPr>
                      <a:r>
                        <a:rPr lang="en-US" sz="1050" b="1" dirty="0">
                          <a:solidFill>
                            <a:srgbClr val="FFFFFF"/>
                          </a:solidFill>
                          <a:latin typeface="Alexandria" pitchFamily="34" charset="0"/>
                          <a:ea typeface="Alexandria" pitchFamily="34" charset="-122"/>
                          <a:cs typeface="Alexandria" pitchFamily="34" charset="-120"/>
                        </a:rPr>
                        <a:t>Cách sửa</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49B296"/>
                    </a:solidFill>
                  </a:tcPr>
                </a:tc>
              </a:tr>
              <a:tr h="566928">
                <a:tc>
                  <a:txBody>
                    <a:bodyPr/>
                    <a:lstStyle/>
                    <a:p>
                      <a:pPr indent="0" marL="0">
                        <a:buNone/>
                      </a:pPr>
                      <a:r>
                        <a:rPr lang="en-US" sz="1050" b="1" dirty="0">
                          <a:solidFill>
                            <a:srgbClr val="2B2633"/>
                          </a:solidFill>
                          <a:latin typeface="Alexandria" pitchFamily="34" charset="0"/>
                          <a:ea typeface="Alexandria" pitchFamily="34" charset="-122"/>
                          <a:cs typeface="Alexandria" pitchFamily="34" charset="-120"/>
                        </a:rPr>
                        <a:t>1. Câu hỏi dẫn dắt</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Bền vững môi trường quan trọng thế nào khi bạn chọn nơi mua quần áo?</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Yếu tố nào giúp bạn chọn nơi mua quần áo?</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2B2633"/>
                          </a:solidFill>
                          <a:latin typeface="Alexandria" pitchFamily="34" charset="0"/>
                          <a:ea typeface="Alexandria" pitchFamily="34" charset="-122"/>
                          <a:cs typeface="Alexandria" pitchFamily="34" charset="-120"/>
                        </a:rPr>
                        <a:t>2. Hai ý trong một câu</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Ai dọn dẹp và bảo trì nhà bạn?</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Tách thành: Ai dọn dẹp? Ai bảo trì?</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2B2633"/>
                          </a:solidFill>
                          <a:latin typeface="Alexandria" pitchFamily="34" charset="0"/>
                          <a:ea typeface="Alexandria" pitchFamily="34" charset="-122"/>
                          <a:cs typeface="Alexandria" pitchFamily="34" charset="-120"/>
                        </a:rPr>
                        <a:t>3. Từ ngữ quá rộng, mơ hồ</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“Bảo trì” — thay bóng đèn hay sửa mái nhà?</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Hỏi cụ thể từng hạng mục</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2B2633"/>
                          </a:solidFill>
                          <a:latin typeface="Alexandria" pitchFamily="34" charset="0"/>
                          <a:ea typeface="Alexandria" pitchFamily="34" charset="-122"/>
                          <a:cs typeface="Alexandria" pitchFamily="34" charset="-120"/>
                        </a:rPr>
                        <a:t>4. Hỏi về tương lai</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Bạn có đăng ký dịch vụ trông trẻ không?</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Hỏi về hành vi và khó khăn trong quá khứ</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2B2633"/>
                          </a:solidFill>
                          <a:latin typeface="Alexandria" pitchFamily="34" charset="0"/>
                          <a:ea typeface="Alexandria" pitchFamily="34" charset="-122"/>
                          <a:cs typeface="Alexandria" pitchFamily="34" charset="-120"/>
                        </a:rPr>
                        <a:t>5. Bắt khách nghĩ giải pháp</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Bạn muốn chúng tôi làm gì? (→ “ngựa nhanh hơn”)</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050" dirty="0">
                          <a:solidFill>
                            <a:srgbClr val="3A3542"/>
                          </a:solidFill>
                          <a:latin typeface="Alexandria" pitchFamily="34" charset="0"/>
                          <a:ea typeface="Alexandria" pitchFamily="34" charset="-122"/>
                          <a:cs typeface="Alexandria" pitchFamily="34" charset="-120"/>
                        </a:rPr>
                        <a:t>Liệt kê điểm đau để hiểu gốc vấn đề</a:t>
                      </a:r>
                      <a:endParaRPr lang="en-US" sz="105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bl>
          </a:graphicData>
        </a:graphic>
      </p:graphicFrame>
      <p:sp>
        <p:nvSpPr>
          <p:cNvPr id="14" name="Text 11"/>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Hành vi trong quá khứ dự đoán hành vi tương lai tốt hơn lời hứa của chính khách hàng.</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49B296"/>
          </a:solidFill>
          <a:ln w="12700">
            <a:solidFill>
              <a:srgbClr val="49B296"/>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3  Lập kế hoạch &amp; điều phối</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Khách hàng phản ứng với cảm nhận về giá nhiều hơn với con số trên nhãn</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49B296"/>
                </a:solidFill>
                <a:latin typeface="Alexandria" pitchFamily="34" charset="0"/>
                <a:ea typeface="Alexandria" pitchFamily="34" charset="-122"/>
                <a:cs typeface="Alexandria" pitchFamily="34" charset="-120"/>
              </a:rPr>
              <a:t>20</a:t>
            </a:r>
            <a:endParaRPr lang="en-US" sz="1000" dirty="0"/>
          </a:p>
        </p:txBody>
      </p:sp>
      <p:sp>
        <p:nvSpPr>
          <p:cNvPr id="13" name="Shape 11"/>
          <p:cNvSpPr/>
          <p:nvPr/>
        </p:nvSpPr>
        <p:spPr>
          <a:xfrm>
            <a:off x="457200" y="1417320"/>
            <a:ext cx="1517904" cy="2377440"/>
          </a:xfrm>
          <a:prstGeom prst="roundRect">
            <a:avLst>
              <a:gd name="adj" fmla="val 4819"/>
            </a:avLst>
          </a:prstGeom>
          <a:solidFill>
            <a:srgbClr val="FFFFFF"/>
          </a:solidFill>
          <a:ln w="12700">
            <a:solidFill>
              <a:srgbClr val="E6E2D6"/>
            </a:solidFill>
            <a:prstDash val="solid"/>
          </a:ln>
        </p:spPr>
      </p:sp>
      <p:sp>
        <p:nvSpPr>
          <p:cNvPr id="14" name="Shape 12"/>
          <p:cNvSpPr/>
          <p:nvPr/>
        </p:nvSpPr>
        <p:spPr>
          <a:xfrm>
            <a:off x="457200" y="1417320"/>
            <a:ext cx="1517904" cy="91440"/>
          </a:xfrm>
          <a:prstGeom prst="rect">
            <a:avLst/>
          </a:prstGeom>
          <a:solidFill>
            <a:srgbClr val="FF5178"/>
          </a:solidFill>
          <a:ln w="12700">
            <a:solidFill>
              <a:srgbClr val="FF5178"/>
            </a:solidFill>
            <a:prstDash val="solid"/>
          </a:ln>
        </p:spPr>
      </p:sp>
      <p:sp>
        <p:nvSpPr>
          <p:cNvPr id="15" name="Text 13"/>
          <p:cNvSpPr/>
          <p:nvPr/>
        </p:nvSpPr>
        <p:spPr>
          <a:xfrm>
            <a:off x="594360" y="1645920"/>
            <a:ext cx="1243584" cy="54864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So sánh</a:t>
            </a:r>
            <a:endParaRPr lang="en-US" sz="1300" dirty="0"/>
          </a:p>
        </p:txBody>
      </p:sp>
      <p:sp>
        <p:nvSpPr>
          <p:cNvPr id="16" name="Text 14"/>
          <p:cNvSpPr/>
          <p:nvPr/>
        </p:nvSpPr>
        <p:spPr>
          <a:xfrm>
            <a:off x="594360" y="2240280"/>
            <a:ext cx="1243584" cy="228600"/>
          </a:xfrm>
          <a:prstGeom prst="rect">
            <a:avLst/>
          </a:prstGeom>
          <a:noFill/>
          <a:ln/>
        </p:spPr>
        <p:txBody>
          <a:bodyPr wrap="square" lIns="0" tIns="0" rIns="0" bIns="0" rtlCol="0" anchor="t"/>
          <a:lstStyle/>
          <a:p>
            <a:pPr algn="l" indent="0" marL="0">
              <a:buNone/>
            </a:pPr>
            <a:r>
              <a:rPr lang="en-US" sz="900" dirty="0">
                <a:solidFill>
                  <a:srgbClr val="7A7480"/>
                </a:solidFill>
                <a:latin typeface="Alexandria" pitchFamily="34" charset="0"/>
                <a:ea typeface="Alexandria" pitchFamily="34" charset="-122"/>
                <a:cs typeface="Alexandria" pitchFamily="34" charset="-120"/>
              </a:rPr>
              <a:t>Câu hỏi gợi ý</a:t>
            </a:r>
            <a:endParaRPr lang="en-US" sz="900" dirty="0"/>
          </a:p>
        </p:txBody>
      </p:sp>
      <p:sp>
        <p:nvSpPr>
          <p:cNvPr id="17" name="Text 15"/>
          <p:cNvSpPr/>
          <p:nvPr/>
        </p:nvSpPr>
        <p:spPr>
          <a:xfrm>
            <a:off x="594360" y="2468880"/>
            <a:ext cx="1243584" cy="1234440"/>
          </a:xfrm>
          <a:prstGeom prst="rect">
            <a:avLst/>
          </a:prstGeom>
          <a:noFill/>
          <a:ln/>
        </p:spPr>
        <p:txBody>
          <a:bodyPr wrap="square" lIns="0" tIns="0" rIns="0" bIns="0" rtlCol="0" anchor="t"/>
          <a:lstStyle/>
          <a:p>
            <a:pPr algn="l" indent="0" marL="0">
              <a:buNone/>
            </a:pPr>
            <a:r>
              <a:rPr lang="en-US" sz="1050" i="1" dirty="0">
                <a:solidFill>
                  <a:srgbClr val="2B2633"/>
                </a:solidFill>
                <a:latin typeface="Alexandria" pitchFamily="34" charset="0"/>
                <a:ea typeface="Alexandria" pitchFamily="34" charset="-122"/>
                <a:cs typeface="Alexandria" pitchFamily="34" charset="-120"/>
              </a:rPr>
              <a:t>“Khi nhìn sản phẩm, bạn liên tưởng tới gì? Lựa chọn thay thế là gì?”</a:t>
            </a:r>
            <a:endParaRPr lang="en-US" sz="1050" dirty="0"/>
          </a:p>
        </p:txBody>
      </p:sp>
      <p:sp>
        <p:nvSpPr>
          <p:cNvPr id="18" name="Shape 16"/>
          <p:cNvSpPr/>
          <p:nvPr/>
        </p:nvSpPr>
        <p:spPr>
          <a:xfrm>
            <a:off x="2135124" y="1417320"/>
            <a:ext cx="1517904" cy="2377440"/>
          </a:xfrm>
          <a:prstGeom prst="roundRect">
            <a:avLst>
              <a:gd name="adj" fmla="val 4819"/>
            </a:avLst>
          </a:prstGeom>
          <a:solidFill>
            <a:srgbClr val="FFFFFF"/>
          </a:solidFill>
          <a:ln w="12700">
            <a:solidFill>
              <a:srgbClr val="E6E2D6"/>
            </a:solidFill>
            <a:prstDash val="solid"/>
          </a:ln>
        </p:spPr>
      </p:sp>
      <p:sp>
        <p:nvSpPr>
          <p:cNvPr id="19" name="Shape 17"/>
          <p:cNvSpPr/>
          <p:nvPr/>
        </p:nvSpPr>
        <p:spPr>
          <a:xfrm>
            <a:off x="2135124" y="1417320"/>
            <a:ext cx="1517904" cy="91440"/>
          </a:xfrm>
          <a:prstGeom prst="rect">
            <a:avLst/>
          </a:prstGeom>
          <a:solidFill>
            <a:srgbClr val="FF9259"/>
          </a:solidFill>
          <a:ln w="12700">
            <a:solidFill>
              <a:srgbClr val="FF9259"/>
            </a:solidFill>
            <a:prstDash val="solid"/>
          </a:ln>
        </p:spPr>
      </p:sp>
      <p:sp>
        <p:nvSpPr>
          <p:cNvPr id="20" name="Text 18"/>
          <p:cNvSpPr/>
          <p:nvPr/>
        </p:nvSpPr>
        <p:spPr>
          <a:xfrm>
            <a:off x="2272284" y="1645920"/>
            <a:ext cx="1243584" cy="548640"/>
          </a:xfrm>
          <a:prstGeom prst="rect">
            <a:avLst/>
          </a:prstGeom>
          <a:noFill/>
          <a:ln/>
        </p:spPr>
        <p:txBody>
          <a:bodyPr wrap="square" lIns="0" tIns="0" rIns="0" bIns="0" rtlCol="0" anchor="t"/>
          <a:lstStyle/>
          <a:p>
            <a:pPr algn="l" indent="0" marL="0">
              <a:buNone/>
            </a:pPr>
            <a:r>
              <a:rPr lang="en-US" sz="1300" b="1" dirty="0">
                <a:solidFill>
                  <a:srgbClr val="FF9259"/>
                </a:solidFill>
                <a:latin typeface="Alexandria" pitchFamily="34" charset="0"/>
                <a:ea typeface="Alexandria" pitchFamily="34" charset="-122"/>
                <a:cs typeface="Alexandria" pitchFamily="34" charset="-120"/>
              </a:rPr>
              <a:t>Gắn kết cảm xúc</a:t>
            </a:r>
            <a:endParaRPr lang="en-US" sz="1300" dirty="0"/>
          </a:p>
        </p:txBody>
      </p:sp>
      <p:sp>
        <p:nvSpPr>
          <p:cNvPr id="21" name="Text 19"/>
          <p:cNvSpPr/>
          <p:nvPr/>
        </p:nvSpPr>
        <p:spPr>
          <a:xfrm>
            <a:off x="2272284" y="2240280"/>
            <a:ext cx="1243584" cy="228600"/>
          </a:xfrm>
          <a:prstGeom prst="rect">
            <a:avLst/>
          </a:prstGeom>
          <a:noFill/>
          <a:ln/>
        </p:spPr>
        <p:txBody>
          <a:bodyPr wrap="square" lIns="0" tIns="0" rIns="0" bIns="0" rtlCol="0" anchor="t"/>
          <a:lstStyle/>
          <a:p>
            <a:pPr algn="l" indent="0" marL="0">
              <a:buNone/>
            </a:pPr>
            <a:r>
              <a:rPr lang="en-US" sz="900" dirty="0">
                <a:solidFill>
                  <a:srgbClr val="7A7480"/>
                </a:solidFill>
                <a:latin typeface="Alexandria" pitchFamily="34" charset="0"/>
                <a:ea typeface="Alexandria" pitchFamily="34" charset="-122"/>
                <a:cs typeface="Alexandria" pitchFamily="34" charset="-120"/>
              </a:rPr>
              <a:t>Câu hỏi gợi ý</a:t>
            </a:r>
            <a:endParaRPr lang="en-US" sz="900" dirty="0"/>
          </a:p>
        </p:txBody>
      </p:sp>
      <p:sp>
        <p:nvSpPr>
          <p:cNvPr id="22" name="Text 20"/>
          <p:cNvSpPr/>
          <p:nvPr/>
        </p:nvSpPr>
        <p:spPr>
          <a:xfrm>
            <a:off x="2272284" y="2468880"/>
            <a:ext cx="1243584" cy="1234440"/>
          </a:xfrm>
          <a:prstGeom prst="rect">
            <a:avLst/>
          </a:prstGeom>
          <a:noFill/>
          <a:ln/>
        </p:spPr>
        <p:txBody>
          <a:bodyPr wrap="square" lIns="0" tIns="0" rIns="0" bIns="0" rtlCol="0" anchor="t"/>
          <a:lstStyle/>
          <a:p>
            <a:pPr algn="l" indent="0" marL="0">
              <a:buNone/>
            </a:pPr>
            <a:r>
              <a:rPr lang="en-US" sz="1050" i="1" dirty="0">
                <a:solidFill>
                  <a:srgbClr val="2B2633"/>
                </a:solidFill>
                <a:latin typeface="Alexandria" pitchFamily="34" charset="0"/>
                <a:ea typeface="Alexandria" pitchFamily="34" charset="-122"/>
                <a:cs typeface="Alexandria" pitchFamily="34" charset="-120"/>
              </a:rPr>
              <a:t>“Thương hiệu hợp với giá trị cá nhân của bạn ra sao?”</a:t>
            </a:r>
            <a:endParaRPr lang="en-US" sz="1050" dirty="0"/>
          </a:p>
        </p:txBody>
      </p:sp>
      <p:sp>
        <p:nvSpPr>
          <p:cNvPr id="23" name="Shape 21"/>
          <p:cNvSpPr/>
          <p:nvPr/>
        </p:nvSpPr>
        <p:spPr>
          <a:xfrm>
            <a:off x="3813048" y="1417320"/>
            <a:ext cx="1517904" cy="2377440"/>
          </a:xfrm>
          <a:prstGeom prst="roundRect">
            <a:avLst>
              <a:gd name="adj" fmla="val 4819"/>
            </a:avLst>
          </a:prstGeom>
          <a:solidFill>
            <a:srgbClr val="FFFFFF"/>
          </a:solidFill>
          <a:ln w="12700">
            <a:solidFill>
              <a:srgbClr val="E6E2D6"/>
            </a:solidFill>
            <a:prstDash val="solid"/>
          </a:ln>
        </p:spPr>
      </p:sp>
      <p:sp>
        <p:nvSpPr>
          <p:cNvPr id="24" name="Shape 22"/>
          <p:cNvSpPr/>
          <p:nvPr/>
        </p:nvSpPr>
        <p:spPr>
          <a:xfrm>
            <a:off x="3813048" y="1417320"/>
            <a:ext cx="1517904" cy="91440"/>
          </a:xfrm>
          <a:prstGeom prst="rect">
            <a:avLst/>
          </a:prstGeom>
          <a:solidFill>
            <a:srgbClr val="FFD23B"/>
          </a:solidFill>
          <a:ln w="12700">
            <a:solidFill>
              <a:srgbClr val="FFD23B"/>
            </a:solidFill>
            <a:prstDash val="solid"/>
          </a:ln>
        </p:spPr>
      </p:sp>
      <p:sp>
        <p:nvSpPr>
          <p:cNvPr id="25" name="Text 23"/>
          <p:cNvSpPr/>
          <p:nvPr/>
        </p:nvSpPr>
        <p:spPr>
          <a:xfrm>
            <a:off x="3950208" y="1645920"/>
            <a:ext cx="1243584" cy="548640"/>
          </a:xfrm>
          <a:prstGeom prst="rect">
            <a:avLst/>
          </a:prstGeom>
          <a:noFill/>
          <a:ln/>
        </p:spPr>
        <p:txBody>
          <a:bodyPr wrap="square" lIns="0" tIns="0" rIns="0" bIns="0" rtlCol="0" anchor="t"/>
          <a:lstStyle/>
          <a:p>
            <a:pPr algn="l" indent="0" marL="0">
              <a:buNone/>
            </a:pPr>
            <a:r>
              <a:rPr lang="en-US" sz="1300" b="1" dirty="0">
                <a:solidFill>
                  <a:srgbClr val="2B2633"/>
                </a:solidFill>
                <a:latin typeface="Alexandria" pitchFamily="34" charset="0"/>
                <a:ea typeface="Alexandria" pitchFamily="34" charset="-122"/>
                <a:cs typeface="Alexandria" pitchFamily="34" charset="-120"/>
              </a:rPr>
              <a:t>Giá trị cảm nhận</a:t>
            </a:r>
            <a:endParaRPr lang="en-US" sz="1300" dirty="0"/>
          </a:p>
        </p:txBody>
      </p:sp>
      <p:sp>
        <p:nvSpPr>
          <p:cNvPr id="26" name="Text 24"/>
          <p:cNvSpPr/>
          <p:nvPr/>
        </p:nvSpPr>
        <p:spPr>
          <a:xfrm>
            <a:off x="3950208" y="2240280"/>
            <a:ext cx="1243584" cy="228600"/>
          </a:xfrm>
          <a:prstGeom prst="rect">
            <a:avLst/>
          </a:prstGeom>
          <a:noFill/>
          <a:ln/>
        </p:spPr>
        <p:txBody>
          <a:bodyPr wrap="square" lIns="0" tIns="0" rIns="0" bIns="0" rtlCol="0" anchor="t"/>
          <a:lstStyle/>
          <a:p>
            <a:pPr algn="l" indent="0" marL="0">
              <a:buNone/>
            </a:pPr>
            <a:r>
              <a:rPr lang="en-US" sz="900" dirty="0">
                <a:solidFill>
                  <a:srgbClr val="7A7480"/>
                </a:solidFill>
                <a:latin typeface="Alexandria" pitchFamily="34" charset="0"/>
                <a:ea typeface="Alexandria" pitchFamily="34" charset="-122"/>
                <a:cs typeface="Alexandria" pitchFamily="34" charset="-120"/>
              </a:rPr>
              <a:t>Câu hỏi gợi ý</a:t>
            </a:r>
            <a:endParaRPr lang="en-US" sz="900" dirty="0"/>
          </a:p>
        </p:txBody>
      </p:sp>
      <p:sp>
        <p:nvSpPr>
          <p:cNvPr id="27" name="Text 25"/>
          <p:cNvSpPr/>
          <p:nvPr/>
        </p:nvSpPr>
        <p:spPr>
          <a:xfrm>
            <a:off x="3950208" y="2468880"/>
            <a:ext cx="1243584" cy="1234440"/>
          </a:xfrm>
          <a:prstGeom prst="rect">
            <a:avLst/>
          </a:prstGeom>
          <a:noFill/>
          <a:ln/>
        </p:spPr>
        <p:txBody>
          <a:bodyPr wrap="square" lIns="0" tIns="0" rIns="0" bIns="0" rtlCol="0" anchor="t"/>
          <a:lstStyle/>
          <a:p>
            <a:pPr algn="l" indent="0" marL="0">
              <a:buNone/>
            </a:pPr>
            <a:r>
              <a:rPr lang="en-US" sz="1050" i="1" dirty="0">
                <a:solidFill>
                  <a:srgbClr val="2B2633"/>
                </a:solidFill>
                <a:latin typeface="Alexandria" pitchFamily="34" charset="0"/>
                <a:ea typeface="Alexandria" pitchFamily="34" charset="-122"/>
                <a:cs typeface="Alexandria" pitchFamily="34" charset="-120"/>
              </a:rPr>
              <a:t>“Điều gì khiến sản phẩm này đáng giá tiền?”</a:t>
            </a:r>
            <a:endParaRPr lang="en-US" sz="1050" dirty="0"/>
          </a:p>
        </p:txBody>
      </p:sp>
      <p:sp>
        <p:nvSpPr>
          <p:cNvPr id="28" name="Shape 26"/>
          <p:cNvSpPr/>
          <p:nvPr/>
        </p:nvSpPr>
        <p:spPr>
          <a:xfrm>
            <a:off x="5490972" y="1417320"/>
            <a:ext cx="1517904" cy="2377440"/>
          </a:xfrm>
          <a:prstGeom prst="roundRect">
            <a:avLst>
              <a:gd name="adj" fmla="val 4819"/>
            </a:avLst>
          </a:prstGeom>
          <a:solidFill>
            <a:srgbClr val="FFFFFF"/>
          </a:solidFill>
          <a:ln w="12700">
            <a:solidFill>
              <a:srgbClr val="E6E2D6"/>
            </a:solidFill>
            <a:prstDash val="solid"/>
          </a:ln>
        </p:spPr>
      </p:sp>
      <p:sp>
        <p:nvSpPr>
          <p:cNvPr id="29" name="Shape 27"/>
          <p:cNvSpPr/>
          <p:nvPr/>
        </p:nvSpPr>
        <p:spPr>
          <a:xfrm>
            <a:off x="5490972" y="1417320"/>
            <a:ext cx="1517904" cy="91440"/>
          </a:xfrm>
          <a:prstGeom prst="rect">
            <a:avLst/>
          </a:prstGeom>
          <a:solidFill>
            <a:srgbClr val="49B296"/>
          </a:solidFill>
          <a:ln w="12700">
            <a:solidFill>
              <a:srgbClr val="49B296"/>
            </a:solidFill>
            <a:prstDash val="solid"/>
          </a:ln>
        </p:spPr>
      </p:sp>
      <p:sp>
        <p:nvSpPr>
          <p:cNvPr id="30" name="Text 28"/>
          <p:cNvSpPr/>
          <p:nvPr/>
        </p:nvSpPr>
        <p:spPr>
          <a:xfrm>
            <a:off x="5628132" y="1645920"/>
            <a:ext cx="1243584" cy="548640"/>
          </a:xfrm>
          <a:prstGeom prst="rect">
            <a:avLst/>
          </a:prstGeom>
          <a:noFill/>
          <a:ln/>
        </p:spPr>
        <p:txBody>
          <a:bodyPr wrap="square" lIns="0" tIns="0" rIns="0" bIns="0" rtlCol="0" anchor="t"/>
          <a:lstStyle/>
          <a:p>
            <a:pPr algn="l" indent="0" marL="0">
              <a:buNone/>
            </a:pPr>
            <a:r>
              <a:rPr lang="en-US" sz="1300" b="1" dirty="0">
                <a:solidFill>
                  <a:srgbClr val="49B296"/>
                </a:solidFill>
                <a:latin typeface="Alexandria" pitchFamily="34" charset="0"/>
                <a:ea typeface="Alexandria" pitchFamily="34" charset="-122"/>
                <a:cs typeface="Alexandria" pitchFamily="34" charset="-120"/>
              </a:rPr>
              <a:t>Giải quyết nỗi đau</a:t>
            </a:r>
            <a:endParaRPr lang="en-US" sz="1300" dirty="0"/>
          </a:p>
        </p:txBody>
      </p:sp>
      <p:sp>
        <p:nvSpPr>
          <p:cNvPr id="31" name="Text 29"/>
          <p:cNvSpPr/>
          <p:nvPr/>
        </p:nvSpPr>
        <p:spPr>
          <a:xfrm>
            <a:off x="5628132" y="2240280"/>
            <a:ext cx="1243584" cy="228600"/>
          </a:xfrm>
          <a:prstGeom prst="rect">
            <a:avLst/>
          </a:prstGeom>
          <a:noFill/>
          <a:ln/>
        </p:spPr>
        <p:txBody>
          <a:bodyPr wrap="square" lIns="0" tIns="0" rIns="0" bIns="0" rtlCol="0" anchor="t"/>
          <a:lstStyle/>
          <a:p>
            <a:pPr algn="l" indent="0" marL="0">
              <a:buNone/>
            </a:pPr>
            <a:r>
              <a:rPr lang="en-US" sz="900" dirty="0">
                <a:solidFill>
                  <a:srgbClr val="7A7480"/>
                </a:solidFill>
                <a:latin typeface="Alexandria" pitchFamily="34" charset="0"/>
                <a:ea typeface="Alexandria" pitchFamily="34" charset="-122"/>
                <a:cs typeface="Alexandria" pitchFamily="34" charset="-120"/>
              </a:rPr>
              <a:t>Câu hỏi gợi ý</a:t>
            </a:r>
            <a:endParaRPr lang="en-US" sz="900" dirty="0"/>
          </a:p>
        </p:txBody>
      </p:sp>
      <p:sp>
        <p:nvSpPr>
          <p:cNvPr id="32" name="Text 30"/>
          <p:cNvSpPr/>
          <p:nvPr/>
        </p:nvSpPr>
        <p:spPr>
          <a:xfrm>
            <a:off x="5628132" y="2468880"/>
            <a:ext cx="1243584" cy="1234440"/>
          </a:xfrm>
          <a:prstGeom prst="rect">
            <a:avLst/>
          </a:prstGeom>
          <a:noFill/>
          <a:ln/>
        </p:spPr>
        <p:txBody>
          <a:bodyPr wrap="square" lIns="0" tIns="0" rIns="0" bIns="0" rtlCol="0" anchor="t"/>
          <a:lstStyle/>
          <a:p>
            <a:pPr algn="l" indent="0" marL="0">
              <a:buNone/>
            </a:pPr>
            <a:r>
              <a:rPr lang="en-US" sz="1050" i="1" dirty="0">
                <a:solidFill>
                  <a:srgbClr val="2B2633"/>
                </a:solidFill>
                <a:latin typeface="Alexandria" pitchFamily="34" charset="0"/>
                <a:ea typeface="Alexandria" pitchFamily="34" charset="-122"/>
                <a:cs typeface="Alexandria" pitchFamily="34" charset="-120"/>
              </a:rPr>
              <a:t>“Bạn gặp khó khăn gì với giải pháp hiện tại?”</a:t>
            </a:r>
            <a:endParaRPr lang="en-US" sz="1050" dirty="0"/>
          </a:p>
        </p:txBody>
      </p:sp>
      <p:sp>
        <p:nvSpPr>
          <p:cNvPr id="33" name="Shape 31"/>
          <p:cNvSpPr/>
          <p:nvPr/>
        </p:nvSpPr>
        <p:spPr>
          <a:xfrm>
            <a:off x="7168896" y="1417320"/>
            <a:ext cx="1517904" cy="2377440"/>
          </a:xfrm>
          <a:prstGeom prst="roundRect">
            <a:avLst>
              <a:gd name="adj" fmla="val 4819"/>
            </a:avLst>
          </a:prstGeom>
          <a:solidFill>
            <a:srgbClr val="FFFFFF"/>
          </a:solidFill>
          <a:ln w="12700">
            <a:solidFill>
              <a:srgbClr val="E6E2D6"/>
            </a:solidFill>
            <a:prstDash val="solid"/>
          </a:ln>
        </p:spPr>
      </p:sp>
      <p:sp>
        <p:nvSpPr>
          <p:cNvPr id="34" name="Shape 32"/>
          <p:cNvSpPr/>
          <p:nvPr/>
        </p:nvSpPr>
        <p:spPr>
          <a:xfrm>
            <a:off x="7168896" y="1417320"/>
            <a:ext cx="1517904" cy="91440"/>
          </a:xfrm>
          <a:prstGeom prst="rect">
            <a:avLst/>
          </a:prstGeom>
          <a:solidFill>
            <a:srgbClr val="09A1E5"/>
          </a:solidFill>
          <a:ln w="12700">
            <a:solidFill>
              <a:srgbClr val="09A1E5"/>
            </a:solidFill>
            <a:prstDash val="solid"/>
          </a:ln>
        </p:spPr>
      </p:sp>
      <p:sp>
        <p:nvSpPr>
          <p:cNvPr id="35" name="Text 33"/>
          <p:cNvSpPr/>
          <p:nvPr/>
        </p:nvSpPr>
        <p:spPr>
          <a:xfrm>
            <a:off x="7306056" y="1645920"/>
            <a:ext cx="1243584" cy="54864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Bằng chứng xã hội</a:t>
            </a:r>
            <a:endParaRPr lang="en-US" sz="1300" dirty="0"/>
          </a:p>
        </p:txBody>
      </p:sp>
      <p:sp>
        <p:nvSpPr>
          <p:cNvPr id="36" name="Text 34"/>
          <p:cNvSpPr/>
          <p:nvPr/>
        </p:nvSpPr>
        <p:spPr>
          <a:xfrm>
            <a:off x="7306056" y="2240280"/>
            <a:ext cx="1243584" cy="228600"/>
          </a:xfrm>
          <a:prstGeom prst="rect">
            <a:avLst/>
          </a:prstGeom>
          <a:noFill/>
          <a:ln/>
        </p:spPr>
        <p:txBody>
          <a:bodyPr wrap="square" lIns="0" tIns="0" rIns="0" bIns="0" rtlCol="0" anchor="t"/>
          <a:lstStyle/>
          <a:p>
            <a:pPr algn="l" indent="0" marL="0">
              <a:buNone/>
            </a:pPr>
            <a:r>
              <a:rPr lang="en-US" sz="900" dirty="0">
                <a:solidFill>
                  <a:srgbClr val="7A7480"/>
                </a:solidFill>
                <a:latin typeface="Alexandria" pitchFamily="34" charset="0"/>
                <a:ea typeface="Alexandria" pitchFamily="34" charset="-122"/>
                <a:cs typeface="Alexandria" pitchFamily="34" charset="-120"/>
              </a:rPr>
              <a:t>Câu hỏi gợi ý</a:t>
            </a:r>
            <a:endParaRPr lang="en-US" sz="900" dirty="0"/>
          </a:p>
        </p:txBody>
      </p:sp>
      <p:sp>
        <p:nvSpPr>
          <p:cNvPr id="37" name="Text 35"/>
          <p:cNvSpPr/>
          <p:nvPr/>
        </p:nvSpPr>
        <p:spPr>
          <a:xfrm>
            <a:off x="7306056" y="2468880"/>
            <a:ext cx="1243584" cy="1234440"/>
          </a:xfrm>
          <a:prstGeom prst="rect">
            <a:avLst/>
          </a:prstGeom>
          <a:noFill/>
          <a:ln/>
        </p:spPr>
        <p:txBody>
          <a:bodyPr wrap="square" lIns="0" tIns="0" rIns="0" bIns="0" rtlCol="0" anchor="t"/>
          <a:lstStyle/>
          <a:p>
            <a:pPr algn="l" indent="0" marL="0">
              <a:buNone/>
            </a:pPr>
            <a:r>
              <a:rPr lang="en-US" sz="1050" i="1" dirty="0">
                <a:solidFill>
                  <a:srgbClr val="2B2633"/>
                </a:solidFill>
                <a:latin typeface="Alexandria" pitchFamily="34" charset="0"/>
                <a:ea typeface="Alexandria" pitchFamily="34" charset="-122"/>
                <a:cs typeface="Alexandria" pitchFamily="34" charset="-120"/>
              </a:rPr>
              <a:t>“Bạn thấy ai dùng sản phẩm này? Đánh giá quan trọng thế nào?”</a:t>
            </a:r>
            <a:endParaRPr lang="en-US" sz="1050" dirty="0"/>
          </a:p>
        </p:txBody>
      </p:sp>
      <p:sp>
        <p:nvSpPr>
          <p:cNvPr id="38" name="Shape 36"/>
          <p:cNvSpPr/>
          <p:nvPr/>
        </p:nvSpPr>
        <p:spPr>
          <a:xfrm>
            <a:off x="457200" y="3931920"/>
            <a:ext cx="8229600" cy="502920"/>
          </a:xfrm>
          <a:prstGeom prst="roundRect">
            <a:avLst>
              <a:gd name="adj" fmla="val 14545"/>
            </a:avLst>
          </a:prstGeom>
          <a:solidFill>
            <a:srgbClr val="49B296"/>
          </a:solidFill>
          <a:ln w="12700">
            <a:solidFill>
              <a:srgbClr val="49B296"/>
            </a:solidFill>
            <a:prstDash val="solid"/>
          </a:ln>
        </p:spPr>
      </p:sp>
      <p:sp>
        <p:nvSpPr>
          <p:cNvPr id="39" name="Text 37"/>
          <p:cNvSpPr/>
          <p:nvPr/>
        </p:nvSpPr>
        <p:spPr>
          <a:xfrm>
            <a:off x="640080" y="3931920"/>
            <a:ext cx="7863840" cy="502920"/>
          </a:xfrm>
          <a:prstGeom prst="rect">
            <a:avLst/>
          </a:prstGeom>
          <a:noFill/>
          <a:ln/>
        </p:spPr>
        <p:txBody>
          <a:bodyPr wrap="square" lIns="0" tIns="0" rIns="0" bIns="0" rtlCol="0" anchor="ctr"/>
          <a:lstStyle/>
          <a:p>
            <a:pPr indent="0" marL="0">
              <a:buNone/>
            </a:pPr>
            <a:r>
              <a:rPr lang="en-US" sz="1100" b="1" dirty="0">
                <a:solidFill>
                  <a:srgbClr val="FFD23B"/>
                </a:solidFill>
                <a:latin typeface="Alexandria" pitchFamily="34" charset="0"/>
                <a:ea typeface="Alexandria" pitchFamily="34" charset="-122"/>
                <a:cs typeface="Alexandria" pitchFamily="34" charset="-120"/>
              </a:rPr>
              <a:t>Sau đó: </a:t>
            </a:r>
            <a:pPr indent="0" marL="0">
              <a:buNone/>
            </a:pPr>
            <a:r>
              <a:rPr lang="en-US" sz="1100" dirty="0">
                <a:solidFill>
                  <a:srgbClr val="FFFFFF"/>
                </a:solidFill>
                <a:latin typeface="Alexandria" pitchFamily="34" charset="0"/>
                <a:ea typeface="Alexandria" pitchFamily="34" charset="-122"/>
                <a:cs typeface="Alexandria" pitchFamily="34" charset="-120"/>
              </a:rPr>
              <a:t>dùng khảo sát định lượng (conjoint, Van Westendorp, Gabor-Granger) để kiểm tra giả thuyết về giá trên quy mô lớn.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49B296"/>
          </a:solidFill>
          <a:ln w="12700">
            <a:solidFill>
              <a:srgbClr val="49B296"/>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3  Lập kế hoạch &amp; điều phối</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Hai, ba phút đầu tiên quyết định người tham gia có mở lòng hay không</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49B296"/>
                </a:solidFill>
                <a:latin typeface="Alexandria" pitchFamily="34" charset="0"/>
                <a:ea typeface="Alexandria" pitchFamily="34" charset="-122"/>
                <a:cs typeface="Alexandria" pitchFamily="34" charset="-120"/>
              </a:rPr>
              <a:t>21</a:t>
            </a:r>
            <a:endParaRPr lang="en-US" sz="1000" dirty="0"/>
          </a:p>
        </p:txBody>
      </p:sp>
      <p:sp>
        <p:nvSpPr>
          <p:cNvPr id="13" name="Shape 11"/>
          <p:cNvSpPr/>
          <p:nvPr/>
        </p:nvSpPr>
        <p:spPr>
          <a:xfrm>
            <a:off x="457200" y="1417320"/>
            <a:ext cx="2606040" cy="2377440"/>
          </a:xfrm>
          <a:prstGeom prst="roundRect">
            <a:avLst>
              <a:gd name="adj" fmla="val 3077"/>
            </a:avLst>
          </a:prstGeom>
          <a:solidFill>
            <a:srgbClr val="FF5178"/>
          </a:solidFill>
          <a:ln w="12700">
            <a:solidFill>
              <a:srgbClr val="FF5178"/>
            </a:solidFill>
            <a:prstDash val="solid"/>
          </a:ln>
        </p:spPr>
      </p:sp>
      <p:sp>
        <p:nvSpPr>
          <p:cNvPr id="14" name="Text 12"/>
          <p:cNvSpPr/>
          <p:nvPr/>
        </p:nvSpPr>
        <p:spPr>
          <a:xfrm>
            <a:off x="640080" y="1508760"/>
            <a:ext cx="731520" cy="640080"/>
          </a:xfrm>
          <a:prstGeom prst="rect">
            <a:avLst/>
          </a:prstGeom>
          <a:noFill/>
          <a:ln/>
        </p:spPr>
        <p:txBody>
          <a:bodyPr wrap="square" lIns="0" tIns="0" rIns="0" bIns="0" rtlCol="0" anchor="t"/>
          <a:lstStyle/>
          <a:p>
            <a:pPr algn="l" indent="0" marL="0">
              <a:buNone/>
            </a:pPr>
            <a:r>
              <a:rPr lang="en-US" sz="3200" b="1" dirty="0">
                <a:solidFill>
                  <a:srgbClr val="FFFFFF"/>
                </a:solidFill>
                <a:latin typeface="Alexandria" pitchFamily="34" charset="0"/>
                <a:ea typeface="Alexandria" pitchFamily="34" charset="-122"/>
                <a:cs typeface="Alexandria" pitchFamily="34" charset="-120"/>
              </a:rPr>
              <a:t>1</a:t>
            </a:r>
            <a:endParaRPr lang="en-US" sz="3200" dirty="0"/>
          </a:p>
        </p:txBody>
      </p:sp>
      <p:sp>
        <p:nvSpPr>
          <p:cNvPr id="15" name="Text 13"/>
          <p:cNvSpPr/>
          <p:nvPr/>
        </p:nvSpPr>
        <p:spPr>
          <a:xfrm>
            <a:off x="640080" y="2148840"/>
            <a:ext cx="2240280" cy="54864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Cười và chào hỏi</a:t>
            </a:r>
            <a:endParaRPr lang="en-US" sz="1400" dirty="0"/>
          </a:p>
        </p:txBody>
      </p:sp>
      <p:sp>
        <p:nvSpPr>
          <p:cNvPr id="16" name="Text 14"/>
          <p:cNvSpPr/>
          <p:nvPr/>
        </p:nvSpPr>
        <p:spPr>
          <a:xfrm>
            <a:off x="640080" y="2697480"/>
            <a:ext cx="2240280" cy="105156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Đừng lao ngay vào kịch bản hay giới thiệu công ty. Khoảnh khắc này là của người tham gia.</a:t>
            </a:r>
            <a:endParaRPr lang="en-US" sz="1050" dirty="0"/>
          </a:p>
        </p:txBody>
      </p:sp>
      <p:sp>
        <p:nvSpPr>
          <p:cNvPr id="17" name="Shape 15"/>
          <p:cNvSpPr/>
          <p:nvPr/>
        </p:nvSpPr>
        <p:spPr>
          <a:xfrm>
            <a:off x="3246120" y="1417320"/>
            <a:ext cx="2606040" cy="2377440"/>
          </a:xfrm>
          <a:prstGeom prst="roundRect">
            <a:avLst>
              <a:gd name="adj" fmla="val 3077"/>
            </a:avLst>
          </a:prstGeom>
          <a:solidFill>
            <a:srgbClr val="FF9259"/>
          </a:solidFill>
          <a:ln w="12700">
            <a:solidFill>
              <a:srgbClr val="FF9259"/>
            </a:solidFill>
            <a:prstDash val="solid"/>
          </a:ln>
        </p:spPr>
      </p:sp>
      <p:sp>
        <p:nvSpPr>
          <p:cNvPr id="18" name="Text 16"/>
          <p:cNvSpPr/>
          <p:nvPr/>
        </p:nvSpPr>
        <p:spPr>
          <a:xfrm>
            <a:off x="3429000" y="1508760"/>
            <a:ext cx="731520" cy="640080"/>
          </a:xfrm>
          <a:prstGeom prst="rect">
            <a:avLst/>
          </a:prstGeom>
          <a:noFill/>
          <a:ln/>
        </p:spPr>
        <p:txBody>
          <a:bodyPr wrap="square" lIns="0" tIns="0" rIns="0" bIns="0" rtlCol="0" anchor="t"/>
          <a:lstStyle/>
          <a:p>
            <a:pPr algn="l" indent="0" marL="0">
              <a:buNone/>
            </a:pPr>
            <a:r>
              <a:rPr lang="en-US" sz="3200" b="1" dirty="0">
                <a:solidFill>
                  <a:srgbClr val="FFFFFF"/>
                </a:solidFill>
                <a:latin typeface="Alexandria" pitchFamily="34" charset="0"/>
                <a:ea typeface="Alexandria" pitchFamily="34" charset="-122"/>
                <a:cs typeface="Alexandria" pitchFamily="34" charset="-120"/>
              </a:rPr>
              <a:t>2</a:t>
            </a:r>
            <a:endParaRPr lang="en-US" sz="3200" dirty="0"/>
          </a:p>
        </p:txBody>
      </p:sp>
      <p:sp>
        <p:nvSpPr>
          <p:cNvPr id="19" name="Text 17"/>
          <p:cNvSpPr/>
          <p:nvPr/>
        </p:nvSpPr>
        <p:spPr>
          <a:xfrm>
            <a:off x="3429000" y="2148840"/>
            <a:ext cx="2240280" cy="54864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Để họ nói về bản thân</a:t>
            </a:r>
            <a:endParaRPr lang="en-US" sz="1400" dirty="0"/>
          </a:p>
        </p:txBody>
      </p:sp>
      <p:sp>
        <p:nvSpPr>
          <p:cNvPr id="20" name="Text 18"/>
          <p:cNvSpPr/>
          <p:nvPr/>
        </p:nvSpPr>
        <p:spPr>
          <a:xfrm>
            <a:off x="3429000" y="2697480"/>
            <a:ext cx="2240280" cy="105156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Chưa nhắc tới nghiên cứu. Tò mò thật sự, kể cả chuyện thời tiết; dùng cử chỉ thể hiện quan tâm.</a:t>
            </a:r>
            <a:endParaRPr lang="en-US" sz="1050" dirty="0"/>
          </a:p>
        </p:txBody>
      </p:sp>
      <p:sp>
        <p:nvSpPr>
          <p:cNvPr id="21" name="Shape 19"/>
          <p:cNvSpPr/>
          <p:nvPr/>
        </p:nvSpPr>
        <p:spPr>
          <a:xfrm>
            <a:off x="6035040" y="1417320"/>
            <a:ext cx="2606040" cy="2377440"/>
          </a:xfrm>
          <a:prstGeom prst="roundRect">
            <a:avLst>
              <a:gd name="adj" fmla="val 3077"/>
            </a:avLst>
          </a:prstGeom>
          <a:solidFill>
            <a:srgbClr val="962B7C"/>
          </a:solidFill>
          <a:ln w="12700">
            <a:solidFill>
              <a:srgbClr val="962B7C"/>
            </a:solidFill>
            <a:prstDash val="solid"/>
          </a:ln>
        </p:spPr>
      </p:sp>
      <p:sp>
        <p:nvSpPr>
          <p:cNvPr id="22" name="Text 20"/>
          <p:cNvSpPr/>
          <p:nvPr/>
        </p:nvSpPr>
        <p:spPr>
          <a:xfrm>
            <a:off x="6217920" y="1508760"/>
            <a:ext cx="731520" cy="640080"/>
          </a:xfrm>
          <a:prstGeom prst="rect">
            <a:avLst/>
          </a:prstGeom>
          <a:noFill/>
          <a:ln/>
        </p:spPr>
        <p:txBody>
          <a:bodyPr wrap="square" lIns="0" tIns="0" rIns="0" bIns="0" rtlCol="0" anchor="t"/>
          <a:lstStyle/>
          <a:p>
            <a:pPr algn="l" indent="0" marL="0">
              <a:buNone/>
            </a:pPr>
            <a:r>
              <a:rPr lang="en-US" sz="3200" b="1" dirty="0">
                <a:solidFill>
                  <a:srgbClr val="FFFFFF"/>
                </a:solidFill>
                <a:latin typeface="Alexandria" pitchFamily="34" charset="0"/>
                <a:ea typeface="Alexandria" pitchFamily="34" charset="-122"/>
                <a:cs typeface="Alexandria" pitchFamily="34" charset="-120"/>
              </a:rPr>
              <a:t>3</a:t>
            </a:r>
            <a:endParaRPr lang="en-US" sz="3200" dirty="0"/>
          </a:p>
        </p:txBody>
      </p:sp>
      <p:sp>
        <p:nvSpPr>
          <p:cNvPr id="23" name="Text 21"/>
          <p:cNvSpPr/>
          <p:nvPr/>
        </p:nvSpPr>
        <p:spPr>
          <a:xfrm>
            <a:off x="6217920" y="2148840"/>
            <a:ext cx="2240280" cy="548640"/>
          </a:xfrm>
          <a:prstGeom prst="rect">
            <a:avLst/>
          </a:prstGeom>
          <a:noFill/>
          <a:ln/>
        </p:spPr>
        <p:txBody>
          <a:bodyPr wrap="square" lIns="0" tIns="0" rIns="0" bIns="0" rtlCol="0" anchor="t"/>
          <a:lstStyle/>
          <a:p>
            <a:pPr algn="l" indent="0" marL="0">
              <a:buNone/>
            </a:pPr>
            <a:r>
              <a:rPr lang="en-US" sz="1400" b="1" dirty="0">
                <a:solidFill>
                  <a:srgbClr val="FFFFFF"/>
                </a:solidFill>
                <a:latin typeface="Alexandria" pitchFamily="34" charset="0"/>
                <a:ea typeface="Alexandria" pitchFamily="34" charset="-122"/>
                <a:cs typeface="Alexandria" pitchFamily="34" charset="-120"/>
              </a:rPr>
              <a:t>Tò mò thay vì chia sẻ</a:t>
            </a:r>
            <a:endParaRPr lang="en-US" sz="1400" dirty="0"/>
          </a:p>
        </p:txBody>
      </p:sp>
      <p:sp>
        <p:nvSpPr>
          <p:cNvPr id="24" name="Text 22"/>
          <p:cNvSpPr/>
          <p:nvPr/>
        </p:nvSpPr>
        <p:spPr>
          <a:xfrm>
            <a:off x="6217920" y="2697480"/>
            <a:ext cx="2240280" cy="1051560"/>
          </a:xfrm>
          <a:prstGeom prst="rect">
            <a:avLst/>
          </a:prstGeom>
          <a:noFill/>
          <a:ln/>
        </p:spPr>
        <p:txBody>
          <a:bodyPr wrap="square" lIns="0" tIns="0" rIns="0" bIns="0" rtlCol="0" anchor="t"/>
          <a:lstStyle/>
          <a:p>
            <a:pPr algn="l" indent="0" marL="0">
              <a:buNone/>
            </a:pPr>
            <a:r>
              <a:rPr lang="en-US" sz="1050" dirty="0">
                <a:solidFill>
                  <a:srgbClr val="FFFFFF"/>
                </a:solidFill>
                <a:latin typeface="Alexandria" pitchFamily="34" charset="0"/>
                <a:ea typeface="Alexandria" pitchFamily="34" charset="-122"/>
                <a:cs typeface="Alexandria" pitchFamily="34" charset="-120"/>
              </a:rPr>
              <a:t>Đừng đáp “Tôi cũng vậy!”. Kết nối bằng câu hỏi, giữ tâm điểm ở người kia.</a:t>
            </a:r>
            <a:endParaRPr lang="en-US" sz="1050" dirty="0"/>
          </a:p>
        </p:txBody>
      </p:sp>
      <p:sp>
        <p:nvSpPr>
          <p:cNvPr id="25" name="Shape 23"/>
          <p:cNvSpPr/>
          <p:nvPr/>
        </p:nvSpPr>
        <p:spPr>
          <a:xfrm>
            <a:off x="457200" y="3931920"/>
            <a:ext cx="8229600" cy="457200"/>
          </a:xfrm>
          <a:prstGeom prst="roundRect">
            <a:avLst>
              <a:gd name="adj" fmla="val 16000"/>
            </a:avLst>
          </a:prstGeom>
          <a:solidFill>
            <a:srgbClr val="FFD23B"/>
          </a:solidFill>
          <a:ln w="12700">
            <a:solidFill>
              <a:srgbClr val="FFD23B"/>
            </a:solidFill>
            <a:prstDash val="solid"/>
          </a:ln>
        </p:spPr>
      </p:sp>
      <p:sp>
        <p:nvSpPr>
          <p:cNvPr id="26" name="Text 24"/>
          <p:cNvSpPr/>
          <p:nvPr/>
        </p:nvSpPr>
        <p:spPr>
          <a:xfrm>
            <a:off x="640080" y="3931920"/>
            <a:ext cx="7863840" cy="457200"/>
          </a:xfrm>
          <a:prstGeom prst="rect">
            <a:avLst/>
          </a:prstGeom>
          <a:noFill/>
          <a:ln/>
        </p:spPr>
        <p:txBody>
          <a:bodyPr wrap="square" lIns="0" tIns="0" rIns="0" bIns="0" rtlCol="0" anchor="ctr"/>
          <a:lstStyle/>
          <a:p>
            <a:pPr indent="0" marL="0">
              <a:buNone/>
            </a:pPr>
            <a:r>
              <a:rPr lang="en-US" sz="1200" b="1" dirty="0">
                <a:solidFill>
                  <a:srgbClr val="2B2633"/>
                </a:solidFill>
                <a:latin typeface="Alexandria" pitchFamily="34" charset="0"/>
                <a:ea typeface="Alexandria" pitchFamily="34" charset="-122"/>
                <a:cs typeface="Alexandria" pitchFamily="34" charset="-120"/>
              </a:rPr>
              <a:t>Mục tiêu: </a:t>
            </a:r>
            <a:pPr indent="0" marL="0">
              <a:buNone/>
            </a:pPr>
            <a:r>
              <a:rPr lang="en-US" sz="1200" dirty="0">
                <a:solidFill>
                  <a:srgbClr val="2B2633"/>
                </a:solidFill>
                <a:latin typeface="Alexandria" pitchFamily="34" charset="0"/>
                <a:ea typeface="Alexandria" pitchFamily="34" charset="-122"/>
                <a:cs typeface="Alexandria" pitchFamily="34" charset="-120"/>
              </a:rPr>
              <a:t>một buổi phỏng vấn không có cảm giác là phỏng vấn, mà là một cuộc trò chuyện.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49B296"/>
          </a:solidFill>
          <a:ln w="12700">
            <a:solidFill>
              <a:srgbClr val="49B296"/>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3  Lập kế hoạch &amp; điều phối</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Mở đầu nhóm tập trung theo bốn bước để tạo nhịp cho cả buổi</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49B296"/>
                </a:solidFill>
                <a:latin typeface="Alexandria" pitchFamily="34" charset="0"/>
                <a:ea typeface="Alexandria" pitchFamily="34" charset="-122"/>
                <a:cs typeface="Alexandria" pitchFamily="34" charset="-120"/>
              </a:rPr>
              <a:t>22</a:t>
            </a:r>
            <a:endParaRPr lang="en-US" sz="1000" dirty="0"/>
          </a:p>
        </p:txBody>
      </p:sp>
      <p:sp>
        <p:nvSpPr>
          <p:cNvPr id="13" name="Shape 11"/>
          <p:cNvSpPr/>
          <p:nvPr/>
        </p:nvSpPr>
        <p:spPr>
          <a:xfrm>
            <a:off x="457200" y="1463040"/>
            <a:ext cx="2130552" cy="640080"/>
          </a:xfrm>
          <a:prstGeom prst="homePlate">
            <a:avLst/>
          </a:prstGeom>
          <a:solidFill>
            <a:srgbClr val="FF5178"/>
          </a:solidFill>
          <a:ln w="19050">
            <a:solidFill>
              <a:srgbClr val="FBFAF4"/>
            </a:solidFill>
            <a:prstDash val="solid"/>
          </a:ln>
        </p:spPr>
      </p:sp>
      <p:sp>
        <p:nvSpPr>
          <p:cNvPr id="14" name="Text 12"/>
          <p:cNvSpPr/>
          <p:nvPr/>
        </p:nvSpPr>
        <p:spPr>
          <a:xfrm>
            <a:off x="548640" y="1463040"/>
            <a:ext cx="14630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Bước 1</a:t>
            </a:r>
            <a:endParaRPr lang="en-US" sz="1300" dirty="0"/>
          </a:p>
        </p:txBody>
      </p:sp>
      <p:sp>
        <p:nvSpPr>
          <p:cNvPr id="15" name="Text 13"/>
          <p:cNvSpPr/>
          <p:nvPr/>
        </p:nvSpPr>
        <p:spPr>
          <a:xfrm>
            <a:off x="502920" y="2286000"/>
            <a:ext cx="1920240" cy="502920"/>
          </a:xfrm>
          <a:prstGeom prst="rect">
            <a:avLst/>
          </a:prstGeom>
          <a:noFill/>
          <a:ln/>
        </p:spPr>
        <p:txBody>
          <a:bodyPr wrap="square" lIns="0" tIns="0" rIns="0" bIns="0" rtlCol="0" anchor="t"/>
          <a:lstStyle/>
          <a:p>
            <a:pPr algn="l" indent="0" marL="0">
              <a:buNone/>
            </a:pPr>
            <a:r>
              <a:rPr lang="en-US" sz="1300" b="1" dirty="0">
                <a:solidFill>
                  <a:srgbClr val="2B2633"/>
                </a:solidFill>
                <a:latin typeface="Alexandria" pitchFamily="34" charset="0"/>
                <a:ea typeface="Alexandria" pitchFamily="34" charset="-122"/>
                <a:cs typeface="Alexandria" pitchFamily="34" charset="-120"/>
              </a:rPr>
              <a:t>Năng lượng thật cao</a:t>
            </a:r>
            <a:endParaRPr lang="en-US" sz="1300" dirty="0"/>
          </a:p>
        </p:txBody>
      </p:sp>
      <p:sp>
        <p:nvSpPr>
          <p:cNvPr id="16" name="Shape 14"/>
          <p:cNvSpPr/>
          <p:nvPr/>
        </p:nvSpPr>
        <p:spPr>
          <a:xfrm>
            <a:off x="502920" y="2834640"/>
            <a:ext cx="365760" cy="45720"/>
          </a:xfrm>
          <a:prstGeom prst="rect">
            <a:avLst/>
          </a:prstGeom>
          <a:solidFill>
            <a:srgbClr val="FF5178"/>
          </a:solidFill>
          <a:ln w="12700">
            <a:solidFill>
              <a:srgbClr val="FF5178"/>
            </a:solidFill>
            <a:prstDash val="solid"/>
          </a:ln>
        </p:spPr>
      </p:sp>
      <p:sp>
        <p:nvSpPr>
          <p:cNvPr id="17" name="Text 15"/>
          <p:cNvSpPr/>
          <p:nvPr/>
        </p:nvSpPr>
        <p:spPr>
          <a:xfrm>
            <a:off x="502920" y="2971800"/>
            <a:ext cx="1874520" cy="12801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Người tham gia phản chiếu điều họ thấy</a:t>
            </a:r>
            <a:endParaRPr lang="en-US" sz="1050" dirty="0"/>
          </a:p>
        </p:txBody>
      </p:sp>
      <p:sp>
        <p:nvSpPr>
          <p:cNvPr id="18" name="Shape 16"/>
          <p:cNvSpPr/>
          <p:nvPr/>
        </p:nvSpPr>
        <p:spPr>
          <a:xfrm>
            <a:off x="2551176" y="1463040"/>
            <a:ext cx="2130552" cy="640080"/>
          </a:xfrm>
          <a:prstGeom prst="chevron">
            <a:avLst/>
          </a:prstGeom>
          <a:solidFill>
            <a:srgbClr val="FF9259"/>
          </a:solidFill>
          <a:ln w="19050">
            <a:solidFill>
              <a:srgbClr val="FBFAF4"/>
            </a:solidFill>
            <a:prstDash val="solid"/>
          </a:ln>
        </p:spPr>
      </p:sp>
      <p:sp>
        <p:nvSpPr>
          <p:cNvPr id="19" name="Text 17"/>
          <p:cNvSpPr/>
          <p:nvPr/>
        </p:nvSpPr>
        <p:spPr>
          <a:xfrm>
            <a:off x="2871216" y="1463040"/>
            <a:ext cx="14630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Bước 2</a:t>
            </a:r>
            <a:endParaRPr lang="en-US" sz="1300" dirty="0"/>
          </a:p>
        </p:txBody>
      </p:sp>
      <p:sp>
        <p:nvSpPr>
          <p:cNvPr id="20" name="Text 18"/>
          <p:cNvSpPr/>
          <p:nvPr/>
        </p:nvSpPr>
        <p:spPr>
          <a:xfrm>
            <a:off x="2596896" y="2286000"/>
            <a:ext cx="1920240" cy="502920"/>
          </a:xfrm>
          <a:prstGeom prst="rect">
            <a:avLst/>
          </a:prstGeom>
          <a:noFill/>
          <a:ln/>
        </p:spPr>
        <p:txBody>
          <a:bodyPr wrap="square" lIns="0" tIns="0" rIns="0" bIns="0" rtlCol="0" anchor="t"/>
          <a:lstStyle/>
          <a:p>
            <a:pPr algn="l" indent="0" marL="0">
              <a:buNone/>
            </a:pPr>
            <a:r>
              <a:rPr lang="en-US" sz="1300" b="1" dirty="0">
                <a:solidFill>
                  <a:srgbClr val="2B2633"/>
                </a:solidFill>
                <a:latin typeface="Alexandria" pitchFamily="34" charset="0"/>
                <a:ea typeface="Alexandria" pitchFamily="34" charset="-122"/>
                <a:cs typeface="Alexandria" pitchFamily="34" charset="-120"/>
              </a:rPr>
              <a:t>Điểm chung của nhóm</a:t>
            </a:r>
            <a:endParaRPr lang="en-US" sz="1300" dirty="0"/>
          </a:p>
        </p:txBody>
      </p:sp>
      <p:sp>
        <p:nvSpPr>
          <p:cNvPr id="21" name="Shape 19"/>
          <p:cNvSpPr/>
          <p:nvPr/>
        </p:nvSpPr>
        <p:spPr>
          <a:xfrm>
            <a:off x="2596896" y="2834640"/>
            <a:ext cx="365760" cy="45720"/>
          </a:xfrm>
          <a:prstGeom prst="rect">
            <a:avLst/>
          </a:prstGeom>
          <a:solidFill>
            <a:srgbClr val="FF9259"/>
          </a:solidFill>
          <a:ln w="12700">
            <a:solidFill>
              <a:srgbClr val="FF9259"/>
            </a:solidFill>
            <a:prstDash val="solid"/>
          </a:ln>
        </p:spPr>
      </p:sp>
      <p:sp>
        <p:nvSpPr>
          <p:cNvPr id="22" name="Text 20"/>
          <p:cNvSpPr/>
          <p:nvPr/>
        </p:nvSpPr>
        <p:spPr>
          <a:xfrm>
            <a:off x="2596896" y="2971800"/>
            <a:ext cx="1874520" cy="12801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“Hôm nay chúng ta ở đây vì đều đang chọn thức ăn cho con” — áp dụng cả với B2B</a:t>
            </a:r>
            <a:endParaRPr lang="en-US" sz="1050" dirty="0"/>
          </a:p>
        </p:txBody>
      </p:sp>
      <p:sp>
        <p:nvSpPr>
          <p:cNvPr id="23" name="Shape 21"/>
          <p:cNvSpPr/>
          <p:nvPr/>
        </p:nvSpPr>
        <p:spPr>
          <a:xfrm>
            <a:off x="4645152" y="1463040"/>
            <a:ext cx="2130552" cy="640080"/>
          </a:xfrm>
          <a:prstGeom prst="chevron">
            <a:avLst/>
          </a:prstGeom>
          <a:solidFill>
            <a:srgbClr val="49B296"/>
          </a:solidFill>
          <a:ln w="19050">
            <a:solidFill>
              <a:srgbClr val="FBFAF4"/>
            </a:solidFill>
            <a:prstDash val="solid"/>
          </a:ln>
        </p:spPr>
      </p:sp>
      <p:sp>
        <p:nvSpPr>
          <p:cNvPr id="24" name="Text 22"/>
          <p:cNvSpPr/>
          <p:nvPr/>
        </p:nvSpPr>
        <p:spPr>
          <a:xfrm>
            <a:off x="4965192" y="1463040"/>
            <a:ext cx="14630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Bước 3</a:t>
            </a:r>
            <a:endParaRPr lang="en-US" sz="1300" dirty="0"/>
          </a:p>
        </p:txBody>
      </p:sp>
      <p:sp>
        <p:nvSpPr>
          <p:cNvPr id="25" name="Text 23"/>
          <p:cNvSpPr/>
          <p:nvPr/>
        </p:nvSpPr>
        <p:spPr>
          <a:xfrm>
            <a:off x="4690872" y="2286000"/>
            <a:ext cx="1920240" cy="502920"/>
          </a:xfrm>
          <a:prstGeom prst="rect">
            <a:avLst/>
          </a:prstGeom>
          <a:noFill/>
          <a:ln/>
        </p:spPr>
        <p:txBody>
          <a:bodyPr wrap="square" lIns="0" tIns="0" rIns="0" bIns="0" rtlCol="0" anchor="t"/>
          <a:lstStyle/>
          <a:p>
            <a:pPr algn="l" indent="0" marL="0">
              <a:buNone/>
            </a:pPr>
            <a:r>
              <a:rPr lang="en-US" sz="1300" b="1" dirty="0">
                <a:solidFill>
                  <a:srgbClr val="2B2633"/>
                </a:solidFill>
                <a:latin typeface="Alexandria" pitchFamily="34" charset="0"/>
                <a:ea typeface="Alexandria" pitchFamily="34" charset="-122"/>
                <a:cs typeface="Alexandria" pitchFamily="34" charset="-120"/>
              </a:rPr>
              <a:t>Kỳ vọng &amp; quy tắc</a:t>
            </a:r>
            <a:endParaRPr lang="en-US" sz="1300" dirty="0"/>
          </a:p>
        </p:txBody>
      </p:sp>
      <p:sp>
        <p:nvSpPr>
          <p:cNvPr id="26" name="Shape 24"/>
          <p:cNvSpPr/>
          <p:nvPr/>
        </p:nvSpPr>
        <p:spPr>
          <a:xfrm>
            <a:off x="4690872" y="2834640"/>
            <a:ext cx="365760" cy="45720"/>
          </a:xfrm>
          <a:prstGeom prst="rect">
            <a:avLst/>
          </a:prstGeom>
          <a:solidFill>
            <a:srgbClr val="49B296"/>
          </a:solidFill>
          <a:ln w="12700">
            <a:solidFill>
              <a:srgbClr val="49B296"/>
            </a:solidFill>
            <a:prstDash val="solid"/>
          </a:ln>
        </p:spPr>
      </p:sp>
      <p:sp>
        <p:nvSpPr>
          <p:cNvPr id="27" name="Text 25"/>
          <p:cNvSpPr/>
          <p:nvPr/>
        </p:nvSpPr>
        <p:spPr>
          <a:xfrm>
            <a:off x="4690872" y="2971800"/>
            <a:ext cx="1874520" cy="12801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Chương trình, bật camera, tắt thông báo, giữ bảo mật, tâm thế cởi mở</a:t>
            </a:r>
            <a:endParaRPr lang="en-US" sz="1050" dirty="0"/>
          </a:p>
        </p:txBody>
      </p:sp>
      <p:sp>
        <p:nvSpPr>
          <p:cNvPr id="28" name="Shape 26"/>
          <p:cNvSpPr/>
          <p:nvPr/>
        </p:nvSpPr>
        <p:spPr>
          <a:xfrm>
            <a:off x="6739128" y="1463040"/>
            <a:ext cx="2130552" cy="640080"/>
          </a:xfrm>
          <a:prstGeom prst="chevron">
            <a:avLst/>
          </a:prstGeom>
          <a:solidFill>
            <a:srgbClr val="09A1E5"/>
          </a:solidFill>
          <a:ln w="19050">
            <a:solidFill>
              <a:srgbClr val="FBFAF4"/>
            </a:solidFill>
            <a:prstDash val="solid"/>
          </a:ln>
        </p:spPr>
      </p:sp>
      <p:sp>
        <p:nvSpPr>
          <p:cNvPr id="29" name="Text 27"/>
          <p:cNvSpPr/>
          <p:nvPr/>
        </p:nvSpPr>
        <p:spPr>
          <a:xfrm>
            <a:off x="7059168" y="1463040"/>
            <a:ext cx="14630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Bước 4</a:t>
            </a:r>
            <a:endParaRPr lang="en-US" sz="1300" dirty="0"/>
          </a:p>
        </p:txBody>
      </p:sp>
      <p:sp>
        <p:nvSpPr>
          <p:cNvPr id="30" name="Text 28"/>
          <p:cNvSpPr/>
          <p:nvPr/>
        </p:nvSpPr>
        <p:spPr>
          <a:xfrm>
            <a:off x="6784848" y="2286000"/>
            <a:ext cx="1920240" cy="502920"/>
          </a:xfrm>
          <a:prstGeom prst="rect">
            <a:avLst/>
          </a:prstGeom>
          <a:noFill/>
          <a:ln/>
        </p:spPr>
        <p:txBody>
          <a:bodyPr wrap="square" lIns="0" tIns="0" rIns="0" bIns="0" rtlCol="0" anchor="t"/>
          <a:lstStyle/>
          <a:p>
            <a:pPr algn="l" indent="0" marL="0">
              <a:buNone/>
            </a:pPr>
            <a:r>
              <a:rPr lang="en-US" sz="1300" b="1" dirty="0">
                <a:solidFill>
                  <a:srgbClr val="2B2633"/>
                </a:solidFill>
                <a:latin typeface="Alexandria" pitchFamily="34" charset="0"/>
                <a:ea typeface="Alexandria" pitchFamily="34" charset="-122"/>
                <a:cs typeface="Alexandria" pitchFamily="34" charset="-120"/>
              </a:rPr>
              <a:t>Dẫn dắt người nói đầu</a:t>
            </a:r>
            <a:endParaRPr lang="en-US" sz="1300" dirty="0"/>
          </a:p>
        </p:txBody>
      </p:sp>
      <p:sp>
        <p:nvSpPr>
          <p:cNvPr id="31" name="Shape 29"/>
          <p:cNvSpPr/>
          <p:nvPr/>
        </p:nvSpPr>
        <p:spPr>
          <a:xfrm>
            <a:off x="6784848" y="2834640"/>
            <a:ext cx="365760" cy="45720"/>
          </a:xfrm>
          <a:prstGeom prst="rect">
            <a:avLst/>
          </a:prstGeom>
          <a:solidFill>
            <a:srgbClr val="09A1E5"/>
          </a:solidFill>
          <a:ln w="12700">
            <a:solidFill>
              <a:srgbClr val="09A1E5"/>
            </a:solidFill>
            <a:prstDash val="solid"/>
          </a:ln>
        </p:spPr>
      </p:sp>
      <p:sp>
        <p:nvSpPr>
          <p:cNvPr id="32" name="Text 30"/>
          <p:cNvSpPr/>
          <p:nvPr/>
        </p:nvSpPr>
        <p:spPr>
          <a:xfrm>
            <a:off x="6784848" y="2971800"/>
            <a:ext cx="1874520" cy="1280160"/>
          </a:xfrm>
          <a:prstGeom prst="rect">
            <a:avLst/>
          </a:prstGeom>
          <a:noFill/>
          <a:ln/>
        </p:spPr>
        <p:txBody>
          <a:bodyPr wrap="square" lIns="0" tIns="0" rIns="0" bIns="0" rtlCol="0" anchor="t"/>
          <a:lstStyle/>
          <a:p>
            <a:pPr algn="l" indent="0" marL="0">
              <a:buNone/>
            </a:pPr>
            <a:r>
              <a:rPr lang="en-US" sz="1050" dirty="0">
                <a:solidFill>
                  <a:srgbClr val="3A3542"/>
                </a:solidFill>
                <a:latin typeface="Alexandria" pitchFamily="34" charset="0"/>
                <a:ea typeface="Alexandria" pitchFamily="34" charset="-122"/>
                <a:cs typeface="Alexandria" pitchFamily="34" charset="-120"/>
              </a:rPr>
              <a:t>Hỏi thêm nếu thiếu chi tiết, cắt nếu lan man</a:t>
            </a:r>
            <a:endParaRPr lang="en-US" sz="1050" dirty="0"/>
          </a:p>
        </p:txBody>
      </p:sp>
      <p:sp>
        <p:nvSpPr>
          <p:cNvPr id="33" name="Text 31"/>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Bước 2 còn gọi là “Background of Relatedness”: nêu mục tiêu chung để người lạ dễ cộng tác.</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49B296"/>
          </a:solidFill>
          <a:ln w="12700">
            <a:solidFill>
              <a:srgbClr val="49B296"/>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3  Lập kế hoạch &amp; điều phối</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Chạy thử bộ câu hỏi và luyện lắng nghe trước khi phỏng vấn thật</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49B296"/>
                </a:solidFill>
                <a:latin typeface="Alexandria" pitchFamily="34" charset="0"/>
                <a:ea typeface="Alexandria" pitchFamily="34" charset="-122"/>
                <a:cs typeface="Alexandria" pitchFamily="34" charset="-120"/>
              </a:rPr>
              <a:t>23</a:t>
            </a:r>
            <a:endParaRPr lang="en-US" sz="1000" dirty="0"/>
          </a:p>
        </p:txBody>
      </p:sp>
      <p:sp>
        <p:nvSpPr>
          <p:cNvPr id="13" name="Shape 11"/>
          <p:cNvSpPr/>
          <p:nvPr/>
        </p:nvSpPr>
        <p:spPr>
          <a:xfrm>
            <a:off x="457200" y="1417320"/>
            <a:ext cx="4023360" cy="2971800"/>
          </a:xfrm>
          <a:prstGeom prst="roundRect">
            <a:avLst>
              <a:gd name="adj" fmla="val 2462"/>
            </a:avLst>
          </a:prstGeom>
          <a:solidFill>
            <a:srgbClr val="FFFFFF"/>
          </a:solidFill>
          <a:ln w="12700">
            <a:solidFill>
              <a:srgbClr val="E6E2D6"/>
            </a:solidFill>
            <a:prstDash val="solid"/>
          </a:ln>
        </p:spPr>
      </p:sp>
      <p:sp>
        <p:nvSpPr>
          <p:cNvPr id="14" name="Shape 12"/>
          <p:cNvSpPr/>
          <p:nvPr/>
        </p:nvSpPr>
        <p:spPr>
          <a:xfrm>
            <a:off x="457200" y="1417320"/>
            <a:ext cx="4023360" cy="685800"/>
          </a:xfrm>
          <a:prstGeom prst="roundRect">
            <a:avLst>
              <a:gd name="adj" fmla="val 10667"/>
            </a:avLst>
          </a:prstGeom>
          <a:solidFill>
            <a:srgbClr val="49B296"/>
          </a:solidFill>
          <a:ln w="12700">
            <a:solidFill>
              <a:srgbClr val="49B296"/>
            </a:solidFill>
            <a:prstDash val="solid"/>
          </a:ln>
        </p:spPr>
      </p:sp>
      <p:sp>
        <p:nvSpPr>
          <p:cNvPr id="15" name="Shape 13"/>
          <p:cNvSpPr/>
          <p:nvPr/>
        </p:nvSpPr>
        <p:spPr>
          <a:xfrm>
            <a:off x="457200" y="1874520"/>
            <a:ext cx="4023360" cy="228600"/>
          </a:xfrm>
          <a:prstGeom prst="rect">
            <a:avLst/>
          </a:prstGeom>
          <a:solidFill>
            <a:srgbClr val="49B296"/>
          </a:solidFill>
          <a:ln w="12700">
            <a:solidFill>
              <a:srgbClr val="49B296"/>
            </a:solidFill>
            <a:prstDash val="solid"/>
          </a:ln>
        </p:spPr>
      </p:sp>
      <p:sp>
        <p:nvSpPr>
          <p:cNvPr id="16" name="Text 14"/>
          <p:cNvSpPr/>
          <p:nvPr/>
        </p:nvSpPr>
        <p:spPr>
          <a:xfrm>
            <a:off x="594360" y="1444752"/>
            <a:ext cx="374904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Chạy thử (pilot test)</a:t>
            </a:r>
            <a:endParaRPr lang="en-US" sz="1400" dirty="0"/>
          </a:p>
          <a:p>
            <a:pPr indent="0" marL="0">
              <a:buNone/>
            </a:pPr>
            <a:r>
              <a:rPr lang="en-US" sz="1000" i="1" dirty="0">
                <a:solidFill>
                  <a:srgbClr val="FFFFFF"/>
                </a:solidFill>
                <a:latin typeface="Alexandria" pitchFamily="34" charset="0"/>
                <a:ea typeface="Alexandria" pitchFamily="34" charset="-122"/>
                <a:cs typeface="Alexandria" pitchFamily="34" charset="-120"/>
              </a:rPr>
              <a:t>1 đến 4–5 lần</a:t>
            </a:r>
            <a:endParaRPr lang="en-US" sz="1400" dirty="0"/>
          </a:p>
        </p:txBody>
      </p:sp>
      <p:sp>
        <p:nvSpPr>
          <p:cNvPr id="17" name="Text 15"/>
          <p:cNvSpPr/>
          <p:nvPr/>
        </p:nvSpPr>
        <p:spPr>
          <a:xfrm>
            <a:off x="548640" y="2221992"/>
            <a:ext cx="3822192" cy="2075688"/>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Thuộc bộ câu hỏi để linh hoạt nhảy phần, quay lại</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Sửa thứ tự câu hỏi, căn thời gian, biết phần nào cắt được</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Kiểm tra câu hỏi đã phủ đủ mục tiêu</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Phát hiện thuật ngữ nội bộ người ngoài không hiểu</a:t>
            </a:r>
            <a:endParaRPr lang="en-US" sz="1150" dirty="0"/>
          </a:p>
        </p:txBody>
      </p:sp>
      <p:sp>
        <p:nvSpPr>
          <p:cNvPr id="18" name="Shape 16"/>
          <p:cNvSpPr/>
          <p:nvPr/>
        </p:nvSpPr>
        <p:spPr>
          <a:xfrm>
            <a:off x="4663440" y="1417320"/>
            <a:ext cx="4023360" cy="2971800"/>
          </a:xfrm>
          <a:prstGeom prst="roundRect">
            <a:avLst>
              <a:gd name="adj" fmla="val 2462"/>
            </a:avLst>
          </a:prstGeom>
          <a:solidFill>
            <a:srgbClr val="FFFFFF"/>
          </a:solidFill>
          <a:ln w="12700">
            <a:solidFill>
              <a:srgbClr val="E6E2D6"/>
            </a:solidFill>
            <a:prstDash val="solid"/>
          </a:ln>
        </p:spPr>
      </p:sp>
      <p:sp>
        <p:nvSpPr>
          <p:cNvPr id="19" name="Shape 17"/>
          <p:cNvSpPr/>
          <p:nvPr/>
        </p:nvSpPr>
        <p:spPr>
          <a:xfrm>
            <a:off x="4663440" y="1417320"/>
            <a:ext cx="4023360" cy="685800"/>
          </a:xfrm>
          <a:prstGeom prst="roundRect">
            <a:avLst>
              <a:gd name="adj" fmla="val 10667"/>
            </a:avLst>
          </a:prstGeom>
          <a:solidFill>
            <a:srgbClr val="962B7C"/>
          </a:solidFill>
          <a:ln w="12700">
            <a:solidFill>
              <a:srgbClr val="962B7C"/>
            </a:solidFill>
            <a:prstDash val="solid"/>
          </a:ln>
        </p:spPr>
      </p:sp>
      <p:sp>
        <p:nvSpPr>
          <p:cNvPr id="20" name="Shape 18"/>
          <p:cNvSpPr/>
          <p:nvPr/>
        </p:nvSpPr>
        <p:spPr>
          <a:xfrm>
            <a:off x="4663440" y="1874520"/>
            <a:ext cx="4023360" cy="228600"/>
          </a:xfrm>
          <a:prstGeom prst="rect">
            <a:avLst/>
          </a:prstGeom>
          <a:solidFill>
            <a:srgbClr val="962B7C"/>
          </a:solidFill>
          <a:ln w="12700">
            <a:solidFill>
              <a:srgbClr val="962B7C"/>
            </a:solidFill>
            <a:prstDash val="solid"/>
          </a:ln>
        </p:spPr>
      </p:sp>
      <p:sp>
        <p:nvSpPr>
          <p:cNvPr id="21" name="Text 19"/>
          <p:cNvSpPr/>
          <p:nvPr/>
        </p:nvSpPr>
        <p:spPr>
          <a:xfrm>
            <a:off x="4800600" y="1444752"/>
            <a:ext cx="374904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Luyện tập mỗi ngày</a:t>
            </a:r>
            <a:endParaRPr lang="en-US" sz="1400" dirty="0"/>
          </a:p>
          <a:p>
            <a:pPr indent="0" marL="0">
              <a:buNone/>
            </a:pPr>
            <a:r>
              <a:rPr lang="en-US" sz="1000" i="1" dirty="0">
                <a:solidFill>
                  <a:srgbClr val="FFFFFF"/>
                </a:solidFill>
                <a:latin typeface="Alexandria" pitchFamily="34" charset="0"/>
                <a:ea typeface="Alexandria" pitchFamily="34" charset="-122"/>
                <a:cs typeface="Alexandria" pitchFamily="34" charset="-120"/>
              </a:rPr>
              <a:t>Không cần chờ buổi phỏng vấn chính thức</a:t>
            </a:r>
            <a:endParaRPr lang="en-US" sz="1400" dirty="0"/>
          </a:p>
        </p:txBody>
      </p:sp>
      <p:sp>
        <p:nvSpPr>
          <p:cNvPr id="22" name="Text 20"/>
          <p:cNvSpPr/>
          <p:nvPr/>
        </p:nvSpPr>
        <p:spPr>
          <a:xfrm>
            <a:off x="4754880" y="2221992"/>
            <a:ext cx="3822192" cy="2075688"/>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Nghe để hiểu, không phải để đáp lời</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Gật đầu, “Anh nói tiếp đi…”</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Không chen ý kiến, lời khuyên của mình</a:t>
            </a:r>
            <a:endParaRPr lang="en-US" sz="1150" dirty="0"/>
          </a:p>
          <a:p>
            <a:pPr marL="152400" indent="-152400">
              <a:spcAft>
                <a:spcPts val="500"/>
              </a:spcAft>
              <a:buSzPct val="100000"/>
              <a:buChar char="•"/>
            </a:pPr>
            <a:r>
              <a:rPr lang="en-US" sz="1150" dirty="0">
                <a:solidFill>
                  <a:srgbClr val="3A3542"/>
                </a:solidFill>
                <a:latin typeface="Alexandria" pitchFamily="34" charset="0"/>
                <a:ea typeface="Alexandria" pitchFamily="34" charset="-122"/>
                <a:cs typeface="Alexandria" pitchFamily="34" charset="-120"/>
              </a:rPr>
              <a:t>Hỏi tiếp — làm mọi thứ xoay quanh người kia</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9259"/>
          </a:solidFill>
          <a:ln w="12700">
            <a:solidFill>
              <a:srgbClr val="FF9259"/>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4  Tổng hợp &amp; báo cáo</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Phân tích dữ liệu định tính qua ba bước: tập hợp, mã hóa, tổng hợp</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9259"/>
                </a:solidFill>
                <a:latin typeface="Alexandria" pitchFamily="34" charset="0"/>
                <a:ea typeface="Alexandria" pitchFamily="34" charset="-122"/>
                <a:cs typeface="Alexandria" pitchFamily="34" charset="-120"/>
              </a:rPr>
              <a:t>24</a:t>
            </a:r>
            <a:endParaRPr lang="en-US" sz="1000" dirty="0"/>
          </a:p>
        </p:txBody>
      </p:sp>
      <p:sp>
        <p:nvSpPr>
          <p:cNvPr id="13" name="Shape 11"/>
          <p:cNvSpPr/>
          <p:nvPr/>
        </p:nvSpPr>
        <p:spPr>
          <a:xfrm>
            <a:off x="457200" y="1417320"/>
            <a:ext cx="2606040" cy="2286000"/>
          </a:xfrm>
          <a:prstGeom prst="roundRect">
            <a:avLst>
              <a:gd name="adj" fmla="val 3200"/>
            </a:avLst>
          </a:prstGeom>
          <a:solidFill>
            <a:srgbClr val="FFFFFF"/>
          </a:solidFill>
          <a:ln w="12700">
            <a:solidFill>
              <a:srgbClr val="E6E2D6"/>
            </a:solidFill>
            <a:prstDash val="solid"/>
          </a:ln>
        </p:spPr>
      </p:sp>
      <p:sp>
        <p:nvSpPr>
          <p:cNvPr id="14" name="Shape 12"/>
          <p:cNvSpPr/>
          <p:nvPr/>
        </p:nvSpPr>
        <p:spPr>
          <a:xfrm>
            <a:off x="457200" y="1417320"/>
            <a:ext cx="2606040" cy="685800"/>
          </a:xfrm>
          <a:prstGeom prst="roundRect">
            <a:avLst>
              <a:gd name="adj" fmla="val 10667"/>
            </a:avLst>
          </a:prstGeom>
          <a:solidFill>
            <a:srgbClr val="FF9259"/>
          </a:solidFill>
          <a:ln w="12700">
            <a:solidFill>
              <a:srgbClr val="FF9259"/>
            </a:solidFill>
            <a:prstDash val="solid"/>
          </a:ln>
        </p:spPr>
      </p:sp>
      <p:sp>
        <p:nvSpPr>
          <p:cNvPr id="15" name="Shape 13"/>
          <p:cNvSpPr/>
          <p:nvPr/>
        </p:nvSpPr>
        <p:spPr>
          <a:xfrm>
            <a:off x="457200" y="1874520"/>
            <a:ext cx="2606040" cy="228600"/>
          </a:xfrm>
          <a:prstGeom prst="rect">
            <a:avLst/>
          </a:prstGeom>
          <a:solidFill>
            <a:srgbClr val="FF9259"/>
          </a:solidFill>
          <a:ln w="12700">
            <a:solidFill>
              <a:srgbClr val="FF9259"/>
            </a:solidFill>
            <a:prstDash val="solid"/>
          </a:ln>
        </p:spPr>
      </p:sp>
      <p:sp>
        <p:nvSpPr>
          <p:cNvPr id="16" name="Text 14"/>
          <p:cNvSpPr/>
          <p:nvPr/>
        </p:nvSpPr>
        <p:spPr>
          <a:xfrm>
            <a:off x="594360" y="1444752"/>
            <a:ext cx="233172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Bước 1 · Tập hợp</a:t>
            </a:r>
            <a:endParaRPr lang="en-US" sz="1400" dirty="0"/>
          </a:p>
        </p:txBody>
      </p:sp>
      <p:sp>
        <p:nvSpPr>
          <p:cNvPr id="17" name="Text 15"/>
          <p:cNvSpPr/>
          <p:nvPr/>
        </p:nvSpPr>
        <p:spPr>
          <a:xfrm>
            <a:off x="548640" y="2221992"/>
            <a:ext cx="2404872" cy="1389888"/>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Giấy note, Miro, Trello</a:t>
            </a:r>
            <a:endParaRPr lang="en-US" sz="1050" dirty="0"/>
          </a:p>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Google Sheets, Airtable, Excel</a:t>
            </a:r>
            <a:endParaRPr lang="en-US" sz="1050" dirty="0"/>
          </a:p>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Dedoose, NVivo, dScout; Otter.ai để chép lời</a:t>
            </a:r>
            <a:endParaRPr lang="en-US" sz="1050" dirty="0"/>
          </a:p>
        </p:txBody>
      </p:sp>
      <p:sp>
        <p:nvSpPr>
          <p:cNvPr id="18" name="Text 16"/>
          <p:cNvSpPr/>
          <p:nvPr/>
        </p:nvSpPr>
        <p:spPr>
          <a:xfrm>
            <a:off x="3063240" y="2103120"/>
            <a:ext cx="182880" cy="548640"/>
          </a:xfrm>
          <a:prstGeom prst="rect">
            <a:avLst/>
          </a:prstGeom>
          <a:noFill/>
          <a:ln/>
        </p:spPr>
        <p:txBody>
          <a:bodyPr wrap="square" lIns="0" tIns="0" rIns="0" bIns="0" rtlCol="0" anchor="ctr"/>
          <a:lstStyle/>
          <a:p>
            <a:pPr algn="ctr" indent="0" marL="0">
              <a:buNone/>
            </a:pPr>
            <a:r>
              <a:rPr lang="en-US" sz="2600" b="1" dirty="0">
                <a:solidFill>
                  <a:srgbClr val="7A7480"/>
                </a:solidFill>
                <a:latin typeface="Alexandria" pitchFamily="34" charset="0"/>
                <a:ea typeface="Alexandria" pitchFamily="34" charset="-122"/>
                <a:cs typeface="Alexandria" pitchFamily="34" charset="-120"/>
              </a:rPr>
              <a:t>›</a:t>
            </a:r>
            <a:endParaRPr lang="en-US" sz="2600" dirty="0"/>
          </a:p>
        </p:txBody>
      </p:sp>
      <p:sp>
        <p:nvSpPr>
          <p:cNvPr id="19" name="Shape 17"/>
          <p:cNvSpPr/>
          <p:nvPr/>
        </p:nvSpPr>
        <p:spPr>
          <a:xfrm>
            <a:off x="3246120" y="1417320"/>
            <a:ext cx="2606040" cy="2286000"/>
          </a:xfrm>
          <a:prstGeom prst="roundRect">
            <a:avLst>
              <a:gd name="adj" fmla="val 3200"/>
            </a:avLst>
          </a:prstGeom>
          <a:solidFill>
            <a:srgbClr val="FFFFFF"/>
          </a:solidFill>
          <a:ln w="12700">
            <a:solidFill>
              <a:srgbClr val="E6E2D6"/>
            </a:solidFill>
            <a:prstDash val="solid"/>
          </a:ln>
        </p:spPr>
      </p:sp>
      <p:sp>
        <p:nvSpPr>
          <p:cNvPr id="20" name="Shape 18"/>
          <p:cNvSpPr/>
          <p:nvPr/>
        </p:nvSpPr>
        <p:spPr>
          <a:xfrm>
            <a:off x="3246120" y="1417320"/>
            <a:ext cx="2606040" cy="685800"/>
          </a:xfrm>
          <a:prstGeom prst="roundRect">
            <a:avLst>
              <a:gd name="adj" fmla="val 10667"/>
            </a:avLst>
          </a:prstGeom>
          <a:solidFill>
            <a:srgbClr val="962B7C"/>
          </a:solidFill>
          <a:ln w="12700">
            <a:solidFill>
              <a:srgbClr val="962B7C"/>
            </a:solidFill>
            <a:prstDash val="solid"/>
          </a:ln>
        </p:spPr>
      </p:sp>
      <p:sp>
        <p:nvSpPr>
          <p:cNvPr id="21" name="Shape 19"/>
          <p:cNvSpPr/>
          <p:nvPr/>
        </p:nvSpPr>
        <p:spPr>
          <a:xfrm>
            <a:off x="3246120" y="1874520"/>
            <a:ext cx="2606040" cy="228600"/>
          </a:xfrm>
          <a:prstGeom prst="rect">
            <a:avLst/>
          </a:prstGeom>
          <a:solidFill>
            <a:srgbClr val="962B7C"/>
          </a:solidFill>
          <a:ln w="12700">
            <a:solidFill>
              <a:srgbClr val="962B7C"/>
            </a:solidFill>
            <a:prstDash val="solid"/>
          </a:ln>
        </p:spPr>
      </p:sp>
      <p:sp>
        <p:nvSpPr>
          <p:cNvPr id="22" name="Text 20"/>
          <p:cNvSpPr/>
          <p:nvPr/>
        </p:nvSpPr>
        <p:spPr>
          <a:xfrm>
            <a:off x="3383280" y="1444752"/>
            <a:ext cx="233172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Bước 2 · Mã hóa</a:t>
            </a:r>
            <a:endParaRPr lang="en-US" sz="1400" dirty="0"/>
          </a:p>
        </p:txBody>
      </p:sp>
      <p:sp>
        <p:nvSpPr>
          <p:cNvPr id="23" name="Text 21"/>
          <p:cNvSpPr/>
          <p:nvPr/>
        </p:nvSpPr>
        <p:spPr>
          <a:xfrm>
            <a:off x="3337560" y="2221992"/>
            <a:ext cx="2404872" cy="1389888"/>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Gắn nhãn cho từng đoạn dữ liệu theo khung mã</a:t>
            </a:r>
            <a:endParaRPr lang="en-US" sz="1050" dirty="0"/>
          </a:p>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Nhiều vòng: nhãn rộng → nhóm con chi tiết</a:t>
            </a:r>
            <a:endParaRPr lang="en-US" sz="1050" dirty="0"/>
          </a:p>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Nhiều người cùng mã hóa; dùng sổ mã (code book)</a:t>
            </a:r>
            <a:endParaRPr lang="en-US" sz="1050" dirty="0"/>
          </a:p>
        </p:txBody>
      </p:sp>
      <p:sp>
        <p:nvSpPr>
          <p:cNvPr id="24" name="Text 22"/>
          <p:cNvSpPr/>
          <p:nvPr/>
        </p:nvSpPr>
        <p:spPr>
          <a:xfrm>
            <a:off x="5852160" y="2103120"/>
            <a:ext cx="182880" cy="548640"/>
          </a:xfrm>
          <a:prstGeom prst="rect">
            <a:avLst/>
          </a:prstGeom>
          <a:noFill/>
          <a:ln/>
        </p:spPr>
        <p:txBody>
          <a:bodyPr wrap="square" lIns="0" tIns="0" rIns="0" bIns="0" rtlCol="0" anchor="ctr"/>
          <a:lstStyle/>
          <a:p>
            <a:pPr algn="ctr" indent="0" marL="0">
              <a:buNone/>
            </a:pPr>
            <a:r>
              <a:rPr lang="en-US" sz="2600" b="1" dirty="0">
                <a:solidFill>
                  <a:srgbClr val="7A7480"/>
                </a:solidFill>
                <a:latin typeface="Alexandria" pitchFamily="34" charset="0"/>
                <a:ea typeface="Alexandria" pitchFamily="34" charset="-122"/>
                <a:cs typeface="Alexandria" pitchFamily="34" charset="-120"/>
              </a:rPr>
              <a:t>›</a:t>
            </a:r>
            <a:endParaRPr lang="en-US" sz="2600" dirty="0"/>
          </a:p>
        </p:txBody>
      </p:sp>
      <p:sp>
        <p:nvSpPr>
          <p:cNvPr id="25" name="Shape 23"/>
          <p:cNvSpPr/>
          <p:nvPr/>
        </p:nvSpPr>
        <p:spPr>
          <a:xfrm>
            <a:off x="6035040" y="1417320"/>
            <a:ext cx="2606040" cy="2286000"/>
          </a:xfrm>
          <a:prstGeom prst="roundRect">
            <a:avLst>
              <a:gd name="adj" fmla="val 3200"/>
            </a:avLst>
          </a:prstGeom>
          <a:solidFill>
            <a:srgbClr val="FFFFFF"/>
          </a:solidFill>
          <a:ln w="12700">
            <a:solidFill>
              <a:srgbClr val="E6E2D6"/>
            </a:solidFill>
            <a:prstDash val="solid"/>
          </a:ln>
        </p:spPr>
      </p:sp>
      <p:sp>
        <p:nvSpPr>
          <p:cNvPr id="26" name="Shape 24"/>
          <p:cNvSpPr/>
          <p:nvPr/>
        </p:nvSpPr>
        <p:spPr>
          <a:xfrm>
            <a:off x="6035040" y="1417320"/>
            <a:ext cx="2606040" cy="685800"/>
          </a:xfrm>
          <a:prstGeom prst="roundRect">
            <a:avLst>
              <a:gd name="adj" fmla="val 10667"/>
            </a:avLst>
          </a:prstGeom>
          <a:solidFill>
            <a:srgbClr val="49B296"/>
          </a:solidFill>
          <a:ln w="12700">
            <a:solidFill>
              <a:srgbClr val="49B296"/>
            </a:solidFill>
            <a:prstDash val="solid"/>
          </a:ln>
        </p:spPr>
      </p:sp>
      <p:sp>
        <p:nvSpPr>
          <p:cNvPr id="27" name="Shape 25"/>
          <p:cNvSpPr/>
          <p:nvPr/>
        </p:nvSpPr>
        <p:spPr>
          <a:xfrm>
            <a:off x="6035040" y="1874520"/>
            <a:ext cx="2606040" cy="228600"/>
          </a:xfrm>
          <a:prstGeom prst="rect">
            <a:avLst/>
          </a:prstGeom>
          <a:solidFill>
            <a:srgbClr val="49B296"/>
          </a:solidFill>
          <a:ln w="12700">
            <a:solidFill>
              <a:srgbClr val="49B296"/>
            </a:solidFill>
            <a:prstDash val="solid"/>
          </a:ln>
        </p:spPr>
      </p:sp>
      <p:sp>
        <p:nvSpPr>
          <p:cNvPr id="28" name="Text 26"/>
          <p:cNvSpPr/>
          <p:nvPr/>
        </p:nvSpPr>
        <p:spPr>
          <a:xfrm>
            <a:off x="6172200" y="1444752"/>
            <a:ext cx="2331720" cy="640080"/>
          </a:xfrm>
          <a:prstGeom prst="rect">
            <a:avLst/>
          </a:prstGeom>
          <a:noFill/>
          <a:ln/>
        </p:spPr>
        <p:txBody>
          <a:bodyPr wrap="square" lIns="0" tIns="0" rIns="0" bIns="0" rtlCol="0" anchor="ctr"/>
          <a:lstStyle/>
          <a:p>
            <a:pPr indent="0" marL="0">
              <a:buNone/>
            </a:pPr>
            <a:r>
              <a:rPr lang="en-US" sz="1400" b="1" dirty="0">
                <a:solidFill>
                  <a:srgbClr val="FFFFFF"/>
                </a:solidFill>
                <a:latin typeface="Alexandria" pitchFamily="34" charset="0"/>
                <a:ea typeface="Alexandria" pitchFamily="34" charset="-122"/>
                <a:cs typeface="Alexandria" pitchFamily="34" charset="-120"/>
              </a:rPr>
              <a:t>Bước 3 · Tổng hợp</a:t>
            </a:r>
            <a:endParaRPr lang="en-US" sz="1400" dirty="0"/>
          </a:p>
        </p:txBody>
      </p:sp>
      <p:sp>
        <p:nvSpPr>
          <p:cNvPr id="29" name="Text 27"/>
          <p:cNvSpPr/>
          <p:nvPr/>
        </p:nvSpPr>
        <p:spPr>
          <a:xfrm>
            <a:off x="6126480" y="2221992"/>
            <a:ext cx="2404872" cy="1389888"/>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Nhóm các mã, tìm kết nối và tần suất</a:t>
            </a:r>
            <a:endParaRPr lang="en-US" sz="1050" dirty="0"/>
          </a:p>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Liên tục đối chiếu câu hỏi nghiên cứu</a:t>
            </a:r>
            <a:endParaRPr lang="en-US" sz="1050" dirty="0"/>
          </a:p>
          <a:p>
            <a:pPr marL="152400" indent="-152400">
              <a:spcAft>
                <a:spcPts val="500"/>
              </a:spcAft>
              <a:buSzPct val="100000"/>
              <a:buChar char="•"/>
            </a:pPr>
            <a:r>
              <a:rPr lang="en-US" sz="1050" dirty="0">
                <a:solidFill>
                  <a:srgbClr val="3A3542"/>
                </a:solidFill>
                <a:latin typeface="Alexandria" pitchFamily="34" charset="0"/>
                <a:ea typeface="Alexandria" pitchFamily="34" charset="-122"/>
                <a:cs typeface="Alexandria" pitchFamily="34" charset="-120"/>
              </a:rPr>
              <a:t>Đừng bỏ qua insight bất ngờ</a:t>
            </a:r>
            <a:endParaRPr lang="en-US" sz="1050" dirty="0"/>
          </a:p>
        </p:txBody>
      </p:sp>
      <p:sp>
        <p:nvSpPr>
          <p:cNvPr id="30" name="Shape 28"/>
          <p:cNvSpPr/>
          <p:nvPr/>
        </p:nvSpPr>
        <p:spPr>
          <a:xfrm>
            <a:off x="457200" y="3840480"/>
            <a:ext cx="4023360" cy="594360"/>
          </a:xfrm>
          <a:prstGeom prst="roundRect">
            <a:avLst>
              <a:gd name="adj" fmla="val 12308"/>
            </a:avLst>
          </a:prstGeom>
          <a:solidFill>
            <a:srgbClr val="FFFFFF"/>
          </a:solidFill>
          <a:ln w="12700">
            <a:solidFill>
              <a:srgbClr val="E6E2D6"/>
            </a:solidFill>
            <a:prstDash val="solid"/>
          </a:ln>
        </p:spPr>
      </p:sp>
      <p:sp>
        <p:nvSpPr>
          <p:cNvPr id="31" name="Shape 29"/>
          <p:cNvSpPr/>
          <p:nvPr/>
        </p:nvSpPr>
        <p:spPr>
          <a:xfrm>
            <a:off x="457200" y="3950208"/>
            <a:ext cx="64008" cy="374904"/>
          </a:xfrm>
          <a:prstGeom prst="rect">
            <a:avLst/>
          </a:prstGeom>
          <a:solidFill>
            <a:srgbClr val="09A1E5"/>
          </a:solidFill>
          <a:ln w="12700">
            <a:solidFill>
              <a:srgbClr val="09A1E5"/>
            </a:solidFill>
            <a:prstDash val="solid"/>
          </a:ln>
        </p:spPr>
      </p:sp>
      <p:sp>
        <p:nvSpPr>
          <p:cNvPr id="32" name="Text 30"/>
          <p:cNvSpPr/>
          <p:nvPr/>
        </p:nvSpPr>
        <p:spPr>
          <a:xfrm>
            <a:off x="658368" y="3931920"/>
            <a:ext cx="3730752"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Mã hóa diễn dịch</a:t>
            </a:r>
            <a:endParaRPr lang="en-US" sz="1300" dirty="0"/>
          </a:p>
        </p:txBody>
      </p:sp>
      <p:sp>
        <p:nvSpPr>
          <p:cNvPr id="33" name="Text 31"/>
          <p:cNvSpPr/>
          <p:nvPr/>
        </p:nvSpPr>
        <p:spPr>
          <a:xfrm>
            <a:off x="658368" y="4224528"/>
            <a:ext cx="3730752" cy="137160"/>
          </a:xfrm>
          <a:prstGeom prst="rect">
            <a:avLst/>
          </a:prstGeom>
          <a:noFill/>
          <a:ln/>
        </p:spPr>
        <p:txBody>
          <a:bodyPr wrap="square" lIns="0" tIns="0" rIns="0" bIns="0" rtlCol="0" anchor="t"/>
          <a:lstStyle/>
          <a:p>
            <a:pPr algn="l" indent="0" marL="0">
              <a:buNone/>
            </a:pPr>
            <a:endParaRPr lang="en-US" sz="100" dirty="0"/>
          </a:p>
        </p:txBody>
      </p:sp>
      <p:sp>
        <p:nvSpPr>
          <p:cNvPr id="34" name="Text 32"/>
          <p:cNvSpPr/>
          <p:nvPr/>
        </p:nvSpPr>
        <p:spPr>
          <a:xfrm>
            <a:off x="2286000" y="3840480"/>
            <a:ext cx="2103120" cy="594360"/>
          </a:xfrm>
          <a:prstGeom prst="rect">
            <a:avLst/>
          </a:prstGeom>
          <a:noFill/>
          <a:ln/>
        </p:spPr>
        <p:txBody>
          <a:bodyPr wrap="square" lIns="0" tIns="0" rIns="0" bIns="0" rtlCol="0" anchor="ctr"/>
          <a:lstStyle/>
          <a:p>
            <a:pPr algn="l" indent="0" marL="0">
              <a:buNone/>
            </a:pPr>
            <a:r>
              <a:rPr lang="en-US" sz="1000" dirty="0">
                <a:solidFill>
                  <a:srgbClr val="3A3542"/>
                </a:solidFill>
                <a:latin typeface="Alexandria" pitchFamily="34" charset="0"/>
                <a:ea typeface="Alexandria" pitchFamily="34" charset="-122"/>
                <a:cs typeface="Alexandria" pitchFamily="34" charset="-120"/>
              </a:rPr>
              <a:t>Mã định sẵn theo câu hỏi nghiên cứu</a:t>
            </a:r>
            <a:endParaRPr lang="en-US" sz="1000" dirty="0"/>
          </a:p>
        </p:txBody>
      </p:sp>
      <p:sp>
        <p:nvSpPr>
          <p:cNvPr id="35" name="Shape 33"/>
          <p:cNvSpPr/>
          <p:nvPr/>
        </p:nvSpPr>
        <p:spPr>
          <a:xfrm>
            <a:off x="4663440" y="3840480"/>
            <a:ext cx="4023360" cy="594360"/>
          </a:xfrm>
          <a:prstGeom prst="roundRect">
            <a:avLst>
              <a:gd name="adj" fmla="val 12308"/>
            </a:avLst>
          </a:prstGeom>
          <a:solidFill>
            <a:srgbClr val="FFFFFF"/>
          </a:solidFill>
          <a:ln w="12700">
            <a:solidFill>
              <a:srgbClr val="E6E2D6"/>
            </a:solidFill>
            <a:prstDash val="solid"/>
          </a:ln>
        </p:spPr>
      </p:sp>
      <p:sp>
        <p:nvSpPr>
          <p:cNvPr id="36" name="Shape 34"/>
          <p:cNvSpPr/>
          <p:nvPr/>
        </p:nvSpPr>
        <p:spPr>
          <a:xfrm>
            <a:off x="4663440" y="3950208"/>
            <a:ext cx="64008" cy="374904"/>
          </a:xfrm>
          <a:prstGeom prst="rect">
            <a:avLst/>
          </a:prstGeom>
          <a:solidFill>
            <a:srgbClr val="FF5178"/>
          </a:solidFill>
          <a:ln w="12700">
            <a:solidFill>
              <a:srgbClr val="FF5178"/>
            </a:solidFill>
            <a:prstDash val="solid"/>
          </a:ln>
        </p:spPr>
      </p:sp>
      <p:sp>
        <p:nvSpPr>
          <p:cNvPr id="37" name="Text 35"/>
          <p:cNvSpPr/>
          <p:nvPr/>
        </p:nvSpPr>
        <p:spPr>
          <a:xfrm>
            <a:off x="4864608" y="3931920"/>
            <a:ext cx="3730752"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Mã hóa quy nạp</a:t>
            </a:r>
            <a:endParaRPr lang="en-US" sz="1300" dirty="0"/>
          </a:p>
        </p:txBody>
      </p:sp>
      <p:sp>
        <p:nvSpPr>
          <p:cNvPr id="38" name="Text 36"/>
          <p:cNvSpPr/>
          <p:nvPr/>
        </p:nvSpPr>
        <p:spPr>
          <a:xfrm>
            <a:off x="4864608" y="4224528"/>
            <a:ext cx="3730752" cy="137160"/>
          </a:xfrm>
          <a:prstGeom prst="rect">
            <a:avLst/>
          </a:prstGeom>
          <a:noFill/>
          <a:ln/>
        </p:spPr>
        <p:txBody>
          <a:bodyPr wrap="square" lIns="0" tIns="0" rIns="0" bIns="0" rtlCol="0" anchor="t"/>
          <a:lstStyle/>
          <a:p>
            <a:pPr algn="l" indent="0" marL="0">
              <a:buNone/>
            </a:pPr>
            <a:endParaRPr lang="en-US" sz="100" dirty="0"/>
          </a:p>
        </p:txBody>
      </p:sp>
      <p:sp>
        <p:nvSpPr>
          <p:cNvPr id="39" name="Text 37"/>
          <p:cNvSpPr/>
          <p:nvPr/>
        </p:nvSpPr>
        <p:spPr>
          <a:xfrm>
            <a:off x="6400800" y="3840480"/>
            <a:ext cx="2194560" cy="594360"/>
          </a:xfrm>
          <a:prstGeom prst="rect">
            <a:avLst/>
          </a:prstGeom>
          <a:noFill/>
          <a:ln/>
        </p:spPr>
        <p:txBody>
          <a:bodyPr wrap="square" lIns="0" tIns="0" rIns="0" bIns="0" rtlCol="0" anchor="ctr"/>
          <a:lstStyle/>
          <a:p>
            <a:pPr algn="l" indent="0" marL="0">
              <a:buNone/>
            </a:pPr>
            <a:r>
              <a:rPr lang="en-US" sz="1000" dirty="0">
                <a:solidFill>
                  <a:srgbClr val="3A3542"/>
                </a:solidFill>
                <a:latin typeface="Alexandria" pitchFamily="34" charset="0"/>
                <a:ea typeface="Alexandria" pitchFamily="34" charset="-122"/>
                <a:cs typeface="Alexandria" pitchFamily="34" charset="-120"/>
              </a:rPr>
              <a:t>Chủ đề tự nổi lên từ dữ liệu</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9259"/>
          </a:solidFill>
          <a:ln w="12700">
            <a:solidFill>
              <a:srgbClr val="FF9259"/>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4  Tổng hợp &amp; báo cáo</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AI tăng tốc khâu xử lý, nhưng con người vẫn dẫn dắt khâu diễn giải</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9259"/>
                </a:solidFill>
                <a:latin typeface="Alexandria" pitchFamily="34" charset="0"/>
                <a:ea typeface="Alexandria" pitchFamily="34" charset="-122"/>
                <a:cs typeface="Alexandria"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77440"/>
                <a:gridCol w="2194560"/>
                <a:gridCol w="3657600"/>
              </a:tblGrid>
              <a:tr h="329184">
                <a:tc>
                  <a:txBody>
                    <a:bodyP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Tác vụ</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2B2633"/>
                    </a:solidFill>
                  </a:tcPr>
                </a:tc>
                <a:tc>
                  <a:txBody>
                    <a:bodyP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Đánh giá</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9259"/>
                    </a:solidFill>
                  </a:tcPr>
                </a:tc>
                <a:tc>
                  <a:txBody>
                    <a:bodyP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Vì sao</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9259"/>
                    </a:solidFill>
                  </a:tcPr>
                </a:tc>
              </a:tr>
              <a:tr h="402336">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Chép lời ghi âm</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b="1" dirty="0">
                          <a:solidFill>
                            <a:srgbClr val="49B296"/>
                          </a:solidFill>
                          <a:latin typeface="Alexandria" pitchFamily="34" charset="0"/>
                          <a:ea typeface="Alexandria" pitchFamily="34" charset="-122"/>
                          <a:cs typeface="Alexandria" pitchFamily="34" charset="-120"/>
                        </a:rPr>
                        <a:t>✓ Rất tốt</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Otter.ai, Rev: nhanh và khá chính xác</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Nhận diện mẫu lặp lại</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b="1" dirty="0">
                          <a:solidFill>
                            <a:srgbClr val="FF9259"/>
                          </a:solidFill>
                          <a:latin typeface="Alexandria" pitchFamily="34" charset="0"/>
                          <a:ea typeface="Alexandria" pitchFamily="34" charset="-122"/>
                          <a:cs typeface="Alexandria" pitchFamily="34" charset="-120"/>
                        </a:rPr>
                        <a:t>~ Hữu ích với dữ liệu lớn</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Dựa trên từ khóa, tần suất; thừa với dữ liệu nhỏ</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Phân tích cảm xúc (sentiment)</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b="1" dirty="0">
                          <a:solidFill>
                            <a:srgbClr val="FF5178"/>
                          </a:solidFill>
                          <a:latin typeface="Alexandria" pitchFamily="34" charset="0"/>
                          <a:ea typeface="Alexandria" pitchFamily="34" charset="-122"/>
                          <a:cs typeface="Alexandria" pitchFamily="34" charset="-120"/>
                        </a:rPr>
                        <a:t>✗ Nên bỏ qua</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Đơn giản hóa cảm xúc lẫn lộn; hiểu sai mỉa mai</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Tự động mã hóa</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b="1" dirty="0">
                          <a:solidFill>
                            <a:srgbClr val="FF5178"/>
                          </a:solidFill>
                          <a:latin typeface="Alexandria" pitchFamily="34" charset="0"/>
                          <a:ea typeface="Alexandria" pitchFamily="34" charset="-122"/>
                          <a:cs typeface="Alexandria" pitchFamily="34" charset="-120"/>
                        </a:rPr>
                        <a:t>✗ Chưa đạt</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Bắt được điều hiển nhiên, bỏ lỡ sắc thái, thay đổi cảm xúc</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2B2633"/>
                          </a:solidFill>
                          <a:latin typeface="Alexandria" pitchFamily="34" charset="0"/>
                          <a:ea typeface="Alexandria" pitchFamily="34" charset="-122"/>
                          <a:cs typeface="Alexandria" pitchFamily="34" charset="-120"/>
                        </a:rPr>
                        <a:t>Khuyến nghị chiến lược</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1EEE3"/>
                    </a:solidFill>
                  </a:tcPr>
                </a:tc>
                <a:tc>
                  <a:txBody>
                    <a:bodyPr/>
                    <a:lstStyle/>
                    <a:p>
                      <a:pPr indent="0" marL="0">
                        <a:buNone/>
                      </a:pPr>
                      <a:r>
                        <a:rPr lang="en-US" sz="1100" b="1" dirty="0">
                          <a:solidFill>
                            <a:srgbClr val="FF5178"/>
                          </a:solidFill>
                          <a:latin typeface="Alexandria" pitchFamily="34" charset="0"/>
                          <a:ea typeface="Alexandria" pitchFamily="34" charset="-122"/>
                          <a:cs typeface="Alexandria" pitchFamily="34" charset="-120"/>
                        </a:rPr>
                        <a:t>✗ Hạn chế nhất</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c>
                  <a:txBody>
                    <a:bodyPr/>
                    <a:lstStyle/>
                    <a:p>
                      <a:pPr indent="0" marL="0">
                        <a:buNone/>
                      </a:pPr>
                      <a:r>
                        <a:rPr lang="en-US" sz="1100" dirty="0">
                          <a:solidFill>
                            <a:srgbClr val="3A3542"/>
                          </a:solidFill>
                          <a:latin typeface="Alexandria" pitchFamily="34" charset="0"/>
                          <a:ea typeface="Alexandria" pitchFamily="34" charset="-122"/>
                          <a:cs typeface="Alexandria" pitchFamily="34" charset="-120"/>
                        </a:rPr>
                        <a:t>Không hiểu persona, động lực cảm xúc, mục tiêu kinh doanh</a:t>
                      </a:r>
                      <a:endParaRPr lang="en-US" sz="1100" dirty="0">
                        <a:latin typeface="Alexandria" charset="0"/>
                        <a:ea typeface="Alexandria" charset="0"/>
                        <a:cs typeface="Alexandria" charset="0"/>
                      </a:endParaRPr>
                    </a:p>
                  </a:txBody>
                  <a:tcPr marL="64008" marR="64008" marT="64008" marB="64008" anchor="ctr">
                    <a:lnL w="12700" cap="flat" cmpd="sng" algn="ctr">
                      <a:solidFill>
                        <a:srgbClr val="E6E2D6"/>
                      </a:solidFill>
                      <a:prstDash val="solid"/>
                      <a:round/>
                      <a:headEnd type="none" w="med" len="med"/>
                      <a:tailEnd type="none" w="med" len="med"/>
                    </a:lnL>
                    <a:lnR w="12700" cap="flat" cmpd="sng" algn="ctr">
                      <a:solidFill>
                        <a:srgbClr val="E6E2D6"/>
                      </a:solidFill>
                      <a:prstDash val="solid"/>
                      <a:round/>
                      <a:headEnd type="none" w="med" len="med"/>
                      <a:tailEnd type="none" w="med" len="med"/>
                    </a:lnR>
                    <a:lnT w="12700" cap="flat" cmpd="sng" algn="ctr">
                      <a:solidFill>
                        <a:srgbClr val="E6E2D6"/>
                      </a:solidFill>
                      <a:prstDash val="solid"/>
                      <a:round/>
                      <a:headEnd type="none" w="med" len="med"/>
                      <a:tailEnd type="none" w="med" len="med"/>
                    </a:lnT>
                    <a:lnB w="12700" cap="flat" cmpd="sng" algn="ctr">
                      <a:solidFill>
                        <a:srgbClr val="E6E2D6"/>
                      </a:solidFill>
                      <a:prstDash val="solid"/>
                      <a:round/>
                      <a:headEnd type="none" w="med" len="med"/>
                      <a:tailEnd type="none" w="med" len="med"/>
                    </a:lnB>
                    <a:solidFill>
                      <a:srgbClr val="FFFFFF"/>
                    </a:solidFill>
                  </a:tcPr>
                </a:tc>
              </a:tr>
            </a:tbl>
          </a:graphicData>
        </a:graphic>
      </p:graphicFrame>
      <p:sp>
        <p:nvSpPr>
          <p:cNvPr id="14" name="Shape 11"/>
          <p:cNvSpPr/>
          <p:nvPr/>
        </p:nvSpPr>
        <p:spPr>
          <a:xfrm>
            <a:off x="457200" y="4114800"/>
            <a:ext cx="8229600" cy="384048"/>
          </a:xfrm>
          <a:prstGeom prst="roundRect">
            <a:avLst>
              <a:gd name="adj" fmla="val 19048"/>
            </a:avLst>
          </a:prstGeom>
          <a:solidFill>
            <a:srgbClr val="962B7C"/>
          </a:solidFill>
          <a:ln w="12700">
            <a:solidFill>
              <a:srgbClr val="962B7C"/>
            </a:solidFill>
            <a:prstDash val="solid"/>
          </a:ln>
        </p:spPr>
      </p:sp>
      <p:sp>
        <p:nvSpPr>
          <p:cNvPr id="15" name="Text 12"/>
          <p:cNvSpPr/>
          <p:nvPr/>
        </p:nvSpPr>
        <p:spPr>
          <a:xfrm>
            <a:off x="640080" y="4114800"/>
            <a:ext cx="7863840" cy="384048"/>
          </a:xfrm>
          <a:prstGeom prst="rect">
            <a:avLst/>
          </a:prstGeom>
          <a:noFill/>
          <a:ln/>
        </p:spPr>
        <p:txBody>
          <a:bodyPr wrap="square" lIns="0" tIns="0" rIns="0" bIns="0" rtlCol="0" anchor="ctr"/>
          <a:lstStyle/>
          <a:p>
            <a:pPr indent="0" marL="0">
              <a:buNone/>
            </a:pPr>
            <a:r>
              <a:rPr lang="en-US" sz="1050" b="1" dirty="0">
                <a:solidFill>
                  <a:srgbClr val="FFD23B"/>
                </a:solidFill>
                <a:latin typeface="Alexandria" pitchFamily="34" charset="0"/>
                <a:ea typeface="Alexandria" pitchFamily="34" charset="-122"/>
                <a:cs typeface="Alexandria" pitchFamily="34" charset="-120"/>
              </a:rPr>
              <a:t>Lưu ý thêm: </a:t>
            </a:r>
            <a:pPr indent="0" marL="0">
              <a:buNone/>
            </a:pPr>
            <a:r>
              <a:rPr lang="en-US" sz="1050" dirty="0">
                <a:solidFill>
                  <a:srgbClr val="FFFFFF"/>
                </a:solidFill>
                <a:latin typeface="Alexandria" pitchFamily="34" charset="0"/>
                <a:ea typeface="Alexandria" pitchFamily="34" charset="-122"/>
                <a:cs typeface="Alexandria" pitchFamily="34" charset="-120"/>
              </a:rPr>
              <a:t>AI có thể mang thiên kiến từ dữ liệu huấn luyện; dữ liệu nhạy cảm cần tuân thủ quy định riêng tư như GDPR.</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9259"/>
          </a:solidFill>
          <a:ln w="12700">
            <a:solidFill>
              <a:srgbClr val="FF9259"/>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4  Tổng hợp &amp; báo cáo</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Chọn cấu trúc báo cáo theo mục tiêu dự án và nhu cầu người nghe</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9259"/>
                </a:solidFill>
                <a:latin typeface="Alexandria" pitchFamily="34" charset="0"/>
                <a:ea typeface="Alexandria" pitchFamily="34" charset="-122"/>
                <a:cs typeface="Alexandria" pitchFamily="34" charset="-120"/>
              </a:rPr>
              <a:t>26</a:t>
            </a:r>
            <a:endParaRPr lang="en-US" sz="1000" dirty="0"/>
          </a:p>
        </p:txBody>
      </p:sp>
      <p:sp>
        <p:nvSpPr>
          <p:cNvPr id="13" name="Shape 11"/>
          <p:cNvSpPr/>
          <p:nvPr/>
        </p:nvSpPr>
        <p:spPr>
          <a:xfrm>
            <a:off x="457200" y="1417320"/>
            <a:ext cx="1517904" cy="3017520"/>
          </a:xfrm>
          <a:prstGeom prst="roundRect">
            <a:avLst>
              <a:gd name="adj" fmla="val 4819"/>
            </a:avLst>
          </a:prstGeom>
          <a:solidFill>
            <a:srgbClr val="FFFFFF"/>
          </a:solidFill>
          <a:ln w="12700">
            <a:solidFill>
              <a:srgbClr val="E6E2D6"/>
            </a:solidFill>
            <a:prstDash val="solid"/>
          </a:ln>
        </p:spPr>
      </p:sp>
      <p:sp>
        <p:nvSpPr>
          <p:cNvPr id="14" name="Shape 12"/>
          <p:cNvSpPr/>
          <p:nvPr/>
        </p:nvSpPr>
        <p:spPr>
          <a:xfrm>
            <a:off x="457200" y="1417320"/>
            <a:ext cx="1517904" cy="594360"/>
          </a:xfrm>
          <a:prstGeom prst="roundRect">
            <a:avLst>
              <a:gd name="adj" fmla="val 12308"/>
            </a:avLst>
          </a:prstGeom>
          <a:solidFill>
            <a:srgbClr val="FF5178"/>
          </a:solidFill>
          <a:ln w="12700">
            <a:solidFill>
              <a:srgbClr val="FF5178"/>
            </a:solidFill>
            <a:prstDash val="solid"/>
          </a:ln>
        </p:spPr>
      </p:sp>
      <p:sp>
        <p:nvSpPr>
          <p:cNvPr id="15" name="Text 13"/>
          <p:cNvSpPr/>
          <p:nvPr/>
        </p:nvSpPr>
        <p:spPr>
          <a:xfrm>
            <a:off x="548640" y="1417320"/>
            <a:ext cx="1335024"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Theo chủ đề</a:t>
            </a:r>
            <a:endParaRPr lang="en-US" sz="1200" dirty="0"/>
          </a:p>
        </p:txBody>
      </p:sp>
      <p:sp>
        <p:nvSpPr>
          <p:cNvPr id="16" name="Text 14"/>
          <p:cNvSpPr/>
          <p:nvPr/>
        </p:nvSpPr>
        <p:spPr>
          <a:xfrm>
            <a:off x="566928" y="2121408"/>
            <a:ext cx="1298448" cy="123444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Nhóm insight theo chủ đề, ví dụ điểm đau, tính năng mong muốn; thêm case study</a:t>
            </a:r>
            <a:endParaRPr lang="en-US" sz="1000" dirty="0"/>
          </a:p>
        </p:txBody>
      </p:sp>
      <p:sp>
        <p:nvSpPr>
          <p:cNvPr id="17" name="Shape 15"/>
          <p:cNvSpPr/>
          <p:nvPr/>
        </p:nvSpPr>
        <p:spPr>
          <a:xfrm>
            <a:off x="566928" y="3401568"/>
            <a:ext cx="1298448" cy="0"/>
          </a:xfrm>
          <a:prstGeom prst="line">
            <a:avLst/>
          </a:prstGeom>
          <a:noFill/>
          <a:ln w="12700">
            <a:solidFill>
              <a:srgbClr val="E6E2D6"/>
            </a:solidFill>
            <a:prstDash val="solid"/>
          </a:ln>
        </p:spPr>
      </p:sp>
      <p:sp>
        <p:nvSpPr>
          <p:cNvPr id="18" name="Text 16"/>
          <p:cNvSpPr/>
          <p:nvPr/>
        </p:nvSpPr>
        <p:spPr>
          <a:xfrm>
            <a:off x="566928" y="3474720"/>
            <a:ext cx="1298448" cy="201168"/>
          </a:xfrm>
          <a:prstGeom prst="rect">
            <a:avLst/>
          </a:prstGeom>
          <a:noFill/>
          <a:ln/>
        </p:spPr>
        <p:txBody>
          <a:bodyPr wrap="square" lIns="0" tIns="0" rIns="0" bIns="0" rtlCol="0" anchor="t"/>
          <a:lstStyle/>
          <a:p>
            <a:pPr algn="l" indent="0" marL="0">
              <a:buNone/>
            </a:pPr>
            <a:r>
              <a:rPr lang="en-US" sz="850" b="1" dirty="0">
                <a:solidFill>
                  <a:srgbClr val="7A7480"/>
                </a:solidFill>
                <a:latin typeface="Alexandria" pitchFamily="34" charset="0"/>
                <a:ea typeface="Alexandria" pitchFamily="34" charset="-122"/>
                <a:cs typeface="Alexandria" pitchFamily="34" charset="-120"/>
              </a:rPr>
              <a:t>Dùng khi</a:t>
            </a:r>
            <a:endParaRPr lang="en-US" sz="850" dirty="0"/>
          </a:p>
        </p:txBody>
      </p:sp>
      <p:sp>
        <p:nvSpPr>
          <p:cNvPr id="19" name="Text 17"/>
          <p:cNvSpPr/>
          <p:nvPr/>
        </p:nvSpPr>
        <p:spPr>
          <a:xfrm>
            <a:off x="566928" y="3675888"/>
            <a:ext cx="1298448" cy="713232"/>
          </a:xfrm>
          <a:prstGeom prst="rect">
            <a:avLst/>
          </a:prstGeom>
          <a:noFill/>
          <a:ln/>
        </p:spPr>
        <p:txBody>
          <a:bodyPr wrap="square" lIns="0" tIns="0" rIns="0" bIns="0" rtlCol="0" anchor="t"/>
          <a:lstStyle/>
          <a:p>
            <a:pPr algn="l" indent="0" marL="0">
              <a:buNone/>
            </a:pPr>
            <a:r>
              <a:rPr lang="en-US" sz="950" dirty="0">
                <a:solidFill>
                  <a:srgbClr val="2B2633"/>
                </a:solidFill>
                <a:latin typeface="Alexandria" pitchFamily="34" charset="0"/>
                <a:ea typeface="Alexandria" pitchFamily="34" charset="-122"/>
                <a:cs typeface="Alexandria" pitchFamily="34" charset="-120"/>
              </a:rPr>
              <a:t>Cần linh hoạt, mỗi bên xem phần của mình</a:t>
            </a:r>
            <a:endParaRPr lang="en-US" sz="950" dirty="0"/>
          </a:p>
        </p:txBody>
      </p:sp>
      <p:sp>
        <p:nvSpPr>
          <p:cNvPr id="20" name="Shape 18"/>
          <p:cNvSpPr/>
          <p:nvPr/>
        </p:nvSpPr>
        <p:spPr>
          <a:xfrm>
            <a:off x="2135124" y="1417320"/>
            <a:ext cx="1517904" cy="3017520"/>
          </a:xfrm>
          <a:prstGeom prst="roundRect">
            <a:avLst>
              <a:gd name="adj" fmla="val 4819"/>
            </a:avLst>
          </a:prstGeom>
          <a:solidFill>
            <a:srgbClr val="FFFFFF"/>
          </a:solidFill>
          <a:ln w="12700">
            <a:solidFill>
              <a:srgbClr val="E6E2D6"/>
            </a:solidFill>
            <a:prstDash val="solid"/>
          </a:ln>
        </p:spPr>
      </p:sp>
      <p:sp>
        <p:nvSpPr>
          <p:cNvPr id="21" name="Shape 19"/>
          <p:cNvSpPr/>
          <p:nvPr/>
        </p:nvSpPr>
        <p:spPr>
          <a:xfrm>
            <a:off x="2135124" y="1417320"/>
            <a:ext cx="1517904" cy="594360"/>
          </a:xfrm>
          <a:prstGeom prst="roundRect">
            <a:avLst>
              <a:gd name="adj" fmla="val 12308"/>
            </a:avLst>
          </a:prstGeom>
          <a:solidFill>
            <a:srgbClr val="FF9259"/>
          </a:solidFill>
          <a:ln w="12700">
            <a:solidFill>
              <a:srgbClr val="FF9259"/>
            </a:solidFill>
            <a:prstDash val="solid"/>
          </a:ln>
        </p:spPr>
      </p:sp>
      <p:sp>
        <p:nvSpPr>
          <p:cNvPr id="22" name="Text 20"/>
          <p:cNvSpPr/>
          <p:nvPr/>
        </p:nvSpPr>
        <p:spPr>
          <a:xfrm>
            <a:off x="2226564" y="1417320"/>
            <a:ext cx="1335024"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Theo mục tiêu NC</a:t>
            </a:r>
            <a:endParaRPr lang="en-US" sz="1200" dirty="0"/>
          </a:p>
        </p:txBody>
      </p:sp>
      <p:sp>
        <p:nvSpPr>
          <p:cNvPr id="23" name="Text 21"/>
          <p:cNvSpPr/>
          <p:nvPr/>
        </p:nvSpPr>
        <p:spPr>
          <a:xfrm>
            <a:off x="2244852" y="2121408"/>
            <a:ext cx="1298448" cy="123444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Mỗi phần trả lời một câu hỏi nghiên cứu kèm khuyến nghị</a:t>
            </a:r>
            <a:endParaRPr lang="en-US" sz="1000" dirty="0"/>
          </a:p>
        </p:txBody>
      </p:sp>
      <p:sp>
        <p:nvSpPr>
          <p:cNvPr id="24" name="Shape 22"/>
          <p:cNvSpPr/>
          <p:nvPr/>
        </p:nvSpPr>
        <p:spPr>
          <a:xfrm>
            <a:off x="2244852" y="3401568"/>
            <a:ext cx="1298448" cy="0"/>
          </a:xfrm>
          <a:prstGeom prst="line">
            <a:avLst/>
          </a:prstGeom>
          <a:noFill/>
          <a:ln w="12700">
            <a:solidFill>
              <a:srgbClr val="E6E2D6"/>
            </a:solidFill>
            <a:prstDash val="solid"/>
          </a:ln>
        </p:spPr>
      </p:sp>
      <p:sp>
        <p:nvSpPr>
          <p:cNvPr id="25" name="Text 23"/>
          <p:cNvSpPr/>
          <p:nvPr/>
        </p:nvSpPr>
        <p:spPr>
          <a:xfrm>
            <a:off x="2244852" y="3474720"/>
            <a:ext cx="1298448" cy="201168"/>
          </a:xfrm>
          <a:prstGeom prst="rect">
            <a:avLst/>
          </a:prstGeom>
          <a:noFill/>
          <a:ln/>
        </p:spPr>
        <p:txBody>
          <a:bodyPr wrap="square" lIns="0" tIns="0" rIns="0" bIns="0" rtlCol="0" anchor="t"/>
          <a:lstStyle/>
          <a:p>
            <a:pPr algn="l" indent="0" marL="0">
              <a:buNone/>
            </a:pPr>
            <a:r>
              <a:rPr lang="en-US" sz="850" b="1" dirty="0">
                <a:solidFill>
                  <a:srgbClr val="7A7480"/>
                </a:solidFill>
                <a:latin typeface="Alexandria" pitchFamily="34" charset="0"/>
                <a:ea typeface="Alexandria" pitchFamily="34" charset="-122"/>
                <a:cs typeface="Alexandria" pitchFamily="34" charset="-120"/>
              </a:rPr>
              <a:t>Dùng khi</a:t>
            </a:r>
            <a:endParaRPr lang="en-US" sz="850" dirty="0"/>
          </a:p>
        </p:txBody>
      </p:sp>
      <p:sp>
        <p:nvSpPr>
          <p:cNvPr id="26" name="Text 24"/>
          <p:cNvSpPr/>
          <p:nvPr/>
        </p:nvSpPr>
        <p:spPr>
          <a:xfrm>
            <a:off x="2244852" y="3675888"/>
            <a:ext cx="1298448" cy="713232"/>
          </a:xfrm>
          <a:prstGeom prst="rect">
            <a:avLst/>
          </a:prstGeom>
          <a:noFill/>
          <a:ln/>
        </p:spPr>
        <p:txBody>
          <a:bodyPr wrap="square" lIns="0" tIns="0" rIns="0" bIns="0" rtlCol="0" anchor="t"/>
          <a:lstStyle/>
          <a:p>
            <a:pPr algn="l" indent="0" marL="0">
              <a:buNone/>
            </a:pPr>
            <a:r>
              <a:rPr lang="en-US" sz="950" dirty="0">
                <a:solidFill>
                  <a:srgbClr val="2B2633"/>
                </a:solidFill>
                <a:latin typeface="Alexandria" pitchFamily="34" charset="0"/>
                <a:ea typeface="Alexandria" pitchFamily="34" charset="-122"/>
                <a:cs typeface="Alexandria" pitchFamily="34" charset="-120"/>
              </a:rPr>
              <a:t>Mục tiêu rõ ràng ngay từ đầu</a:t>
            </a:r>
            <a:endParaRPr lang="en-US" sz="950" dirty="0"/>
          </a:p>
        </p:txBody>
      </p:sp>
      <p:sp>
        <p:nvSpPr>
          <p:cNvPr id="27" name="Shape 25"/>
          <p:cNvSpPr/>
          <p:nvPr/>
        </p:nvSpPr>
        <p:spPr>
          <a:xfrm>
            <a:off x="3813048" y="1417320"/>
            <a:ext cx="1517904" cy="3017520"/>
          </a:xfrm>
          <a:prstGeom prst="roundRect">
            <a:avLst>
              <a:gd name="adj" fmla="val 4819"/>
            </a:avLst>
          </a:prstGeom>
          <a:solidFill>
            <a:srgbClr val="FFFFFF"/>
          </a:solidFill>
          <a:ln w="12700">
            <a:solidFill>
              <a:srgbClr val="E6E2D6"/>
            </a:solidFill>
            <a:prstDash val="solid"/>
          </a:ln>
        </p:spPr>
      </p:sp>
      <p:sp>
        <p:nvSpPr>
          <p:cNvPr id="28" name="Shape 26"/>
          <p:cNvSpPr/>
          <p:nvPr/>
        </p:nvSpPr>
        <p:spPr>
          <a:xfrm>
            <a:off x="3813048" y="1417320"/>
            <a:ext cx="1517904" cy="594360"/>
          </a:xfrm>
          <a:prstGeom prst="roundRect">
            <a:avLst>
              <a:gd name="adj" fmla="val 12308"/>
            </a:avLst>
          </a:prstGeom>
          <a:solidFill>
            <a:srgbClr val="FFD23B"/>
          </a:solidFill>
          <a:ln w="12700">
            <a:solidFill>
              <a:srgbClr val="FFD23B"/>
            </a:solidFill>
            <a:prstDash val="solid"/>
          </a:ln>
        </p:spPr>
      </p:sp>
      <p:sp>
        <p:nvSpPr>
          <p:cNvPr id="29" name="Text 27"/>
          <p:cNvSpPr/>
          <p:nvPr/>
        </p:nvSpPr>
        <p:spPr>
          <a:xfrm>
            <a:off x="3904488" y="1417320"/>
            <a:ext cx="1335024" cy="594360"/>
          </a:xfrm>
          <a:prstGeom prst="rect">
            <a:avLst/>
          </a:prstGeom>
          <a:noFill/>
          <a:ln/>
        </p:spPr>
        <p:txBody>
          <a:bodyPr wrap="square" lIns="0" tIns="0" rIns="0" bIns="0" rtlCol="0" anchor="ctr"/>
          <a:lstStyle/>
          <a:p>
            <a:pPr algn="ctr" indent="0" marL="0">
              <a:buNone/>
            </a:pPr>
            <a:r>
              <a:rPr lang="en-US" sz="1200" b="1" dirty="0">
                <a:solidFill>
                  <a:srgbClr val="2B2633"/>
                </a:solidFill>
                <a:latin typeface="Alexandria" pitchFamily="34" charset="0"/>
                <a:ea typeface="Alexandria" pitchFamily="34" charset="-122"/>
                <a:cs typeface="Alexandria" pitchFamily="34" charset="-120"/>
              </a:rPr>
              <a:t>Theo persona</a:t>
            </a:r>
            <a:endParaRPr lang="en-US" sz="1200" dirty="0"/>
          </a:p>
        </p:txBody>
      </p:sp>
      <p:sp>
        <p:nvSpPr>
          <p:cNvPr id="30" name="Text 28"/>
          <p:cNvSpPr/>
          <p:nvPr/>
        </p:nvSpPr>
        <p:spPr>
          <a:xfrm>
            <a:off x="3922776" y="2121408"/>
            <a:ext cx="1298448" cy="123444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Hành vi, điểm đau, nhu cầu của từng nhóm khách</a:t>
            </a:r>
            <a:endParaRPr lang="en-US" sz="1000" dirty="0"/>
          </a:p>
        </p:txBody>
      </p:sp>
      <p:sp>
        <p:nvSpPr>
          <p:cNvPr id="31" name="Shape 29"/>
          <p:cNvSpPr/>
          <p:nvPr/>
        </p:nvSpPr>
        <p:spPr>
          <a:xfrm>
            <a:off x="3922776" y="3401568"/>
            <a:ext cx="1298448" cy="0"/>
          </a:xfrm>
          <a:prstGeom prst="line">
            <a:avLst/>
          </a:prstGeom>
          <a:noFill/>
          <a:ln w="12700">
            <a:solidFill>
              <a:srgbClr val="E6E2D6"/>
            </a:solidFill>
            <a:prstDash val="solid"/>
          </a:ln>
        </p:spPr>
      </p:sp>
      <p:sp>
        <p:nvSpPr>
          <p:cNvPr id="32" name="Text 30"/>
          <p:cNvSpPr/>
          <p:nvPr/>
        </p:nvSpPr>
        <p:spPr>
          <a:xfrm>
            <a:off x="3922776" y="3474720"/>
            <a:ext cx="1298448" cy="201168"/>
          </a:xfrm>
          <a:prstGeom prst="rect">
            <a:avLst/>
          </a:prstGeom>
          <a:noFill/>
          <a:ln/>
        </p:spPr>
        <p:txBody>
          <a:bodyPr wrap="square" lIns="0" tIns="0" rIns="0" bIns="0" rtlCol="0" anchor="t"/>
          <a:lstStyle/>
          <a:p>
            <a:pPr algn="l" indent="0" marL="0">
              <a:buNone/>
            </a:pPr>
            <a:r>
              <a:rPr lang="en-US" sz="850" b="1" dirty="0">
                <a:solidFill>
                  <a:srgbClr val="7A7480"/>
                </a:solidFill>
                <a:latin typeface="Alexandria" pitchFamily="34" charset="0"/>
                <a:ea typeface="Alexandria" pitchFamily="34" charset="-122"/>
                <a:cs typeface="Alexandria" pitchFamily="34" charset="-120"/>
              </a:rPr>
              <a:t>Dùng khi</a:t>
            </a:r>
            <a:endParaRPr lang="en-US" sz="850" dirty="0"/>
          </a:p>
        </p:txBody>
      </p:sp>
      <p:sp>
        <p:nvSpPr>
          <p:cNvPr id="33" name="Text 31"/>
          <p:cNvSpPr/>
          <p:nvPr/>
        </p:nvSpPr>
        <p:spPr>
          <a:xfrm>
            <a:off x="3922776" y="3675888"/>
            <a:ext cx="1298448" cy="713232"/>
          </a:xfrm>
          <a:prstGeom prst="rect">
            <a:avLst/>
          </a:prstGeom>
          <a:noFill/>
          <a:ln/>
        </p:spPr>
        <p:txBody>
          <a:bodyPr wrap="square" lIns="0" tIns="0" rIns="0" bIns="0" rtlCol="0" anchor="t"/>
          <a:lstStyle/>
          <a:p>
            <a:pPr algn="l" indent="0" marL="0">
              <a:buNone/>
            </a:pPr>
            <a:r>
              <a:rPr lang="en-US" sz="950" dirty="0">
                <a:solidFill>
                  <a:srgbClr val="2B2633"/>
                </a:solidFill>
                <a:latin typeface="Alexandria" pitchFamily="34" charset="0"/>
                <a:ea typeface="Alexandria" pitchFamily="34" charset="-122"/>
                <a:cs typeface="Alexandria" pitchFamily="34" charset="-120"/>
              </a:rPr>
              <a:t>Dự án phân khúc khách hàng</a:t>
            </a:r>
            <a:endParaRPr lang="en-US" sz="950" dirty="0"/>
          </a:p>
        </p:txBody>
      </p:sp>
      <p:sp>
        <p:nvSpPr>
          <p:cNvPr id="34" name="Shape 32"/>
          <p:cNvSpPr/>
          <p:nvPr/>
        </p:nvSpPr>
        <p:spPr>
          <a:xfrm>
            <a:off x="5490972" y="1417320"/>
            <a:ext cx="1517904" cy="3017520"/>
          </a:xfrm>
          <a:prstGeom prst="roundRect">
            <a:avLst>
              <a:gd name="adj" fmla="val 4819"/>
            </a:avLst>
          </a:prstGeom>
          <a:solidFill>
            <a:srgbClr val="FFFFFF"/>
          </a:solidFill>
          <a:ln w="12700">
            <a:solidFill>
              <a:srgbClr val="E6E2D6"/>
            </a:solidFill>
            <a:prstDash val="solid"/>
          </a:ln>
        </p:spPr>
      </p:sp>
      <p:sp>
        <p:nvSpPr>
          <p:cNvPr id="35" name="Shape 33"/>
          <p:cNvSpPr/>
          <p:nvPr/>
        </p:nvSpPr>
        <p:spPr>
          <a:xfrm>
            <a:off x="5490972" y="1417320"/>
            <a:ext cx="1517904" cy="594360"/>
          </a:xfrm>
          <a:prstGeom prst="roundRect">
            <a:avLst>
              <a:gd name="adj" fmla="val 12308"/>
            </a:avLst>
          </a:prstGeom>
          <a:solidFill>
            <a:srgbClr val="49B296"/>
          </a:solidFill>
          <a:ln w="12700">
            <a:solidFill>
              <a:srgbClr val="49B296"/>
            </a:solidFill>
            <a:prstDash val="solid"/>
          </a:ln>
        </p:spPr>
      </p:sp>
      <p:sp>
        <p:nvSpPr>
          <p:cNvPr id="36" name="Text 34"/>
          <p:cNvSpPr/>
          <p:nvPr/>
        </p:nvSpPr>
        <p:spPr>
          <a:xfrm>
            <a:off x="5582412" y="1417320"/>
            <a:ext cx="1335024"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Tường thuật</a:t>
            </a:r>
            <a:endParaRPr lang="en-US" sz="1200" dirty="0"/>
          </a:p>
        </p:txBody>
      </p:sp>
      <p:sp>
        <p:nvSpPr>
          <p:cNvPr id="37" name="Text 35"/>
          <p:cNvSpPr/>
          <p:nvPr/>
        </p:nvSpPr>
        <p:spPr>
          <a:xfrm>
            <a:off x="5600700" y="2121408"/>
            <a:ext cx="1298448" cy="123444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Đi theo hành trình một người, với các đỉnh và đáy cảm xúc</a:t>
            </a:r>
            <a:endParaRPr lang="en-US" sz="1000" dirty="0"/>
          </a:p>
        </p:txBody>
      </p:sp>
      <p:sp>
        <p:nvSpPr>
          <p:cNvPr id="38" name="Shape 36"/>
          <p:cNvSpPr/>
          <p:nvPr/>
        </p:nvSpPr>
        <p:spPr>
          <a:xfrm>
            <a:off x="5600700" y="3401568"/>
            <a:ext cx="1298448" cy="0"/>
          </a:xfrm>
          <a:prstGeom prst="line">
            <a:avLst/>
          </a:prstGeom>
          <a:noFill/>
          <a:ln w="12700">
            <a:solidFill>
              <a:srgbClr val="E6E2D6"/>
            </a:solidFill>
            <a:prstDash val="solid"/>
          </a:ln>
        </p:spPr>
      </p:sp>
      <p:sp>
        <p:nvSpPr>
          <p:cNvPr id="39" name="Text 37"/>
          <p:cNvSpPr/>
          <p:nvPr/>
        </p:nvSpPr>
        <p:spPr>
          <a:xfrm>
            <a:off x="5600700" y="3474720"/>
            <a:ext cx="1298448" cy="201168"/>
          </a:xfrm>
          <a:prstGeom prst="rect">
            <a:avLst/>
          </a:prstGeom>
          <a:noFill/>
          <a:ln/>
        </p:spPr>
        <p:txBody>
          <a:bodyPr wrap="square" lIns="0" tIns="0" rIns="0" bIns="0" rtlCol="0" anchor="t"/>
          <a:lstStyle/>
          <a:p>
            <a:pPr algn="l" indent="0" marL="0">
              <a:buNone/>
            </a:pPr>
            <a:r>
              <a:rPr lang="en-US" sz="850" b="1" dirty="0">
                <a:solidFill>
                  <a:srgbClr val="7A7480"/>
                </a:solidFill>
                <a:latin typeface="Alexandria" pitchFamily="34" charset="0"/>
                <a:ea typeface="Alexandria" pitchFamily="34" charset="-122"/>
                <a:cs typeface="Alexandria" pitchFamily="34" charset="-120"/>
              </a:rPr>
              <a:t>Dùng khi</a:t>
            </a:r>
            <a:endParaRPr lang="en-US" sz="850" dirty="0"/>
          </a:p>
        </p:txBody>
      </p:sp>
      <p:sp>
        <p:nvSpPr>
          <p:cNvPr id="40" name="Text 38"/>
          <p:cNvSpPr/>
          <p:nvPr/>
        </p:nvSpPr>
        <p:spPr>
          <a:xfrm>
            <a:off x="5600700" y="3675888"/>
            <a:ext cx="1298448" cy="713232"/>
          </a:xfrm>
          <a:prstGeom prst="rect">
            <a:avLst/>
          </a:prstGeom>
          <a:noFill/>
          <a:ln/>
        </p:spPr>
        <p:txBody>
          <a:bodyPr wrap="square" lIns="0" tIns="0" rIns="0" bIns="0" rtlCol="0" anchor="t"/>
          <a:lstStyle/>
          <a:p>
            <a:pPr algn="l" indent="0" marL="0">
              <a:buNone/>
            </a:pPr>
            <a:r>
              <a:rPr lang="en-US" sz="950" dirty="0">
                <a:solidFill>
                  <a:srgbClr val="2B2633"/>
                </a:solidFill>
                <a:latin typeface="Alexandria" pitchFamily="34" charset="0"/>
                <a:ea typeface="Alexandria" pitchFamily="34" charset="-122"/>
                <a:cs typeface="Alexandria" pitchFamily="34" charset="-120"/>
              </a:rPr>
              <a:t>Cần tạo sự đồng cảm</a:t>
            </a:r>
            <a:endParaRPr lang="en-US" sz="950" dirty="0"/>
          </a:p>
        </p:txBody>
      </p:sp>
      <p:sp>
        <p:nvSpPr>
          <p:cNvPr id="41" name="Shape 39"/>
          <p:cNvSpPr/>
          <p:nvPr/>
        </p:nvSpPr>
        <p:spPr>
          <a:xfrm>
            <a:off x="7168896" y="1417320"/>
            <a:ext cx="1517904" cy="3017520"/>
          </a:xfrm>
          <a:prstGeom prst="roundRect">
            <a:avLst>
              <a:gd name="adj" fmla="val 4819"/>
            </a:avLst>
          </a:prstGeom>
          <a:solidFill>
            <a:srgbClr val="FFFFFF"/>
          </a:solidFill>
          <a:ln w="12700">
            <a:solidFill>
              <a:srgbClr val="E6E2D6"/>
            </a:solidFill>
            <a:prstDash val="solid"/>
          </a:ln>
        </p:spPr>
      </p:sp>
      <p:sp>
        <p:nvSpPr>
          <p:cNvPr id="42" name="Shape 40"/>
          <p:cNvSpPr/>
          <p:nvPr/>
        </p:nvSpPr>
        <p:spPr>
          <a:xfrm>
            <a:off x="7168896" y="1417320"/>
            <a:ext cx="1517904" cy="594360"/>
          </a:xfrm>
          <a:prstGeom prst="roundRect">
            <a:avLst>
              <a:gd name="adj" fmla="val 12308"/>
            </a:avLst>
          </a:prstGeom>
          <a:solidFill>
            <a:srgbClr val="09A1E5"/>
          </a:solidFill>
          <a:ln w="12700">
            <a:solidFill>
              <a:srgbClr val="09A1E5"/>
            </a:solidFill>
            <a:prstDash val="solid"/>
          </a:ln>
        </p:spPr>
      </p:sp>
      <p:sp>
        <p:nvSpPr>
          <p:cNvPr id="43" name="Text 41"/>
          <p:cNvSpPr/>
          <p:nvPr/>
        </p:nvSpPr>
        <p:spPr>
          <a:xfrm>
            <a:off x="7260336" y="1417320"/>
            <a:ext cx="1335024"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Khuyến nghị ưu tiên</a:t>
            </a:r>
            <a:endParaRPr lang="en-US" sz="1200" dirty="0"/>
          </a:p>
        </p:txBody>
      </p:sp>
      <p:sp>
        <p:nvSpPr>
          <p:cNvPr id="44" name="Text 42"/>
          <p:cNvSpPr/>
          <p:nvPr/>
        </p:nvSpPr>
        <p:spPr>
          <a:xfrm>
            <a:off x="7278624" y="2121408"/>
            <a:ext cx="1298448" cy="1234440"/>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Nêu khuyến nghị quan trọng nhất trước, sau đó là dữ liệu chứng minh</a:t>
            </a:r>
            <a:endParaRPr lang="en-US" sz="1000" dirty="0"/>
          </a:p>
        </p:txBody>
      </p:sp>
      <p:sp>
        <p:nvSpPr>
          <p:cNvPr id="45" name="Shape 43"/>
          <p:cNvSpPr/>
          <p:nvPr/>
        </p:nvSpPr>
        <p:spPr>
          <a:xfrm>
            <a:off x="7278624" y="3401568"/>
            <a:ext cx="1298448" cy="0"/>
          </a:xfrm>
          <a:prstGeom prst="line">
            <a:avLst/>
          </a:prstGeom>
          <a:noFill/>
          <a:ln w="12700">
            <a:solidFill>
              <a:srgbClr val="E6E2D6"/>
            </a:solidFill>
            <a:prstDash val="solid"/>
          </a:ln>
        </p:spPr>
      </p:sp>
      <p:sp>
        <p:nvSpPr>
          <p:cNvPr id="46" name="Text 44"/>
          <p:cNvSpPr/>
          <p:nvPr/>
        </p:nvSpPr>
        <p:spPr>
          <a:xfrm>
            <a:off x="7278624" y="3474720"/>
            <a:ext cx="1298448" cy="201168"/>
          </a:xfrm>
          <a:prstGeom prst="rect">
            <a:avLst/>
          </a:prstGeom>
          <a:noFill/>
          <a:ln/>
        </p:spPr>
        <p:txBody>
          <a:bodyPr wrap="square" lIns="0" tIns="0" rIns="0" bIns="0" rtlCol="0" anchor="t"/>
          <a:lstStyle/>
          <a:p>
            <a:pPr algn="l" indent="0" marL="0">
              <a:buNone/>
            </a:pPr>
            <a:r>
              <a:rPr lang="en-US" sz="850" b="1" dirty="0">
                <a:solidFill>
                  <a:srgbClr val="7A7480"/>
                </a:solidFill>
                <a:latin typeface="Alexandria" pitchFamily="34" charset="0"/>
                <a:ea typeface="Alexandria" pitchFamily="34" charset="-122"/>
                <a:cs typeface="Alexandria" pitchFamily="34" charset="-120"/>
              </a:rPr>
              <a:t>Dùng khi</a:t>
            </a:r>
            <a:endParaRPr lang="en-US" sz="850" dirty="0"/>
          </a:p>
        </p:txBody>
      </p:sp>
      <p:sp>
        <p:nvSpPr>
          <p:cNvPr id="47" name="Text 45"/>
          <p:cNvSpPr/>
          <p:nvPr/>
        </p:nvSpPr>
        <p:spPr>
          <a:xfrm>
            <a:off x="7278624" y="3675888"/>
            <a:ext cx="1298448" cy="713232"/>
          </a:xfrm>
          <a:prstGeom prst="rect">
            <a:avLst/>
          </a:prstGeom>
          <a:noFill/>
          <a:ln/>
        </p:spPr>
        <p:txBody>
          <a:bodyPr wrap="square" lIns="0" tIns="0" rIns="0" bIns="0" rtlCol="0" anchor="t"/>
          <a:lstStyle/>
          <a:p>
            <a:pPr algn="l" indent="0" marL="0">
              <a:buNone/>
            </a:pPr>
            <a:r>
              <a:rPr lang="en-US" sz="950" dirty="0">
                <a:solidFill>
                  <a:srgbClr val="2B2633"/>
                </a:solidFill>
                <a:latin typeface="Alexandria" pitchFamily="34" charset="0"/>
                <a:ea typeface="Alexandria" pitchFamily="34" charset="-122"/>
                <a:cs typeface="Alexandria" pitchFamily="34" charset="-120"/>
              </a:rPr>
              <a:t>Bên liên quan cần ra quyết định ngay</a:t>
            </a:r>
            <a:endParaRPr lang="en-US" sz="950" dirty="0"/>
          </a:p>
        </p:txBody>
      </p:sp>
      <p:sp>
        <p:nvSpPr>
          <p:cNvPr id="48" name="Text 46"/>
          <p:cNvSpPr/>
          <p:nvPr/>
        </p:nvSpPr>
        <p:spPr>
          <a:xfrm>
            <a:off x="457200" y="4526280"/>
            <a:ext cx="8229600" cy="228600"/>
          </a:xfrm>
          <a:prstGeom prst="rect">
            <a:avLst/>
          </a:prstGeom>
          <a:noFill/>
          <a:ln/>
        </p:spPr>
        <p:txBody>
          <a:bodyPr wrap="square" lIns="0" tIns="0" rIns="0" bIns="0" rtlCol="0" anchor="ctr"/>
          <a:lstStyle/>
          <a:p>
            <a:pPr algn="l" indent="0" marL="0">
              <a:buNone/>
            </a:pPr>
            <a:r>
              <a:rPr lang="en-US" sz="950" i="1" dirty="0">
                <a:solidFill>
                  <a:srgbClr val="7A7480"/>
                </a:solidFill>
                <a:latin typeface="Alexandria" pitchFamily="34" charset="0"/>
                <a:ea typeface="Alexandria" pitchFamily="34" charset="-122"/>
                <a:cs typeface="Alexandria" pitchFamily="34" charset="-120"/>
              </a:rPr>
              <a:t>Tránh định dạng “hỏi gì – đáp nấy”: nó làm phẳng insight và bỏ mất các kết nối.</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457200" y="201168"/>
            <a:ext cx="2834640" cy="274320"/>
          </a:xfrm>
          <a:prstGeom prst="roundRect">
            <a:avLst>
              <a:gd name="adj" fmla="val 50000"/>
            </a:avLst>
          </a:prstGeom>
          <a:solidFill>
            <a:srgbClr val="FF9259"/>
          </a:solidFill>
          <a:ln w="12700">
            <a:solidFill>
              <a:srgbClr val="FF9259"/>
            </a:solidFill>
            <a:prstDash val="solid"/>
          </a:ln>
        </p:spPr>
      </p:sp>
      <p:sp>
        <p:nvSpPr>
          <p:cNvPr id="3" name="Text 1"/>
          <p:cNvSpPr/>
          <p:nvPr/>
        </p:nvSpPr>
        <p:spPr>
          <a:xfrm>
            <a:off x="457200" y="201168"/>
            <a:ext cx="28346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lexandria" pitchFamily="34" charset="0"/>
                <a:ea typeface="Alexandria" pitchFamily="34" charset="-122"/>
                <a:cs typeface="Alexandria" pitchFamily="34" charset="-120"/>
              </a:rPr>
              <a:t>4  Tổng hợp &amp; báo cáo</a:t>
            </a:r>
            <a:endParaRPr lang="en-US" sz="1100" dirty="0"/>
          </a:p>
        </p:txBody>
      </p:sp>
      <p:sp>
        <p:nvSpPr>
          <p:cNvPr id="4" name="Text 2"/>
          <p:cNvSpPr/>
          <p:nvPr/>
        </p:nvSpPr>
        <p:spPr>
          <a:xfrm>
            <a:off x="457200" y="530352"/>
            <a:ext cx="8229600" cy="777240"/>
          </a:xfrm>
          <a:prstGeom prst="rect">
            <a:avLst/>
          </a:prstGeom>
          <a:noFill/>
          <a:ln/>
        </p:spPr>
        <p:txBody>
          <a:bodyPr wrap="square" lIns="0" tIns="0" rIns="0" bIns="0" rtlCol="0" anchor="t"/>
          <a:lstStyle/>
          <a:p>
            <a:pPr indent="0" marL="0">
              <a:buNone/>
            </a:pPr>
            <a:r>
              <a:rPr lang="en-US" sz="2100" b="1" dirty="0">
                <a:solidFill>
                  <a:srgbClr val="2B2633"/>
                </a:solidFill>
                <a:latin typeface="Alexandria" pitchFamily="34" charset="0"/>
                <a:ea typeface="Alexandria" pitchFamily="34" charset="-122"/>
                <a:cs typeface="Alexandria" pitchFamily="34" charset="-120"/>
              </a:rPr>
              <a:t>Báo cáo được ghi nhớ khi kể chuyện thật và đưa ra khuyến nghị cụ thể</a:t>
            </a:r>
            <a:endParaRPr lang="en-US" sz="2100" dirty="0"/>
          </a:p>
        </p:txBody>
      </p:sp>
      <p:sp>
        <p:nvSpPr>
          <p:cNvPr id="5" name="Shape 3"/>
          <p:cNvSpPr/>
          <p:nvPr/>
        </p:nvSpPr>
        <p:spPr>
          <a:xfrm>
            <a:off x="457200" y="4873752"/>
            <a:ext cx="182880" cy="54864"/>
          </a:xfrm>
          <a:prstGeom prst="rect">
            <a:avLst/>
          </a:prstGeom>
          <a:solidFill>
            <a:srgbClr val="49B296"/>
          </a:solidFill>
          <a:ln w="12700">
            <a:solidFill>
              <a:srgbClr val="49B296"/>
            </a:solidFill>
            <a:prstDash val="solid"/>
          </a:ln>
        </p:spPr>
      </p:sp>
      <p:sp>
        <p:nvSpPr>
          <p:cNvPr id="6" name="Shape 4"/>
          <p:cNvSpPr/>
          <p:nvPr/>
        </p:nvSpPr>
        <p:spPr>
          <a:xfrm>
            <a:off x="640080" y="4873752"/>
            <a:ext cx="182880" cy="54864"/>
          </a:xfrm>
          <a:prstGeom prst="rect">
            <a:avLst/>
          </a:prstGeom>
          <a:solidFill>
            <a:srgbClr val="FFD23B"/>
          </a:solidFill>
          <a:ln w="12700">
            <a:solidFill>
              <a:srgbClr val="FFD23B"/>
            </a:solidFill>
            <a:prstDash val="solid"/>
          </a:ln>
        </p:spPr>
      </p:sp>
      <p:sp>
        <p:nvSpPr>
          <p:cNvPr id="7" name="Shape 5"/>
          <p:cNvSpPr/>
          <p:nvPr/>
        </p:nvSpPr>
        <p:spPr>
          <a:xfrm>
            <a:off x="822960" y="4873752"/>
            <a:ext cx="182880" cy="54864"/>
          </a:xfrm>
          <a:prstGeom prst="rect">
            <a:avLst/>
          </a:prstGeom>
          <a:solidFill>
            <a:srgbClr val="FF5178"/>
          </a:solidFill>
          <a:ln w="12700">
            <a:solidFill>
              <a:srgbClr val="FF5178"/>
            </a:solidFill>
            <a:prstDash val="solid"/>
          </a:ln>
        </p:spPr>
      </p:sp>
      <p:sp>
        <p:nvSpPr>
          <p:cNvPr id="8" name="Shape 6"/>
          <p:cNvSpPr/>
          <p:nvPr/>
        </p:nvSpPr>
        <p:spPr>
          <a:xfrm>
            <a:off x="1005840" y="4873752"/>
            <a:ext cx="182880" cy="54864"/>
          </a:xfrm>
          <a:prstGeom prst="rect">
            <a:avLst/>
          </a:prstGeom>
          <a:solidFill>
            <a:srgbClr val="962B7C"/>
          </a:solidFill>
          <a:ln w="12700">
            <a:solidFill>
              <a:srgbClr val="962B7C"/>
            </a:solidFill>
            <a:prstDash val="solid"/>
          </a:ln>
        </p:spPr>
      </p:sp>
      <p:sp>
        <p:nvSpPr>
          <p:cNvPr id="9" name="Shape 7"/>
          <p:cNvSpPr/>
          <p:nvPr/>
        </p:nvSpPr>
        <p:spPr>
          <a:xfrm>
            <a:off x="1188720" y="4873752"/>
            <a:ext cx="182880" cy="54864"/>
          </a:xfrm>
          <a:prstGeom prst="rect">
            <a:avLst/>
          </a:prstGeom>
          <a:solidFill>
            <a:srgbClr val="09A1E5"/>
          </a:solidFill>
          <a:ln w="12700">
            <a:solidFill>
              <a:srgbClr val="09A1E5"/>
            </a:solidFill>
            <a:prstDash val="solid"/>
          </a:ln>
        </p:spPr>
      </p:sp>
      <p:sp>
        <p:nvSpPr>
          <p:cNvPr id="10" name="Shape 8"/>
          <p:cNvSpPr/>
          <p:nvPr/>
        </p:nvSpPr>
        <p:spPr>
          <a:xfrm>
            <a:off x="1371600" y="4873752"/>
            <a:ext cx="182880" cy="54864"/>
          </a:xfrm>
          <a:prstGeom prst="rect">
            <a:avLst/>
          </a:prstGeom>
          <a:solidFill>
            <a:srgbClr val="FF9259"/>
          </a:solidFill>
          <a:ln w="12700">
            <a:solidFill>
              <a:srgbClr val="FF9259"/>
            </a:solidFill>
            <a:prstDash val="solid"/>
          </a:ln>
        </p:spPr>
      </p:sp>
      <p:sp>
        <p:nvSpPr>
          <p:cNvPr id="11" name="Text 9"/>
          <p:cNvSpPr/>
          <p:nvPr/>
        </p:nvSpPr>
        <p:spPr>
          <a:xfrm>
            <a:off x="1691640" y="4791456"/>
            <a:ext cx="4572000" cy="228600"/>
          </a:xfrm>
          <a:prstGeom prst="rect">
            <a:avLst/>
          </a:prstGeom>
          <a:noFill/>
          <a:ln/>
        </p:spPr>
        <p:txBody>
          <a:bodyPr wrap="square" lIns="0" tIns="0" rIns="0" bIns="0" rtlCol="0" anchor="ctr"/>
          <a:lstStyle/>
          <a:p>
            <a:pPr indent="0" marL="0">
              <a:buNone/>
            </a:pPr>
            <a:r>
              <a:rPr lang="en-US" sz="900" dirty="0">
                <a:solidFill>
                  <a:srgbClr val="7A7480"/>
                </a:solidFill>
                <a:latin typeface="Alexandria" pitchFamily="34" charset="0"/>
                <a:ea typeface="Alexandria" pitchFamily="34" charset="-122"/>
                <a:cs typeface="Alexandria" pitchFamily="34" charset="-120"/>
              </a:rPr>
              <a:t>Nghiên cứu định tính trong Marketing</a:t>
            </a:r>
            <a:endParaRPr lang="en-US" sz="900" dirty="0"/>
          </a:p>
        </p:txBody>
      </p:sp>
      <p:sp>
        <p:nvSpPr>
          <p:cNvPr id="12" name="Text 10"/>
          <p:cNvSpPr/>
          <p:nvPr/>
        </p:nvSpPr>
        <p:spPr>
          <a:xfrm>
            <a:off x="8138160" y="4791456"/>
            <a:ext cx="548640" cy="228600"/>
          </a:xfrm>
          <a:prstGeom prst="rect">
            <a:avLst/>
          </a:prstGeom>
          <a:noFill/>
          <a:ln/>
        </p:spPr>
        <p:txBody>
          <a:bodyPr wrap="square" lIns="0" tIns="0" rIns="0" bIns="0" rtlCol="0" anchor="ctr"/>
          <a:lstStyle/>
          <a:p>
            <a:pPr algn="r" indent="0" marL="0">
              <a:buNone/>
            </a:pPr>
            <a:r>
              <a:rPr lang="en-US" sz="1000" b="1" dirty="0">
                <a:solidFill>
                  <a:srgbClr val="FF9259"/>
                </a:solidFill>
                <a:latin typeface="Alexandria" pitchFamily="34" charset="0"/>
                <a:ea typeface="Alexandria" pitchFamily="34" charset="-122"/>
                <a:cs typeface="Alexandria" pitchFamily="34" charset="-120"/>
              </a:rPr>
              <a:t>27</a:t>
            </a:r>
            <a:endParaRPr lang="en-US" sz="1000" dirty="0"/>
          </a:p>
        </p:txBody>
      </p:sp>
      <p:sp>
        <p:nvSpPr>
          <p:cNvPr id="13" name="Shape 11"/>
          <p:cNvSpPr/>
          <p:nvPr/>
        </p:nvSpPr>
        <p:spPr>
          <a:xfrm>
            <a:off x="457200" y="1417320"/>
            <a:ext cx="3931920" cy="3017520"/>
          </a:xfrm>
          <a:prstGeom prst="roundRect">
            <a:avLst>
              <a:gd name="adj" fmla="val 2424"/>
            </a:avLst>
          </a:prstGeom>
          <a:solidFill>
            <a:srgbClr val="FF9259"/>
          </a:solidFill>
          <a:ln w="12700">
            <a:solidFill>
              <a:srgbClr val="FF9259"/>
            </a:solidFill>
            <a:prstDash val="solid"/>
          </a:ln>
        </p:spPr>
      </p:sp>
      <p:sp>
        <p:nvSpPr>
          <p:cNvPr id="14" name="Text 12"/>
          <p:cNvSpPr/>
          <p:nvPr/>
        </p:nvSpPr>
        <p:spPr>
          <a:xfrm>
            <a:off x="640080" y="1536192"/>
            <a:ext cx="3566160" cy="274320"/>
          </a:xfrm>
          <a:prstGeom prst="rect">
            <a:avLst/>
          </a:prstGeom>
          <a:noFill/>
          <a:ln/>
        </p:spPr>
        <p:txBody>
          <a:bodyPr wrap="square" lIns="0" tIns="0" rIns="0" bIns="0" rtlCol="0" anchor="t"/>
          <a:lstStyle/>
          <a:p>
            <a:pPr algn="l" indent="0" marL="0">
              <a:buNone/>
            </a:pPr>
            <a:r>
              <a:rPr lang="en-US" sz="1100" b="1" dirty="0">
                <a:solidFill>
                  <a:srgbClr val="FFFFFF"/>
                </a:solidFill>
                <a:latin typeface="Alexandria" pitchFamily="34" charset="0"/>
                <a:ea typeface="Alexandria" pitchFamily="34" charset="-122"/>
                <a:cs typeface="Alexandria" pitchFamily="34" charset="-120"/>
              </a:rPr>
              <a:t>Câu chuyện đặc trưng</a:t>
            </a:r>
            <a:endParaRPr lang="en-US" sz="1100" dirty="0"/>
          </a:p>
        </p:txBody>
      </p:sp>
      <p:sp>
        <p:nvSpPr>
          <p:cNvPr id="15" name="Text 13"/>
          <p:cNvSpPr/>
          <p:nvPr/>
        </p:nvSpPr>
        <p:spPr>
          <a:xfrm>
            <a:off x="640080" y="1783080"/>
            <a:ext cx="914400" cy="822960"/>
          </a:xfrm>
          <a:prstGeom prst="rect">
            <a:avLst/>
          </a:prstGeom>
          <a:noFill/>
          <a:ln/>
        </p:spPr>
        <p:txBody>
          <a:bodyPr wrap="square" lIns="0" tIns="0" rIns="0" bIns="0" rtlCol="0" anchor="t"/>
          <a:lstStyle/>
          <a:p>
            <a:pPr algn="l" indent="0" marL="0">
              <a:buNone/>
            </a:pPr>
            <a:r>
              <a:rPr lang="en-US" sz="5400" b="1" dirty="0">
                <a:solidFill>
                  <a:srgbClr val="FFD23B"/>
                </a:solidFill>
                <a:latin typeface="Alexandria" pitchFamily="34" charset="0"/>
                <a:ea typeface="Alexandria" pitchFamily="34" charset="-122"/>
                <a:cs typeface="Alexandria" pitchFamily="34" charset="-120"/>
              </a:rPr>
              <a:t>9</a:t>
            </a:r>
            <a:endParaRPr lang="en-US" sz="5400" dirty="0"/>
          </a:p>
        </p:txBody>
      </p:sp>
      <p:sp>
        <p:nvSpPr>
          <p:cNvPr id="16" name="Text 14"/>
          <p:cNvSpPr/>
          <p:nvPr/>
        </p:nvSpPr>
        <p:spPr>
          <a:xfrm>
            <a:off x="1554480" y="1920240"/>
            <a:ext cx="2651760" cy="640080"/>
          </a:xfrm>
          <a:prstGeom prst="rect">
            <a:avLst/>
          </a:prstGeom>
          <a:noFill/>
          <a:ln/>
        </p:spPr>
        <p:txBody>
          <a:bodyPr wrap="square" lIns="0" tIns="0" rIns="0" bIns="0" rtlCol="0" anchor="ctr"/>
          <a:lstStyle/>
          <a:p>
            <a:pPr algn="l" indent="0" marL="0">
              <a:buNone/>
            </a:pPr>
            <a:r>
              <a:rPr lang="en-US" sz="1250" b="1" dirty="0">
                <a:solidFill>
                  <a:srgbClr val="FFFFFF"/>
                </a:solidFill>
                <a:latin typeface="Alexandria" pitchFamily="34" charset="0"/>
                <a:ea typeface="Alexandria" pitchFamily="34" charset="-122"/>
                <a:cs typeface="Alexandria" pitchFamily="34" charset="-120"/>
              </a:rPr>
              <a:t>sản phẩm dưỡng da mỗi tối trên bồn rửa của Marta</a:t>
            </a:r>
            <a:endParaRPr lang="en-US" sz="1250" dirty="0"/>
          </a:p>
        </p:txBody>
      </p:sp>
      <p:sp>
        <p:nvSpPr>
          <p:cNvPr id="17" name="Text 15"/>
          <p:cNvSpPr/>
          <p:nvPr/>
        </p:nvSpPr>
        <p:spPr>
          <a:xfrm>
            <a:off x="640080" y="2697480"/>
            <a:ext cx="3566160" cy="868680"/>
          </a:xfrm>
          <a:prstGeom prst="rect">
            <a:avLst/>
          </a:prstGeom>
          <a:noFill/>
          <a:ln/>
        </p:spPr>
        <p:txBody>
          <a:bodyPr wrap="square" lIns="0" tIns="0" rIns="0" bIns="0" rtlCol="0" anchor="t"/>
          <a:lstStyle/>
          <a:p>
            <a:pPr algn="l" indent="0" marL="0">
              <a:buNone/>
            </a:pPr>
            <a:r>
              <a:rPr lang="en-US" sz="1100" dirty="0">
                <a:solidFill>
                  <a:srgbClr val="FFFFFF"/>
                </a:solidFill>
                <a:latin typeface="Alexandria" pitchFamily="34" charset="0"/>
                <a:ea typeface="Alexandria" pitchFamily="34" charset="-122"/>
                <a:cs typeface="Alexandria" pitchFamily="34" charset="-120"/>
              </a:rPr>
              <a:t>Khuyến nghị “sản phẩm tất cả trong một” chỉ thuyết phục được khách hàng khi họ nghe câu chuyện và xem ảnh 9 lọ sản phẩm ấy.</a:t>
            </a:r>
            <a:endParaRPr lang="en-US" sz="1100" dirty="0"/>
          </a:p>
        </p:txBody>
      </p:sp>
      <p:sp>
        <p:nvSpPr>
          <p:cNvPr id="18" name="Text 16"/>
          <p:cNvSpPr/>
          <p:nvPr/>
        </p:nvSpPr>
        <p:spPr>
          <a:xfrm>
            <a:off x="640080" y="3703320"/>
            <a:ext cx="3566160" cy="548640"/>
          </a:xfrm>
          <a:prstGeom prst="rect">
            <a:avLst/>
          </a:prstGeom>
          <a:noFill/>
          <a:ln/>
        </p:spPr>
        <p:txBody>
          <a:bodyPr wrap="square" lIns="0" tIns="0" rIns="0" bIns="0" rtlCol="0" anchor="t"/>
          <a:lstStyle/>
          <a:p>
            <a:pPr algn="l" indent="0" marL="0">
              <a:buNone/>
            </a:pPr>
            <a:r>
              <a:rPr lang="en-US" sz="1100" b="1" dirty="0">
                <a:solidFill>
                  <a:srgbClr val="2B2633"/>
                </a:solidFill>
                <a:latin typeface="Alexandria" pitchFamily="34" charset="0"/>
                <a:ea typeface="Alexandria" pitchFamily="34" charset="-122"/>
                <a:cs typeface="Alexandria" pitchFamily="34" charset="-120"/>
              </a:rPr>
              <a:t>Chi tiết lạ, dễ kể lại → dễ lan truyền.</a:t>
            </a:r>
            <a:endParaRPr lang="en-US" sz="1100" dirty="0"/>
          </a:p>
        </p:txBody>
      </p:sp>
      <p:sp>
        <p:nvSpPr>
          <p:cNvPr id="19" name="Shape 17"/>
          <p:cNvSpPr/>
          <p:nvPr/>
        </p:nvSpPr>
        <p:spPr>
          <a:xfrm>
            <a:off x="4663440" y="1417320"/>
            <a:ext cx="4023360" cy="694944"/>
          </a:xfrm>
          <a:prstGeom prst="roundRect">
            <a:avLst>
              <a:gd name="adj" fmla="val 10526"/>
            </a:avLst>
          </a:prstGeom>
          <a:solidFill>
            <a:srgbClr val="FFFFFF"/>
          </a:solidFill>
          <a:ln w="12700">
            <a:solidFill>
              <a:srgbClr val="E6E2D6"/>
            </a:solidFill>
            <a:prstDash val="solid"/>
          </a:ln>
        </p:spPr>
      </p:sp>
      <p:sp>
        <p:nvSpPr>
          <p:cNvPr id="20" name="Shape 18"/>
          <p:cNvSpPr/>
          <p:nvPr/>
        </p:nvSpPr>
        <p:spPr>
          <a:xfrm>
            <a:off x="4663440" y="1527048"/>
            <a:ext cx="64008" cy="475488"/>
          </a:xfrm>
          <a:prstGeom prst="rect">
            <a:avLst/>
          </a:prstGeom>
          <a:solidFill>
            <a:srgbClr val="FF5178"/>
          </a:solidFill>
          <a:ln w="12700">
            <a:solidFill>
              <a:srgbClr val="FF5178"/>
            </a:solidFill>
            <a:prstDash val="solid"/>
          </a:ln>
        </p:spPr>
      </p:sp>
      <p:sp>
        <p:nvSpPr>
          <p:cNvPr id="21" name="Text 19"/>
          <p:cNvSpPr/>
          <p:nvPr/>
        </p:nvSpPr>
        <p:spPr>
          <a:xfrm>
            <a:off x="4864608" y="1508760"/>
            <a:ext cx="3730752" cy="274320"/>
          </a:xfrm>
          <a:prstGeom prst="rect">
            <a:avLst/>
          </a:prstGeom>
          <a:noFill/>
          <a:ln/>
        </p:spPr>
        <p:txBody>
          <a:bodyPr wrap="square" lIns="0" tIns="0" rIns="0" bIns="0" rtlCol="0" anchor="t"/>
          <a:lstStyle/>
          <a:p>
            <a:pPr algn="l" indent="0" marL="0">
              <a:buNone/>
            </a:pPr>
            <a:r>
              <a:rPr lang="en-US" sz="1300" b="1" dirty="0">
                <a:solidFill>
                  <a:srgbClr val="FF5178"/>
                </a:solidFill>
                <a:latin typeface="Alexandria" pitchFamily="34" charset="0"/>
                <a:ea typeface="Alexandria" pitchFamily="34" charset="-122"/>
                <a:cs typeface="Alexandria" pitchFamily="34" charset="-120"/>
              </a:rPr>
              <a:t>Kể chuyện</a:t>
            </a:r>
            <a:endParaRPr lang="en-US" sz="1300" dirty="0"/>
          </a:p>
        </p:txBody>
      </p:sp>
      <p:sp>
        <p:nvSpPr>
          <p:cNvPr id="22" name="Text 20"/>
          <p:cNvSpPr/>
          <p:nvPr/>
        </p:nvSpPr>
        <p:spPr>
          <a:xfrm>
            <a:off x="4864608" y="1801368"/>
            <a:ext cx="3730752" cy="237744"/>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Đặt trích dẫn vào hành trình: thách thức → thiếu gì → giải pháp</a:t>
            </a:r>
            <a:endParaRPr lang="en-US" sz="1000" dirty="0"/>
          </a:p>
        </p:txBody>
      </p:sp>
      <p:sp>
        <p:nvSpPr>
          <p:cNvPr id="23" name="Shape 21"/>
          <p:cNvSpPr/>
          <p:nvPr/>
        </p:nvSpPr>
        <p:spPr>
          <a:xfrm>
            <a:off x="4663440" y="2185416"/>
            <a:ext cx="4023360" cy="694944"/>
          </a:xfrm>
          <a:prstGeom prst="roundRect">
            <a:avLst>
              <a:gd name="adj" fmla="val 10526"/>
            </a:avLst>
          </a:prstGeom>
          <a:solidFill>
            <a:srgbClr val="FFFFFF"/>
          </a:solidFill>
          <a:ln w="12700">
            <a:solidFill>
              <a:srgbClr val="E6E2D6"/>
            </a:solidFill>
            <a:prstDash val="solid"/>
          </a:ln>
        </p:spPr>
      </p:sp>
      <p:sp>
        <p:nvSpPr>
          <p:cNvPr id="24" name="Shape 22"/>
          <p:cNvSpPr/>
          <p:nvPr/>
        </p:nvSpPr>
        <p:spPr>
          <a:xfrm>
            <a:off x="4663440" y="2295144"/>
            <a:ext cx="64008" cy="475488"/>
          </a:xfrm>
          <a:prstGeom prst="rect">
            <a:avLst/>
          </a:prstGeom>
          <a:solidFill>
            <a:srgbClr val="09A1E5"/>
          </a:solidFill>
          <a:ln w="12700">
            <a:solidFill>
              <a:srgbClr val="09A1E5"/>
            </a:solidFill>
            <a:prstDash val="solid"/>
          </a:ln>
        </p:spPr>
      </p:sp>
      <p:sp>
        <p:nvSpPr>
          <p:cNvPr id="25" name="Text 23"/>
          <p:cNvSpPr/>
          <p:nvPr/>
        </p:nvSpPr>
        <p:spPr>
          <a:xfrm>
            <a:off x="4864608" y="2276856"/>
            <a:ext cx="3730752" cy="274320"/>
          </a:xfrm>
          <a:prstGeom prst="rect">
            <a:avLst/>
          </a:prstGeom>
          <a:noFill/>
          <a:ln/>
        </p:spPr>
        <p:txBody>
          <a:bodyPr wrap="square" lIns="0" tIns="0" rIns="0" bIns="0" rtlCol="0" anchor="t"/>
          <a:lstStyle/>
          <a:p>
            <a:pPr algn="l" indent="0" marL="0">
              <a:buNone/>
            </a:pPr>
            <a:r>
              <a:rPr lang="en-US" sz="1300" b="1" dirty="0">
                <a:solidFill>
                  <a:srgbClr val="09A1E5"/>
                </a:solidFill>
                <a:latin typeface="Alexandria" pitchFamily="34" charset="0"/>
                <a:ea typeface="Alexandria" pitchFamily="34" charset="-122"/>
                <a:cs typeface="Alexandria" pitchFamily="34" charset="-120"/>
              </a:rPr>
              <a:t>Gương mặt &amp; giọng nói thật</a:t>
            </a:r>
            <a:endParaRPr lang="en-US" sz="1300" dirty="0"/>
          </a:p>
        </p:txBody>
      </p:sp>
      <p:sp>
        <p:nvSpPr>
          <p:cNvPr id="26" name="Text 24"/>
          <p:cNvSpPr/>
          <p:nvPr/>
        </p:nvSpPr>
        <p:spPr>
          <a:xfrm>
            <a:off x="4864608" y="2569464"/>
            <a:ext cx="3730752" cy="237744"/>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Video ghép nhiều khách cùng gặp một khó khăn</a:t>
            </a:r>
            <a:endParaRPr lang="en-US" sz="1000" dirty="0"/>
          </a:p>
        </p:txBody>
      </p:sp>
      <p:sp>
        <p:nvSpPr>
          <p:cNvPr id="27" name="Shape 25"/>
          <p:cNvSpPr/>
          <p:nvPr/>
        </p:nvSpPr>
        <p:spPr>
          <a:xfrm>
            <a:off x="4663440" y="2953512"/>
            <a:ext cx="4023360" cy="694944"/>
          </a:xfrm>
          <a:prstGeom prst="roundRect">
            <a:avLst>
              <a:gd name="adj" fmla="val 10526"/>
            </a:avLst>
          </a:prstGeom>
          <a:solidFill>
            <a:srgbClr val="FFFFFF"/>
          </a:solidFill>
          <a:ln w="12700">
            <a:solidFill>
              <a:srgbClr val="E6E2D6"/>
            </a:solidFill>
            <a:prstDash val="solid"/>
          </a:ln>
        </p:spPr>
      </p:sp>
      <p:sp>
        <p:nvSpPr>
          <p:cNvPr id="28" name="Shape 26"/>
          <p:cNvSpPr/>
          <p:nvPr/>
        </p:nvSpPr>
        <p:spPr>
          <a:xfrm>
            <a:off x="4663440" y="3063240"/>
            <a:ext cx="64008" cy="475488"/>
          </a:xfrm>
          <a:prstGeom prst="rect">
            <a:avLst/>
          </a:prstGeom>
          <a:solidFill>
            <a:srgbClr val="49B296"/>
          </a:solidFill>
          <a:ln w="12700">
            <a:solidFill>
              <a:srgbClr val="49B296"/>
            </a:solidFill>
            <a:prstDash val="solid"/>
          </a:ln>
        </p:spPr>
      </p:sp>
      <p:sp>
        <p:nvSpPr>
          <p:cNvPr id="29" name="Text 27"/>
          <p:cNvSpPr/>
          <p:nvPr/>
        </p:nvSpPr>
        <p:spPr>
          <a:xfrm>
            <a:off x="4864608" y="3044952"/>
            <a:ext cx="3730752" cy="274320"/>
          </a:xfrm>
          <a:prstGeom prst="rect">
            <a:avLst/>
          </a:prstGeom>
          <a:noFill/>
          <a:ln/>
        </p:spPr>
        <p:txBody>
          <a:bodyPr wrap="square" lIns="0" tIns="0" rIns="0" bIns="0" rtlCol="0" anchor="t"/>
          <a:lstStyle/>
          <a:p>
            <a:pPr algn="l" indent="0" marL="0">
              <a:buNone/>
            </a:pPr>
            <a:r>
              <a:rPr lang="en-US" sz="1300" b="1" dirty="0">
                <a:solidFill>
                  <a:srgbClr val="49B296"/>
                </a:solidFill>
                <a:latin typeface="Alexandria" pitchFamily="34" charset="0"/>
                <a:ea typeface="Alexandria" pitchFamily="34" charset="-122"/>
                <a:cs typeface="Alexandria" pitchFamily="34" charset="-120"/>
              </a:rPr>
              <a:t>Khuyến nghị cụ thể</a:t>
            </a:r>
            <a:endParaRPr lang="en-US" sz="1300" dirty="0"/>
          </a:p>
        </p:txBody>
      </p:sp>
      <p:sp>
        <p:nvSpPr>
          <p:cNvPr id="30" name="Text 28"/>
          <p:cNvSpPr/>
          <p:nvPr/>
        </p:nvSpPr>
        <p:spPr>
          <a:xfrm>
            <a:off x="4864608" y="3337560"/>
            <a:ext cx="3730752" cy="237744"/>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Không nói “cải thiện UX” mà nói “giảm form đăng ký từ 5 xuống 2 trường”</a:t>
            </a:r>
            <a:endParaRPr lang="en-US" sz="1000" dirty="0"/>
          </a:p>
        </p:txBody>
      </p:sp>
      <p:sp>
        <p:nvSpPr>
          <p:cNvPr id="31" name="Shape 29"/>
          <p:cNvSpPr/>
          <p:nvPr/>
        </p:nvSpPr>
        <p:spPr>
          <a:xfrm>
            <a:off x="4663440" y="3721608"/>
            <a:ext cx="4023360" cy="694944"/>
          </a:xfrm>
          <a:prstGeom prst="roundRect">
            <a:avLst>
              <a:gd name="adj" fmla="val 10526"/>
            </a:avLst>
          </a:prstGeom>
          <a:solidFill>
            <a:srgbClr val="FFFFFF"/>
          </a:solidFill>
          <a:ln w="12700">
            <a:solidFill>
              <a:srgbClr val="E6E2D6"/>
            </a:solidFill>
            <a:prstDash val="solid"/>
          </a:ln>
        </p:spPr>
      </p:sp>
      <p:sp>
        <p:nvSpPr>
          <p:cNvPr id="32" name="Shape 30"/>
          <p:cNvSpPr/>
          <p:nvPr/>
        </p:nvSpPr>
        <p:spPr>
          <a:xfrm>
            <a:off x="4663440" y="3831336"/>
            <a:ext cx="64008" cy="475488"/>
          </a:xfrm>
          <a:prstGeom prst="rect">
            <a:avLst/>
          </a:prstGeom>
          <a:solidFill>
            <a:srgbClr val="962B7C"/>
          </a:solidFill>
          <a:ln w="12700">
            <a:solidFill>
              <a:srgbClr val="962B7C"/>
            </a:solidFill>
            <a:prstDash val="solid"/>
          </a:ln>
        </p:spPr>
      </p:sp>
      <p:sp>
        <p:nvSpPr>
          <p:cNvPr id="33" name="Text 31"/>
          <p:cNvSpPr/>
          <p:nvPr/>
        </p:nvSpPr>
        <p:spPr>
          <a:xfrm>
            <a:off x="4864608" y="3813048"/>
            <a:ext cx="3730752" cy="274320"/>
          </a:xfrm>
          <a:prstGeom prst="rect">
            <a:avLst/>
          </a:prstGeom>
          <a:noFill/>
          <a:ln/>
        </p:spPr>
        <p:txBody>
          <a:bodyPr wrap="square" lIns="0" tIns="0" rIns="0" bIns="0" rtlCol="0" anchor="t"/>
          <a:lstStyle/>
          <a:p>
            <a:pPr algn="l" indent="0" marL="0">
              <a:buNone/>
            </a:pPr>
            <a:r>
              <a:rPr lang="en-US" sz="1300" b="1" dirty="0">
                <a:solidFill>
                  <a:srgbClr val="962B7C"/>
                </a:solidFill>
                <a:latin typeface="Alexandria" pitchFamily="34" charset="0"/>
                <a:ea typeface="Alexandria" pitchFamily="34" charset="-122"/>
                <a:cs typeface="Alexandria" pitchFamily="34" charset="-120"/>
              </a:rPr>
              <a:t>Gắn với mục tiêu ban đầu</a:t>
            </a:r>
            <a:endParaRPr lang="en-US" sz="1300" dirty="0"/>
          </a:p>
        </p:txBody>
      </p:sp>
      <p:sp>
        <p:nvSpPr>
          <p:cNvPr id="34" name="Text 32"/>
          <p:cNvSpPr/>
          <p:nvPr/>
        </p:nvSpPr>
        <p:spPr>
          <a:xfrm>
            <a:off x="4864608" y="4105656"/>
            <a:ext cx="3730752" cy="237744"/>
          </a:xfrm>
          <a:prstGeom prst="rect">
            <a:avLst/>
          </a:prstGeom>
          <a:noFill/>
          <a:ln/>
        </p:spPr>
        <p:txBody>
          <a:bodyPr wrap="square" lIns="0" tIns="0" rIns="0" bIns="0" rtlCol="0" anchor="t"/>
          <a:lstStyle/>
          <a:p>
            <a:pPr algn="l" indent="0" marL="0">
              <a:buNone/>
            </a:pPr>
            <a:r>
              <a:rPr lang="en-US" sz="1000" dirty="0">
                <a:solidFill>
                  <a:srgbClr val="3A3542"/>
                </a:solidFill>
                <a:latin typeface="Alexandria" pitchFamily="34" charset="0"/>
                <a:ea typeface="Alexandria" pitchFamily="34" charset="-122"/>
                <a:cs typeface="Alexandria" pitchFamily="34" charset="-120"/>
              </a:rPr>
              <a:t>Thêm phần brainstorm để các bên tham gia và ủng hộ</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962B7C"/>
        </a:solidFill>
      </p:bgPr>
    </p:bg>
    <p:spTree>
      <p:nvGrpSpPr>
        <p:cNvPr id="1" name=""/>
        <p:cNvGrpSpPr/>
        <p:nvPr/>
      </p:nvGrpSpPr>
      <p:grpSpPr>
        <a:xfrm>
          <a:off x="0" y="0"/>
          <a:ext cx="0" cy="0"/>
          <a:chOff x="0" y="0"/>
          <a:chExt cx="0" cy="0"/>
        </a:xfrm>
      </p:grpSpPr>
      <p:sp>
        <p:nvSpPr>
          <p:cNvPr id="2" name="Shape 0"/>
          <p:cNvSpPr/>
          <p:nvPr/>
        </p:nvSpPr>
        <p:spPr>
          <a:xfrm>
            <a:off x="7589520" y="-822960"/>
            <a:ext cx="2194560" cy="2194560"/>
          </a:xfrm>
          <a:prstGeom prst="ellipse">
            <a:avLst/>
          </a:prstGeom>
          <a:solidFill>
            <a:srgbClr val="FFD23B"/>
          </a:solidFill>
          <a:ln w="12700">
            <a:solidFill>
              <a:srgbClr val="FFD23B"/>
            </a:solidFill>
            <a:prstDash val="solid"/>
          </a:ln>
        </p:spPr>
      </p:sp>
      <p:sp>
        <p:nvSpPr>
          <p:cNvPr id="3" name="Shape 1"/>
          <p:cNvSpPr/>
          <p:nvPr/>
        </p:nvSpPr>
        <p:spPr>
          <a:xfrm>
            <a:off x="8321040" y="1188720"/>
            <a:ext cx="731520" cy="731520"/>
          </a:xfrm>
          <a:prstGeom prst="ellipse">
            <a:avLst/>
          </a:prstGeom>
          <a:solidFill>
            <a:srgbClr val="FF5178"/>
          </a:solidFill>
          <a:ln w="12700">
            <a:solidFill>
              <a:srgbClr val="FF5178"/>
            </a:solidFill>
            <a:prstDash val="solid"/>
          </a:ln>
        </p:spPr>
      </p:sp>
      <p:sp>
        <p:nvSpPr>
          <p:cNvPr id="4" name="Text 2"/>
          <p:cNvSpPr/>
          <p:nvPr/>
        </p:nvSpPr>
        <p:spPr>
          <a:xfrm>
            <a:off x="457200" y="365760"/>
            <a:ext cx="5486400" cy="365760"/>
          </a:xfrm>
          <a:prstGeom prst="rect">
            <a:avLst/>
          </a:prstGeom>
          <a:noFill/>
          <a:ln/>
        </p:spPr>
        <p:txBody>
          <a:bodyPr wrap="square" lIns="0" tIns="0" rIns="0" bIns="0" rtlCol="0" anchor="t"/>
          <a:lstStyle/>
          <a:p>
            <a:pPr algn="l" indent="0" marL="0">
              <a:buNone/>
            </a:pPr>
            <a:r>
              <a:rPr lang="en-US" sz="1400" b="1" dirty="0">
                <a:solidFill>
                  <a:srgbClr val="FFD23B"/>
                </a:solidFill>
                <a:latin typeface="Alexandria" pitchFamily="34" charset="0"/>
                <a:ea typeface="Alexandria" pitchFamily="34" charset="-122"/>
                <a:cs typeface="Alexandria" pitchFamily="34" charset="-120"/>
              </a:rPr>
              <a:t>Tổng kết</a:t>
            </a:r>
            <a:endParaRPr lang="en-US" sz="1400" dirty="0"/>
          </a:p>
        </p:txBody>
      </p:sp>
      <p:sp>
        <p:nvSpPr>
          <p:cNvPr id="5" name="Text 3"/>
          <p:cNvSpPr/>
          <p:nvPr/>
        </p:nvSpPr>
        <p:spPr>
          <a:xfrm>
            <a:off x="457200" y="731520"/>
            <a:ext cx="6949440" cy="822960"/>
          </a:xfrm>
          <a:prstGeom prst="rect">
            <a:avLst/>
          </a:prstGeom>
          <a:noFill/>
          <a:ln/>
        </p:spPr>
        <p:txBody>
          <a:bodyPr wrap="square" lIns="0" tIns="0" rIns="0" bIns="0" rtlCol="0" anchor="t"/>
          <a:lstStyle/>
          <a:p>
            <a:pPr algn="l" indent="0" marL="0">
              <a:buNone/>
            </a:pPr>
            <a:r>
              <a:rPr lang="en-US" sz="2100" b="1" dirty="0">
                <a:solidFill>
                  <a:srgbClr val="FFFFFF"/>
                </a:solidFill>
                <a:latin typeface="Alexandria" pitchFamily="34" charset="0"/>
                <a:ea typeface="Alexandria" pitchFamily="34" charset="-122"/>
                <a:cs typeface="Alexandria" pitchFamily="34" charset="-120"/>
              </a:rPr>
              <a:t>Đằng sau mỗi con số là một câu chuyện “vì sao” đang chờ được lắng nghe</a:t>
            </a:r>
            <a:endParaRPr lang="en-US" sz="2100" dirty="0"/>
          </a:p>
        </p:txBody>
      </p:sp>
      <p:sp>
        <p:nvSpPr>
          <p:cNvPr id="6" name="Shape 4"/>
          <p:cNvSpPr/>
          <p:nvPr/>
        </p:nvSpPr>
        <p:spPr>
          <a:xfrm>
            <a:off x="457200" y="1783080"/>
            <a:ext cx="411480" cy="411480"/>
          </a:xfrm>
          <a:prstGeom prst="ellipse">
            <a:avLst/>
          </a:prstGeom>
          <a:solidFill>
            <a:srgbClr val="FFD23B"/>
          </a:solidFill>
          <a:ln w="12700">
            <a:solidFill>
              <a:srgbClr val="FFD23B"/>
            </a:solidFill>
            <a:prstDash val="solid"/>
          </a:ln>
        </p:spPr>
      </p:sp>
      <p:sp>
        <p:nvSpPr>
          <p:cNvPr id="7" name="Text 5"/>
          <p:cNvSpPr/>
          <p:nvPr/>
        </p:nvSpPr>
        <p:spPr>
          <a:xfrm>
            <a:off x="457200" y="1783080"/>
            <a:ext cx="411480" cy="411480"/>
          </a:xfrm>
          <a:prstGeom prst="rect">
            <a:avLst/>
          </a:prstGeom>
          <a:noFill/>
          <a:ln/>
        </p:spPr>
        <p:txBody>
          <a:bodyPr wrap="square" lIns="0" tIns="0" rIns="0" bIns="0" rtlCol="0" anchor="ctr"/>
          <a:lstStyle/>
          <a:p>
            <a:pPr algn="ctr" indent="0" marL="0">
              <a:buNone/>
            </a:pPr>
            <a:r>
              <a:rPr lang="en-US" sz="1400" b="1" dirty="0">
                <a:solidFill>
                  <a:srgbClr val="962B7C"/>
                </a:solidFill>
                <a:latin typeface="Alexandria" pitchFamily="34" charset="0"/>
                <a:ea typeface="Alexandria" pitchFamily="34" charset="-122"/>
                <a:cs typeface="Alexandria" pitchFamily="34" charset="-120"/>
              </a:rPr>
              <a:t>1</a:t>
            </a:r>
            <a:endParaRPr lang="en-US" sz="1400" dirty="0"/>
          </a:p>
        </p:txBody>
      </p:sp>
      <p:sp>
        <p:nvSpPr>
          <p:cNvPr id="8" name="Text 6"/>
          <p:cNvSpPr/>
          <p:nvPr/>
        </p:nvSpPr>
        <p:spPr>
          <a:xfrm>
            <a:off x="1051560" y="1737360"/>
            <a:ext cx="7589520" cy="548640"/>
          </a:xfrm>
          <a:prstGeom prst="rect">
            <a:avLst/>
          </a:prstGeom>
          <a:noFill/>
          <a:ln/>
        </p:spPr>
        <p:txBody>
          <a:bodyPr wrap="square" lIns="0" tIns="0" rIns="0" bIns="0" rtlCol="0" anchor="ctr"/>
          <a:lstStyle/>
          <a:p>
            <a:pPr indent="0" marL="0">
              <a:buNone/>
            </a:pPr>
            <a:r>
              <a:rPr lang="en-US" sz="1300" b="1" dirty="0">
                <a:solidFill>
                  <a:srgbClr val="FFD23B"/>
                </a:solidFill>
                <a:latin typeface="Alexandria" pitchFamily="34" charset="0"/>
                <a:ea typeface="Alexandria" pitchFamily="34" charset="-122"/>
                <a:cs typeface="Alexandria" pitchFamily="34" charset="-120"/>
              </a:rPr>
              <a:t>Hiểu vì sao: </a:t>
            </a:r>
            <a:pPr indent="0" marL="0">
              <a:buNone/>
            </a:pPr>
            <a:r>
              <a:rPr lang="en-US" sz="1300" dirty="0">
                <a:solidFill>
                  <a:srgbClr val="FFFFFF"/>
                </a:solidFill>
                <a:latin typeface="Alexandria" pitchFamily="34" charset="0"/>
                <a:ea typeface="Alexandria" pitchFamily="34" charset="-122"/>
                <a:cs typeface="Alexandria" pitchFamily="34" charset="-120"/>
              </a:rPr>
              <a:t>định tính giải thích động cơ, rào cản, cảm xúc mà số liệu không thấy; kết hợp theo kiểu “sandwich”</a:t>
            </a:r>
            <a:endParaRPr lang="en-US" sz="1300" dirty="0"/>
          </a:p>
        </p:txBody>
      </p:sp>
      <p:sp>
        <p:nvSpPr>
          <p:cNvPr id="9" name="Shape 7"/>
          <p:cNvSpPr/>
          <p:nvPr/>
        </p:nvSpPr>
        <p:spPr>
          <a:xfrm>
            <a:off x="457200" y="2441448"/>
            <a:ext cx="411480" cy="411480"/>
          </a:xfrm>
          <a:prstGeom prst="ellipse">
            <a:avLst/>
          </a:prstGeom>
          <a:solidFill>
            <a:srgbClr val="49B296"/>
          </a:solidFill>
          <a:ln w="12700">
            <a:solidFill>
              <a:srgbClr val="49B296"/>
            </a:solidFill>
            <a:prstDash val="solid"/>
          </a:ln>
        </p:spPr>
      </p:sp>
      <p:sp>
        <p:nvSpPr>
          <p:cNvPr id="10" name="Text 8"/>
          <p:cNvSpPr/>
          <p:nvPr/>
        </p:nvSpPr>
        <p:spPr>
          <a:xfrm>
            <a:off x="457200" y="2441448"/>
            <a:ext cx="411480" cy="411480"/>
          </a:xfrm>
          <a:prstGeom prst="rect">
            <a:avLst/>
          </a:prstGeom>
          <a:noFill/>
          <a:ln/>
        </p:spPr>
        <p:txBody>
          <a:bodyPr wrap="square" lIns="0" tIns="0" rIns="0" bIns="0" rtlCol="0" anchor="ctr"/>
          <a:lstStyle/>
          <a:p>
            <a:pPr algn="ctr" indent="0" marL="0">
              <a:buNone/>
            </a:pPr>
            <a:r>
              <a:rPr lang="en-US" sz="1400" b="1" dirty="0">
                <a:solidFill>
                  <a:srgbClr val="962B7C"/>
                </a:solidFill>
                <a:latin typeface="Alexandria" pitchFamily="34" charset="0"/>
                <a:ea typeface="Alexandria" pitchFamily="34" charset="-122"/>
                <a:cs typeface="Alexandria" pitchFamily="34" charset="-120"/>
              </a:rPr>
              <a:t>2</a:t>
            </a:r>
            <a:endParaRPr lang="en-US" sz="1400" dirty="0"/>
          </a:p>
        </p:txBody>
      </p:sp>
      <p:sp>
        <p:nvSpPr>
          <p:cNvPr id="11" name="Text 9"/>
          <p:cNvSpPr/>
          <p:nvPr/>
        </p:nvSpPr>
        <p:spPr>
          <a:xfrm>
            <a:off x="1051560" y="2395728"/>
            <a:ext cx="7589520" cy="548640"/>
          </a:xfrm>
          <a:prstGeom prst="rect">
            <a:avLst/>
          </a:prstGeom>
          <a:noFill/>
          <a:ln/>
        </p:spPr>
        <p:txBody>
          <a:bodyPr wrap="square" lIns="0" tIns="0" rIns="0" bIns="0" rtlCol="0" anchor="ctr"/>
          <a:lstStyle/>
          <a:p>
            <a:pPr indent="0" marL="0">
              <a:buNone/>
            </a:pPr>
            <a:r>
              <a:rPr lang="en-US" sz="1300" b="1" dirty="0">
                <a:solidFill>
                  <a:srgbClr val="FFD23B"/>
                </a:solidFill>
                <a:latin typeface="Alexandria" pitchFamily="34" charset="0"/>
                <a:ea typeface="Alexandria" pitchFamily="34" charset="-122"/>
                <a:cs typeface="Alexandria" pitchFamily="34" charset="-120"/>
              </a:rPr>
              <a:t>Chọn đúng phương pháp: </a:t>
            </a:r>
            <a:pPr indent="0" marL="0">
              <a:buNone/>
            </a:pPr>
            <a:r>
              <a:rPr lang="en-US" sz="1300" dirty="0">
                <a:solidFill>
                  <a:srgbClr val="FFFFFF"/>
                </a:solidFill>
                <a:latin typeface="Alexandria" pitchFamily="34" charset="0"/>
                <a:ea typeface="Alexandria" pitchFamily="34" charset="-122"/>
                <a:cs typeface="Alexandria" pitchFamily="34" charset="-120"/>
              </a:rPr>
              <a:t>theo mục tiêu: insight cá nhân, động lực nhóm, hành vi thật hay khả dụng</a:t>
            </a:r>
            <a:endParaRPr lang="en-US" sz="1300" dirty="0"/>
          </a:p>
        </p:txBody>
      </p:sp>
      <p:sp>
        <p:nvSpPr>
          <p:cNvPr id="12" name="Shape 10"/>
          <p:cNvSpPr/>
          <p:nvPr/>
        </p:nvSpPr>
        <p:spPr>
          <a:xfrm>
            <a:off x="457200" y="3099816"/>
            <a:ext cx="411480" cy="411480"/>
          </a:xfrm>
          <a:prstGeom prst="ellipse">
            <a:avLst/>
          </a:prstGeom>
          <a:solidFill>
            <a:srgbClr val="09A1E5"/>
          </a:solidFill>
          <a:ln w="12700">
            <a:solidFill>
              <a:srgbClr val="09A1E5"/>
            </a:solidFill>
            <a:prstDash val="solid"/>
          </a:ln>
        </p:spPr>
      </p:sp>
      <p:sp>
        <p:nvSpPr>
          <p:cNvPr id="13" name="Text 11"/>
          <p:cNvSpPr/>
          <p:nvPr/>
        </p:nvSpPr>
        <p:spPr>
          <a:xfrm>
            <a:off x="457200" y="3099816"/>
            <a:ext cx="411480" cy="411480"/>
          </a:xfrm>
          <a:prstGeom prst="rect">
            <a:avLst/>
          </a:prstGeom>
          <a:noFill/>
          <a:ln/>
        </p:spPr>
        <p:txBody>
          <a:bodyPr wrap="square" lIns="0" tIns="0" rIns="0" bIns="0" rtlCol="0" anchor="ctr"/>
          <a:lstStyle/>
          <a:p>
            <a:pPr algn="ctr" indent="0" marL="0">
              <a:buNone/>
            </a:pPr>
            <a:r>
              <a:rPr lang="en-US" sz="1400" b="1" dirty="0">
                <a:solidFill>
                  <a:srgbClr val="962B7C"/>
                </a:solidFill>
                <a:latin typeface="Alexandria" pitchFamily="34" charset="0"/>
                <a:ea typeface="Alexandria" pitchFamily="34" charset="-122"/>
                <a:cs typeface="Alexandria" pitchFamily="34" charset="-120"/>
              </a:rPr>
              <a:t>3</a:t>
            </a:r>
            <a:endParaRPr lang="en-US" sz="1400" dirty="0"/>
          </a:p>
        </p:txBody>
      </p:sp>
      <p:sp>
        <p:nvSpPr>
          <p:cNvPr id="14" name="Text 12"/>
          <p:cNvSpPr/>
          <p:nvPr/>
        </p:nvSpPr>
        <p:spPr>
          <a:xfrm>
            <a:off x="1051560" y="3054096"/>
            <a:ext cx="7589520" cy="548640"/>
          </a:xfrm>
          <a:prstGeom prst="rect">
            <a:avLst/>
          </a:prstGeom>
          <a:noFill/>
          <a:ln/>
        </p:spPr>
        <p:txBody>
          <a:bodyPr wrap="square" lIns="0" tIns="0" rIns="0" bIns="0" rtlCol="0" anchor="ctr"/>
          <a:lstStyle/>
          <a:p>
            <a:pPr indent="0" marL="0">
              <a:buNone/>
            </a:pPr>
            <a:r>
              <a:rPr lang="en-US" sz="1300" b="1" dirty="0">
                <a:solidFill>
                  <a:srgbClr val="FFD23B"/>
                </a:solidFill>
                <a:latin typeface="Alexandria" pitchFamily="34" charset="0"/>
                <a:ea typeface="Alexandria" pitchFamily="34" charset="-122"/>
                <a:cs typeface="Alexandria" pitchFamily="34" charset="-120"/>
              </a:rPr>
              <a:t>Hỏi đúng &amp; lắng nghe: </a:t>
            </a:r>
            <a:pPr indent="0" marL="0">
              <a:buNone/>
            </a:pPr>
            <a:r>
              <a:rPr lang="en-US" sz="1300" dirty="0">
                <a:solidFill>
                  <a:srgbClr val="FFFFFF"/>
                </a:solidFill>
                <a:latin typeface="Alexandria" pitchFamily="34" charset="0"/>
                <a:ea typeface="Alexandria" pitchFamily="34" charset="-122"/>
                <a:cs typeface="Alexandria" pitchFamily="34" charset="-120"/>
              </a:rPr>
              <a:t>tránh 5 lỗi đặt câu hỏi; tạo thiện cảm trong 2–3 phút đầu; chạy thử trước</a:t>
            </a:r>
            <a:endParaRPr lang="en-US" sz="1300" dirty="0"/>
          </a:p>
        </p:txBody>
      </p:sp>
      <p:sp>
        <p:nvSpPr>
          <p:cNvPr id="15" name="Shape 13"/>
          <p:cNvSpPr/>
          <p:nvPr/>
        </p:nvSpPr>
        <p:spPr>
          <a:xfrm>
            <a:off x="457200" y="3758184"/>
            <a:ext cx="411480" cy="411480"/>
          </a:xfrm>
          <a:prstGeom prst="ellipse">
            <a:avLst/>
          </a:prstGeom>
          <a:solidFill>
            <a:srgbClr val="FF9259"/>
          </a:solidFill>
          <a:ln w="12700">
            <a:solidFill>
              <a:srgbClr val="FF9259"/>
            </a:solidFill>
            <a:prstDash val="solid"/>
          </a:ln>
        </p:spPr>
      </p:sp>
      <p:sp>
        <p:nvSpPr>
          <p:cNvPr id="16" name="Text 14"/>
          <p:cNvSpPr/>
          <p:nvPr/>
        </p:nvSpPr>
        <p:spPr>
          <a:xfrm>
            <a:off x="457200" y="3758184"/>
            <a:ext cx="411480" cy="411480"/>
          </a:xfrm>
          <a:prstGeom prst="rect">
            <a:avLst/>
          </a:prstGeom>
          <a:noFill/>
          <a:ln/>
        </p:spPr>
        <p:txBody>
          <a:bodyPr wrap="square" lIns="0" tIns="0" rIns="0" bIns="0" rtlCol="0" anchor="ctr"/>
          <a:lstStyle/>
          <a:p>
            <a:pPr algn="ctr" indent="0" marL="0">
              <a:buNone/>
            </a:pPr>
            <a:r>
              <a:rPr lang="en-US" sz="1400" b="1" dirty="0">
                <a:solidFill>
                  <a:srgbClr val="962B7C"/>
                </a:solidFill>
                <a:latin typeface="Alexandria" pitchFamily="34" charset="0"/>
                <a:ea typeface="Alexandria" pitchFamily="34" charset="-122"/>
                <a:cs typeface="Alexandria" pitchFamily="34" charset="-120"/>
              </a:rPr>
              <a:t>4</a:t>
            </a:r>
            <a:endParaRPr lang="en-US" sz="1400" dirty="0"/>
          </a:p>
        </p:txBody>
      </p:sp>
      <p:sp>
        <p:nvSpPr>
          <p:cNvPr id="17" name="Text 15"/>
          <p:cNvSpPr/>
          <p:nvPr/>
        </p:nvSpPr>
        <p:spPr>
          <a:xfrm>
            <a:off x="1051560" y="3712464"/>
            <a:ext cx="7589520" cy="548640"/>
          </a:xfrm>
          <a:prstGeom prst="rect">
            <a:avLst/>
          </a:prstGeom>
          <a:noFill/>
          <a:ln/>
        </p:spPr>
        <p:txBody>
          <a:bodyPr wrap="square" lIns="0" tIns="0" rIns="0" bIns="0" rtlCol="0" anchor="ctr"/>
          <a:lstStyle/>
          <a:p>
            <a:pPr indent="0" marL="0">
              <a:buNone/>
            </a:pPr>
            <a:r>
              <a:rPr lang="en-US" sz="1300" b="1" dirty="0">
                <a:solidFill>
                  <a:srgbClr val="FFD23B"/>
                </a:solidFill>
                <a:latin typeface="Alexandria" pitchFamily="34" charset="0"/>
                <a:ea typeface="Alexandria" pitchFamily="34" charset="-122"/>
                <a:cs typeface="Alexandria" pitchFamily="34" charset="-120"/>
              </a:rPr>
              <a:t>Kể chuyện để hành động: </a:t>
            </a:r>
            <a:pPr indent="0" marL="0">
              <a:buNone/>
            </a:pPr>
            <a:r>
              <a:rPr lang="en-US" sz="1300" dirty="0">
                <a:solidFill>
                  <a:srgbClr val="FFFFFF"/>
                </a:solidFill>
                <a:latin typeface="Alexandria" pitchFamily="34" charset="0"/>
                <a:ea typeface="Alexandria" pitchFamily="34" charset="-122"/>
                <a:cs typeface="Alexandria" pitchFamily="34" charset="-120"/>
              </a:rPr>
              <a:t>mã hóa và tổng hợp kỹ; AI hỗ trợ, con người diễn giải; khuyến nghị cụ thể</a:t>
            </a:r>
            <a:endParaRPr lang="en-US" sz="1300" dirty="0"/>
          </a:p>
        </p:txBody>
      </p:sp>
      <p:sp>
        <p:nvSpPr>
          <p:cNvPr id="18" name="Text 16"/>
          <p:cNvSpPr/>
          <p:nvPr/>
        </p:nvSpPr>
        <p:spPr>
          <a:xfrm>
            <a:off x="5029200" y="4572000"/>
            <a:ext cx="3657600" cy="320040"/>
          </a:xfrm>
          <a:prstGeom prst="rect">
            <a:avLst/>
          </a:prstGeom>
          <a:noFill/>
          <a:ln/>
        </p:spPr>
        <p:txBody>
          <a:bodyPr wrap="square" lIns="0" tIns="0" rIns="0" bIns="0" rtlCol="0" anchor="ctr"/>
          <a:lstStyle/>
          <a:p>
            <a:pPr algn="r" indent="0" marL="0">
              <a:buNone/>
            </a:pPr>
            <a:r>
              <a:rPr lang="en-US" sz="1200" dirty="0">
                <a:solidFill>
                  <a:srgbClr val="E9D3E3"/>
                </a:solidFill>
                <a:latin typeface="Alexandria" pitchFamily="34" charset="0"/>
                <a:ea typeface="Alexandria" pitchFamily="34" charset="-122"/>
                <a:cs typeface="Alexandria" pitchFamily="34" charset="-120"/>
              </a:rPr>
              <a:t>Câu hỏi và thảo luận?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định tính trong Marketing</dc:title>
  <dc:subject>PptxGenJS Presentation</dc:subject>
  <dc:creator>PptxGenJS</dc:creator>
  <cp:lastModifiedBy>PptxGenJS</cp:lastModifiedBy>
  <cp:revision>1</cp:revision>
  <dcterms:created xsi:type="dcterms:W3CDTF">2026-10-01T16:27:09Z</dcterms:created>
  <dcterms:modified xsi:type="dcterms:W3CDTF">2026-10-01T16:27:09Z</dcterms:modified>
</cp:coreProperties>
</file>