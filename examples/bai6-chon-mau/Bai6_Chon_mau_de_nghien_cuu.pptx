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 – do chọn mẫu</c:v>
                </c:pt>
              </c:strCache>
            </c:strRef>
          </c:tx>
          <c:spPr>
            <a:solidFill>
              <a:srgbClr val="09A1E5"/>
            </a:solidFill>
            <a:ln w="31750" cap="flat">
              <a:solidFill>
                <a:srgbClr val="09A1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9A1E5"/>
              </a:solidFill>
              <a:ln w="9525" cap="flat">
                <a:solidFill>
                  <a:srgbClr val="09A1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7</c:v>
                </c:pt>
                <c:pt idx="2">
                  <c:v>5.5</c:v>
                </c:pt>
                <c:pt idx="3">
                  <c:v>4.5</c:v>
                </c:pt>
                <c:pt idx="4">
                  <c:v>3.7</c:v>
                </c:pt>
                <c:pt idx="5">
                  <c:v>3</c:v>
                </c:pt>
                <c:pt idx="6">
                  <c:v>2.4</c:v>
                </c:pt>
                <c:pt idx="7">
                  <c:v>1.7</c:v>
                </c:pt>
                <c:pt idx="8">
                  <c:v>1</c:v>
                </c:pt>
                <c:pt idx="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 – không do chọn mẫu</c:v>
                </c:pt>
              </c:strCache>
            </c:strRef>
          </c:tx>
          <c:spPr>
            <a:solidFill>
              <a:srgbClr val="FF5178"/>
            </a:solidFill>
            <a:ln w="31750" cap="flat">
              <a:solidFill>
                <a:srgbClr val="FF51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5178"/>
              </a:solidFill>
              <a:ln w="9525" cap="flat">
                <a:solidFill>
                  <a:srgbClr val="FF51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N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2.6</c:v>
                </c:pt>
                <c:pt idx="4">
                  <c:v>3.3</c:v>
                </c:pt>
                <c:pt idx="5">
                  <c:v>4.1</c:v>
                </c:pt>
                <c:pt idx="6">
                  <c:v>5</c:v>
                </c:pt>
                <c:pt idx="7">
                  <c:v>6</c:v>
                </c:pt>
                <c:pt idx="8">
                  <c:v>7.1</c:v>
                </c:pt>
                <c:pt idx="9">
                  <c:v>8.3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Tổng sai lệch</c:v>
                </c:pt>
              </c:strCache>
            </c:strRef>
          </c:tx>
          <c:spPr>
            <a:solidFill>
              <a:srgbClr val="962B7C"/>
            </a:solidFill>
            <a:ln w="31750" cap="flat">
              <a:solidFill>
                <a:srgbClr val="962B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62B7C"/>
              </a:solidFill>
              <a:ln w="9525" cap="flat">
                <a:solidFill>
                  <a:srgbClr val="962B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N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11</c:v>
                </c:pt>
                <c:pt idx="1">
                  <c:v>8.5</c:v>
                </c:pt>
                <c:pt idx="2">
                  <c:v>7.5</c:v>
                </c:pt>
                <c:pt idx="3">
                  <c:v>7.1</c:v>
                </c:pt>
                <c:pt idx="4">
                  <c:v>7</c:v>
                </c:pt>
                <c:pt idx="5">
                  <c:v>7.1</c:v>
                </c:pt>
                <c:pt idx="6">
                  <c:v>7.4</c:v>
                </c:pt>
                <c:pt idx="7">
                  <c:v>7.7</c:v>
                </c:pt>
                <c:pt idx="8">
                  <c:v>8.1</c:v>
                </c:pt>
                <c:pt idx="9">
                  <c:v>8.3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7480"/>
                    </a:solidFill>
                    <a:latin typeface="Alexandria"/>
                  </a:defRPr>
                </a:pPr>
                <a:r>
                  <a:rPr sz="1000" b="0" i="0" u="none" strike="noStrike">
                    <a:solidFill>
                      <a:srgbClr val="7A7480"/>
                    </a:solidFill>
                    <a:latin typeface="Alexandria"/>
                  </a:rPr>
                  <a:t>Kích thước mẫu n (so với quy mô đám đông 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480"/>
                </a:solidFill>
                <a:latin typeface="Alexand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480"/>
                </a:solidFill>
                <a:latin typeface="Alexand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AF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3542"/>
              </a:solidFill>
              <a:latin typeface="Alexandria"/>
              <a:cs typeface="Alexandri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914400"/>
            <a:ext cx="3291840" cy="3291840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28800"/>
            <a:ext cx="1737360" cy="173736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2514600"/>
            <a:ext cx="1097280" cy="10972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3703320"/>
            <a:ext cx="640080" cy="6400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3977640"/>
            <a:ext cx="411480" cy="4114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1371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53528" y="137160"/>
            <a:ext cx="164592" cy="164592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46136" y="1371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38744" y="1371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31352" y="1371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429768"/>
            <a:ext cx="164592" cy="164592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3528" y="4297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46136" y="4297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4297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429768"/>
            <a:ext cx="164592" cy="164592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7223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53528" y="7223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46136" y="7223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8744" y="722376"/>
            <a:ext cx="164592" cy="164592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1352" y="72237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10149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3528" y="10149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46136" y="1014984"/>
            <a:ext cx="164592" cy="164592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38744" y="10149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31352" y="101498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8229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822960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12801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mẫu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để nghiên cứu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457200" y="29260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đúng mẫu giúp nghiên cứu marketing nhanh hơn, rẻ hơn — và có thể chính xác hơn điều tra toàn bộ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365760" cy="73152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3931920"/>
            <a:ext cx="365760" cy="73152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3931920"/>
            <a:ext cx="365760" cy="73152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54480" y="3931920"/>
            <a:ext cx="365760" cy="73152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3931920"/>
            <a:ext cx="365760" cy="73152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3931920"/>
            <a:ext cx="365760" cy="73152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Học phần Nghiên cứu Marketing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Sau bài học, người học làm chủ được 5 năng lực chọn mẫu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664208"/>
            <a:ext cx="566928" cy="566928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23774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Giải thích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2761488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vì sao phải chọn mẫu thay vì khảo sát toàn bộ thị trường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35124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18004" y="1664208"/>
            <a:ext cx="566928" cy="56692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18004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318004" y="23774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Phân biệt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318004" y="2761488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đông, đám đông nghiên cứu, phần tử, đơn vị, khung mẫu, hiệu quả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13048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95928" y="1664208"/>
            <a:ext cx="566928" cy="566928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95928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95928" y="23774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Vận dụng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95928" y="2761488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quy trình thiết kế mẫu 5 bước trong dự án nghiên cứu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90972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73852" y="1664208"/>
            <a:ext cx="566928" cy="566928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73852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673852" y="23774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So sánh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673852" y="2761488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nhóm phương pháp chọn mẫu xác suất và phi xác suất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68896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51776" y="1664208"/>
            <a:ext cx="566928" cy="566928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51776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351776" y="23774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Kiểm soát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51776" y="2761488"/>
            <a:ext cx="1197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sai lệch do chọn mẫu (SE) và không do chọn mẫu (NE)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học đi từ “vì sao phải chọn mẫu” đến “chọn mẫu như thế nào”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822960" cy="457200"/>
          </a:xfrm>
          <a:prstGeom prst="roundRect">
            <a:avLst>
              <a:gd name="adj" fmla="val 4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Lý do phải chọn mẫu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1417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 phí · thời gian · nghịch lý sai lệch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463040" y="1956816"/>
            <a:ext cx="7223760" cy="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039112"/>
            <a:ext cx="822960" cy="457200"/>
          </a:xfrm>
          <a:prstGeom prst="roundRect">
            <a:avLst>
              <a:gd name="adj" fmla="val 4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39112"/>
            <a:ext cx="822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2039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Các khái niệm cơ bản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0" y="20391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 · phần tử · đơn vị · khung mẫu · hiệu quả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463040" y="2578608"/>
            <a:ext cx="7223760" cy="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60904"/>
            <a:ext cx="822960" cy="457200"/>
          </a:xfrm>
          <a:prstGeom prst="roundRect">
            <a:avLst>
              <a:gd name="adj" fmla="val 4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660904"/>
            <a:ext cx="822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26609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Quy trình chọn mẫu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89120" y="26609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 bước, từ thị trường nghiên cứu đến thực địa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463040" y="3200400"/>
            <a:ext cx="7223760" cy="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282696"/>
            <a:ext cx="822960" cy="457200"/>
          </a:xfrm>
          <a:prstGeom prst="roundRect">
            <a:avLst>
              <a:gd name="adj" fmla="val 4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82696"/>
            <a:ext cx="822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63040" y="32826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mẫu theo xác suất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89120" y="32826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Ngẫu nhiên đơn giản · hệ thống · phân tầng · theo nhóm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463040" y="3822192"/>
            <a:ext cx="7223760" cy="0"/>
          </a:xfrm>
          <a:prstGeom prst="line">
            <a:avLst/>
          </a:prstGeom>
          <a:noFill/>
          <a:ln w="12700">
            <a:solidFill>
              <a:srgbClr val="E6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04488"/>
            <a:ext cx="822960" cy="457200"/>
          </a:xfrm>
          <a:prstGeom prst="roundRect">
            <a:avLst>
              <a:gd name="adj" fmla="val 40000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04488"/>
            <a:ext cx="822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63040" y="3904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mẫu phi xác suất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89120" y="3904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Thuận tiện · phán đoán · phát triển mầm · định mức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 Lý do phải chọn mẫu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mẫu giúp tiết kiệm chi phí và thời gian so với điều tra toàn bộ (census)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1581912"/>
            <a:ext cx="457200" cy="64008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691640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Tiết kiệm chi phí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" y="2130552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Ngân sách luôn hữu hạn; chi phí thu thập, hiệu chỉnh, phân tích tỷ lệ thuận với kích thước mẫu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Mẫu vừa đủ vẫn đủ tin cậy để suy rộng cho toàn thị trường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Thử nghiệm sản phẩm (pre-/post-test): giảm chi phí hàng mẫu, vận chuyển, quà dùng thử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1581912"/>
            <a:ext cx="457200" cy="64008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691640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Tiết kiệm thời gian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73168" y="2130552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Quyết định marketing cần tính thời sự và kịp thời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Mẫu nhỏ rút ngắn đáng kể thời gian thu thập và xử lý dữ liệu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Đáp ứng nhu cầu ra quyết định nhanh của nhà quản trị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 Lý do phải chọn mẫu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Mẫu được kiểm soát tốt có thể chính xác hơn điều tra toàn bộ đám đông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20040" y="1325880"/>
          <a:ext cx="49377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1920240" y="202996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61488" y="2340864"/>
            <a:ext cx="0" cy="237744"/>
          </a:xfrm>
          <a:prstGeom prst="line">
            <a:avLst/>
          </a:prstGeom>
          <a:noFill/>
          <a:ln w="19050">
            <a:solidFill>
              <a:srgbClr val="962B7C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1920240" y="2029968"/>
            <a:ext cx="16916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sai lệch nhỏ nhất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0" y="14173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giảm dần về 0 khi n → 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tăng theo n: thực địa, phỏng vấn, nhập liệu khó quản lý hơn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0" y="278892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2834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Quy luật cân bằng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Nếu ΔNE − ΔSE &gt; 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tăng thêm n làm kết quả kém chính xác hơn → mẫu tốt thắng census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507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Đồ thị minh họa khái niệm, không phải số liệu thực nghiệm.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 Khái niệm cơ bản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 nghiên cứu là phần đám đông mà nhà nghiên cứu thực sự tiếp cận được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3200400" cy="3063240"/>
          </a:xfrm>
          <a:prstGeom prst="ellipse">
            <a:avLst/>
          </a:prstGeom>
          <a:solidFill>
            <a:srgbClr val="09A1E5">
              <a:alpha val="20000"/>
            </a:srgbClr>
          </a:solidFill>
          <a:ln w="25400">
            <a:solidFill>
              <a:srgbClr val="09A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057400"/>
            <a:ext cx="2286000" cy="2194560"/>
          </a:xfrm>
          <a:prstGeom prst="ellipse">
            <a:avLst/>
          </a:prstGeom>
          <a:solidFill>
            <a:srgbClr val="09A1E5">
              <a:alpha val="45000"/>
            </a:srgbClr>
          </a:solidFill>
          <a:ln w="25400">
            <a:solidFill>
              <a:srgbClr val="09A1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2971800"/>
            <a:ext cx="1097280" cy="1051560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536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 (N)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 nghiên cứu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91640" y="297180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Mẫu (n)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1417320"/>
            <a:ext cx="64008" cy="822960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 (Population)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389120" y="170078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Toàn bộ tập hợp đối tượng cần tìm hiểu theo mục tiêu và phạm vi nghiên cứu.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06240" y="2441448"/>
            <a:ext cx="64008" cy="822960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23957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 nghiên cứu (Study Population)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89120" y="27249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Quy mô tiếp cận được qua dữ liệu thứ cấp — thường lệch so với lý thuyết do sai sót hoặc độ trễ dữ liệu.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06240" y="3465576"/>
            <a:ext cx="64008" cy="822960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4198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Phần tử (Element)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389120" y="37490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Đối tượng trực tiếp cung cấp dữ liệu; đơn vị nhỏ nhất của đám đông.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507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dụ: người tiêu dùng sinh sống tại TP. Hồ Chí Minh, 18–45 tuổi. Ký hiệu: N = quy mô đám đông, n = kích thước mẫu.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 Khái niệm cơ bản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 được chia thành các đơn vị mẫu nhiều cấp, đến tận phần tử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17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1417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TP. Hồ Chí Minh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50992" y="1668780"/>
            <a:ext cx="64008" cy="0"/>
          </a:xfrm>
          <a:prstGeom prst="line">
            <a:avLst/>
          </a:prstGeom>
          <a:noFill/>
          <a:ln w="12700">
            <a:solidFill>
              <a:srgbClr val="962B7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45820" y="2020824"/>
            <a:ext cx="4343400" cy="502920"/>
          </a:xfrm>
          <a:prstGeom prst="roundRect">
            <a:avLst>
              <a:gd name="adj" fmla="val 18182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" y="202082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Đơn vị cấp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202082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Quận / Huyện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62372" y="2272284"/>
            <a:ext cx="452628" cy="0"/>
          </a:xfrm>
          <a:prstGeom prst="line">
            <a:avLst/>
          </a:prstGeom>
          <a:noFill/>
          <a:ln w="12700">
            <a:solidFill>
              <a:srgbClr val="09A1E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234440" y="2624328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26243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Đơn vị cấp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26243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Phường / Xã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73752" y="2875788"/>
            <a:ext cx="841248" cy="0"/>
          </a:xfrm>
          <a:prstGeom prst="line">
            <a:avLst/>
          </a:prstGeom>
          <a:noFill/>
          <a:ln w="12700">
            <a:solidFill>
              <a:srgbClr val="49B29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623060" y="3227832"/>
            <a:ext cx="2788920" cy="502920"/>
          </a:xfrm>
          <a:prstGeom prst="roundRect">
            <a:avLst>
              <a:gd name="adj" fmla="val 18182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3060" y="32278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Đơn vị cấp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32278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Hộ gia đình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85132" y="3479292"/>
            <a:ext cx="1229868" cy="0"/>
          </a:xfrm>
          <a:prstGeom prst="line">
            <a:avLst/>
          </a:prstGeom>
          <a:noFill/>
          <a:ln w="12700">
            <a:solidFill>
              <a:srgbClr val="FF925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011680" y="3831336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38313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Phần tử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06440" y="383133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Cá nhân người tiêu dùng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096512" y="4082796"/>
            <a:ext cx="1618488" cy="0"/>
          </a:xfrm>
          <a:prstGeom prst="line">
            <a:avLst/>
          </a:prstGeom>
          <a:noFill/>
          <a:ln w="12700">
            <a:solidFill>
              <a:srgbClr val="FF517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Đơn vị chọn mẫu = nhóm thu được sau mỗi lần chia nhỏ đám đông; phần tử là đơn vị cuối cùng của quy trình.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 Khái niệm cơ bản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Khung mẫu là danh sách để rút mẫu — thiếu khung mẫu chuẩn là rào cản lớn nhất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72768"/>
          <a:ext cx="38404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234440"/>
                <a:gridCol w="1234440"/>
                <a:gridCol w="868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STT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A1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Họ tên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A1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Địa chỉ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A1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Điện thoại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A1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1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Nguyễn Văn A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Q.1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09xx…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2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Trần Thị B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Q.3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09xx…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3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Lê Văn C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Q.7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09xx…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4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Phạm Thị D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Thủ Đức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09xx…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…</a:t>
                      </a:r>
                      <a:endParaRPr lang="en-US" sz="110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4389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 khung mẫu (dữ liệu giả định)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141732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10912" y="1581912"/>
            <a:ext cx="457200" cy="64008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10912" y="1691640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Khung mẫu chứa gì?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56048" y="213055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Toàn bộ đơn vị/phần tử của đám đông nghiên cứu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Thông tin nhận diện: họ tên, địa chỉ, số điện thoại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32004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3218688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Khi thiếu khung mẫu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Phải phỏng vấn sàng lọc hoặc lập bản đồ địa bàn — tốn kém thời gian và chi phí.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 Khái niệm cơ bản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Hiệu quả chọn mẫu được đánh giá bằng hai thước đo: thống kê và kinh tế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402336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49B2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4173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11680"/>
            <a:ext cx="4023360" cy="274320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463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Hiệu quả thống kê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Statistical efficiency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Đo bằng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Sai lệch chuẩn của ước lượng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246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Cùng kích thước n, thiết kế nào cho sai lệch chuẩn nhỏ hơn thì hiệu quả thống kê cao hơn.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FF92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4173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011680"/>
            <a:ext cx="4023360" cy="274320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463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Hiệu quả kinh tế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Economic efficiency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9204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Đo bằng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 phí / một đơn vị độ chính xác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92040" y="3246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dụ: chọn theo nhóm tiết kiệm chi phí di chuyển của điều tra viên hơn chọn phân tầng.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6.3  Quy trình chọn mẫu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Thiết kế mẫu đi qua 5 bước tuần tự, từ thị trường nghiên cứu đến thực địa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508760"/>
            <a:ext cx="1700784" cy="777240"/>
          </a:xfrm>
          <a:prstGeom prst="homePlate">
            <a:avLst/>
          </a:prstGeom>
          <a:solidFill>
            <a:srgbClr val="FF5178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508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Bước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Xác định thị trường nghiên cứu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365760" cy="45720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Phần tử, đơn vị, phạm vi địa lý, thời gian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1508760"/>
            <a:ext cx="1700784" cy="777240"/>
          </a:xfrm>
          <a:prstGeom prst="chevron">
            <a:avLst/>
          </a:prstGeom>
          <a:solidFill>
            <a:srgbClr val="FF9259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508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Bước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2468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Xác định khung chọn mẫu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48840" y="3246120"/>
            <a:ext cx="365760" cy="45720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Danh sách để giám sát viên, PVV tiếp cận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1508760"/>
            <a:ext cx="1700784" cy="777240"/>
          </a:xfrm>
          <a:prstGeom prst="chevron">
            <a:avLst/>
          </a:prstGeom>
          <a:solidFill>
            <a:srgbClr val="FFD23B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1508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Bước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2468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Xác định kích thước mẫu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94760" y="3246120"/>
            <a:ext cx="365760" cy="45720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Cân bằng độ tin cậy và ngân sách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1508760"/>
            <a:ext cx="1700784" cy="777240"/>
          </a:xfrm>
          <a:prstGeom prst="chevron">
            <a:avLst/>
          </a:prstGeom>
          <a:solidFill>
            <a:srgbClr val="49B296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1508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Bước 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2468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phương pháp chọn mẫu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40680" y="3246120"/>
            <a:ext cx="365760" cy="45720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Xác suất hay phi xác suất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1508760"/>
            <a:ext cx="1700784" cy="777240"/>
          </a:xfrm>
          <a:prstGeom prst="chevron">
            <a:avLst/>
          </a:prstGeom>
          <a:solidFill>
            <a:srgbClr val="09A1E5"/>
          </a:solidFill>
          <a:ln w="19050">
            <a:solidFill>
              <a:srgbClr val="FBFA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508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Bước 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86600" y="2468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Tiến hành chọn mẫu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086600" y="3246120"/>
            <a:ext cx="365760" cy="45720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Rút phần tử, đánh dấu (mapping) địa bàn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507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 bước 1: người tiêu dùng dầu gội đầu tại TP.HCM, 18–35 tuổi.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6.3  Quy trình chọn mẫu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Kích thước mẫu tăng theo độ tin cậy và độ biến thiên, giảm khi chấp nhận sai số lớn hơn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417320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  =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920240" y="15727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Z² · σ²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011680" y="2157984"/>
            <a:ext cx="201168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e²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Ước lượng trung bình, đám đông phân phối chuẩn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375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 minh họa: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Z = 1,96 (95%), σ = 15, e =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 = 1,96² × 15² / 3² ≈ 96,04 → chọn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 = 97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548640" cy="54864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Kích thước mẫu cần tính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548640" cy="54864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Z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Giá trị phân phối chuẩn theo mức tin cậy (95% → Z = 1,96)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548640" cy="54864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σ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Độ lệch chuẩn – mức biến thiên dự kiến của thị trường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548640" cy="54864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Biên độ sai số chấp nhận được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6.4  Chọn mẫu xác suất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mẫu xác suất đổi chi phí lấy tính đại diện; phi xác suất làm điều ngược lại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Tiêu chí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Chọn mẫu xác suất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2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Chọn mẫu phi xác suất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25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Cơ chế chọn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Rút ngẫu nhiên, tuân thủ quy tắc xác suất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Dựa trên thuận tiện hoặc phán đoán chủ quan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Ưu điểm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Tính đại diện cao, tổng quát hóa cho đám đông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Tiết kiệm thời gian, chi phí, nhân lực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Nhược điểm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Cần khung mẫu hoàn chỉnh; tốn thời gian và chi phí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Tính đại diện thấp; không tổng quát hóa thống kê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Ứng dụng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Nghiên cứu mô tả, nghiên cứu nhân quả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Nghiên cứu khám phá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507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Xác suất: mọi phần tử có xác suất được chọn biết trước và khác 0 → kết quả được phép suy rộng cho toàn thị trường.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6.4  Chọn mẫu xác suất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Tám kỹ thuật chọn mẫu được chia đều vào hai nhóm xác suất và phi xác suất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2B2633"/>
          </a:solidFill>
          <a:ln w="12700">
            <a:solidFill>
              <a:srgbClr val="2B26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KỸ THUẬT CHỌN MẪU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828800"/>
            <a:ext cx="0" cy="274320"/>
          </a:xfrm>
          <a:prstGeom prst="line">
            <a:avLst/>
          </a:prstGeom>
          <a:noFill/>
          <a:ln w="19050">
            <a:solidFill>
              <a:srgbClr val="7A74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03120"/>
            <a:ext cx="4572000" cy="0"/>
          </a:xfrm>
          <a:prstGeom prst="line">
            <a:avLst/>
          </a:prstGeom>
          <a:noFill/>
          <a:ln w="19050">
            <a:solidFill>
              <a:srgbClr val="7A74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103120"/>
            <a:ext cx="0" cy="182880"/>
          </a:xfrm>
          <a:prstGeom prst="line">
            <a:avLst/>
          </a:prstGeom>
          <a:noFill/>
          <a:ln w="19050">
            <a:solidFill>
              <a:srgbClr val="7A74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103120"/>
            <a:ext cx="0" cy="182880"/>
          </a:xfrm>
          <a:prstGeom prst="line">
            <a:avLst/>
          </a:prstGeom>
          <a:noFill/>
          <a:ln w="19050">
            <a:solidFill>
              <a:srgbClr val="7A74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28600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Theo xác suất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228600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Phi xác suất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43000" y="2743200"/>
            <a:ext cx="0" cy="1517904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2999232"/>
            <a:ext cx="274320" cy="0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926080"/>
            <a:ext cx="155448" cy="15544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285292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Ngẫu nhiên đơn giản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43000" y="3383280"/>
            <a:ext cx="274320" cy="0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44752" y="3310128"/>
            <a:ext cx="155448" cy="155448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323697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Hệ thống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143000" y="3767328"/>
            <a:ext cx="274320" cy="0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44752" y="3694176"/>
            <a:ext cx="155448" cy="155448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362102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Phân tầng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143000" y="4151376"/>
            <a:ext cx="274320" cy="0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44752" y="4078224"/>
            <a:ext cx="155448" cy="15544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40050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Theo nhóm (cụm)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15000" y="2743200"/>
            <a:ext cx="0" cy="1517904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15000" y="2999232"/>
            <a:ext cx="274320" cy="0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16752" y="2926080"/>
            <a:ext cx="155448" cy="15544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85292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Thuận tiện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715000" y="3383280"/>
            <a:ext cx="274320" cy="0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16752" y="3310128"/>
            <a:ext cx="155448" cy="155448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323697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Phán đoán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715000" y="3767328"/>
            <a:ext cx="274320" cy="0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16752" y="3694176"/>
            <a:ext cx="155448" cy="155448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62102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Phát triển mầm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715000" y="4151376"/>
            <a:ext cx="274320" cy="0"/>
          </a:xfrm>
          <a:prstGeom prst="line">
            <a:avLst/>
          </a:prstGeom>
          <a:noFill/>
          <a:ln w="19050">
            <a:solidFill>
              <a:srgbClr val="E6E2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16752" y="4078224"/>
            <a:ext cx="155448" cy="15544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40050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mức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6.4  Chọn mẫu xác suất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Ngẫu nhiên đơn giản cho mọi phần tử cơ hội như nhau, nhưng cần khung mẫu hoàn chỉnh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160020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160020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53896" y="160020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92224" y="160020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30552" y="160020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160020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07208" y="160020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45536" y="160020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3864" y="1600200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22192" y="160020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190195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" y="190195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53896" y="190195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2224" y="190195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30552" y="190195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1901952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07208" y="190195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45536" y="190195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3864" y="1901952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22192" y="190195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220370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5568" y="220370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53896" y="220370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92224" y="2203704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30552" y="220370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8880" y="220370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07208" y="2203704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45536" y="2203704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83864" y="220370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22192" y="220370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5568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53896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92224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30552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68880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07208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45536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22192" y="2505456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15568" y="2807208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53896" y="2807208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92224" y="2807208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30552" y="2807208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68880" y="2807208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07208" y="2807208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45536" y="2807208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83864" y="2807208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22192" y="2807208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" y="310896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15568" y="3108960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53896" y="310896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792224" y="310896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0552" y="310896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468880" y="310896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07208" y="310896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45536" y="310896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83864" y="310896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22192" y="3108960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7240" y="3410712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15568" y="341071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453896" y="341071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92224" y="341071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30552" y="3410712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468880" y="341071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07208" y="341071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145536" y="3410712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483864" y="341071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22192" y="3410712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7240" y="371246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15568" y="371246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453896" y="3712464"/>
            <a:ext cx="201168" cy="201168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92224" y="371246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30552" y="371246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468880" y="371246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807208" y="371246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45536" y="371246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83864" y="371246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822192" y="3712464"/>
            <a:ext cx="201168" cy="201168"/>
          </a:xfrm>
          <a:prstGeom prst="ellipse">
            <a:avLst/>
          </a:prstGeom>
          <a:solidFill>
            <a:srgbClr val="DDD8CB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4389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●</a:t>
            </a:r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phần tử được rút vào mẫu (n = 12 / N = 80)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Nguyên tắc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4754880" y="16916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Mọi phần tử có xác suất được chọn biết trước và bằng nhau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4754880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Công cụ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4754880" y="258775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Rút thăm, bảng số ngẫu nhiên, hàm =RAND() trong Excel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4754880" y="3209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Hạn chế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4754880" y="348386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Bắt buộc có khung mẫu; mẫu nhỏ trên địa bàn rộng dễ phân bố lệch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4754880" y="4105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Ứng dụng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4754880" y="43799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Đám đông nhỏ, đồng nhất; bước đệm cho kỹ thuật phức tạp hơn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6.4  Chọn mẫu xác suất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mẫu hệ thống rút phần tử theo một bước nhảy cố định: k = N/n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584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8016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0" y="1600200"/>
            <a:ext cx="274320" cy="384048"/>
          </a:xfrm>
          <a:prstGeom prst="rect">
            <a:avLst/>
          </a:prstGeom>
          <a:solidFill>
            <a:srgbClr val="49B296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5176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02336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9768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0" y="1600200"/>
            <a:ext cx="274320" cy="384048"/>
          </a:xfrm>
          <a:prstGeom prst="rect">
            <a:avLst/>
          </a:prstGeom>
          <a:solidFill>
            <a:srgbClr val="49B296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17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2064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9496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496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19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6928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4360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9224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76656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4088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4088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15200" y="1600200"/>
            <a:ext cx="274320" cy="384048"/>
          </a:xfrm>
          <a:prstGeom prst="rect">
            <a:avLst/>
          </a:prstGeom>
          <a:solidFill>
            <a:srgbClr val="49B296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26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58952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952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27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86384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6384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13816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3816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412480" y="1600200"/>
            <a:ext cx="274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2D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12480" y="1600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38160" y="2011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…  996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965960" y="1463040"/>
            <a:ext cx="2743200" cy="0"/>
          </a:xfrm>
          <a:prstGeom prst="line">
            <a:avLst/>
          </a:prstGeom>
          <a:noFill/>
          <a:ln w="19050">
            <a:solidFill>
              <a:srgbClr val="49B296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2880360" y="1216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+k = 10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709160" y="1463040"/>
            <a:ext cx="2743200" cy="0"/>
          </a:xfrm>
          <a:prstGeom prst="line">
            <a:avLst/>
          </a:prstGeom>
          <a:noFill/>
          <a:ln w="19050">
            <a:solidFill>
              <a:srgbClr val="49B296"/>
            </a:solidFill>
            <a:prstDash val="solid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5623560" y="1216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+k = 10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57200" y="2468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4360" y="2606040"/>
            <a:ext cx="411480" cy="4114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43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109728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Tính bước nhảy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59436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 = N / n = 1000 / 100 = 10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3246120" y="2468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83280" y="2606040"/>
            <a:ext cx="411480" cy="4114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832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388620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điểm xuất phát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338328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 ngẫu nhiên trong [1; k] → đ = 6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6035040" y="2468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72200" y="2606040"/>
            <a:ext cx="411480" cy="4114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72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667512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Rút phần tử tiếp theo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617220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đ, đ+k, đ+2k… → 6, 16, 26, …, 996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Hạn chế: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nếu khung mẫu ẩn chứa tính chu kỳ trùng với k, mẫu sẽ bị sai lệch nghiêm trọng.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6.4  Chọn mẫu xác suất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Phân tầng: đồng nhất trong tầng, dị biệt giữa các tầng — rút mẫu từ TẤT CẢ các tầng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09A1E5">
              <a:alpha val="15000"/>
            </a:srgbClr>
          </a:solidFill>
          <a:ln w="15875">
            <a:solidFill>
              <a:srgbClr val="09A1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Tầng 1 · Thu nhập thấp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1828800"/>
            <a:ext cx="219456" cy="219456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1828800"/>
            <a:ext cx="219456" cy="219456"/>
          </a:xfrm>
          <a:prstGeom prst="ellipse">
            <a:avLst/>
          </a:prstGeom>
          <a:solidFill>
            <a:srgbClr val="09A1E5"/>
          </a:solidFill>
          <a:ln w="28575">
            <a:solidFill>
              <a:srgbClr val="2B26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16736" y="1828800"/>
            <a:ext cx="219456" cy="219456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55064" y="1828800"/>
            <a:ext cx="219456" cy="219456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93392" y="1828800"/>
            <a:ext cx="219456" cy="219456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1828800"/>
            <a:ext cx="219456" cy="219456"/>
          </a:xfrm>
          <a:prstGeom prst="ellipse">
            <a:avLst/>
          </a:prstGeom>
          <a:solidFill>
            <a:srgbClr val="09A1E5"/>
          </a:solidFill>
          <a:ln w="28575">
            <a:solidFill>
              <a:srgbClr val="2B26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70048" y="1828800"/>
            <a:ext cx="219456" cy="219456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08376" y="1828800"/>
            <a:ext cx="219456" cy="219456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46704" y="1828800"/>
            <a:ext cx="219456" cy="219456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85032" y="1828800"/>
            <a:ext cx="219456" cy="219456"/>
          </a:xfrm>
          <a:prstGeom prst="ellipse">
            <a:avLst/>
          </a:prstGeom>
          <a:solidFill>
            <a:srgbClr val="09A1E5"/>
          </a:solidFill>
          <a:ln w="28575">
            <a:solidFill>
              <a:srgbClr val="2B26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1828800"/>
            <a:ext cx="219456" cy="219456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395728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49B296">
              <a:alpha val="15000"/>
            </a:srgbClr>
          </a:solidFill>
          <a:ln w="15875">
            <a:solidFill>
              <a:srgbClr val="49B2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441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Tầng 2 · Thu nhập trung bình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2807208"/>
            <a:ext cx="219456" cy="219456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" y="2807208"/>
            <a:ext cx="219456" cy="219456"/>
          </a:xfrm>
          <a:prstGeom prst="ellipse">
            <a:avLst/>
          </a:prstGeom>
          <a:solidFill>
            <a:srgbClr val="49B296"/>
          </a:solidFill>
          <a:ln w="28575">
            <a:solidFill>
              <a:srgbClr val="2B26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16736" y="2807208"/>
            <a:ext cx="219456" cy="219456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55064" y="2807208"/>
            <a:ext cx="219456" cy="219456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93392" y="2807208"/>
            <a:ext cx="219456" cy="219456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31720" y="2807208"/>
            <a:ext cx="219456" cy="219456"/>
          </a:xfrm>
          <a:prstGeom prst="ellipse">
            <a:avLst/>
          </a:prstGeom>
          <a:solidFill>
            <a:srgbClr val="49B296"/>
          </a:solidFill>
          <a:ln w="28575">
            <a:solidFill>
              <a:srgbClr val="2B26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70048" y="2807208"/>
            <a:ext cx="219456" cy="219456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08376" y="2807208"/>
            <a:ext cx="219456" cy="219456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46704" y="2807208"/>
            <a:ext cx="219456" cy="219456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85032" y="2807208"/>
            <a:ext cx="219456" cy="219456"/>
          </a:xfrm>
          <a:prstGeom prst="ellipse">
            <a:avLst/>
          </a:prstGeom>
          <a:solidFill>
            <a:srgbClr val="49B296"/>
          </a:solidFill>
          <a:ln w="28575">
            <a:solidFill>
              <a:srgbClr val="2B26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2807208"/>
            <a:ext cx="219456" cy="219456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374136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9259">
              <a:alpha val="15000"/>
            </a:srgbClr>
          </a:solidFill>
          <a:ln w="15875">
            <a:solidFill>
              <a:srgbClr val="FF92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419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Tầng 3 · Thu nhập cao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3785616"/>
            <a:ext cx="219456" cy="219456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8408" y="3785616"/>
            <a:ext cx="219456" cy="219456"/>
          </a:xfrm>
          <a:prstGeom prst="ellipse">
            <a:avLst/>
          </a:prstGeom>
          <a:solidFill>
            <a:srgbClr val="FF9259"/>
          </a:solidFill>
          <a:ln w="28575">
            <a:solidFill>
              <a:srgbClr val="2B26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16736" y="3785616"/>
            <a:ext cx="219456" cy="219456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55064" y="3785616"/>
            <a:ext cx="219456" cy="219456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93392" y="3785616"/>
            <a:ext cx="219456" cy="219456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31720" y="3785616"/>
            <a:ext cx="219456" cy="219456"/>
          </a:xfrm>
          <a:prstGeom prst="ellipse">
            <a:avLst/>
          </a:prstGeom>
          <a:solidFill>
            <a:srgbClr val="FF9259"/>
          </a:solidFill>
          <a:ln w="28575">
            <a:solidFill>
              <a:srgbClr val="2B26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70048" y="3785616"/>
            <a:ext cx="219456" cy="219456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08376" y="3785616"/>
            <a:ext cx="219456" cy="219456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46704" y="3785616"/>
            <a:ext cx="219456" cy="219456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85032" y="3785616"/>
            <a:ext cx="219456" cy="219456"/>
          </a:xfrm>
          <a:prstGeom prst="ellipse">
            <a:avLst/>
          </a:prstGeom>
          <a:solidFill>
            <a:srgbClr val="FF9259"/>
          </a:solidFill>
          <a:ln w="28575">
            <a:solidFill>
              <a:srgbClr val="2B26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23360" y="3785616"/>
            <a:ext cx="219456" cy="219456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389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Viền đậm = phần tử được chọn vào mẫu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Nguyên tắc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75488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Chia đám đông thành các tầng theo tiêu chí kiểm soát (thu nhập, tuổi, khu vực); rút ngẫu nhiên hoặc hệ thống trong từng tầng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754880" y="2532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Theo tỷ lệ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754880" y="28072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Số phần tử mỗi tầng tỷ lệ thuận với quy mô tầng trong đám đông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theo tỷ lệ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754880" y="3703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Số phần tử mỗi tầng không phụ thuộc quy mô tầng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4754880" y="4105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Ưu điểm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754880" y="43799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Hiệu quả thống kê cao nhất trong nhóm xác suất: mọi phân khúc đều có đại diện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6.4  Chọn mẫu xác suất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Theo nhóm: dị biệt trong nhóm, đồng nhất giữa các nhóm — chỉ rút MỘT VÀI nhóm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490472"/>
            <a:ext cx="1737360" cy="1316736"/>
          </a:xfrm>
          <a:prstGeom prst="ellipse">
            <a:avLst/>
          </a:prstGeom>
          <a:solidFill>
            <a:srgbClr val="FFD23B">
              <a:alpha val="45000"/>
            </a:srgbClr>
          </a:solidFill>
          <a:ln w="31750">
            <a:solidFill>
              <a:srgbClr val="962B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1737360"/>
            <a:ext cx="182880" cy="1828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" y="1737360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5608" y="1737360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64792" y="1737360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029968"/>
            <a:ext cx="182880" cy="1828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6424" y="2029968"/>
            <a:ext cx="182880" cy="1828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608" y="2029968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64792" y="2029968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2322576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424" y="2322576"/>
            <a:ext cx="182880" cy="1828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35608" y="2322576"/>
            <a:ext cx="182880" cy="1828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64792" y="2322576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587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Nhóm 1 ✓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0" y="1490472"/>
            <a:ext cx="1737360" cy="1316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6E2D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788920" y="1737360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18104" y="1737360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47288" y="1737360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76472" y="1737360"/>
            <a:ext cx="182880" cy="1828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2029968"/>
            <a:ext cx="182880" cy="1828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18104" y="2029968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47288" y="2029968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76472" y="2029968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8920" y="2322576"/>
            <a:ext cx="182880" cy="1828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18104" y="2322576"/>
            <a:ext cx="182880" cy="1828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47288" y="2322576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76472" y="2322576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2587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Nhóm 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2953512"/>
            <a:ext cx="1737360" cy="13167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6E2D6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77240" y="3200400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06424" y="3200400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35608" y="3200400"/>
            <a:ext cx="182880" cy="1828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64792" y="3200400"/>
            <a:ext cx="182880" cy="1828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3493008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6424" y="3493008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35608" y="3493008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64792" y="3493008"/>
            <a:ext cx="182880" cy="1828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7240" y="3785616"/>
            <a:ext cx="182880" cy="1828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6424" y="3785616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35608" y="3785616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64792" y="3785616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4050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Nhóm 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0" y="2953512"/>
            <a:ext cx="1737360" cy="1316736"/>
          </a:xfrm>
          <a:prstGeom prst="ellipse">
            <a:avLst/>
          </a:prstGeom>
          <a:solidFill>
            <a:srgbClr val="FFD23B">
              <a:alpha val="45000"/>
            </a:srgbClr>
          </a:solidFill>
          <a:ln w="31750">
            <a:solidFill>
              <a:srgbClr val="962B7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88920" y="3200400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18104" y="3200400"/>
            <a:ext cx="182880" cy="1828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47288" y="3200400"/>
            <a:ext cx="182880" cy="1828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76472" y="3200400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88920" y="3493008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18104" y="3493008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47288" y="3493008"/>
            <a:ext cx="182880" cy="1828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76472" y="3493008"/>
            <a:ext cx="182880" cy="1828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88920" y="3785616"/>
            <a:ext cx="182880" cy="18288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18104" y="3785616"/>
            <a:ext cx="182880" cy="1828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47288" y="3785616"/>
            <a:ext cx="182880" cy="1828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76472" y="3785616"/>
            <a:ext cx="182880" cy="1828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80360" y="4050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Nhóm 4 ✓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57200" y="4389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Mỗi nhóm là một “thị trường thu nhỏ”; nhóm 1 và 4 được chọn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Nguyên tắc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75488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Chia đám đông thành các nhóm/cụm đa dạng; chọn ngẫu nhiên một số nhóm rồi khảo sát phần tử bên trong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4754880" y="2532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A1E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Một bước (one-stage)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4754880" y="2807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Khảo sát tất cả phần tử trong các nhóm được chọn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4754880" y="3209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Hai bước (two-stage)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4754880" y="348386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Tiếp tục rút ngẫu nhiên hoặc hệ thống một số phần tử trong nhóm đã chọn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4754880" y="4105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Ưu điểm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4754880" y="43799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Tối ưu chi phí di chuyển và phỏng vấn của điều tra viên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6.4  Chọn mẫu xác suất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Phân tầng tối đa hóa độ chính xác; theo nhóm tối ưu hóa chi phí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Tiêu chí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Chọn mẫu phân tầng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1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Chọn mẫu theo nhóm (cụm)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A1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Bên trong nhóm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Đồng nhất (homogeneous)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Dị biệt (heterogeneous)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Giữa các nhóm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Dị biệt (heterogeneous)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Đồng nhất (homogeneous)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Hành động chọn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Rút một số phần tử từ TẤT CẢ các nhóm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Rút toàn bộ phần tử từ MỘT VÀI nhóm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633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Mục tiêu cốt lõi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Tối đa hóa độ chính xác, hiệu quả thống kê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542"/>
                          </a:solidFill>
                          <a:latin typeface="Alexandria" pitchFamily="34" charset="0"/>
                          <a:ea typeface="Alexandria" pitchFamily="34" charset="-122"/>
                          <a:cs typeface="Alexandria" pitchFamily="34" charset="-120"/>
                        </a:rPr>
                        <a:t>Tối ưu hóa chi phí di chuyển, phỏng vấn</a:t>
                      </a:r>
                      <a:endParaRPr lang="en-US" sz="1250" dirty="0">
                        <a:latin typeface="Alexandria" charset="0"/>
                        <a:ea typeface="Alexandria" charset="0"/>
                        <a:cs typeface="Alexand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224528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2245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Mẹo nhớ: hai phương pháp có quy luật đồng nhất / dị biệt đảo ngược nhau.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6.5  Chọn mẫu phi xác suất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Phi xác suất hy sinh tính đại diện để đổi lấy tốc độ và chi phí thấp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4173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65960"/>
            <a:ext cx="2606040" cy="228600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444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Thuận tiện</a:t>
            </a:r>
            <a:endParaRPr lang="en-US" sz="1600" dirty="0"/>
          </a:p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Convenience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233172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người dễ tiếp cận, sẵn có, đồng ý tham gia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Tối đa tốc độ, chi phí thấp; tính đại diện thấp nhất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141732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4173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965960"/>
            <a:ext cx="2606040" cy="228600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444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Phán đoán</a:t>
            </a:r>
            <a:endParaRPr lang="en-US" sz="1600" dirty="0"/>
          </a:p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Judgment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55848" y="233172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theo kiến thức, chuyên môn của nhà nghiên cứu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Hay dùng khi phỏng vấn chuyên gia, nghiên cứu định tính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141732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4173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965960"/>
            <a:ext cx="2606040" cy="228600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444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Phát triển mầm</a:t>
            </a:r>
            <a:endParaRPr lang="en-US" sz="1600" dirty="0"/>
          </a:p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Snowball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44768" y="233172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Phỏng vấn vài “mầm”, nhờ họ giới thiệu người cùng đặc điểm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Hợp thị trường ngách: golf chuyên nghiệp, hàng hiệu cao cấp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07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Chung cho nhóm phi xác suất: không dựa trên cơ chế ngẫu nhiên, không tính được SE, không tổng quát hóa cho đám đông.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6.5  Chọn mẫu phi xác suất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mức áp cấu trúc đám đông lên mẫu, rồi để phỏng vấn viên lấp đầy hạn mức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25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dụ: N = 10.000, n = 100, thuộc tính kiểm soát = độ tuổi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2468880" cy="777240"/>
          </a:xfrm>
          <a:prstGeom prst="rect">
            <a:avLst/>
          </a:prstGeom>
          <a:solidFill>
            <a:srgbClr val="09A1E5"/>
          </a:solidFill>
          <a:ln w="254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37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30 người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 – 30 tuổi · 30%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1737360"/>
            <a:ext cx="3291840" cy="777240"/>
          </a:xfrm>
          <a:prstGeom prst="rect">
            <a:avLst/>
          </a:prstGeom>
          <a:solidFill>
            <a:srgbClr val="962B7C"/>
          </a:solidFill>
          <a:ln w="25400">
            <a:solidFill>
              <a:srgbClr val="FBF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737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40 người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31 – 40 tuổi · 40%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2468880" cy="777240"/>
          </a:xfrm>
          <a:prstGeom prst="rect">
            <a:avLst/>
          </a:prstGeom>
          <a:solidFill>
            <a:srgbClr val="FF9259"/>
          </a:solidFill>
          <a:ln w="25400">
            <a:solidFill>
              <a:srgbClr val="FBF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737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30 người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41 – 50 tuổi · 30%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2542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n = 100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2862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thuộc tính kiểm soát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giới tính, độ tuổi, thu nhập…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880360"/>
            <a:ext cx="457200" cy="45720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94760" y="2862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Áp tỷ lệ của đám đông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cơ cấu mẫu phản ánh đúng tỷ lệ đám đông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457200" cy="45720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83680" y="2862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Lấp đầy hạn mức (quota)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phỏng vấn viên tìm đối tượng theo cách thuận tiện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Phổ biến nhất trong thực tế — đặc biệt ở thị trường thiếu khung mẫu chuẩn.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 &amp; Bài tập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hỏi ôn tập: hai cặp khái niệm cần phân biệt chắc chắn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FF51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847088"/>
            <a:ext cx="1005840" cy="502920"/>
          </a:xfrm>
          <a:prstGeom prst="roundRect">
            <a:avLst>
              <a:gd name="adj" fmla="val 36364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847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1554480"/>
            <a:ext cx="6629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 và NE khác nhau thế nào? Vì sao tăng kích thước mẫu sát quy mô đám đông đôi khi lại làm giảm độ chính xác chung của nghiên cứu?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310128"/>
            <a:ext cx="1005840" cy="502920"/>
          </a:xfrm>
          <a:prstGeom prst="roundRect">
            <a:avLst>
              <a:gd name="adj" fmla="val 36364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101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74520" y="3017520"/>
            <a:ext cx="6629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Khác biệt cốt lõi giữa chọn mẫu phân tầng (stratified) và chọn mẫu theo nhóm (cluster) dựa trên quy luật đồng nhất – dị biệt là gì?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 &amp; Bài tập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tập nhóm: thiết kế phương pháp chọn mẫu cho một đề tài thực tế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4873752"/>
            <a:ext cx="182880" cy="54864"/>
          </a:xfrm>
          <a:prstGeom prst="rect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873752"/>
            <a:ext cx="182880" cy="54864"/>
          </a:xfrm>
          <a:prstGeom prst="rect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873752"/>
            <a:ext cx="182880" cy="5486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873752"/>
            <a:ext cx="182880" cy="5486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873752"/>
            <a:ext cx="182880" cy="54864"/>
          </a:xfrm>
          <a:prstGeom prst="rect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873752"/>
            <a:ext cx="182880" cy="54864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4791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8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Bài 6 · Chọn mẫu để nghiên cứu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91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9B296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Đề tài: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Đánh giá các yếu tố ảnh hưởng đến quyết định lựa chọn dịch vụ giao đồ ăn trực tuyến của sinh viên tại TP. Hồ Chí Minh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1947672" cy="214884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377440"/>
            <a:ext cx="457200" cy="45720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Thị trường &amp; khung mẫu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345643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Định nghĩa đám đông và khung chọn mẫu khả thi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51176" y="2240280"/>
            <a:ext cx="1947672" cy="214884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88336" y="2377440"/>
            <a:ext cx="457200" cy="45720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33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88336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Kích thước mẫu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88336" y="345643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Dự kiến n và lập luận căn cứ cho con số đó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45152" y="2240280"/>
            <a:ext cx="1947672" cy="214884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2312" y="2377440"/>
            <a:ext cx="457200" cy="45720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82312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Phương pháp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82312" y="345643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một phương pháp (xác suất / định mức / thuận tiện) và giải thích lý do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39128" y="2240280"/>
            <a:ext cx="1947672" cy="214884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76288" y="2377440"/>
            <a:ext cx="457200" cy="45720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76288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63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Triển khai thực địa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76288" y="345643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54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Mô tả quy trình rút mẫu để tránh sai lệch chọn mẫu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962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822960"/>
            <a:ext cx="2194560" cy="2194560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1188720"/>
            <a:ext cx="731520" cy="73152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Thiết kế mẫu là bài toán cân bằng giữa độ chính xác, thời gian và ngân sách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Chọn mẫu: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tiết kiệm chi phí, thời gian và có thể chính xác hơn census khi ΔNE − ΔSE &gt; 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411480" cy="41148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3957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Đúng đối tượng, đúng khung: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xác định thị trường nghiên cứu và khung mẫu phù hợp trước khi rút mẫu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411480" cy="4114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0540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Kích thước n: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tính từ độ tin cậy Z, độ biến thiên σ và biên độ sai số 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758184"/>
            <a:ext cx="411480" cy="41148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7124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23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Đúng kỹ thuật: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xác suất để suy rộng; phi xác suất khi cần nhanh, rẻ, khám phá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D3E3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Câu hỏi và thảo luận?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6 – Chọn mẫu để nghiên cứu</dc:title>
  <dc:subject>PptxGenJS Presentation</dc:subject>
  <dc:creator>PptxGenJS</dc:creator>
  <cp:lastModifiedBy>PptxGenJS</cp:lastModifiedBy>
  <cp:revision>1</cp:revision>
  <dcterms:created xsi:type="dcterms:W3CDTF">2026-10-01T16:10:06Z</dcterms:created>
  <dcterms:modified xsi:type="dcterms:W3CDTF">2026-10-01T16:10:06Z</dcterms:modified>
</cp:coreProperties>
</file>