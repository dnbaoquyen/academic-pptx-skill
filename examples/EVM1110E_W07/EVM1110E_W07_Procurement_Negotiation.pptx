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(dàn ý #1). Điền tên giảng viên trước khi dạy.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Khởi động (5 phút). Đọc: “Các bạn là Nova Events. Ngân hàng An Phát — Key Account của các bạn — đã chốt Hội nghị khách hàng và gala tối ngày 12/12 tại một khách sạn 5 sao ở Quận 1. Ba tuần trước sự kiện, khách sạn báo: đơn vị AV nội bộ tăng giá 30%, và hợp đồng không cho mang AV bên ngoài vào. Các bạn làm gì?”
Cho lớp giơ tay A/B/C/D. Ghi số phiếu lên bảng; CHƯA chữa.
Chốt: vấn đề đã được quyết định từ lúc chọn và ký với nhà cung cấp. Hôm nay ta học cách nhìn thấy trước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Nối Buổi 2–6 (agency bán cho Key Account) sang Buổi 7 (agency mua từ nhà cung cấp): để giao được giá trị đã hứa, agency phải mua phần lớn nguồn lực của sự kiện.
Alt-text: sơ đồ ba khối — nhà cung cấp, agency ở giữa, Key Account; agency là người mua với nhà cung cấp và là người bán với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nhanh: “Trong hợp đồng 2,4 tỷ với An Phát, bao nhiêu tiền thực sự ở lại Nova?”
Ghi rõ: đây là dải tham chiếu, chưa kiểm chứng chéo.
[NEEDS PROFESSOR INPUT: tỷ lệ thực tế từ một dự toán agency đã ẩn danh]
Chốt: chất lượng sự kiện Key Account nhìn thấy phần lớn do nhà cung cấp làm ra → quản trị nhà cung cấp là một phần của quản trị Key Account.
Alt-text: thanh ngang 100% giá trị hợp đồng, 5–10% là phí quản lý của agency, phần còn lại chi cho nhà cung cấp.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nhanh, mỗi số một ý, không đọc hết. Dự báo toàn cầu +3,7% (2025) và +2,4% (2026) — S04. Thiếu địa điểm cao cấp là một nguyên nhân tăng chi phí (S04, S05, S08).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nhanh: “Trong dự án cũ, có hạng mục nào các bạn KHÔNG được chọn nhà cung cấp?”
Hoa hồng AV 35–50% và vé máy bay +10–20% là số liệu chưa kiểm chứng chéo.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Peter Kraljic (McKinsey), HBR 1983. Thông điệp tên bài: mua hàng không chỉ là đặt đơn cho rẻ, mà phải quản trị nguồn cung như một phần của chiến lược.
Chốt §1 trước đó: agency không chọn được thị trường nhà cung cấp, nhưng chọn được cách nhìn từng hạng mục và cách xây quan hệ tương 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cách đọc profit impact theo góc agency — giá trị giao cho Key Account + lợi nhuận hợp đồng — là điều chỉnh của người soạn, không phải định nghĩa gốc]
Supply risk đặc biệt nặng trong ngành sự kiện vì ngày sự kiện không dời được: nhà cung cấp trễ một tuần ở ngành sản xuất là chậm giao hàng, ở ngành sự kiện là mất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tên ô Non-critical không có nghĩa là “không quan trọng” — nghĩa là KHÔNG KHÓ MUA. Thư mời in sai tên khách VIP vẫn là sự cố, chỉ là sửa được vì in lại được ngay.
Alt-text: ma trận hai trục profit impact (dọc) và supply risk (ngang) với bốn ô: Leverage (trái trên), Strategic (phải trên), Non-critical (trái dưới), Bottleneck (phải dưới); mỗi ô có ký hiệu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là cách dùng THỐNG NHẤT của môn học. Mô hình gốc phân loại hạng mục mua (category); ngoài nghề hay nói “nhà cung cấp chiến lược”. Bước 1 xếp hạng mục cụ thể gắn với sự kiện (“ballroom 800 khách tối 12/12”, không phải “khách sạn”). Bước 2 suy ra quyền mặc cả của nhà cung cấp và chọn chiến lược quan hệ.
Riêng ô Leverage: hạng mục thường là thứ Key Account nhìn thấy — ép giá đến mức nhà cung cấp cắt chất lượng là tự làm hại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mẫu — GV nói to lập luận:
• Ballroom gala 600 khách 12/12: profit impact cao (sân khấu cả sự kiện), supply risk cao (mùa tiệc cuối năm, không đổi sát ngày) → Strategic.
• 80 phòng ngủ: Leverage ngoài mùa cao điểm; tháng 12 có thể dịch sang Bottleneck.
• AV nội bộ: chi phí thấp–trung bình, nhưng hợp đồng không cho mang AV ngoài → chỉ còn một nhà cung cấp → Bottleneck. Rủi ro đến từ điều khoản hợp đồng, không phải từ thị trường.
Quay lại câu hỏi slide 2: AV đã vào ô Bottleneck ngay lúc ký hợp đồng venue.
Alt-text: ba hạng mục của cùng một khách sạn nằm ở ba ô khác nhau; mũi tên cho thấy phòng ngủ dịch từ Leverage sang Bottleneck vào tháng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xếp ô là ảnh chụp tại một thời điểm, cần rà soát định kỳ.
Hiểu lầm thường gặp (xử lý chủ động):
1. “Kraljic xếp nhà cung cấp” → xếp HẠNG MỤC; một nhà cung cấp có thể ở nhiều ô.
2. “Hạng mục tốn tiền nhất là Strategic” → chi tiêu lớn ≠ supply risk cao; hạng mục rẻ vẫn có thể là Bottleneck (AV nội bộ, giấy phép).
3. “Non-critical là không cần quan tâm” → không khó mua, nhưng vẫn phải làm đúng.
4. “Xếp ô một lần là xong” → xếp theo từng sự kiện, từng thời điểm.
→ Chuyển sang S3 —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Thực hành 1 (20 phút). Phát phiếu, đọc lời mở đầu, đi vòng. Đồng hồ đếm ngược 10 / 6 / 4 phút.
46–50’: chốt với 2 nhóm xếp khác nhau (LED, ca sĩ). Có thể vẽ nhanh ma trận 2×2 trên bảng để đặt các hạng mục gây tranh cãi.
Giữ lại giấy A1 — là đầu vào cho đóng vai ở S6.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8 phút. GV xếp cặp cho S6 (ghép hai nhóm có ma trận khác nhau) trong giờ giải lao. Ghi giờ quay lại lên slide/bảng.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đoạn S4: “Ở S3 các bạn vừa xếp hạng mục cho MỘT sự kiện. Nhưng Nova làm 40 sự kiện một năm. Nếu mỗi sự kiện lại đi tìm nhà cung cấp từ đầu, Nova sẽ luôn ở thế yếu. Vì vậy agency cần hai cấp làm việc với nhà cung cấp.”
Alt-text: lưới 40 chấm tròn tượng trưng 40 sự kiện mỗi năm.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CIPS: Procurement là cách tiếp cận dài hạn — gồm tìm nguồn (sourcing), đàm phán, quản lý hợp đồng, phát triển nhà cung cấp. Purchasing/Buying là mua trực tiếp ngắn hạn, chỉ hoàn tất giao dịch, mang tính “thụ động, giao dịch”.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cả hai cấp đều ở BÊN TRONG AGENCY — không phải phòng mua hàng của khách hàng.
Preferred supplier program: danh sách nhà cung cấp chọn trước dựa trên giá ưu đãi, giá trị cộng thêm, năng lực, hiệu quả; không cần duyệt lại từ đầu cho từng giao dịch (S25).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Cấp Buying làm đúng quy trình mà cấp Procurement đã đặt ra cho từng ô.
Alt-text: ma trận Kraljic, mỗi ô ghi việc của cấp Procurement.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thị trường nghiêng về người bán, agency cần chủ động trở thành khách hàng được nhà cung cấp ưu tiên.
Phạm vi: chỉ nói AGENCY LÀM GÌ. Không phân tích cách nhà cung cấp chấm điểm agency (Supplier Preferencing).
Marriott/Hilton 2018 cắt hoa hồng 10% → 7% (đã KCC); Marriott giữ mức cũ với một số công ty sourcing lớn có hợp đồng (chưa KCC).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case 1–2 phút, 1 câu hỏi/case.
• Về đây bốn cánh chim trời: nghệ sĩ, ekip, tác quyền là hạng mục Strategic; cấp Buying không giữ cam kết thì quan hệ chiến lược sụp.
• K-Pop Open Air #2: “hợp đồng ký đủ + cọc đúng hạn” là điều kiện tối thiểu.
• Marriott–Hilton: nhà cung cấp tập trung có thể đổi luật chơi; agency có quy mô và hợp đồng khung được bảo vệ tốt hơn.
• Vietravel: CHỈ đặt câu hỏi, không gán động cơ (doanh nghiệp không nói trực tiếp là để chủ động nguồn cung).
Nếu trễ giờ: chỉ kể case 1 và 3.
[NEEDS PROFESSOR INPUT: case agency VN thành công; ví dụ cấp Procurement của agency VN]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từng sự kiện (đúng hẹn không, phát sinh bao nhiêu, xử lý sự cố ra sao) là đầu vào để cấp Procurement đánh giá nhà cung cấp và cập nhật danh sách ưu tiên.
Ranh giới: quy trình thực thi chi tiết (RFP/RFQ, tiêu chí chọn nhà cung cấp, site check) để dành Buổi 10.
Alt-text: vòng tròn ba bước Buying → đánh giá nhà cung cấp → Procurement → quay lại Buying.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Quyết định GV 27/9/2026: Customer (Buyer) = Key Account (Ngân hàng An Phát); KAMer = người của agency (Nova Events).
Mở đoạn: “Cuộc gọi khó nhất của một KAMer thường bắt đầu bằng câu: ‘Năm nay bên mình cần giảm 15%.’ Hôm nay các bạn sẽ thấy: KAMer trả lời tốt câu đó NHỜ hiểu biết về nhà cung cấp vừa học ở 7.1–7.2.”
Alt-text: sơ đồ hai bên bàn đàm phán — Key Account (người mua) và KAMer của agency; phía sau KAMer là các nhà cung cấp.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định nghĩa value-based negotiation của môn — chưa có nguồn chuẩn cho quan hệ agency–client; môn học định nghĩa dựa trên integrative bargaining (PON)]
Value-based negotiation trong môn: KAMer đàm phán kiểu tích hợp; mọi nhượng bộ được neo vào giá trị Key Account nhận được và vào rủi ro nhượng bộ đó tạo ra cho chính sự kiện của Key Account.
Logrolling: nhượng ở vấn đề mình ít coi trọng để được ở vấn đề mình coi trọng.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mối nối giữa 7.1 và 7.3. Khi Key Account đưa yêu cầu (giảm giá, đổi nhà cung cấp, cắt hạng mục), KAMer hỏi: yêu cầu này chạm vào hạng mục ở ô nào?
Câu chốt nói to: “Quản trị nhà cung cấp tốt là năng lực tạo nên sức mạnh đàm phán của agency với Key Account. KAMer nào không biết hạng mục nào là Bottleneck sẽ nhượng nhầm chỗ, và trả giá vào ngày sự kiện.”
Alt-text: ma trận chia hai vùng — cột trái (Leverage, Non-critical) nhượng được có điều kiện; cột phải (Strategic, Bottleneck) phải bảo vệ.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Minh bạch lý do chi phí: benchmark theo thị trường, mùa, định dạng; cân nhắc ngày thấp điểm, điểm đến phụ (S10). Cắt ngân sách là thách thức của 30% chuyên gia năm 2026 (S05).
2. Điều khoản: “…some of the biggest financial and legal protections come from negotiating contract terms — attrition, cancellation, force majeure, liability limits, payment schedules, service levels…” (Brian Santor, S11). Điều khoản đã ký với nhà cung cấp phải phản ánh vào hợp đồng với Key Account.
[VERIFY: chuyển điều khoản NCC sang hợp đồng khách hàng — đối chiếu Bộ luật Dân sự 2015 và Luật Thương mại]
3. ROI/ROE: chỉ 24% tổ chức có chỉ số ROI trong chính sách sự kiện; Amex GBT đề xuất Return on Experience.
4. Dòng tiền: NCC Strategic đòi cọc sớm (S15, S16); 97% agency marketing Mỹ gặp khách trả chậm (S19); nhiều show VN dùng tiền vé bán sớm để trả cọc (S22); một DN lữ hành–MICE niêm yết: doanh thu 2025 ~7.200 tỷ, LNST &lt; 1 tỷ, biên gộp Q4 ~6% (S21, người soạn tự tính).
[NEEDS PROFESSOR INPUT: biên lợi nhuận thực tế của một event agency VN]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lớp đoán mỗi câu dùng kỹ thuật nào, rồi mới lật đáp án:
1 → tìm lợi ích đằng sau lập trường.
2 → tách Risk và Value.
3 → đánh đổi qua nhiều vấn đề, dùng vị thế customer of choice.
4 → chuyển điều khoản nhà cung cấp sang hợp đồng khách hàng.
→ Chuyển sang S6 —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Thực hành 2 (30 phút). Đồng hồ 6 / 10 / 3 / 8 phút. 93–96’: phát thẻ vai (cắt riêng; không cho bên kia xem).
Nếu bế tắc hoặc chốt quá nhanh: dùng “biến cố” trong phần GV của phiếu S6.
Tổng kết luôn nhìn từ agency: mỗi yêu cầu chạm ô nào? Nova nhượng ở đâu và đổi lại gì? Bảo vệ Strategic/Bottleneck bằng dữ kiện hay chỉ bằng lời hứa?
Ghi biên bản 3 dòng của từng cặp lên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Tổng hợp (3 phút). Ba câu chốt, mỗi câu gắn một mục đề cương.
Liên hệ Stakeholder Management Plan cuối kỳ: với khách hàng từ dự án cũ, nhóm bổ sung một trang “Các hạng mục nhà cung cấp chính của sự kiện đó nằm ở ô nào, và nhóm quản trị từng nhà cung cấp ra sao để bảo vệ giá trị giao cho khách hàng?” (làm dần, không giao về nhà).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cá nhân, không chấm điểm (6 phút). Dùng giấy nhỏ hoặc Google Form (thêm QR nếu thu online).
Cần xem: (a) SV xếp HẠNG MỤC hay vẫn xếp tên công ty; (b) có dùng cả hai trục, không chỉ chi phí; (c) câu 2 có gắn lập luận rủi ro với DỮ KIỆN (điều khoản, khoản cọc, không có phương án thay thế).
Câu nối Buổi 8: “Hôm nay ta thấy KAMer đàm phán được là nhờ quan hệ tốt với cả Key Account lẫn nhà cung cấp. Buổi sau: làm sao tổ chức quan hệ với Key Account ở nhiều cấp (mô hình Bow-tie → Diamond) và đo hiệu quả quan hệ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S01–S25 ghi ở chân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S01–S25 ghi ở chân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7635240" y="1143000"/>
            <a:ext cx="2103120" cy="2103120"/>
          </a:xfrm>
          <a:prstGeom prst="roundRect">
            <a:avLst>
              <a:gd name="adj" fmla="val 15217"/>
            </a:avLst>
          </a:prstGeom>
          <a:solidFill>
            <a:srgbClr val="09A1E5"/>
          </a:solidFill>
          <a:ln w="12700">
            <a:solidFill>
              <a:srgbClr val="09A1E5"/>
            </a:solidFill>
            <a:prstDash val="solid"/>
          </a:ln>
        </p:spPr>
      </p:sp>
      <p:sp>
        <p:nvSpPr>
          <p:cNvPr id="3" name="Shape 1"/>
          <p:cNvSpPr/>
          <p:nvPr/>
        </p:nvSpPr>
        <p:spPr>
          <a:xfrm>
            <a:off x="7909560" y="1417320"/>
            <a:ext cx="384048" cy="384048"/>
          </a:xfrm>
          <a:prstGeom prst="diamond">
            <a:avLst/>
          </a:prstGeom>
          <a:solidFill>
            <a:srgbClr val="FBFAF4"/>
          </a:solidFill>
          <a:ln w="6350">
            <a:solidFill>
              <a:srgbClr val="FBFAF4"/>
            </a:solidFill>
            <a:prstDash val="solid"/>
          </a:ln>
        </p:spPr>
      </p:sp>
      <p:sp>
        <p:nvSpPr>
          <p:cNvPr id="4" name="Text 2"/>
          <p:cNvSpPr txBox="1"/>
          <p:nvPr/>
        </p:nvSpPr>
        <p:spPr>
          <a:xfrm>
            <a:off x="7909560" y="2560320"/>
            <a:ext cx="1645920" cy="411480"/>
          </a:xfrm>
          <a:prstGeom prst="rect">
            <a:avLst/>
          </a:prstGeom>
          <a:noFill/>
          <a:ln/>
        </p:spPr>
        <p:txBody>
          <a:bodyPr wrap="square" lIns="0" tIns="0" rIns="0" bIns="0" rtlCol="0" anchor="ctr"/>
          <a:lstStyle/>
          <a:p>
            <a:pPr indent="0" marL="0">
              <a:buNone/>
            </a:pPr>
            <a:r>
              <a:rPr lang="en-US" sz="1600" b="1" dirty="0">
                <a:solidFill>
                  <a:srgbClr val="FFFFFF"/>
                </a:solidFill>
                <a:latin typeface="Alexandria" pitchFamily="34" charset="0"/>
                <a:ea typeface="Alexandria" pitchFamily="34" charset="-122"/>
                <a:cs typeface="Alexandria" pitchFamily="34" charset="-120"/>
              </a:rPr>
              <a:t>Leverage</a:t>
            </a:r>
            <a:endParaRPr lang="en-US" sz="1600" dirty="0"/>
          </a:p>
        </p:txBody>
      </p:sp>
      <p:sp>
        <p:nvSpPr>
          <p:cNvPr id="5" name="Shape 3"/>
          <p:cNvSpPr/>
          <p:nvPr/>
        </p:nvSpPr>
        <p:spPr>
          <a:xfrm>
            <a:off x="9939528" y="1143000"/>
            <a:ext cx="2103120" cy="2103120"/>
          </a:xfrm>
          <a:prstGeom prst="roundRect">
            <a:avLst>
              <a:gd name="adj" fmla="val 15217"/>
            </a:avLst>
          </a:prstGeom>
          <a:solidFill>
            <a:srgbClr val="962B7C"/>
          </a:solidFill>
          <a:ln w="12700">
            <a:solidFill>
              <a:srgbClr val="962B7C"/>
            </a:solidFill>
            <a:prstDash val="solid"/>
          </a:ln>
        </p:spPr>
      </p:sp>
      <p:sp>
        <p:nvSpPr>
          <p:cNvPr id="6" name="Shape 4"/>
          <p:cNvSpPr/>
          <p:nvPr/>
        </p:nvSpPr>
        <p:spPr>
          <a:xfrm>
            <a:off x="10213848" y="1417320"/>
            <a:ext cx="384048" cy="384048"/>
          </a:xfrm>
          <a:prstGeom prst="star5">
            <a:avLst/>
          </a:prstGeom>
          <a:solidFill>
            <a:srgbClr val="FBFAF4"/>
          </a:solidFill>
          <a:ln w="6350">
            <a:solidFill>
              <a:srgbClr val="FBFAF4"/>
            </a:solidFill>
            <a:prstDash val="solid"/>
          </a:ln>
        </p:spPr>
      </p:sp>
      <p:sp>
        <p:nvSpPr>
          <p:cNvPr id="7" name="Text 5"/>
          <p:cNvSpPr txBox="1"/>
          <p:nvPr/>
        </p:nvSpPr>
        <p:spPr>
          <a:xfrm>
            <a:off x="10213848" y="2560320"/>
            <a:ext cx="1645920" cy="411480"/>
          </a:xfrm>
          <a:prstGeom prst="rect">
            <a:avLst/>
          </a:prstGeom>
          <a:noFill/>
          <a:ln/>
        </p:spPr>
        <p:txBody>
          <a:bodyPr wrap="square" lIns="0" tIns="0" rIns="0" bIns="0" rtlCol="0" anchor="ctr"/>
          <a:lstStyle/>
          <a:p>
            <a:pPr indent="0" marL="0">
              <a:buNone/>
            </a:pPr>
            <a:r>
              <a:rPr lang="en-US" sz="1600" b="1" dirty="0">
                <a:solidFill>
                  <a:srgbClr val="FFFFFF"/>
                </a:solidFill>
                <a:latin typeface="Alexandria" pitchFamily="34" charset="0"/>
                <a:ea typeface="Alexandria" pitchFamily="34" charset="-122"/>
                <a:cs typeface="Alexandria" pitchFamily="34" charset="-120"/>
              </a:rPr>
              <a:t>Strategic</a:t>
            </a:r>
            <a:endParaRPr lang="en-US" sz="1600" dirty="0"/>
          </a:p>
        </p:txBody>
      </p:sp>
      <p:sp>
        <p:nvSpPr>
          <p:cNvPr id="8" name="Shape 6"/>
          <p:cNvSpPr/>
          <p:nvPr/>
        </p:nvSpPr>
        <p:spPr>
          <a:xfrm>
            <a:off x="7635240" y="3447288"/>
            <a:ext cx="2103120" cy="2103120"/>
          </a:xfrm>
          <a:prstGeom prst="roundRect">
            <a:avLst>
              <a:gd name="adj" fmla="val 15217"/>
            </a:avLst>
          </a:prstGeom>
          <a:solidFill>
            <a:srgbClr val="49B296"/>
          </a:solidFill>
          <a:ln w="12700">
            <a:solidFill>
              <a:srgbClr val="49B296"/>
            </a:solidFill>
            <a:prstDash val="solid"/>
          </a:ln>
        </p:spPr>
      </p:sp>
      <p:sp>
        <p:nvSpPr>
          <p:cNvPr id="9" name="Shape 7"/>
          <p:cNvSpPr/>
          <p:nvPr/>
        </p:nvSpPr>
        <p:spPr>
          <a:xfrm>
            <a:off x="7909560" y="3721608"/>
            <a:ext cx="384048" cy="384048"/>
          </a:xfrm>
          <a:prstGeom prst="ellipse">
            <a:avLst/>
          </a:prstGeom>
          <a:solidFill>
            <a:srgbClr val="FBFAF4"/>
          </a:solidFill>
          <a:ln w="6350">
            <a:solidFill>
              <a:srgbClr val="FBFAF4"/>
            </a:solidFill>
            <a:prstDash val="solid"/>
          </a:ln>
        </p:spPr>
      </p:sp>
      <p:sp>
        <p:nvSpPr>
          <p:cNvPr id="10" name="Text 8"/>
          <p:cNvSpPr txBox="1"/>
          <p:nvPr/>
        </p:nvSpPr>
        <p:spPr>
          <a:xfrm>
            <a:off x="7909560" y="4864608"/>
            <a:ext cx="1645920" cy="411480"/>
          </a:xfrm>
          <a:prstGeom prst="rect">
            <a:avLst/>
          </a:prstGeom>
          <a:noFill/>
          <a:ln/>
        </p:spPr>
        <p:txBody>
          <a:bodyPr wrap="square" lIns="0" tIns="0" rIns="0" bIns="0" rtlCol="0" anchor="ctr"/>
          <a:lstStyle/>
          <a:p>
            <a:pPr indent="0" marL="0">
              <a:buNone/>
            </a:pPr>
            <a:r>
              <a:rPr lang="en-US" sz="1600" b="1" dirty="0">
                <a:solidFill>
                  <a:srgbClr val="FFFFFF"/>
                </a:solidFill>
                <a:latin typeface="Alexandria" pitchFamily="34" charset="0"/>
                <a:ea typeface="Alexandria" pitchFamily="34" charset="-122"/>
                <a:cs typeface="Alexandria" pitchFamily="34" charset="-120"/>
              </a:rPr>
              <a:t>Non-critical</a:t>
            </a:r>
            <a:endParaRPr lang="en-US" sz="1600" dirty="0"/>
          </a:p>
        </p:txBody>
      </p:sp>
      <p:sp>
        <p:nvSpPr>
          <p:cNvPr id="11" name="Shape 9"/>
          <p:cNvSpPr/>
          <p:nvPr/>
        </p:nvSpPr>
        <p:spPr>
          <a:xfrm>
            <a:off x="9939528" y="3447288"/>
            <a:ext cx="2103120" cy="2103120"/>
          </a:xfrm>
          <a:prstGeom prst="roundRect">
            <a:avLst>
              <a:gd name="adj" fmla="val 15217"/>
            </a:avLst>
          </a:prstGeom>
          <a:solidFill>
            <a:srgbClr val="FF5178"/>
          </a:solidFill>
          <a:ln w="12700">
            <a:solidFill>
              <a:srgbClr val="FF5178"/>
            </a:solidFill>
            <a:prstDash val="solid"/>
          </a:ln>
        </p:spPr>
      </p:sp>
      <p:sp>
        <p:nvSpPr>
          <p:cNvPr id="12" name="Shape 10"/>
          <p:cNvSpPr/>
          <p:nvPr/>
        </p:nvSpPr>
        <p:spPr>
          <a:xfrm>
            <a:off x="10213848" y="3721608"/>
            <a:ext cx="384048" cy="384048"/>
          </a:xfrm>
          <a:prstGeom prst="triangle">
            <a:avLst/>
          </a:prstGeom>
          <a:solidFill>
            <a:srgbClr val="FBFAF4"/>
          </a:solidFill>
          <a:ln w="6350">
            <a:solidFill>
              <a:srgbClr val="FBFAF4"/>
            </a:solidFill>
            <a:prstDash val="solid"/>
          </a:ln>
        </p:spPr>
      </p:sp>
      <p:sp>
        <p:nvSpPr>
          <p:cNvPr id="13" name="Text 11"/>
          <p:cNvSpPr txBox="1"/>
          <p:nvPr/>
        </p:nvSpPr>
        <p:spPr>
          <a:xfrm>
            <a:off x="10213848" y="4864608"/>
            <a:ext cx="1645920" cy="411480"/>
          </a:xfrm>
          <a:prstGeom prst="rect">
            <a:avLst/>
          </a:prstGeom>
          <a:noFill/>
          <a:ln/>
        </p:spPr>
        <p:txBody>
          <a:bodyPr wrap="square" lIns="0" tIns="0" rIns="0" bIns="0" rtlCol="0" anchor="ctr"/>
          <a:lstStyle/>
          <a:p>
            <a:pPr indent="0" marL="0">
              <a:buNone/>
            </a:pPr>
            <a:r>
              <a:rPr lang="en-US" sz="1600" b="1" dirty="0">
                <a:solidFill>
                  <a:srgbClr val="FFFFFF"/>
                </a:solidFill>
                <a:latin typeface="Alexandria" pitchFamily="34" charset="0"/>
                <a:ea typeface="Alexandria" pitchFamily="34" charset="-122"/>
                <a:cs typeface="Alexandria" pitchFamily="34" charset="-120"/>
              </a:rPr>
              <a:t>Bottleneck</a:t>
            </a:r>
            <a:endParaRPr lang="en-US" sz="1600" dirty="0"/>
          </a:p>
        </p:txBody>
      </p:sp>
      <p:sp>
        <p:nvSpPr>
          <p:cNvPr id="14" name="Shape 12"/>
          <p:cNvSpPr/>
          <p:nvPr/>
        </p:nvSpPr>
        <p:spPr>
          <a:xfrm>
            <a:off x="7086600" y="5440680"/>
            <a:ext cx="502920" cy="502920"/>
          </a:xfrm>
          <a:prstGeom prst="ellipse">
            <a:avLst/>
          </a:prstGeom>
          <a:solidFill>
            <a:srgbClr val="FFD23B"/>
          </a:solidFill>
          <a:ln w="12700">
            <a:solidFill>
              <a:srgbClr val="FFD23B"/>
            </a:solidFill>
            <a:prstDash val="solid"/>
          </a:ln>
        </p:spPr>
      </p:sp>
      <p:sp>
        <p:nvSpPr>
          <p:cNvPr id="15" name="Shape 13"/>
          <p:cNvSpPr/>
          <p:nvPr/>
        </p:nvSpPr>
        <p:spPr>
          <a:xfrm>
            <a:off x="11292840" y="502920"/>
            <a:ext cx="365760" cy="365760"/>
          </a:xfrm>
          <a:prstGeom prst="ellipse">
            <a:avLst/>
          </a:prstGeom>
          <a:solidFill>
            <a:srgbClr val="FF9259"/>
          </a:solidFill>
          <a:ln w="12700">
            <a:solidFill>
              <a:srgbClr val="FF9259"/>
            </a:solidFill>
            <a:prstDash val="solid"/>
          </a:ln>
        </p:spPr>
      </p:sp>
      <p:sp>
        <p:nvSpPr>
          <p:cNvPr id="16" name="Shape 14"/>
          <p:cNvSpPr/>
          <p:nvPr/>
        </p:nvSpPr>
        <p:spPr>
          <a:xfrm>
            <a:off x="548640" y="914400"/>
            <a:ext cx="2651760" cy="420624"/>
          </a:xfrm>
          <a:prstGeom prst="roundRect">
            <a:avLst>
              <a:gd name="adj" fmla="val 50000"/>
            </a:avLst>
          </a:prstGeom>
          <a:solidFill>
            <a:srgbClr val="FFD23B"/>
          </a:solidFill>
          <a:ln w="12700">
            <a:solidFill>
              <a:srgbClr val="FFD23B"/>
            </a:solidFill>
            <a:prstDash val="solid"/>
          </a:ln>
        </p:spPr>
      </p:sp>
      <p:sp>
        <p:nvSpPr>
          <p:cNvPr id="17" name="Text 15"/>
          <p:cNvSpPr txBox="1"/>
          <p:nvPr/>
        </p:nvSpPr>
        <p:spPr>
          <a:xfrm>
            <a:off x="548640" y="914400"/>
            <a:ext cx="2651760"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EVM1110E  ·  Buổi 7 / 15</a:t>
            </a:r>
            <a:endParaRPr lang="en-US" sz="1400" dirty="0"/>
          </a:p>
        </p:txBody>
      </p:sp>
      <p:sp>
        <p:nvSpPr>
          <p:cNvPr id="18" name="Text 16"/>
          <p:cNvSpPr txBox="1"/>
          <p:nvPr/>
        </p:nvSpPr>
        <p:spPr>
          <a:xfrm>
            <a:off x="548640" y="1600200"/>
            <a:ext cx="6400800" cy="1737360"/>
          </a:xfrm>
          <a:prstGeom prst="rect">
            <a:avLst/>
          </a:prstGeom>
          <a:noFill/>
          <a:ln/>
        </p:spPr>
        <p:txBody>
          <a:bodyPr wrap="square" lIns="0" tIns="0" rIns="0" bIns="0" rtlCol="0" anchor="t"/>
          <a:lstStyle/>
          <a:p>
            <a:pPr indent="0" marL="0">
              <a:buNone/>
            </a:pPr>
            <a:r>
              <a:rPr lang="en-US" sz="3800" b="1" dirty="0">
                <a:solidFill>
                  <a:srgbClr val="2A2238"/>
                </a:solidFill>
                <a:latin typeface="Alexandria" pitchFamily="34" charset="0"/>
                <a:ea typeface="Alexandria" pitchFamily="34" charset="-122"/>
                <a:cs typeface="Alexandria" pitchFamily="34" charset="-120"/>
              </a:rPr>
              <a:t>Quản trị mối quan hệ trong tổ chức sự kiện</a:t>
            </a:r>
            <a:endParaRPr lang="en-US" sz="3800" dirty="0"/>
          </a:p>
        </p:txBody>
      </p:sp>
      <p:sp>
        <p:nvSpPr>
          <p:cNvPr id="19" name="Text 17"/>
          <p:cNvSpPr txBox="1"/>
          <p:nvPr/>
        </p:nvSpPr>
        <p:spPr>
          <a:xfrm>
            <a:off x="548640" y="3429000"/>
            <a:ext cx="6400800" cy="914400"/>
          </a:xfrm>
          <a:prstGeom prst="rect">
            <a:avLst/>
          </a:prstGeom>
          <a:noFill/>
          <a:ln/>
        </p:spPr>
        <p:txBody>
          <a:bodyPr wrap="square" lIns="0" tIns="0" rIns="0" bIns="0" rtlCol="0" anchor="t"/>
          <a:lstStyle/>
          <a:p>
            <a:pPr indent="0" marL="0">
              <a:buNone/>
            </a:pPr>
            <a:r>
              <a:rPr lang="en-US" sz="2200" i="1" dirty="0">
                <a:solidFill>
                  <a:srgbClr val="962B7C"/>
                </a:solidFill>
                <a:latin typeface="Alexandria" pitchFamily="34" charset="0"/>
                <a:ea typeface="Alexandria" pitchFamily="34" charset="-122"/>
                <a:cs typeface="Alexandria" pitchFamily="34" charset="-120"/>
              </a:rPr>
              <a:t>Understanding Procurement &amp; Value-based Negotiation</a:t>
            </a:r>
            <a:endParaRPr lang="en-US" sz="2200" dirty="0"/>
          </a:p>
        </p:txBody>
      </p:sp>
      <p:sp>
        <p:nvSpPr>
          <p:cNvPr id="20" name="Text 18"/>
          <p:cNvSpPr txBox="1"/>
          <p:nvPr/>
        </p:nvSpPr>
        <p:spPr>
          <a:xfrm>
            <a:off x="548640" y="4617720"/>
            <a:ext cx="6400800" cy="1188720"/>
          </a:xfrm>
          <a:prstGeom prst="rect">
            <a:avLst/>
          </a:prstGeom>
          <a:noFill/>
          <a:ln/>
        </p:spPr>
        <p:txBody>
          <a:bodyPr wrap="square" lIns="0" tIns="0" rIns="0" bIns="0" rtlCol="0" anchor="t"/>
          <a:lstStyle/>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Stakeholders Management for Events</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Khoa Marketing · UEF</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Giảng viên: [Tên giảng viên]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tuần trước gala, AV khách sạn tăng giá 30% — Nova làm gì?</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Tình huống giả định (tiếp nối Buổi 1) — mọi tên và con số chỉ dùng cho học tập.</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2</a:t>
            </a:r>
            <a:endParaRPr lang="en-US" sz="1000" dirty="0"/>
          </a:p>
        </p:txBody>
      </p:sp>
      <p:sp>
        <p:nvSpPr>
          <p:cNvPr id="20" name="Shape 17"/>
          <p:cNvSpPr/>
          <p:nvPr/>
        </p:nvSpPr>
        <p:spPr>
          <a:xfrm>
            <a:off x="548640" y="1920240"/>
            <a:ext cx="3931920" cy="4160520"/>
          </a:xfrm>
          <a:prstGeom prst="roundRect">
            <a:avLst>
              <a:gd name="adj" fmla="val 2791"/>
            </a:avLst>
          </a:prstGeom>
          <a:solidFill>
            <a:srgbClr val="FFE4EA"/>
          </a:solidFill>
          <a:ln w="12700">
            <a:solidFill>
              <a:srgbClr val="FF5178"/>
            </a:solidFill>
            <a:prstDash val="solid"/>
          </a:ln>
        </p:spPr>
      </p:sp>
      <p:sp>
        <p:nvSpPr>
          <p:cNvPr id="21" name="Text 18"/>
          <p:cNvSpPr txBox="1"/>
          <p:nvPr/>
        </p:nvSpPr>
        <p:spPr>
          <a:xfrm>
            <a:off x="868680" y="2103120"/>
            <a:ext cx="3291840" cy="1005840"/>
          </a:xfrm>
          <a:prstGeom prst="rect">
            <a:avLst/>
          </a:prstGeom>
          <a:noFill/>
          <a:ln/>
        </p:spPr>
        <p:txBody>
          <a:bodyPr wrap="square" lIns="0" tIns="0" rIns="0" bIns="0" rtlCol="0" anchor="ctr"/>
          <a:lstStyle/>
          <a:p>
            <a:pPr indent="0" marL="0">
              <a:buNone/>
            </a:pPr>
            <a:r>
              <a:rPr lang="en-US" sz="6000" b="1" dirty="0">
                <a:solidFill>
                  <a:srgbClr val="FF5178"/>
                </a:solidFill>
                <a:latin typeface="Alexandria" pitchFamily="34" charset="0"/>
                <a:ea typeface="Alexandria" pitchFamily="34" charset="-122"/>
                <a:cs typeface="Alexandria" pitchFamily="34" charset="-120"/>
              </a:rPr>
              <a:t>+30%</a:t>
            </a:r>
            <a:endParaRPr lang="en-US" sz="6000" dirty="0"/>
          </a:p>
        </p:txBody>
      </p:sp>
      <p:sp>
        <p:nvSpPr>
          <p:cNvPr id="22" name="Text 19"/>
          <p:cNvSpPr txBox="1"/>
          <p:nvPr/>
        </p:nvSpPr>
        <p:spPr>
          <a:xfrm>
            <a:off x="868680" y="3246120"/>
            <a:ext cx="3337560" cy="26517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A2238"/>
                </a:solidFill>
                <a:latin typeface="Alexandria" pitchFamily="34" charset="0"/>
                <a:ea typeface="Alexandria" pitchFamily="34" charset="-122"/>
                <a:cs typeface="Alexandria" pitchFamily="34" charset="-120"/>
              </a:rPr>
              <a:t>Key Account: Ngân hàng An Phát</a:t>
            </a:r>
            <a:endParaRPr lang="en-US" sz="1600" dirty="0"/>
          </a:p>
          <a:p>
            <a:pPr marL="342900" indent="-342900">
              <a:spcAft>
                <a:spcPts val="1000"/>
              </a:spcAft>
              <a:buSzPct val="100000"/>
              <a:buChar char="•"/>
            </a:pPr>
            <a:r>
              <a:rPr lang="en-US" sz="1600" dirty="0">
                <a:solidFill>
                  <a:srgbClr val="2A2238"/>
                </a:solidFill>
                <a:latin typeface="Alexandria" pitchFamily="34" charset="0"/>
                <a:ea typeface="Alexandria" pitchFamily="34" charset="-122"/>
                <a:cs typeface="Alexandria" pitchFamily="34" charset="-120"/>
              </a:rPr>
              <a:t>Hội nghị + gala tối 12/12, khách sạn 5 sao, Quận 1</a:t>
            </a:r>
            <a:endParaRPr lang="en-US" sz="1600" dirty="0"/>
          </a:p>
          <a:p>
            <a:pPr marL="342900" indent="-342900">
              <a:spcAft>
                <a:spcPts val="1000"/>
              </a:spcAft>
              <a:buSzPct val="100000"/>
              <a:buChar char="•"/>
            </a:pPr>
            <a:r>
              <a:rPr lang="en-US" sz="1600" dirty="0">
                <a:solidFill>
                  <a:srgbClr val="2A2238"/>
                </a:solidFill>
                <a:latin typeface="Alexandria" pitchFamily="34" charset="0"/>
                <a:ea typeface="Alexandria" pitchFamily="34" charset="-122"/>
                <a:cs typeface="Alexandria" pitchFamily="34" charset="-120"/>
              </a:rPr>
              <a:t>Hợp đồng venue cấm mang AV ngoài vào</a:t>
            </a:r>
            <a:endParaRPr lang="en-US" sz="1600" dirty="0"/>
          </a:p>
        </p:txBody>
      </p:sp>
      <p:sp>
        <p:nvSpPr>
          <p:cNvPr id="23" name="Shape 20"/>
          <p:cNvSpPr/>
          <p:nvPr/>
        </p:nvSpPr>
        <p:spPr>
          <a:xfrm>
            <a:off x="4846320" y="1920240"/>
            <a:ext cx="6796735" cy="914400"/>
          </a:xfrm>
          <a:prstGeom prst="roundRect">
            <a:avLst>
              <a:gd name="adj" fmla="val 12000"/>
            </a:avLst>
          </a:prstGeom>
          <a:solidFill>
            <a:srgbClr val="FFFFFF"/>
          </a:solidFill>
          <a:ln w="12700">
            <a:solidFill>
              <a:srgbClr val="DCD7C8"/>
            </a:solidFill>
            <a:prstDash val="solid"/>
          </a:ln>
        </p:spPr>
      </p:sp>
      <p:sp>
        <p:nvSpPr>
          <p:cNvPr id="24" name="Shape 21"/>
          <p:cNvSpPr/>
          <p:nvPr/>
        </p:nvSpPr>
        <p:spPr>
          <a:xfrm>
            <a:off x="5047488" y="2084832"/>
            <a:ext cx="585216" cy="585216"/>
          </a:xfrm>
          <a:prstGeom prst="ellipse">
            <a:avLst/>
          </a:prstGeom>
          <a:solidFill>
            <a:srgbClr val="FF9259"/>
          </a:solidFill>
          <a:ln w="12700">
            <a:solidFill>
              <a:srgbClr val="FF9259"/>
            </a:solidFill>
            <a:prstDash val="solid"/>
          </a:ln>
        </p:spPr>
      </p:sp>
      <p:sp>
        <p:nvSpPr>
          <p:cNvPr id="25" name="Text 22"/>
          <p:cNvSpPr txBox="1"/>
          <p:nvPr/>
        </p:nvSpPr>
        <p:spPr>
          <a:xfrm>
            <a:off x="5047488" y="2084832"/>
            <a:ext cx="585216" cy="585216"/>
          </a:xfrm>
          <a:prstGeom prst="rect">
            <a:avLst/>
          </a:prstGeom>
          <a:noFill/>
          <a:ln/>
        </p:spPr>
        <p:txBody>
          <a:bodyPr wrap="square" lIns="0" tIns="0" rIns="0" bIns="0" rtlCol="0" anchor="ctr"/>
          <a:lstStyle/>
          <a:p>
            <a:pPr algn="ctr" indent="0" marL="0">
              <a:buNone/>
            </a:pPr>
            <a:r>
              <a:rPr lang="en-US" sz="2176" b="1" dirty="0">
                <a:solidFill>
                  <a:srgbClr val="2A2238"/>
                </a:solidFill>
                <a:latin typeface="Alexandria" pitchFamily="34" charset="0"/>
                <a:ea typeface="Alexandria" pitchFamily="34" charset="-122"/>
                <a:cs typeface="Alexandria" pitchFamily="34" charset="-120"/>
              </a:rPr>
              <a:t>A</a:t>
            </a:r>
            <a:endParaRPr lang="en-US" sz="2176" dirty="0"/>
          </a:p>
        </p:txBody>
      </p:sp>
      <p:sp>
        <p:nvSpPr>
          <p:cNvPr id="26" name="Text 23"/>
          <p:cNvSpPr txBox="1"/>
          <p:nvPr/>
        </p:nvSpPr>
        <p:spPr>
          <a:xfrm>
            <a:off x="5852160" y="1920240"/>
            <a:ext cx="5608015" cy="914400"/>
          </a:xfrm>
          <a:prstGeom prst="rect">
            <a:avLst/>
          </a:prstGeom>
          <a:noFill/>
          <a:ln/>
        </p:spPr>
        <p:txBody>
          <a:bodyPr wrap="square" lIns="0" tIns="0" rIns="0" bIns="0" rtlCol="0" anchor="ctr"/>
          <a:lstStyle/>
          <a:p>
            <a:pPr indent="0" marL="0">
              <a:buNone/>
            </a:pPr>
            <a:r>
              <a:rPr lang="en-US" sz="2000" dirty="0">
                <a:solidFill>
                  <a:srgbClr val="2A2238"/>
                </a:solidFill>
                <a:latin typeface="Alexandria" pitchFamily="34" charset="0"/>
                <a:ea typeface="Alexandria" pitchFamily="34" charset="-122"/>
                <a:cs typeface="Alexandria" pitchFamily="34" charset="-120"/>
              </a:rPr>
              <a:t>Chấp nhận giá mới, tự chịu phần chênh</a:t>
            </a:r>
            <a:endParaRPr lang="en-US" sz="2000" dirty="0"/>
          </a:p>
        </p:txBody>
      </p:sp>
      <p:sp>
        <p:nvSpPr>
          <p:cNvPr id="27" name="Shape 24"/>
          <p:cNvSpPr/>
          <p:nvPr/>
        </p:nvSpPr>
        <p:spPr>
          <a:xfrm>
            <a:off x="4846320" y="2990088"/>
            <a:ext cx="6796735" cy="914400"/>
          </a:xfrm>
          <a:prstGeom prst="roundRect">
            <a:avLst>
              <a:gd name="adj" fmla="val 12000"/>
            </a:avLst>
          </a:prstGeom>
          <a:solidFill>
            <a:srgbClr val="FFFFFF"/>
          </a:solidFill>
          <a:ln w="12700">
            <a:solidFill>
              <a:srgbClr val="DCD7C8"/>
            </a:solidFill>
            <a:prstDash val="solid"/>
          </a:ln>
        </p:spPr>
      </p:sp>
      <p:sp>
        <p:nvSpPr>
          <p:cNvPr id="28" name="Shape 25"/>
          <p:cNvSpPr/>
          <p:nvPr/>
        </p:nvSpPr>
        <p:spPr>
          <a:xfrm>
            <a:off x="5047488" y="3154680"/>
            <a:ext cx="585216" cy="585216"/>
          </a:xfrm>
          <a:prstGeom prst="ellipse">
            <a:avLst/>
          </a:prstGeom>
          <a:solidFill>
            <a:srgbClr val="09A1E5"/>
          </a:solidFill>
          <a:ln w="12700">
            <a:solidFill>
              <a:srgbClr val="09A1E5"/>
            </a:solidFill>
            <a:prstDash val="solid"/>
          </a:ln>
        </p:spPr>
      </p:sp>
      <p:sp>
        <p:nvSpPr>
          <p:cNvPr id="29" name="Text 26"/>
          <p:cNvSpPr txBox="1"/>
          <p:nvPr/>
        </p:nvSpPr>
        <p:spPr>
          <a:xfrm>
            <a:off x="5047488" y="3154680"/>
            <a:ext cx="585216" cy="585216"/>
          </a:xfrm>
          <a:prstGeom prst="rect">
            <a:avLst/>
          </a:prstGeom>
          <a:noFill/>
          <a:ln/>
        </p:spPr>
        <p:txBody>
          <a:bodyPr wrap="square" lIns="0" tIns="0" rIns="0" bIns="0" rtlCol="0" anchor="ctr"/>
          <a:lstStyle/>
          <a:p>
            <a:pPr algn="ctr" indent="0" marL="0">
              <a:buNone/>
            </a:pPr>
            <a:r>
              <a:rPr lang="en-US" sz="2176" b="1" dirty="0">
                <a:solidFill>
                  <a:srgbClr val="FFFFFF"/>
                </a:solidFill>
                <a:latin typeface="Alexandria" pitchFamily="34" charset="0"/>
                <a:ea typeface="Alexandria" pitchFamily="34" charset="-122"/>
                <a:cs typeface="Alexandria" pitchFamily="34" charset="-120"/>
              </a:rPr>
              <a:t>B</a:t>
            </a:r>
            <a:endParaRPr lang="en-US" sz="2176" dirty="0"/>
          </a:p>
        </p:txBody>
      </p:sp>
      <p:sp>
        <p:nvSpPr>
          <p:cNvPr id="30" name="Text 27"/>
          <p:cNvSpPr txBox="1"/>
          <p:nvPr/>
        </p:nvSpPr>
        <p:spPr>
          <a:xfrm>
            <a:off x="5852160" y="2990088"/>
            <a:ext cx="5608015" cy="914400"/>
          </a:xfrm>
          <a:prstGeom prst="rect">
            <a:avLst/>
          </a:prstGeom>
          <a:noFill/>
          <a:ln/>
        </p:spPr>
        <p:txBody>
          <a:bodyPr wrap="square" lIns="0" tIns="0" rIns="0" bIns="0" rtlCol="0" anchor="ctr"/>
          <a:lstStyle/>
          <a:p>
            <a:pPr indent="0" marL="0">
              <a:buNone/>
            </a:pPr>
            <a:r>
              <a:rPr lang="en-US" sz="2000" dirty="0">
                <a:solidFill>
                  <a:srgbClr val="2A2238"/>
                </a:solidFill>
                <a:latin typeface="Alexandria" pitchFamily="34" charset="0"/>
                <a:ea typeface="Alexandria" pitchFamily="34" charset="-122"/>
                <a:cs typeface="Alexandria" pitchFamily="34" charset="-120"/>
              </a:rPr>
              <a:t>Báo Key Account xin tăng ngân sách</a:t>
            </a:r>
            <a:endParaRPr lang="en-US" sz="2000" dirty="0"/>
          </a:p>
        </p:txBody>
      </p:sp>
      <p:sp>
        <p:nvSpPr>
          <p:cNvPr id="31" name="Shape 28"/>
          <p:cNvSpPr/>
          <p:nvPr/>
        </p:nvSpPr>
        <p:spPr>
          <a:xfrm>
            <a:off x="4846320" y="4059936"/>
            <a:ext cx="6796735" cy="914400"/>
          </a:xfrm>
          <a:prstGeom prst="roundRect">
            <a:avLst>
              <a:gd name="adj" fmla="val 12000"/>
            </a:avLst>
          </a:prstGeom>
          <a:solidFill>
            <a:srgbClr val="FFFFFF"/>
          </a:solidFill>
          <a:ln w="12700">
            <a:solidFill>
              <a:srgbClr val="DCD7C8"/>
            </a:solidFill>
            <a:prstDash val="solid"/>
          </a:ln>
        </p:spPr>
      </p:sp>
      <p:sp>
        <p:nvSpPr>
          <p:cNvPr id="32" name="Shape 29"/>
          <p:cNvSpPr/>
          <p:nvPr/>
        </p:nvSpPr>
        <p:spPr>
          <a:xfrm>
            <a:off x="5047488" y="4224528"/>
            <a:ext cx="585216" cy="585216"/>
          </a:xfrm>
          <a:prstGeom prst="ellipse">
            <a:avLst/>
          </a:prstGeom>
          <a:solidFill>
            <a:srgbClr val="49B296"/>
          </a:solidFill>
          <a:ln w="12700">
            <a:solidFill>
              <a:srgbClr val="49B296"/>
            </a:solidFill>
            <a:prstDash val="solid"/>
          </a:ln>
        </p:spPr>
      </p:sp>
      <p:sp>
        <p:nvSpPr>
          <p:cNvPr id="33" name="Text 30"/>
          <p:cNvSpPr txBox="1"/>
          <p:nvPr/>
        </p:nvSpPr>
        <p:spPr>
          <a:xfrm>
            <a:off x="5047488" y="4224528"/>
            <a:ext cx="585216" cy="585216"/>
          </a:xfrm>
          <a:prstGeom prst="rect">
            <a:avLst/>
          </a:prstGeom>
          <a:noFill/>
          <a:ln/>
        </p:spPr>
        <p:txBody>
          <a:bodyPr wrap="square" lIns="0" tIns="0" rIns="0" bIns="0" rtlCol="0" anchor="ctr"/>
          <a:lstStyle/>
          <a:p>
            <a:pPr algn="ctr" indent="0" marL="0">
              <a:buNone/>
            </a:pPr>
            <a:r>
              <a:rPr lang="en-US" sz="2176" b="1" dirty="0">
                <a:solidFill>
                  <a:srgbClr val="FFFFFF"/>
                </a:solidFill>
                <a:latin typeface="Alexandria" pitchFamily="34" charset="0"/>
                <a:ea typeface="Alexandria" pitchFamily="34" charset="-122"/>
                <a:cs typeface="Alexandria" pitchFamily="34" charset="-120"/>
              </a:rPr>
              <a:t>C</a:t>
            </a:r>
            <a:endParaRPr lang="en-US" sz="2176" dirty="0"/>
          </a:p>
        </p:txBody>
      </p:sp>
      <p:sp>
        <p:nvSpPr>
          <p:cNvPr id="34" name="Text 31"/>
          <p:cNvSpPr txBox="1"/>
          <p:nvPr/>
        </p:nvSpPr>
        <p:spPr>
          <a:xfrm>
            <a:off x="5852160" y="4059936"/>
            <a:ext cx="5608015" cy="914400"/>
          </a:xfrm>
          <a:prstGeom prst="rect">
            <a:avLst/>
          </a:prstGeom>
          <a:noFill/>
          <a:ln/>
        </p:spPr>
        <p:txBody>
          <a:bodyPr wrap="square" lIns="0" tIns="0" rIns="0" bIns="0" rtlCol="0" anchor="ctr"/>
          <a:lstStyle/>
          <a:p>
            <a:pPr indent="0" marL="0">
              <a:buNone/>
            </a:pPr>
            <a:r>
              <a:rPr lang="en-US" sz="2000" dirty="0">
                <a:solidFill>
                  <a:srgbClr val="2A2238"/>
                </a:solidFill>
                <a:latin typeface="Alexandria" pitchFamily="34" charset="0"/>
                <a:ea typeface="Alexandria" pitchFamily="34" charset="-122"/>
                <a:cs typeface="Alexandria" pitchFamily="34" charset="-120"/>
              </a:rPr>
              <a:t>Đổi khách sạn</a:t>
            </a:r>
            <a:endParaRPr lang="en-US" sz="2000" dirty="0"/>
          </a:p>
        </p:txBody>
      </p:sp>
      <p:sp>
        <p:nvSpPr>
          <p:cNvPr id="35" name="Shape 32"/>
          <p:cNvSpPr/>
          <p:nvPr/>
        </p:nvSpPr>
        <p:spPr>
          <a:xfrm>
            <a:off x="4846320" y="5129784"/>
            <a:ext cx="6796735" cy="914400"/>
          </a:xfrm>
          <a:prstGeom prst="roundRect">
            <a:avLst>
              <a:gd name="adj" fmla="val 12000"/>
            </a:avLst>
          </a:prstGeom>
          <a:solidFill>
            <a:srgbClr val="FFFFFF"/>
          </a:solidFill>
          <a:ln w="12700">
            <a:solidFill>
              <a:srgbClr val="DCD7C8"/>
            </a:solidFill>
            <a:prstDash val="solid"/>
          </a:ln>
        </p:spPr>
      </p:sp>
      <p:sp>
        <p:nvSpPr>
          <p:cNvPr id="36" name="Shape 33"/>
          <p:cNvSpPr/>
          <p:nvPr/>
        </p:nvSpPr>
        <p:spPr>
          <a:xfrm>
            <a:off x="5047488" y="5294376"/>
            <a:ext cx="585216" cy="585216"/>
          </a:xfrm>
          <a:prstGeom prst="ellipse">
            <a:avLst/>
          </a:prstGeom>
          <a:solidFill>
            <a:srgbClr val="962B7C"/>
          </a:solidFill>
          <a:ln w="12700">
            <a:solidFill>
              <a:srgbClr val="962B7C"/>
            </a:solidFill>
            <a:prstDash val="solid"/>
          </a:ln>
        </p:spPr>
      </p:sp>
      <p:sp>
        <p:nvSpPr>
          <p:cNvPr id="37" name="Text 34"/>
          <p:cNvSpPr txBox="1"/>
          <p:nvPr/>
        </p:nvSpPr>
        <p:spPr>
          <a:xfrm>
            <a:off x="5047488" y="5294376"/>
            <a:ext cx="585216" cy="585216"/>
          </a:xfrm>
          <a:prstGeom prst="rect">
            <a:avLst/>
          </a:prstGeom>
          <a:noFill/>
          <a:ln/>
        </p:spPr>
        <p:txBody>
          <a:bodyPr wrap="square" lIns="0" tIns="0" rIns="0" bIns="0" rtlCol="0" anchor="ctr"/>
          <a:lstStyle/>
          <a:p>
            <a:pPr algn="ctr" indent="0" marL="0">
              <a:buNone/>
            </a:pPr>
            <a:r>
              <a:rPr lang="en-US" sz="2176" b="1" dirty="0">
                <a:solidFill>
                  <a:srgbClr val="FFFFFF"/>
                </a:solidFill>
                <a:latin typeface="Alexandria" pitchFamily="34" charset="0"/>
                <a:ea typeface="Alexandria" pitchFamily="34" charset="-122"/>
                <a:cs typeface="Alexandria" pitchFamily="34" charset="-120"/>
              </a:rPr>
              <a:t>D</a:t>
            </a:r>
            <a:endParaRPr lang="en-US" sz="2176" dirty="0"/>
          </a:p>
        </p:txBody>
      </p:sp>
      <p:sp>
        <p:nvSpPr>
          <p:cNvPr id="38" name="Text 35"/>
          <p:cNvSpPr txBox="1"/>
          <p:nvPr/>
        </p:nvSpPr>
        <p:spPr>
          <a:xfrm>
            <a:off x="5852160" y="5129784"/>
            <a:ext cx="5608015" cy="914400"/>
          </a:xfrm>
          <a:prstGeom prst="rect">
            <a:avLst/>
          </a:prstGeom>
          <a:noFill/>
          <a:ln/>
        </p:spPr>
        <p:txBody>
          <a:bodyPr wrap="square" lIns="0" tIns="0" rIns="0" bIns="0" rtlCol="0" anchor="ctr"/>
          <a:lstStyle/>
          <a:p>
            <a:pPr indent="0" marL="0">
              <a:buNone/>
            </a:pPr>
            <a:r>
              <a:rPr lang="en-US" sz="2000" dirty="0">
                <a:solidFill>
                  <a:srgbClr val="2A2238"/>
                </a:solidFill>
                <a:latin typeface="Alexandria" pitchFamily="34" charset="0"/>
                <a:ea typeface="Alexandria" pitchFamily="34" charset="-122"/>
                <a:cs typeface="Alexandria" pitchFamily="34" charset="-120"/>
              </a:rPr>
              <a:t>Đàm phán với khách sạn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Agency vừa là người bán, vừa là người mua</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3</a:t>
            </a:r>
            <a:endParaRPr lang="en-US" sz="1000" dirty="0"/>
          </a:p>
        </p:txBody>
      </p:sp>
      <p:sp>
        <p:nvSpPr>
          <p:cNvPr id="19" name="Shape 16"/>
          <p:cNvSpPr/>
          <p:nvPr/>
        </p:nvSpPr>
        <p:spPr>
          <a:xfrm>
            <a:off x="548640" y="2377440"/>
            <a:ext cx="3063240" cy="2103120"/>
          </a:xfrm>
          <a:prstGeom prst="roundRect">
            <a:avLst>
              <a:gd name="adj" fmla="val 5217"/>
            </a:avLst>
          </a:prstGeom>
          <a:solidFill>
            <a:srgbClr val="DDF1FB"/>
          </a:solidFill>
          <a:ln w="12700">
            <a:solidFill>
              <a:srgbClr val="09A1E5"/>
            </a:solidFill>
            <a:prstDash val="solid"/>
          </a:ln>
        </p:spPr>
      </p:sp>
      <p:sp>
        <p:nvSpPr>
          <p:cNvPr id="20" name="Text 17"/>
          <p:cNvSpPr txBox="1"/>
          <p:nvPr/>
        </p:nvSpPr>
        <p:spPr>
          <a:xfrm>
            <a:off x="777240" y="2697480"/>
            <a:ext cx="2606040" cy="548640"/>
          </a:xfrm>
          <a:prstGeom prst="rect">
            <a:avLst/>
          </a:prstGeom>
          <a:noFill/>
          <a:ln/>
        </p:spPr>
        <p:txBody>
          <a:bodyPr wrap="square" lIns="0" tIns="0" rIns="0" bIns="0" rtlCol="0" anchor="ctr"/>
          <a:lstStyle/>
          <a:p>
            <a:pPr algn="ctr" indent="0" marL="0">
              <a:buNone/>
            </a:pPr>
            <a:r>
              <a:rPr lang="en-US" sz="2400" b="1" dirty="0">
                <a:solidFill>
                  <a:srgbClr val="2A2238"/>
                </a:solidFill>
                <a:latin typeface="Alexandria" pitchFamily="34" charset="0"/>
                <a:ea typeface="Alexandria" pitchFamily="34" charset="-122"/>
                <a:cs typeface="Alexandria" pitchFamily="34" charset="-120"/>
              </a:rPr>
              <a:t>Nhà cung cấp</a:t>
            </a:r>
            <a:endParaRPr lang="en-US" sz="2400" dirty="0"/>
          </a:p>
        </p:txBody>
      </p:sp>
      <p:sp>
        <p:nvSpPr>
          <p:cNvPr id="21" name="Text 18"/>
          <p:cNvSpPr txBox="1"/>
          <p:nvPr/>
        </p:nvSpPr>
        <p:spPr>
          <a:xfrm>
            <a:off x="777240" y="3337560"/>
            <a:ext cx="2606040" cy="822960"/>
          </a:xfrm>
          <a:prstGeom prst="rect">
            <a:avLst/>
          </a:prstGeom>
          <a:noFill/>
          <a:ln/>
        </p:spPr>
        <p:txBody>
          <a:bodyPr wrap="square" lIns="0" tIns="0" rIns="0" bIns="0" rtlCol="0" anchor="t"/>
          <a:lstStyle/>
          <a:p>
            <a:pPr algn="ctr" indent="0" marL="0">
              <a:buNone/>
            </a:pPr>
            <a:r>
              <a:rPr lang="en-US" sz="1500" dirty="0">
                <a:solidFill>
                  <a:srgbClr val="2A2238"/>
                </a:solidFill>
                <a:latin typeface="Alexandria" pitchFamily="34" charset="0"/>
                <a:ea typeface="Alexandria" pitchFamily="34" charset="-122"/>
                <a:cs typeface="Alexandria" pitchFamily="34" charset="-120"/>
              </a:rPr>
              <a:t>venue · AV · F&amp;B · nghệ sĩ · in ấn · vận chuyển</a:t>
            </a:r>
            <a:endParaRPr lang="en-US" sz="1500" dirty="0"/>
          </a:p>
        </p:txBody>
      </p:sp>
      <p:sp>
        <p:nvSpPr>
          <p:cNvPr id="22" name="Shape 19"/>
          <p:cNvSpPr/>
          <p:nvPr/>
        </p:nvSpPr>
        <p:spPr>
          <a:xfrm>
            <a:off x="4564228" y="2377440"/>
            <a:ext cx="3063240" cy="2103120"/>
          </a:xfrm>
          <a:prstGeom prst="roundRect">
            <a:avLst>
              <a:gd name="adj" fmla="val 5217"/>
            </a:avLst>
          </a:prstGeom>
          <a:solidFill>
            <a:srgbClr val="FFD23B"/>
          </a:solidFill>
          <a:ln w="12700">
            <a:solidFill>
              <a:srgbClr val="FFD23B"/>
            </a:solidFill>
            <a:prstDash val="solid"/>
          </a:ln>
        </p:spPr>
      </p:sp>
      <p:sp>
        <p:nvSpPr>
          <p:cNvPr id="23" name="Text 20"/>
          <p:cNvSpPr txBox="1"/>
          <p:nvPr/>
        </p:nvSpPr>
        <p:spPr>
          <a:xfrm>
            <a:off x="4792828" y="2697480"/>
            <a:ext cx="2606040" cy="548640"/>
          </a:xfrm>
          <a:prstGeom prst="rect">
            <a:avLst/>
          </a:prstGeom>
          <a:noFill/>
          <a:ln/>
        </p:spPr>
        <p:txBody>
          <a:bodyPr wrap="square" lIns="0" tIns="0" rIns="0" bIns="0" rtlCol="0" anchor="ctr"/>
          <a:lstStyle/>
          <a:p>
            <a:pPr algn="ctr" indent="0" marL="0">
              <a:buNone/>
            </a:pPr>
            <a:r>
              <a:rPr lang="en-US" sz="2400" b="1" dirty="0">
                <a:solidFill>
                  <a:srgbClr val="2A2238"/>
                </a:solidFill>
                <a:latin typeface="Alexandria" pitchFamily="34" charset="0"/>
                <a:ea typeface="Alexandria" pitchFamily="34" charset="-122"/>
                <a:cs typeface="Alexandria" pitchFamily="34" charset="-120"/>
              </a:rPr>
              <a:t>Agency</a:t>
            </a:r>
            <a:endParaRPr lang="en-US" sz="2400" dirty="0"/>
          </a:p>
        </p:txBody>
      </p:sp>
      <p:sp>
        <p:nvSpPr>
          <p:cNvPr id="24" name="Text 21"/>
          <p:cNvSpPr txBox="1"/>
          <p:nvPr/>
        </p:nvSpPr>
        <p:spPr>
          <a:xfrm>
            <a:off x="4792828" y="3337560"/>
            <a:ext cx="2606040" cy="822960"/>
          </a:xfrm>
          <a:prstGeom prst="rect">
            <a:avLst/>
          </a:prstGeom>
          <a:noFill/>
          <a:ln/>
        </p:spPr>
        <p:txBody>
          <a:bodyPr wrap="square" lIns="0" tIns="0" rIns="0" bIns="0" rtlCol="0" anchor="t"/>
          <a:lstStyle/>
          <a:p>
            <a:pPr algn="ctr" indent="0" marL="0">
              <a:buNone/>
            </a:pPr>
            <a:r>
              <a:rPr lang="en-US" sz="1500" dirty="0">
                <a:solidFill>
                  <a:srgbClr val="2A2238"/>
                </a:solidFill>
                <a:latin typeface="Alexandria" pitchFamily="34" charset="0"/>
                <a:ea typeface="Alexandria" pitchFamily="34" charset="-122"/>
                <a:cs typeface="Alexandria" pitchFamily="34" charset="-120"/>
              </a:rPr>
              <a:t>Nova Events — các bạn</a:t>
            </a:r>
            <a:endParaRPr lang="en-US" sz="1500" dirty="0"/>
          </a:p>
        </p:txBody>
      </p:sp>
      <p:sp>
        <p:nvSpPr>
          <p:cNvPr id="25" name="Shape 22"/>
          <p:cNvSpPr/>
          <p:nvPr/>
        </p:nvSpPr>
        <p:spPr>
          <a:xfrm>
            <a:off x="8579815" y="2377440"/>
            <a:ext cx="3063240" cy="2103120"/>
          </a:xfrm>
          <a:prstGeom prst="roundRect">
            <a:avLst>
              <a:gd name="adj" fmla="val 5217"/>
            </a:avLst>
          </a:prstGeom>
          <a:solidFill>
            <a:srgbClr val="F1E1EE"/>
          </a:solidFill>
          <a:ln w="12700">
            <a:solidFill>
              <a:srgbClr val="962B7C"/>
            </a:solidFill>
            <a:prstDash val="solid"/>
          </a:ln>
        </p:spPr>
      </p:sp>
      <p:sp>
        <p:nvSpPr>
          <p:cNvPr id="26" name="Text 23"/>
          <p:cNvSpPr txBox="1"/>
          <p:nvPr/>
        </p:nvSpPr>
        <p:spPr>
          <a:xfrm>
            <a:off x="8808415" y="2697480"/>
            <a:ext cx="2606040" cy="548640"/>
          </a:xfrm>
          <a:prstGeom prst="rect">
            <a:avLst/>
          </a:prstGeom>
          <a:noFill/>
          <a:ln/>
        </p:spPr>
        <p:txBody>
          <a:bodyPr wrap="square" lIns="0" tIns="0" rIns="0" bIns="0" rtlCol="0" anchor="ctr"/>
          <a:lstStyle/>
          <a:p>
            <a:pPr algn="ctr" indent="0" marL="0">
              <a:buNone/>
            </a:pPr>
            <a:r>
              <a:rPr lang="en-US" sz="2400" b="1" dirty="0">
                <a:solidFill>
                  <a:srgbClr val="2A2238"/>
                </a:solidFill>
                <a:latin typeface="Alexandria" pitchFamily="34" charset="0"/>
                <a:ea typeface="Alexandria" pitchFamily="34" charset="-122"/>
                <a:cs typeface="Alexandria" pitchFamily="34" charset="-120"/>
              </a:rPr>
              <a:t>Key Account</a:t>
            </a:r>
            <a:endParaRPr lang="en-US" sz="2400" dirty="0"/>
          </a:p>
        </p:txBody>
      </p:sp>
      <p:sp>
        <p:nvSpPr>
          <p:cNvPr id="27" name="Text 24"/>
          <p:cNvSpPr txBox="1"/>
          <p:nvPr/>
        </p:nvSpPr>
        <p:spPr>
          <a:xfrm>
            <a:off x="8808415" y="3337560"/>
            <a:ext cx="2606040" cy="822960"/>
          </a:xfrm>
          <a:prstGeom prst="rect">
            <a:avLst/>
          </a:prstGeom>
          <a:noFill/>
          <a:ln/>
        </p:spPr>
        <p:txBody>
          <a:bodyPr wrap="square" lIns="0" tIns="0" rIns="0" bIns="0" rtlCol="0" anchor="t"/>
          <a:lstStyle/>
          <a:p>
            <a:pPr algn="ctr" indent="0" marL="0">
              <a:buNone/>
            </a:pPr>
            <a:r>
              <a:rPr lang="en-US" sz="1500" dirty="0">
                <a:solidFill>
                  <a:srgbClr val="2A2238"/>
                </a:solidFill>
                <a:latin typeface="Alexandria" pitchFamily="34" charset="0"/>
                <a:ea typeface="Alexandria" pitchFamily="34" charset="-122"/>
                <a:cs typeface="Alexandria" pitchFamily="34" charset="-120"/>
              </a:rPr>
              <a:t>Ngân hàng An Phát</a:t>
            </a:r>
            <a:endParaRPr lang="en-US" sz="1500" dirty="0"/>
          </a:p>
        </p:txBody>
      </p:sp>
      <p:sp>
        <p:nvSpPr>
          <p:cNvPr id="28" name="Shape 25"/>
          <p:cNvSpPr/>
          <p:nvPr/>
        </p:nvSpPr>
        <p:spPr>
          <a:xfrm>
            <a:off x="3749040" y="3429000"/>
            <a:ext cx="678028" cy="914"/>
          </a:xfrm>
          <a:prstGeom prst="line">
            <a:avLst/>
          </a:prstGeom>
          <a:noFill/>
          <a:ln w="38100">
            <a:solidFill>
              <a:srgbClr val="2A2238"/>
            </a:solidFill>
            <a:prstDash val="solid"/>
            <a:headEnd type="triangle"/>
            <a:tailEnd type="triangle"/>
          </a:ln>
        </p:spPr>
      </p:sp>
      <p:sp>
        <p:nvSpPr>
          <p:cNvPr id="29" name="Shape 26"/>
          <p:cNvSpPr/>
          <p:nvPr/>
        </p:nvSpPr>
        <p:spPr>
          <a:xfrm>
            <a:off x="7764628" y="3429000"/>
            <a:ext cx="678028" cy="914"/>
          </a:xfrm>
          <a:prstGeom prst="line">
            <a:avLst/>
          </a:prstGeom>
          <a:noFill/>
          <a:ln w="38100">
            <a:solidFill>
              <a:srgbClr val="2A2238"/>
            </a:solidFill>
            <a:prstDash val="solid"/>
            <a:headEnd type="triangle"/>
            <a:tailEnd type="triangle"/>
          </a:ln>
        </p:spPr>
      </p:sp>
      <p:sp>
        <p:nvSpPr>
          <p:cNvPr id="30" name="Shape 27"/>
          <p:cNvSpPr/>
          <p:nvPr/>
        </p:nvSpPr>
        <p:spPr>
          <a:xfrm>
            <a:off x="2514600" y="4800600"/>
            <a:ext cx="2743200" cy="457200"/>
          </a:xfrm>
          <a:prstGeom prst="roundRect">
            <a:avLst>
              <a:gd name="adj" fmla="val 50000"/>
            </a:avLst>
          </a:prstGeom>
          <a:solidFill>
            <a:srgbClr val="09A1E5"/>
          </a:solidFill>
          <a:ln w="12700">
            <a:solidFill>
              <a:srgbClr val="09A1E5"/>
            </a:solidFill>
            <a:prstDash val="solid"/>
          </a:ln>
        </p:spPr>
      </p:sp>
      <p:sp>
        <p:nvSpPr>
          <p:cNvPr id="31" name="Text 28"/>
          <p:cNvSpPr txBox="1"/>
          <p:nvPr/>
        </p:nvSpPr>
        <p:spPr>
          <a:xfrm>
            <a:off x="2514600" y="4800600"/>
            <a:ext cx="2743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agency là NGƯỜI MUA</a:t>
            </a:r>
            <a:endParaRPr lang="en-US" sz="1500" dirty="0"/>
          </a:p>
        </p:txBody>
      </p:sp>
      <p:sp>
        <p:nvSpPr>
          <p:cNvPr id="32" name="Shape 29"/>
          <p:cNvSpPr/>
          <p:nvPr/>
        </p:nvSpPr>
        <p:spPr>
          <a:xfrm>
            <a:off x="6933895" y="4800600"/>
            <a:ext cx="2743200" cy="457200"/>
          </a:xfrm>
          <a:prstGeom prst="roundRect">
            <a:avLst>
              <a:gd name="adj" fmla="val 50000"/>
            </a:avLst>
          </a:prstGeom>
          <a:solidFill>
            <a:srgbClr val="962B7C"/>
          </a:solidFill>
          <a:ln w="12700">
            <a:solidFill>
              <a:srgbClr val="962B7C"/>
            </a:solidFill>
            <a:prstDash val="solid"/>
          </a:ln>
        </p:spPr>
      </p:sp>
      <p:sp>
        <p:nvSpPr>
          <p:cNvPr id="33" name="Text 30"/>
          <p:cNvSpPr txBox="1"/>
          <p:nvPr/>
        </p:nvSpPr>
        <p:spPr>
          <a:xfrm>
            <a:off x="6933895" y="4800600"/>
            <a:ext cx="2743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agency là NGƯỜI BÁN</a:t>
            </a:r>
            <a:endParaRPr lang="en-US" sz="1500" dirty="0"/>
          </a:p>
        </p:txBody>
      </p:sp>
      <p:sp>
        <p:nvSpPr>
          <p:cNvPr id="34" name="Text 31"/>
          <p:cNvSpPr txBox="1"/>
          <p:nvPr/>
        </p:nvSpPr>
        <p:spPr>
          <a:xfrm>
            <a:off x="548640" y="5760720"/>
            <a:ext cx="11094415" cy="365760"/>
          </a:xfrm>
          <a:prstGeom prst="rect">
            <a:avLst/>
          </a:prstGeom>
          <a:noFill/>
          <a:ln/>
        </p:spPr>
        <p:txBody>
          <a:bodyPr wrap="square" lIns="0" tIns="0" rIns="0" bIns="0" rtlCol="0" anchor="ctr"/>
          <a:lstStyle/>
          <a:p>
            <a:pPr algn="ctr" indent="0" marL="0">
              <a:buNone/>
            </a:pPr>
            <a:r>
              <a:rPr lang="en-US" sz="1400" b="1" dirty="0">
                <a:solidFill>
                  <a:srgbClr val="6E6878"/>
                </a:solidFill>
                <a:latin typeface="Alexandria" pitchFamily="34" charset="0"/>
                <a:ea typeface="Alexandria" pitchFamily="34" charset="-122"/>
                <a:cs typeface="Alexandria" pitchFamily="34" charset="-120"/>
              </a:rPr>
              <a:t>Buổi 7: </a:t>
            </a:r>
            <a:pPr algn="ctr" indent="0" marL="0">
              <a:buNone/>
            </a:pPr>
            <a:r>
              <a:rPr lang="en-US" sz="1400" dirty="0">
                <a:solidFill>
                  <a:srgbClr val="6E6878"/>
                </a:solidFill>
                <a:latin typeface="Alexandria" pitchFamily="34" charset="0"/>
                <a:ea typeface="Alexandria" pitchFamily="34" charset="-122"/>
                <a:cs typeface="Alexandria" pitchFamily="34" charset="-120"/>
              </a:rPr>
              <a:t>mua từ nhà cung cấp  ·  </a:t>
            </a:r>
            <a:pPr algn="ctr" indent="0" marL="0">
              <a:buNone/>
            </a:pPr>
            <a:r>
              <a:rPr lang="en-US" sz="1400" b="1" dirty="0">
                <a:solidFill>
                  <a:srgbClr val="6E6878"/>
                </a:solidFill>
                <a:latin typeface="Alexandria" pitchFamily="34" charset="0"/>
                <a:ea typeface="Alexandria" pitchFamily="34" charset="-122"/>
                <a:cs typeface="Alexandria" pitchFamily="34" charset="-120"/>
              </a:rPr>
              <a:t>Buổi 2–6: </a:t>
            </a:r>
            <a:pPr algn="ctr" indent="0" marL="0">
              <a:buNone/>
            </a:pPr>
            <a:r>
              <a:rPr lang="en-US" sz="1400" dirty="0">
                <a:solidFill>
                  <a:srgbClr val="6E6878"/>
                </a:solidFill>
                <a:latin typeface="Alexandria" pitchFamily="34" charset="0"/>
                <a:ea typeface="Alexandria" pitchFamily="34" charset="-122"/>
                <a:cs typeface="Alexandria" pitchFamily="34" charset="-120"/>
              </a:rPr>
              <a:t>bán cho Key Account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Phần lớn giá trị hợp đồng đi qua agency để trả cho nhà cung cấp</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Phí quản lý 5–10%: báo giá công khai của agency VN (S18); markup ≥ 10% tại Mỹ (S25). Dải tham chiếu — chưa kiểm chứng chéo.</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4</a:t>
            </a:r>
            <a:endParaRPr lang="en-US" sz="1000" dirty="0"/>
          </a:p>
        </p:txBody>
      </p:sp>
      <p:sp>
        <p:nvSpPr>
          <p:cNvPr id="20" name="Text 17"/>
          <p:cNvSpPr txBox="1"/>
          <p:nvPr/>
        </p:nvSpPr>
        <p:spPr>
          <a:xfrm>
            <a:off x="548640" y="2011680"/>
            <a:ext cx="11094415" cy="365760"/>
          </a:xfrm>
          <a:prstGeom prst="rect">
            <a:avLst/>
          </a:prstGeom>
          <a:noFill/>
          <a:ln/>
        </p:spPr>
        <p:txBody>
          <a:bodyPr wrap="square" lIns="0" tIns="0" rIns="0" bIns="0" rtlCol="0" anchor="ctr"/>
          <a:lstStyle/>
          <a:p>
            <a:pPr indent="0" marL="0">
              <a:buNone/>
            </a:pPr>
            <a:r>
              <a:rPr lang="en-US" sz="1500" dirty="0">
                <a:solidFill>
                  <a:srgbClr val="6E6878"/>
                </a:solidFill>
                <a:latin typeface="Alexandria" pitchFamily="34" charset="0"/>
                <a:ea typeface="Alexandria" pitchFamily="34" charset="-122"/>
                <a:cs typeface="Alexandria" pitchFamily="34" charset="-120"/>
              </a:rPr>
              <a:t>100% giá trị hợp đồng với Key Account</a:t>
            </a:r>
            <a:endParaRPr lang="en-US" sz="1500" dirty="0"/>
          </a:p>
        </p:txBody>
      </p:sp>
      <p:sp>
        <p:nvSpPr>
          <p:cNvPr id="21" name="Shape 18"/>
          <p:cNvSpPr/>
          <p:nvPr/>
        </p:nvSpPr>
        <p:spPr>
          <a:xfrm>
            <a:off x="548640" y="2468880"/>
            <a:ext cx="9984974" cy="1188720"/>
          </a:xfrm>
          <a:prstGeom prst="rect">
            <a:avLst/>
          </a:prstGeom>
          <a:solidFill>
            <a:srgbClr val="09A1E5"/>
          </a:solidFill>
          <a:ln w="12700">
            <a:solidFill>
              <a:srgbClr val="09A1E5"/>
            </a:solidFill>
            <a:prstDash val="solid"/>
          </a:ln>
        </p:spPr>
      </p:sp>
      <p:sp>
        <p:nvSpPr>
          <p:cNvPr id="22" name="Shape 19"/>
          <p:cNvSpPr/>
          <p:nvPr/>
        </p:nvSpPr>
        <p:spPr>
          <a:xfrm>
            <a:off x="10533614" y="2468880"/>
            <a:ext cx="1109442" cy="1188720"/>
          </a:xfrm>
          <a:prstGeom prst="rect">
            <a:avLst/>
          </a:prstGeom>
          <a:solidFill>
            <a:srgbClr val="FF9259"/>
          </a:solidFill>
          <a:ln w="25400">
            <a:solidFill>
              <a:srgbClr val="FBFAF4"/>
            </a:solidFill>
            <a:prstDash val="solid"/>
          </a:ln>
        </p:spPr>
      </p:sp>
      <p:sp>
        <p:nvSpPr>
          <p:cNvPr id="23" name="Text 20"/>
          <p:cNvSpPr txBox="1"/>
          <p:nvPr/>
        </p:nvSpPr>
        <p:spPr>
          <a:xfrm>
            <a:off x="868680" y="2468880"/>
            <a:ext cx="9436334" cy="1188720"/>
          </a:xfrm>
          <a:prstGeom prst="rect">
            <a:avLst/>
          </a:prstGeom>
          <a:noFill/>
          <a:ln/>
        </p:spPr>
        <p:txBody>
          <a:bodyPr wrap="square" lIns="0" tIns="0" rIns="0" bIns="0" rtlCol="0" anchor="ctr"/>
          <a:lstStyle/>
          <a:p>
            <a:pPr indent="0" marL="0">
              <a:buNone/>
            </a:pPr>
            <a:r>
              <a:rPr lang="en-US" sz="2600" b="1" dirty="0">
                <a:solidFill>
                  <a:srgbClr val="FFFFFF"/>
                </a:solidFill>
                <a:latin typeface="Alexandria" pitchFamily="34" charset="0"/>
                <a:ea typeface="Alexandria" pitchFamily="34" charset="-122"/>
                <a:cs typeface="Alexandria" pitchFamily="34" charset="-120"/>
              </a:rPr>
              <a:t>≈ 90–95%  chi cho nhà cung cấp</a:t>
            </a:r>
            <a:endParaRPr lang="en-US" sz="2600" dirty="0"/>
          </a:p>
        </p:txBody>
      </p:sp>
      <p:sp>
        <p:nvSpPr>
          <p:cNvPr id="24" name="Text 21"/>
          <p:cNvSpPr txBox="1"/>
          <p:nvPr/>
        </p:nvSpPr>
        <p:spPr>
          <a:xfrm>
            <a:off x="10533614" y="2468880"/>
            <a:ext cx="1109442" cy="118872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5–10%</a:t>
            </a:r>
            <a:endParaRPr lang="en-US" sz="1800" dirty="0"/>
          </a:p>
        </p:txBody>
      </p:sp>
      <p:sp>
        <p:nvSpPr>
          <p:cNvPr id="25" name="Text 22"/>
          <p:cNvSpPr txBox="1"/>
          <p:nvPr/>
        </p:nvSpPr>
        <p:spPr>
          <a:xfrm>
            <a:off x="8625535" y="3749040"/>
            <a:ext cx="3017520" cy="320040"/>
          </a:xfrm>
          <a:prstGeom prst="rect">
            <a:avLst/>
          </a:prstGeom>
          <a:noFill/>
          <a:ln/>
        </p:spPr>
        <p:txBody>
          <a:bodyPr wrap="square" lIns="0" tIns="0" rIns="0" bIns="0" rtlCol="0" anchor="ctr"/>
          <a:lstStyle/>
          <a:p>
            <a:pPr algn="r" indent="0" marL="0">
              <a:buNone/>
            </a:pPr>
            <a:r>
              <a:rPr lang="en-US" sz="1300" dirty="0">
                <a:solidFill>
                  <a:srgbClr val="6E6878"/>
                </a:solidFill>
                <a:latin typeface="Alexandria" pitchFamily="34" charset="0"/>
                <a:ea typeface="Alexandria" pitchFamily="34" charset="-122"/>
                <a:cs typeface="Alexandria" pitchFamily="34" charset="-120"/>
              </a:rPr>
              <a:t>phí quản lý của agency ↑</a:t>
            </a:r>
            <a:endParaRPr lang="en-US" sz="1300" dirty="0"/>
          </a:p>
        </p:txBody>
      </p:sp>
      <p:sp>
        <p:nvSpPr>
          <p:cNvPr id="26" name="Shape 23"/>
          <p:cNvSpPr/>
          <p:nvPr/>
        </p:nvSpPr>
        <p:spPr>
          <a:xfrm>
            <a:off x="548640" y="4343400"/>
            <a:ext cx="11094415" cy="1508760"/>
          </a:xfrm>
          <a:prstGeom prst="roundRect">
            <a:avLst>
              <a:gd name="adj" fmla="val 7273"/>
            </a:avLst>
          </a:prstGeom>
          <a:solidFill>
            <a:srgbClr val="FFF3C4"/>
          </a:solidFill>
          <a:ln w="12700">
            <a:solidFill>
              <a:srgbClr val="FFD23B"/>
            </a:solidFill>
            <a:prstDash val="solid"/>
          </a:ln>
        </p:spPr>
      </p:sp>
      <p:sp>
        <p:nvSpPr>
          <p:cNvPr id="27" name="Text 24"/>
          <p:cNvSpPr txBox="1"/>
          <p:nvPr/>
        </p:nvSpPr>
        <p:spPr>
          <a:xfrm>
            <a:off x="868680" y="4343400"/>
            <a:ext cx="10454335" cy="1508760"/>
          </a:xfrm>
          <a:prstGeom prst="rect">
            <a:avLst/>
          </a:prstGeom>
          <a:noFill/>
          <a:ln/>
        </p:spPr>
        <p:txBody>
          <a:bodyPr wrap="square" lIns="0" tIns="0" rIns="0" bIns="0" rtlCol="0" anchor="ctr"/>
          <a:lstStyle/>
          <a:p>
            <a:pPr indent="0" marL="0">
              <a:spcAft>
                <a:spcPts val="600"/>
              </a:spcAft>
              <a:buNone/>
            </a:pPr>
            <a:r>
              <a:rPr lang="en-US" sz="1900" dirty="0">
                <a:solidFill>
                  <a:srgbClr val="2A2238"/>
                </a:solidFill>
                <a:latin typeface="Alexandria" pitchFamily="34" charset="0"/>
                <a:ea typeface="Alexandria" pitchFamily="34" charset="-122"/>
                <a:cs typeface="Alexandria" pitchFamily="34" charset="-120"/>
              </a:rPr>
              <a:t>Chất lượng Key Account nhìn thấy phần lớn do nhà cung cấp làm ra.</a:t>
            </a:r>
            <a:endParaRPr lang="en-US" sz="1900" dirty="0"/>
          </a:p>
          <a:p>
            <a:pPr indent="0" marL="0">
              <a:spcAft>
                <a:spcPts val="600"/>
              </a:spcAft>
              <a:buNone/>
            </a:pPr>
            <a:r>
              <a:rPr lang="en-US" sz="1900" b="1" dirty="0">
                <a:solidFill>
                  <a:srgbClr val="2A2238"/>
                </a:solidFill>
                <a:latin typeface="Alexandria" pitchFamily="34" charset="0"/>
                <a:ea typeface="Alexandria" pitchFamily="34" charset="-122"/>
                <a:cs typeface="Alexandria" pitchFamily="34" charset="-120"/>
              </a:rPr>
              <a:t>→ Quản trị nhà cung cấp là một phần của quản trị Key Account.</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Chi phí đầu vào tăng đều và địa điểm cao cấp khan hiếm</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S04: CWT &amp; GBTA, Forecast 2026 (một báo cáo gốc, chưa kiểm chứng chéo) · S05: Amex GBT, 2026 Global Meetings &amp; Events Forecast.</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5</a:t>
            </a:r>
            <a:endParaRPr lang="en-US" sz="1000" dirty="0"/>
          </a:p>
        </p:txBody>
      </p:sp>
      <p:sp>
        <p:nvSpPr>
          <p:cNvPr id="20" name="Shape 17"/>
          <p:cNvSpPr/>
          <p:nvPr/>
        </p:nvSpPr>
        <p:spPr>
          <a:xfrm>
            <a:off x="548640" y="2057400"/>
            <a:ext cx="3515258" cy="3749040"/>
          </a:xfrm>
          <a:prstGeom prst="roundRect">
            <a:avLst>
              <a:gd name="adj" fmla="val 3121"/>
            </a:avLst>
          </a:prstGeom>
          <a:solidFill>
            <a:srgbClr val="FFE9DE"/>
          </a:solidFill>
          <a:ln w="12700">
            <a:solidFill>
              <a:srgbClr val="FF9259"/>
            </a:solidFill>
            <a:prstDash val="solid"/>
          </a:ln>
        </p:spPr>
      </p:sp>
      <p:sp>
        <p:nvSpPr>
          <p:cNvPr id="21" name="Text 18"/>
          <p:cNvSpPr txBox="1"/>
          <p:nvPr/>
        </p:nvSpPr>
        <p:spPr>
          <a:xfrm>
            <a:off x="822960" y="2377440"/>
            <a:ext cx="2966618" cy="1188720"/>
          </a:xfrm>
          <a:prstGeom prst="rect">
            <a:avLst/>
          </a:prstGeom>
          <a:noFill/>
          <a:ln/>
        </p:spPr>
        <p:txBody>
          <a:bodyPr wrap="square" lIns="0" tIns="0" rIns="0" bIns="0" rtlCol="0" anchor="ctr"/>
          <a:lstStyle/>
          <a:p>
            <a:pPr indent="0" marL="0">
              <a:buNone/>
            </a:pPr>
            <a:r>
              <a:rPr lang="en-US" sz="5200" b="1" dirty="0">
                <a:solidFill>
                  <a:srgbClr val="D9622B"/>
                </a:solidFill>
                <a:latin typeface="Alexandria" pitchFamily="34" charset="0"/>
                <a:ea typeface="Alexandria" pitchFamily="34" charset="-122"/>
                <a:cs typeface="Alexandria" pitchFamily="34" charset="-120"/>
              </a:rPr>
              <a:t>+4,5%</a:t>
            </a:r>
            <a:endParaRPr lang="en-US" sz="5200" dirty="0"/>
          </a:p>
        </p:txBody>
      </p:sp>
      <p:sp>
        <p:nvSpPr>
          <p:cNvPr id="22" name="Text 19"/>
          <p:cNvSpPr txBox="1"/>
          <p:nvPr/>
        </p:nvSpPr>
        <p:spPr>
          <a:xfrm>
            <a:off x="822960" y="3703320"/>
            <a:ext cx="2966618" cy="1463040"/>
          </a:xfrm>
          <a:prstGeom prst="rect">
            <a:avLst/>
          </a:prstGeom>
          <a:noFill/>
          <a:ln/>
        </p:spPr>
        <p:txBody>
          <a:bodyPr wrap="square" lIns="0" tIns="0" rIns="0" bIns="0" rtlCol="0" anchor="t"/>
          <a:lstStyle/>
          <a:p>
            <a:pPr indent="0" marL="0">
              <a:buNone/>
            </a:pPr>
            <a:r>
              <a:rPr lang="en-US" sz="1700" dirty="0">
                <a:solidFill>
                  <a:srgbClr val="2A2238"/>
                </a:solidFill>
                <a:latin typeface="Alexandria" pitchFamily="34" charset="0"/>
                <a:ea typeface="Alexandria" pitchFamily="34" charset="-122"/>
                <a:cs typeface="Alexandria" pitchFamily="34" charset="-120"/>
              </a:rPr>
              <a:t>chi phí / người / ngày của meetings &amp; events toàn cầu, năm 2024</a:t>
            </a:r>
            <a:endParaRPr lang="en-US" sz="1700" dirty="0"/>
          </a:p>
        </p:txBody>
      </p:sp>
      <p:sp>
        <p:nvSpPr>
          <p:cNvPr id="23" name="Text 20"/>
          <p:cNvSpPr txBox="1"/>
          <p:nvPr/>
        </p:nvSpPr>
        <p:spPr>
          <a:xfrm>
            <a:off x="822960" y="5257800"/>
            <a:ext cx="2966618" cy="320040"/>
          </a:xfrm>
          <a:prstGeom prst="rect">
            <a:avLst/>
          </a:prstGeom>
          <a:noFill/>
          <a:ln/>
        </p:spPr>
        <p:txBody>
          <a:bodyPr wrap="square" lIns="0" tIns="0" rIns="0" bIns="0" rtlCol="0" anchor="ctr"/>
          <a:lstStyle/>
          <a:p>
            <a:pPr indent="0" marL="0">
              <a:buNone/>
            </a:pPr>
            <a:r>
              <a:rPr lang="en-US" sz="1200" dirty="0">
                <a:solidFill>
                  <a:srgbClr val="6E6878"/>
                </a:solidFill>
                <a:latin typeface="Alexandria" pitchFamily="34" charset="0"/>
                <a:ea typeface="Alexandria" pitchFamily="34" charset="-122"/>
                <a:cs typeface="Alexandria" pitchFamily="34" charset="-120"/>
              </a:rPr>
              <a:t>S04</a:t>
            </a:r>
            <a:endParaRPr lang="en-US" sz="1200" dirty="0"/>
          </a:p>
        </p:txBody>
      </p:sp>
      <p:sp>
        <p:nvSpPr>
          <p:cNvPr id="24" name="Shape 21"/>
          <p:cNvSpPr/>
          <p:nvPr/>
        </p:nvSpPr>
        <p:spPr>
          <a:xfrm>
            <a:off x="4338218" y="2057400"/>
            <a:ext cx="3515258" cy="3749040"/>
          </a:xfrm>
          <a:prstGeom prst="roundRect">
            <a:avLst>
              <a:gd name="adj" fmla="val 3121"/>
            </a:avLst>
          </a:prstGeom>
          <a:solidFill>
            <a:srgbClr val="DDF1FB"/>
          </a:solidFill>
          <a:ln w="12700">
            <a:solidFill>
              <a:srgbClr val="09A1E5"/>
            </a:solidFill>
            <a:prstDash val="solid"/>
          </a:ln>
        </p:spPr>
      </p:sp>
      <p:sp>
        <p:nvSpPr>
          <p:cNvPr id="25" name="Text 22"/>
          <p:cNvSpPr txBox="1"/>
          <p:nvPr/>
        </p:nvSpPr>
        <p:spPr>
          <a:xfrm>
            <a:off x="4612538" y="2377440"/>
            <a:ext cx="2966618" cy="1188720"/>
          </a:xfrm>
          <a:prstGeom prst="rect">
            <a:avLst/>
          </a:prstGeom>
          <a:noFill/>
          <a:ln/>
        </p:spPr>
        <p:txBody>
          <a:bodyPr wrap="square" lIns="0" tIns="0" rIns="0" bIns="0" rtlCol="0" anchor="ctr"/>
          <a:lstStyle/>
          <a:p>
            <a:pPr indent="0" marL="0">
              <a:buNone/>
            </a:pPr>
            <a:r>
              <a:rPr lang="en-US" sz="5200" b="1" dirty="0">
                <a:solidFill>
                  <a:srgbClr val="0A7FB5"/>
                </a:solidFill>
                <a:latin typeface="Alexandria" pitchFamily="34" charset="0"/>
                <a:ea typeface="Alexandria" pitchFamily="34" charset="-122"/>
                <a:cs typeface="Alexandria" pitchFamily="34" charset="-120"/>
              </a:rPr>
              <a:t>138 USD</a:t>
            </a:r>
            <a:endParaRPr lang="en-US" sz="5200" dirty="0"/>
          </a:p>
        </p:txBody>
      </p:sp>
      <p:sp>
        <p:nvSpPr>
          <p:cNvPr id="26" name="Text 23"/>
          <p:cNvSpPr txBox="1"/>
          <p:nvPr/>
        </p:nvSpPr>
        <p:spPr>
          <a:xfrm>
            <a:off x="4612538" y="3703320"/>
            <a:ext cx="2966618" cy="1463040"/>
          </a:xfrm>
          <a:prstGeom prst="rect">
            <a:avLst/>
          </a:prstGeom>
          <a:noFill/>
          <a:ln/>
        </p:spPr>
        <p:txBody>
          <a:bodyPr wrap="square" lIns="0" tIns="0" rIns="0" bIns="0" rtlCol="0" anchor="t"/>
          <a:lstStyle/>
          <a:p>
            <a:pPr indent="0" marL="0">
              <a:buNone/>
            </a:pPr>
            <a:r>
              <a:rPr lang="en-US" sz="1700" dirty="0">
                <a:solidFill>
                  <a:srgbClr val="2A2238"/>
                </a:solidFill>
                <a:latin typeface="Alexandria" pitchFamily="34" charset="0"/>
                <a:ea typeface="Alexandria" pitchFamily="34" charset="-122"/>
                <a:cs typeface="Alexandria" pitchFamily="34" charset="-120"/>
              </a:rPr>
              <a:t>chi phí / người / ngày tại khu vực APAC (+4,5%)</a:t>
            </a:r>
            <a:endParaRPr lang="en-US" sz="1700" dirty="0"/>
          </a:p>
        </p:txBody>
      </p:sp>
      <p:sp>
        <p:nvSpPr>
          <p:cNvPr id="27" name="Text 24"/>
          <p:cNvSpPr txBox="1"/>
          <p:nvPr/>
        </p:nvSpPr>
        <p:spPr>
          <a:xfrm>
            <a:off x="4612538" y="5257800"/>
            <a:ext cx="2966618" cy="320040"/>
          </a:xfrm>
          <a:prstGeom prst="rect">
            <a:avLst/>
          </a:prstGeom>
          <a:noFill/>
          <a:ln/>
        </p:spPr>
        <p:txBody>
          <a:bodyPr wrap="square" lIns="0" tIns="0" rIns="0" bIns="0" rtlCol="0" anchor="ctr"/>
          <a:lstStyle/>
          <a:p>
            <a:pPr indent="0" marL="0">
              <a:buNone/>
            </a:pPr>
            <a:r>
              <a:rPr lang="en-US" sz="1200" dirty="0">
                <a:solidFill>
                  <a:srgbClr val="6E6878"/>
                </a:solidFill>
                <a:latin typeface="Alexandria" pitchFamily="34" charset="0"/>
                <a:ea typeface="Alexandria" pitchFamily="34" charset="-122"/>
                <a:cs typeface="Alexandria" pitchFamily="34" charset="-120"/>
              </a:rPr>
              <a:t>S04</a:t>
            </a:r>
            <a:endParaRPr lang="en-US" sz="1200" dirty="0"/>
          </a:p>
        </p:txBody>
      </p:sp>
      <p:sp>
        <p:nvSpPr>
          <p:cNvPr id="28" name="Shape 25"/>
          <p:cNvSpPr/>
          <p:nvPr/>
        </p:nvSpPr>
        <p:spPr>
          <a:xfrm>
            <a:off x="8127797" y="2057400"/>
            <a:ext cx="3515258" cy="3749040"/>
          </a:xfrm>
          <a:prstGeom prst="roundRect">
            <a:avLst>
              <a:gd name="adj" fmla="val 3121"/>
            </a:avLst>
          </a:prstGeom>
          <a:solidFill>
            <a:srgbClr val="FFE4EA"/>
          </a:solidFill>
          <a:ln w="12700">
            <a:solidFill>
              <a:srgbClr val="FF5178"/>
            </a:solidFill>
            <a:prstDash val="solid"/>
          </a:ln>
        </p:spPr>
      </p:sp>
      <p:sp>
        <p:nvSpPr>
          <p:cNvPr id="29" name="Text 26"/>
          <p:cNvSpPr txBox="1"/>
          <p:nvPr/>
        </p:nvSpPr>
        <p:spPr>
          <a:xfrm>
            <a:off x="8402117" y="2377440"/>
            <a:ext cx="2966618" cy="1188720"/>
          </a:xfrm>
          <a:prstGeom prst="rect">
            <a:avLst/>
          </a:prstGeom>
          <a:noFill/>
          <a:ln/>
        </p:spPr>
        <p:txBody>
          <a:bodyPr wrap="square" lIns="0" tIns="0" rIns="0" bIns="0" rtlCol="0" anchor="ctr"/>
          <a:lstStyle/>
          <a:p>
            <a:pPr indent="0" marL="0">
              <a:buNone/>
            </a:pPr>
            <a:r>
              <a:rPr lang="en-US" sz="5200" b="1" dirty="0">
                <a:solidFill>
                  <a:srgbClr val="E03A62"/>
                </a:solidFill>
                <a:latin typeface="Alexandria" pitchFamily="34" charset="0"/>
                <a:ea typeface="Alexandria" pitchFamily="34" charset="-122"/>
                <a:cs typeface="Alexandria" pitchFamily="34" charset="-120"/>
              </a:rPr>
              <a:t>28%</a:t>
            </a:r>
            <a:endParaRPr lang="en-US" sz="5200" dirty="0"/>
          </a:p>
        </p:txBody>
      </p:sp>
      <p:sp>
        <p:nvSpPr>
          <p:cNvPr id="30" name="Text 27"/>
          <p:cNvSpPr txBox="1"/>
          <p:nvPr/>
        </p:nvSpPr>
        <p:spPr>
          <a:xfrm>
            <a:off x="8402117" y="3703320"/>
            <a:ext cx="2966618" cy="1463040"/>
          </a:xfrm>
          <a:prstGeom prst="rect">
            <a:avLst/>
          </a:prstGeom>
          <a:noFill/>
          <a:ln/>
        </p:spPr>
        <p:txBody>
          <a:bodyPr wrap="square" lIns="0" tIns="0" rIns="0" bIns="0" rtlCol="0" anchor="t"/>
          <a:lstStyle/>
          <a:p>
            <a:pPr indent="0" marL="0">
              <a:buNone/>
            </a:pPr>
            <a:r>
              <a:rPr lang="en-US" sz="1700" dirty="0">
                <a:solidFill>
                  <a:srgbClr val="2A2238"/>
                </a:solidFill>
                <a:latin typeface="Alexandria" pitchFamily="34" charset="0"/>
                <a:ea typeface="Alexandria" pitchFamily="34" charset="-122"/>
                <a:cs typeface="Alexandria" pitchFamily="34" charset="-120"/>
              </a:rPr>
              <a:t>chuyên gia coi khả năng có địa điểm là thách thức năm 2026</a:t>
            </a:r>
            <a:endParaRPr lang="en-US" sz="1700" dirty="0"/>
          </a:p>
        </p:txBody>
      </p:sp>
      <p:sp>
        <p:nvSpPr>
          <p:cNvPr id="31" name="Text 28"/>
          <p:cNvSpPr txBox="1"/>
          <p:nvPr/>
        </p:nvSpPr>
        <p:spPr>
          <a:xfrm>
            <a:off x="8402117" y="5257800"/>
            <a:ext cx="2966618" cy="320040"/>
          </a:xfrm>
          <a:prstGeom prst="rect">
            <a:avLst/>
          </a:prstGeom>
          <a:noFill/>
          <a:ln/>
        </p:spPr>
        <p:txBody>
          <a:bodyPr wrap="square" lIns="0" tIns="0" rIns="0" bIns="0" rtlCol="0" anchor="ctr"/>
          <a:lstStyle/>
          <a:p>
            <a:pPr indent="0" marL="0">
              <a:buNone/>
            </a:pPr>
            <a:r>
              <a:rPr lang="en-US" sz="1200" dirty="0">
                <a:solidFill>
                  <a:srgbClr val="6E6878"/>
                </a:solidFill>
                <a:latin typeface="Alexandria" pitchFamily="34" charset="0"/>
                <a:ea typeface="Alexandria" pitchFamily="34" charset="-122"/>
                <a:cs typeface="Alexandria" pitchFamily="34" charset="-120"/>
              </a:rPr>
              <a:t>S05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Nhiều hạng mục bị khóa bởi điều khoản độc quyền</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S08–S10: báo ngành về đàm phán AV/khách sạn · S13: NPR, CNN (4/2026) · S20: Tạp chí VHNT; ELLE VN · S23: VnExpress, VnEconomy.</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6</a:t>
            </a:r>
            <a:endParaRPr lang="en-US" sz="1000" dirty="0"/>
          </a:p>
        </p:txBody>
      </p:sp>
      <p:sp>
        <p:nvSpPr>
          <p:cNvPr id="20" name="Shape 17"/>
          <p:cNvSpPr/>
          <p:nvPr/>
        </p:nvSpPr>
        <p:spPr>
          <a:xfrm>
            <a:off x="548640" y="1965960"/>
            <a:ext cx="3515258" cy="3017520"/>
          </a:xfrm>
          <a:prstGeom prst="roundRect">
            <a:avLst>
              <a:gd name="adj" fmla="val 3636"/>
            </a:avLst>
          </a:prstGeom>
          <a:solidFill>
            <a:srgbClr val="FFFFFF"/>
          </a:solidFill>
          <a:ln w="12700">
            <a:solidFill>
              <a:srgbClr val="DCD7C8"/>
            </a:solidFill>
            <a:prstDash val="solid"/>
          </a:ln>
        </p:spPr>
      </p:sp>
      <p:sp>
        <p:nvSpPr>
          <p:cNvPr id="21" name="Shape 18"/>
          <p:cNvSpPr/>
          <p:nvPr/>
        </p:nvSpPr>
        <p:spPr>
          <a:xfrm>
            <a:off x="822960" y="2194560"/>
            <a:ext cx="548640" cy="548640"/>
          </a:xfrm>
          <a:prstGeom prst="ellipse">
            <a:avLst/>
          </a:prstGeom>
          <a:solidFill>
            <a:srgbClr val="FF5178"/>
          </a:solidFill>
          <a:ln w="12700">
            <a:solidFill>
              <a:srgbClr val="FF5178"/>
            </a:solidFill>
            <a:prstDash val="solid"/>
          </a:ln>
        </p:spPr>
      </p:sp>
      <p:sp>
        <p:nvSpPr>
          <p:cNvPr id="22" name="Text 19"/>
          <p:cNvSpPr txBox="1"/>
          <p:nvPr/>
        </p:nvSpPr>
        <p:spPr>
          <a:xfrm>
            <a:off x="822960" y="2194560"/>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1</a:t>
            </a:r>
            <a:endParaRPr lang="en-US" sz="2040" dirty="0"/>
          </a:p>
        </p:txBody>
      </p:sp>
      <p:sp>
        <p:nvSpPr>
          <p:cNvPr id="23" name="Text 20"/>
          <p:cNvSpPr txBox="1"/>
          <p:nvPr/>
        </p:nvSpPr>
        <p:spPr>
          <a:xfrm>
            <a:off x="1508760" y="2194560"/>
            <a:ext cx="2372258" cy="54864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AV nội bộ bắt buộc</a:t>
            </a:r>
            <a:endParaRPr lang="en-US" sz="1800" dirty="0"/>
          </a:p>
        </p:txBody>
      </p:sp>
      <p:sp>
        <p:nvSpPr>
          <p:cNvPr id="24" name="Text 21"/>
          <p:cNvSpPr txBox="1"/>
          <p:nvPr/>
        </p:nvSpPr>
        <p:spPr>
          <a:xfrm>
            <a:off x="822960" y="2926080"/>
            <a:ext cx="2966618" cy="164592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Nhiều khách sạn buộc dùng AV nội bộ; khách sạn thường nhận hoa hồng 35–50% hóa đơn AV*</a:t>
            </a:r>
            <a:endParaRPr lang="en-US" sz="1400" dirty="0"/>
          </a:p>
        </p:txBody>
      </p:sp>
      <p:sp>
        <p:nvSpPr>
          <p:cNvPr id="25" name="Text 22"/>
          <p:cNvSpPr txBox="1"/>
          <p:nvPr/>
        </p:nvSpPr>
        <p:spPr>
          <a:xfrm>
            <a:off x="822960" y="4572000"/>
            <a:ext cx="2966618" cy="27432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S08–S10</a:t>
            </a:r>
            <a:endParaRPr lang="en-US" sz="1100" dirty="0"/>
          </a:p>
        </p:txBody>
      </p:sp>
      <p:sp>
        <p:nvSpPr>
          <p:cNvPr id="26" name="Shape 23"/>
          <p:cNvSpPr/>
          <p:nvPr/>
        </p:nvSpPr>
        <p:spPr>
          <a:xfrm>
            <a:off x="4338218" y="1965960"/>
            <a:ext cx="3515258" cy="3017520"/>
          </a:xfrm>
          <a:prstGeom prst="roundRect">
            <a:avLst>
              <a:gd name="adj" fmla="val 3636"/>
            </a:avLst>
          </a:prstGeom>
          <a:solidFill>
            <a:srgbClr val="FFFFFF"/>
          </a:solidFill>
          <a:ln w="12700">
            <a:solidFill>
              <a:srgbClr val="DCD7C8"/>
            </a:solidFill>
            <a:prstDash val="solid"/>
          </a:ln>
        </p:spPr>
      </p:sp>
      <p:sp>
        <p:nvSpPr>
          <p:cNvPr id="27" name="Shape 24"/>
          <p:cNvSpPr/>
          <p:nvPr/>
        </p:nvSpPr>
        <p:spPr>
          <a:xfrm>
            <a:off x="4612538" y="2194560"/>
            <a:ext cx="548640" cy="548640"/>
          </a:xfrm>
          <a:prstGeom prst="ellipse">
            <a:avLst/>
          </a:prstGeom>
          <a:solidFill>
            <a:srgbClr val="962B7C"/>
          </a:solidFill>
          <a:ln w="12700">
            <a:solidFill>
              <a:srgbClr val="962B7C"/>
            </a:solidFill>
            <a:prstDash val="solid"/>
          </a:ln>
        </p:spPr>
      </p:sp>
      <p:sp>
        <p:nvSpPr>
          <p:cNvPr id="28" name="Text 25"/>
          <p:cNvSpPr txBox="1"/>
          <p:nvPr/>
        </p:nvSpPr>
        <p:spPr>
          <a:xfrm>
            <a:off x="4612538" y="2194560"/>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2</a:t>
            </a:r>
            <a:endParaRPr lang="en-US" sz="2040" dirty="0"/>
          </a:p>
        </p:txBody>
      </p:sp>
      <p:sp>
        <p:nvSpPr>
          <p:cNvPr id="29" name="Text 26"/>
          <p:cNvSpPr txBox="1"/>
          <p:nvPr/>
        </p:nvSpPr>
        <p:spPr>
          <a:xfrm>
            <a:off x="5298338" y="2194560"/>
            <a:ext cx="2372258" cy="54864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Bán vé độc quyền</a:t>
            </a:r>
            <a:endParaRPr lang="en-US" sz="1800" dirty="0"/>
          </a:p>
        </p:txBody>
      </p:sp>
      <p:sp>
        <p:nvSpPr>
          <p:cNvPr id="30" name="Text 27"/>
          <p:cNvSpPr txBox="1"/>
          <p:nvPr/>
        </p:nvSpPr>
        <p:spPr>
          <a:xfrm>
            <a:off x="4612538" y="2926080"/>
            <a:ext cx="2966618" cy="164592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Live Nation–Ticketmaster nắm ~80% bán vé sơ cấp ở địa điểm concert lớn tại Mỹ; bồi thẩm đoàn kết luận độc quyền (4/2026)</a:t>
            </a:r>
            <a:endParaRPr lang="en-US" sz="1400" dirty="0"/>
          </a:p>
        </p:txBody>
      </p:sp>
      <p:sp>
        <p:nvSpPr>
          <p:cNvPr id="31" name="Text 28"/>
          <p:cNvSpPr txBox="1"/>
          <p:nvPr/>
        </p:nvSpPr>
        <p:spPr>
          <a:xfrm>
            <a:off x="4612538" y="4572000"/>
            <a:ext cx="2966618" cy="27432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S13</a:t>
            </a:r>
            <a:endParaRPr lang="en-US" sz="1100" dirty="0"/>
          </a:p>
        </p:txBody>
      </p:sp>
      <p:sp>
        <p:nvSpPr>
          <p:cNvPr id="32" name="Shape 29"/>
          <p:cNvSpPr/>
          <p:nvPr/>
        </p:nvSpPr>
        <p:spPr>
          <a:xfrm>
            <a:off x="8127797" y="1965960"/>
            <a:ext cx="3515258" cy="3017520"/>
          </a:xfrm>
          <a:prstGeom prst="roundRect">
            <a:avLst>
              <a:gd name="adj" fmla="val 3636"/>
            </a:avLst>
          </a:prstGeom>
          <a:solidFill>
            <a:srgbClr val="FFFFFF"/>
          </a:solidFill>
          <a:ln w="12700">
            <a:solidFill>
              <a:srgbClr val="DCD7C8"/>
            </a:solidFill>
            <a:prstDash val="solid"/>
          </a:ln>
        </p:spPr>
      </p:sp>
      <p:sp>
        <p:nvSpPr>
          <p:cNvPr id="33" name="Shape 30"/>
          <p:cNvSpPr/>
          <p:nvPr/>
        </p:nvSpPr>
        <p:spPr>
          <a:xfrm>
            <a:off x="8402117" y="2194560"/>
            <a:ext cx="548640" cy="548640"/>
          </a:xfrm>
          <a:prstGeom prst="ellipse">
            <a:avLst/>
          </a:prstGeom>
          <a:solidFill>
            <a:srgbClr val="09A1E5"/>
          </a:solidFill>
          <a:ln w="12700">
            <a:solidFill>
              <a:srgbClr val="09A1E5"/>
            </a:solidFill>
            <a:prstDash val="solid"/>
          </a:ln>
        </p:spPr>
      </p:sp>
      <p:sp>
        <p:nvSpPr>
          <p:cNvPr id="34" name="Text 31"/>
          <p:cNvSpPr txBox="1"/>
          <p:nvPr/>
        </p:nvSpPr>
        <p:spPr>
          <a:xfrm>
            <a:off x="8402117" y="2194560"/>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3</a:t>
            </a:r>
            <a:endParaRPr lang="en-US" sz="2040" dirty="0"/>
          </a:p>
        </p:txBody>
      </p:sp>
      <p:sp>
        <p:nvSpPr>
          <p:cNvPr id="35" name="Text 32"/>
          <p:cNvSpPr txBox="1"/>
          <p:nvPr/>
        </p:nvSpPr>
        <p:spPr>
          <a:xfrm>
            <a:off x="9087917" y="2194560"/>
            <a:ext cx="2372258" cy="54864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Việt Nam</a:t>
            </a:r>
            <a:endParaRPr lang="en-US" sz="1800" dirty="0"/>
          </a:p>
        </p:txBody>
      </p:sp>
      <p:sp>
        <p:nvSpPr>
          <p:cNvPr id="36" name="Text 33"/>
          <p:cNvSpPr txBox="1"/>
          <p:nvPr/>
        </p:nvSpPr>
        <p:spPr>
          <a:xfrm>
            <a:off x="8402117" y="2926080"/>
            <a:ext cx="2966618" cy="164592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Thiếu địa điểm chuyên dụng cho sự kiện lớn; vé máy bay nội địa hè 2025 +10–20%*, đoàn MICE phải đặt trước 1–2 tháng</a:t>
            </a:r>
            <a:endParaRPr lang="en-US" sz="1400" dirty="0"/>
          </a:p>
        </p:txBody>
      </p:sp>
      <p:sp>
        <p:nvSpPr>
          <p:cNvPr id="37" name="Text 34"/>
          <p:cNvSpPr txBox="1"/>
          <p:nvPr/>
        </p:nvSpPr>
        <p:spPr>
          <a:xfrm>
            <a:off x="8402117" y="4572000"/>
            <a:ext cx="2966618" cy="274320"/>
          </a:xfrm>
          <a:prstGeom prst="rect">
            <a:avLst/>
          </a:prstGeom>
          <a:noFill/>
          <a:ln/>
        </p:spPr>
        <p:txBody>
          <a:bodyPr wrap="square" lIns="0" tIns="0" rIns="0" bIns="0" rtlCol="0" anchor="ctr"/>
          <a:lstStyle/>
          <a:p>
            <a:pPr indent="0" marL="0">
              <a:buNone/>
            </a:pPr>
            <a:r>
              <a:rPr lang="en-US" sz="1100" dirty="0">
                <a:solidFill>
                  <a:srgbClr val="6E6878"/>
                </a:solidFill>
                <a:latin typeface="Alexandria" pitchFamily="34" charset="0"/>
                <a:ea typeface="Alexandria" pitchFamily="34" charset="-122"/>
                <a:cs typeface="Alexandria" pitchFamily="34" charset="-120"/>
              </a:rPr>
              <a:t>S20, S23</a:t>
            </a:r>
            <a:endParaRPr lang="en-US" sz="1100" dirty="0"/>
          </a:p>
        </p:txBody>
      </p:sp>
      <p:sp>
        <p:nvSpPr>
          <p:cNvPr id="38" name="Shape 35"/>
          <p:cNvSpPr/>
          <p:nvPr/>
        </p:nvSpPr>
        <p:spPr>
          <a:xfrm>
            <a:off x="548640" y="5212080"/>
            <a:ext cx="11094415" cy="868680"/>
          </a:xfrm>
          <a:prstGeom prst="roundRect">
            <a:avLst>
              <a:gd name="adj" fmla="val 12632"/>
            </a:avLst>
          </a:prstGeom>
          <a:solidFill>
            <a:srgbClr val="FFF3C4"/>
          </a:solidFill>
          <a:ln w="12700">
            <a:solidFill>
              <a:srgbClr val="FFD23B"/>
            </a:solidFill>
            <a:prstDash val="solid"/>
          </a:ln>
        </p:spPr>
      </p:sp>
      <p:sp>
        <p:nvSpPr>
          <p:cNvPr id="39" name="Text 36"/>
          <p:cNvSpPr txBox="1"/>
          <p:nvPr/>
        </p:nvSpPr>
        <p:spPr>
          <a:xfrm>
            <a:off x="868680" y="5212080"/>
            <a:ext cx="10454335" cy="8686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Hỏi nhanh: </a:t>
            </a:r>
            <a:pPr indent="0" marL="0">
              <a:buNone/>
            </a:pPr>
            <a:r>
              <a:rPr lang="en-US" sz="1700" dirty="0">
                <a:solidFill>
                  <a:srgbClr val="2A2238"/>
                </a:solidFill>
                <a:latin typeface="Alexandria" pitchFamily="34" charset="0"/>
                <a:ea typeface="Alexandria" pitchFamily="34" charset="-122"/>
                <a:cs typeface="Alexandria" pitchFamily="34" charset="-120"/>
              </a:rPr>
              <a:t>trong dự án cũ, có hạng mục nào các bạn không được chọn nhà cung cấp?</a:t>
            </a:r>
            <a:endParaRPr lang="en-US" sz="1700" dirty="0"/>
          </a:p>
        </p:txBody>
      </p:sp>
      <p:sp>
        <p:nvSpPr>
          <p:cNvPr id="40" name="Text 37"/>
          <p:cNvSpPr txBox="1"/>
          <p:nvPr/>
        </p:nvSpPr>
        <p:spPr>
          <a:xfrm>
            <a:off x="8899855" y="5001768"/>
            <a:ext cx="2743200" cy="18288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 chưa kiểm chứng chéo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Kraljic: mua hàng phải trở thành quản trị nguồn cung</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S01: Kraljic, P. (1983). Harvard Business Review; CIPS, Kraljic matrix.</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7</a:t>
            </a:r>
            <a:endParaRPr lang="en-US" sz="1000" dirty="0"/>
          </a:p>
        </p:txBody>
      </p:sp>
      <p:sp>
        <p:nvSpPr>
          <p:cNvPr id="20" name="Shape 17"/>
          <p:cNvSpPr/>
          <p:nvPr/>
        </p:nvSpPr>
        <p:spPr>
          <a:xfrm>
            <a:off x="548640" y="2011680"/>
            <a:ext cx="5852160" cy="3840480"/>
          </a:xfrm>
          <a:prstGeom prst="roundRect">
            <a:avLst>
              <a:gd name="adj" fmla="val 2857"/>
            </a:avLst>
          </a:prstGeom>
          <a:solidFill>
            <a:srgbClr val="F1E1EE"/>
          </a:solidFill>
          <a:ln w="12700">
            <a:solidFill>
              <a:srgbClr val="962B7C"/>
            </a:solidFill>
            <a:prstDash val="solid"/>
          </a:ln>
        </p:spPr>
      </p:sp>
      <p:sp>
        <p:nvSpPr>
          <p:cNvPr id="21" name="Text 18"/>
          <p:cNvSpPr txBox="1"/>
          <p:nvPr/>
        </p:nvSpPr>
        <p:spPr>
          <a:xfrm>
            <a:off x="914400" y="2286000"/>
            <a:ext cx="5120640" cy="365760"/>
          </a:xfrm>
          <a:prstGeom prst="rect">
            <a:avLst/>
          </a:prstGeom>
          <a:noFill/>
          <a:ln/>
        </p:spPr>
        <p:txBody>
          <a:bodyPr wrap="square" lIns="0" tIns="0" rIns="0" bIns="0" rtlCol="0" anchor="ctr"/>
          <a:lstStyle/>
          <a:p>
            <a:pPr indent="0" marL="0">
              <a:buNone/>
            </a:pPr>
            <a:r>
              <a:rPr lang="en-US" sz="1400" b="1" dirty="0">
                <a:solidFill>
                  <a:srgbClr val="962B7C"/>
                </a:solidFill>
                <a:latin typeface="Alexandria" pitchFamily="34" charset="0"/>
                <a:ea typeface="Alexandria" pitchFamily="34" charset="-122"/>
                <a:cs typeface="Alexandria" pitchFamily="34" charset="-120"/>
              </a:rPr>
              <a:t>Harvard Business Review · 1983</a:t>
            </a:r>
            <a:endParaRPr lang="en-US" sz="1400" dirty="0"/>
          </a:p>
        </p:txBody>
      </p:sp>
      <p:sp>
        <p:nvSpPr>
          <p:cNvPr id="22" name="Text 19"/>
          <p:cNvSpPr txBox="1"/>
          <p:nvPr/>
        </p:nvSpPr>
        <p:spPr>
          <a:xfrm>
            <a:off x="914400" y="2743200"/>
            <a:ext cx="5120640" cy="1737360"/>
          </a:xfrm>
          <a:prstGeom prst="rect">
            <a:avLst/>
          </a:prstGeom>
          <a:noFill/>
          <a:ln/>
        </p:spPr>
        <p:txBody>
          <a:bodyPr wrap="square" lIns="0" tIns="0" rIns="0" bIns="0" rtlCol="0" anchor="t"/>
          <a:lstStyle/>
          <a:p>
            <a:pPr indent="0" marL="0">
              <a:buNone/>
            </a:pPr>
            <a:r>
              <a:rPr lang="en-US" sz="2800" b="1" i="1" dirty="0">
                <a:solidFill>
                  <a:srgbClr val="2A2238"/>
                </a:solidFill>
                <a:latin typeface="Alexandria" pitchFamily="34" charset="0"/>
                <a:ea typeface="Alexandria" pitchFamily="34" charset="-122"/>
                <a:cs typeface="Alexandria" pitchFamily="34" charset="-120"/>
              </a:rPr>
              <a:t>“Purchasing Must Become Supply Management”</a:t>
            </a:r>
            <a:endParaRPr lang="en-US" sz="2800" dirty="0"/>
          </a:p>
        </p:txBody>
      </p:sp>
      <p:sp>
        <p:nvSpPr>
          <p:cNvPr id="23" name="Text 20"/>
          <p:cNvSpPr txBox="1"/>
          <p:nvPr/>
        </p:nvSpPr>
        <p:spPr>
          <a:xfrm>
            <a:off x="914400" y="4937760"/>
            <a:ext cx="5120640" cy="457200"/>
          </a:xfrm>
          <a:prstGeom prst="rect">
            <a:avLst/>
          </a:prstGeom>
          <a:noFill/>
          <a:ln/>
        </p:spPr>
        <p:txBody>
          <a:bodyPr wrap="square" lIns="0" tIns="0" rIns="0" bIns="0" rtlCol="0" anchor="ctr"/>
          <a:lstStyle/>
          <a:p>
            <a:pPr indent="0" marL="0">
              <a:buNone/>
            </a:pPr>
            <a:r>
              <a:rPr lang="en-US" sz="1600" dirty="0">
                <a:solidFill>
                  <a:srgbClr val="6E6878"/>
                </a:solidFill>
                <a:latin typeface="Alexandria" pitchFamily="34" charset="0"/>
                <a:ea typeface="Alexandria" pitchFamily="34" charset="-122"/>
                <a:cs typeface="Alexandria" pitchFamily="34" charset="-120"/>
              </a:rPr>
              <a:t>Peter Kraljic (McKinsey)</a:t>
            </a:r>
            <a:endParaRPr lang="en-US" sz="1600" dirty="0"/>
          </a:p>
        </p:txBody>
      </p:sp>
      <p:sp>
        <p:nvSpPr>
          <p:cNvPr id="24" name="Text 21"/>
          <p:cNvSpPr txBox="1"/>
          <p:nvPr/>
        </p:nvSpPr>
        <p:spPr>
          <a:xfrm>
            <a:off x="6858000" y="2103120"/>
            <a:ext cx="4785055" cy="365760"/>
          </a:xfrm>
          <a:prstGeom prst="rect">
            <a:avLst/>
          </a:prstGeom>
          <a:noFill/>
          <a:ln/>
        </p:spPr>
        <p:txBody>
          <a:bodyPr wrap="square" lIns="0" tIns="0" rIns="0" bIns="0" rtlCol="0" anchor="ctr"/>
          <a:lstStyle/>
          <a:p>
            <a:pPr indent="0" marL="0">
              <a:buNone/>
            </a:pPr>
            <a:r>
              <a:rPr lang="en-US" sz="1600" dirty="0">
                <a:solidFill>
                  <a:srgbClr val="6E6878"/>
                </a:solidFill>
                <a:latin typeface="Alexandria" pitchFamily="34" charset="0"/>
                <a:ea typeface="Alexandria" pitchFamily="34" charset="-122"/>
                <a:cs typeface="Alexandria" pitchFamily="34" charset="-120"/>
              </a:rPr>
              <a:t>CIPS mô tả ma trận Kraljic là</a:t>
            </a:r>
            <a:endParaRPr lang="en-US" sz="1600" dirty="0"/>
          </a:p>
        </p:txBody>
      </p:sp>
      <p:sp>
        <p:nvSpPr>
          <p:cNvPr id="25" name="Text 22"/>
          <p:cNvSpPr txBox="1"/>
          <p:nvPr/>
        </p:nvSpPr>
        <p:spPr>
          <a:xfrm>
            <a:off x="6858000" y="2560320"/>
            <a:ext cx="4785055" cy="1280160"/>
          </a:xfrm>
          <a:prstGeom prst="rect">
            <a:avLst/>
          </a:prstGeom>
          <a:noFill/>
          <a:ln/>
        </p:spPr>
        <p:txBody>
          <a:bodyPr wrap="square" lIns="0" tIns="0" rIns="0" bIns="0" rtlCol="0" anchor="t"/>
          <a:lstStyle/>
          <a:p>
            <a:pPr indent="0" marL="0">
              <a:buNone/>
            </a:pPr>
            <a:r>
              <a:rPr lang="en-US" sz="2400" b="1" dirty="0">
                <a:solidFill>
                  <a:srgbClr val="962B7C"/>
                </a:solidFill>
                <a:latin typeface="Alexandria" pitchFamily="34" charset="0"/>
                <a:ea typeface="Alexandria" pitchFamily="34" charset="-122"/>
                <a:cs typeface="Alexandria" pitchFamily="34" charset="-120"/>
              </a:rPr>
              <a:t>công cụ chiến lược để nhận diện và giảm rủi ro nguồn cung.</a:t>
            </a:r>
            <a:endParaRPr lang="en-US" sz="2400" dirty="0"/>
          </a:p>
        </p:txBody>
      </p:sp>
      <p:sp>
        <p:nvSpPr>
          <p:cNvPr id="26" name="Text 23"/>
          <p:cNvSpPr txBox="1"/>
          <p:nvPr/>
        </p:nvSpPr>
        <p:spPr>
          <a:xfrm>
            <a:off x="6858000" y="4114800"/>
            <a:ext cx="4785055" cy="13716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A2238"/>
                </a:solidFill>
                <a:latin typeface="Alexandria" pitchFamily="34" charset="0"/>
                <a:ea typeface="Alexandria" pitchFamily="34" charset="-122"/>
                <a:cs typeface="Alexandria" pitchFamily="34" charset="-120"/>
              </a:rPr>
              <a:t>Không chỉ là đặt đơn cho rẻ</a:t>
            </a:r>
            <a:endParaRPr lang="en-US" sz="1800" dirty="0"/>
          </a:p>
          <a:p>
            <a:pPr marL="342900" indent="-342900">
              <a:spcAft>
                <a:spcPts val="1000"/>
              </a:spcAft>
              <a:buSzPct val="100000"/>
              <a:buChar char="•"/>
            </a:pPr>
            <a:r>
              <a:rPr lang="en-US" sz="1800" dirty="0">
                <a:solidFill>
                  <a:srgbClr val="2A2238"/>
                </a:solidFill>
                <a:latin typeface="Alexandria" pitchFamily="34" charset="0"/>
                <a:ea typeface="Alexandria" pitchFamily="34" charset="-122"/>
                <a:cs typeface="Alexandria" pitchFamily="34" charset="-120"/>
              </a:rPr>
              <a:t>Quản trị nguồn cung như một phần của chiến lược</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Hai trục: hạng mục tác động bao nhiêu và khó mua đến đâu</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Định nghĩa gốc: CIPS (S01). Câu hỏi theo góc agency: nhận định của người soạn.</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8</a:t>
            </a:r>
            <a:endParaRPr lang="en-US" sz="1000" dirty="0"/>
          </a:p>
        </p:txBody>
      </p:sp>
      <p:sp>
        <p:nvSpPr>
          <p:cNvPr id="20" name="Text 17"/>
          <p:cNvSpPr txBox="1"/>
          <p:nvPr/>
        </p:nvSpPr>
        <p:spPr>
          <a:xfrm>
            <a:off x="3200400" y="1828800"/>
            <a:ext cx="3291840" cy="320040"/>
          </a:xfrm>
          <a:prstGeom prst="rect">
            <a:avLst/>
          </a:prstGeom>
          <a:noFill/>
          <a:ln/>
        </p:spPr>
        <p:txBody>
          <a:bodyPr wrap="square" lIns="0" tIns="0" rIns="0" bIns="0" rtlCol="0" anchor="ctr"/>
          <a:lstStyle/>
          <a:p>
            <a:pPr indent="0" marL="0">
              <a:buNone/>
            </a:pPr>
            <a:r>
              <a:rPr lang="en-US" sz="1300" b="1" dirty="0">
                <a:solidFill>
                  <a:srgbClr val="6E6878"/>
                </a:solidFill>
                <a:latin typeface="Alexandria" pitchFamily="34" charset="0"/>
                <a:ea typeface="Alexandria" pitchFamily="34" charset="-122"/>
                <a:cs typeface="Alexandria" pitchFamily="34" charset="-120"/>
              </a:rPr>
              <a:t>Định nghĩa gốc (CIPS)</a:t>
            </a:r>
            <a:endParaRPr lang="en-US" sz="1300" dirty="0"/>
          </a:p>
        </p:txBody>
      </p:sp>
      <p:sp>
        <p:nvSpPr>
          <p:cNvPr id="21" name="Text 18"/>
          <p:cNvSpPr txBox="1"/>
          <p:nvPr/>
        </p:nvSpPr>
        <p:spPr>
          <a:xfrm>
            <a:off x="6766560" y="1828800"/>
            <a:ext cx="4846320" cy="320040"/>
          </a:xfrm>
          <a:prstGeom prst="rect">
            <a:avLst/>
          </a:prstGeom>
          <a:noFill/>
          <a:ln/>
        </p:spPr>
        <p:txBody>
          <a:bodyPr wrap="square" lIns="0" tIns="0" rIns="0" bIns="0" rtlCol="0" anchor="ctr"/>
          <a:lstStyle/>
          <a:p>
            <a:pPr indent="0" marL="0">
              <a:buNone/>
            </a:pPr>
            <a:r>
              <a:rPr lang="en-US" sz="1300" b="1" dirty="0">
                <a:solidFill>
                  <a:srgbClr val="6E6878"/>
                </a:solidFill>
                <a:latin typeface="Alexandria" pitchFamily="34" charset="0"/>
                <a:ea typeface="Alexandria" pitchFamily="34" charset="-122"/>
                <a:cs typeface="Alexandria" pitchFamily="34" charset="-120"/>
              </a:rPr>
              <a:t>Agency tự hỏi cho từng hạng mục</a:t>
            </a:r>
            <a:endParaRPr lang="en-US" sz="1300" dirty="0"/>
          </a:p>
        </p:txBody>
      </p:sp>
      <p:sp>
        <p:nvSpPr>
          <p:cNvPr id="22" name="Shape 19"/>
          <p:cNvSpPr/>
          <p:nvPr/>
        </p:nvSpPr>
        <p:spPr>
          <a:xfrm>
            <a:off x="548640" y="2240280"/>
            <a:ext cx="11094415" cy="1737360"/>
          </a:xfrm>
          <a:prstGeom prst="roundRect">
            <a:avLst>
              <a:gd name="adj" fmla="val 6316"/>
            </a:avLst>
          </a:prstGeom>
          <a:solidFill>
            <a:srgbClr val="FFE9DE"/>
          </a:solidFill>
          <a:ln w="12700">
            <a:solidFill>
              <a:srgbClr val="FF9259"/>
            </a:solidFill>
            <a:prstDash val="solid"/>
          </a:ln>
        </p:spPr>
      </p:sp>
      <p:sp>
        <p:nvSpPr>
          <p:cNvPr id="23" name="Text 20"/>
          <p:cNvSpPr txBox="1"/>
          <p:nvPr/>
        </p:nvSpPr>
        <p:spPr>
          <a:xfrm>
            <a:off x="822960" y="2651760"/>
            <a:ext cx="2286000" cy="45720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Profit impact</a:t>
            </a:r>
            <a:endParaRPr lang="en-US" sz="2000" dirty="0"/>
          </a:p>
        </p:txBody>
      </p:sp>
      <p:sp>
        <p:nvSpPr>
          <p:cNvPr id="24" name="Text 21"/>
          <p:cNvSpPr txBox="1"/>
          <p:nvPr/>
        </p:nvSpPr>
        <p:spPr>
          <a:xfrm>
            <a:off x="822960" y="3108960"/>
            <a:ext cx="2286000" cy="365760"/>
          </a:xfrm>
          <a:prstGeom prst="rect">
            <a:avLst/>
          </a:prstGeom>
          <a:noFill/>
          <a:ln/>
        </p:spPr>
        <p:txBody>
          <a:bodyPr wrap="square" lIns="0" tIns="0" rIns="0" bIns="0" rtlCol="0" anchor="ctr"/>
          <a:lstStyle/>
          <a:p>
            <a:pPr indent="0" marL="0">
              <a:buNone/>
            </a:pPr>
            <a:r>
              <a:rPr lang="en-US" sz="1300" i="1" dirty="0">
                <a:solidFill>
                  <a:srgbClr val="6E6878"/>
                </a:solidFill>
                <a:latin typeface="Alexandria" pitchFamily="34" charset="0"/>
                <a:ea typeface="Alexandria" pitchFamily="34" charset="-122"/>
                <a:cs typeface="Alexandria" pitchFamily="34" charset="-120"/>
              </a:rPr>
              <a:t>tác động lợi nhuận</a:t>
            </a:r>
            <a:endParaRPr lang="en-US" sz="1300" dirty="0"/>
          </a:p>
        </p:txBody>
      </p:sp>
      <p:sp>
        <p:nvSpPr>
          <p:cNvPr id="25" name="Text 22"/>
          <p:cNvSpPr txBox="1"/>
          <p:nvPr/>
        </p:nvSpPr>
        <p:spPr>
          <a:xfrm>
            <a:off x="3200400" y="2240280"/>
            <a:ext cx="3291840" cy="173736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Mức hạng mục đóng góp vào khả năng sinh lời của tổ chức mua</a:t>
            </a:r>
            <a:endParaRPr lang="en-US" sz="1400" dirty="0"/>
          </a:p>
        </p:txBody>
      </p:sp>
      <p:sp>
        <p:nvSpPr>
          <p:cNvPr id="26" name="Text 23"/>
          <p:cNvSpPr txBox="1"/>
          <p:nvPr/>
        </p:nvSpPr>
        <p:spPr>
          <a:xfrm>
            <a:off x="6766560" y="2240280"/>
            <a:ext cx="4693615" cy="173736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2A2238"/>
                </a:solidFill>
                <a:latin typeface="Alexandria" pitchFamily="34" charset="0"/>
                <a:ea typeface="Alexandria" pitchFamily="34" charset="-122"/>
                <a:cs typeface="Alexandria" pitchFamily="34" charset="-120"/>
              </a:rPr>
              <a:t>Chiếm bao nhiêu phần ngân sách?</a:t>
            </a:r>
            <a:endParaRPr lang="en-US" sz="1400" dirty="0"/>
          </a:p>
          <a:p>
            <a:pPr marL="342900" indent="-342900">
              <a:spcAft>
                <a:spcPts val="400"/>
              </a:spcAft>
              <a:buSzPct val="100000"/>
              <a:buChar char="•"/>
            </a:pPr>
            <a:r>
              <a:rPr lang="en-US" sz="1400" dirty="0">
                <a:solidFill>
                  <a:srgbClr val="2A2238"/>
                </a:solidFill>
                <a:latin typeface="Alexandria" pitchFamily="34" charset="0"/>
                <a:ea typeface="Alexandria" pitchFamily="34" charset="-122"/>
                <a:cs typeface="Alexandria" pitchFamily="34" charset="-120"/>
              </a:rPr>
              <a:t>Khách của Key Account có nhìn thấy, cảm nhận không?</a:t>
            </a:r>
            <a:endParaRPr lang="en-US" sz="1400" dirty="0"/>
          </a:p>
          <a:p>
            <a:pPr marL="342900" indent="-342900">
              <a:spcAft>
                <a:spcPts val="400"/>
              </a:spcAft>
              <a:buSzPct val="100000"/>
              <a:buChar char="•"/>
            </a:pPr>
            <a:r>
              <a:rPr lang="en-US" sz="1400" dirty="0">
                <a:solidFill>
                  <a:srgbClr val="2A2238"/>
                </a:solidFill>
                <a:latin typeface="Alexandria" pitchFamily="34" charset="0"/>
                <a:ea typeface="Alexandria" pitchFamily="34" charset="-122"/>
                <a:cs typeface="Alexandria" pitchFamily="34" charset="-120"/>
              </a:rPr>
              <a:t>Nếu kém, Key Account có coi cả sự kiện thất bại?</a:t>
            </a:r>
            <a:endParaRPr lang="en-US" sz="1400" dirty="0"/>
          </a:p>
        </p:txBody>
      </p:sp>
      <p:sp>
        <p:nvSpPr>
          <p:cNvPr id="27" name="Shape 24"/>
          <p:cNvSpPr/>
          <p:nvPr/>
        </p:nvSpPr>
        <p:spPr>
          <a:xfrm>
            <a:off x="548640" y="4160520"/>
            <a:ext cx="11094415" cy="1737360"/>
          </a:xfrm>
          <a:prstGeom prst="roundRect">
            <a:avLst>
              <a:gd name="adj" fmla="val 6316"/>
            </a:avLst>
          </a:prstGeom>
          <a:solidFill>
            <a:srgbClr val="DDF1FB"/>
          </a:solidFill>
          <a:ln w="12700">
            <a:solidFill>
              <a:srgbClr val="09A1E5"/>
            </a:solidFill>
            <a:prstDash val="solid"/>
          </a:ln>
        </p:spPr>
      </p:sp>
      <p:sp>
        <p:nvSpPr>
          <p:cNvPr id="28" name="Text 25"/>
          <p:cNvSpPr txBox="1"/>
          <p:nvPr/>
        </p:nvSpPr>
        <p:spPr>
          <a:xfrm>
            <a:off x="822960" y="4572000"/>
            <a:ext cx="2286000" cy="457200"/>
          </a:xfrm>
          <a:prstGeom prst="rect">
            <a:avLst/>
          </a:prstGeom>
          <a:noFill/>
          <a:ln/>
        </p:spPr>
        <p:txBody>
          <a:bodyPr wrap="square" lIns="0" tIns="0" rIns="0" bIns="0" rtlCol="0" anchor="ctr"/>
          <a:lstStyle/>
          <a:p>
            <a:pPr indent="0" marL="0">
              <a:buNone/>
            </a:pPr>
            <a:r>
              <a:rPr lang="en-US" sz="2000" b="1" dirty="0">
                <a:solidFill>
                  <a:srgbClr val="2A2238"/>
                </a:solidFill>
                <a:latin typeface="Alexandria" pitchFamily="34" charset="0"/>
                <a:ea typeface="Alexandria" pitchFamily="34" charset="-122"/>
                <a:cs typeface="Alexandria" pitchFamily="34" charset="-120"/>
              </a:rPr>
              <a:t>Supply risk</a:t>
            </a:r>
            <a:endParaRPr lang="en-US" sz="2000" dirty="0"/>
          </a:p>
        </p:txBody>
      </p:sp>
      <p:sp>
        <p:nvSpPr>
          <p:cNvPr id="29" name="Text 26"/>
          <p:cNvSpPr txBox="1"/>
          <p:nvPr/>
        </p:nvSpPr>
        <p:spPr>
          <a:xfrm>
            <a:off x="822960" y="5029200"/>
            <a:ext cx="2286000" cy="365760"/>
          </a:xfrm>
          <a:prstGeom prst="rect">
            <a:avLst/>
          </a:prstGeom>
          <a:noFill/>
          <a:ln/>
        </p:spPr>
        <p:txBody>
          <a:bodyPr wrap="square" lIns="0" tIns="0" rIns="0" bIns="0" rtlCol="0" anchor="ctr"/>
          <a:lstStyle/>
          <a:p>
            <a:pPr indent="0" marL="0">
              <a:buNone/>
            </a:pPr>
            <a:r>
              <a:rPr lang="en-US" sz="1300" i="1" dirty="0">
                <a:solidFill>
                  <a:srgbClr val="6E6878"/>
                </a:solidFill>
                <a:latin typeface="Alexandria" pitchFamily="34" charset="0"/>
                <a:ea typeface="Alexandria" pitchFamily="34" charset="-122"/>
                <a:cs typeface="Alexandria" pitchFamily="34" charset="-120"/>
              </a:rPr>
              <a:t>rủi ro nguồn cung</a:t>
            </a:r>
            <a:endParaRPr lang="en-US" sz="1300" dirty="0"/>
          </a:p>
        </p:txBody>
      </p:sp>
      <p:sp>
        <p:nvSpPr>
          <p:cNvPr id="30" name="Text 27"/>
          <p:cNvSpPr txBox="1"/>
          <p:nvPr/>
        </p:nvSpPr>
        <p:spPr>
          <a:xfrm>
            <a:off x="3200400" y="4160520"/>
            <a:ext cx="3291840" cy="173736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Mức khó tìm nguồn và mức tổn thương khi nguồn cung gặp sự cố</a:t>
            </a:r>
            <a:endParaRPr lang="en-US" sz="1400" dirty="0"/>
          </a:p>
        </p:txBody>
      </p:sp>
      <p:sp>
        <p:nvSpPr>
          <p:cNvPr id="31" name="Text 28"/>
          <p:cNvSpPr txBox="1"/>
          <p:nvPr/>
        </p:nvSpPr>
        <p:spPr>
          <a:xfrm>
            <a:off x="6766560" y="4160520"/>
            <a:ext cx="4693615" cy="173736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2A2238"/>
                </a:solidFill>
                <a:latin typeface="Alexandria" pitchFamily="34" charset="0"/>
                <a:ea typeface="Alexandria" pitchFamily="34" charset="-122"/>
                <a:cs typeface="Alexandria" pitchFamily="34" charset="-120"/>
              </a:rPr>
              <a:t>Bao nhiêu nhà cung cấp đủ năng lực — ở đây, lúc này?</a:t>
            </a:r>
            <a:endParaRPr lang="en-US" sz="1400" dirty="0"/>
          </a:p>
          <a:p>
            <a:pPr marL="342900" indent="-342900">
              <a:spcAft>
                <a:spcPts val="400"/>
              </a:spcAft>
              <a:buSzPct val="100000"/>
              <a:buChar char="•"/>
            </a:pPr>
            <a:r>
              <a:rPr lang="en-US" sz="1400" dirty="0">
                <a:solidFill>
                  <a:srgbClr val="2A2238"/>
                </a:solidFill>
                <a:latin typeface="Alexandria" pitchFamily="34" charset="0"/>
                <a:ea typeface="Alexandria" pitchFamily="34" charset="-122"/>
                <a:cs typeface="Alexandria" pitchFamily="34" charset="-120"/>
              </a:rPr>
              <a:t>Bỏ ngang thì thay được trong bao lâu?</a:t>
            </a:r>
            <a:endParaRPr lang="en-US" sz="1400" dirty="0"/>
          </a:p>
          <a:p>
            <a:pPr marL="342900" indent="-342900">
              <a:spcAft>
                <a:spcPts val="400"/>
              </a:spcAft>
              <a:buSzPct val="100000"/>
              <a:buChar char="•"/>
            </a:pPr>
            <a:r>
              <a:rPr lang="en-US" sz="1400" dirty="0">
                <a:solidFill>
                  <a:srgbClr val="2A2238"/>
                </a:solidFill>
                <a:latin typeface="Alexandria" pitchFamily="34" charset="0"/>
                <a:ea typeface="Alexandria" pitchFamily="34" charset="-122"/>
                <a:cs typeface="Alexandria" pitchFamily="34" charset="-120"/>
              </a:rPr>
              <a:t>Có độc quyền? Có rơi vào mùa cao điểm?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Mỗi ô có một chiến lược riêng</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Chiến lược gốc theo CIPS (S01).</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9</a:t>
            </a:r>
            <a:endParaRPr lang="en-US" sz="1000" dirty="0"/>
          </a:p>
        </p:txBody>
      </p:sp>
      <p:sp>
        <p:nvSpPr>
          <p:cNvPr id="20" name="Shape 17"/>
          <p:cNvSpPr/>
          <p:nvPr/>
        </p:nvSpPr>
        <p:spPr>
          <a:xfrm>
            <a:off x="960120" y="1828800"/>
            <a:ext cx="3497580" cy="1943100"/>
          </a:xfrm>
          <a:prstGeom prst="roundRect">
            <a:avLst>
              <a:gd name="adj" fmla="val 5647"/>
            </a:avLst>
          </a:prstGeom>
          <a:solidFill>
            <a:srgbClr val="DDF1FB"/>
          </a:solidFill>
          <a:ln w="12700">
            <a:solidFill>
              <a:srgbClr val="09A1E5"/>
            </a:solidFill>
            <a:prstDash val="solid"/>
          </a:ln>
        </p:spPr>
      </p:sp>
      <p:sp>
        <p:nvSpPr>
          <p:cNvPr id="21" name="Shape 18"/>
          <p:cNvSpPr/>
          <p:nvPr/>
        </p:nvSpPr>
        <p:spPr>
          <a:xfrm>
            <a:off x="1097280" y="1965960"/>
            <a:ext cx="237744" cy="237744"/>
          </a:xfrm>
          <a:prstGeom prst="diamond">
            <a:avLst/>
          </a:prstGeom>
          <a:solidFill>
            <a:srgbClr val="09A1E5"/>
          </a:solidFill>
          <a:ln w="6350">
            <a:solidFill>
              <a:srgbClr val="09A1E5"/>
            </a:solidFill>
            <a:prstDash val="solid"/>
          </a:ln>
        </p:spPr>
      </p:sp>
      <p:sp>
        <p:nvSpPr>
          <p:cNvPr id="22" name="Text 19"/>
          <p:cNvSpPr txBox="1"/>
          <p:nvPr/>
        </p:nvSpPr>
        <p:spPr>
          <a:xfrm>
            <a:off x="1399032" y="1938528"/>
            <a:ext cx="2894076" cy="2926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Leverage</a:t>
            </a:r>
            <a:endParaRPr lang="en-US" sz="1600" dirty="0"/>
          </a:p>
        </p:txBody>
      </p:sp>
      <p:sp>
        <p:nvSpPr>
          <p:cNvPr id="23" name="Text 20"/>
          <p:cNvSpPr txBox="1"/>
          <p:nvPr/>
        </p:nvSpPr>
        <p:spPr>
          <a:xfrm>
            <a:off x="1124712" y="2267712"/>
            <a:ext cx="3168396" cy="1394460"/>
          </a:xfrm>
          <a:prstGeom prst="rect">
            <a:avLst/>
          </a:prstGeom>
          <a:noFill/>
          <a:ln/>
        </p:spPr>
        <p:txBody>
          <a:bodyPr wrap="square" lIns="0" tIns="0" rIns="0" bIns="0" rtlCol="0" anchor="t"/>
          <a:lstStyle/>
          <a:p>
            <a:pPr indent="0" marL="0">
              <a:spcAft>
                <a:spcPts val="300"/>
              </a:spcAft>
              <a:buNone/>
            </a:pPr>
            <a:r>
              <a:rPr lang="en-US" sz="1400" dirty="0">
                <a:solidFill>
                  <a:srgbClr val="2A2238"/>
                </a:solidFill>
                <a:latin typeface="Alexandria" pitchFamily="34" charset="0"/>
                <a:ea typeface="Alexandria" pitchFamily="34" charset="-122"/>
                <a:cs typeface="Alexandria" pitchFamily="34" charset="-120"/>
              </a:rPr>
              <a:t>Khai thác sức mua: đấu thầu, giá mục tiêu, thay thế sản phẩm</a:t>
            </a:r>
            <a:endParaRPr lang="en-US" sz="1400" dirty="0"/>
          </a:p>
        </p:txBody>
      </p:sp>
      <p:sp>
        <p:nvSpPr>
          <p:cNvPr id="24" name="Shape 21"/>
          <p:cNvSpPr/>
          <p:nvPr/>
        </p:nvSpPr>
        <p:spPr>
          <a:xfrm>
            <a:off x="4549140" y="1828800"/>
            <a:ext cx="3497580" cy="1943100"/>
          </a:xfrm>
          <a:prstGeom prst="roundRect">
            <a:avLst>
              <a:gd name="adj" fmla="val 5647"/>
            </a:avLst>
          </a:prstGeom>
          <a:solidFill>
            <a:srgbClr val="F1E1EE"/>
          </a:solidFill>
          <a:ln w="12700">
            <a:solidFill>
              <a:srgbClr val="962B7C"/>
            </a:solidFill>
            <a:prstDash val="solid"/>
          </a:ln>
        </p:spPr>
      </p:sp>
      <p:sp>
        <p:nvSpPr>
          <p:cNvPr id="25" name="Shape 22"/>
          <p:cNvSpPr/>
          <p:nvPr/>
        </p:nvSpPr>
        <p:spPr>
          <a:xfrm>
            <a:off x="4686300" y="1965960"/>
            <a:ext cx="237744" cy="237744"/>
          </a:xfrm>
          <a:prstGeom prst="star5">
            <a:avLst/>
          </a:prstGeom>
          <a:solidFill>
            <a:srgbClr val="962B7C"/>
          </a:solidFill>
          <a:ln w="6350">
            <a:solidFill>
              <a:srgbClr val="962B7C"/>
            </a:solidFill>
            <a:prstDash val="solid"/>
          </a:ln>
        </p:spPr>
      </p:sp>
      <p:sp>
        <p:nvSpPr>
          <p:cNvPr id="26" name="Text 23"/>
          <p:cNvSpPr txBox="1"/>
          <p:nvPr/>
        </p:nvSpPr>
        <p:spPr>
          <a:xfrm>
            <a:off x="4988052" y="1938528"/>
            <a:ext cx="2894076" cy="2926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Strategic</a:t>
            </a:r>
            <a:endParaRPr lang="en-US" sz="1600" dirty="0"/>
          </a:p>
        </p:txBody>
      </p:sp>
      <p:sp>
        <p:nvSpPr>
          <p:cNvPr id="27" name="Text 24"/>
          <p:cNvSpPr txBox="1"/>
          <p:nvPr/>
        </p:nvSpPr>
        <p:spPr>
          <a:xfrm>
            <a:off x="4713732" y="2267712"/>
            <a:ext cx="3168396" cy="1394460"/>
          </a:xfrm>
          <a:prstGeom prst="rect">
            <a:avLst/>
          </a:prstGeom>
          <a:noFill/>
          <a:ln/>
        </p:spPr>
        <p:txBody>
          <a:bodyPr wrap="square" lIns="0" tIns="0" rIns="0" bIns="0" rtlCol="0" anchor="t"/>
          <a:lstStyle/>
          <a:p>
            <a:pPr indent="0" marL="0">
              <a:spcAft>
                <a:spcPts val="300"/>
              </a:spcAft>
              <a:buNone/>
            </a:pPr>
            <a:r>
              <a:rPr lang="en-US" sz="1400" dirty="0">
                <a:solidFill>
                  <a:srgbClr val="2A2238"/>
                </a:solidFill>
                <a:latin typeface="Alexandria" pitchFamily="34" charset="0"/>
                <a:ea typeface="Alexandria" pitchFamily="34" charset="-122"/>
                <a:cs typeface="Alexandria" pitchFamily="34" charset="-120"/>
              </a:rPr>
              <a:t>Cân bằng quyền lực bằng quan hệ đối tác dựa trên hiệu quả</a:t>
            </a:r>
            <a:endParaRPr lang="en-US" sz="1400" dirty="0"/>
          </a:p>
        </p:txBody>
      </p:sp>
      <p:sp>
        <p:nvSpPr>
          <p:cNvPr id="28" name="Shape 25"/>
          <p:cNvSpPr/>
          <p:nvPr/>
        </p:nvSpPr>
        <p:spPr>
          <a:xfrm>
            <a:off x="960120" y="3863340"/>
            <a:ext cx="3497580" cy="1943100"/>
          </a:xfrm>
          <a:prstGeom prst="roundRect">
            <a:avLst>
              <a:gd name="adj" fmla="val 5647"/>
            </a:avLst>
          </a:prstGeom>
          <a:solidFill>
            <a:srgbClr val="E1F3EE"/>
          </a:solidFill>
          <a:ln w="12700">
            <a:solidFill>
              <a:srgbClr val="49B296"/>
            </a:solidFill>
            <a:prstDash val="solid"/>
          </a:ln>
        </p:spPr>
      </p:sp>
      <p:sp>
        <p:nvSpPr>
          <p:cNvPr id="29" name="Shape 26"/>
          <p:cNvSpPr/>
          <p:nvPr/>
        </p:nvSpPr>
        <p:spPr>
          <a:xfrm>
            <a:off x="1097280" y="4000500"/>
            <a:ext cx="237744" cy="237744"/>
          </a:xfrm>
          <a:prstGeom prst="ellipse">
            <a:avLst/>
          </a:prstGeom>
          <a:solidFill>
            <a:srgbClr val="49B296"/>
          </a:solidFill>
          <a:ln w="6350">
            <a:solidFill>
              <a:srgbClr val="49B296"/>
            </a:solidFill>
            <a:prstDash val="solid"/>
          </a:ln>
        </p:spPr>
      </p:sp>
      <p:sp>
        <p:nvSpPr>
          <p:cNvPr id="30" name="Text 27"/>
          <p:cNvSpPr txBox="1"/>
          <p:nvPr/>
        </p:nvSpPr>
        <p:spPr>
          <a:xfrm>
            <a:off x="1399032" y="3973068"/>
            <a:ext cx="2894076" cy="2926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Non-critical</a:t>
            </a:r>
            <a:endParaRPr lang="en-US" sz="1600" dirty="0"/>
          </a:p>
        </p:txBody>
      </p:sp>
      <p:sp>
        <p:nvSpPr>
          <p:cNvPr id="31" name="Text 28"/>
          <p:cNvSpPr txBox="1"/>
          <p:nvPr/>
        </p:nvSpPr>
        <p:spPr>
          <a:xfrm>
            <a:off x="1124712" y="4302252"/>
            <a:ext cx="3168396" cy="1394460"/>
          </a:xfrm>
          <a:prstGeom prst="rect">
            <a:avLst/>
          </a:prstGeom>
          <a:noFill/>
          <a:ln/>
        </p:spPr>
        <p:txBody>
          <a:bodyPr wrap="square" lIns="0" tIns="0" rIns="0" bIns="0" rtlCol="0" anchor="t"/>
          <a:lstStyle/>
          <a:p>
            <a:pPr indent="0" marL="0">
              <a:spcAft>
                <a:spcPts val="300"/>
              </a:spcAft>
              <a:buNone/>
            </a:pPr>
            <a:r>
              <a:rPr lang="en-US" sz="1400" dirty="0">
                <a:solidFill>
                  <a:srgbClr val="2A2238"/>
                </a:solidFill>
                <a:latin typeface="Alexandria" pitchFamily="34" charset="0"/>
                <a:ea typeface="Alexandria" pitchFamily="34" charset="-122"/>
                <a:cs typeface="Alexandria" pitchFamily="34" charset="-120"/>
              </a:rPr>
              <a:t>Xử lý hiệu quả: chuẩn hóa, gom đơn, đơn giản hóa thủ tục</a:t>
            </a:r>
            <a:endParaRPr lang="en-US" sz="1400" dirty="0"/>
          </a:p>
        </p:txBody>
      </p:sp>
      <p:sp>
        <p:nvSpPr>
          <p:cNvPr id="32" name="Shape 29"/>
          <p:cNvSpPr/>
          <p:nvPr/>
        </p:nvSpPr>
        <p:spPr>
          <a:xfrm>
            <a:off x="4549140" y="3863340"/>
            <a:ext cx="3497580" cy="1943100"/>
          </a:xfrm>
          <a:prstGeom prst="roundRect">
            <a:avLst>
              <a:gd name="adj" fmla="val 5647"/>
            </a:avLst>
          </a:prstGeom>
          <a:solidFill>
            <a:srgbClr val="FFE4EA"/>
          </a:solidFill>
          <a:ln w="12700">
            <a:solidFill>
              <a:srgbClr val="FF5178"/>
            </a:solidFill>
            <a:prstDash val="solid"/>
          </a:ln>
        </p:spPr>
      </p:sp>
      <p:sp>
        <p:nvSpPr>
          <p:cNvPr id="33" name="Shape 30"/>
          <p:cNvSpPr/>
          <p:nvPr/>
        </p:nvSpPr>
        <p:spPr>
          <a:xfrm>
            <a:off x="4686300" y="4000500"/>
            <a:ext cx="237744" cy="237744"/>
          </a:xfrm>
          <a:prstGeom prst="triangle">
            <a:avLst/>
          </a:prstGeom>
          <a:solidFill>
            <a:srgbClr val="FF5178"/>
          </a:solidFill>
          <a:ln w="6350">
            <a:solidFill>
              <a:srgbClr val="FF5178"/>
            </a:solidFill>
            <a:prstDash val="solid"/>
          </a:ln>
        </p:spPr>
      </p:sp>
      <p:sp>
        <p:nvSpPr>
          <p:cNvPr id="34" name="Text 31"/>
          <p:cNvSpPr txBox="1"/>
          <p:nvPr/>
        </p:nvSpPr>
        <p:spPr>
          <a:xfrm>
            <a:off x="4988052" y="3973068"/>
            <a:ext cx="2894076" cy="2926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Bottleneck</a:t>
            </a:r>
            <a:endParaRPr lang="en-US" sz="1600" dirty="0"/>
          </a:p>
        </p:txBody>
      </p:sp>
      <p:sp>
        <p:nvSpPr>
          <p:cNvPr id="35" name="Text 32"/>
          <p:cNvSpPr txBox="1"/>
          <p:nvPr/>
        </p:nvSpPr>
        <p:spPr>
          <a:xfrm>
            <a:off x="4713732" y="4302252"/>
            <a:ext cx="3168396" cy="1394460"/>
          </a:xfrm>
          <a:prstGeom prst="rect">
            <a:avLst/>
          </a:prstGeom>
          <a:noFill/>
          <a:ln/>
        </p:spPr>
        <p:txBody>
          <a:bodyPr wrap="square" lIns="0" tIns="0" rIns="0" bIns="0" rtlCol="0" anchor="t"/>
          <a:lstStyle/>
          <a:p>
            <a:pPr indent="0" marL="0">
              <a:spcAft>
                <a:spcPts val="300"/>
              </a:spcAft>
              <a:buNone/>
            </a:pPr>
            <a:r>
              <a:rPr lang="en-US" sz="1400" dirty="0">
                <a:solidFill>
                  <a:srgbClr val="2A2238"/>
                </a:solidFill>
                <a:latin typeface="Alexandria" pitchFamily="34" charset="0"/>
                <a:ea typeface="Alexandria" pitchFamily="34" charset="-122"/>
                <a:cs typeface="Alexandria" pitchFamily="34" charset="-120"/>
              </a:rPr>
              <a:t>Đảm bảo nguồn cung ngắn và dài hạn; tìm nhà cung cấp thay thế</a:t>
            </a:r>
            <a:endParaRPr lang="en-US" sz="1400" dirty="0"/>
          </a:p>
        </p:txBody>
      </p:sp>
      <p:sp>
        <p:nvSpPr>
          <p:cNvPr id="36" name="Shape 33"/>
          <p:cNvSpPr/>
          <p:nvPr/>
        </p:nvSpPr>
        <p:spPr>
          <a:xfrm flipV="1">
            <a:off x="877824" y="1828800"/>
            <a:ext cx="914" cy="3977640"/>
          </a:xfrm>
          <a:prstGeom prst="line">
            <a:avLst/>
          </a:prstGeom>
          <a:noFill/>
          <a:ln w="19050">
            <a:solidFill>
              <a:srgbClr val="6E6878"/>
            </a:solidFill>
            <a:prstDash val="solid"/>
            <a:tailEnd type="triangle"/>
          </a:ln>
        </p:spPr>
      </p:sp>
      <p:sp>
        <p:nvSpPr>
          <p:cNvPr id="37" name="Text 34"/>
          <p:cNvSpPr txBox="1"/>
          <p:nvPr/>
        </p:nvSpPr>
        <p:spPr>
          <a:xfrm rot="16200000">
            <a:off x="-1348740" y="3680460"/>
            <a:ext cx="3977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Profit impact  →  cao</a:t>
            </a:r>
            <a:endParaRPr lang="en-US" sz="1100" dirty="0"/>
          </a:p>
        </p:txBody>
      </p:sp>
      <p:sp>
        <p:nvSpPr>
          <p:cNvPr id="38" name="Shape 35"/>
          <p:cNvSpPr/>
          <p:nvPr/>
        </p:nvSpPr>
        <p:spPr>
          <a:xfrm>
            <a:off x="960120" y="5989320"/>
            <a:ext cx="7086600" cy="914"/>
          </a:xfrm>
          <a:prstGeom prst="line">
            <a:avLst/>
          </a:prstGeom>
          <a:noFill/>
          <a:ln w="19050">
            <a:solidFill>
              <a:srgbClr val="6E6878"/>
            </a:solidFill>
            <a:prstDash val="solid"/>
            <a:tailEnd type="triangle"/>
          </a:ln>
        </p:spPr>
      </p:sp>
      <p:sp>
        <p:nvSpPr>
          <p:cNvPr id="39" name="Text 36"/>
          <p:cNvSpPr txBox="1"/>
          <p:nvPr/>
        </p:nvSpPr>
        <p:spPr>
          <a:xfrm>
            <a:off x="960120" y="6025896"/>
            <a:ext cx="7086600" cy="201168"/>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Supply risk  →  cao</a:t>
            </a:r>
            <a:endParaRPr lang="en-US" sz="1100" dirty="0"/>
          </a:p>
        </p:txBody>
      </p:sp>
      <p:sp>
        <p:nvSpPr>
          <p:cNvPr id="40" name="Shape 37"/>
          <p:cNvSpPr/>
          <p:nvPr/>
        </p:nvSpPr>
        <p:spPr>
          <a:xfrm>
            <a:off x="8412480" y="1828800"/>
            <a:ext cx="3230575" cy="3886200"/>
          </a:xfrm>
          <a:prstGeom prst="roundRect">
            <a:avLst>
              <a:gd name="adj" fmla="val 3397"/>
            </a:avLst>
          </a:prstGeom>
          <a:solidFill>
            <a:srgbClr val="FFF3C4"/>
          </a:solidFill>
          <a:ln w="12700">
            <a:solidFill>
              <a:srgbClr val="FFD23B"/>
            </a:solidFill>
            <a:prstDash val="solid"/>
          </a:ln>
        </p:spPr>
      </p:sp>
      <p:sp>
        <p:nvSpPr>
          <p:cNvPr id="41" name="Shape 38"/>
          <p:cNvSpPr/>
          <p:nvPr/>
        </p:nvSpPr>
        <p:spPr>
          <a:xfrm>
            <a:off x="8686800" y="2103120"/>
            <a:ext cx="292608" cy="292608"/>
          </a:xfrm>
          <a:prstGeom prst="ellipse">
            <a:avLst/>
          </a:prstGeom>
          <a:solidFill>
            <a:srgbClr val="49B296"/>
          </a:solidFill>
          <a:ln w="6350">
            <a:solidFill>
              <a:srgbClr val="49B296"/>
            </a:solidFill>
            <a:prstDash val="solid"/>
          </a:ln>
        </p:spPr>
      </p:sp>
      <p:sp>
        <p:nvSpPr>
          <p:cNvPr id="42" name="Text 39"/>
          <p:cNvSpPr txBox="1"/>
          <p:nvPr/>
        </p:nvSpPr>
        <p:spPr>
          <a:xfrm>
            <a:off x="8686800" y="2560320"/>
            <a:ext cx="2681935" cy="1005840"/>
          </a:xfrm>
          <a:prstGeom prst="rect">
            <a:avLst/>
          </a:prstGeom>
          <a:noFill/>
          <a:ln/>
        </p:spPr>
        <p:txBody>
          <a:bodyPr wrap="square" lIns="0" tIns="0" rIns="0" bIns="0" rtlCol="0" anchor="t"/>
          <a:lstStyle/>
          <a:p>
            <a:pPr indent="0" marL="0">
              <a:buNone/>
            </a:pPr>
            <a:r>
              <a:rPr lang="en-US" sz="2000" b="1" dirty="0">
                <a:solidFill>
                  <a:srgbClr val="2A2238"/>
                </a:solidFill>
                <a:latin typeface="Alexandria" pitchFamily="34" charset="0"/>
                <a:ea typeface="Alexandria" pitchFamily="34" charset="-122"/>
                <a:cs typeface="Alexandria" pitchFamily="34" charset="-120"/>
              </a:rPr>
              <a:t>Non-critical ≠ không quan trọng</a:t>
            </a:r>
            <a:endParaRPr lang="en-US" sz="2000" dirty="0"/>
          </a:p>
        </p:txBody>
      </p:sp>
      <p:sp>
        <p:nvSpPr>
          <p:cNvPr id="43" name="Text 40"/>
          <p:cNvSpPr txBox="1"/>
          <p:nvPr/>
        </p:nvSpPr>
        <p:spPr>
          <a:xfrm>
            <a:off x="8686800" y="3611880"/>
            <a:ext cx="2681935" cy="192024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Nghĩa là không khó mua. Thư mời in sai tên khách VIP vẫn là sự cố — chỉ là sửa được.</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Xếp hạng mục trước, rồi mới suy ra vị thế nhà cung cấp</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10</a:t>
            </a:r>
            <a:endParaRPr lang="en-US" sz="1000" dirty="0"/>
          </a:p>
        </p:txBody>
      </p:sp>
      <p:sp>
        <p:nvSpPr>
          <p:cNvPr id="19" name="Shape 16"/>
          <p:cNvSpPr/>
          <p:nvPr/>
        </p:nvSpPr>
        <p:spPr>
          <a:xfrm>
            <a:off x="548640" y="1874520"/>
            <a:ext cx="5394960" cy="1234440"/>
          </a:xfrm>
          <a:prstGeom prst="chevron">
            <a:avLst/>
          </a:prstGeom>
          <a:solidFill>
            <a:srgbClr val="FFE9DE"/>
          </a:solidFill>
          <a:ln w="19050">
            <a:solidFill>
              <a:srgbClr val="FF9259"/>
            </a:solidFill>
            <a:prstDash val="solid"/>
          </a:ln>
        </p:spPr>
      </p:sp>
      <p:sp>
        <p:nvSpPr>
          <p:cNvPr id="20" name="Text 17"/>
          <p:cNvSpPr txBox="1"/>
          <p:nvPr/>
        </p:nvSpPr>
        <p:spPr>
          <a:xfrm>
            <a:off x="1188720" y="1920240"/>
            <a:ext cx="3931920" cy="640080"/>
          </a:xfrm>
          <a:prstGeom prst="rect">
            <a:avLst/>
          </a:prstGeom>
          <a:noFill/>
          <a:ln/>
        </p:spPr>
        <p:txBody>
          <a:bodyPr wrap="square" lIns="0" tIns="0" rIns="0" bIns="0" rtlCol="0" anchor="b"/>
          <a:lstStyle/>
          <a:p>
            <a:pPr indent="0" marL="0">
              <a:buNone/>
            </a:pPr>
            <a:r>
              <a:rPr lang="en-US" sz="1700" b="1" dirty="0">
                <a:solidFill>
                  <a:srgbClr val="D9622B"/>
                </a:solidFill>
                <a:latin typeface="Alexandria" pitchFamily="34" charset="0"/>
                <a:ea typeface="Alexandria" pitchFamily="34" charset="-122"/>
                <a:cs typeface="Alexandria" pitchFamily="34" charset="-120"/>
              </a:rPr>
              <a:t>Bước 1  </a:t>
            </a:r>
            <a:pPr indent="0" marL="0">
              <a:buNone/>
            </a:pPr>
            <a:r>
              <a:rPr lang="en-US" sz="1700" b="1" dirty="0">
                <a:solidFill>
                  <a:srgbClr val="2A2238"/>
                </a:solidFill>
                <a:latin typeface="Alexandria" pitchFamily="34" charset="0"/>
                <a:ea typeface="Alexandria" pitchFamily="34" charset="-122"/>
                <a:cs typeface="Alexandria" pitchFamily="34" charset="-120"/>
              </a:rPr>
              <a:t>Hạng mục → ô</a:t>
            </a:r>
            <a:endParaRPr lang="en-US" sz="1700" dirty="0"/>
          </a:p>
        </p:txBody>
      </p:sp>
      <p:sp>
        <p:nvSpPr>
          <p:cNvPr id="21" name="Text 18"/>
          <p:cNvSpPr txBox="1"/>
          <p:nvPr/>
        </p:nvSpPr>
        <p:spPr>
          <a:xfrm>
            <a:off x="1188720" y="2560320"/>
            <a:ext cx="3931920" cy="457200"/>
          </a:xfrm>
          <a:prstGeom prst="rect">
            <a:avLst/>
          </a:prstGeom>
          <a:noFill/>
          <a:ln/>
        </p:spPr>
        <p:txBody>
          <a:bodyPr wrap="square" lIns="0" tIns="0" rIns="0" bIns="0" rtlCol="0" anchor="t"/>
          <a:lstStyle/>
          <a:p>
            <a:pPr indent="0" marL="0">
              <a:buNone/>
            </a:pPr>
            <a:r>
              <a:rPr lang="en-US" sz="1300" dirty="0">
                <a:solidFill>
                  <a:srgbClr val="6E6878"/>
                </a:solidFill>
                <a:latin typeface="Alexandria" pitchFamily="34" charset="0"/>
                <a:ea typeface="Alexandria" pitchFamily="34" charset="-122"/>
                <a:cs typeface="Alexandria" pitchFamily="34" charset="-120"/>
              </a:rPr>
              <a:t>“Ballroom 600 khách tối 12/12”, không phải “khách sạn”</a:t>
            </a:r>
            <a:endParaRPr lang="en-US" sz="1300" dirty="0"/>
          </a:p>
        </p:txBody>
      </p:sp>
      <p:sp>
        <p:nvSpPr>
          <p:cNvPr id="22" name="Shape 19"/>
          <p:cNvSpPr/>
          <p:nvPr/>
        </p:nvSpPr>
        <p:spPr>
          <a:xfrm>
            <a:off x="6172200" y="1874520"/>
            <a:ext cx="5394960" cy="1234440"/>
          </a:xfrm>
          <a:prstGeom prst="chevron">
            <a:avLst/>
          </a:prstGeom>
          <a:solidFill>
            <a:srgbClr val="F1E1EE"/>
          </a:solidFill>
          <a:ln w="19050">
            <a:solidFill>
              <a:srgbClr val="962B7C"/>
            </a:solidFill>
            <a:prstDash val="solid"/>
          </a:ln>
        </p:spPr>
      </p:sp>
      <p:sp>
        <p:nvSpPr>
          <p:cNvPr id="23" name="Text 20"/>
          <p:cNvSpPr txBox="1"/>
          <p:nvPr/>
        </p:nvSpPr>
        <p:spPr>
          <a:xfrm>
            <a:off x="6812280" y="1920240"/>
            <a:ext cx="3931920" cy="640080"/>
          </a:xfrm>
          <a:prstGeom prst="rect">
            <a:avLst/>
          </a:prstGeom>
          <a:noFill/>
          <a:ln/>
        </p:spPr>
        <p:txBody>
          <a:bodyPr wrap="square" lIns="0" tIns="0" rIns="0" bIns="0" rtlCol="0" anchor="b"/>
          <a:lstStyle/>
          <a:p>
            <a:pPr indent="0" marL="0">
              <a:buNone/>
            </a:pPr>
            <a:r>
              <a:rPr lang="en-US" sz="1700" b="1" dirty="0">
                <a:solidFill>
                  <a:srgbClr val="962B7C"/>
                </a:solidFill>
                <a:latin typeface="Alexandria" pitchFamily="34" charset="0"/>
                <a:ea typeface="Alexandria" pitchFamily="34" charset="-122"/>
                <a:cs typeface="Alexandria" pitchFamily="34" charset="-120"/>
              </a:rPr>
              <a:t>Bước 2  </a:t>
            </a:r>
            <a:pPr indent="0" marL="0">
              <a:buNone/>
            </a:pPr>
            <a:r>
              <a:rPr lang="en-US" sz="1700" b="1" dirty="0">
                <a:solidFill>
                  <a:srgbClr val="2A2238"/>
                </a:solidFill>
                <a:latin typeface="Alexandria" pitchFamily="34" charset="0"/>
                <a:ea typeface="Alexandria" pitchFamily="34" charset="-122"/>
                <a:cs typeface="Alexandria" pitchFamily="34" charset="-120"/>
              </a:rPr>
              <a:t>Ô → vị thế nhà cung cấp → chiến lược quan hệ</a:t>
            </a:r>
            <a:endParaRPr lang="en-US" sz="1700" dirty="0"/>
          </a:p>
        </p:txBody>
      </p:sp>
      <p:sp>
        <p:nvSpPr>
          <p:cNvPr id="24" name="Text 21"/>
          <p:cNvSpPr txBox="1"/>
          <p:nvPr/>
        </p:nvSpPr>
        <p:spPr>
          <a:xfrm>
            <a:off x="6812280" y="2560320"/>
            <a:ext cx="3931920" cy="457200"/>
          </a:xfrm>
          <a:prstGeom prst="rect">
            <a:avLst/>
          </a:prstGeom>
          <a:noFill/>
          <a:ln/>
        </p:spPr>
        <p:txBody>
          <a:bodyPr wrap="square" lIns="0" tIns="0" rIns="0" bIns="0" rtlCol="0" anchor="t"/>
          <a:lstStyle/>
          <a:p>
            <a:pPr indent="0" marL="0">
              <a:buNone/>
            </a:pPr>
            <a:r>
              <a:rPr lang="en-US" sz="1300" dirty="0">
                <a:solidFill>
                  <a:srgbClr val="6E6878"/>
                </a:solidFill>
                <a:latin typeface="Alexandria" pitchFamily="34" charset="0"/>
                <a:ea typeface="Alexandria" pitchFamily="34" charset="-122"/>
                <a:cs typeface="Alexandria" pitchFamily="34" charset="-120"/>
              </a:rPr>
              <a:t>Nhà cung cấp mạnh hay yếu so với agency?</a:t>
            </a:r>
            <a:endParaRPr lang="en-US" sz="1300" dirty="0"/>
          </a:p>
        </p:txBody>
      </p:sp>
      <p:sp>
        <p:nvSpPr>
          <p:cNvPr id="25" name="Text 22"/>
          <p:cNvSpPr txBox="1"/>
          <p:nvPr/>
        </p:nvSpPr>
        <p:spPr>
          <a:xfrm>
            <a:off x="2926080" y="3337560"/>
            <a:ext cx="3200400" cy="274320"/>
          </a:xfrm>
          <a:prstGeom prst="rect">
            <a:avLst/>
          </a:prstGeom>
          <a:noFill/>
          <a:ln/>
        </p:spPr>
        <p:txBody>
          <a:bodyPr wrap="square" lIns="0" tIns="0" rIns="0" bIns="0" rtlCol="0" anchor="ctr"/>
          <a:lstStyle/>
          <a:p>
            <a:pPr indent="0" marL="0">
              <a:buNone/>
            </a:pPr>
            <a:r>
              <a:rPr lang="en-US" sz="1200" b="1" dirty="0">
                <a:solidFill>
                  <a:srgbClr val="6E6878"/>
                </a:solidFill>
                <a:latin typeface="Alexandria" pitchFamily="34" charset="0"/>
                <a:ea typeface="Alexandria" pitchFamily="34" charset="-122"/>
                <a:cs typeface="Alexandria" pitchFamily="34" charset="-120"/>
              </a:rPr>
              <a:t>Vị thế nhà cung cấp</a:t>
            </a:r>
            <a:endParaRPr lang="en-US" sz="1200" dirty="0"/>
          </a:p>
        </p:txBody>
      </p:sp>
      <p:sp>
        <p:nvSpPr>
          <p:cNvPr id="26" name="Text 23"/>
          <p:cNvSpPr txBox="1"/>
          <p:nvPr/>
        </p:nvSpPr>
        <p:spPr>
          <a:xfrm>
            <a:off x="6309360" y="3337560"/>
            <a:ext cx="5303520" cy="274320"/>
          </a:xfrm>
          <a:prstGeom prst="rect">
            <a:avLst/>
          </a:prstGeom>
          <a:noFill/>
          <a:ln/>
        </p:spPr>
        <p:txBody>
          <a:bodyPr wrap="square" lIns="0" tIns="0" rIns="0" bIns="0" rtlCol="0" anchor="ctr"/>
          <a:lstStyle/>
          <a:p>
            <a:pPr indent="0" marL="0">
              <a:buNone/>
            </a:pPr>
            <a:r>
              <a:rPr lang="en-US" sz="1200" b="1" dirty="0">
                <a:solidFill>
                  <a:srgbClr val="6E6878"/>
                </a:solidFill>
                <a:latin typeface="Alexandria" pitchFamily="34" charset="0"/>
                <a:ea typeface="Alexandria" pitchFamily="34" charset="-122"/>
                <a:cs typeface="Alexandria" pitchFamily="34" charset="-120"/>
              </a:rPr>
              <a:t>Chiến lược quan hệ của agency</a:t>
            </a:r>
            <a:endParaRPr lang="en-US" sz="1200" dirty="0"/>
          </a:p>
        </p:txBody>
      </p:sp>
      <p:sp>
        <p:nvSpPr>
          <p:cNvPr id="27" name="Shape 24"/>
          <p:cNvSpPr/>
          <p:nvPr/>
        </p:nvSpPr>
        <p:spPr>
          <a:xfrm>
            <a:off x="548640" y="3657600"/>
            <a:ext cx="11094415" cy="566928"/>
          </a:xfrm>
          <a:prstGeom prst="roundRect">
            <a:avLst>
              <a:gd name="adj" fmla="val 19355"/>
            </a:avLst>
          </a:prstGeom>
          <a:solidFill>
            <a:srgbClr val="F1E1EE"/>
          </a:solidFill>
          <a:ln w="12700">
            <a:solidFill>
              <a:srgbClr val="F1E1EE"/>
            </a:solidFill>
            <a:prstDash val="solid"/>
          </a:ln>
        </p:spPr>
      </p:sp>
      <p:sp>
        <p:nvSpPr>
          <p:cNvPr id="28" name="Shape 25"/>
          <p:cNvSpPr/>
          <p:nvPr/>
        </p:nvSpPr>
        <p:spPr>
          <a:xfrm>
            <a:off x="731520" y="3813048"/>
            <a:ext cx="256032" cy="256032"/>
          </a:xfrm>
          <a:prstGeom prst="star5">
            <a:avLst/>
          </a:prstGeom>
          <a:solidFill>
            <a:srgbClr val="962B7C"/>
          </a:solidFill>
          <a:ln w="6350">
            <a:solidFill>
              <a:srgbClr val="962B7C"/>
            </a:solidFill>
            <a:prstDash val="solid"/>
          </a:ln>
        </p:spPr>
      </p:sp>
      <p:sp>
        <p:nvSpPr>
          <p:cNvPr id="29" name="Text 26"/>
          <p:cNvSpPr txBox="1"/>
          <p:nvPr/>
        </p:nvSpPr>
        <p:spPr>
          <a:xfrm>
            <a:off x="1143000" y="3657600"/>
            <a:ext cx="1737360" cy="566928"/>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Strategic</a:t>
            </a:r>
            <a:endParaRPr lang="en-US" sz="1500" dirty="0"/>
          </a:p>
        </p:txBody>
      </p:sp>
      <p:sp>
        <p:nvSpPr>
          <p:cNvPr id="30" name="Text 27"/>
          <p:cNvSpPr txBox="1"/>
          <p:nvPr/>
        </p:nvSpPr>
        <p:spPr>
          <a:xfrm>
            <a:off x="2926080" y="3657600"/>
            <a:ext cx="3200400" cy="56692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Mạnh, nhưng hai bên cần nhau</a:t>
            </a:r>
            <a:endParaRPr lang="en-US" sz="1400" dirty="0"/>
          </a:p>
        </p:txBody>
      </p:sp>
      <p:sp>
        <p:nvSpPr>
          <p:cNvPr id="31" name="Text 28"/>
          <p:cNvSpPr txBox="1"/>
          <p:nvPr/>
        </p:nvSpPr>
        <p:spPr>
          <a:xfrm>
            <a:off x="6309360" y="3657600"/>
            <a:ext cx="5150815" cy="56692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Đối tác dài hạn: chia sẻ kế hoạch sớm, cam kết khối lượng, cùng xử lý sự cố</a:t>
            </a:r>
            <a:endParaRPr lang="en-US" sz="1400" dirty="0"/>
          </a:p>
        </p:txBody>
      </p:sp>
      <p:sp>
        <p:nvSpPr>
          <p:cNvPr id="32" name="Shape 29"/>
          <p:cNvSpPr/>
          <p:nvPr/>
        </p:nvSpPr>
        <p:spPr>
          <a:xfrm>
            <a:off x="548640" y="4315968"/>
            <a:ext cx="11094415" cy="566928"/>
          </a:xfrm>
          <a:prstGeom prst="roundRect">
            <a:avLst>
              <a:gd name="adj" fmla="val 19355"/>
            </a:avLst>
          </a:prstGeom>
          <a:solidFill>
            <a:srgbClr val="FFE4EA"/>
          </a:solidFill>
          <a:ln w="12700">
            <a:solidFill>
              <a:srgbClr val="FFE4EA"/>
            </a:solidFill>
            <a:prstDash val="solid"/>
          </a:ln>
        </p:spPr>
      </p:sp>
      <p:sp>
        <p:nvSpPr>
          <p:cNvPr id="33" name="Shape 30"/>
          <p:cNvSpPr/>
          <p:nvPr/>
        </p:nvSpPr>
        <p:spPr>
          <a:xfrm>
            <a:off x="731520" y="4471416"/>
            <a:ext cx="256032" cy="256032"/>
          </a:xfrm>
          <a:prstGeom prst="triangle">
            <a:avLst/>
          </a:prstGeom>
          <a:solidFill>
            <a:srgbClr val="FF5178"/>
          </a:solidFill>
          <a:ln w="6350">
            <a:solidFill>
              <a:srgbClr val="FF5178"/>
            </a:solidFill>
            <a:prstDash val="solid"/>
          </a:ln>
        </p:spPr>
      </p:sp>
      <p:sp>
        <p:nvSpPr>
          <p:cNvPr id="34" name="Text 31"/>
          <p:cNvSpPr txBox="1"/>
          <p:nvPr/>
        </p:nvSpPr>
        <p:spPr>
          <a:xfrm>
            <a:off x="1143000" y="4315968"/>
            <a:ext cx="1737360" cy="566928"/>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Bottleneck</a:t>
            </a:r>
            <a:endParaRPr lang="en-US" sz="1500" dirty="0"/>
          </a:p>
        </p:txBody>
      </p:sp>
      <p:sp>
        <p:nvSpPr>
          <p:cNvPr id="35" name="Text 32"/>
          <p:cNvSpPr txBox="1"/>
          <p:nvPr/>
        </p:nvSpPr>
        <p:spPr>
          <a:xfrm>
            <a:off x="2926080" y="4315968"/>
            <a:ext cx="3200400" cy="56692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Mạnh hơn agency</a:t>
            </a:r>
            <a:endParaRPr lang="en-US" sz="1400" dirty="0"/>
          </a:p>
        </p:txBody>
      </p:sp>
      <p:sp>
        <p:nvSpPr>
          <p:cNvPr id="36" name="Text 33"/>
          <p:cNvSpPr txBox="1"/>
          <p:nvPr/>
        </p:nvSpPr>
        <p:spPr>
          <a:xfrm>
            <a:off x="6309360" y="4315968"/>
            <a:ext cx="5150815" cy="56692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Giữ chỗ sớm, có dự phòng, chốt giá–hủy–phí phát sinh trong hợp đồng</a:t>
            </a:r>
            <a:endParaRPr lang="en-US" sz="1400" dirty="0"/>
          </a:p>
        </p:txBody>
      </p:sp>
      <p:sp>
        <p:nvSpPr>
          <p:cNvPr id="37" name="Shape 34"/>
          <p:cNvSpPr/>
          <p:nvPr/>
        </p:nvSpPr>
        <p:spPr>
          <a:xfrm>
            <a:off x="548640" y="4974336"/>
            <a:ext cx="11094415" cy="566928"/>
          </a:xfrm>
          <a:prstGeom prst="roundRect">
            <a:avLst>
              <a:gd name="adj" fmla="val 19355"/>
            </a:avLst>
          </a:prstGeom>
          <a:solidFill>
            <a:srgbClr val="DDF1FB"/>
          </a:solidFill>
          <a:ln w="12700">
            <a:solidFill>
              <a:srgbClr val="DDF1FB"/>
            </a:solidFill>
            <a:prstDash val="solid"/>
          </a:ln>
        </p:spPr>
      </p:sp>
      <p:sp>
        <p:nvSpPr>
          <p:cNvPr id="38" name="Shape 35"/>
          <p:cNvSpPr/>
          <p:nvPr/>
        </p:nvSpPr>
        <p:spPr>
          <a:xfrm>
            <a:off x="731520" y="5129784"/>
            <a:ext cx="256032" cy="256032"/>
          </a:xfrm>
          <a:prstGeom prst="diamond">
            <a:avLst/>
          </a:prstGeom>
          <a:solidFill>
            <a:srgbClr val="09A1E5"/>
          </a:solidFill>
          <a:ln w="6350">
            <a:solidFill>
              <a:srgbClr val="09A1E5"/>
            </a:solidFill>
            <a:prstDash val="solid"/>
          </a:ln>
        </p:spPr>
      </p:sp>
      <p:sp>
        <p:nvSpPr>
          <p:cNvPr id="39" name="Text 36"/>
          <p:cNvSpPr txBox="1"/>
          <p:nvPr/>
        </p:nvSpPr>
        <p:spPr>
          <a:xfrm>
            <a:off x="1143000" y="4974336"/>
            <a:ext cx="1737360" cy="566928"/>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Leverage</a:t>
            </a:r>
            <a:endParaRPr lang="en-US" sz="1500" dirty="0"/>
          </a:p>
        </p:txBody>
      </p:sp>
      <p:sp>
        <p:nvSpPr>
          <p:cNvPr id="40" name="Text 37"/>
          <p:cNvSpPr txBox="1"/>
          <p:nvPr/>
        </p:nvSpPr>
        <p:spPr>
          <a:xfrm>
            <a:off x="2926080" y="4974336"/>
            <a:ext cx="3200400" cy="56692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Yếu hơn agency</a:t>
            </a:r>
            <a:endParaRPr lang="en-US" sz="1400" dirty="0"/>
          </a:p>
        </p:txBody>
      </p:sp>
      <p:sp>
        <p:nvSpPr>
          <p:cNvPr id="41" name="Text 38"/>
          <p:cNvSpPr txBox="1"/>
          <p:nvPr/>
        </p:nvSpPr>
        <p:spPr>
          <a:xfrm>
            <a:off x="6309360" y="4974336"/>
            <a:ext cx="5150815" cy="56692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So giá trong 2–3 nhà cung cấp ưu tiên, nhưng giữ chuẩn chất lượng</a:t>
            </a:r>
            <a:endParaRPr lang="en-US" sz="1400" dirty="0"/>
          </a:p>
        </p:txBody>
      </p:sp>
      <p:sp>
        <p:nvSpPr>
          <p:cNvPr id="42" name="Shape 39"/>
          <p:cNvSpPr/>
          <p:nvPr/>
        </p:nvSpPr>
        <p:spPr>
          <a:xfrm>
            <a:off x="548640" y="5632704"/>
            <a:ext cx="11094415" cy="566928"/>
          </a:xfrm>
          <a:prstGeom prst="roundRect">
            <a:avLst>
              <a:gd name="adj" fmla="val 19355"/>
            </a:avLst>
          </a:prstGeom>
          <a:solidFill>
            <a:srgbClr val="E1F3EE"/>
          </a:solidFill>
          <a:ln w="12700">
            <a:solidFill>
              <a:srgbClr val="E1F3EE"/>
            </a:solidFill>
            <a:prstDash val="solid"/>
          </a:ln>
        </p:spPr>
      </p:sp>
      <p:sp>
        <p:nvSpPr>
          <p:cNvPr id="43" name="Shape 40"/>
          <p:cNvSpPr/>
          <p:nvPr/>
        </p:nvSpPr>
        <p:spPr>
          <a:xfrm>
            <a:off x="731520" y="5788152"/>
            <a:ext cx="256032" cy="256032"/>
          </a:xfrm>
          <a:prstGeom prst="ellipse">
            <a:avLst/>
          </a:prstGeom>
          <a:solidFill>
            <a:srgbClr val="49B296"/>
          </a:solidFill>
          <a:ln w="6350">
            <a:solidFill>
              <a:srgbClr val="49B296"/>
            </a:solidFill>
            <a:prstDash val="solid"/>
          </a:ln>
        </p:spPr>
      </p:sp>
      <p:sp>
        <p:nvSpPr>
          <p:cNvPr id="44" name="Text 41"/>
          <p:cNvSpPr txBox="1"/>
          <p:nvPr/>
        </p:nvSpPr>
        <p:spPr>
          <a:xfrm>
            <a:off x="1143000" y="5632704"/>
            <a:ext cx="1737360" cy="566928"/>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Non-critical</a:t>
            </a:r>
            <a:endParaRPr lang="en-US" sz="1500" dirty="0"/>
          </a:p>
        </p:txBody>
      </p:sp>
      <p:sp>
        <p:nvSpPr>
          <p:cNvPr id="45" name="Text 42"/>
          <p:cNvSpPr txBox="1"/>
          <p:nvPr/>
        </p:nvSpPr>
        <p:spPr>
          <a:xfrm>
            <a:off x="2926080" y="5632704"/>
            <a:ext cx="3200400" cy="56692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Yếu, nhiều lựa chọn</a:t>
            </a:r>
            <a:endParaRPr lang="en-US" sz="1400" dirty="0"/>
          </a:p>
        </p:txBody>
      </p:sp>
      <p:sp>
        <p:nvSpPr>
          <p:cNvPr id="46" name="Text 43"/>
          <p:cNvSpPr txBox="1"/>
          <p:nvPr/>
        </p:nvSpPr>
        <p:spPr>
          <a:xfrm>
            <a:off x="6309360" y="5632704"/>
            <a:ext cx="5150815" cy="566928"/>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Chuẩn hóa, đặt hàng gọn, giảm thời gian quản lý</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Một khách sạn, ba hạng mục, ba ô</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Ví dụ giả định (Nova Events – An Phát). Xử lý AV trước khi ký: S08, S09, S10.</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11</a:t>
            </a:r>
            <a:endParaRPr lang="en-US" sz="1000" dirty="0"/>
          </a:p>
        </p:txBody>
      </p:sp>
      <p:sp>
        <p:nvSpPr>
          <p:cNvPr id="20" name="Shape 17"/>
          <p:cNvSpPr/>
          <p:nvPr/>
        </p:nvSpPr>
        <p:spPr>
          <a:xfrm>
            <a:off x="960120" y="1828800"/>
            <a:ext cx="3131820" cy="1943100"/>
          </a:xfrm>
          <a:prstGeom prst="roundRect">
            <a:avLst>
              <a:gd name="adj" fmla="val 5647"/>
            </a:avLst>
          </a:prstGeom>
          <a:solidFill>
            <a:srgbClr val="DDF1FB"/>
          </a:solidFill>
          <a:ln w="12700">
            <a:solidFill>
              <a:srgbClr val="09A1E5"/>
            </a:solidFill>
            <a:prstDash val="solid"/>
          </a:ln>
        </p:spPr>
      </p:sp>
      <p:sp>
        <p:nvSpPr>
          <p:cNvPr id="21" name="Shape 18"/>
          <p:cNvSpPr/>
          <p:nvPr/>
        </p:nvSpPr>
        <p:spPr>
          <a:xfrm>
            <a:off x="1097280" y="1965960"/>
            <a:ext cx="201168" cy="201168"/>
          </a:xfrm>
          <a:prstGeom prst="diamond">
            <a:avLst/>
          </a:prstGeom>
          <a:solidFill>
            <a:srgbClr val="09A1E5"/>
          </a:solidFill>
          <a:ln w="6350">
            <a:solidFill>
              <a:srgbClr val="09A1E5"/>
            </a:solidFill>
            <a:prstDash val="solid"/>
          </a:ln>
        </p:spPr>
      </p:sp>
      <p:sp>
        <p:nvSpPr>
          <p:cNvPr id="22" name="Text 19"/>
          <p:cNvSpPr txBox="1"/>
          <p:nvPr/>
        </p:nvSpPr>
        <p:spPr>
          <a:xfrm>
            <a:off x="1362456" y="1938528"/>
            <a:ext cx="2564892" cy="25603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Leverage</a:t>
            </a:r>
            <a:endParaRPr lang="en-US" sz="1400" dirty="0"/>
          </a:p>
        </p:txBody>
      </p:sp>
      <p:sp>
        <p:nvSpPr>
          <p:cNvPr id="23" name="Shape 20"/>
          <p:cNvSpPr/>
          <p:nvPr/>
        </p:nvSpPr>
        <p:spPr>
          <a:xfrm>
            <a:off x="4183380" y="1828800"/>
            <a:ext cx="3131820" cy="1943100"/>
          </a:xfrm>
          <a:prstGeom prst="roundRect">
            <a:avLst>
              <a:gd name="adj" fmla="val 5647"/>
            </a:avLst>
          </a:prstGeom>
          <a:solidFill>
            <a:srgbClr val="F1E1EE"/>
          </a:solidFill>
          <a:ln w="12700">
            <a:solidFill>
              <a:srgbClr val="962B7C"/>
            </a:solidFill>
            <a:prstDash val="solid"/>
          </a:ln>
        </p:spPr>
      </p:sp>
      <p:sp>
        <p:nvSpPr>
          <p:cNvPr id="24" name="Shape 21"/>
          <p:cNvSpPr/>
          <p:nvPr/>
        </p:nvSpPr>
        <p:spPr>
          <a:xfrm>
            <a:off x="4320540" y="1965960"/>
            <a:ext cx="201168" cy="201168"/>
          </a:xfrm>
          <a:prstGeom prst="star5">
            <a:avLst/>
          </a:prstGeom>
          <a:solidFill>
            <a:srgbClr val="962B7C"/>
          </a:solidFill>
          <a:ln w="6350">
            <a:solidFill>
              <a:srgbClr val="962B7C"/>
            </a:solidFill>
            <a:prstDash val="solid"/>
          </a:ln>
        </p:spPr>
      </p:sp>
      <p:sp>
        <p:nvSpPr>
          <p:cNvPr id="25" name="Text 22"/>
          <p:cNvSpPr txBox="1"/>
          <p:nvPr/>
        </p:nvSpPr>
        <p:spPr>
          <a:xfrm>
            <a:off x="4585716" y="1938528"/>
            <a:ext cx="2564892" cy="25603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Strategic</a:t>
            </a:r>
            <a:endParaRPr lang="en-US" sz="1400" dirty="0"/>
          </a:p>
        </p:txBody>
      </p:sp>
      <p:sp>
        <p:nvSpPr>
          <p:cNvPr id="26" name="Shape 23"/>
          <p:cNvSpPr/>
          <p:nvPr/>
        </p:nvSpPr>
        <p:spPr>
          <a:xfrm>
            <a:off x="960120" y="3863340"/>
            <a:ext cx="3131820" cy="1943100"/>
          </a:xfrm>
          <a:prstGeom prst="roundRect">
            <a:avLst>
              <a:gd name="adj" fmla="val 5647"/>
            </a:avLst>
          </a:prstGeom>
          <a:solidFill>
            <a:srgbClr val="E1F3EE"/>
          </a:solidFill>
          <a:ln w="12700">
            <a:solidFill>
              <a:srgbClr val="49B296"/>
            </a:solidFill>
            <a:prstDash val="solid"/>
          </a:ln>
        </p:spPr>
      </p:sp>
      <p:sp>
        <p:nvSpPr>
          <p:cNvPr id="27" name="Shape 24"/>
          <p:cNvSpPr/>
          <p:nvPr/>
        </p:nvSpPr>
        <p:spPr>
          <a:xfrm>
            <a:off x="1097280" y="4000500"/>
            <a:ext cx="201168" cy="201168"/>
          </a:xfrm>
          <a:prstGeom prst="ellipse">
            <a:avLst/>
          </a:prstGeom>
          <a:solidFill>
            <a:srgbClr val="49B296"/>
          </a:solidFill>
          <a:ln w="6350">
            <a:solidFill>
              <a:srgbClr val="49B296"/>
            </a:solidFill>
            <a:prstDash val="solid"/>
          </a:ln>
        </p:spPr>
      </p:sp>
      <p:sp>
        <p:nvSpPr>
          <p:cNvPr id="28" name="Text 25"/>
          <p:cNvSpPr txBox="1"/>
          <p:nvPr/>
        </p:nvSpPr>
        <p:spPr>
          <a:xfrm>
            <a:off x="1362456" y="3973068"/>
            <a:ext cx="2564892" cy="25603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Non-critical</a:t>
            </a:r>
            <a:endParaRPr lang="en-US" sz="1400" dirty="0"/>
          </a:p>
        </p:txBody>
      </p:sp>
      <p:sp>
        <p:nvSpPr>
          <p:cNvPr id="29" name="Shape 26"/>
          <p:cNvSpPr/>
          <p:nvPr/>
        </p:nvSpPr>
        <p:spPr>
          <a:xfrm>
            <a:off x="4183380" y="3863340"/>
            <a:ext cx="3131820" cy="1943100"/>
          </a:xfrm>
          <a:prstGeom prst="roundRect">
            <a:avLst>
              <a:gd name="adj" fmla="val 5647"/>
            </a:avLst>
          </a:prstGeom>
          <a:solidFill>
            <a:srgbClr val="FFE4EA"/>
          </a:solidFill>
          <a:ln w="12700">
            <a:solidFill>
              <a:srgbClr val="FF5178"/>
            </a:solidFill>
            <a:prstDash val="solid"/>
          </a:ln>
        </p:spPr>
      </p:sp>
      <p:sp>
        <p:nvSpPr>
          <p:cNvPr id="30" name="Shape 27"/>
          <p:cNvSpPr/>
          <p:nvPr/>
        </p:nvSpPr>
        <p:spPr>
          <a:xfrm>
            <a:off x="4320540" y="4000500"/>
            <a:ext cx="201168" cy="201168"/>
          </a:xfrm>
          <a:prstGeom prst="triangle">
            <a:avLst/>
          </a:prstGeom>
          <a:solidFill>
            <a:srgbClr val="FF5178"/>
          </a:solidFill>
          <a:ln w="6350">
            <a:solidFill>
              <a:srgbClr val="FF5178"/>
            </a:solidFill>
            <a:prstDash val="solid"/>
          </a:ln>
        </p:spPr>
      </p:sp>
      <p:sp>
        <p:nvSpPr>
          <p:cNvPr id="31" name="Text 28"/>
          <p:cNvSpPr txBox="1"/>
          <p:nvPr/>
        </p:nvSpPr>
        <p:spPr>
          <a:xfrm>
            <a:off x="4585716" y="3973068"/>
            <a:ext cx="2564892" cy="25603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Bottleneck</a:t>
            </a:r>
            <a:endParaRPr lang="en-US" sz="1400" dirty="0"/>
          </a:p>
        </p:txBody>
      </p:sp>
      <p:sp>
        <p:nvSpPr>
          <p:cNvPr id="32" name="Shape 29"/>
          <p:cNvSpPr/>
          <p:nvPr/>
        </p:nvSpPr>
        <p:spPr>
          <a:xfrm flipV="1">
            <a:off x="877824" y="1828800"/>
            <a:ext cx="914" cy="3977640"/>
          </a:xfrm>
          <a:prstGeom prst="line">
            <a:avLst/>
          </a:prstGeom>
          <a:noFill/>
          <a:ln w="19050">
            <a:solidFill>
              <a:srgbClr val="6E6878"/>
            </a:solidFill>
            <a:prstDash val="solid"/>
            <a:tailEnd type="triangle"/>
          </a:ln>
        </p:spPr>
      </p:sp>
      <p:sp>
        <p:nvSpPr>
          <p:cNvPr id="33" name="Text 30"/>
          <p:cNvSpPr txBox="1"/>
          <p:nvPr/>
        </p:nvSpPr>
        <p:spPr>
          <a:xfrm rot="16200000">
            <a:off x="-1348740" y="3680460"/>
            <a:ext cx="3977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Profit impact  →  cao</a:t>
            </a:r>
            <a:endParaRPr lang="en-US" sz="1100" dirty="0"/>
          </a:p>
        </p:txBody>
      </p:sp>
      <p:sp>
        <p:nvSpPr>
          <p:cNvPr id="34" name="Shape 31"/>
          <p:cNvSpPr/>
          <p:nvPr/>
        </p:nvSpPr>
        <p:spPr>
          <a:xfrm>
            <a:off x="960120" y="5989320"/>
            <a:ext cx="6355080" cy="914"/>
          </a:xfrm>
          <a:prstGeom prst="line">
            <a:avLst/>
          </a:prstGeom>
          <a:noFill/>
          <a:ln w="19050">
            <a:solidFill>
              <a:srgbClr val="6E6878"/>
            </a:solidFill>
            <a:prstDash val="solid"/>
            <a:tailEnd type="triangle"/>
          </a:ln>
        </p:spPr>
      </p:sp>
      <p:sp>
        <p:nvSpPr>
          <p:cNvPr id="35" name="Text 32"/>
          <p:cNvSpPr txBox="1"/>
          <p:nvPr/>
        </p:nvSpPr>
        <p:spPr>
          <a:xfrm>
            <a:off x="960120" y="6025896"/>
            <a:ext cx="6355080" cy="201168"/>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Supply risk  →  cao</a:t>
            </a:r>
            <a:endParaRPr lang="en-US" sz="1100" dirty="0"/>
          </a:p>
        </p:txBody>
      </p:sp>
      <p:sp>
        <p:nvSpPr>
          <p:cNvPr id="36" name="Shape 33"/>
          <p:cNvSpPr/>
          <p:nvPr/>
        </p:nvSpPr>
        <p:spPr>
          <a:xfrm>
            <a:off x="4366260" y="2514600"/>
            <a:ext cx="2651760" cy="566928"/>
          </a:xfrm>
          <a:prstGeom prst="roundRect">
            <a:avLst>
              <a:gd name="adj" fmla="val 19355"/>
            </a:avLst>
          </a:prstGeom>
          <a:solidFill>
            <a:srgbClr val="FFFFFF"/>
          </a:solidFill>
          <a:ln w="12700">
            <a:solidFill>
              <a:srgbClr val="962B7C"/>
            </a:solidFill>
            <a:prstDash val="solid"/>
          </a:ln>
        </p:spPr>
      </p:sp>
      <p:sp>
        <p:nvSpPr>
          <p:cNvPr id="37" name="Text 34"/>
          <p:cNvSpPr txBox="1"/>
          <p:nvPr/>
        </p:nvSpPr>
        <p:spPr>
          <a:xfrm>
            <a:off x="4475988" y="2514600"/>
            <a:ext cx="2468880" cy="56692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Ballroom gala 12/12</a:t>
            </a:r>
            <a:endParaRPr lang="en-US" sz="1300" dirty="0"/>
          </a:p>
        </p:txBody>
      </p:sp>
      <p:sp>
        <p:nvSpPr>
          <p:cNvPr id="38" name="Shape 35"/>
          <p:cNvSpPr/>
          <p:nvPr/>
        </p:nvSpPr>
        <p:spPr>
          <a:xfrm>
            <a:off x="1143000" y="2514600"/>
            <a:ext cx="2651760" cy="566928"/>
          </a:xfrm>
          <a:prstGeom prst="roundRect">
            <a:avLst>
              <a:gd name="adj" fmla="val 19355"/>
            </a:avLst>
          </a:prstGeom>
          <a:solidFill>
            <a:srgbClr val="FFFFFF"/>
          </a:solidFill>
          <a:ln w="12700">
            <a:solidFill>
              <a:srgbClr val="09A1E5"/>
            </a:solidFill>
            <a:prstDash val="solid"/>
          </a:ln>
        </p:spPr>
      </p:sp>
      <p:sp>
        <p:nvSpPr>
          <p:cNvPr id="39" name="Text 36"/>
          <p:cNvSpPr txBox="1"/>
          <p:nvPr/>
        </p:nvSpPr>
        <p:spPr>
          <a:xfrm>
            <a:off x="1252728" y="2514600"/>
            <a:ext cx="2468880" cy="56692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80 phòng ngủ</a:t>
            </a:r>
            <a:endParaRPr lang="en-US" sz="1300" dirty="0"/>
          </a:p>
        </p:txBody>
      </p:sp>
      <p:sp>
        <p:nvSpPr>
          <p:cNvPr id="40" name="Shape 37"/>
          <p:cNvSpPr/>
          <p:nvPr/>
        </p:nvSpPr>
        <p:spPr>
          <a:xfrm>
            <a:off x="4366260" y="5143500"/>
            <a:ext cx="2651760" cy="566928"/>
          </a:xfrm>
          <a:prstGeom prst="roundRect">
            <a:avLst>
              <a:gd name="adj" fmla="val 19355"/>
            </a:avLst>
          </a:prstGeom>
          <a:solidFill>
            <a:srgbClr val="FFFFFF"/>
          </a:solidFill>
          <a:ln w="12700">
            <a:solidFill>
              <a:srgbClr val="FF5178"/>
            </a:solidFill>
            <a:prstDash val="solid"/>
          </a:ln>
        </p:spPr>
      </p:sp>
      <p:sp>
        <p:nvSpPr>
          <p:cNvPr id="41" name="Text 38"/>
          <p:cNvSpPr txBox="1"/>
          <p:nvPr/>
        </p:nvSpPr>
        <p:spPr>
          <a:xfrm>
            <a:off x="4475988" y="5143500"/>
            <a:ext cx="2468880" cy="566928"/>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AV nội bộ (bắt buộc)</a:t>
            </a:r>
            <a:endParaRPr lang="en-US" sz="1300" dirty="0"/>
          </a:p>
        </p:txBody>
      </p:sp>
      <p:sp>
        <p:nvSpPr>
          <p:cNvPr id="42" name="Shape 39"/>
          <p:cNvSpPr/>
          <p:nvPr/>
        </p:nvSpPr>
        <p:spPr>
          <a:xfrm>
            <a:off x="4366260" y="4411980"/>
            <a:ext cx="2651760" cy="502920"/>
          </a:xfrm>
          <a:prstGeom prst="roundRect">
            <a:avLst>
              <a:gd name="adj" fmla="val 21818"/>
            </a:avLst>
          </a:prstGeom>
          <a:solidFill>
            <a:srgbClr val="FFE4EA"/>
          </a:solidFill>
          <a:ln w="15875">
            <a:solidFill>
              <a:srgbClr val="09A1E5"/>
            </a:solidFill>
            <a:prstDash val="dash"/>
          </a:ln>
        </p:spPr>
      </p:sp>
      <p:sp>
        <p:nvSpPr>
          <p:cNvPr id="43" name="Text 40"/>
          <p:cNvSpPr txBox="1"/>
          <p:nvPr/>
        </p:nvSpPr>
        <p:spPr>
          <a:xfrm>
            <a:off x="4475988" y="4411980"/>
            <a:ext cx="2468880" cy="502920"/>
          </a:xfrm>
          <a:prstGeom prst="rect">
            <a:avLst/>
          </a:prstGeom>
          <a:noFill/>
          <a:ln/>
        </p:spPr>
        <p:txBody>
          <a:bodyPr wrap="square" lIns="0" tIns="0" rIns="0" bIns="0" rtlCol="0" anchor="ctr"/>
          <a:lstStyle/>
          <a:p>
            <a:pPr indent="0" marL="0">
              <a:buNone/>
            </a:pPr>
            <a:r>
              <a:rPr lang="en-US" sz="1200" i="1" dirty="0">
                <a:solidFill>
                  <a:srgbClr val="2A2238"/>
                </a:solidFill>
                <a:latin typeface="Alexandria" pitchFamily="34" charset="0"/>
                <a:ea typeface="Alexandria" pitchFamily="34" charset="-122"/>
                <a:cs typeface="Alexandria" pitchFamily="34" charset="-120"/>
              </a:rPr>
              <a:t>80 phòng ngủ · tháng 12</a:t>
            </a:r>
            <a:endParaRPr lang="en-US" sz="1200" dirty="0"/>
          </a:p>
        </p:txBody>
      </p:sp>
      <p:sp>
        <p:nvSpPr>
          <p:cNvPr id="44" name="Shape 41"/>
          <p:cNvSpPr/>
          <p:nvPr/>
        </p:nvSpPr>
        <p:spPr>
          <a:xfrm>
            <a:off x="2423160" y="3081528"/>
            <a:ext cx="1943100" cy="1577340"/>
          </a:xfrm>
          <a:prstGeom prst="line">
            <a:avLst/>
          </a:prstGeom>
          <a:noFill/>
          <a:ln w="25400">
            <a:solidFill>
              <a:srgbClr val="2A2238"/>
            </a:solidFill>
            <a:prstDash val="solid"/>
            <a:tailEnd type="triangle"/>
          </a:ln>
        </p:spPr>
      </p:sp>
      <p:sp>
        <p:nvSpPr>
          <p:cNvPr id="45" name="Text 42"/>
          <p:cNvSpPr txBox="1"/>
          <p:nvPr/>
        </p:nvSpPr>
        <p:spPr>
          <a:xfrm>
            <a:off x="1417320" y="3200400"/>
            <a:ext cx="1371600" cy="274320"/>
          </a:xfrm>
          <a:prstGeom prst="rect">
            <a:avLst/>
          </a:prstGeom>
          <a:noFill/>
          <a:ln/>
        </p:spPr>
        <p:txBody>
          <a:bodyPr wrap="square" lIns="0" tIns="0" rIns="0" bIns="0" rtlCol="0" anchor="ctr"/>
          <a:lstStyle/>
          <a:p>
            <a:pPr indent="0" marL="0">
              <a:buNone/>
            </a:pPr>
            <a:r>
              <a:rPr lang="en-US" sz="1200" i="1" dirty="0">
                <a:solidFill>
                  <a:srgbClr val="2A2238"/>
                </a:solidFill>
                <a:latin typeface="Alexandria" pitchFamily="34" charset="0"/>
                <a:ea typeface="Alexandria" pitchFamily="34" charset="-122"/>
                <a:cs typeface="Alexandria" pitchFamily="34" charset="-120"/>
              </a:rPr>
              <a:t>tháng 12 →</a:t>
            </a:r>
            <a:endParaRPr lang="en-US" sz="1200" dirty="0"/>
          </a:p>
        </p:txBody>
      </p:sp>
      <p:sp>
        <p:nvSpPr>
          <p:cNvPr id="46" name="Text 43"/>
          <p:cNvSpPr txBox="1"/>
          <p:nvPr/>
        </p:nvSpPr>
        <p:spPr>
          <a:xfrm>
            <a:off x="7680960" y="1874520"/>
            <a:ext cx="3962095" cy="822960"/>
          </a:xfrm>
          <a:prstGeom prst="rect">
            <a:avLst/>
          </a:prstGeom>
          <a:noFill/>
          <a:ln/>
        </p:spPr>
        <p:txBody>
          <a:bodyPr wrap="square" lIns="0" tIns="0" rIns="0" bIns="0" rtlCol="0" anchor="t"/>
          <a:lstStyle/>
          <a:p>
            <a:pPr indent="0" marL="0">
              <a:buNone/>
            </a:pPr>
            <a:r>
              <a:rPr lang="en-US" sz="1900" b="1" dirty="0">
                <a:solidFill>
                  <a:srgbClr val="E03A62"/>
                </a:solidFill>
                <a:latin typeface="Alexandria" pitchFamily="34" charset="0"/>
                <a:ea typeface="Alexandria" pitchFamily="34" charset="-122"/>
                <a:cs typeface="Alexandria" pitchFamily="34" charset="-120"/>
              </a:rPr>
              <a:t>Vì sao AV tăng 30% mà Nova bó tay?</a:t>
            </a:r>
            <a:endParaRPr lang="en-US" sz="1900" dirty="0"/>
          </a:p>
        </p:txBody>
      </p:sp>
      <p:sp>
        <p:nvSpPr>
          <p:cNvPr id="47" name="Text 44"/>
          <p:cNvSpPr txBox="1"/>
          <p:nvPr/>
        </p:nvSpPr>
        <p:spPr>
          <a:xfrm>
            <a:off x="7680960" y="2743200"/>
            <a:ext cx="3962095" cy="118872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AV đã vào ô Bottleneck ngay lúc ký hợp đồng venue có điều khoản AV nội bộ bắt buộc.</a:t>
            </a:r>
            <a:endParaRPr lang="en-US" sz="1600" dirty="0"/>
          </a:p>
        </p:txBody>
      </p:sp>
      <p:sp>
        <p:nvSpPr>
          <p:cNvPr id="48" name="Shape 45"/>
          <p:cNvSpPr/>
          <p:nvPr/>
        </p:nvSpPr>
        <p:spPr>
          <a:xfrm>
            <a:off x="7680960" y="4069080"/>
            <a:ext cx="3962095" cy="1828800"/>
          </a:xfrm>
          <a:prstGeom prst="roundRect">
            <a:avLst>
              <a:gd name="adj" fmla="val 6000"/>
            </a:avLst>
          </a:prstGeom>
          <a:solidFill>
            <a:srgbClr val="FFF3C4"/>
          </a:solidFill>
          <a:ln w="12700">
            <a:solidFill>
              <a:srgbClr val="FFD23B"/>
            </a:solidFill>
            <a:prstDash val="solid"/>
          </a:ln>
        </p:spPr>
      </p:sp>
      <p:sp>
        <p:nvSpPr>
          <p:cNvPr id="49" name="Text 46"/>
          <p:cNvSpPr txBox="1"/>
          <p:nvPr/>
        </p:nvSpPr>
        <p:spPr>
          <a:xfrm>
            <a:off x="7909560" y="4069080"/>
            <a:ext cx="3504895" cy="1828800"/>
          </a:xfrm>
          <a:prstGeom prst="rect">
            <a:avLst/>
          </a:prstGeom>
          <a:noFill/>
          <a:ln/>
        </p:spPr>
        <p:txBody>
          <a:bodyPr wrap="square" lIns="0" tIns="0" rIns="0" bIns="0" rtlCol="0" anchor="ctr"/>
          <a:lstStyle/>
          <a:p>
            <a:pPr indent="0" marL="0">
              <a:spcAft>
                <a:spcPts val="400"/>
              </a:spcAft>
              <a:buNone/>
            </a:pPr>
            <a:r>
              <a:rPr lang="en-US" sz="1600" b="1" dirty="0">
                <a:solidFill>
                  <a:srgbClr val="2A2238"/>
                </a:solidFill>
                <a:latin typeface="Alexandria" pitchFamily="34" charset="0"/>
                <a:ea typeface="Alexandria" pitchFamily="34" charset="-122"/>
                <a:cs typeface="Alexandria" pitchFamily="34" charset="-120"/>
              </a:rPr>
              <a:t>Xử lý trước khi ký:</a:t>
            </a:r>
            <a:endParaRPr lang="en-US" sz="1600" dirty="0"/>
          </a:p>
          <a:p>
            <a:pPr indent="0" marL="0">
              <a:spcAft>
                <a:spcPts val="400"/>
              </a:spcAft>
              <a:buNone/>
            </a:pPr>
            <a:r>
              <a:rPr lang="en-US" sz="1600" dirty="0">
                <a:solidFill>
                  <a:srgbClr val="2A2238"/>
                </a:solidFill>
                <a:latin typeface="Alexandria" pitchFamily="34" charset="0"/>
                <a:ea typeface="Alexandria" pitchFamily="34" charset="-122"/>
                <a:cs typeface="Alexandria" pitchFamily="34" charset="-120"/>
              </a:rPr>
              <a:t>đưa báo giá AV vào đàm phán venue, hoặc giành quyền mang AV ngoài vào.</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Ma trận là ảnh chụp: mùa, quy mô và điều khoản làm hạng mục đổi ô</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S01 (phê bình mô hình) · S08, S13 · S18 (+20–40% mùa cao điểm, chưa KCC) · S20 · S23, S24.</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12</a:t>
            </a:r>
            <a:endParaRPr lang="en-US" sz="1000" dirty="0"/>
          </a:p>
        </p:txBody>
      </p:sp>
      <p:sp>
        <p:nvSpPr>
          <p:cNvPr id="20" name="Shape 17"/>
          <p:cNvSpPr/>
          <p:nvPr/>
        </p:nvSpPr>
        <p:spPr>
          <a:xfrm>
            <a:off x="548640" y="1874520"/>
            <a:ext cx="5410048" cy="1188720"/>
          </a:xfrm>
          <a:prstGeom prst="roundRect">
            <a:avLst>
              <a:gd name="adj" fmla="val 9231"/>
            </a:avLst>
          </a:prstGeom>
          <a:solidFill>
            <a:srgbClr val="FFFFFF"/>
          </a:solidFill>
          <a:ln w="12700">
            <a:solidFill>
              <a:srgbClr val="DCD7C8"/>
            </a:solidFill>
            <a:prstDash val="solid"/>
          </a:ln>
        </p:spPr>
      </p:sp>
      <p:sp>
        <p:nvSpPr>
          <p:cNvPr id="21" name="Shape 18"/>
          <p:cNvSpPr/>
          <p:nvPr/>
        </p:nvSpPr>
        <p:spPr>
          <a:xfrm>
            <a:off x="777240" y="2240280"/>
            <a:ext cx="594360" cy="457200"/>
          </a:xfrm>
          <a:prstGeom prst="rightArrow">
            <a:avLst/>
          </a:prstGeom>
          <a:solidFill>
            <a:srgbClr val="FF9259"/>
          </a:solidFill>
          <a:ln w="12700">
            <a:solidFill>
              <a:srgbClr val="FF9259"/>
            </a:solidFill>
            <a:prstDash val="solid"/>
          </a:ln>
        </p:spPr>
      </p:sp>
      <p:sp>
        <p:nvSpPr>
          <p:cNvPr id="22" name="Text 19"/>
          <p:cNvSpPr txBox="1"/>
          <p:nvPr/>
        </p:nvSpPr>
        <p:spPr>
          <a:xfrm>
            <a:off x="1554480" y="1984248"/>
            <a:ext cx="4221328" cy="4114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Mùa cao điểm</a:t>
            </a:r>
            <a:endParaRPr lang="en-US" sz="1700" dirty="0"/>
          </a:p>
        </p:txBody>
      </p:sp>
      <p:sp>
        <p:nvSpPr>
          <p:cNvPr id="23" name="Text 20"/>
          <p:cNvSpPr txBox="1"/>
          <p:nvPr/>
        </p:nvSpPr>
        <p:spPr>
          <a:xfrm>
            <a:off x="1554480" y="2377440"/>
            <a:ext cx="4221328" cy="64008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Tháng 10–12, lễ tết → supply risk tăng</a:t>
            </a:r>
            <a:endParaRPr lang="en-US" sz="1300" dirty="0"/>
          </a:p>
        </p:txBody>
      </p:sp>
      <p:sp>
        <p:nvSpPr>
          <p:cNvPr id="24" name="Shape 21"/>
          <p:cNvSpPr/>
          <p:nvPr/>
        </p:nvSpPr>
        <p:spPr>
          <a:xfrm>
            <a:off x="6233008" y="1874520"/>
            <a:ext cx="5410048" cy="1188720"/>
          </a:xfrm>
          <a:prstGeom prst="roundRect">
            <a:avLst>
              <a:gd name="adj" fmla="val 9231"/>
            </a:avLst>
          </a:prstGeom>
          <a:solidFill>
            <a:srgbClr val="FFFFFF"/>
          </a:solidFill>
          <a:ln w="12700">
            <a:solidFill>
              <a:srgbClr val="DCD7C8"/>
            </a:solidFill>
            <a:prstDash val="solid"/>
          </a:ln>
        </p:spPr>
      </p:sp>
      <p:sp>
        <p:nvSpPr>
          <p:cNvPr id="25" name="Shape 22"/>
          <p:cNvSpPr/>
          <p:nvPr/>
        </p:nvSpPr>
        <p:spPr>
          <a:xfrm>
            <a:off x="6461608" y="2240280"/>
            <a:ext cx="594360" cy="457200"/>
          </a:xfrm>
          <a:prstGeom prst="rightArrow">
            <a:avLst/>
          </a:prstGeom>
          <a:solidFill>
            <a:srgbClr val="09A1E5"/>
          </a:solidFill>
          <a:ln w="12700">
            <a:solidFill>
              <a:srgbClr val="09A1E5"/>
            </a:solidFill>
            <a:prstDash val="solid"/>
          </a:ln>
        </p:spPr>
      </p:sp>
      <p:sp>
        <p:nvSpPr>
          <p:cNvPr id="26" name="Text 23"/>
          <p:cNvSpPr txBox="1"/>
          <p:nvPr/>
        </p:nvSpPr>
        <p:spPr>
          <a:xfrm>
            <a:off x="7238848" y="1984248"/>
            <a:ext cx="4221328" cy="4114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Quy mô</a:t>
            </a:r>
            <a:endParaRPr lang="en-US" sz="1700" dirty="0"/>
          </a:p>
        </p:txBody>
      </p:sp>
      <p:sp>
        <p:nvSpPr>
          <p:cNvPr id="27" name="Text 24"/>
          <p:cNvSpPr txBox="1"/>
          <p:nvPr/>
        </p:nvSpPr>
        <p:spPr>
          <a:xfrm>
            <a:off x="7238848" y="2377440"/>
            <a:ext cx="4221328" cy="64008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200 khách: Leverage · 40.000 khách ở TP.HCM: gần như luôn Strategic/Bottleneck</a:t>
            </a:r>
            <a:endParaRPr lang="en-US" sz="1300" dirty="0"/>
          </a:p>
        </p:txBody>
      </p:sp>
      <p:sp>
        <p:nvSpPr>
          <p:cNvPr id="28" name="Shape 25"/>
          <p:cNvSpPr/>
          <p:nvPr/>
        </p:nvSpPr>
        <p:spPr>
          <a:xfrm>
            <a:off x="548640" y="3246120"/>
            <a:ext cx="5410048" cy="1188720"/>
          </a:xfrm>
          <a:prstGeom prst="roundRect">
            <a:avLst>
              <a:gd name="adj" fmla="val 9231"/>
            </a:avLst>
          </a:prstGeom>
          <a:solidFill>
            <a:srgbClr val="FFFFFF"/>
          </a:solidFill>
          <a:ln w="12700">
            <a:solidFill>
              <a:srgbClr val="DCD7C8"/>
            </a:solidFill>
            <a:prstDash val="solid"/>
          </a:ln>
        </p:spPr>
      </p:sp>
      <p:sp>
        <p:nvSpPr>
          <p:cNvPr id="29" name="Shape 26"/>
          <p:cNvSpPr/>
          <p:nvPr/>
        </p:nvSpPr>
        <p:spPr>
          <a:xfrm>
            <a:off x="777240" y="3611880"/>
            <a:ext cx="594360" cy="457200"/>
          </a:xfrm>
          <a:prstGeom prst="rightArrow">
            <a:avLst/>
          </a:prstGeom>
          <a:solidFill>
            <a:srgbClr val="FF5178"/>
          </a:solidFill>
          <a:ln w="12700">
            <a:solidFill>
              <a:srgbClr val="FF5178"/>
            </a:solidFill>
            <a:prstDash val="solid"/>
          </a:ln>
        </p:spPr>
      </p:sp>
      <p:sp>
        <p:nvSpPr>
          <p:cNvPr id="30" name="Text 27"/>
          <p:cNvSpPr txBox="1"/>
          <p:nvPr/>
        </p:nvSpPr>
        <p:spPr>
          <a:xfrm>
            <a:off x="1554480" y="3355848"/>
            <a:ext cx="4221328" cy="4114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Điều khoản</a:t>
            </a:r>
            <a:endParaRPr lang="en-US" sz="1700" dirty="0"/>
          </a:p>
        </p:txBody>
      </p:sp>
      <p:sp>
        <p:nvSpPr>
          <p:cNvPr id="31" name="Text 28"/>
          <p:cNvSpPr txBox="1"/>
          <p:nvPr/>
        </p:nvSpPr>
        <p:spPr>
          <a:xfrm>
            <a:off x="1554480" y="3749040"/>
            <a:ext cx="4221328" cy="64008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Độc quyền (AV nội bộ, bán vé) → Bottleneck ngay lập tức</a:t>
            </a:r>
            <a:endParaRPr lang="en-US" sz="1300" dirty="0"/>
          </a:p>
        </p:txBody>
      </p:sp>
      <p:sp>
        <p:nvSpPr>
          <p:cNvPr id="32" name="Shape 29"/>
          <p:cNvSpPr/>
          <p:nvPr/>
        </p:nvSpPr>
        <p:spPr>
          <a:xfrm>
            <a:off x="6233008" y="3246120"/>
            <a:ext cx="5410048" cy="1188720"/>
          </a:xfrm>
          <a:prstGeom prst="roundRect">
            <a:avLst>
              <a:gd name="adj" fmla="val 9231"/>
            </a:avLst>
          </a:prstGeom>
          <a:solidFill>
            <a:srgbClr val="FFFFFF"/>
          </a:solidFill>
          <a:ln w="12700">
            <a:solidFill>
              <a:srgbClr val="DCD7C8"/>
            </a:solidFill>
            <a:prstDash val="solid"/>
          </a:ln>
        </p:spPr>
      </p:sp>
      <p:sp>
        <p:nvSpPr>
          <p:cNvPr id="33" name="Shape 30"/>
          <p:cNvSpPr/>
          <p:nvPr/>
        </p:nvSpPr>
        <p:spPr>
          <a:xfrm>
            <a:off x="6461608" y="3611880"/>
            <a:ext cx="594360" cy="457200"/>
          </a:xfrm>
          <a:prstGeom prst="rightArrow">
            <a:avLst/>
          </a:prstGeom>
          <a:solidFill>
            <a:srgbClr val="49B296"/>
          </a:solidFill>
          <a:ln w="12700">
            <a:solidFill>
              <a:srgbClr val="49B296"/>
            </a:solidFill>
            <a:prstDash val="solid"/>
          </a:ln>
        </p:spPr>
      </p:sp>
      <p:sp>
        <p:nvSpPr>
          <p:cNvPr id="34" name="Text 31"/>
          <p:cNvSpPr txBox="1"/>
          <p:nvPr/>
        </p:nvSpPr>
        <p:spPr>
          <a:xfrm>
            <a:off x="7238848" y="3355848"/>
            <a:ext cx="4221328" cy="4114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Hành động của agency</a:t>
            </a:r>
            <a:endParaRPr lang="en-US" sz="1700" dirty="0"/>
          </a:p>
        </p:txBody>
      </p:sp>
      <p:sp>
        <p:nvSpPr>
          <p:cNvPr id="35" name="Text 32"/>
          <p:cNvSpPr txBox="1"/>
          <p:nvPr/>
        </p:nvSpPr>
        <p:spPr>
          <a:xfrm>
            <a:off x="7238848" y="3749040"/>
            <a:ext cx="4221328" cy="64008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Giữ chỗ sớm, dự phòng, cam kết nhiều năm → kéo hạng mục ra khỏi Bottleneck</a:t>
            </a:r>
            <a:endParaRPr lang="en-US" sz="1300" dirty="0"/>
          </a:p>
        </p:txBody>
      </p:sp>
      <p:sp>
        <p:nvSpPr>
          <p:cNvPr id="36" name="Text 33"/>
          <p:cNvSpPr txBox="1"/>
          <p:nvPr/>
        </p:nvSpPr>
        <p:spPr>
          <a:xfrm>
            <a:off x="548640" y="4663440"/>
            <a:ext cx="11094415" cy="320040"/>
          </a:xfrm>
          <a:prstGeom prst="rect">
            <a:avLst/>
          </a:prstGeom>
          <a:noFill/>
          <a:ln/>
        </p:spPr>
        <p:txBody>
          <a:bodyPr wrap="square" lIns="0" tIns="0" rIns="0" bIns="0" rtlCol="0" anchor="ctr"/>
          <a:lstStyle/>
          <a:p>
            <a:pPr indent="0" marL="0">
              <a:buNone/>
            </a:pPr>
            <a:r>
              <a:rPr lang="en-US" sz="1300" b="1" dirty="0">
                <a:solidFill>
                  <a:srgbClr val="6E6878"/>
                </a:solidFill>
                <a:latin typeface="Alexandria" pitchFamily="34" charset="0"/>
                <a:ea typeface="Alexandria" pitchFamily="34" charset="-122"/>
                <a:cs typeface="Alexandria" pitchFamily="34" charset="-120"/>
              </a:rPr>
              <a:t>Bốn hiểu lầm thường gặp</a:t>
            </a:r>
            <a:endParaRPr lang="en-US" sz="1300" dirty="0"/>
          </a:p>
        </p:txBody>
      </p:sp>
      <p:sp>
        <p:nvSpPr>
          <p:cNvPr id="37" name="Shape 34"/>
          <p:cNvSpPr/>
          <p:nvPr/>
        </p:nvSpPr>
        <p:spPr>
          <a:xfrm>
            <a:off x="548640" y="5029200"/>
            <a:ext cx="2670734" cy="914400"/>
          </a:xfrm>
          <a:prstGeom prst="roundRect">
            <a:avLst>
              <a:gd name="adj" fmla="val 12000"/>
            </a:avLst>
          </a:prstGeom>
          <a:solidFill>
            <a:srgbClr val="FFF3C4"/>
          </a:solidFill>
          <a:ln w="12700">
            <a:solidFill>
              <a:srgbClr val="FFF3C4"/>
            </a:solidFill>
            <a:prstDash val="solid"/>
          </a:ln>
        </p:spPr>
      </p:sp>
      <p:sp>
        <p:nvSpPr>
          <p:cNvPr id="38" name="Text 35"/>
          <p:cNvSpPr txBox="1"/>
          <p:nvPr/>
        </p:nvSpPr>
        <p:spPr>
          <a:xfrm>
            <a:off x="685800" y="5029200"/>
            <a:ext cx="2396414" cy="91440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Xếp hạng mục, không xếp nhà cung cấp</a:t>
            </a:r>
            <a:endParaRPr lang="en-US" sz="1300" dirty="0"/>
          </a:p>
        </p:txBody>
      </p:sp>
      <p:sp>
        <p:nvSpPr>
          <p:cNvPr id="39" name="Shape 36"/>
          <p:cNvSpPr/>
          <p:nvPr/>
        </p:nvSpPr>
        <p:spPr>
          <a:xfrm>
            <a:off x="3356534" y="5029200"/>
            <a:ext cx="2670734" cy="914400"/>
          </a:xfrm>
          <a:prstGeom prst="roundRect">
            <a:avLst>
              <a:gd name="adj" fmla="val 12000"/>
            </a:avLst>
          </a:prstGeom>
          <a:solidFill>
            <a:srgbClr val="FFF3C4"/>
          </a:solidFill>
          <a:ln w="12700">
            <a:solidFill>
              <a:srgbClr val="FFF3C4"/>
            </a:solidFill>
            <a:prstDash val="solid"/>
          </a:ln>
        </p:spPr>
      </p:sp>
      <p:sp>
        <p:nvSpPr>
          <p:cNvPr id="40" name="Text 37"/>
          <p:cNvSpPr txBox="1"/>
          <p:nvPr/>
        </p:nvSpPr>
        <p:spPr>
          <a:xfrm>
            <a:off x="3493694" y="5029200"/>
            <a:ext cx="2396414" cy="91440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Tốn tiền nhất ≠ Strategic</a:t>
            </a:r>
            <a:endParaRPr lang="en-US" sz="1300" dirty="0"/>
          </a:p>
        </p:txBody>
      </p:sp>
      <p:sp>
        <p:nvSpPr>
          <p:cNvPr id="41" name="Shape 38"/>
          <p:cNvSpPr/>
          <p:nvPr/>
        </p:nvSpPr>
        <p:spPr>
          <a:xfrm>
            <a:off x="6164428" y="5029200"/>
            <a:ext cx="2670734" cy="914400"/>
          </a:xfrm>
          <a:prstGeom prst="roundRect">
            <a:avLst>
              <a:gd name="adj" fmla="val 12000"/>
            </a:avLst>
          </a:prstGeom>
          <a:solidFill>
            <a:srgbClr val="FFF3C4"/>
          </a:solidFill>
          <a:ln w="12700">
            <a:solidFill>
              <a:srgbClr val="FFF3C4"/>
            </a:solidFill>
            <a:prstDash val="solid"/>
          </a:ln>
        </p:spPr>
      </p:sp>
      <p:sp>
        <p:nvSpPr>
          <p:cNvPr id="42" name="Text 39"/>
          <p:cNvSpPr txBox="1"/>
          <p:nvPr/>
        </p:nvSpPr>
        <p:spPr>
          <a:xfrm>
            <a:off x="6301588" y="5029200"/>
            <a:ext cx="2396414" cy="91440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Non-critical vẫn phải làm đúng</a:t>
            </a:r>
            <a:endParaRPr lang="en-US" sz="1300" dirty="0"/>
          </a:p>
        </p:txBody>
      </p:sp>
      <p:sp>
        <p:nvSpPr>
          <p:cNvPr id="43" name="Shape 40"/>
          <p:cNvSpPr/>
          <p:nvPr/>
        </p:nvSpPr>
        <p:spPr>
          <a:xfrm>
            <a:off x="8972321" y="5029200"/>
            <a:ext cx="2670734" cy="914400"/>
          </a:xfrm>
          <a:prstGeom prst="roundRect">
            <a:avLst>
              <a:gd name="adj" fmla="val 12000"/>
            </a:avLst>
          </a:prstGeom>
          <a:solidFill>
            <a:srgbClr val="FFF3C4"/>
          </a:solidFill>
          <a:ln w="12700">
            <a:solidFill>
              <a:srgbClr val="FFF3C4"/>
            </a:solidFill>
            <a:prstDash val="solid"/>
          </a:ln>
        </p:spPr>
      </p:sp>
      <p:sp>
        <p:nvSpPr>
          <p:cNvPr id="44" name="Text 41"/>
          <p:cNvSpPr txBox="1"/>
          <p:nvPr/>
        </p:nvSpPr>
        <p:spPr>
          <a:xfrm>
            <a:off x="9109481" y="5029200"/>
            <a:ext cx="2396414" cy="91440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Xếp theo từng sự kiện, rà soát định kỳ</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1 · Xếp hạng mục cho gala 12/12 của An Phát</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W07_activity_S3_kraljic_su_kien_key_account.md · Tình huống giả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13</a:t>
            </a:r>
            <a:endParaRPr lang="en-US" sz="1000" dirty="0"/>
          </a:p>
        </p:txBody>
      </p:sp>
      <p:sp>
        <p:nvSpPr>
          <p:cNvPr id="20" name="Text 17"/>
          <p:cNvSpPr txBox="1"/>
          <p:nvPr/>
        </p:nvSpPr>
        <p:spPr>
          <a:xfrm>
            <a:off x="548640" y="1783080"/>
            <a:ext cx="11094415" cy="365760"/>
          </a:xfrm>
          <a:prstGeom prst="rect">
            <a:avLst/>
          </a:prstGeom>
          <a:noFill/>
          <a:ln/>
        </p:spPr>
        <p:txBody>
          <a:bodyPr wrap="square" lIns="0" tIns="0" rIns="0" bIns="0" rtlCol="0" anchor="ctr"/>
          <a:lstStyle/>
          <a:p>
            <a:pPr indent="0" marL="0">
              <a:buNone/>
            </a:pPr>
            <a:r>
              <a:rPr lang="en-US" sz="1400" dirty="0">
                <a:solidFill>
                  <a:srgbClr val="6E6878"/>
                </a:solidFill>
                <a:latin typeface="Alexandria" pitchFamily="34" charset="0"/>
                <a:ea typeface="Alexandria" pitchFamily="34" charset="-122"/>
                <a:cs typeface="Alexandria" pitchFamily="34" charset="-120"/>
              </a:rPr>
              <a:t>Nova · An Phát · ~600 khách · 12/12 · khách sạn 5 sao Q.1 · bắt buộc AV nội bộ và F&amp;B khách sạn</a:t>
            </a:r>
            <a:endParaRPr lang="en-US" sz="1400" dirty="0"/>
          </a:p>
        </p:txBody>
      </p:sp>
      <p:sp>
        <p:nvSpPr>
          <p:cNvPr id="21" name="Shape 18"/>
          <p:cNvSpPr/>
          <p:nvPr/>
        </p:nvSpPr>
        <p:spPr>
          <a:xfrm>
            <a:off x="548640" y="2286000"/>
            <a:ext cx="5394960" cy="3840480"/>
          </a:xfrm>
          <a:prstGeom prst="roundRect">
            <a:avLst>
              <a:gd name="adj" fmla="val 2857"/>
            </a:avLst>
          </a:prstGeom>
          <a:solidFill>
            <a:srgbClr val="FFFFFF"/>
          </a:solidFill>
          <a:ln w="12700">
            <a:solidFill>
              <a:srgbClr val="DCD7C8"/>
            </a:solidFill>
            <a:prstDash val="solid"/>
          </a:ln>
        </p:spPr>
      </p:sp>
      <p:sp>
        <p:nvSpPr>
          <p:cNvPr id="22" name="Text 19"/>
          <p:cNvSpPr txBox="1"/>
          <p:nvPr/>
        </p:nvSpPr>
        <p:spPr>
          <a:xfrm>
            <a:off x="822960" y="2395728"/>
            <a:ext cx="4846320" cy="36576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10 hạng mục</a:t>
            </a:r>
            <a:endParaRPr lang="en-US" sz="1500" dirty="0"/>
          </a:p>
        </p:txBody>
      </p:sp>
      <p:sp>
        <p:nvSpPr>
          <p:cNvPr id="23" name="Shape 20"/>
          <p:cNvSpPr/>
          <p:nvPr/>
        </p:nvSpPr>
        <p:spPr>
          <a:xfrm>
            <a:off x="822960" y="2898648"/>
            <a:ext cx="347472" cy="347472"/>
          </a:xfrm>
          <a:prstGeom prst="ellipse">
            <a:avLst/>
          </a:prstGeom>
          <a:solidFill>
            <a:srgbClr val="FF9259"/>
          </a:solidFill>
          <a:ln w="12700">
            <a:solidFill>
              <a:srgbClr val="FF9259"/>
            </a:solidFill>
            <a:prstDash val="solid"/>
          </a:ln>
        </p:spPr>
      </p:sp>
      <p:sp>
        <p:nvSpPr>
          <p:cNvPr id="24" name="Text 21"/>
          <p:cNvSpPr txBox="1"/>
          <p:nvPr/>
        </p:nvSpPr>
        <p:spPr>
          <a:xfrm>
            <a:off x="822960" y="2898648"/>
            <a:ext cx="347472" cy="347472"/>
          </a:xfrm>
          <a:prstGeom prst="rect">
            <a:avLst/>
          </a:prstGeom>
          <a:noFill/>
          <a:ln/>
        </p:spPr>
        <p:txBody>
          <a:bodyPr wrap="square" lIns="0" tIns="0" rIns="0" bIns="0" rtlCol="0" anchor="ctr"/>
          <a:lstStyle/>
          <a:p>
            <a:pPr algn="ctr" indent="0" marL="0">
              <a:buNone/>
            </a:pPr>
            <a:r>
              <a:rPr lang="en-US" sz="1292" b="1" dirty="0">
                <a:solidFill>
                  <a:srgbClr val="2A2238"/>
                </a:solidFill>
                <a:latin typeface="Alexandria" pitchFamily="34" charset="0"/>
                <a:ea typeface="Alexandria" pitchFamily="34" charset="-122"/>
                <a:cs typeface="Alexandria" pitchFamily="34" charset="-120"/>
              </a:rPr>
              <a:t>1</a:t>
            </a:r>
            <a:endParaRPr lang="en-US" sz="1292" dirty="0"/>
          </a:p>
        </p:txBody>
      </p:sp>
      <p:sp>
        <p:nvSpPr>
          <p:cNvPr id="25" name="Text 22"/>
          <p:cNvSpPr txBox="1"/>
          <p:nvPr/>
        </p:nvSpPr>
        <p:spPr>
          <a:xfrm>
            <a:off x="1261872" y="2852928"/>
            <a:ext cx="2057400" cy="4572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Ballroom hội nghị + gala</a:t>
            </a:r>
            <a:endParaRPr lang="en-US" sz="1200" dirty="0"/>
          </a:p>
        </p:txBody>
      </p:sp>
      <p:sp>
        <p:nvSpPr>
          <p:cNvPr id="26" name="Shape 23"/>
          <p:cNvSpPr/>
          <p:nvPr/>
        </p:nvSpPr>
        <p:spPr>
          <a:xfrm>
            <a:off x="822960" y="3502152"/>
            <a:ext cx="347472" cy="347472"/>
          </a:xfrm>
          <a:prstGeom prst="ellipse">
            <a:avLst/>
          </a:prstGeom>
          <a:solidFill>
            <a:srgbClr val="09A1E5"/>
          </a:solidFill>
          <a:ln w="12700">
            <a:solidFill>
              <a:srgbClr val="09A1E5"/>
            </a:solidFill>
            <a:prstDash val="solid"/>
          </a:ln>
        </p:spPr>
      </p:sp>
      <p:sp>
        <p:nvSpPr>
          <p:cNvPr id="27" name="Text 24"/>
          <p:cNvSpPr txBox="1"/>
          <p:nvPr/>
        </p:nvSpPr>
        <p:spPr>
          <a:xfrm>
            <a:off x="822960" y="3502152"/>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Alexandria" pitchFamily="34" charset="0"/>
                <a:ea typeface="Alexandria" pitchFamily="34" charset="-122"/>
                <a:cs typeface="Alexandria" pitchFamily="34" charset="-120"/>
              </a:rPr>
              <a:t>2</a:t>
            </a:r>
            <a:endParaRPr lang="en-US" sz="1292" dirty="0"/>
          </a:p>
        </p:txBody>
      </p:sp>
      <p:sp>
        <p:nvSpPr>
          <p:cNvPr id="28" name="Text 25"/>
          <p:cNvSpPr txBox="1"/>
          <p:nvPr/>
        </p:nvSpPr>
        <p:spPr>
          <a:xfrm>
            <a:off x="1261872" y="3456432"/>
            <a:ext cx="2057400" cy="4572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80 phòng ngủ (11–12/12)</a:t>
            </a:r>
            <a:endParaRPr lang="en-US" sz="1200" dirty="0"/>
          </a:p>
        </p:txBody>
      </p:sp>
      <p:sp>
        <p:nvSpPr>
          <p:cNvPr id="29" name="Shape 26"/>
          <p:cNvSpPr/>
          <p:nvPr/>
        </p:nvSpPr>
        <p:spPr>
          <a:xfrm>
            <a:off x="822960" y="4105656"/>
            <a:ext cx="347472" cy="347472"/>
          </a:xfrm>
          <a:prstGeom prst="ellipse">
            <a:avLst/>
          </a:prstGeom>
          <a:solidFill>
            <a:srgbClr val="FF5178"/>
          </a:solidFill>
          <a:ln w="12700">
            <a:solidFill>
              <a:srgbClr val="FF5178"/>
            </a:solidFill>
            <a:prstDash val="solid"/>
          </a:ln>
        </p:spPr>
      </p:sp>
      <p:sp>
        <p:nvSpPr>
          <p:cNvPr id="30" name="Text 27"/>
          <p:cNvSpPr txBox="1"/>
          <p:nvPr/>
        </p:nvSpPr>
        <p:spPr>
          <a:xfrm>
            <a:off x="822960" y="4105656"/>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Alexandria" pitchFamily="34" charset="0"/>
                <a:ea typeface="Alexandria" pitchFamily="34" charset="-122"/>
                <a:cs typeface="Alexandria" pitchFamily="34" charset="-120"/>
              </a:rPr>
              <a:t>3</a:t>
            </a:r>
            <a:endParaRPr lang="en-US" sz="1292" dirty="0"/>
          </a:p>
        </p:txBody>
      </p:sp>
      <p:sp>
        <p:nvSpPr>
          <p:cNvPr id="31" name="Text 28"/>
          <p:cNvSpPr txBox="1"/>
          <p:nvPr/>
        </p:nvSpPr>
        <p:spPr>
          <a:xfrm>
            <a:off x="1261872" y="4059936"/>
            <a:ext cx="2057400" cy="4572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AV nội bộ khách sạn</a:t>
            </a:r>
            <a:endParaRPr lang="en-US" sz="1200" dirty="0"/>
          </a:p>
        </p:txBody>
      </p:sp>
      <p:sp>
        <p:nvSpPr>
          <p:cNvPr id="32" name="Shape 29"/>
          <p:cNvSpPr/>
          <p:nvPr/>
        </p:nvSpPr>
        <p:spPr>
          <a:xfrm>
            <a:off x="822960" y="4709160"/>
            <a:ext cx="347472" cy="347472"/>
          </a:xfrm>
          <a:prstGeom prst="ellipse">
            <a:avLst/>
          </a:prstGeom>
          <a:solidFill>
            <a:srgbClr val="962B7C"/>
          </a:solidFill>
          <a:ln w="12700">
            <a:solidFill>
              <a:srgbClr val="962B7C"/>
            </a:solidFill>
            <a:prstDash val="solid"/>
          </a:ln>
        </p:spPr>
      </p:sp>
      <p:sp>
        <p:nvSpPr>
          <p:cNvPr id="33" name="Text 30"/>
          <p:cNvSpPr txBox="1"/>
          <p:nvPr/>
        </p:nvSpPr>
        <p:spPr>
          <a:xfrm>
            <a:off x="822960" y="4709160"/>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Alexandria" pitchFamily="34" charset="0"/>
                <a:ea typeface="Alexandria" pitchFamily="34" charset="-122"/>
                <a:cs typeface="Alexandria" pitchFamily="34" charset="-120"/>
              </a:rPr>
              <a:t>4</a:t>
            </a:r>
            <a:endParaRPr lang="en-US" sz="1292" dirty="0"/>
          </a:p>
        </p:txBody>
      </p:sp>
      <p:sp>
        <p:nvSpPr>
          <p:cNvPr id="34" name="Text 31"/>
          <p:cNvSpPr txBox="1"/>
          <p:nvPr/>
        </p:nvSpPr>
        <p:spPr>
          <a:xfrm>
            <a:off x="1261872" y="4663440"/>
            <a:ext cx="2057400" cy="4572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Màn LED + sân khấu gala</a:t>
            </a:r>
            <a:endParaRPr lang="en-US" sz="1200" dirty="0"/>
          </a:p>
        </p:txBody>
      </p:sp>
      <p:sp>
        <p:nvSpPr>
          <p:cNvPr id="35" name="Shape 32"/>
          <p:cNvSpPr/>
          <p:nvPr/>
        </p:nvSpPr>
        <p:spPr>
          <a:xfrm>
            <a:off x="822960" y="5312664"/>
            <a:ext cx="347472" cy="347472"/>
          </a:xfrm>
          <a:prstGeom prst="ellipse">
            <a:avLst/>
          </a:prstGeom>
          <a:solidFill>
            <a:srgbClr val="49B296"/>
          </a:solidFill>
          <a:ln w="12700">
            <a:solidFill>
              <a:srgbClr val="49B296"/>
            </a:solidFill>
            <a:prstDash val="solid"/>
          </a:ln>
        </p:spPr>
      </p:sp>
      <p:sp>
        <p:nvSpPr>
          <p:cNvPr id="36" name="Text 33"/>
          <p:cNvSpPr txBox="1"/>
          <p:nvPr/>
        </p:nvSpPr>
        <p:spPr>
          <a:xfrm>
            <a:off x="822960" y="531266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Alexandria" pitchFamily="34" charset="0"/>
                <a:ea typeface="Alexandria" pitchFamily="34" charset="-122"/>
                <a:cs typeface="Alexandria" pitchFamily="34" charset="-120"/>
              </a:rPr>
              <a:t>5</a:t>
            </a:r>
            <a:endParaRPr lang="en-US" sz="1292" dirty="0"/>
          </a:p>
        </p:txBody>
      </p:sp>
      <p:sp>
        <p:nvSpPr>
          <p:cNvPr id="37" name="Text 34"/>
          <p:cNvSpPr txBox="1"/>
          <p:nvPr/>
        </p:nvSpPr>
        <p:spPr>
          <a:xfrm>
            <a:off x="1261872" y="5266944"/>
            <a:ext cx="2057400" cy="4572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F&amp;B gala 600 khách</a:t>
            </a:r>
            <a:endParaRPr lang="en-US" sz="1200" dirty="0"/>
          </a:p>
        </p:txBody>
      </p:sp>
      <p:sp>
        <p:nvSpPr>
          <p:cNvPr id="38" name="Shape 35"/>
          <p:cNvSpPr/>
          <p:nvPr/>
        </p:nvSpPr>
        <p:spPr>
          <a:xfrm>
            <a:off x="3383280" y="2898648"/>
            <a:ext cx="347472" cy="347472"/>
          </a:xfrm>
          <a:prstGeom prst="ellipse">
            <a:avLst/>
          </a:prstGeom>
          <a:solidFill>
            <a:srgbClr val="FF9259"/>
          </a:solidFill>
          <a:ln w="12700">
            <a:solidFill>
              <a:srgbClr val="FF9259"/>
            </a:solidFill>
            <a:prstDash val="solid"/>
          </a:ln>
        </p:spPr>
      </p:sp>
      <p:sp>
        <p:nvSpPr>
          <p:cNvPr id="39" name="Text 36"/>
          <p:cNvSpPr txBox="1"/>
          <p:nvPr/>
        </p:nvSpPr>
        <p:spPr>
          <a:xfrm>
            <a:off x="3383280" y="2898648"/>
            <a:ext cx="347472" cy="347472"/>
          </a:xfrm>
          <a:prstGeom prst="rect">
            <a:avLst/>
          </a:prstGeom>
          <a:noFill/>
          <a:ln/>
        </p:spPr>
        <p:txBody>
          <a:bodyPr wrap="square" lIns="0" tIns="0" rIns="0" bIns="0" rtlCol="0" anchor="ctr"/>
          <a:lstStyle/>
          <a:p>
            <a:pPr algn="ctr" indent="0" marL="0">
              <a:buNone/>
            </a:pPr>
            <a:r>
              <a:rPr lang="en-US" sz="1292" b="1" dirty="0">
                <a:solidFill>
                  <a:srgbClr val="2A2238"/>
                </a:solidFill>
                <a:latin typeface="Alexandria" pitchFamily="34" charset="0"/>
                <a:ea typeface="Alexandria" pitchFamily="34" charset="-122"/>
                <a:cs typeface="Alexandria" pitchFamily="34" charset="-120"/>
              </a:rPr>
              <a:t>6</a:t>
            </a:r>
            <a:endParaRPr lang="en-US" sz="1292" dirty="0"/>
          </a:p>
        </p:txBody>
      </p:sp>
      <p:sp>
        <p:nvSpPr>
          <p:cNvPr id="40" name="Text 37"/>
          <p:cNvSpPr txBox="1"/>
          <p:nvPr/>
        </p:nvSpPr>
        <p:spPr>
          <a:xfrm>
            <a:off x="3822192" y="2852928"/>
            <a:ext cx="2057400" cy="4572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Ca sĩ headline</a:t>
            </a:r>
            <a:endParaRPr lang="en-US" sz="1200" dirty="0"/>
          </a:p>
        </p:txBody>
      </p:sp>
      <p:sp>
        <p:nvSpPr>
          <p:cNvPr id="41" name="Shape 38"/>
          <p:cNvSpPr/>
          <p:nvPr/>
        </p:nvSpPr>
        <p:spPr>
          <a:xfrm>
            <a:off x="3383280" y="3502152"/>
            <a:ext cx="347472" cy="347472"/>
          </a:xfrm>
          <a:prstGeom prst="ellipse">
            <a:avLst/>
          </a:prstGeom>
          <a:solidFill>
            <a:srgbClr val="09A1E5"/>
          </a:solidFill>
          <a:ln w="12700">
            <a:solidFill>
              <a:srgbClr val="09A1E5"/>
            </a:solidFill>
            <a:prstDash val="solid"/>
          </a:ln>
        </p:spPr>
      </p:sp>
      <p:sp>
        <p:nvSpPr>
          <p:cNvPr id="42" name="Text 39"/>
          <p:cNvSpPr txBox="1"/>
          <p:nvPr/>
        </p:nvSpPr>
        <p:spPr>
          <a:xfrm>
            <a:off x="3383280" y="3502152"/>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Alexandria" pitchFamily="34" charset="0"/>
                <a:ea typeface="Alexandria" pitchFamily="34" charset="-122"/>
                <a:cs typeface="Alexandria" pitchFamily="34" charset="-120"/>
              </a:rPr>
              <a:t>7</a:t>
            </a:r>
            <a:endParaRPr lang="en-US" sz="1292" dirty="0"/>
          </a:p>
        </p:txBody>
      </p:sp>
      <p:sp>
        <p:nvSpPr>
          <p:cNvPr id="43" name="Text 40"/>
          <p:cNvSpPr txBox="1"/>
          <p:nvPr/>
        </p:nvSpPr>
        <p:spPr>
          <a:xfrm>
            <a:off x="3822192" y="3456432"/>
            <a:ext cx="2057400" cy="4572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In ấn</a:t>
            </a:r>
            <a:endParaRPr lang="en-US" sz="1200" dirty="0"/>
          </a:p>
        </p:txBody>
      </p:sp>
      <p:sp>
        <p:nvSpPr>
          <p:cNvPr id="44" name="Shape 41"/>
          <p:cNvSpPr/>
          <p:nvPr/>
        </p:nvSpPr>
        <p:spPr>
          <a:xfrm>
            <a:off x="3383280" y="4105656"/>
            <a:ext cx="347472" cy="347472"/>
          </a:xfrm>
          <a:prstGeom prst="ellipse">
            <a:avLst/>
          </a:prstGeom>
          <a:solidFill>
            <a:srgbClr val="FF5178"/>
          </a:solidFill>
          <a:ln w="12700">
            <a:solidFill>
              <a:srgbClr val="FF5178"/>
            </a:solidFill>
            <a:prstDash val="solid"/>
          </a:ln>
        </p:spPr>
      </p:sp>
      <p:sp>
        <p:nvSpPr>
          <p:cNvPr id="45" name="Text 42"/>
          <p:cNvSpPr txBox="1"/>
          <p:nvPr/>
        </p:nvSpPr>
        <p:spPr>
          <a:xfrm>
            <a:off x="3383280" y="4105656"/>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Alexandria" pitchFamily="34" charset="0"/>
                <a:ea typeface="Alexandria" pitchFamily="34" charset="-122"/>
                <a:cs typeface="Alexandria" pitchFamily="34" charset="-120"/>
              </a:rPr>
              <a:t>8</a:t>
            </a:r>
            <a:endParaRPr lang="en-US" sz="1292" dirty="0"/>
          </a:p>
        </p:txBody>
      </p:sp>
      <p:sp>
        <p:nvSpPr>
          <p:cNvPr id="46" name="Text 43"/>
          <p:cNvSpPr txBox="1"/>
          <p:nvPr/>
        </p:nvSpPr>
        <p:spPr>
          <a:xfrm>
            <a:off x="3822192" y="4059936"/>
            <a:ext cx="2057400" cy="4572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Xe đưa đón sân bay</a:t>
            </a:r>
            <a:endParaRPr lang="en-US" sz="1200" dirty="0"/>
          </a:p>
        </p:txBody>
      </p:sp>
      <p:sp>
        <p:nvSpPr>
          <p:cNvPr id="47" name="Shape 44"/>
          <p:cNvSpPr/>
          <p:nvPr/>
        </p:nvSpPr>
        <p:spPr>
          <a:xfrm>
            <a:off x="3383280" y="4709160"/>
            <a:ext cx="347472" cy="347472"/>
          </a:xfrm>
          <a:prstGeom prst="ellipse">
            <a:avLst/>
          </a:prstGeom>
          <a:solidFill>
            <a:srgbClr val="962B7C"/>
          </a:solidFill>
          <a:ln w="12700">
            <a:solidFill>
              <a:srgbClr val="962B7C"/>
            </a:solidFill>
            <a:prstDash val="solid"/>
          </a:ln>
        </p:spPr>
      </p:sp>
      <p:sp>
        <p:nvSpPr>
          <p:cNvPr id="48" name="Text 45"/>
          <p:cNvSpPr txBox="1"/>
          <p:nvPr/>
        </p:nvSpPr>
        <p:spPr>
          <a:xfrm>
            <a:off x="3383280" y="4709160"/>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Alexandria" pitchFamily="34" charset="0"/>
                <a:ea typeface="Alexandria" pitchFamily="34" charset="-122"/>
                <a:cs typeface="Alexandria" pitchFamily="34" charset="-120"/>
              </a:rPr>
              <a:t>9</a:t>
            </a:r>
            <a:endParaRPr lang="en-US" sz="1292" dirty="0"/>
          </a:p>
        </p:txBody>
      </p:sp>
      <p:sp>
        <p:nvSpPr>
          <p:cNvPr id="49" name="Text 46"/>
          <p:cNvSpPr txBox="1"/>
          <p:nvPr/>
        </p:nvSpPr>
        <p:spPr>
          <a:xfrm>
            <a:off x="3822192" y="4663440"/>
            <a:ext cx="2057400" cy="4572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Quà VIP 600 phần</a:t>
            </a:r>
            <a:endParaRPr lang="en-US" sz="1200" dirty="0"/>
          </a:p>
        </p:txBody>
      </p:sp>
      <p:sp>
        <p:nvSpPr>
          <p:cNvPr id="50" name="Shape 47"/>
          <p:cNvSpPr/>
          <p:nvPr/>
        </p:nvSpPr>
        <p:spPr>
          <a:xfrm>
            <a:off x="3383280" y="5312664"/>
            <a:ext cx="347472" cy="347472"/>
          </a:xfrm>
          <a:prstGeom prst="ellipse">
            <a:avLst/>
          </a:prstGeom>
          <a:solidFill>
            <a:srgbClr val="49B296"/>
          </a:solidFill>
          <a:ln w="12700">
            <a:solidFill>
              <a:srgbClr val="49B296"/>
            </a:solidFill>
            <a:prstDash val="solid"/>
          </a:ln>
        </p:spPr>
      </p:sp>
      <p:sp>
        <p:nvSpPr>
          <p:cNvPr id="51" name="Text 48"/>
          <p:cNvSpPr txBox="1"/>
          <p:nvPr/>
        </p:nvSpPr>
        <p:spPr>
          <a:xfrm>
            <a:off x="3383280" y="531266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Alexandria" pitchFamily="34" charset="0"/>
                <a:ea typeface="Alexandria" pitchFamily="34" charset="-122"/>
                <a:cs typeface="Alexandria" pitchFamily="34" charset="-120"/>
              </a:rPr>
              <a:t>10</a:t>
            </a:r>
            <a:endParaRPr lang="en-US" sz="1292" dirty="0"/>
          </a:p>
        </p:txBody>
      </p:sp>
      <p:sp>
        <p:nvSpPr>
          <p:cNvPr id="52" name="Text 49"/>
          <p:cNvSpPr txBox="1"/>
          <p:nvPr/>
        </p:nvSpPr>
        <p:spPr>
          <a:xfrm>
            <a:off x="3822192" y="5266944"/>
            <a:ext cx="2057400" cy="4572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Quay phim + livestream</a:t>
            </a:r>
            <a:endParaRPr lang="en-US" sz="1200" dirty="0"/>
          </a:p>
        </p:txBody>
      </p:sp>
      <p:sp>
        <p:nvSpPr>
          <p:cNvPr id="53" name="Shape 50"/>
          <p:cNvSpPr/>
          <p:nvPr/>
        </p:nvSpPr>
        <p:spPr>
          <a:xfrm>
            <a:off x="6217920" y="2359152"/>
            <a:ext cx="731520" cy="731520"/>
          </a:xfrm>
          <a:prstGeom prst="ellipse">
            <a:avLst/>
          </a:prstGeom>
          <a:solidFill>
            <a:srgbClr val="FF9259"/>
          </a:solidFill>
          <a:ln w="12700">
            <a:solidFill>
              <a:srgbClr val="FF9259"/>
            </a:solidFill>
            <a:prstDash val="solid"/>
          </a:ln>
        </p:spPr>
      </p:sp>
      <p:sp>
        <p:nvSpPr>
          <p:cNvPr id="54" name="Text 51"/>
          <p:cNvSpPr txBox="1"/>
          <p:nvPr/>
        </p:nvSpPr>
        <p:spPr>
          <a:xfrm>
            <a:off x="6217920" y="2359152"/>
            <a:ext cx="731520" cy="731520"/>
          </a:xfrm>
          <a:prstGeom prst="rect">
            <a:avLst/>
          </a:prstGeom>
          <a:noFill/>
          <a:ln/>
        </p:spPr>
        <p:txBody>
          <a:bodyPr wrap="square" lIns="0" tIns="0" rIns="0" bIns="0" rtlCol="0" anchor="ctr"/>
          <a:lstStyle/>
          <a:p>
            <a:pPr algn="ctr" indent="0" marL="0">
              <a:buNone/>
            </a:pPr>
            <a:r>
              <a:rPr lang="en-US" sz="2720" b="1" dirty="0">
                <a:solidFill>
                  <a:srgbClr val="2A2238"/>
                </a:solidFill>
                <a:latin typeface="Alexandria" pitchFamily="34" charset="0"/>
                <a:ea typeface="Alexandria" pitchFamily="34" charset="-122"/>
                <a:cs typeface="Alexandria" pitchFamily="34" charset="-120"/>
              </a:rPr>
              <a:t>10’</a:t>
            </a:r>
            <a:endParaRPr lang="en-US" sz="2720" dirty="0"/>
          </a:p>
        </p:txBody>
      </p:sp>
      <p:sp>
        <p:nvSpPr>
          <p:cNvPr id="55" name="Text 52"/>
          <p:cNvSpPr txBox="1"/>
          <p:nvPr/>
        </p:nvSpPr>
        <p:spPr>
          <a:xfrm>
            <a:off x="7132320" y="2286000"/>
            <a:ext cx="4510735"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Chấm profit impact &amp; supply risk (1–5), xếp vào ma trận trên giấy A1</a:t>
            </a:r>
            <a:endParaRPr lang="en-US" sz="1400" dirty="0"/>
          </a:p>
        </p:txBody>
      </p:sp>
      <p:sp>
        <p:nvSpPr>
          <p:cNvPr id="56" name="Shape 53"/>
          <p:cNvSpPr/>
          <p:nvPr/>
        </p:nvSpPr>
        <p:spPr>
          <a:xfrm>
            <a:off x="6217920" y="3364992"/>
            <a:ext cx="731520" cy="731520"/>
          </a:xfrm>
          <a:prstGeom prst="ellipse">
            <a:avLst/>
          </a:prstGeom>
          <a:solidFill>
            <a:srgbClr val="962B7C"/>
          </a:solidFill>
          <a:ln w="12700">
            <a:solidFill>
              <a:srgbClr val="962B7C"/>
            </a:solidFill>
            <a:prstDash val="solid"/>
          </a:ln>
        </p:spPr>
      </p:sp>
      <p:sp>
        <p:nvSpPr>
          <p:cNvPr id="57" name="Text 54"/>
          <p:cNvSpPr txBox="1"/>
          <p:nvPr/>
        </p:nvSpPr>
        <p:spPr>
          <a:xfrm>
            <a:off x="6217920" y="3364992"/>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Alexandria" pitchFamily="34" charset="0"/>
                <a:ea typeface="Alexandria" pitchFamily="34" charset="-122"/>
                <a:cs typeface="Alexandria" pitchFamily="34" charset="-120"/>
              </a:rPr>
              <a:t>6’</a:t>
            </a:r>
            <a:endParaRPr lang="en-US" sz="2720" dirty="0"/>
          </a:p>
        </p:txBody>
      </p:sp>
      <p:sp>
        <p:nvSpPr>
          <p:cNvPr id="58" name="Text 55"/>
          <p:cNvSpPr txBox="1"/>
          <p:nvPr/>
        </p:nvSpPr>
        <p:spPr>
          <a:xfrm>
            <a:off x="7132320" y="3291840"/>
            <a:ext cx="4510735"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Chọn 3 hạng mục ở 3 ô: vị thế nhà cung cấp + 1 hành động (Procurement hay Buying?)</a:t>
            </a:r>
            <a:endParaRPr lang="en-US" sz="1400" dirty="0"/>
          </a:p>
        </p:txBody>
      </p:sp>
      <p:sp>
        <p:nvSpPr>
          <p:cNvPr id="59" name="Shape 56"/>
          <p:cNvSpPr/>
          <p:nvPr/>
        </p:nvSpPr>
        <p:spPr>
          <a:xfrm>
            <a:off x="6217920" y="4370832"/>
            <a:ext cx="731520" cy="731520"/>
          </a:xfrm>
          <a:prstGeom prst="ellipse">
            <a:avLst/>
          </a:prstGeom>
          <a:solidFill>
            <a:srgbClr val="09A1E5"/>
          </a:solidFill>
          <a:ln w="12700">
            <a:solidFill>
              <a:srgbClr val="09A1E5"/>
            </a:solidFill>
            <a:prstDash val="solid"/>
          </a:ln>
        </p:spPr>
      </p:sp>
      <p:sp>
        <p:nvSpPr>
          <p:cNvPr id="60" name="Text 57"/>
          <p:cNvSpPr txBox="1"/>
          <p:nvPr/>
        </p:nvSpPr>
        <p:spPr>
          <a:xfrm>
            <a:off x="6217920" y="4370832"/>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Alexandria" pitchFamily="34" charset="0"/>
                <a:ea typeface="Alexandria" pitchFamily="34" charset="-122"/>
                <a:cs typeface="Alexandria" pitchFamily="34" charset="-120"/>
              </a:rPr>
              <a:t>4’</a:t>
            </a:r>
            <a:endParaRPr lang="en-US" sz="2720" dirty="0"/>
          </a:p>
        </p:txBody>
      </p:sp>
      <p:sp>
        <p:nvSpPr>
          <p:cNvPr id="61" name="Text 58"/>
          <p:cNvSpPr txBox="1"/>
          <p:nvPr/>
        </p:nvSpPr>
        <p:spPr>
          <a:xfrm>
            <a:off x="7132320" y="4297680"/>
            <a:ext cx="4510735"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Nếu dời sang 15/4: đánh dấu ➜ hạng mục đổi ô, kèm 1 câu lý do</a:t>
            </a:r>
            <a:endParaRPr lang="en-US" sz="1400" dirty="0"/>
          </a:p>
        </p:txBody>
      </p:sp>
      <p:sp>
        <p:nvSpPr>
          <p:cNvPr id="62" name="Shape 59"/>
          <p:cNvSpPr/>
          <p:nvPr/>
        </p:nvSpPr>
        <p:spPr>
          <a:xfrm>
            <a:off x="6217920" y="5394960"/>
            <a:ext cx="5425135" cy="731520"/>
          </a:xfrm>
          <a:prstGeom prst="roundRect">
            <a:avLst>
              <a:gd name="adj" fmla="val 15000"/>
            </a:avLst>
          </a:prstGeom>
          <a:solidFill>
            <a:srgbClr val="FFE4EA"/>
          </a:solidFill>
          <a:ln w="12700">
            <a:solidFill>
              <a:srgbClr val="FF5178"/>
            </a:solidFill>
            <a:prstDash val="solid"/>
          </a:ln>
        </p:spPr>
      </p:sp>
      <p:sp>
        <p:nvSpPr>
          <p:cNvPr id="63" name="Text 60"/>
          <p:cNvSpPr txBox="1"/>
          <p:nvPr/>
        </p:nvSpPr>
        <p:spPr>
          <a:xfrm>
            <a:off x="6446520" y="5394960"/>
            <a:ext cx="4967935" cy="7315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Xếp HẠNG MỤC, không xếp tên công ty — một khách sạn có thể ở nhiều ô.</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3840480" y="1554480"/>
            <a:ext cx="548640" cy="548640"/>
          </a:xfrm>
          <a:prstGeom prst="ellipse">
            <a:avLst/>
          </a:prstGeom>
          <a:solidFill>
            <a:srgbClr val="FF9259"/>
          </a:solidFill>
          <a:ln w="12700">
            <a:solidFill>
              <a:srgbClr val="FF9259"/>
            </a:solidFill>
            <a:prstDash val="solid"/>
          </a:ln>
        </p:spPr>
      </p:sp>
      <p:sp>
        <p:nvSpPr>
          <p:cNvPr id="3" name="Shape 1"/>
          <p:cNvSpPr/>
          <p:nvPr/>
        </p:nvSpPr>
        <p:spPr>
          <a:xfrm>
            <a:off x="4617720" y="1554480"/>
            <a:ext cx="548640" cy="548640"/>
          </a:xfrm>
          <a:prstGeom prst="ellipse">
            <a:avLst/>
          </a:prstGeom>
          <a:solidFill>
            <a:srgbClr val="FFD23B"/>
          </a:solidFill>
          <a:ln w="12700">
            <a:solidFill>
              <a:srgbClr val="FFD23B"/>
            </a:solidFill>
            <a:prstDash val="solid"/>
          </a:ln>
        </p:spPr>
      </p:sp>
      <p:sp>
        <p:nvSpPr>
          <p:cNvPr id="4" name="Shape 2"/>
          <p:cNvSpPr/>
          <p:nvPr/>
        </p:nvSpPr>
        <p:spPr>
          <a:xfrm>
            <a:off x="5394960" y="1554480"/>
            <a:ext cx="548640" cy="548640"/>
          </a:xfrm>
          <a:prstGeom prst="ellipse">
            <a:avLst/>
          </a:prstGeom>
          <a:solidFill>
            <a:srgbClr val="49B296"/>
          </a:solidFill>
          <a:ln w="12700">
            <a:solidFill>
              <a:srgbClr val="49B296"/>
            </a:solidFill>
            <a:prstDash val="solid"/>
          </a:ln>
        </p:spPr>
      </p:sp>
      <p:sp>
        <p:nvSpPr>
          <p:cNvPr id="5" name="Shape 3"/>
          <p:cNvSpPr/>
          <p:nvPr/>
        </p:nvSpPr>
        <p:spPr>
          <a:xfrm>
            <a:off x="6172200" y="1554480"/>
            <a:ext cx="548640" cy="548640"/>
          </a:xfrm>
          <a:prstGeom prst="ellipse">
            <a:avLst/>
          </a:prstGeom>
          <a:solidFill>
            <a:srgbClr val="09A1E5"/>
          </a:solidFill>
          <a:ln w="12700">
            <a:solidFill>
              <a:srgbClr val="09A1E5"/>
            </a:solidFill>
            <a:prstDash val="solid"/>
          </a:ln>
        </p:spPr>
      </p:sp>
      <p:sp>
        <p:nvSpPr>
          <p:cNvPr id="6" name="Shape 4"/>
          <p:cNvSpPr/>
          <p:nvPr/>
        </p:nvSpPr>
        <p:spPr>
          <a:xfrm>
            <a:off x="6949440" y="1554480"/>
            <a:ext cx="548640" cy="548640"/>
          </a:xfrm>
          <a:prstGeom prst="ellipse">
            <a:avLst/>
          </a:prstGeom>
          <a:solidFill>
            <a:srgbClr val="962B7C"/>
          </a:solidFill>
          <a:ln w="12700">
            <a:solidFill>
              <a:srgbClr val="962B7C"/>
            </a:solidFill>
            <a:prstDash val="solid"/>
          </a:ln>
        </p:spPr>
      </p:sp>
      <p:sp>
        <p:nvSpPr>
          <p:cNvPr id="7" name="Shape 5"/>
          <p:cNvSpPr/>
          <p:nvPr/>
        </p:nvSpPr>
        <p:spPr>
          <a:xfrm>
            <a:off x="7726680" y="1554480"/>
            <a:ext cx="548640" cy="548640"/>
          </a:xfrm>
          <a:prstGeom prst="ellipse">
            <a:avLst/>
          </a:prstGeom>
          <a:solidFill>
            <a:srgbClr val="FF5178"/>
          </a:solidFill>
          <a:ln w="12700">
            <a:solidFill>
              <a:srgbClr val="FF5178"/>
            </a:solidFill>
            <a:prstDash val="solid"/>
          </a:ln>
        </p:spPr>
      </p:sp>
      <p:sp>
        <p:nvSpPr>
          <p:cNvPr id="8" name="Text 6"/>
          <p:cNvSpPr txBox="1"/>
          <p:nvPr/>
        </p:nvSpPr>
        <p:spPr>
          <a:xfrm>
            <a:off x="548640" y="2468880"/>
            <a:ext cx="11094415" cy="1097280"/>
          </a:xfrm>
          <a:prstGeom prst="rect">
            <a:avLst/>
          </a:prstGeom>
          <a:noFill/>
          <a:ln/>
        </p:spPr>
        <p:txBody>
          <a:bodyPr wrap="square" lIns="0" tIns="0" rIns="0" bIns="0" rtlCol="0" anchor="ctr"/>
          <a:lstStyle/>
          <a:p>
            <a:pPr algn="ctr" indent="0" marL="0">
              <a:buNone/>
            </a:pPr>
            <a:r>
              <a:rPr lang="en-US" sz="5400" b="1" dirty="0">
                <a:solidFill>
                  <a:srgbClr val="2A2238"/>
                </a:solidFill>
                <a:latin typeface="Alexandria" pitchFamily="34" charset="0"/>
                <a:ea typeface="Alexandria" pitchFamily="34" charset="-122"/>
                <a:cs typeface="Alexandria" pitchFamily="34" charset="-120"/>
              </a:rPr>
              <a:t>Giải lao 8 phút</a:t>
            </a:r>
            <a:endParaRPr lang="en-US" sz="5400" dirty="0"/>
          </a:p>
        </p:txBody>
      </p:sp>
      <p:sp>
        <p:nvSpPr>
          <p:cNvPr id="9" name="Text 7"/>
          <p:cNvSpPr txBox="1"/>
          <p:nvPr/>
        </p:nvSpPr>
        <p:spPr>
          <a:xfrm>
            <a:off x="548640" y="3749040"/>
            <a:ext cx="11094415" cy="640080"/>
          </a:xfrm>
          <a:prstGeom prst="rect">
            <a:avLst/>
          </a:prstGeom>
          <a:noFill/>
          <a:ln/>
        </p:spPr>
        <p:txBody>
          <a:bodyPr wrap="square" lIns="0" tIns="0" rIns="0" bIns="0" rtlCol="0" anchor="ctr"/>
          <a:lstStyle/>
          <a:p>
            <a:pPr algn="ctr" indent="0" marL="0">
              <a:buNone/>
            </a:pPr>
            <a:r>
              <a:rPr lang="en-US" sz="2600" dirty="0">
                <a:solidFill>
                  <a:srgbClr val="962B7C"/>
                </a:solidFill>
                <a:latin typeface="Alexandria" pitchFamily="34" charset="0"/>
                <a:ea typeface="Alexandria" pitchFamily="34" charset="-122"/>
                <a:cs typeface="Alexandria" pitchFamily="34" charset="-120"/>
              </a:rPr>
              <a:t>Quay lại lúc  ____ : ____</a:t>
            </a:r>
            <a:endParaRPr lang="en-US" sz="2600" dirty="0"/>
          </a:p>
        </p:txBody>
      </p:sp>
      <p:sp>
        <p:nvSpPr>
          <p:cNvPr id="10" name="Text 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Nova làm 40 sự kiện một năm — không thể đi mua từ đầu mỗi lần</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15</a:t>
            </a:r>
            <a:endParaRPr lang="en-US" sz="1000" dirty="0"/>
          </a:p>
        </p:txBody>
      </p:sp>
      <p:sp>
        <p:nvSpPr>
          <p:cNvPr id="19" name="Shape 16"/>
          <p:cNvSpPr/>
          <p:nvPr/>
        </p:nvSpPr>
        <p:spPr>
          <a:xfrm>
            <a:off x="640080" y="2286000"/>
            <a:ext cx="420624" cy="420624"/>
          </a:xfrm>
          <a:prstGeom prst="ellipse">
            <a:avLst/>
          </a:prstGeom>
          <a:solidFill>
            <a:srgbClr val="FF9259"/>
          </a:solidFill>
          <a:ln w="12700">
            <a:solidFill>
              <a:srgbClr val="FF9259"/>
            </a:solidFill>
            <a:prstDash val="solid"/>
          </a:ln>
        </p:spPr>
      </p:sp>
      <p:sp>
        <p:nvSpPr>
          <p:cNvPr id="20" name="Shape 17"/>
          <p:cNvSpPr/>
          <p:nvPr/>
        </p:nvSpPr>
        <p:spPr>
          <a:xfrm>
            <a:off x="1188720" y="2286000"/>
            <a:ext cx="420624" cy="420624"/>
          </a:xfrm>
          <a:prstGeom prst="ellipse">
            <a:avLst/>
          </a:prstGeom>
          <a:solidFill>
            <a:srgbClr val="09A1E5"/>
          </a:solidFill>
          <a:ln w="12700">
            <a:solidFill>
              <a:srgbClr val="09A1E5"/>
            </a:solidFill>
            <a:prstDash val="solid"/>
          </a:ln>
        </p:spPr>
      </p:sp>
      <p:sp>
        <p:nvSpPr>
          <p:cNvPr id="21" name="Shape 18"/>
          <p:cNvSpPr/>
          <p:nvPr/>
        </p:nvSpPr>
        <p:spPr>
          <a:xfrm>
            <a:off x="1737360" y="2286000"/>
            <a:ext cx="420624" cy="420624"/>
          </a:xfrm>
          <a:prstGeom prst="ellipse">
            <a:avLst/>
          </a:prstGeom>
          <a:solidFill>
            <a:srgbClr val="49B296"/>
          </a:solidFill>
          <a:ln w="12700">
            <a:solidFill>
              <a:srgbClr val="49B296"/>
            </a:solidFill>
            <a:prstDash val="solid"/>
          </a:ln>
        </p:spPr>
      </p:sp>
      <p:sp>
        <p:nvSpPr>
          <p:cNvPr id="22" name="Shape 19"/>
          <p:cNvSpPr/>
          <p:nvPr/>
        </p:nvSpPr>
        <p:spPr>
          <a:xfrm>
            <a:off x="2286000" y="2286000"/>
            <a:ext cx="420624" cy="420624"/>
          </a:xfrm>
          <a:prstGeom prst="ellipse">
            <a:avLst/>
          </a:prstGeom>
          <a:solidFill>
            <a:srgbClr val="962B7C"/>
          </a:solidFill>
          <a:ln w="12700">
            <a:solidFill>
              <a:srgbClr val="962B7C"/>
            </a:solidFill>
            <a:prstDash val="solid"/>
          </a:ln>
        </p:spPr>
      </p:sp>
      <p:sp>
        <p:nvSpPr>
          <p:cNvPr id="23" name="Shape 20"/>
          <p:cNvSpPr/>
          <p:nvPr/>
        </p:nvSpPr>
        <p:spPr>
          <a:xfrm>
            <a:off x="2834640" y="2286000"/>
            <a:ext cx="420624" cy="420624"/>
          </a:xfrm>
          <a:prstGeom prst="ellipse">
            <a:avLst/>
          </a:prstGeom>
          <a:solidFill>
            <a:srgbClr val="FF5178"/>
          </a:solidFill>
          <a:ln w="12700">
            <a:solidFill>
              <a:srgbClr val="FF5178"/>
            </a:solidFill>
            <a:prstDash val="solid"/>
          </a:ln>
        </p:spPr>
      </p:sp>
      <p:sp>
        <p:nvSpPr>
          <p:cNvPr id="24" name="Shape 21"/>
          <p:cNvSpPr/>
          <p:nvPr/>
        </p:nvSpPr>
        <p:spPr>
          <a:xfrm>
            <a:off x="3383280" y="2286000"/>
            <a:ext cx="420624" cy="420624"/>
          </a:xfrm>
          <a:prstGeom prst="ellipse">
            <a:avLst/>
          </a:prstGeom>
          <a:solidFill>
            <a:srgbClr val="FFD23B"/>
          </a:solidFill>
          <a:ln w="12700">
            <a:solidFill>
              <a:srgbClr val="FFD23B"/>
            </a:solidFill>
            <a:prstDash val="solid"/>
          </a:ln>
        </p:spPr>
      </p:sp>
      <p:sp>
        <p:nvSpPr>
          <p:cNvPr id="25" name="Shape 22"/>
          <p:cNvSpPr/>
          <p:nvPr/>
        </p:nvSpPr>
        <p:spPr>
          <a:xfrm>
            <a:off x="3931920" y="2286000"/>
            <a:ext cx="420624" cy="420624"/>
          </a:xfrm>
          <a:prstGeom prst="ellipse">
            <a:avLst/>
          </a:prstGeom>
          <a:solidFill>
            <a:srgbClr val="FF9259"/>
          </a:solidFill>
          <a:ln w="12700">
            <a:solidFill>
              <a:srgbClr val="FF9259"/>
            </a:solidFill>
            <a:prstDash val="solid"/>
          </a:ln>
        </p:spPr>
      </p:sp>
      <p:sp>
        <p:nvSpPr>
          <p:cNvPr id="26" name="Shape 23"/>
          <p:cNvSpPr/>
          <p:nvPr/>
        </p:nvSpPr>
        <p:spPr>
          <a:xfrm>
            <a:off x="4480560" y="2286000"/>
            <a:ext cx="420624" cy="420624"/>
          </a:xfrm>
          <a:prstGeom prst="ellipse">
            <a:avLst/>
          </a:prstGeom>
          <a:solidFill>
            <a:srgbClr val="09A1E5"/>
          </a:solidFill>
          <a:ln w="12700">
            <a:solidFill>
              <a:srgbClr val="09A1E5"/>
            </a:solidFill>
            <a:prstDash val="solid"/>
          </a:ln>
        </p:spPr>
      </p:sp>
      <p:sp>
        <p:nvSpPr>
          <p:cNvPr id="27" name="Shape 24"/>
          <p:cNvSpPr/>
          <p:nvPr/>
        </p:nvSpPr>
        <p:spPr>
          <a:xfrm>
            <a:off x="5029200" y="2286000"/>
            <a:ext cx="420624" cy="420624"/>
          </a:xfrm>
          <a:prstGeom prst="ellipse">
            <a:avLst/>
          </a:prstGeom>
          <a:solidFill>
            <a:srgbClr val="49B296"/>
          </a:solidFill>
          <a:ln w="12700">
            <a:solidFill>
              <a:srgbClr val="49B296"/>
            </a:solidFill>
            <a:prstDash val="solid"/>
          </a:ln>
        </p:spPr>
      </p:sp>
      <p:sp>
        <p:nvSpPr>
          <p:cNvPr id="28" name="Shape 25"/>
          <p:cNvSpPr/>
          <p:nvPr/>
        </p:nvSpPr>
        <p:spPr>
          <a:xfrm>
            <a:off x="5577840" y="2286000"/>
            <a:ext cx="420624" cy="420624"/>
          </a:xfrm>
          <a:prstGeom prst="ellipse">
            <a:avLst/>
          </a:prstGeom>
          <a:solidFill>
            <a:srgbClr val="962B7C"/>
          </a:solidFill>
          <a:ln w="12700">
            <a:solidFill>
              <a:srgbClr val="962B7C"/>
            </a:solidFill>
            <a:prstDash val="solid"/>
          </a:ln>
        </p:spPr>
      </p:sp>
      <p:sp>
        <p:nvSpPr>
          <p:cNvPr id="29" name="Shape 26"/>
          <p:cNvSpPr/>
          <p:nvPr/>
        </p:nvSpPr>
        <p:spPr>
          <a:xfrm>
            <a:off x="640080" y="2944368"/>
            <a:ext cx="420624" cy="420624"/>
          </a:xfrm>
          <a:prstGeom prst="ellipse">
            <a:avLst/>
          </a:prstGeom>
          <a:solidFill>
            <a:srgbClr val="962B7C"/>
          </a:solidFill>
          <a:ln w="12700">
            <a:solidFill>
              <a:srgbClr val="962B7C"/>
            </a:solidFill>
            <a:prstDash val="solid"/>
          </a:ln>
        </p:spPr>
      </p:sp>
      <p:sp>
        <p:nvSpPr>
          <p:cNvPr id="30" name="Shape 27"/>
          <p:cNvSpPr/>
          <p:nvPr/>
        </p:nvSpPr>
        <p:spPr>
          <a:xfrm>
            <a:off x="1188720" y="2944368"/>
            <a:ext cx="420624" cy="420624"/>
          </a:xfrm>
          <a:prstGeom prst="ellipse">
            <a:avLst/>
          </a:prstGeom>
          <a:solidFill>
            <a:srgbClr val="FF5178"/>
          </a:solidFill>
          <a:ln w="12700">
            <a:solidFill>
              <a:srgbClr val="FF5178"/>
            </a:solidFill>
            <a:prstDash val="solid"/>
          </a:ln>
        </p:spPr>
      </p:sp>
      <p:sp>
        <p:nvSpPr>
          <p:cNvPr id="31" name="Shape 28"/>
          <p:cNvSpPr/>
          <p:nvPr/>
        </p:nvSpPr>
        <p:spPr>
          <a:xfrm>
            <a:off x="1737360" y="2944368"/>
            <a:ext cx="420624" cy="420624"/>
          </a:xfrm>
          <a:prstGeom prst="ellipse">
            <a:avLst/>
          </a:prstGeom>
          <a:solidFill>
            <a:srgbClr val="FFD23B"/>
          </a:solidFill>
          <a:ln w="12700">
            <a:solidFill>
              <a:srgbClr val="FFD23B"/>
            </a:solidFill>
            <a:prstDash val="solid"/>
          </a:ln>
        </p:spPr>
      </p:sp>
      <p:sp>
        <p:nvSpPr>
          <p:cNvPr id="32" name="Shape 29"/>
          <p:cNvSpPr/>
          <p:nvPr/>
        </p:nvSpPr>
        <p:spPr>
          <a:xfrm>
            <a:off x="2286000" y="2944368"/>
            <a:ext cx="420624" cy="420624"/>
          </a:xfrm>
          <a:prstGeom prst="ellipse">
            <a:avLst/>
          </a:prstGeom>
          <a:solidFill>
            <a:srgbClr val="FF9259"/>
          </a:solidFill>
          <a:ln w="12700">
            <a:solidFill>
              <a:srgbClr val="FF9259"/>
            </a:solidFill>
            <a:prstDash val="solid"/>
          </a:ln>
        </p:spPr>
      </p:sp>
      <p:sp>
        <p:nvSpPr>
          <p:cNvPr id="33" name="Shape 30"/>
          <p:cNvSpPr/>
          <p:nvPr/>
        </p:nvSpPr>
        <p:spPr>
          <a:xfrm>
            <a:off x="2834640" y="2944368"/>
            <a:ext cx="420624" cy="420624"/>
          </a:xfrm>
          <a:prstGeom prst="ellipse">
            <a:avLst/>
          </a:prstGeom>
          <a:solidFill>
            <a:srgbClr val="09A1E5"/>
          </a:solidFill>
          <a:ln w="12700">
            <a:solidFill>
              <a:srgbClr val="09A1E5"/>
            </a:solidFill>
            <a:prstDash val="solid"/>
          </a:ln>
        </p:spPr>
      </p:sp>
      <p:sp>
        <p:nvSpPr>
          <p:cNvPr id="34" name="Shape 31"/>
          <p:cNvSpPr/>
          <p:nvPr/>
        </p:nvSpPr>
        <p:spPr>
          <a:xfrm>
            <a:off x="3383280" y="2944368"/>
            <a:ext cx="420624" cy="420624"/>
          </a:xfrm>
          <a:prstGeom prst="ellipse">
            <a:avLst/>
          </a:prstGeom>
          <a:solidFill>
            <a:srgbClr val="49B296"/>
          </a:solidFill>
          <a:ln w="12700">
            <a:solidFill>
              <a:srgbClr val="49B296"/>
            </a:solidFill>
            <a:prstDash val="solid"/>
          </a:ln>
        </p:spPr>
      </p:sp>
      <p:sp>
        <p:nvSpPr>
          <p:cNvPr id="35" name="Shape 32"/>
          <p:cNvSpPr/>
          <p:nvPr/>
        </p:nvSpPr>
        <p:spPr>
          <a:xfrm>
            <a:off x="3931920" y="2944368"/>
            <a:ext cx="420624" cy="420624"/>
          </a:xfrm>
          <a:prstGeom prst="ellipse">
            <a:avLst/>
          </a:prstGeom>
          <a:solidFill>
            <a:srgbClr val="962B7C"/>
          </a:solidFill>
          <a:ln w="12700">
            <a:solidFill>
              <a:srgbClr val="962B7C"/>
            </a:solidFill>
            <a:prstDash val="solid"/>
          </a:ln>
        </p:spPr>
      </p:sp>
      <p:sp>
        <p:nvSpPr>
          <p:cNvPr id="36" name="Shape 33"/>
          <p:cNvSpPr/>
          <p:nvPr/>
        </p:nvSpPr>
        <p:spPr>
          <a:xfrm>
            <a:off x="4480560" y="2944368"/>
            <a:ext cx="420624" cy="420624"/>
          </a:xfrm>
          <a:prstGeom prst="ellipse">
            <a:avLst/>
          </a:prstGeom>
          <a:solidFill>
            <a:srgbClr val="FF5178"/>
          </a:solidFill>
          <a:ln w="12700">
            <a:solidFill>
              <a:srgbClr val="FF5178"/>
            </a:solidFill>
            <a:prstDash val="solid"/>
          </a:ln>
        </p:spPr>
      </p:sp>
      <p:sp>
        <p:nvSpPr>
          <p:cNvPr id="37" name="Shape 34"/>
          <p:cNvSpPr/>
          <p:nvPr/>
        </p:nvSpPr>
        <p:spPr>
          <a:xfrm>
            <a:off x="5029200" y="2944368"/>
            <a:ext cx="420624" cy="420624"/>
          </a:xfrm>
          <a:prstGeom prst="ellipse">
            <a:avLst/>
          </a:prstGeom>
          <a:solidFill>
            <a:srgbClr val="FFD23B"/>
          </a:solidFill>
          <a:ln w="12700">
            <a:solidFill>
              <a:srgbClr val="FFD23B"/>
            </a:solidFill>
            <a:prstDash val="solid"/>
          </a:ln>
        </p:spPr>
      </p:sp>
      <p:sp>
        <p:nvSpPr>
          <p:cNvPr id="38" name="Shape 35"/>
          <p:cNvSpPr/>
          <p:nvPr/>
        </p:nvSpPr>
        <p:spPr>
          <a:xfrm>
            <a:off x="5577840" y="2944368"/>
            <a:ext cx="420624" cy="420624"/>
          </a:xfrm>
          <a:prstGeom prst="ellipse">
            <a:avLst/>
          </a:prstGeom>
          <a:solidFill>
            <a:srgbClr val="FF9259"/>
          </a:solidFill>
          <a:ln w="12700">
            <a:solidFill>
              <a:srgbClr val="FF9259"/>
            </a:solidFill>
            <a:prstDash val="solid"/>
          </a:ln>
        </p:spPr>
      </p:sp>
      <p:sp>
        <p:nvSpPr>
          <p:cNvPr id="39" name="Shape 36"/>
          <p:cNvSpPr/>
          <p:nvPr/>
        </p:nvSpPr>
        <p:spPr>
          <a:xfrm>
            <a:off x="640080" y="3602736"/>
            <a:ext cx="420624" cy="420624"/>
          </a:xfrm>
          <a:prstGeom prst="ellipse">
            <a:avLst/>
          </a:prstGeom>
          <a:solidFill>
            <a:srgbClr val="FF9259"/>
          </a:solidFill>
          <a:ln w="12700">
            <a:solidFill>
              <a:srgbClr val="FF9259"/>
            </a:solidFill>
            <a:prstDash val="solid"/>
          </a:ln>
        </p:spPr>
      </p:sp>
      <p:sp>
        <p:nvSpPr>
          <p:cNvPr id="40" name="Shape 37"/>
          <p:cNvSpPr/>
          <p:nvPr/>
        </p:nvSpPr>
        <p:spPr>
          <a:xfrm>
            <a:off x="1188720" y="3602736"/>
            <a:ext cx="420624" cy="420624"/>
          </a:xfrm>
          <a:prstGeom prst="ellipse">
            <a:avLst/>
          </a:prstGeom>
          <a:solidFill>
            <a:srgbClr val="09A1E5"/>
          </a:solidFill>
          <a:ln w="12700">
            <a:solidFill>
              <a:srgbClr val="09A1E5"/>
            </a:solidFill>
            <a:prstDash val="solid"/>
          </a:ln>
        </p:spPr>
      </p:sp>
      <p:sp>
        <p:nvSpPr>
          <p:cNvPr id="41" name="Shape 38"/>
          <p:cNvSpPr/>
          <p:nvPr/>
        </p:nvSpPr>
        <p:spPr>
          <a:xfrm>
            <a:off x="1737360" y="3602736"/>
            <a:ext cx="420624" cy="420624"/>
          </a:xfrm>
          <a:prstGeom prst="ellipse">
            <a:avLst/>
          </a:prstGeom>
          <a:solidFill>
            <a:srgbClr val="49B296"/>
          </a:solidFill>
          <a:ln w="12700">
            <a:solidFill>
              <a:srgbClr val="49B296"/>
            </a:solidFill>
            <a:prstDash val="solid"/>
          </a:ln>
        </p:spPr>
      </p:sp>
      <p:sp>
        <p:nvSpPr>
          <p:cNvPr id="42" name="Shape 39"/>
          <p:cNvSpPr/>
          <p:nvPr/>
        </p:nvSpPr>
        <p:spPr>
          <a:xfrm>
            <a:off x="2286000" y="3602736"/>
            <a:ext cx="420624" cy="420624"/>
          </a:xfrm>
          <a:prstGeom prst="ellipse">
            <a:avLst/>
          </a:prstGeom>
          <a:solidFill>
            <a:srgbClr val="962B7C"/>
          </a:solidFill>
          <a:ln w="12700">
            <a:solidFill>
              <a:srgbClr val="962B7C"/>
            </a:solidFill>
            <a:prstDash val="solid"/>
          </a:ln>
        </p:spPr>
      </p:sp>
      <p:sp>
        <p:nvSpPr>
          <p:cNvPr id="43" name="Shape 40"/>
          <p:cNvSpPr/>
          <p:nvPr/>
        </p:nvSpPr>
        <p:spPr>
          <a:xfrm>
            <a:off x="2834640" y="3602736"/>
            <a:ext cx="420624" cy="420624"/>
          </a:xfrm>
          <a:prstGeom prst="ellipse">
            <a:avLst/>
          </a:prstGeom>
          <a:solidFill>
            <a:srgbClr val="FF5178"/>
          </a:solidFill>
          <a:ln w="12700">
            <a:solidFill>
              <a:srgbClr val="FF5178"/>
            </a:solidFill>
            <a:prstDash val="solid"/>
          </a:ln>
        </p:spPr>
      </p:sp>
      <p:sp>
        <p:nvSpPr>
          <p:cNvPr id="44" name="Shape 41"/>
          <p:cNvSpPr/>
          <p:nvPr/>
        </p:nvSpPr>
        <p:spPr>
          <a:xfrm>
            <a:off x="3383280" y="3602736"/>
            <a:ext cx="420624" cy="420624"/>
          </a:xfrm>
          <a:prstGeom prst="ellipse">
            <a:avLst/>
          </a:prstGeom>
          <a:solidFill>
            <a:srgbClr val="FFD23B"/>
          </a:solidFill>
          <a:ln w="12700">
            <a:solidFill>
              <a:srgbClr val="FFD23B"/>
            </a:solidFill>
            <a:prstDash val="solid"/>
          </a:ln>
        </p:spPr>
      </p:sp>
      <p:sp>
        <p:nvSpPr>
          <p:cNvPr id="45" name="Shape 42"/>
          <p:cNvSpPr/>
          <p:nvPr/>
        </p:nvSpPr>
        <p:spPr>
          <a:xfrm>
            <a:off x="3931920" y="3602736"/>
            <a:ext cx="420624" cy="420624"/>
          </a:xfrm>
          <a:prstGeom prst="ellipse">
            <a:avLst/>
          </a:prstGeom>
          <a:solidFill>
            <a:srgbClr val="FF9259"/>
          </a:solidFill>
          <a:ln w="12700">
            <a:solidFill>
              <a:srgbClr val="FF9259"/>
            </a:solidFill>
            <a:prstDash val="solid"/>
          </a:ln>
        </p:spPr>
      </p:sp>
      <p:sp>
        <p:nvSpPr>
          <p:cNvPr id="46" name="Shape 43"/>
          <p:cNvSpPr/>
          <p:nvPr/>
        </p:nvSpPr>
        <p:spPr>
          <a:xfrm>
            <a:off x="4480560" y="3602736"/>
            <a:ext cx="420624" cy="420624"/>
          </a:xfrm>
          <a:prstGeom prst="ellipse">
            <a:avLst/>
          </a:prstGeom>
          <a:solidFill>
            <a:srgbClr val="09A1E5"/>
          </a:solidFill>
          <a:ln w="12700">
            <a:solidFill>
              <a:srgbClr val="09A1E5"/>
            </a:solidFill>
            <a:prstDash val="solid"/>
          </a:ln>
        </p:spPr>
      </p:sp>
      <p:sp>
        <p:nvSpPr>
          <p:cNvPr id="47" name="Shape 44"/>
          <p:cNvSpPr/>
          <p:nvPr/>
        </p:nvSpPr>
        <p:spPr>
          <a:xfrm>
            <a:off x="5029200" y="3602736"/>
            <a:ext cx="420624" cy="420624"/>
          </a:xfrm>
          <a:prstGeom prst="ellipse">
            <a:avLst/>
          </a:prstGeom>
          <a:solidFill>
            <a:srgbClr val="49B296"/>
          </a:solidFill>
          <a:ln w="12700">
            <a:solidFill>
              <a:srgbClr val="49B296"/>
            </a:solidFill>
            <a:prstDash val="solid"/>
          </a:ln>
        </p:spPr>
      </p:sp>
      <p:sp>
        <p:nvSpPr>
          <p:cNvPr id="48" name="Shape 45"/>
          <p:cNvSpPr/>
          <p:nvPr/>
        </p:nvSpPr>
        <p:spPr>
          <a:xfrm>
            <a:off x="5577840" y="3602736"/>
            <a:ext cx="420624" cy="420624"/>
          </a:xfrm>
          <a:prstGeom prst="ellipse">
            <a:avLst/>
          </a:prstGeom>
          <a:solidFill>
            <a:srgbClr val="962B7C"/>
          </a:solidFill>
          <a:ln w="12700">
            <a:solidFill>
              <a:srgbClr val="962B7C"/>
            </a:solidFill>
            <a:prstDash val="solid"/>
          </a:ln>
        </p:spPr>
      </p:sp>
      <p:sp>
        <p:nvSpPr>
          <p:cNvPr id="49" name="Shape 46"/>
          <p:cNvSpPr/>
          <p:nvPr/>
        </p:nvSpPr>
        <p:spPr>
          <a:xfrm>
            <a:off x="640080" y="4261104"/>
            <a:ext cx="420624" cy="420624"/>
          </a:xfrm>
          <a:prstGeom prst="ellipse">
            <a:avLst/>
          </a:prstGeom>
          <a:solidFill>
            <a:srgbClr val="962B7C"/>
          </a:solidFill>
          <a:ln w="12700">
            <a:solidFill>
              <a:srgbClr val="962B7C"/>
            </a:solidFill>
            <a:prstDash val="solid"/>
          </a:ln>
        </p:spPr>
      </p:sp>
      <p:sp>
        <p:nvSpPr>
          <p:cNvPr id="50" name="Shape 47"/>
          <p:cNvSpPr/>
          <p:nvPr/>
        </p:nvSpPr>
        <p:spPr>
          <a:xfrm>
            <a:off x="1188720" y="4261104"/>
            <a:ext cx="420624" cy="420624"/>
          </a:xfrm>
          <a:prstGeom prst="ellipse">
            <a:avLst/>
          </a:prstGeom>
          <a:solidFill>
            <a:srgbClr val="FF5178"/>
          </a:solidFill>
          <a:ln w="12700">
            <a:solidFill>
              <a:srgbClr val="FF5178"/>
            </a:solidFill>
            <a:prstDash val="solid"/>
          </a:ln>
        </p:spPr>
      </p:sp>
      <p:sp>
        <p:nvSpPr>
          <p:cNvPr id="51" name="Shape 48"/>
          <p:cNvSpPr/>
          <p:nvPr/>
        </p:nvSpPr>
        <p:spPr>
          <a:xfrm>
            <a:off x="1737360" y="4261104"/>
            <a:ext cx="420624" cy="420624"/>
          </a:xfrm>
          <a:prstGeom prst="ellipse">
            <a:avLst/>
          </a:prstGeom>
          <a:solidFill>
            <a:srgbClr val="FFD23B"/>
          </a:solidFill>
          <a:ln w="12700">
            <a:solidFill>
              <a:srgbClr val="FFD23B"/>
            </a:solidFill>
            <a:prstDash val="solid"/>
          </a:ln>
        </p:spPr>
      </p:sp>
      <p:sp>
        <p:nvSpPr>
          <p:cNvPr id="52" name="Shape 49"/>
          <p:cNvSpPr/>
          <p:nvPr/>
        </p:nvSpPr>
        <p:spPr>
          <a:xfrm>
            <a:off x="2286000" y="4261104"/>
            <a:ext cx="420624" cy="420624"/>
          </a:xfrm>
          <a:prstGeom prst="ellipse">
            <a:avLst/>
          </a:prstGeom>
          <a:solidFill>
            <a:srgbClr val="FF9259"/>
          </a:solidFill>
          <a:ln w="12700">
            <a:solidFill>
              <a:srgbClr val="FF9259"/>
            </a:solidFill>
            <a:prstDash val="solid"/>
          </a:ln>
        </p:spPr>
      </p:sp>
      <p:sp>
        <p:nvSpPr>
          <p:cNvPr id="53" name="Shape 50"/>
          <p:cNvSpPr/>
          <p:nvPr/>
        </p:nvSpPr>
        <p:spPr>
          <a:xfrm>
            <a:off x="2834640" y="4261104"/>
            <a:ext cx="420624" cy="420624"/>
          </a:xfrm>
          <a:prstGeom prst="ellipse">
            <a:avLst/>
          </a:prstGeom>
          <a:solidFill>
            <a:srgbClr val="09A1E5"/>
          </a:solidFill>
          <a:ln w="12700">
            <a:solidFill>
              <a:srgbClr val="09A1E5"/>
            </a:solidFill>
            <a:prstDash val="solid"/>
          </a:ln>
        </p:spPr>
      </p:sp>
      <p:sp>
        <p:nvSpPr>
          <p:cNvPr id="54" name="Shape 51"/>
          <p:cNvSpPr/>
          <p:nvPr/>
        </p:nvSpPr>
        <p:spPr>
          <a:xfrm>
            <a:off x="3383280" y="4261104"/>
            <a:ext cx="420624" cy="420624"/>
          </a:xfrm>
          <a:prstGeom prst="ellipse">
            <a:avLst/>
          </a:prstGeom>
          <a:solidFill>
            <a:srgbClr val="49B296"/>
          </a:solidFill>
          <a:ln w="12700">
            <a:solidFill>
              <a:srgbClr val="49B296"/>
            </a:solidFill>
            <a:prstDash val="solid"/>
          </a:ln>
        </p:spPr>
      </p:sp>
      <p:sp>
        <p:nvSpPr>
          <p:cNvPr id="55" name="Shape 52"/>
          <p:cNvSpPr/>
          <p:nvPr/>
        </p:nvSpPr>
        <p:spPr>
          <a:xfrm>
            <a:off x="3931920" y="4261104"/>
            <a:ext cx="420624" cy="420624"/>
          </a:xfrm>
          <a:prstGeom prst="ellipse">
            <a:avLst/>
          </a:prstGeom>
          <a:solidFill>
            <a:srgbClr val="962B7C"/>
          </a:solidFill>
          <a:ln w="12700">
            <a:solidFill>
              <a:srgbClr val="962B7C"/>
            </a:solidFill>
            <a:prstDash val="solid"/>
          </a:ln>
        </p:spPr>
      </p:sp>
      <p:sp>
        <p:nvSpPr>
          <p:cNvPr id="56" name="Shape 53"/>
          <p:cNvSpPr/>
          <p:nvPr/>
        </p:nvSpPr>
        <p:spPr>
          <a:xfrm>
            <a:off x="4480560" y="4261104"/>
            <a:ext cx="420624" cy="420624"/>
          </a:xfrm>
          <a:prstGeom prst="ellipse">
            <a:avLst/>
          </a:prstGeom>
          <a:solidFill>
            <a:srgbClr val="FF5178"/>
          </a:solidFill>
          <a:ln w="12700">
            <a:solidFill>
              <a:srgbClr val="FF5178"/>
            </a:solidFill>
            <a:prstDash val="solid"/>
          </a:ln>
        </p:spPr>
      </p:sp>
      <p:sp>
        <p:nvSpPr>
          <p:cNvPr id="57" name="Shape 54"/>
          <p:cNvSpPr/>
          <p:nvPr/>
        </p:nvSpPr>
        <p:spPr>
          <a:xfrm>
            <a:off x="5029200" y="4261104"/>
            <a:ext cx="420624" cy="420624"/>
          </a:xfrm>
          <a:prstGeom prst="ellipse">
            <a:avLst/>
          </a:prstGeom>
          <a:solidFill>
            <a:srgbClr val="FFD23B"/>
          </a:solidFill>
          <a:ln w="12700">
            <a:solidFill>
              <a:srgbClr val="FFD23B"/>
            </a:solidFill>
            <a:prstDash val="solid"/>
          </a:ln>
        </p:spPr>
      </p:sp>
      <p:sp>
        <p:nvSpPr>
          <p:cNvPr id="58" name="Shape 55"/>
          <p:cNvSpPr/>
          <p:nvPr/>
        </p:nvSpPr>
        <p:spPr>
          <a:xfrm>
            <a:off x="5577840" y="4261104"/>
            <a:ext cx="420624" cy="420624"/>
          </a:xfrm>
          <a:prstGeom prst="ellipse">
            <a:avLst/>
          </a:prstGeom>
          <a:solidFill>
            <a:srgbClr val="FF9259"/>
          </a:solidFill>
          <a:ln w="12700">
            <a:solidFill>
              <a:srgbClr val="FF9259"/>
            </a:solidFill>
            <a:prstDash val="solid"/>
          </a:ln>
        </p:spPr>
      </p:sp>
      <p:sp>
        <p:nvSpPr>
          <p:cNvPr id="59" name="Text 56"/>
          <p:cNvSpPr txBox="1"/>
          <p:nvPr/>
        </p:nvSpPr>
        <p:spPr>
          <a:xfrm>
            <a:off x="640080" y="4983480"/>
            <a:ext cx="5303520" cy="457200"/>
          </a:xfrm>
          <a:prstGeom prst="rect">
            <a:avLst/>
          </a:prstGeom>
          <a:noFill/>
          <a:ln/>
        </p:spPr>
        <p:txBody>
          <a:bodyPr wrap="square" lIns="0" tIns="0" rIns="0" bIns="0" rtlCol="0" anchor="ctr"/>
          <a:lstStyle/>
          <a:p>
            <a:pPr indent="0" marL="0">
              <a:buNone/>
            </a:pPr>
            <a:r>
              <a:rPr lang="en-US" sz="1600" dirty="0">
                <a:solidFill>
                  <a:srgbClr val="6E6878"/>
                </a:solidFill>
                <a:latin typeface="Alexandria" pitchFamily="34" charset="0"/>
                <a:ea typeface="Alexandria" pitchFamily="34" charset="-122"/>
                <a:cs typeface="Alexandria" pitchFamily="34" charset="-120"/>
              </a:rPr>
              <a:t>40 sự kiện / năm</a:t>
            </a:r>
            <a:endParaRPr lang="en-US" sz="1600" dirty="0"/>
          </a:p>
        </p:txBody>
      </p:sp>
      <p:sp>
        <p:nvSpPr>
          <p:cNvPr id="60" name="Text 57"/>
          <p:cNvSpPr txBox="1"/>
          <p:nvPr/>
        </p:nvSpPr>
        <p:spPr>
          <a:xfrm>
            <a:off x="6583680" y="2194560"/>
            <a:ext cx="5059375" cy="1645920"/>
          </a:xfrm>
          <a:prstGeom prst="rect">
            <a:avLst/>
          </a:prstGeom>
          <a:noFill/>
          <a:ln/>
        </p:spPr>
        <p:txBody>
          <a:bodyPr wrap="square" lIns="0" tIns="0" rIns="0" bIns="0" rtlCol="0" anchor="t"/>
          <a:lstStyle/>
          <a:p>
            <a:pPr indent="0" marL="0">
              <a:buNone/>
            </a:pPr>
            <a:r>
              <a:rPr lang="en-US" sz="2400" b="1" dirty="0">
                <a:solidFill>
                  <a:srgbClr val="2A2238"/>
                </a:solidFill>
                <a:latin typeface="Alexandria" pitchFamily="34" charset="0"/>
                <a:ea typeface="Alexandria" pitchFamily="34" charset="-122"/>
                <a:cs typeface="Alexandria" pitchFamily="34" charset="-120"/>
              </a:rPr>
              <a:t>Nếu mỗi sự kiện lại tìm nhà cung cấp từ đầu, Nova sẽ luôn ở thế yếu.</a:t>
            </a:r>
            <a:endParaRPr lang="en-US" sz="2400" dirty="0"/>
          </a:p>
        </p:txBody>
      </p:sp>
      <p:sp>
        <p:nvSpPr>
          <p:cNvPr id="61" name="Shape 58"/>
          <p:cNvSpPr/>
          <p:nvPr/>
        </p:nvSpPr>
        <p:spPr>
          <a:xfrm>
            <a:off x="6583680" y="4069080"/>
            <a:ext cx="5059375" cy="1234440"/>
          </a:xfrm>
          <a:prstGeom prst="roundRect">
            <a:avLst>
              <a:gd name="adj" fmla="val 8889"/>
            </a:avLst>
          </a:prstGeom>
          <a:solidFill>
            <a:srgbClr val="DDF1FB"/>
          </a:solidFill>
          <a:ln w="12700">
            <a:solidFill>
              <a:srgbClr val="09A1E5"/>
            </a:solidFill>
            <a:prstDash val="solid"/>
          </a:ln>
        </p:spPr>
      </p:sp>
      <p:sp>
        <p:nvSpPr>
          <p:cNvPr id="62" name="Text 59"/>
          <p:cNvSpPr txBox="1"/>
          <p:nvPr/>
        </p:nvSpPr>
        <p:spPr>
          <a:xfrm>
            <a:off x="6858000" y="4069080"/>
            <a:ext cx="4510735" cy="123444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 Agency cần hai cấp làm việc với nhà cung cấp.</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Procurement là dài hạn, Buying là từng giao dịch</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S03: CIPS, What is procurement?</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16</a:t>
            </a:r>
            <a:endParaRPr lang="en-US" sz="1000" dirty="0"/>
          </a:p>
        </p:txBody>
      </p:sp>
      <p:sp>
        <p:nvSpPr>
          <p:cNvPr id="20" name="Text 17"/>
          <p:cNvSpPr txBox="1"/>
          <p:nvPr/>
        </p:nvSpPr>
        <p:spPr>
          <a:xfrm>
            <a:off x="548640" y="1874520"/>
            <a:ext cx="11094415" cy="1143000"/>
          </a:xfrm>
          <a:prstGeom prst="rect">
            <a:avLst/>
          </a:prstGeom>
          <a:noFill/>
          <a:ln/>
        </p:spPr>
        <p:txBody>
          <a:bodyPr wrap="square" lIns="0" tIns="0" rIns="0" bIns="0" rtlCol="0" anchor="ctr"/>
          <a:lstStyle/>
          <a:p>
            <a:pPr indent="0" marL="0">
              <a:buNone/>
            </a:pPr>
            <a:r>
              <a:rPr lang="en-US" sz="2000" i="1" dirty="0">
                <a:solidFill>
                  <a:srgbClr val="962B7C"/>
                </a:solidFill>
                <a:latin typeface="Alexandria" pitchFamily="34" charset="0"/>
                <a:ea typeface="Alexandria" pitchFamily="34" charset="-122"/>
                <a:cs typeface="Alexandria" pitchFamily="34" charset="-120"/>
              </a:rPr>
              <a:t>“…procurement is a long-term approach to acquiring goods and services, and purchasing is the short-term direct purchasing of products…”</a:t>
            </a:r>
            <a:endParaRPr lang="en-US" sz="2000" dirty="0"/>
          </a:p>
        </p:txBody>
      </p:sp>
      <p:sp>
        <p:nvSpPr>
          <p:cNvPr id="21" name="Text 18"/>
          <p:cNvSpPr txBox="1"/>
          <p:nvPr/>
        </p:nvSpPr>
        <p:spPr>
          <a:xfrm>
            <a:off x="548640" y="3017520"/>
            <a:ext cx="11094415" cy="32004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 CIPS (S03)</a:t>
            </a:r>
            <a:endParaRPr lang="en-US" sz="1300" dirty="0"/>
          </a:p>
        </p:txBody>
      </p:sp>
      <p:sp>
        <p:nvSpPr>
          <p:cNvPr id="22" name="Shape 19"/>
          <p:cNvSpPr/>
          <p:nvPr/>
        </p:nvSpPr>
        <p:spPr>
          <a:xfrm>
            <a:off x="548640" y="3566160"/>
            <a:ext cx="5410048" cy="2377440"/>
          </a:xfrm>
          <a:prstGeom prst="roundRect">
            <a:avLst>
              <a:gd name="adj" fmla="val 4615"/>
            </a:avLst>
          </a:prstGeom>
          <a:solidFill>
            <a:srgbClr val="DDF1FB"/>
          </a:solidFill>
          <a:ln w="12700">
            <a:solidFill>
              <a:srgbClr val="09A1E5"/>
            </a:solidFill>
            <a:prstDash val="solid"/>
          </a:ln>
        </p:spPr>
      </p:sp>
      <p:sp>
        <p:nvSpPr>
          <p:cNvPr id="23" name="Text 20"/>
          <p:cNvSpPr txBox="1"/>
          <p:nvPr/>
        </p:nvSpPr>
        <p:spPr>
          <a:xfrm>
            <a:off x="868680" y="3749040"/>
            <a:ext cx="4769968" cy="548640"/>
          </a:xfrm>
          <a:prstGeom prst="rect">
            <a:avLst/>
          </a:prstGeom>
          <a:noFill/>
          <a:ln/>
        </p:spPr>
        <p:txBody>
          <a:bodyPr wrap="square" lIns="0" tIns="0" rIns="0" bIns="0" rtlCol="0" anchor="ctr"/>
          <a:lstStyle/>
          <a:p>
            <a:pPr indent="0" marL="0">
              <a:buNone/>
            </a:pPr>
            <a:r>
              <a:rPr lang="en-US" sz="2600" b="1" dirty="0">
                <a:solidFill>
                  <a:srgbClr val="2A2238"/>
                </a:solidFill>
                <a:latin typeface="Alexandria" pitchFamily="34" charset="0"/>
                <a:ea typeface="Alexandria" pitchFamily="34" charset="-122"/>
                <a:cs typeface="Alexandria" pitchFamily="34" charset="-120"/>
              </a:rPr>
              <a:t>Procurement</a:t>
            </a:r>
            <a:endParaRPr lang="en-US" sz="2600" dirty="0"/>
          </a:p>
        </p:txBody>
      </p:sp>
      <p:sp>
        <p:nvSpPr>
          <p:cNvPr id="24" name="Text 21"/>
          <p:cNvSpPr txBox="1"/>
          <p:nvPr/>
        </p:nvSpPr>
        <p:spPr>
          <a:xfrm>
            <a:off x="868680" y="4297680"/>
            <a:ext cx="4769968" cy="365760"/>
          </a:xfrm>
          <a:prstGeom prst="rect">
            <a:avLst/>
          </a:prstGeom>
          <a:noFill/>
          <a:ln/>
        </p:spPr>
        <p:txBody>
          <a:bodyPr wrap="square" lIns="0" tIns="0" rIns="0" bIns="0" rtlCol="0" anchor="ctr"/>
          <a:lstStyle/>
          <a:p>
            <a:pPr indent="0" marL="0">
              <a:buNone/>
            </a:pPr>
            <a:r>
              <a:rPr lang="en-US" sz="1600" i="1" dirty="0">
                <a:solidFill>
                  <a:srgbClr val="6E6878"/>
                </a:solidFill>
                <a:latin typeface="Alexandria" pitchFamily="34" charset="0"/>
                <a:ea typeface="Alexandria" pitchFamily="34" charset="-122"/>
                <a:cs typeface="Alexandria" pitchFamily="34" charset="-120"/>
              </a:rPr>
              <a:t>dài hạn</a:t>
            </a:r>
            <a:endParaRPr lang="en-US" sz="1600" dirty="0"/>
          </a:p>
        </p:txBody>
      </p:sp>
      <p:sp>
        <p:nvSpPr>
          <p:cNvPr id="25" name="Text 22"/>
          <p:cNvSpPr txBox="1"/>
          <p:nvPr/>
        </p:nvSpPr>
        <p:spPr>
          <a:xfrm>
            <a:off x="868680" y="4754880"/>
            <a:ext cx="4769968" cy="100584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Tìm nguồn · đàm phán · quản lý hợp đồng · phát triển nhà cung cấp</a:t>
            </a:r>
            <a:endParaRPr lang="en-US" sz="1600" dirty="0"/>
          </a:p>
        </p:txBody>
      </p:sp>
      <p:sp>
        <p:nvSpPr>
          <p:cNvPr id="26" name="Shape 23"/>
          <p:cNvSpPr/>
          <p:nvPr/>
        </p:nvSpPr>
        <p:spPr>
          <a:xfrm>
            <a:off x="6233008" y="3566160"/>
            <a:ext cx="5410048" cy="2377440"/>
          </a:xfrm>
          <a:prstGeom prst="roundRect">
            <a:avLst>
              <a:gd name="adj" fmla="val 4615"/>
            </a:avLst>
          </a:prstGeom>
          <a:solidFill>
            <a:srgbClr val="FFE9DE"/>
          </a:solidFill>
          <a:ln w="12700">
            <a:solidFill>
              <a:srgbClr val="FF9259"/>
            </a:solidFill>
            <a:prstDash val="solid"/>
          </a:ln>
        </p:spPr>
      </p:sp>
      <p:sp>
        <p:nvSpPr>
          <p:cNvPr id="27" name="Text 24"/>
          <p:cNvSpPr txBox="1"/>
          <p:nvPr/>
        </p:nvSpPr>
        <p:spPr>
          <a:xfrm>
            <a:off x="6553048" y="3749040"/>
            <a:ext cx="4769968" cy="548640"/>
          </a:xfrm>
          <a:prstGeom prst="rect">
            <a:avLst/>
          </a:prstGeom>
          <a:noFill/>
          <a:ln/>
        </p:spPr>
        <p:txBody>
          <a:bodyPr wrap="square" lIns="0" tIns="0" rIns="0" bIns="0" rtlCol="0" anchor="ctr"/>
          <a:lstStyle/>
          <a:p>
            <a:pPr indent="0" marL="0">
              <a:buNone/>
            </a:pPr>
            <a:r>
              <a:rPr lang="en-US" sz="2600" b="1" dirty="0">
                <a:solidFill>
                  <a:srgbClr val="2A2238"/>
                </a:solidFill>
                <a:latin typeface="Alexandria" pitchFamily="34" charset="0"/>
                <a:ea typeface="Alexandria" pitchFamily="34" charset="-122"/>
                <a:cs typeface="Alexandria" pitchFamily="34" charset="-120"/>
              </a:rPr>
              <a:t>Buying</a:t>
            </a:r>
            <a:endParaRPr lang="en-US" sz="2600" dirty="0"/>
          </a:p>
        </p:txBody>
      </p:sp>
      <p:sp>
        <p:nvSpPr>
          <p:cNvPr id="28" name="Text 25"/>
          <p:cNvSpPr txBox="1"/>
          <p:nvPr/>
        </p:nvSpPr>
        <p:spPr>
          <a:xfrm>
            <a:off x="6553048" y="4297680"/>
            <a:ext cx="4769968" cy="365760"/>
          </a:xfrm>
          <a:prstGeom prst="rect">
            <a:avLst/>
          </a:prstGeom>
          <a:noFill/>
          <a:ln/>
        </p:spPr>
        <p:txBody>
          <a:bodyPr wrap="square" lIns="0" tIns="0" rIns="0" bIns="0" rtlCol="0" anchor="ctr"/>
          <a:lstStyle/>
          <a:p>
            <a:pPr indent="0" marL="0">
              <a:buNone/>
            </a:pPr>
            <a:r>
              <a:rPr lang="en-US" sz="1600" i="1" dirty="0">
                <a:solidFill>
                  <a:srgbClr val="6E6878"/>
                </a:solidFill>
                <a:latin typeface="Alexandria" pitchFamily="34" charset="0"/>
                <a:ea typeface="Alexandria" pitchFamily="34" charset="-122"/>
                <a:cs typeface="Alexandria" pitchFamily="34" charset="-120"/>
              </a:rPr>
              <a:t>từng giao dịch</a:t>
            </a:r>
            <a:endParaRPr lang="en-US" sz="1600" dirty="0"/>
          </a:p>
        </p:txBody>
      </p:sp>
      <p:sp>
        <p:nvSpPr>
          <p:cNvPr id="29" name="Text 26"/>
          <p:cNvSpPr txBox="1"/>
          <p:nvPr/>
        </p:nvSpPr>
        <p:spPr>
          <a:xfrm>
            <a:off x="6553048" y="4754880"/>
            <a:ext cx="4769968" cy="100584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Hoàn tất một lần mua cho một nhu cầu cụ thể</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Agency cần hai cấp làm việc với nhà cung cấp</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S03 (CIPS); S11 (EGG Events có Global Procurement Director); S25 (preferred supplier program).</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17</a:t>
            </a:r>
            <a:endParaRPr lang="en-US" sz="1000" dirty="0"/>
          </a:p>
        </p:txBody>
      </p:sp>
      <p:sp>
        <p:nvSpPr>
          <p:cNvPr id="20" name="Shape 17"/>
          <p:cNvSpPr/>
          <p:nvPr/>
        </p:nvSpPr>
        <p:spPr>
          <a:xfrm>
            <a:off x="2651760" y="1828800"/>
            <a:ext cx="4404208" cy="502920"/>
          </a:xfrm>
          <a:prstGeom prst="roundRect">
            <a:avLst>
              <a:gd name="adj" fmla="val 21818"/>
            </a:avLst>
          </a:prstGeom>
          <a:solidFill>
            <a:srgbClr val="09A1E5"/>
          </a:solidFill>
          <a:ln w="12700">
            <a:solidFill>
              <a:srgbClr val="09A1E5"/>
            </a:solidFill>
            <a:prstDash val="solid"/>
          </a:ln>
        </p:spPr>
      </p:sp>
      <p:sp>
        <p:nvSpPr>
          <p:cNvPr id="21" name="Text 18"/>
          <p:cNvSpPr txBox="1"/>
          <p:nvPr/>
        </p:nvSpPr>
        <p:spPr>
          <a:xfrm>
            <a:off x="2834640" y="1828800"/>
            <a:ext cx="4038448" cy="502920"/>
          </a:xfrm>
          <a:prstGeom prst="rect">
            <a:avLst/>
          </a:prstGeom>
          <a:noFill/>
          <a:ln/>
        </p:spPr>
        <p:txBody>
          <a:bodyPr wrap="square" lIns="0" tIns="0" rIns="0" bIns="0" rtlCol="0" anchor="ctr"/>
          <a:lstStyle/>
          <a:p>
            <a:pPr indent="0" marL="0">
              <a:buNone/>
            </a:pPr>
            <a:r>
              <a:rPr lang="en-US" sz="1600" b="1" dirty="0">
                <a:solidFill>
                  <a:srgbClr val="FFFFFF"/>
                </a:solidFill>
                <a:latin typeface="Alexandria" pitchFamily="34" charset="0"/>
                <a:ea typeface="Alexandria" pitchFamily="34" charset="-122"/>
                <a:cs typeface="Alexandria" pitchFamily="34" charset="-120"/>
              </a:rPr>
              <a:t>Procurement — cấp chiến lược</a:t>
            </a:r>
            <a:endParaRPr lang="en-US" sz="1600" dirty="0"/>
          </a:p>
        </p:txBody>
      </p:sp>
      <p:sp>
        <p:nvSpPr>
          <p:cNvPr id="22" name="Shape 19"/>
          <p:cNvSpPr/>
          <p:nvPr/>
        </p:nvSpPr>
        <p:spPr>
          <a:xfrm>
            <a:off x="7238848" y="1828800"/>
            <a:ext cx="4404208" cy="502920"/>
          </a:xfrm>
          <a:prstGeom prst="roundRect">
            <a:avLst>
              <a:gd name="adj" fmla="val 21818"/>
            </a:avLst>
          </a:prstGeom>
          <a:solidFill>
            <a:srgbClr val="FF9259"/>
          </a:solidFill>
          <a:ln w="12700">
            <a:solidFill>
              <a:srgbClr val="FF9259"/>
            </a:solidFill>
            <a:prstDash val="solid"/>
          </a:ln>
        </p:spPr>
      </p:sp>
      <p:sp>
        <p:nvSpPr>
          <p:cNvPr id="23" name="Text 20"/>
          <p:cNvSpPr txBox="1"/>
          <p:nvPr/>
        </p:nvSpPr>
        <p:spPr>
          <a:xfrm>
            <a:off x="7421728" y="1828800"/>
            <a:ext cx="4038448" cy="5029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Buying — cấp thực thi</a:t>
            </a:r>
            <a:endParaRPr lang="en-US" sz="1600" dirty="0"/>
          </a:p>
        </p:txBody>
      </p:sp>
      <p:sp>
        <p:nvSpPr>
          <p:cNvPr id="24" name="Shape 21"/>
          <p:cNvSpPr/>
          <p:nvPr/>
        </p:nvSpPr>
        <p:spPr>
          <a:xfrm>
            <a:off x="548640" y="2468880"/>
            <a:ext cx="11094415" cy="640080"/>
          </a:xfrm>
          <a:prstGeom prst="rect">
            <a:avLst/>
          </a:prstGeom>
          <a:solidFill>
            <a:srgbClr val="F3F0E6"/>
          </a:solidFill>
          <a:ln w="12700">
            <a:solidFill>
              <a:srgbClr val="F3F0E6"/>
            </a:solidFill>
            <a:prstDash val="solid"/>
          </a:ln>
        </p:spPr>
      </p:sp>
      <p:sp>
        <p:nvSpPr>
          <p:cNvPr id="25" name="Text 22"/>
          <p:cNvSpPr txBox="1"/>
          <p:nvPr/>
        </p:nvSpPr>
        <p:spPr>
          <a:xfrm>
            <a:off x="731520" y="2468880"/>
            <a:ext cx="1828800" cy="6400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Câu hỏi</a:t>
            </a:r>
            <a:endParaRPr lang="en-US" sz="1500" dirty="0"/>
          </a:p>
        </p:txBody>
      </p:sp>
      <p:sp>
        <p:nvSpPr>
          <p:cNvPr id="26" name="Text 23"/>
          <p:cNvSpPr txBox="1"/>
          <p:nvPr/>
        </p:nvSpPr>
        <p:spPr>
          <a:xfrm>
            <a:off x="2834640" y="2468880"/>
            <a:ext cx="4038448" cy="6400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Làm việc với ai, theo điều kiện khung nào, cho cả năm?</a:t>
            </a:r>
            <a:endParaRPr lang="en-US" sz="1400" dirty="0"/>
          </a:p>
        </p:txBody>
      </p:sp>
      <p:sp>
        <p:nvSpPr>
          <p:cNvPr id="27" name="Text 24"/>
          <p:cNvSpPr txBox="1"/>
          <p:nvPr/>
        </p:nvSpPr>
        <p:spPr>
          <a:xfrm>
            <a:off x="7421728" y="2468880"/>
            <a:ext cx="4038448" cy="6400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Sự kiện này: đặt gì, của ai, giá bao nhiêu, khi nào?</a:t>
            </a:r>
            <a:endParaRPr lang="en-US" sz="1400" dirty="0"/>
          </a:p>
        </p:txBody>
      </p:sp>
      <p:sp>
        <p:nvSpPr>
          <p:cNvPr id="28" name="Text 25"/>
          <p:cNvSpPr txBox="1"/>
          <p:nvPr/>
        </p:nvSpPr>
        <p:spPr>
          <a:xfrm>
            <a:off x="731520" y="3182112"/>
            <a:ext cx="1828800" cy="50292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Chu kỳ</a:t>
            </a:r>
            <a:endParaRPr lang="en-US" sz="1500" dirty="0"/>
          </a:p>
        </p:txBody>
      </p:sp>
      <p:sp>
        <p:nvSpPr>
          <p:cNvPr id="29" name="Text 26"/>
          <p:cNvSpPr txBox="1"/>
          <p:nvPr/>
        </p:nvSpPr>
        <p:spPr>
          <a:xfrm>
            <a:off x="2834640" y="3182112"/>
            <a:ext cx="4038448"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Năm / quý</a:t>
            </a:r>
            <a:endParaRPr lang="en-US" sz="1400" dirty="0"/>
          </a:p>
        </p:txBody>
      </p:sp>
      <p:sp>
        <p:nvSpPr>
          <p:cNvPr id="30" name="Text 27"/>
          <p:cNvSpPr txBox="1"/>
          <p:nvPr/>
        </p:nvSpPr>
        <p:spPr>
          <a:xfrm>
            <a:off x="7421728" y="3182112"/>
            <a:ext cx="4038448" cy="50292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Từng sự kiện</a:t>
            </a:r>
            <a:endParaRPr lang="en-US" sz="1400" dirty="0"/>
          </a:p>
        </p:txBody>
      </p:sp>
      <p:sp>
        <p:nvSpPr>
          <p:cNvPr id="31" name="Shape 28"/>
          <p:cNvSpPr/>
          <p:nvPr/>
        </p:nvSpPr>
        <p:spPr>
          <a:xfrm>
            <a:off x="548640" y="3758184"/>
            <a:ext cx="11094415" cy="868680"/>
          </a:xfrm>
          <a:prstGeom prst="rect">
            <a:avLst/>
          </a:prstGeom>
          <a:solidFill>
            <a:srgbClr val="F3F0E6"/>
          </a:solidFill>
          <a:ln w="12700">
            <a:solidFill>
              <a:srgbClr val="F3F0E6"/>
            </a:solidFill>
            <a:prstDash val="solid"/>
          </a:ln>
        </p:spPr>
      </p:sp>
      <p:sp>
        <p:nvSpPr>
          <p:cNvPr id="32" name="Text 29"/>
          <p:cNvSpPr txBox="1"/>
          <p:nvPr/>
        </p:nvSpPr>
        <p:spPr>
          <a:xfrm>
            <a:off x="731520" y="3758184"/>
            <a:ext cx="1828800"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Người làm</a:t>
            </a:r>
            <a:endParaRPr lang="en-US" sz="1500" dirty="0"/>
          </a:p>
        </p:txBody>
      </p:sp>
      <p:sp>
        <p:nvSpPr>
          <p:cNvPr id="33" name="Text 30"/>
          <p:cNvSpPr txBox="1"/>
          <p:nvPr/>
        </p:nvSpPr>
        <p:spPr>
          <a:xfrm>
            <a:off x="2834640" y="3758184"/>
            <a:ext cx="4038448"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Ban giám đốc, trưởng sản xuất; vị trí procurement riêng ở agency lớn</a:t>
            </a:r>
            <a:endParaRPr lang="en-US" sz="1400" dirty="0"/>
          </a:p>
        </p:txBody>
      </p:sp>
      <p:sp>
        <p:nvSpPr>
          <p:cNvPr id="34" name="Text 31"/>
          <p:cNvSpPr txBox="1"/>
          <p:nvPr/>
        </p:nvSpPr>
        <p:spPr>
          <a:xfrm>
            <a:off x="7421728" y="3758184"/>
            <a:ext cx="4038448" cy="8686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Producer, quản lý dự án, kế toán dự án</a:t>
            </a:r>
            <a:endParaRPr lang="en-US" sz="1400" dirty="0"/>
          </a:p>
        </p:txBody>
      </p:sp>
      <p:sp>
        <p:nvSpPr>
          <p:cNvPr id="35" name="Text 32"/>
          <p:cNvSpPr txBox="1"/>
          <p:nvPr/>
        </p:nvSpPr>
        <p:spPr>
          <a:xfrm>
            <a:off x="731520" y="4700016"/>
            <a:ext cx="1828800" cy="10972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Công việc</a:t>
            </a:r>
            <a:endParaRPr lang="en-US" sz="1500" dirty="0"/>
          </a:p>
        </p:txBody>
      </p:sp>
      <p:sp>
        <p:nvSpPr>
          <p:cNvPr id="36" name="Text 33"/>
          <p:cNvSpPr txBox="1"/>
          <p:nvPr/>
        </p:nvSpPr>
        <p:spPr>
          <a:xfrm>
            <a:off x="2834640" y="4700016"/>
            <a:ext cx="4038448" cy="10972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Phân tích Kraljic · danh sách nhà cung cấp ưu tiên · thỏa thuận khung · đánh giá định kỳ</a:t>
            </a:r>
            <a:endParaRPr lang="en-US" sz="1400" dirty="0"/>
          </a:p>
        </p:txBody>
      </p:sp>
      <p:sp>
        <p:nvSpPr>
          <p:cNvPr id="37" name="Text 34"/>
          <p:cNvSpPr txBox="1"/>
          <p:nvPr/>
        </p:nvSpPr>
        <p:spPr>
          <a:xfrm>
            <a:off x="7421728" y="4700016"/>
            <a:ext cx="4038448" cy="109728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Báo giá, chốt · hợp đồng/đơn hàng · cọc · nghiệm thu · thanh toán · ghi nhận hiệu quả</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Cấp Procurement quyết định chiến lược cho từng ô</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 dựa trên chiến lược gốc của CIPS (S01).</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18</a:t>
            </a:r>
            <a:endParaRPr lang="en-US" sz="1000" dirty="0"/>
          </a:p>
        </p:txBody>
      </p:sp>
      <p:sp>
        <p:nvSpPr>
          <p:cNvPr id="20" name="Shape 17"/>
          <p:cNvSpPr/>
          <p:nvPr/>
        </p:nvSpPr>
        <p:spPr>
          <a:xfrm>
            <a:off x="960120" y="1828800"/>
            <a:ext cx="3680460" cy="1943100"/>
          </a:xfrm>
          <a:prstGeom prst="roundRect">
            <a:avLst>
              <a:gd name="adj" fmla="val 5647"/>
            </a:avLst>
          </a:prstGeom>
          <a:solidFill>
            <a:srgbClr val="DDF1FB"/>
          </a:solidFill>
          <a:ln w="12700">
            <a:solidFill>
              <a:srgbClr val="09A1E5"/>
            </a:solidFill>
            <a:prstDash val="solid"/>
          </a:ln>
        </p:spPr>
      </p:sp>
      <p:sp>
        <p:nvSpPr>
          <p:cNvPr id="21" name="Shape 18"/>
          <p:cNvSpPr/>
          <p:nvPr/>
        </p:nvSpPr>
        <p:spPr>
          <a:xfrm>
            <a:off x="1097280" y="1965960"/>
            <a:ext cx="237744" cy="237744"/>
          </a:xfrm>
          <a:prstGeom prst="diamond">
            <a:avLst/>
          </a:prstGeom>
          <a:solidFill>
            <a:srgbClr val="09A1E5"/>
          </a:solidFill>
          <a:ln w="6350">
            <a:solidFill>
              <a:srgbClr val="09A1E5"/>
            </a:solidFill>
            <a:prstDash val="solid"/>
          </a:ln>
        </p:spPr>
      </p:sp>
      <p:sp>
        <p:nvSpPr>
          <p:cNvPr id="22" name="Text 19"/>
          <p:cNvSpPr txBox="1"/>
          <p:nvPr/>
        </p:nvSpPr>
        <p:spPr>
          <a:xfrm>
            <a:off x="1399032" y="1938528"/>
            <a:ext cx="3076956" cy="2926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Leverage</a:t>
            </a:r>
            <a:endParaRPr lang="en-US" sz="1600" dirty="0"/>
          </a:p>
        </p:txBody>
      </p:sp>
      <p:sp>
        <p:nvSpPr>
          <p:cNvPr id="23" name="Text 20"/>
          <p:cNvSpPr txBox="1"/>
          <p:nvPr/>
        </p:nvSpPr>
        <p:spPr>
          <a:xfrm>
            <a:off x="1124712" y="2267712"/>
            <a:ext cx="3351276" cy="1394460"/>
          </a:xfrm>
          <a:prstGeom prst="rect">
            <a:avLst/>
          </a:prstGeom>
          <a:noFill/>
          <a:ln/>
        </p:spPr>
        <p:txBody>
          <a:bodyPr wrap="square" lIns="0" tIns="0" rIns="0" bIns="0" rtlCol="0" anchor="t"/>
          <a:lstStyle/>
          <a:p>
            <a:pPr indent="0" marL="0">
              <a:spcAft>
                <a:spcPts val="300"/>
              </a:spcAft>
              <a:buNone/>
            </a:pPr>
            <a:r>
              <a:rPr lang="en-US" sz="1400" dirty="0">
                <a:solidFill>
                  <a:srgbClr val="2A2238"/>
                </a:solidFill>
                <a:latin typeface="Alexandria" pitchFamily="34" charset="0"/>
                <a:ea typeface="Alexandria" pitchFamily="34" charset="-122"/>
                <a:cs typeface="Alexandria" pitchFamily="34" charset="-120"/>
              </a:rPr>
              <a:t>Danh sách 2–3 nhà cung cấp ưu tiên; so giá định kỳ; gom khối lượng cả năm</a:t>
            </a:r>
            <a:endParaRPr lang="en-US" sz="1400" dirty="0"/>
          </a:p>
        </p:txBody>
      </p:sp>
      <p:sp>
        <p:nvSpPr>
          <p:cNvPr id="24" name="Shape 21"/>
          <p:cNvSpPr/>
          <p:nvPr/>
        </p:nvSpPr>
        <p:spPr>
          <a:xfrm>
            <a:off x="4732020" y="1828800"/>
            <a:ext cx="3680460" cy="1943100"/>
          </a:xfrm>
          <a:prstGeom prst="roundRect">
            <a:avLst>
              <a:gd name="adj" fmla="val 5647"/>
            </a:avLst>
          </a:prstGeom>
          <a:solidFill>
            <a:srgbClr val="F1E1EE"/>
          </a:solidFill>
          <a:ln w="12700">
            <a:solidFill>
              <a:srgbClr val="962B7C"/>
            </a:solidFill>
            <a:prstDash val="solid"/>
          </a:ln>
        </p:spPr>
      </p:sp>
      <p:sp>
        <p:nvSpPr>
          <p:cNvPr id="25" name="Shape 22"/>
          <p:cNvSpPr/>
          <p:nvPr/>
        </p:nvSpPr>
        <p:spPr>
          <a:xfrm>
            <a:off x="4869180" y="1965960"/>
            <a:ext cx="237744" cy="237744"/>
          </a:xfrm>
          <a:prstGeom prst="star5">
            <a:avLst/>
          </a:prstGeom>
          <a:solidFill>
            <a:srgbClr val="962B7C"/>
          </a:solidFill>
          <a:ln w="6350">
            <a:solidFill>
              <a:srgbClr val="962B7C"/>
            </a:solidFill>
            <a:prstDash val="solid"/>
          </a:ln>
        </p:spPr>
      </p:sp>
      <p:sp>
        <p:nvSpPr>
          <p:cNvPr id="26" name="Text 23"/>
          <p:cNvSpPr txBox="1"/>
          <p:nvPr/>
        </p:nvSpPr>
        <p:spPr>
          <a:xfrm>
            <a:off x="5170932" y="1938528"/>
            <a:ext cx="3076956" cy="2926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Strategic</a:t>
            </a:r>
            <a:endParaRPr lang="en-US" sz="1600" dirty="0"/>
          </a:p>
        </p:txBody>
      </p:sp>
      <p:sp>
        <p:nvSpPr>
          <p:cNvPr id="27" name="Text 24"/>
          <p:cNvSpPr txBox="1"/>
          <p:nvPr/>
        </p:nvSpPr>
        <p:spPr>
          <a:xfrm>
            <a:off x="4896612" y="2267712"/>
            <a:ext cx="3351276" cy="1394460"/>
          </a:xfrm>
          <a:prstGeom prst="rect">
            <a:avLst/>
          </a:prstGeom>
          <a:noFill/>
          <a:ln/>
        </p:spPr>
        <p:txBody>
          <a:bodyPr wrap="square" lIns="0" tIns="0" rIns="0" bIns="0" rtlCol="0" anchor="t"/>
          <a:lstStyle/>
          <a:p>
            <a:pPr indent="0" marL="0">
              <a:spcAft>
                <a:spcPts val="300"/>
              </a:spcAft>
              <a:buNone/>
            </a:pPr>
            <a:r>
              <a:rPr lang="en-US" sz="1400" dirty="0">
                <a:solidFill>
                  <a:srgbClr val="2A2238"/>
                </a:solidFill>
                <a:latin typeface="Alexandria" pitchFamily="34" charset="0"/>
                <a:ea typeface="Alexandria" pitchFamily="34" charset="-122"/>
                <a:cs typeface="Alexandria" pitchFamily="34" charset="-120"/>
              </a:rPr>
              <a:t>1–2 đối tác dài hạn; chia sẻ lịch sự kiện Key Account sớm; cam kết khối lượng nhiều năm</a:t>
            </a:r>
            <a:endParaRPr lang="en-US" sz="1400" dirty="0"/>
          </a:p>
        </p:txBody>
      </p:sp>
      <p:sp>
        <p:nvSpPr>
          <p:cNvPr id="28" name="Shape 25"/>
          <p:cNvSpPr/>
          <p:nvPr/>
        </p:nvSpPr>
        <p:spPr>
          <a:xfrm>
            <a:off x="960120" y="3863340"/>
            <a:ext cx="3680460" cy="1943100"/>
          </a:xfrm>
          <a:prstGeom prst="roundRect">
            <a:avLst>
              <a:gd name="adj" fmla="val 5647"/>
            </a:avLst>
          </a:prstGeom>
          <a:solidFill>
            <a:srgbClr val="E1F3EE"/>
          </a:solidFill>
          <a:ln w="12700">
            <a:solidFill>
              <a:srgbClr val="49B296"/>
            </a:solidFill>
            <a:prstDash val="solid"/>
          </a:ln>
        </p:spPr>
      </p:sp>
      <p:sp>
        <p:nvSpPr>
          <p:cNvPr id="29" name="Shape 26"/>
          <p:cNvSpPr/>
          <p:nvPr/>
        </p:nvSpPr>
        <p:spPr>
          <a:xfrm>
            <a:off x="1097280" y="4000500"/>
            <a:ext cx="237744" cy="237744"/>
          </a:xfrm>
          <a:prstGeom prst="ellipse">
            <a:avLst/>
          </a:prstGeom>
          <a:solidFill>
            <a:srgbClr val="49B296"/>
          </a:solidFill>
          <a:ln w="6350">
            <a:solidFill>
              <a:srgbClr val="49B296"/>
            </a:solidFill>
            <a:prstDash val="solid"/>
          </a:ln>
        </p:spPr>
      </p:sp>
      <p:sp>
        <p:nvSpPr>
          <p:cNvPr id="30" name="Text 27"/>
          <p:cNvSpPr txBox="1"/>
          <p:nvPr/>
        </p:nvSpPr>
        <p:spPr>
          <a:xfrm>
            <a:off x="1399032" y="3973068"/>
            <a:ext cx="3076956" cy="2926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Non-critical</a:t>
            </a:r>
            <a:endParaRPr lang="en-US" sz="1600" dirty="0"/>
          </a:p>
        </p:txBody>
      </p:sp>
      <p:sp>
        <p:nvSpPr>
          <p:cNvPr id="31" name="Text 28"/>
          <p:cNvSpPr txBox="1"/>
          <p:nvPr/>
        </p:nvSpPr>
        <p:spPr>
          <a:xfrm>
            <a:off x="1124712" y="4302252"/>
            <a:ext cx="3351276" cy="1394460"/>
          </a:xfrm>
          <a:prstGeom prst="rect">
            <a:avLst/>
          </a:prstGeom>
          <a:noFill/>
          <a:ln/>
        </p:spPr>
        <p:txBody>
          <a:bodyPr wrap="square" lIns="0" tIns="0" rIns="0" bIns="0" rtlCol="0" anchor="t"/>
          <a:lstStyle/>
          <a:p>
            <a:pPr indent="0" marL="0">
              <a:spcAft>
                <a:spcPts val="300"/>
              </a:spcAft>
              <a:buNone/>
            </a:pPr>
            <a:r>
              <a:rPr lang="en-US" sz="1400" dirty="0">
                <a:solidFill>
                  <a:srgbClr val="2A2238"/>
                </a:solidFill>
                <a:latin typeface="Alexandria" pitchFamily="34" charset="0"/>
                <a:ea typeface="Alexandria" pitchFamily="34" charset="-122"/>
                <a:cs typeface="Alexandria" pitchFamily="34" charset="-120"/>
              </a:rPr>
              <a:t>Mẫu đơn hàng chuẩn; cấp Buying tự quyết trong hạn mức</a:t>
            </a:r>
            <a:endParaRPr lang="en-US" sz="1400" dirty="0"/>
          </a:p>
        </p:txBody>
      </p:sp>
      <p:sp>
        <p:nvSpPr>
          <p:cNvPr id="32" name="Shape 29"/>
          <p:cNvSpPr/>
          <p:nvPr/>
        </p:nvSpPr>
        <p:spPr>
          <a:xfrm>
            <a:off x="4732020" y="3863340"/>
            <a:ext cx="3680460" cy="1943100"/>
          </a:xfrm>
          <a:prstGeom prst="roundRect">
            <a:avLst>
              <a:gd name="adj" fmla="val 5647"/>
            </a:avLst>
          </a:prstGeom>
          <a:solidFill>
            <a:srgbClr val="FFE4EA"/>
          </a:solidFill>
          <a:ln w="12700">
            <a:solidFill>
              <a:srgbClr val="FF5178"/>
            </a:solidFill>
            <a:prstDash val="solid"/>
          </a:ln>
        </p:spPr>
      </p:sp>
      <p:sp>
        <p:nvSpPr>
          <p:cNvPr id="33" name="Shape 30"/>
          <p:cNvSpPr/>
          <p:nvPr/>
        </p:nvSpPr>
        <p:spPr>
          <a:xfrm>
            <a:off x="4869180" y="4000500"/>
            <a:ext cx="237744" cy="237744"/>
          </a:xfrm>
          <a:prstGeom prst="triangle">
            <a:avLst/>
          </a:prstGeom>
          <a:solidFill>
            <a:srgbClr val="FF5178"/>
          </a:solidFill>
          <a:ln w="6350">
            <a:solidFill>
              <a:srgbClr val="FF5178"/>
            </a:solidFill>
            <a:prstDash val="solid"/>
          </a:ln>
        </p:spPr>
      </p:sp>
      <p:sp>
        <p:nvSpPr>
          <p:cNvPr id="34" name="Text 31"/>
          <p:cNvSpPr txBox="1"/>
          <p:nvPr/>
        </p:nvSpPr>
        <p:spPr>
          <a:xfrm>
            <a:off x="5170932" y="3973068"/>
            <a:ext cx="3076956" cy="2926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Bottleneck</a:t>
            </a:r>
            <a:endParaRPr lang="en-US" sz="1600" dirty="0"/>
          </a:p>
        </p:txBody>
      </p:sp>
      <p:sp>
        <p:nvSpPr>
          <p:cNvPr id="35" name="Text 32"/>
          <p:cNvSpPr txBox="1"/>
          <p:nvPr/>
        </p:nvSpPr>
        <p:spPr>
          <a:xfrm>
            <a:off x="4896612" y="4302252"/>
            <a:ext cx="3351276" cy="1394460"/>
          </a:xfrm>
          <a:prstGeom prst="rect">
            <a:avLst/>
          </a:prstGeom>
          <a:noFill/>
          <a:ln/>
        </p:spPr>
        <p:txBody>
          <a:bodyPr wrap="square" lIns="0" tIns="0" rIns="0" bIns="0" rtlCol="0" anchor="t"/>
          <a:lstStyle/>
          <a:p>
            <a:pPr indent="0" marL="0">
              <a:spcAft>
                <a:spcPts val="300"/>
              </a:spcAft>
              <a:buNone/>
            </a:pPr>
            <a:r>
              <a:rPr lang="en-US" sz="1400" dirty="0">
                <a:solidFill>
                  <a:srgbClr val="2A2238"/>
                </a:solidFill>
                <a:latin typeface="Alexandria" pitchFamily="34" charset="0"/>
                <a:ea typeface="Alexandria" pitchFamily="34" charset="-122"/>
                <a:cs typeface="Alexandria" pitchFamily="34" charset="-120"/>
              </a:rPr>
              <a:t>Dự phòng đã thẩm định; điều khoản khung về giá và hủy; theo dõi hợp đồng có độc quyền</a:t>
            </a:r>
            <a:endParaRPr lang="en-US" sz="1400" dirty="0"/>
          </a:p>
        </p:txBody>
      </p:sp>
      <p:sp>
        <p:nvSpPr>
          <p:cNvPr id="36" name="Shape 33"/>
          <p:cNvSpPr/>
          <p:nvPr/>
        </p:nvSpPr>
        <p:spPr>
          <a:xfrm flipV="1">
            <a:off x="877824" y="1828800"/>
            <a:ext cx="914" cy="3977640"/>
          </a:xfrm>
          <a:prstGeom prst="line">
            <a:avLst/>
          </a:prstGeom>
          <a:noFill/>
          <a:ln w="19050">
            <a:solidFill>
              <a:srgbClr val="6E6878"/>
            </a:solidFill>
            <a:prstDash val="solid"/>
            <a:tailEnd type="triangle"/>
          </a:ln>
        </p:spPr>
      </p:sp>
      <p:sp>
        <p:nvSpPr>
          <p:cNvPr id="37" name="Text 34"/>
          <p:cNvSpPr txBox="1"/>
          <p:nvPr/>
        </p:nvSpPr>
        <p:spPr>
          <a:xfrm rot="16200000">
            <a:off x="-1348740" y="3680460"/>
            <a:ext cx="3977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Profit impact  →  cao</a:t>
            </a:r>
            <a:endParaRPr lang="en-US" sz="1100" dirty="0"/>
          </a:p>
        </p:txBody>
      </p:sp>
      <p:sp>
        <p:nvSpPr>
          <p:cNvPr id="38" name="Shape 35"/>
          <p:cNvSpPr/>
          <p:nvPr/>
        </p:nvSpPr>
        <p:spPr>
          <a:xfrm>
            <a:off x="960120" y="5989320"/>
            <a:ext cx="7452360" cy="914"/>
          </a:xfrm>
          <a:prstGeom prst="line">
            <a:avLst/>
          </a:prstGeom>
          <a:noFill/>
          <a:ln w="19050">
            <a:solidFill>
              <a:srgbClr val="6E6878"/>
            </a:solidFill>
            <a:prstDash val="solid"/>
            <a:tailEnd type="triangle"/>
          </a:ln>
        </p:spPr>
      </p:sp>
      <p:sp>
        <p:nvSpPr>
          <p:cNvPr id="39" name="Text 36"/>
          <p:cNvSpPr txBox="1"/>
          <p:nvPr/>
        </p:nvSpPr>
        <p:spPr>
          <a:xfrm>
            <a:off x="960120" y="6025896"/>
            <a:ext cx="7452360" cy="201168"/>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Supply risk  →  cao</a:t>
            </a:r>
            <a:endParaRPr lang="en-US" sz="1100" dirty="0"/>
          </a:p>
        </p:txBody>
      </p:sp>
      <p:sp>
        <p:nvSpPr>
          <p:cNvPr id="40" name="Shape 37"/>
          <p:cNvSpPr/>
          <p:nvPr/>
        </p:nvSpPr>
        <p:spPr>
          <a:xfrm>
            <a:off x="8778240" y="1828800"/>
            <a:ext cx="2864815" cy="3886200"/>
          </a:xfrm>
          <a:prstGeom prst="roundRect">
            <a:avLst>
              <a:gd name="adj" fmla="val 3830"/>
            </a:avLst>
          </a:prstGeom>
          <a:solidFill>
            <a:srgbClr val="DDF1FB"/>
          </a:solidFill>
          <a:ln w="12700">
            <a:solidFill>
              <a:srgbClr val="09A1E5"/>
            </a:solidFill>
            <a:prstDash val="solid"/>
          </a:ln>
        </p:spPr>
      </p:sp>
      <p:sp>
        <p:nvSpPr>
          <p:cNvPr id="41" name="Text 38"/>
          <p:cNvSpPr txBox="1"/>
          <p:nvPr/>
        </p:nvSpPr>
        <p:spPr>
          <a:xfrm>
            <a:off x="9052560" y="2011680"/>
            <a:ext cx="2316175" cy="352044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Procurement</a:t>
            </a:r>
            <a:endParaRPr lang="en-US" sz="1800" dirty="0"/>
          </a:p>
          <a:p>
            <a:pPr indent="0" marL="0">
              <a:buNone/>
            </a:pPr>
            <a:r>
              <a:rPr lang="en-US" sz="1800" dirty="0">
                <a:solidFill>
                  <a:srgbClr val="2A2238"/>
                </a:solidFill>
                <a:latin typeface="Alexandria" pitchFamily="34" charset="0"/>
                <a:ea typeface="Alexandria" pitchFamily="34" charset="-122"/>
                <a:cs typeface="Alexandria" pitchFamily="34" charset="-120"/>
              </a:rPr>
              <a:t>đặt luật chơi cho từng ô.</a:t>
            </a:r>
            <a:endParaRPr lang="en-US" sz="1800" dirty="0"/>
          </a:p>
          <a:p>
            <a:pPr indent="0" marL="0">
              <a:buNone/>
            </a:pPr>
            <a:r>
              <a:rPr lang="en-US" sz="1800" dirty="0">
                <a:solidFill>
                  <a:srgbClr val="2A2238"/>
                </a:solidFill>
                <a:latin typeface="Alexandria" pitchFamily="34" charset="0"/>
                <a:ea typeface="Alexandria" pitchFamily="34" charset="-122"/>
                <a:cs typeface="Alexandria" pitchFamily="34" charset="-120"/>
              </a:rPr>
              <a:t> </a:t>
            </a:r>
            <a:endParaRPr lang="en-US" sz="1800" dirty="0"/>
          </a:p>
          <a:p>
            <a:pPr indent="0" marL="0">
              <a:buNone/>
            </a:pPr>
            <a:r>
              <a:rPr lang="en-US" sz="1800" b="1" dirty="0">
                <a:solidFill>
                  <a:srgbClr val="2A2238"/>
                </a:solidFill>
                <a:latin typeface="Alexandria" pitchFamily="34" charset="0"/>
                <a:ea typeface="Alexandria" pitchFamily="34" charset="-122"/>
                <a:cs typeface="Alexandria" pitchFamily="34" charset="-120"/>
              </a:rPr>
              <a:t>Buying</a:t>
            </a:r>
            <a:endParaRPr lang="en-US" sz="1800" dirty="0"/>
          </a:p>
          <a:p>
            <a:pPr indent="0" marL="0">
              <a:buNone/>
            </a:pPr>
            <a:r>
              <a:rPr lang="en-US" sz="1800" dirty="0">
                <a:solidFill>
                  <a:srgbClr val="2A2238"/>
                </a:solidFill>
                <a:latin typeface="Alexandria" pitchFamily="34" charset="0"/>
                <a:ea typeface="Alexandria" pitchFamily="34" charset="-122"/>
                <a:cs typeface="Alexandria" pitchFamily="34" charset="-120"/>
              </a:rPr>
              <a:t>làm đúng luật đó cho từng sự kiện.</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Agency chủ động trở thành customer of choice</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S05 (Grundfos) · S06 (CWT) · S09 (Smart Meetings) · S14 (Smart Meetings, chưa KCC).</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19</a:t>
            </a:r>
            <a:endParaRPr lang="en-US" sz="1000" dirty="0"/>
          </a:p>
        </p:txBody>
      </p:sp>
      <p:sp>
        <p:nvSpPr>
          <p:cNvPr id="20" name="Shape 17"/>
          <p:cNvSpPr/>
          <p:nvPr/>
        </p:nvSpPr>
        <p:spPr>
          <a:xfrm>
            <a:off x="548640" y="1874520"/>
            <a:ext cx="5410048" cy="1143000"/>
          </a:xfrm>
          <a:prstGeom prst="roundRect">
            <a:avLst>
              <a:gd name="adj" fmla="val 9600"/>
            </a:avLst>
          </a:prstGeom>
          <a:solidFill>
            <a:srgbClr val="FFFFFF"/>
          </a:solidFill>
          <a:ln w="12700">
            <a:solidFill>
              <a:srgbClr val="DCD7C8"/>
            </a:solidFill>
            <a:prstDash val="solid"/>
          </a:ln>
        </p:spPr>
      </p:sp>
      <p:sp>
        <p:nvSpPr>
          <p:cNvPr id="21" name="Shape 18"/>
          <p:cNvSpPr/>
          <p:nvPr/>
        </p:nvSpPr>
        <p:spPr>
          <a:xfrm>
            <a:off x="777240" y="2148840"/>
            <a:ext cx="594360" cy="594360"/>
          </a:xfrm>
          <a:prstGeom prst="ellipse">
            <a:avLst/>
          </a:prstGeom>
          <a:solidFill>
            <a:srgbClr val="FF9259"/>
          </a:solidFill>
          <a:ln w="12700">
            <a:solidFill>
              <a:srgbClr val="FF9259"/>
            </a:solidFill>
            <a:prstDash val="solid"/>
          </a:ln>
        </p:spPr>
      </p:sp>
      <p:sp>
        <p:nvSpPr>
          <p:cNvPr id="22" name="Text 19"/>
          <p:cNvSpPr txBox="1"/>
          <p:nvPr/>
        </p:nvSpPr>
        <p:spPr>
          <a:xfrm>
            <a:off x="777240" y="2148840"/>
            <a:ext cx="594360" cy="594360"/>
          </a:xfrm>
          <a:prstGeom prst="rect">
            <a:avLst/>
          </a:prstGeom>
          <a:noFill/>
          <a:ln/>
        </p:spPr>
        <p:txBody>
          <a:bodyPr wrap="square" lIns="0" tIns="0" rIns="0" bIns="0" rtlCol="0" anchor="ctr"/>
          <a:lstStyle/>
          <a:p>
            <a:pPr algn="ctr" indent="0" marL="0">
              <a:buNone/>
            </a:pPr>
            <a:r>
              <a:rPr lang="en-US" sz="2210" b="1" dirty="0">
                <a:solidFill>
                  <a:srgbClr val="2A2238"/>
                </a:solidFill>
                <a:latin typeface="Alexandria" pitchFamily="34" charset="0"/>
                <a:ea typeface="Alexandria" pitchFamily="34" charset="-122"/>
                <a:cs typeface="Alexandria" pitchFamily="34" charset="-120"/>
              </a:rPr>
              <a:t>1</a:t>
            </a:r>
            <a:endParaRPr lang="en-US" sz="2210" dirty="0"/>
          </a:p>
        </p:txBody>
      </p:sp>
      <p:sp>
        <p:nvSpPr>
          <p:cNvPr id="23" name="Text 20"/>
          <p:cNvSpPr txBox="1"/>
          <p:nvPr/>
        </p:nvSpPr>
        <p:spPr>
          <a:xfrm>
            <a:off x="1554480" y="1984248"/>
            <a:ext cx="4221328" cy="4114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Gom chi tiêu</a:t>
            </a:r>
            <a:endParaRPr lang="en-US" sz="1700" dirty="0"/>
          </a:p>
        </p:txBody>
      </p:sp>
      <p:sp>
        <p:nvSpPr>
          <p:cNvPr id="24" name="Text 21"/>
          <p:cNvSpPr txBox="1"/>
          <p:nvPr/>
        </p:nvSpPr>
        <p:spPr>
          <a:xfrm>
            <a:off x="1554480" y="2377440"/>
            <a:ext cx="4221328" cy="5486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Thu gọn số nhà cung cấp, dồn booking cho nhà cung cấp ưu tiên</a:t>
            </a:r>
            <a:endParaRPr lang="en-US" sz="1300" dirty="0"/>
          </a:p>
        </p:txBody>
      </p:sp>
      <p:sp>
        <p:nvSpPr>
          <p:cNvPr id="25" name="Shape 22"/>
          <p:cNvSpPr/>
          <p:nvPr/>
        </p:nvSpPr>
        <p:spPr>
          <a:xfrm>
            <a:off x="6233008" y="1874520"/>
            <a:ext cx="5410048" cy="1143000"/>
          </a:xfrm>
          <a:prstGeom prst="roundRect">
            <a:avLst>
              <a:gd name="adj" fmla="val 9600"/>
            </a:avLst>
          </a:prstGeom>
          <a:solidFill>
            <a:srgbClr val="FFFFFF"/>
          </a:solidFill>
          <a:ln w="12700">
            <a:solidFill>
              <a:srgbClr val="DCD7C8"/>
            </a:solidFill>
            <a:prstDash val="solid"/>
          </a:ln>
        </p:spPr>
      </p:sp>
      <p:sp>
        <p:nvSpPr>
          <p:cNvPr id="26" name="Shape 23"/>
          <p:cNvSpPr/>
          <p:nvPr/>
        </p:nvSpPr>
        <p:spPr>
          <a:xfrm>
            <a:off x="6461608" y="2148840"/>
            <a:ext cx="594360" cy="594360"/>
          </a:xfrm>
          <a:prstGeom prst="ellipse">
            <a:avLst/>
          </a:prstGeom>
          <a:solidFill>
            <a:srgbClr val="962B7C"/>
          </a:solidFill>
          <a:ln w="12700">
            <a:solidFill>
              <a:srgbClr val="962B7C"/>
            </a:solidFill>
            <a:prstDash val="solid"/>
          </a:ln>
        </p:spPr>
      </p:sp>
      <p:sp>
        <p:nvSpPr>
          <p:cNvPr id="27" name="Text 24"/>
          <p:cNvSpPr txBox="1"/>
          <p:nvPr/>
        </p:nvSpPr>
        <p:spPr>
          <a:xfrm>
            <a:off x="6461608" y="2148840"/>
            <a:ext cx="594360" cy="594360"/>
          </a:xfrm>
          <a:prstGeom prst="rect">
            <a:avLst/>
          </a:prstGeom>
          <a:noFill/>
          <a:ln/>
        </p:spPr>
        <p:txBody>
          <a:bodyPr wrap="square" lIns="0" tIns="0" rIns="0" bIns="0" rtlCol="0" anchor="ctr"/>
          <a:lstStyle/>
          <a:p>
            <a:pPr algn="ctr" indent="0" marL="0">
              <a:buNone/>
            </a:pPr>
            <a:r>
              <a:rPr lang="en-US" sz="2210" b="1" dirty="0">
                <a:solidFill>
                  <a:srgbClr val="FFFFFF"/>
                </a:solidFill>
                <a:latin typeface="Alexandria" pitchFamily="34" charset="0"/>
                <a:ea typeface="Alexandria" pitchFamily="34" charset="-122"/>
                <a:cs typeface="Alexandria" pitchFamily="34" charset="-120"/>
              </a:rPr>
              <a:t>2</a:t>
            </a:r>
            <a:endParaRPr lang="en-US" sz="2210" dirty="0"/>
          </a:p>
        </p:txBody>
      </p:sp>
      <p:sp>
        <p:nvSpPr>
          <p:cNvPr id="28" name="Text 25"/>
          <p:cNvSpPr txBox="1"/>
          <p:nvPr/>
        </p:nvSpPr>
        <p:spPr>
          <a:xfrm>
            <a:off x="7238848" y="1984248"/>
            <a:ext cx="4221328" cy="4114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Cam kết dài hạn</a:t>
            </a:r>
            <a:endParaRPr lang="en-US" sz="1700" dirty="0"/>
          </a:p>
        </p:txBody>
      </p:sp>
      <p:sp>
        <p:nvSpPr>
          <p:cNvPr id="29" name="Text 26"/>
          <p:cNvSpPr txBox="1"/>
          <p:nvPr/>
        </p:nvSpPr>
        <p:spPr>
          <a:xfrm>
            <a:off x="7238848" y="2377440"/>
            <a:ext cx="4221328" cy="5486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Cùng một khách sạn nhiều năm có thể được miễn phụ thu AV</a:t>
            </a:r>
            <a:endParaRPr lang="en-US" sz="1300" dirty="0"/>
          </a:p>
        </p:txBody>
      </p:sp>
      <p:sp>
        <p:nvSpPr>
          <p:cNvPr id="30" name="Shape 27"/>
          <p:cNvSpPr/>
          <p:nvPr/>
        </p:nvSpPr>
        <p:spPr>
          <a:xfrm>
            <a:off x="548640" y="3200400"/>
            <a:ext cx="5410048" cy="1143000"/>
          </a:xfrm>
          <a:prstGeom prst="roundRect">
            <a:avLst>
              <a:gd name="adj" fmla="val 9600"/>
            </a:avLst>
          </a:prstGeom>
          <a:solidFill>
            <a:srgbClr val="FFFFFF"/>
          </a:solidFill>
          <a:ln w="12700">
            <a:solidFill>
              <a:srgbClr val="DCD7C8"/>
            </a:solidFill>
            <a:prstDash val="solid"/>
          </a:ln>
        </p:spPr>
      </p:sp>
      <p:sp>
        <p:nvSpPr>
          <p:cNvPr id="31" name="Shape 28"/>
          <p:cNvSpPr/>
          <p:nvPr/>
        </p:nvSpPr>
        <p:spPr>
          <a:xfrm>
            <a:off x="777240" y="3474720"/>
            <a:ext cx="594360" cy="594360"/>
          </a:xfrm>
          <a:prstGeom prst="ellipse">
            <a:avLst/>
          </a:prstGeom>
          <a:solidFill>
            <a:srgbClr val="09A1E5"/>
          </a:solidFill>
          <a:ln w="12700">
            <a:solidFill>
              <a:srgbClr val="09A1E5"/>
            </a:solidFill>
            <a:prstDash val="solid"/>
          </a:ln>
        </p:spPr>
      </p:sp>
      <p:sp>
        <p:nvSpPr>
          <p:cNvPr id="32" name="Text 29"/>
          <p:cNvSpPr txBox="1"/>
          <p:nvPr/>
        </p:nvSpPr>
        <p:spPr>
          <a:xfrm>
            <a:off x="777240" y="3474720"/>
            <a:ext cx="594360" cy="594360"/>
          </a:xfrm>
          <a:prstGeom prst="rect">
            <a:avLst/>
          </a:prstGeom>
          <a:noFill/>
          <a:ln/>
        </p:spPr>
        <p:txBody>
          <a:bodyPr wrap="square" lIns="0" tIns="0" rIns="0" bIns="0" rtlCol="0" anchor="ctr"/>
          <a:lstStyle/>
          <a:p>
            <a:pPr algn="ctr" indent="0" marL="0">
              <a:buNone/>
            </a:pPr>
            <a:r>
              <a:rPr lang="en-US" sz="2210" b="1" dirty="0">
                <a:solidFill>
                  <a:srgbClr val="FFFFFF"/>
                </a:solidFill>
                <a:latin typeface="Alexandria" pitchFamily="34" charset="0"/>
                <a:ea typeface="Alexandria" pitchFamily="34" charset="-122"/>
                <a:cs typeface="Alexandria" pitchFamily="34" charset="-120"/>
              </a:rPr>
              <a:t>3</a:t>
            </a:r>
            <a:endParaRPr lang="en-US" sz="2210" dirty="0"/>
          </a:p>
        </p:txBody>
      </p:sp>
      <p:sp>
        <p:nvSpPr>
          <p:cNvPr id="33" name="Text 30"/>
          <p:cNvSpPr txBox="1"/>
          <p:nvPr/>
        </p:nvSpPr>
        <p:spPr>
          <a:xfrm>
            <a:off x="1554480" y="3310128"/>
            <a:ext cx="4221328" cy="4114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Quy mô + hợp đồng khung</a:t>
            </a:r>
            <a:endParaRPr lang="en-US" sz="1700" dirty="0"/>
          </a:p>
        </p:txBody>
      </p:sp>
      <p:sp>
        <p:nvSpPr>
          <p:cNvPr id="34" name="Text 31"/>
          <p:cNvSpPr txBox="1"/>
          <p:nvPr/>
        </p:nvSpPr>
        <p:spPr>
          <a:xfrm>
            <a:off x="1554480" y="3703320"/>
            <a:ext cx="4221328" cy="5486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Marriott giữ mức hoa hồng cũ cho công ty sourcing lớn có hợp đồng</a:t>
            </a:r>
            <a:endParaRPr lang="en-US" sz="1300" dirty="0"/>
          </a:p>
        </p:txBody>
      </p:sp>
      <p:sp>
        <p:nvSpPr>
          <p:cNvPr id="35" name="Shape 32"/>
          <p:cNvSpPr/>
          <p:nvPr/>
        </p:nvSpPr>
        <p:spPr>
          <a:xfrm>
            <a:off x="6233008" y="3200400"/>
            <a:ext cx="5410048" cy="1143000"/>
          </a:xfrm>
          <a:prstGeom prst="roundRect">
            <a:avLst>
              <a:gd name="adj" fmla="val 9600"/>
            </a:avLst>
          </a:prstGeom>
          <a:solidFill>
            <a:srgbClr val="FFFFFF"/>
          </a:solidFill>
          <a:ln w="12700">
            <a:solidFill>
              <a:srgbClr val="DCD7C8"/>
            </a:solidFill>
            <a:prstDash val="solid"/>
          </a:ln>
        </p:spPr>
      </p:sp>
      <p:sp>
        <p:nvSpPr>
          <p:cNvPr id="36" name="Shape 33"/>
          <p:cNvSpPr/>
          <p:nvPr/>
        </p:nvSpPr>
        <p:spPr>
          <a:xfrm>
            <a:off x="6461608" y="3474720"/>
            <a:ext cx="594360" cy="594360"/>
          </a:xfrm>
          <a:prstGeom prst="ellipse">
            <a:avLst/>
          </a:prstGeom>
          <a:solidFill>
            <a:srgbClr val="FF5178"/>
          </a:solidFill>
          <a:ln w="12700">
            <a:solidFill>
              <a:srgbClr val="FF5178"/>
            </a:solidFill>
            <a:prstDash val="solid"/>
          </a:ln>
        </p:spPr>
      </p:sp>
      <p:sp>
        <p:nvSpPr>
          <p:cNvPr id="37" name="Text 34"/>
          <p:cNvSpPr txBox="1"/>
          <p:nvPr/>
        </p:nvSpPr>
        <p:spPr>
          <a:xfrm>
            <a:off x="6461608" y="3474720"/>
            <a:ext cx="594360" cy="594360"/>
          </a:xfrm>
          <a:prstGeom prst="rect">
            <a:avLst/>
          </a:prstGeom>
          <a:noFill/>
          <a:ln/>
        </p:spPr>
        <p:txBody>
          <a:bodyPr wrap="square" lIns="0" tIns="0" rIns="0" bIns="0" rtlCol="0" anchor="ctr"/>
          <a:lstStyle/>
          <a:p>
            <a:pPr algn="ctr" indent="0" marL="0">
              <a:buNone/>
            </a:pPr>
            <a:r>
              <a:rPr lang="en-US" sz="2210" b="1" dirty="0">
                <a:solidFill>
                  <a:srgbClr val="FFFFFF"/>
                </a:solidFill>
                <a:latin typeface="Alexandria" pitchFamily="34" charset="0"/>
                <a:ea typeface="Alexandria" pitchFamily="34" charset="-122"/>
                <a:cs typeface="Alexandria" pitchFamily="34" charset="-120"/>
              </a:rPr>
              <a:t>4</a:t>
            </a:r>
            <a:endParaRPr lang="en-US" sz="2210" dirty="0"/>
          </a:p>
        </p:txBody>
      </p:sp>
      <p:sp>
        <p:nvSpPr>
          <p:cNvPr id="38" name="Text 35"/>
          <p:cNvSpPr txBox="1"/>
          <p:nvPr/>
        </p:nvSpPr>
        <p:spPr>
          <a:xfrm>
            <a:off x="7238848" y="3310128"/>
            <a:ext cx="4221328" cy="4114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Giữ cam kết thanh toán</a:t>
            </a:r>
            <a:endParaRPr lang="en-US" sz="1700" dirty="0"/>
          </a:p>
        </p:txBody>
      </p:sp>
      <p:sp>
        <p:nvSpPr>
          <p:cNvPr id="39" name="Text 36"/>
          <p:cNvSpPr txBox="1"/>
          <p:nvPr/>
        </p:nvSpPr>
        <p:spPr>
          <a:xfrm>
            <a:off x="7238848" y="3703320"/>
            <a:ext cx="4221328" cy="54864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Trả cọc trễ là mất ngay vị thế này</a:t>
            </a:r>
            <a:endParaRPr lang="en-US" sz="1300" dirty="0"/>
          </a:p>
        </p:txBody>
      </p:sp>
      <p:sp>
        <p:nvSpPr>
          <p:cNvPr id="40" name="Shape 37"/>
          <p:cNvSpPr/>
          <p:nvPr/>
        </p:nvSpPr>
        <p:spPr>
          <a:xfrm>
            <a:off x="548640" y="4663440"/>
            <a:ext cx="11094415" cy="1325880"/>
          </a:xfrm>
          <a:prstGeom prst="roundRect">
            <a:avLst>
              <a:gd name="adj" fmla="val 8276"/>
            </a:avLst>
          </a:prstGeom>
          <a:solidFill>
            <a:srgbClr val="FFF3C4"/>
          </a:solidFill>
          <a:ln w="12700">
            <a:solidFill>
              <a:srgbClr val="FFD23B"/>
            </a:solidFill>
            <a:prstDash val="solid"/>
          </a:ln>
        </p:spPr>
      </p:sp>
      <p:sp>
        <p:nvSpPr>
          <p:cNvPr id="41" name="Text 38"/>
          <p:cNvSpPr txBox="1"/>
          <p:nvPr/>
        </p:nvSpPr>
        <p:spPr>
          <a:xfrm>
            <a:off x="868680" y="4663440"/>
            <a:ext cx="10454335" cy="1325880"/>
          </a:xfrm>
          <a:prstGeom prst="rect">
            <a:avLst/>
          </a:prstGeom>
          <a:noFill/>
          <a:ln/>
        </p:spPr>
        <p:txBody>
          <a:bodyPr wrap="square" lIns="0" tIns="0" rIns="0" bIns="0" rtlCol="0" anchor="ctr"/>
          <a:lstStyle/>
          <a:p>
            <a:pPr indent="0" marL="0">
              <a:spcAft>
                <a:spcPts val="400"/>
              </a:spcAft>
              <a:buNone/>
            </a:pPr>
            <a:r>
              <a:rPr lang="en-US" sz="1600" i="1" dirty="0">
                <a:solidFill>
                  <a:srgbClr val="2A2238"/>
                </a:solidFill>
                <a:latin typeface="Alexandria" pitchFamily="34" charset="0"/>
                <a:ea typeface="Alexandria" pitchFamily="34" charset="-122"/>
                <a:cs typeface="Alexandria" pitchFamily="34" charset="-120"/>
              </a:rPr>
              <a:t>“Being a customer of choice and having less suppliers that you work with will enable preferential rates and prioritisation.”</a:t>
            </a:r>
            <a:endParaRPr lang="en-US" sz="1600" dirty="0"/>
          </a:p>
          <a:p>
            <a:pPr indent="0" marL="0">
              <a:spcAft>
                <a:spcPts val="400"/>
              </a:spcAft>
              <a:buNone/>
            </a:pPr>
            <a:r>
              <a:rPr lang="en-US" sz="1600" dirty="0">
                <a:solidFill>
                  <a:srgbClr val="6E6878"/>
                </a:solidFill>
                <a:latin typeface="Alexandria" pitchFamily="34" charset="0"/>
                <a:ea typeface="Alexandria" pitchFamily="34" charset="-122"/>
                <a:cs typeface="Alexandria" pitchFamily="34" charset="-120"/>
              </a:rPr>
              <a:t>— CWT (S06)</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Khi hai cấp gãy, sự kiện sụp — hoặc agency mất quyền mặc cả</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S15: VnExpress, VietNamNet (2025) · S16: Dân trí (2023) · S14: Smart Meetings, MPI (2018) · S21: Người Lao Động, VN News (2025).</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20</a:t>
            </a:r>
            <a:endParaRPr lang="en-US" sz="1000" dirty="0"/>
          </a:p>
        </p:txBody>
      </p:sp>
      <p:sp>
        <p:nvSpPr>
          <p:cNvPr id="20" name="Shape 17"/>
          <p:cNvSpPr/>
          <p:nvPr/>
        </p:nvSpPr>
        <p:spPr>
          <a:xfrm>
            <a:off x="548640" y="1810512"/>
            <a:ext cx="5410048" cy="2103120"/>
          </a:xfrm>
          <a:prstGeom prst="roundRect">
            <a:avLst>
              <a:gd name="adj" fmla="val 5217"/>
            </a:avLst>
          </a:prstGeom>
          <a:solidFill>
            <a:srgbClr val="FFE4EA"/>
          </a:solidFill>
          <a:ln w="12700">
            <a:solidFill>
              <a:srgbClr val="FF5178"/>
            </a:solidFill>
            <a:prstDash val="solid"/>
          </a:ln>
        </p:spPr>
      </p:sp>
      <p:sp>
        <p:nvSpPr>
          <p:cNvPr id="21" name="Text 18"/>
          <p:cNvSpPr txBox="1"/>
          <p:nvPr/>
        </p:nvSpPr>
        <p:spPr>
          <a:xfrm>
            <a:off x="822960" y="1947672"/>
            <a:ext cx="3032608"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Về đây bốn cánh chim trời</a:t>
            </a:r>
            <a:endParaRPr lang="en-US" sz="1600" dirty="0"/>
          </a:p>
        </p:txBody>
      </p:sp>
      <p:sp>
        <p:nvSpPr>
          <p:cNvPr id="22" name="Text 19"/>
          <p:cNvSpPr txBox="1"/>
          <p:nvPr/>
        </p:nvSpPr>
        <p:spPr>
          <a:xfrm>
            <a:off x="3764128" y="1947672"/>
            <a:ext cx="1920240" cy="411480"/>
          </a:xfrm>
          <a:prstGeom prst="rect">
            <a:avLst/>
          </a:prstGeom>
          <a:noFill/>
          <a:ln/>
        </p:spPr>
        <p:txBody>
          <a:bodyPr wrap="square" lIns="0" tIns="0" rIns="0" bIns="0" rtlCol="0" anchor="ctr"/>
          <a:lstStyle/>
          <a:p>
            <a:pPr algn="r" indent="0" marL="0">
              <a:buNone/>
            </a:pPr>
            <a:r>
              <a:rPr lang="en-US" sz="1200" dirty="0">
                <a:solidFill>
                  <a:srgbClr val="6E6878"/>
                </a:solidFill>
                <a:latin typeface="Alexandria" pitchFamily="34" charset="0"/>
                <a:ea typeface="Alexandria" pitchFamily="34" charset="-122"/>
                <a:cs typeface="Alexandria" pitchFamily="34" charset="-120"/>
              </a:rPr>
              <a:t>Hà Nội · 12/2025</a:t>
            </a:r>
            <a:endParaRPr lang="en-US" sz="1200" dirty="0"/>
          </a:p>
        </p:txBody>
      </p:sp>
      <p:sp>
        <p:nvSpPr>
          <p:cNvPr id="23" name="Text 20"/>
          <p:cNvSpPr txBox="1"/>
          <p:nvPr/>
        </p:nvSpPr>
        <p:spPr>
          <a:xfrm>
            <a:off x="822960" y="2404872"/>
            <a:ext cx="4861408" cy="82296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Cọc 50% trễ hơn 10 ngày, tác quyền chưa cấp phép → ekip và nghệ sĩ rút; show hủy khi khán giả đã vào</a:t>
            </a:r>
            <a:endParaRPr lang="en-US" sz="1300" dirty="0"/>
          </a:p>
        </p:txBody>
      </p:sp>
      <p:sp>
        <p:nvSpPr>
          <p:cNvPr id="24" name="Text 21"/>
          <p:cNvSpPr txBox="1"/>
          <p:nvPr/>
        </p:nvSpPr>
        <p:spPr>
          <a:xfrm>
            <a:off x="822960" y="3273552"/>
            <a:ext cx="4861408" cy="502920"/>
          </a:xfrm>
          <a:prstGeom prst="rect">
            <a:avLst/>
          </a:prstGeom>
          <a:noFill/>
          <a:ln/>
        </p:spPr>
        <p:txBody>
          <a:bodyPr wrap="square" lIns="0" tIns="0" rIns="0" bIns="0" rtlCol="0" anchor="ctr"/>
          <a:lstStyle/>
          <a:p>
            <a:pPr indent="0" marL="0">
              <a:buNone/>
            </a:pPr>
            <a:r>
              <a:rPr lang="en-US" sz="1400" b="1" dirty="0">
                <a:solidFill>
                  <a:srgbClr val="E03A62"/>
                </a:solidFill>
                <a:latin typeface="Alexandria" pitchFamily="34" charset="0"/>
                <a:ea typeface="Alexandria" pitchFamily="34" charset="-122"/>
                <a:cs typeface="Alexandria" pitchFamily="34" charset="-120"/>
              </a:rPr>
              <a:t>? </a:t>
            </a:r>
            <a:pPr indent="0" marL="0">
              <a:buNone/>
            </a:pPr>
            <a:r>
              <a:rPr lang="en-US" sz="1400" b="1" dirty="0">
                <a:solidFill>
                  <a:srgbClr val="2A2238"/>
                </a:solidFill>
                <a:latin typeface="Alexandria" pitchFamily="34" charset="0"/>
                <a:ea typeface="Alexandria" pitchFamily="34" charset="-122"/>
                <a:cs typeface="Alexandria" pitchFamily="34" charset="-120"/>
              </a:rPr>
              <a:t>Hạng mục nào là Strategic ở đây?</a:t>
            </a:r>
            <a:endParaRPr lang="en-US" sz="1400" dirty="0"/>
          </a:p>
        </p:txBody>
      </p:sp>
      <p:sp>
        <p:nvSpPr>
          <p:cNvPr id="25" name="Shape 22"/>
          <p:cNvSpPr/>
          <p:nvPr/>
        </p:nvSpPr>
        <p:spPr>
          <a:xfrm>
            <a:off x="6233008" y="1810512"/>
            <a:ext cx="5410048" cy="2103120"/>
          </a:xfrm>
          <a:prstGeom prst="roundRect">
            <a:avLst>
              <a:gd name="adj" fmla="val 5217"/>
            </a:avLst>
          </a:prstGeom>
          <a:solidFill>
            <a:srgbClr val="FFE4EA"/>
          </a:solidFill>
          <a:ln w="12700">
            <a:solidFill>
              <a:srgbClr val="FF5178"/>
            </a:solidFill>
            <a:prstDash val="solid"/>
          </a:ln>
        </p:spPr>
      </p:sp>
      <p:sp>
        <p:nvSpPr>
          <p:cNvPr id="26" name="Text 23"/>
          <p:cNvSpPr txBox="1"/>
          <p:nvPr/>
        </p:nvSpPr>
        <p:spPr>
          <a:xfrm>
            <a:off x="6507328" y="1947672"/>
            <a:ext cx="3032608"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K-Pop Festival Open Air #2</a:t>
            </a:r>
            <a:endParaRPr lang="en-US" sz="1600" dirty="0"/>
          </a:p>
        </p:txBody>
      </p:sp>
      <p:sp>
        <p:nvSpPr>
          <p:cNvPr id="27" name="Text 24"/>
          <p:cNvSpPr txBox="1"/>
          <p:nvPr/>
        </p:nvSpPr>
        <p:spPr>
          <a:xfrm>
            <a:off x="9448495" y="1947672"/>
            <a:ext cx="1920240" cy="411480"/>
          </a:xfrm>
          <a:prstGeom prst="rect">
            <a:avLst/>
          </a:prstGeom>
          <a:noFill/>
          <a:ln/>
        </p:spPr>
        <p:txBody>
          <a:bodyPr wrap="square" lIns="0" tIns="0" rIns="0" bIns="0" rtlCol="0" anchor="ctr"/>
          <a:lstStyle/>
          <a:p>
            <a:pPr algn="r" indent="0" marL="0">
              <a:buNone/>
            </a:pPr>
            <a:r>
              <a:rPr lang="en-US" sz="1200" dirty="0">
                <a:solidFill>
                  <a:srgbClr val="6E6878"/>
                </a:solidFill>
                <a:latin typeface="Alexandria" pitchFamily="34" charset="0"/>
                <a:ea typeface="Alexandria" pitchFamily="34" charset="-122"/>
                <a:cs typeface="Alexandria" pitchFamily="34" charset="-120"/>
              </a:rPr>
              <a:t>Hà Nội · 12/2023</a:t>
            </a:r>
            <a:endParaRPr lang="en-US" sz="1200" dirty="0"/>
          </a:p>
        </p:txBody>
      </p:sp>
      <p:sp>
        <p:nvSpPr>
          <p:cNvPr id="28" name="Text 25"/>
          <p:cNvSpPr txBox="1"/>
          <p:nvPr/>
        </p:nvSpPr>
        <p:spPr>
          <a:xfrm>
            <a:off x="6507328" y="2404872"/>
            <a:ext cx="4861408" cy="82296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2 ngày trước show, ca sĩ chưa nhận cọc, hợp đồng chưa ký đủ → show dừng</a:t>
            </a:r>
            <a:endParaRPr lang="en-US" sz="1300" dirty="0"/>
          </a:p>
        </p:txBody>
      </p:sp>
      <p:sp>
        <p:nvSpPr>
          <p:cNvPr id="29" name="Text 26"/>
          <p:cNvSpPr txBox="1"/>
          <p:nvPr/>
        </p:nvSpPr>
        <p:spPr>
          <a:xfrm>
            <a:off x="6507328" y="3273552"/>
            <a:ext cx="4861408" cy="502920"/>
          </a:xfrm>
          <a:prstGeom prst="rect">
            <a:avLst/>
          </a:prstGeom>
          <a:noFill/>
          <a:ln/>
        </p:spPr>
        <p:txBody>
          <a:bodyPr wrap="square" lIns="0" tIns="0" rIns="0" bIns="0" rtlCol="0" anchor="ctr"/>
          <a:lstStyle/>
          <a:p>
            <a:pPr indent="0" marL="0">
              <a:buNone/>
            </a:pPr>
            <a:r>
              <a:rPr lang="en-US" sz="1400" b="1" dirty="0">
                <a:solidFill>
                  <a:srgbClr val="E03A62"/>
                </a:solidFill>
                <a:latin typeface="Alexandria" pitchFamily="34" charset="0"/>
                <a:ea typeface="Alexandria" pitchFamily="34" charset="-122"/>
                <a:cs typeface="Alexandria" pitchFamily="34" charset="-120"/>
              </a:rPr>
              <a:t>? </a:t>
            </a:r>
            <a:pPr indent="0" marL="0">
              <a:buNone/>
            </a:pPr>
            <a:r>
              <a:rPr lang="en-US" sz="1400" b="1" dirty="0">
                <a:solidFill>
                  <a:srgbClr val="2A2238"/>
                </a:solidFill>
                <a:latin typeface="Alexandria" pitchFamily="34" charset="0"/>
                <a:ea typeface="Alexandria" pitchFamily="34" charset="-122"/>
                <a:cs typeface="Alexandria" pitchFamily="34" charset="-120"/>
              </a:rPr>
              <a:t>Điều kiện tối thiểu để giữ nhà cung cấp Strategic?</a:t>
            </a:r>
            <a:endParaRPr lang="en-US" sz="1400" dirty="0"/>
          </a:p>
        </p:txBody>
      </p:sp>
      <p:sp>
        <p:nvSpPr>
          <p:cNvPr id="30" name="Shape 27"/>
          <p:cNvSpPr/>
          <p:nvPr/>
        </p:nvSpPr>
        <p:spPr>
          <a:xfrm>
            <a:off x="548640" y="4050792"/>
            <a:ext cx="5410048" cy="2103120"/>
          </a:xfrm>
          <a:prstGeom prst="roundRect">
            <a:avLst>
              <a:gd name="adj" fmla="val 5217"/>
            </a:avLst>
          </a:prstGeom>
          <a:solidFill>
            <a:srgbClr val="DDF1FB"/>
          </a:solidFill>
          <a:ln w="12700">
            <a:solidFill>
              <a:srgbClr val="09A1E5"/>
            </a:solidFill>
            <a:prstDash val="solid"/>
          </a:ln>
        </p:spPr>
      </p:sp>
      <p:sp>
        <p:nvSpPr>
          <p:cNvPr id="31" name="Text 28"/>
          <p:cNvSpPr txBox="1"/>
          <p:nvPr/>
        </p:nvSpPr>
        <p:spPr>
          <a:xfrm>
            <a:off x="822960" y="4187952"/>
            <a:ext cx="3032608"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Marriott – Hilton</a:t>
            </a:r>
            <a:endParaRPr lang="en-US" sz="1600" dirty="0"/>
          </a:p>
        </p:txBody>
      </p:sp>
      <p:sp>
        <p:nvSpPr>
          <p:cNvPr id="32" name="Text 29"/>
          <p:cNvSpPr txBox="1"/>
          <p:nvPr/>
        </p:nvSpPr>
        <p:spPr>
          <a:xfrm>
            <a:off x="3764128" y="4187952"/>
            <a:ext cx="1920240" cy="411480"/>
          </a:xfrm>
          <a:prstGeom prst="rect">
            <a:avLst/>
          </a:prstGeom>
          <a:noFill/>
          <a:ln/>
        </p:spPr>
        <p:txBody>
          <a:bodyPr wrap="square" lIns="0" tIns="0" rIns="0" bIns="0" rtlCol="0" anchor="ctr"/>
          <a:lstStyle/>
          <a:p>
            <a:pPr algn="r" indent="0" marL="0">
              <a:buNone/>
            </a:pPr>
            <a:r>
              <a:rPr lang="en-US" sz="1200" dirty="0">
                <a:solidFill>
                  <a:srgbClr val="6E6878"/>
                </a:solidFill>
                <a:latin typeface="Alexandria" pitchFamily="34" charset="0"/>
                <a:ea typeface="Alexandria" pitchFamily="34" charset="-122"/>
                <a:cs typeface="Alexandria" pitchFamily="34" charset="-120"/>
              </a:rPr>
              <a:t>Mỹ · 2018</a:t>
            </a:r>
            <a:endParaRPr lang="en-US" sz="1200" dirty="0"/>
          </a:p>
        </p:txBody>
      </p:sp>
      <p:sp>
        <p:nvSpPr>
          <p:cNvPr id="33" name="Text 30"/>
          <p:cNvSpPr txBox="1"/>
          <p:nvPr/>
        </p:nvSpPr>
        <p:spPr>
          <a:xfrm>
            <a:off x="822960" y="4645152"/>
            <a:ext cx="4861408" cy="82296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Hai chuỗi khách sạn cắt hoa hồng cho trung gian từ 10% xuống 7%</a:t>
            </a:r>
            <a:endParaRPr lang="en-US" sz="1300" dirty="0"/>
          </a:p>
        </p:txBody>
      </p:sp>
      <p:sp>
        <p:nvSpPr>
          <p:cNvPr id="34" name="Text 31"/>
          <p:cNvSpPr txBox="1"/>
          <p:nvPr/>
        </p:nvSpPr>
        <p:spPr>
          <a:xfrm>
            <a:off x="822960" y="5513832"/>
            <a:ext cx="4861408" cy="502920"/>
          </a:xfrm>
          <a:prstGeom prst="rect">
            <a:avLst/>
          </a:prstGeom>
          <a:noFill/>
          <a:ln/>
        </p:spPr>
        <p:txBody>
          <a:bodyPr wrap="square" lIns="0" tIns="0" rIns="0" bIns="0" rtlCol="0" anchor="ctr"/>
          <a:lstStyle/>
          <a:p>
            <a:pPr indent="0" marL="0">
              <a:buNone/>
            </a:pPr>
            <a:r>
              <a:rPr lang="en-US" sz="1400" b="1" dirty="0">
                <a:solidFill>
                  <a:srgbClr val="0A7FB5"/>
                </a:solidFill>
                <a:latin typeface="Alexandria" pitchFamily="34" charset="0"/>
                <a:ea typeface="Alexandria" pitchFamily="34" charset="-122"/>
                <a:cs typeface="Alexandria" pitchFamily="34" charset="-120"/>
              </a:rPr>
              <a:t>? </a:t>
            </a:r>
            <a:pPr indent="0" marL="0">
              <a:buNone/>
            </a:pPr>
            <a:r>
              <a:rPr lang="en-US" sz="1400" b="1" dirty="0">
                <a:solidFill>
                  <a:srgbClr val="2A2238"/>
                </a:solidFill>
                <a:latin typeface="Alexandria" pitchFamily="34" charset="0"/>
                <a:ea typeface="Alexandria" pitchFamily="34" charset="-122"/>
                <a:cs typeface="Alexandria" pitchFamily="34" charset="-120"/>
              </a:rPr>
              <a:t>Agency nào được bảo vệ tốt hơn?</a:t>
            </a:r>
            <a:endParaRPr lang="en-US" sz="1400" dirty="0"/>
          </a:p>
        </p:txBody>
      </p:sp>
      <p:sp>
        <p:nvSpPr>
          <p:cNvPr id="35" name="Shape 32"/>
          <p:cNvSpPr/>
          <p:nvPr/>
        </p:nvSpPr>
        <p:spPr>
          <a:xfrm>
            <a:off x="6233008" y="4050792"/>
            <a:ext cx="5410048" cy="2103120"/>
          </a:xfrm>
          <a:prstGeom prst="roundRect">
            <a:avLst>
              <a:gd name="adj" fmla="val 5217"/>
            </a:avLst>
          </a:prstGeom>
          <a:solidFill>
            <a:srgbClr val="FFE9DE"/>
          </a:solidFill>
          <a:ln w="12700">
            <a:solidFill>
              <a:srgbClr val="FF9259"/>
            </a:solidFill>
            <a:prstDash val="solid"/>
          </a:ln>
        </p:spPr>
      </p:sp>
      <p:sp>
        <p:nvSpPr>
          <p:cNvPr id="36" name="Text 33"/>
          <p:cNvSpPr txBox="1"/>
          <p:nvPr/>
        </p:nvSpPr>
        <p:spPr>
          <a:xfrm>
            <a:off x="6507328" y="4187952"/>
            <a:ext cx="3032608" cy="41148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Vietravel – Vietravel Airlines</a:t>
            </a:r>
            <a:endParaRPr lang="en-US" sz="1600" dirty="0"/>
          </a:p>
        </p:txBody>
      </p:sp>
      <p:sp>
        <p:nvSpPr>
          <p:cNvPr id="37" name="Text 34"/>
          <p:cNvSpPr txBox="1"/>
          <p:nvPr/>
        </p:nvSpPr>
        <p:spPr>
          <a:xfrm>
            <a:off x="9448495" y="4187952"/>
            <a:ext cx="1920240" cy="411480"/>
          </a:xfrm>
          <a:prstGeom prst="rect">
            <a:avLst/>
          </a:prstGeom>
          <a:noFill/>
          <a:ln/>
        </p:spPr>
        <p:txBody>
          <a:bodyPr wrap="square" lIns="0" tIns="0" rIns="0" bIns="0" rtlCol="0" anchor="ctr"/>
          <a:lstStyle/>
          <a:p>
            <a:pPr algn="r" indent="0" marL="0">
              <a:buNone/>
            </a:pPr>
            <a:r>
              <a:rPr lang="en-US" sz="1200" dirty="0">
                <a:solidFill>
                  <a:srgbClr val="6E6878"/>
                </a:solidFill>
                <a:latin typeface="Alexandria" pitchFamily="34" charset="0"/>
                <a:ea typeface="Alexandria" pitchFamily="34" charset="-122"/>
                <a:cs typeface="Alexandria" pitchFamily="34" charset="-120"/>
              </a:rPr>
              <a:t>Việt Nam · 2019–2026</a:t>
            </a:r>
            <a:endParaRPr lang="en-US" sz="1200" dirty="0"/>
          </a:p>
        </p:txBody>
      </p:sp>
      <p:sp>
        <p:nvSpPr>
          <p:cNvPr id="38" name="Text 35"/>
          <p:cNvSpPr txBox="1"/>
          <p:nvPr/>
        </p:nvSpPr>
        <p:spPr>
          <a:xfrm>
            <a:off x="6507328" y="4645152"/>
            <a:ext cx="4861408" cy="822960"/>
          </a:xfrm>
          <a:prstGeom prst="rect">
            <a:avLst/>
          </a:prstGeom>
          <a:noFill/>
          <a:ln/>
        </p:spPr>
        <p:txBody>
          <a:bodyPr wrap="square" lIns="0" tIns="0" rIns="0" bIns="0" rtlCol="0" anchor="t"/>
          <a:lstStyle/>
          <a:p>
            <a:pPr indent="0" marL="0">
              <a:buNone/>
            </a:pPr>
            <a:r>
              <a:rPr lang="en-US" sz="1300" dirty="0">
                <a:solidFill>
                  <a:srgbClr val="2A2238"/>
                </a:solidFill>
                <a:latin typeface="Alexandria" pitchFamily="34" charset="0"/>
                <a:ea typeface="Alexandria" pitchFamily="34" charset="-122"/>
                <a:cs typeface="Alexandria" pitchFamily="34" charset="-120"/>
              </a:rPr>
              <a:t>Lập hãng bay năm 2020; đến 2025 thoái toàn bộ vốn để tập trung năng lực cốt lõi</a:t>
            </a:r>
            <a:endParaRPr lang="en-US" sz="1300" dirty="0"/>
          </a:p>
        </p:txBody>
      </p:sp>
      <p:sp>
        <p:nvSpPr>
          <p:cNvPr id="39" name="Text 36"/>
          <p:cNvSpPr txBox="1"/>
          <p:nvPr/>
        </p:nvSpPr>
        <p:spPr>
          <a:xfrm>
            <a:off x="6507328" y="5513832"/>
            <a:ext cx="4861408" cy="502920"/>
          </a:xfrm>
          <a:prstGeom prst="rect">
            <a:avLst/>
          </a:prstGeom>
          <a:noFill/>
          <a:ln/>
        </p:spPr>
        <p:txBody>
          <a:bodyPr wrap="square" lIns="0" tIns="0" rIns="0" bIns="0" rtlCol="0" anchor="ctr"/>
          <a:lstStyle/>
          <a:p>
            <a:pPr indent="0" marL="0">
              <a:buNone/>
            </a:pPr>
            <a:r>
              <a:rPr lang="en-US" sz="1400" b="1" dirty="0">
                <a:solidFill>
                  <a:srgbClr val="D9622B"/>
                </a:solidFill>
                <a:latin typeface="Alexandria" pitchFamily="34" charset="0"/>
                <a:ea typeface="Alexandria" pitchFamily="34" charset="-122"/>
                <a:cs typeface="Alexandria" pitchFamily="34" charset="-120"/>
              </a:rPr>
              <a:t>? </a:t>
            </a:r>
            <a:pPr indent="0" marL="0">
              <a:buNone/>
            </a:pPr>
            <a:r>
              <a:rPr lang="en-US" sz="1400" b="1" dirty="0">
                <a:solidFill>
                  <a:srgbClr val="2A2238"/>
                </a:solidFill>
                <a:latin typeface="Alexandria" pitchFamily="34" charset="0"/>
                <a:ea typeface="Alexandria" pitchFamily="34" charset="-122"/>
                <a:cs typeface="Alexandria" pitchFamily="34" charset="-120"/>
              </a:rPr>
              <a:t>Supply risk cao: xây đối tác hay tự sở hữu?</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Dữ liệu từ từng sự kiện nuôi quyết định chiến lược</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S11: Scofidio (2026), Skift Meetings.</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21</a:t>
            </a:r>
            <a:endParaRPr lang="en-US" sz="1000" dirty="0"/>
          </a:p>
        </p:txBody>
      </p:sp>
      <p:sp>
        <p:nvSpPr>
          <p:cNvPr id="20" name="Shape 17"/>
          <p:cNvSpPr/>
          <p:nvPr/>
        </p:nvSpPr>
        <p:spPr>
          <a:xfrm>
            <a:off x="2468880" y="1874520"/>
            <a:ext cx="3017520" cy="1600200"/>
          </a:xfrm>
          <a:prstGeom prst="roundRect">
            <a:avLst>
              <a:gd name="adj" fmla="val 6857"/>
            </a:avLst>
          </a:prstGeom>
          <a:solidFill>
            <a:srgbClr val="FFE9DE"/>
          </a:solidFill>
          <a:ln w="12700">
            <a:solidFill>
              <a:srgbClr val="FF9259"/>
            </a:solidFill>
            <a:prstDash val="solid"/>
          </a:ln>
        </p:spPr>
      </p:sp>
      <p:sp>
        <p:nvSpPr>
          <p:cNvPr id="21" name="Text 18"/>
          <p:cNvSpPr txBox="1"/>
          <p:nvPr/>
        </p:nvSpPr>
        <p:spPr>
          <a:xfrm>
            <a:off x="2651760" y="2011680"/>
            <a:ext cx="2651760" cy="45720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Buying</a:t>
            </a:r>
            <a:endParaRPr lang="en-US" sz="1700" dirty="0"/>
          </a:p>
        </p:txBody>
      </p:sp>
      <p:sp>
        <p:nvSpPr>
          <p:cNvPr id="22" name="Text 19"/>
          <p:cNvSpPr txBox="1"/>
          <p:nvPr/>
        </p:nvSpPr>
        <p:spPr>
          <a:xfrm>
            <a:off x="2651760" y="2514600"/>
            <a:ext cx="2651760" cy="822960"/>
          </a:xfrm>
          <a:prstGeom prst="rect">
            <a:avLst/>
          </a:prstGeom>
          <a:noFill/>
          <a:ln/>
        </p:spPr>
        <p:txBody>
          <a:bodyPr wrap="square" lIns="0" tIns="0" rIns="0" bIns="0" rtlCol="0" anchor="t"/>
          <a:lstStyle/>
          <a:p>
            <a:pPr algn="ctr" indent="0" marL="0">
              <a:buNone/>
            </a:pPr>
            <a:r>
              <a:rPr lang="en-US" sz="1300" dirty="0">
                <a:solidFill>
                  <a:srgbClr val="2A2238"/>
                </a:solidFill>
                <a:latin typeface="Alexandria" pitchFamily="34" charset="0"/>
                <a:ea typeface="Alexandria" pitchFamily="34" charset="-122"/>
                <a:cs typeface="Alexandria" pitchFamily="34" charset="-120"/>
              </a:rPr>
              <a:t>từng sự kiện: đúng hẹn? phát sinh? xử lý sự cố?</a:t>
            </a:r>
            <a:endParaRPr lang="en-US" sz="1300" dirty="0"/>
          </a:p>
        </p:txBody>
      </p:sp>
      <p:sp>
        <p:nvSpPr>
          <p:cNvPr id="23" name="Shape 20"/>
          <p:cNvSpPr/>
          <p:nvPr/>
        </p:nvSpPr>
        <p:spPr>
          <a:xfrm>
            <a:off x="4389120" y="4160520"/>
            <a:ext cx="3017520" cy="1600200"/>
          </a:xfrm>
          <a:prstGeom prst="roundRect">
            <a:avLst>
              <a:gd name="adj" fmla="val 6857"/>
            </a:avLst>
          </a:prstGeom>
          <a:solidFill>
            <a:srgbClr val="E1F3EE"/>
          </a:solidFill>
          <a:ln w="12700">
            <a:solidFill>
              <a:srgbClr val="49B296"/>
            </a:solidFill>
            <a:prstDash val="solid"/>
          </a:ln>
        </p:spPr>
      </p:sp>
      <p:sp>
        <p:nvSpPr>
          <p:cNvPr id="24" name="Text 21"/>
          <p:cNvSpPr txBox="1"/>
          <p:nvPr/>
        </p:nvSpPr>
        <p:spPr>
          <a:xfrm>
            <a:off x="4572000" y="4297680"/>
            <a:ext cx="2651760" cy="45720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Đánh giá nhà cung cấp</a:t>
            </a:r>
            <a:endParaRPr lang="en-US" sz="1700" dirty="0"/>
          </a:p>
        </p:txBody>
      </p:sp>
      <p:sp>
        <p:nvSpPr>
          <p:cNvPr id="25" name="Text 22"/>
          <p:cNvSpPr txBox="1"/>
          <p:nvPr/>
        </p:nvSpPr>
        <p:spPr>
          <a:xfrm>
            <a:off x="4572000" y="4800600"/>
            <a:ext cx="2651760" cy="822960"/>
          </a:xfrm>
          <a:prstGeom prst="rect">
            <a:avLst/>
          </a:prstGeom>
          <a:noFill/>
          <a:ln/>
        </p:spPr>
        <p:txBody>
          <a:bodyPr wrap="square" lIns="0" tIns="0" rIns="0" bIns="0" rtlCol="0" anchor="t"/>
          <a:lstStyle/>
          <a:p>
            <a:pPr algn="ctr" indent="0" marL="0">
              <a:buNone/>
            </a:pPr>
            <a:r>
              <a:rPr lang="en-US" sz="1300" dirty="0">
                <a:solidFill>
                  <a:srgbClr val="2A2238"/>
                </a:solidFill>
                <a:latin typeface="Alexandria" pitchFamily="34" charset="0"/>
                <a:ea typeface="Alexandria" pitchFamily="34" charset="-122"/>
                <a:cs typeface="Alexandria" pitchFamily="34" charset="-120"/>
              </a:rPr>
              <a:t>ghi nhận hiệu quả sau sự kiện</a:t>
            </a:r>
            <a:endParaRPr lang="en-US" sz="1300" dirty="0"/>
          </a:p>
        </p:txBody>
      </p:sp>
      <p:sp>
        <p:nvSpPr>
          <p:cNvPr id="26" name="Shape 23"/>
          <p:cNvSpPr/>
          <p:nvPr/>
        </p:nvSpPr>
        <p:spPr>
          <a:xfrm>
            <a:off x="548640" y="4160520"/>
            <a:ext cx="3017520" cy="1600200"/>
          </a:xfrm>
          <a:prstGeom prst="roundRect">
            <a:avLst>
              <a:gd name="adj" fmla="val 6857"/>
            </a:avLst>
          </a:prstGeom>
          <a:solidFill>
            <a:srgbClr val="DDF1FB"/>
          </a:solidFill>
          <a:ln w="12700">
            <a:solidFill>
              <a:srgbClr val="09A1E5"/>
            </a:solidFill>
            <a:prstDash val="solid"/>
          </a:ln>
        </p:spPr>
      </p:sp>
      <p:sp>
        <p:nvSpPr>
          <p:cNvPr id="27" name="Text 24"/>
          <p:cNvSpPr txBox="1"/>
          <p:nvPr/>
        </p:nvSpPr>
        <p:spPr>
          <a:xfrm>
            <a:off x="731520" y="4297680"/>
            <a:ext cx="2651760" cy="45720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Procurement</a:t>
            </a:r>
            <a:endParaRPr lang="en-US" sz="1700" dirty="0"/>
          </a:p>
        </p:txBody>
      </p:sp>
      <p:sp>
        <p:nvSpPr>
          <p:cNvPr id="28" name="Text 25"/>
          <p:cNvSpPr txBox="1"/>
          <p:nvPr/>
        </p:nvSpPr>
        <p:spPr>
          <a:xfrm>
            <a:off x="731520" y="4800600"/>
            <a:ext cx="2651760" cy="822960"/>
          </a:xfrm>
          <a:prstGeom prst="rect">
            <a:avLst/>
          </a:prstGeom>
          <a:noFill/>
          <a:ln/>
        </p:spPr>
        <p:txBody>
          <a:bodyPr wrap="square" lIns="0" tIns="0" rIns="0" bIns="0" rtlCol="0" anchor="t"/>
          <a:lstStyle/>
          <a:p>
            <a:pPr algn="ctr" indent="0" marL="0">
              <a:buNone/>
            </a:pPr>
            <a:r>
              <a:rPr lang="en-US" sz="1300" dirty="0">
                <a:solidFill>
                  <a:srgbClr val="2A2238"/>
                </a:solidFill>
                <a:latin typeface="Alexandria" pitchFamily="34" charset="0"/>
                <a:ea typeface="Alexandria" pitchFamily="34" charset="-122"/>
                <a:cs typeface="Alexandria" pitchFamily="34" charset="-120"/>
              </a:rPr>
              <a:t>cập nhật danh sách ưu tiên, thỏa thuận khung</a:t>
            </a:r>
            <a:endParaRPr lang="en-US" sz="1300" dirty="0"/>
          </a:p>
        </p:txBody>
      </p:sp>
      <p:sp>
        <p:nvSpPr>
          <p:cNvPr id="29" name="Shape 26"/>
          <p:cNvSpPr/>
          <p:nvPr/>
        </p:nvSpPr>
        <p:spPr>
          <a:xfrm>
            <a:off x="5120640" y="3520440"/>
            <a:ext cx="777240" cy="594360"/>
          </a:xfrm>
          <a:prstGeom prst="line">
            <a:avLst/>
          </a:prstGeom>
          <a:noFill/>
          <a:ln w="31750">
            <a:solidFill>
              <a:srgbClr val="2A2238"/>
            </a:solidFill>
            <a:prstDash val="solid"/>
            <a:tailEnd type="triangle"/>
          </a:ln>
        </p:spPr>
      </p:sp>
      <p:sp>
        <p:nvSpPr>
          <p:cNvPr id="30" name="Shape 27"/>
          <p:cNvSpPr/>
          <p:nvPr/>
        </p:nvSpPr>
        <p:spPr>
          <a:xfrm flipH="1">
            <a:off x="3657600" y="4960620"/>
            <a:ext cx="640080" cy="914"/>
          </a:xfrm>
          <a:prstGeom prst="line">
            <a:avLst/>
          </a:prstGeom>
          <a:noFill/>
          <a:ln w="31750">
            <a:solidFill>
              <a:srgbClr val="2A2238"/>
            </a:solidFill>
            <a:prstDash val="solid"/>
            <a:tailEnd type="triangle"/>
          </a:ln>
        </p:spPr>
      </p:sp>
      <p:sp>
        <p:nvSpPr>
          <p:cNvPr id="31" name="Shape 28"/>
          <p:cNvSpPr/>
          <p:nvPr/>
        </p:nvSpPr>
        <p:spPr>
          <a:xfrm flipV="1">
            <a:off x="2057400" y="3520440"/>
            <a:ext cx="777240" cy="594360"/>
          </a:xfrm>
          <a:prstGeom prst="line">
            <a:avLst/>
          </a:prstGeom>
          <a:noFill/>
          <a:ln w="31750">
            <a:solidFill>
              <a:srgbClr val="2A2238"/>
            </a:solidFill>
            <a:prstDash val="solid"/>
            <a:tailEnd type="triangle"/>
          </a:ln>
        </p:spPr>
      </p:sp>
      <p:sp>
        <p:nvSpPr>
          <p:cNvPr id="32" name="Shape 29"/>
          <p:cNvSpPr/>
          <p:nvPr/>
        </p:nvSpPr>
        <p:spPr>
          <a:xfrm>
            <a:off x="8001000" y="1874520"/>
            <a:ext cx="3642055" cy="2926080"/>
          </a:xfrm>
          <a:prstGeom prst="roundRect">
            <a:avLst>
              <a:gd name="adj" fmla="val 3750"/>
            </a:avLst>
          </a:prstGeom>
          <a:solidFill>
            <a:srgbClr val="FFF3C4"/>
          </a:solidFill>
          <a:ln w="12700">
            <a:solidFill>
              <a:srgbClr val="FFD23B"/>
            </a:solidFill>
            <a:prstDash val="solid"/>
          </a:ln>
        </p:spPr>
      </p:sp>
      <p:sp>
        <p:nvSpPr>
          <p:cNvPr id="33" name="Text 30"/>
          <p:cNvSpPr txBox="1"/>
          <p:nvPr/>
        </p:nvSpPr>
        <p:spPr>
          <a:xfrm>
            <a:off x="8275320" y="1874520"/>
            <a:ext cx="3093415" cy="2926080"/>
          </a:xfrm>
          <a:prstGeom prst="rect">
            <a:avLst/>
          </a:prstGeom>
          <a:noFill/>
          <a:ln/>
        </p:spPr>
        <p:txBody>
          <a:bodyPr wrap="square" lIns="0" tIns="0" rIns="0" bIns="0" rtlCol="0" anchor="ctr"/>
          <a:lstStyle/>
          <a:p>
            <a:pPr indent="0" marL="0">
              <a:buNone/>
            </a:pPr>
            <a:r>
              <a:rPr lang="en-US" sz="1700" i="1" dirty="0">
                <a:solidFill>
                  <a:srgbClr val="2A2238"/>
                </a:solidFill>
                <a:latin typeface="Alexandria" pitchFamily="34" charset="0"/>
                <a:ea typeface="Alexandria" pitchFamily="34" charset="-122"/>
                <a:cs typeface="Alexandria" pitchFamily="34" charset="-120"/>
              </a:rPr>
              <a:t>“Supplier feedback, performance insights, and negotiation lessons shouldn't disappear when an event ends.”</a:t>
            </a:r>
            <a:endParaRPr lang="en-US" sz="1700" dirty="0"/>
          </a:p>
          <a:p>
            <a:pPr indent="0" marL="0">
              <a:buNone/>
            </a:pPr>
            <a:r>
              <a:rPr lang="en-US" sz="1700" dirty="0">
                <a:solidFill>
                  <a:srgbClr val="2A2238"/>
                </a:solidFill>
                <a:latin typeface="Alexandria" pitchFamily="34" charset="0"/>
                <a:ea typeface="Alexandria" pitchFamily="34" charset="-122"/>
                <a:cs typeface="Alexandria" pitchFamily="34" charset="-120"/>
              </a:rPr>
              <a:t> </a:t>
            </a:r>
            <a:endParaRPr lang="en-US" sz="1700" dirty="0"/>
          </a:p>
          <a:p>
            <a:pPr indent="0" marL="0">
              <a:buNone/>
            </a:pPr>
            <a:r>
              <a:rPr lang="en-US" sz="1200" dirty="0">
                <a:solidFill>
                  <a:srgbClr val="6E6878"/>
                </a:solidFill>
                <a:latin typeface="Alexandria" pitchFamily="34" charset="0"/>
                <a:ea typeface="Alexandria" pitchFamily="34" charset="-122"/>
                <a:cs typeface="Alexandria" pitchFamily="34" charset="-120"/>
              </a:rPr>
              <a:t>— Virginie Raimondi, Global Procurement Director, EGG Events</a:t>
            </a:r>
            <a:endParaRPr lang="en-US" sz="1700" dirty="0"/>
          </a:p>
        </p:txBody>
      </p:sp>
      <p:sp>
        <p:nvSpPr>
          <p:cNvPr id="34" name="Text 31"/>
          <p:cNvSpPr txBox="1"/>
          <p:nvPr/>
        </p:nvSpPr>
        <p:spPr>
          <a:xfrm>
            <a:off x="8001000" y="5074920"/>
            <a:ext cx="3642055" cy="640080"/>
          </a:xfrm>
          <a:prstGeom prst="rect">
            <a:avLst/>
          </a:prstGeom>
          <a:noFill/>
          <a:ln/>
        </p:spPr>
        <p:txBody>
          <a:bodyPr wrap="square" lIns="0" tIns="0" rIns="0" bIns="0" rtlCol="0" anchor="t"/>
          <a:lstStyle/>
          <a:p>
            <a:pPr indent="0" marL="0">
              <a:buNone/>
            </a:pPr>
            <a:r>
              <a:rPr lang="en-US" sz="1300" dirty="0">
                <a:solidFill>
                  <a:srgbClr val="6E6878"/>
                </a:solidFill>
                <a:latin typeface="Alexandria" pitchFamily="34" charset="0"/>
                <a:ea typeface="Alexandria" pitchFamily="34" charset="-122"/>
                <a:cs typeface="Alexandria" pitchFamily="34" charset="-120"/>
              </a:rPr>
              <a:t>RFP / RFQ, chọn nhà cung cấp, site check → Buổi 10</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Trong 7.3: Key Account là người mua, KAMer là người của agency</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22</a:t>
            </a:r>
            <a:endParaRPr lang="en-US" sz="1000" dirty="0"/>
          </a:p>
        </p:txBody>
      </p:sp>
      <p:sp>
        <p:nvSpPr>
          <p:cNvPr id="19" name="Shape 16"/>
          <p:cNvSpPr/>
          <p:nvPr/>
        </p:nvSpPr>
        <p:spPr>
          <a:xfrm>
            <a:off x="4480560" y="3246120"/>
            <a:ext cx="3200400" cy="1828800"/>
          </a:xfrm>
          <a:prstGeom prst="roundRect">
            <a:avLst>
              <a:gd name="adj" fmla="val 15000"/>
            </a:avLst>
          </a:prstGeom>
          <a:solidFill>
            <a:srgbClr val="EDE8DA"/>
          </a:solidFill>
          <a:ln w="12700">
            <a:solidFill>
              <a:srgbClr val="DCD7C8"/>
            </a:solidFill>
            <a:prstDash val="solid"/>
          </a:ln>
        </p:spPr>
      </p:sp>
      <p:sp>
        <p:nvSpPr>
          <p:cNvPr id="20" name="Text 17"/>
          <p:cNvSpPr txBox="1"/>
          <p:nvPr/>
        </p:nvSpPr>
        <p:spPr>
          <a:xfrm>
            <a:off x="4480560" y="3246120"/>
            <a:ext cx="3200400" cy="1828800"/>
          </a:xfrm>
          <a:prstGeom prst="rect">
            <a:avLst/>
          </a:prstGeom>
          <a:noFill/>
          <a:ln/>
        </p:spPr>
        <p:txBody>
          <a:bodyPr wrap="square" lIns="0" tIns="0" rIns="0" bIns="0" rtlCol="0" anchor="ctr"/>
          <a:lstStyle/>
          <a:p>
            <a:pPr algn="ctr" indent="0" marL="0">
              <a:buNone/>
            </a:pPr>
            <a:r>
              <a:rPr lang="en-US" sz="1400" i="1" dirty="0">
                <a:solidFill>
                  <a:srgbClr val="6E6878"/>
                </a:solidFill>
                <a:latin typeface="Alexandria" pitchFamily="34" charset="0"/>
                <a:ea typeface="Alexandria" pitchFamily="34" charset="-122"/>
                <a:cs typeface="Alexandria" pitchFamily="34" charset="-120"/>
              </a:rPr>
              <a:t>bàn đàm phán</a:t>
            </a:r>
            <a:endParaRPr lang="en-US" sz="1400" dirty="0"/>
          </a:p>
        </p:txBody>
      </p:sp>
      <p:sp>
        <p:nvSpPr>
          <p:cNvPr id="21" name="Shape 18"/>
          <p:cNvSpPr/>
          <p:nvPr/>
        </p:nvSpPr>
        <p:spPr>
          <a:xfrm>
            <a:off x="822960" y="2971800"/>
            <a:ext cx="3291840" cy="2377440"/>
          </a:xfrm>
          <a:prstGeom prst="roundRect">
            <a:avLst>
              <a:gd name="adj" fmla="val 4615"/>
            </a:avLst>
          </a:prstGeom>
          <a:solidFill>
            <a:srgbClr val="F1E1EE"/>
          </a:solidFill>
          <a:ln w="12700">
            <a:solidFill>
              <a:srgbClr val="962B7C"/>
            </a:solidFill>
            <a:prstDash val="solid"/>
          </a:ln>
        </p:spPr>
      </p:sp>
      <p:sp>
        <p:nvSpPr>
          <p:cNvPr id="22" name="Text 19"/>
          <p:cNvSpPr txBox="1"/>
          <p:nvPr/>
        </p:nvSpPr>
        <p:spPr>
          <a:xfrm>
            <a:off x="1051560" y="3108960"/>
            <a:ext cx="2834640" cy="50292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Key Account</a:t>
            </a:r>
            <a:endParaRPr lang="en-US" sz="2200" dirty="0"/>
          </a:p>
        </p:txBody>
      </p:sp>
      <p:sp>
        <p:nvSpPr>
          <p:cNvPr id="23" name="Text 20"/>
          <p:cNvSpPr txBox="1"/>
          <p:nvPr/>
        </p:nvSpPr>
        <p:spPr>
          <a:xfrm>
            <a:off x="1051560" y="3611880"/>
            <a:ext cx="2834640" cy="365760"/>
          </a:xfrm>
          <a:prstGeom prst="rect">
            <a:avLst/>
          </a:prstGeom>
          <a:noFill/>
          <a:ln/>
        </p:spPr>
        <p:txBody>
          <a:bodyPr wrap="square" lIns="0" tIns="0" rIns="0" bIns="0" rtlCol="0" anchor="ctr"/>
          <a:lstStyle/>
          <a:p>
            <a:pPr algn="ctr" indent="0" marL="0">
              <a:buNone/>
            </a:pPr>
            <a:r>
              <a:rPr lang="en-US" sz="1400" dirty="0">
                <a:solidFill>
                  <a:srgbClr val="6E6878"/>
                </a:solidFill>
                <a:latin typeface="Alexandria" pitchFamily="34" charset="0"/>
                <a:ea typeface="Alexandria" pitchFamily="34" charset="-122"/>
                <a:cs typeface="Alexandria" pitchFamily="34" charset="-120"/>
              </a:rPr>
              <a:t>Customer · Buyer</a:t>
            </a:r>
            <a:endParaRPr lang="en-US" sz="1400" dirty="0"/>
          </a:p>
        </p:txBody>
      </p:sp>
      <p:sp>
        <p:nvSpPr>
          <p:cNvPr id="24" name="Text 21"/>
          <p:cNvSpPr txBox="1"/>
          <p:nvPr/>
        </p:nvSpPr>
        <p:spPr>
          <a:xfrm>
            <a:off x="1051560" y="4069080"/>
            <a:ext cx="2834640" cy="1097280"/>
          </a:xfrm>
          <a:prstGeom prst="rect">
            <a:avLst/>
          </a:prstGeom>
          <a:noFill/>
          <a:ln/>
        </p:spPr>
        <p:txBody>
          <a:bodyPr wrap="square" lIns="0" tIns="0" rIns="0" bIns="0" rtlCol="0" anchor="t"/>
          <a:lstStyle/>
          <a:p>
            <a:pPr algn="ctr" indent="0" marL="0">
              <a:buNone/>
            </a:pPr>
            <a:r>
              <a:rPr lang="en-US" sz="1600" dirty="0">
                <a:solidFill>
                  <a:srgbClr val="2A2238"/>
                </a:solidFill>
                <a:latin typeface="Alexandria" pitchFamily="34" charset="0"/>
                <a:ea typeface="Alexandria" pitchFamily="34" charset="-122"/>
                <a:cs typeface="Alexandria" pitchFamily="34" charset="-120"/>
              </a:rPr>
              <a:t>Ngân hàng An Phát</a:t>
            </a:r>
            <a:endParaRPr lang="en-US" sz="1600" dirty="0"/>
          </a:p>
        </p:txBody>
      </p:sp>
      <p:sp>
        <p:nvSpPr>
          <p:cNvPr id="25" name="Shape 22"/>
          <p:cNvSpPr/>
          <p:nvPr/>
        </p:nvSpPr>
        <p:spPr>
          <a:xfrm>
            <a:off x="8076895" y="2971800"/>
            <a:ext cx="3291840" cy="2377440"/>
          </a:xfrm>
          <a:prstGeom prst="roundRect">
            <a:avLst>
              <a:gd name="adj" fmla="val 4615"/>
            </a:avLst>
          </a:prstGeom>
          <a:solidFill>
            <a:srgbClr val="FFE4EA"/>
          </a:solidFill>
          <a:ln w="12700">
            <a:solidFill>
              <a:srgbClr val="FF5178"/>
            </a:solidFill>
            <a:prstDash val="solid"/>
          </a:ln>
        </p:spPr>
      </p:sp>
      <p:sp>
        <p:nvSpPr>
          <p:cNvPr id="26" name="Text 23"/>
          <p:cNvSpPr txBox="1"/>
          <p:nvPr/>
        </p:nvSpPr>
        <p:spPr>
          <a:xfrm>
            <a:off x="8305495" y="3108960"/>
            <a:ext cx="2834640" cy="502920"/>
          </a:xfrm>
          <a:prstGeom prst="rect">
            <a:avLst/>
          </a:prstGeom>
          <a:noFill/>
          <a:ln/>
        </p:spPr>
        <p:txBody>
          <a:bodyPr wrap="square" lIns="0" tIns="0" rIns="0" bIns="0" rtlCol="0" anchor="ctr"/>
          <a:lstStyle/>
          <a:p>
            <a:pPr algn="ctr" indent="0" marL="0">
              <a:buNone/>
            </a:pPr>
            <a:r>
              <a:rPr lang="en-US" sz="2200" b="1" dirty="0">
                <a:solidFill>
                  <a:srgbClr val="2A2238"/>
                </a:solidFill>
                <a:latin typeface="Alexandria" pitchFamily="34" charset="0"/>
                <a:ea typeface="Alexandria" pitchFamily="34" charset="-122"/>
                <a:cs typeface="Alexandria" pitchFamily="34" charset="-120"/>
              </a:rPr>
              <a:t>KAMer</a:t>
            </a:r>
            <a:endParaRPr lang="en-US" sz="2200" dirty="0"/>
          </a:p>
        </p:txBody>
      </p:sp>
      <p:sp>
        <p:nvSpPr>
          <p:cNvPr id="27" name="Text 24"/>
          <p:cNvSpPr txBox="1"/>
          <p:nvPr/>
        </p:nvSpPr>
        <p:spPr>
          <a:xfrm>
            <a:off x="8305495" y="3611880"/>
            <a:ext cx="2834640" cy="365760"/>
          </a:xfrm>
          <a:prstGeom prst="rect">
            <a:avLst/>
          </a:prstGeom>
          <a:noFill/>
          <a:ln/>
        </p:spPr>
        <p:txBody>
          <a:bodyPr wrap="square" lIns="0" tIns="0" rIns="0" bIns="0" rtlCol="0" anchor="ctr"/>
          <a:lstStyle/>
          <a:p>
            <a:pPr algn="ctr" indent="0" marL="0">
              <a:buNone/>
            </a:pPr>
            <a:r>
              <a:rPr lang="en-US" sz="1400" dirty="0">
                <a:solidFill>
                  <a:srgbClr val="6E6878"/>
                </a:solidFill>
                <a:latin typeface="Alexandria" pitchFamily="34" charset="0"/>
                <a:ea typeface="Alexandria" pitchFamily="34" charset="-122"/>
                <a:cs typeface="Alexandria" pitchFamily="34" charset="-120"/>
              </a:rPr>
              <a:t>người của agency</a:t>
            </a:r>
            <a:endParaRPr lang="en-US" sz="1400" dirty="0"/>
          </a:p>
        </p:txBody>
      </p:sp>
      <p:sp>
        <p:nvSpPr>
          <p:cNvPr id="28" name="Text 25"/>
          <p:cNvSpPr txBox="1"/>
          <p:nvPr/>
        </p:nvSpPr>
        <p:spPr>
          <a:xfrm>
            <a:off x="8305495" y="4069080"/>
            <a:ext cx="2834640" cy="1097280"/>
          </a:xfrm>
          <a:prstGeom prst="rect">
            <a:avLst/>
          </a:prstGeom>
          <a:noFill/>
          <a:ln/>
        </p:spPr>
        <p:txBody>
          <a:bodyPr wrap="square" lIns="0" tIns="0" rIns="0" bIns="0" rtlCol="0" anchor="t"/>
          <a:lstStyle/>
          <a:p>
            <a:pPr algn="ctr" indent="0" marL="0">
              <a:buNone/>
            </a:pPr>
            <a:r>
              <a:rPr lang="en-US" sz="1600" dirty="0">
                <a:solidFill>
                  <a:srgbClr val="2A2238"/>
                </a:solidFill>
                <a:latin typeface="Alexandria" pitchFamily="34" charset="0"/>
                <a:ea typeface="Alexandria" pitchFamily="34" charset="-122"/>
                <a:cs typeface="Alexandria" pitchFamily="34" charset="-120"/>
              </a:rPr>
              <a:t>Nova Events</a:t>
            </a:r>
            <a:endParaRPr lang="en-US" sz="1600" dirty="0"/>
          </a:p>
        </p:txBody>
      </p:sp>
      <p:sp>
        <p:nvSpPr>
          <p:cNvPr id="29" name="Text 26"/>
          <p:cNvSpPr txBox="1"/>
          <p:nvPr/>
        </p:nvSpPr>
        <p:spPr>
          <a:xfrm>
            <a:off x="8076895" y="5486400"/>
            <a:ext cx="3291840" cy="548640"/>
          </a:xfrm>
          <a:prstGeom prst="rect">
            <a:avLst/>
          </a:prstGeom>
          <a:noFill/>
          <a:ln/>
        </p:spPr>
        <p:txBody>
          <a:bodyPr wrap="square" lIns="0" tIns="0" rIns="0" bIns="0" rtlCol="0" anchor="ctr"/>
          <a:lstStyle/>
          <a:p>
            <a:pPr algn="ctr" indent="0" marL="0">
              <a:buNone/>
            </a:pPr>
            <a:r>
              <a:rPr lang="en-US" sz="1200" dirty="0">
                <a:solidFill>
                  <a:srgbClr val="6E6878"/>
                </a:solidFill>
                <a:latin typeface="Alexandria" pitchFamily="34" charset="0"/>
                <a:ea typeface="Alexandria" pitchFamily="34" charset="-122"/>
                <a:cs typeface="Alexandria" pitchFamily="34" charset="-120"/>
              </a:rPr>
              <a:t>phía sau KAMer: nhà cung cấp + ma trận Kraljic</a:t>
            </a:r>
            <a:endParaRPr lang="en-US" sz="1200" dirty="0"/>
          </a:p>
        </p:txBody>
      </p:sp>
      <p:sp>
        <p:nvSpPr>
          <p:cNvPr id="30" name="Shape 27"/>
          <p:cNvSpPr/>
          <p:nvPr/>
        </p:nvSpPr>
        <p:spPr>
          <a:xfrm>
            <a:off x="2926080" y="2148840"/>
            <a:ext cx="7315200" cy="640080"/>
          </a:xfrm>
          <a:prstGeom prst="roundRect">
            <a:avLst>
              <a:gd name="adj" fmla="val 17143"/>
            </a:avLst>
          </a:prstGeom>
          <a:solidFill>
            <a:srgbClr val="FFF3C4"/>
          </a:solidFill>
          <a:ln w="12700">
            <a:solidFill>
              <a:srgbClr val="FFD23B"/>
            </a:solidFill>
            <a:prstDash val="solid"/>
          </a:ln>
        </p:spPr>
      </p:sp>
      <p:sp>
        <p:nvSpPr>
          <p:cNvPr id="31" name="Text 28"/>
          <p:cNvSpPr txBox="1"/>
          <p:nvPr/>
        </p:nvSpPr>
        <p:spPr>
          <a:xfrm>
            <a:off x="2926080" y="2148840"/>
            <a:ext cx="7315200" cy="640080"/>
          </a:xfrm>
          <a:prstGeom prst="rect">
            <a:avLst/>
          </a:prstGeom>
          <a:noFill/>
          <a:ln/>
        </p:spPr>
        <p:txBody>
          <a:bodyPr wrap="square" lIns="0" tIns="0" rIns="0" bIns="0" rtlCol="0" anchor="ctr"/>
          <a:lstStyle/>
          <a:p>
            <a:pPr algn="ctr" indent="0" marL="0">
              <a:buNone/>
            </a:pPr>
            <a:r>
              <a:rPr lang="en-US" sz="2000" b="1" i="1" dirty="0">
                <a:solidFill>
                  <a:srgbClr val="2A2238"/>
                </a:solidFill>
                <a:latin typeface="Alexandria" pitchFamily="34" charset="0"/>
                <a:ea typeface="Alexandria" pitchFamily="34" charset="-122"/>
                <a:cs typeface="Alexandria" pitchFamily="34" charset="-120"/>
              </a:rPr>
              <a:t>“Năm nay bên mình cần giảm 15%.”</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Đàm phán giá trị là làm to chiếc bánh trước khi chia</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S12: PON Staff (2026), Program on Negotiation at Harvard Law School.</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23</a:t>
            </a:r>
            <a:endParaRPr lang="en-US" sz="1000" dirty="0"/>
          </a:p>
        </p:txBody>
      </p:sp>
      <p:sp>
        <p:nvSpPr>
          <p:cNvPr id="20" name="Shape 17"/>
          <p:cNvSpPr/>
          <p:nvPr/>
        </p:nvSpPr>
        <p:spPr>
          <a:xfrm>
            <a:off x="2743200" y="1828800"/>
            <a:ext cx="4358488" cy="502920"/>
          </a:xfrm>
          <a:prstGeom prst="roundRect">
            <a:avLst>
              <a:gd name="adj" fmla="val 21818"/>
            </a:avLst>
          </a:prstGeom>
          <a:solidFill>
            <a:srgbClr val="EFECE2"/>
          </a:solidFill>
          <a:ln w="9525">
            <a:solidFill>
              <a:srgbClr val="6E6878"/>
            </a:solidFill>
            <a:prstDash val="solid"/>
          </a:ln>
        </p:spPr>
      </p:sp>
      <p:sp>
        <p:nvSpPr>
          <p:cNvPr id="21" name="Text 18"/>
          <p:cNvSpPr txBox="1"/>
          <p:nvPr/>
        </p:nvSpPr>
        <p:spPr>
          <a:xfrm>
            <a:off x="2926080" y="1828800"/>
            <a:ext cx="3992728" cy="5029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Distributive — phân phối</a:t>
            </a:r>
            <a:endParaRPr lang="en-US" sz="1600" dirty="0"/>
          </a:p>
        </p:txBody>
      </p:sp>
      <p:sp>
        <p:nvSpPr>
          <p:cNvPr id="22" name="Shape 19"/>
          <p:cNvSpPr/>
          <p:nvPr/>
        </p:nvSpPr>
        <p:spPr>
          <a:xfrm>
            <a:off x="7284568" y="1828800"/>
            <a:ext cx="4358488" cy="502920"/>
          </a:xfrm>
          <a:prstGeom prst="roundRect">
            <a:avLst>
              <a:gd name="adj" fmla="val 21818"/>
            </a:avLst>
          </a:prstGeom>
          <a:solidFill>
            <a:srgbClr val="49B296"/>
          </a:solidFill>
          <a:ln w="9525">
            <a:solidFill>
              <a:srgbClr val="49B296"/>
            </a:solidFill>
            <a:prstDash val="solid"/>
          </a:ln>
        </p:spPr>
      </p:sp>
      <p:sp>
        <p:nvSpPr>
          <p:cNvPr id="23" name="Text 20"/>
          <p:cNvSpPr txBox="1"/>
          <p:nvPr/>
        </p:nvSpPr>
        <p:spPr>
          <a:xfrm>
            <a:off x="7467448" y="1828800"/>
            <a:ext cx="3992728" cy="502920"/>
          </a:xfrm>
          <a:prstGeom prst="rect">
            <a:avLst/>
          </a:prstGeom>
          <a:noFill/>
          <a:ln/>
        </p:spPr>
        <p:txBody>
          <a:bodyPr wrap="square" lIns="0" tIns="0" rIns="0" bIns="0" rtlCol="0" anchor="ctr"/>
          <a:lstStyle/>
          <a:p>
            <a:pPr indent="0" marL="0">
              <a:buNone/>
            </a:pPr>
            <a:r>
              <a:rPr lang="en-US" sz="1600" b="1" dirty="0">
                <a:solidFill>
                  <a:srgbClr val="FFFFFF"/>
                </a:solidFill>
                <a:latin typeface="Alexandria" pitchFamily="34" charset="0"/>
                <a:ea typeface="Alexandria" pitchFamily="34" charset="-122"/>
                <a:cs typeface="Alexandria" pitchFamily="34" charset="-120"/>
              </a:rPr>
              <a:t>Integrative — tích hợp</a:t>
            </a:r>
            <a:endParaRPr lang="en-US" sz="1600" dirty="0"/>
          </a:p>
        </p:txBody>
      </p:sp>
      <p:sp>
        <p:nvSpPr>
          <p:cNvPr id="24" name="Shape 21"/>
          <p:cNvSpPr/>
          <p:nvPr/>
        </p:nvSpPr>
        <p:spPr>
          <a:xfrm>
            <a:off x="548640" y="2468880"/>
            <a:ext cx="11094415" cy="777240"/>
          </a:xfrm>
          <a:prstGeom prst="rect">
            <a:avLst/>
          </a:prstGeom>
          <a:solidFill>
            <a:srgbClr val="F3F0E6"/>
          </a:solidFill>
          <a:ln w="12700">
            <a:solidFill>
              <a:srgbClr val="F3F0E6"/>
            </a:solidFill>
            <a:prstDash val="solid"/>
          </a:ln>
        </p:spPr>
      </p:sp>
      <p:sp>
        <p:nvSpPr>
          <p:cNvPr id="25" name="Text 22"/>
          <p:cNvSpPr txBox="1"/>
          <p:nvPr/>
        </p:nvSpPr>
        <p:spPr>
          <a:xfrm>
            <a:off x="731520" y="2468880"/>
            <a:ext cx="1920240" cy="7772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Hình dung</a:t>
            </a:r>
            <a:endParaRPr lang="en-US" sz="1500" dirty="0"/>
          </a:p>
        </p:txBody>
      </p:sp>
      <p:sp>
        <p:nvSpPr>
          <p:cNvPr id="26" name="Text 23"/>
          <p:cNvSpPr txBox="1"/>
          <p:nvPr/>
        </p:nvSpPr>
        <p:spPr>
          <a:xfrm>
            <a:off x="2926080" y="2468880"/>
            <a:ext cx="3992728" cy="777240"/>
          </a:xfrm>
          <a:prstGeom prst="rect">
            <a:avLst/>
          </a:prstGeom>
          <a:noFill/>
          <a:ln/>
        </p:spPr>
        <p:txBody>
          <a:bodyPr wrap="square" lIns="0" tIns="0" rIns="0" bIns="0" rtlCol="0" anchor="ctr"/>
          <a:lstStyle/>
          <a:p>
            <a:pPr indent="0" marL="0">
              <a:buNone/>
            </a:pPr>
            <a:r>
              <a:rPr lang="en-US" sz="1400" dirty="0">
                <a:solidFill>
                  <a:srgbClr val="6E6878"/>
                </a:solidFill>
                <a:latin typeface="Alexandria" pitchFamily="34" charset="0"/>
                <a:ea typeface="Alexandria" pitchFamily="34" charset="-122"/>
                <a:cs typeface="Alexandria" pitchFamily="34" charset="-120"/>
              </a:rPr>
              <a:t>Chia chiếc bánh cố định: bên này được thì bên kia mất</a:t>
            </a:r>
            <a:endParaRPr lang="en-US" sz="1400" dirty="0"/>
          </a:p>
        </p:txBody>
      </p:sp>
      <p:sp>
        <p:nvSpPr>
          <p:cNvPr id="27" name="Text 24"/>
          <p:cNvSpPr txBox="1"/>
          <p:nvPr/>
        </p:nvSpPr>
        <p:spPr>
          <a:xfrm>
            <a:off x="7467448" y="2468880"/>
            <a:ext cx="3992728" cy="7772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Làm to chiếc bánh trước khi chia</a:t>
            </a:r>
            <a:endParaRPr lang="en-US" sz="1400" dirty="0"/>
          </a:p>
        </p:txBody>
      </p:sp>
      <p:sp>
        <p:nvSpPr>
          <p:cNvPr id="28" name="Text 25"/>
          <p:cNvSpPr txBox="1"/>
          <p:nvPr/>
        </p:nvSpPr>
        <p:spPr>
          <a:xfrm>
            <a:off x="731520" y="3319272"/>
            <a:ext cx="1920240" cy="7772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Trên bàn</a:t>
            </a:r>
            <a:endParaRPr lang="en-US" sz="1500" dirty="0"/>
          </a:p>
        </p:txBody>
      </p:sp>
      <p:sp>
        <p:nvSpPr>
          <p:cNvPr id="29" name="Text 26"/>
          <p:cNvSpPr txBox="1"/>
          <p:nvPr/>
        </p:nvSpPr>
        <p:spPr>
          <a:xfrm>
            <a:off x="2926080" y="3319272"/>
            <a:ext cx="3992728" cy="777240"/>
          </a:xfrm>
          <a:prstGeom prst="rect">
            <a:avLst/>
          </a:prstGeom>
          <a:noFill/>
          <a:ln/>
        </p:spPr>
        <p:txBody>
          <a:bodyPr wrap="square" lIns="0" tIns="0" rIns="0" bIns="0" rtlCol="0" anchor="ctr"/>
          <a:lstStyle/>
          <a:p>
            <a:pPr indent="0" marL="0">
              <a:buNone/>
            </a:pPr>
            <a:r>
              <a:rPr lang="en-US" sz="1400" dirty="0">
                <a:solidFill>
                  <a:srgbClr val="6E6878"/>
                </a:solidFill>
                <a:latin typeface="Alexandria" pitchFamily="34" charset="0"/>
                <a:ea typeface="Alexandria" pitchFamily="34" charset="-122"/>
                <a:cs typeface="Alexandria" pitchFamily="34" charset="-120"/>
              </a:rPr>
              <a:t>Thường chỉ một vấn đề: giá</a:t>
            </a:r>
            <a:endParaRPr lang="en-US" sz="1400" dirty="0"/>
          </a:p>
        </p:txBody>
      </p:sp>
      <p:sp>
        <p:nvSpPr>
          <p:cNvPr id="30" name="Text 27"/>
          <p:cNvSpPr txBox="1"/>
          <p:nvPr/>
        </p:nvSpPr>
        <p:spPr>
          <a:xfrm>
            <a:off x="7467448" y="3319272"/>
            <a:ext cx="3992728" cy="7772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Giá, phạm vi, thời hạn hợp đồng, lịch thanh toán, mức dịch vụ, rủi ro</a:t>
            </a:r>
            <a:endParaRPr lang="en-US" sz="1400" dirty="0"/>
          </a:p>
        </p:txBody>
      </p:sp>
      <p:sp>
        <p:nvSpPr>
          <p:cNvPr id="31" name="Shape 28"/>
          <p:cNvSpPr/>
          <p:nvPr/>
        </p:nvSpPr>
        <p:spPr>
          <a:xfrm>
            <a:off x="548640" y="4169664"/>
            <a:ext cx="11094415" cy="777240"/>
          </a:xfrm>
          <a:prstGeom prst="rect">
            <a:avLst/>
          </a:prstGeom>
          <a:solidFill>
            <a:srgbClr val="F3F0E6"/>
          </a:solidFill>
          <a:ln w="12700">
            <a:solidFill>
              <a:srgbClr val="F3F0E6"/>
            </a:solidFill>
            <a:prstDash val="solid"/>
          </a:ln>
        </p:spPr>
      </p:sp>
      <p:sp>
        <p:nvSpPr>
          <p:cNvPr id="32" name="Text 29"/>
          <p:cNvSpPr txBox="1"/>
          <p:nvPr/>
        </p:nvSpPr>
        <p:spPr>
          <a:xfrm>
            <a:off x="731520" y="4169664"/>
            <a:ext cx="1920240" cy="7772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Kỹ thuật</a:t>
            </a:r>
            <a:endParaRPr lang="en-US" sz="1500" dirty="0"/>
          </a:p>
        </p:txBody>
      </p:sp>
      <p:sp>
        <p:nvSpPr>
          <p:cNvPr id="33" name="Text 30"/>
          <p:cNvSpPr txBox="1"/>
          <p:nvPr/>
        </p:nvSpPr>
        <p:spPr>
          <a:xfrm>
            <a:off x="2926080" y="4169664"/>
            <a:ext cx="3992728" cy="777240"/>
          </a:xfrm>
          <a:prstGeom prst="rect">
            <a:avLst/>
          </a:prstGeom>
          <a:noFill/>
          <a:ln/>
        </p:spPr>
        <p:txBody>
          <a:bodyPr wrap="square" lIns="0" tIns="0" rIns="0" bIns="0" rtlCol="0" anchor="ctr"/>
          <a:lstStyle/>
          <a:p>
            <a:pPr indent="0" marL="0">
              <a:buNone/>
            </a:pPr>
            <a:r>
              <a:rPr lang="en-US" sz="1400" dirty="0">
                <a:solidFill>
                  <a:srgbClr val="6E6878"/>
                </a:solidFill>
                <a:latin typeface="Alexandria" pitchFamily="34" charset="0"/>
                <a:ea typeface="Alexandria" pitchFamily="34" charset="-122"/>
                <a:cs typeface="Alexandria" pitchFamily="34" charset="-120"/>
              </a:rPr>
              <a:t>Giữ thông tin, nhượng từng bước</a:t>
            </a:r>
            <a:endParaRPr lang="en-US" sz="1400" dirty="0"/>
          </a:p>
        </p:txBody>
      </p:sp>
      <p:sp>
        <p:nvSpPr>
          <p:cNvPr id="34" name="Text 31"/>
          <p:cNvSpPr txBox="1"/>
          <p:nvPr/>
        </p:nvSpPr>
        <p:spPr>
          <a:xfrm>
            <a:off x="7467448" y="4169664"/>
            <a:ext cx="3992728" cy="77724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Tìm lợi ích sau lập trường; đánh đổi qua nhiều vấn đề (logrolling)</a:t>
            </a:r>
            <a:endParaRPr lang="en-US" sz="1400" dirty="0"/>
          </a:p>
        </p:txBody>
      </p:sp>
      <p:sp>
        <p:nvSpPr>
          <p:cNvPr id="35" name="Shape 32"/>
          <p:cNvSpPr/>
          <p:nvPr/>
        </p:nvSpPr>
        <p:spPr>
          <a:xfrm>
            <a:off x="548640" y="5120640"/>
            <a:ext cx="11094415" cy="960120"/>
          </a:xfrm>
          <a:prstGeom prst="roundRect">
            <a:avLst>
              <a:gd name="adj" fmla="val 11429"/>
            </a:avLst>
          </a:prstGeom>
          <a:solidFill>
            <a:srgbClr val="E1F3EE"/>
          </a:solidFill>
          <a:ln w="12700">
            <a:solidFill>
              <a:srgbClr val="49B296"/>
            </a:solidFill>
            <a:prstDash val="solid"/>
          </a:ln>
        </p:spPr>
      </p:sp>
      <p:sp>
        <p:nvSpPr>
          <p:cNvPr id="36" name="Text 33"/>
          <p:cNvSpPr txBox="1"/>
          <p:nvPr/>
        </p:nvSpPr>
        <p:spPr>
          <a:xfrm>
            <a:off x="822960" y="5120640"/>
            <a:ext cx="10545775" cy="96012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Value-based negotiation (cách dùng của môn): </a:t>
            </a:r>
            <a:pPr indent="0" marL="0">
              <a:buNone/>
            </a:pPr>
            <a:r>
              <a:rPr lang="en-US" sz="1500" dirty="0">
                <a:solidFill>
                  <a:srgbClr val="2A2238"/>
                </a:solidFill>
                <a:latin typeface="Alexandria" pitchFamily="34" charset="0"/>
                <a:ea typeface="Alexandria" pitchFamily="34" charset="-122"/>
                <a:cs typeface="Alexandria" pitchFamily="34" charset="-120"/>
              </a:rPr>
              <a:t>mọi nhượng bộ neo vào giá trị Key Account nhận được và rủi ro cho chính sự kiện.</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Nhượng ở Leverage/Non-critical, bảo vệ Strategic/Bottleneck bằng dữ kiện</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24</a:t>
            </a:r>
            <a:endParaRPr lang="en-US" sz="1000" dirty="0"/>
          </a:p>
        </p:txBody>
      </p:sp>
      <p:sp>
        <p:nvSpPr>
          <p:cNvPr id="19" name="Shape 16"/>
          <p:cNvSpPr/>
          <p:nvPr/>
        </p:nvSpPr>
        <p:spPr>
          <a:xfrm>
            <a:off x="960120" y="1828800"/>
            <a:ext cx="3131820" cy="1943100"/>
          </a:xfrm>
          <a:prstGeom prst="roundRect">
            <a:avLst>
              <a:gd name="adj" fmla="val 5647"/>
            </a:avLst>
          </a:prstGeom>
          <a:solidFill>
            <a:srgbClr val="DDF1FB"/>
          </a:solidFill>
          <a:ln w="12700">
            <a:solidFill>
              <a:srgbClr val="09A1E5"/>
            </a:solidFill>
            <a:prstDash val="solid"/>
          </a:ln>
        </p:spPr>
      </p:sp>
      <p:sp>
        <p:nvSpPr>
          <p:cNvPr id="20" name="Shape 17"/>
          <p:cNvSpPr/>
          <p:nvPr/>
        </p:nvSpPr>
        <p:spPr>
          <a:xfrm>
            <a:off x="1097280" y="1965960"/>
            <a:ext cx="201168" cy="201168"/>
          </a:xfrm>
          <a:prstGeom prst="diamond">
            <a:avLst/>
          </a:prstGeom>
          <a:solidFill>
            <a:srgbClr val="09A1E5"/>
          </a:solidFill>
          <a:ln w="6350">
            <a:solidFill>
              <a:srgbClr val="09A1E5"/>
            </a:solidFill>
            <a:prstDash val="solid"/>
          </a:ln>
        </p:spPr>
      </p:sp>
      <p:sp>
        <p:nvSpPr>
          <p:cNvPr id="21" name="Text 18"/>
          <p:cNvSpPr txBox="1"/>
          <p:nvPr/>
        </p:nvSpPr>
        <p:spPr>
          <a:xfrm>
            <a:off x="1362456" y="1938528"/>
            <a:ext cx="2564892" cy="25603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Leverage</a:t>
            </a:r>
            <a:endParaRPr lang="en-US" sz="1400" dirty="0"/>
          </a:p>
        </p:txBody>
      </p:sp>
      <p:sp>
        <p:nvSpPr>
          <p:cNvPr id="22" name="Shape 19"/>
          <p:cNvSpPr/>
          <p:nvPr/>
        </p:nvSpPr>
        <p:spPr>
          <a:xfrm>
            <a:off x="4183380" y="1828800"/>
            <a:ext cx="3131820" cy="1943100"/>
          </a:xfrm>
          <a:prstGeom prst="roundRect">
            <a:avLst>
              <a:gd name="adj" fmla="val 5647"/>
            </a:avLst>
          </a:prstGeom>
          <a:solidFill>
            <a:srgbClr val="F1E1EE"/>
          </a:solidFill>
          <a:ln w="12700">
            <a:solidFill>
              <a:srgbClr val="962B7C"/>
            </a:solidFill>
            <a:prstDash val="solid"/>
          </a:ln>
        </p:spPr>
      </p:sp>
      <p:sp>
        <p:nvSpPr>
          <p:cNvPr id="23" name="Shape 20"/>
          <p:cNvSpPr/>
          <p:nvPr/>
        </p:nvSpPr>
        <p:spPr>
          <a:xfrm>
            <a:off x="4320540" y="1965960"/>
            <a:ext cx="201168" cy="201168"/>
          </a:xfrm>
          <a:prstGeom prst="star5">
            <a:avLst/>
          </a:prstGeom>
          <a:solidFill>
            <a:srgbClr val="962B7C"/>
          </a:solidFill>
          <a:ln w="6350">
            <a:solidFill>
              <a:srgbClr val="962B7C"/>
            </a:solidFill>
            <a:prstDash val="solid"/>
          </a:ln>
        </p:spPr>
      </p:sp>
      <p:sp>
        <p:nvSpPr>
          <p:cNvPr id="24" name="Text 21"/>
          <p:cNvSpPr txBox="1"/>
          <p:nvPr/>
        </p:nvSpPr>
        <p:spPr>
          <a:xfrm>
            <a:off x="4585716" y="1938528"/>
            <a:ext cx="2564892" cy="25603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Strategic</a:t>
            </a:r>
            <a:endParaRPr lang="en-US" sz="1400" dirty="0"/>
          </a:p>
        </p:txBody>
      </p:sp>
      <p:sp>
        <p:nvSpPr>
          <p:cNvPr id="25" name="Shape 22"/>
          <p:cNvSpPr/>
          <p:nvPr/>
        </p:nvSpPr>
        <p:spPr>
          <a:xfrm>
            <a:off x="960120" y="3863340"/>
            <a:ext cx="3131820" cy="1943100"/>
          </a:xfrm>
          <a:prstGeom prst="roundRect">
            <a:avLst>
              <a:gd name="adj" fmla="val 5647"/>
            </a:avLst>
          </a:prstGeom>
          <a:solidFill>
            <a:srgbClr val="E1F3EE"/>
          </a:solidFill>
          <a:ln w="12700">
            <a:solidFill>
              <a:srgbClr val="49B296"/>
            </a:solidFill>
            <a:prstDash val="solid"/>
          </a:ln>
        </p:spPr>
      </p:sp>
      <p:sp>
        <p:nvSpPr>
          <p:cNvPr id="26" name="Shape 23"/>
          <p:cNvSpPr/>
          <p:nvPr/>
        </p:nvSpPr>
        <p:spPr>
          <a:xfrm>
            <a:off x="1097280" y="4000500"/>
            <a:ext cx="201168" cy="201168"/>
          </a:xfrm>
          <a:prstGeom prst="ellipse">
            <a:avLst/>
          </a:prstGeom>
          <a:solidFill>
            <a:srgbClr val="49B296"/>
          </a:solidFill>
          <a:ln w="6350">
            <a:solidFill>
              <a:srgbClr val="49B296"/>
            </a:solidFill>
            <a:prstDash val="solid"/>
          </a:ln>
        </p:spPr>
      </p:sp>
      <p:sp>
        <p:nvSpPr>
          <p:cNvPr id="27" name="Text 24"/>
          <p:cNvSpPr txBox="1"/>
          <p:nvPr/>
        </p:nvSpPr>
        <p:spPr>
          <a:xfrm>
            <a:off x="1362456" y="3973068"/>
            <a:ext cx="2564892" cy="25603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Non-critical</a:t>
            </a:r>
            <a:endParaRPr lang="en-US" sz="1400" dirty="0"/>
          </a:p>
        </p:txBody>
      </p:sp>
      <p:sp>
        <p:nvSpPr>
          <p:cNvPr id="28" name="Shape 25"/>
          <p:cNvSpPr/>
          <p:nvPr/>
        </p:nvSpPr>
        <p:spPr>
          <a:xfrm>
            <a:off x="4183380" y="3863340"/>
            <a:ext cx="3131820" cy="1943100"/>
          </a:xfrm>
          <a:prstGeom prst="roundRect">
            <a:avLst>
              <a:gd name="adj" fmla="val 5647"/>
            </a:avLst>
          </a:prstGeom>
          <a:solidFill>
            <a:srgbClr val="FFE4EA"/>
          </a:solidFill>
          <a:ln w="12700">
            <a:solidFill>
              <a:srgbClr val="FF5178"/>
            </a:solidFill>
            <a:prstDash val="solid"/>
          </a:ln>
        </p:spPr>
      </p:sp>
      <p:sp>
        <p:nvSpPr>
          <p:cNvPr id="29" name="Shape 26"/>
          <p:cNvSpPr/>
          <p:nvPr/>
        </p:nvSpPr>
        <p:spPr>
          <a:xfrm>
            <a:off x="4320540" y="4000500"/>
            <a:ext cx="201168" cy="201168"/>
          </a:xfrm>
          <a:prstGeom prst="triangle">
            <a:avLst/>
          </a:prstGeom>
          <a:solidFill>
            <a:srgbClr val="FF5178"/>
          </a:solidFill>
          <a:ln w="6350">
            <a:solidFill>
              <a:srgbClr val="FF5178"/>
            </a:solidFill>
            <a:prstDash val="solid"/>
          </a:ln>
        </p:spPr>
      </p:sp>
      <p:sp>
        <p:nvSpPr>
          <p:cNvPr id="30" name="Text 27"/>
          <p:cNvSpPr txBox="1"/>
          <p:nvPr/>
        </p:nvSpPr>
        <p:spPr>
          <a:xfrm>
            <a:off x="4585716" y="3973068"/>
            <a:ext cx="2564892" cy="256032"/>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Bottleneck</a:t>
            </a:r>
            <a:endParaRPr lang="en-US" sz="1400" dirty="0"/>
          </a:p>
        </p:txBody>
      </p:sp>
      <p:sp>
        <p:nvSpPr>
          <p:cNvPr id="31" name="Shape 28"/>
          <p:cNvSpPr/>
          <p:nvPr/>
        </p:nvSpPr>
        <p:spPr>
          <a:xfrm flipV="1">
            <a:off x="877824" y="1828800"/>
            <a:ext cx="914" cy="3977640"/>
          </a:xfrm>
          <a:prstGeom prst="line">
            <a:avLst/>
          </a:prstGeom>
          <a:noFill/>
          <a:ln w="19050">
            <a:solidFill>
              <a:srgbClr val="6E6878"/>
            </a:solidFill>
            <a:prstDash val="solid"/>
            <a:tailEnd type="triangle"/>
          </a:ln>
        </p:spPr>
      </p:sp>
      <p:sp>
        <p:nvSpPr>
          <p:cNvPr id="32" name="Text 29"/>
          <p:cNvSpPr txBox="1"/>
          <p:nvPr/>
        </p:nvSpPr>
        <p:spPr>
          <a:xfrm rot="16200000">
            <a:off x="-1348740" y="3680460"/>
            <a:ext cx="3977640" cy="274320"/>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Profit impact  →  cao</a:t>
            </a:r>
            <a:endParaRPr lang="en-US" sz="1100" dirty="0"/>
          </a:p>
        </p:txBody>
      </p:sp>
      <p:sp>
        <p:nvSpPr>
          <p:cNvPr id="33" name="Shape 30"/>
          <p:cNvSpPr/>
          <p:nvPr/>
        </p:nvSpPr>
        <p:spPr>
          <a:xfrm>
            <a:off x="960120" y="5989320"/>
            <a:ext cx="6355080" cy="914"/>
          </a:xfrm>
          <a:prstGeom prst="line">
            <a:avLst/>
          </a:prstGeom>
          <a:noFill/>
          <a:ln w="19050">
            <a:solidFill>
              <a:srgbClr val="6E6878"/>
            </a:solidFill>
            <a:prstDash val="solid"/>
            <a:tailEnd type="triangle"/>
          </a:ln>
        </p:spPr>
      </p:sp>
      <p:sp>
        <p:nvSpPr>
          <p:cNvPr id="34" name="Text 31"/>
          <p:cNvSpPr txBox="1"/>
          <p:nvPr/>
        </p:nvSpPr>
        <p:spPr>
          <a:xfrm>
            <a:off x="960120" y="6025896"/>
            <a:ext cx="6355080" cy="201168"/>
          </a:xfrm>
          <a:prstGeom prst="rect">
            <a:avLst/>
          </a:prstGeom>
          <a:noFill/>
          <a:ln/>
        </p:spPr>
        <p:txBody>
          <a:bodyPr wrap="square" lIns="0" tIns="0" rIns="0" bIns="0" rtlCol="0" anchor="ctr"/>
          <a:lstStyle/>
          <a:p>
            <a:pPr algn="ctr" indent="0" marL="0">
              <a:buNone/>
            </a:pPr>
            <a:r>
              <a:rPr lang="en-US" sz="1100" dirty="0">
                <a:solidFill>
                  <a:srgbClr val="6E6878"/>
                </a:solidFill>
                <a:latin typeface="Alexandria" pitchFamily="34" charset="0"/>
                <a:ea typeface="Alexandria" pitchFamily="34" charset="-122"/>
                <a:cs typeface="Alexandria" pitchFamily="34" charset="-120"/>
              </a:rPr>
              <a:t>Supply risk  →  cao</a:t>
            </a:r>
            <a:endParaRPr lang="en-US" sz="1100" dirty="0"/>
          </a:p>
        </p:txBody>
      </p:sp>
      <p:sp>
        <p:nvSpPr>
          <p:cNvPr id="35" name="Shape 32"/>
          <p:cNvSpPr/>
          <p:nvPr/>
        </p:nvSpPr>
        <p:spPr>
          <a:xfrm>
            <a:off x="923544" y="1792224"/>
            <a:ext cx="3204972" cy="4050792"/>
          </a:xfrm>
          <a:prstGeom prst="roundRect">
            <a:avLst>
              <a:gd name="adj" fmla="val 3994"/>
            </a:avLst>
          </a:prstGeom>
          <a:ln w="44450">
            <a:solidFill>
              <a:srgbClr val="49B296"/>
            </a:solidFill>
            <a:prstDash val="solid"/>
          </a:ln>
        </p:spPr>
      </p:sp>
      <p:sp>
        <p:nvSpPr>
          <p:cNvPr id="36" name="Shape 33"/>
          <p:cNvSpPr/>
          <p:nvPr/>
        </p:nvSpPr>
        <p:spPr>
          <a:xfrm>
            <a:off x="1188720" y="2514600"/>
            <a:ext cx="2674620" cy="868680"/>
          </a:xfrm>
          <a:prstGeom prst="roundRect">
            <a:avLst>
              <a:gd name="adj" fmla="val 15789"/>
            </a:avLst>
          </a:prstGeom>
          <a:solidFill>
            <a:srgbClr val="FFFFFF"/>
          </a:solidFill>
          <a:ln w="19050">
            <a:solidFill>
              <a:srgbClr val="49B296"/>
            </a:solidFill>
            <a:prstDash val="solid"/>
          </a:ln>
        </p:spPr>
      </p:sp>
      <p:sp>
        <p:nvSpPr>
          <p:cNvPr id="37" name="Text 34"/>
          <p:cNvSpPr txBox="1"/>
          <p:nvPr/>
        </p:nvSpPr>
        <p:spPr>
          <a:xfrm>
            <a:off x="1280160" y="2514600"/>
            <a:ext cx="2491740" cy="8686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VALUE</a:t>
            </a:r>
            <a:endParaRPr lang="en-US" sz="1400" dirty="0"/>
          </a:p>
        </p:txBody>
      </p:sp>
      <p:sp>
        <p:nvSpPr>
          <p:cNvPr id="38" name="Shape 35"/>
          <p:cNvSpPr/>
          <p:nvPr/>
        </p:nvSpPr>
        <p:spPr>
          <a:xfrm>
            <a:off x="1188720" y="4549140"/>
            <a:ext cx="2674620" cy="868680"/>
          </a:xfrm>
          <a:prstGeom prst="roundRect">
            <a:avLst>
              <a:gd name="adj" fmla="val 15789"/>
            </a:avLst>
          </a:prstGeom>
          <a:solidFill>
            <a:srgbClr val="49B296"/>
          </a:solidFill>
          <a:ln w="19050">
            <a:solidFill>
              <a:srgbClr val="49B296"/>
            </a:solidFill>
            <a:prstDash val="solid"/>
          </a:ln>
        </p:spPr>
      </p:sp>
      <p:sp>
        <p:nvSpPr>
          <p:cNvPr id="39" name="Text 36"/>
          <p:cNvSpPr txBox="1"/>
          <p:nvPr/>
        </p:nvSpPr>
        <p:spPr>
          <a:xfrm>
            <a:off x="1280160" y="4549140"/>
            <a:ext cx="2491740" cy="8686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nhượng có điều kiện</a:t>
            </a:r>
            <a:endParaRPr lang="en-US" sz="1400" dirty="0"/>
          </a:p>
        </p:txBody>
      </p:sp>
      <p:sp>
        <p:nvSpPr>
          <p:cNvPr id="40" name="Shape 37"/>
          <p:cNvSpPr/>
          <p:nvPr/>
        </p:nvSpPr>
        <p:spPr>
          <a:xfrm>
            <a:off x="4146804" y="1792224"/>
            <a:ext cx="3204972" cy="4050792"/>
          </a:xfrm>
          <a:prstGeom prst="roundRect">
            <a:avLst>
              <a:gd name="adj" fmla="val 3994"/>
            </a:avLst>
          </a:prstGeom>
          <a:ln w="44450">
            <a:solidFill>
              <a:srgbClr val="FF5178"/>
            </a:solidFill>
            <a:prstDash val="solid"/>
          </a:ln>
        </p:spPr>
      </p:sp>
      <p:sp>
        <p:nvSpPr>
          <p:cNvPr id="41" name="Shape 38"/>
          <p:cNvSpPr/>
          <p:nvPr/>
        </p:nvSpPr>
        <p:spPr>
          <a:xfrm>
            <a:off x="4411980" y="2514600"/>
            <a:ext cx="2674620" cy="868680"/>
          </a:xfrm>
          <a:prstGeom prst="roundRect">
            <a:avLst>
              <a:gd name="adj" fmla="val 15789"/>
            </a:avLst>
          </a:prstGeom>
          <a:solidFill>
            <a:srgbClr val="FFFFFF"/>
          </a:solidFill>
          <a:ln w="19050">
            <a:solidFill>
              <a:srgbClr val="FF5178"/>
            </a:solidFill>
            <a:prstDash val="solid"/>
          </a:ln>
        </p:spPr>
      </p:sp>
      <p:sp>
        <p:nvSpPr>
          <p:cNvPr id="42" name="Text 39"/>
          <p:cNvSpPr txBox="1"/>
          <p:nvPr/>
        </p:nvSpPr>
        <p:spPr>
          <a:xfrm>
            <a:off x="4503420" y="2514600"/>
            <a:ext cx="2491740" cy="86868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RISK</a:t>
            </a:r>
            <a:endParaRPr lang="en-US" sz="1400" dirty="0"/>
          </a:p>
        </p:txBody>
      </p:sp>
      <p:sp>
        <p:nvSpPr>
          <p:cNvPr id="43" name="Shape 40"/>
          <p:cNvSpPr/>
          <p:nvPr/>
        </p:nvSpPr>
        <p:spPr>
          <a:xfrm>
            <a:off x="4411980" y="4549140"/>
            <a:ext cx="2674620" cy="868680"/>
          </a:xfrm>
          <a:prstGeom prst="roundRect">
            <a:avLst>
              <a:gd name="adj" fmla="val 15789"/>
            </a:avLst>
          </a:prstGeom>
          <a:solidFill>
            <a:srgbClr val="FF5178"/>
          </a:solidFill>
          <a:ln w="19050">
            <a:solidFill>
              <a:srgbClr val="FF5178"/>
            </a:solidFill>
            <a:prstDash val="solid"/>
          </a:ln>
        </p:spPr>
      </p:sp>
      <p:sp>
        <p:nvSpPr>
          <p:cNvPr id="44" name="Text 41"/>
          <p:cNvSpPr txBox="1"/>
          <p:nvPr/>
        </p:nvSpPr>
        <p:spPr>
          <a:xfrm>
            <a:off x="4503420" y="4549140"/>
            <a:ext cx="2491740"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giải thích, đổi chỗ khác</a:t>
            </a:r>
            <a:endParaRPr lang="en-US" sz="1400" dirty="0"/>
          </a:p>
        </p:txBody>
      </p:sp>
      <p:sp>
        <p:nvSpPr>
          <p:cNvPr id="45" name="Text 42"/>
          <p:cNvSpPr txBox="1"/>
          <p:nvPr/>
        </p:nvSpPr>
        <p:spPr>
          <a:xfrm>
            <a:off x="7680960" y="1828800"/>
            <a:ext cx="3962095" cy="1417320"/>
          </a:xfrm>
          <a:prstGeom prst="rect">
            <a:avLst/>
          </a:prstGeom>
          <a:noFill/>
          <a:ln/>
        </p:spPr>
        <p:txBody>
          <a:bodyPr wrap="square" lIns="0" tIns="0" rIns="0" bIns="0" rtlCol="0" anchor="t"/>
          <a:lstStyle/>
          <a:p>
            <a:pPr indent="0" marL="0">
              <a:buNone/>
            </a:pPr>
            <a:r>
              <a:rPr lang="en-US" sz="1500" b="1" dirty="0">
                <a:solidFill>
                  <a:srgbClr val="2A2238"/>
                </a:solidFill>
                <a:latin typeface="Alexandria" pitchFamily="34" charset="0"/>
                <a:ea typeface="Alexandria" pitchFamily="34" charset="-122"/>
                <a:cs typeface="Alexandria" pitchFamily="34" charset="-120"/>
              </a:rPr>
              <a:t>Value: </a:t>
            </a:r>
            <a:pPr indent="0" marL="0">
              <a:buNone/>
            </a:pPr>
            <a:r>
              <a:rPr lang="en-US" sz="1500" dirty="0">
                <a:solidFill>
                  <a:srgbClr val="2A2238"/>
                </a:solidFill>
                <a:latin typeface="Alexandria" pitchFamily="34" charset="0"/>
                <a:ea typeface="Alexandria" pitchFamily="34" charset="-122"/>
                <a:cs typeface="Alexandria" pitchFamily="34" charset="-120"/>
              </a:rPr>
              <a:t>phương án rẻ hơn (gom xe, chuẩn hóa in ấn, đổi quà) — đổi lại thời hạn hợp đồng, lịch thanh toán, chốt sớm</a:t>
            </a:r>
            <a:endParaRPr lang="en-US" sz="1500" dirty="0"/>
          </a:p>
        </p:txBody>
      </p:sp>
      <p:sp>
        <p:nvSpPr>
          <p:cNvPr id="46" name="Text 43"/>
          <p:cNvSpPr txBox="1"/>
          <p:nvPr/>
        </p:nvSpPr>
        <p:spPr>
          <a:xfrm>
            <a:off x="7680960" y="3291840"/>
            <a:ext cx="3962095" cy="1188720"/>
          </a:xfrm>
          <a:prstGeom prst="rect">
            <a:avLst/>
          </a:prstGeom>
          <a:noFill/>
          <a:ln/>
        </p:spPr>
        <p:txBody>
          <a:bodyPr wrap="square" lIns="0" tIns="0" rIns="0" bIns="0" rtlCol="0" anchor="t"/>
          <a:lstStyle/>
          <a:p>
            <a:pPr indent="0" marL="0">
              <a:buNone/>
            </a:pPr>
            <a:r>
              <a:rPr lang="en-US" sz="1500" b="1" dirty="0">
                <a:solidFill>
                  <a:srgbClr val="2A2238"/>
                </a:solidFill>
                <a:latin typeface="Alexandria" pitchFamily="34" charset="0"/>
                <a:ea typeface="Alexandria" pitchFamily="34" charset="-122"/>
                <a:cs typeface="Alexandria" pitchFamily="34" charset="-120"/>
              </a:rPr>
              <a:t>Risk: </a:t>
            </a:r>
            <a:pPr indent="0" marL="0">
              <a:buNone/>
            </a:pPr>
            <a:r>
              <a:rPr lang="en-US" sz="1500" dirty="0">
                <a:solidFill>
                  <a:srgbClr val="2A2238"/>
                </a:solidFill>
                <a:latin typeface="Alexandria" pitchFamily="34" charset="0"/>
                <a:ea typeface="Alexandria" pitchFamily="34" charset="-122"/>
                <a:cs typeface="Alexandria" pitchFamily="34" charset="-120"/>
              </a:rPr>
              <a:t>không nhượng im lặng; nêu dữ kiện và hệ quả, đề xuất giảm chi phí ở chỗ khác</a:t>
            </a:r>
            <a:endParaRPr lang="en-US" sz="1500" dirty="0"/>
          </a:p>
        </p:txBody>
      </p:sp>
      <p:sp>
        <p:nvSpPr>
          <p:cNvPr id="47" name="Shape 44"/>
          <p:cNvSpPr/>
          <p:nvPr/>
        </p:nvSpPr>
        <p:spPr>
          <a:xfrm>
            <a:off x="7680960" y="4572000"/>
            <a:ext cx="3962095" cy="1417320"/>
          </a:xfrm>
          <a:prstGeom prst="roundRect">
            <a:avLst>
              <a:gd name="adj" fmla="val 7742"/>
            </a:avLst>
          </a:prstGeom>
          <a:solidFill>
            <a:srgbClr val="FFF3C4"/>
          </a:solidFill>
          <a:ln w="12700">
            <a:solidFill>
              <a:srgbClr val="FFD23B"/>
            </a:solidFill>
            <a:prstDash val="solid"/>
          </a:ln>
        </p:spPr>
      </p:sp>
      <p:sp>
        <p:nvSpPr>
          <p:cNvPr id="48" name="Text 45"/>
          <p:cNvSpPr txBox="1"/>
          <p:nvPr/>
        </p:nvSpPr>
        <p:spPr>
          <a:xfrm>
            <a:off x="7909560" y="4572000"/>
            <a:ext cx="3504895" cy="14173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Quản trị nhà cung cấp tốt tạo nên sức mạnh đàm phán của agency.</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KAMer có bốn công cụ ngoài việc giảm giá</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S04, S05 (Amex GBT, chưa KCC) · S10 · S11 (Santor) · S15, S16 · S19 (The Drum; agency marketing, không phải event agency) · S21 · S22.</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25</a:t>
            </a:r>
            <a:endParaRPr lang="en-US" sz="1000" dirty="0"/>
          </a:p>
        </p:txBody>
      </p:sp>
      <p:sp>
        <p:nvSpPr>
          <p:cNvPr id="20" name="Shape 17"/>
          <p:cNvSpPr/>
          <p:nvPr/>
        </p:nvSpPr>
        <p:spPr>
          <a:xfrm>
            <a:off x="548640" y="1828800"/>
            <a:ext cx="5410048" cy="1417320"/>
          </a:xfrm>
          <a:prstGeom prst="roundRect">
            <a:avLst>
              <a:gd name="adj" fmla="val 7742"/>
            </a:avLst>
          </a:prstGeom>
          <a:solidFill>
            <a:srgbClr val="FFE9DE"/>
          </a:solidFill>
          <a:ln w="12700">
            <a:solidFill>
              <a:srgbClr val="FF9259"/>
            </a:solidFill>
            <a:prstDash val="solid"/>
          </a:ln>
        </p:spPr>
      </p:sp>
      <p:sp>
        <p:nvSpPr>
          <p:cNvPr id="21" name="Shape 18"/>
          <p:cNvSpPr/>
          <p:nvPr/>
        </p:nvSpPr>
        <p:spPr>
          <a:xfrm>
            <a:off x="777240" y="2212848"/>
            <a:ext cx="640080" cy="640080"/>
          </a:xfrm>
          <a:prstGeom prst="ellipse">
            <a:avLst/>
          </a:prstGeom>
          <a:solidFill>
            <a:srgbClr val="FF9259"/>
          </a:solidFill>
          <a:ln w="12700">
            <a:solidFill>
              <a:srgbClr val="FF9259"/>
            </a:solidFill>
            <a:prstDash val="solid"/>
          </a:ln>
        </p:spPr>
      </p:sp>
      <p:sp>
        <p:nvSpPr>
          <p:cNvPr id="22" name="Text 19"/>
          <p:cNvSpPr txBox="1"/>
          <p:nvPr/>
        </p:nvSpPr>
        <p:spPr>
          <a:xfrm>
            <a:off x="777240" y="2212848"/>
            <a:ext cx="640080" cy="640080"/>
          </a:xfrm>
          <a:prstGeom prst="rect">
            <a:avLst/>
          </a:prstGeom>
          <a:noFill/>
          <a:ln/>
        </p:spPr>
        <p:txBody>
          <a:bodyPr wrap="square" lIns="0" tIns="0" rIns="0" bIns="0" rtlCol="0" anchor="ctr"/>
          <a:lstStyle/>
          <a:p>
            <a:pPr algn="ctr" indent="0" marL="0">
              <a:buNone/>
            </a:pPr>
            <a:r>
              <a:rPr lang="en-US" sz="2380" b="1" dirty="0">
                <a:solidFill>
                  <a:srgbClr val="2A2238"/>
                </a:solidFill>
                <a:latin typeface="Alexandria" pitchFamily="34" charset="0"/>
                <a:ea typeface="Alexandria" pitchFamily="34" charset="-122"/>
                <a:cs typeface="Alexandria" pitchFamily="34" charset="-120"/>
              </a:rPr>
              <a:t>1</a:t>
            </a:r>
            <a:endParaRPr lang="en-US" sz="2380" dirty="0"/>
          </a:p>
        </p:txBody>
      </p:sp>
      <p:sp>
        <p:nvSpPr>
          <p:cNvPr id="23" name="Text 20"/>
          <p:cNvSpPr txBox="1"/>
          <p:nvPr/>
        </p:nvSpPr>
        <p:spPr>
          <a:xfrm>
            <a:off x="1645920" y="1965960"/>
            <a:ext cx="4129888" cy="4572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Minh bạch chi phí</a:t>
            </a:r>
            <a:endParaRPr lang="en-US" sz="1800" dirty="0"/>
          </a:p>
        </p:txBody>
      </p:sp>
      <p:sp>
        <p:nvSpPr>
          <p:cNvPr id="24" name="Text 21"/>
          <p:cNvSpPr txBox="1"/>
          <p:nvPr/>
        </p:nvSpPr>
        <p:spPr>
          <a:xfrm>
            <a:off x="1645920" y="2423160"/>
            <a:ext cx="4129888" cy="73152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Benchmark theo thị trường, mùa, định dạng; gợi ý ngày thấp điểm</a:t>
            </a:r>
            <a:endParaRPr lang="en-US" sz="1400" dirty="0"/>
          </a:p>
        </p:txBody>
      </p:sp>
      <p:sp>
        <p:nvSpPr>
          <p:cNvPr id="25" name="Shape 22"/>
          <p:cNvSpPr/>
          <p:nvPr/>
        </p:nvSpPr>
        <p:spPr>
          <a:xfrm>
            <a:off x="6233008" y="1828800"/>
            <a:ext cx="5410048" cy="1417320"/>
          </a:xfrm>
          <a:prstGeom prst="roundRect">
            <a:avLst>
              <a:gd name="adj" fmla="val 7742"/>
            </a:avLst>
          </a:prstGeom>
          <a:solidFill>
            <a:srgbClr val="F1E1EE"/>
          </a:solidFill>
          <a:ln w="12700">
            <a:solidFill>
              <a:srgbClr val="962B7C"/>
            </a:solidFill>
            <a:prstDash val="solid"/>
          </a:ln>
        </p:spPr>
      </p:sp>
      <p:sp>
        <p:nvSpPr>
          <p:cNvPr id="26" name="Shape 23"/>
          <p:cNvSpPr/>
          <p:nvPr/>
        </p:nvSpPr>
        <p:spPr>
          <a:xfrm>
            <a:off x="6461608" y="2212848"/>
            <a:ext cx="640080" cy="640080"/>
          </a:xfrm>
          <a:prstGeom prst="ellipse">
            <a:avLst/>
          </a:prstGeom>
          <a:solidFill>
            <a:srgbClr val="962B7C"/>
          </a:solidFill>
          <a:ln w="12700">
            <a:solidFill>
              <a:srgbClr val="962B7C"/>
            </a:solidFill>
            <a:prstDash val="solid"/>
          </a:ln>
        </p:spPr>
      </p:sp>
      <p:sp>
        <p:nvSpPr>
          <p:cNvPr id="27" name="Text 24"/>
          <p:cNvSpPr txBox="1"/>
          <p:nvPr/>
        </p:nvSpPr>
        <p:spPr>
          <a:xfrm>
            <a:off x="6461608" y="2212848"/>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8" name="Text 25"/>
          <p:cNvSpPr txBox="1"/>
          <p:nvPr/>
        </p:nvSpPr>
        <p:spPr>
          <a:xfrm>
            <a:off x="7330288" y="1965960"/>
            <a:ext cx="4129888" cy="4572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Điều khoản, không chỉ giá</a:t>
            </a:r>
            <a:endParaRPr lang="en-US" sz="1800" dirty="0"/>
          </a:p>
        </p:txBody>
      </p:sp>
      <p:sp>
        <p:nvSpPr>
          <p:cNvPr id="29" name="Text 26"/>
          <p:cNvSpPr txBox="1"/>
          <p:nvPr/>
        </p:nvSpPr>
        <p:spPr>
          <a:xfrm>
            <a:off x="7330288" y="2423160"/>
            <a:ext cx="4129888" cy="73152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Cọc, hủy, attrition, bất khả kháng — phản ánh vào hợp đồng với Key Account</a:t>
            </a:r>
            <a:endParaRPr lang="en-US" sz="1400" dirty="0"/>
          </a:p>
        </p:txBody>
      </p:sp>
      <p:sp>
        <p:nvSpPr>
          <p:cNvPr id="30" name="Shape 27"/>
          <p:cNvSpPr/>
          <p:nvPr/>
        </p:nvSpPr>
        <p:spPr>
          <a:xfrm>
            <a:off x="548640" y="3429000"/>
            <a:ext cx="5410048" cy="1417320"/>
          </a:xfrm>
          <a:prstGeom prst="roundRect">
            <a:avLst>
              <a:gd name="adj" fmla="val 7742"/>
            </a:avLst>
          </a:prstGeom>
          <a:solidFill>
            <a:srgbClr val="DDF1FB"/>
          </a:solidFill>
          <a:ln w="12700">
            <a:solidFill>
              <a:srgbClr val="09A1E5"/>
            </a:solidFill>
            <a:prstDash val="solid"/>
          </a:ln>
        </p:spPr>
      </p:sp>
      <p:sp>
        <p:nvSpPr>
          <p:cNvPr id="31" name="Shape 28"/>
          <p:cNvSpPr/>
          <p:nvPr/>
        </p:nvSpPr>
        <p:spPr>
          <a:xfrm>
            <a:off x="777240" y="3813048"/>
            <a:ext cx="640080" cy="640080"/>
          </a:xfrm>
          <a:prstGeom prst="ellipse">
            <a:avLst/>
          </a:prstGeom>
          <a:solidFill>
            <a:srgbClr val="09A1E5"/>
          </a:solidFill>
          <a:ln w="12700">
            <a:solidFill>
              <a:srgbClr val="09A1E5"/>
            </a:solidFill>
            <a:prstDash val="solid"/>
          </a:ln>
        </p:spPr>
      </p:sp>
      <p:sp>
        <p:nvSpPr>
          <p:cNvPr id="32" name="Text 29"/>
          <p:cNvSpPr txBox="1"/>
          <p:nvPr/>
        </p:nvSpPr>
        <p:spPr>
          <a:xfrm>
            <a:off x="777240" y="3813048"/>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3</a:t>
            </a:r>
            <a:endParaRPr lang="en-US" sz="2380" dirty="0"/>
          </a:p>
        </p:txBody>
      </p:sp>
      <p:sp>
        <p:nvSpPr>
          <p:cNvPr id="33" name="Text 30"/>
          <p:cNvSpPr txBox="1"/>
          <p:nvPr/>
        </p:nvSpPr>
        <p:spPr>
          <a:xfrm>
            <a:off x="1645920" y="3566160"/>
            <a:ext cx="4129888" cy="4572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ROI / ROE</a:t>
            </a:r>
            <a:endParaRPr lang="en-US" sz="1800" dirty="0"/>
          </a:p>
        </p:txBody>
      </p:sp>
      <p:sp>
        <p:nvSpPr>
          <p:cNvPr id="34" name="Text 31"/>
          <p:cNvSpPr txBox="1"/>
          <p:nvPr/>
        </p:nvSpPr>
        <p:spPr>
          <a:xfrm>
            <a:off x="1645920" y="4023360"/>
            <a:ext cx="4129888" cy="73152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Chỉ 24% tổ chức có chỉ số ROI; đo thêm Return on Experience</a:t>
            </a:r>
            <a:endParaRPr lang="en-US" sz="1400" dirty="0"/>
          </a:p>
        </p:txBody>
      </p:sp>
      <p:sp>
        <p:nvSpPr>
          <p:cNvPr id="35" name="Shape 32"/>
          <p:cNvSpPr/>
          <p:nvPr/>
        </p:nvSpPr>
        <p:spPr>
          <a:xfrm>
            <a:off x="6233008" y="3429000"/>
            <a:ext cx="5410048" cy="1417320"/>
          </a:xfrm>
          <a:prstGeom prst="roundRect">
            <a:avLst>
              <a:gd name="adj" fmla="val 7742"/>
            </a:avLst>
          </a:prstGeom>
          <a:solidFill>
            <a:srgbClr val="E1F3EE"/>
          </a:solidFill>
          <a:ln w="12700">
            <a:solidFill>
              <a:srgbClr val="49B296"/>
            </a:solidFill>
            <a:prstDash val="solid"/>
          </a:ln>
        </p:spPr>
      </p:sp>
      <p:sp>
        <p:nvSpPr>
          <p:cNvPr id="36" name="Shape 33"/>
          <p:cNvSpPr/>
          <p:nvPr/>
        </p:nvSpPr>
        <p:spPr>
          <a:xfrm>
            <a:off x="6461608" y="3813048"/>
            <a:ext cx="640080" cy="640080"/>
          </a:xfrm>
          <a:prstGeom prst="ellipse">
            <a:avLst/>
          </a:prstGeom>
          <a:solidFill>
            <a:srgbClr val="49B296"/>
          </a:solidFill>
          <a:ln w="12700">
            <a:solidFill>
              <a:srgbClr val="49B296"/>
            </a:solidFill>
            <a:prstDash val="solid"/>
          </a:ln>
        </p:spPr>
      </p:sp>
      <p:sp>
        <p:nvSpPr>
          <p:cNvPr id="37" name="Text 34"/>
          <p:cNvSpPr txBox="1"/>
          <p:nvPr/>
        </p:nvSpPr>
        <p:spPr>
          <a:xfrm>
            <a:off x="6461608" y="3813048"/>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4</a:t>
            </a:r>
            <a:endParaRPr lang="en-US" sz="2380" dirty="0"/>
          </a:p>
        </p:txBody>
      </p:sp>
      <p:sp>
        <p:nvSpPr>
          <p:cNvPr id="38" name="Text 35"/>
          <p:cNvSpPr txBox="1"/>
          <p:nvPr/>
        </p:nvSpPr>
        <p:spPr>
          <a:xfrm>
            <a:off x="7330288" y="3566160"/>
            <a:ext cx="4129888" cy="4572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Dòng tiền</a:t>
            </a:r>
            <a:endParaRPr lang="en-US" sz="1800" dirty="0"/>
          </a:p>
        </p:txBody>
      </p:sp>
      <p:sp>
        <p:nvSpPr>
          <p:cNvPr id="39" name="Text 36"/>
          <p:cNvSpPr txBox="1"/>
          <p:nvPr/>
        </p:nvSpPr>
        <p:spPr>
          <a:xfrm>
            <a:off x="7330288" y="4023360"/>
            <a:ext cx="4129888" cy="731520"/>
          </a:xfrm>
          <a:prstGeom prst="rect">
            <a:avLst/>
          </a:prstGeom>
          <a:noFill/>
          <a:ln/>
        </p:spPr>
        <p:txBody>
          <a:bodyPr wrap="square" lIns="0" tIns="0" rIns="0" bIns="0" rtlCol="0" anchor="t"/>
          <a:lstStyle/>
          <a:p>
            <a:pPr indent="0" marL="0">
              <a:buNone/>
            </a:pPr>
            <a:r>
              <a:rPr lang="en-US" sz="1400" dirty="0">
                <a:solidFill>
                  <a:srgbClr val="2A2238"/>
                </a:solidFill>
                <a:latin typeface="Alexandria" pitchFamily="34" charset="0"/>
                <a:ea typeface="Alexandria" pitchFamily="34" charset="-122"/>
                <a:cs typeface="Alexandria" pitchFamily="34" charset="-120"/>
              </a:rPr>
              <a:t>Nhà cung cấp đòi cọc sớm, khách trả chậm — agency bị kẹp giữa</a:t>
            </a:r>
            <a:endParaRPr lang="en-US" sz="1400" dirty="0"/>
          </a:p>
        </p:txBody>
      </p:sp>
      <p:sp>
        <p:nvSpPr>
          <p:cNvPr id="40" name="Text 37"/>
          <p:cNvSpPr txBox="1"/>
          <p:nvPr/>
        </p:nvSpPr>
        <p:spPr>
          <a:xfrm>
            <a:off x="548640" y="5166360"/>
            <a:ext cx="11094415" cy="7315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 Mỗi nhượng bộ giá ăn thẳng vào một biên lợi nhuận rất mỏng, nên phải đổi lấy thứ gì đó.</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Một câu nói có thể chuyển cuộc đàm phán từ giá sang giá trị</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26</a:t>
            </a:r>
            <a:endParaRPr lang="en-US" sz="1000" dirty="0"/>
          </a:p>
        </p:txBody>
      </p:sp>
      <p:sp>
        <p:nvSpPr>
          <p:cNvPr id="19" name="Shape 16"/>
          <p:cNvSpPr/>
          <p:nvPr/>
        </p:nvSpPr>
        <p:spPr>
          <a:xfrm>
            <a:off x="548640" y="1810512"/>
            <a:ext cx="11094415" cy="777240"/>
          </a:xfrm>
          <a:prstGeom prst="roundRect">
            <a:avLst>
              <a:gd name="adj" fmla="val 14118"/>
            </a:avLst>
          </a:prstGeom>
          <a:solidFill>
            <a:srgbClr val="FFFFFF"/>
          </a:solidFill>
          <a:ln w="12700">
            <a:solidFill>
              <a:srgbClr val="DCD7C8"/>
            </a:solidFill>
            <a:prstDash val="solid"/>
          </a:ln>
        </p:spPr>
      </p:sp>
      <p:sp>
        <p:nvSpPr>
          <p:cNvPr id="20" name="Shape 17"/>
          <p:cNvSpPr/>
          <p:nvPr/>
        </p:nvSpPr>
        <p:spPr>
          <a:xfrm>
            <a:off x="749808" y="1924812"/>
            <a:ext cx="548640" cy="548640"/>
          </a:xfrm>
          <a:prstGeom prst="ellipse">
            <a:avLst/>
          </a:prstGeom>
          <a:solidFill>
            <a:srgbClr val="FF9259"/>
          </a:solidFill>
          <a:ln w="12700">
            <a:solidFill>
              <a:srgbClr val="FF9259"/>
            </a:solidFill>
            <a:prstDash val="solid"/>
          </a:ln>
        </p:spPr>
      </p:sp>
      <p:sp>
        <p:nvSpPr>
          <p:cNvPr id="21" name="Text 18"/>
          <p:cNvSpPr txBox="1"/>
          <p:nvPr/>
        </p:nvSpPr>
        <p:spPr>
          <a:xfrm>
            <a:off x="749808" y="1924812"/>
            <a:ext cx="548640" cy="548640"/>
          </a:xfrm>
          <a:prstGeom prst="rect">
            <a:avLst/>
          </a:prstGeom>
          <a:noFill/>
          <a:ln/>
        </p:spPr>
        <p:txBody>
          <a:bodyPr wrap="square" lIns="0" tIns="0" rIns="0" bIns="0" rtlCol="0" anchor="ctr"/>
          <a:lstStyle/>
          <a:p>
            <a:pPr algn="ctr" indent="0" marL="0">
              <a:buNone/>
            </a:pPr>
            <a:r>
              <a:rPr lang="en-US" sz="2040" b="1" dirty="0">
                <a:solidFill>
                  <a:srgbClr val="2A2238"/>
                </a:solidFill>
                <a:latin typeface="Alexandria" pitchFamily="34" charset="0"/>
                <a:ea typeface="Alexandria" pitchFamily="34" charset="-122"/>
                <a:cs typeface="Alexandria" pitchFamily="34" charset="-120"/>
              </a:rPr>
              <a:t>1</a:t>
            </a:r>
            <a:endParaRPr lang="en-US" sz="2040" dirty="0"/>
          </a:p>
        </p:txBody>
      </p:sp>
      <p:sp>
        <p:nvSpPr>
          <p:cNvPr id="22" name="Text 19"/>
          <p:cNvSpPr txBox="1"/>
          <p:nvPr/>
        </p:nvSpPr>
        <p:spPr>
          <a:xfrm>
            <a:off x="1508760" y="1810512"/>
            <a:ext cx="9905695" cy="777240"/>
          </a:xfrm>
          <a:prstGeom prst="rect">
            <a:avLst/>
          </a:prstGeom>
          <a:noFill/>
          <a:ln/>
        </p:spPr>
        <p:txBody>
          <a:bodyPr wrap="square" lIns="0" tIns="0" rIns="0" bIns="0" rtlCol="0" anchor="ctr"/>
          <a:lstStyle/>
          <a:p>
            <a:pPr indent="0" marL="0">
              <a:buNone/>
            </a:pPr>
            <a:r>
              <a:rPr lang="en-US" sz="1400" i="1" dirty="0">
                <a:solidFill>
                  <a:srgbClr val="2A2238"/>
                </a:solidFill>
                <a:latin typeface="Alexandria" pitchFamily="34" charset="0"/>
                <a:ea typeface="Alexandria" pitchFamily="34" charset="-122"/>
                <a:cs typeface="Alexandria" pitchFamily="34" charset="-120"/>
              </a:rPr>
              <a:t>“15% đó là mục tiêu cho cả danh mục hay riêng sự kiện này? Năm nay ưu tiên số một của anh/chị cho hội nghị là gì?”</a:t>
            </a:r>
            <a:endParaRPr lang="en-US" sz="1400" dirty="0"/>
          </a:p>
        </p:txBody>
      </p:sp>
      <p:sp>
        <p:nvSpPr>
          <p:cNvPr id="23" name="Shape 20"/>
          <p:cNvSpPr/>
          <p:nvPr/>
        </p:nvSpPr>
        <p:spPr>
          <a:xfrm>
            <a:off x="548640" y="2697480"/>
            <a:ext cx="11094415" cy="1005840"/>
          </a:xfrm>
          <a:prstGeom prst="roundRect">
            <a:avLst>
              <a:gd name="adj" fmla="val 10909"/>
            </a:avLst>
          </a:prstGeom>
          <a:solidFill>
            <a:srgbClr val="FFFFFF"/>
          </a:solidFill>
          <a:ln w="12700">
            <a:solidFill>
              <a:srgbClr val="DCD7C8"/>
            </a:solidFill>
            <a:prstDash val="solid"/>
          </a:ln>
        </p:spPr>
      </p:sp>
      <p:sp>
        <p:nvSpPr>
          <p:cNvPr id="24" name="Shape 21"/>
          <p:cNvSpPr/>
          <p:nvPr/>
        </p:nvSpPr>
        <p:spPr>
          <a:xfrm>
            <a:off x="749808" y="2926080"/>
            <a:ext cx="548640" cy="548640"/>
          </a:xfrm>
          <a:prstGeom prst="ellipse">
            <a:avLst/>
          </a:prstGeom>
          <a:solidFill>
            <a:srgbClr val="FF5178"/>
          </a:solidFill>
          <a:ln w="12700">
            <a:solidFill>
              <a:srgbClr val="FF5178"/>
            </a:solidFill>
            <a:prstDash val="solid"/>
          </a:ln>
        </p:spPr>
      </p:sp>
      <p:sp>
        <p:nvSpPr>
          <p:cNvPr id="25" name="Text 22"/>
          <p:cNvSpPr txBox="1"/>
          <p:nvPr/>
        </p:nvSpPr>
        <p:spPr>
          <a:xfrm>
            <a:off x="749808" y="2926080"/>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2</a:t>
            </a:r>
            <a:endParaRPr lang="en-US" sz="2040" dirty="0"/>
          </a:p>
        </p:txBody>
      </p:sp>
      <p:sp>
        <p:nvSpPr>
          <p:cNvPr id="26" name="Text 23"/>
          <p:cNvSpPr txBox="1"/>
          <p:nvPr/>
        </p:nvSpPr>
        <p:spPr>
          <a:xfrm>
            <a:off x="1508760" y="2697480"/>
            <a:ext cx="9905695" cy="1005840"/>
          </a:xfrm>
          <a:prstGeom prst="rect">
            <a:avLst/>
          </a:prstGeom>
          <a:noFill/>
          <a:ln/>
        </p:spPr>
        <p:txBody>
          <a:bodyPr wrap="square" lIns="0" tIns="0" rIns="0" bIns="0" rtlCol="0" anchor="ctr"/>
          <a:lstStyle/>
          <a:p>
            <a:pPr indent="0" marL="0">
              <a:buNone/>
            </a:pPr>
            <a:r>
              <a:rPr lang="en-US" sz="1400" i="1" dirty="0">
                <a:solidFill>
                  <a:srgbClr val="2A2238"/>
                </a:solidFill>
                <a:latin typeface="Alexandria" pitchFamily="34" charset="0"/>
                <a:ea typeface="Alexandria" pitchFamily="34" charset="-122"/>
                <a:cs typeface="Alexandria" pitchFamily="34" charset="-120"/>
              </a:rPr>
              <a:t>“Có ba chỗ bên em giảm được mà khách mời gần như không nhận ra: xe đưa đón, in ấn, quà tặng. Còn ballroom và AV thì em xin giải thích vì sao cắt ở đó là chuyển rủi ro sang chính sự kiện của mình.”</a:t>
            </a:r>
            <a:endParaRPr lang="en-US" sz="1400" dirty="0"/>
          </a:p>
        </p:txBody>
      </p:sp>
      <p:sp>
        <p:nvSpPr>
          <p:cNvPr id="27" name="Shape 24"/>
          <p:cNvSpPr/>
          <p:nvPr/>
        </p:nvSpPr>
        <p:spPr>
          <a:xfrm>
            <a:off x="548640" y="3813048"/>
            <a:ext cx="11094415" cy="868680"/>
          </a:xfrm>
          <a:prstGeom prst="roundRect">
            <a:avLst>
              <a:gd name="adj" fmla="val 12632"/>
            </a:avLst>
          </a:prstGeom>
          <a:solidFill>
            <a:srgbClr val="FFFFFF"/>
          </a:solidFill>
          <a:ln w="12700">
            <a:solidFill>
              <a:srgbClr val="DCD7C8"/>
            </a:solidFill>
            <a:prstDash val="solid"/>
          </a:ln>
        </p:spPr>
      </p:sp>
      <p:sp>
        <p:nvSpPr>
          <p:cNvPr id="28" name="Shape 25"/>
          <p:cNvSpPr/>
          <p:nvPr/>
        </p:nvSpPr>
        <p:spPr>
          <a:xfrm>
            <a:off x="749808" y="3973068"/>
            <a:ext cx="548640" cy="548640"/>
          </a:xfrm>
          <a:prstGeom prst="ellipse">
            <a:avLst/>
          </a:prstGeom>
          <a:solidFill>
            <a:srgbClr val="09A1E5"/>
          </a:solidFill>
          <a:ln w="12700">
            <a:solidFill>
              <a:srgbClr val="09A1E5"/>
            </a:solidFill>
            <a:prstDash val="solid"/>
          </a:ln>
        </p:spPr>
      </p:sp>
      <p:sp>
        <p:nvSpPr>
          <p:cNvPr id="29" name="Text 26"/>
          <p:cNvSpPr txBox="1"/>
          <p:nvPr/>
        </p:nvSpPr>
        <p:spPr>
          <a:xfrm>
            <a:off x="749808" y="3973068"/>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3</a:t>
            </a:r>
            <a:endParaRPr lang="en-US" sz="2040" dirty="0"/>
          </a:p>
        </p:txBody>
      </p:sp>
      <p:sp>
        <p:nvSpPr>
          <p:cNvPr id="30" name="Text 27"/>
          <p:cNvSpPr txBox="1"/>
          <p:nvPr/>
        </p:nvSpPr>
        <p:spPr>
          <a:xfrm>
            <a:off x="1508760" y="3813048"/>
            <a:ext cx="9905695" cy="868680"/>
          </a:xfrm>
          <a:prstGeom prst="rect">
            <a:avLst/>
          </a:prstGeom>
          <a:noFill/>
          <a:ln/>
        </p:spPr>
        <p:txBody>
          <a:bodyPr wrap="square" lIns="0" tIns="0" rIns="0" bIns="0" rtlCol="0" anchor="ctr"/>
          <a:lstStyle/>
          <a:p>
            <a:pPr indent="0" marL="0">
              <a:buNone/>
            </a:pPr>
            <a:r>
              <a:rPr lang="en-US" sz="1400" i="1" dirty="0">
                <a:solidFill>
                  <a:srgbClr val="2A2238"/>
                </a:solidFill>
                <a:latin typeface="Alexandria" pitchFamily="34" charset="0"/>
                <a:ea typeface="Alexandria" pitchFamily="34" charset="-122"/>
                <a:cs typeface="Alexandria" pitchFamily="34" charset="-120"/>
              </a:rPr>
              <a:t>“Nếu mình chốt hợp đồng hai năm ngay bây giờ, bên em giữ được giá ballroom năm sau với khách sạn. Phần tiết kiệm đó em chuyển vào báo giá.”</a:t>
            </a:r>
            <a:endParaRPr lang="en-US" sz="1400" dirty="0"/>
          </a:p>
        </p:txBody>
      </p:sp>
      <p:sp>
        <p:nvSpPr>
          <p:cNvPr id="31" name="Shape 28"/>
          <p:cNvSpPr/>
          <p:nvPr/>
        </p:nvSpPr>
        <p:spPr>
          <a:xfrm>
            <a:off x="548640" y="4791456"/>
            <a:ext cx="11094415" cy="868680"/>
          </a:xfrm>
          <a:prstGeom prst="roundRect">
            <a:avLst>
              <a:gd name="adj" fmla="val 12632"/>
            </a:avLst>
          </a:prstGeom>
          <a:solidFill>
            <a:srgbClr val="FFFFFF"/>
          </a:solidFill>
          <a:ln w="12700">
            <a:solidFill>
              <a:srgbClr val="DCD7C8"/>
            </a:solidFill>
            <a:prstDash val="solid"/>
          </a:ln>
        </p:spPr>
      </p:sp>
      <p:sp>
        <p:nvSpPr>
          <p:cNvPr id="32" name="Shape 29"/>
          <p:cNvSpPr/>
          <p:nvPr/>
        </p:nvSpPr>
        <p:spPr>
          <a:xfrm>
            <a:off x="749808" y="4951476"/>
            <a:ext cx="548640" cy="548640"/>
          </a:xfrm>
          <a:prstGeom prst="ellipse">
            <a:avLst/>
          </a:prstGeom>
          <a:solidFill>
            <a:srgbClr val="962B7C"/>
          </a:solidFill>
          <a:ln w="12700">
            <a:solidFill>
              <a:srgbClr val="962B7C"/>
            </a:solidFill>
            <a:prstDash val="solid"/>
          </a:ln>
        </p:spPr>
      </p:sp>
      <p:sp>
        <p:nvSpPr>
          <p:cNvPr id="33" name="Text 30"/>
          <p:cNvSpPr txBox="1"/>
          <p:nvPr/>
        </p:nvSpPr>
        <p:spPr>
          <a:xfrm>
            <a:off x="749808" y="4951476"/>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4</a:t>
            </a:r>
            <a:endParaRPr lang="en-US" sz="2040" dirty="0"/>
          </a:p>
        </p:txBody>
      </p:sp>
      <p:sp>
        <p:nvSpPr>
          <p:cNvPr id="34" name="Text 31"/>
          <p:cNvSpPr txBox="1"/>
          <p:nvPr/>
        </p:nvSpPr>
        <p:spPr>
          <a:xfrm>
            <a:off x="1508760" y="4791456"/>
            <a:ext cx="9905695" cy="868680"/>
          </a:xfrm>
          <a:prstGeom prst="rect">
            <a:avLst/>
          </a:prstGeom>
          <a:noFill/>
          <a:ln/>
        </p:spPr>
        <p:txBody>
          <a:bodyPr wrap="square" lIns="0" tIns="0" rIns="0" bIns="0" rtlCol="0" anchor="ctr"/>
          <a:lstStyle/>
          <a:p>
            <a:pPr indent="0" marL="0">
              <a:buNone/>
            </a:pPr>
            <a:r>
              <a:rPr lang="en-US" sz="1400" i="1" dirty="0">
                <a:solidFill>
                  <a:srgbClr val="2A2238"/>
                </a:solidFill>
                <a:latin typeface="Alexandria" pitchFamily="34" charset="0"/>
                <a:ea typeface="Alexandria" pitchFamily="34" charset="-122"/>
                <a:cs typeface="Alexandria" pitchFamily="34" charset="-120"/>
              </a:rPr>
              <a:t>“Bên em đồng ý giãn lịch thanh toán, nhưng khoản cọc cho khách sạn và nghệ sĩ phải được chuyển trước ngày 15/11 — đó là điều kiện để giữ chỗ.”</a:t>
            </a:r>
            <a:endParaRPr lang="en-US" sz="1400" dirty="0"/>
          </a:p>
        </p:txBody>
      </p:sp>
      <p:sp>
        <p:nvSpPr>
          <p:cNvPr id="35" name="Text 32"/>
          <p:cNvSpPr txBox="1"/>
          <p:nvPr/>
        </p:nvSpPr>
        <p:spPr>
          <a:xfrm>
            <a:off x="548640" y="5806440"/>
            <a:ext cx="11094415" cy="365760"/>
          </a:xfrm>
          <a:prstGeom prst="rect">
            <a:avLst/>
          </a:prstGeom>
          <a:noFill/>
          <a:ln/>
        </p:spPr>
        <p:txBody>
          <a:bodyPr wrap="square" lIns="0" tIns="0" rIns="0" bIns="0" rtlCol="0" anchor="ctr"/>
          <a:lstStyle/>
          <a:p>
            <a:pPr indent="0" marL="0">
              <a:buNone/>
            </a:pPr>
            <a:r>
              <a:rPr lang="en-US" sz="1400" b="1" dirty="0">
                <a:solidFill>
                  <a:srgbClr val="962B7C"/>
                </a:solidFill>
                <a:latin typeface="Alexandria" pitchFamily="34" charset="0"/>
                <a:ea typeface="Alexandria" pitchFamily="34" charset="-122"/>
                <a:cs typeface="Alexandria" pitchFamily="34" charset="-120"/>
              </a:rPr>
              <a:t>Mỗi câu dùng kỹ thuật nào?</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2 · Đóng vai: An Phát đòi giảm 15% — đội Nova đáp lại</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W07_activity_S6_dam_phan_gia_tri.md · Tình huống giả định.</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27</a:t>
            </a:r>
            <a:endParaRPr lang="en-US" sz="1000" dirty="0"/>
          </a:p>
        </p:txBody>
      </p:sp>
      <p:sp>
        <p:nvSpPr>
          <p:cNvPr id="20" name="Shape 17"/>
          <p:cNvSpPr/>
          <p:nvPr/>
        </p:nvSpPr>
        <p:spPr>
          <a:xfrm>
            <a:off x="548640" y="1828800"/>
            <a:ext cx="5577840" cy="4251960"/>
          </a:xfrm>
          <a:prstGeom prst="roundRect">
            <a:avLst>
              <a:gd name="adj" fmla="val 2581"/>
            </a:avLst>
          </a:prstGeom>
          <a:solidFill>
            <a:srgbClr val="FFE4EA"/>
          </a:solidFill>
          <a:ln w="12700">
            <a:solidFill>
              <a:srgbClr val="FF5178"/>
            </a:solidFill>
            <a:prstDash val="solid"/>
          </a:ln>
        </p:spPr>
      </p:sp>
      <p:sp>
        <p:nvSpPr>
          <p:cNvPr id="21" name="Text 18"/>
          <p:cNvSpPr txBox="1"/>
          <p:nvPr/>
        </p:nvSpPr>
        <p:spPr>
          <a:xfrm>
            <a:off x="822960" y="1965960"/>
            <a:ext cx="5029200" cy="411480"/>
          </a:xfrm>
          <a:prstGeom prst="rect">
            <a:avLst/>
          </a:prstGeom>
          <a:noFill/>
          <a:ln/>
        </p:spPr>
        <p:txBody>
          <a:bodyPr wrap="square" lIns="0" tIns="0" rIns="0" bIns="0" rtlCol="0" anchor="ctr"/>
          <a:lstStyle/>
          <a:p>
            <a:pPr indent="0" marL="0">
              <a:buNone/>
            </a:pPr>
            <a:r>
              <a:rPr lang="en-US" sz="1400" b="1" dirty="0">
                <a:solidFill>
                  <a:srgbClr val="C0294F"/>
                </a:solidFill>
                <a:latin typeface="Alexandria" pitchFamily="34" charset="0"/>
                <a:ea typeface="Alexandria" pitchFamily="34" charset="-122"/>
                <a:cs typeface="Alexandria" pitchFamily="34" charset="-120"/>
              </a:rPr>
              <a:t>Ngày 20/10 · hợp đồng 2,4 tỷ đồng · gala 12/12</a:t>
            </a:r>
            <a:endParaRPr lang="en-US" sz="1400" dirty="0"/>
          </a:p>
        </p:txBody>
      </p:sp>
      <p:sp>
        <p:nvSpPr>
          <p:cNvPr id="22" name="Text 19"/>
          <p:cNvSpPr txBox="1"/>
          <p:nvPr/>
        </p:nvSpPr>
        <p:spPr>
          <a:xfrm>
            <a:off x="822960" y="2468880"/>
            <a:ext cx="5029200" cy="36576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An Phát muốn:</a:t>
            </a:r>
            <a:endParaRPr lang="en-US" sz="1600" dirty="0"/>
          </a:p>
        </p:txBody>
      </p:sp>
      <p:sp>
        <p:nvSpPr>
          <p:cNvPr id="23" name="Text 20"/>
          <p:cNvSpPr txBox="1"/>
          <p:nvPr/>
        </p:nvSpPr>
        <p:spPr>
          <a:xfrm>
            <a:off x="822960" y="2880360"/>
            <a:ext cx="502920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Giảm 15% giá trị hợp đồng</a:t>
            </a:r>
            <a:endParaRPr lang="en-US" sz="1600" dirty="0"/>
          </a:p>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Đổi AV sang đơn vị quen của ngân hàng (báo giá rẻ hơn)</a:t>
            </a:r>
            <a:endParaRPr lang="en-US" sz="1600" dirty="0"/>
          </a:p>
          <a:p>
            <a:pPr marL="342900" indent="-342900">
              <a:spcAft>
                <a:spcPts val="800"/>
              </a:spcAft>
              <a:buSzPct val="100000"/>
              <a:buChar char="•"/>
            </a:pPr>
            <a:r>
              <a:rPr lang="en-US" sz="1600" dirty="0">
                <a:solidFill>
                  <a:srgbClr val="2A2238"/>
                </a:solidFill>
                <a:latin typeface="Alexandria" pitchFamily="34" charset="0"/>
                <a:ea typeface="Alexandria" pitchFamily="34" charset="-122"/>
                <a:cs typeface="Alexandria" pitchFamily="34" charset="-120"/>
              </a:rPr>
              <a:t>Giãn lịch thanh toán</a:t>
            </a:r>
            <a:endParaRPr lang="en-US" sz="1600" dirty="0"/>
          </a:p>
          <a:p>
            <a:pPr indent="0" marL="0">
              <a:spcAft>
                <a:spcPts val="800"/>
              </a:spcAft>
              <a:buNone/>
            </a:pPr>
            <a:r>
              <a:rPr lang="en-US" sz="1600" i="1" dirty="0">
                <a:solidFill>
                  <a:srgbClr val="2A2238"/>
                </a:solidFill>
                <a:latin typeface="Alexandria" pitchFamily="34" charset="0"/>
                <a:ea typeface="Alexandria" pitchFamily="34" charset="-122"/>
                <a:cs typeface="Alexandria" pitchFamily="34" charset="-120"/>
              </a:rPr>
              <a:t>…nhưng giữ nguyên ca sĩ headline và chất lượng gala</a:t>
            </a:r>
            <a:endParaRPr lang="en-US" sz="1600" dirty="0"/>
          </a:p>
        </p:txBody>
      </p:sp>
      <p:sp>
        <p:nvSpPr>
          <p:cNvPr id="24" name="Text 21"/>
          <p:cNvSpPr txBox="1"/>
          <p:nvPr/>
        </p:nvSpPr>
        <p:spPr>
          <a:xfrm>
            <a:off x="822960" y="5166360"/>
            <a:ext cx="5029200" cy="777240"/>
          </a:xfrm>
          <a:prstGeom prst="rect">
            <a:avLst/>
          </a:prstGeom>
          <a:noFill/>
          <a:ln/>
        </p:spPr>
        <p:txBody>
          <a:bodyPr wrap="square" lIns="0" tIns="0" rIns="0" bIns="0" rtlCol="0" anchor="ctr"/>
          <a:lstStyle/>
          <a:p>
            <a:pPr indent="0" marL="0">
              <a:buNone/>
            </a:pPr>
            <a:r>
              <a:rPr lang="en-US" sz="1300" dirty="0">
                <a:solidFill>
                  <a:srgbClr val="2A2238"/>
                </a:solidFill>
                <a:latin typeface="Alexandria" pitchFamily="34" charset="0"/>
                <a:ea typeface="Alexandria" pitchFamily="34" charset="-122"/>
                <a:cs typeface="Alexandria" pitchFamily="34" charset="-120"/>
              </a:rPr>
              <a:t>3 cặp: nhóm An Phát (Key Account) ↔ đội KAM Nova · 1 người quan sát/nhóm</a:t>
            </a:r>
            <a:endParaRPr lang="en-US" sz="1300" dirty="0"/>
          </a:p>
        </p:txBody>
      </p:sp>
      <p:sp>
        <p:nvSpPr>
          <p:cNvPr id="25" name="Shape 22"/>
          <p:cNvSpPr/>
          <p:nvPr/>
        </p:nvSpPr>
        <p:spPr>
          <a:xfrm>
            <a:off x="6492240" y="1874520"/>
            <a:ext cx="685800" cy="685800"/>
          </a:xfrm>
          <a:prstGeom prst="ellipse">
            <a:avLst/>
          </a:prstGeom>
          <a:solidFill>
            <a:srgbClr val="FF9259"/>
          </a:solidFill>
          <a:ln w="12700">
            <a:solidFill>
              <a:srgbClr val="FF9259"/>
            </a:solidFill>
            <a:prstDash val="solid"/>
          </a:ln>
        </p:spPr>
      </p:sp>
      <p:sp>
        <p:nvSpPr>
          <p:cNvPr id="26" name="Text 23"/>
          <p:cNvSpPr txBox="1"/>
          <p:nvPr/>
        </p:nvSpPr>
        <p:spPr>
          <a:xfrm>
            <a:off x="6492240" y="1874520"/>
            <a:ext cx="685800" cy="685800"/>
          </a:xfrm>
          <a:prstGeom prst="rect">
            <a:avLst/>
          </a:prstGeom>
          <a:noFill/>
          <a:ln/>
        </p:spPr>
        <p:txBody>
          <a:bodyPr wrap="square" lIns="0" tIns="0" rIns="0" bIns="0" rtlCol="0" anchor="ctr"/>
          <a:lstStyle/>
          <a:p>
            <a:pPr algn="ctr" indent="0" marL="0">
              <a:buNone/>
            </a:pPr>
            <a:r>
              <a:rPr lang="en-US" sz="2550" b="1" dirty="0">
                <a:solidFill>
                  <a:srgbClr val="2A2238"/>
                </a:solidFill>
                <a:latin typeface="Alexandria" pitchFamily="34" charset="0"/>
                <a:ea typeface="Alexandria" pitchFamily="34" charset="-122"/>
                <a:cs typeface="Alexandria" pitchFamily="34" charset="-120"/>
              </a:rPr>
              <a:t>6’</a:t>
            </a:r>
            <a:endParaRPr lang="en-US" sz="2550" dirty="0"/>
          </a:p>
        </p:txBody>
      </p:sp>
      <p:sp>
        <p:nvSpPr>
          <p:cNvPr id="27" name="Text 24"/>
          <p:cNvSpPr txBox="1"/>
          <p:nvPr/>
        </p:nvSpPr>
        <p:spPr>
          <a:xfrm>
            <a:off x="7360920" y="1828800"/>
            <a:ext cx="4282135" cy="77724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Chuẩn bị: đọc thẻ vai, mục tiêu, điểm dừng</a:t>
            </a:r>
            <a:endParaRPr lang="en-US" sz="1500" dirty="0"/>
          </a:p>
        </p:txBody>
      </p:sp>
      <p:sp>
        <p:nvSpPr>
          <p:cNvPr id="28" name="Shape 25"/>
          <p:cNvSpPr/>
          <p:nvPr/>
        </p:nvSpPr>
        <p:spPr>
          <a:xfrm>
            <a:off x="6492240" y="2743200"/>
            <a:ext cx="685800" cy="685800"/>
          </a:xfrm>
          <a:prstGeom prst="ellipse">
            <a:avLst/>
          </a:prstGeom>
          <a:solidFill>
            <a:srgbClr val="FF5178"/>
          </a:solidFill>
          <a:ln w="12700">
            <a:solidFill>
              <a:srgbClr val="FF5178"/>
            </a:solidFill>
            <a:prstDash val="solid"/>
          </a:ln>
        </p:spPr>
      </p:sp>
      <p:sp>
        <p:nvSpPr>
          <p:cNvPr id="29" name="Text 26"/>
          <p:cNvSpPr txBox="1"/>
          <p:nvPr/>
        </p:nvSpPr>
        <p:spPr>
          <a:xfrm>
            <a:off x="6492240" y="2743200"/>
            <a:ext cx="685800" cy="685800"/>
          </a:xfrm>
          <a:prstGeom prst="rect">
            <a:avLst/>
          </a:prstGeom>
          <a:noFill/>
          <a:ln/>
        </p:spPr>
        <p:txBody>
          <a:bodyPr wrap="square" lIns="0" tIns="0" rIns="0" bIns="0" rtlCol="0" anchor="ctr"/>
          <a:lstStyle/>
          <a:p>
            <a:pPr algn="ctr" indent="0" marL="0">
              <a:buNone/>
            </a:pPr>
            <a:r>
              <a:rPr lang="en-US" sz="2550" b="1" dirty="0">
                <a:solidFill>
                  <a:srgbClr val="FFFFFF"/>
                </a:solidFill>
                <a:latin typeface="Alexandria" pitchFamily="34" charset="0"/>
                <a:ea typeface="Alexandria" pitchFamily="34" charset="-122"/>
                <a:cs typeface="Alexandria" pitchFamily="34" charset="-120"/>
              </a:rPr>
              <a:t>10’</a:t>
            </a:r>
            <a:endParaRPr lang="en-US" sz="2550" dirty="0"/>
          </a:p>
        </p:txBody>
      </p:sp>
      <p:sp>
        <p:nvSpPr>
          <p:cNvPr id="30" name="Text 27"/>
          <p:cNvSpPr txBox="1"/>
          <p:nvPr/>
        </p:nvSpPr>
        <p:spPr>
          <a:xfrm>
            <a:off x="7360920" y="2697480"/>
            <a:ext cx="4282135" cy="77724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Đàm phán — kết bằng biên bản 3 dòng</a:t>
            </a:r>
            <a:endParaRPr lang="en-US" sz="1500" dirty="0"/>
          </a:p>
        </p:txBody>
      </p:sp>
      <p:sp>
        <p:nvSpPr>
          <p:cNvPr id="31" name="Shape 28"/>
          <p:cNvSpPr/>
          <p:nvPr/>
        </p:nvSpPr>
        <p:spPr>
          <a:xfrm>
            <a:off x="6492240" y="3611880"/>
            <a:ext cx="685800" cy="685800"/>
          </a:xfrm>
          <a:prstGeom prst="ellipse">
            <a:avLst/>
          </a:prstGeom>
          <a:solidFill>
            <a:srgbClr val="962B7C"/>
          </a:solidFill>
          <a:ln w="12700">
            <a:solidFill>
              <a:srgbClr val="962B7C"/>
            </a:solidFill>
            <a:prstDash val="solid"/>
          </a:ln>
        </p:spPr>
      </p:sp>
      <p:sp>
        <p:nvSpPr>
          <p:cNvPr id="32" name="Text 29"/>
          <p:cNvSpPr txBox="1"/>
          <p:nvPr/>
        </p:nvSpPr>
        <p:spPr>
          <a:xfrm>
            <a:off x="6492240" y="3611880"/>
            <a:ext cx="685800" cy="685800"/>
          </a:xfrm>
          <a:prstGeom prst="rect">
            <a:avLst/>
          </a:prstGeom>
          <a:noFill/>
          <a:ln/>
        </p:spPr>
        <p:txBody>
          <a:bodyPr wrap="square" lIns="0" tIns="0" rIns="0" bIns="0" rtlCol="0" anchor="ctr"/>
          <a:lstStyle/>
          <a:p>
            <a:pPr algn="ctr" indent="0" marL="0">
              <a:buNone/>
            </a:pPr>
            <a:r>
              <a:rPr lang="en-US" sz="2550" b="1" dirty="0">
                <a:solidFill>
                  <a:srgbClr val="FFFFFF"/>
                </a:solidFill>
                <a:latin typeface="Alexandria" pitchFamily="34" charset="0"/>
                <a:ea typeface="Alexandria" pitchFamily="34" charset="-122"/>
                <a:cs typeface="Alexandria" pitchFamily="34" charset="-120"/>
              </a:rPr>
              <a:t>3’</a:t>
            </a:r>
            <a:endParaRPr lang="en-US" sz="2550" dirty="0"/>
          </a:p>
        </p:txBody>
      </p:sp>
      <p:sp>
        <p:nvSpPr>
          <p:cNvPr id="33" name="Text 30"/>
          <p:cNvSpPr txBox="1"/>
          <p:nvPr/>
        </p:nvSpPr>
        <p:spPr>
          <a:xfrm>
            <a:off x="7360920" y="3566160"/>
            <a:ext cx="4282135" cy="77724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Lật thẻ; người quan sát đọc phiếu</a:t>
            </a:r>
            <a:endParaRPr lang="en-US" sz="1500" dirty="0"/>
          </a:p>
        </p:txBody>
      </p:sp>
      <p:sp>
        <p:nvSpPr>
          <p:cNvPr id="34" name="Shape 31"/>
          <p:cNvSpPr/>
          <p:nvPr/>
        </p:nvSpPr>
        <p:spPr>
          <a:xfrm>
            <a:off x="6492240" y="4480560"/>
            <a:ext cx="685800" cy="685800"/>
          </a:xfrm>
          <a:prstGeom prst="ellipse">
            <a:avLst/>
          </a:prstGeom>
          <a:solidFill>
            <a:srgbClr val="49B296"/>
          </a:solidFill>
          <a:ln w="12700">
            <a:solidFill>
              <a:srgbClr val="49B296"/>
            </a:solidFill>
            <a:prstDash val="solid"/>
          </a:ln>
        </p:spPr>
      </p:sp>
      <p:sp>
        <p:nvSpPr>
          <p:cNvPr id="35" name="Text 32"/>
          <p:cNvSpPr txBox="1"/>
          <p:nvPr/>
        </p:nvSpPr>
        <p:spPr>
          <a:xfrm>
            <a:off x="6492240" y="4480560"/>
            <a:ext cx="685800" cy="685800"/>
          </a:xfrm>
          <a:prstGeom prst="rect">
            <a:avLst/>
          </a:prstGeom>
          <a:noFill/>
          <a:ln/>
        </p:spPr>
        <p:txBody>
          <a:bodyPr wrap="square" lIns="0" tIns="0" rIns="0" bIns="0" rtlCol="0" anchor="ctr"/>
          <a:lstStyle/>
          <a:p>
            <a:pPr algn="ctr" indent="0" marL="0">
              <a:buNone/>
            </a:pPr>
            <a:r>
              <a:rPr lang="en-US" sz="2550" b="1" dirty="0">
                <a:solidFill>
                  <a:srgbClr val="FFFFFF"/>
                </a:solidFill>
                <a:latin typeface="Alexandria" pitchFamily="34" charset="0"/>
                <a:ea typeface="Alexandria" pitchFamily="34" charset="-122"/>
                <a:cs typeface="Alexandria" pitchFamily="34" charset="-120"/>
              </a:rPr>
              <a:t>8’</a:t>
            </a:r>
            <a:endParaRPr lang="en-US" sz="2550" dirty="0"/>
          </a:p>
        </p:txBody>
      </p:sp>
      <p:sp>
        <p:nvSpPr>
          <p:cNvPr id="36" name="Text 33"/>
          <p:cNvSpPr txBox="1"/>
          <p:nvPr/>
        </p:nvSpPr>
        <p:spPr>
          <a:xfrm>
            <a:off x="7360920" y="4434840"/>
            <a:ext cx="4282135" cy="77724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Tổng kết toàn lớp, từ góc agency</a:t>
            </a:r>
            <a:endParaRPr lang="en-US" sz="1500" dirty="0"/>
          </a:p>
        </p:txBody>
      </p:sp>
      <p:sp>
        <p:nvSpPr>
          <p:cNvPr id="37" name="Shape 34"/>
          <p:cNvSpPr/>
          <p:nvPr/>
        </p:nvSpPr>
        <p:spPr>
          <a:xfrm>
            <a:off x="6492240" y="5394960"/>
            <a:ext cx="5150815" cy="685800"/>
          </a:xfrm>
          <a:prstGeom prst="roundRect">
            <a:avLst>
              <a:gd name="adj" fmla="val 16000"/>
            </a:avLst>
          </a:prstGeom>
          <a:solidFill>
            <a:srgbClr val="FFF3C4"/>
          </a:solidFill>
          <a:ln w="12700">
            <a:solidFill>
              <a:srgbClr val="FFD23B"/>
            </a:solidFill>
            <a:prstDash val="solid"/>
          </a:ln>
        </p:spPr>
      </p:sp>
      <p:sp>
        <p:nvSpPr>
          <p:cNvPr id="38" name="Text 35"/>
          <p:cNvSpPr txBox="1"/>
          <p:nvPr/>
        </p:nvSpPr>
        <p:spPr>
          <a:xfrm>
            <a:off x="6675120" y="5394960"/>
            <a:ext cx="4785055" cy="68580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Biên bản: đã thống nhất gì · mỗi bên đổi được gì · bước tiếp theo</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ý của Buổi 7</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28</a:t>
            </a:r>
            <a:endParaRPr lang="en-US" sz="1000" dirty="0"/>
          </a:p>
        </p:txBody>
      </p:sp>
      <p:sp>
        <p:nvSpPr>
          <p:cNvPr id="19" name="Shape 16"/>
          <p:cNvSpPr/>
          <p:nvPr/>
        </p:nvSpPr>
        <p:spPr>
          <a:xfrm>
            <a:off x="548640" y="1828800"/>
            <a:ext cx="11094415" cy="1051560"/>
          </a:xfrm>
          <a:prstGeom prst="roundRect">
            <a:avLst>
              <a:gd name="adj" fmla="val 10435"/>
            </a:avLst>
          </a:prstGeom>
          <a:solidFill>
            <a:srgbClr val="F1E1EE"/>
          </a:solidFill>
          <a:ln w="12700">
            <a:solidFill>
              <a:srgbClr val="962B7C"/>
            </a:solidFill>
            <a:prstDash val="solid"/>
          </a:ln>
        </p:spPr>
      </p:sp>
      <p:sp>
        <p:nvSpPr>
          <p:cNvPr id="20" name="Shape 17"/>
          <p:cNvSpPr/>
          <p:nvPr/>
        </p:nvSpPr>
        <p:spPr>
          <a:xfrm>
            <a:off x="777240" y="1965960"/>
            <a:ext cx="777240" cy="777240"/>
          </a:xfrm>
          <a:prstGeom prst="ellipse">
            <a:avLst/>
          </a:prstGeom>
          <a:solidFill>
            <a:srgbClr val="962B7C"/>
          </a:solidFill>
          <a:ln w="12700">
            <a:solidFill>
              <a:srgbClr val="962B7C"/>
            </a:solidFill>
            <a:prstDash val="solid"/>
          </a:ln>
        </p:spPr>
      </p:sp>
      <p:sp>
        <p:nvSpPr>
          <p:cNvPr id="21" name="Text 18"/>
          <p:cNvSpPr txBox="1"/>
          <p:nvPr/>
        </p:nvSpPr>
        <p:spPr>
          <a:xfrm>
            <a:off x="777240" y="1965960"/>
            <a:ext cx="777240" cy="777240"/>
          </a:xfrm>
          <a:prstGeom prst="rect">
            <a:avLst/>
          </a:prstGeom>
          <a:noFill/>
          <a:ln/>
        </p:spPr>
        <p:txBody>
          <a:bodyPr wrap="square" lIns="0" tIns="0" rIns="0" bIns="0" rtlCol="0" anchor="ctr"/>
          <a:lstStyle/>
          <a:p>
            <a:pPr algn="ctr" indent="0" marL="0">
              <a:buNone/>
            </a:pPr>
            <a:r>
              <a:rPr lang="en-US" sz="2890" b="1" dirty="0">
                <a:solidFill>
                  <a:srgbClr val="FFFFFF"/>
                </a:solidFill>
                <a:latin typeface="Alexandria" pitchFamily="34" charset="0"/>
                <a:ea typeface="Alexandria" pitchFamily="34" charset="-122"/>
                <a:cs typeface="Alexandria" pitchFamily="34" charset="-120"/>
              </a:rPr>
              <a:t>7.1</a:t>
            </a:r>
            <a:endParaRPr lang="en-US" sz="2890" dirty="0"/>
          </a:p>
        </p:txBody>
      </p:sp>
      <p:sp>
        <p:nvSpPr>
          <p:cNvPr id="22" name="Text 19"/>
          <p:cNvSpPr txBox="1"/>
          <p:nvPr/>
        </p:nvSpPr>
        <p:spPr>
          <a:xfrm>
            <a:off x="1783080" y="1828800"/>
            <a:ext cx="9631375" cy="10515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Xếp hạng mục theo hai trục, rồi mới suy ra vị thế nhà cung cấp. Ô đổi theo mùa, quy mô và điều khoản.</a:t>
            </a:r>
            <a:endParaRPr lang="en-US" sz="1700" dirty="0"/>
          </a:p>
        </p:txBody>
      </p:sp>
      <p:sp>
        <p:nvSpPr>
          <p:cNvPr id="23" name="Shape 20"/>
          <p:cNvSpPr/>
          <p:nvPr/>
        </p:nvSpPr>
        <p:spPr>
          <a:xfrm>
            <a:off x="548640" y="3017520"/>
            <a:ext cx="11094415" cy="1051560"/>
          </a:xfrm>
          <a:prstGeom prst="roundRect">
            <a:avLst>
              <a:gd name="adj" fmla="val 10435"/>
            </a:avLst>
          </a:prstGeom>
          <a:solidFill>
            <a:srgbClr val="DDF1FB"/>
          </a:solidFill>
          <a:ln w="12700">
            <a:solidFill>
              <a:srgbClr val="09A1E5"/>
            </a:solidFill>
            <a:prstDash val="solid"/>
          </a:ln>
        </p:spPr>
      </p:sp>
      <p:sp>
        <p:nvSpPr>
          <p:cNvPr id="24" name="Shape 21"/>
          <p:cNvSpPr/>
          <p:nvPr/>
        </p:nvSpPr>
        <p:spPr>
          <a:xfrm>
            <a:off x="777240" y="3154680"/>
            <a:ext cx="777240" cy="777240"/>
          </a:xfrm>
          <a:prstGeom prst="ellipse">
            <a:avLst/>
          </a:prstGeom>
          <a:solidFill>
            <a:srgbClr val="09A1E5"/>
          </a:solidFill>
          <a:ln w="12700">
            <a:solidFill>
              <a:srgbClr val="09A1E5"/>
            </a:solidFill>
            <a:prstDash val="solid"/>
          </a:ln>
        </p:spPr>
      </p:sp>
      <p:sp>
        <p:nvSpPr>
          <p:cNvPr id="25" name="Text 22"/>
          <p:cNvSpPr txBox="1"/>
          <p:nvPr/>
        </p:nvSpPr>
        <p:spPr>
          <a:xfrm>
            <a:off x="777240" y="3154680"/>
            <a:ext cx="777240" cy="777240"/>
          </a:xfrm>
          <a:prstGeom prst="rect">
            <a:avLst/>
          </a:prstGeom>
          <a:noFill/>
          <a:ln/>
        </p:spPr>
        <p:txBody>
          <a:bodyPr wrap="square" lIns="0" tIns="0" rIns="0" bIns="0" rtlCol="0" anchor="ctr"/>
          <a:lstStyle/>
          <a:p>
            <a:pPr algn="ctr" indent="0" marL="0">
              <a:buNone/>
            </a:pPr>
            <a:r>
              <a:rPr lang="en-US" sz="2890" b="1" dirty="0">
                <a:solidFill>
                  <a:srgbClr val="FFFFFF"/>
                </a:solidFill>
                <a:latin typeface="Alexandria" pitchFamily="34" charset="0"/>
                <a:ea typeface="Alexandria" pitchFamily="34" charset="-122"/>
                <a:cs typeface="Alexandria" pitchFamily="34" charset="-120"/>
              </a:rPr>
              <a:t>7.2</a:t>
            </a:r>
            <a:endParaRPr lang="en-US" sz="2890" dirty="0"/>
          </a:p>
        </p:txBody>
      </p:sp>
      <p:sp>
        <p:nvSpPr>
          <p:cNvPr id="26" name="Text 23"/>
          <p:cNvSpPr txBox="1"/>
          <p:nvPr/>
        </p:nvSpPr>
        <p:spPr>
          <a:xfrm>
            <a:off x="1783080" y="3017520"/>
            <a:ext cx="9631375" cy="10515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Procurement chọn ai, khung nào, cho cả năm; Buying làm đúng từng sự kiện và ghi lại. Customer of choice là việc agency chủ động làm.</a:t>
            </a:r>
            <a:endParaRPr lang="en-US" sz="1700" dirty="0"/>
          </a:p>
        </p:txBody>
      </p:sp>
      <p:sp>
        <p:nvSpPr>
          <p:cNvPr id="27" name="Shape 24"/>
          <p:cNvSpPr/>
          <p:nvPr/>
        </p:nvSpPr>
        <p:spPr>
          <a:xfrm>
            <a:off x="548640" y="4206240"/>
            <a:ext cx="11094415" cy="1051560"/>
          </a:xfrm>
          <a:prstGeom prst="roundRect">
            <a:avLst>
              <a:gd name="adj" fmla="val 10435"/>
            </a:avLst>
          </a:prstGeom>
          <a:solidFill>
            <a:srgbClr val="FFE4EA"/>
          </a:solidFill>
          <a:ln w="12700">
            <a:solidFill>
              <a:srgbClr val="FF5178"/>
            </a:solidFill>
            <a:prstDash val="solid"/>
          </a:ln>
        </p:spPr>
      </p:sp>
      <p:sp>
        <p:nvSpPr>
          <p:cNvPr id="28" name="Shape 25"/>
          <p:cNvSpPr/>
          <p:nvPr/>
        </p:nvSpPr>
        <p:spPr>
          <a:xfrm>
            <a:off x="777240" y="4343400"/>
            <a:ext cx="777240" cy="777240"/>
          </a:xfrm>
          <a:prstGeom prst="ellipse">
            <a:avLst/>
          </a:prstGeom>
          <a:solidFill>
            <a:srgbClr val="FF5178"/>
          </a:solidFill>
          <a:ln w="12700">
            <a:solidFill>
              <a:srgbClr val="FF5178"/>
            </a:solidFill>
            <a:prstDash val="solid"/>
          </a:ln>
        </p:spPr>
      </p:sp>
      <p:sp>
        <p:nvSpPr>
          <p:cNvPr id="29" name="Text 26"/>
          <p:cNvSpPr txBox="1"/>
          <p:nvPr/>
        </p:nvSpPr>
        <p:spPr>
          <a:xfrm>
            <a:off x="777240" y="4343400"/>
            <a:ext cx="777240" cy="777240"/>
          </a:xfrm>
          <a:prstGeom prst="rect">
            <a:avLst/>
          </a:prstGeom>
          <a:noFill/>
          <a:ln/>
        </p:spPr>
        <p:txBody>
          <a:bodyPr wrap="square" lIns="0" tIns="0" rIns="0" bIns="0" rtlCol="0" anchor="ctr"/>
          <a:lstStyle/>
          <a:p>
            <a:pPr algn="ctr" indent="0" marL="0">
              <a:buNone/>
            </a:pPr>
            <a:r>
              <a:rPr lang="en-US" sz="2890" b="1" dirty="0">
                <a:solidFill>
                  <a:srgbClr val="FFFFFF"/>
                </a:solidFill>
                <a:latin typeface="Alexandria" pitchFamily="34" charset="0"/>
                <a:ea typeface="Alexandria" pitchFamily="34" charset="-122"/>
                <a:cs typeface="Alexandria" pitchFamily="34" charset="-120"/>
              </a:rPr>
              <a:t>7.3</a:t>
            </a:r>
            <a:endParaRPr lang="en-US" sz="2890" dirty="0"/>
          </a:p>
        </p:txBody>
      </p:sp>
      <p:sp>
        <p:nvSpPr>
          <p:cNvPr id="30" name="Text 27"/>
          <p:cNvSpPr txBox="1"/>
          <p:nvPr/>
        </p:nvSpPr>
        <p:spPr>
          <a:xfrm>
            <a:off x="1783080" y="4206240"/>
            <a:ext cx="9631375" cy="10515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Nhượng ở Leverage/Non-critical, bảo vệ Strategic/Bottleneck bằng dữ kiện — và luôn đổi nhượng bộ lấy một điều có giá trị.</a:t>
            </a:r>
            <a:endParaRPr lang="en-US" sz="1700" dirty="0"/>
          </a:p>
        </p:txBody>
      </p:sp>
      <p:sp>
        <p:nvSpPr>
          <p:cNvPr id="31" name="Shape 28"/>
          <p:cNvSpPr/>
          <p:nvPr/>
        </p:nvSpPr>
        <p:spPr>
          <a:xfrm>
            <a:off x="548640" y="5486400"/>
            <a:ext cx="11094415" cy="685800"/>
          </a:xfrm>
          <a:prstGeom prst="roundRect">
            <a:avLst>
              <a:gd name="adj" fmla="val 16000"/>
            </a:avLst>
          </a:prstGeom>
          <a:solidFill>
            <a:srgbClr val="FFF3C4"/>
          </a:solidFill>
          <a:ln w="12700">
            <a:solidFill>
              <a:srgbClr val="FFD23B"/>
            </a:solidFill>
            <a:prstDash val="solid"/>
          </a:ln>
        </p:spPr>
      </p:sp>
      <p:sp>
        <p:nvSpPr>
          <p:cNvPr id="32" name="Text 29"/>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Stakeholder Management Plan: </a:t>
            </a:r>
            <a:pPr indent="0" marL="0">
              <a:buNone/>
            </a:pPr>
            <a:r>
              <a:rPr lang="en-US" sz="1400" dirty="0">
                <a:solidFill>
                  <a:srgbClr val="2A2238"/>
                </a:solidFill>
                <a:latin typeface="Alexandria" pitchFamily="34" charset="0"/>
                <a:ea typeface="Alexandria" pitchFamily="34" charset="-122"/>
                <a:cs typeface="Alexandria" pitchFamily="34" charset="-120"/>
              </a:rPr>
              <a:t>thêm một trang — hạng mục nhà cung cấp chính nằm ở ô nào, quản trị ra sao.</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Phiếu kiểm tra cuối giờ</a:t>
            </a:r>
            <a:endParaRPr lang="en-US" sz="2600" dirty="0"/>
          </a:p>
        </p:txBody>
      </p:sp>
      <p:sp>
        <p:nvSpPr>
          <p:cNvPr id="17" name="Text 15"/>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29</a:t>
            </a:r>
            <a:endParaRPr lang="en-US" sz="1000" dirty="0"/>
          </a:p>
        </p:txBody>
      </p:sp>
      <p:sp>
        <p:nvSpPr>
          <p:cNvPr id="19" name="Shape 16"/>
          <p:cNvSpPr/>
          <p:nvPr/>
        </p:nvSpPr>
        <p:spPr>
          <a:xfrm>
            <a:off x="548640" y="1828800"/>
            <a:ext cx="11094415" cy="1600200"/>
          </a:xfrm>
          <a:prstGeom prst="roundRect">
            <a:avLst>
              <a:gd name="adj" fmla="val 6857"/>
            </a:avLst>
          </a:prstGeom>
          <a:solidFill>
            <a:srgbClr val="FFFFFF"/>
          </a:solidFill>
          <a:ln w="12700">
            <a:solidFill>
              <a:srgbClr val="DCD7C8"/>
            </a:solidFill>
            <a:prstDash val="solid"/>
          </a:ln>
        </p:spPr>
      </p:sp>
      <p:sp>
        <p:nvSpPr>
          <p:cNvPr id="20" name="Shape 17"/>
          <p:cNvSpPr/>
          <p:nvPr/>
        </p:nvSpPr>
        <p:spPr>
          <a:xfrm>
            <a:off x="777240" y="2308860"/>
            <a:ext cx="640080" cy="640080"/>
          </a:xfrm>
          <a:prstGeom prst="ellipse">
            <a:avLst/>
          </a:prstGeom>
          <a:solidFill>
            <a:srgbClr val="962B7C"/>
          </a:solidFill>
          <a:ln w="12700">
            <a:solidFill>
              <a:srgbClr val="962B7C"/>
            </a:solidFill>
            <a:prstDash val="solid"/>
          </a:ln>
        </p:spPr>
      </p:sp>
      <p:sp>
        <p:nvSpPr>
          <p:cNvPr id="21" name="Text 18"/>
          <p:cNvSpPr txBox="1"/>
          <p:nvPr/>
        </p:nvSpPr>
        <p:spPr>
          <a:xfrm>
            <a:off x="777240" y="230886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1</a:t>
            </a:r>
            <a:endParaRPr lang="en-US" sz="2380" dirty="0"/>
          </a:p>
        </p:txBody>
      </p:sp>
      <p:sp>
        <p:nvSpPr>
          <p:cNvPr id="22" name="Text 19"/>
          <p:cNvSpPr txBox="1"/>
          <p:nvPr/>
        </p:nvSpPr>
        <p:spPr>
          <a:xfrm>
            <a:off x="1645920" y="1828800"/>
            <a:ext cx="9768535" cy="160020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Chọn một hạng mục nhà cung cấp trong dự án cũ của nhóm bạn. Nó nằm ở ô nào của ma trận Kraljic vào thời điểm sự kiện? Nhóm bạn khi đó làm việc với nhà cung cấp theo kiểu Procurement hay chỉ Buying?</a:t>
            </a:r>
            <a:endParaRPr lang="en-US" sz="1700" dirty="0"/>
          </a:p>
        </p:txBody>
      </p:sp>
      <p:sp>
        <p:nvSpPr>
          <p:cNvPr id="23" name="Shape 20"/>
          <p:cNvSpPr/>
          <p:nvPr/>
        </p:nvSpPr>
        <p:spPr>
          <a:xfrm>
            <a:off x="548640" y="3611880"/>
            <a:ext cx="11094415" cy="1097280"/>
          </a:xfrm>
          <a:prstGeom prst="roundRect">
            <a:avLst>
              <a:gd name="adj" fmla="val 10000"/>
            </a:avLst>
          </a:prstGeom>
          <a:solidFill>
            <a:srgbClr val="FFFFFF"/>
          </a:solidFill>
          <a:ln w="12700">
            <a:solidFill>
              <a:srgbClr val="DCD7C8"/>
            </a:solidFill>
            <a:prstDash val="solid"/>
          </a:ln>
        </p:spPr>
      </p:sp>
      <p:sp>
        <p:nvSpPr>
          <p:cNvPr id="24" name="Shape 21"/>
          <p:cNvSpPr/>
          <p:nvPr/>
        </p:nvSpPr>
        <p:spPr>
          <a:xfrm>
            <a:off x="777240" y="3840480"/>
            <a:ext cx="640080" cy="640080"/>
          </a:xfrm>
          <a:prstGeom prst="ellipse">
            <a:avLst/>
          </a:prstGeom>
          <a:solidFill>
            <a:srgbClr val="FF5178"/>
          </a:solidFill>
          <a:ln w="12700">
            <a:solidFill>
              <a:srgbClr val="FF5178"/>
            </a:solidFill>
            <a:prstDash val="solid"/>
          </a:ln>
        </p:spPr>
      </p:sp>
      <p:sp>
        <p:nvSpPr>
          <p:cNvPr id="25" name="Text 22"/>
          <p:cNvSpPr txBox="1"/>
          <p:nvPr/>
        </p:nvSpPr>
        <p:spPr>
          <a:xfrm>
            <a:off x="777240" y="384048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6" name="Text 23"/>
          <p:cNvSpPr txBox="1"/>
          <p:nvPr/>
        </p:nvSpPr>
        <p:spPr>
          <a:xfrm>
            <a:off x="1645920" y="3611880"/>
            <a:ext cx="9768535" cy="109728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Trong đóng vai, một yêu cầu của Key Account mà đội Nova không nên nhượng là gì? Vì sao (gắn với ô nào)?</a:t>
            </a:r>
            <a:endParaRPr lang="en-US" sz="1700" dirty="0"/>
          </a:p>
        </p:txBody>
      </p:sp>
      <p:sp>
        <p:nvSpPr>
          <p:cNvPr id="27" name="Shape 24"/>
          <p:cNvSpPr/>
          <p:nvPr/>
        </p:nvSpPr>
        <p:spPr>
          <a:xfrm>
            <a:off x="548640" y="4937760"/>
            <a:ext cx="11094415" cy="1143000"/>
          </a:xfrm>
          <a:prstGeom prst="roundRect">
            <a:avLst>
              <a:gd name="adj" fmla="val 9600"/>
            </a:avLst>
          </a:prstGeom>
          <a:solidFill>
            <a:srgbClr val="E1F3EE"/>
          </a:solidFill>
          <a:ln w="12700">
            <a:solidFill>
              <a:srgbClr val="49B296"/>
            </a:solidFill>
            <a:prstDash val="solid"/>
          </a:ln>
        </p:spPr>
      </p:sp>
      <p:sp>
        <p:nvSpPr>
          <p:cNvPr id="28" name="Text 25"/>
          <p:cNvSpPr txBox="1"/>
          <p:nvPr/>
        </p:nvSpPr>
        <p:spPr>
          <a:xfrm>
            <a:off x="822960" y="4937760"/>
            <a:ext cx="10545775" cy="11430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Buổi 8: </a:t>
            </a:r>
            <a:pPr indent="0" marL="0">
              <a:buNone/>
            </a:pPr>
            <a:r>
              <a:rPr lang="en-US" sz="1700" dirty="0">
                <a:solidFill>
                  <a:srgbClr val="2A2238"/>
                </a:solidFill>
                <a:latin typeface="Alexandria" pitchFamily="34" charset="0"/>
                <a:ea typeface="Alexandria" pitchFamily="34" charset="-122"/>
                <a:cs typeface="Alexandria" pitchFamily="34" charset="-120"/>
              </a:rPr>
              <a:t>tổ chức quan hệ với Key Account ở nhiều cấp (Bow-tie → Diamond) và đo hiệu quả quan hệ đó.</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(1/2)</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URL và nguồn phụ): buoi-07_tu-lieu-tong-hop.md, mục 6.</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30</a:t>
            </a:r>
            <a:endParaRPr lang="en-US" sz="1000" dirty="0"/>
          </a:p>
        </p:txBody>
      </p:sp>
      <p:sp>
        <p:nvSpPr>
          <p:cNvPr id="20" name="Text 17"/>
          <p:cNvSpPr txBox="1"/>
          <p:nvPr/>
        </p:nvSpPr>
        <p:spPr>
          <a:xfrm>
            <a:off x="548640" y="1783080"/>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S01</a:t>
            </a:r>
            <a:endParaRPr lang="en-US" sz="1100" dirty="0"/>
          </a:p>
        </p:txBody>
      </p:sp>
      <p:sp>
        <p:nvSpPr>
          <p:cNvPr id="21" name="Text 18"/>
          <p:cNvSpPr txBox="1"/>
          <p:nvPr/>
        </p:nvSpPr>
        <p:spPr>
          <a:xfrm>
            <a:off x="1234440" y="1783080"/>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Kraljic, P. (1983, September). Purchasing must become supply management. Harvard Business Review. · CIPS. (n.d.). Kraljic matrix – What is the Kraljic matrix?</a:t>
            </a:r>
            <a:endParaRPr lang="en-US" sz="1100" dirty="0"/>
          </a:p>
        </p:txBody>
      </p:sp>
      <p:sp>
        <p:nvSpPr>
          <p:cNvPr id="22" name="Text 19"/>
          <p:cNvSpPr txBox="1"/>
          <p:nvPr/>
        </p:nvSpPr>
        <p:spPr>
          <a:xfrm>
            <a:off x="548640" y="2185416"/>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S03</a:t>
            </a:r>
            <a:endParaRPr lang="en-US" sz="1100" dirty="0"/>
          </a:p>
        </p:txBody>
      </p:sp>
      <p:sp>
        <p:nvSpPr>
          <p:cNvPr id="23" name="Text 20"/>
          <p:cNvSpPr txBox="1"/>
          <p:nvPr/>
        </p:nvSpPr>
        <p:spPr>
          <a:xfrm>
            <a:off x="1234440" y="2185416"/>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Chartered Institute of Procurement &amp; Supply. (n.d.). What is procurement?</a:t>
            </a:r>
            <a:endParaRPr lang="en-US" sz="1100" dirty="0"/>
          </a:p>
        </p:txBody>
      </p:sp>
      <p:sp>
        <p:nvSpPr>
          <p:cNvPr id="24" name="Text 21"/>
          <p:cNvSpPr txBox="1"/>
          <p:nvPr/>
        </p:nvSpPr>
        <p:spPr>
          <a:xfrm>
            <a:off x="548640" y="2587752"/>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S04</a:t>
            </a:r>
            <a:endParaRPr lang="en-US" sz="1100" dirty="0"/>
          </a:p>
        </p:txBody>
      </p:sp>
      <p:sp>
        <p:nvSpPr>
          <p:cNvPr id="25" name="Text 22"/>
          <p:cNvSpPr txBox="1"/>
          <p:nvPr/>
        </p:nvSpPr>
        <p:spPr>
          <a:xfrm>
            <a:off x="1234440" y="2587752"/>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Global Business Travel Association. (2025, July 21). Global business travel and events prices set to stabilize through 2025 and 2026 [Press release].</a:t>
            </a:r>
            <a:endParaRPr lang="en-US" sz="1100" dirty="0"/>
          </a:p>
        </p:txBody>
      </p:sp>
      <p:sp>
        <p:nvSpPr>
          <p:cNvPr id="26" name="Text 23"/>
          <p:cNvSpPr txBox="1"/>
          <p:nvPr/>
        </p:nvSpPr>
        <p:spPr>
          <a:xfrm>
            <a:off x="548640" y="2990088"/>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S05</a:t>
            </a:r>
            <a:endParaRPr lang="en-US" sz="1100" dirty="0"/>
          </a:p>
        </p:txBody>
      </p:sp>
      <p:sp>
        <p:nvSpPr>
          <p:cNvPr id="27" name="Text 24"/>
          <p:cNvSpPr txBox="1"/>
          <p:nvPr/>
        </p:nvSpPr>
        <p:spPr>
          <a:xfrm>
            <a:off x="1234440" y="2990088"/>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American Express Global Business Travel. (2025). 2026 global meetings &amp; events forecast.</a:t>
            </a:r>
            <a:endParaRPr lang="en-US" sz="1100" dirty="0"/>
          </a:p>
        </p:txBody>
      </p:sp>
      <p:sp>
        <p:nvSpPr>
          <p:cNvPr id="28" name="Text 25"/>
          <p:cNvSpPr txBox="1"/>
          <p:nvPr/>
        </p:nvSpPr>
        <p:spPr>
          <a:xfrm>
            <a:off x="548640" y="3392424"/>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S06</a:t>
            </a:r>
            <a:endParaRPr lang="en-US" sz="1100" dirty="0"/>
          </a:p>
        </p:txBody>
      </p:sp>
      <p:sp>
        <p:nvSpPr>
          <p:cNvPr id="29" name="Text 26"/>
          <p:cNvSpPr txBox="1"/>
          <p:nvPr/>
        </p:nvSpPr>
        <p:spPr>
          <a:xfrm>
            <a:off x="1234440" y="3392424"/>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CWT. (n.d.). How meetings &amp; events programs can navigate a volatile planning environment.</a:t>
            </a:r>
            <a:endParaRPr lang="en-US" sz="1100" dirty="0"/>
          </a:p>
        </p:txBody>
      </p:sp>
      <p:sp>
        <p:nvSpPr>
          <p:cNvPr id="30" name="Text 27"/>
          <p:cNvSpPr txBox="1"/>
          <p:nvPr/>
        </p:nvSpPr>
        <p:spPr>
          <a:xfrm>
            <a:off x="548640" y="3794760"/>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S08</a:t>
            </a:r>
            <a:endParaRPr lang="en-US" sz="1100" dirty="0"/>
          </a:p>
        </p:txBody>
      </p:sp>
      <p:sp>
        <p:nvSpPr>
          <p:cNvPr id="31" name="Text 28"/>
          <p:cNvSpPr txBox="1"/>
          <p:nvPr/>
        </p:nvSpPr>
        <p:spPr>
          <a:xfrm>
            <a:off x="1234440" y="3794760"/>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Keller, M. (2024, May 13). Contract negotiations: 2024 update. Association Conventions &amp; Facilities.</a:t>
            </a:r>
            <a:endParaRPr lang="en-US" sz="1100" dirty="0"/>
          </a:p>
        </p:txBody>
      </p:sp>
      <p:sp>
        <p:nvSpPr>
          <p:cNvPr id="32" name="Text 29"/>
          <p:cNvSpPr txBox="1"/>
          <p:nvPr/>
        </p:nvSpPr>
        <p:spPr>
          <a:xfrm>
            <a:off x="548640" y="4197096"/>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S09</a:t>
            </a:r>
            <a:endParaRPr lang="en-US" sz="1100" dirty="0"/>
          </a:p>
        </p:txBody>
      </p:sp>
      <p:sp>
        <p:nvSpPr>
          <p:cNvPr id="33" name="Text 30"/>
          <p:cNvSpPr txBox="1"/>
          <p:nvPr/>
        </p:nvSpPr>
        <p:spPr>
          <a:xfrm>
            <a:off x="1234440" y="4197096"/>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Johnson, B. (2019, January 4). Win at negotiating AV services with hotels. Smart Meetings.</a:t>
            </a:r>
            <a:endParaRPr lang="en-US" sz="1100" dirty="0"/>
          </a:p>
        </p:txBody>
      </p:sp>
      <p:sp>
        <p:nvSpPr>
          <p:cNvPr id="34" name="Text 31"/>
          <p:cNvSpPr txBox="1"/>
          <p:nvPr/>
        </p:nvSpPr>
        <p:spPr>
          <a:xfrm>
            <a:off x="548640" y="4599432"/>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S10</a:t>
            </a:r>
            <a:endParaRPr lang="en-US" sz="1100" dirty="0"/>
          </a:p>
        </p:txBody>
      </p:sp>
      <p:sp>
        <p:nvSpPr>
          <p:cNvPr id="35" name="Text 32"/>
          <p:cNvSpPr txBox="1"/>
          <p:nvPr/>
        </p:nvSpPr>
        <p:spPr>
          <a:xfrm>
            <a:off x="1234440" y="4599432"/>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Meetings Today. (2026). Expert planner chatter on managing AV costs, budgets, risk and communication.</a:t>
            </a:r>
            <a:endParaRPr lang="en-US" sz="1100" dirty="0"/>
          </a:p>
        </p:txBody>
      </p:sp>
      <p:sp>
        <p:nvSpPr>
          <p:cNvPr id="36" name="Text 33"/>
          <p:cNvSpPr txBox="1"/>
          <p:nvPr/>
        </p:nvSpPr>
        <p:spPr>
          <a:xfrm>
            <a:off x="548640" y="5001768"/>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S11</a:t>
            </a:r>
            <a:endParaRPr lang="en-US" sz="1100" dirty="0"/>
          </a:p>
        </p:txBody>
      </p:sp>
      <p:sp>
        <p:nvSpPr>
          <p:cNvPr id="37" name="Text 34"/>
          <p:cNvSpPr txBox="1"/>
          <p:nvPr/>
        </p:nvSpPr>
        <p:spPr>
          <a:xfrm>
            <a:off x="1234440" y="5001768"/>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Scofidio, B. (2026, August 4). Procurement to planners: We’re not the enemy. Skift Meetings.</a:t>
            </a:r>
            <a:endParaRPr lang="en-US" sz="1100" dirty="0"/>
          </a:p>
        </p:txBody>
      </p:sp>
      <p:sp>
        <p:nvSpPr>
          <p:cNvPr id="38" name="Text 35"/>
          <p:cNvSpPr txBox="1"/>
          <p:nvPr/>
        </p:nvSpPr>
        <p:spPr>
          <a:xfrm>
            <a:off x="548640" y="5404104"/>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S12</a:t>
            </a:r>
            <a:endParaRPr lang="en-US" sz="1100" dirty="0"/>
          </a:p>
        </p:txBody>
      </p:sp>
      <p:sp>
        <p:nvSpPr>
          <p:cNvPr id="39" name="Text 36"/>
          <p:cNvSpPr txBox="1"/>
          <p:nvPr/>
        </p:nvSpPr>
        <p:spPr>
          <a:xfrm>
            <a:off x="1234440" y="5404104"/>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PON Staff. (2026, June 15). Expanding the pie: Integrative versus distributive bargaining. Program on Negotiation at Harvard Law School.</a:t>
            </a:r>
            <a:endParaRPr lang="en-US" sz="1100" dirty="0"/>
          </a:p>
        </p:txBody>
      </p:sp>
      <p:sp>
        <p:nvSpPr>
          <p:cNvPr id="40" name="Text 37"/>
          <p:cNvSpPr txBox="1"/>
          <p:nvPr/>
        </p:nvSpPr>
        <p:spPr>
          <a:xfrm>
            <a:off x="548640" y="5806440"/>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S13</a:t>
            </a:r>
            <a:endParaRPr lang="en-US" sz="1100" dirty="0"/>
          </a:p>
        </p:txBody>
      </p:sp>
      <p:sp>
        <p:nvSpPr>
          <p:cNvPr id="41" name="Text 38"/>
          <p:cNvSpPr txBox="1"/>
          <p:nvPr/>
        </p:nvSpPr>
        <p:spPr>
          <a:xfrm>
            <a:off x="1234440" y="5806440"/>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NPR. (2026, April 15). Jury finds that Live Nation acted as a monopoly and overcharged ticket buyers.</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1110996"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111099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7.1 Kraljic</a:t>
            </a:r>
            <a:endParaRPr lang="en-US" sz="1000" dirty="0"/>
          </a:p>
        </p:txBody>
      </p:sp>
      <p:sp>
        <p:nvSpPr>
          <p:cNvPr id="6" name="Shape 4"/>
          <p:cNvSpPr/>
          <p:nvPr/>
        </p:nvSpPr>
        <p:spPr>
          <a:xfrm>
            <a:off x="2601468" y="274320"/>
            <a:ext cx="2121408"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2601468" y="274320"/>
            <a:ext cx="2121408"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7.2 Procurement · Buying</a:t>
            </a:r>
            <a:endParaRPr lang="en-US" sz="1000" dirty="0"/>
          </a:p>
        </p:txBody>
      </p:sp>
      <p:sp>
        <p:nvSpPr>
          <p:cNvPr id="8" name="Shape 6"/>
          <p:cNvSpPr/>
          <p:nvPr/>
        </p:nvSpPr>
        <p:spPr>
          <a:xfrm>
            <a:off x="4832604" y="274320"/>
            <a:ext cx="1810512"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4832604" y="274320"/>
            <a:ext cx="181051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7.3 Đàm phán giá trị</a:t>
            </a:r>
            <a:endParaRPr lang="en-US" sz="1000" dirty="0"/>
          </a:p>
        </p:txBody>
      </p:sp>
      <p:sp>
        <p:nvSpPr>
          <p:cNvPr id="10" name="Shape 8"/>
          <p:cNvSpPr/>
          <p:nvPr/>
        </p:nvSpPr>
        <p:spPr>
          <a:xfrm>
            <a:off x="6752844"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752844"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a:off x="11277295" y="237744"/>
            <a:ext cx="160934" cy="160934"/>
          </a:xfrm>
          <a:prstGeom prst="roundRect">
            <a:avLst>
              <a:gd name="adj" fmla="val 28000"/>
            </a:avLst>
          </a:prstGeom>
          <a:solidFill>
            <a:srgbClr val="09A1E5"/>
          </a:solidFill>
          <a:ln w="12700">
            <a:solidFill>
              <a:srgbClr val="09A1E5"/>
            </a:solidFill>
            <a:prstDash val="solid"/>
          </a:ln>
        </p:spPr>
      </p:sp>
      <p:sp>
        <p:nvSpPr>
          <p:cNvPr id="13" name="Shape 11"/>
          <p:cNvSpPr/>
          <p:nvPr/>
        </p:nvSpPr>
        <p:spPr>
          <a:xfrm>
            <a:off x="11482121" y="237744"/>
            <a:ext cx="160934" cy="160934"/>
          </a:xfrm>
          <a:prstGeom prst="roundRect">
            <a:avLst>
              <a:gd name="adj" fmla="val 28000"/>
            </a:avLst>
          </a:prstGeom>
          <a:solidFill>
            <a:srgbClr val="962B7C"/>
          </a:solidFill>
          <a:ln w="12700">
            <a:solidFill>
              <a:srgbClr val="962B7C"/>
            </a:solidFill>
            <a:prstDash val="solid"/>
          </a:ln>
        </p:spPr>
      </p:sp>
      <p:sp>
        <p:nvSpPr>
          <p:cNvPr id="14" name="Shape 12"/>
          <p:cNvSpPr/>
          <p:nvPr/>
        </p:nvSpPr>
        <p:spPr>
          <a:xfrm>
            <a:off x="11277295" y="442570"/>
            <a:ext cx="160934" cy="160934"/>
          </a:xfrm>
          <a:prstGeom prst="roundRect">
            <a:avLst>
              <a:gd name="adj" fmla="val 28000"/>
            </a:avLst>
          </a:prstGeom>
          <a:solidFill>
            <a:srgbClr val="49B296"/>
          </a:solidFill>
          <a:ln w="12700">
            <a:solidFill>
              <a:srgbClr val="49B296"/>
            </a:solidFill>
            <a:prstDash val="solid"/>
          </a:ln>
        </p:spPr>
      </p:sp>
      <p:sp>
        <p:nvSpPr>
          <p:cNvPr id="15" name="Shape 13"/>
          <p:cNvSpPr/>
          <p:nvPr/>
        </p:nvSpPr>
        <p:spPr>
          <a:xfrm>
            <a:off x="11482121" y="442570"/>
            <a:ext cx="160934" cy="160934"/>
          </a:xfrm>
          <a:prstGeom prst="roundRect">
            <a:avLst>
              <a:gd name="adj" fmla="val 28000"/>
            </a:avLst>
          </a:prstGeom>
          <a:solidFill>
            <a:srgbClr val="FF5178"/>
          </a:solidFill>
          <a:ln w="12700">
            <a:solidFill>
              <a:srgbClr val="FF5178"/>
            </a:solidFill>
            <a:prstDash val="solid"/>
          </a:ln>
        </p:spPr>
      </p:sp>
      <p:sp>
        <p:nvSpPr>
          <p:cNvPr id="16" name="Text 14"/>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(2/2)</a:t>
            </a:r>
            <a:endParaRPr lang="en-US" sz="2600" dirty="0"/>
          </a:p>
        </p:txBody>
      </p:sp>
      <p:sp>
        <p:nvSpPr>
          <p:cNvPr id="17" name="Text 15"/>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URL và nguồn phụ): buoi-07_tu-lieu-tong-hop.md, mục 6.</a:t>
            </a:r>
            <a:endParaRPr lang="en-US" sz="1000" dirty="0"/>
          </a:p>
        </p:txBody>
      </p:sp>
      <p:sp>
        <p:nvSpPr>
          <p:cNvPr id="18" name="Text 16"/>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7   31</a:t>
            </a:r>
            <a:endParaRPr lang="en-US" sz="1000" dirty="0"/>
          </a:p>
        </p:txBody>
      </p:sp>
      <p:sp>
        <p:nvSpPr>
          <p:cNvPr id="20" name="Text 17"/>
          <p:cNvSpPr txBox="1"/>
          <p:nvPr/>
        </p:nvSpPr>
        <p:spPr>
          <a:xfrm>
            <a:off x="548640" y="1783080"/>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S14</a:t>
            </a:r>
            <a:endParaRPr lang="en-US" sz="1100" dirty="0"/>
          </a:p>
        </p:txBody>
      </p:sp>
      <p:sp>
        <p:nvSpPr>
          <p:cNvPr id="21" name="Text 18"/>
          <p:cNvSpPr txBox="1"/>
          <p:nvPr/>
        </p:nvSpPr>
        <p:spPr>
          <a:xfrm>
            <a:off x="1234440" y="1783080"/>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Smart Meetings. (2018, March 23). Hilton joins Marriott in cutting commissions to independent planners.</a:t>
            </a:r>
            <a:endParaRPr lang="en-US" sz="1100" dirty="0"/>
          </a:p>
        </p:txBody>
      </p:sp>
      <p:sp>
        <p:nvSpPr>
          <p:cNvPr id="22" name="Text 19"/>
          <p:cNvSpPr txBox="1"/>
          <p:nvPr/>
        </p:nvSpPr>
        <p:spPr>
          <a:xfrm>
            <a:off x="548640" y="2185416"/>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S15</a:t>
            </a:r>
            <a:endParaRPr lang="en-US" sz="1100" dirty="0"/>
          </a:p>
        </p:txBody>
      </p:sp>
      <p:sp>
        <p:nvSpPr>
          <p:cNvPr id="23" name="Text 20"/>
          <p:cNvSpPr txBox="1"/>
          <p:nvPr/>
        </p:nvSpPr>
        <p:spPr>
          <a:xfrm>
            <a:off x="1234440" y="2185416"/>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VnExpress. (2025). Những tranh chấp khiến concert “Về đây bốn cánh chim trời” hủy phút chót.</a:t>
            </a:r>
            <a:endParaRPr lang="en-US" sz="1100" dirty="0"/>
          </a:p>
        </p:txBody>
      </p:sp>
      <p:sp>
        <p:nvSpPr>
          <p:cNvPr id="24" name="Text 21"/>
          <p:cNvSpPr txBox="1"/>
          <p:nvPr/>
        </p:nvSpPr>
        <p:spPr>
          <a:xfrm>
            <a:off x="548640" y="2587752"/>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S16</a:t>
            </a:r>
            <a:endParaRPr lang="en-US" sz="1100" dirty="0"/>
          </a:p>
        </p:txBody>
      </p:sp>
      <p:sp>
        <p:nvSpPr>
          <p:cNvPr id="25" name="Text 22"/>
          <p:cNvSpPr txBox="1"/>
          <p:nvPr/>
        </p:nvSpPr>
        <p:spPr>
          <a:xfrm>
            <a:off x="1234440" y="2587752"/>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Dân trí. (2023, December 22). Show K-Pop Open Air #2 bị hủy: Có bên than phải “đánh đổi” cả nửa tỷ đồng.</a:t>
            </a:r>
            <a:endParaRPr lang="en-US" sz="1100" dirty="0"/>
          </a:p>
        </p:txBody>
      </p:sp>
      <p:sp>
        <p:nvSpPr>
          <p:cNvPr id="26" name="Text 23"/>
          <p:cNvSpPr txBox="1"/>
          <p:nvPr/>
        </p:nvSpPr>
        <p:spPr>
          <a:xfrm>
            <a:off x="548640" y="2990088"/>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S18</a:t>
            </a:r>
            <a:endParaRPr lang="en-US" sz="1100" dirty="0"/>
          </a:p>
        </p:txBody>
      </p:sp>
      <p:sp>
        <p:nvSpPr>
          <p:cNvPr id="27" name="Text 24"/>
          <p:cNvSpPr txBox="1"/>
          <p:nvPr/>
        </p:nvSpPr>
        <p:spPr>
          <a:xfrm>
            <a:off x="1234440" y="2990088"/>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Nguyễn, H. (2026, April 20). Chi phí tổ chức sự kiện doanh nghiệp [Bảng giá 2026]. A.M Agency.</a:t>
            </a:r>
            <a:endParaRPr lang="en-US" sz="1100" dirty="0"/>
          </a:p>
        </p:txBody>
      </p:sp>
      <p:sp>
        <p:nvSpPr>
          <p:cNvPr id="28" name="Text 25"/>
          <p:cNvSpPr txBox="1"/>
          <p:nvPr/>
        </p:nvSpPr>
        <p:spPr>
          <a:xfrm>
            <a:off x="548640" y="3392424"/>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S19</a:t>
            </a:r>
            <a:endParaRPr lang="en-US" sz="1100" dirty="0"/>
          </a:p>
        </p:txBody>
      </p:sp>
      <p:sp>
        <p:nvSpPr>
          <p:cNvPr id="29" name="Text 26"/>
          <p:cNvSpPr txBox="1"/>
          <p:nvPr/>
        </p:nvSpPr>
        <p:spPr>
          <a:xfrm>
            <a:off x="1234440" y="3392424"/>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The Drum. (2025, May 22). Cash flow crunch: US agencies struggle to grow as late payments and scope creep bite.</a:t>
            </a:r>
            <a:endParaRPr lang="en-US" sz="1100" dirty="0"/>
          </a:p>
        </p:txBody>
      </p:sp>
      <p:sp>
        <p:nvSpPr>
          <p:cNvPr id="30" name="Text 27"/>
          <p:cNvSpPr txBox="1"/>
          <p:nvPr/>
        </p:nvSpPr>
        <p:spPr>
          <a:xfrm>
            <a:off x="548640" y="3794760"/>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S20</a:t>
            </a:r>
            <a:endParaRPr lang="en-US" sz="1100" dirty="0"/>
          </a:p>
        </p:txBody>
      </p:sp>
      <p:sp>
        <p:nvSpPr>
          <p:cNvPr id="31" name="Text 28"/>
          <p:cNvSpPr txBox="1"/>
          <p:nvPr/>
        </p:nvSpPr>
        <p:spPr>
          <a:xfrm>
            <a:off x="1234440" y="3794760"/>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Xuân Hướng, &amp; Tạ Thị Oanh. (2025). Concert và sự phát triển của âm nhạc trong giai đoạn mới. Tạp chí Văn hóa Nghệ thuật, (610).</a:t>
            </a:r>
            <a:endParaRPr lang="en-US" sz="1100" dirty="0"/>
          </a:p>
        </p:txBody>
      </p:sp>
      <p:sp>
        <p:nvSpPr>
          <p:cNvPr id="32" name="Text 29"/>
          <p:cNvSpPr txBox="1"/>
          <p:nvPr/>
        </p:nvSpPr>
        <p:spPr>
          <a:xfrm>
            <a:off x="548640" y="4197096"/>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S21</a:t>
            </a:r>
            <a:endParaRPr lang="en-US" sz="1100" dirty="0"/>
          </a:p>
        </p:txBody>
      </p:sp>
      <p:sp>
        <p:nvSpPr>
          <p:cNvPr id="33" name="Text 30"/>
          <p:cNvSpPr txBox="1"/>
          <p:nvPr/>
        </p:nvSpPr>
        <p:spPr>
          <a:xfrm>
            <a:off x="1234440" y="4197096"/>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Người Lao Động. (2025, November 26). Ông Nguyễn Quốc Kỳ nói về việc bán hết cổ phần Vietravel Airlines và rút khỏi mảng hàng không.</a:t>
            </a:r>
            <a:endParaRPr lang="en-US" sz="1100" dirty="0"/>
          </a:p>
        </p:txBody>
      </p:sp>
      <p:sp>
        <p:nvSpPr>
          <p:cNvPr id="34" name="Text 31"/>
          <p:cNvSpPr txBox="1"/>
          <p:nvPr/>
        </p:nvSpPr>
        <p:spPr>
          <a:xfrm>
            <a:off x="548640" y="4599432"/>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S22</a:t>
            </a:r>
            <a:endParaRPr lang="en-US" sz="1100" dirty="0"/>
          </a:p>
        </p:txBody>
      </p:sp>
      <p:sp>
        <p:nvSpPr>
          <p:cNvPr id="35" name="Text 32"/>
          <p:cNvSpPr txBox="1"/>
          <p:nvPr/>
        </p:nvSpPr>
        <p:spPr>
          <a:xfrm>
            <a:off x="1234440" y="4599432"/>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Nhân Dân. (2026, September 7). Nghệ sĩ Việt chật vật làm liveshow.</a:t>
            </a:r>
            <a:endParaRPr lang="en-US" sz="1100" dirty="0"/>
          </a:p>
        </p:txBody>
      </p:sp>
      <p:sp>
        <p:nvSpPr>
          <p:cNvPr id="36" name="Text 33"/>
          <p:cNvSpPr txBox="1"/>
          <p:nvPr/>
        </p:nvSpPr>
        <p:spPr>
          <a:xfrm>
            <a:off x="548640" y="5001768"/>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S23</a:t>
            </a:r>
            <a:endParaRPr lang="en-US" sz="1100" dirty="0"/>
          </a:p>
        </p:txBody>
      </p:sp>
      <p:sp>
        <p:nvSpPr>
          <p:cNvPr id="37" name="Text 34"/>
          <p:cNvSpPr txBox="1"/>
          <p:nvPr/>
        </p:nvSpPr>
        <p:spPr>
          <a:xfrm>
            <a:off x="1234440" y="5001768"/>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VnExpress. (2024, September 30). Du lịch MICE Việt tiềm năng nhưng vẫn “dưới kỳ vọng”. · VnEconomy. (2025, June 20). Hè 2025 “đón sóng” du lịch MICE nội địa.</a:t>
            </a:r>
            <a:endParaRPr lang="en-US" sz="1100" dirty="0"/>
          </a:p>
        </p:txBody>
      </p:sp>
      <p:sp>
        <p:nvSpPr>
          <p:cNvPr id="38" name="Text 35"/>
          <p:cNvSpPr txBox="1"/>
          <p:nvPr/>
        </p:nvSpPr>
        <p:spPr>
          <a:xfrm>
            <a:off x="548640" y="5404104"/>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S24</a:t>
            </a:r>
            <a:endParaRPr lang="en-US" sz="1100" dirty="0"/>
          </a:p>
        </p:txBody>
      </p:sp>
      <p:sp>
        <p:nvSpPr>
          <p:cNvPr id="39" name="Text 36"/>
          <p:cNvSpPr txBox="1"/>
          <p:nvPr/>
        </p:nvSpPr>
        <p:spPr>
          <a:xfrm>
            <a:off x="1234440" y="5404104"/>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Trung tâm Hội nghị Quốc gia. (n.d.). Tiệc cuối năm – Year End Party.</a:t>
            </a:r>
            <a:endParaRPr lang="en-US" sz="1100" dirty="0"/>
          </a:p>
        </p:txBody>
      </p:sp>
      <p:sp>
        <p:nvSpPr>
          <p:cNvPr id="40" name="Text 37"/>
          <p:cNvSpPr txBox="1"/>
          <p:nvPr/>
        </p:nvSpPr>
        <p:spPr>
          <a:xfrm>
            <a:off x="548640" y="5806440"/>
            <a:ext cx="640080" cy="365760"/>
          </a:xfrm>
          <a:prstGeom prst="rect">
            <a:avLst/>
          </a:prstGeom>
          <a:noFill/>
          <a:ln/>
        </p:spPr>
        <p:txBody>
          <a:bodyPr wrap="square" lIns="0" tIns="0" rIns="0" bIns="0" rtlCol="0" anchor="ctr"/>
          <a:lstStyle/>
          <a:p>
            <a:pPr indent="0" marL="0">
              <a:buNone/>
            </a:pPr>
            <a:r>
              <a:rPr lang="en-US" sz="1100" b="1" dirty="0">
                <a:solidFill>
                  <a:srgbClr val="962B7C"/>
                </a:solidFill>
                <a:latin typeface="Alexandria" pitchFamily="34" charset="0"/>
                <a:ea typeface="Alexandria" pitchFamily="34" charset="-122"/>
                <a:cs typeface="Alexandria" pitchFamily="34" charset="-120"/>
              </a:rPr>
              <a:t>S25</a:t>
            </a:r>
            <a:endParaRPr lang="en-US" sz="1100" dirty="0"/>
          </a:p>
        </p:txBody>
      </p:sp>
      <p:sp>
        <p:nvSpPr>
          <p:cNvPr id="41" name="Text 38"/>
          <p:cNvSpPr txBox="1"/>
          <p:nvPr/>
        </p:nvSpPr>
        <p:spPr>
          <a:xfrm>
            <a:off x="1234440" y="5806440"/>
            <a:ext cx="10408615" cy="365760"/>
          </a:xfrm>
          <a:prstGeom prst="rect">
            <a:avLst/>
          </a:prstGeom>
          <a:noFill/>
          <a:ln/>
        </p:spPr>
        <p:txBody>
          <a:bodyPr wrap="square" lIns="0" tIns="0" rIns="0" bIns="0" rtlCol="0" anchor="ctr"/>
          <a:lstStyle/>
          <a:p>
            <a:pPr indent="0" marL="0">
              <a:buNone/>
            </a:pPr>
            <a:r>
              <a:rPr lang="en-US" sz="1100" dirty="0">
                <a:solidFill>
                  <a:srgbClr val="2A2238"/>
                </a:solidFill>
                <a:latin typeface="Alexandria" pitchFamily="34" charset="0"/>
                <a:ea typeface="Alexandria" pitchFamily="34" charset="-122"/>
                <a:cs typeface="Alexandria" pitchFamily="34" charset="-120"/>
              </a:rPr>
              <a:t>Wheeler Menegus, D. (2017, November 7). Events and procurement – Working together for success. BizBash.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EVM1110E — Buổi 7: Understanding Procurement &amp; Value-based Negotiation</dc:title>
  <dc:subject>Quản trị mối quan hệ trong tổ chức sự kiện</dc:subject>
  <dc:creator>PptxGenJS</dc:creator>
  <cp:lastModifiedBy>PptxGenJS</cp:lastModifiedBy>
  <cp:revision>1</cp:revision>
  <dcterms:created xsi:type="dcterms:W3CDTF">2026-09-27T13:06:42Z</dcterms:created>
  <dcterms:modified xsi:type="dcterms:W3CDTF">2026-09-27T13:06:42Z</dcterms:modified>
</cp:coreProperties>
</file>