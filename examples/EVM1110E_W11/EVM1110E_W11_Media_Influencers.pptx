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(dàn ý #1). Phần 3, buổi 3/4.
Alt-text: các vòng tròn đồng tâm lan tỏa từ Key Account ở giữa — hình ảnh giá trị được báo chí và KOL khuếch đại.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 — Khởi động (5 phút). Đọc: “Anh Minh nhắn Nova: ‘Năm ngoái mời 600 khách, chỉ 62% xác nhận, và gần một phần ba cử cấp dưới đi thay. Năm nay tôi muốn chính các CEO đến. Nova có ý tưởng gì không?’” (số liệu giả định)
Giơ tay A/B/C; ghi số phiếu lên bảng.
Chốt: “Không có đáp án đúng tuyệt đối. Nhưng câu hỏi đúng không phải ‘ai nổi tiếng nhất’, mà là CEO của khách hàng An Phát tin ai, đọc gì. Hôm nay: chọn, ký và đo lường những người kể chuyện cho Key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Chữ quan trọng: COMPENSATING — có trả công.
Từ 1/1/2026, ở Việt Nam, người nhận tiền để quảng cáo, khuyến nghị, xác nhận sản phẩm trên mạng là “người chuyển tải sản phẩm quảng cáo” và có nghĩa vụ pháp lý (chi tiết ở phần 11.3).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Ngưỡng khác nhau giữa các nguồn; bảng chỉ để tham khảo (quyết định GV 7).
Theo HypeAuditor 2025, hơn 75% influencer Instagram là nano, nhóm có ER cao nhất.
Lưu ý: cùng báo cáo đó ghi ER của nano TikTok là 10,3% ở một chỗ và 11,9% ở chỗ khác — luôn hỏi nguồn và cách tính.
Hiểu lầm: “Nhiều follower = ảnh hưởng lớn” → ảnh hưởng đến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Hỏi: “Với 600 CEO, ai là KOL của họ?”
KOC (key opinion consumer): người dùng thật chia sẻ trải nghiệm. Chuyên gia/diễn giả: KOL trong giới chuyên môn, quan trọng với sự kiện B2B.
Hiểu lầm: “KOL là chuyện của marketing, không phải của agency sự kiện” → KOL xuất hiện trên sân khấu, trong thư mời, trong video — là điểm chạm của sự kiện.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Ohanian (1990): độ tin cậy nguồn phát gồm chuyên môn · đáng tin · hấp dẫn. Với ngân hàng, hai chiều đầu nặng hơn (nhận định).
Lou &amp; Yuan (2019): chất lượng nội dung = giá trị thông tin cho người xem; cộng hưởng = sự tương đồng giữa influencer và người theo dõi. Hai yếu tố này, cùng độ đáng tin và hấp dẫn, làm tăng niềm tin vào nội dung có thương hiệu.
Alt-text: ba vòng tròn giao nhau — chuyên môn, đáng tin, tương đồng — dẫn tới niềm tin của khách.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CEO logistics chia sẻ kinh nghiệm vay vốn mở rộng kho có thể cộng hưởng với 600 CEO hơn một ca sĩ triệu follower.”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Sự kiện thật — chỉ nêu sự kiện và phán quyết đã công bố; không dùng ảnh chân dung.
Từ 12/12/2024 đến 16/1/2025, 6 buổi livestream quảng cáo kẹo Kera với tuyên bố như “một viên kẹo tương đương một đĩa rau luộc”. Giám định cho thấy sản phẩm không có 10 loại bột rau củ như công bố. Tháng 11/2025, TAND TP.HCM tuyên ba người có ảnh hưởng mỗi người 2 năm tù về tội “lừa dối khách hàng”; thu lợi bất chính 12,4 tỷ đồng. Trước đó, một thương hiệu thời trang gỡ ảnh, công ty quản lý chấm dứt hợp đồng.
Hỏi: “Nếu một trong những người này từng là MC gala của An Phát tháng 12/2024, khách của An Phát nghĩ gì?” — Chốt: “Chuyển giao hình ảnh là hai chiều (Buổi 9). Vì vậy Nova phải kiểm tra trước khi ký (due diligence).”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Tháng 4/2026, UBCKNN cảnh báo các tổ chức, cá nhân trên mạng xã hội đưa khuyến nghị mua, bán, nắm giữ cổ phiếu dù không được cấp phép tư vấn đầu tư; đã xử phạt một doanh nghiệp.
Nói: “KOL tài chính nhiều follower chưa chắc là lựa chọn an toàn cho một ngân hàng. Câu hỏi của Nova: họ sẽ nói gì trên sân khấu của An Phát — kiến thức, hay ‘nên mua mã này’?”
Xu hướng: tháng 8/2025, chương trình “Tín nhiệm người có ảnh hưởng” được khởi động (gần 300 KOL), hướng tới đánh giá, chứng nhận uy tín, minh bạch của KOL/KOC.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Nguyên tắc 2 của Barcelona Principles 4.0: xác định và hiểu mọi nhóm khán giả – bên liên quan là bước thiết yếu để lập kế hoạch, xây quan hệ và tạo tác động.
Với An Phát, khán giả trước sự kiện là 600 lãnh đạo doanh nghiệp: họ đọc báo gì, nghe ai, bận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trục do người soạn đề xuất, dựa trên Cision 2025.
72% nhà báo coi thông cáo báo chí là nguồn hữu ích nhất PR cung cấp.
Nối Buổi 8: “Quan hệ với nhà báo cũng như với Key Account: xây trước khi cần.”
Họp báo (nhận diện): tổ chức, công dân có quyền tổ chức họp báo; phải thông báo bằng văn bản trước 24 giờ cho cơ quan quản lý nhà nước về báo chí (Luật Báo chí 2016). Theo PLO, Luật Báo chí 2025 (hiệu lực 1/7/2026) và NĐ 237/2026 bổ sung yêu cầu chứng minh tính hợp pháp của nội dung và danh sách cơ quan báo chí được mời. [VERIFY: pháp chế — Luật Báo chí 2025, NĐ 237/2026]
Hiểu lầm: “Gửi thông cáo cho càng nhiều báo càng tốt” → đúng mảng, đúng độc giả.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nguyên tắc (quyết định GV 6): quan hệ với nhà báo dựa trên thông tin có giá trị cho độc giả của họ, đúng mảng, đúng lúc. Agency không đặt nhà báo vào thế vụ lợi.
Quy định đạo đức nghề nghiệp người làm báo Việt Nam yêu cầu hành nghề trung thực, khách quan, không vụ lợi. [VERIFY: nguyên văn Điều 3]
→ Chuyển sang S3 — Thực hành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S3 — Thực hành 1 (20 phút). Đồng hồ 8 / 7 / 5 phút. Ghi lựa chọn diễn giả/KOL của 6 nhóm lên bảng.
Thảo luận: ứng viên nào nhóm nào cũng loại? Chị Mai Anh không nhận phí — vậy chị có phải KOL được trả công không? Nova cần lưu ý gì (5 phút giới thiệu công ty mình)?
Mặc định cho S6: TS. Lê Hoàng Nam và chị Trần Mai 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lao 8 phút. Ghi giờ quay lại lên slide/bảng.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Brief: mục tiêu, khán giả, thông điệp, điều KHÔNG được nói (ví dụ khuyến nghị đầu tư — X07).
2 Due diligence: lịch sử nội dung, vụ việc pháp lý, xung đột lợi ích, chất lượng người theo dõi (X04 khuyến nghị kiểm tra gian lận).
3 Báo giá và đàm phán: qua cá nhân hay công ty quản lý?
4 Hợp đồng. 5 Duyệt nội dung: Key Account duyệt trước (chị Vy — Thương hiệu). 6 Thực hiện: đúng lịch, đúng nhãn. 7 Nghiệm thu và thanh toán. 8 Báo cáo.
Alt-text: tám ô nối bằng mũi tên theo thứ tự.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Nối slide 8 (Kera) và slide 9 (KOL tài chính).
Hiểu lầm: “Đã trả tiền thì KOL chịu trách nhiệm hết” → rủi ro uy tín rơi vào Key Account trước tiên; Nova phòng bằng due diligence và hợp đồng.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Luật Quảng cáo sửa đổi 2025: người có ảnh hưởng phải xác minh độ tin cậy của người quảng cáo, kiểm tra tài liệu về sản phẩm (chưa sử dụng hoặc chưa hiểu rõ thì không được giới thiệu); thông báo về việc quảng cáo ngay trước và trong khi thực hiện, nội dung trên mạng có dấu hiệu nhận diện là quảng cáo/tài trợ; cung cấp hồ sơ, gồm hợp đồng quảng cáo, khi cơ quan có thẩm quyền yêu cầu.
Điều khoản “không khuyến nghị đầu tư / không chào bán sản phẩm tài chính” nối X07 và U13 (Buổi 9). Điều khoản đạo đức và chấm dứt: bài học X06.
[VERIFY: pháp chế — nghị định hướng dẫn Luật Quảng cáo 2025; quy định riêng về quảng cáo dịch vụ ngân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Nhiều KOL, KOC được khấu trừ 10% thuế TNCN trước khi nhận tiền; Cục Thuế lưu ý bản chất thu nhập (tiền công hay kinh doanh) căn cứ vào hợp đồng.
[VERIFY: kế toán — quy định khấu trừ thuế TNCN hiện hành khi trả tiền cho cá nhân/KOL]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AVE (advertising value equivalent): “Quy bài báo ra ‘nếu mua quảng cáo diện tích này thì tốn bao nhiêu’. AMEC nói rõ: đó KHÔNG phải giá trị của truyền thông.”
Hiểu lầm: “Báo cáo = số lượt xem” → đó là output. Khách hàng cần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rõ: ánh xạ gần đúng, nhận định của người soạn.
Chốt: “Báo cáo cho anh Minh không mở đầu bằng ‘25 bài báo, 2 triệu lượt xem’. Mở đầu bằng: ‘tỷ lệ CEO đến trực tiếp tăng từ … lên …’.”
Gợi ý: cho lớp phân loại nhanh vài chỉ số output/outcome trên bảng.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Lemon &amp; Verhoef (2016): giai đoạn prepurchase; điểm chạm social/external (báo chí, người khác) và partner-owned ảnh hưởng mạnh đến quyết định.
Với khách của An Phát, “mua” là quyết định dành một buổi tối cho An Phát — và có đến trực tiếp hay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Dòng thời gian trước gala; mỗi mốc là một điểm chạm của khách An Phát có thể được báo chí hoặc diễn giả khuếch đại.
Alt-text: trục thời gian bốn mốc T-6 tuần, T-5 đến T-3 tuần, T-3 tuần, T-1 tuần; dưới mỗi mốc là điểm chạm và cách khuếch đại.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so sánh là nhận định của người soạn.
Nội dung trả tiền để đăng (paid) phải gắn nhãn quảng cáo/tài trợ theo Luật Quảng cáo sửa đổi.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chiếu suốt S6 — các nhóm dùng khi lập kế hoạch và khi phản biện chéo.
→ Chuyển sang S6 — Thực hành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S6 — Thực hành 2 (30 phút): 3 mở đầu · 15 lập kế hoạch · 8 xoay trạm (2 vòng × 4 phút) · 4 sửa và chốt.
Mặc định diễn giả/KOL: TS. Lê Hoàng Nam và chị Trần Mai Anh. Thư mời T-6 tuần; hạn xác nhận T-3 tuần; mục tiêu: tỷ lệ CEO đến trực tiếp tăng rõ.
Yêu cầu: ≥ 4 điểm chạm, ≥ 1 nhà báo trong danh sách, ≥ 1 diễn giả/KOL; đánh dấu ⭐ điểm chạm kéo CEO đến nhiều nhất.
Xoay trạm: vai chị Vy — Trưởng nhóm Thương hiệu An Phát: 🟨 1 câu hỏi, 🟥 1 lo ngại.
Khi chốt: nhóm nào chọn nhà báo C hoặc kênh E? Vì sao? Ghi các lo ngại “chị Vy” lặp lại nhiều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S7 — Tổng hợp (3 phút).
Liên hệ Stakeholder Management Plan: với khách hàng từ dự án cũ, nhóm bổ sung một trang “báo chí và KOL”: khán giả mục tiêu, 3 nhà báo/KOL phù hợp, điều khoản bắt buộc, 3 chỉ số outcome. Làm dần trên lớp, không giao về nhà.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S8 — cá nhân, không chấm điểm. Giấy nhỏ hoặc Google Form (thêm QR nếu thu online).
Cần xem: (a) chọn theo phù hợp với khách của Key Account, không theo số follower; (b) điều khoản cụ thể (gắn nhãn, duyệt nội dung, chấm dứt khi vi phạm…); (c) phân biệt output (số bài, lượt tiếp cận) và outcome (xác nhận tham dự, đăng ký phiên, thay đổi nhận thức).
Câu nối Buổi 12: “Hôm nay ta chọn và ký với những người kể chuyện cho Key Account. Buổi sau: khi các bên liên quan — nhà tài trợ, nhà cung cấp, báo chí, KOL — xung đột với nhau hoặc gặp sự cố, agency xử lý và biến xung đột thành cơ hội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phụ lục — không chiếu khi dạy; để tra cứu mã nguồn X01–X14 ghi ở chân slide. Tiêu đề báo X06 giữ nguyên dạng chữ theo dàn ý (không dùng ảnh chân dung).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phụ lục — không chiếu khi dạy; để tra cứu mã nguồn X01–X14 ghi ở chân slide. Tiêu đề báo X06 giữ nguyên dạng chữ theo dàn ý (không dùng ảnh chân dung).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7040880" y="960120"/>
            <a:ext cx="4572000" cy="4572000"/>
          </a:xfrm>
          <a:prstGeom prst="ellipse">
            <a:avLst/>
          </a:prstGeom>
          <a:solidFill>
            <a:srgbClr val="09A1E5">
              <a:alpha val="30000"/>
            </a:srgbClr>
          </a:solidFill>
          <a:ln w="25400">
            <a:solidFill>
              <a:srgbClr val="09A1E5"/>
            </a:solidFill>
            <a:prstDash val="solid"/>
          </a:ln>
        </p:spPr>
      </p:sp>
      <p:sp>
        <p:nvSpPr>
          <p:cNvPr id="3" name="Shape 1"/>
          <p:cNvSpPr/>
          <p:nvPr/>
        </p:nvSpPr>
        <p:spPr>
          <a:xfrm>
            <a:off x="7680960" y="1600200"/>
            <a:ext cx="3291840" cy="3291840"/>
          </a:xfrm>
          <a:prstGeom prst="ellipse">
            <a:avLst/>
          </a:prstGeom>
          <a:solidFill>
            <a:srgbClr val="962B7C">
              <a:alpha val="30000"/>
            </a:srgbClr>
          </a:solidFill>
          <a:ln w="25400">
            <a:solidFill>
              <a:srgbClr val="962B7C"/>
            </a:solidFill>
            <a:prstDash val="solid"/>
          </a:ln>
        </p:spPr>
      </p:sp>
      <p:sp>
        <p:nvSpPr>
          <p:cNvPr id="4" name="Shape 2"/>
          <p:cNvSpPr/>
          <p:nvPr/>
        </p:nvSpPr>
        <p:spPr>
          <a:xfrm>
            <a:off x="8321040" y="2240280"/>
            <a:ext cx="2011680" cy="2011680"/>
          </a:xfrm>
          <a:prstGeom prst="ellipse">
            <a:avLst/>
          </a:prstGeom>
          <a:solidFill>
            <a:srgbClr val="FF5178">
              <a:alpha val="30000"/>
            </a:srgbClr>
          </a:solidFill>
          <a:ln w="25400">
            <a:solidFill>
              <a:srgbClr val="FF5178"/>
            </a:solidFill>
            <a:prstDash val="solid"/>
          </a:ln>
        </p:spPr>
      </p:sp>
      <p:sp>
        <p:nvSpPr>
          <p:cNvPr id="5" name="Shape 3"/>
          <p:cNvSpPr/>
          <p:nvPr/>
        </p:nvSpPr>
        <p:spPr>
          <a:xfrm>
            <a:off x="8961120" y="2880360"/>
            <a:ext cx="731520" cy="731520"/>
          </a:xfrm>
          <a:prstGeom prst="ellipse">
            <a:avLst/>
          </a:prstGeom>
          <a:solidFill>
            <a:srgbClr val="FF9259"/>
          </a:solidFill>
          <a:ln w="25400">
            <a:solidFill>
              <a:srgbClr val="FF9259"/>
            </a:solidFill>
            <a:prstDash val="solid"/>
          </a:ln>
        </p:spPr>
      </p:sp>
      <p:sp>
        <p:nvSpPr>
          <p:cNvPr id="6" name="Shape 4"/>
          <p:cNvSpPr/>
          <p:nvPr/>
        </p:nvSpPr>
        <p:spPr>
          <a:xfrm>
            <a:off x="7178040" y="1188720"/>
            <a:ext cx="365760" cy="365760"/>
          </a:xfrm>
          <a:prstGeom prst="ellipse">
            <a:avLst/>
          </a:prstGeom>
          <a:solidFill>
            <a:srgbClr val="49B296"/>
          </a:solidFill>
          <a:ln w="12700">
            <a:solidFill>
              <a:srgbClr val="49B296"/>
            </a:solidFill>
            <a:prstDash val="solid"/>
          </a:ln>
        </p:spPr>
      </p:sp>
      <p:sp>
        <p:nvSpPr>
          <p:cNvPr id="7" name="Shape 5"/>
          <p:cNvSpPr/>
          <p:nvPr/>
        </p:nvSpPr>
        <p:spPr>
          <a:xfrm>
            <a:off x="11155680" y="1463040"/>
            <a:ext cx="365760" cy="365760"/>
          </a:xfrm>
          <a:prstGeom prst="ellipse">
            <a:avLst/>
          </a:prstGeom>
          <a:solidFill>
            <a:srgbClr val="FFD23B"/>
          </a:solidFill>
          <a:ln w="12700">
            <a:solidFill>
              <a:srgbClr val="FFD23B"/>
            </a:solidFill>
            <a:prstDash val="solid"/>
          </a:ln>
        </p:spPr>
      </p:sp>
      <p:sp>
        <p:nvSpPr>
          <p:cNvPr id="8" name="Shape 6"/>
          <p:cNvSpPr/>
          <p:nvPr/>
        </p:nvSpPr>
        <p:spPr>
          <a:xfrm>
            <a:off x="11338560" y="5029200"/>
            <a:ext cx="365760" cy="365760"/>
          </a:xfrm>
          <a:prstGeom prst="ellipse">
            <a:avLst/>
          </a:prstGeom>
          <a:solidFill>
            <a:srgbClr val="49B296"/>
          </a:solidFill>
          <a:ln w="12700">
            <a:solidFill>
              <a:srgbClr val="49B296"/>
            </a:solidFill>
            <a:prstDash val="solid"/>
          </a:ln>
        </p:spPr>
      </p:sp>
      <p:sp>
        <p:nvSpPr>
          <p:cNvPr id="9" name="Shape 7"/>
          <p:cNvSpPr/>
          <p:nvPr/>
        </p:nvSpPr>
        <p:spPr>
          <a:xfrm>
            <a:off x="7040880" y="5394960"/>
            <a:ext cx="365760" cy="365760"/>
          </a:xfrm>
          <a:prstGeom prst="ellipse">
            <a:avLst/>
          </a:prstGeom>
          <a:solidFill>
            <a:srgbClr val="FFD23B"/>
          </a:solidFill>
          <a:ln w="12700">
            <a:solidFill>
              <a:srgbClr val="FFD23B"/>
            </a:solidFill>
            <a:prstDash val="solid"/>
          </a:ln>
        </p:spPr>
      </p:sp>
      <p:sp>
        <p:nvSpPr>
          <p:cNvPr id="10" name="Text 8"/>
          <p:cNvSpPr txBox="1"/>
          <p:nvPr/>
        </p:nvSpPr>
        <p:spPr>
          <a:xfrm>
            <a:off x="8412480" y="3017520"/>
            <a:ext cx="18288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Key Account</a:t>
            </a:r>
            <a:endParaRPr lang="en-US" sz="1400" dirty="0"/>
          </a:p>
        </p:txBody>
      </p:sp>
      <p:sp>
        <p:nvSpPr>
          <p:cNvPr id="11" name="Shape 9"/>
          <p:cNvSpPr/>
          <p:nvPr/>
        </p:nvSpPr>
        <p:spPr>
          <a:xfrm>
            <a:off x="548640" y="914400"/>
            <a:ext cx="2834640" cy="420624"/>
          </a:xfrm>
          <a:prstGeom prst="roundRect">
            <a:avLst>
              <a:gd name="adj" fmla="val 50000"/>
            </a:avLst>
          </a:prstGeom>
          <a:solidFill>
            <a:srgbClr val="FFD23B"/>
          </a:solidFill>
          <a:ln w="12700">
            <a:solidFill>
              <a:srgbClr val="FFD23B"/>
            </a:solidFill>
            <a:prstDash val="solid"/>
          </a:ln>
        </p:spPr>
      </p:sp>
      <p:sp>
        <p:nvSpPr>
          <p:cNvPr id="12" name="Text 10"/>
          <p:cNvSpPr txBox="1"/>
          <p:nvPr/>
        </p:nvSpPr>
        <p:spPr>
          <a:xfrm>
            <a:off x="621792" y="914400"/>
            <a:ext cx="2688336" cy="420624"/>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EVM1110E  ·  Buổi 11 / 15</a:t>
            </a:r>
            <a:endParaRPr lang="en-US" sz="1400" dirty="0"/>
          </a:p>
        </p:txBody>
      </p:sp>
      <p:sp>
        <p:nvSpPr>
          <p:cNvPr id="13" name="Text 11"/>
          <p:cNvSpPr txBox="1"/>
          <p:nvPr/>
        </p:nvSpPr>
        <p:spPr>
          <a:xfrm>
            <a:off x="548640" y="1600200"/>
            <a:ext cx="6035040" cy="1737360"/>
          </a:xfrm>
          <a:prstGeom prst="rect">
            <a:avLst/>
          </a:prstGeom>
          <a:noFill/>
          <a:ln/>
        </p:spPr>
        <p:txBody>
          <a:bodyPr wrap="square" lIns="0" tIns="0" rIns="0" bIns="0" rtlCol="0" anchor="t"/>
          <a:lstStyle/>
          <a:p>
            <a:pPr indent="0" marL="0">
              <a:buNone/>
            </a:pPr>
            <a:r>
              <a:rPr lang="en-US" sz="3800" b="1" dirty="0">
                <a:solidFill>
                  <a:srgbClr val="2A2238"/>
                </a:solidFill>
                <a:latin typeface="Alexandria" pitchFamily="34" charset="0"/>
                <a:ea typeface="Alexandria" pitchFamily="34" charset="-122"/>
                <a:cs typeface="Alexandria" pitchFamily="34" charset="-120"/>
              </a:rPr>
              <a:t>Quản trị mối quan hệ trong tổ chức sự kiện</a:t>
            </a:r>
            <a:endParaRPr lang="en-US" sz="3800" dirty="0"/>
          </a:p>
        </p:txBody>
      </p:sp>
      <p:sp>
        <p:nvSpPr>
          <p:cNvPr id="14" name="Text 12"/>
          <p:cNvSpPr txBox="1"/>
          <p:nvPr/>
        </p:nvSpPr>
        <p:spPr>
          <a:xfrm>
            <a:off x="548640" y="3429000"/>
            <a:ext cx="6035040" cy="822960"/>
          </a:xfrm>
          <a:prstGeom prst="rect">
            <a:avLst/>
          </a:prstGeom>
          <a:noFill/>
          <a:ln/>
        </p:spPr>
        <p:txBody>
          <a:bodyPr wrap="square" lIns="0" tIns="0" rIns="0" bIns="0" rtlCol="0" anchor="t"/>
          <a:lstStyle/>
          <a:p>
            <a:pPr indent="0" marL="0">
              <a:buNone/>
            </a:pPr>
            <a:r>
              <a:rPr lang="en-US" sz="2200" i="1" dirty="0">
                <a:solidFill>
                  <a:srgbClr val="962B7C"/>
                </a:solidFill>
                <a:latin typeface="Alexandria" pitchFamily="34" charset="0"/>
                <a:ea typeface="Alexandria" pitchFamily="34" charset="-122"/>
                <a:cs typeface="Alexandria" pitchFamily="34" charset="-120"/>
              </a:rPr>
              <a:t>Spreading Value: Media &amp; Influencers</a:t>
            </a:r>
            <a:endParaRPr lang="en-US" sz="2200" dirty="0"/>
          </a:p>
        </p:txBody>
      </p:sp>
      <p:sp>
        <p:nvSpPr>
          <p:cNvPr id="15" name="Text 13"/>
          <p:cNvSpPr txBox="1"/>
          <p:nvPr/>
        </p:nvSpPr>
        <p:spPr>
          <a:xfrm>
            <a:off x="548640" y="4572000"/>
            <a:ext cx="6035040" cy="1280160"/>
          </a:xfrm>
          <a:prstGeom prst="rect">
            <a:avLst/>
          </a:prstGeom>
          <a:noFill/>
          <a:ln/>
        </p:spPr>
        <p:txBody>
          <a:bodyPr wrap="square" lIns="0" tIns="0" rIns="0" bIns="0" rtlCol="0" anchor="t"/>
          <a:lstStyle/>
          <a:p>
            <a:pPr indent="0" marL="0">
              <a:spcAft>
                <a:spcPts val="400"/>
              </a:spcAft>
              <a:buNone/>
            </a:pPr>
            <a:r>
              <a:rPr lang="en-US" sz="1500" dirty="0">
                <a:solidFill>
                  <a:srgbClr val="6E6878"/>
                </a:solidFill>
                <a:latin typeface="Alexandria" pitchFamily="34" charset="0"/>
                <a:ea typeface="Alexandria" pitchFamily="34" charset="-122"/>
                <a:cs typeface="Alexandria" pitchFamily="34" charset="-120"/>
              </a:rPr>
              <a:t>Phần 3 · buổi 3/4 — Điều phối các bên liên quan phục vụ hành trình khách hàng</a:t>
            </a:r>
            <a:endParaRPr lang="en-US" sz="1500" dirty="0"/>
          </a:p>
          <a:p>
            <a:pPr indent="0" marL="0">
              <a:spcAft>
                <a:spcPts val="400"/>
              </a:spcAft>
              <a:buNone/>
            </a:pPr>
            <a:r>
              <a:rPr lang="en-US" sz="1500" dirty="0">
                <a:solidFill>
                  <a:srgbClr val="6E6878"/>
                </a:solidFill>
                <a:latin typeface="Alexandria" pitchFamily="34" charset="0"/>
                <a:ea typeface="Alexandria" pitchFamily="34" charset="-122"/>
                <a:cs typeface="Alexandria" pitchFamily="34" charset="-120"/>
              </a:rPr>
              <a:t>Khoa Marketing · UEF</a:t>
            </a:r>
            <a:endParaRPr lang="en-US" sz="1500" dirty="0"/>
          </a:p>
          <a:p>
            <a:pPr indent="0" marL="0">
              <a:spcAft>
                <a:spcPts val="400"/>
              </a:spcAft>
              <a:buNone/>
            </a:pPr>
            <a:r>
              <a:rPr lang="en-US" sz="1500" dirty="0">
                <a:solidFill>
                  <a:srgbClr val="6E6878"/>
                </a:solidFill>
                <a:latin typeface="Alexandria" pitchFamily="34" charset="0"/>
                <a:ea typeface="Alexandria" pitchFamily="34" charset="-122"/>
                <a:cs typeface="Alexandria" pitchFamily="34" charset="-120"/>
              </a:rPr>
              <a:t>Giảng viên: Đoàn Nguyễn Bảo Quyên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F9259"/>
          </a:solidFill>
          <a:ln w="9525">
            <a:solidFill>
              <a:srgbClr val="FF9259"/>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b="1" dirty="0">
                <a:solidFill>
                  <a:srgbClr val="2A223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87782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11.1 KOL</a:t>
            </a:r>
            <a:endParaRPr lang="en-US" sz="1000" dirty="0"/>
          </a:p>
        </p:txBody>
      </p:sp>
      <p:sp>
        <p:nvSpPr>
          <p:cNvPr id="6" name="Shape 4"/>
          <p:cNvSpPr/>
          <p:nvPr/>
        </p:nvSpPr>
        <p:spPr>
          <a:xfrm>
            <a:off x="2368296"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368296"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11.2 Báo chí</a:t>
            </a:r>
            <a:endParaRPr lang="en-US" sz="1000" dirty="0"/>
          </a:p>
        </p:txBody>
      </p:sp>
      <p:sp>
        <p:nvSpPr>
          <p:cNvPr id="8" name="Shape 6"/>
          <p:cNvSpPr/>
          <p:nvPr/>
        </p:nvSpPr>
        <p:spPr>
          <a:xfrm>
            <a:off x="3666744"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3666744"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11.3 Booking &amp; đo lường</a:t>
            </a:r>
            <a:endParaRPr lang="en-US" sz="1000" dirty="0"/>
          </a:p>
        </p:txBody>
      </p:sp>
      <p:sp>
        <p:nvSpPr>
          <p:cNvPr id="10" name="Shape 8"/>
          <p:cNvSpPr/>
          <p:nvPr/>
        </p:nvSpPr>
        <p:spPr>
          <a:xfrm>
            <a:off x="5820156" y="274320"/>
            <a:ext cx="1421892"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5820156"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11.4 Khuếch đại</a:t>
            </a:r>
            <a:endParaRPr lang="en-US" sz="1000" dirty="0"/>
          </a:p>
        </p:txBody>
      </p:sp>
      <p:sp>
        <p:nvSpPr>
          <p:cNvPr id="12" name="Shape 10"/>
          <p:cNvSpPr/>
          <p:nvPr/>
        </p:nvSpPr>
        <p:spPr>
          <a:xfrm>
            <a:off x="7351776" y="274320"/>
            <a:ext cx="877824" cy="292608"/>
          </a:xfrm>
          <a:prstGeom prst="roundRect">
            <a:avLst>
              <a:gd name="adj" fmla="val 50000"/>
            </a:avLst>
          </a:prstGeom>
          <a:solidFill>
            <a:srgbClr val="FBFAF4"/>
          </a:solidFill>
          <a:ln w="9525">
            <a:solidFill>
              <a:srgbClr val="DCD7C8"/>
            </a:solidFill>
            <a:prstDash val="solid"/>
          </a:ln>
        </p:spPr>
      </p:sp>
      <p:sp>
        <p:nvSpPr>
          <p:cNvPr id="13" name="Text 11"/>
          <p:cNvSpPr txBox="1"/>
          <p:nvPr/>
        </p:nvSpPr>
        <p:spPr>
          <a:xfrm>
            <a:off x="735177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4" name="Shape 12"/>
          <p:cNvSpPr/>
          <p:nvPr/>
        </p:nvSpPr>
        <p:spPr>
          <a:xfrm>
            <a:off x="11259007" y="219456"/>
            <a:ext cx="384048" cy="384048"/>
          </a:xfrm>
          <a:prstGeom prst="ellipse">
            <a:avLst/>
          </a:prstGeom>
          <a:ln w="12700">
            <a:solidFill>
              <a:srgbClr val="09A1E5"/>
            </a:solidFill>
            <a:prstDash val="solid"/>
          </a:ln>
        </p:spPr>
      </p:sp>
      <p:sp>
        <p:nvSpPr>
          <p:cNvPr id="15" name="Shape 13"/>
          <p:cNvSpPr/>
          <p:nvPr/>
        </p:nvSpPr>
        <p:spPr>
          <a:xfrm>
            <a:off x="11324295" y="284744"/>
            <a:ext cx="253472" cy="253472"/>
          </a:xfrm>
          <a:prstGeom prst="ellipse">
            <a:avLst/>
          </a:prstGeom>
          <a:ln w="15875">
            <a:solidFill>
              <a:srgbClr val="962B7C"/>
            </a:solidFill>
            <a:prstDash val="solid"/>
          </a:ln>
        </p:spPr>
      </p:sp>
      <p:sp>
        <p:nvSpPr>
          <p:cNvPr id="16" name="Shape 14"/>
          <p:cNvSpPr/>
          <p:nvPr/>
        </p:nvSpPr>
        <p:spPr>
          <a:xfrm>
            <a:off x="11389584" y="350032"/>
            <a:ext cx="122895" cy="122895"/>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Anh Minh muốn chính các CEO đến gala</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Tình huống giả định (tiếp nối các buổi trước) — tên và con số chỉ dùng cho học tập.</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11   2</a:t>
            </a:r>
            <a:endParaRPr lang="en-US" sz="1000" dirty="0"/>
          </a:p>
        </p:txBody>
      </p:sp>
      <p:sp>
        <p:nvSpPr>
          <p:cNvPr id="21" name="Shape 18"/>
          <p:cNvSpPr/>
          <p:nvPr/>
        </p:nvSpPr>
        <p:spPr>
          <a:xfrm>
            <a:off x="548640" y="1920240"/>
            <a:ext cx="4023360" cy="4069080"/>
          </a:xfrm>
          <a:prstGeom prst="roundRect">
            <a:avLst>
              <a:gd name="adj" fmla="val 2727"/>
            </a:avLst>
          </a:prstGeom>
          <a:solidFill>
            <a:srgbClr val="DDF1FB"/>
          </a:solidFill>
          <a:ln w="12700">
            <a:solidFill>
              <a:srgbClr val="DDF1FB"/>
            </a:solidFill>
            <a:prstDash val="solid"/>
          </a:ln>
        </p:spPr>
      </p:sp>
      <p:sp>
        <p:nvSpPr>
          <p:cNvPr id="22" name="Text 19"/>
          <p:cNvSpPr txBox="1"/>
          <p:nvPr/>
        </p:nvSpPr>
        <p:spPr>
          <a:xfrm>
            <a:off x="822960" y="2057400"/>
            <a:ext cx="3474720" cy="365760"/>
          </a:xfrm>
          <a:prstGeom prst="rect">
            <a:avLst/>
          </a:prstGeom>
          <a:noFill/>
          <a:ln/>
        </p:spPr>
        <p:txBody>
          <a:bodyPr wrap="square" lIns="0" tIns="0" rIns="0" bIns="0" rtlCol="0" anchor="ctr"/>
          <a:lstStyle/>
          <a:p>
            <a:pPr indent="0" marL="0">
              <a:buNone/>
            </a:pPr>
            <a:r>
              <a:rPr lang="en-US" sz="1300" b="1" dirty="0">
                <a:solidFill>
                  <a:srgbClr val="6E6878"/>
                </a:solidFill>
                <a:latin typeface="Alexandria" pitchFamily="34" charset="0"/>
                <a:ea typeface="Alexandria" pitchFamily="34" charset="-122"/>
                <a:cs typeface="Alexandria" pitchFamily="34" charset="-120"/>
              </a:rPr>
              <a:t>Năm ngoái · 600 khách mời</a:t>
            </a:r>
            <a:endParaRPr lang="en-US" sz="1300" dirty="0"/>
          </a:p>
        </p:txBody>
      </p:sp>
      <p:sp>
        <p:nvSpPr>
          <p:cNvPr id="23" name="Text 20"/>
          <p:cNvSpPr txBox="1"/>
          <p:nvPr/>
        </p:nvSpPr>
        <p:spPr>
          <a:xfrm>
            <a:off x="822960" y="2468880"/>
            <a:ext cx="3474720" cy="914400"/>
          </a:xfrm>
          <a:prstGeom prst="rect">
            <a:avLst/>
          </a:prstGeom>
          <a:noFill/>
          <a:ln/>
        </p:spPr>
        <p:txBody>
          <a:bodyPr wrap="square" lIns="0" tIns="0" rIns="0" bIns="0" rtlCol="0" anchor="ctr"/>
          <a:lstStyle/>
          <a:p>
            <a:pPr indent="0" marL="0">
              <a:buNone/>
            </a:pPr>
            <a:r>
              <a:rPr lang="en-US" sz="5000" b="1" dirty="0">
                <a:solidFill>
                  <a:srgbClr val="0A7FB5"/>
                </a:solidFill>
                <a:latin typeface="Alexandria" pitchFamily="34" charset="0"/>
                <a:ea typeface="Alexandria" pitchFamily="34" charset="-122"/>
                <a:cs typeface="Alexandria" pitchFamily="34" charset="-120"/>
              </a:rPr>
              <a:t>62%</a:t>
            </a:r>
            <a:endParaRPr lang="en-US" sz="5000" dirty="0"/>
          </a:p>
        </p:txBody>
      </p:sp>
      <p:sp>
        <p:nvSpPr>
          <p:cNvPr id="24" name="Text 21"/>
          <p:cNvSpPr txBox="1"/>
          <p:nvPr/>
        </p:nvSpPr>
        <p:spPr>
          <a:xfrm>
            <a:off x="822960" y="3383280"/>
            <a:ext cx="3474720" cy="36576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xác nhận tham dự</a:t>
            </a:r>
            <a:endParaRPr lang="en-US" sz="1500" dirty="0"/>
          </a:p>
        </p:txBody>
      </p:sp>
      <p:sp>
        <p:nvSpPr>
          <p:cNvPr id="25" name="Text 22"/>
          <p:cNvSpPr txBox="1"/>
          <p:nvPr/>
        </p:nvSpPr>
        <p:spPr>
          <a:xfrm>
            <a:off x="822960" y="3931920"/>
            <a:ext cx="3474720" cy="914400"/>
          </a:xfrm>
          <a:prstGeom prst="rect">
            <a:avLst/>
          </a:prstGeom>
          <a:noFill/>
          <a:ln/>
        </p:spPr>
        <p:txBody>
          <a:bodyPr wrap="square" lIns="0" tIns="0" rIns="0" bIns="0" rtlCol="0" anchor="ctr"/>
          <a:lstStyle/>
          <a:p>
            <a:pPr indent="0" marL="0">
              <a:buNone/>
            </a:pPr>
            <a:r>
              <a:rPr lang="en-US" sz="5000" b="1" dirty="0">
                <a:solidFill>
                  <a:srgbClr val="E03A62"/>
                </a:solidFill>
                <a:latin typeface="Alexandria" pitchFamily="34" charset="0"/>
                <a:ea typeface="Alexandria" pitchFamily="34" charset="-122"/>
                <a:cs typeface="Alexandria" pitchFamily="34" charset="-120"/>
              </a:rPr>
              <a:t>~1/3</a:t>
            </a:r>
            <a:endParaRPr lang="en-US" sz="5000" dirty="0"/>
          </a:p>
        </p:txBody>
      </p:sp>
      <p:sp>
        <p:nvSpPr>
          <p:cNvPr id="26" name="Text 23"/>
          <p:cNvSpPr txBox="1"/>
          <p:nvPr/>
        </p:nvSpPr>
        <p:spPr>
          <a:xfrm>
            <a:off x="822960" y="4846320"/>
            <a:ext cx="3474720" cy="36576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cử cấp dưới đi thay</a:t>
            </a:r>
            <a:endParaRPr lang="en-US" sz="1500" dirty="0"/>
          </a:p>
        </p:txBody>
      </p:sp>
      <p:sp>
        <p:nvSpPr>
          <p:cNvPr id="27" name="Shape 24"/>
          <p:cNvSpPr/>
          <p:nvPr/>
        </p:nvSpPr>
        <p:spPr>
          <a:xfrm>
            <a:off x="4937760" y="1920240"/>
            <a:ext cx="6705295" cy="896112"/>
          </a:xfrm>
          <a:prstGeom prst="roundRect">
            <a:avLst>
              <a:gd name="adj" fmla="val 12245"/>
            </a:avLst>
          </a:prstGeom>
          <a:solidFill>
            <a:srgbClr val="FFFFFF"/>
          </a:solidFill>
          <a:ln w="12700">
            <a:solidFill>
              <a:srgbClr val="DCD7C8"/>
            </a:solidFill>
            <a:prstDash val="solid"/>
          </a:ln>
        </p:spPr>
      </p:sp>
      <p:sp>
        <p:nvSpPr>
          <p:cNvPr id="28" name="Shape 25"/>
          <p:cNvSpPr/>
          <p:nvPr/>
        </p:nvSpPr>
        <p:spPr>
          <a:xfrm>
            <a:off x="5138928" y="2075688"/>
            <a:ext cx="585216" cy="585216"/>
          </a:xfrm>
          <a:prstGeom prst="ellipse">
            <a:avLst/>
          </a:prstGeom>
          <a:solidFill>
            <a:srgbClr val="FF9259"/>
          </a:solidFill>
          <a:ln w="12700">
            <a:solidFill>
              <a:srgbClr val="FF9259"/>
            </a:solidFill>
            <a:prstDash val="solid"/>
          </a:ln>
        </p:spPr>
      </p:sp>
      <p:sp>
        <p:nvSpPr>
          <p:cNvPr id="29" name="Text 26"/>
          <p:cNvSpPr txBox="1"/>
          <p:nvPr/>
        </p:nvSpPr>
        <p:spPr>
          <a:xfrm>
            <a:off x="5138928" y="2075688"/>
            <a:ext cx="585216" cy="585216"/>
          </a:xfrm>
          <a:prstGeom prst="rect">
            <a:avLst/>
          </a:prstGeom>
          <a:noFill/>
          <a:ln/>
        </p:spPr>
        <p:txBody>
          <a:bodyPr wrap="square" lIns="0" tIns="0" rIns="0" bIns="0" rtlCol="0" anchor="ctr"/>
          <a:lstStyle/>
          <a:p>
            <a:pPr algn="ctr" indent="0" marL="0">
              <a:buNone/>
            </a:pPr>
            <a:r>
              <a:rPr lang="en-US" sz="2176" b="1" dirty="0">
                <a:solidFill>
                  <a:srgbClr val="2A2238"/>
                </a:solidFill>
                <a:latin typeface="Alexandria" pitchFamily="34" charset="0"/>
                <a:ea typeface="Alexandria" pitchFamily="34" charset="-122"/>
                <a:cs typeface="Alexandria" pitchFamily="34" charset="-120"/>
              </a:rPr>
              <a:t>A</a:t>
            </a:r>
            <a:endParaRPr lang="en-US" sz="2176" dirty="0"/>
          </a:p>
        </p:txBody>
      </p:sp>
      <p:sp>
        <p:nvSpPr>
          <p:cNvPr id="30" name="Text 27"/>
          <p:cNvSpPr txBox="1"/>
          <p:nvPr/>
        </p:nvSpPr>
        <p:spPr>
          <a:xfrm>
            <a:off x="5943600" y="1920240"/>
            <a:ext cx="5516575" cy="896112"/>
          </a:xfrm>
          <a:prstGeom prst="rect">
            <a:avLst/>
          </a:prstGeom>
          <a:noFill/>
          <a:ln/>
        </p:spPr>
        <p:txBody>
          <a:bodyPr wrap="square" lIns="0" tIns="0" rIns="0" bIns="0" rtlCol="0" anchor="ctr"/>
          <a:lstStyle/>
          <a:p>
            <a:pPr indent="0" marL="0">
              <a:buNone/>
            </a:pPr>
            <a:r>
              <a:rPr lang="en-US" sz="1800" dirty="0">
                <a:solidFill>
                  <a:srgbClr val="2A2238"/>
                </a:solidFill>
                <a:latin typeface="Alexandria" pitchFamily="34" charset="0"/>
                <a:ea typeface="Alexandria" pitchFamily="34" charset="-122"/>
                <a:cs typeface="Alexandria" pitchFamily="34" charset="-120"/>
              </a:rPr>
              <a:t>Mời ca sĩ 3 triệu follower làm MC</a:t>
            </a:r>
            <a:endParaRPr lang="en-US" sz="1800" dirty="0"/>
          </a:p>
        </p:txBody>
      </p:sp>
      <p:sp>
        <p:nvSpPr>
          <p:cNvPr id="31" name="Shape 28"/>
          <p:cNvSpPr/>
          <p:nvPr/>
        </p:nvSpPr>
        <p:spPr>
          <a:xfrm>
            <a:off x="4937760" y="2971800"/>
            <a:ext cx="6705295" cy="896112"/>
          </a:xfrm>
          <a:prstGeom prst="roundRect">
            <a:avLst>
              <a:gd name="adj" fmla="val 12245"/>
            </a:avLst>
          </a:prstGeom>
          <a:solidFill>
            <a:srgbClr val="FFFFFF"/>
          </a:solidFill>
          <a:ln w="12700">
            <a:solidFill>
              <a:srgbClr val="DCD7C8"/>
            </a:solidFill>
            <a:prstDash val="solid"/>
          </a:ln>
        </p:spPr>
      </p:sp>
      <p:sp>
        <p:nvSpPr>
          <p:cNvPr id="32" name="Shape 29"/>
          <p:cNvSpPr/>
          <p:nvPr/>
        </p:nvSpPr>
        <p:spPr>
          <a:xfrm>
            <a:off x="5138928" y="3127248"/>
            <a:ext cx="585216" cy="585216"/>
          </a:xfrm>
          <a:prstGeom prst="ellipse">
            <a:avLst/>
          </a:prstGeom>
          <a:solidFill>
            <a:srgbClr val="962B7C"/>
          </a:solidFill>
          <a:ln w="12700">
            <a:solidFill>
              <a:srgbClr val="962B7C"/>
            </a:solidFill>
            <a:prstDash val="solid"/>
          </a:ln>
        </p:spPr>
      </p:sp>
      <p:sp>
        <p:nvSpPr>
          <p:cNvPr id="33" name="Text 30"/>
          <p:cNvSpPr txBox="1"/>
          <p:nvPr/>
        </p:nvSpPr>
        <p:spPr>
          <a:xfrm>
            <a:off x="5138928" y="3127248"/>
            <a:ext cx="585216" cy="585216"/>
          </a:xfrm>
          <a:prstGeom prst="rect">
            <a:avLst/>
          </a:prstGeom>
          <a:noFill/>
          <a:ln/>
        </p:spPr>
        <p:txBody>
          <a:bodyPr wrap="square" lIns="0" tIns="0" rIns="0" bIns="0" rtlCol="0" anchor="ctr"/>
          <a:lstStyle/>
          <a:p>
            <a:pPr algn="ctr" indent="0" marL="0">
              <a:buNone/>
            </a:pPr>
            <a:r>
              <a:rPr lang="en-US" sz="2176" b="1" dirty="0">
                <a:solidFill>
                  <a:srgbClr val="FFFFFF"/>
                </a:solidFill>
                <a:latin typeface="Alexandria" pitchFamily="34" charset="0"/>
                <a:ea typeface="Alexandria" pitchFamily="34" charset="-122"/>
                <a:cs typeface="Alexandria" pitchFamily="34" charset="-120"/>
              </a:rPr>
              <a:t>B</a:t>
            </a:r>
            <a:endParaRPr lang="en-US" sz="2176" dirty="0"/>
          </a:p>
        </p:txBody>
      </p:sp>
      <p:sp>
        <p:nvSpPr>
          <p:cNvPr id="34" name="Text 31"/>
          <p:cNvSpPr txBox="1"/>
          <p:nvPr/>
        </p:nvSpPr>
        <p:spPr>
          <a:xfrm>
            <a:off x="5943600" y="2971800"/>
            <a:ext cx="5516575" cy="896112"/>
          </a:xfrm>
          <a:prstGeom prst="rect">
            <a:avLst/>
          </a:prstGeom>
          <a:noFill/>
          <a:ln/>
        </p:spPr>
        <p:txBody>
          <a:bodyPr wrap="square" lIns="0" tIns="0" rIns="0" bIns="0" rtlCol="0" anchor="ctr"/>
          <a:lstStyle/>
          <a:p>
            <a:pPr indent="0" marL="0">
              <a:buNone/>
            </a:pPr>
            <a:r>
              <a:rPr lang="en-US" sz="1800" dirty="0">
                <a:solidFill>
                  <a:srgbClr val="2A2238"/>
                </a:solidFill>
                <a:latin typeface="Alexandria" pitchFamily="34" charset="0"/>
                <a:ea typeface="Alexandria" pitchFamily="34" charset="-122"/>
                <a:cs typeface="Alexandria" pitchFamily="34" charset="-120"/>
              </a:rPr>
              <a:t>Mời chuyên gia kinh tế uy tín làm diễn giả chính</a:t>
            </a:r>
            <a:endParaRPr lang="en-US" sz="1800" dirty="0"/>
          </a:p>
        </p:txBody>
      </p:sp>
      <p:sp>
        <p:nvSpPr>
          <p:cNvPr id="35" name="Shape 32"/>
          <p:cNvSpPr/>
          <p:nvPr/>
        </p:nvSpPr>
        <p:spPr>
          <a:xfrm>
            <a:off x="4937760" y="4023360"/>
            <a:ext cx="6705295" cy="896112"/>
          </a:xfrm>
          <a:prstGeom prst="roundRect">
            <a:avLst>
              <a:gd name="adj" fmla="val 12245"/>
            </a:avLst>
          </a:prstGeom>
          <a:solidFill>
            <a:srgbClr val="FFFFFF"/>
          </a:solidFill>
          <a:ln w="12700">
            <a:solidFill>
              <a:srgbClr val="DCD7C8"/>
            </a:solidFill>
            <a:prstDash val="solid"/>
          </a:ln>
        </p:spPr>
      </p:sp>
      <p:sp>
        <p:nvSpPr>
          <p:cNvPr id="36" name="Shape 33"/>
          <p:cNvSpPr/>
          <p:nvPr/>
        </p:nvSpPr>
        <p:spPr>
          <a:xfrm>
            <a:off x="5138928" y="4178808"/>
            <a:ext cx="585216" cy="585216"/>
          </a:xfrm>
          <a:prstGeom prst="ellipse">
            <a:avLst/>
          </a:prstGeom>
          <a:solidFill>
            <a:srgbClr val="09A1E5"/>
          </a:solidFill>
          <a:ln w="12700">
            <a:solidFill>
              <a:srgbClr val="09A1E5"/>
            </a:solidFill>
            <a:prstDash val="solid"/>
          </a:ln>
        </p:spPr>
      </p:sp>
      <p:sp>
        <p:nvSpPr>
          <p:cNvPr id="37" name="Text 34"/>
          <p:cNvSpPr txBox="1"/>
          <p:nvPr/>
        </p:nvSpPr>
        <p:spPr>
          <a:xfrm>
            <a:off x="5138928" y="4178808"/>
            <a:ext cx="585216" cy="585216"/>
          </a:xfrm>
          <a:prstGeom prst="rect">
            <a:avLst/>
          </a:prstGeom>
          <a:noFill/>
          <a:ln/>
        </p:spPr>
        <p:txBody>
          <a:bodyPr wrap="square" lIns="0" tIns="0" rIns="0" bIns="0" rtlCol="0" anchor="ctr"/>
          <a:lstStyle/>
          <a:p>
            <a:pPr algn="ctr" indent="0" marL="0">
              <a:buNone/>
            </a:pPr>
            <a:r>
              <a:rPr lang="en-US" sz="2176" b="1" dirty="0">
                <a:solidFill>
                  <a:srgbClr val="FFFFFF"/>
                </a:solidFill>
                <a:latin typeface="Alexandria" pitchFamily="34" charset="0"/>
                <a:ea typeface="Alexandria" pitchFamily="34" charset="-122"/>
                <a:cs typeface="Alexandria" pitchFamily="34" charset="-120"/>
              </a:rPr>
              <a:t>C</a:t>
            </a:r>
            <a:endParaRPr lang="en-US" sz="2176" dirty="0"/>
          </a:p>
        </p:txBody>
      </p:sp>
      <p:sp>
        <p:nvSpPr>
          <p:cNvPr id="38" name="Text 35"/>
          <p:cNvSpPr txBox="1"/>
          <p:nvPr/>
        </p:nvSpPr>
        <p:spPr>
          <a:xfrm>
            <a:off x="5943600" y="4023360"/>
            <a:ext cx="5516575" cy="896112"/>
          </a:xfrm>
          <a:prstGeom prst="rect">
            <a:avLst/>
          </a:prstGeom>
          <a:noFill/>
          <a:ln/>
        </p:spPr>
        <p:txBody>
          <a:bodyPr wrap="square" lIns="0" tIns="0" rIns="0" bIns="0" rtlCol="0" anchor="ctr"/>
          <a:lstStyle/>
          <a:p>
            <a:pPr indent="0" marL="0">
              <a:buNone/>
            </a:pPr>
            <a:r>
              <a:rPr lang="en-US" sz="1800" dirty="0">
                <a:solidFill>
                  <a:srgbClr val="2A2238"/>
                </a:solidFill>
                <a:latin typeface="Alexandria" pitchFamily="34" charset="0"/>
                <a:ea typeface="Alexandria" pitchFamily="34" charset="-122"/>
                <a:cs typeface="Alexandria" pitchFamily="34" charset="-120"/>
              </a:rPr>
              <a:t>Nhờ nhà báo kinh tế phỏng vấn diễn giả trước sự kiện</a:t>
            </a:r>
            <a:endParaRPr lang="en-US" sz="1800" dirty="0"/>
          </a:p>
        </p:txBody>
      </p:sp>
      <p:sp>
        <p:nvSpPr>
          <p:cNvPr id="39" name="Shape 36"/>
          <p:cNvSpPr/>
          <p:nvPr/>
        </p:nvSpPr>
        <p:spPr>
          <a:xfrm>
            <a:off x="4937760" y="5120640"/>
            <a:ext cx="6705295" cy="868680"/>
          </a:xfrm>
          <a:prstGeom prst="roundRect">
            <a:avLst>
              <a:gd name="adj" fmla="val 12632"/>
            </a:avLst>
          </a:prstGeom>
          <a:solidFill>
            <a:srgbClr val="FFF3C4"/>
          </a:solidFill>
          <a:ln w="12700">
            <a:solidFill>
              <a:srgbClr val="FFD23B"/>
            </a:solidFill>
            <a:prstDash val="solid"/>
          </a:ln>
        </p:spPr>
      </p:sp>
      <p:sp>
        <p:nvSpPr>
          <p:cNvPr id="40" name="Text 37"/>
          <p:cNvSpPr txBox="1"/>
          <p:nvPr/>
        </p:nvSpPr>
        <p:spPr>
          <a:xfrm>
            <a:off x="5212080" y="5120640"/>
            <a:ext cx="6156655" cy="86868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Giơ tay: Nova nên chọn A, B hay C?</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877824"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11.1 KOL</a:t>
            </a:r>
            <a:endParaRPr lang="en-US" sz="1000" dirty="0"/>
          </a:p>
        </p:txBody>
      </p:sp>
      <p:sp>
        <p:nvSpPr>
          <p:cNvPr id="6" name="Shape 4"/>
          <p:cNvSpPr/>
          <p:nvPr/>
        </p:nvSpPr>
        <p:spPr>
          <a:xfrm>
            <a:off x="2368296"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368296"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11.2 Báo chí</a:t>
            </a:r>
            <a:endParaRPr lang="en-US" sz="1000" dirty="0"/>
          </a:p>
        </p:txBody>
      </p:sp>
      <p:sp>
        <p:nvSpPr>
          <p:cNvPr id="8" name="Shape 6"/>
          <p:cNvSpPr/>
          <p:nvPr/>
        </p:nvSpPr>
        <p:spPr>
          <a:xfrm>
            <a:off x="3666744"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3666744"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11.3 Booking &amp; đo lường</a:t>
            </a:r>
            <a:endParaRPr lang="en-US" sz="1000" dirty="0"/>
          </a:p>
        </p:txBody>
      </p:sp>
      <p:sp>
        <p:nvSpPr>
          <p:cNvPr id="10" name="Shape 8"/>
          <p:cNvSpPr/>
          <p:nvPr/>
        </p:nvSpPr>
        <p:spPr>
          <a:xfrm>
            <a:off x="5820156" y="274320"/>
            <a:ext cx="1421892"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5820156"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11.4 Khuếch đại</a:t>
            </a:r>
            <a:endParaRPr lang="en-US" sz="1000" dirty="0"/>
          </a:p>
        </p:txBody>
      </p:sp>
      <p:sp>
        <p:nvSpPr>
          <p:cNvPr id="12" name="Shape 10"/>
          <p:cNvSpPr/>
          <p:nvPr/>
        </p:nvSpPr>
        <p:spPr>
          <a:xfrm>
            <a:off x="7351776" y="274320"/>
            <a:ext cx="877824" cy="292608"/>
          </a:xfrm>
          <a:prstGeom prst="roundRect">
            <a:avLst>
              <a:gd name="adj" fmla="val 50000"/>
            </a:avLst>
          </a:prstGeom>
          <a:solidFill>
            <a:srgbClr val="FBFAF4"/>
          </a:solidFill>
          <a:ln w="9525">
            <a:solidFill>
              <a:srgbClr val="DCD7C8"/>
            </a:solidFill>
            <a:prstDash val="solid"/>
          </a:ln>
        </p:spPr>
      </p:sp>
      <p:sp>
        <p:nvSpPr>
          <p:cNvPr id="13" name="Text 11"/>
          <p:cNvSpPr txBox="1"/>
          <p:nvPr/>
        </p:nvSpPr>
        <p:spPr>
          <a:xfrm>
            <a:off x="735177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4" name="Shape 12"/>
          <p:cNvSpPr/>
          <p:nvPr/>
        </p:nvSpPr>
        <p:spPr>
          <a:xfrm>
            <a:off x="11259007" y="219456"/>
            <a:ext cx="384048" cy="384048"/>
          </a:xfrm>
          <a:prstGeom prst="ellipse">
            <a:avLst/>
          </a:prstGeom>
          <a:ln w="12700">
            <a:solidFill>
              <a:srgbClr val="09A1E5"/>
            </a:solidFill>
            <a:prstDash val="solid"/>
          </a:ln>
        </p:spPr>
      </p:sp>
      <p:sp>
        <p:nvSpPr>
          <p:cNvPr id="15" name="Shape 13"/>
          <p:cNvSpPr/>
          <p:nvPr/>
        </p:nvSpPr>
        <p:spPr>
          <a:xfrm>
            <a:off x="11324295" y="284744"/>
            <a:ext cx="253472" cy="253472"/>
          </a:xfrm>
          <a:prstGeom prst="ellipse">
            <a:avLst/>
          </a:prstGeom>
          <a:ln w="15875">
            <a:solidFill>
              <a:srgbClr val="962B7C"/>
            </a:solidFill>
            <a:prstDash val="solid"/>
          </a:ln>
        </p:spPr>
      </p:sp>
      <p:sp>
        <p:nvSpPr>
          <p:cNvPr id="16" name="Shape 14"/>
          <p:cNvSpPr/>
          <p:nvPr/>
        </p:nvSpPr>
        <p:spPr>
          <a:xfrm>
            <a:off x="11389584" y="350032"/>
            <a:ext cx="122895" cy="122895"/>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Influencer marketing là trả công cho người khác nói về mình</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X01: Campbell &amp; Farrell (2020), Business Horizons · X05: LuatVietnam; Thanh Niên (12/11/2025) — Luật Quảng cáo sửa đổi, hiệu lực 1/1/2026.</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11   3</a:t>
            </a:r>
            <a:endParaRPr lang="en-US" sz="1000" dirty="0"/>
          </a:p>
        </p:txBody>
      </p:sp>
      <p:sp>
        <p:nvSpPr>
          <p:cNvPr id="21" name="Shape 18"/>
          <p:cNvSpPr/>
          <p:nvPr/>
        </p:nvSpPr>
        <p:spPr>
          <a:xfrm>
            <a:off x="548640" y="1920240"/>
            <a:ext cx="11094415" cy="1920240"/>
          </a:xfrm>
          <a:prstGeom prst="roundRect">
            <a:avLst>
              <a:gd name="adj" fmla="val 5714"/>
            </a:avLst>
          </a:prstGeom>
          <a:solidFill>
            <a:srgbClr val="F1E1EE"/>
          </a:solidFill>
          <a:ln w="12700">
            <a:solidFill>
              <a:srgbClr val="962B7C"/>
            </a:solidFill>
            <a:prstDash val="solid"/>
          </a:ln>
        </p:spPr>
      </p:sp>
      <p:sp>
        <p:nvSpPr>
          <p:cNvPr id="22" name="Text 19"/>
          <p:cNvSpPr txBox="1"/>
          <p:nvPr/>
        </p:nvSpPr>
        <p:spPr>
          <a:xfrm>
            <a:off x="914400" y="1920240"/>
            <a:ext cx="10362895" cy="1920240"/>
          </a:xfrm>
          <a:prstGeom prst="rect">
            <a:avLst/>
          </a:prstGeom>
          <a:noFill/>
          <a:ln/>
        </p:spPr>
        <p:txBody>
          <a:bodyPr wrap="square" lIns="0" tIns="0" rIns="0" bIns="0" rtlCol="0" anchor="ctr"/>
          <a:lstStyle/>
          <a:p>
            <a:pPr indent="0" marL="0">
              <a:spcAft>
                <a:spcPts val="800"/>
              </a:spcAft>
              <a:buNone/>
            </a:pPr>
            <a:r>
              <a:rPr lang="en-US" sz="2200" i="1" dirty="0">
                <a:solidFill>
                  <a:srgbClr val="2A2238"/>
                </a:solidFill>
                <a:latin typeface="Alexandria" pitchFamily="34" charset="0"/>
                <a:ea typeface="Alexandria" pitchFamily="34" charset="-122"/>
                <a:cs typeface="Alexandria" pitchFamily="34" charset="-120"/>
              </a:rPr>
              <a:t>“Influencer marketing is the practice of </a:t>
            </a:r>
            <a:pPr indent="0" marL="0">
              <a:spcAft>
                <a:spcPts val="800"/>
              </a:spcAft>
              <a:buNone/>
            </a:pPr>
            <a:r>
              <a:rPr lang="en-US" sz="2200" b="1" i="1" dirty="0">
                <a:solidFill>
                  <a:srgbClr val="962B7C"/>
                </a:solidFill>
                <a:latin typeface="Alexandria" pitchFamily="34" charset="0"/>
                <a:ea typeface="Alexandria" pitchFamily="34" charset="-122"/>
                <a:cs typeface="Alexandria" pitchFamily="34" charset="-120"/>
              </a:rPr>
              <a:t>compensating</a:t>
            </a:r>
            <a:pPr indent="0" marL="0">
              <a:spcAft>
                <a:spcPts val="800"/>
              </a:spcAft>
              <a:buNone/>
            </a:pPr>
            <a:r>
              <a:rPr lang="en-US" sz="2200" i="1" dirty="0">
                <a:solidFill>
                  <a:srgbClr val="2A2238"/>
                </a:solidFill>
                <a:latin typeface="Alexandria" pitchFamily="34" charset="0"/>
                <a:ea typeface="Alexandria" pitchFamily="34" charset="-122"/>
                <a:cs typeface="Alexandria" pitchFamily="34" charset="-120"/>
              </a:rPr>
              <a:t> individuals for posting about a product or service on social media.”</a:t>
            </a:r>
            <a:endParaRPr lang="en-US" sz="2200" dirty="0"/>
          </a:p>
          <a:p>
            <a:pPr indent="0" marL="0">
              <a:spcAft>
                <a:spcPts val="800"/>
              </a:spcAft>
              <a:buNone/>
            </a:pPr>
            <a:r>
              <a:rPr lang="en-US" sz="1300" dirty="0">
                <a:solidFill>
                  <a:srgbClr val="6E6878"/>
                </a:solidFill>
                <a:latin typeface="Alexandria" pitchFamily="34" charset="0"/>
                <a:ea typeface="Alexandria" pitchFamily="34" charset="-122"/>
                <a:cs typeface="Alexandria" pitchFamily="34" charset="-120"/>
              </a:rPr>
              <a:t>— Campbell &amp; Farrell (2020)</a:t>
            </a:r>
            <a:endParaRPr lang="en-US" sz="2200" dirty="0"/>
          </a:p>
        </p:txBody>
      </p:sp>
      <p:sp>
        <p:nvSpPr>
          <p:cNvPr id="23" name="Shape 20"/>
          <p:cNvSpPr/>
          <p:nvPr/>
        </p:nvSpPr>
        <p:spPr>
          <a:xfrm>
            <a:off x="548640" y="4114800"/>
            <a:ext cx="3108960" cy="1874520"/>
          </a:xfrm>
          <a:prstGeom prst="roundRect">
            <a:avLst>
              <a:gd name="adj" fmla="val 5854"/>
            </a:avLst>
          </a:prstGeom>
          <a:solidFill>
            <a:srgbClr val="FFD23B"/>
          </a:solidFill>
          <a:ln w="12700">
            <a:solidFill>
              <a:srgbClr val="FFD23B"/>
            </a:solidFill>
            <a:prstDash val="solid"/>
          </a:ln>
        </p:spPr>
      </p:sp>
      <p:sp>
        <p:nvSpPr>
          <p:cNvPr id="24" name="Text 21"/>
          <p:cNvSpPr txBox="1"/>
          <p:nvPr/>
        </p:nvSpPr>
        <p:spPr>
          <a:xfrm>
            <a:off x="822960" y="4114800"/>
            <a:ext cx="2560320" cy="187452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Từ</a:t>
            </a:r>
            <a:endParaRPr lang="en-US" sz="1500" dirty="0"/>
          </a:p>
          <a:p>
            <a:pPr indent="0" marL="0">
              <a:buNone/>
            </a:pPr>
            <a:r>
              <a:rPr lang="en-US" sz="3400" b="1" dirty="0">
                <a:solidFill>
                  <a:srgbClr val="2A2238"/>
                </a:solidFill>
                <a:latin typeface="Alexandria" pitchFamily="34" charset="0"/>
                <a:ea typeface="Alexandria" pitchFamily="34" charset="-122"/>
                <a:cs typeface="Alexandria" pitchFamily="34" charset="-120"/>
              </a:rPr>
              <a:t>1/1/2026</a:t>
            </a:r>
            <a:endParaRPr lang="en-US" sz="1500" dirty="0"/>
          </a:p>
        </p:txBody>
      </p:sp>
      <p:sp>
        <p:nvSpPr>
          <p:cNvPr id="25" name="Shape 22"/>
          <p:cNvSpPr/>
          <p:nvPr/>
        </p:nvSpPr>
        <p:spPr>
          <a:xfrm>
            <a:off x="3931920" y="4114800"/>
            <a:ext cx="7711135" cy="1874520"/>
          </a:xfrm>
          <a:prstGeom prst="roundRect">
            <a:avLst>
              <a:gd name="adj" fmla="val 5854"/>
            </a:avLst>
          </a:prstGeom>
          <a:solidFill>
            <a:srgbClr val="FFFFFF"/>
          </a:solidFill>
          <a:ln w="12700">
            <a:solidFill>
              <a:srgbClr val="DCD7C8"/>
            </a:solidFill>
            <a:prstDash val="solid"/>
          </a:ln>
        </p:spPr>
      </p:sp>
      <p:sp>
        <p:nvSpPr>
          <p:cNvPr id="26" name="Text 23"/>
          <p:cNvSpPr txBox="1"/>
          <p:nvPr/>
        </p:nvSpPr>
        <p:spPr>
          <a:xfrm>
            <a:off x="4206240" y="4114800"/>
            <a:ext cx="7162495" cy="1874520"/>
          </a:xfrm>
          <a:prstGeom prst="rect">
            <a:avLst/>
          </a:prstGeom>
          <a:noFill/>
          <a:ln/>
        </p:spPr>
        <p:txBody>
          <a:bodyPr wrap="square" lIns="0" tIns="0" rIns="0" bIns="0" rtlCol="0" anchor="ctr"/>
          <a:lstStyle/>
          <a:p>
            <a:pPr indent="0" marL="0">
              <a:buNone/>
            </a:pPr>
            <a:r>
              <a:rPr lang="en-US" sz="1800" dirty="0">
                <a:solidFill>
                  <a:srgbClr val="2A2238"/>
                </a:solidFill>
                <a:latin typeface="Alexandria" pitchFamily="34" charset="0"/>
                <a:ea typeface="Alexandria" pitchFamily="34" charset="-122"/>
                <a:cs typeface="Alexandria" pitchFamily="34" charset="-120"/>
              </a:rPr>
              <a:t>Ở Việt Nam, KOL nhận tiền quảng cáo là </a:t>
            </a:r>
            <a:pPr indent="0" marL="0">
              <a:buNone/>
            </a:pPr>
            <a:r>
              <a:rPr lang="en-US" sz="1800" b="1" dirty="0">
                <a:solidFill>
                  <a:srgbClr val="2A2238"/>
                </a:solidFill>
                <a:latin typeface="Alexandria" pitchFamily="34" charset="0"/>
                <a:ea typeface="Alexandria" pitchFamily="34" charset="-122"/>
                <a:cs typeface="Alexandria" pitchFamily="34" charset="-120"/>
              </a:rPr>
              <a:t>“người chuyển tải sản phẩm quảng cáo”</a:t>
            </a:r>
            <a:pPr indent="0" marL="0">
              <a:buNone/>
            </a:pPr>
            <a:r>
              <a:rPr lang="en-US" sz="1800" dirty="0">
                <a:solidFill>
                  <a:srgbClr val="2A2238"/>
                </a:solidFill>
                <a:latin typeface="Alexandria" pitchFamily="34" charset="0"/>
                <a:ea typeface="Alexandria" pitchFamily="34" charset="-122"/>
                <a:cs typeface="Alexandria" pitchFamily="34" charset="-120"/>
              </a:rPr>
              <a:t> — có nghĩa vụ pháp lý riêng (Luật Quảng cáo sửa đổi).</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877824"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11.1 KOL</a:t>
            </a:r>
            <a:endParaRPr lang="en-US" sz="1000" dirty="0"/>
          </a:p>
        </p:txBody>
      </p:sp>
      <p:sp>
        <p:nvSpPr>
          <p:cNvPr id="6" name="Shape 4"/>
          <p:cNvSpPr/>
          <p:nvPr/>
        </p:nvSpPr>
        <p:spPr>
          <a:xfrm>
            <a:off x="2368296"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368296"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11.2 Báo chí</a:t>
            </a:r>
            <a:endParaRPr lang="en-US" sz="1000" dirty="0"/>
          </a:p>
        </p:txBody>
      </p:sp>
      <p:sp>
        <p:nvSpPr>
          <p:cNvPr id="8" name="Shape 6"/>
          <p:cNvSpPr/>
          <p:nvPr/>
        </p:nvSpPr>
        <p:spPr>
          <a:xfrm>
            <a:off x="3666744"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3666744"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11.3 Booking &amp; đo lường</a:t>
            </a:r>
            <a:endParaRPr lang="en-US" sz="1000" dirty="0"/>
          </a:p>
        </p:txBody>
      </p:sp>
      <p:sp>
        <p:nvSpPr>
          <p:cNvPr id="10" name="Shape 8"/>
          <p:cNvSpPr/>
          <p:nvPr/>
        </p:nvSpPr>
        <p:spPr>
          <a:xfrm>
            <a:off x="5820156" y="274320"/>
            <a:ext cx="1421892"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5820156"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11.4 Khuếch đại</a:t>
            </a:r>
            <a:endParaRPr lang="en-US" sz="1000" dirty="0"/>
          </a:p>
        </p:txBody>
      </p:sp>
      <p:sp>
        <p:nvSpPr>
          <p:cNvPr id="12" name="Shape 10"/>
          <p:cNvSpPr/>
          <p:nvPr/>
        </p:nvSpPr>
        <p:spPr>
          <a:xfrm>
            <a:off x="7351776" y="274320"/>
            <a:ext cx="877824" cy="292608"/>
          </a:xfrm>
          <a:prstGeom prst="roundRect">
            <a:avLst>
              <a:gd name="adj" fmla="val 50000"/>
            </a:avLst>
          </a:prstGeom>
          <a:solidFill>
            <a:srgbClr val="FBFAF4"/>
          </a:solidFill>
          <a:ln w="9525">
            <a:solidFill>
              <a:srgbClr val="DCD7C8"/>
            </a:solidFill>
            <a:prstDash val="solid"/>
          </a:ln>
        </p:spPr>
      </p:sp>
      <p:sp>
        <p:nvSpPr>
          <p:cNvPr id="13" name="Text 11"/>
          <p:cNvSpPr txBox="1"/>
          <p:nvPr/>
        </p:nvSpPr>
        <p:spPr>
          <a:xfrm>
            <a:off x="735177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4" name="Shape 12"/>
          <p:cNvSpPr/>
          <p:nvPr/>
        </p:nvSpPr>
        <p:spPr>
          <a:xfrm>
            <a:off x="11259007" y="219456"/>
            <a:ext cx="384048" cy="384048"/>
          </a:xfrm>
          <a:prstGeom prst="ellipse">
            <a:avLst/>
          </a:prstGeom>
          <a:ln w="12700">
            <a:solidFill>
              <a:srgbClr val="09A1E5"/>
            </a:solidFill>
            <a:prstDash val="solid"/>
          </a:ln>
        </p:spPr>
      </p:sp>
      <p:sp>
        <p:nvSpPr>
          <p:cNvPr id="15" name="Shape 13"/>
          <p:cNvSpPr/>
          <p:nvPr/>
        </p:nvSpPr>
        <p:spPr>
          <a:xfrm>
            <a:off x="11324295" y="284744"/>
            <a:ext cx="253472" cy="253472"/>
          </a:xfrm>
          <a:prstGeom prst="ellipse">
            <a:avLst/>
          </a:prstGeom>
          <a:ln w="15875">
            <a:solidFill>
              <a:srgbClr val="962B7C"/>
            </a:solidFill>
            <a:prstDash val="solid"/>
          </a:ln>
        </p:spPr>
      </p:sp>
      <p:sp>
        <p:nvSpPr>
          <p:cNvPr id="16" name="Shape 14"/>
          <p:cNvSpPr/>
          <p:nvPr/>
        </p:nvSpPr>
        <p:spPr>
          <a:xfrm>
            <a:off x="11389584" y="350032"/>
            <a:ext cx="122895" cy="122895"/>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Quy mô chỉ là khoảng tham khảo</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X04: HypeAuditor (2025), The state of influencer marketing — chưa kiểm chứng chéo.</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11   4</a:t>
            </a:r>
            <a:endParaRPr lang="en-US" sz="1000" dirty="0"/>
          </a:p>
        </p:txBody>
      </p:sp>
      <p:sp>
        <p:nvSpPr>
          <p:cNvPr id="21" name="Shape 18"/>
          <p:cNvSpPr/>
          <p:nvPr/>
        </p:nvSpPr>
        <p:spPr>
          <a:xfrm>
            <a:off x="548640" y="3931920"/>
            <a:ext cx="1493444" cy="1188720"/>
          </a:xfrm>
          <a:prstGeom prst="rect">
            <a:avLst/>
          </a:prstGeom>
          <a:solidFill>
            <a:srgbClr val="49B296"/>
          </a:solidFill>
          <a:ln w="12700">
            <a:solidFill>
              <a:srgbClr val="49B296"/>
            </a:solidFill>
            <a:prstDash val="solid"/>
          </a:ln>
        </p:spPr>
      </p:sp>
      <p:sp>
        <p:nvSpPr>
          <p:cNvPr id="22" name="Text 19"/>
          <p:cNvSpPr txBox="1"/>
          <p:nvPr/>
        </p:nvSpPr>
        <p:spPr>
          <a:xfrm>
            <a:off x="548640" y="4023360"/>
            <a:ext cx="1493444"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~1k–10k</a:t>
            </a:r>
            <a:endParaRPr lang="en-US" sz="1300" dirty="0"/>
          </a:p>
        </p:txBody>
      </p:sp>
      <p:sp>
        <p:nvSpPr>
          <p:cNvPr id="23" name="Text 20"/>
          <p:cNvSpPr txBox="1"/>
          <p:nvPr/>
        </p:nvSpPr>
        <p:spPr>
          <a:xfrm>
            <a:off x="548640" y="5212080"/>
            <a:ext cx="1493444" cy="365760"/>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Nano</a:t>
            </a:r>
            <a:endParaRPr lang="en-US" sz="1400" dirty="0"/>
          </a:p>
        </p:txBody>
      </p:sp>
      <p:sp>
        <p:nvSpPr>
          <p:cNvPr id="24" name="Text 21"/>
          <p:cNvSpPr txBox="1"/>
          <p:nvPr/>
        </p:nvSpPr>
        <p:spPr>
          <a:xfrm>
            <a:off x="548640" y="5577840"/>
            <a:ext cx="1493444" cy="457200"/>
          </a:xfrm>
          <a:prstGeom prst="rect">
            <a:avLst/>
          </a:prstGeom>
          <a:noFill/>
          <a:ln/>
        </p:spPr>
        <p:txBody>
          <a:bodyPr wrap="square" lIns="0" tIns="0" rIns="0" bIns="0" rtlCol="0" anchor="t"/>
          <a:lstStyle/>
          <a:p>
            <a:pPr algn="ctr" indent="0" marL="0">
              <a:buNone/>
            </a:pPr>
            <a:r>
              <a:rPr lang="en-US" sz="1100" dirty="0">
                <a:solidFill>
                  <a:srgbClr val="6E6878"/>
                </a:solidFill>
                <a:latin typeface="Alexandria" pitchFamily="34" charset="0"/>
                <a:ea typeface="Alexandria" pitchFamily="34" charset="-122"/>
                <a:cs typeface="Alexandria" pitchFamily="34" charset="-120"/>
              </a:rPr>
              <a:t>Gần gũi, tương tác cao</a:t>
            </a:r>
            <a:endParaRPr lang="en-US" sz="1100" dirty="0"/>
          </a:p>
        </p:txBody>
      </p:sp>
      <p:sp>
        <p:nvSpPr>
          <p:cNvPr id="25" name="Shape 22"/>
          <p:cNvSpPr/>
          <p:nvPr/>
        </p:nvSpPr>
        <p:spPr>
          <a:xfrm>
            <a:off x="2224964" y="3383280"/>
            <a:ext cx="1493444" cy="1737360"/>
          </a:xfrm>
          <a:prstGeom prst="rect">
            <a:avLst/>
          </a:prstGeom>
          <a:solidFill>
            <a:srgbClr val="09A1E5"/>
          </a:solidFill>
          <a:ln w="12700">
            <a:solidFill>
              <a:srgbClr val="09A1E5"/>
            </a:solidFill>
            <a:prstDash val="solid"/>
          </a:ln>
        </p:spPr>
      </p:sp>
      <p:sp>
        <p:nvSpPr>
          <p:cNvPr id="26" name="Text 23"/>
          <p:cNvSpPr txBox="1"/>
          <p:nvPr/>
        </p:nvSpPr>
        <p:spPr>
          <a:xfrm>
            <a:off x="2224964" y="3474720"/>
            <a:ext cx="1493444"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~10k–100k</a:t>
            </a:r>
            <a:endParaRPr lang="en-US" sz="1300" dirty="0"/>
          </a:p>
        </p:txBody>
      </p:sp>
      <p:sp>
        <p:nvSpPr>
          <p:cNvPr id="27" name="Text 24"/>
          <p:cNvSpPr txBox="1"/>
          <p:nvPr/>
        </p:nvSpPr>
        <p:spPr>
          <a:xfrm>
            <a:off x="2224964" y="5212080"/>
            <a:ext cx="1493444" cy="365760"/>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Micro</a:t>
            </a:r>
            <a:endParaRPr lang="en-US" sz="1400" dirty="0"/>
          </a:p>
        </p:txBody>
      </p:sp>
      <p:sp>
        <p:nvSpPr>
          <p:cNvPr id="28" name="Text 25"/>
          <p:cNvSpPr txBox="1"/>
          <p:nvPr/>
        </p:nvSpPr>
        <p:spPr>
          <a:xfrm>
            <a:off x="2224964" y="5577840"/>
            <a:ext cx="1493444" cy="457200"/>
          </a:xfrm>
          <a:prstGeom prst="rect">
            <a:avLst/>
          </a:prstGeom>
          <a:noFill/>
          <a:ln/>
        </p:spPr>
        <p:txBody>
          <a:bodyPr wrap="square" lIns="0" tIns="0" rIns="0" bIns="0" rtlCol="0" anchor="t"/>
          <a:lstStyle/>
          <a:p>
            <a:pPr algn="ctr" indent="0" marL="0">
              <a:buNone/>
            </a:pPr>
            <a:r>
              <a:rPr lang="en-US" sz="1100" dirty="0">
                <a:solidFill>
                  <a:srgbClr val="6E6878"/>
                </a:solidFill>
                <a:latin typeface="Alexandria" pitchFamily="34" charset="0"/>
                <a:ea typeface="Alexandria" pitchFamily="34" charset="-122"/>
                <a:cs typeface="Alexandria" pitchFamily="34" charset="-120"/>
              </a:rPr>
              <a:t>Cộng đồng ngách</a:t>
            </a:r>
            <a:endParaRPr lang="en-US" sz="1100" dirty="0"/>
          </a:p>
        </p:txBody>
      </p:sp>
      <p:sp>
        <p:nvSpPr>
          <p:cNvPr id="29" name="Shape 26"/>
          <p:cNvSpPr/>
          <p:nvPr/>
        </p:nvSpPr>
        <p:spPr>
          <a:xfrm>
            <a:off x="3901288" y="2834640"/>
            <a:ext cx="1493444" cy="2286000"/>
          </a:xfrm>
          <a:prstGeom prst="rect">
            <a:avLst/>
          </a:prstGeom>
          <a:solidFill>
            <a:srgbClr val="962B7C"/>
          </a:solidFill>
          <a:ln w="12700">
            <a:solidFill>
              <a:srgbClr val="962B7C"/>
            </a:solidFill>
            <a:prstDash val="solid"/>
          </a:ln>
        </p:spPr>
      </p:sp>
      <p:sp>
        <p:nvSpPr>
          <p:cNvPr id="30" name="Text 27"/>
          <p:cNvSpPr txBox="1"/>
          <p:nvPr/>
        </p:nvSpPr>
        <p:spPr>
          <a:xfrm>
            <a:off x="3901288" y="2926080"/>
            <a:ext cx="1493444"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~100k–1 triệu</a:t>
            </a:r>
            <a:endParaRPr lang="en-US" sz="1300" dirty="0"/>
          </a:p>
        </p:txBody>
      </p:sp>
      <p:sp>
        <p:nvSpPr>
          <p:cNvPr id="31" name="Text 28"/>
          <p:cNvSpPr txBox="1"/>
          <p:nvPr/>
        </p:nvSpPr>
        <p:spPr>
          <a:xfrm>
            <a:off x="3901288" y="5212080"/>
            <a:ext cx="1493444" cy="365760"/>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Macro</a:t>
            </a:r>
            <a:endParaRPr lang="en-US" sz="1400" dirty="0"/>
          </a:p>
        </p:txBody>
      </p:sp>
      <p:sp>
        <p:nvSpPr>
          <p:cNvPr id="32" name="Text 29"/>
          <p:cNvSpPr txBox="1"/>
          <p:nvPr/>
        </p:nvSpPr>
        <p:spPr>
          <a:xfrm>
            <a:off x="3901288" y="5577840"/>
            <a:ext cx="1493444" cy="457200"/>
          </a:xfrm>
          <a:prstGeom prst="rect">
            <a:avLst/>
          </a:prstGeom>
          <a:noFill/>
          <a:ln/>
        </p:spPr>
        <p:txBody>
          <a:bodyPr wrap="square" lIns="0" tIns="0" rIns="0" bIns="0" rtlCol="0" anchor="t"/>
          <a:lstStyle/>
          <a:p>
            <a:pPr algn="ctr" indent="0" marL="0">
              <a:buNone/>
            </a:pPr>
            <a:r>
              <a:rPr lang="en-US" sz="1100" dirty="0">
                <a:solidFill>
                  <a:srgbClr val="6E6878"/>
                </a:solidFill>
                <a:latin typeface="Alexandria" pitchFamily="34" charset="0"/>
                <a:ea typeface="Alexandria" pitchFamily="34" charset="-122"/>
                <a:cs typeface="Alexandria" pitchFamily="34" charset="-120"/>
              </a:rPr>
              <a:t>Độ phủ lớn</a:t>
            </a:r>
            <a:endParaRPr lang="en-US" sz="1100" dirty="0"/>
          </a:p>
        </p:txBody>
      </p:sp>
      <p:sp>
        <p:nvSpPr>
          <p:cNvPr id="33" name="Shape 30"/>
          <p:cNvSpPr/>
          <p:nvPr/>
        </p:nvSpPr>
        <p:spPr>
          <a:xfrm>
            <a:off x="5577611" y="2286000"/>
            <a:ext cx="1493444" cy="2834640"/>
          </a:xfrm>
          <a:prstGeom prst="rect">
            <a:avLst/>
          </a:prstGeom>
          <a:solidFill>
            <a:srgbClr val="FF5178"/>
          </a:solidFill>
          <a:ln w="12700">
            <a:solidFill>
              <a:srgbClr val="FF5178"/>
            </a:solidFill>
            <a:prstDash val="solid"/>
          </a:ln>
        </p:spPr>
      </p:sp>
      <p:sp>
        <p:nvSpPr>
          <p:cNvPr id="34" name="Text 31"/>
          <p:cNvSpPr txBox="1"/>
          <p:nvPr/>
        </p:nvSpPr>
        <p:spPr>
          <a:xfrm>
            <a:off x="5577611" y="2377440"/>
            <a:ext cx="1493444"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&gt; 1 triệu</a:t>
            </a:r>
            <a:endParaRPr lang="en-US" sz="1300" dirty="0"/>
          </a:p>
        </p:txBody>
      </p:sp>
      <p:sp>
        <p:nvSpPr>
          <p:cNvPr id="35" name="Text 32"/>
          <p:cNvSpPr txBox="1"/>
          <p:nvPr/>
        </p:nvSpPr>
        <p:spPr>
          <a:xfrm>
            <a:off x="5577611" y="5212080"/>
            <a:ext cx="1493444" cy="365760"/>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Mega</a:t>
            </a:r>
            <a:endParaRPr lang="en-US" sz="1400" dirty="0"/>
          </a:p>
        </p:txBody>
      </p:sp>
      <p:sp>
        <p:nvSpPr>
          <p:cNvPr id="36" name="Text 33"/>
          <p:cNvSpPr txBox="1"/>
          <p:nvPr/>
        </p:nvSpPr>
        <p:spPr>
          <a:xfrm>
            <a:off x="5577611" y="5577840"/>
            <a:ext cx="1493444" cy="457200"/>
          </a:xfrm>
          <a:prstGeom prst="rect">
            <a:avLst/>
          </a:prstGeom>
          <a:noFill/>
          <a:ln/>
        </p:spPr>
        <p:txBody>
          <a:bodyPr wrap="square" lIns="0" tIns="0" rIns="0" bIns="0" rtlCol="0" anchor="t"/>
          <a:lstStyle/>
          <a:p>
            <a:pPr algn="ctr" indent="0" marL="0">
              <a:buNone/>
            </a:pPr>
            <a:r>
              <a:rPr lang="en-US" sz="1100" dirty="0">
                <a:solidFill>
                  <a:srgbClr val="6E6878"/>
                </a:solidFill>
                <a:latin typeface="Alexandria" pitchFamily="34" charset="0"/>
                <a:ea typeface="Alexandria" pitchFamily="34" charset="-122"/>
                <a:cs typeface="Alexandria" pitchFamily="34" charset="-120"/>
              </a:rPr>
              <a:t>Người nổi tiếng · nhận biết rộng</a:t>
            </a:r>
            <a:endParaRPr lang="en-US" sz="1100" dirty="0"/>
          </a:p>
        </p:txBody>
      </p:sp>
      <p:sp>
        <p:nvSpPr>
          <p:cNvPr id="37" name="Shape 34"/>
          <p:cNvSpPr/>
          <p:nvPr/>
        </p:nvSpPr>
        <p:spPr>
          <a:xfrm>
            <a:off x="7619695" y="1874520"/>
            <a:ext cx="4023360" cy="1828800"/>
          </a:xfrm>
          <a:prstGeom prst="roundRect">
            <a:avLst>
              <a:gd name="adj" fmla="val 6000"/>
            </a:avLst>
          </a:prstGeom>
          <a:solidFill>
            <a:srgbClr val="FFF3C4"/>
          </a:solidFill>
          <a:ln w="12700">
            <a:solidFill>
              <a:srgbClr val="FFD23B"/>
            </a:solidFill>
            <a:prstDash val="solid"/>
          </a:ln>
        </p:spPr>
      </p:sp>
      <p:sp>
        <p:nvSpPr>
          <p:cNvPr id="38" name="Text 35"/>
          <p:cNvSpPr txBox="1"/>
          <p:nvPr/>
        </p:nvSpPr>
        <p:spPr>
          <a:xfrm>
            <a:off x="7894015" y="1874520"/>
            <a:ext cx="3474720" cy="182880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Ngưỡng khác nhau giữa các nguồn — chỉ để tham khảo.</a:t>
            </a:r>
            <a:endParaRPr lang="en-US" sz="1700" dirty="0"/>
          </a:p>
        </p:txBody>
      </p:sp>
      <p:sp>
        <p:nvSpPr>
          <p:cNvPr id="39" name="Shape 36"/>
          <p:cNvSpPr/>
          <p:nvPr/>
        </p:nvSpPr>
        <p:spPr>
          <a:xfrm>
            <a:off x="7619695" y="3931920"/>
            <a:ext cx="4023360" cy="2103120"/>
          </a:xfrm>
          <a:prstGeom prst="roundRect">
            <a:avLst>
              <a:gd name="adj" fmla="val 5217"/>
            </a:avLst>
          </a:prstGeom>
          <a:solidFill>
            <a:srgbClr val="FFE4EA"/>
          </a:solidFill>
          <a:ln w="12700">
            <a:solidFill>
              <a:srgbClr val="FF5178"/>
            </a:solidFill>
            <a:prstDash val="solid"/>
          </a:ln>
        </p:spPr>
      </p:sp>
      <p:sp>
        <p:nvSpPr>
          <p:cNvPr id="40" name="Text 37"/>
          <p:cNvSpPr txBox="1"/>
          <p:nvPr/>
        </p:nvSpPr>
        <p:spPr>
          <a:xfrm>
            <a:off x="7894015" y="4023360"/>
            <a:ext cx="3474720" cy="45720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Cùng một báo cáo, ER của nano TikTok:</a:t>
            </a:r>
            <a:endParaRPr lang="en-US" sz="1400" dirty="0"/>
          </a:p>
        </p:txBody>
      </p:sp>
      <p:sp>
        <p:nvSpPr>
          <p:cNvPr id="41" name="Text 38"/>
          <p:cNvSpPr txBox="1"/>
          <p:nvPr/>
        </p:nvSpPr>
        <p:spPr>
          <a:xfrm>
            <a:off x="7894015" y="4480560"/>
            <a:ext cx="3474720" cy="731520"/>
          </a:xfrm>
          <a:prstGeom prst="rect">
            <a:avLst/>
          </a:prstGeom>
          <a:noFill/>
          <a:ln/>
        </p:spPr>
        <p:txBody>
          <a:bodyPr wrap="square" lIns="0" tIns="0" rIns="0" bIns="0" rtlCol="0" anchor="ctr"/>
          <a:lstStyle/>
          <a:p>
            <a:pPr indent="0" marL="0">
              <a:buNone/>
            </a:pPr>
            <a:r>
              <a:rPr lang="en-US" sz="3200" b="1" dirty="0">
                <a:solidFill>
                  <a:srgbClr val="E03A62"/>
                </a:solidFill>
                <a:latin typeface="Alexandria" pitchFamily="34" charset="0"/>
                <a:ea typeface="Alexandria" pitchFamily="34" charset="-122"/>
                <a:cs typeface="Alexandria" pitchFamily="34" charset="-120"/>
              </a:rPr>
              <a:t>10,3%</a:t>
            </a:r>
            <a:pPr indent="0" marL="0">
              <a:buNone/>
            </a:pPr>
            <a:r>
              <a:rPr lang="en-US" sz="1600" dirty="0">
                <a:solidFill>
                  <a:srgbClr val="2A2238"/>
                </a:solidFill>
                <a:latin typeface="Alexandria" pitchFamily="34" charset="0"/>
                <a:ea typeface="Alexandria" pitchFamily="34" charset="-122"/>
                <a:cs typeface="Alexandria" pitchFamily="34" charset="-120"/>
              </a:rPr>
              <a:t>  và  </a:t>
            </a:r>
            <a:pPr indent="0" marL="0">
              <a:buNone/>
            </a:pPr>
            <a:r>
              <a:rPr lang="en-US" sz="3200" b="1" dirty="0">
                <a:solidFill>
                  <a:srgbClr val="E03A62"/>
                </a:solidFill>
                <a:latin typeface="Alexandria" pitchFamily="34" charset="0"/>
                <a:ea typeface="Alexandria" pitchFamily="34" charset="-122"/>
                <a:cs typeface="Alexandria" pitchFamily="34" charset="-120"/>
              </a:rPr>
              <a:t>11,9%</a:t>
            </a:r>
            <a:endParaRPr lang="en-US" sz="3200" dirty="0"/>
          </a:p>
        </p:txBody>
      </p:sp>
      <p:sp>
        <p:nvSpPr>
          <p:cNvPr id="42" name="Text 39"/>
          <p:cNvSpPr txBox="1"/>
          <p:nvPr/>
        </p:nvSpPr>
        <p:spPr>
          <a:xfrm>
            <a:off x="7894015" y="5257800"/>
            <a:ext cx="3474720" cy="45720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 luôn hỏi nguồn và cách tính</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877824"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11.1 KOL</a:t>
            </a:r>
            <a:endParaRPr lang="en-US" sz="1000" dirty="0"/>
          </a:p>
        </p:txBody>
      </p:sp>
      <p:sp>
        <p:nvSpPr>
          <p:cNvPr id="6" name="Shape 4"/>
          <p:cNvSpPr/>
          <p:nvPr/>
        </p:nvSpPr>
        <p:spPr>
          <a:xfrm>
            <a:off x="2368296"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368296"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11.2 Báo chí</a:t>
            </a:r>
            <a:endParaRPr lang="en-US" sz="1000" dirty="0"/>
          </a:p>
        </p:txBody>
      </p:sp>
      <p:sp>
        <p:nvSpPr>
          <p:cNvPr id="8" name="Shape 6"/>
          <p:cNvSpPr/>
          <p:nvPr/>
        </p:nvSpPr>
        <p:spPr>
          <a:xfrm>
            <a:off x="3666744"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3666744"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11.3 Booking &amp; đo lường</a:t>
            </a:r>
            <a:endParaRPr lang="en-US" sz="1000" dirty="0"/>
          </a:p>
        </p:txBody>
      </p:sp>
      <p:sp>
        <p:nvSpPr>
          <p:cNvPr id="10" name="Shape 8"/>
          <p:cNvSpPr/>
          <p:nvPr/>
        </p:nvSpPr>
        <p:spPr>
          <a:xfrm>
            <a:off x="5820156" y="274320"/>
            <a:ext cx="1421892"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5820156"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11.4 Khuếch đại</a:t>
            </a:r>
            <a:endParaRPr lang="en-US" sz="1000" dirty="0"/>
          </a:p>
        </p:txBody>
      </p:sp>
      <p:sp>
        <p:nvSpPr>
          <p:cNvPr id="12" name="Shape 10"/>
          <p:cNvSpPr/>
          <p:nvPr/>
        </p:nvSpPr>
        <p:spPr>
          <a:xfrm>
            <a:off x="7351776" y="274320"/>
            <a:ext cx="877824" cy="292608"/>
          </a:xfrm>
          <a:prstGeom prst="roundRect">
            <a:avLst>
              <a:gd name="adj" fmla="val 50000"/>
            </a:avLst>
          </a:prstGeom>
          <a:solidFill>
            <a:srgbClr val="FBFAF4"/>
          </a:solidFill>
          <a:ln w="9525">
            <a:solidFill>
              <a:srgbClr val="DCD7C8"/>
            </a:solidFill>
            <a:prstDash val="solid"/>
          </a:ln>
        </p:spPr>
      </p:sp>
      <p:sp>
        <p:nvSpPr>
          <p:cNvPr id="13" name="Text 11"/>
          <p:cNvSpPr txBox="1"/>
          <p:nvPr/>
        </p:nvSpPr>
        <p:spPr>
          <a:xfrm>
            <a:off x="735177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4" name="Shape 12"/>
          <p:cNvSpPr/>
          <p:nvPr/>
        </p:nvSpPr>
        <p:spPr>
          <a:xfrm>
            <a:off x="11259007" y="219456"/>
            <a:ext cx="384048" cy="384048"/>
          </a:xfrm>
          <a:prstGeom prst="ellipse">
            <a:avLst/>
          </a:prstGeom>
          <a:ln w="12700">
            <a:solidFill>
              <a:srgbClr val="09A1E5"/>
            </a:solidFill>
            <a:prstDash val="solid"/>
          </a:ln>
        </p:spPr>
      </p:sp>
      <p:sp>
        <p:nvSpPr>
          <p:cNvPr id="15" name="Shape 13"/>
          <p:cNvSpPr/>
          <p:nvPr/>
        </p:nvSpPr>
        <p:spPr>
          <a:xfrm>
            <a:off x="11324295" y="284744"/>
            <a:ext cx="253472" cy="253472"/>
          </a:xfrm>
          <a:prstGeom prst="ellipse">
            <a:avLst/>
          </a:prstGeom>
          <a:ln w="15875">
            <a:solidFill>
              <a:srgbClr val="962B7C"/>
            </a:solidFill>
            <a:prstDash val="solid"/>
          </a:ln>
        </p:spPr>
      </p:sp>
      <p:sp>
        <p:nvSpPr>
          <p:cNvPr id="16" name="Shape 14"/>
          <p:cNvSpPr/>
          <p:nvPr/>
        </p:nvSpPr>
        <p:spPr>
          <a:xfrm>
            <a:off x="11389584" y="350032"/>
            <a:ext cx="122895" cy="122895"/>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Câu hỏi đúng: Nova đang mua khán giả, bảo chứng hay nội dung?</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X01: Campbell &amp; Farrell (2020) · KOC và chuyên gia/diễn giả: nhận định của người soạn.</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11   5</a:t>
            </a:r>
            <a:endParaRPr lang="en-US" sz="1000" dirty="0"/>
          </a:p>
        </p:txBody>
      </p:sp>
      <p:sp>
        <p:nvSpPr>
          <p:cNvPr id="21" name="Shape 18"/>
          <p:cNvSpPr/>
          <p:nvPr/>
        </p:nvSpPr>
        <p:spPr>
          <a:xfrm>
            <a:off x="3566160" y="1783080"/>
            <a:ext cx="3474720" cy="502920"/>
          </a:xfrm>
          <a:prstGeom prst="roundRect">
            <a:avLst>
              <a:gd name="adj" fmla="val 21818"/>
            </a:avLst>
          </a:prstGeom>
          <a:solidFill>
            <a:srgbClr val="962B7C"/>
          </a:solidFill>
          <a:ln w="12700">
            <a:solidFill>
              <a:srgbClr val="962B7C"/>
            </a:solidFill>
            <a:prstDash val="solid"/>
          </a:ln>
        </p:spPr>
      </p:sp>
      <p:sp>
        <p:nvSpPr>
          <p:cNvPr id="22" name="Text 19"/>
          <p:cNvSpPr txBox="1"/>
          <p:nvPr/>
        </p:nvSpPr>
        <p:spPr>
          <a:xfrm>
            <a:off x="3730752" y="1783080"/>
            <a:ext cx="3145536" cy="50292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Nova mua gì</a:t>
            </a:r>
            <a:endParaRPr lang="en-US" sz="1500" dirty="0"/>
          </a:p>
        </p:txBody>
      </p:sp>
      <p:sp>
        <p:nvSpPr>
          <p:cNvPr id="23" name="Shape 20"/>
          <p:cNvSpPr/>
          <p:nvPr/>
        </p:nvSpPr>
        <p:spPr>
          <a:xfrm>
            <a:off x="7132320" y="1783080"/>
            <a:ext cx="4510735" cy="502920"/>
          </a:xfrm>
          <a:prstGeom prst="roundRect">
            <a:avLst>
              <a:gd name="adj" fmla="val 21818"/>
            </a:avLst>
          </a:prstGeom>
          <a:solidFill>
            <a:srgbClr val="09A1E5"/>
          </a:solidFill>
          <a:ln w="12700">
            <a:solidFill>
              <a:srgbClr val="09A1E5"/>
            </a:solidFill>
            <a:prstDash val="solid"/>
          </a:ln>
        </p:spPr>
      </p:sp>
      <p:sp>
        <p:nvSpPr>
          <p:cNvPr id="24" name="Text 21"/>
          <p:cNvSpPr txBox="1"/>
          <p:nvPr/>
        </p:nvSpPr>
        <p:spPr>
          <a:xfrm>
            <a:off x="7296912" y="1783080"/>
            <a:ext cx="4181551" cy="50292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Ví dụ với gala An Phát</a:t>
            </a:r>
            <a:endParaRPr lang="en-US" sz="1500" dirty="0"/>
          </a:p>
        </p:txBody>
      </p:sp>
      <p:sp>
        <p:nvSpPr>
          <p:cNvPr id="25" name="Shape 22"/>
          <p:cNvSpPr/>
          <p:nvPr/>
        </p:nvSpPr>
        <p:spPr>
          <a:xfrm>
            <a:off x="548640" y="2395728"/>
            <a:ext cx="11094415" cy="822960"/>
          </a:xfrm>
          <a:prstGeom prst="rect">
            <a:avLst/>
          </a:prstGeom>
          <a:solidFill>
            <a:srgbClr val="F3F0E6"/>
          </a:solidFill>
          <a:ln w="12700">
            <a:solidFill>
              <a:srgbClr val="F3F0E6"/>
            </a:solidFill>
            <a:prstDash val="solid"/>
          </a:ln>
        </p:spPr>
      </p:sp>
      <p:sp>
        <p:nvSpPr>
          <p:cNvPr id="26" name="Text 23"/>
          <p:cNvSpPr txBox="1"/>
          <p:nvPr/>
        </p:nvSpPr>
        <p:spPr>
          <a:xfrm>
            <a:off x="713232" y="2395728"/>
            <a:ext cx="2688336" cy="82296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Khán giả · audience</a:t>
            </a:r>
            <a:endParaRPr lang="en-US" sz="1500" dirty="0"/>
          </a:p>
        </p:txBody>
      </p:sp>
      <p:sp>
        <p:nvSpPr>
          <p:cNvPr id="27" name="Text 24"/>
          <p:cNvSpPr txBox="1"/>
          <p:nvPr/>
        </p:nvSpPr>
        <p:spPr>
          <a:xfrm>
            <a:off x="3730752" y="2395728"/>
            <a:ext cx="3236976" cy="82296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Tiếp cận cộng đồng người theo dõi</a:t>
            </a:r>
            <a:endParaRPr lang="en-US" sz="1500" dirty="0"/>
          </a:p>
        </p:txBody>
      </p:sp>
      <p:sp>
        <p:nvSpPr>
          <p:cNvPr id="28" name="Text 25"/>
          <p:cNvSpPr txBox="1"/>
          <p:nvPr/>
        </p:nvSpPr>
        <p:spPr>
          <a:xfrm>
            <a:off x="7296912" y="2395728"/>
            <a:ext cx="4272991" cy="82296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Ít giá trị: khách đã được mời đích danh</a:t>
            </a:r>
            <a:endParaRPr lang="en-US" sz="1500" dirty="0"/>
          </a:p>
        </p:txBody>
      </p:sp>
      <p:sp>
        <p:nvSpPr>
          <p:cNvPr id="29" name="Text 26"/>
          <p:cNvSpPr txBox="1"/>
          <p:nvPr/>
        </p:nvSpPr>
        <p:spPr>
          <a:xfrm>
            <a:off x="713232" y="3273552"/>
            <a:ext cx="2688336" cy="82296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Người bảo chứng · endorser</a:t>
            </a:r>
            <a:endParaRPr lang="en-US" sz="1500" dirty="0"/>
          </a:p>
        </p:txBody>
      </p:sp>
      <p:sp>
        <p:nvSpPr>
          <p:cNvPr id="30" name="Text 27"/>
          <p:cNvSpPr txBox="1"/>
          <p:nvPr/>
        </p:nvSpPr>
        <p:spPr>
          <a:xfrm>
            <a:off x="3730752" y="3273552"/>
            <a:ext cx="3236976" cy="82296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Uy tín của họ “đứng sau” sự kiện</a:t>
            </a:r>
            <a:endParaRPr lang="en-US" sz="1500" dirty="0"/>
          </a:p>
        </p:txBody>
      </p:sp>
      <p:sp>
        <p:nvSpPr>
          <p:cNvPr id="31" name="Text 28"/>
          <p:cNvSpPr txBox="1"/>
          <p:nvPr/>
        </p:nvSpPr>
        <p:spPr>
          <a:xfrm>
            <a:off x="7296912" y="3273552"/>
            <a:ext cx="4272991" cy="82296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Chuyên gia kinh tế làm diễn giả → CEO muốn đến</a:t>
            </a:r>
            <a:endParaRPr lang="en-US" sz="1500" dirty="0"/>
          </a:p>
        </p:txBody>
      </p:sp>
      <p:sp>
        <p:nvSpPr>
          <p:cNvPr id="32" name="Shape 29"/>
          <p:cNvSpPr/>
          <p:nvPr/>
        </p:nvSpPr>
        <p:spPr>
          <a:xfrm>
            <a:off x="548640" y="4151376"/>
            <a:ext cx="11094415" cy="822960"/>
          </a:xfrm>
          <a:prstGeom prst="rect">
            <a:avLst/>
          </a:prstGeom>
          <a:solidFill>
            <a:srgbClr val="F3F0E6"/>
          </a:solidFill>
          <a:ln w="12700">
            <a:solidFill>
              <a:srgbClr val="F3F0E6"/>
            </a:solidFill>
            <a:prstDash val="solid"/>
          </a:ln>
        </p:spPr>
      </p:sp>
      <p:sp>
        <p:nvSpPr>
          <p:cNvPr id="33" name="Text 30"/>
          <p:cNvSpPr txBox="1"/>
          <p:nvPr/>
        </p:nvSpPr>
        <p:spPr>
          <a:xfrm>
            <a:off x="713232" y="4151376"/>
            <a:ext cx="2688336" cy="82296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Người làm nội dung</a:t>
            </a:r>
            <a:endParaRPr lang="en-US" sz="1500" dirty="0"/>
          </a:p>
        </p:txBody>
      </p:sp>
      <p:sp>
        <p:nvSpPr>
          <p:cNvPr id="34" name="Text 31"/>
          <p:cNvSpPr txBox="1"/>
          <p:nvPr/>
        </p:nvSpPr>
        <p:spPr>
          <a:xfrm>
            <a:off x="3730752" y="4151376"/>
            <a:ext cx="3236976" cy="82296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Khả năng sản xuất nội dung</a:t>
            </a:r>
            <a:endParaRPr lang="en-US" sz="1500" dirty="0"/>
          </a:p>
        </p:txBody>
      </p:sp>
      <p:sp>
        <p:nvSpPr>
          <p:cNvPr id="35" name="Text 32"/>
          <p:cNvSpPr txBox="1"/>
          <p:nvPr/>
        </p:nvSpPr>
        <p:spPr>
          <a:xfrm>
            <a:off x="7296912" y="4151376"/>
            <a:ext cx="4272991" cy="82296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Video tóm tắt phiên chuyên đề gửi khách sau sự kiện</a:t>
            </a:r>
            <a:endParaRPr lang="en-US" sz="1500" dirty="0"/>
          </a:p>
        </p:txBody>
      </p:sp>
      <p:sp>
        <p:nvSpPr>
          <p:cNvPr id="36" name="Shape 33"/>
          <p:cNvSpPr/>
          <p:nvPr/>
        </p:nvSpPr>
        <p:spPr>
          <a:xfrm>
            <a:off x="548640" y="5120640"/>
            <a:ext cx="5410048" cy="868680"/>
          </a:xfrm>
          <a:prstGeom prst="roundRect">
            <a:avLst>
              <a:gd name="adj" fmla="val 12632"/>
            </a:avLst>
          </a:prstGeom>
          <a:solidFill>
            <a:srgbClr val="FFF3C4"/>
          </a:solidFill>
          <a:ln w="12700">
            <a:solidFill>
              <a:srgbClr val="FFD23B"/>
            </a:solidFill>
            <a:prstDash val="solid"/>
          </a:ln>
        </p:spPr>
      </p:sp>
      <p:sp>
        <p:nvSpPr>
          <p:cNvPr id="37" name="Text 34"/>
          <p:cNvSpPr txBox="1"/>
          <p:nvPr/>
        </p:nvSpPr>
        <p:spPr>
          <a:xfrm>
            <a:off x="822960" y="5120640"/>
            <a:ext cx="4861408" cy="8686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Bổ sung · KOC: </a:t>
            </a:r>
            <a:pPr indent="0" marL="0">
              <a:buNone/>
            </a:pPr>
            <a:r>
              <a:rPr lang="en-US" sz="1500" dirty="0">
                <a:solidFill>
                  <a:srgbClr val="2A2238"/>
                </a:solidFill>
                <a:latin typeface="Alexandria" pitchFamily="34" charset="0"/>
                <a:ea typeface="Alexandria" pitchFamily="34" charset="-122"/>
                <a:cs typeface="Alexandria" pitchFamily="34" charset="-120"/>
              </a:rPr>
              <a:t>người dùng thật chia sẻ trải nghiệm</a:t>
            </a:r>
            <a:endParaRPr lang="en-US" sz="1500" dirty="0"/>
          </a:p>
        </p:txBody>
      </p:sp>
      <p:sp>
        <p:nvSpPr>
          <p:cNvPr id="38" name="Shape 35"/>
          <p:cNvSpPr/>
          <p:nvPr/>
        </p:nvSpPr>
        <p:spPr>
          <a:xfrm>
            <a:off x="6233008" y="5120640"/>
            <a:ext cx="5410048" cy="868680"/>
          </a:xfrm>
          <a:prstGeom prst="roundRect">
            <a:avLst>
              <a:gd name="adj" fmla="val 12632"/>
            </a:avLst>
          </a:prstGeom>
          <a:solidFill>
            <a:srgbClr val="FFF3C4"/>
          </a:solidFill>
          <a:ln w="12700">
            <a:solidFill>
              <a:srgbClr val="FFD23B"/>
            </a:solidFill>
            <a:prstDash val="solid"/>
          </a:ln>
        </p:spPr>
      </p:sp>
      <p:sp>
        <p:nvSpPr>
          <p:cNvPr id="39" name="Text 36"/>
          <p:cNvSpPr txBox="1"/>
          <p:nvPr/>
        </p:nvSpPr>
        <p:spPr>
          <a:xfrm>
            <a:off x="6507328" y="5120640"/>
            <a:ext cx="4861408" cy="8686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Bổ sung · Chuyên gia / diễn giả: </a:t>
            </a:r>
            <a:pPr indent="0" marL="0">
              <a:buNone/>
            </a:pPr>
            <a:r>
              <a:rPr lang="en-US" sz="1500" dirty="0">
                <a:solidFill>
                  <a:srgbClr val="2A2238"/>
                </a:solidFill>
                <a:latin typeface="Alexandria" pitchFamily="34" charset="0"/>
                <a:ea typeface="Alexandria" pitchFamily="34" charset="-122"/>
                <a:cs typeface="Alexandria" pitchFamily="34" charset="-120"/>
              </a:rPr>
              <a:t>KOL trong giới chuyên môn — quan trọng với sự kiện B2B</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877824"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11.1 KOL</a:t>
            </a:r>
            <a:endParaRPr lang="en-US" sz="1000" dirty="0"/>
          </a:p>
        </p:txBody>
      </p:sp>
      <p:sp>
        <p:nvSpPr>
          <p:cNvPr id="6" name="Shape 4"/>
          <p:cNvSpPr/>
          <p:nvPr/>
        </p:nvSpPr>
        <p:spPr>
          <a:xfrm>
            <a:off x="2368296"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368296"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11.2 Báo chí</a:t>
            </a:r>
            <a:endParaRPr lang="en-US" sz="1000" dirty="0"/>
          </a:p>
        </p:txBody>
      </p:sp>
      <p:sp>
        <p:nvSpPr>
          <p:cNvPr id="8" name="Shape 6"/>
          <p:cNvSpPr/>
          <p:nvPr/>
        </p:nvSpPr>
        <p:spPr>
          <a:xfrm>
            <a:off x="3666744"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3666744"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11.3 Booking &amp; đo lường</a:t>
            </a:r>
            <a:endParaRPr lang="en-US" sz="1000" dirty="0"/>
          </a:p>
        </p:txBody>
      </p:sp>
      <p:sp>
        <p:nvSpPr>
          <p:cNvPr id="10" name="Shape 8"/>
          <p:cNvSpPr/>
          <p:nvPr/>
        </p:nvSpPr>
        <p:spPr>
          <a:xfrm>
            <a:off x="5820156" y="274320"/>
            <a:ext cx="1421892"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5820156"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11.4 Khuếch đại</a:t>
            </a:r>
            <a:endParaRPr lang="en-US" sz="1000" dirty="0"/>
          </a:p>
        </p:txBody>
      </p:sp>
      <p:sp>
        <p:nvSpPr>
          <p:cNvPr id="12" name="Shape 10"/>
          <p:cNvSpPr/>
          <p:nvPr/>
        </p:nvSpPr>
        <p:spPr>
          <a:xfrm>
            <a:off x="7351776" y="274320"/>
            <a:ext cx="877824" cy="292608"/>
          </a:xfrm>
          <a:prstGeom prst="roundRect">
            <a:avLst>
              <a:gd name="adj" fmla="val 50000"/>
            </a:avLst>
          </a:prstGeom>
          <a:solidFill>
            <a:srgbClr val="FBFAF4"/>
          </a:solidFill>
          <a:ln w="9525">
            <a:solidFill>
              <a:srgbClr val="DCD7C8"/>
            </a:solidFill>
            <a:prstDash val="solid"/>
          </a:ln>
        </p:spPr>
      </p:sp>
      <p:sp>
        <p:nvSpPr>
          <p:cNvPr id="13" name="Text 11"/>
          <p:cNvSpPr txBox="1"/>
          <p:nvPr/>
        </p:nvSpPr>
        <p:spPr>
          <a:xfrm>
            <a:off x="735177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4" name="Shape 12"/>
          <p:cNvSpPr/>
          <p:nvPr/>
        </p:nvSpPr>
        <p:spPr>
          <a:xfrm>
            <a:off x="11259007" y="219456"/>
            <a:ext cx="384048" cy="384048"/>
          </a:xfrm>
          <a:prstGeom prst="ellipse">
            <a:avLst/>
          </a:prstGeom>
          <a:ln w="12700">
            <a:solidFill>
              <a:srgbClr val="09A1E5"/>
            </a:solidFill>
            <a:prstDash val="solid"/>
          </a:ln>
        </p:spPr>
      </p:sp>
      <p:sp>
        <p:nvSpPr>
          <p:cNvPr id="15" name="Shape 13"/>
          <p:cNvSpPr/>
          <p:nvPr/>
        </p:nvSpPr>
        <p:spPr>
          <a:xfrm>
            <a:off x="11324295" y="284744"/>
            <a:ext cx="253472" cy="253472"/>
          </a:xfrm>
          <a:prstGeom prst="ellipse">
            <a:avLst/>
          </a:prstGeom>
          <a:ln w="15875">
            <a:solidFill>
              <a:srgbClr val="962B7C"/>
            </a:solidFill>
            <a:prstDash val="solid"/>
          </a:ln>
        </p:spPr>
      </p:sp>
      <p:sp>
        <p:nvSpPr>
          <p:cNvPr id="16" name="Shape 14"/>
          <p:cNvSpPr/>
          <p:nvPr/>
        </p:nvSpPr>
        <p:spPr>
          <a:xfrm>
            <a:off x="11389584" y="350032"/>
            <a:ext cx="122895" cy="122895"/>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Khách tin người có chuyên môn, đáng tin và giống mình</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X02: Ohanian (1990), Journal of Advertising · X03: Lou &amp; Yuan (2019), Journal of Interactive Advertising.</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11   6</a:t>
            </a:r>
            <a:endParaRPr lang="en-US" sz="1000" dirty="0"/>
          </a:p>
        </p:txBody>
      </p:sp>
      <p:sp>
        <p:nvSpPr>
          <p:cNvPr id="21" name="Shape 18"/>
          <p:cNvSpPr/>
          <p:nvPr/>
        </p:nvSpPr>
        <p:spPr>
          <a:xfrm>
            <a:off x="1810512" y="2096262"/>
            <a:ext cx="2651760" cy="2651760"/>
          </a:xfrm>
          <a:prstGeom prst="ellipse">
            <a:avLst/>
          </a:prstGeom>
          <a:solidFill>
            <a:srgbClr val="962B7C">
              <a:alpha val="28000"/>
            </a:srgbClr>
          </a:solidFill>
          <a:ln w="25400">
            <a:solidFill>
              <a:srgbClr val="962B7C"/>
            </a:solidFill>
            <a:prstDash val="solid"/>
          </a:ln>
        </p:spPr>
      </p:sp>
      <p:sp>
        <p:nvSpPr>
          <p:cNvPr id="22" name="Shape 19"/>
          <p:cNvSpPr/>
          <p:nvPr/>
        </p:nvSpPr>
        <p:spPr>
          <a:xfrm>
            <a:off x="3401568" y="2096262"/>
            <a:ext cx="2651760" cy="2651760"/>
          </a:xfrm>
          <a:prstGeom prst="ellipse">
            <a:avLst/>
          </a:prstGeom>
          <a:solidFill>
            <a:srgbClr val="09A1E5">
              <a:alpha val="28000"/>
            </a:srgbClr>
          </a:solidFill>
          <a:ln w="25400">
            <a:solidFill>
              <a:srgbClr val="09A1E5"/>
            </a:solidFill>
            <a:prstDash val="solid"/>
          </a:ln>
        </p:spPr>
      </p:sp>
      <p:sp>
        <p:nvSpPr>
          <p:cNvPr id="23" name="Shape 20"/>
          <p:cNvSpPr/>
          <p:nvPr/>
        </p:nvSpPr>
        <p:spPr>
          <a:xfrm>
            <a:off x="2606040" y="3382366"/>
            <a:ext cx="2651760" cy="2651760"/>
          </a:xfrm>
          <a:prstGeom prst="ellipse">
            <a:avLst/>
          </a:prstGeom>
          <a:solidFill>
            <a:srgbClr val="FF5178">
              <a:alpha val="28000"/>
            </a:srgbClr>
          </a:solidFill>
          <a:ln w="25400">
            <a:solidFill>
              <a:srgbClr val="FF5178"/>
            </a:solidFill>
            <a:prstDash val="solid"/>
          </a:ln>
        </p:spPr>
      </p:sp>
      <p:sp>
        <p:nvSpPr>
          <p:cNvPr id="24" name="Text 21"/>
          <p:cNvSpPr txBox="1"/>
          <p:nvPr/>
        </p:nvSpPr>
        <p:spPr>
          <a:xfrm>
            <a:off x="2009394" y="2825496"/>
            <a:ext cx="1591056" cy="411480"/>
          </a:xfrm>
          <a:prstGeom prst="rect">
            <a:avLst/>
          </a:prstGeom>
          <a:noFill/>
          <a:ln/>
        </p:spPr>
        <p:txBody>
          <a:bodyPr wrap="square" lIns="0" tIns="0" rIns="0" bIns="0" rtlCol="0" anchor="ctr"/>
          <a:lstStyle/>
          <a:p>
            <a:pPr algn="ctr" indent="0" marL="0">
              <a:buNone/>
            </a:pPr>
            <a:r>
              <a:rPr lang="en-US" sz="1500" b="1" dirty="0">
                <a:solidFill>
                  <a:srgbClr val="2A2238"/>
                </a:solidFill>
                <a:latin typeface="Alexandria" pitchFamily="34" charset="0"/>
                <a:ea typeface="Alexandria" pitchFamily="34" charset="-122"/>
                <a:cs typeface="Alexandria" pitchFamily="34" charset="-120"/>
              </a:rPr>
              <a:t>Chuyên môn</a:t>
            </a:r>
            <a:endParaRPr lang="en-US" sz="1500" dirty="0"/>
          </a:p>
        </p:txBody>
      </p:sp>
      <p:sp>
        <p:nvSpPr>
          <p:cNvPr id="25" name="Text 22"/>
          <p:cNvSpPr txBox="1"/>
          <p:nvPr/>
        </p:nvSpPr>
        <p:spPr>
          <a:xfrm>
            <a:off x="4263390" y="2825496"/>
            <a:ext cx="1591056" cy="411480"/>
          </a:xfrm>
          <a:prstGeom prst="rect">
            <a:avLst/>
          </a:prstGeom>
          <a:noFill/>
          <a:ln/>
        </p:spPr>
        <p:txBody>
          <a:bodyPr wrap="square" lIns="0" tIns="0" rIns="0" bIns="0" rtlCol="0" anchor="ctr"/>
          <a:lstStyle/>
          <a:p>
            <a:pPr algn="ctr" indent="0" marL="0">
              <a:buNone/>
            </a:pPr>
            <a:r>
              <a:rPr lang="en-US" sz="1500" b="1" dirty="0">
                <a:solidFill>
                  <a:srgbClr val="2A2238"/>
                </a:solidFill>
                <a:latin typeface="Alexandria" pitchFamily="34" charset="0"/>
                <a:ea typeface="Alexandria" pitchFamily="34" charset="-122"/>
                <a:cs typeface="Alexandria" pitchFamily="34" charset="-120"/>
              </a:rPr>
              <a:t>Đáng tin</a:t>
            </a:r>
            <a:endParaRPr lang="en-US" sz="1500" dirty="0"/>
          </a:p>
        </p:txBody>
      </p:sp>
      <p:sp>
        <p:nvSpPr>
          <p:cNvPr id="26" name="Text 23"/>
          <p:cNvSpPr txBox="1"/>
          <p:nvPr/>
        </p:nvSpPr>
        <p:spPr>
          <a:xfrm>
            <a:off x="3136392" y="5344668"/>
            <a:ext cx="1591056" cy="411480"/>
          </a:xfrm>
          <a:prstGeom prst="rect">
            <a:avLst/>
          </a:prstGeom>
          <a:noFill/>
          <a:ln/>
        </p:spPr>
        <p:txBody>
          <a:bodyPr wrap="square" lIns="0" tIns="0" rIns="0" bIns="0" rtlCol="0" anchor="ctr"/>
          <a:lstStyle/>
          <a:p>
            <a:pPr algn="ctr" indent="0" marL="0">
              <a:buNone/>
            </a:pPr>
            <a:r>
              <a:rPr lang="en-US" sz="1500" b="1" dirty="0">
                <a:solidFill>
                  <a:srgbClr val="2A2238"/>
                </a:solidFill>
                <a:latin typeface="Alexandria" pitchFamily="34" charset="0"/>
                <a:ea typeface="Alexandria" pitchFamily="34" charset="-122"/>
                <a:cs typeface="Alexandria" pitchFamily="34" charset="-120"/>
              </a:rPr>
              <a:t>Tương đồng</a:t>
            </a:r>
            <a:endParaRPr lang="en-US" sz="1500" dirty="0"/>
          </a:p>
        </p:txBody>
      </p:sp>
      <p:sp>
        <p:nvSpPr>
          <p:cNvPr id="27" name="Shape 24"/>
          <p:cNvSpPr/>
          <p:nvPr/>
        </p:nvSpPr>
        <p:spPr>
          <a:xfrm>
            <a:off x="3337560" y="3840480"/>
            <a:ext cx="1188720" cy="411480"/>
          </a:xfrm>
          <a:prstGeom prst="roundRect">
            <a:avLst>
              <a:gd name="adj" fmla="val 50000"/>
            </a:avLst>
          </a:prstGeom>
          <a:solidFill>
            <a:srgbClr val="FFD23B"/>
          </a:solidFill>
          <a:ln w="12700">
            <a:solidFill>
              <a:srgbClr val="FFD23B"/>
            </a:solidFill>
            <a:prstDash val="solid"/>
          </a:ln>
        </p:spPr>
      </p:sp>
      <p:sp>
        <p:nvSpPr>
          <p:cNvPr id="28" name="Text 25"/>
          <p:cNvSpPr txBox="1"/>
          <p:nvPr/>
        </p:nvSpPr>
        <p:spPr>
          <a:xfrm>
            <a:off x="3410712" y="3840480"/>
            <a:ext cx="1042416" cy="411480"/>
          </a:xfrm>
          <a:prstGeom prst="rect">
            <a:avLst/>
          </a:prstGeom>
          <a:noFill/>
          <a:ln/>
        </p:spPr>
        <p:txBody>
          <a:bodyPr wrap="square" lIns="0" tIns="0" rIns="0" bIns="0" rtlCol="0" anchor="ctr"/>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Niềm tin</a:t>
            </a:r>
            <a:endParaRPr lang="en-US" sz="1300" dirty="0"/>
          </a:p>
        </p:txBody>
      </p:sp>
      <p:sp>
        <p:nvSpPr>
          <p:cNvPr id="29" name="Shape 26"/>
          <p:cNvSpPr/>
          <p:nvPr/>
        </p:nvSpPr>
        <p:spPr>
          <a:xfrm>
            <a:off x="7315200" y="1874520"/>
            <a:ext cx="4327855" cy="1920240"/>
          </a:xfrm>
          <a:prstGeom prst="roundRect">
            <a:avLst>
              <a:gd name="adj" fmla="val 5714"/>
            </a:avLst>
          </a:prstGeom>
          <a:solidFill>
            <a:srgbClr val="F1E1EE"/>
          </a:solidFill>
          <a:ln w="12700">
            <a:solidFill>
              <a:srgbClr val="962B7C"/>
            </a:solidFill>
            <a:prstDash val="solid"/>
          </a:ln>
        </p:spPr>
      </p:sp>
      <p:sp>
        <p:nvSpPr>
          <p:cNvPr id="30" name="Text 27"/>
          <p:cNvSpPr txBox="1"/>
          <p:nvPr/>
        </p:nvSpPr>
        <p:spPr>
          <a:xfrm>
            <a:off x="7589520" y="1874520"/>
            <a:ext cx="3779215" cy="192024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Ohanian (1990)</a:t>
            </a:r>
            <a:endParaRPr lang="en-US" sz="1600" dirty="0"/>
          </a:p>
          <a:p>
            <a:pPr indent="0" marL="0">
              <a:buNone/>
            </a:pPr>
            <a:r>
              <a:rPr lang="en-US" sz="1400" dirty="0">
                <a:solidFill>
                  <a:srgbClr val="2A2238"/>
                </a:solidFill>
                <a:latin typeface="Alexandria" pitchFamily="34" charset="0"/>
                <a:ea typeface="Alexandria" pitchFamily="34" charset="-122"/>
                <a:cs typeface="Alexandria" pitchFamily="34" charset="-120"/>
              </a:rPr>
              <a:t>Độ tin cậy nguồn phát: chuyên môn · đáng tin · hấp dẫn. Với ngân hàng, hai chiều đầu nặng hơn.</a:t>
            </a:r>
            <a:endParaRPr lang="en-US" sz="1600" dirty="0"/>
          </a:p>
        </p:txBody>
      </p:sp>
      <p:sp>
        <p:nvSpPr>
          <p:cNvPr id="31" name="Shape 28"/>
          <p:cNvSpPr/>
          <p:nvPr/>
        </p:nvSpPr>
        <p:spPr>
          <a:xfrm>
            <a:off x="7315200" y="4023360"/>
            <a:ext cx="4327855" cy="1965960"/>
          </a:xfrm>
          <a:prstGeom prst="roundRect">
            <a:avLst>
              <a:gd name="adj" fmla="val 5581"/>
            </a:avLst>
          </a:prstGeom>
          <a:solidFill>
            <a:srgbClr val="FFE4EA"/>
          </a:solidFill>
          <a:ln w="12700">
            <a:solidFill>
              <a:srgbClr val="FF5178"/>
            </a:solidFill>
            <a:prstDash val="solid"/>
          </a:ln>
        </p:spPr>
      </p:sp>
      <p:sp>
        <p:nvSpPr>
          <p:cNvPr id="32" name="Text 29"/>
          <p:cNvSpPr txBox="1"/>
          <p:nvPr/>
        </p:nvSpPr>
        <p:spPr>
          <a:xfrm>
            <a:off x="7589520" y="4023360"/>
            <a:ext cx="3779215" cy="196596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Lou &amp; Yuan (2019)</a:t>
            </a:r>
            <a:endParaRPr lang="en-US" sz="1600" dirty="0"/>
          </a:p>
          <a:p>
            <a:pPr indent="0" marL="0">
              <a:buNone/>
            </a:pPr>
            <a:r>
              <a:rPr lang="en-US" sz="1400" dirty="0">
                <a:solidFill>
                  <a:srgbClr val="2A2238"/>
                </a:solidFill>
                <a:latin typeface="Alexandria" pitchFamily="34" charset="0"/>
                <a:ea typeface="Alexandria" pitchFamily="34" charset="-122"/>
                <a:cs typeface="Alexandria" pitchFamily="34" charset="-120"/>
              </a:rPr>
              <a:t>Giá trị thông tin + tương đồng với người theo dõi + đáng tin, hấp dẫn → tin nội dung có thương hiệu.</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877824"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11.1 KOL</a:t>
            </a:r>
            <a:endParaRPr lang="en-US" sz="1000" dirty="0"/>
          </a:p>
        </p:txBody>
      </p:sp>
      <p:sp>
        <p:nvSpPr>
          <p:cNvPr id="6" name="Shape 4"/>
          <p:cNvSpPr/>
          <p:nvPr/>
        </p:nvSpPr>
        <p:spPr>
          <a:xfrm>
            <a:off x="2368296"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368296"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11.2 Báo chí</a:t>
            </a:r>
            <a:endParaRPr lang="en-US" sz="1000" dirty="0"/>
          </a:p>
        </p:txBody>
      </p:sp>
      <p:sp>
        <p:nvSpPr>
          <p:cNvPr id="8" name="Shape 6"/>
          <p:cNvSpPr/>
          <p:nvPr/>
        </p:nvSpPr>
        <p:spPr>
          <a:xfrm>
            <a:off x="3666744"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3666744"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11.3 Booking &amp; đo lường</a:t>
            </a:r>
            <a:endParaRPr lang="en-US" sz="1000" dirty="0"/>
          </a:p>
        </p:txBody>
      </p:sp>
      <p:sp>
        <p:nvSpPr>
          <p:cNvPr id="10" name="Shape 8"/>
          <p:cNvSpPr/>
          <p:nvPr/>
        </p:nvSpPr>
        <p:spPr>
          <a:xfrm>
            <a:off x="5820156" y="274320"/>
            <a:ext cx="1421892"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5820156"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11.4 Khuếch đại</a:t>
            </a:r>
            <a:endParaRPr lang="en-US" sz="1000" dirty="0"/>
          </a:p>
        </p:txBody>
      </p:sp>
      <p:sp>
        <p:nvSpPr>
          <p:cNvPr id="12" name="Shape 10"/>
          <p:cNvSpPr/>
          <p:nvPr/>
        </p:nvSpPr>
        <p:spPr>
          <a:xfrm>
            <a:off x="7351776" y="274320"/>
            <a:ext cx="877824" cy="292608"/>
          </a:xfrm>
          <a:prstGeom prst="roundRect">
            <a:avLst>
              <a:gd name="adj" fmla="val 50000"/>
            </a:avLst>
          </a:prstGeom>
          <a:solidFill>
            <a:srgbClr val="FBFAF4"/>
          </a:solidFill>
          <a:ln w="9525">
            <a:solidFill>
              <a:srgbClr val="DCD7C8"/>
            </a:solidFill>
            <a:prstDash val="solid"/>
          </a:ln>
        </p:spPr>
      </p:sp>
      <p:sp>
        <p:nvSpPr>
          <p:cNvPr id="13" name="Text 11"/>
          <p:cNvSpPr txBox="1"/>
          <p:nvPr/>
        </p:nvSpPr>
        <p:spPr>
          <a:xfrm>
            <a:off x="735177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4" name="Shape 12"/>
          <p:cNvSpPr/>
          <p:nvPr/>
        </p:nvSpPr>
        <p:spPr>
          <a:xfrm>
            <a:off x="11259007" y="219456"/>
            <a:ext cx="384048" cy="384048"/>
          </a:xfrm>
          <a:prstGeom prst="ellipse">
            <a:avLst/>
          </a:prstGeom>
          <a:ln w="12700">
            <a:solidFill>
              <a:srgbClr val="09A1E5"/>
            </a:solidFill>
            <a:prstDash val="solid"/>
          </a:ln>
        </p:spPr>
      </p:sp>
      <p:sp>
        <p:nvSpPr>
          <p:cNvPr id="15" name="Shape 13"/>
          <p:cNvSpPr/>
          <p:nvPr/>
        </p:nvSpPr>
        <p:spPr>
          <a:xfrm>
            <a:off x="11324295" y="284744"/>
            <a:ext cx="253472" cy="253472"/>
          </a:xfrm>
          <a:prstGeom prst="ellipse">
            <a:avLst/>
          </a:prstGeom>
          <a:ln w="15875">
            <a:solidFill>
              <a:srgbClr val="962B7C"/>
            </a:solidFill>
            <a:prstDash val="solid"/>
          </a:ln>
        </p:spPr>
      </p:sp>
      <p:sp>
        <p:nvSpPr>
          <p:cNvPr id="16" name="Shape 14"/>
          <p:cNvSpPr/>
          <p:nvPr/>
        </p:nvSpPr>
        <p:spPr>
          <a:xfrm>
            <a:off x="11389584" y="350032"/>
            <a:ext cx="122895" cy="122895"/>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Tương đồng quan trọng hơn quy mô</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Ví dụ minh họa · X03: Lou &amp; Yuan (2019).</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11   7</a:t>
            </a:r>
            <a:endParaRPr lang="en-US" sz="1000" dirty="0"/>
          </a:p>
        </p:txBody>
      </p:sp>
      <p:sp>
        <p:nvSpPr>
          <p:cNvPr id="21" name="Shape 18"/>
          <p:cNvSpPr/>
          <p:nvPr/>
        </p:nvSpPr>
        <p:spPr>
          <a:xfrm>
            <a:off x="548640" y="1874520"/>
            <a:ext cx="5044288" cy="3108960"/>
          </a:xfrm>
          <a:prstGeom prst="roundRect">
            <a:avLst>
              <a:gd name="adj" fmla="val 3529"/>
            </a:avLst>
          </a:prstGeom>
          <a:solidFill>
            <a:srgbClr val="E1F3EE"/>
          </a:solidFill>
          <a:ln w="19050">
            <a:solidFill>
              <a:srgbClr val="49B296"/>
            </a:solidFill>
            <a:prstDash val="solid"/>
          </a:ln>
        </p:spPr>
      </p:sp>
      <p:sp>
        <p:nvSpPr>
          <p:cNvPr id="22" name="Text 19"/>
          <p:cNvSpPr txBox="1"/>
          <p:nvPr/>
        </p:nvSpPr>
        <p:spPr>
          <a:xfrm>
            <a:off x="868680" y="2057400"/>
            <a:ext cx="4404208" cy="548640"/>
          </a:xfrm>
          <a:prstGeom prst="rect">
            <a:avLst/>
          </a:prstGeom>
          <a:noFill/>
          <a:ln/>
        </p:spPr>
        <p:txBody>
          <a:bodyPr wrap="square" lIns="0" tIns="0" rIns="0" bIns="0" rtlCol="0" anchor="ctr"/>
          <a:lstStyle/>
          <a:p>
            <a:pPr indent="0" marL="0">
              <a:buNone/>
            </a:pPr>
            <a:r>
              <a:rPr lang="en-US" sz="2400" b="1" dirty="0">
                <a:solidFill>
                  <a:srgbClr val="2A2238"/>
                </a:solidFill>
                <a:latin typeface="Alexandria" pitchFamily="34" charset="0"/>
                <a:ea typeface="Alexandria" pitchFamily="34" charset="-122"/>
                <a:cs typeface="Alexandria" pitchFamily="34" charset="-120"/>
              </a:rPr>
              <a:t>CEO logistics</a:t>
            </a:r>
            <a:endParaRPr lang="en-US" sz="2400" dirty="0"/>
          </a:p>
        </p:txBody>
      </p:sp>
      <p:sp>
        <p:nvSpPr>
          <p:cNvPr id="23" name="Text 20"/>
          <p:cNvSpPr txBox="1"/>
          <p:nvPr/>
        </p:nvSpPr>
        <p:spPr>
          <a:xfrm>
            <a:off x="868680" y="2651760"/>
            <a:ext cx="4404208" cy="411480"/>
          </a:xfrm>
          <a:prstGeom prst="rect">
            <a:avLst/>
          </a:prstGeom>
          <a:noFill/>
          <a:ln/>
        </p:spPr>
        <p:txBody>
          <a:bodyPr wrap="square" lIns="0" tIns="0" rIns="0" bIns="0" rtlCol="0" anchor="ctr"/>
          <a:lstStyle/>
          <a:p>
            <a:pPr indent="0" marL="0">
              <a:buNone/>
            </a:pPr>
            <a:r>
              <a:rPr lang="en-US" sz="1500" dirty="0">
                <a:solidFill>
                  <a:srgbClr val="6E6878"/>
                </a:solidFill>
                <a:latin typeface="Alexandria" pitchFamily="34" charset="0"/>
                <a:ea typeface="Alexandria" pitchFamily="34" charset="-122"/>
                <a:cs typeface="Alexandria" pitchFamily="34" charset="-120"/>
              </a:rPr>
              <a:t>~120.000 người theo dõi</a:t>
            </a:r>
            <a:endParaRPr lang="en-US" sz="1500" dirty="0"/>
          </a:p>
        </p:txBody>
      </p:sp>
      <p:sp>
        <p:nvSpPr>
          <p:cNvPr id="24" name="Text 21"/>
          <p:cNvSpPr txBox="1"/>
          <p:nvPr/>
        </p:nvSpPr>
        <p:spPr>
          <a:xfrm>
            <a:off x="868680" y="3154680"/>
            <a:ext cx="4404208" cy="731520"/>
          </a:xfrm>
          <a:prstGeom prst="rect">
            <a:avLst/>
          </a:prstGeom>
          <a:noFill/>
          <a:ln/>
        </p:spPr>
        <p:txBody>
          <a:bodyPr wrap="square" lIns="0" tIns="0" rIns="0" bIns="0" rtlCol="0" anchor="t"/>
          <a:lstStyle/>
          <a:p>
            <a:pPr indent="0" marL="0">
              <a:buNone/>
            </a:pPr>
            <a:r>
              <a:rPr lang="en-US" sz="1600" dirty="0">
                <a:solidFill>
                  <a:srgbClr val="2A2238"/>
                </a:solidFill>
                <a:latin typeface="Alexandria" pitchFamily="34" charset="0"/>
                <a:ea typeface="Alexandria" pitchFamily="34" charset="-122"/>
                <a:cs typeface="Alexandria" pitchFamily="34" charset="-120"/>
              </a:rPr>
              <a:t>Chia sẻ kinh nghiệm vay vốn mở rộng kho</a:t>
            </a:r>
            <a:endParaRPr lang="en-US" sz="1600" dirty="0"/>
          </a:p>
        </p:txBody>
      </p:sp>
      <p:sp>
        <p:nvSpPr>
          <p:cNvPr id="25" name="Text 22"/>
          <p:cNvSpPr txBox="1"/>
          <p:nvPr/>
        </p:nvSpPr>
        <p:spPr>
          <a:xfrm>
            <a:off x="868680" y="3931920"/>
            <a:ext cx="4404208" cy="914400"/>
          </a:xfrm>
          <a:prstGeom prst="rect">
            <a:avLst/>
          </a:prstGeom>
          <a:noFill/>
          <a:ln/>
        </p:spPr>
        <p:txBody>
          <a:bodyPr wrap="square" lIns="0" tIns="0" rIns="0" bIns="0" rtlCol="0" anchor="t"/>
          <a:lstStyle/>
          <a:p>
            <a:pPr indent="0" marL="0">
              <a:buNone/>
            </a:pPr>
            <a:r>
              <a:rPr lang="en-US" sz="1500" b="1" i="1" dirty="0">
                <a:solidFill>
                  <a:srgbClr val="2E8A71"/>
                </a:solidFill>
                <a:latin typeface="Alexandria" pitchFamily="34" charset="0"/>
                <a:ea typeface="Alexandria" pitchFamily="34" charset="-122"/>
                <a:cs typeface="Alexandria" pitchFamily="34" charset="-120"/>
              </a:rPr>
              <a:t>600 CEO: “người này nói chuyện với mình”</a:t>
            </a:r>
            <a:endParaRPr lang="en-US" sz="1500" dirty="0"/>
          </a:p>
        </p:txBody>
      </p:sp>
      <p:sp>
        <p:nvSpPr>
          <p:cNvPr id="26" name="Shape 23"/>
          <p:cNvSpPr/>
          <p:nvPr/>
        </p:nvSpPr>
        <p:spPr>
          <a:xfrm>
            <a:off x="6598768" y="1874520"/>
            <a:ext cx="5044288" cy="3108960"/>
          </a:xfrm>
          <a:prstGeom prst="roundRect">
            <a:avLst>
              <a:gd name="adj" fmla="val 3529"/>
            </a:avLst>
          </a:prstGeom>
          <a:solidFill>
            <a:srgbClr val="FFFFFF"/>
          </a:solidFill>
          <a:ln w="19050">
            <a:solidFill>
              <a:srgbClr val="6E6878"/>
            </a:solidFill>
            <a:prstDash val="solid"/>
          </a:ln>
        </p:spPr>
      </p:sp>
      <p:sp>
        <p:nvSpPr>
          <p:cNvPr id="27" name="Text 24"/>
          <p:cNvSpPr txBox="1"/>
          <p:nvPr/>
        </p:nvSpPr>
        <p:spPr>
          <a:xfrm>
            <a:off x="6918808" y="2057400"/>
            <a:ext cx="4404208" cy="548640"/>
          </a:xfrm>
          <a:prstGeom prst="rect">
            <a:avLst/>
          </a:prstGeom>
          <a:noFill/>
          <a:ln/>
        </p:spPr>
        <p:txBody>
          <a:bodyPr wrap="square" lIns="0" tIns="0" rIns="0" bIns="0" rtlCol="0" anchor="ctr"/>
          <a:lstStyle/>
          <a:p>
            <a:pPr indent="0" marL="0">
              <a:buNone/>
            </a:pPr>
            <a:r>
              <a:rPr lang="en-US" sz="2400" b="1" dirty="0">
                <a:solidFill>
                  <a:srgbClr val="6E6878"/>
                </a:solidFill>
                <a:latin typeface="Alexandria" pitchFamily="34" charset="0"/>
                <a:ea typeface="Alexandria" pitchFamily="34" charset="-122"/>
                <a:cs typeface="Alexandria" pitchFamily="34" charset="-120"/>
              </a:rPr>
              <a:t>Ca sĩ</a:t>
            </a:r>
            <a:endParaRPr lang="en-US" sz="2400" dirty="0"/>
          </a:p>
        </p:txBody>
      </p:sp>
      <p:sp>
        <p:nvSpPr>
          <p:cNvPr id="28" name="Text 25"/>
          <p:cNvSpPr txBox="1"/>
          <p:nvPr/>
        </p:nvSpPr>
        <p:spPr>
          <a:xfrm>
            <a:off x="6918808" y="2651760"/>
            <a:ext cx="4404208" cy="411480"/>
          </a:xfrm>
          <a:prstGeom prst="rect">
            <a:avLst/>
          </a:prstGeom>
          <a:noFill/>
          <a:ln/>
        </p:spPr>
        <p:txBody>
          <a:bodyPr wrap="square" lIns="0" tIns="0" rIns="0" bIns="0" rtlCol="0" anchor="ctr"/>
          <a:lstStyle/>
          <a:p>
            <a:pPr indent="0" marL="0">
              <a:buNone/>
            </a:pPr>
            <a:r>
              <a:rPr lang="en-US" sz="1500" dirty="0">
                <a:solidFill>
                  <a:srgbClr val="6E6878"/>
                </a:solidFill>
                <a:latin typeface="Alexandria" pitchFamily="34" charset="0"/>
                <a:ea typeface="Alexandria" pitchFamily="34" charset="-122"/>
                <a:cs typeface="Alexandria" pitchFamily="34" charset="-120"/>
              </a:rPr>
              <a:t>~3,5 triệu người theo dõi</a:t>
            </a:r>
            <a:endParaRPr lang="en-US" sz="1500" dirty="0"/>
          </a:p>
        </p:txBody>
      </p:sp>
      <p:sp>
        <p:nvSpPr>
          <p:cNvPr id="29" name="Text 26"/>
          <p:cNvSpPr txBox="1"/>
          <p:nvPr/>
        </p:nvSpPr>
        <p:spPr>
          <a:xfrm>
            <a:off x="6918808" y="3154680"/>
            <a:ext cx="4404208" cy="731520"/>
          </a:xfrm>
          <a:prstGeom prst="rect">
            <a:avLst/>
          </a:prstGeom>
          <a:noFill/>
          <a:ln/>
        </p:spPr>
        <p:txBody>
          <a:bodyPr wrap="square" lIns="0" tIns="0" rIns="0" bIns="0" rtlCol="0" anchor="t"/>
          <a:lstStyle/>
          <a:p>
            <a:pPr indent="0" marL="0">
              <a:buNone/>
            </a:pPr>
            <a:r>
              <a:rPr lang="en-US" sz="1600" dirty="0">
                <a:solidFill>
                  <a:srgbClr val="2A2238"/>
                </a:solidFill>
                <a:latin typeface="Alexandria" pitchFamily="34" charset="0"/>
                <a:ea typeface="Alexandria" pitchFamily="34" charset="-122"/>
                <a:cs typeface="Alexandria" pitchFamily="34" charset="-120"/>
              </a:rPr>
              <a:t>Âm nhạc, đời sống</a:t>
            </a:r>
            <a:endParaRPr lang="en-US" sz="1600" dirty="0"/>
          </a:p>
        </p:txBody>
      </p:sp>
      <p:sp>
        <p:nvSpPr>
          <p:cNvPr id="30" name="Text 27"/>
          <p:cNvSpPr txBox="1"/>
          <p:nvPr/>
        </p:nvSpPr>
        <p:spPr>
          <a:xfrm>
            <a:off x="6918808" y="3931920"/>
            <a:ext cx="4404208" cy="914400"/>
          </a:xfrm>
          <a:prstGeom prst="rect">
            <a:avLst/>
          </a:prstGeom>
          <a:noFill/>
          <a:ln/>
        </p:spPr>
        <p:txBody>
          <a:bodyPr wrap="square" lIns="0" tIns="0" rIns="0" bIns="0" rtlCol="0" anchor="t"/>
          <a:lstStyle/>
          <a:p>
            <a:pPr indent="0" marL="0">
              <a:buNone/>
            </a:pPr>
            <a:r>
              <a:rPr lang="en-US" sz="1500" b="1" i="1" dirty="0">
                <a:solidFill>
                  <a:srgbClr val="6E6878"/>
                </a:solidFill>
                <a:latin typeface="Alexandria" pitchFamily="34" charset="0"/>
                <a:ea typeface="Alexandria" pitchFamily="34" charset="-122"/>
                <a:cs typeface="Alexandria" pitchFamily="34" charset="-120"/>
              </a:rPr>
              <a:t>600 CEO: nổi tiếng, nhưng khác thế giới của mình</a:t>
            </a:r>
            <a:endParaRPr lang="en-US" sz="1500" dirty="0"/>
          </a:p>
        </p:txBody>
      </p:sp>
      <p:sp>
        <p:nvSpPr>
          <p:cNvPr id="31" name="Text 28"/>
          <p:cNvSpPr txBox="1"/>
          <p:nvPr/>
        </p:nvSpPr>
        <p:spPr>
          <a:xfrm>
            <a:off x="5592928" y="2926080"/>
            <a:ext cx="1005840" cy="1005840"/>
          </a:xfrm>
          <a:prstGeom prst="rect">
            <a:avLst/>
          </a:prstGeom>
          <a:noFill/>
          <a:ln/>
        </p:spPr>
        <p:txBody>
          <a:bodyPr wrap="square" lIns="0" tIns="0" rIns="0" bIns="0" rtlCol="0" anchor="ctr"/>
          <a:lstStyle/>
          <a:p>
            <a:pPr algn="ctr" indent="0" marL="0">
              <a:buNone/>
            </a:pPr>
            <a:r>
              <a:rPr lang="en-US" sz="5400" b="1" dirty="0">
                <a:solidFill>
                  <a:srgbClr val="2E8A71"/>
                </a:solidFill>
                <a:latin typeface="Alexandria" pitchFamily="34" charset="0"/>
                <a:ea typeface="Alexandria" pitchFamily="34" charset="-122"/>
                <a:cs typeface="Alexandria" pitchFamily="34" charset="-120"/>
              </a:rPr>
              <a:t>&gt;</a:t>
            </a:r>
            <a:endParaRPr lang="en-US" sz="5400" dirty="0"/>
          </a:p>
        </p:txBody>
      </p:sp>
      <p:sp>
        <p:nvSpPr>
          <p:cNvPr id="32" name="Shape 29"/>
          <p:cNvSpPr/>
          <p:nvPr/>
        </p:nvSpPr>
        <p:spPr>
          <a:xfrm>
            <a:off x="548640" y="5257800"/>
            <a:ext cx="11094415" cy="731520"/>
          </a:xfrm>
          <a:prstGeom prst="roundRect">
            <a:avLst>
              <a:gd name="adj" fmla="val 15000"/>
            </a:avLst>
          </a:prstGeom>
          <a:solidFill>
            <a:srgbClr val="FFF3C4"/>
          </a:solidFill>
          <a:ln w="12700">
            <a:solidFill>
              <a:srgbClr val="FFD23B"/>
            </a:solidFill>
            <a:prstDash val="solid"/>
          </a:ln>
        </p:spPr>
      </p:sp>
      <p:sp>
        <p:nvSpPr>
          <p:cNvPr id="33" name="Text 30"/>
          <p:cNvSpPr txBox="1"/>
          <p:nvPr/>
        </p:nvSpPr>
        <p:spPr>
          <a:xfrm>
            <a:off x="868680" y="5257800"/>
            <a:ext cx="10454335" cy="73152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Hỏi: ảnh hưởng đến AI — không phải có bao nhiêu người theo dõi.</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877824"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11.1 KOL</a:t>
            </a:r>
            <a:endParaRPr lang="en-US" sz="1000" dirty="0"/>
          </a:p>
        </p:txBody>
      </p:sp>
      <p:sp>
        <p:nvSpPr>
          <p:cNvPr id="6" name="Shape 4"/>
          <p:cNvSpPr/>
          <p:nvPr/>
        </p:nvSpPr>
        <p:spPr>
          <a:xfrm>
            <a:off x="2368296"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368296"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11.2 Báo chí</a:t>
            </a:r>
            <a:endParaRPr lang="en-US" sz="1000" dirty="0"/>
          </a:p>
        </p:txBody>
      </p:sp>
      <p:sp>
        <p:nvSpPr>
          <p:cNvPr id="8" name="Shape 6"/>
          <p:cNvSpPr/>
          <p:nvPr/>
        </p:nvSpPr>
        <p:spPr>
          <a:xfrm>
            <a:off x="3666744"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3666744"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11.3 Booking &amp; đo lường</a:t>
            </a:r>
            <a:endParaRPr lang="en-US" sz="1000" dirty="0"/>
          </a:p>
        </p:txBody>
      </p:sp>
      <p:sp>
        <p:nvSpPr>
          <p:cNvPr id="10" name="Shape 8"/>
          <p:cNvSpPr/>
          <p:nvPr/>
        </p:nvSpPr>
        <p:spPr>
          <a:xfrm>
            <a:off x="5820156" y="274320"/>
            <a:ext cx="1421892"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5820156"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11.4 Khuếch đại</a:t>
            </a:r>
            <a:endParaRPr lang="en-US" sz="1000" dirty="0"/>
          </a:p>
        </p:txBody>
      </p:sp>
      <p:sp>
        <p:nvSpPr>
          <p:cNvPr id="12" name="Shape 10"/>
          <p:cNvSpPr/>
          <p:nvPr/>
        </p:nvSpPr>
        <p:spPr>
          <a:xfrm>
            <a:off x="7351776" y="274320"/>
            <a:ext cx="877824" cy="292608"/>
          </a:xfrm>
          <a:prstGeom prst="roundRect">
            <a:avLst>
              <a:gd name="adj" fmla="val 50000"/>
            </a:avLst>
          </a:prstGeom>
          <a:solidFill>
            <a:srgbClr val="FBFAF4"/>
          </a:solidFill>
          <a:ln w="9525">
            <a:solidFill>
              <a:srgbClr val="DCD7C8"/>
            </a:solidFill>
            <a:prstDash val="solid"/>
          </a:ln>
        </p:spPr>
      </p:sp>
      <p:sp>
        <p:nvSpPr>
          <p:cNvPr id="13" name="Text 11"/>
          <p:cNvSpPr txBox="1"/>
          <p:nvPr/>
        </p:nvSpPr>
        <p:spPr>
          <a:xfrm>
            <a:off x="735177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4" name="Shape 12"/>
          <p:cNvSpPr/>
          <p:nvPr/>
        </p:nvSpPr>
        <p:spPr>
          <a:xfrm>
            <a:off x="11259007" y="219456"/>
            <a:ext cx="384048" cy="384048"/>
          </a:xfrm>
          <a:prstGeom prst="ellipse">
            <a:avLst/>
          </a:prstGeom>
          <a:ln w="12700">
            <a:solidFill>
              <a:srgbClr val="09A1E5"/>
            </a:solidFill>
            <a:prstDash val="solid"/>
          </a:ln>
        </p:spPr>
      </p:sp>
      <p:sp>
        <p:nvSpPr>
          <p:cNvPr id="15" name="Shape 13"/>
          <p:cNvSpPr/>
          <p:nvPr/>
        </p:nvSpPr>
        <p:spPr>
          <a:xfrm>
            <a:off x="11324295" y="284744"/>
            <a:ext cx="253472" cy="253472"/>
          </a:xfrm>
          <a:prstGeom prst="ellipse">
            <a:avLst/>
          </a:prstGeom>
          <a:ln w="15875">
            <a:solidFill>
              <a:srgbClr val="962B7C"/>
            </a:solidFill>
            <a:prstDash val="solid"/>
          </a:ln>
        </p:spPr>
      </p:sp>
      <p:sp>
        <p:nvSpPr>
          <p:cNvPr id="16" name="Shape 14"/>
          <p:cNvSpPr/>
          <p:nvPr/>
        </p:nvSpPr>
        <p:spPr>
          <a:xfrm>
            <a:off x="11389584" y="350032"/>
            <a:ext cx="122895" cy="122895"/>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Khi KOL mất uy tín, người hợp tác mất theo</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X06: VnExpress, Thanh Niên (19/11/2025); Dân trí (20/5/2025); VTC News (2025) — đã kiểm chứng chéo.</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11   8</a:t>
            </a:r>
            <a:endParaRPr lang="en-US" sz="1000" dirty="0"/>
          </a:p>
        </p:txBody>
      </p:sp>
      <p:sp>
        <p:nvSpPr>
          <p:cNvPr id="21" name="Shape 18"/>
          <p:cNvSpPr/>
          <p:nvPr/>
        </p:nvSpPr>
        <p:spPr>
          <a:xfrm>
            <a:off x="548640" y="1874520"/>
            <a:ext cx="3515258" cy="2148840"/>
          </a:xfrm>
          <a:prstGeom prst="roundRect">
            <a:avLst>
              <a:gd name="adj" fmla="val 5106"/>
            </a:avLst>
          </a:prstGeom>
          <a:solidFill>
            <a:srgbClr val="FFE9DE"/>
          </a:solidFill>
          <a:ln w="12700">
            <a:solidFill>
              <a:srgbClr val="FFE9DE"/>
            </a:solidFill>
            <a:prstDash val="solid"/>
          </a:ln>
        </p:spPr>
      </p:sp>
      <p:sp>
        <p:nvSpPr>
          <p:cNvPr id="22" name="Text 19"/>
          <p:cNvSpPr txBox="1"/>
          <p:nvPr/>
        </p:nvSpPr>
        <p:spPr>
          <a:xfrm>
            <a:off x="822960" y="2011680"/>
            <a:ext cx="2966618" cy="868680"/>
          </a:xfrm>
          <a:prstGeom prst="rect">
            <a:avLst/>
          </a:prstGeom>
          <a:noFill/>
          <a:ln/>
        </p:spPr>
        <p:txBody>
          <a:bodyPr wrap="square" lIns="0" tIns="0" rIns="0" bIns="0" rtlCol="0" anchor="ctr"/>
          <a:lstStyle/>
          <a:p>
            <a:pPr indent="0" marL="0">
              <a:buNone/>
            </a:pPr>
            <a:r>
              <a:rPr lang="en-US" sz="3800" b="1" dirty="0">
                <a:solidFill>
                  <a:srgbClr val="D9622B"/>
                </a:solidFill>
                <a:latin typeface="Alexandria" pitchFamily="34" charset="0"/>
                <a:ea typeface="Alexandria" pitchFamily="34" charset="-122"/>
                <a:cs typeface="Alexandria" pitchFamily="34" charset="-120"/>
              </a:rPr>
              <a:t>6</a:t>
            </a:r>
            <a:endParaRPr lang="en-US" sz="3800" dirty="0"/>
          </a:p>
        </p:txBody>
      </p:sp>
      <p:sp>
        <p:nvSpPr>
          <p:cNvPr id="23" name="Text 20"/>
          <p:cNvSpPr txBox="1"/>
          <p:nvPr/>
        </p:nvSpPr>
        <p:spPr>
          <a:xfrm>
            <a:off x="822960" y="2926080"/>
            <a:ext cx="2966618" cy="1005840"/>
          </a:xfrm>
          <a:prstGeom prst="rect">
            <a:avLst/>
          </a:prstGeom>
          <a:noFill/>
          <a:ln/>
        </p:spPr>
        <p:txBody>
          <a:bodyPr wrap="square" lIns="0" tIns="0" rIns="0" bIns="0" rtlCol="0" anchor="t"/>
          <a:lstStyle/>
          <a:p>
            <a:pPr indent="0" marL="0">
              <a:buNone/>
            </a:pPr>
            <a:r>
              <a:rPr lang="en-US" sz="1400" dirty="0">
                <a:solidFill>
                  <a:srgbClr val="2A2238"/>
                </a:solidFill>
                <a:latin typeface="Alexandria" pitchFamily="34" charset="0"/>
                <a:ea typeface="Alexandria" pitchFamily="34" charset="-122"/>
                <a:cs typeface="Alexandria" pitchFamily="34" charset="-120"/>
              </a:rPr>
              <a:t>buổi livestream quảng cáo kẹo Kera (12/2024 – 1/2025)</a:t>
            </a:r>
            <a:endParaRPr lang="en-US" sz="1400" dirty="0"/>
          </a:p>
        </p:txBody>
      </p:sp>
      <p:sp>
        <p:nvSpPr>
          <p:cNvPr id="24" name="Shape 21"/>
          <p:cNvSpPr/>
          <p:nvPr/>
        </p:nvSpPr>
        <p:spPr>
          <a:xfrm>
            <a:off x="4338218" y="1874520"/>
            <a:ext cx="3515258" cy="2148840"/>
          </a:xfrm>
          <a:prstGeom prst="roundRect">
            <a:avLst>
              <a:gd name="adj" fmla="val 5106"/>
            </a:avLst>
          </a:prstGeom>
          <a:solidFill>
            <a:srgbClr val="F1E1EE"/>
          </a:solidFill>
          <a:ln w="12700">
            <a:solidFill>
              <a:srgbClr val="F1E1EE"/>
            </a:solidFill>
            <a:prstDash val="solid"/>
          </a:ln>
        </p:spPr>
      </p:sp>
      <p:sp>
        <p:nvSpPr>
          <p:cNvPr id="25" name="Text 22"/>
          <p:cNvSpPr txBox="1"/>
          <p:nvPr/>
        </p:nvSpPr>
        <p:spPr>
          <a:xfrm>
            <a:off x="4612538" y="2011680"/>
            <a:ext cx="2966618" cy="868680"/>
          </a:xfrm>
          <a:prstGeom prst="rect">
            <a:avLst/>
          </a:prstGeom>
          <a:noFill/>
          <a:ln/>
        </p:spPr>
        <p:txBody>
          <a:bodyPr wrap="square" lIns="0" tIns="0" rIns="0" bIns="0" rtlCol="0" anchor="ctr"/>
          <a:lstStyle/>
          <a:p>
            <a:pPr indent="0" marL="0">
              <a:buNone/>
            </a:pPr>
            <a:r>
              <a:rPr lang="en-US" sz="3800" b="1" dirty="0">
                <a:solidFill>
                  <a:srgbClr val="962B7C"/>
                </a:solidFill>
                <a:latin typeface="Alexandria" pitchFamily="34" charset="0"/>
                <a:ea typeface="Alexandria" pitchFamily="34" charset="-122"/>
                <a:cs typeface="Alexandria" pitchFamily="34" charset="-120"/>
              </a:rPr>
              <a:t>12,4 tỷ</a:t>
            </a:r>
            <a:endParaRPr lang="en-US" sz="3800" dirty="0"/>
          </a:p>
        </p:txBody>
      </p:sp>
      <p:sp>
        <p:nvSpPr>
          <p:cNvPr id="26" name="Text 23"/>
          <p:cNvSpPr txBox="1"/>
          <p:nvPr/>
        </p:nvSpPr>
        <p:spPr>
          <a:xfrm>
            <a:off x="4612538" y="2926080"/>
            <a:ext cx="2966618" cy="1005840"/>
          </a:xfrm>
          <a:prstGeom prst="rect">
            <a:avLst/>
          </a:prstGeom>
          <a:noFill/>
          <a:ln/>
        </p:spPr>
        <p:txBody>
          <a:bodyPr wrap="square" lIns="0" tIns="0" rIns="0" bIns="0" rtlCol="0" anchor="t"/>
          <a:lstStyle/>
          <a:p>
            <a:pPr indent="0" marL="0">
              <a:buNone/>
            </a:pPr>
            <a:r>
              <a:rPr lang="en-US" sz="1400" dirty="0">
                <a:solidFill>
                  <a:srgbClr val="2A2238"/>
                </a:solidFill>
                <a:latin typeface="Alexandria" pitchFamily="34" charset="0"/>
                <a:ea typeface="Alexandria" pitchFamily="34" charset="-122"/>
                <a:cs typeface="Alexandria" pitchFamily="34" charset="-120"/>
              </a:rPr>
              <a:t>thu lợi bất chính</a:t>
            </a:r>
            <a:endParaRPr lang="en-US" sz="1400" dirty="0"/>
          </a:p>
        </p:txBody>
      </p:sp>
      <p:sp>
        <p:nvSpPr>
          <p:cNvPr id="27" name="Shape 24"/>
          <p:cNvSpPr/>
          <p:nvPr/>
        </p:nvSpPr>
        <p:spPr>
          <a:xfrm>
            <a:off x="8127797" y="1874520"/>
            <a:ext cx="3515258" cy="2148840"/>
          </a:xfrm>
          <a:prstGeom prst="roundRect">
            <a:avLst>
              <a:gd name="adj" fmla="val 5106"/>
            </a:avLst>
          </a:prstGeom>
          <a:solidFill>
            <a:srgbClr val="FFE4EA"/>
          </a:solidFill>
          <a:ln w="12700">
            <a:solidFill>
              <a:srgbClr val="FFE4EA"/>
            </a:solidFill>
            <a:prstDash val="solid"/>
          </a:ln>
        </p:spPr>
      </p:sp>
      <p:sp>
        <p:nvSpPr>
          <p:cNvPr id="28" name="Text 25"/>
          <p:cNvSpPr txBox="1"/>
          <p:nvPr/>
        </p:nvSpPr>
        <p:spPr>
          <a:xfrm>
            <a:off x="8402117" y="2011680"/>
            <a:ext cx="2966618" cy="868680"/>
          </a:xfrm>
          <a:prstGeom prst="rect">
            <a:avLst/>
          </a:prstGeom>
          <a:noFill/>
          <a:ln/>
        </p:spPr>
        <p:txBody>
          <a:bodyPr wrap="square" lIns="0" tIns="0" rIns="0" bIns="0" rtlCol="0" anchor="ctr"/>
          <a:lstStyle/>
          <a:p>
            <a:pPr indent="0" marL="0">
              <a:buNone/>
            </a:pPr>
            <a:r>
              <a:rPr lang="en-US" sz="3800" b="1" dirty="0">
                <a:solidFill>
                  <a:srgbClr val="E03A62"/>
                </a:solidFill>
                <a:latin typeface="Alexandria" pitchFamily="34" charset="0"/>
                <a:ea typeface="Alexandria" pitchFamily="34" charset="-122"/>
                <a:cs typeface="Alexandria" pitchFamily="34" charset="-120"/>
              </a:rPr>
              <a:t>2 năm tù</a:t>
            </a:r>
            <a:endParaRPr lang="en-US" sz="3800" dirty="0"/>
          </a:p>
        </p:txBody>
      </p:sp>
      <p:sp>
        <p:nvSpPr>
          <p:cNvPr id="29" name="Text 26"/>
          <p:cNvSpPr txBox="1"/>
          <p:nvPr/>
        </p:nvSpPr>
        <p:spPr>
          <a:xfrm>
            <a:off x="8402117" y="2926080"/>
            <a:ext cx="2966618" cy="1005840"/>
          </a:xfrm>
          <a:prstGeom prst="rect">
            <a:avLst/>
          </a:prstGeom>
          <a:noFill/>
          <a:ln/>
        </p:spPr>
        <p:txBody>
          <a:bodyPr wrap="square" lIns="0" tIns="0" rIns="0" bIns="0" rtlCol="0" anchor="t"/>
          <a:lstStyle/>
          <a:p>
            <a:pPr indent="0" marL="0">
              <a:buNone/>
            </a:pPr>
            <a:r>
              <a:rPr lang="en-US" sz="1400" dirty="0">
                <a:solidFill>
                  <a:srgbClr val="2A2238"/>
                </a:solidFill>
                <a:latin typeface="Alexandria" pitchFamily="34" charset="0"/>
                <a:ea typeface="Alexandria" pitchFamily="34" charset="-122"/>
                <a:cs typeface="Alexandria" pitchFamily="34" charset="-120"/>
              </a:rPr>
              <a:t>mỗi người trong ba người có ảnh hưởng — tội “lừa dối khách hàng” (11/2025)</a:t>
            </a:r>
            <a:endParaRPr lang="en-US" sz="1400" dirty="0"/>
          </a:p>
        </p:txBody>
      </p:sp>
      <p:sp>
        <p:nvSpPr>
          <p:cNvPr id="30" name="Shape 27"/>
          <p:cNvSpPr/>
          <p:nvPr/>
        </p:nvSpPr>
        <p:spPr>
          <a:xfrm>
            <a:off x="548640" y="4251960"/>
            <a:ext cx="6309360" cy="1737360"/>
          </a:xfrm>
          <a:prstGeom prst="roundRect">
            <a:avLst>
              <a:gd name="adj" fmla="val 6316"/>
            </a:avLst>
          </a:prstGeom>
          <a:solidFill>
            <a:srgbClr val="FFFFFF"/>
          </a:solidFill>
          <a:ln w="12700">
            <a:solidFill>
              <a:srgbClr val="DCD7C8"/>
            </a:solidFill>
            <a:prstDash val="solid"/>
          </a:ln>
        </p:spPr>
      </p:sp>
      <p:sp>
        <p:nvSpPr>
          <p:cNvPr id="31" name="Text 28"/>
          <p:cNvSpPr txBox="1"/>
          <p:nvPr/>
        </p:nvSpPr>
        <p:spPr>
          <a:xfrm>
            <a:off x="822960" y="4251960"/>
            <a:ext cx="5760720" cy="1737360"/>
          </a:xfrm>
          <a:prstGeom prst="rect">
            <a:avLst/>
          </a:prstGeom>
          <a:noFill/>
          <a:ln/>
        </p:spPr>
        <p:txBody>
          <a:bodyPr wrap="square" lIns="0" tIns="0" rIns="0" bIns="0" rtlCol="0" anchor="ctr"/>
          <a:lstStyle/>
          <a:p>
            <a:pPr indent="0" marL="0">
              <a:spcAft>
                <a:spcPts val="600"/>
              </a:spcAft>
              <a:buNone/>
            </a:pPr>
            <a:r>
              <a:rPr lang="en-US" sz="1700" b="1" dirty="0">
                <a:solidFill>
                  <a:srgbClr val="2A2238"/>
                </a:solidFill>
                <a:latin typeface="Alexandria" pitchFamily="34" charset="0"/>
                <a:ea typeface="Alexandria" pitchFamily="34" charset="-122"/>
                <a:cs typeface="Alexandria" pitchFamily="34" charset="-120"/>
              </a:rPr>
              <a:t>Người hợp tác phản ứng</a:t>
            </a:r>
            <a:endParaRPr lang="en-US" sz="1700" dirty="0"/>
          </a:p>
          <a:p>
            <a:pPr indent="0" marL="0">
              <a:spcAft>
                <a:spcPts val="600"/>
              </a:spcAft>
              <a:buNone/>
            </a:pPr>
            <a:r>
              <a:rPr lang="en-US" sz="1500" dirty="0">
                <a:solidFill>
                  <a:srgbClr val="2A2238"/>
                </a:solidFill>
                <a:latin typeface="Alexandria" pitchFamily="34" charset="0"/>
                <a:ea typeface="Alexandria" pitchFamily="34" charset="-122"/>
                <a:cs typeface="Alexandria" pitchFamily="34" charset="-120"/>
              </a:rPr>
              <a:t>Một thương hiệu thời trang gỡ ảnh; công ty quản lý chấm dứt hợp đồng.</a:t>
            </a:r>
            <a:endParaRPr lang="en-US" sz="1700" dirty="0"/>
          </a:p>
        </p:txBody>
      </p:sp>
      <p:sp>
        <p:nvSpPr>
          <p:cNvPr id="32" name="Shape 29"/>
          <p:cNvSpPr/>
          <p:nvPr/>
        </p:nvSpPr>
        <p:spPr>
          <a:xfrm>
            <a:off x="7132320" y="4251960"/>
            <a:ext cx="4510735" cy="1737360"/>
          </a:xfrm>
          <a:prstGeom prst="roundRect">
            <a:avLst>
              <a:gd name="adj" fmla="val 6316"/>
            </a:avLst>
          </a:prstGeom>
          <a:solidFill>
            <a:srgbClr val="FFF3C4"/>
          </a:solidFill>
          <a:ln w="12700">
            <a:solidFill>
              <a:srgbClr val="FFD23B"/>
            </a:solidFill>
            <a:prstDash val="solid"/>
          </a:ln>
        </p:spPr>
      </p:sp>
      <p:sp>
        <p:nvSpPr>
          <p:cNvPr id="33" name="Text 30"/>
          <p:cNvSpPr txBox="1"/>
          <p:nvPr/>
        </p:nvSpPr>
        <p:spPr>
          <a:xfrm>
            <a:off x="7406640" y="4251960"/>
            <a:ext cx="3962095" cy="173736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Chuyển giao hình ảnh là hai chiều (Buổi 9) </a:t>
            </a:r>
            <a:pPr indent="0" marL="0">
              <a:buNone/>
            </a:pPr>
            <a:r>
              <a:rPr lang="en-US" sz="1700" b="1" dirty="0">
                <a:solidFill>
                  <a:srgbClr val="2A2238"/>
                </a:solidFill>
                <a:latin typeface="Alexandria" pitchFamily="34" charset="0"/>
                <a:ea typeface="Alexandria" pitchFamily="34" charset="-122"/>
                <a:cs typeface="Alexandria" pitchFamily="34" charset="-120"/>
              </a:rPr>
              <a:t>→ kiểm tra trước khi ký.</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877824"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11.1 KOL</a:t>
            </a:r>
            <a:endParaRPr lang="en-US" sz="1000" dirty="0"/>
          </a:p>
        </p:txBody>
      </p:sp>
      <p:sp>
        <p:nvSpPr>
          <p:cNvPr id="6" name="Shape 4"/>
          <p:cNvSpPr/>
          <p:nvPr/>
        </p:nvSpPr>
        <p:spPr>
          <a:xfrm>
            <a:off x="2368296"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368296"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11.2 Báo chí</a:t>
            </a:r>
            <a:endParaRPr lang="en-US" sz="1000" dirty="0"/>
          </a:p>
        </p:txBody>
      </p:sp>
      <p:sp>
        <p:nvSpPr>
          <p:cNvPr id="8" name="Shape 6"/>
          <p:cNvSpPr/>
          <p:nvPr/>
        </p:nvSpPr>
        <p:spPr>
          <a:xfrm>
            <a:off x="3666744"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3666744"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11.3 Booking &amp; đo lường</a:t>
            </a:r>
            <a:endParaRPr lang="en-US" sz="1000" dirty="0"/>
          </a:p>
        </p:txBody>
      </p:sp>
      <p:sp>
        <p:nvSpPr>
          <p:cNvPr id="10" name="Shape 8"/>
          <p:cNvSpPr/>
          <p:nvPr/>
        </p:nvSpPr>
        <p:spPr>
          <a:xfrm>
            <a:off x="5820156" y="274320"/>
            <a:ext cx="1421892"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5820156"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11.4 Khuếch đại</a:t>
            </a:r>
            <a:endParaRPr lang="en-US" sz="1000" dirty="0"/>
          </a:p>
        </p:txBody>
      </p:sp>
      <p:sp>
        <p:nvSpPr>
          <p:cNvPr id="12" name="Shape 10"/>
          <p:cNvSpPr/>
          <p:nvPr/>
        </p:nvSpPr>
        <p:spPr>
          <a:xfrm>
            <a:off x="7351776" y="274320"/>
            <a:ext cx="877824" cy="292608"/>
          </a:xfrm>
          <a:prstGeom prst="roundRect">
            <a:avLst>
              <a:gd name="adj" fmla="val 50000"/>
            </a:avLst>
          </a:prstGeom>
          <a:solidFill>
            <a:srgbClr val="FBFAF4"/>
          </a:solidFill>
          <a:ln w="9525">
            <a:solidFill>
              <a:srgbClr val="DCD7C8"/>
            </a:solidFill>
            <a:prstDash val="solid"/>
          </a:ln>
        </p:spPr>
      </p:sp>
      <p:sp>
        <p:nvSpPr>
          <p:cNvPr id="13" name="Text 11"/>
          <p:cNvSpPr txBox="1"/>
          <p:nvPr/>
        </p:nvSpPr>
        <p:spPr>
          <a:xfrm>
            <a:off x="735177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4" name="Shape 12"/>
          <p:cNvSpPr/>
          <p:nvPr/>
        </p:nvSpPr>
        <p:spPr>
          <a:xfrm>
            <a:off x="11259007" y="219456"/>
            <a:ext cx="384048" cy="384048"/>
          </a:xfrm>
          <a:prstGeom prst="ellipse">
            <a:avLst/>
          </a:prstGeom>
          <a:ln w="12700">
            <a:solidFill>
              <a:srgbClr val="09A1E5"/>
            </a:solidFill>
            <a:prstDash val="solid"/>
          </a:ln>
        </p:spPr>
      </p:sp>
      <p:sp>
        <p:nvSpPr>
          <p:cNvPr id="15" name="Shape 13"/>
          <p:cNvSpPr/>
          <p:nvPr/>
        </p:nvSpPr>
        <p:spPr>
          <a:xfrm>
            <a:off x="11324295" y="284744"/>
            <a:ext cx="253472" cy="253472"/>
          </a:xfrm>
          <a:prstGeom prst="ellipse">
            <a:avLst/>
          </a:prstGeom>
          <a:ln w="15875">
            <a:solidFill>
              <a:srgbClr val="962B7C"/>
            </a:solidFill>
            <a:prstDash val="solid"/>
          </a:ln>
        </p:spPr>
      </p:sp>
      <p:sp>
        <p:nvSpPr>
          <p:cNvPr id="16" name="Shape 14"/>
          <p:cNvSpPr/>
          <p:nvPr/>
        </p:nvSpPr>
        <p:spPr>
          <a:xfrm>
            <a:off x="11389584" y="350032"/>
            <a:ext cx="122895" cy="122895"/>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Với ngân hàng, KOL tài chính là rủi ro đặc thù</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X07: Nhân Dân; VietnamPlus (17/4/2026) — đã kiểm chứng chéo · X08: Tuổi Trẻ (12/8/2025) — chưa kiểm chứng chéo.</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11   9</a:t>
            </a:r>
            <a:endParaRPr lang="en-US" sz="1000" dirty="0"/>
          </a:p>
        </p:txBody>
      </p:sp>
      <p:sp>
        <p:nvSpPr>
          <p:cNvPr id="21" name="Shape 18"/>
          <p:cNvSpPr/>
          <p:nvPr/>
        </p:nvSpPr>
        <p:spPr>
          <a:xfrm>
            <a:off x="548640" y="1874520"/>
            <a:ext cx="6400800" cy="2377440"/>
          </a:xfrm>
          <a:prstGeom prst="roundRect">
            <a:avLst>
              <a:gd name="adj" fmla="val 4615"/>
            </a:avLst>
          </a:prstGeom>
          <a:solidFill>
            <a:srgbClr val="FFE4EA"/>
          </a:solidFill>
          <a:ln w="12700">
            <a:solidFill>
              <a:srgbClr val="FF5178"/>
            </a:solidFill>
            <a:prstDash val="solid"/>
          </a:ln>
        </p:spPr>
      </p:sp>
      <p:sp>
        <p:nvSpPr>
          <p:cNvPr id="22" name="Text 19"/>
          <p:cNvSpPr txBox="1"/>
          <p:nvPr/>
        </p:nvSpPr>
        <p:spPr>
          <a:xfrm>
            <a:off x="822960" y="2011680"/>
            <a:ext cx="5852160" cy="411480"/>
          </a:xfrm>
          <a:prstGeom prst="rect">
            <a:avLst/>
          </a:prstGeom>
          <a:noFill/>
          <a:ln/>
        </p:spPr>
        <p:txBody>
          <a:bodyPr wrap="square" lIns="0" tIns="0" rIns="0" bIns="0" rtlCol="0" anchor="ctr"/>
          <a:lstStyle/>
          <a:p>
            <a:pPr indent="0" marL="0">
              <a:buNone/>
            </a:pPr>
            <a:r>
              <a:rPr lang="en-US" sz="1500" b="1" dirty="0">
                <a:solidFill>
                  <a:srgbClr val="E03A62"/>
                </a:solidFill>
                <a:latin typeface="Alexandria" pitchFamily="34" charset="0"/>
                <a:ea typeface="Alexandria" pitchFamily="34" charset="-122"/>
                <a:cs typeface="Alexandria" pitchFamily="34" charset="-120"/>
              </a:rPr>
              <a:t>UBCKNN · 4/2026</a:t>
            </a:r>
            <a:endParaRPr lang="en-US" sz="1500" dirty="0"/>
          </a:p>
        </p:txBody>
      </p:sp>
      <p:sp>
        <p:nvSpPr>
          <p:cNvPr id="23" name="Text 20"/>
          <p:cNvSpPr txBox="1"/>
          <p:nvPr/>
        </p:nvSpPr>
        <p:spPr>
          <a:xfrm>
            <a:off x="822960" y="2468880"/>
            <a:ext cx="5852160" cy="1645920"/>
          </a:xfrm>
          <a:prstGeom prst="rect">
            <a:avLst/>
          </a:prstGeom>
          <a:noFill/>
          <a:ln/>
        </p:spPr>
        <p:txBody>
          <a:bodyPr wrap="square" lIns="0" tIns="0" rIns="0" bIns="0" rtlCol="0" anchor="t"/>
          <a:lstStyle/>
          <a:p>
            <a:pPr indent="0" marL="0">
              <a:buNone/>
            </a:pPr>
            <a:r>
              <a:rPr lang="en-US" sz="1700" dirty="0">
                <a:solidFill>
                  <a:srgbClr val="2A2238"/>
                </a:solidFill>
                <a:latin typeface="Alexandria" pitchFamily="34" charset="0"/>
                <a:ea typeface="Alexandria" pitchFamily="34" charset="-122"/>
                <a:cs typeface="Alexandria" pitchFamily="34" charset="-120"/>
              </a:rPr>
              <a:t>Cảnh báo khuyến nghị mua, bán, nắm giữ cổ phiếu trên mạng xã hội khi không được cấp phép tư vấn đầu tư; đã xử phạt một doanh nghiệp.</a:t>
            </a:r>
            <a:endParaRPr lang="en-US" sz="1700" dirty="0"/>
          </a:p>
        </p:txBody>
      </p:sp>
      <p:sp>
        <p:nvSpPr>
          <p:cNvPr id="24" name="Shape 21"/>
          <p:cNvSpPr/>
          <p:nvPr/>
        </p:nvSpPr>
        <p:spPr>
          <a:xfrm>
            <a:off x="548640" y="4480560"/>
            <a:ext cx="6400800" cy="1508760"/>
          </a:xfrm>
          <a:prstGeom prst="roundRect">
            <a:avLst>
              <a:gd name="adj" fmla="val 7273"/>
            </a:avLst>
          </a:prstGeom>
          <a:solidFill>
            <a:srgbClr val="FFFFFF"/>
          </a:solidFill>
          <a:ln w="12700">
            <a:solidFill>
              <a:srgbClr val="DCD7C8"/>
            </a:solidFill>
            <a:prstDash val="solid"/>
          </a:ln>
        </p:spPr>
      </p:sp>
      <p:sp>
        <p:nvSpPr>
          <p:cNvPr id="25" name="Text 22"/>
          <p:cNvSpPr txBox="1"/>
          <p:nvPr/>
        </p:nvSpPr>
        <p:spPr>
          <a:xfrm>
            <a:off x="822960" y="4480560"/>
            <a:ext cx="5852160" cy="150876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Xu hướng: </a:t>
            </a:r>
            <a:pPr indent="0" marL="0">
              <a:buNone/>
            </a:pPr>
            <a:r>
              <a:rPr lang="en-US" sz="1500" dirty="0">
                <a:solidFill>
                  <a:srgbClr val="2A2238"/>
                </a:solidFill>
                <a:latin typeface="Alexandria" pitchFamily="34" charset="0"/>
                <a:ea typeface="Alexandria" pitchFamily="34" charset="-122"/>
                <a:cs typeface="Alexandria" pitchFamily="34" charset="-120"/>
              </a:rPr>
              <a:t>chương trình “Tín nhiệm người có ảnh hưởng” (8/2025) hướng tới chứng nhận uy tín, minh bạch của KOL/KOC.</a:t>
            </a:r>
            <a:pPr indent="0" marL="0">
              <a:buNone/>
            </a:pPr>
            <a:r>
              <a:rPr lang="en-US" sz="1100" dirty="0">
                <a:solidFill>
                  <a:srgbClr val="6E6878"/>
                </a:solidFill>
                <a:latin typeface="Alexandria" pitchFamily="34" charset="0"/>
                <a:ea typeface="Alexandria" pitchFamily="34" charset="-122"/>
                <a:cs typeface="Alexandria" pitchFamily="34" charset="-120"/>
              </a:rPr>
              <a:t>  X08 · chưa KCC</a:t>
            </a:r>
            <a:endParaRPr lang="en-US" sz="1500" dirty="0"/>
          </a:p>
        </p:txBody>
      </p:sp>
      <p:sp>
        <p:nvSpPr>
          <p:cNvPr id="26" name="Shape 23"/>
          <p:cNvSpPr/>
          <p:nvPr/>
        </p:nvSpPr>
        <p:spPr>
          <a:xfrm>
            <a:off x="7223760" y="1874520"/>
            <a:ext cx="4419295" cy="4114800"/>
          </a:xfrm>
          <a:prstGeom prst="roundRect">
            <a:avLst>
              <a:gd name="adj" fmla="val 2667"/>
            </a:avLst>
          </a:prstGeom>
          <a:solidFill>
            <a:srgbClr val="FFF3C4"/>
          </a:solidFill>
          <a:ln w="12700">
            <a:solidFill>
              <a:srgbClr val="FFD23B"/>
            </a:solidFill>
            <a:prstDash val="solid"/>
          </a:ln>
        </p:spPr>
      </p:sp>
      <p:sp>
        <p:nvSpPr>
          <p:cNvPr id="27" name="Text 24"/>
          <p:cNvSpPr txBox="1"/>
          <p:nvPr/>
        </p:nvSpPr>
        <p:spPr>
          <a:xfrm>
            <a:off x="7498080" y="2057400"/>
            <a:ext cx="3870655" cy="45720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Câu hỏi của Nova:</a:t>
            </a:r>
            <a:endParaRPr lang="en-US" sz="1600" dirty="0"/>
          </a:p>
        </p:txBody>
      </p:sp>
      <p:sp>
        <p:nvSpPr>
          <p:cNvPr id="28" name="Text 25"/>
          <p:cNvSpPr txBox="1"/>
          <p:nvPr/>
        </p:nvSpPr>
        <p:spPr>
          <a:xfrm>
            <a:off x="7498080" y="2560320"/>
            <a:ext cx="3870655" cy="1097280"/>
          </a:xfrm>
          <a:prstGeom prst="rect">
            <a:avLst/>
          </a:prstGeom>
          <a:noFill/>
          <a:ln/>
        </p:spPr>
        <p:txBody>
          <a:bodyPr wrap="square" lIns="0" tIns="0" rIns="0" bIns="0" rtlCol="0" anchor="t"/>
          <a:lstStyle/>
          <a:p>
            <a:pPr indent="0" marL="0">
              <a:buNone/>
            </a:pPr>
            <a:r>
              <a:rPr lang="en-US" sz="2000" b="1" dirty="0">
                <a:solidFill>
                  <a:srgbClr val="2A2238"/>
                </a:solidFill>
                <a:latin typeface="Alexandria" pitchFamily="34" charset="0"/>
                <a:ea typeface="Alexandria" pitchFamily="34" charset="-122"/>
                <a:cs typeface="Alexandria" pitchFamily="34" charset="-120"/>
              </a:rPr>
              <a:t>Họ sẽ nói gì trên sân khấu của An Phát?</a:t>
            </a:r>
            <a:endParaRPr lang="en-US" sz="2000" dirty="0"/>
          </a:p>
        </p:txBody>
      </p:sp>
      <p:sp>
        <p:nvSpPr>
          <p:cNvPr id="29" name="Shape 26"/>
          <p:cNvSpPr/>
          <p:nvPr/>
        </p:nvSpPr>
        <p:spPr>
          <a:xfrm>
            <a:off x="7498080" y="3840480"/>
            <a:ext cx="3870655" cy="548640"/>
          </a:xfrm>
          <a:prstGeom prst="roundRect">
            <a:avLst>
              <a:gd name="adj" fmla="val 50000"/>
            </a:avLst>
          </a:prstGeom>
          <a:solidFill>
            <a:srgbClr val="49B296"/>
          </a:solidFill>
          <a:ln w="12700">
            <a:solidFill>
              <a:srgbClr val="49B296"/>
            </a:solidFill>
            <a:prstDash val="solid"/>
          </a:ln>
        </p:spPr>
      </p:sp>
      <p:sp>
        <p:nvSpPr>
          <p:cNvPr id="30" name="Text 27"/>
          <p:cNvSpPr txBox="1"/>
          <p:nvPr/>
        </p:nvSpPr>
        <p:spPr>
          <a:xfrm>
            <a:off x="7571232" y="3840480"/>
            <a:ext cx="3724351"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Kiến thức</a:t>
            </a:r>
            <a:endParaRPr lang="en-US" sz="1500" dirty="0"/>
          </a:p>
        </p:txBody>
      </p:sp>
      <p:sp>
        <p:nvSpPr>
          <p:cNvPr id="31" name="Shape 28"/>
          <p:cNvSpPr/>
          <p:nvPr/>
        </p:nvSpPr>
        <p:spPr>
          <a:xfrm>
            <a:off x="7498080" y="4572000"/>
            <a:ext cx="3870655" cy="548640"/>
          </a:xfrm>
          <a:prstGeom prst="roundRect">
            <a:avLst>
              <a:gd name="adj" fmla="val 50000"/>
            </a:avLst>
          </a:prstGeom>
          <a:solidFill>
            <a:srgbClr val="FF5178"/>
          </a:solidFill>
          <a:ln w="12700">
            <a:solidFill>
              <a:srgbClr val="FF5178"/>
            </a:solidFill>
            <a:prstDash val="solid"/>
          </a:ln>
        </p:spPr>
      </p:sp>
      <p:sp>
        <p:nvSpPr>
          <p:cNvPr id="32" name="Text 29"/>
          <p:cNvSpPr txBox="1"/>
          <p:nvPr/>
        </p:nvSpPr>
        <p:spPr>
          <a:xfrm>
            <a:off x="7571232" y="4572000"/>
            <a:ext cx="3724351"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“Nên mua mã này”</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87782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11.1 KOL</a:t>
            </a:r>
            <a:endParaRPr lang="en-US" sz="1000" dirty="0"/>
          </a:p>
        </p:txBody>
      </p:sp>
      <p:sp>
        <p:nvSpPr>
          <p:cNvPr id="6" name="Shape 4"/>
          <p:cNvSpPr/>
          <p:nvPr/>
        </p:nvSpPr>
        <p:spPr>
          <a:xfrm>
            <a:off x="2368296" y="274320"/>
            <a:ext cx="1188720" cy="292608"/>
          </a:xfrm>
          <a:prstGeom prst="roundRect">
            <a:avLst>
              <a:gd name="adj" fmla="val 50000"/>
            </a:avLst>
          </a:prstGeom>
          <a:solidFill>
            <a:srgbClr val="962B7C"/>
          </a:solidFill>
          <a:ln w="9525">
            <a:solidFill>
              <a:srgbClr val="962B7C"/>
            </a:solidFill>
            <a:prstDash val="solid"/>
          </a:ln>
        </p:spPr>
      </p:sp>
      <p:sp>
        <p:nvSpPr>
          <p:cNvPr id="7" name="Text 5"/>
          <p:cNvSpPr txBox="1"/>
          <p:nvPr/>
        </p:nvSpPr>
        <p:spPr>
          <a:xfrm>
            <a:off x="2368296" y="274320"/>
            <a:ext cx="11887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11.2 Báo chí</a:t>
            </a:r>
            <a:endParaRPr lang="en-US" sz="1000" dirty="0"/>
          </a:p>
        </p:txBody>
      </p:sp>
      <p:sp>
        <p:nvSpPr>
          <p:cNvPr id="8" name="Shape 6"/>
          <p:cNvSpPr/>
          <p:nvPr/>
        </p:nvSpPr>
        <p:spPr>
          <a:xfrm>
            <a:off x="3666744"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3666744"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11.3 Booking &amp; đo lường</a:t>
            </a:r>
            <a:endParaRPr lang="en-US" sz="1000" dirty="0"/>
          </a:p>
        </p:txBody>
      </p:sp>
      <p:sp>
        <p:nvSpPr>
          <p:cNvPr id="10" name="Shape 8"/>
          <p:cNvSpPr/>
          <p:nvPr/>
        </p:nvSpPr>
        <p:spPr>
          <a:xfrm>
            <a:off x="5820156" y="274320"/>
            <a:ext cx="1421892"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5820156"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11.4 Khuếch đại</a:t>
            </a:r>
            <a:endParaRPr lang="en-US" sz="1000" dirty="0"/>
          </a:p>
        </p:txBody>
      </p:sp>
      <p:sp>
        <p:nvSpPr>
          <p:cNvPr id="12" name="Shape 10"/>
          <p:cNvSpPr/>
          <p:nvPr/>
        </p:nvSpPr>
        <p:spPr>
          <a:xfrm>
            <a:off x="7351776" y="274320"/>
            <a:ext cx="877824" cy="292608"/>
          </a:xfrm>
          <a:prstGeom prst="roundRect">
            <a:avLst>
              <a:gd name="adj" fmla="val 50000"/>
            </a:avLst>
          </a:prstGeom>
          <a:solidFill>
            <a:srgbClr val="FBFAF4"/>
          </a:solidFill>
          <a:ln w="9525">
            <a:solidFill>
              <a:srgbClr val="DCD7C8"/>
            </a:solidFill>
            <a:prstDash val="solid"/>
          </a:ln>
        </p:spPr>
      </p:sp>
      <p:sp>
        <p:nvSpPr>
          <p:cNvPr id="13" name="Text 11"/>
          <p:cNvSpPr txBox="1"/>
          <p:nvPr/>
        </p:nvSpPr>
        <p:spPr>
          <a:xfrm>
            <a:off x="735177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4" name="Shape 12"/>
          <p:cNvSpPr/>
          <p:nvPr/>
        </p:nvSpPr>
        <p:spPr>
          <a:xfrm>
            <a:off x="11259007" y="219456"/>
            <a:ext cx="384048" cy="384048"/>
          </a:xfrm>
          <a:prstGeom prst="ellipse">
            <a:avLst/>
          </a:prstGeom>
          <a:ln w="12700">
            <a:solidFill>
              <a:srgbClr val="09A1E5"/>
            </a:solidFill>
            <a:prstDash val="solid"/>
          </a:ln>
        </p:spPr>
      </p:sp>
      <p:sp>
        <p:nvSpPr>
          <p:cNvPr id="15" name="Shape 13"/>
          <p:cNvSpPr/>
          <p:nvPr/>
        </p:nvSpPr>
        <p:spPr>
          <a:xfrm>
            <a:off x="11324295" y="284744"/>
            <a:ext cx="253472" cy="253472"/>
          </a:xfrm>
          <a:prstGeom prst="ellipse">
            <a:avLst/>
          </a:prstGeom>
          <a:ln w="15875">
            <a:solidFill>
              <a:srgbClr val="962B7C"/>
            </a:solidFill>
            <a:prstDash val="solid"/>
          </a:ln>
        </p:spPr>
      </p:sp>
      <p:sp>
        <p:nvSpPr>
          <p:cNvPr id="16" name="Shape 14"/>
          <p:cNvSpPr/>
          <p:nvPr/>
        </p:nvSpPr>
        <p:spPr>
          <a:xfrm>
            <a:off x="11389584" y="350032"/>
            <a:ext cx="122895" cy="122895"/>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Hiểu khán giả trước, chọn kênh sau</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X13: AMEC (2025), Barcelona Principles 4.0 — nguyên tắc 2.</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11   10</a:t>
            </a:r>
            <a:endParaRPr lang="en-US" sz="1000" dirty="0"/>
          </a:p>
        </p:txBody>
      </p:sp>
      <p:sp>
        <p:nvSpPr>
          <p:cNvPr id="21" name="Shape 18"/>
          <p:cNvSpPr/>
          <p:nvPr/>
        </p:nvSpPr>
        <p:spPr>
          <a:xfrm>
            <a:off x="548640" y="1874520"/>
            <a:ext cx="11094415" cy="1417320"/>
          </a:xfrm>
          <a:prstGeom prst="roundRect">
            <a:avLst>
              <a:gd name="adj" fmla="val 7742"/>
            </a:avLst>
          </a:prstGeom>
          <a:solidFill>
            <a:srgbClr val="DDF1FB"/>
          </a:solidFill>
          <a:ln w="12700">
            <a:solidFill>
              <a:srgbClr val="09A1E5"/>
            </a:solidFill>
            <a:prstDash val="solid"/>
          </a:ln>
        </p:spPr>
      </p:sp>
      <p:sp>
        <p:nvSpPr>
          <p:cNvPr id="22" name="Text 19"/>
          <p:cNvSpPr txBox="1"/>
          <p:nvPr/>
        </p:nvSpPr>
        <p:spPr>
          <a:xfrm>
            <a:off x="868680" y="1874520"/>
            <a:ext cx="10454335" cy="141732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Barcelona Principles 4.0 — nguyên tắc 2: </a:t>
            </a:r>
            <a:pPr indent="0" marL="0">
              <a:buNone/>
            </a:pPr>
            <a:r>
              <a:rPr lang="en-US" sz="1800" dirty="0">
                <a:solidFill>
                  <a:srgbClr val="2A2238"/>
                </a:solidFill>
                <a:latin typeface="Alexandria" pitchFamily="34" charset="0"/>
                <a:ea typeface="Alexandria" pitchFamily="34" charset="-122"/>
                <a:cs typeface="Alexandria" pitchFamily="34" charset="-120"/>
              </a:rPr>
              <a:t>xác định và hiểu mọi nhóm khán giả – bên liên quan là bước thiết yếu để lập kế hoạch, xây quan hệ và tạo tác động.</a:t>
            </a:r>
            <a:endParaRPr lang="en-US" sz="1800" dirty="0"/>
          </a:p>
        </p:txBody>
      </p:sp>
      <p:sp>
        <p:nvSpPr>
          <p:cNvPr id="23" name="Text 20"/>
          <p:cNvSpPr txBox="1"/>
          <p:nvPr/>
        </p:nvSpPr>
        <p:spPr>
          <a:xfrm>
            <a:off x="548640" y="3611880"/>
            <a:ext cx="11094415" cy="41148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600 lãnh đạo doanh nghiệp VIP của An Phát:</a:t>
            </a:r>
            <a:endParaRPr lang="en-US" sz="1600" dirty="0"/>
          </a:p>
        </p:txBody>
      </p:sp>
      <p:sp>
        <p:nvSpPr>
          <p:cNvPr id="24" name="Shape 21"/>
          <p:cNvSpPr/>
          <p:nvPr/>
        </p:nvSpPr>
        <p:spPr>
          <a:xfrm>
            <a:off x="548640" y="4160520"/>
            <a:ext cx="3515258" cy="1280160"/>
          </a:xfrm>
          <a:prstGeom prst="roundRect">
            <a:avLst>
              <a:gd name="adj" fmla="val 8571"/>
            </a:avLst>
          </a:prstGeom>
          <a:solidFill>
            <a:srgbClr val="FFFFFF"/>
          </a:solidFill>
          <a:ln w="25400">
            <a:solidFill>
              <a:srgbClr val="962B7C"/>
            </a:solidFill>
            <a:prstDash val="solid"/>
          </a:ln>
        </p:spPr>
      </p:sp>
      <p:sp>
        <p:nvSpPr>
          <p:cNvPr id="25" name="Text 22"/>
          <p:cNvSpPr txBox="1"/>
          <p:nvPr/>
        </p:nvSpPr>
        <p:spPr>
          <a:xfrm>
            <a:off x="822960" y="4160520"/>
            <a:ext cx="2966618" cy="1280160"/>
          </a:xfrm>
          <a:prstGeom prst="rect">
            <a:avLst/>
          </a:prstGeom>
          <a:noFill/>
          <a:ln/>
        </p:spPr>
        <p:txBody>
          <a:bodyPr wrap="square" lIns="0" tIns="0" rIns="0" bIns="0" rtlCol="0" anchor="ctr"/>
          <a:lstStyle/>
          <a:p>
            <a:pPr algn="ctr" indent="0" marL="0">
              <a:buNone/>
            </a:pPr>
            <a:r>
              <a:rPr lang="en-US" sz="2200" b="1" dirty="0">
                <a:solidFill>
                  <a:srgbClr val="2A2238"/>
                </a:solidFill>
                <a:latin typeface="Alexandria" pitchFamily="34" charset="0"/>
                <a:ea typeface="Alexandria" pitchFamily="34" charset="-122"/>
                <a:cs typeface="Alexandria" pitchFamily="34" charset="-120"/>
              </a:rPr>
              <a:t>Đọc báo gì?</a:t>
            </a:r>
            <a:endParaRPr lang="en-US" sz="2200" dirty="0"/>
          </a:p>
        </p:txBody>
      </p:sp>
      <p:sp>
        <p:nvSpPr>
          <p:cNvPr id="26" name="Shape 23"/>
          <p:cNvSpPr/>
          <p:nvPr/>
        </p:nvSpPr>
        <p:spPr>
          <a:xfrm>
            <a:off x="4338218" y="4160520"/>
            <a:ext cx="3515258" cy="1280160"/>
          </a:xfrm>
          <a:prstGeom prst="roundRect">
            <a:avLst>
              <a:gd name="adj" fmla="val 8571"/>
            </a:avLst>
          </a:prstGeom>
          <a:solidFill>
            <a:srgbClr val="FFFFFF"/>
          </a:solidFill>
          <a:ln w="25400">
            <a:solidFill>
              <a:srgbClr val="FF5178"/>
            </a:solidFill>
            <a:prstDash val="solid"/>
          </a:ln>
        </p:spPr>
      </p:sp>
      <p:sp>
        <p:nvSpPr>
          <p:cNvPr id="27" name="Text 24"/>
          <p:cNvSpPr txBox="1"/>
          <p:nvPr/>
        </p:nvSpPr>
        <p:spPr>
          <a:xfrm>
            <a:off x="4612538" y="4160520"/>
            <a:ext cx="2966618" cy="1280160"/>
          </a:xfrm>
          <a:prstGeom prst="rect">
            <a:avLst/>
          </a:prstGeom>
          <a:noFill/>
          <a:ln/>
        </p:spPr>
        <p:txBody>
          <a:bodyPr wrap="square" lIns="0" tIns="0" rIns="0" bIns="0" rtlCol="0" anchor="ctr"/>
          <a:lstStyle/>
          <a:p>
            <a:pPr algn="ctr" indent="0" marL="0">
              <a:buNone/>
            </a:pPr>
            <a:r>
              <a:rPr lang="en-US" sz="2200" b="1" dirty="0">
                <a:solidFill>
                  <a:srgbClr val="2A2238"/>
                </a:solidFill>
                <a:latin typeface="Alexandria" pitchFamily="34" charset="0"/>
                <a:ea typeface="Alexandria" pitchFamily="34" charset="-122"/>
                <a:cs typeface="Alexandria" pitchFamily="34" charset="-120"/>
              </a:rPr>
              <a:t>Nghe ai, tin ai?</a:t>
            </a:r>
            <a:endParaRPr lang="en-US" sz="2200" dirty="0"/>
          </a:p>
        </p:txBody>
      </p:sp>
      <p:sp>
        <p:nvSpPr>
          <p:cNvPr id="28" name="Shape 25"/>
          <p:cNvSpPr/>
          <p:nvPr/>
        </p:nvSpPr>
        <p:spPr>
          <a:xfrm>
            <a:off x="8127797" y="4160520"/>
            <a:ext cx="3515258" cy="1280160"/>
          </a:xfrm>
          <a:prstGeom prst="roundRect">
            <a:avLst>
              <a:gd name="adj" fmla="val 8571"/>
            </a:avLst>
          </a:prstGeom>
          <a:solidFill>
            <a:srgbClr val="FFFFFF"/>
          </a:solidFill>
          <a:ln w="25400">
            <a:solidFill>
              <a:srgbClr val="FF9259"/>
            </a:solidFill>
            <a:prstDash val="solid"/>
          </a:ln>
        </p:spPr>
      </p:sp>
      <p:sp>
        <p:nvSpPr>
          <p:cNvPr id="29" name="Text 26"/>
          <p:cNvSpPr txBox="1"/>
          <p:nvPr/>
        </p:nvSpPr>
        <p:spPr>
          <a:xfrm>
            <a:off x="8402117" y="4160520"/>
            <a:ext cx="2966618" cy="1280160"/>
          </a:xfrm>
          <a:prstGeom prst="rect">
            <a:avLst/>
          </a:prstGeom>
          <a:noFill/>
          <a:ln/>
        </p:spPr>
        <p:txBody>
          <a:bodyPr wrap="square" lIns="0" tIns="0" rIns="0" bIns="0" rtlCol="0" anchor="ctr"/>
          <a:lstStyle/>
          <a:p>
            <a:pPr algn="ctr" indent="0" marL="0">
              <a:buNone/>
            </a:pPr>
            <a:r>
              <a:rPr lang="en-US" sz="2200" b="1" dirty="0">
                <a:solidFill>
                  <a:srgbClr val="2A2238"/>
                </a:solidFill>
                <a:latin typeface="Alexandria" pitchFamily="34" charset="0"/>
                <a:ea typeface="Alexandria" pitchFamily="34" charset="-122"/>
                <a:cs typeface="Alexandria" pitchFamily="34" charset="-120"/>
              </a:rPr>
              <a:t>Bận thế nào?</a:t>
            </a:r>
            <a:endParaRPr lang="en-US" sz="2200" dirty="0"/>
          </a:p>
        </p:txBody>
      </p:sp>
      <p:sp>
        <p:nvSpPr>
          <p:cNvPr id="30" name="Text 27"/>
          <p:cNvSpPr txBox="1"/>
          <p:nvPr/>
        </p:nvSpPr>
        <p:spPr>
          <a:xfrm>
            <a:off x="548640" y="5577840"/>
            <a:ext cx="11094415" cy="411480"/>
          </a:xfrm>
          <a:prstGeom prst="rect">
            <a:avLst/>
          </a:prstGeom>
          <a:noFill/>
          <a:ln/>
        </p:spPr>
        <p:txBody>
          <a:bodyPr wrap="square" lIns="0" tIns="0" rIns="0" bIns="0" rtlCol="0" anchor="ctr"/>
          <a:lstStyle/>
          <a:p>
            <a:pPr indent="0" marL="0">
              <a:buNone/>
            </a:pPr>
            <a:r>
              <a:rPr lang="en-US" sz="1500" i="1" dirty="0">
                <a:solidFill>
                  <a:srgbClr val="962B7C"/>
                </a:solidFill>
                <a:latin typeface="Alexandria" pitchFamily="34" charset="0"/>
                <a:ea typeface="Alexandria" pitchFamily="34" charset="-122"/>
                <a:cs typeface="Alexandria" pitchFamily="34" charset="-120"/>
              </a:rPr>
              <a:t>→ rồi mới chọn nhà báo, diễn giả, KOL</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87782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11.1 KOL</a:t>
            </a:r>
            <a:endParaRPr lang="en-US" sz="1000" dirty="0"/>
          </a:p>
        </p:txBody>
      </p:sp>
      <p:sp>
        <p:nvSpPr>
          <p:cNvPr id="6" name="Shape 4"/>
          <p:cNvSpPr/>
          <p:nvPr/>
        </p:nvSpPr>
        <p:spPr>
          <a:xfrm>
            <a:off x="2368296" y="274320"/>
            <a:ext cx="1188720" cy="292608"/>
          </a:xfrm>
          <a:prstGeom prst="roundRect">
            <a:avLst>
              <a:gd name="adj" fmla="val 50000"/>
            </a:avLst>
          </a:prstGeom>
          <a:solidFill>
            <a:srgbClr val="962B7C"/>
          </a:solidFill>
          <a:ln w="9525">
            <a:solidFill>
              <a:srgbClr val="962B7C"/>
            </a:solidFill>
            <a:prstDash val="solid"/>
          </a:ln>
        </p:spPr>
      </p:sp>
      <p:sp>
        <p:nvSpPr>
          <p:cNvPr id="7" name="Text 5"/>
          <p:cNvSpPr txBox="1"/>
          <p:nvPr/>
        </p:nvSpPr>
        <p:spPr>
          <a:xfrm>
            <a:off x="2368296" y="274320"/>
            <a:ext cx="11887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11.2 Báo chí</a:t>
            </a:r>
            <a:endParaRPr lang="en-US" sz="1000" dirty="0"/>
          </a:p>
        </p:txBody>
      </p:sp>
      <p:sp>
        <p:nvSpPr>
          <p:cNvPr id="8" name="Shape 6"/>
          <p:cNvSpPr/>
          <p:nvPr/>
        </p:nvSpPr>
        <p:spPr>
          <a:xfrm>
            <a:off x="3666744"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3666744"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11.3 Booking &amp; đo lường</a:t>
            </a:r>
            <a:endParaRPr lang="en-US" sz="1000" dirty="0"/>
          </a:p>
        </p:txBody>
      </p:sp>
      <p:sp>
        <p:nvSpPr>
          <p:cNvPr id="10" name="Shape 8"/>
          <p:cNvSpPr/>
          <p:nvPr/>
        </p:nvSpPr>
        <p:spPr>
          <a:xfrm>
            <a:off x="5820156" y="274320"/>
            <a:ext cx="1421892"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5820156"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11.4 Khuếch đại</a:t>
            </a:r>
            <a:endParaRPr lang="en-US" sz="1000" dirty="0"/>
          </a:p>
        </p:txBody>
      </p:sp>
      <p:sp>
        <p:nvSpPr>
          <p:cNvPr id="12" name="Shape 10"/>
          <p:cNvSpPr/>
          <p:nvPr/>
        </p:nvSpPr>
        <p:spPr>
          <a:xfrm>
            <a:off x="7351776" y="274320"/>
            <a:ext cx="877824" cy="292608"/>
          </a:xfrm>
          <a:prstGeom prst="roundRect">
            <a:avLst>
              <a:gd name="adj" fmla="val 50000"/>
            </a:avLst>
          </a:prstGeom>
          <a:solidFill>
            <a:srgbClr val="FBFAF4"/>
          </a:solidFill>
          <a:ln w="9525">
            <a:solidFill>
              <a:srgbClr val="DCD7C8"/>
            </a:solidFill>
            <a:prstDash val="solid"/>
          </a:ln>
        </p:spPr>
      </p:sp>
      <p:sp>
        <p:nvSpPr>
          <p:cNvPr id="13" name="Text 11"/>
          <p:cNvSpPr txBox="1"/>
          <p:nvPr/>
        </p:nvSpPr>
        <p:spPr>
          <a:xfrm>
            <a:off x="735177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4" name="Shape 12"/>
          <p:cNvSpPr/>
          <p:nvPr/>
        </p:nvSpPr>
        <p:spPr>
          <a:xfrm>
            <a:off x="11259007" y="219456"/>
            <a:ext cx="384048" cy="384048"/>
          </a:xfrm>
          <a:prstGeom prst="ellipse">
            <a:avLst/>
          </a:prstGeom>
          <a:ln w="12700">
            <a:solidFill>
              <a:srgbClr val="09A1E5"/>
            </a:solidFill>
            <a:prstDash val="solid"/>
          </a:ln>
        </p:spPr>
      </p:sp>
      <p:sp>
        <p:nvSpPr>
          <p:cNvPr id="15" name="Shape 13"/>
          <p:cNvSpPr/>
          <p:nvPr/>
        </p:nvSpPr>
        <p:spPr>
          <a:xfrm>
            <a:off x="11324295" y="284744"/>
            <a:ext cx="253472" cy="253472"/>
          </a:xfrm>
          <a:prstGeom prst="ellipse">
            <a:avLst/>
          </a:prstGeom>
          <a:ln w="15875">
            <a:solidFill>
              <a:srgbClr val="962B7C"/>
            </a:solidFill>
            <a:prstDash val="solid"/>
          </a:ln>
        </p:spPr>
      </p:sp>
      <p:sp>
        <p:nvSpPr>
          <p:cNvPr id="16" name="Shape 14"/>
          <p:cNvSpPr/>
          <p:nvPr/>
        </p:nvSpPr>
        <p:spPr>
          <a:xfrm>
            <a:off x="11389584" y="350032"/>
            <a:ext cx="122895" cy="122895"/>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Bản đồ nhà báo có ba trục: mảng, độc giả, mức quan hệ</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X09: Cision (2025), chưa KCC · X10: Luật Báo chí 2016 (đã KCC); PLO về Luật Báo chí 2025, NĐ 237/2026 (chưa KCC).</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11   11</a:t>
            </a:r>
            <a:endParaRPr lang="en-US" sz="1000" dirty="0"/>
          </a:p>
        </p:txBody>
      </p:sp>
      <p:sp>
        <p:nvSpPr>
          <p:cNvPr id="21" name="Shape 18"/>
          <p:cNvSpPr/>
          <p:nvPr/>
        </p:nvSpPr>
        <p:spPr>
          <a:xfrm>
            <a:off x="548640" y="1828800"/>
            <a:ext cx="3515258" cy="3246120"/>
          </a:xfrm>
          <a:prstGeom prst="roundRect">
            <a:avLst>
              <a:gd name="adj" fmla="val 3380"/>
            </a:avLst>
          </a:prstGeom>
          <a:solidFill>
            <a:srgbClr val="F1E1EE"/>
          </a:solidFill>
          <a:ln w="12700">
            <a:solidFill>
              <a:srgbClr val="962B7C"/>
            </a:solidFill>
            <a:prstDash val="solid"/>
          </a:ln>
        </p:spPr>
      </p:sp>
      <p:sp>
        <p:nvSpPr>
          <p:cNvPr id="22" name="Text 19"/>
          <p:cNvSpPr txBox="1"/>
          <p:nvPr/>
        </p:nvSpPr>
        <p:spPr>
          <a:xfrm>
            <a:off x="822960" y="1965960"/>
            <a:ext cx="2966618" cy="45720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Mảng phụ trách · beat</a:t>
            </a:r>
            <a:endParaRPr lang="en-US" sz="1700" dirty="0"/>
          </a:p>
        </p:txBody>
      </p:sp>
      <p:sp>
        <p:nvSpPr>
          <p:cNvPr id="23" name="Text 20"/>
          <p:cNvSpPr txBox="1"/>
          <p:nvPr/>
        </p:nvSpPr>
        <p:spPr>
          <a:xfrm>
            <a:off x="822960" y="2423160"/>
            <a:ext cx="2966618" cy="822960"/>
          </a:xfrm>
          <a:prstGeom prst="rect">
            <a:avLst/>
          </a:prstGeom>
          <a:noFill/>
          <a:ln/>
        </p:spPr>
        <p:txBody>
          <a:bodyPr wrap="square" lIns="0" tIns="0" rIns="0" bIns="0" rtlCol="0" anchor="t"/>
          <a:lstStyle/>
          <a:p>
            <a:pPr indent="0" marL="0">
              <a:buNone/>
            </a:pPr>
            <a:r>
              <a:rPr lang="en-US" sz="1300" dirty="0">
                <a:solidFill>
                  <a:srgbClr val="2A2238"/>
                </a:solidFill>
                <a:latin typeface="Alexandria" pitchFamily="34" charset="0"/>
                <a:ea typeface="Alexandria" pitchFamily="34" charset="-122"/>
                <a:cs typeface="Alexandria" pitchFamily="34" charset="-120"/>
              </a:rPr>
              <a:t>Ngân hàng – tài chính? Doanh nghiệp? Giải trí?</a:t>
            </a:r>
            <a:endParaRPr lang="en-US" sz="1300" dirty="0"/>
          </a:p>
        </p:txBody>
      </p:sp>
      <p:sp>
        <p:nvSpPr>
          <p:cNvPr id="24" name="Text 21"/>
          <p:cNvSpPr txBox="1"/>
          <p:nvPr/>
        </p:nvSpPr>
        <p:spPr>
          <a:xfrm>
            <a:off x="822960" y="3291840"/>
            <a:ext cx="2966618" cy="731520"/>
          </a:xfrm>
          <a:prstGeom prst="rect">
            <a:avLst/>
          </a:prstGeom>
          <a:noFill/>
          <a:ln/>
        </p:spPr>
        <p:txBody>
          <a:bodyPr wrap="square" lIns="0" tIns="0" rIns="0" bIns="0" rtlCol="0" anchor="ctr"/>
          <a:lstStyle/>
          <a:p>
            <a:pPr indent="0" marL="0">
              <a:buNone/>
            </a:pPr>
            <a:r>
              <a:rPr lang="en-US" sz="3400" b="1" dirty="0">
                <a:solidFill>
                  <a:srgbClr val="962B7C"/>
                </a:solidFill>
                <a:latin typeface="Alexandria" pitchFamily="34" charset="0"/>
                <a:ea typeface="Alexandria" pitchFamily="34" charset="-122"/>
                <a:cs typeface="Alexandria" pitchFamily="34" charset="-120"/>
              </a:rPr>
              <a:t>86%</a:t>
            </a:r>
            <a:endParaRPr lang="en-US" sz="3400" dirty="0"/>
          </a:p>
        </p:txBody>
      </p:sp>
      <p:sp>
        <p:nvSpPr>
          <p:cNvPr id="25" name="Text 22"/>
          <p:cNvSpPr txBox="1"/>
          <p:nvPr/>
        </p:nvSpPr>
        <p:spPr>
          <a:xfrm>
            <a:off x="822960" y="4023360"/>
            <a:ext cx="2966618" cy="960120"/>
          </a:xfrm>
          <a:prstGeom prst="rect">
            <a:avLst/>
          </a:prstGeom>
          <a:noFill/>
          <a:ln/>
        </p:spPr>
        <p:txBody>
          <a:bodyPr wrap="square" lIns="0" tIns="0" rIns="0" bIns="0" rtlCol="0" anchor="t"/>
          <a:lstStyle/>
          <a:p>
            <a:pPr indent="0" marL="0">
              <a:buNone/>
            </a:pPr>
            <a:r>
              <a:rPr lang="en-US" sz="1200" dirty="0">
                <a:solidFill>
                  <a:srgbClr val="2A2238"/>
                </a:solidFill>
                <a:latin typeface="Alexandria" pitchFamily="34" charset="0"/>
                <a:ea typeface="Alexandria" pitchFamily="34" charset="-122"/>
                <a:cs typeface="Alexandria" pitchFamily="34" charset="-120"/>
              </a:rPr>
              <a:t>nhà báo từ chối ngay pitch lệch mảng hoặc lệch độc giả</a:t>
            </a:r>
            <a:endParaRPr lang="en-US" sz="1200" dirty="0"/>
          </a:p>
        </p:txBody>
      </p:sp>
      <p:sp>
        <p:nvSpPr>
          <p:cNvPr id="26" name="Shape 23"/>
          <p:cNvSpPr/>
          <p:nvPr/>
        </p:nvSpPr>
        <p:spPr>
          <a:xfrm>
            <a:off x="4338218" y="1828800"/>
            <a:ext cx="3515258" cy="3246120"/>
          </a:xfrm>
          <a:prstGeom prst="roundRect">
            <a:avLst>
              <a:gd name="adj" fmla="val 3380"/>
            </a:avLst>
          </a:prstGeom>
          <a:solidFill>
            <a:srgbClr val="DDF1FB"/>
          </a:solidFill>
          <a:ln w="12700">
            <a:solidFill>
              <a:srgbClr val="09A1E5"/>
            </a:solidFill>
            <a:prstDash val="solid"/>
          </a:ln>
        </p:spPr>
      </p:sp>
      <p:sp>
        <p:nvSpPr>
          <p:cNvPr id="27" name="Text 24"/>
          <p:cNvSpPr txBox="1"/>
          <p:nvPr/>
        </p:nvSpPr>
        <p:spPr>
          <a:xfrm>
            <a:off x="4612538" y="1965960"/>
            <a:ext cx="2966618" cy="45720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Độc giả</a:t>
            </a:r>
            <a:endParaRPr lang="en-US" sz="1700" dirty="0"/>
          </a:p>
        </p:txBody>
      </p:sp>
      <p:sp>
        <p:nvSpPr>
          <p:cNvPr id="28" name="Text 25"/>
          <p:cNvSpPr txBox="1"/>
          <p:nvPr/>
        </p:nvSpPr>
        <p:spPr>
          <a:xfrm>
            <a:off x="4612538" y="2423160"/>
            <a:ext cx="2966618" cy="822960"/>
          </a:xfrm>
          <a:prstGeom prst="rect">
            <a:avLst/>
          </a:prstGeom>
          <a:noFill/>
          <a:ln/>
        </p:spPr>
        <p:txBody>
          <a:bodyPr wrap="square" lIns="0" tIns="0" rIns="0" bIns="0" rtlCol="0" anchor="t"/>
          <a:lstStyle/>
          <a:p>
            <a:pPr indent="0" marL="0">
              <a:buNone/>
            </a:pPr>
            <a:r>
              <a:rPr lang="en-US" sz="1300" dirty="0">
                <a:solidFill>
                  <a:srgbClr val="2A2238"/>
                </a:solidFill>
                <a:latin typeface="Alexandria" pitchFamily="34" charset="0"/>
                <a:ea typeface="Alexandria" pitchFamily="34" charset="-122"/>
                <a:cs typeface="Alexandria" pitchFamily="34" charset="-120"/>
              </a:rPr>
              <a:t>Độc giả của họ có trùng khách của An Phát không?</a:t>
            </a:r>
            <a:endParaRPr lang="en-US" sz="1300" dirty="0"/>
          </a:p>
        </p:txBody>
      </p:sp>
      <p:sp>
        <p:nvSpPr>
          <p:cNvPr id="29" name="Text 26"/>
          <p:cNvSpPr txBox="1"/>
          <p:nvPr/>
        </p:nvSpPr>
        <p:spPr>
          <a:xfrm>
            <a:off x="4612538" y="3291840"/>
            <a:ext cx="2966618" cy="731520"/>
          </a:xfrm>
          <a:prstGeom prst="rect">
            <a:avLst/>
          </a:prstGeom>
          <a:noFill/>
          <a:ln/>
        </p:spPr>
        <p:txBody>
          <a:bodyPr wrap="square" lIns="0" tIns="0" rIns="0" bIns="0" rtlCol="0" anchor="ctr"/>
          <a:lstStyle/>
          <a:p>
            <a:pPr indent="0" marL="0">
              <a:buNone/>
            </a:pPr>
            <a:r>
              <a:rPr lang="en-US" sz="3400" b="1" dirty="0">
                <a:solidFill>
                  <a:srgbClr val="0A7FB5"/>
                </a:solidFill>
                <a:latin typeface="Alexandria" pitchFamily="34" charset="0"/>
                <a:ea typeface="Alexandria" pitchFamily="34" charset="-122"/>
                <a:cs typeface="Alexandria" pitchFamily="34" charset="-120"/>
              </a:rPr>
              <a:t>72%</a:t>
            </a:r>
            <a:endParaRPr lang="en-US" sz="3400" dirty="0"/>
          </a:p>
        </p:txBody>
      </p:sp>
      <p:sp>
        <p:nvSpPr>
          <p:cNvPr id="30" name="Text 27"/>
          <p:cNvSpPr txBox="1"/>
          <p:nvPr/>
        </p:nvSpPr>
        <p:spPr>
          <a:xfrm>
            <a:off x="4612538" y="4023360"/>
            <a:ext cx="2966618" cy="960120"/>
          </a:xfrm>
          <a:prstGeom prst="rect">
            <a:avLst/>
          </a:prstGeom>
          <a:noFill/>
          <a:ln/>
        </p:spPr>
        <p:txBody>
          <a:bodyPr wrap="square" lIns="0" tIns="0" rIns="0" bIns="0" rtlCol="0" anchor="t"/>
          <a:lstStyle/>
          <a:p>
            <a:pPr indent="0" marL="0">
              <a:buNone/>
            </a:pPr>
            <a:r>
              <a:rPr lang="en-US" sz="1200" dirty="0">
                <a:solidFill>
                  <a:srgbClr val="2A2238"/>
                </a:solidFill>
                <a:latin typeface="Alexandria" pitchFamily="34" charset="0"/>
                <a:ea typeface="Alexandria" pitchFamily="34" charset="-122"/>
                <a:cs typeface="Alexandria" pitchFamily="34" charset="-120"/>
              </a:rPr>
              <a:t>coi thông cáo báo chí là nguồn hữu ích nhất PR cung cấp</a:t>
            </a:r>
            <a:endParaRPr lang="en-US" sz="1200" dirty="0"/>
          </a:p>
        </p:txBody>
      </p:sp>
      <p:sp>
        <p:nvSpPr>
          <p:cNvPr id="31" name="Shape 28"/>
          <p:cNvSpPr/>
          <p:nvPr/>
        </p:nvSpPr>
        <p:spPr>
          <a:xfrm>
            <a:off x="8127797" y="1828800"/>
            <a:ext cx="3515258" cy="3246120"/>
          </a:xfrm>
          <a:prstGeom prst="roundRect">
            <a:avLst>
              <a:gd name="adj" fmla="val 3380"/>
            </a:avLst>
          </a:prstGeom>
          <a:solidFill>
            <a:srgbClr val="FFE4EA"/>
          </a:solidFill>
          <a:ln w="12700">
            <a:solidFill>
              <a:srgbClr val="FF5178"/>
            </a:solidFill>
            <a:prstDash val="solid"/>
          </a:ln>
        </p:spPr>
      </p:sp>
      <p:sp>
        <p:nvSpPr>
          <p:cNvPr id="32" name="Text 29"/>
          <p:cNvSpPr txBox="1"/>
          <p:nvPr/>
        </p:nvSpPr>
        <p:spPr>
          <a:xfrm>
            <a:off x="8402117" y="1965960"/>
            <a:ext cx="2966618" cy="45720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Mức quan hệ</a:t>
            </a:r>
            <a:endParaRPr lang="en-US" sz="1700" dirty="0"/>
          </a:p>
        </p:txBody>
      </p:sp>
      <p:sp>
        <p:nvSpPr>
          <p:cNvPr id="33" name="Text 30"/>
          <p:cNvSpPr txBox="1"/>
          <p:nvPr/>
        </p:nvSpPr>
        <p:spPr>
          <a:xfrm>
            <a:off x="8402117" y="2423160"/>
            <a:ext cx="2966618" cy="822960"/>
          </a:xfrm>
          <a:prstGeom prst="rect">
            <a:avLst/>
          </a:prstGeom>
          <a:noFill/>
          <a:ln/>
        </p:spPr>
        <p:txBody>
          <a:bodyPr wrap="square" lIns="0" tIns="0" rIns="0" bIns="0" rtlCol="0" anchor="t"/>
          <a:lstStyle/>
          <a:p>
            <a:pPr indent="0" marL="0">
              <a:buNone/>
            </a:pPr>
            <a:r>
              <a:rPr lang="en-US" sz="1300" dirty="0">
                <a:solidFill>
                  <a:srgbClr val="2A2238"/>
                </a:solidFill>
                <a:latin typeface="Alexandria" pitchFamily="34" charset="0"/>
                <a:ea typeface="Alexandria" pitchFamily="34" charset="-122"/>
                <a:cs typeface="Alexandria" pitchFamily="34" charset="-120"/>
              </a:rPr>
              <a:t>Chưa biết · đã giới thiệu · đã làm việc</a:t>
            </a:r>
            <a:endParaRPr lang="en-US" sz="1300" dirty="0"/>
          </a:p>
        </p:txBody>
      </p:sp>
      <p:sp>
        <p:nvSpPr>
          <p:cNvPr id="34" name="Text 31"/>
          <p:cNvSpPr txBox="1"/>
          <p:nvPr/>
        </p:nvSpPr>
        <p:spPr>
          <a:xfrm>
            <a:off x="8402117" y="3291840"/>
            <a:ext cx="2966618" cy="731520"/>
          </a:xfrm>
          <a:prstGeom prst="rect">
            <a:avLst/>
          </a:prstGeom>
          <a:noFill/>
          <a:ln/>
        </p:spPr>
        <p:txBody>
          <a:bodyPr wrap="square" lIns="0" tIns="0" rIns="0" bIns="0" rtlCol="0" anchor="ctr"/>
          <a:lstStyle/>
          <a:p>
            <a:pPr indent="0" marL="0">
              <a:buNone/>
            </a:pPr>
            <a:r>
              <a:rPr lang="en-US" sz="3400" b="1" dirty="0">
                <a:solidFill>
                  <a:srgbClr val="E03A62"/>
                </a:solidFill>
                <a:latin typeface="Alexandria" pitchFamily="34" charset="0"/>
                <a:ea typeface="Alexandria" pitchFamily="34" charset="-122"/>
                <a:cs typeface="Alexandria" pitchFamily="34" charset="-120"/>
              </a:rPr>
              <a:t>85%</a:t>
            </a:r>
            <a:endParaRPr lang="en-US" sz="3400" dirty="0"/>
          </a:p>
        </p:txBody>
      </p:sp>
      <p:sp>
        <p:nvSpPr>
          <p:cNvPr id="35" name="Text 32"/>
          <p:cNvSpPr txBox="1"/>
          <p:nvPr/>
        </p:nvSpPr>
        <p:spPr>
          <a:xfrm>
            <a:off x="8402117" y="4023360"/>
            <a:ext cx="2966618" cy="960120"/>
          </a:xfrm>
          <a:prstGeom prst="rect">
            <a:avLst/>
          </a:prstGeom>
          <a:noFill/>
          <a:ln/>
        </p:spPr>
        <p:txBody>
          <a:bodyPr wrap="square" lIns="0" tIns="0" rIns="0" bIns="0" rtlCol="0" anchor="t"/>
          <a:lstStyle/>
          <a:p>
            <a:pPr indent="0" marL="0">
              <a:buNone/>
            </a:pPr>
            <a:r>
              <a:rPr lang="en-US" sz="1200" dirty="0">
                <a:solidFill>
                  <a:srgbClr val="2A2238"/>
                </a:solidFill>
                <a:latin typeface="Alexandria" pitchFamily="34" charset="0"/>
                <a:ea typeface="Alexandria" pitchFamily="34" charset="-122"/>
                <a:cs typeface="Alexandria" pitchFamily="34" charset="-120"/>
              </a:rPr>
              <a:t>muốn được tự giới thiệu qua email, kể cả khi chưa có câu chuyện</a:t>
            </a:r>
            <a:endParaRPr lang="en-US" sz="1200" dirty="0"/>
          </a:p>
        </p:txBody>
      </p:sp>
      <p:sp>
        <p:nvSpPr>
          <p:cNvPr id="36" name="Shape 33"/>
          <p:cNvSpPr/>
          <p:nvPr/>
        </p:nvSpPr>
        <p:spPr>
          <a:xfrm>
            <a:off x="548640" y="5303520"/>
            <a:ext cx="11094415" cy="731520"/>
          </a:xfrm>
          <a:prstGeom prst="roundRect">
            <a:avLst>
              <a:gd name="adj" fmla="val 15000"/>
            </a:avLst>
          </a:prstGeom>
          <a:solidFill>
            <a:srgbClr val="FFF3C4"/>
          </a:solidFill>
          <a:ln w="12700">
            <a:solidFill>
              <a:srgbClr val="FFD23B"/>
            </a:solidFill>
            <a:prstDash val="solid"/>
          </a:ln>
        </p:spPr>
      </p:sp>
      <p:sp>
        <p:nvSpPr>
          <p:cNvPr id="37" name="Text 34"/>
          <p:cNvSpPr txBox="1"/>
          <p:nvPr/>
        </p:nvSpPr>
        <p:spPr>
          <a:xfrm>
            <a:off x="822960" y="5303520"/>
            <a:ext cx="10545775" cy="73152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Họp báo: </a:t>
            </a:r>
            <a:pPr indent="0" marL="0">
              <a:buNone/>
            </a:pPr>
            <a:r>
              <a:rPr lang="en-US" sz="1300" dirty="0">
                <a:solidFill>
                  <a:srgbClr val="2A2238"/>
                </a:solidFill>
                <a:latin typeface="Alexandria" pitchFamily="34" charset="0"/>
                <a:ea typeface="Alexandria" pitchFamily="34" charset="-122"/>
                <a:cs typeface="Alexandria" pitchFamily="34" charset="-120"/>
              </a:rPr>
              <a:t>thông báo bằng văn bản trước 24 giờ cho cơ quan quản lý báo chí (Luật Báo chí 2016); quy định mới từ 7/2026 cần đối chiếu pháp chế.</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87782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11.1 KOL</a:t>
            </a:r>
            <a:endParaRPr lang="en-US" sz="1000" dirty="0"/>
          </a:p>
        </p:txBody>
      </p:sp>
      <p:sp>
        <p:nvSpPr>
          <p:cNvPr id="6" name="Shape 4"/>
          <p:cNvSpPr/>
          <p:nvPr/>
        </p:nvSpPr>
        <p:spPr>
          <a:xfrm>
            <a:off x="2368296" y="274320"/>
            <a:ext cx="1188720" cy="292608"/>
          </a:xfrm>
          <a:prstGeom prst="roundRect">
            <a:avLst>
              <a:gd name="adj" fmla="val 50000"/>
            </a:avLst>
          </a:prstGeom>
          <a:solidFill>
            <a:srgbClr val="962B7C"/>
          </a:solidFill>
          <a:ln w="9525">
            <a:solidFill>
              <a:srgbClr val="962B7C"/>
            </a:solidFill>
            <a:prstDash val="solid"/>
          </a:ln>
        </p:spPr>
      </p:sp>
      <p:sp>
        <p:nvSpPr>
          <p:cNvPr id="7" name="Text 5"/>
          <p:cNvSpPr txBox="1"/>
          <p:nvPr/>
        </p:nvSpPr>
        <p:spPr>
          <a:xfrm>
            <a:off x="2368296" y="274320"/>
            <a:ext cx="11887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11.2 Báo chí</a:t>
            </a:r>
            <a:endParaRPr lang="en-US" sz="1000" dirty="0"/>
          </a:p>
        </p:txBody>
      </p:sp>
      <p:sp>
        <p:nvSpPr>
          <p:cNvPr id="8" name="Shape 6"/>
          <p:cNvSpPr/>
          <p:nvPr/>
        </p:nvSpPr>
        <p:spPr>
          <a:xfrm>
            <a:off x="3666744"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3666744"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11.3 Booking &amp; đo lường</a:t>
            </a:r>
            <a:endParaRPr lang="en-US" sz="1000" dirty="0"/>
          </a:p>
        </p:txBody>
      </p:sp>
      <p:sp>
        <p:nvSpPr>
          <p:cNvPr id="10" name="Shape 8"/>
          <p:cNvSpPr/>
          <p:nvPr/>
        </p:nvSpPr>
        <p:spPr>
          <a:xfrm>
            <a:off x="5820156" y="274320"/>
            <a:ext cx="1421892"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5820156"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11.4 Khuếch đại</a:t>
            </a:r>
            <a:endParaRPr lang="en-US" sz="1000" dirty="0"/>
          </a:p>
        </p:txBody>
      </p:sp>
      <p:sp>
        <p:nvSpPr>
          <p:cNvPr id="12" name="Shape 10"/>
          <p:cNvSpPr/>
          <p:nvPr/>
        </p:nvSpPr>
        <p:spPr>
          <a:xfrm>
            <a:off x="7351776" y="274320"/>
            <a:ext cx="877824" cy="292608"/>
          </a:xfrm>
          <a:prstGeom prst="roundRect">
            <a:avLst>
              <a:gd name="adj" fmla="val 50000"/>
            </a:avLst>
          </a:prstGeom>
          <a:solidFill>
            <a:srgbClr val="FBFAF4"/>
          </a:solidFill>
          <a:ln w="9525">
            <a:solidFill>
              <a:srgbClr val="DCD7C8"/>
            </a:solidFill>
            <a:prstDash val="solid"/>
          </a:ln>
        </p:spPr>
      </p:sp>
      <p:sp>
        <p:nvSpPr>
          <p:cNvPr id="13" name="Text 11"/>
          <p:cNvSpPr txBox="1"/>
          <p:nvPr/>
        </p:nvSpPr>
        <p:spPr>
          <a:xfrm>
            <a:off x="735177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4" name="Shape 12"/>
          <p:cNvSpPr/>
          <p:nvPr/>
        </p:nvSpPr>
        <p:spPr>
          <a:xfrm>
            <a:off x="11259007" y="219456"/>
            <a:ext cx="384048" cy="384048"/>
          </a:xfrm>
          <a:prstGeom prst="ellipse">
            <a:avLst/>
          </a:prstGeom>
          <a:ln w="12700">
            <a:solidFill>
              <a:srgbClr val="09A1E5"/>
            </a:solidFill>
            <a:prstDash val="solid"/>
          </a:ln>
        </p:spPr>
      </p:sp>
      <p:sp>
        <p:nvSpPr>
          <p:cNvPr id="15" name="Shape 13"/>
          <p:cNvSpPr/>
          <p:nvPr/>
        </p:nvSpPr>
        <p:spPr>
          <a:xfrm>
            <a:off x="11324295" y="284744"/>
            <a:ext cx="253472" cy="253472"/>
          </a:xfrm>
          <a:prstGeom prst="ellipse">
            <a:avLst/>
          </a:prstGeom>
          <a:ln w="15875">
            <a:solidFill>
              <a:srgbClr val="962B7C"/>
            </a:solidFill>
            <a:prstDash val="solid"/>
          </a:ln>
        </p:spPr>
      </p:sp>
      <p:sp>
        <p:nvSpPr>
          <p:cNvPr id="16" name="Shape 14"/>
          <p:cNvSpPr/>
          <p:nvPr/>
        </p:nvSpPr>
        <p:spPr>
          <a:xfrm>
            <a:off x="11389584" y="350032"/>
            <a:ext cx="122895" cy="122895"/>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Quan hệ với nhà báo dựa trên thông tin có giá trị, không dựa trên vụ lợi</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X11: Hội Nhà báo Việt Nam (2016), 10 điều Quy định đạo đức nghề nghiệp người làm báo · X05: Luật Quảng cáo sửa đổi.</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11   12</a:t>
            </a:r>
            <a:endParaRPr lang="en-US" sz="1000" dirty="0"/>
          </a:p>
        </p:txBody>
      </p:sp>
      <p:sp>
        <p:nvSpPr>
          <p:cNvPr id="21" name="Shape 18"/>
          <p:cNvSpPr/>
          <p:nvPr/>
        </p:nvSpPr>
        <p:spPr>
          <a:xfrm>
            <a:off x="548640" y="1920240"/>
            <a:ext cx="11094415" cy="2011680"/>
          </a:xfrm>
          <a:prstGeom prst="roundRect">
            <a:avLst>
              <a:gd name="adj" fmla="val 5455"/>
            </a:avLst>
          </a:prstGeom>
          <a:solidFill>
            <a:srgbClr val="F1E1EE"/>
          </a:solidFill>
          <a:ln w="12700">
            <a:solidFill>
              <a:srgbClr val="962B7C"/>
            </a:solidFill>
            <a:prstDash val="solid"/>
          </a:ln>
        </p:spPr>
      </p:sp>
      <p:sp>
        <p:nvSpPr>
          <p:cNvPr id="22" name="Text 19"/>
          <p:cNvSpPr txBox="1"/>
          <p:nvPr/>
        </p:nvSpPr>
        <p:spPr>
          <a:xfrm>
            <a:off x="914400" y="1920240"/>
            <a:ext cx="10362895" cy="2011680"/>
          </a:xfrm>
          <a:prstGeom prst="rect">
            <a:avLst/>
          </a:prstGeom>
          <a:noFill/>
          <a:ln/>
        </p:spPr>
        <p:txBody>
          <a:bodyPr wrap="square" lIns="0" tIns="0" rIns="0" bIns="0" rtlCol="0" anchor="ctr"/>
          <a:lstStyle/>
          <a:p>
            <a:pPr indent="0" marL="0">
              <a:spcAft>
                <a:spcPts val="600"/>
              </a:spcAft>
              <a:buNone/>
            </a:pPr>
            <a:r>
              <a:rPr lang="en-US" sz="1500" dirty="0">
                <a:solidFill>
                  <a:srgbClr val="6E6878"/>
                </a:solidFill>
                <a:latin typeface="Alexandria" pitchFamily="34" charset="0"/>
                <a:ea typeface="Alexandria" pitchFamily="34" charset="-122"/>
                <a:cs typeface="Alexandria" pitchFamily="34" charset="-120"/>
              </a:rPr>
              <a:t>Một nguyên tắc</a:t>
            </a:r>
            <a:endParaRPr lang="en-US" sz="1500" dirty="0"/>
          </a:p>
          <a:p>
            <a:pPr indent="0" marL="0">
              <a:spcAft>
                <a:spcPts val="600"/>
              </a:spcAft>
              <a:buNone/>
            </a:pPr>
            <a:r>
              <a:rPr lang="en-US" sz="2400" b="1" dirty="0">
                <a:solidFill>
                  <a:srgbClr val="2A2238"/>
                </a:solidFill>
                <a:latin typeface="Alexandria" pitchFamily="34" charset="0"/>
                <a:ea typeface="Alexandria" pitchFamily="34" charset="-122"/>
                <a:cs typeface="Alexandria" pitchFamily="34" charset="-120"/>
              </a:rPr>
              <a:t>Thông tin có giá trị cho độc giả của nhà báo — đúng mảng, đúng lúc. Agency không đặt nhà báo vào thế vụ lợi.</a:t>
            </a:r>
            <a:endParaRPr lang="en-US" sz="1500" dirty="0"/>
          </a:p>
        </p:txBody>
      </p:sp>
      <p:sp>
        <p:nvSpPr>
          <p:cNvPr id="23" name="Shape 20"/>
          <p:cNvSpPr/>
          <p:nvPr/>
        </p:nvSpPr>
        <p:spPr>
          <a:xfrm>
            <a:off x="548640" y="4206240"/>
            <a:ext cx="5410048" cy="1783080"/>
          </a:xfrm>
          <a:prstGeom prst="roundRect">
            <a:avLst>
              <a:gd name="adj" fmla="val 6154"/>
            </a:avLst>
          </a:prstGeom>
          <a:solidFill>
            <a:srgbClr val="FFFFFF"/>
          </a:solidFill>
          <a:ln w="12700">
            <a:solidFill>
              <a:srgbClr val="DCD7C8"/>
            </a:solidFill>
            <a:prstDash val="solid"/>
          </a:ln>
        </p:spPr>
      </p:sp>
      <p:sp>
        <p:nvSpPr>
          <p:cNvPr id="24" name="Text 21"/>
          <p:cNvSpPr txBox="1"/>
          <p:nvPr/>
        </p:nvSpPr>
        <p:spPr>
          <a:xfrm>
            <a:off x="822960" y="4206240"/>
            <a:ext cx="4861408" cy="178308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Đạo đức nghề báo (X11)</a:t>
            </a:r>
            <a:endParaRPr lang="en-US" sz="1700" dirty="0"/>
          </a:p>
          <a:p>
            <a:pPr indent="0" marL="0">
              <a:buNone/>
            </a:pPr>
            <a:r>
              <a:rPr lang="en-US" sz="1500" dirty="0">
                <a:solidFill>
                  <a:srgbClr val="2A2238"/>
                </a:solidFill>
                <a:latin typeface="Alexandria" pitchFamily="34" charset="0"/>
                <a:ea typeface="Alexandria" pitchFamily="34" charset="-122"/>
                <a:cs typeface="Alexandria" pitchFamily="34" charset="-120"/>
              </a:rPr>
              <a:t>Hành nghề trung thực, khách quan, không vụ lợi.</a:t>
            </a:r>
            <a:endParaRPr lang="en-US" sz="1700" dirty="0"/>
          </a:p>
        </p:txBody>
      </p:sp>
      <p:sp>
        <p:nvSpPr>
          <p:cNvPr id="25" name="Shape 22"/>
          <p:cNvSpPr/>
          <p:nvPr/>
        </p:nvSpPr>
        <p:spPr>
          <a:xfrm>
            <a:off x="6233008" y="4206240"/>
            <a:ext cx="5410048" cy="1783080"/>
          </a:xfrm>
          <a:prstGeom prst="roundRect">
            <a:avLst>
              <a:gd name="adj" fmla="val 6154"/>
            </a:avLst>
          </a:prstGeom>
          <a:solidFill>
            <a:srgbClr val="FFF3C4"/>
          </a:solidFill>
          <a:ln w="12700">
            <a:solidFill>
              <a:srgbClr val="FFD23B"/>
            </a:solidFill>
            <a:prstDash val="solid"/>
          </a:ln>
        </p:spPr>
      </p:sp>
      <p:sp>
        <p:nvSpPr>
          <p:cNvPr id="26" name="Text 23"/>
          <p:cNvSpPr txBox="1"/>
          <p:nvPr/>
        </p:nvSpPr>
        <p:spPr>
          <a:xfrm>
            <a:off x="6507328" y="4206240"/>
            <a:ext cx="4861408" cy="178308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Trả tiền để đăng = quảng cáo</a:t>
            </a:r>
            <a:endParaRPr lang="en-US" sz="1700" dirty="0"/>
          </a:p>
          <a:p>
            <a:pPr indent="0" marL="0">
              <a:buNone/>
            </a:pPr>
            <a:r>
              <a:rPr lang="en-US" sz="1500" dirty="0">
                <a:solidFill>
                  <a:srgbClr val="2A2238"/>
                </a:solidFill>
                <a:latin typeface="Alexandria" pitchFamily="34" charset="0"/>
                <a:ea typeface="Alexandria" pitchFamily="34" charset="-122"/>
                <a:cs typeface="Alexandria" pitchFamily="34" charset="-120"/>
              </a:rPr>
              <a:t>và phải được nhận diện là quảng cáo (X05).</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87782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11.1 KOL</a:t>
            </a:r>
            <a:endParaRPr lang="en-US" sz="1000" dirty="0"/>
          </a:p>
        </p:txBody>
      </p:sp>
      <p:sp>
        <p:nvSpPr>
          <p:cNvPr id="6" name="Shape 4"/>
          <p:cNvSpPr/>
          <p:nvPr/>
        </p:nvSpPr>
        <p:spPr>
          <a:xfrm>
            <a:off x="2368296" y="274320"/>
            <a:ext cx="1188720" cy="292608"/>
          </a:xfrm>
          <a:prstGeom prst="roundRect">
            <a:avLst>
              <a:gd name="adj" fmla="val 50000"/>
            </a:avLst>
          </a:prstGeom>
          <a:solidFill>
            <a:srgbClr val="962B7C"/>
          </a:solidFill>
          <a:ln w="9525">
            <a:solidFill>
              <a:srgbClr val="962B7C"/>
            </a:solidFill>
            <a:prstDash val="solid"/>
          </a:ln>
        </p:spPr>
      </p:sp>
      <p:sp>
        <p:nvSpPr>
          <p:cNvPr id="7" name="Text 5"/>
          <p:cNvSpPr txBox="1"/>
          <p:nvPr/>
        </p:nvSpPr>
        <p:spPr>
          <a:xfrm>
            <a:off x="2368296" y="274320"/>
            <a:ext cx="11887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11.2 Báo chí</a:t>
            </a:r>
            <a:endParaRPr lang="en-US" sz="1000" dirty="0"/>
          </a:p>
        </p:txBody>
      </p:sp>
      <p:sp>
        <p:nvSpPr>
          <p:cNvPr id="8" name="Shape 6"/>
          <p:cNvSpPr/>
          <p:nvPr/>
        </p:nvSpPr>
        <p:spPr>
          <a:xfrm>
            <a:off x="3666744"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3666744"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11.3 Booking &amp; đo lường</a:t>
            </a:r>
            <a:endParaRPr lang="en-US" sz="1000" dirty="0"/>
          </a:p>
        </p:txBody>
      </p:sp>
      <p:sp>
        <p:nvSpPr>
          <p:cNvPr id="10" name="Shape 8"/>
          <p:cNvSpPr/>
          <p:nvPr/>
        </p:nvSpPr>
        <p:spPr>
          <a:xfrm>
            <a:off x="5820156" y="274320"/>
            <a:ext cx="1421892"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5820156"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11.4 Khuếch đại</a:t>
            </a:r>
            <a:endParaRPr lang="en-US" sz="1000" dirty="0"/>
          </a:p>
        </p:txBody>
      </p:sp>
      <p:sp>
        <p:nvSpPr>
          <p:cNvPr id="12" name="Shape 10"/>
          <p:cNvSpPr/>
          <p:nvPr/>
        </p:nvSpPr>
        <p:spPr>
          <a:xfrm>
            <a:off x="7351776" y="274320"/>
            <a:ext cx="877824" cy="292608"/>
          </a:xfrm>
          <a:prstGeom prst="roundRect">
            <a:avLst>
              <a:gd name="adj" fmla="val 50000"/>
            </a:avLst>
          </a:prstGeom>
          <a:solidFill>
            <a:srgbClr val="FBFAF4"/>
          </a:solidFill>
          <a:ln w="9525">
            <a:solidFill>
              <a:srgbClr val="DCD7C8"/>
            </a:solidFill>
            <a:prstDash val="solid"/>
          </a:ln>
        </p:spPr>
      </p:sp>
      <p:sp>
        <p:nvSpPr>
          <p:cNvPr id="13" name="Text 11"/>
          <p:cNvSpPr txBox="1"/>
          <p:nvPr/>
        </p:nvSpPr>
        <p:spPr>
          <a:xfrm>
            <a:off x="735177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4" name="Shape 12"/>
          <p:cNvSpPr/>
          <p:nvPr/>
        </p:nvSpPr>
        <p:spPr>
          <a:xfrm>
            <a:off x="11259007" y="219456"/>
            <a:ext cx="384048" cy="384048"/>
          </a:xfrm>
          <a:prstGeom prst="ellipse">
            <a:avLst/>
          </a:prstGeom>
          <a:ln w="12700">
            <a:solidFill>
              <a:srgbClr val="09A1E5"/>
            </a:solidFill>
            <a:prstDash val="solid"/>
          </a:ln>
        </p:spPr>
      </p:sp>
      <p:sp>
        <p:nvSpPr>
          <p:cNvPr id="15" name="Shape 13"/>
          <p:cNvSpPr/>
          <p:nvPr/>
        </p:nvSpPr>
        <p:spPr>
          <a:xfrm>
            <a:off x="11324295" y="284744"/>
            <a:ext cx="253472" cy="253472"/>
          </a:xfrm>
          <a:prstGeom prst="ellipse">
            <a:avLst/>
          </a:prstGeom>
          <a:ln w="15875">
            <a:solidFill>
              <a:srgbClr val="962B7C"/>
            </a:solidFill>
            <a:prstDash val="solid"/>
          </a:ln>
        </p:spPr>
      </p:sp>
      <p:sp>
        <p:nvSpPr>
          <p:cNvPr id="16" name="Shape 14"/>
          <p:cNvSpPr/>
          <p:nvPr/>
        </p:nvSpPr>
        <p:spPr>
          <a:xfrm>
            <a:off x="11389584" y="350032"/>
            <a:ext cx="122895" cy="122895"/>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Thực hành 1 · Chọn diễn giả và KOL để chính các CEO đến gala</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Phiếu W11_activity_S3_chon_dien_gia_kol.md · Tình huống và các ứng viên đều là giả định.</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11   13</a:t>
            </a:r>
            <a:endParaRPr lang="en-US" sz="1000" dirty="0"/>
          </a:p>
        </p:txBody>
      </p:sp>
      <p:sp>
        <p:nvSpPr>
          <p:cNvPr id="21" name="Text 18"/>
          <p:cNvSpPr txBox="1"/>
          <p:nvPr/>
        </p:nvSpPr>
        <p:spPr>
          <a:xfrm>
            <a:off x="548640" y="1737360"/>
            <a:ext cx="11094415" cy="365760"/>
          </a:xfrm>
          <a:prstGeom prst="rect">
            <a:avLst/>
          </a:prstGeom>
          <a:noFill/>
          <a:ln/>
        </p:spPr>
        <p:txBody>
          <a:bodyPr wrap="square" lIns="0" tIns="0" rIns="0" bIns="0" rtlCol="0" anchor="ctr"/>
          <a:lstStyle/>
          <a:p>
            <a:pPr indent="0" marL="0">
              <a:buNone/>
            </a:pPr>
            <a:r>
              <a:rPr lang="en-US" sz="1300" dirty="0">
                <a:solidFill>
                  <a:srgbClr val="6E6878"/>
                </a:solidFill>
                <a:latin typeface="Alexandria" pitchFamily="34" charset="0"/>
                <a:ea typeface="Alexandria" pitchFamily="34" charset="-122"/>
                <a:cs typeface="Alexandria" pitchFamily="34" charset="-120"/>
              </a:rPr>
              <a:t>Ngân sách ~350 triệu · 600 lãnh đạo DN VIP · năm ngoái 62% xác nhận</a:t>
            </a:r>
            <a:endParaRPr lang="en-US" sz="1300" dirty="0"/>
          </a:p>
        </p:txBody>
      </p:sp>
      <p:sp>
        <p:nvSpPr>
          <p:cNvPr id="22" name="Shape 19"/>
          <p:cNvSpPr/>
          <p:nvPr/>
        </p:nvSpPr>
        <p:spPr>
          <a:xfrm>
            <a:off x="548640" y="2240280"/>
            <a:ext cx="6949440" cy="685800"/>
          </a:xfrm>
          <a:prstGeom prst="roundRect">
            <a:avLst>
              <a:gd name="adj" fmla="val 16000"/>
            </a:avLst>
          </a:prstGeom>
          <a:solidFill>
            <a:srgbClr val="F3F0E6"/>
          </a:solidFill>
          <a:ln w="12700">
            <a:solidFill>
              <a:srgbClr val="F3F0E6"/>
            </a:solidFill>
            <a:prstDash val="solid"/>
          </a:ln>
        </p:spPr>
      </p:sp>
      <p:sp>
        <p:nvSpPr>
          <p:cNvPr id="23" name="Shape 20"/>
          <p:cNvSpPr/>
          <p:nvPr/>
        </p:nvSpPr>
        <p:spPr>
          <a:xfrm>
            <a:off x="685800" y="2377440"/>
            <a:ext cx="411480" cy="411480"/>
          </a:xfrm>
          <a:prstGeom prst="ellipse">
            <a:avLst/>
          </a:prstGeom>
          <a:solidFill>
            <a:srgbClr val="962B7C"/>
          </a:solidFill>
          <a:ln w="12700">
            <a:solidFill>
              <a:srgbClr val="962B7C"/>
            </a:solidFill>
            <a:prstDash val="solid"/>
          </a:ln>
        </p:spPr>
      </p:sp>
      <p:sp>
        <p:nvSpPr>
          <p:cNvPr id="24" name="Text 21"/>
          <p:cNvSpPr txBox="1"/>
          <p:nvPr/>
        </p:nvSpPr>
        <p:spPr>
          <a:xfrm>
            <a:off x="685800" y="23774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1</a:t>
            </a:r>
            <a:endParaRPr lang="en-US" sz="1400" dirty="0"/>
          </a:p>
        </p:txBody>
      </p:sp>
      <p:sp>
        <p:nvSpPr>
          <p:cNvPr id="25" name="Text 22"/>
          <p:cNvSpPr txBox="1"/>
          <p:nvPr/>
        </p:nvSpPr>
        <p:spPr>
          <a:xfrm>
            <a:off x="1234440" y="2240280"/>
            <a:ext cx="2560320" cy="68580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TS. Lê Hoàng Nam</a:t>
            </a:r>
            <a:endParaRPr lang="en-US" sz="1300" dirty="0"/>
          </a:p>
          <a:p>
            <a:pPr indent="0" marL="0">
              <a:buNone/>
            </a:pPr>
            <a:r>
              <a:rPr lang="en-US" sz="1000" dirty="0">
                <a:solidFill>
                  <a:srgbClr val="6E6878"/>
                </a:solidFill>
                <a:latin typeface="Alexandria" pitchFamily="34" charset="0"/>
                <a:ea typeface="Alexandria" pitchFamily="34" charset="-122"/>
                <a:cs typeface="Alexandria" pitchFamily="34" charset="-120"/>
              </a:rPr>
              <a:t>chuyên gia kinh tế · ~45k</a:t>
            </a:r>
            <a:endParaRPr lang="en-US" sz="1300" dirty="0"/>
          </a:p>
        </p:txBody>
      </p:sp>
      <p:sp>
        <p:nvSpPr>
          <p:cNvPr id="26" name="Text 23"/>
          <p:cNvSpPr txBox="1"/>
          <p:nvPr/>
        </p:nvSpPr>
        <p:spPr>
          <a:xfrm>
            <a:off x="3840480" y="2240280"/>
            <a:ext cx="731520" cy="68580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80 tr</a:t>
            </a:r>
            <a:endParaRPr lang="en-US" sz="1300" dirty="0"/>
          </a:p>
        </p:txBody>
      </p:sp>
      <p:sp>
        <p:nvSpPr>
          <p:cNvPr id="27" name="Text 24"/>
          <p:cNvSpPr txBox="1"/>
          <p:nvPr/>
        </p:nvSpPr>
        <p:spPr>
          <a:xfrm>
            <a:off x="4572000" y="2240280"/>
            <a:ext cx="2788920" cy="6858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diễn giả chính 30’; chưa từng quảng cáo</a:t>
            </a:r>
            <a:endParaRPr lang="en-US" sz="1100" dirty="0"/>
          </a:p>
        </p:txBody>
      </p:sp>
      <p:sp>
        <p:nvSpPr>
          <p:cNvPr id="28" name="Shape 25"/>
          <p:cNvSpPr/>
          <p:nvPr/>
        </p:nvSpPr>
        <p:spPr>
          <a:xfrm>
            <a:off x="548640" y="3017520"/>
            <a:ext cx="6949440" cy="685800"/>
          </a:xfrm>
          <a:prstGeom prst="roundRect">
            <a:avLst>
              <a:gd name="adj" fmla="val 16000"/>
            </a:avLst>
          </a:prstGeom>
          <a:solidFill>
            <a:srgbClr val="FFFFFF"/>
          </a:solidFill>
          <a:ln w="12700">
            <a:solidFill>
              <a:srgbClr val="DCD7C8"/>
            </a:solidFill>
            <a:prstDash val="solid"/>
          </a:ln>
        </p:spPr>
      </p:sp>
      <p:sp>
        <p:nvSpPr>
          <p:cNvPr id="29" name="Shape 26"/>
          <p:cNvSpPr/>
          <p:nvPr/>
        </p:nvSpPr>
        <p:spPr>
          <a:xfrm>
            <a:off x="685800" y="3154680"/>
            <a:ext cx="411480" cy="411480"/>
          </a:xfrm>
          <a:prstGeom prst="ellipse">
            <a:avLst/>
          </a:prstGeom>
          <a:solidFill>
            <a:srgbClr val="FF5178"/>
          </a:solidFill>
          <a:ln w="12700">
            <a:solidFill>
              <a:srgbClr val="FF5178"/>
            </a:solidFill>
            <a:prstDash val="solid"/>
          </a:ln>
        </p:spPr>
      </p:sp>
      <p:sp>
        <p:nvSpPr>
          <p:cNvPr id="30" name="Text 27"/>
          <p:cNvSpPr txBox="1"/>
          <p:nvPr/>
        </p:nvSpPr>
        <p:spPr>
          <a:xfrm>
            <a:off x="685800" y="31546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2</a:t>
            </a:r>
            <a:endParaRPr lang="en-US" sz="1400" dirty="0"/>
          </a:p>
        </p:txBody>
      </p:sp>
      <p:sp>
        <p:nvSpPr>
          <p:cNvPr id="31" name="Text 28"/>
          <p:cNvSpPr txBox="1"/>
          <p:nvPr/>
        </p:nvSpPr>
        <p:spPr>
          <a:xfrm>
            <a:off x="1234440" y="3017520"/>
            <a:ext cx="2560320" cy="68580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“Hưng Finance”</a:t>
            </a:r>
            <a:endParaRPr lang="en-US" sz="1300" dirty="0"/>
          </a:p>
          <a:p>
            <a:pPr indent="0" marL="0">
              <a:buNone/>
            </a:pPr>
            <a:r>
              <a:rPr lang="en-US" sz="1000" dirty="0">
                <a:solidFill>
                  <a:srgbClr val="6E6878"/>
                </a:solidFill>
                <a:latin typeface="Alexandria" pitchFamily="34" charset="0"/>
                <a:ea typeface="Alexandria" pitchFamily="34" charset="-122"/>
                <a:cs typeface="Alexandria" pitchFamily="34" charset="-120"/>
              </a:rPr>
              <a:t>KOL tài chính · ~1,2 tr</a:t>
            </a:r>
            <a:endParaRPr lang="en-US" sz="1300" dirty="0"/>
          </a:p>
        </p:txBody>
      </p:sp>
      <p:sp>
        <p:nvSpPr>
          <p:cNvPr id="32" name="Text 29"/>
          <p:cNvSpPr txBox="1"/>
          <p:nvPr/>
        </p:nvSpPr>
        <p:spPr>
          <a:xfrm>
            <a:off x="3840480" y="3017520"/>
            <a:ext cx="731520" cy="68580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250 tr</a:t>
            </a:r>
            <a:endParaRPr lang="en-US" sz="1300" dirty="0"/>
          </a:p>
        </p:txBody>
      </p:sp>
      <p:sp>
        <p:nvSpPr>
          <p:cNvPr id="33" name="Text 30"/>
          <p:cNvSpPr txBox="1"/>
          <p:nvPr/>
        </p:nvSpPr>
        <p:spPr>
          <a:xfrm>
            <a:off x="4572000" y="3017520"/>
            <a:ext cx="2788920" cy="6858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hay nói “nên mua mã…”; muốn livestream</a:t>
            </a:r>
            <a:endParaRPr lang="en-US" sz="1100" dirty="0"/>
          </a:p>
        </p:txBody>
      </p:sp>
      <p:sp>
        <p:nvSpPr>
          <p:cNvPr id="34" name="Shape 31"/>
          <p:cNvSpPr/>
          <p:nvPr/>
        </p:nvSpPr>
        <p:spPr>
          <a:xfrm>
            <a:off x="548640" y="3794760"/>
            <a:ext cx="6949440" cy="685800"/>
          </a:xfrm>
          <a:prstGeom prst="roundRect">
            <a:avLst>
              <a:gd name="adj" fmla="val 16000"/>
            </a:avLst>
          </a:prstGeom>
          <a:solidFill>
            <a:srgbClr val="F3F0E6"/>
          </a:solidFill>
          <a:ln w="12700">
            <a:solidFill>
              <a:srgbClr val="F3F0E6"/>
            </a:solidFill>
            <a:prstDash val="solid"/>
          </a:ln>
        </p:spPr>
      </p:sp>
      <p:sp>
        <p:nvSpPr>
          <p:cNvPr id="35" name="Shape 32"/>
          <p:cNvSpPr/>
          <p:nvPr/>
        </p:nvSpPr>
        <p:spPr>
          <a:xfrm>
            <a:off x="685800" y="3931920"/>
            <a:ext cx="411480" cy="411480"/>
          </a:xfrm>
          <a:prstGeom prst="ellipse">
            <a:avLst/>
          </a:prstGeom>
          <a:solidFill>
            <a:srgbClr val="49B296"/>
          </a:solidFill>
          <a:ln w="12700">
            <a:solidFill>
              <a:srgbClr val="49B296"/>
            </a:solidFill>
            <a:prstDash val="solid"/>
          </a:ln>
        </p:spPr>
      </p:sp>
      <p:sp>
        <p:nvSpPr>
          <p:cNvPr id="36" name="Text 33"/>
          <p:cNvSpPr txBox="1"/>
          <p:nvPr/>
        </p:nvSpPr>
        <p:spPr>
          <a:xfrm>
            <a:off x="685800" y="39319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3</a:t>
            </a:r>
            <a:endParaRPr lang="en-US" sz="1400" dirty="0"/>
          </a:p>
        </p:txBody>
      </p:sp>
      <p:sp>
        <p:nvSpPr>
          <p:cNvPr id="37" name="Text 34"/>
          <p:cNvSpPr txBox="1"/>
          <p:nvPr/>
        </p:nvSpPr>
        <p:spPr>
          <a:xfrm>
            <a:off x="1234440" y="3794760"/>
            <a:ext cx="2560320" cy="68580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Chị Trần Mai Anh</a:t>
            </a:r>
            <a:endParaRPr lang="en-US" sz="1300" dirty="0"/>
          </a:p>
          <a:p>
            <a:pPr indent="0" marL="0">
              <a:buNone/>
            </a:pPr>
            <a:r>
              <a:rPr lang="en-US" sz="1000" dirty="0">
                <a:solidFill>
                  <a:srgbClr val="6E6878"/>
                </a:solidFill>
                <a:latin typeface="Alexandria" pitchFamily="34" charset="0"/>
                <a:ea typeface="Alexandria" pitchFamily="34" charset="-122"/>
                <a:cs typeface="Alexandria" pitchFamily="34" charset="-120"/>
              </a:rPr>
              <a:t>CEO logistics, khách của An Phát · ~120k</a:t>
            </a:r>
            <a:endParaRPr lang="en-US" sz="1300" dirty="0"/>
          </a:p>
        </p:txBody>
      </p:sp>
      <p:sp>
        <p:nvSpPr>
          <p:cNvPr id="38" name="Text 35"/>
          <p:cNvSpPr txBox="1"/>
          <p:nvPr/>
        </p:nvSpPr>
        <p:spPr>
          <a:xfrm>
            <a:off x="3840480" y="3794760"/>
            <a:ext cx="731520" cy="68580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0</a:t>
            </a:r>
            <a:endParaRPr lang="en-US" sz="1300" dirty="0"/>
          </a:p>
        </p:txBody>
      </p:sp>
      <p:sp>
        <p:nvSpPr>
          <p:cNvPr id="39" name="Text 36"/>
          <p:cNvSpPr txBox="1"/>
          <p:nvPr/>
        </p:nvSpPr>
        <p:spPr>
          <a:xfrm>
            <a:off x="4572000" y="3794760"/>
            <a:ext cx="2788920" cy="6858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muốn 5’ giới thiệu công ty mình</a:t>
            </a:r>
            <a:endParaRPr lang="en-US" sz="1100" dirty="0"/>
          </a:p>
        </p:txBody>
      </p:sp>
      <p:sp>
        <p:nvSpPr>
          <p:cNvPr id="40" name="Shape 37"/>
          <p:cNvSpPr/>
          <p:nvPr/>
        </p:nvSpPr>
        <p:spPr>
          <a:xfrm>
            <a:off x="548640" y="4572000"/>
            <a:ext cx="6949440" cy="685800"/>
          </a:xfrm>
          <a:prstGeom prst="roundRect">
            <a:avLst>
              <a:gd name="adj" fmla="val 16000"/>
            </a:avLst>
          </a:prstGeom>
          <a:solidFill>
            <a:srgbClr val="FFFFFF"/>
          </a:solidFill>
          <a:ln w="12700">
            <a:solidFill>
              <a:srgbClr val="DCD7C8"/>
            </a:solidFill>
            <a:prstDash val="solid"/>
          </a:ln>
        </p:spPr>
      </p:sp>
      <p:sp>
        <p:nvSpPr>
          <p:cNvPr id="41" name="Shape 38"/>
          <p:cNvSpPr/>
          <p:nvPr/>
        </p:nvSpPr>
        <p:spPr>
          <a:xfrm>
            <a:off x="685800" y="4709160"/>
            <a:ext cx="411480" cy="411480"/>
          </a:xfrm>
          <a:prstGeom prst="ellipse">
            <a:avLst/>
          </a:prstGeom>
          <a:solidFill>
            <a:srgbClr val="FF9259"/>
          </a:solidFill>
          <a:ln w="12700">
            <a:solidFill>
              <a:srgbClr val="FF9259"/>
            </a:solidFill>
            <a:prstDash val="solid"/>
          </a:ln>
        </p:spPr>
      </p:sp>
      <p:sp>
        <p:nvSpPr>
          <p:cNvPr id="42" name="Text 39"/>
          <p:cNvSpPr txBox="1"/>
          <p:nvPr/>
        </p:nvSpPr>
        <p:spPr>
          <a:xfrm>
            <a:off x="685800" y="4709160"/>
            <a:ext cx="411480" cy="411480"/>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4</a:t>
            </a:r>
            <a:endParaRPr lang="en-US" sz="1400" dirty="0"/>
          </a:p>
        </p:txBody>
      </p:sp>
      <p:sp>
        <p:nvSpPr>
          <p:cNvPr id="43" name="Text 40"/>
          <p:cNvSpPr txBox="1"/>
          <p:nvPr/>
        </p:nvSpPr>
        <p:spPr>
          <a:xfrm>
            <a:off x="1234440" y="4572000"/>
            <a:ext cx="2560320" cy="68580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Ca sĩ Ngọc Diệp</a:t>
            </a:r>
            <a:endParaRPr lang="en-US" sz="1300" dirty="0"/>
          </a:p>
          <a:p>
            <a:pPr indent="0" marL="0">
              <a:buNone/>
            </a:pPr>
            <a:r>
              <a:rPr lang="en-US" sz="1000" dirty="0">
                <a:solidFill>
                  <a:srgbClr val="6E6878"/>
                </a:solidFill>
                <a:latin typeface="Alexandria" pitchFamily="34" charset="0"/>
                <a:ea typeface="Alexandria" pitchFamily="34" charset="-122"/>
                <a:cs typeface="Alexandria" pitchFamily="34" charset="-120"/>
              </a:rPr>
              <a:t>~3,5 tr</a:t>
            </a:r>
            <a:endParaRPr lang="en-US" sz="1300" dirty="0"/>
          </a:p>
        </p:txBody>
      </p:sp>
      <p:sp>
        <p:nvSpPr>
          <p:cNvPr id="44" name="Text 41"/>
          <p:cNvSpPr txBox="1"/>
          <p:nvPr/>
        </p:nvSpPr>
        <p:spPr>
          <a:xfrm>
            <a:off x="3840480" y="4572000"/>
            <a:ext cx="731520" cy="68580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400 tr</a:t>
            </a:r>
            <a:endParaRPr lang="en-US" sz="1300" dirty="0"/>
          </a:p>
        </p:txBody>
      </p:sp>
      <p:sp>
        <p:nvSpPr>
          <p:cNvPr id="45" name="Text 42"/>
          <p:cNvSpPr txBox="1"/>
          <p:nvPr/>
        </p:nvSpPr>
        <p:spPr>
          <a:xfrm>
            <a:off x="4572000" y="4572000"/>
            <a:ext cx="2788920" cy="6858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MC + 3 bài; từng bị phạt vì quảng cáo sai công dụng</a:t>
            </a:r>
            <a:endParaRPr lang="en-US" sz="1100" dirty="0"/>
          </a:p>
        </p:txBody>
      </p:sp>
      <p:sp>
        <p:nvSpPr>
          <p:cNvPr id="46" name="Shape 43"/>
          <p:cNvSpPr/>
          <p:nvPr/>
        </p:nvSpPr>
        <p:spPr>
          <a:xfrm>
            <a:off x="548640" y="5349240"/>
            <a:ext cx="6949440" cy="685800"/>
          </a:xfrm>
          <a:prstGeom prst="roundRect">
            <a:avLst>
              <a:gd name="adj" fmla="val 16000"/>
            </a:avLst>
          </a:prstGeom>
          <a:solidFill>
            <a:srgbClr val="F3F0E6"/>
          </a:solidFill>
          <a:ln w="12700">
            <a:solidFill>
              <a:srgbClr val="F3F0E6"/>
            </a:solidFill>
            <a:prstDash val="solid"/>
          </a:ln>
        </p:spPr>
      </p:sp>
      <p:sp>
        <p:nvSpPr>
          <p:cNvPr id="47" name="Shape 44"/>
          <p:cNvSpPr/>
          <p:nvPr/>
        </p:nvSpPr>
        <p:spPr>
          <a:xfrm>
            <a:off x="685800" y="5486400"/>
            <a:ext cx="411480" cy="411480"/>
          </a:xfrm>
          <a:prstGeom prst="ellipse">
            <a:avLst/>
          </a:prstGeom>
          <a:solidFill>
            <a:srgbClr val="09A1E5"/>
          </a:solidFill>
          <a:ln w="12700">
            <a:solidFill>
              <a:srgbClr val="09A1E5"/>
            </a:solidFill>
            <a:prstDash val="solid"/>
          </a:ln>
        </p:spPr>
      </p:sp>
      <p:sp>
        <p:nvSpPr>
          <p:cNvPr id="48" name="Text 45"/>
          <p:cNvSpPr txBox="1"/>
          <p:nvPr/>
        </p:nvSpPr>
        <p:spPr>
          <a:xfrm>
            <a:off x="685800" y="54864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5</a:t>
            </a:r>
            <a:endParaRPr lang="en-US" sz="1400" dirty="0"/>
          </a:p>
        </p:txBody>
      </p:sp>
      <p:sp>
        <p:nvSpPr>
          <p:cNvPr id="49" name="Text 46"/>
          <p:cNvSpPr txBox="1"/>
          <p:nvPr/>
        </p:nvSpPr>
        <p:spPr>
          <a:xfrm>
            <a:off x="1234440" y="5349240"/>
            <a:ext cx="2560320" cy="68580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20 KOC “doanh nhân trẻ”</a:t>
            </a:r>
            <a:endParaRPr lang="en-US" sz="1300" dirty="0"/>
          </a:p>
          <a:p>
            <a:pPr indent="0" marL="0">
              <a:buNone/>
            </a:pPr>
            <a:r>
              <a:rPr lang="en-US" sz="1000" dirty="0">
                <a:solidFill>
                  <a:srgbClr val="6E6878"/>
                </a:solidFill>
                <a:latin typeface="Alexandria" pitchFamily="34" charset="0"/>
                <a:ea typeface="Alexandria" pitchFamily="34" charset="-122"/>
                <a:cs typeface="Alexandria" pitchFamily="34" charset="-120"/>
              </a:rPr>
              <a:t>5–10k mỗi người</a:t>
            </a:r>
            <a:endParaRPr lang="en-US" sz="1300" dirty="0"/>
          </a:p>
        </p:txBody>
      </p:sp>
      <p:sp>
        <p:nvSpPr>
          <p:cNvPr id="50" name="Text 47"/>
          <p:cNvSpPr txBox="1"/>
          <p:nvPr/>
        </p:nvSpPr>
        <p:spPr>
          <a:xfrm>
            <a:off x="3840480" y="5349240"/>
            <a:ext cx="731520" cy="68580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60 tr</a:t>
            </a:r>
            <a:endParaRPr lang="en-US" sz="1300" dirty="0"/>
          </a:p>
        </p:txBody>
      </p:sp>
      <p:sp>
        <p:nvSpPr>
          <p:cNvPr id="51" name="Text 48"/>
          <p:cNvSpPr txBox="1"/>
          <p:nvPr/>
        </p:nvSpPr>
        <p:spPr>
          <a:xfrm>
            <a:off x="4572000" y="5349240"/>
            <a:ext cx="2788920" cy="6858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người theo dõi chủ yếu sinh viên</a:t>
            </a:r>
            <a:endParaRPr lang="en-US" sz="1100" dirty="0"/>
          </a:p>
        </p:txBody>
      </p:sp>
      <p:sp>
        <p:nvSpPr>
          <p:cNvPr id="52" name="Shape 49"/>
          <p:cNvSpPr/>
          <p:nvPr/>
        </p:nvSpPr>
        <p:spPr>
          <a:xfrm>
            <a:off x="7772400" y="2423160"/>
            <a:ext cx="685800" cy="685800"/>
          </a:xfrm>
          <a:prstGeom prst="ellipse">
            <a:avLst/>
          </a:prstGeom>
          <a:solidFill>
            <a:srgbClr val="FF9259"/>
          </a:solidFill>
          <a:ln w="12700">
            <a:solidFill>
              <a:srgbClr val="FF9259"/>
            </a:solidFill>
            <a:prstDash val="solid"/>
          </a:ln>
        </p:spPr>
      </p:sp>
      <p:sp>
        <p:nvSpPr>
          <p:cNvPr id="53" name="Text 50"/>
          <p:cNvSpPr txBox="1"/>
          <p:nvPr/>
        </p:nvSpPr>
        <p:spPr>
          <a:xfrm>
            <a:off x="7772400" y="2423160"/>
            <a:ext cx="685800" cy="685800"/>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8’</a:t>
            </a:r>
            <a:endParaRPr lang="en-US" sz="1600" dirty="0"/>
          </a:p>
        </p:txBody>
      </p:sp>
      <p:sp>
        <p:nvSpPr>
          <p:cNvPr id="54" name="Text 51"/>
          <p:cNvSpPr txBox="1"/>
          <p:nvPr/>
        </p:nvSpPr>
        <p:spPr>
          <a:xfrm>
            <a:off x="8641080" y="2240280"/>
            <a:ext cx="3001975" cy="109728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Chấm 1–5: chuyên môn · đáng tin · tương đồng · rủi ro; Nova “mua” gì?</a:t>
            </a:r>
            <a:endParaRPr lang="en-US" sz="1300" dirty="0"/>
          </a:p>
        </p:txBody>
      </p:sp>
      <p:sp>
        <p:nvSpPr>
          <p:cNvPr id="55" name="Shape 52"/>
          <p:cNvSpPr/>
          <p:nvPr/>
        </p:nvSpPr>
        <p:spPr>
          <a:xfrm>
            <a:off x="7772400" y="3703320"/>
            <a:ext cx="685800" cy="685800"/>
          </a:xfrm>
          <a:prstGeom prst="ellipse">
            <a:avLst/>
          </a:prstGeom>
          <a:solidFill>
            <a:srgbClr val="962B7C"/>
          </a:solidFill>
          <a:ln w="12700">
            <a:solidFill>
              <a:srgbClr val="962B7C"/>
            </a:solidFill>
            <a:prstDash val="solid"/>
          </a:ln>
        </p:spPr>
      </p:sp>
      <p:sp>
        <p:nvSpPr>
          <p:cNvPr id="56" name="Text 53"/>
          <p:cNvSpPr txBox="1"/>
          <p:nvPr/>
        </p:nvSpPr>
        <p:spPr>
          <a:xfrm>
            <a:off x="7772400" y="3703320"/>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7’</a:t>
            </a:r>
            <a:endParaRPr lang="en-US" sz="1600" dirty="0"/>
          </a:p>
        </p:txBody>
      </p:sp>
      <p:sp>
        <p:nvSpPr>
          <p:cNvPr id="57" name="Text 54"/>
          <p:cNvSpPr txBox="1"/>
          <p:nvPr/>
        </p:nvSpPr>
        <p:spPr>
          <a:xfrm>
            <a:off x="8641080" y="3520440"/>
            <a:ext cx="3001975" cy="109728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Chọn ≤ 2 ứng viên trong ngân sách + 1 điều kiện cho mỗi người</a:t>
            </a:r>
            <a:endParaRPr lang="en-US" sz="1300" dirty="0"/>
          </a:p>
        </p:txBody>
      </p:sp>
      <p:sp>
        <p:nvSpPr>
          <p:cNvPr id="58" name="Shape 55"/>
          <p:cNvSpPr/>
          <p:nvPr/>
        </p:nvSpPr>
        <p:spPr>
          <a:xfrm>
            <a:off x="7772400" y="4983480"/>
            <a:ext cx="685800" cy="685800"/>
          </a:xfrm>
          <a:prstGeom prst="ellipse">
            <a:avLst/>
          </a:prstGeom>
          <a:solidFill>
            <a:srgbClr val="09A1E5"/>
          </a:solidFill>
          <a:ln w="12700">
            <a:solidFill>
              <a:srgbClr val="09A1E5"/>
            </a:solidFill>
            <a:prstDash val="solid"/>
          </a:ln>
        </p:spPr>
      </p:sp>
      <p:sp>
        <p:nvSpPr>
          <p:cNvPr id="59" name="Text 56"/>
          <p:cNvSpPr txBox="1"/>
          <p:nvPr/>
        </p:nvSpPr>
        <p:spPr>
          <a:xfrm>
            <a:off x="7772400" y="4983480"/>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5’</a:t>
            </a:r>
            <a:endParaRPr lang="en-US" sz="1600" dirty="0"/>
          </a:p>
        </p:txBody>
      </p:sp>
      <p:sp>
        <p:nvSpPr>
          <p:cNvPr id="60" name="Text 57"/>
          <p:cNvSpPr txBox="1"/>
          <p:nvPr/>
        </p:nvSpPr>
        <p:spPr>
          <a:xfrm>
            <a:off x="8641080" y="4800600"/>
            <a:ext cx="3001975" cy="109728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1 câu giải thích với anh Minh về một ứng viên bị loại</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3840480" y="1554480"/>
            <a:ext cx="548640" cy="548640"/>
          </a:xfrm>
          <a:prstGeom prst="ellipse">
            <a:avLst/>
          </a:prstGeom>
          <a:solidFill>
            <a:srgbClr val="FF9259"/>
          </a:solidFill>
          <a:ln w="12700">
            <a:solidFill>
              <a:srgbClr val="FF9259"/>
            </a:solidFill>
            <a:prstDash val="solid"/>
          </a:ln>
        </p:spPr>
      </p:sp>
      <p:sp>
        <p:nvSpPr>
          <p:cNvPr id="3" name="Shape 1"/>
          <p:cNvSpPr/>
          <p:nvPr/>
        </p:nvSpPr>
        <p:spPr>
          <a:xfrm>
            <a:off x="4617720" y="1554480"/>
            <a:ext cx="548640" cy="548640"/>
          </a:xfrm>
          <a:prstGeom prst="ellipse">
            <a:avLst/>
          </a:prstGeom>
          <a:solidFill>
            <a:srgbClr val="FFD23B"/>
          </a:solidFill>
          <a:ln w="12700">
            <a:solidFill>
              <a:srgbClr val="FFD23B"/>
            </a:solidFill>
            <a:prstDash val="solid"/>
          </a:ln>
        </p:spPr>
      </p:sp>
      <p:sp>
        <p:nvSpPr>
          <p:cNvPr id="4" name="Shape 2"/>
          <p:cNvSpPr/>
          <p:nvPr/>
        </p:nvSpPr>
        <p:spPr>
          <a:xfrm>
            <a:off x="5394960" y="1554480"/>
            <a:ext cx="548640" cy="548640"/>
          </a:xfrm>
          <a:prstGeom prst="ellipse">
            <a:avLst/>
          </a:prstGeom>
          <a:solidFill>
            <a:srgbClr val="49B296"/>
          </a:solidFill>
          <a:ln w="12700">
            <a:solidFill>
              <a:srgbClr val="49B296"/>
            </a:solidFill>
            <a:prstDash val="solid"/>
          </a:ln>
        </p:spPr>
      </p:sp>
      <p:sp>
        <p:nvSpPr>
          <p:cNvPr id="5" name="Shape 3"/>
          <p:cNvSpPr/>
          <p:nvPr/>
        </p:nvSpPr>
        <p:spPr>
          <a:xfrm>
            <a:off x="6172200" y="1554480"/>
            <a:ext cx="548640" cy="548640"/>
          </a:xfrm>
          <a:prstGeom prst="ellipse">
            <a:avLst/>
          </a:prstGeom>
          <a:solidFill>
            <a:srgbClr val="09A1E5"/>
          </a:solidFill>
          <a:ln w="12700">
            <a:solidFill>
              <a:srgbClr val="09A1E5"/>
            </a:solidFill>
            <a:prstDash val="solid"/>
          </a:ln>
        </p:spPr>
      </p:sp>
      <p:sp>
        <p:nvSpPr>
          <p:cNvPr id="6" name="Shape 4"/>
          <p:cNvSpPr/>
          <p:nvPr/>
        </p:nvSpPr>
        <p:spPr>
          <a:xfrm>
            <a:off x="6949440" y="1554480"/>
            <a:ext cx="548640" cy="548640"/>
          </a:xfrm>
          <a:prstGeom prst="ellipse">
            <a:avLst/>
          </a:prstGeom>
          <a:solidFill>
            <a:srgbClr val="962B7C"/>
          </a:solidFill>
          <a:ln w="12700">
            <a:solidFill>
              <a:srgbClr val="962B7C"/>
            </a:solidFill>
            <a:prstDash val="solid"/>
          </a:ln>
        </p:spPr>
      </p:sp>
      <p:sp>
        <p:nvSpPr>
          <p:cNvPr id="7" name="Shape 5"/>
          <p:cNvSpPr/>
          <p:nvPr/>
        </p:nvSpPr>
        <p:spPr>
          <a:xfrm>
            <a:off x="7726680" y="1554480"/>
            <a:ext cx="548640" cy="548640"/>
          </a:xfrm>
          <a:prstGeom prst="ellipse">
            <a:avLst/>
          </a:prstGeom>
          <a:solidFill>
            <a:srgbClr val="FF5178"/>
          </a:solidFill>
          <a:ln w="12700">
            <a:solidFill>
              <a:srgbClr val="FF5178"/>
            </a:solidFill>
            <a:prstDash val="solid"/>
          </a:ln>
        </p:spPr>
      </p:sp>
      <p:sp>
        <p:nvSpPr>
          <p:cNvPr id="8" name="Text 6"/>
          <p:cNvSpPr txBox="1"/>
          <p:nvPr/>
        </p:nvSpPr>
        <p:spPr>
          <a:xfrm>
            <a:off x="548640" y="2468880"/>
            <a:ext cx="11094415" cy="1097280"/>
          </a:xfrm>
          <a:prstGeom prst="rect">
            <a:avLst/>
          </a:prstGeom>
          <a:noFill/>
          <a:ln/>
        </p:spPr>
        <p:txBody>
          <a:bodyPr wrap="square" lIns="0" tIns="0" rIns="0" bIns="0" rtlCol="0" anchor="ctr"/>
          <a:lstStyle/>
          <a:p>
            <a:pPr algn="ctr" indent="0" marL="0">
              <a:buNone/>
            </a:pPr>
            <a:r>
              <a:rPr lang="en-US" sz="5400" b="1" dirty="0">
                <a:solidFill>
                  <a:srgbClr val="2A2238"/>
                </a:solidFill>
                <a:latin typeface="Alexandria" pitchFamily="34" charset="0"/>
                <a:ea typeface="Alexandria" pitchFamily="34" charset="-122"/>
                <a:cs typeface="Alexandria" pitchFamily="34" charset="-120"/>
              </a:rPr>
              <a:t>Giải lao 8 phút</a:t>
            </a:r>
            <a:endParaRPr lang="en-US" sz="5400" dirty="0"/>
          </a:p>
        </p:txBody>
      </p:sp>
      <p:sp>
        <p:nvSpPr>
          <p:cNvPr id="9" name="Text 7"/>
          <p:cNvSpPr txBox="1"/>
          <p:nvPr/>
        </p:nvSpPr>
        <p:spPr>
          <a:xfrm>
            <a:off x="548640" y="3749040"/>
            <a:ext cx="11094415" cy="640080"/>
          </a:xfrm>
          <a:prstGeom prst="rect">
            <a:avLst/>
          </a:prstGeom>
          <a:noFill/>
          <a:ln/>
        </p:spPr>
        <p:txBody>
          <a:bodyPr wrap="square" lIns="0" tIns="0" rIns="0" bIns="0" rtlCol="0" anchor="ctr"/>
          <a:lstStyle/>
          <a:p>
            <a:pPr algn="ctr" indent="0" marL="0">
              <a:buNone/>
            </a:pPr>
            <a:r>
              <a:rPr lang="en-US" sz="2600" dirty="0">
                <a:solidFill>
                  <a:srgbClr val="962B7C"/>
                </a:solidFill>
                <a:latin typeface="Alexandria" pitchFamily="34" charset="0"/>
                <a:ea typeface="Alexandria" pitchFamily="34" charset="-122"/>
                <a:cs typeface="Alexandria" pitchFamily="34" charset="-120"/>
              </a:rPr>
              <a:t>Quay lại lúc  ____ : ____</a:t>
            </a:r>
            <a:endParaRPr lang="en-US" sz="2600" dirty="0"/>
          </a:p>
        </p:txBody>
      </p:sp>
      <p:sp>
        <p:nvSpPr>
          <p:cNvPr id="10" name="Text 8"/>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11   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87782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11.1 KOL</a:t>
            </a:r>
            <a:endParaRPr lang="en-US" sz="1000" dirty="0"/>
          </a:p>
        </p:txBody>
      </p:sp>
      <p:sp>
        <p:nvSpPr>
          <p:cNvPr id="6" name="Shape 4"/>
          <p:cNvSpPr/>
          <p:nvPr/>
        </p:nvSpPr>
        <p:spPr>
          <a:xfrm>
            <a:off x="2368296"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368296"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11.2 Báo chí</a:t>
            </a:r>
            <a:endParaRPr lang="en-US" sz="1000" dirty="0"/>
          </a:p>
        </p:txBody>
      </p:sp>
      <p:sp>
        <p:nvSpPr>
          <p:cNvPr id="8" name="Shape 6"/>
          <p:cNvSpPr/>
          <p:nvPr/>
        </p:nvSpPr>
        <p:spPr>
          <a:xfrm>
            <a:off x="3666744" y="274320"/>
            <a:ext cx="2043684" cy="292608"/>
          </a:xfrm>
          <a:prstGeom prst="roundRect">
            <a:avLst>
              <a:gd name="adj" fmla="val 50000"/>
            </a:avLst>
          </a:prstGeom>
          <a:solidFill>
            <a:srgbClr val="09A1E5"/>
          </a:solidFill>
          <a:ln w="9525">
            <a:solidFill>
              <a:srgbClr val="09A1E5"/>
            </a:solidFill>
            <a:prstDash val="solid"/>
          </a:ln>
        </p:spPr>
      </p:sp>
      <p:sp>
        <p:nvSpPr>
          <p:cNvPr id="9" name="Text 7"/>
          <p:cNvSpPr txBox="1"/>
          <p:nvPr/>
        </p:nvSpPr>
        <p:spPr>
          <a:xfrm>
            <a:off x="3666744" y="274320"/>
            <a:ext cx="204368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11.3 Booking &amp; đo lường</a:t>
            </a:r>
            <a:endParaRPr lang="en-US" sz="1000" dirty="0"/>
          </a:p>
        </p:txBody>
      </p:sp>
      <p:sp>
        <p:nvSpPr>
          <p:cNvPr id="10" name="Shape 8"/>
          <p:cNvSpPr/>
          <p:nvPr/>
        </p:nvSpPr>
        <p:spPr>
          <a:xfrm>
            <a:off x="5820156" y="274320"/>
            <a:ext cx="1421892"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5820156"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11.4 Khuếch đại</a:t>
            </a:r>
            <a:endParaRPr lang="en-US" sz="1000" dirty="0"/>
          </a:p>
        </p:txBody>
      </p:sp>
      <p:sp>
        <p:nvSpPr>
          <p:cNvPr id="12" name="Shape 10"/>
          <p:cNvSpPr/>
          <p:nvPr/>
        </p:nvSpPr>
        <p:spPr>
          <a:xfrm>
            <a:off x="7351776" y="274320"/>
            <a:ext cx="877824" cy="292608"/>
          </a:xfrm>
          <a:prstGeom prst="roundRect">
            <a:avLst>
              <a:gd name="adj" fmla="val 50000"/>
            </a:avLst>
          </a:prstGeom>
          <a:solidFill>
            <a:srgbClr val="FBFAF4"/>
          </a:solidFill>
          <a:ln w="9525">
            <a:solidFill>
              <a:srgbClr val="DCD7C8"/>
            </a:solidFill>
            <a:prstDash val="solid"/>
          </a:ln>
        </p:spPr>
      </p:sp>
      <p:sp>
        <p:nvSpPr>
          <p:cNvPr id="13" name="Text 11"/>
          <p:cNvSpPr txBox="1"/>
          <p:nvPr/>
        </p:nvSpPr>
        <p:spPr>
          <a:xfrm>
            <a:off x="735177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4" name="Shape 12"/>
          <p:cNvSpPr/>
          <p:nvPr/>
        </p:nvSpPr>
        <p:spPr>
          <a:xfrm>
            <a:off x="11259007" y="219456"/>
            <a:ext cx="384048" cy="384048"/>
          </a:xfrm>
          <a:prstGeom prst="ellipse">
            <a:avLst/>
          </a:prstGeom>
          <a:ln w="12700">
            <a:solidFill>
              <a:srgbClr val="09A1E5"/>
            </a:solidFill>
            <a:prstDash val="solid"/>
          </a:ln>
        </p:spPr>
      </p:sp>
      <p:sp>
        <p:nvSpPr>
          <p:cNvPr id="15" name="Shape 13"/>
          <p:cNvSpPr/>
          <p:nvPr/>
        </p:nvSpPr>
        <p:spPr>
          <a:xfrm>
            <a:off x="11324295" y="284744"/>
            <a:ext cx="253472" cy="253472"/>
          </a:xfrm>
          <a:prstGeom prst="ellipse">
            <a:avLst/>
          </a:prstGeom>
          <a:ln w="15875">
            <a:solidFill>
              <a:srgbClr val="962B7C"/>
            </a:solidFill>
            <a:prstDash val="solid"/>
          </a:ln>
        </p:spPr>
      </p:sp>
      <p:sp>
        <p:nvSpPr>
          <p:cNvPr id="16" name="Shape 14"/>
          <p:cNvSpPr/>
          <p:nvPr/>
        </p:nvSpPr>
        <p:spPr>
          <a:xfrm>
            <a:off x="11389584" y="350032"/>
            <a:ext cx="122895" cy="122895"/>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Booking là một quy trình 8 bước, không phải một cuộc gọi</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Quy trình do người soạn dựng từ X05, X06, X12, X13.</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11   15</a:t>
            </a:r>
            <a:endParaRPr lang="en-US" sz="1000" dirty="0"/>
          </a:p>
        </p:txBody>
      </p:sp>
      <p:sp>
        <p:nvSpPr>
          <p:cNvPr id="21" name="Shape 18"/>
          <p:cNvSpPr/>
          <p:nvPr/>
        </p:nvSpPr>
        <p:spPr>
          <a:xfrm>
            <a:off x="548640" y="1920240"/>
            <a:ext cx="2464994" cy="1645920"/>
          </a:xfrm>
          <a:prstGeom prst="roundRect">
            <a:avLst>
              <a:gd name="adj" fmla="val 6667"/>
            </a:avLst>
          </a:prstGeom>
          <a:solidFill>
            <a:srgbClr val="FFFFFF"/>
          </a:solidFill>
          <a:ln w="15875">
            <a:solidFill>
              <a:srgbClr val="FF9259"/>
            </a:solidFill>
            <a:prstDash val="solid"/>
          </a:ln>
        </p:spPr>
      </p:sp>
      <p:sp>
        <p:nvSpPr>
          <p:cNvPr id="22" name="Shape 19"/>
          <p:cNvSpPr/>
          <p:nvPr/>
        </p:nvSpPr>
        <p:spPr>
          <a:xfrm>
            <a:off x="731520" y="2084832"/>
            <a:ext cx="502920" cy="502920"/>
          </a:xfrm>
          <a:prstGeom prst="ellipse">
            <a:avLst/>
          </a:prstGeom>
          <a:solidFill>
            <a:srgbClr val="FF9259"/>
          </a:solidFill>
          <a:ln w="12700">
            <a:solidFill>
              <a:srgbClr val="FF9259"/>
            </a:solidFill>
            <a:prstDash val="solid"/>
          </a:ln>
        </p:spPr>
      </p:sp>
      <p:sp>
        <p:nvSpPr>
          <p:cNvPr id="23" name="Text 20"/>
          <p:cNvSpPr txBox="1"/>
          <p:nvPr/>
        </p:nvSpPr>
        <p:spPr>
          <a:xfrm>
            <a:off x="731520" y="2084832"/>
            <a:ext cx="502920" cy="502920"/>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1</a:t>
            </a:r>
            <a:endParaRPr lang="en-US" sz="1600" dirty="0"/>
          </a:p>
        </p:txBody>
      </p:sp>
      <p:sp>
        <p:nvSpPr>
          <p:cNvPr id="24" name="Text 21"/>
          <p:cNvSpPr txBox="1"/>
          <p:nvPr/>
        </p:nvSpPr>
        <p:spPr>
          <a:xfrm>
            <a:off x="731520" y="2651760"/>
            <a:ext cx="2099234" cy="41148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Brief</a:t>
            </a:r>
            <a:endParaRPr lang="en-US" sz="1600" dirty="0"/>
          </a:p>
        </p:txBody>
      </p:sp>
      <p:sp>
        <p:nvSpPr>
          <p:cNvPr id="25" name="Text 22"/>
          <p:cNvSpPr txBox="1"/>
          <p:nvPr/>
        </p:nvSpPr>
        <p:spPr>
          <a:xfrm>
            <a:off x="731520" y="3063240"/>
            <a:ext cx="2099234" cy="457200"/>
          </a:xfrm>
          <a:prstGeom prst="rect">
            <a:avLst/>
          </a:prstGeom>
          <a:noFill/>
          <a:ln/>
        </p:spPr>
        <p:txBody>
          <a:bodyPr wrap="square" lIns="0" tIns="0" rIns="0" bIns="0" rtlCol="0" anchor="t"/>
          <a:lstStyle/>
          <a:p>
            <a:pPr indent="0" marL="0">
              <a:buNone/>
            </a:pPr>
            <a:r>
              <a:rPr lang="en-US" sz="1200" dirty="0">
                <a:solidFill>
                  <a:srgbClr val="6E6878"/>
                </a:solidFill>
                <a:latin typeface="Alexandria" pitchFamily="34" charset="0"/>
                <a:ea typeface="Alexandria" pitchFamily="34" charset="-122"/>
                <a:cs typeface="Alexandria" pitchFamily="34" charset="-120"/>
              </a:rPr>
              <a:t>mục tiêu, thông điệp, điều không được nói</a:t>
            </a:r>
            <a:endParaRPr lang="en-US" sz="1200" dirty="0"/>
          </a:p>
        </p:txBody>
      </p:sp>
      <p:sp>
        <p:nvSpPr>
          <p:cNvPr id="26" name="Shape 23"/>
          <p:cNvSpPr/>
          <p:nvPr/>
        </p:nvSpPr>
        <p:spPr>
          <a:xfrm>
            <a:off x="3059354" y="2743200"/>
            <a:ext cx="320040" cy="914"/>
          </a:xfrm>
          <a:prstGeom prst="line">
            <a:avLst/>
          </a:prstGeom>
          <a:noFill/>
          <a:ln w="31750">
            <a:solidFill>
              <a:srgbClr val="2A2238"/>
            </a:solidFill>
            <a:prstDash val="solid"/>
            <a:tailEnd type="triangle"/>
          </a:ln>
        </p:spPr>
      </p:sp>
      <p:sp>
        <p:nvSpPr>
          <p:cNvPr id="27" name="Shape 24"/>
          <p:cNvSpPr/>
          <p:nvPr/>
        </p:nvSpPr>
        <p:spPr>
          <a:xfrm>
            <a:off x="3425114" y="1920240"/>
            <a:ext cx="2464994" cy="1645920"/>
          </a:xfrm>
          <a:prstGeom prst="roundRect">
            <a:avLst>
              <a:gd name="adj" fmla="val 6667"/>
            </a:avLst>
          </a:prstGeom>
          <a:solidFill>
            <a:srgbClr val="FFE4EA"/>
          </a:solidFill>
          <a:ln w="31750">
            <a:solidFill>
              <a:srgbClr val="FF5178"/>
            </a:solidFill>
            <a:prstDash val="solid"/>
          </a:ln>
        </p:spPr>
      </p:sp>
      <p:sp>
        <p:nvSpPr>
          <p:cNvPr id="28" name="Shape 25"/>
          <p:cNvSpPr/>
          <p:nvPr/>
        </p:nvSpPr>
        <p:spPr>
          <a:xfrm>
            <a:off x="3607994" y="2084832"/>
            <a:ext cx="502920" cy="502920"/>
          </a:xfrm>
          <a:prstGeom prst="ellipse">
            <a:avLst/>
          </a:prstGeom>
          <a:solidFill>
            <a:srgbClr val="FF5178"/>
          </a:solidFill>
          <a:ln w="12700">
            <a:solidFill>
              <a:srgbClr val="FF5178"/>
            </a:solidFill>
            <a:prstDash val="solid"/>
          </a:ln>
        </p:spPr>
      </p:sp>
      <p:sp>
        <p:nvSpPr>
          <p:cNvPr id="29" name="Text 26"/>
          <p:cNvSpPr txBox="1"/>
          <p:nvPr/>
        </p:nvSpPr>
        <p:spPr>
          <a:xfrm>
            <a:off x="3607994" y="208483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2</a:t>
            </a:r>
            <a:endParaRPr lang="en-US" sz="1600" dirty="0"/>
          </a:p>
        </p:txBody>
      </p:sp>
      <p:sp>
        <p:nvSpPr>
          <p:cNvPr id="30" name="Text 27"/>
          <p:cNvSpPr txBox="1"/>
          <p:nvPr/>
        </p:nvSpPr>
        <p:spPr>
          <a:xfrm>
            <a:off x="3607994" y="2651760"/>
            <a:ext cx="2099234" cy="41148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Due diligence</a:t>
            </a:r>
            <a:endParaRPr lang="en-US" sz="1600" dirty="0"/>
          </a:p>
        </p:txBody>
      </p:sp>
      <p:sp>
        <p:nvSpPr>
          <p:cNvPr id="31" name="Text 28"/>
          <p:cNvSpPr txBox="1"/>
          <p:nvPr/>
        </p:nvSpPr>
        <p:spPr>
          <a:xfrm>
            <a:off x="3607994" y="3063240"/>
            <a:ext cx="2099234" cy="457200"/>
          </a:xfrm>
          <a:prstGeom prst="rect">
            <a:avLst/>
          </a:prstGeom>
          <a:noFill/>
          <a:ln/>
        </p:spPr>
        <p:txBody>
          <a:bodyPr wrap="square" lIns="0" tIns="0" rIns="0" bIns="0" rtlCol="0" anchor="t"/>
          <a:lstStyle/>
          <a:p>
            <a:pPr indent="0" marL="0">
              <a:buNone/>
            </a:pPr>
            <a:r>
              <a:rPr lang="en-US" sz="1200" dirty="0">
                <a:solidFill>
                  <a:srgbClr val="6E6878"/>
                </a:solidFill>
                <a:latin typeface="Alexandria" pitchFamily="34" charset="0"/>
                <a:ea typeface="Alexandria" pitchFamily="34" charset="-122"/>
                <a:cs typeface="Alexandria" pitchFamily="34" charset="-120"/>
              </a:rPr>
              <a:t>kiểm tra trước khi ký</a:t>
            </a:r>
            <a:endParaRPr lang="en-US" sz="1200" dirty="0"/>
          </a:p>
        </p:txBody>
      </p:sp>
      <p:sp>
        <p:nvSpPr>
          <p:cNvPr id="32" name="Shape 29"/>
          <p:cNvSpPr/>
          <p:nvPr/>
        </p:nvSpPr>
        <p:spPr>
          <a:xfrm>
            <a:off x="5935828" y="2743200"/>
            <a:ext cx="320040" cy="914"/>
          </a:xfrm>
          <a:prstGeom prst="line">
            <a:avLst/>
          </a:prstGeom>
          <a:noFill/>
          <a:ln w="31750">
            <a:solidFill>
              <a:srgbClr val="2A2238"/>
            </a:solidFill>
            <a:prstDash val="solid"/>
            <a:tailEnd type="triangle"/>
          </a:ln>
        </p:spPr>
      </p:sp>
      <p:sp>
        <p:nvSpPr>
          <p:cNvPr id="33" name="Shape 30"/>
          <p:cNvSpPr/>
          <p:nvPr/>
        </p:nvSpPr>
        <p:spPr>
          <a:xfrm>
            <a:off x="6301588" y="1920240"/>
            <a:ext cx="2464994" cy="1645920"/>
          </a:xfrm>
          <a:prstGeom prst="roundRect">
            <a:avLst>
              <a:gd name="adj" fmla="val 6667"/>
            </a:avLst>
          </a:prstGeom>
          <a:solidFill>
            <a:srgbClr val="FFFFFF"/>
          </a:solidFill>
          <a:ln w="15875">
            <a:solidFill>
              <a:srgbClr val="962B7C"/>
            </a:solidFill>
            <a:prstDash val="solid"/>
          </a:ln>
        </p:spPr>
      </p:sp>
      <p:sp>
        <p:nvSpPr>
          <p:cNvPr id="34" name="Shape 31"/>
          <p:cNvSpPr/>
          <p:nvPr/>
        </p:nvSpPr>
        <p:spPr>
          <a:xfrm>
            <a:off x="6484468" y="2084832"/>
            <a:ext cx="502920" cy="502920"/>
          </a:xfrm>
          <a:prstGeom prst="ellipse">
            <a:avLst/>
          </a:prstGeom>
          <a:solidFill>
            <a:srgbClr val="962B7C"/>
          </a:solidFill>
          <a:ln w="12700">
            <a:solidFill>
              <a:srgbClr val="962B7C"/>
            </a:solidFill>
            <a:prstDash val="solid"/>
          </a:ln>
        </p:spPr>
      </p:sp>
      <p:sp>
        <p:nvSpPr>
          <p:cNvPr id="35" name="Text 32"/>
          <p:cNvSpPr txBox="1"/>
          <p:nvPr/>
        </p:nvSpPr>
        <p:spPr>
          <a:xfrm>
            <a:off x="6484468" y="208483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3</a:t>
            </a:r>
            <a:endParaRPr lang="en-US" sz="1600" dirty="0"/>
          </a:p>
        </p:txBody>
      </p:sp>
      <p:sp>
        <p:nvSpPr>
          <p:cNvPr id="36" name="Text 33"/>
          <p:cNvSpPr txBox="1"/>
          <p:nvPr/>
        </p:nvSpPr>
        <p:spPr>
          <a:xfrm>
            <a:off x="6484468" y="2651760"/>
            <a:ext cx="2099234" cy="41148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Báo giá</a:t>
            </a:r>
            <a:endParaRPr lang="en-US" sz="1600" dirty="0"/>
          </a:p>
        </p:txBody>
      </p:sp>
      <p:sp>
        <p:nvSpPr>
          <p:cNvPr id="37" name="Text 34"/>
          <p:cNvSpPr txBox="1"/>
          <p:nvPr/>
        </p:nvSpPr>
        <p:spPr>
          <a:xfrm>
            <a:off x="6484468" y="3063240"/>
            <a:ext cx="2099234" cy="457200"/>
          </a:xfrm>
          <a:prstGeom prst="rect">
            <a:avLst/>
          </a:prstGeom>
          <a:noFill/>
          <a:ln/>
        </p:spPr>
        <p:txBody>
          <a:bodyPr wrap="square" lIns="0" tIns="0" rIns="0" bIns="0" rtlCol="0" anchor="t"/>
          <a:lstStyle/>
          <a:p>
            <a:pPr indent="0" marL="0">
              <a:buNone/>
            </a:pPr>
            <a:r>
              <a:rPr lang="en-US" sz="1200" dirty="0">
                <a:solidFill>
                  <a:srgbClr val="6E6878"/>
                </a:solidFill>
                <a:latin typeface="Alexandria" pitchFamily="34" charset="0"/>
                <a:ea typeface="Alexandria" pitchFamily="34" charset="-122"/>
                <a:cs typeface="Alexandria" pitchFamily="34" charset="-120"/>
              </a:rPr>
              <a:t>cá nhân hay công ty quản lý?</a:t>
            </a:r>
            <a:endParaRPr lang="en-US" sz="1200" dirty="0"/>
          </a:p>
        </p:txBody>
      </p:sp>
      <p:sp>
        <p:nvSpPr>
          <p:cNvPr id="38" name="Shape 35"/>
          <p:cNvSpPr/>
          <p:nvPr/>
        </p:nvSpPr>
        <p:spPr>
          <a:xfrm>
            <a:off x="8812301" y="2743200"/>
            <a:ext cx="320040" cy="914"/>
          </a:xfrm>
          <a:prstGeom prst="line">
            <a:avLst/>
          </a:prstGeom>
          <a:noFill/>
          <a:ln w="31750">
            <a:solidFill>
              <a:srgbClr val="2A2238"/>
            </a:solidFill>
            <a:prstDash val="solid"/>
            <a:tailEnd type="triangle"/>
          </a:ln>
        </p:spPr>
      </p:sp>
      <p:sp>
        <p:nvSpPr>
          <p:cNvPr id="39" name="Shape 36"/>
          <p:cNvSpPr/>
          <p:nvPr/>
        </p:nvSpPr>
        <p:spPr>
          <a:xfrm>
            <a:off x="9178061" y="1920240"/>
            <a:ext cx="2464994" cy="1645920"/>
          </a:xfrm>
          <a:prstGeom prst="roundRect">
            <a:avLst>
              <a:gd name="adj" fmla="val 6667"/>
            </a:avLst>
          </a:prstGeom>
          <a:solidFill>
            <a:srgbClr val="FFFFFF"/>
          </a:solidFill>
          <a:ln w="15875">
            <a:solidFill>
              <a:srgbClr val="09A1E5"/>
            </a:solidFill>
            <a:prstDash val="solid"/>
          </a:ln>
        </p:spPr>
      </p:sp>
      <p:sp>
        <p:nvSpPr>
          <p:cNvPr id="40" name="Shape 37"/>
          <p:cNvSpPr/>
          <p:nvPr/>
        </p:nvSpPr>
        <p:spPr>
          <a:xfrm>
            <a:off x="9360941" y="2084832"/>
            <a:ext cx="502920" cy="502920"/>
          </a:xfrm>
          <a:prstGeom prst="ellipse">
            <a:avLst/>
          </a:prstGeom>
          <a:solidFill>
            <a:srgbClr val="09A1E5"/>
          </a:solidFill>
          <a:ln w="12700">
            <a:solidFill>
              <a:srgbClr val="09A1E5"/>
            </a:solidFill>
            <a:prstDash val="solid"/>
          </a:ln>
        </p:spPr>
      </p:sp>
      <p:sp>
        <p:nvSpPr>
          <p:cNvPr id="41" name="Text 38"/>
          <p:cNvSpPr txBox="1"/>
          <p:nvPr/>
        </p:nvSpPr>
        <p:spPr>
          <a:xfrm>
            <a:off x="9360941" y="208483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4</a:t>
            </a:r>
            <a:endParaRPr lang="en-US" sz="1600" dirty="0"/>
          </a:p>
        </p:txBody>
      </p:sp>
      <p:sp>
        <p:nvSpPr>
          <p:cNvPr id="42" name="Text 39"/>
          <p:cNvSpPr txBox="1"/>
          <p:nvPr/>
        </p:nvSpPr>
        <p:spPr>
          <a:xfrm>
            <a:off x="9360941" y="2651760"/>
            <a:ext cx="2099234" cy="41148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Hợp đồng</a:t>
            </a:r>
            <a:endParaRPr lang="en-US" sz="1600" dirty="0"/>
          </a:p>
        </p:txBody>
      </p:sp>
      <p:sp>
        <p:nvSpPr>
          <p:cNvPr id="43" name="Text 40"/>
          <p:cNvSpPr txBox="1"/>
          <p:nvPr/>
        </p:nvSpPr>
        <p:spPr>
          <a:xfrm>
            <a:off x="9360941" y="3063240"/>
            <a:ext cx="2099234" cy="457200"/>
          </a:xfrm>
          <a:prstGeom prst="rect">
            <a:avLst/>
          </a:prstGeom>
          <a:noFill/>
          <a:ln/>
        </p:spPr>
        <p:txBody>
          <a:bodyPr wrap="square" lIns="0" tIns="0" rIns="0" bIns="0" rtlCol="0" anchor="t"/>
          <a:lstStyle/>
          <a:p>
            <a:pPr indent="0" marL="0">
              <a:buNone/>
            </a:pPr>
            <a:r>
              <a:rPr lang="en-US" sz="1200" dirty="0">
                <a:solidFill>
                  <a:srgbClr val="6E6878"/>
                </a:solidFill>
                <a:latin typeface="Alexandria" pitchFamily="34" charset="0"/>
                <a:ea typeface="Alexandria" pitchFamily="34" charset="-122"/>
                <a:cs typeface="Alexandria" pitchFamily="34" charset="-120"/>
              </a:rPr>
              <a:t>nghĩa vụ luật định + điều khoản</a:t>
            </a:r>
            <a:endParaRPr lang="en-US" sz="1200" dirty="0"/>
          </a:p>
        </p:txBody>
      </p:sp>
      <p:sp>
        <p:nvSpPr>
          <p:cNvPr id="44" name="Shape 41"/>
          <p:cNvSpPr/>
          <p:nvPr/>
        </p:nvSpPr>
        <p:spPr>
          <a:xfrm>
            <a:off x="10410558" y="3611880"/>
            <a:ext cx="914" cy="365760"/>
          </a:xfrm>
          <a:prstGeom prst="line">
            <a:avLst/>
          </a:prstGeom>
          <a:noFill/>
          <a:ln w="31750">
            <a:solidFill>
              <a:srgbClr val="2A2238"/>
            </a:solidFill>
            <a:prstDash val="solid"/>
            <a:tailEnd type="triangle"/>
          </a:ln>
        </p:spPr>
      </p:sp>
      <p:sp>
        <p:nvSpPr>
          <p:cNvPr id="45" name="Shape 42"/>
          <p:cNvSpPr/>
          <p:nvPr/>
        </p:nvSpPr>
        <p:spPr>
          <a:xfrm>
            <a:off x="9178061" y="4023360"/>
            <a:ext cx="2464994" cy="1645920"/>
          </a:xfrm>
          <a:prstGeom prst="roundRect">
            <a:avLst>
              <a:gd name="adj" fmla="val 6667"/>
            </a:avLst>
          </a:prstGeom>
          <a:solidFill>
            <a:srgbClr val="FFFFFF"/>
          </a:solidFill>
          <a:ln w="15875">
            <a:solidFill>
              <a:srgbClr val="49B296"/>
            </a:solidFill>
            <a:prstDash val="solid"/>
          </a:ln>
        </p:spPr>
      </p:sp>
      <p:sp>
        <p:nvSpPr>
          <p:cNvPr id="46" name="Shape 43"/>
          <p:cNvSpPr/>
          <p:nvPr/>
        </p:nvSpPr>
        <p:spPr>
          <a:xfrm>
            <a:off x="9360941" y="4187952"/>
            <a:ext cx="502920" cy="502920"/>
          </a:xfrm>
          <a:prstGeom prst="ellipse">
            <a:avLst/>
          </a:prstGeom>
          <a:solidFill>
            <a:srgbClr val="49B296"/>
          </a:solidFill>
          <a:ln w="12700">
            <a:solidFill>
              <a:srgbClr val="49B296"/>
            </a:solidFill>
            <a:prstDash val="solid"/>
          </a:ln>
        </p:spPr>
      </p:sp>
      <p:sp>
        <p:nvSpPr>
          <p:cNvPr id="47" name="Text 44"/>
          <p:cNvSpPr txBox="1"/>
          <p:nvPr/>
        </p:nvSpPr>
        <p:spPr>
          <a:xfrm>
            <a:off x="9360941" y="418795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5</a:t>
            </a:r>
            <a:endParaRPr lang="en-US" sz="1600" dirty="0"/>
          </a:p>
        </p:txBody>
      </p:sp>
      <p:sp>
        <p:nvSpPr>
          <p:cNvPr id="48" name="Text 45"/>
          <p:cNvSpPr txBox="1"/>
          <p:nvPr/>
        </p:nvSpPr>
        <p:spPr>
          <a:xfrm>
            <a:off x="9360941" y="4754880"/>
            <a:ext cx="2099234" cy="41148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Duyệt nội dung</a:t>
            </a:r>
            <a:endParaRPr lang="en-US" sz="1600" dirty="0"/>
          </a:p>
        </p:txBody>
      </p:sp>
      <p:sp>
        <p:nvSpPr>
          <p:cNvPr id="49" name="Text 46"/>
          <p:cNvSpPr txBox="1"/>
          <p:nvPr/>
        </p:nvSpPr>
        <p:spPr>
          <a:xfrm>
            <a:off x="9360941" y="5166360"/>
            <a:ext cx="2099234" cy="457200"/>
          </a:xfrm>
          <a:prstGeom prst="rect">
            <a:avLst/>
          </a:prstGeom>
          <a:noFill/>
          <a:ln/>
        </p:spPr>
        <p:txBody>
          <a:bodyPr wrap="square" lIns="0" tIns="0" rIns="0" bIns="0" rtlCol="0" anchor="t"/>
          <a:lstStyle/>
          <a:p>
            <a:pPr indent="0" marL="0">
              <a:buNone/>
            </a:pPr>
            <a:r>
              <a:rPr lang="en-US" sz="1200" dirty="0">
                <a:solidFill>
                  <a:srgbClr val="6E6878"/>
                </a:solidFill>
                <a:latin typeface="Alexandria" pitchFamily="34" charset="0"/>
                <a:ea typeface="Alexandria" pitchFamily="34" charset="-122"/>
                <a:cs typeface="Alexandria" pitchFamily="34" charset="-120"/>
              </a:rPr>
              <a:t>chị Vy (Thương hiệu) duyệt trước</a:t>
            </a:r>
            <a:endParaRPr lang="en-US" sz="1200" dirty="0"/>
          </a:p>
        </p:txBody>
      </p:sp>
      <p:sp>
        <p:nvSpPr>
          <p:cNvPr id="50" name="Shape 47"/>
          <p:cNvSpPr/>
          <p:nvPr/>
        </p:nvSpPr>
        <p:spPr>
          <a:xfrm flipH="1">
            <a:off x="8812301" y="4846320"/>
            <a:ext cx="320040" cy="914"/>
          </a:xfrm>
          <a:prstGeom prst="line">
            <a:avLst/>
          </a:prstGeom>
          <a:noFill/>
          <a:ln w="31750">
            <a:solidFill>
              <a:srgbClr val="2A2238"/>
            </a:solidFill>
            <a:prstDash val="solid"/>
            <a:tailEnd type="triangle"/>
          </a:ln>
        </p:spPr>
      </p:sp>
      <p:sp>
        <p:nvSpPr>
          <p:cNvPr id="51" name="Shape 48"/>
          <p:cNvSpPr/>
          <p:nvPr/>
        </p:nvSpPr>
        <p:spPr>
          <a:xfrm>
            <a:off x="6301588" y="4023360"/>
            <a:ext cx="2464994" cy="1645920"/>
          </a:xfrm>
          <a:prstGeom prst="roundRect">
            <a:avLst>
              <a:gd name="adj" fmla="val 6667"/>
            </a:avLst>
          </a:prstGeom>
          <a:solidFill>
            <a:srgbClr val="FFFFFF"/>
          </a:solidFill>
          <a:ln w="15875">
            <a:solidFill>
              <a:srgbClr val="FF9259"/>
            </a:solidFill>
            <a:prstDash val="solid"/>
          </a:ln>
        </p:spPr>
      </p:sp>
      <p:sp>
        <p:nvSpPr>
          <p:cNvPr id="52" name="Shape 49"/>
          <p:cNvSpPr/>
          <p:nvPr/>
        </p:nvSpPr>
        <p:spPr>
          <a:xfrm>
            <a:off x="6484468" y="4187952"/>
            <a:ext cx="502920" cy="502920"/>
          </a:xfrm>
          <a:prstGeom prst="ellipse">
            <a:avLst/>
          </a:prstGeom>
          <a:solidFill>
            <a:srgbClr val="FF9259"/>
          </a:solidFill>
          <a:ln w="12700">
            <a:solidFill>
              <a:srgbClr val="FF9259"/>
            </a:solidFill>
            <a:prstDash val="solid"/>
          </a:ln>
        </p:spPr>
      </p:sp>
      <p:sp>
        <p:nvSpPr>
          <p:cNvPr id="53" name="Text 50"/>
          <p:cNvSpPr txBox="1"/>
          <p:nvPr/>
        </p:nvSpPr>
        <p:spPr>
          <a:xfrm>
            <a:off x="6484468" y="4187952"/>
            <a:ext cx="502920" cy="502920"/>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6</a:t>
            </a:r>
            <a:endParaRPr lang="en-US" sz="1600" dirty="0"/>
          </a:p>
        </p:txBody>
      </p:sp>
      <p:sp>
        <p:nvSpPr>
          <p:cNvPr id="54" name="Text 51"/>
          <p:cNvSpPr txBox="1"/>
          <p:nvPr/>
        </p:nvSpPr>
        <p:spPr>
          <a:xfrm>
            <a:off x="6484468" y="4754880"/>
            <a:ext cx="2099234" cy="41148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Thực hiện</a:t>
            </a:r>
            <a:endParaRPr lang="en-US" sz="1600" dirty="0"/>
          </a:p>
        </p:txBody>
      </p:sp>
      <p:sp>
        <p:nvSpPr>
          <p:cNvPr id="55" name="Text 52"/>
          <p:cNvSpPr txBox="1"/>
          <p:nvPr/>
        </p:nvSpPr>
        <p:spPr>
          <a:xfrm>
            <a:off x="6484468" y="5166360"/>
            <a:ext cx="2099234" cy="457200"/>
          </a:xfrm>
          <a:prstGeom prst="rect">
            <a:avLst/>
          </a:prstGeom>
          <a:noFill/>
          <a:ln/>
        </p:spPr>
        <p:txBody>
          <a:bodyPr wrap="square" lIns="0" tIns="0" rIns="0" bIns="0" rtlCol="0" anchor="t"/>
          <a:lstStyle/>
          <a:p>
            <a:pPr indent="0" marL="0">
              <a:buNone/>
            </a:pPr>
            <a:r>
              <a:rPr lang="en-US" sz="1200" dirty="0">
                <a:solidFill>
                  <a:srgbClr val="6E6878"/>
                </a:solidFill>
                <a:latin typeface="Alexandria" pitchFamily="34" charset="0"/>
                <a:ea typeface="Alexandria" pitchFamily="34" charset="-122"/>
                <a:cs typeface="Alexandria" pitchFamily="34" charset="-120"/>
              </a:rPr>
              <a:t>đúng lịch, đúng nhãn</a:t>
            </a:r>
            <a:endParaRPr lang="en-US" sz="1200" dirty="0"/>
          </a:p>
        </p:txBody>
      </p:sp>
      <p:sp>
        <p:nvSpPr>
          <p:cNvPr id="56" name="Shape 53"/>
          <p:cNvSpPr/>
          <p:nvPr/>
        </p:nvSpPr>
        <p:spPr>
          <a:xfrm flipH="1">
            <a:off x="5935828" y="4846320"/>
            <a:ext cx="320040" cy="914"/>
          </a:xfrm>
          <a:prstGeom prst="line">
            <a:avLst/>
          </a:prstGeom>
          <a:noFill/>
          <a:ln w="31750">
            <a:solidFill>
              <a:srgbClr val="2A2238"/>
            </a:solidFill>
            <a:prstDash val="solid"/>
            <a:tailEnd type="triangle"/>
          </a:ln>
        </p:spPr>
      </p:sp>
      <p:sp>
        <p:nvSpPr>
          <p:cNvPr id="57" name="Shape 54"/>
          <p:cNvSpPr/>
          <p:nvPr/>
        </p:nvSpPr>
        <p:spPr>
          <a:xfrm>
            <a:off x="3425114" y="4023360"/>
            <a:ext cx="2464994" cy="1645920"/>
          </a:xfrm>
          <a:prstGeom prst="roundRect">
            <a:avLst>
              <a:gd name="adj" fmla="val 6667"/>
            </a:avLst>
          </a:prstGeom>
          <a:solidFill>
            <a:srgbClr val="FFFFFF"/>
          </a:solidFill>
          <a:ln w="15875">
            <a:solidFill>
              <a:srgbClr val="962B7C"/>
            </a:solidFill>
            <a:prstDash val="solid"/>
          </a:ln>
        </p:spPr>
      </p:sp>
      <p:sp>
        <p:nvSpPr>
          <p:cNvPr id="58" name="Shape 55"/>
          <p:cNvSpPr/>
          <p:nvPr/>
        </p:nvSpPr>
        <p:spPr>
          <a:xfrm>
            <a:off x="3607994" y="4187952"/>
            <a:ext cx="502920" cy="502920"/>
          </a:xfrm>
          <a:prstGeom prst="ellipse">
            <a:avLst/>
          </a:prstGeom>
          <a:solidFill>
            <a:srgbClr val="962B7C"/>
          </a:solidFill>
          <a:ln w="12700">
            <a:solidFill>
              <a:srgbClr val="962B7C"/>
            </a:solidFill>
            <a:prstDash val="solid"/>
          </a:ln>
        </p:spPr>
      </p:sp>
      <p:sp>
        <p:nvSpPr>
          <p:cNvPr id="59" name="Text 56"/>
          <p:cNvSpPr txBox="1"/>
          <p:nvPr/>
        </p:nvSpPr>
        <p:spPr>
          <a:xfrm>
            <a:off x="3607994" y="418795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7</a:t>
            </a:r>
            <a:endParaRPr lang="en-US" sz="1600" dirty="0"/>
          </a:p>
        </p:txBody>
      </p:sp>
      <p:sp>
        <p:nvSpPr>
          <p:cNvPr id="60" name="Text 57"/>
          <p:cNvSpPr txBox="1"/>
          <p:nvPr/>
        </p:nvSpPr>
        <p:spPr>
          <a:xfrm>
            <a:off x="3607994" y="4754880"/>
            <a:ext cx="2099234" cy="41148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Thanh toán</a:t>
            </a:r>
            <a:endParaRPr lang="en-US" sz="1600" dirty="0"/>
          </a:p>
        </p:txBody>
      </p:sp>
      <p:sp>
        <p:nvSpPr>
          <p:cNvPr id="61" name="Text 58"/>
          <p:cNvSpPr txBox="1"/>
          <p:nvPr/>
        </p:nvSpPr>
        <p:spPr>
          <a:xfrm>
            <a:off x="3607994" y="5166360"/>
            <a:ext cx="2099234" cy="457200"/>
          </a:xfrm>
          <a:prstGeom prst="rect">
            <a:avLst/>
          </a:prstGeom>
          <a:noFill/>
          <a:ln/>
        </p:spPr>
        <p:txBody>
          <a:bodyPr wrap="square" lIns="0" tIns="0" rIns="0" bIns="0" rtlCol="0" anchor="t"/>
          <a:lstStyle/>
          <a:p>
            <a:pPr indent="0" marL="0">
              <a:buNone/>
            </a:pPr>
            <a:r>
              <a:rPr lang="en-US" sz="1200" dirty="0">
                <a:solidFill>
                  <a:srgbClr val="6E6878"/>
                </a:solidFill>
                <a:latin typeface="Alexandria" pitchFamily="34" charset="0"/>
                <a:ea typeface="Alexandria" pitchFamily="34" charset="-122"/>
                <a:cs typeface="Alexandria" pitchFamily="34" charset="-120"/>
              </a:rPr>
              <a:t>nghiệm thu, chứng từ đúng hình thức</a:t>
            </a:r>
            <a:endParaRPr lang="en-US" sz="1200" dirty="0"/>
          </a:p>
        </p:txBody>
      </p:sp>
      <p:sp>
        <p:nvSpPr>
          <p:cNvPr id="62" name="Shape 59"/>
          <p:cNvSpPr/>
          <p:nvPr/>
        </p:nvSpPr>
        <p:spPr>
          <a:xfrm flipH="1">
            <a:off x="3059354" y="4846320"/>
            <a:ext cx="320040" cy="914"/>
          </a:xfrm>
          <a:prstGeom prst="line">
            <a:avLst/>
          </a:prstGeom>
          <a:noFill/>
          <a:ln w="31750">
            <a:solidFill>
              <a:srgbClr val="2A2238"/>
            </a:solidFill>
            <a:prstDash val="solid"/>
            <a:tailEnd type="triangle"/>
          </a:ln>
        </p:spPr>
      </p:sp>
      <p:sp>
        <p:nvSpPr>
          <p:cNvPr id="63" name="Shape 60"/>
          <p:cNvSpPr/>
          <p:nvPr/>
        </p:nvSpPr>
        <p:spPr>
          <a:xfrm>
            <a:off x="548640" y="4023360"/>
            <a:ext cx="2464994" cy="1645920"/>
          </a:xfrm>
          <a:prstGeom prst="roundRect">
            <a:avLst>
              <a:gd name="adj" fmla="val 6667"/>
            </a:avLst>
          </a:prstGeom>
          <a:solidFill>
            <a:srgbClr val="FFFFFF"/>
          </a:solidFill>
          <a:ln w="15875">
            <a:solidFill>
              <a:srgbClr val="09A1E5"/>
            </a:solidFill>
            <a:prstDash val="solid"/>
          </a:ln>
        </p:spPr>
      </p:sp>
      <p:sp>
        <p:nvSpPr>
          <p:cNvPr id="64" name="Shape 61"/>
          <p:cNvSpPr/>
          <p:nvPr/>
        </p:nvSpPr>
        <p:spPr>
          <a:xfrm>
            <a:off x="731520" y="4187952"/>
            <a:ext cx="502920" cy="502920"/>
          </a:xfrm>
          <a:prstGeom prst="ellipse">
            <a:avLst/>
          </a:prstGeom>
          <a:solidFill>
            <a:srgbClr val="09A1E5"/>
          </a:solidFill>
          <a:ln w="12700">
            <a:solidFill>
              <a:srgbClr val="09A1E5"/>
            </a:solidFill>
            <a:prstDash val="solid"/>
          </a:ln>
        </p:spPr>
      </p:sp>
      <p:sp>
        <p:nvSpPr>
          <p:cNvPr id="65" name="Text 62"/>
          <p:cNvSpPr txBox="1"/>
          <p:nvPr/>
        </p:nvSpPr>
        <p:spPr>
          <a:xfrm>
            <a:off x="731520" y="418795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8</a:t>
            </a:r>
            <a:endParaRPr lang="en-US" sz="1600" dirty="0"/>
          </a:p>
        </p:txBody>
      </p:sp>
      <p:sp>
        <p:nvSpPr>
          <p:cNvPr id="66" name="Text 63"/>
          <p:cNvSpPr txBox="1"/>
          <p:nvPr/>
        </p:nvSpPr>
        <p:spPr>
          <a:xfrm>
            <a:off x="731520" y="4754880"/>
            <a:ext cx="2099234" cy="41148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Báo cáo</a:t>
            </a:r>
            <a:endParaRPr lang="en-US" sz="1600" dirty="0"/>
          </a:p>
        </p:txBody>
      </p:sp>
      <p:sp>
        <p:nvSpPr>
          <p:cNvPr id="67" name="Text 64"/>
          <p:cNvSpPr txBox="1"/>
          <p:nvPr/>
        </p:nvSpPr>
        <p:spPr>
          <a:xfrm>
            <a:off x="731520" y="5166360"/>
            <a:ext cx="2099234" cy="457200"/>
          </a:xfrm>
          <a:prstGeom prst="rect">
            <a:avLst/>
          </a:prstGeom>
          <a:noFill/>
          <a:ln/>
        </p:spPr>
        <p:txBody>
          <a:bodyPr wrap="square" lIns="0" tIns="0" rIns="0" bIns="0" rtlCol="0" anchor="t"/>
          <a:lstStyle/>
          <a:p>
            <a:pPr indent="0" marL="0">
              <a:buNone/>
            </a:pPr>
            <a:r>
              <a:rPr lang="en-US" sz="1200" dirty="0">
                <a:solidFill>
                  <a:srgbClr val="6E6878"/>
                </a:solidFill>
                <a:latin typeface="Alexandria" pitchFamily="34" charset="0"/>
                <a:ea typeface="Alexandria" pitchFamily="34" charset="-122"/>
                <a:cs typeface="Alexandria" pitchFamily="34" charset="-120"/>
              </a:rPr>
              <a:t>outputs · outcomes · impact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87782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11.1 KOL</a:t>
            </a:r>
            <a:endParaRPr lang="en-US" sz="1000" dirty="0"/>
          </a:p>
        </p:txBody>
      </p:sp>
      <p:sp>
        <p:nvSpPr>
          <p:cNvPr id="6" name="Shape 4"/>
          <p:cNvSpPr/>
          <p:nvPr/>
        </p:nvSpPr>
        <p:spPr>
          <a:xfrm>
            <a:off x="2368296"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368296"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11.2 Báo chí</a:t>
            </a:r>
            <a:endParaRPr lang="en-US" sz="1000" dirty="0"/>
          </a:p>
        </p:txBody>
      </p:sp>
      <p:sp>
        <p:nvSpPr>
          <p:cNvPr id="8" name="Shape 6"/>
          <p:cNvSpPr/>
          <p:nvPr/>
        </p:nvSpPr>
        <p:spPr>
          <a:xfrm>
            <a:off x="3666744" y="274320"/>
            <a:ext cx="2043684" cy="292608"/>
          </a:xfrm>
          <a:prstGeom prst="roundRect">
            <a:avLst>
              <a:gd name="adj" fmla="val 50000"/>
            </a:avLst>
          </a:prstGeom>
          <a:solidFill>
            <a:srgbClr val="09A1E5"/>
          </a:solidFill>
          <a:ln w="9525">
            <a:solidFill>
              <a:srgbClr val="09A1E5"/>
            </a:solidFill>
            <a:prstDash val="solid"/>
          </a:ln>
        </p:spPr>
      </p:sp>
      <p:sp>
        <p:nvSpPr>
          <p:cNvPr id="9" name="Text 7"/>
          <p:cNvSpPr txBox="1"/>
          <p:nvPr/>
        </p:nvSpPr>
        <p:spPr>
          <a:xfrm>
            <a:off x="3666744" y="274320"/>
            <a:ext cx="204368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11.3 Booking &amp; đo lường</a:t>
            </a:r>
            <a:endParaRPr lang="en-US" sz="1000" dirty="0"/>
          </a:p>
        </p:txBody>
      </p:sp>
      <p:sp>
        <p:nvSpPr>
          <p:cNvPr id="10" name="Shape 8"/>
          <p:cNvSpPr/>
          <p:nvPr/>
        </p:nvSpPr>
        <p:spPr>
          <a:xfrm>
            <a:off x="5820156" y="274320"/>
            <a:ext cx="1421892"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5820156"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11.4 Khuếch đại</a:t>
            </a:r>
            <a:endParaRPr lang="en-US" sz="1000" dirty="0"/>
          </a:p>
        </p:txBody>
      </p:sp>
      <p:sp>
        <p:nvSpPr>
          <p:cNvPr id="12" name="Shape 10"/>
          <p:cNvSpPr/>
          <p:nvPr/>
        </p:nvSpPr>
        <p:spPr>
          <a:xfrm>
            <a:off x="7351776" y="274320"/>
            <a:ext cx="877824" cy="292608"/>
          </a:xfrm>
          <a:prstGeom prst="roundRect">
            <a:avLst>
              <a:gd name="adj" fmla="val 50000"/>
            </a:avLst>
          </a:prstGeom>
          <a:solidFill>
            <a:srgbClr val="FBFAF4"/>
          </a:solidFill>
          <a:ln w="9525">
            <a:solidFill>
              <a:srgbClr val="DCD7C8"/>
            </a:solidFill>
            <a:prstDash val="solid"/>
          </a:ln>
        </p:spPr>
      </p:sp>
      <p:sp>
        <p:nvSpPr>
          <p:cNvPr id="13" name="Text 11"/>
          <p:cNvSpPr txBox="1"/>
          <p:nvPr/>
        </p:nvSpPr>
        <p:spPr>
          <a:xfrm>
            <a:off x="735177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4" name="Shape 12"/>
          <p:cNvSpPr/>
          <p:nvPr/>
        </p:nvSpPr>
        <p:spPr>
          <a:xfrm>
            <a:off x="11259007" y="219456"/>
            <a:ext cx="384048" cy="384048"/>
          </a:xfrm>
          <a:prstGeom prst="ellipse">
            <a:avLst/>
          </a:prstGeom>
          <a:ln w="12700">
            <a:solidFill>
              <a:srgbClr val="09A1E5"/>
            </a:solidFill>
            <a:prstDash val="solid"/>
          </a:ln>
        </p:spPr>
      </p:sp>
      <p:sp>
        <p:nvSpPr>
          <p:cNvPr id="15" name="Shape 13"/>
          <p:cNvSpPr/>
          <p:nvPr/>
        </p:nvSpPr>
        <p:spPr>
          <a:xfrm>
            <a:off x="11324295" y="284744"/>
            <a:ext cx="253472" cy="253472"/>
          </a:xfrm>
          <a:prstGeom prst="ellipse">
            <a:avLst/>
          </a:prstGeom>
          <a:ln w="15875">
            <a:solidFill>
              <a:srgbClr val="962B7C"/>
            </a:solidFill>
            <a:prstDash val="solid"/>
          </a:ln>
        </p:spPr>
      </p:sp>
      <p:sp>
        <p:nvSpPr>
          <p:cNvPr id="16" name="Shape 14"/>
          <p:cNvSpPr/>
          <p:nvPr/>
        </p:nvSpPr>
        <p:spPr>
          <a:xfrm>
            <a:off x="11389584" y="350032"/>
            <a:ext cx="122895" cy="122895"/>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Due diligence bảo vệ Key Account trước khi ký</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Nhận định của người soạn · X04 khuyến nghị kiểm tra gian lận người theo dõi · X06, X07.</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11   16</a:t>
            </a:r>
            <a:endParaRPr lang="en-US" sz="1000" dirty="0"/>
          </a:p>
        </p:txBody>
      </p:sp>
      <p:sp>
        <p:nvSpPr>
          <p:cNvPr id="21" name="Shape 18"/>
          <p:cNvSpPr/>
          <p:nvPr/>
        </p:nvSpPr>
        <p:spPr>
          <a:xfrm>
            <a:off x="548640" y="1874520"/>
            <a:ext cx="5410048" cy="1417320"/>
          </a:xfrm>
          <a:prstGeom prst="roundRect">
            <a:avLst>
              <a:gd name="adj" fmla="val 7742"/>
            </a:avLst>
          </a:prstGeom>
          <a:solidFill>
            <a:srgbClr val="F1E1EE"/>
          </a:solidFill>
          <a:ln w="12700">
            <a:solidFill>
              <a:srgbClr val="962B7C"/>
            </a:solidFill>
            <a:prstDash val="solid"/>
          </a:ln>
        </p:spPr>
      </p:sp>
      <p:sp>
        <p:nvSpPr>
          <p:cNvPr id="22" name="Shape 19"/>
          <p:cNvSpPr/>
          <p:nvPr/>
        </p:nvSpPr>
        <p:spPr>
          <a:xfrm>
            <a:off x="822960" y="2221992"/>
            <a:ext cx="731520" cy="731520"/>
          </a:xfrm>
          <a:prstGeom prst="ellipse">
            <a:avLst/>
          </a:prstGeom>
          <a:solidFill>
            <a:srgbClr val="962B7C"/>
          </a:solidFill>
          <a:ln w="12700">
            <a:solidFill>
              <a:srgbClr val="962B7C"/>
            </a:solidFill>
            <a:prstDash val="solid"/>
          </a:ln>
        </p:spPr>
      </p:sp>
      <p:sp>
        <p:nvSpPr>
          <p:cNvPr id="23" name="Text 20"/>
          <p:cNvSpPr txBox="1"/>
          <p:nvPr/>
        </p:nvSpPr>
        <p:spPr>
          <a:xfrm>
            <a:off x="822960" y="2221992"/>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Alexandria" pitchFamily="34" charset="0"/>
                <a:ea typeface="Alexandria" pitchFamily="34" charset="-122"/>
                <a:cs typeface="Alexandria" pitchFamily="34" charset="-120"/>
              </a:rPr>
              <a:t>✓</a:t>
            </a:r>
            <a:endParaRPr lang="en-US" sz="2200" dirty="0"/>
          </a:p>
        </p:txBody>
      </p:sp>
      <p:sp>
        <p:nvSpPr>
          <p:cNvPr id="24" name="Text 21"/>
          <p:cNvSpPr txBox="1"/>
          <p:nvPr/>
        </p:nvSpPr>
        <p:spPr>
          <a:xfrm>
            <a:off x="1783080" y="2011680"/>
            <a:ext cx="3947008" cy="502920"/>
          </a:xfrm>
          <a:prstGeom prst="rect">
            <a:avLst/>
          </a:prstGeom>
          <a:noFill/>
          <a:ln/>
        </p:spPr>
        <p:txBody>
          <a:bodyPr wrap="square" lIns="0" tIns="0" rIns="0" bIns="0" rtlCol="0" anchor="ctr"/>
          <a:lstStyle/>
          <a:p>
            <a:pPr indent="0" marL="0">
              <a:buNone/>
            </a:pPr>
            <a:r>
              <a:rPr lang="en-US" sz="1900" b="1" dirty="0">
                <a:solidFill>
                  <a:srgbClr val="2A2238"/>
                </a:solidFill>
                <a:latin typeface="Alexandria" pitchFamily="34" charset="0"/>
                <a:ea typeface="Alexandria" pitchFamily="34" charset="-122"/>
                <a:cs typeface="Alexandria" pitchFamily="34" charset="-120"/>
              </a:rPr>
              <a:t>Lịch sử nội dung</a:t>
            </a:r>
            <a:endParaRPr lang="en-US" sz="1900" dirty="0"/>
          </a:p>
        </p:txBody>
      </p:sp>
      <p:sp>
        <p:nvSpPr>
          <p:cNvPr id="25" name="Text 22"/>
          <p:cNvSpPr txBox="1"/>
          <p:nvPr/>
        </p:nvSpPr>
        <p:spPr>
          <a:xfrm>
            <a:off x="1783080" y="2514600"/>
            <a:ext cx="3947008" cy="685800"/>
          </a:xfrm>
          <a:prstGeom prst="rect">
            <a:avLst/>
          </a:prstGeom>
          <a:noFill/>
          <a:ln/>
        </p:spPr>
        <p:txBody>
          <a:bodyPr wrap="square" lIns="0" tIns="0" rIns="0" bIns="0" rtlCol="0" anchor="t"/>
          <a:lstStyle/>
          <a:p>
            <a:pPr indent="0" marL="0">
              <a:buNone/>
            </a:pPr>
            <a:r>
              <a:rPr lang="en-US" sz="1400" dirty="0">
                <a:solidFill>
                  <a:srgbClr val="2A2238"/>
                </a:solidFill>
                <a:latin typeface="Alexandria" pitchFamily="34" charset="0"/>
                <a:ea typeface="Alexandria" pitchFamily="34" charset="-122"/>
                <a:cs typeface="Alexandria" pitchFamily="34" charset="-120"/>
              </a:rPr>
              <a:t>Họ từng nói gì, quảng cáo gì? Có khuyến nghị đầu tư?</a:t>
            </a:r>
            <a:endParaRPr lang="en-US" sz="1400" dirty="0"/>
          </a:p>
        </p:txBody>
      </p:sp>
      <p:sp>
        <p:nvSpPr>
          <p:cNvPr id="26" name="Shape 23"/>
          <p:cNvSpPr/>
          <p:nvPr/>
        </p:nvSpPr>
        <p:spPr>
          <a:xfrm>
            <a:off x="6233008" y="1874520"/>
            <a:ext cx="5410048" cy="1417320"/>
          </a:xfrm>
          <a:prstGeom prst="roundRect">
            <a:avLst>
              <a:gd name="adj" fmla="val 7742"/>
            </a:avLst>
          </a:prstGeom>
          <a:solidFill>
            <a:srgbClr val="FFE4EA"/>
          </a:solidFill>
          <a:ln w="12700">
            <a:solidFill>
              <a:srgbClr val="FF5178"/>
            </a:solidFill>
            <a:prstDash val="solid"/>
          </a:ln>
        </p:spPr>
      </p:sp>
      <p:sp>
        <p:nvSpPr>
          <p:cNvPr id="27" name="Shape 24"/>
          <p:cNvSpPr/>
          <p:nvPr/>
        </p:nvSpPr>
        <p:spPr>
          <a:xfrm>
            <a:off x="6507328" y="2221992"/>
            <a:ext cx="731520" cy="731520"/>
          </a:xfrm>
          <a:prstGeom prst="ellipse">
            <a:avLst/>
          </a:prstGeom>
          <a:solidFill>
            <a:srgbClr val="FF5178"/>
          </a:solidFill>
          <a:ln w="12700">
            <a:solidFill>
              <a:srgbClr val="FF5178"/>
            </a:solidFill>
            <a:prstDash val="solid"/>
          </a:ln>
        </p:spPr>
      </p:sp>
      <p:sp>
        <p:nvSpPr>
          <p:cNvPr id="28" name="Text 25"/>
          <p:cNvSpPr txBox="1"/>
          <p:nvPr/>
        </p:nvSpPr>
        <p:spPr>
          <a:xfrm>
            <a:off x="6507328" y="2221992"/>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Alexandria" pitchFamily="34" charset="0"/>
                <a:ea typeface="Alexandria" pitchFamily="34" charset="-122"/>
                <a:cs typeface="Alexandria" pitchFamily="34" charset="-120"/>
              </a:rPr>
              <a:t>✓</a:t>
            </a:r>
            <a:endParaRPr lang="en-US" sz="2200" dirty="0"/>
          </a:p>
        </p:txBody>
      </p:sp>
      <p:sp>
        <p:nvSpPr>
          <p:cNvPr id="29" name="Text 26"/>
          <p:cNvSpPr txBox="1"/>
          <p:nvPr/>
        </p:nvSpPr>
        <p:spPr>
          <a:xfrm>
            <a:off x="7467448" y="2011680"/>
            <a:ext cx="3947008" cy="502920"/>
          </a:xfrm>
          <a:prstGeom prst="rect">
            <a:avLst/>
          </a:prstGeom>
          <a:noFill/>
          <a:ln/>
        </p:spPr>
        <p:txBody>
          <a:bodyPr wrap="square" lIns="0" tIns="0" rIns="0" bIns="0" rtlCol="0" anchor="ctr"/>
          <a:lstStyle/>
          <a:p>
            <a:pPr indent="0" marL="0">
              <a:buNone/>
            </a:pPr>
            <a:r>
              <a:rPr lang="en-US" sz="1900" b="1" dirty="0">
                <a:solidFill>
                  <a:srgbClr val="2A2238"/>
                </a:solidFill>
                <a:latin typeface="Alexandria" pitchFamily="34" charset="0"/>
                <a:ea typeface="Alexandria" pitchFamily="34" charset="-122"/>
                <a:cs typeface="Alexandria" pitchFamily="34" charset="-120"/>
              </a:rPr>
              <a:t>Vụ việc</a:t>
            </a:r>
            <a:endParaRPr lang="en-US" sz="1900" dirty="0"/>
          </a:p>
        </p:txBody>
      </p:sp>
      <p:sp>
        <p:nvSpPr>
          <p:cNvPr id="30" name="Text 27"/>
          <p:cNvSpPr txBox="1"/>
          <p:nvPr/>
        </p:nvSpPr>
        <p:spPr>
          <a:xfrm>
            <a:off x="7467448" y="2514600"/>
            <a:ext cx="3947008" cy="685800"/>
          </a:xfrm>
          <a:prstGeom prst="rect">
            <a:avLst/>
          </a:prstGeom>
          <a:noFill/>
          <a:ln/>
        </p:spPr>
        <p:txBody>
          <a:bodyPr wrap="square" lIns="0" tIns="0" rIns="0" bIns="0" rtlCol="0" anchor="t"/>
          <a:lstStyle/>
          <a:p>
            <a:pPr indent="0" marL="0">
              <a:buNone/>
            </a:pPr>
            <a:r>
              <a:rPr lang="en-US" sz="1400" dirty="0">
                <a:solidFill>
                  <a:srgbClr val="2A2238"/>
                </a:solidFill>
                <a:latin typeface="Alexandria" pitchFamily="34" charset="0"/>
                <a:ea typeface="Alexandria" pitchFamily="34" charset="-122"/>
                <a:cs typeface="Alexandria" pitchFamily="34" charset="-120"/>
              </a:rPr>
              <a:t>Bị xử phạt, khởi tố, khủng hoảng truyền thông?</a:t>
            </a:r>
            <a:endParaRPr lang="en-US" sz="1400" dirty="0"/>
          </a:p>
        </p:txBody>
      </p:sp>
      <p:sp>
        <p:nvSpPr>
          <p:cNvPr id="31" name="Shape 28"/>
          <p:cNvSpPr/>
          <p:nvPr/>
        </p:nvSpPr>
        <p:spPr>
          <a:xfrm>
            <a:off x="548640" y="3474720"/>
            <a:ext cx="5410048" cy="1417320"/>
          </a:xfrm>
          <a:prstGeom prst="roundRect">
            <a:avLst>
              <a:gd name="adj" fmla="val 7742"/>
            </a:avLst>
          </a:prstGeom>
          <a:solidFill>
            <a:srgbClr val="FFE9DE"/>
          </a:solidFill>
          <a:ln w="12700">
            <a:solidFill>
              <a:srgbClr val="FF9259"/>
            </a:solidFill>
            <a:prstDash val="solid"/>
          </a:ln>
        </p:spPr>
      </p:sp>
      <p:sp>
        <p:nvSpPr>
          <p:cNvPr id="32" name="Shape 29"/>
          <p:cNvSpPr/>
          <p:nvPr/>
        </p:nvSpPr>
        <p:spPr>
          <a:xfrm>
            <a:off x="822960" y="3822192"/>
            <a:ext cx="731520" cy="731520"/>
          </a:xfrm>
          <a:prstGeom prst="ellipse">
            <a:avLst/>
          </a:prstGeom>
          <a:solidFill>
            <a:srgbClr val="FF9259"/>
          </a:solidFill>
          <a:ln w="12700">
            <a:solidFill>
              <a:srgbClr val="FF9259"/>
            </a:solidFill>
            <a:prstDash val="solid"/>
          </a:ln>
        </p:spPr>
      </p:sp>
      <p:sp>
        <p:nvSpPr>
          <p:cNvPr id="33" name="Text 30"/>
          <p:cNvSpPr txBox="1"/>
          <p:nvPr/>
        </p:nvSpPr>
        <p:spPr>
          <a:xfrm>
            <a:off x="822960" y="3822192"/>
            <a:ext cx="731520" cy="731520"/>
          </a:xfrm>
          <a:prstGeom prst="rect">
            <a:avLst/>
          </a:prstGeom>
          <a:noFill/>
          <a:ln/>
        </p:spPr>
        <p:txBody>
          <a:bodyPr wrap="square" lIns="0" tIns="0" rIns="0" bIns="0" rtlCol="0" anchor="ctr"/>
          <a:lstStyle/>
          <a:p>
            <a:pPr algn="ctr" indent="0" marL="0">
              <a:buNone/>
            </a:pPr>
            <a:r>
              <a:rPr lang="en-US" sz="2200" b="1" dirty="0">
                <a:solidFill>
                  <a:srgbClr val="2A2238"/>
                </a:solidFill>
                <a:latin typeface="Alexandria" pitchFamily="34" charset="0"/>
                <a:ea typeface="Alexandria" pitchFamily="34" charset="-122"/>
                <a:cs typeface="Alexandria" pitchFamily="34" charset="-120"/>
              </a:rPr>
              <a:t>✓</a:t>
            </a:r>
            <a:endParaRPr lang="en-US" sz="2200" dirty="0"/>
          </a:p>
        </p:txBody>
      </p:sp>
      <p:sp>
        <p:nvSpPr>
          <p:cNvPr id="34" name="Text 31"/>
          <p:cNvSpPr txBox="1"/>
          <p:nvPr/>
        </p:nvSpPr>
        <p:spPr>
          <a:xfrm>
            <a:off x="1783080" y="3611880"/>
            <a:ext cx="3947008" cy="502920"/>
          </a:xfrm>
          <a:prstGeom prst="rect">
            <a:avLst/>
          </a:prstGeom>
          <a:noFill/>
          <a:ln/>
        </p:spPr>
        <p:txBody>
          <a:bodyPr wrap="square" lIns="0" tIns="0" rIns="0" bIns="0" rtlCol="0" anchor="ctr"/>
          <a:lstStyle/>
          <a:p>
            <a:pPr indent="0" marL="0">
              <a:buNone/>
            </a:pPr>
            <a:r>
              <a:rPr lang="en-US" sz="1900" b="1" dirty="0">
                <a:solidFill>
                  <a:srgbClr val="2A2238"/>
                </a:solidFill>
                <a:latin typeface="Alexandria" pitchFamily="34" charset="0"/>
                <a:ea typeface="Alexandria" pitchFamily="34" charset="-122"/>
                <a:cs typeface="Alexandria" pitchFamily="34" charset="-120"/>
              </a:rPr>
              <a:t>Xung đột lợi ích</a:t>
            </a:r>
            <a:endParaRPr lang="en-US" sz="1900" dirty="0"/>
          </a:p>
        </p:txBody>
      </p:sp>
      <p:sp>
        <p:nvSpPr>
          <p:cNvPr id="35" name="Text 32"/>
          <p:cNvSpPr txBox="1"/>
          <p:nvPr/>
        </p:nvSpPr>
        <p:spPr>
          <a:xfrm>
            <a:off x="1783080" y="4114800"/>
            <a:ext cx="3947008" cy="685800"/>
          </a:xfrm>
          <a:prstGeom prst="rect">
            <a:avLst/>
          </a:prstGeom>
          <a:noFill/>
          <a:ln/>
        </p:spPr>
        <p:txBody>
          <a:bodyPr wrap="square" lIns="0" tIns="0" rIns="0" bIns="0" rtlCol="0" anchor="t"/>
          <a:lstStyle/>
          <a:p>
            <a:pPr indent="0" marL="0">
              <a:buNone/>
            </a:pPr>
            <a:r>
              <a:rPr lang="en-US" sz="1400" dirty="0">
                <a:solidFill>
                  <a:srgbClr val="2A2238"/>
                </a:solidFill>
                <a:latin typeface="Alexandria" pitchFamily="34" charset="0"/>
                <a:ea typeface="Alexandria" pitchFamily="34" charset="-122"/>
                <a:cs typeface="Alexandria" pitchFamily="34" charset="-120"/>
              </a:rPr>
              <a:t>Đang làm cho ngân hàng hay đối thủ nào? Muốn quảng bá gì cho mình?</a:t>
            </a:r>
            <a:endParaRPr lang="en-US" sz="1400" dirty="0"/>
          </a:p>
        </p:txBody>
      </p:sp>
      <p:sp>
        <p:nvSpPr>
          <p:cNvPr id="36" name="Shape 33"/>
          <p:cNvSpPr/>
          <p:nvPr/>
        </p:nvSpPr>
        <p:spPr>
          <a:xfrm>
            <a:off x="6233008" y="3474720"/>
            <a:ext cx="5410048" cy="1417320"/>
          </a:xfrm>
          <a:prstGeom prst="roundRect">
            <a:avLst>
              <a:gd name="adj" fmla="val 7742"/>
            </a:avLst>
          </a:prstGeom>
          <a:solidFill>
            <a:srgbClr val="DDF1FB"/>
          </a:solidFill>
          <a:ln w="12700">
            <a:solidFill>
              <a:srgbClr val="09A1E5"/>
            </a:solidFill>
            <a:prstDash val="solid"/>
          </a:ln>
        </p:spPr>
      </p:sp>
      <p:sp>
        <p:nvSpPr>
          <p:cNvPr id="37" name="Shape 34"/>
          <p:cNvSpPr/>
          <p:nvPr/>
        </p:nvSpPr>
        <p:spPr>
          <a:xfrm>
            <a:off x="6507328" y="3822192"/>
            <a:ext cx="731520" cy="731520"/>
          </a:xfrm>
          <a:prstGeom prst="ellipse">
            <a:avLst/>
          </a:prstGeom>
          <a:solidFill>
            <a:srgbClr val="09A1E5"/>
          </a:solidFill>
          <a:ln w="12700">
            <a:solidFill>
              <a:srgbClr val="09A1E5"/>
            </a:solidFill>
            <a:prstDash val="solid"/>
          </a:ln>
        </p:spPr>
      </p:sp>
      <p:sp>
        <p:nvSpPr>
          <p:cNvPr id="38" name="Text 35"/>
          <p:cNvSpPr txBox="1"/>
          <p:nvPr/>
        </p:nvSpPr>
        <p:spPr>
          <a:xfrm>
            <a:off x="6507328" y="3822192"/>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Alexandria" pitchFamily="34" charset="0"/>
                <a:ea typeface="Alexandria" pitchFamily="34" charset="-122"/>
                <a:cs typeface="Alexandria" pitchFamily="34" charset="-120"/>
              </a:rPr>
              <a:t>✓</a:t>
            </a:r>
            <a:endParaRPr lang="en-US" sz="2200" dirty="0"/>
          </a:p>
        </p:txBody>
      </p:sp>
      <p:sp>
        <p:nvSpPr>
          <p:cNvPr id="39" name="Text 36"/>
          <p:cNvSpPr txBox="1"/>
          <p:nvPr/>
        </p:nvSpPr>
        <p:spPr>
          <a:xfrm>
            <a:off x="7467448" y="3611880"/>
            <a:ext cx="3947008" cy="502920"/>
          </a:xfrm>
          <a:prstGeom prst="rect">
            <a:avLst/>
          </a:prstGeom>
          <a:noFill/>
          <a:ln/>
        </p:spPr>
        <p:txBody>
          <a:bodyPr wrap="square" lIns="0" tIns="0" rIns="0" bIns="0" rtlCol="0" anchor="ctr"/>
          <a:lstStyle/>
          <a:p>
            <a:pPr indent="0" marL="0">
              <a:buNone/>
            </a:pPr>
            <a:r>
              <a:rPr lang="en-US" sz="1900" b="1" dirty="0">
                <a:solidFill>
                  <a:srgbClr val="2A2238"/>
                </a:solidFill>
                <a:latin typeface="Alexandria" pitchFamily="34" charset="0"/>
                <a:ea typeface="Alexandria" pitchFamily="34" charset="-122"/>
                <a:cs typeface="Alexandria" pitchFamily="34" charset="-120"/>
              </a:rPr>
              <a:t>Chất lượng người theo dõi</a:t>
            </a:r>
            <a:endParaRPr lang="en-US" sz="1900" dirty="0"/>
          </a:p>
        </p:txBody>
      </p:sp>
      <p:sp>
        <p:nvSpPr>
          <p:cNvPr id="40" name="Text 37"/>
          <p:cNvSpPr txBox="1"/>
          <p:nvPr/>
        </p:nvSpPr>
        <p:spPr>
          <a:xfrm>
            <a:off x="7467448" y="4114800"/>
            <a:ext cx="3947008" cy="685800"/>
          </a:xfrm>
          <a:prstGeom prst="rect">
            <a:avLst/>
          </a:prstGeom>
          <a:noFill/>
          <a:ln/>
        </p:spPr>
        <p:txBody>
          <a:bodyPr wrap="square" lIns="0" tIns="0" rIns="0" bIns="0" rtlCol="0" anchor="t"/>
          <a:lstStyle/>
          <a:p>
            <a:pPr indent="0" marL="0">
              <a:buNone/>
            </a:pPr>
            <a:r>
              <a:rPr lang="en-US" sz="1400" dirty="0">
                <a:solidFill>
                  <a:srgbClr val="2A2238"/>
                </a:solidFill>
                <a:latin typeface="Alexandria" pitchFamily="34" charset="0"/>
                <a:ea typeface="Alexandria" pitchFamily="34" charset="-122"/>
                <a:cs typeface="Alexandria" pitchFamily="34" charset="-120"/>
              </a:rPr>
              <a:t>Người theo dõi thật? Có trùng khách của An Phát?</a:t>
            </a:r>
            <a:endParaRPr lang="en-US" sz="1400" dirty="0"/>
          </a:p>
        </p:txBody>
      </p:sp>
      <p:sp>
        <p:nvSpPr>
          <p:cNvPr id="41" name="Shape 38"/>
          <p:cNvSpPr/>
          <p:nvPr/>
        </p:nvSpPr>
        <p:spPr>
          <a:xfrm>
            <a:off x="548640" y="5212080"/>
            <a:ext cx="11094415" cy="777240"/>
          </a:xfrm>
          <a:prstGeom prst="roundRect">
            <a:avLst>
              <a:gd name="adj" fmla="val 14118"/>
            </a:avLst>
          </a:prstGeom>
          <a:solidFill>
            <a:srgbClr val="FFF3C4"/>
          </a:solidFill>
          <a:ln w="12700">
            <a:solidFill>
              <a:srgbClr val="FFD23B"/>
            </a:solidFill>
            <a:prstDash val="solid"/>
          </a:ln>
        </p:spPr>
      </p:sp>
      <p:sp>
        <p:nvSpPr>
          <p:cNvPr id="42" name="Text 39"/>
          <p:cNvSpPr txBox="1"/>
          <p:nvPr/>
        </p:nvSpPr>
        <p:spPr>
          <a:xfrm>
            <a:off x="868680" y="5212080"/>
            <a:ext cx="10454335" cy="77724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Đã trả tiền không có nghĩa KOL chịu hết rủi ro — rủi ro uy tín rơi vào An Phát trước tiên.</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87782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11.1 KOL</a:t>
            </a:r>
            <a:endParaRPr lang="en-US" sz="1000" dirty="0"/>
          </a:p>
        </p:txBody>
      </p:sp>
      <p:sp>
        <p:nvSpPr>
          <p:cNvPr id="6" name="Shape 4"/>
          <p:cNvSpPr/>
          <p:nvPr/>
        </p:nvSpPr>
        <p:spPr>
          <a:xfrm>
            <a:off x="2368296"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368296"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11.2 Báo chí</a:t>
            </a:r>
            <a:endParaRPr lang="en-US" sz="1000" dirty="0"/>
          </a:p>
        </p:txBody>
      </p:sp>
      <p:sp>
        <p:nvSpPr>
          <p:cNvPr id="8" name="Shape 6"/>
          <p:cNvSpPr/>
          <p:nvPr/>
        </p:nvSpPr>
        <p:spPr>
          <a:xfrm>
            <a:off x="3666744" y="274320"/>
            <a:ext cx="2043684" cy="292608"/>
          </a:xfrm>
          <a:prstGeom prst="roundRect">
            <a:avLst>
              <a:gd name="adj" fmla="val 50000"/>
            </a:avLst>
          </a:prstGeom>
          <a:solidFill>
            <a:srgbClr val="09A1E5"/>
          </a:solidFill>
          <a:ln w="9525">
            <a:solidFill>
              <a:srgbClr val="09A1E5"/>
            </a:solidFill>
            <a:prstDash val="solid"/>
          </a:ln>
        </p:spPr>
      </p:sp>
      <p:sp>
        <p:nvSpPr>
          <p:cNvPr id="9" name="Text 7"/>
          <p:cNvSpPr txBox="1"/>
          <p:nvPr/>
        </p:nvSpPr>
        <p:spPr>
          <a:xfrm>
            <a:off x="3666744" y="274320"/>
            <a:ext cx="204368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11.3 Booking &amp; đo lường</a:t>
            </a:r>
            <a:endParaRPr lang="en-US" sz="1000" dirty="0"/>
          </a:p>
        </p:txBody>
      </p:sp>
      <p:sp>
        <p:nvSpPr>
          <p:cNvPr id="10" name="Shape 8"/>
          <p:cNvSpPr/>
          <p:nvPr/>
        </p:nvSpPr>
        <p:spPr>
          <a:xfrm>
            <a:off x="5820156" y="274320"/>
            <a:ext cx="1421892"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5820156"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11.4 Khuếch đại</a:t>
            </a:r>
            <a:endParaRPr lang="en-US" sz="1000" dirty="0"/>
          </a:p>
        </p:txBody>
      </p:sp>
      <p:sp>
        <p:nvSpPr>
          <p:cNvPr id="12" name="Shape 10"/>
          <p:cNvSpPr/>
          <p:nvPr/>
        </p:nvSpPr>
        <p:spPr>
          <a:xfrm>
            <a:off x="7351776" y="274320"/>
            <a:ext cx="877824" cy="292608"/>
          </a:xfrm>
          <a:prstGeom prst="roundRect">
            <a:avLst>
              <a:gd name="adj" fmla="val 50000"/>
            </a:avLst>
          </a:prstGeom>
          <a:solidFill>
            <a:srgbClr val="FBFAF4"/>
          </a:solidFill>
          <a:ln w="9525">
            <a:solidFill>
              <a:srgbClr val="DCD7C8"/>
            </a:solidFill>
            <a:prstDash val="solid"/>
          </a:ln>
        </p:spPr>
      </p:sp>
      <p:sp>
        <p:nvSpPr>
          <p:cNvPr id="13" name="Text 11"/>
          <p:cNvSpPr txBox="1"/>
          <p:nvPr/>
        </p:nvSpPr>
        <p:spPr>
          <a:xfrm>
            <a:off x="735177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4" name="Shape 12"/>
          <p:cNvSpPr/>
          <p:nvPr/>
        </p:nvSpPr>
        <p:spPr>
          <a:xfrm>
            <a:off x="11259007" y="219456"/>
            <a:ext cx="384048" cy="384048"/>
          </a:xfrm>
          <a:prstGeom prst="ellipse">
            <a:avLst/>
          </a:prstGeom>
          <a:ln w="12700">
            <a:solidFill>
              <a:srgbClr val="09A1E5"/>
            </a:solidFill>
            <a:prstDash val="solid"/>
          </a:ln>
        </p:spPr>
      </p:sp>
      <p:sp>
        <p:nvSpPr>
          <p:cNvPr id="15" name="Shape 13"/>
          <p:cNvSpPr/>
          <p:nvPr/>
        </p:nvSpPr>
        <p:spPr>
          <a:xfrm>
            <a:off x="11324295" y="284744"/>
            <a:ext cx="253472" cy="253472"/>
          </a:xfrm>
          <a:prstGeom prst="ellipse">
            <a:avLst/>
          </a:prstGeom>
          <a:ln w="15875">
            <a:solidFill>
              <a:srgbClr val="962B7C"/>
            </a:solidFill>
            <a:prstDash val="solid"/>
          </a:ln>
        </p:spPr>
      </p:sp>
      <p:sp>
        <p:nvSpPr>
          <p:cNvPr id="16" name="Shape 14"/>
          <p:cNvSpPr/>
          <p:nvPr/>
        </p:nvSpPr>
        <p:spPr>
          <a:xfrm>
            <a:off x="11389584" y="350032"/>
            <a:ext cx="122895" cy="122895"/>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Từ 2026, nghĩa vụ của KOL phải nằm trong hợp đồng</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X05: Luật Quảng cáo sửa đổi 2025, hiệu lực 1/1/2026 — đã kiểm chứng chéo. Danh sách điều khoản: nhận định của người soạn.</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11   17</a:t>
            </a:r>
            <a:endParaRPr lang="en-US" sz="1000" dirty="0"/>
          </a:p>
        </p:txBody>
      </p:sp>
      <p:sp>
        <p:nvSpPr>
          <p:cNvPr id="21" name="Text 18"/>
          <p:cNvSpPr txBox="1"/>
          <p:nvPr/>
        </p:nvSpPr>
        <p:spPr>
          <a:xfrm>
            <a:off x="548640" y="1783080"/>
            <a:ext cx="4937760" cy="411480"/>
          </a:xfrm>
          <a:prstGeom prst="rect">
            <a:avLst/>
          </a:prstGeom>
          <a:noFill/>
          <a:ln/>
        </p:spPr>
        <p:txBody>
          <a:bodyPr wrap="square" lIns="0" tIns="0" rIns="0" bIns="0" rtlCol="0" anchor="ctr"/>
          <a:lstStyle/>
          <a:p>
            <a:pPr indent="0" marL="0">
              <a:buNone/>
            </a:pPr>
            <a:r>
              <a:rPr lang="en-US" sz="1500" b="1" dirty="0">
                <a:solidFill>
                  <a:srgbClr val="962B7C"/>
                </a:solidFill>
                <a:latin typeface="Alexandria" pitchFamily="34" charset="0"/>
                <a:ea typeface="Alexandria" pitchFamily="34" charset="-122"/>
                <a:cs typeface="Alexandria" pitchFamily="34" charset="-120"/>
              </a:rPr>
              <a:t>Nghĩa vụ luật định (X05)</a:t>
            </a:r>
            <a:endParaRPr lang="en-US" sz="1500" dirty="0"/>
          </a:p>
        </p:txBody>
      </p:sp>
      <p:sp>
        <p:nvSpPr>
          <p:cNvPr id="22" name="Shape 19"/>
          <p:cNvSpPr/>
          <p:nvPr/>
        </p:nvSpPr>
        <p:spPr>
          <a:xfrm>
            <a:off x="548640" y="2286000"/>
            <a:ext cx="4937760" cy="1097280"/>
          </a:xfrm>
          <a:prstGeom prst="roundRect">
            <a:avLst>
              <a:gd name="adj" fmla="val 10000"/>
            </a:avLst>
          </a:prstGeom>
          <a:solidFill>
            <a:srgbClr val="F1E1EE"/>
          </a:solidFill>
          <a:ln w="12700">
            <a:solidFill>
              <a:srgbClr val="962B7C"/>
            </a:solidFill>
            <a:prstDash val="solid"/>
          </a:ln>
        </p:spPr>
      </p:sp>
      <p:sp>
        <p:nvSpPr>
          <p:cNvPr id="23" name="Text 20"/>
          <p:cNvSpPr txBox="1"/>
          <p:nvPr/>
        </p:nvSpPr>
        <p:spPr>
          <a:xfrm>
            <a:off x="822960" y="2286000"/>
            <a:ext cx="4389120" cy="109728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Xác minh</a:t>
            </a:r>
            <a:endParaRPr lang="en-US" sz="1700" dirty="0"/>
          </a:p>
          <a:p>
            <a:pPr indent="0" marL="0">
              <a:buNone/>
            </a:pPr>
            <a:r>
              <a:rPr lang="en-US" sz="1300" dirty="0">
                <a:solidFill>
                  <a:srgbClr val="2A2238"/>
                </a:solidFill>
                <a:latin typeface="Alexandria" pitchFamily="34" charset="0"/>
                <a:ea typeface="Alexandria" pitchFamily="34" charset="-122"/>
                <a:cs typeface="Alexandria" pitchFamily="34" charset="-120"/>
              </a:rPr>
              <a:t>người quảng cáo và tài liệu sản phẩm; chưa hiểu rõ thì không giới thiệu</a:t>
            </a:r>
            <a:endParaRPr lang="en-US" sz="1700" dirty="0"/>
          </a:p>
        </p:txBody>
      </p:sp>
      <p:sp>
        <p:nvSpPr>
          <p:cNvPr id="24" name="Shape 21"/>
          <p:cNvSpPr/>
          <p:nvPr/>
        </p:nvSpPr>
        <p:spPr>
          <a:xfrm>
            <a:off x="548640" y="3520440"/>
            <a:ext cx="4937760" cy="1097280"/>
          </a:xfrm>
          <a:prstGeom prst="roundRect">
            <a:avLst>
              <a:gd name="adj" fmla="val 10000"/>
            </a:avLst>
          </a:prstGeom>
          <a:solidFill>
            <a:srgbClr val="F1E1EE"/>
          </a:solidFill>
          <a:ln w="12700">
            <a:solidFill>
              <a:srgbClr val="962B7C"/>
            </a:solidFill>
            <a:prstDash val="solid"/>
          </a:ln>
        </p:spPr>
      </p:sp>
      <p:sp>
        <p:nvSpPr>
          <p:cNvPr id="25" name="Text 22"/>
          <p:cNvSpPr txBox="1"/>
          <p:nvPr/>
        </p:nvSpPr>
        <p:spPr>
          <a:xfrm>
            <a:off x="822960" y="3520440"/>
            <a:ext cx="4389120" cy="109728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Gắn nhãn</a:t>
            </a:r>
            <a:endParaRPr lang="en-US" sz="1700" dirty="0"/>
          </a:p>
          <a:p>
            <a:pPr indent="0" marL="0">
              <a:buNone/>
            </a:pPr>
            <a:r>
              <a:rPr lang="en-US" sz="1300" dirty="0">
                <a:solidFill>
                  <a:srgbClr val="2A2238"/>
                </a:solidFill>
                <a:latin typeface="Alexandria" pitchFamily="34" charset="0"/>
                <a:ea typeface="Alexandria" pitchFamily="34" charset="-122"/>
                <a:cs typeface="Alexandria" pitchFamily="34" charset="-120"/>
              </a:rPr>
              <a:t>thông báo ngay trước và trong khi quảng cáo</a:t>
            </a:r>
            <a:endParaRPr lang="en-US" sz="1700" dirty="0"/>
          </a:p>
        </p:txBody>
      </p:sp>
      <p:sp>
        <p:nvSpPr>
          <p:cNvPr id="26" name="Shape 23"/>
          <p:cNvSpPr/>
          <p:nvPr/>
        </p:nvSpPr>
        <p:spPr>
          <a:xfrm>
            <a:off x="548640" y="4754880"/>
            <a:ext cx="4937760" cy="1097280"/>
          </a:xfrm>
          <a:prstGeom prst="roundRect">
            <a:avLst>
              <a:gd name="adj" fmla="val 10000"/>
            </a:avLst>
          </a:prstGeom>
          <a:solidFill>
            <a:srgbClr val="F1E1EE"/>
          </a:solidFill>
          <a:ln w="12700">
            <a:solidFill>
              <a:srgbClr val="962B7C"/>
            </a:solidFill>
            <a:prstDash val="solid"/>
          </a:ln>
        </p:spPr>
      </p:sp>
      <p:sp>
        <p:nvSpPr>
          <p:cNvPr id="27" name="Text 24"/>
          <p:cNvSpPr txBox="1"/>
          <p:nvPr/>
        </p:nvSpPr>
        <p:spPr>
          <a:xfrm>
            <a:off x="822960" y="4754880"/>
            <a:ext cx="4389120" cy="109728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Cung cấp hợp đồng</a:t>
            </a:r>
            <a:endParaRPr lang="en-US" sz="1700" dirty="0"/>
          </a:p>
          <a:p>
            <a:pPr indent="0" marL="0">
              <a:buNone/>
            </a:pPr>
            <a:r>
              <a:rPr lang="en-US" sz="1300" dirty="0">
                <a:solidFill>
                  <a:srgbClr val="2A2238"/>
                </a:solidFill>
                <a:latin typeface="Alexandria" pitchFamily="34" charset="0"/>
                <a:ea typeface="Alexandria" pitchFamily="34" charset="-122"/>
                <a:cs typeface="Alexandria" pitchFamily="34" charset="-120"/>
              </a:rPr>
              <a:t>khi cơ quan có thẩm quyền yêu cầu</a:t>
            </a:r>
            <a:endParaRPr lang="en-US" sz="1700" dirty="0"/>
          </a:p>
        </p:txBody>
      </p:sp>
      <p:sp>
        <p:nvSpPr>
          <p:cNvPr id="28" name="Text 25"/>
          <p:cNvSpPr txBox="1"/>
          <p:nvPr/>
        </p:nvSpPr>
        <p:spPr>
          <a:xfrm>
            <a:off x="5852160" y="1783080"/>
            <a:ext cx="5790895" cy="411480"/>
          </a:xfrm>
          <a:prstGeom prst="rect">
            <a:avLst/>
          </a:prstGeom>
          <a:noFill/>
          <a:ln/>
        </p:spPr>
        <p:txBody>
          <a:bodyPr wrap="square" lIns="0" tIns="0" rIns="0" bIns="0" rtlCol="0" anchor="ctr"/>
          <a:lstStyle/>
          <a:p>
            <a:pPr indent="0" marL="0">
              <a:buNone/>
            </a:pPr>
            <a:r>
              <a:rPr lang="en-US" sz="1500" b="1" dirty="0">
                <a:solidFill>
                  <a:srgbClr val="0A7FB5"/>
                </a:solidFill>
                <a:latin typeface="Alexandria" pitchFamily="34" charset="0"/>
                <a:ea typeface="Alexandria" pitchFamily="34" charset="-122"/>
                <a:cs typeface="Alexandria" pitchFamily="34" charset="-120"/>
              </a:rPr>
              <a:t>Điều khoản gợi ý cho hợp đồng</a:t>
            </a:r>
            <a:endParaRPr lang="en-US" sz="1500" dirty="0"/>
          </a:p>
        </p:txBody>
      </p:sp>
      <p:sp>
        <p:nvSpPr>
          <p:cNvPr id="29" name="Shape 26"/>
          <p:cNvSpPr/>
          <p:nvPr/>
        </p:nvSpPr>
        <p:spPr>
          <a:xfrm>
            <a:off x="5852160" y="2286000"/>
            <a:ext cx="2804008" cy="621792"/>
          </a:xfrm>
          <a:prstGeom prst="roundRect">
            <a:avLst>
              <a:gd name="adj" fmla="val 17647"/>
            </a:avLst>
          </a:prstGeom>
          <a:solidFill>
            <a:srgbClr val="FFFFFF"/>
          </a:solidFill>
          <a:ln w="12700">
            <a:solidFill>
              <a:srgbClr val="DCD7C8"/>
            </a:solidFill>
            <a:prstDash val="solid"/>
          </a:ln>
        </p:spPr>
      </p:sp>
      <p:sp>
        <p:nvSpPr>
          <p:cNvPr id="30" name="Text 27"/>
          <p:cNvSpPr txBox="1"/>
          <p:nvPr/>
        </p:nvSpPr>
        <p:spPr>
          <a:xfrm>
            <a:off x="5989320" y="2286000"/>
            <a:ext cx="2529688" cy="62179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Phạm vi, lịch, định dạng nội dung</a:t>
            </a:r>
            <a:endParaRPr lang="en-US" sz="1200" dirty="0"/>
          </a:p>
        </p:txBody>
      </p:sp>
      <p:sp>
        <p:nvSpPr>
          <p:cNvPr id="31" name="Shape 28"/>
          <p:cNvSpPr/>
          <p:nvPr/>
        </p:nvSpPr>
        <p:spPr>
          <a:xfrm>
            <a:off x="8839048" y="2286000"/>
            <a:ext cx="2804008" cy="621792"/>
          </a:xfrm>
          <a:prstGeom prst="roundRect">
            <a:avLst>
              <a:gd name="adj" fmla="val 17647"/>
            </a:avLst>
          </a:prstGeom>
          <a:solidFill>
            <a:srgbClr val="FFFFFF"/>
          </a:solidFill>
          <a:ln w="12700">
            <a:solidFill>
              <a:srgbClr val="DCD7C8"/>
            </a:solidFill>
            <a:prstDash val="solid"/>
          </a:ln>
        </p:spPr>
      </p:sp>
      <p:sp>
        <p:nvSpPr>
          <p:cNvPr id="32" name="Text 29"/>
          <p:cNvSpPr txBox="1"/>
          <p:nvPr/>
        </p:nvSpPr>
        <p:spPr>
          <a:xfrm>
            <a:off x="8976208" y="2286000"/>
            <a:ext cx="2529688" cy="62179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Duyệt nội dung trước</a:t>
            </a:r>
            <a:endParaRPr lang="en-US" sz="1200" dirty="0"/>
          </a:p>
        </p:txBody>
      </p:sp>
      <p:sp>
        <p:nvSpPr>
          <p:cNvPr id="33" name="Shape 30"/>
          <p:cNvSpPr/>
          <p:nvPr/>
        </p:nvSpPr>
        <p:spPr>
          <a:xfrm>
            <a:off x="5852160" y="3017520"/>
            <a:ext cx="2804008" cy="621792"/>
          </a:xfrm>
          <a:prstGeom prst="roundRect">
            <a:avLst>
              <a:gd name="adj" fmla="val 17647"/>
            </a:avLst>
          </a:prstGeom>
          <a:solidFill>
            <a:srgbClr val="FFFFFF"/>
          </a:solidFill>
          <a:ln w="12700">
            <a:solidFill>
              <a:srgbClr val="DCD7C8"/>
            </a:solidFill>
            <a:prstDash val="solid"/>
          </a:ln>
        </p:spPr>
      </p:sp>
      <p:sp>
        <p:nvSpPr>
          <p:cNvPr id="34" name="Text 31"/>
          <p:cNvSpPr txBox="1"/>
          <p:nvPr/>
        </p:nvSpPr>
        <p:spPr>
          <a:xfrm>
            <a:off x="5989320" y="3017520"/>
            <a:ext cx="2529688" cy="62179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Gắn nhãn theo luật</a:t>
            </a:r>
            <a:endParaRPr lang="en-US" sz="1200" dirty="0"/>
          </a:p>
        </p:txBody>
      </p:sp>
      <p:sp>
        <p:nvSpPr>
          <p:cNvPr id="35" name="Shape 32"/>
          <p:cNvSpPr/>
          <p:nvPr/>
        </p:nvSpPr>
        <p:spPr>
          <a:xfrm>
            <a:off x="8839048" y="3017520"/>
            <a:ext cx="2804008" cy="621792"/>
          </a:xfrm>
          <a:prstGeom prst="roundRect">
            <a:avLst>
              <a:gd name="adj" fmla="val 17647"/>
            </a:avLst>
          </a:prstGeom>
          <a:solidFill>
            <a:srgbClr val="FFFFFF"/>
          </a:solidFill>
          <a:ln w="12700">
            <a:solidFill>
              <a:srgbClr val="DCD7C8"/>
            </a:solidFill>
            <a:prstDash val="solid"/>
          </a:ln>
        </p:spPr>
      </p:sp>
      <p:sp>
        <p:nvSpPr>
          <p:cNvPr id="36" name="Text 33"/>
          <p:cNvSpPr txBox="1"/>
          <p:nvPr/>
        </p:nvSpPr>
        <p:spPr>
          <a:xfrm>
            <a:off x="8976208" y="3017520"/>
            <a:ext cx="2529688" cy="62179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Cam kết đã xác minh thông tin</a:t>
            </a:r>
            <a:endParaRPr lang="en-US" sz="1200" dirty="0"/>
          </a:p>
        </p:txBody>
      </p:sp>
      <p:sp>
        <p:nvSpPr>
          <p:cNvPr id="37" name="Shape 34"/>
          <p:cNvSpPr/>
          <p:nvPr/>
        </p:nvSpPr>
        <p:spPr>
          <a:xfrm>
            <a:off x="5852160" y="3749040"/>
            <a:ext cx="2804008" cy="621792"/>
          </a:xfrm>
          <a:prstGeom prst="roundRect">
            <a:avLst>
              <a:gd name="adj" fmla="val 17647"/>
            </a:avLst>
          </a:prstGeom>
          <a:solidFill>
            <a:srgbClr val="FFE4EA"/>
          </a:solidFill>
          <a:ln w="12700">
            <a:solidFill>
              <a:srgbClr val="FF5178"/>
            </a:solidFill>
            <a:prstDash val="solid"/>
          </a:ln>
        </p:spPr>
      </p:sp>
      <p:sp>
        <p:nvSpPr>
          <p:cNvPr id="38" name="Text 35"/>
          <p:cNvSpPr txBox="1"/>
          <p:nvPr/>
        </p:nvSpPr>
        <p:spPr>
          <a:xfrm>
            <a:off x="5989320" y="3749040"/>
            <a:ext cx="2529688" cy="621792"/>
          </a:xfrm>
          <a:prstGeom prst="rect">
            <a:avLst/>
          </a:prstGeom>
          <a:noFill/>
          <a:ln/>
        </p:spPr>
        <p:txBody>
          <a:bodyPr wrap="square" lIns="0" tIns="0" rIns="0" bIns="0" rtlCol="0" anchor="ctr"/>
          <a:lstStyle/>
          <a:p>
            <a:pPr indent="0" marL="0">
              <a:buNone/>
            </a:pPr>
            <a:r>
              <a:rPr lang="en-US" sz="1200" b="1" dirty="0">
                <a:solidFill>
                  <a:srgbClr val="2A2238"/>
                </a:solidFill>
                <a:latin typeface="Alexandria" pitchFamily="34" charset="0"/>
                <a:ea typeface="Alexandria" pitchFamily="34" charset="-122"/>
                <a:cs typeface="Alexandria" pitchFamily="34" charset="-120"/>
              </a:rPr>
              <a:t>Không khuyến nghị đầu tư, chào bán SP tài chính</a:t>
            </a:r>
            <a:endParaRPr lang="en-US" sz="1200" dirty="0"/>
          </a:p>
        </p:txBody>
      </p:sp>
      <p:sp>
        <p:nvSpPr>
          <p:cNvPr id="39" name="Shape 36"/>
          <p:cNvSpPr/>
          <p:nvPr/>
        </p:nvSpPr>
        <p:spPr>
          <a:xfrm>
            <a:off x="8839048" y="3749040"/>
            <a:ext cx="2804008" cy="621792"/>
          </a:xfrm>
          <a:prstGeom prst="roundRect">
            <a:avLst>
              <a:gd name="adj" fmla="val 17647"/>
            </a:avLst>
          </a:prstGeom>
          <a:solidFill>
            <a:srgbClr val="FFFFFF"/>
          </a:solidFill>
          <a:ln w="12700">
            <a:solidFill>
              <a:srgbClr val="DCD7C8"/>
            </a:solidFill>
            <a:prstDash val="solid"/>
          </a:ln>
        </p:spPr>
      </p:sp>
      <p:sp>
        <p:nvSpPr>
          <p:cNvPr id="40" name="Text 37"/>
          <p:cNvSpPr txBox="1"/>
          <p:nvPr/>
        </p:nvSpPr>
        <p:spPr>
          <a:xfrm>
            <a:off x="8976208" y="3749040"/>
            <a:ext cx="2529688" cy="62179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Quyền sử dụng hình ảnh</a:t>
            </a:r>
            <a:endParaRPr lang="en-US" sz="1200" dirty="0"/>
          </a:p>
        </p:txBody>
      </p:sp>
      <p:sp>
        <p:nvSpPr>
          <p:cNvPr id="41" name="Shape 38"/>
          <p:cNvSpPr/>
          <p:nvPr/>
        </p:nvSpPr>
        <p:spPr>
          <a:xfrm>
            <a:off x="5852160" y="4480560"/>
            <a:ext cx="2804008" cy="621792"/>
          </a:xfrm>
          <a:prstGeom prst="roundRect">
            <a:avLst>
              <a:gd name="adj" fmla="val 17647"/>
            </a:avLst>
          </a:prstGeom>
          <a:solidFill>
            <a:srgbClr val="FFFFFF"/>
          </a:solidFill>
          <a:ln w="12700">
            <a:solidFill>
              <a:srgbClr val="DCD7C8"/>
            </a:solidFill>
            <a:prstDash val="solid"/>
          </a:ln>
        </p:spPr>
      </p:sp>
      <p:sp>
        <p:nvSpPr>
          <p:cNvPr id="42" name="Text 39"/>
          <p:cNvSpPr txBox="1"/>
          <p:nvPr/>
        </p:nvSpPr>
        <p:spPr>
          <a:xfrm>
            <a:off x="5989320" y="4480560"/>
            <a:ext cx="2529688" cy="62179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Bảo mật thông tin khách của An Phát</a:t>
            </a:r>
            <a:endParaRPr lang="en-US" sz="1200" dirty="0"/>
          </a:p>
        </p:txBody>
      </p:sp>
      <p:sp>
        <p:nvSpPr>
          <p:cNvPr id="43" name="Shape 40"/>
          <p:cNvSpPr/>
          <p:nvPr/>
        </p:nvSpPr>
        <p:spPr>
          <a:xfrm>
            <a:off x="8839048" y="4480560"/>
            <a:ext cx="2804008" cy="621792"/>
          </a:xfrm>
          <a:prstGeom prst="roundRect">
            <a:avLst>
              <a:gd name="adj" fmla="val 17647"/>
            </a:avLst>
          </a:prstGeom>
          <a:solidFill>
            <a:srgbClr val="FFE4EA"/>
          </a:solidFill>
          <a:ln w="12700">
            <a:solidFill>
              <a:srgbClr val="FF5178"/>
            </a:solidFill>
            <a:prstDash val="solid"/>
          </a:ln>
        </p:spPr>
      </p:sp>
      <p:sp>
        <p:nvSpPr>
          <p:cNvPr id="44" name="Text 41"/>
          <p:cNvSpPr txBox="1"/>
          <p:nvPr/>
        </p:nvSpPr>
        <p:spPr>
          <a:xfrm>
            <a:off x="8976208" y="4480560"/>
            <a:ext cx="2529688" cy="621792"/>
          </a:xfrm>
          <a:prstGeom prst="rect">
            <a:avLst/>
          </a:prstGeom>
          <a:noFill/>
          <a:ln/>
        </p:spPr>
        <p:txBody>
          <a:bodyPr wrap="square" lIns="0" tIns="0" rIns="0" bIns="0" rtlCol="0" anchor="ctr"/>
          <a:lstStyle/>
          <a:p>
            <a:pPr indent="0" marL="0">
              <a:buNone/>
            </a:pPr>
            <a:r>
              <a:rPr lang="en-US" sz="1200" b="1" dirty="0">
                <a:solidFill>
                  <a:srgbClr val="2A2238"/>
                </a:solidFill>
                <a:latin typeface="Alexandria" pitchFamily="34" charset="0"/>
                <a:ea typeface="Alexandria" pitchFamily="34" charset="-122"/>
                <a:cs typeface="Alexandria" pitchFamily="34" charset="-120"/>
              </a:rPr>
              <a:t>Đạo đức và chấm dứt khi vi phạm</a:t>
            </a:r>
            <a:endParaRPr lang="en-US" sz="1200" dirty="0"/>
          </a:p>
        </p:txBody>
      </p:sp>
      <p:sp>
        <p:nvSpPr>
          <p:cNvPr id="45" name="Shape 42"/>
          <p:cNvSpPr/>
          <p:nvPr/>
        </p:nvSpPr>
        <p:spPr>
          <a:xfrm>
            <a:off x="5852160" y="5212080"/>
            <a:ext cx="2804008" cy="621792"/>
          </a:xfrm>
          <a:prstGeom prst="roundRect">
            <a:avLst>
              <a:gd name="adj" fmla="val 17647"/>
            </a:avLst>
          </a:prstGeom>
          <a:solidFill>
            <a:srgbClr val="FFFFFF"/>
          </a:solidFill>
          <a:ln w="12700">
            <a:solidFill>
              <a:srgbClr val="DCD7C8"/>
            </a:solidFill>
            <a:prstDash val="solid"/>
          </a:ln>
        </p:spPr>
      </p:sp>
      <p:sp>
        <p:nvSpPr>
          <p:cNvPr id="46" name="Text 43"/>
          <p:cNvSpPr txBox="1"/>
          <p:nvPr/>
        </p:nvSpPr>
        <p:spPr>
          <a:xfrm>
            <a:off x="5989320" y="5212080"/>
            <a:ext cx="2529688" cy="62179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Bàn giao số liệu</a:t>
            </a:r>
            <a:endParaRPr lang="en-US" sz="1200" dirty="0"/>
          </a:p>
        </p:txBody>
      </p:sp>
      <p:sp>
        <p:nvSpPr>
          <p:cNvPr id="47" name="Shape 44"/>
          <p:cNvSpPr/>
          <p:nvPr/>
        </p:nvSpPr>
        <p:spPr>
          <a:xfrm>
            <a:off x="8839048" y="5212080"/>
            <a:ext cx="2804008" cy="621792"/>
          </a:xfrm>
          <a:prstGeom prst="roundRect">
            <a:avLst>
              <a:gd name="adj" fmla="val 17647"/>
            </a:avLst>
          </a:prstGeom>
          <a:solidFill>
            <a:srgbClr val="FFFFFF"/>
          </a:solidFill>
          <a:ln w="12700">
            <a:solidFill>
              <a:srgbClr val="DCD7C8"/>
            </a:solidFill>
            <a:prstDash val="solid"/>
          </a:ln>
        </p:spPr>
      </p:sp>
      <p:sp>
        <p:nvSpPr>
          <p:cNvPr id="48" name="Text 45"/>
          <p:cNvSpPr txBox="1"/>
          <p:nvPr/>
        </p:nvSpPr>
        <p:spPr>
          <a:xfrm>
            <a:off x="8976208" y="5212080"/>
            <a:ext cx="2529688" cy="62179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Thanh toán và chứng từ</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87782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11.1 KOL</a:t>
            </a:r>
            <a:endParaRPr lang="en-US" sz="1000" dirty="0"/>
          </a:p>
        </p:txBody>
      </p:sp>
      <p:sp>
        <p:nvSpPr>
          <p:cNvPr id="6" name="Shape 4"/>
          <p:cNvSpPr/>
          <p:nvPr/>
        </p:nvSpPr>
        <p:spPr>
          <a:xfrm>
            <a:off x="2368296"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368296"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11.2 Báo chí</a:t>
            </a:r>
            <a:endParaRPr lang="en-US" sz="1000" dirty="0"/>
          </a:p>
        </p:txBody>
      </p:sp>
      <p:sp>
        <p:nvSpPr>
          <p:cNvPr id="8" name="Shape 6"/>
          <p:cNvSpPr/>
          <p:nvPr/>
        </p:nvSpPr>
        <p:spPr>
          <a:xfrm>
            <a:off x="3666744" y="274320"/>
            <a:ext cx="2043684" cy="292608"/>
          </a:xfrm>
          <a:prstGeom prst="roundRect">
            <a:avLst>
              <a:gd name="adj" fmla="val 50000"/>
            </a:avLst>
          </a:prstGeom>
          <a:solidFill>
            <a:srgbClr val="09A1E5"/>
          </a:solidFill>
          <a:ln w="9525">
            <a:solidFill>
              <a:srgbClr val="09A1E5"/>
            </a:solidFill>
            <a:prstDash val="solid"/>
          </a:ln>
        </p:spPr>
      </p:sp>
      <p:sp>
        <p:nvSpPr>
          <p:cNvPr id="9" name="Text 7"/>
          <p:cNvSpPr txBox="1"/>
          <p:nvPr/>
        </p:nvSpPr>
        <p:spPr>
          <a:xfrm>
            <a:off x="3666744" y="274320"/>
            <a:ext cx="204368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11.3 Booking &amp; đo lường</a:t>
            </a:r>
            <a:endParaRPr lang="en-US" sz="1000" dirty="0"/>
          </a:p>
        </p:txBody>
      </p:sp>
      <p:sp>
        <p:nvSpPr>
          <p:cNvPr id="10" name="Shape 8"/>
          <p:cNvSpPr/>
          <p:nvPr/>
        </p:nvSpPr>
        <p:spPr>
          <a:xfrm>
            <a:off x="5820156" y="274320"/>
            <a:ext cx="1421892"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5820156"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11.4 Khuếch đại</a:t>
            </a:r>
            <a:endParaRPr lang="en-US" sz="1000" dirty="0"/>
          </a:p>
        </p:txBody>
      </p:sp>
      <p:sp>
        <p:nvSpPr>
          <p:cNvPr id="12" name="Shape 10"/>
          <p:cNvSpPr/>
          <p:nvPr/>
        </p:nvSpPr>
        <p:spPr>
          <a:xfrm>
            <a:off x="7351776" y="274320"/>
            <a:ext cx="877824" cy="292608"/>
          </a:xfrm>
          <a:prstGeom prst="roundRect">
            <a:avLst>
              <a:gd name="adj" fmla="val 50000"/>
            </a:avLst>
          </a:prstGeom>
          <a:solidFill>
            <a:srgbClr val="FBFAF4"/>
          </a:solidFill>
          <a:ln w="9525">
            <a:solidFill>
              <a:srgbClr val="DCD7C8"/>
            </a:solidFill>
            <a:prstDash val="solid"/>
          </a:ln>
        </p:spPr>
      </p:sp>
      <p:sp>
        <p:nvSpPr>
          <p:cNvPr id="13" name="Text 11"/>
          <p:cNvSpPr txBox="1"/>
          <p:nvPr/>
        </p:nvSpPr>
        <p:spPr>
          <a:xfrm>
            <a:off x="735177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4" name="Shape 12"/>
          <p:cNvSpPr/>
          <p:nvPr/>
        </p:nvSpPr>
        <p:spPr>
          <a:xfrm>
            <a:off x="11259007" y="219456"/>
            <a:ext cx="384048" cy="384048"/>
          </a:xfrm>
          <a:prstGeom prst="ellipse">
            <a:avLst/>
          </a:prstGeom>
          <a:ln w="12700">
            <a:solidFill>
              <a:srgbClr val="09A1E5"/>
            </a:solidFill>
            <a:prstDash val="solid"/>
          </a:ln>
        </p:spPr>
      </p:sp>
      <p:sp>
        <p:nvSpPr>
          <p:cNvPr id="15" name="Shape 13"/>
          <p:cNvSpPr/>
          <p:nvPr/>
        </p:nvSpPr>
        <p:spPr>
          <a:xfrm>
            <a:off x="11324295" y="284744"/>
            <a:ext cx="253472" cy="253472"/>
          </a:xfrm>
          <a:prstGeom prst="ellipse">
            <a:avLst/>
          </a:prstGeom>
          <a:ln w="15875">
            <a:solidFill>
              <a:srgbClr val="962B7C"/>
            </a:solidFill>
            <a:prstDash val="solid"/>
          </a:ln>
        </p:spPr>
      </p:sp>
      <p:sp>
        <p:nvSpPr>
          <p:cNvPr id="16" name="Shape 14"/>
          <p:cNvSpPr/>
          <p:nvPr/>
        </p:nvSpPr>
        <p:spPr>
          <a:xfrm>
            <a:off x="11389584" y="350032"/>
            <a:ext cx="122895" cy="122895"/>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Hình thức hợp đồng quyết định chứng từ thanh toán</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X12: Dân trí (20/7/2026).</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11   18</a:t>
            </a:r>
            <a:endParaRPr lang="en-US" sz="1000" dirty="0"/>
          </a:p>
        </p:txBody>
      </p:sp>
      <p:sp>
        <p:nvSpPr>
          <p:cNvPr id="21" name="Shape 18"/>
          <p:cNvSpPr/>
          <p:nvPr/>
        </p:nvSpPr>
        <p:spPr>
          <a:xfrm>
            <a:off x="548640" y="1874520"/>
            <a:ext cx="11094415" cy="1280160"/>
          </a:xfrm>
          <a:prstGeom prst="roundRect">
            <a:avLst>
              <a:gd name="adj" fmla="val 8571"/>
            </a:avLst>
          </a:prstGeom>
          <a:solidFill>
            <a:srgbClr val="FFF3C4"/>
          </a:solidFill>
          <a:ln w="12700">
            <a:solidFill>
              <a:srgbClr val="FFD23B"/>
            </a:solidFill>
            <a:prstDash val="solid"/>
          </a:ln>
        </p:spPr>
      </p:sp>
      <p:sp>
        <p:nvSpPr>
          <p:cNvPr id="22" name="Text 19"/>
          <p:cNvSpPr txBox="1"/>
          <p:nvPr/>
        </p:nvSpPr>
        <p:spPr>
          <a:xfrm>
            <a:off x="868680" y="1874520"/>
            <a:ext cx="10454335" cy="1280160"/>
          </a:xfrm>
          <a:prstGeom prst="rect">
            <a:avLst/>
          </a:prstGeom>
          <a:noFill/>
          <a:ln/>
        </p:spPr>
        <p:txBody>
          <a:bodyPr wrap="square" lIns="0" tIns="0" rIns="0" bIns="0" rtlCol="0" anchor="ctr"/>
          <a:lstStyle/>
          <a:p>
            <a:pPr indent="0" marL="0">
              <a:buNone/>
            </a:pPr>
            <a:r>
              <a:rPr lang="en-US" sz="2200" b="1" dirty="0">
                <a:solidFill>
                  <a:srgbClr val="2A2238"/>
                </a:solidFill>
                <a:latin typeface="Alexandria" pitchFamily="34" charset="0"/>
                <a:ea typeface="Alexandria" pitchFamily="34" charset="-122"/>
                <a:cs typeface="Alexandria" pitchFamily="34" charset="-120"/>
              </a:rPr>
              <a:t>Khấu trừ 10% </a:t>
            </a:r>
            <a:pPr indent="0" marL="0">
              <a:buNone/>
            </a:pPr>
            <a:r>
              <a:rPr lang="en-US" sz="1700" dirty="0">
                <a:solidFill>
                  <a:srgbClr val="2A2238"/>
                </a:solidFill>
                <a:latin typeface="Alexandria" pitchFamily="34" charset="0"/>
                <a:ea typeface="Alexandria" pitchFamily="34" charset="-122"/>
                <a:cs typeface="Alexandria" pitchFamily="34" charset="-120"/>
              </a:rPr>
              <a:t>chưa chắc là nghĩa vụ thuế cuối cùng — Cục Thuế căn cứ vào hợp đồng để xác định bản chất thu nhập.</a:t>
            </a:r>
            <a:endParaRPr lang="en-US" sz="2200" dirty="0"/>
          </a:p>
        </p:txBody>
      </p:sp>
      <p:sp>
        <p:nvSpPr>
          <p:cNvPr id="23" name="Shape 20"/>
          <p:cNvSpPr/>
          <p:nvPr/>
        </p:nvSpPr>
        <p:spPr>
          <a:xfrm>
            <a:off x="548640" y="3474720"/>
            <a:ext cx="5044288" cy="1554480"/>
          </a:xfrm>
          <a:prstGeom prst="roundRect">
            <a:avLst>
              <a:gd name="adj" fmla="val 7059"/>
            </a:avLst>
          </a:prstGeom>
          <a:solidFill>
            <a:srgbClr val="F1E1EE"/>
          </a:solidFill>
          <a:ln w="12700">
            <a:solidFill>
              <a:srgbClr val="962B7C"/>
            </a:solidFill>
            <a:prstDash val="solid"/>
          </a:ln>
        </p:spPr>
      </p:sp>
      <p:sp>
        <p:nvSpPr>
          <p:cNvPr id="24" name="Text 21"/>
          <p:cNvSpPr txBox="1"/>
          <p:nvPr/>
        </p:nvSpPr>
        <p:spPr>
          <a:xfrm>
            <a:off x="822960" y="3474720"/>
            <a:ext cx="4495648" cy="1554480"/>
          </a:xfrm>
          <a:prstGeom prst="rect">
            <a:avLst/>
          </a:prstGeom>
          <a:noFill/>
          <a:ln/>
        </p:spPr>
        <p:txBody>
          <a:bodyPr wrap="square" lIns="0" tIns="0" rIns="0" bIns="0" rtlCol="0" anchor="ctr"/>
          <a:lstStyle/>
          <a:p>
            <a:pPr indent="0" marL="0">
              <a:buNone/>
            </a:pPr>
            <a:r>
              <a:rPr lang="en-US" sz="1900" b="1" dirty="0">
                <a:solidFill>
                  <a:srgbClr val="2A2238"/>
                </a:solidFill>
                <a:latin typeface="Alexandria" pitchFamily="34" charset="0"/>
                <a:ea typeface="Alexandria" pitchFamily="34" charset="-122"/>
                <a:cs typeface="Alexandria" pitchFamily="34" charset="-120"/>
              </a:rPr>
              <a:t>Ký với cá nhân</a:t>
            </a:r>
            <a:endParaRPr lang="en-US" sz="1900" dirty="0"/>
          </a:p>
          <a:p>
            <a:pPr indent="0" marL="0">
              <a:buNone/>
            </a:pPr>
            <a:r>
              <a:rPr lang="en-US" sz="1400" dirty="0">
                <a:solidFill>
                  <a:srgbClr val="2A2238"/>
                </a:solidFill>
                <a:latin typeface="Alexandria" pitchFamily="34" charset="0"/>
                <a:ea typeface="Alexandria" pitchFamily="34" charset="-122"/>
                <a:cs typeface="Alexandria" pitchFamily="34" charset="-120"/>
              </a:rPr>
              <a:t>Chứng từ khấu trừ thuế TNCN; bản chất thu nhập theo hợp đồng</a:t>
            </a:r>
            <a:endParaRPr lang="en-US" sz="1900" dirty="0"/>
          </a:p>
        </p:txBody>
      </p:sp>
      <p:sp>
        <p:nvSpPr>
          <p:cNvPr id="25" name="Shape 22"/>
          <p:cNvSpPr/>
          <p:nvPr/>
        </p:nvSpPr>
        <p:spPr>
          <a:xfrm>
            <a:off x="6598768" y="3474720"/>
            <a:ext cx="5044288" cy="1554480"/>
          </a:xfrm>
          <a:prstGeom prst="roundRect">
            <a:avLst>
              <a:gd name="adj" fmla="val 7059"/>
            </a:avLst>
          </a:prstGeom>
          <a:solidFill>
            <a:srgbClr val="DDF1FB"/>
          </a:solidFill>
          <a:ln w="12700">
            <a:solidFill>
              <a:srgbClr val="09A1E5"/>
            </a:solidFill>
            <a:prstDash val="solid"/>
          </a:ln>
        </p:spPr>
      </p:sp>
      <p:sp>
        <p:nvSpPr>
          <p:cNvPr id="26" name="Text 23"/>
          <p:cNvSpPr txBox="1"/>
          <p:nvPr/>
        </p:nvSpPr>
        <p:spPr>
          <a:xfrm>
            <a:off x="6873088" y="3474720"/>
            <a:ext cx="4495648" cy="1554480"/>
          </a:xfrm>
          <a:prstGeom prst="rect">
            <a:avLst/>
          </a:prstGeom>
          <a:noFill/>
          <a:ln/>
        </p:spPr>
        <p:txBody>
          <a:bodyPr wrap="square" lIns="0" tIns="0" rIns="0" bIns="0" rtlCol="0" anchor="ctr"/>
          <a:lstStyle/>
          <a:p>
            <a:pPr indent="0" marL="0">
              <a:buNone/>
            </a:pPr>
            <a:r>
              <a:rPr lang="en-US" sz="1900" b="1" dirty="0">
                <a:solidFill>
                  <a:srgbClr val="2A2238"/>
                </a:solidFill>
                <a:latin typeface="Alexandria" pitchFamily="34" charset="0"/>
                <a:ea typeface="Alexandria" pitchFamily="34" charset="-122"/>
                <a:cs typeface="Alexandria" pitchFamily="34" charset="-120"/>
              </a:rPr>
              <a:t>Ký với công ty quản lý</a:t>
            </a:r>
            <a:endParaRPr lang="en-US" sz="1900" dirty="0"/>
          </a:p>
          <a:p>
            <a:pPr indent="0" marL="0">
              <a:buNone/>
            </a:pPr>
            <a:r>
              <a:rPr lang="en-US" sz="1400" dirty="0">
                <a:solidFill>
                  <a:srgbClr val="2A2238"/>
                </a:solidFill>
                <a:latin typeface="Alexandria" pitchFamily="34" charset="0"/>
                <a:ea typeface="Alexandria" pitchFamily="34" charset="-122"/>
                <a:cs typeface="Alexandria" pitchFamily="34" charset="-120"/>
              </a:rPr>
              <a:t>Hóa đơn của công ty; công ty chịu trách nhiệm với nghệ sĩ</a:t>
            </a:r>
            <a:endParaRPr lang="en-US" sz="1900" dirty="0"/>
          </a:p>
        </p:txBody>
      </p:sp>
      <p:sp>
        <p:nvSpPr>
          <p:cNvPr id="27" name="Text 24"/>
          <p:cNvSpPr txBox="1"/>
          <p:nvPr/>
        </p:nvSpPr>
        <p:spPr>
          <a:xfrm>
            <a:off x="5592928" y="3474720"/>
            <a:ext cx="1005840" cy="1554480"/>
          </a:xfrm>
          <a:prstGeom prst="rect">
            <a:avLst/>
          </a:prstGeom>
          <a:noFill/>
          <a:ln/>
        </p:spPr>
        <p:txBody>
          <a:bodyPr wrap="square" lIns="0" tIns="0" rIns="0" bIns="0" rtlCol="0" anchor="ctr"/>
          <a:lstStyle/>
          <a:p>
            <a:pPr algn="ctr" indent="0" marL="0">
              <a:buNone/>
            </a:pPr>
            <a:r>
              <a:rPr lang="en-US" sz="1800" i="1" dirty="0">
                <a:solidFill>
                  <a:srgbClr val="6E6878"/>
                </a:solidFill>
                <a:latin typeface="Alexandria" pitchFamily="34" charset="0"/>
                <a:ea typeface="Alexandria" pitchFamily="34" charset="-122"/>
                <a:cs typeface="Alexandria" pitchFamily="34" charset="-120"/>
              </a:rPr>
              <a:t>hay</a:t>
            </a:r>
            <a:endParaRPr lang="en-US" sz="1800" dirty="0"/>
          </a:p>
        </p:txBody>
      </p:sp>
      <p:sp>
        <p:nvSpPr>
          <p:cNvPr id="28" name="Shape 25"/>
          <p:cNvSpPr/>
          <p:nvPr/>
        </p:nvSpPr>
        <p:spPr>
          <a:xfrm>
            <a:off x="548640" y="5303520"/>
            <a:ext cx="11094415" cy="731520"/>
          </a:xfrm>
          <a:prstGeom prst="roundRect">
            <a:avLst>
              <a:gd name="adj" fmla="val 15000"/>
            </a:avLst>
          </a:prstGeom>
          <a:solidFill>
            <a:srgbClr val="FFFFFF"/>
          </a:solidFill>
          <a:ln w="19050">
            <a:solidFill>
              <a:srgbClr val="FF5178"/>
            </a:solidFill>
            <a:prstDash val="solid"/>
          </a:ln>
        </p:spPr>
      </p:sp>
      <p:sp>
        <p:nvSpPr>
          <p:cNvPr id="29" name="Text 26"/>
          <p:cNvSpPr txBox="1"/>
          <p:nvPr/>
        </p:nvSpPr>
        <p:spPr>
          <a:xfrm>
            <a:off x="868680" y="5303520"/>
            <a:ext cx="10454335" cy="73152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Anh Khoa (ngân sách – mua sắm An Phát) sẽ hỏi: </a:t>
            </a:r>
            <a:pPr indent="0" marL="0">
              <a:buNone/>
            </a:pPr>
            <a:r>
              <a:rPr lang="en-US" sz="1600" dirty="0">
                <a:solidFill>
                  <a:srgbClr val="2A2238"/>
                </a:solidFill>
                <a:latin typeface="Alexandria" pitchFamily="34" charset="0"/>
                <a:ea typeface="Alexandria" pitchFamily="34" charset="-122"/>
                <a:cs typeface="Alexandria" pitchFamily="34" charset="-120"/>
              </a:rPr>
              <a:t>hóa đơn, chứng từ khấu trừ ở đâu?</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87782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11.1 KOL</a:t>
            </a:r>
            <a:endParaRPr lang="en-US" sz="1000" dirty="0"/>
          </a:p>
        </p:txBody>
      </p:sp>
      <p:sp>
        <p:nvSpPr>
          <p:cNvPr id="6" name="Shape 4"/>
          <p:cNvSpPr/>
          <p:nvPr/>
        </p:nvSpPr>
        <p:spPr>
          <a:xfrm>
            <a:off x="2368296"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368296"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11.2 Báo chí</a:t>
            </a:r>
            <a:endParaRPr lang="en-US" sz="1000" dirty="0"/>
          </a:p>
        </p:txBody>
      </p:sp>
      <p:sp>
        <p:nvSpPr>
          <p:cNvPr id="8" name="Shape 6"/>
          <p:cNvSpPr/>
          <p:nvPr/>
        </p:nvSpPr>
        <p:spPr>
          <a:xfrm>
            <a:off x="3666744" y="274320"/>
            <a:ext cx="2043684" cy="292608"/>
          </a:xfrm>
          <a:prstGeom prst="roundRect">
            <a:avLst>
              <a:gd name="adj" fmla="val 50000"/>
            </a:avLst>
          </a:prstGeom>
          <a:solidFill>
            <a:srgbClr val="09A1E5"/>
          </a:solidFill>
          <a:ln w="9525">
            <a:solidFill>
              <a:srgbClr val="09A1E5"/>
            </a:solidFill>
            <a:prstDash val="solid"/>
          </a:ln>
        </p:spPr>
      </p:sp>
      <p:sp>
        <p:nvSpPr>
          <p:cNvPr id="9" name="Text 7"/>
          <p:cNvSpPr txBox="1"/>
          <p:nvPr/>
        </p:nvSpPr>
        <p:spPr>
          <a:xfrm>
            <a:off x="3666744" y="274320"/>
            <a:ext cx="204368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11.3 Booking &amp; đo lường</a:t>
            </a:r>
            <a:endParaRPr lang="en-US" sz="1000" dirty="0"/>
          </a:p>
        </p:txBody>
      </p:sp>
      <p:sp>
        <p:nvSpPr>
          <p:cNvPr id="10" name="Shape 8"/>
          <p:cNvSpPr/>
          <p:nvPr/>
        </p:nvSpPr>
        <p:spPr>
          <a:xfrm>
            <a:off x="5820156" y="274320"/>
            <a:ext cx="1421892"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5820156"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11.4 Khuếch đại</a:t>
            </a:r>
            <a:endParaRPr lang="en-US" sz="1000" dirty="0"/>
          </a:p>
        </p:txBody>
      </p:sp>
      <p:sp>
        <p:nvSpPr>
          <p:cNvPr id="12" name="Shape 10"/>
          <p:cNvSpPr/>
          <p:nvPr/>
        </p:nvSpPr>
        <p:spPr>
          <a:xfrm>
            <a:off x="7351776" y="274320"/>
            <a:ext cx="877824" cy="292608"/>
          </a:xfrm>
          <a:prstGeom prst="roundRect">
            <a:avLst>
              <a:gd name="adj" fmla="val 50000"/>
            </a:avLst>
          </a:prstGeom>
          <a:solidFill>
            <a:srgbClr val="FBFAF4"/>
          </a:solidFill>
          <a:ln w="9525">
            <a:solidFill>
              <a:srgbClr val="DCD7C8"/>
            </a:solidFill>
            <a:prstDash val="solid"/>
          </a:ln>
        </p:spPr>
      </p:sp>
      <p:sp>
        <p:nvSpPr>
          <p:cNvPr id="13" name="Text 11"/>
          <p:cNvSpPr txBox="1"/>
          <p:nvPr/>
        </p:nvSpPr>
        <p:spPr>
          <a:xfrm>
            <a:off x="735177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4" name="Shape 12"/>
          <p:cNvSpPr/>
          <p:nvPr/>
        </p:nvSpPr>
        <p:spPr>
          <a:xfrm>
            <a:off x="11259007" y="219456"/>
            <a:ext cx="384048" cy="384048"/>
          </a:xfrm>
          <a:prstGeom prst="ellipse">
            <a:avLst/>
          </a:prstGeom>
          <a:ln w="12700">
            <a:solidFill>
              <a:srgbClr val="09A1E5"/>
            </a:solidFill>
            <a:prstDash val="solid"/>
          </a:ln>
        </p:spPr>
      </p:sp>
      <p:sp>
        <p:nvSpPr>
          <p:cNvPr id="15" name="Shape 13"/>
          <p:cNvSpPr/>
          <p:nvPr/>
        </p:nvSpPr>
        <p:spPr>
          <a:xfrm>
            <a:off x="11324295" y="284744"/>
            <a:ext cx="253472" cy="253472"/>
          </a:xfrm>
          <a:prstGeom prst="ellipse">
            <a:avLst/>
          </a:prstGeom>
          <a:ln w="15875">
            <a:solidFill>
              <a:srgbClr val="962B7C"/>
            </a:solidFill>
            <a:prstDash val="solid"/>
          </a:ln>
        </p:spPr>
      </p:sp>
      <p:sp>
        <p:nvSpPr>
          <p:cNvPr id="16" name="Shape 14"/>
          <p:cNvSpPr/>
          <p:nvPr/>
        </p:nvSpPr>
        <p:spPr>
          <a:xfrm>
            <a:off x="11389584" y="350032"/>
            <a:ext cx="122895" cy="122895"/>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Đo truyền thông bằng outputs, outcomes, impact — không dùng AVE</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X13: AMEC (2025), Barcelona Principles 4.0 — rút gọn.</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11   19</a:t>
            </a:r>
            <a:endParaRPr lang="en-US" sz="1000" dirty="0"/>
          </a:p>
        </p:txBody>
      </p:sp>
      <p:sp>
        <p:nvSpPr>
          <p:cNvPr id="21" name="Shape 18"/>
          <p:cNvSpPr/>
          <p:nvPr/>
        </p:nvSpPr>
        <p:spPr>
          <a:xfrm>
            <a:off x="548640" y="1828800"/>
            <a:ext cx="6766560" cy="493776"/>
          </a:xfrm>
          <a:prstGeom prst="roundRect">
            <a:avLst>
              <a:gd name="adj" fmla="val 22222"/>
            </a:avLst>
          </a:prstGeom>
          <a:solidFill>
            <a:srgbClr val="FFFFFF"/>
          </a:solidFill>
          <a:ln w="12700">
            <a:solidFill>
              <a:srgbClr val="DCD7C8"/>
            </a:solidFill>
            <a:prstDash val="solid"/>
          </a:ln>
        </p:spPr>
      </p:sp>
      <p:sp>
        <p:nvSpPr>
          <p:cNvPr id="22" name="Shape 19"/>
          <p:cNvSpPr/>
          <p:nvPr/>
        </p:nvSpPr>
        <p:spPr>
          <a:xfrm>
            <a:off x="640080" y="1883664"/>
            <a:ext cx="384048" cy="384048"/>
          </a:xfrm>
          <a:prstGeom prst="ellipse">
            <a:avLst/>
          </a:prstGeom>
          <a:solidFill>
            <a:srgbClr val="6E6878"/>
          </a:solidFill>
          <a:ln w="12700">
            <a:solidFill>
              <a:srgbClr val="6E6878"/>
            </a:solidFill>
            <a:prstDash val="solid"/>
          </a:ln>
        </p:spPr>
      </p:sp>
      <p:sp>
        <p:nvSpPr>
          <p:cNvPr id="23" name="Text 20"/>
          <p:cNvSpPr txBox="1"/>
          <p:nvPr/>
        </p:nvSpPr>
        <p:spPr>
          <a:xfrm>
            <a:off x="640080" y="18836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1</a:t>
            </a:r>
            <a:endParaRPr lang="en-US" sz="1300" dirty="0"/>
          </a:p>
        </p:txBody>
      </p:sp>
      <p:sp>
        <p:nvSpPr>
          <p:cNvPr id="24" name="Text 21"/>
          <p:cNvSpPr txBox="1"/>
          <p:nvPr/>
        </p:nvSpPr>
        <p:spPr>
          <a:xfrm>
            <a:off x="1188720" y="1828800"/>
            <a:ext cx="5943600" cy="493776"/>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Mục tiêu rõ, đo được</a:t>
            </a:r>
            <a:endParaRPr lang="en-US" sz="1400" dirty="0"/>
          </a:p>
        </p:txBody>
      </p:sp>
      <p:sp>
        <p:nvSpPr>
          <p:cNvPr id="25" name="Shape 22"/>
          <p:cNvSpPr/>
          <p:nvPr/>
        </p:nvSpPr>
        <p:spPr>
          <a:xfrm>
            <a:off x="548640" y="2414016"/>
            <a:ext cx="6766560" cy="493776"/>
          </a:xfrm>
          <a:prstGeom prst="roundRect">
            <a:avLst>
              <a:gd name="adj" fmla="val 22222"/>
            </a:avLst>
          </a:prstGeom>
          <a:solidFill>
            <a:srgbClr val="FFFFFF"/>
          </a:solidFill>
          <a:ln w="12700">
            <a:solidFill>
              <a:srgbClr val="DCD7C8"/>
            </a:solidFill>
            <a:prstDash val="solid"/>
          </a:ln>
        </p:spPr>
      </p:sp>
      <p:sp>
        <p:nvSpPr>
          <p:cNvPr id="26" name="Shape 23"/>
          <p:cNvSpPr/>
          <p:nvPr/>
        </p:nvSpPr>
        <p:spPr>
          <a:xfrm>
            <a:off x="640080" y="2468880"/>
            <a:ext cx="384048" cy="384048"/>
          </a:xfrm>
          <a:prstGeom prst="ellipse">
            <a:avLst/>
          </a:prstGeom>
          <a:solidFill>
            <a:srgbClr val="6E6878"/>
          </a:solidFill>
          <a:ln w="12700">
            <a:solidFill>
              <a:srgbClr val="6E6878"/>
            </a:solidFill>
            <a:prstDash val="solid"/>
          </a:ln>
        </p:spPr>
      </p:sp>
      <p:sp>
        <p:nvSpPr>
          <p:cNvPr id="27" name="Text 24"/>
          <p:cNvSpPr txBox="1"/>
          <p:nvPr/>
        </p:nvSpPr>
        <p:spPr>
          <a:xfrm>
            <a:off x="640080" y="2468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2</a:t>
            </a:r>
            <a:endParaRPr lang="en-US" sz="1300" dirty="0"/>
          </a:p>
        </p:txBody>
      </p:sp>
      <p:sp>
        <p:nvSpPr>
          <p:cNvPr id="28" name="Text 25"/>
          <p:cNvSpPr txBox="1"/>
          <p:nvPr/>
        </p:nvSpPr>
        <p:spPr>
          <a:xfrm>
            <a:off x="1188720" y="2414016"/>
            <a:ext cx="5943600" cy="493776"/>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Hiểu khán giả – bên liên quan</a:t>
            </a:r>
            <a:endParaRPr lang="en-US" sz="1400" dirty="0"/>
          </a:p>
        </p:txBody>
      </p:sp>
      <p:sp>
        <p:nvSpPr>
          <p:cNvPr id="29" name="Shape 26"/>
          <p:cNvSpPr/>
          <p:nvPr/>
        </p:nvSpPr>
        <p:spPr>
          <a:xfrm>
            <a:off x="548640" y="2999232"/>
            <a:ext cx="6766560" cy="493776"/>
          </a:xfrm>
          <a:prstGeom prst="roundRect">
            <a:avLst>
              <a:gd name="adj" fmla="val 22222"/>
            </a:avLst>
          </a:prstGeom>
          <a:solidFill>
            <a:srgbClr val="FFFFFF"/>
          </a:solidFill>
          <a:ln w="12700">
            <a:solidFill>
              <a:srgbClr val="DCD7C8"/>
            </a:solidFill>
            <a:prstDash val="solid"/>
          </a:ln>
        </p:spPr>
      </p:sp>
      <p:sp>
        <p:nvSpPr>
          <p:cNvPr id="30" name="Shape 27"/>
          <p:cNvSpPr/>
          <p:nvPr/>
        </p:nvSpPr>
        <p:spPr>
          <a:xfrm>
            <a:off x="640080" y="3054096"/>
            <a:ext cx="384048" cy="384048"/>
          </a:xfrm>
          <a:prstGeom prst="ellipse">
            <a:avLst/>
          </a:prstGeom>
          <a:solidFill>
            <a:srgbClr val="6E6878"/>
          </a:solidFill>
          <a:ln w="12700">
            <a:solidFill>
              <a:srgbClr val="6E6878"/>
            </a:solidFill>
            <a:prstDash val="solid"/>
          </a:ln>
        </p:spPr>
      </p:sp>
      <p:sp>
        <p:nvSpPr>
          <p:cNvPr id="31" name="Text 28"/>
          <p:cNvSpPr txBox="1"/>
          <p:nvPr/>
        </p:nvSpPr>
        <p:spPr>
          <a:xfrm>
            <a:off x="640080" y="30540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3</a:t>
            </a:r>
            <a:endParaRPr lang="en-US" sz="1300" dirty="0"/>
          </a:p>
        </p:txBody>
      </p:sp>
      <p:sp>
        <p:nvSpPr>
          <p:cNvPr id="32" name="Text 29"/>
          <p:cNvSpPr txBox="1"/>
          <p:nvPr/>
        </p:nvSpPr>
        <p:spPr>
          <a:xfrm>
            <a:off x="1188720" y="2999232"/>
            <a:ext cx="5943600" cy="493776"/>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Đo mọi kênh liên quan</a:t>
            </a:r>
            <a:endParaRPr lang="en-US" sz="1400" dirty="0"/>
          </a:p>
        </p:txBody>
      </p:sp>
      <p:sp>
        <p:nvSpPr>
          <p:cNvPr id="33" name="Shape 30"/>
          <p:cNvSpPr/>
          <p:nvPr/>
        </p:nvSpPr>
        <p:spPr>
          <a:xfrm>
            <a:off x="548640" y="3584448"/>
            <a:ext cx="6766560" cy="493776"/>
          </a:xfrm>
          <a:prstGeom prst="roundRect">
            <a:avLst>
              <a:gd name="adj" fmla="val 22222"/>
            </a:avLst>
          </a:prstGeom>
          <a:solidFill>
            <a:srgbClr val="FFFFFF"/>
          </a:solidFill>
          <a:ln w="12700">
            <a:solidFill>
              <a:srgbClr val="DCD7C8"/>
            </a:solidFill>
            <a:prstDash val="solid"/>
          </a:ln>
        </p:spPr>
      </p:sp>
      <p:sp>
        <p:nvSpPr>
          <p:cNvPr id="34" name="Shape 31"/>
          <p:cNvSpPr/>
          <p:nvPr/>
        </p:nvSpPr>
        <p:spPr>
          <a:xfrm>
            <a:off x="640080" y="3639312"/>
            <a:ext cx="384048" cy="384048"/>
          </a:xfrm>
          <a:prstGeom prst="ellipse">
            <a:avLst/>
          </a:prstGeom>
          <a:solidFill>
            <a:srgbClr val="6E6878"/>
          </a:solidFill>
          <a:ln w="12700">
            <a:solidFill>
              <a:srgbClr val="6E6878"/>
            </a:solidFill>
            <a:prstDash val="solid"/>
          </a:ln>
        </p:spPr>
      </p:sp>
      <p:sp>
        <p:nvSpPr>
          <p:cNvPr id="35" name="Text 32"/>
          <p:cNvSpPr txBox="1"/>
          <p:nvPr/>
        </p:nvSpPr>
        <p:spPr>
          <a:xfrm>
            <a:off x="640080" y="36393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4</a:t>
            </a:r>
            <a:endParaRPr lang="en-US" sz="1300" dirty="0"/>
          </a:p>
        </p:txBody>
      </p:sp>
      <p:sp>
        <p:nvSpPr>
          <p:cNvPr id="36" name="Text 33"/>
          <p:cNvSpPr txBox="1"/>
          <p:nvPr/>
        </p:nvSpPr>
        <p:spPr>
          <a:xfrm>
            <a:off x="1188720" y="3584448"/>
            <a:ext cx="5943600" cy="493776"/>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Định tính + định lượng</a:t>
            </a:r>
            <a:endParaRPr lang="en-US" sz="1400" dirty="0"/>
          </a:p>
        </p:txBody>
      </p:sp>
      <p:sp>
        <p:nvSpPr>
          <p:cNvPr id="37" name="Shape 34"/>
          <p:cNvSpPr/>
          <p:nvPr/>
        </p:nvSpPr>
        <p:spPr>
          <a:xfrm>
            <a:off x="548640" y="4169664"/>
            <a:ext cx="6766560" cy="493776"/>
          </a:xfrm>
          <a:prstGeom prst="roundRect">
            <a:avLst>
              <a:gd name="adj" fmla="val 22222"/>
            </a:avLst>
          </a:prstGeom>
          <a:solidFill>
            <a:srgbClr val="DDF1FB"/>
          </a:solidFill>
          <a:ln w="12700">
            <a:solidFill>
              <a:srgbClr val="09A1E5"/>
            </a:solidFill>
            <a:prstDash val="solid"/>
          </a:ln>
        </p:spPr>
      </p:sp>
      <p:sp>
        <p:nvSpPr>
          <p:cNvPr id="38" name="Shape 35"/>
          <p:cNvSpPr/>
          <p:nvPr/>
        </p:nvSpPr>
        <p:spPr>
          <a:xfrm>
            <a:off x="640080" y="4224528"/>
            <a:ext cx="384048" cy="384048"/>
          </a:xfrm>
          <a:prstGeom prst="ellipse">
            <a:avLst/>
          </a:prstGeom>
          <a:solidFill>
            <a:srgbClr val="09A1E5"/>
          </a:solidFill>
          <a:ln w="12700">
            <a:solidFill>
              <a:srgbClr val="09A1E5"/>
            </a:solidFill>
            <a:prstDash val="solid"/>
          </a:ln>
        </p:spPr>
      </p:sp>
      <p:sp>
        <p:nvSpPr>
          <p:cNvPr id="39" name="Text 36"/>
          <p:cNvSpPr txBox="1"/>
          <p:nvPr/>
        </p:nvSpPr>
        <p:spPr>
          <a:xfrm>
            <a:off x="640080" y="4224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5</a:t>
            </a:r>
            <a:endParaRPr lang="en-US" sz="1300" dirty="0"/>
          </a:p>
        </p:txBody>
      </p:sp>
      <p:sp>
        <p:nvSpPr>
          <p:cNvPr id="40" name="Text 37"/>
          <p:cNvSpPr txBox="1"/>
          <p:nvPr/>
        </p:nvSpPr>
        <p:spPr>
          <a:xfrm>
            <a:off x="1188720" y="4169664"/>
            <a:ext cx="5943600" cy="493776"/>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Không dùng AVE; đo đóng góp qua kết quả và tác động</a:t>
            </a:r>
            <a:endParaRPr lang="en-US" sz="1400" dirty="0"/>
          </a:p>
        </p:txBody>
      </p:sp>
      <p:sp>
        <p:nvSpPr>
          <p:cNvPr id="41" name="Shape 38"/>
          <p:cNvSpPr/>
          <p:nvPr/>
        </p:nvSpPr>
        <p:spPr>
          <a:xfrm>
            <a:off x="548640" y="4754880"/>
            <a:ext cx="6766560" cy="493776"/>
          </a:xfrm>
          <a:prstGeom prst="roundRect">
            <a:avLst>
              <a:gd name="adj" fmla="val 22222"/>
            </a:avLst>
          </a:prstGeom>
          <a:solidFill>
            <a:srgbClr val="DDF1FB"/>
          </a:solidFill>
          <a:ln w="12700">
            <a:solidFill>
              <a:srgbClr val="09A1E5"/>
            </a:solidFill>
            <a:prstDash val="solid"/>
          </a:ln>
        </p:spPr>
      </p:sp>
      <p:sp>
        <p:nvSpPr>
          <p:cNvPr id="42" name="Shape 39"/>
          <p:cNvSpPr/>
          <p:nvPr/>
        </p:nvSpPr>
        <p:spPr>
          <a:xfrm>
            <a:off x="640080" y="4809744"/>
            <a:ext cx="384048" cy="384048"/>
          </a:xfrm>
          <a:prstGeom prst="ellipse">
            <a:avLst/>
          </a:prstGeom>
          <a:solidFill>
            <a:srgbClr val="09A1E5"/>
          </a:solidFill>
          <a:ln w="12700">
            <a:solidFill>
              <a:srgbClr val="09A1E5"/>
            </a:solidFill>
            <a:prstDash val="solid"/>
          </a:ln>
        </p:spPr>
      </p:sp>
      <p:sp>
        <p:nvSpPr>
          <p:cNvPr id="43" name="Text 40"/>
          <p:cNvSpPr txBox="1"/>
          <p:nvPr/>
        </p:nvSpPr>
        <p:spPr>
          <a:xfrm>
            <a:off x="640080" y="48097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6</a:t>
            </a:r>
            <a:endParaRPr lang="en-US" sz="1300" dirty="0"/>
          </a:p>
        </p:txBody>
      </p:sp>
      <p:sp>
        <p:nvSpPr>
          <p:cNvPr id="44" name="Text 41"/>
          <p:cNvSpPr txBox="1"/>
          <p:nvPr/>
        </p:nvSpPr>
        <p:spPr>
          <a:xfrm>
            <a:off x="1188720" y="4754880"/>
            <a:ext cx="5943600" cy="493776"/>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Báo cáo outputs, outcomes, impact</a:t>
            </a:r>
            <a:endParaRPr lang="en-US" sz="1400" dirty="0"/>
          </a:p>
        </p:txBody>
      </p:sp>
      <p:sp>
        <p:nvSpPr>
          <p:cNvPr id="45" name="Shape 42"/>
          <p:cNvSpPr/>
          <p:nvPr/>
        </p:nvSpPr>
        <p:spPr>
          <a:xfrm>
            <a:off x="548640" y="5340096"/>
            <a:ext cx="6766560" cy="493776"/>
          </a:xfrm>
          <a:prstGeom prst="roundRect">
            <a:avLst>
              <a:gd name="adj" fmla="val 22222"/>
            </a:avLst>
          </a:prstGeom>
          <a:solidFill>
            <a:srgbClr val="FFFFFF"/>
          </a:solidFill>
          <a:ln w="12700">
            <a:solidFill>
              <a:srgbClr val="DCD7C8"/>
            </a:solidFill>
            <a:prstDash val="solid"/>
          </a:ln>
        </p:spPr>
      </p:sp>
      <p:sp>
        <p:nvSpPr>
          <p:cNvPr id="46" name="Shape 43"/>
          <p:cNvSpPr/>
          <p:nvPr/>
        </p:nvSpPr>
        <p:spPr>
          <a:xfrm>
            <a:off x="640080" y="5394960"/>
            <a:ext cx="384048" cy="384048"/>
          </a:xfrm>
          <a:prstGeom prst="ellipse">
            <a:avLst/>
          </a:prstGeom>
          <a:solidFill>
            <a:srgbClr val="6E6878"/>
          </a:solidFill>
          <a:ln w="12700">
            <a:solidFill>
              <a:srgbClr val="6E6878"/>
            </a:solidFill>
            <a:prstDash val="solid"/>
          </a:ln>
        </p:spPr>
      </p:sp>
      <p:sp>
        <p:nvSpPr>
          <p:cNvPr id="47" name="Text 44"/>
          <p:cNvSpPr txBox="1"/>
          <p:nvPr/>
        </p:nvSpPr>
        <p:spPr>
          <a:xfrm>
            <a:off x="640080" y="5394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7</a:t>
            </a:r>
            <a:endParaRPr lang="en-US" sz="1300" dirty="0"/>
          </a:p>
        </p:txBody>
      </p:sp>
      <p:sp>
        <p:nvSpPr>
          <p:cNvPr id="48" name="Text 45"/>
          <p:cNvSpPr txBox="1"/>
          <p:nvPr/>
        </p:nvSpPr>
        <p:spPr>
          <a:xfrm>
            <a:off x="1188720" y="5340096"/>
            <a:ext cx="5943600" cy="493776"/>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Đạo đức, minh bạch dữ liệu và phương pháp</a:t>
            </a:r>
            <a:endParaRPr lang="en-US" sz="1400" dirty="0"/>
          </a:p>
        </p:txBody>
      </p:sp>
      <p:sp>
        <p:nvSpPr>
          <p:cNvPr id="49" name="Shape 46"/>
          <p:cNvSpPr/>
          <p:nvPr/>
        </p:nvSpPr>
        <p:spPr>
          <a:xfrm>
            <a:off x="7680960" y="1828800"/>
            <a:ext cx="3962095" cy="2148840"/>
          </a:xfrm>
          <a:prstGeom prst="roundRect">
            <a:avLst>
              <a:gd name="adj" fmla="val 5106"/>
            </a:avLst>
          </a:prstGeom>
          <a:solidFill>
            <a:srgbClr val="FFE4EA"/>
          </a:solidFill>
          <a:ln w="12700">
            <a:solidFill>
              <a:srgbClr val="FF5178"/>
            </a:solidFill>
            <a:prstDash val="solid"/>
          </a:ln>
        </p:spPr>
      </p:sp>
      <p:sp>
        <p:nvSpPr>
          <p:cNvPr id="50" name="Text 47"/>
          <p:cNvSpPr txBox="1"/>
          <p:nvPr/>
        </p:nvSpPr>
        <p:spPr>
          <a:xfrm>
            <a:off x="7955280" y="1828800"/>
            <a:ext cx="3413455" cy="2148840"/>
          </a:xfrm>
          <a:prstGeom prst="rect">
            <a:avLst/>
          </a:prstGeom>
          <a:noFill/>
          <a:ln/>
        </p:spPr>
        <p:txBody>
          <a:bodyPr wrap="square" lIns="0" tIns="0" rIns="0" bIns="0" rtlCol="0" anchor="ctr"/>
          <a:lstStyle/>
          <a:p>
            <a:pPr indent="0" marL="0">
              <a:buNone/>
            </a:pPr>
            <a:r>
              <a:rPr lang="en-US" sz="2600" b="1" dirty="0">
                <a:solidFill>
                  <a:srgbClr val="E03A62"/>
                </a:solidFill>
                <a:latin typeface="Alexandria" pitchFamily="34" charset="0"/>
                <a:ea typeface="Alexandria" pitchFamily="34" charset="-122"/>
                <a:cs typeface="Alexandria" pitchFamily="34" charset="-120"/>
              </a:rPr>
              <a:t>AVE</a:t>
            </a:r>
            <a:endParaRPr lang="en-US" sz="2600" dirty="0"/>
          </a:p>
          <a:p>
            <a:pPr indent="0" marL="0">
              <a:buNone/>
            </a:pPr>
            <a:r>
              <a:rPr lang="en-US" sz="1400" dirty="0">
                <a:solidFill>
                  <a:srgbClr val="2A2238"/>
                </a:solidFill>
                <a:latin typeface="Alexandria" pitchFamily="34" charset="0"/>
                <a:ea typeface="Alexandria" pitchFamily="34" charset="-122"/>
                <a:cs typeface="Alexandria" pitchFamily="34" charset="-120"/>
              </a:rPr>
              <a:t>quy bài báo ra “nếu mua quảng cáo diện tích này thì tốn bao nhiêu” — AMEC: đó không phải giá trị của truyền thông.</a:t>
            </a:r>
            <a:endParaRPr lang="en-US" sz="2600" dirty="0"/>
          </a:p>
        </p:txBody>
      </p:sp>
      <p:sp>
        <p:nvSpPr>
          <p:cNvPr id="51" name="Shape 48"/>
          <p:cNvSpPr/>
          <p:nvPr/>
        </p:nvSpPr>
        <p:spPr>
          <a:xfrm>
            <a:off x="7680960" y="4206240"/>
            <a:ext cx="1554480" cy="512064"/>
          </a:xfrm>
          <a:prstGeom prst="roundRect">
            <a:avLst>
              <a:gd name="adj" fmla="val 50000"/>
            </a:avLst>
          </a:prstGeom>
          <a:solidFill>
            <a:srgbClr val="FF9259"/>
          </a:solidFill>
          <a:ln w="12700">
            <a:solidFill>
              <a:srgbClr val="FF9259"/>
            </a:solidFill>
            <a:prstDash val="solid"/>
          </a:ln>
        </p:spPr>
      </p:sp>
      <p:sp>
        <p:nvSpPr>
          <p:cNvPr id="52" name="Text 49"/>
          <p:cNvSpPr txBox="1"/>
          <p:nvPr/>
        </p:nvSpPr>
        <p:spPr>
          <a:xfrm>
            <a:off x="7754112" y="4206240"/>
            <a:ext cx="1408176" cy="512064"/>
          </a:xfrm>
          <a:prstGeom prst="rect">
            <a:avLst/>
          </a:prstGeom>
          <a:noFill/>
          <a:ln/>
        </p:spPr>
        <p:txBody>
          <a:bodyPr wrap="square" lIns="0" tIns="0" rIns="0" bIns="0" rtlCol="0" anchor="ctr"/>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Outputs</a:t>
            </a:r>
            <a:endParaRPr lang="en-US" sz="1300" dirty="0"/>
          </a:p>
        </p:txBody>
      </p:sp>
      <p:sp>
        <p:nvSpPr>
          <p:cNvPr id="53" name="Text 50"/>
          <p:cNvSpPr txBox="1"/>
          <p:nvPr/>
        </p:nvSpPr>
        <p:spPr>
          <a:xfrm>
            <a:off x="9372600" y="4206240"/>
            <a:ext cx="2270455" cy="512064"/>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đã làm gì, bao nhiêu</a:t>
            </a:r>
            <a:endParaRPr lang="en-US" sz="1300" dirty="0"/>
          </a:p>
        </p:txBody>
      </p:sp>
      <p:sp>
        <p:nvSpPr>
          <p:cNvPr id="54" name="Shape 51"/>
          <p:cNvSpPr/>
          <p:nvPr/>
        </p:nvSpPr>
        <p:spPr>
          <a:xfrm>
            <a:off x="7680960" y="4828032"/>
            <a:ext cx="1554480" cy="512064"/>
          </a:xfrm>
          <a:prstGeom prst="roundRect">
            <a:avLst>
              <a:gd name="adj" fmla="val 50000"/>
            </a:avLst>
          </a:prstGeom>
          <a:solidFill>
            <a:srgbClr val="962B7C"/>
          </a:solidFill>
          <a:ln w="12700">
            <a:solidFill>
              <a:srgbClr val="962B7C"/>
            </a:solidFill>
            <a:prstDash val="solid"/>
          </a:ln>
        </p:spPr>
      </p:sp>
      <p:sp>
        <p:nvSpPr>
          <p:cNvPr id="55" name="Text 52"/>
          <p:cNvSpPr txBox="1"/>
          <p:nvPr/>
        </p:nvSpPr>
        <p:spPr>
          <a:xfrm>
            <a:off x="7754112" y="4828032"/>
            <a:ext cx="1408176"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Outcomes</a:t>
            </a:r>
            <a:endParaRPr lang="en-US" sz="1300" dirty="0"/>
          </a:p>
        </p:txBody>
      </p:sp>
      <p:sp>
        <p:nvSpPr>
          <p:cNvPr id="56" name="Text 53"/>
          <p:cNvSpPr txBox="1"/>
          <p:nvPr/>
        </p:nvSpPr>
        <p:spPr>
          <a:xfrm>
            <a:off x="9372600" y="4828032"/>
            <a:ext cx="2270455" cy="512064"/>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khán giả nghĩ, làm gì khác</a:t>
            </a:r>
            <a:endParaRPr lang="en-US" sz="1300" dirty="0"/>
          </a:p>
        </p:txBody>
      </p:sp>
      <p:sp>
        <p:nvSpPr>
          <p:cNvPr id="57" name="Shape 54"/>
          <p:cNvSpPr/>
          <p:nvPr/>
        </p:nvSpPr>
        <p:spPr>
          <a:xfrm>
            <a:off x="7680960" y="5449824"/>
            <a:ext cx="1554480" cy="512064"/>
          </a:xfrm>
          <a:prstGeom prst="roundRect">
            <a:avLst>
              <a:gd name="adj" fmla="val 50000"/>
            </a:avLst>
          </a:prstGeom>
          <a:solidFill>
            <a:srgbClr val="49B296"/>
          </a:solidFill>
          <a:ln w="12700">
            <a:solidFill>
              <a:srgbClr val="49B296"/>
            </a:solidFill>
            <a:prstDash val="solid"/>
          </a:ln>
        </p:spPr>
      </p:sp>
      <p:sp>
        <p:nvSpPr>
          <p:cNvPr id="58" name="Text 55"/>
          <p:cNvSpPr txBox="1"/>
          <p:nvPr/>
        </p:nvSpPr>
        <p:spPr>
          <a:xfrm>
            <a:off x="7754112" y="5449824"/>
            <a:ext cx="1408176"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Impact</a:t>
            </a:r>
            <a:endParaRPr lang="en-US" sz="1300" dirty="0"/>
          </a:p>
        </p:txBody>
      </p:sp>
      <p:sp>
        <p:nvSpPr>
          <p:cNvPr id="59" name="Text 56"/>
          <p:cNvSpPr txBox="1"/>
          <p:nvPr/>
        </p:nvSpPr>
        <p:spPr>
          <a:xfrm>
            <a:off x="9372600" y="5449824"/>
            <a:ext cx="2270455" cy="512064"/>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kết quả cho tổ chức</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87782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11.1 KOL</a:t>
            </a:r>
            <a:endParaRPr lang="en-US" sz="1000" dirty="0"/>
          </a:p>
        </p:txBody>
      </p:sp>
      <p:sp>
        <p:nvSpPr>
          <p:cNvPr id="6" name="Shape 4"/>
          <p:cNvSpPr/>
          <p:nvPr/>
        </p:nvSpPr>
        <p:spPr>
          <a:xfrm>
            <a:off x="2368296"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368296"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11.2 Báo chí</a:t>
            </a:r>
            <a:endParaRPr lang="en-US" sz="1000" dirty="0"/>
          </a:p>
        </p:txBody>
      </p:sp>
      <p:sp>
        <p:nvSpPr>
          <p:cNvPr id="8" name="Shape 6"/>
          <p:cNvSpPr/>
          <p:nvPr/>
        </p:nvSpPr>
        <p:spPr>
          <a:xfrm>
            <a:off x="3666744" y="274320"/>
            <a:ext cx="2043684" cy="292608"/>
          </a:xfrm>
          <a:prstGeom prst="roundRect">
            <a:avLst>
              <a:gd name="adj" fmla="val 50000"/>
            </a:avLst>
          </a:prstGeom>
          <a:solidFill>
            <a:srgbClr val="09A1E5"/>
          </a:solidFill>
          <a:ln w="9525">
            <a:solidFill>
              <a:srgbClr val="09A1E5"/>
            </a:solidFill>
            <a:prstDash val="solid"/>
          </a:ln>
        </p:spPr>
      </p:sp>
      <p:sp>
        <p:nvSpPr>
          <p:cNvPr id="9" name="Text 7"/>
          <p:cNvSpPr txBox="1"/>
          <p:nvPr/>
        </p:nvSpPr>
        <p:spPr>
          <a:xfrm>
            <a:off x="3666744" y="274320"/>
            <a:ext cx="204368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11.3 Booking &amp; đo lường</a:t>
            </a:r>
            <a:endParaRPr lang="en-US" sz="1000" dirty="0"/>
          </a:p>
        </p:txBody>
      </p:sp>
      <p:sp>
        <p:nvSpPr>
          <p:cNvPr id="10" name="Shape 8"/>
          <p:cNvSpPr/>
          <p:nvPr/>
        </p:nvSpPr>
        <p:spPr>
          <a:xfrm>
            <a:off x="5820156" y="274320"/>
            <a:ext cx="1421892"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5820156"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11.4 Khuếch đại</a:t>
            </a:r>
            <a:endParaRPr lang="en-US" sz="1000" dirty="0"/>
          </a:p>
        </p:txBody>
      </p:sp>
      <p:sp>
        <p:nvSpPr>
          <p:cNvPr id="12" name="Shape 10"/>
          <p:cNvSpPr/>
          <p:nvPr/>
        </p:nvSpPr>
        <p:spPr>
          <a:xfrm>
            <a:off x="7351776" y="274320"/>
            <a:ext cx="877824" cy="292608"/>
          </a:xfrm>
          <a:prstGeom prst="roundRect">
            <a:avLst>
              <a:gd name="adj" fmla="val 50000"/>
            </a:avLst>
          </a:prstGeom>
          <a:solidFill>
            <a:srgbClr val="FBFAF4"/>
          </a:solidFill>
          <a:ln w="9525">
            <a:solidFill>
              <a:srgbClr val="DCD7C8"/>
            </a:solidFill>
            <a:prstDash val="solid"/>
          </a:ln>
        </p:spPr>
      </p:sp>
      <p:sp>
        <p:nvSpPr>
          <p:cNvPr id="13" name="Text 11"/>
          <p:cNvSpPr txBox="1"/>
          <p:nvPr/>
        </p:nvSpPr>
        <p:spPr>
          <a:xfrm>
            <a:off x="735177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4" name="Shape 12"/>
          <p:cNvSpPr/>
          <p:nvPr/>
        </p:nvSpPr>
        <p:spPr>
          <a:xfrm>
            <a:off x="11259007" y="219456"/>
            <a:ext cx="384048" cy="384048"/>
          </a:xfrm>
          <a:prstGeom prst="ellipse">
            <a:avLst/>
          </a:prstGeom>
          <a:ln w="12700">
            <a:solidFill>
              <a:srgbClr val="09A1E5"/>
            </a:solidFill>
            <a:prstDash val="solid"/>
          </a:ln>
        </p:spPr>
      </p:sp>
      <p:sp>
        <p:nvSpPr>
          <p:cNvPr id="15" name="Shape 13"/>
          <p:cNvSpPr/>
          <p:nvPr/>
        </p:nvSpPr>
        <p:spPr>
          <a:xfrm>
            <a:off x="11324295" y="284744"/>
            <a:ext cx="253472" cy="253472"/>
          </a:xfrm>
          <a:prstGeom prst="ellipse">
            <a:avLst/>
          </a:prstGeom>
          <a:ln w="15875">
            <a:solidFill>
              <a:srgbClr val="962B7C"/>
            </a:solidFill>
            <a:prstDash val="solid"/>
          </a:ln>
        </p:spPr>
      </p:sp>
      <p:sp>
        <p:nvSpPr>
          <p:cNvPr id="16" name="Shape 14"/>
          <p:cNvSpPr/>
          <p:nvPr/>
        </p:nvSpPr>
        <p:spPr>
          <a:xfrm>
            <a:off x="11389584" y="350032"/>
            <a:ext cx="122895" cy="122895"/>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Báo cáo cho anh Minh mở đầu bằng outcome</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Ánh xạ Barcelona Principles ↔ khung ROI 6 cấp (Buổi 8) là gần đúng — nhận định của người soạn.</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11   20</a:t>
            </a:r>
            <a:endParaRPr lang="en-US" sz="1000" dirty="0"/>
          </a:p>
        </p:txBody>
      </p:sp>
      <p:sp>
        <p:nvSpPr>
          <p:cNvPr id="21" name="Shape 18"/>
          <p:cNvSpPr/>
          <p:nvPr/>
        </p:nvSpPr>
        <p:spPr>
          <a:xfrm>
            <a:off x="2560320" y="1783080"/>
            <a:ext cx="5943600" cy="502920"/>
          </a:xfrm>
          <a:prstGeom prst="roundRect">
            <a:avLst>
              <a:gd name="adj" fmla="val 21818"/>
            </a:avLst>
          </a:prstGeom>
          <a:solidFill>
            <a:srgbClr val="09A1E5"/>
          </a:solidFill>
          <a:ln w="12700">
            <a:solidFill>
              <a:srgbClr val="09A1E5"/>
            </a:solidFill>
            <a:prstDash val="solid"/>
          </a:ln>
        </p:spPr>
      </p:sp>
      <p:sp>
        <p:nvSpPr>
          <p:cNvPr id="22" name="Text 19"/>
          <p:cNvSpPr txBox="1"/>
          <p:nvPr/>
        </p:nvSpPr>
        <p:spPr>
          <a:xfrm>
            <a:off x="2724912" y="1783080"/>
            <a:ext cx="5614416" cy="50292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Ví dụ trước sự kiện của An Phát</a:t>
            </a:r>
            <a:endParaRPr lang="en-US" sz="1500" dirty="0"/>
          </a:p>
        </p:txBody>
      </p:sp>
      <p:sp>
        <p:nvSpPr>
          <p:cNvPr id="23" name="Shape 20"/>
          <p:cNvSpPr/>
          <p:nvPr/>
        </p:nvSpPr>
        <p:spPr>
          <a:xfrm>
            <a:off x="8595360" y="1783080"/>
            <a:ext cx="3047695" cy="502920"/>
          </a:xfrm>
          <a:prstGeom prst="roundRect">
            <a:avLst>
              <a:gd name="adj" fmla="val 21818"/>
            </a:avLst>
          </a:prstGeom>
          <a:solidFill>
            <a:srgbClr val="962B7C"/>
          </a:solidFill>
          <a:ln w="12700">
            <a:solidFill>
              <a:srgbClr val="962B7C"/>
            </a:solidFill>
            <a:prstDash val="solid"/>
          </a:ln>
        </p:spPr>
      </p:sp>
      <p:sp>
        <p:nvSpPr>
          <p:cNvPr id="24" name="Text 21"/>
          <p:cNvSpPr txBox="1"/>
          <p:nvPr/>
        </p:nvSpPr>
        <p:spPr>
          <a:xfrm>
            <a:off x="8759952" y="1783080"/>
            <a:ext cx="2718511" cy="50292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Gần với cấp (Buổi 8)</a:t>
            </a:r>
            <a:endParaRPr lang="en-US" sz="1500" dirty="0"/>
          </a:p>
        </p:txBody>
      </p:sp>
      <p:sp>
        <p:nvSpPr>
          <p:cNvPr id="25" name="Shape 22"/>
          <p:cNvSpPr/>
          <p:nvPr/>
        </p:nvSpPr>
        <p:spPr>
          <a:xfrm>
            <a:off x="548640" y="2395728"/>
            <a:ext cx="11094415" cy="731520"/>
          </a:xfrm>
          <a:prstGeom prst="rect">
            <a:avLst/>
          </a:prstGeom>
          <a:solidFill>
            <a:srgbClr val="F3F0E6"/>
          </a:solidFill>
          <a:ln w="12700">
            <a:solidFill>
              <a:srgbClr val="F3F0E6"/>
            </a:solidFill>
            <a:prstDash val="solid"/>
          </a:ln>
        </p:spPr>
      </p:sp>
      <p:sp>
        <p:nvSpPr>
          <p:cNvPr id="26" name="Text 23"/>
          <p:cNvSpPr txBox="1"/>
          <p:nvPr/>
        </p:nvSpPr>
        <p:spPr>
          <a:xfrm>
            <a:off x="713232" y="2395728"/>
            <a:ext cx="1682496" cy="73152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Outputs</a:t>
            </a:r>
            <a:endParaRPr lang="en-US" sz="1400" dirty="0"/>
          </a:p>
        </p:txBody>
      </p:sp>
      <p:sp>
        <p:nvSpPr>
          <p:cNvPr id="27" name="Text 24"/>
          <p:cNvSpPr txBox="1"/>
          <p:nvPr/>
        </p:nvSpPr>
        <p:spPr>
          <a:xfrm>
            <a:off x="2724912" y="2395728"/>
            <a:ext cx="5705856" cy="73152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Số bài báo đúng mảng; số bài của diễn giả; lượt tiếp cận</a:t>
            </a:r>
            <a:endParaRPr lang="en-US" sz="1400" dirty="0"/>
          </a:p>
        </p:txBody>
      </p:sp>
      <p:sp>
        <p:nvSpPr>
          <p:cNvPr id="28" name="Text 25"/>
          <p:cNvSpPr txBox="1"/>
          <p:nvPr/>
        </p:nvSpPr>
        <p:spPr>
          <a:xfrm>
            <a:off x="8759952" y="2395728"/>
            <a:ext cx="2809951" cy="73152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trước cấp 0</a:t>
            </a:r>
            <a:endParaRPr lang="en-US" sz="1400" dirty="0"/>
          </a:p>
        </p:txBody>
      </p:sp>
      <p:sp>
        <p:nvSpPr>
          <p:cNvPr id="29" name="Text 26"/>
          <p:cNvSpPr txBox="1"/>
          <p:nvPr/>
        </p:nvSpPr>
        <p:spPr>
          <a:xfrm>
            <a:off x="713232" y="3182112"/>
            <a:ext cx="1682496" cy="100584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Outcomes</a:t>
            </a:r>
            <a:endParaRPr lang="en-US" sz="1400" dirty="0"/>
          </a:p>
        </p:txBody>
      </p:sp>
      <p:sp>
        <p:nvSpPr>
          <p:cNvPr id="30" name="Text 27"/>
          <p:cNvSpPr txBox="1"/>
          <p:nvPr/>
        </p:nvSpPr>
        <p:spPr>
          <a:xfrm>
            <a:off x="2724912" y="3182112"/>
            <a:ext cx="5705856" cy="100584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Tỷ lệ xác nhận tham dự; tỷ lệ CEO đến trực tiếp; số khách đăng ký phiên chuyên đề; khách biết thêm điều gì</a:t>
            </a:r>
            <a:endParaRPr lang="en-US" sz="1400" dirty="0"/>
          </a:p>
        </p:txBody>
      </p:sp>
      <p:sp>
        <p:nvSpPr>
          <p:cNvPr id="31" name="Text 28"/>
          <p:cNvSpPr txBox="1"/>
          <p:nvPr/>
        </p:nvSpPr>
        <p:spPr>
          <a:xfrm>
            <a:off x="8759952" y="3182112"/>
            <a:ext cx="2809951" cy="100584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Cấp 0 – 2</a:t>
            </a:r>
            <a:endParaRPr lang="en-US" sz="1400" dirty="0"/>
          </a:p>
        </p:txBody>
      </p:sp>
      <p:sp>
        <p:nvSpPr>
          <p:cNvPr id="32" name="Shape 29"/>
          <p:cNvSpPr/>
          <p:nvPr/>
        </p:nvSpPr>
        <p:spPr>
          <a:xfrm>
            <a:off x="548640" y="4242816"/>
            <a:ext cx="11094415" cy="868680"/>
          </a:xfrm>
          <a:prstGeom prst="rect">
            <a:avLst/>
          </a:prstGeom>
          <a:solidFill>
            <a:srgbClr val="F3F0E6"/>
          </a:solidFill>
          <a:ln w="12700">
            <a:solidFill>
              <a:srgbClr val="F3F0E6"/>
            </a:solidFill>
            <a:prstDash val="solid"/>
          </a:ln>
        </p:spPr>
      </p:sp>
      <p:sp>
        <p:nvSpPr>
          <p:cNvPr id="33" name="Text 30"/>
          <p:cNvSpPr txBox="1"/>
          <p:nvPr/>
        </p:nvSpPr>
        <p:spPr>
          <a:xfrm>
            <a:off x="713232" y="4242816"/>
            <a:ext cx="1682496" cy="86868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Impact</a:t>
            </a:r>
            <a:endParaRPr lang="en-US" sz="1400" dirty="0"/>
          </a:p>
        </p:txBody>
      </p:sp>
      <p:sp>
        <p:nvSpPr>
          <p:cNvPr id="34" name="Text 31"/>
          <p:cNvSpPr txBox="1"/>
          <p:nvPr/>
        </p:nvSpPr>
        <p:spPr>
          <a:xfrm>
            <a:off x="2724912" y="4242816"/>
            <a:ext cx="5705856" cy="86868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Cuộc hẹn kinh doanh sau sự kiện; khách mở rộng quan hệ với An Phát</a:t>
            </a:r>
            <a:endParaRPr lang="en-US" sz="1400" dirty="0"/>
          </a:p>
        </p:txBody>
      </p:sp>
      <p:sp>
        <p:nvSpPr>
          <p:cNvPr id="35" name="Text 32"/>
          <p:cNvSpPr txBox="1"/>
          <p:nvPr/>
        </p:nvSpPr>
        <p:spPr>
          <a:xfrm>
            <a:off x="8759952" y="4242816"/>
            <a:ext cx="2809951" cy="86868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Cấp 3 – 5 (An Phát chia sẻ dữ liệu)</a:t>
            </a:r>
            <a:endParaRPr lang="en-US" sz="1400" dirty="0"/>
          </a:p>
        </p:txBody>
      </p:sp>
      <p:sp>
        <p:nvSpPr>
          <p:cNvPr id="36" name="Shape 33"/>
          <p:cNvSpPr/>
          <p:nvPr/>
        </p:nvSpPr>
        <p:spPr>
          <a:xfrm>
            <a:off x="548640" y="5074920"/>
            <a:ext cx="5410048" cy="914400"/>
          </a:xfrm>
          <a:prstGeom prst="roundRect">
            <a:avLst>
              <a:gd name="adj" fmla="val 12000"/>
            </a:avLst>
          </a:prstGeom>
          <a:solidFill>
            <a:srgbClr val="FFFFFF"/>
          </a:solidFill>
          <a:ln w="12700">
            <a:solidFill>
              <a:srgbClr val="DCD7C8"/>
            </a:solidFill>
            <a:prstDash val="solid"/>
          </a:ln>
        </p:spPr>
      </p:sp>
      <p:sp>
        <p:nvSpPr>
          <p:cNvPr id="37" name="Text 34"/>
          <p:cNvSpPr txBox="1"/>
          <p:nvPr/>
        </p:nvSpPr>
        <p:spPr>
          <a:xfrm>
            <a:off x="822960" y="5074920"/>
            <a:ext cx="4861408" cy="914400"/>
          </a:xfrm>
          <a:prstGeom prst="rect">
            <a:avLst/>
          </a:prstGeom>
          <a:noFill/>
          <a:ln/>
        </p:spPr>
        <p:txBody>
          <a:bodyPr wrap="square" lIns="0" tIns="0" rIns="0" bIns="0" rtlCol="0" anchor="ctr"/>
          <a:lstStyle/>
          <a:p>
            <a:pPr indent="0" marL="0">
              <a:buNone/>
            </a:pPr>
            <a:r>
              <a:rPr lang="en-US" sz="1500" b="1" dirty="0">
                <a:solidFill>
                  <a:srgbClr val="6E6878"/>
                </a:solidFill>
                <a:latin typeface="Alexandria" pitchFamily="34" charset="0"/>
                <a:ea typeface="Alexandria" pitchFamily="34" charset="-122"/>
                <a:cs typeface="Alexandria" pitchFamily="34" charset="-120"/>
              </a:rPr>
              <a:t>Không mở đầu: </a:t>
            </a:r>
            <a:pPr indent="0" marL="0">
              <a:buNone/>
            </a:pPr>
            <a:r>
              <a:rPr lang="en-US" sz="1500" i="1" dirty="0">
                <a:solidFill>
                  <a:srgbClr val="6E6878"/>
                </a:solidFill>
                <a:latin typeface="Alexandria" pitchFamily="34" charset="0"/>
                <a:ea typeface="Alexandria" pitchFamily="34" charset="-122"/>
                <a:cs typeface="Alexandria" pitchFamily="34" charset="-120"/>
              </a:rPr>
              <a:t>“25 bài báo, 2 triệu lượt xem”</a:t>
            </a:r>
            <a:endParaRPr lang="en-US" sz="1500" dirty="0"/>
          </a:p>
        </p:txBody>
      </p:sp>
      <p:sp>
        <p:nvSpPr>
          <p:cNvPr id="38" name="Shape 35"/>
          <p:cNvSpPr/>
          <p:nvPr/>
        </p:nvSpPr>
        <p:spPr>
          <a:xfrm>
            <a:off x="6233008" y="5074920"/>
            <a:ext cx="5410048" cy="914400"/>
          </a:xfrm>
          <a:prstGeom prst="roundRect">
            <a:avLst>
              <a:gd name="adj" fmla="val 12000"/>
            </a:avLst>
          </a:prstGeom>
          <a:solidFill>
            <a:srgbClr val="FFF3C4"/>
          </a:solidFill>
          <a:ln w="12700">
            <a:solidFill>
              <a:srgbClr val="FFD23B"/>
            </a:solidFill>
            <a:prstDash val="solid"/>
          </a:ln>
        </p:spPr>
      </p:sp>
      <p:sp>
        <p:nvSpPr>
          <p:cNvPr id="39" name="Text 36"/>
          <p:cNvSpPr txBox="1"/>
          <p:nvPr/>
        </p:nvSpPr>
        <p:spPr>
          <a:xfrm>
            <a:off x="6507328" y="5074920"/>
            <a:ext cx="4861408" cy="91440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Mở đầu: </a:t>
            </a:r>
            <a:pPr indent="0" marL="0">
              <a:buNone/>
            </a:pPr>
            <a:r>
              <a:rPr lang="en-US" sz="1500" i="1" dirty="0">
                <a:solidFill>
                  <a:srgbClr val="2A2238"/>
                </a:solidFill>
                <a:latin typeface="Alexandria" pitchFamily="34" charset="0"/>
                <a:ea typeface="Alexandria" pitchFamily="34" charset="-122"/>
                <a:cs typeface="Alexandria" pitchFamily="34" charset="-120"/>
              </a:rPr>
              <a:t>“tỷ lệ CEO đến trực tiếp tăng từ … lên …”</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87782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11.1 KOL</a:t>
            </a:r>
            <a:endParaRPr lang="en-US" sz="1000" dirty="0"/>
          </a:p>
        </p:txBody>
      </p:sp>
      <p:sp>
        <p:nvSpPr>
          <p:cNvPr id="6" name="Shape 4"/>
          <p:cNvSpPr/>
          <p:nvPr/>
        </p:nvSpPr>
        <p:spPr>
          <a:xfrm>
            <a:off x="2368296"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368296"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11.2 Báo chí</a:t>
            </a:r>
            <a:endParaRPr lang="en-US" sz="1000" dirty="0"/>
          </a:p>
        </p:txBody>
      </p:sp>
      <p:sp>
        <p:nvSpPr>
          <p:cNvPr id="8" name="Shape 6"/>
          <p:cNvSpPr/>
          <p:nvPr/>
        </p:nvSpPr>
        <p:spPr>
          <a:xfrm>
            <a:off x="3666744"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3666744"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11.3 Booking &amp; đo lường</a:t>
            </a:r>
            <a:endParaRPr lang="en-US" sz="1000" dirty="0"/>
          </a:p>
        </p:txBody>
      </p:sp>
      <p:sp>
        <p:nvSpPr>
          <p:cNvPr id="10" name="Shape 8"/>
          <p:cNvSpPr/>
          <p:nvPr/>
        </p:nvSpPr>
        <p:spPr>
          <a:xfrm>
            <a:off x="5820156" y="274320"/>
            <a:ext cx="1421892" cy="292608"/>
          </a:xfrm>
          <a:prstGeom prst="roundRect">
            <a:avLst>
              <a:gd name="adj" fmla="val 50000"/>
            </a:avLst>
          </a:prstGeom>
          <a:solidFill>
            <a:srgbClr val="FF5178"/>
          </a:solidFill>
          <a:ln w="9525">
            <a:solidFill>
              <a:srgbClr val="FF5178"/>
            </a:solidFill>
            <a:prstDash val="solid"/>
          </a:ln>
        </p:spPr>
      </p:sp>
      <p:sp>
        <p:nvSpPr>
          <p:cNvPr id="11" name="Text 9"/>
          <p:cNvSpPr txBox="1"/>
          <p:nvPr/>
        </p:nvSpPr>
        <p:spPr>
          <a:xfrm>
            <a:off x="5820156" y="274320"/>
            <a:ext cx="142189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11.4 Khuếch đại</a:t>
            </a:r>
            <a:endParaRPr lang="en-US" sz="1000" dirty="0"/>
          </a:p>
        </p:txBody>
      </p:sp>
      <p:sp>
        <p:nvSpPr>
          <p:cNvPr id="12" name="Shape 10"/>
          <p:cNvSpPr/>
          <p:nvPr/>
        </p:nvSpPr>
        <p:spPr>
          <a:xfrm>
            <a:off x="7351776" y="274320"/>
            <a:ext cx="877824" cy="292608"/>
          </a:xfrm>
          <a:prstGeom prst="roundRect">
            <a:avLst>
              <a:gd name="adj" fmla="val 50000"/>
            </a:avLst>
          </a:prstGeom>
          <a:solidFill>
            <a:srgbClr val="FBFAF4"/>
          </a:solidFill>
          <a:ln w="9525">
            <a:solidFill>
              <a:srgbClr val="DCD7C8"/>
            </a:solidFill>
            <a:prstDash val="solid"/>
          </a:ln>
        </p:spPr>
      </p:sp>
      <p:sp>
        <p:nvSpPr>
          <p:cNvPr id="13" name="Text 11"/>
          <p:cNvSpPr txBox="1"/>
          <p:nvPr/>
        </p:nvSpPr>
        <p:spPr>
          <a:xfrm>
            <a:off x="735177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4" name="Shape 12"/>
          <p:cNvSpPr/>
          <p:nvPr/>
        </p:nvSpPr>
        <p:spPr>
          <a:xfrm>
            <a:off x="11259007" y="219456"/>
            <a:ext cx="384048" cy="384048"/>
          </a:xfrm>
          <a:prstGeom prst="ellipse">
            <a:avLst/>
          </a:prstGeom>
          <a:ln w="12700">
            <a:solidFill>
              <a:srgbClr val="09A1E5"/>
            </a:solidFill>
            <a:prstDash val="solid"/>
          </a:ln>
        </p:spPr>
      </p:sp>
      <p:sp>
        <p:nvSpPr>
          <p:cNvPr id="15" name="Shape 13"/>
          <p:cNvSpPr/>
          <p:nvPr/>
        </p:nvSpPr>
        <p:spPr>
          <a:xfrm>
            <a:off x="11324295" y="284744"/>
            <a:ext cx="253472" cy="253472"/>
          </a:xfrm>
          <a:prstGeom prst="ellipse">
            <a:avLst/>
          </a:prstGeom>
          <a:ln w="15875">
            <a:solidFill>
              <a:srgbClr val="962B7C"/>
            </a:solidFill>
            <a:prstDash val="solid"/>
          </a:ln>
        </p:spPr>
      </p:sp>
      <p:sp>
        <p:nvSpPr>
          <p:cNvPr id="16" name="Shape 14"/>
          <p:cNvSpPr/>
          <p:nvPr/>
        </p:nvSpPr>
        <p:spPr>
          <a:xfrm>
            <a:off x="11389584" y="350032"/>
            <a:ext cx="122895" cy="122895"/>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Với khách của An Phát, “mua” là quyết định dành một buổi tối</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X14: Lemon &amp; Verhoef (2016), Journal of Marketing — xem V09, Buổi 10.</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11   21</a:t>
            </a:r>
            <a:endParaRPr lang="en-US" sz="1000" dirty="0"/>
          </a:p>
        </p:txBody>
      </p:sp>
      <p:sp>
        <p:nvSpPr>
          <p:cNvPr id="21" name="Shape 18"/>
          <p:cNvSpPr/>
          <p:nvPr/>
        </p:nvSpPr>
        <p:spPr>
          <a:xfrm>
            <a:off x="548640" y="1874520"/>
            <a:ext cx="3576218" cy="914400"/>
          </a:xfrm>
          <a:prstGeom prst="chevron">
            <a:avLst/>
          </a:prstGeom>
          <a:solidFill>
            <a:srgbClr val="FF5178"/>
          </a:solidFill>
          <a:ln w="12700">
            <a:solidFill>
              <a:srgbClr val="FF5178"/>
            </a:solidFill>
            <a:prstDash val="solid"/>
          </a:ln>
        </p:spPr>
      </p:sp>
      <p:sp>
        <p:nvSpPr>
          <p:cNvPr id="22" name="Text 19"/>
          <p:cNvSpPr txBox="1"/>
          <p:nvPr/>
        </p:nvSpPr>
        <p:spPr>
          <a:xfrm>
            <a:off x="1005840" y="1874520"/>
            <a:ext cx="2661818" cy="914400"/>
          </a:xfrm>
          <a:prstGeom prst="rect">
            <a:avLst/>
          </a:prstGeom>
          <a:noFill/>
          <a:ln/>
        </p:spPr>
        <p:txBody>
          <a:bodyPr wrap="square" lIns="0" tIns="0" rIns="0" bIns="0" rtlCol="0" anchor="ctr"/>
          <a:lstStyle/>
          <a:p>
            <a:pPr indent="0" marL="0">
              <a:buNone/>
            </a:pPr>
            <a:r>
              <a:rPr lang="en-US" sz="2000" b="1" dirty="0">
                <a:solidFill>
                  <a:srgbClr val="FFFFFF"/>
                </a:solidFill>
                <a:latin typeface="Alexandria" pitchFamily="34" charset="0"/>
                <a:ea typeface="Alexandria" pitchFamily="34" charset="-122"/>
                <a:cs typeface="Alexandria" pitchFamily="34" charset="-120"/>
              </a:rPr>
              <a:t>Trước mua</a:t>
            </a:r>
            <a:endParaRPr lang="en-US" sz="2000" dirty="0"/>
          </a:p>
          <a:p>
            <a:pPr indent="0" marL="0">
              <a:buNone/>
            </a:pPr>
            <a:r>
              <a:rPr lang="en-US" sz="1200" i="1" dirty="0">
                <a:solidFill>
                  <a:srgbClr val="FFFFFF"/>
                </a:solidFill>
                <a:latin typeface="Alexandria" pitchFamily="34" charset="0"/>
                <a:ea typeface="Alexandria" pitchFamily="34" charset="-122"/>
                <a:cs typeface="Alexandria" pitchFamily="34" charset="-120"/>
              </a:rPr>
              <a:t>prepurchase</a:t>
            </a:r>
            <a:endParaRPr lang="en-US" sz="2000" dirty="0"/>
          </a:p>
        </p:txBody>
      </p:sp>
      <p:sp>
        <p:nvSpPr>
          <p:cNvPr id="23" name="Shape 20"/>
          <p:cNvSpPr/>
          <p:nvPr/>
        </p:nvSpPr>
        <p:spPr>
          <a:xfrm>
            <a:off x="4307738" y="1874520"/>
            <a:ext cx="3576218" cy="914400"/>
          </a:xfrm>
          <a:prstGeom prst="chevron">
            <a:avLst/>
          </a:prstGeom>
          <a:solidFill>
            <a:srgbClr val="F3F0E6"/>
          </a:solidFill>
          <a:ln w="12700">
            <a:solidFill>
              <a:srgbClr val="DCD7C8"/>
            </a:solidFill>
            <a:prstDash val="solid"/>
          </a:ln>
        </p:spPr>
      </p:sp>
      <p:sp>
        <p:nvSpPr>
          <p:cNvPr id="24" name="Text 21"/>
          <p:cNvSpPr txBox="1"/>
          <p:nvPr/>
        </p:nvSpPr>
        <p:spPr>
          <a:xfrm>
            <a:off x="4764938" y="1874520"/>
            <a:ext cx="2661818" cy="914400"/>
          </a:xfrm>
          <a:prstGeom prst="rect">
            <a:avLst/>
          </a:prstGeom>
          <a:noFill/>
          <a:ln/>
        </p:spPr>
        <p:txBody>
          <a:bodyPr wrap="square" lIns="0" tIns="0" rIns="0" bIns="0" rtlCol="0" anchor="ctr"/>
          <a:lstStyle/>
          <a:p>
            <a:pPr indent="0" marL="0">
              <a:buNone/>
            </a:pPr>
            <a:r>
              <a:rPr lang="en-US" sz="2000" b="1" dirty="0">
                <a:solidFill>
                  <a:srgbClr val="6E6878"/>
                </a:solidFill>
                <a:latin typeface="Alexandria" pitchFamily="34" charset="0"/>
                <a:ea typeface="Alexandria" pitchFamily="34" charset="-122"/>
                <a:cs typeface="Alexandria" pitchFamily="34" charset="-120"/>
              </a:rPr>
              <a:t>Mua</a:t>
            </a:r>
            <a:endParaRPr lang="en-US" sz="2000" dirty="0"/>
          </a:p>
          <a:p>
            <a:pPr indent="0" marL="0">
              <a:buNone/>
            </a:pPr>
            <a:r>
              <a:rPr lang="en-US" sz="1200" i="1" dirty="0">
                <a:solidFill>
                  <a:srgbClr val="6E6878"/>
                </a:solidFill>
                <a:latin typeface="Alexandria" pitchFamily="34" charset="0"/>
                <a:ea typeface="Alexandria" pitchFamily="34" charset="-122"/>
                <a:cs typeface="Alexandria" pitchFamily="34" charset="-120"/>
              </a:rPr>
              <a:t>purchase</a:t>
            </a:r>
            <a:endParaRPr lang="en-US" sz="2000" dirty="0"/>
          </a:p>
        </p:txBody>
      </p:sp>
      <p:sp>
        <p:nvSpPr>
          <p:cNvPr id="25" name="Shape 22"/>
          <p:cNvSpPr/>
          <p:nvPr/>
        </p:nvSpPr>
        <p:spPr>
          <a:xfrm>
            <a:off x="8066837" y="1874520"/>
            <a:ext cx="3576218" cy="914400"/>
          </a:xfrm>
          <a:prstGeom prst="chevron">
            <a:avLst/>
          </a:prstGeom>
          <a:solidFill>
            <a:srgbClr val="F3F0E6"/>
          </a:solidFill>
          <a:ln w="12700">
            <a:solidFill>
              <a:srgbClr val="DCD7C8"/>
            </a:solidFill>
            <a:prstDash val="solid"/>
          </a:ln>
        </p:spPr>
      </p:sp>
      <p:sp>
        <p:nvSpPr>
          <p:cNvPr id="26" name="Text 23"/>
          <p:cNvSpPr txBox="1"/>
          <p:nvPr/>
        </p:nvSpPr>
        <p:spPr>
          <a:xfrm>
            <a:off x="8524037" y="1874520"/>
            <a:ext cx="2661818" cy="914400"/>
          </a:xfrm>
          <a:prstGeom prst="rect">
            <a:avLst/>
          </a:prstGeom>
          <a:noFill/>
          <a:ln/>
        </p:spPr>
        <p:txBody>
          <a:bodyPr wrap="square" lIns="0" tIns="0" rIns="0" bIns="0" rtlCol="0" anchor="ctr"/>
          <a:lstStyle/>
          <a:p>
            <a:pPr indent="0" marL="0">
              <a:buNone/>
            </a:pPr>
            <a:r>
              <a:rPr lang="en-US" sz="2000" b="1" dirty="0">
                <a:solidFill>
                  <a:srgbClr val="6E6878"/>
                </a:solidFill>
                <a:latin typeface="Alexandria" pitchFamily="34" charset="0"/>
                <a:ea typeface="Alexandria" pitchFamily="34" charset="-122"/>
                <a:cs typeface="Alexandria" pitchFamily="34" charset="-120"/>
              </a:rPr>
              <a:t>Sau mua</a:t>
            </a:r>
            <a:endParaRPr lang="en-US" sz="2000" dirty="0"/>
          </a:p>
          <a:p>
            <a:pPr indent="0" marL="0">
              <a:buNone/>
            </a:pPr>
            <a:r>
              <a:rPr lang="en-US" sz="1200" i="1" dirty="0">
                <a:solidFill>
                  <a:srgbClr val="6E6878"/>
                </a:solidFill>
                <a:latin typeface="Alexandria" pitchFamily="34" charset="0"/>
                <a:ea typeface="Alexandria" pitchFamily="34" charset="-122"/>
                <a:cs typeface="Alexandria" pitchFamily="34" charset="-120"/>
              </a:rPr>
              <a:t>postpurchase</a:t>
            </a:r>
            <a:endParaRPr lang="en-US" sz="2000" dirty="0"/>
          </a:p>
        </p:txBody>
      </p:sp>
      <p:sp>
        <p:nvSpPr>
          <p:cNvPr id="27" name="Shape 24"/>
          <p:cNvSpPr/>
          <p:nvPr/>
        </p:nvSpPr>
        <p:spPr>
          <a:xfrm>
            <a:off x="548640" y="3108960"/>
            <a:ext cx="6035040" cy="2880360"/>
          </a:xfrm>
          <a:prstGeom prst="roundRect">
            <a:avLst>
              <a:gd name="adj" fmla="val 3810"/>
            </a:avLst>
          </a:prstGeom>
          <a:solidFill>
            <a:srgbClr val="FFE4EA"/>
          </a:solidFill>
          <a:ln w="12700">
            <a:solidFill>
              <a:srgbClr val="FF5178"/>
            </a:solidFill>
            <a:prstDash val="solid"/>
          </a:ln>
        </p:spPr>
      </p:sp>
      <p:sp>
        <p:nvSpPr>
          <p:cNvPr id="28" name="Text 25"/>
          <p:cNvSpPr txBox="1"/>
          <p:nvPr/>
        </p:nvSpPr>
        <p:spPr>
          <a:xfrm>
            <a:off x="868680" y="3108960"/>
            <a:ext cx="5394960" cy="2880360"/>
          </a:xfrm>
          <a:prstGeom prst="rect">
            <a:avLst/>
          </a:prstGeom>
          <a:noFill/>
          <a:ln/>
        </p:spPr>
        <p:txBody>
          <a:bodyPr wrap="square" lIns="0" tIns="0" rIns="0" bIns="0" rtlCol="0" anchor="ctr"/>
          <a:lstStyle/>
          <a:p>
            <a:pPr indent="0" marL="0">
              <a:spcAft>
                <a:spcPts val="800"/>
              </a:spcAft>
              <a:buNone/>
            </a:pPr>
            <a:r>
              <a:rPr lang="en-US" sz="1500" dirty="0">
                <a:solidFill>
                  <a:srgbClr val="6E6878"/>
                </a:solidFill>
                <a:latin typeface="Alexandria" pitchFamily="34" charset="0"/>
                <a:ea typeface="Alexandria" pitchFamily="34" charset="-122"/>
                <a:cs typeface="Alexandria" pitchFamily="34" charset="-120"/>
              </a:rPr>
              <a:t>“Mua” với khách của An Phát =</a:t>
            </a:r>
            <a:endParaRPr lang="en-US" sz="1500" dirty="0"/>
          </a:p>
          <a:p>
            <a:pPr indent="0" marL="0">
              <a:spcAft>
                <a:spcPts val="800"/>
              </a:spcAft>
              <a:buNone/>
            </a:pPr>
            <a:r>
              <a:rPr lang="en-US" sz="2100" b="1" dirty="0">
                <a:solidFill>
                  <a:srgbClr val="2A2238"/>
                </a:solidFill>
                <a:latin typeface="Alexandria" pitchFamily="34" charset="0"/>
                <a:ea typeface="Alexandria" pitchFamily="34" charset="-122"/>
                <a:cs typeface="Alexandria" pitchFamily="34" charset="-120"/>
              </a:rPr>
              <a:t>quyết định dành một buổi tối cho An Phát — và có đến trực tiếp hay cử người thay.</a:t>
            </a:r>
            <a:endParaRPr lang="en-US" sz="1500" dirty="0"/>
          </a:p>
        </p:txBody>
      </p:sp>
      <p:sp>
        <p:nvSpPr>
          <p:cNvPr id="29" name="Text 26"/>
          <p:cNvSpPr txBox="1"/>
          <p:nvPr/>
        </p:nvSpPr>
        <p:spPr>
          <a:xfrm>
            <a:off x="6858000" y="3108960"/>
            <a:ext cx="4785055" cy="4114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Điểm chạm ảnh hưởng mạnh ở giai đoạn này</a:t>
            </a:r>
            <a:endParaRPr lang="en-US" sz="1500" dirty="0"/>
          </a:p>
        </p:txBody>
      </p:sp>
      <p:sp>
        <p:nvSpPr>
          <p:cNvPr id="30" name="Shape 27"/>
          <p:cNvSpPr/>
          <p:nvPr/>
        </p:nvSpPr>
        <p:spPr>
          <a:xfrm>
            <a:off x="6858000" y="3611880"/>
            <a:ext cx="4785055" cy="1051560"/>
          </a:xfrm>
          <a:prstGeom prst="roundRect">
            <a:avLst>
              <a:gd name="adj" fmla="val 10435"/>
            </a:avLst>
          </a:prstGeom>
          <a:solidFill>
            <a:srgbClr val="DDF1FB"/>
          </a:solidFill>
          <a:ln w="12700">
            <a:solidFill>
              <a:srgbClr val="09A1E5"/>
            </a:solidFill>
            <a:prstDash val="solid"/>
          </a:ln>
        </p:spPr>
      </p:sp>
      <p:sp>
        <p:nvSpPr>
          <p:cNvPr id="31" name="Text 28"/>
          <p:cNvSpPr txBox="1"/>
          <p:nvPr/>
        </p:nvSpPr>
        <p:spPr>
          <a:xfrm>
            <a:off x="7132320" y="3611880"/>
            <a:ext cx="4236415" cy="105156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Social / external</a:t>
            </a:r>
            <a:endParaRPr lang="en-US" sz="1700" dirty="0"/>
          </a:p>
          <a:p>
            <a:pPr indent="0" marL="0">
              <a:buNone/>
            </a:pPr>
            <a:r>
              <a:rPr lang="en-US" sz="1400" dirty="0">
                <a:solidFill>
                  <a:srgbClr val="2A2238"/>
                </a:solidFill>
                <a:latin typeface="Alexandria" pitchFamily="34" charset="0"/>
                <a:ea typeface="Alexandria" pitchFamily="34" charset="-122"/>
                <a:cs typeface="Alexandria" pitchFamily="34" charset="-120"/>
              </a:rPr>
              <a:t>báo chí, người khác nói về sự kiện</a:t>
            </a:r>
            <a:endParaRPr lang="en-US" sz="1700" dirty="0"/>
          </a:p>
        </p:txBody>
      </p:sp>
      <p:sp>
        <p:nvSpPr>
          <p:cNvPr id="32" name="Shape 29"/>
          <p:cNvSpPr/>
          <p:nvPr/>
        </p:nvSpPr>
        <p:spPr>
          <a:xfrm>
            <a:off x="6858000" y="4800600"/>
            <a:ext cx="4785055" cy="1051560"/>
          </a:xfrm>
          <a:prstGeom prst="roundRect">
            <a:avLst>
              <a:gd name="adj" fmla="val 10435"/>
            </a:avLst>
          </a:prstGeom>
          <a:solidFill>
            <a:srgbClr val="F1E1EE"/>
          </a:solidFill>
          <a:ln w="12700">
            <a:solidFill>
              <a:srgbClr val="962B7C"/>
            </a:solidFill>
            <a:prstDash val="solid"/>
          </a:ln>
        </p:spPr>
      </p:sp>
      <p:sp>
        <p:nvSpPr>
          <p:cNvPr id="33" name="Text 30"/>
          <p:cNvSpPr txBox="1"/>
          <p:nvPr/>
        </p:nvSpPr>
        <p:spPr>
          <a:xfrm>
            <a:off x="7132320" y="4800600"/>
            <a:ext cx="4236415" cy="105156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Partner-owned</a:t>
            </a:r>
            <a:endParaRPr lang="en-US" sz="1700" dirty="0"/>
          </a:p>
          <a:p>
            <a:pPr indent="0" marL="0">
              <a:buNone/>
            </a:pPr>
            <a:r>
              <a:rPr lang="en-US" sz="1400" dirty="0">
                <a:solidFill>
                  <a:srgbClr val="2A2238"/>
                </a:solidFill>
                <a:latin typeface="Alexandria" pitchFamily="34" charset="0"/>
                <a:ea typeface="Alexandria" pitchFamily="34" charset="-122"/>
                <a:cs typeface="Alexandria" pitchFamily="34" charset="-120"/>
              </a:rPr>
              <a:t>diễn giả, KOL, nhà tài trợ</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87782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11.1 KOL</a:t>
            </a:r>
            <a:endParaRPr lang="en-US" sz="1000" dirty="0"/>
          </a:p>
        </p:txBody>
      </p:sp>
      <p:sp>
        <p:nvSpPr>
          <p:cNvPr id="6" name="Shape 4"/>
          <p:cNvSpPr/>
          <p:nvPr/>
        </p:nvSpPr>
        <p:spPr>
          <a:xfrm>
            <a:off x="2368296"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368296"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11.2 Báo chí</a:t>
            </a:r>
            <a:endParaRPr lang="en-US" sz="1000" dirty="0"/>
          </a:p>
        </p:txBody>
      </p:sp>
      <p:sp>
        <p:nvSpPr>
          <p:cNvPr id="8" name="Shape 6"/>
          <p:cNvSpPr/>
          <p:nvPr/>
        </p:nvSpPr>
        <p:spPr>
          <a:xfrm>
            <a:off x="3666744"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3666744"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11.3 Booking &amp; đo lường</a:t>
            </a:r>
            <a:endParaRPr lang="en-US" sz="1000" dirty="0"/>
          </a:p>
        </p:txBody>
      </p:sp>
      <p:sp>
        <p:nvSpPr>
          <p:cNvPr id="10" name="Shape 8"/>
          <p:cNvSpPr/>
          <p:nvPr/>
        </p:nvSpPr>
        <p:spPr>
          <a:xfrm>
            <a:off x="5820156" y="274320"/>
            <a:ext cx="1421892" cy="292608"/>
          </a:xfrm>
          <a:prstGeom prst="roundRect">
            <a:avLst>
              <a:gd name="adj" fmla="val 50000"/>
            </a:avLst>
          </a:prstGeom>
          <a:solidFill>
            <a:srgbClr val="FF5178"/>
          </a:solidFill>
          <a:ln w="9525">
            <a:solidFill>
              <a:srgbClr val="FF5178"/>
            </a:solidFill>
            <a:prstDash val="solid"/>
          </a:ln>
        </p:spPr>
      </p:sp>
      <p:sp>
        <p:nvSpPr>
          <p:cNvPr id="11" name="Text 9"/>
          <p:cNvSpPr txBox="1"/>
          <p:nvPr/>
        </p:nvSpPr>
        <p:spPr>
          <a:xfrm>
            <a:off x="5820156" y="274320"/>
            <a:ext cx="142189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11.4 Khuếch đại</a:t>
            </a:r>
            <a:endParaRPr lang="en-US" sz="1000" dirty="0"/>
          </a:p>
        </p:txBody>
      </p:sp>
      <p:sp>
        <p:nvSpPr>
          <p:cNvPr id="12" name="Shape 10"/>
          <p:cNvSpPr/>
          <p:nvPr/>
        </p:nvSpPr>
        <p:spPr>
          <a:xfrm>
            <a:off x="7351776" y="274320"/>
            <a:ext cx="877824" cy="292608"/>
          </a:xfrm>
          <a:prstGeom prst="roundRect">
            <a:avLst>
              <a:gd name="adj" fmla="val 50000"/>
            </a:avLst>
          </a:prstGeom>
          <a:solidFill>
            <a:srgbClr val="FBFAF4"/>
          </a:solidFill>
          <a:ln w="9525">
            <a:solidFill>
              <a:srgbClr val="DCD7C8"/>
            </a:solidFill>
            <a:prstDash val="solid"/>
          </a:ln>
        </p:spPr>
      </p:sp>
      <p:sp>
        <p:nvSpPr>
          <p:cNvPr id="13" name="Text 11"/>
          <p:cNvSpPr txBox="1"/>
          <p:nvPr/>
        </p:nvSpPr>
        <p:spPr>
          <a:xfrm>
            <a:off x="735177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4" name="Shape 12"/>
          <p:cNvSpPr/>
          <p:nvPr/>
        </p:nvSpPr>
        <p:spPr>
          <a:xfrm>
            <a:off x="11259007" y="219456"/>
            <a:ext cx="384048" cy="384048"/>
          </a:xfrm>
          <a:prstGeom prst="ellipse">
            <a:avLst/>
          </a:prstGeom>
          <a:ln w="12700">
            <a:solidFill>
              <a:srgbClr val="09A1E5"/>
            </a:solidFill>
            <a:prstDash val="solid"/>
          </a:ln>
        </p:spPr>
      </p:sp>
      <p:sp>
        <p:nvSpPr>
          <p:cNvPr id="15" name="Shape 13"/>
          <p:cNvSpPr/>
          <p:nvPr/>
        </p:nvSpPr>
        <p:spPr>
          <a:xfrm>
            <a:off x="11324295" y="284744"/>
            <a:ext cx="253472" cy="253472"/>
          </a:xfrm>
          <a:prstGeom prst="ellipse">
            <a:avLst/>
          </a:prstGeom>
          <a:ln w="15875">
            <a:solidFill>
              <a:srgbClr val="962B7C"/>
            </a:solidFill>
            <a:prstDash val="solid"/>
          </a:ln>
        </p:spPr>
      </p:sp>
      <p:sp>
        <p:nvSpPr>
          <p:cNvPr id="16" name="Shape 14"/>
          <p:cNvSpPr/>
          <p:nvPr/>
        </p:nvSpPr>
        <p:spPr>
          <a:xfrm>
            <a:off x="11389584" y="350032"/>
            <a:ext cx="122895" cy="122895"/>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Bốn điểm chạm trước sự kiện có thể khuếch đại</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Dựng theo Buổi 3 và Buổi 9 · thời điểm là giả định.</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11   22</a:t>
            </a:r>
            <a:endParaRPr lang="en-US" sz="1000" dirty="0"/>
          </a:p>
        </p:txBody>
      </p:sp>
      <p:sp>
        <p:nvSpPr>
          <p:cNvPr id="21" name="Shape 18"/>
          <p:cNvSpPr/>
          <p:nvPr/>
        </p:nvSpPr>
        <p:spPr>
          <a:xfrm>
            <a:off x="548640" y="2377440"/>
            <a:ext cx="11094415" cy="914"/>
          </a:xfrm>
          <a:prstGeom prst="line">
            <a:avLst/>
          </a:prstGeom>
          <a:noFill/>
          <a:ln w="38100">
            <a:solidFill>
              <a:srgbClr val="2A2238"/>
            </a:solidFill>
            <a:prstDash val="solid"/>
            <a:tailEnd type="triangle"/>
          </a:ln>
        </p:spPr>
      </p:sp>
      <p:sp>
        <p:nvSpPr>
          <p:cNvPr id="22" name="Text 19"/>
          <p:cNvSpPr txBox="1"/>
          <p:nvPr/>
        </p:nvSpPr>
        <p:spPr>
          <a:xfrm>
            <a:off x="10180015" y="1874520"/>
            <a:ext cx="1463040" cy="365760"/>
          </a:xfrm>
          <a:prstGeom prst="rect">
            <a:avLst/>
          </a:prstGeom>
          <a:noFill/>
          <a:ln/>
        </p:spPr>
        <p:txBody>
          <a:bodyPr wrap="square" lIns="0" tIns="0" rIns="0" bIns="0" rtlCol="0" anchor="ctr"/>
          <a:lstStyle/>
          <a:p>
            <a:pPr algn="r" indent="0" marL="0">
              <a:buNone/>
            </a:pPr>
            <a:r>
              <a:rPr lang="en-US" sz="1200" b="1" dirty="0">
                <a:solidFill>
                  <a:srgbClr val="6E6878"/>
                </a:solidFill>
                <a:latin typeface="Alexandria" pitchFamily="34" charset="0"/>
                <a:ea typeface="Alexandria" pitchFamily="34" charset="-122"/>
                <a:cs typeface="Alexandria" pitchFamily="34" charset="-120"/>
              </a:rPr>
              <a:t>gala 12/12</a:t>
            </a:r>
            <a:endParaRPr lang="en-US" sz="1200" dirty="0"/>
          </a:p>
        </p:txBody>
      </p:sp>
      <p:sp>
        <p:nvSpPr>
          <p:cNvPr id="23" name="Shape 20"/>
          <p:cNvSpPr/>
          <p:nvPr/>
        </p:nvSpPr>
        <p:spPr>
          <a:xfrm>
            <a:off x="1621117" y="2148840"/>
            <a:ext cx="457200" cy="457200"/>
          </a:xfrm>
          <a:prstGeom prst="ellipse">
            <a:avLst/>
          </a:prstGeom>
          <a:solidFill>
            <a:srgbClr val="FF9259"/>
          </a:solidFill>
          <a:ln w="12700">
            <a:solidFill>
              <a:srgbClr val="FF9259"/>
            </a:solidFill>
            <a:prstDash val="solid"/>
          </a:ln>
        </p:spPr>
      </p:sp>
      <p:sp>
        <p:nvSpPr>
          <p:cNvPr id="24" name="Text 21"/>
          <p:cNvSpPr txBox="1"/>
          <p:nvPr/>
        </p:nvSpPr>
        <p:spPr>
          <a:xfrm>
            <a:off x="1621117" y="2148840"/>
            <a:ext cx="457200" cy="457200"/>
          </a:xfrm>
          <a:prstGeom prst="rect">
            <a:avLst/>
          </a:prstGeom>
          <a:noFill/>
          <a:ln/>
        </p:spPr>
        <p:txBody>
          <a:bodyPr wrap="square" lIns="0" tIns="0" rIns="0" bIns="0" rtlCol="0" anchor="ctr"/>
          <a:lstStyle/>
          <a:p>
            <a:pPr algn="ctr" indent="0" marL="0">
              <a:buNone/>
            </a:pPr>
            <a:endParaRPr lang="en-US" sz="1700" dirty="0"/>
          </a:p>
        </p:txBody>
      </p:sp>
      <p:sp>
        <p:nvSpPr>
          <p:cNvPr id="25" name="Text 22"/>
          <p:cNvSpPr txBox="1"/>
          <p:nvPr/>
        </p:nvSpPr>
        <p:spPr>
          <a:xfrm>
            <a:off x="548640" y="1783080"/>
            <a:ext cx="2602154" cy="365760"/>
          </a:xfrm>
          <a:prstGeom prst="rect">
            <a:avLst/>
          </a:prstGeom>
          <a:noFill/>
          <a:ln/>
        </p:spPr>
        <p:txBody>
          <a:bodyPr wrap="square" lIns="0" tIns="0" rIns="0" bIns="0" rtlCol="0" anchor="ctr"/>
          <a:lstStyle/>
          <a:p>
            <a:pPr algn="ctr" indent="0" marL="0">
              <a:buNone/>
            </a:pPr>
            <a:r>
              <a:rPr lang="en-US" sz="1400" b="1" dirty="0">
                <a:solidFill>
                  <a:srgbClr val="D9622B"/>
                </a:solidFill>
                <a:latin typeface="Alexandria" pitchFamily="34" charset="0"/>
                <a:ea typeface="Alexandria" pitchFamily="34" charset="-122"/>
                <a:cs typeface="Alexandria" pitchFamily="34" charset="-120"/>
              </a:rPr>
              <a:t>T-6 tuần</a:t>
            </a:r>
            <a:endParaRPr lang="en-US" sz="1400" dirty="0"/>
          </a:p>
        </p:txBody>
      </p:sp>
      <p:sp>
        <p:nvSpPr>
          <p:cNvPr id="26" name="Shape 23"/>
          <p:cNvSpPr/>
          <p:nvPr/>
        </p:nvSpPr>
        <p:spPr>
          <a:xfrm>
            <a:off x="548640" y="2834640"/>
            <a:ext cx="2602154" cy="1188720"/>
          </a:xfrm>
          <a:prstGeom prst="roundRect">
            <a:avLst>
              <a:gd name="adj" fmla="val 9231"/>
            </a:avLst>
          </a:prstGeom>
          <a:solidFill>
            <a:srgbClr val="FFFFFF"/>
          </a:solidFill>
          <a:ln w="15875">
            <a:solidFill>
              <a:srgbClr val="FF9259"/>
            </a:solidFill>
            <a:prstDash val="solid"/>
          </a:ln>
        </p:spPr>
      </p:sp>
      <p:sp>
        <p:nvSpPr>
          <p:cNvPr id="27" name="Text 24"/>
          <p:cNvSpPr txBox="1"/>
          <p:nvPr/>
        </p:nvSpPr>
        <p:spPr>
          <a:xfrm>
            <a:off x="731520" y="2834640"/>
            <a:ext cx="2236394" cy="1188720"/>
          </a:xfrm>
          <a:prstGeom prst="rect">
            <a:avLst/>
          </a:prstGeom>
          <a:noFill/>
          <a:ln/>
        </p:spPr>
        <p:txBody>
          <a:bodyPr wrap="square" lIns="0" tIns="0" rIns="0" bIns="0" rtlCol="0" anchor="ctr"/>
          <a:lstStyle/>
          <a:p>
            <a:pPr indent="0" marL="0">
              <a:buNone/>
            </a:pPr>
            <a:r>
              <a:rPr lang="en-US" sz="1100" dirty="0">
                <a:solidFill>
                  <a:srgbClr val="6E6878"/>
                </a:solidFill>
                <a:latin typeface="Alexandria" pitchFamily="34" charset="0"/>
                <a:ea typeface="Alexandria" pitchFamily="34" charset="-122"/>
                <a:cs typeface="Alexandria" pitchFamily="34" charset="-120"/>
              </a:rPr>
              <a:t>Điểm chạm</a:t>
            </a:r>
            <a:endParaRPr lang="en-US" sz="1400" dirty="0"/>
          </a:p>
          <a:p>
            <a:pPr indent="0" marL="0">
              <a:buNone/>
            </a:pPr>
            <a:r>
              <a:rPr lang="en-US" sz="1400" b="1" dirty="0">
                <a:solidFill>
                  <a:srgbClr val="2A2238"/>
                </a:solidFill>
                <a:latin typeface="Alexandria" pitchFamily="34" charset="0"/>
                <a:ea typeface="Alexandria" pitchFamily="34" charset="-122"/>
                <a:cs typeface="Alexandria" pitchFamily="34" charset="-120"/>
              </a:rPr>
              <a:t>Nhận thư mời, “save the date”</a:t>
            </a:r>
            <a:endParaRPr lang="en-US" sz="1400" dirty="0"/>
          </a:p>
        </p:txBody>
      </p:sp>
      <p:sp>
        <p:nvSpPr>
          <p:cNvPr id="28" name="Shape 25"/>
          <p:cNvSpPr/>
          <p:nvPr/>
        </p:nvSpPr>
        <p:spPr>
          <a:xfrm>
            <a:off x="1849717" y="4069080"/>
            <a:ext cx="914" cy="274320"/>
          </a:xfrm>
          <a:prstGeom prst="line">
            <a:avLst/>
          </a:prstGeom>
          <a:noFill/>
          <a:ln w="25400">
            <a:solidFill>
              <a:srgbClr val="2A2238"/>
            </a:solidFill>
            <a:prstDash val="solid"/>
            <a:tailEnd type="triangle"/>
          </a:ln>
        </p:spPr>
      </p:sp>
      <p:sp>
        <p:nvSpPr>
          <p:cNvPr id="29" name="Shape 26"/>
          <p:cNvSpPr/>
          <p:nvPr/>
        </p:nvSpPr>
        <p:spPr>
          <a:xfrm>
            <a:off x="548640" y="4389120"/>
            <a:ext cx="2602154" cy="1600200"/>
          </a:xfrm>
          <a:prstGeom prst="roundRect">
            <a:avLst>
              <a:gd name="adj" fmla="val 6857"/>
            </a:avLst>
          </a:prstGeom>
          <a:solidFill>
            <a:srgbClr val="FFE9DE"/>
          </a:solidFill>
          <a:ln w="12700">
            <a:solidFill>
              <a:srgbClr val="FF9259"/>
            </a:solidFill>
            <a:prstDash val="solid"/>
          </a:ln>
        </p:spPr>
      </p:sp>
      <p:sp>
        <p:nvSpPr>
          <p:cNvPr id="30" name="Text 27"/>
          <p:cNvSpPr txBox="1"/>
          <p:nvPr/>
        </p:nvSpPr>
        <p:spPr>
          <a:xfrm>
            <a:off x="731520" y="4389120"/>
            <a:ext cx="2236394" cy="1600200"/>
          </a:xfrm>
          <a:prstGeom prst="rect">
            <a:avLst/>
          </a:prstGeom>
          <a:noFill/>
          <a:ln/>
        </p:spPr>
        <p:txBody>
          <a:bodyPr wrap="square" lIns="0" tIns="0" rIns="0" bIns="0" rtlCol="0" anchor="ctr"/>
          <a:lstStyle/>
          <a:p>
            <a:pPr indent="0" marL="0">
              <a:buNone/>
            </a:pPr>
            <a:r>
              <a:rPr lang="en-US" sz="1100" dirty="0">
                <a:solidFill>
                  <a:srgbClr val="6E6878"/>
                </a:solidFill>
                <a:latin typeface="Alexandria" pitchFamily="34" charset="0"/>
                <a:ea typeface="Alexandria" pitchFamily="34" charset="-122"/>
                <a:cs typeface="Alexandria" pitchFamily="34" charset="-120"/>
              </a:rPr>
              <a:t>Khuếch đại bằng</a:t>
            </a:r>
            <a:endParaRPr lang="en-US" sz="1400" dirty="0"/>
          </a:p>
          <a:p>
            <a:pPr indent="0" marL="0">
              <a:buNone/>
            </a:pPr>
            <a:r>
              <a:rPr lang="en-US" sz="1400" dirty="0">
                <a:solidFill>
                  <a:srgbClr val="2A2238"/>
                </a:solidFill>
                <a:latin typeface="Alexandria" pitchFamily="34" charset="0"/>
                <a:ea typeface="Alexandria" pitchFamily="34" charset="-122"/>
                <a:cs typeface="Alexandria" pitchFamily="34" charset="-120"/>
              </a:rPr>
              <a:t>Tên diễn giả chính trong thư mời (bảo chứng)</a:t>
            </a:r>
            <a:endParaRPr lang="en-US" sz="1400" dirty="0"/>
          </a:p>
        </p:txBody>
      </p:sp>
      <p:sp>
        <p:nvSpPr>
          <p:cNvPr id="31" name="Shape 28"/>
          <p:cNvSpPr/>
          <p:nvPr/>
        </p:nvSpPr>
        <p:spPr>
          <a:xfrm>
            <a:off x="4451871" y="2148840"/>
            <a:ext cx="457200" cy="457200"/>
          </a:xfrm>
          <a:prstGeom prst="ellipse">
            <a:avLst/>
          </a:prstGeom>
          <a:solidFill>
            <a:srgbClr val="962B7C"/>
          </a:solidFill>
          <a:ln w="12700">
            <a:solidFill>
              <a:srgbClr val="962B7C"/>
            </a:solidFill>
            <a:prstDash val="solid"/>
          </a:ln>
        </p:spPr>
      </p:sp>
      <p:sp>
        <p:nvSpPr>
          <p:cNvPr id="32" name="Text 29"/>
          <p:cNvSpPr txBox="1"/>
          <p:nvPr/>
        </p:nvSpPr>
        <p:spPr>
          <a:xfrm>
            <a:off x="4451871" y="2148840"/>
            <a:ext cx="457200" cy="457200"/>
          </a:xfrm>
          <a:prstGeom prst="rect">
            <a:avLst/>
          </a:prstGeom>
          <a:noFill/>
          <a:ln/>
        </p:spPr>
        <p:txBody>
          <a:bodyPr wrap="square" lIns="0" tIns="0" rIns="0" bIns="0" rtlCol="0" anchor="ctr"/>
          <a:lstStyle/>
          <a:p>
            <a:pPr algn="ctr" indent="0" marL="0">
              <a:buNone/>
            </a:pPr>
            <a:endParaRPr lang="en-US" sz="1700" dirty="0"/>
          </a:p>
        </p:txBody>
      </p:sp>
      <p:sp>
        <p:nvSpPr>
          <p:cNvPr id="33" name="Text 30"/>
          <p:cNvSpPr txBox="1"/>
          <p:nvPr/>
        </p:nvSpPr>
        <p:spPr>
          <a:xfrm>
            <a:off x="3379394" y="1783080"/>
            <a:ext cx="2602154" cy="365760"/>
          </a:xfrm>
          <a:prstGeom prst="rect">
            <a:avLst/>
          </a:prstGeom>
          <a:noFill/>
          <a:ln/>
        </p:spPr>
        <p:txBody>
          <a:bodyPr wrap="square" lIns="0" tIns="0" rIns="0" bIns="0" rtlCol="0" anchor="ctr"/>
          <a:lstStyle/>
          <a:p>
            <a:pPr algn="ctr" indent="0" marL="0">
              <a:buNone/>
            </a:pPr>
            <a:r>
              <a:rPr lang="en-US" sz="1400" b="1" dirty="0">
                <a:solidFill>
                  <a:srgbClr val="962B7C"/>
                </a:solidFill>
                <a:latin typeface="Alexandria" pitchFamily="34" charset="0"/>
                <a:ea typeface="Alexandria" pitchFamily="34" charset="-122"/>
                <a:cs typeface="Alexandria" pitchFamily="34" charset="-120"/>
              </a:rPr>
              <a:t>T-5 → T-3 tuần</a:t>
            </a:r>
            <a:endParaRPr lang="en-US" sz="1400" dirty="0"/>
          </a:p>
        </p:txBody>
      </p:sp>
      <p:sp>
        <p:nvSpPr>
          <p:cNvPr id="34" name="Shape 31"/>
          <p:cNvSpPr/>
          <p:nvPr/>
        </p:nvSpPr>
        <p:spPr>
          <a:xfrm>
            <a:off x="3379394" y="2834640"/>
            <a:ext cx="2602154" cy="1188720"/>
          </a:xfrm>
          <a:prstGeom prst="roundRect">
            <a:avLst>
              <a:gd name="adj" fmla="val 9231"/>
            </a:avLst>
          </a:prstGeom>
          <a:solidFill>
            <a:srgbClr val="FFFFFF"/>
          </a:solidFill>
          <a:ln w="15875">
            <a:solidFill>
              <a:srgbClr val="962B7C"/>
            </a:solidFill>
            <a:prstDash val="solid"/>
          </a:ln>
        </p:spPr>
      </p:sp>
      <p:sp>
        <p:nvSpPr>
          <p:cNvPr id="35" name="Text 32"/>
          <p:cNvSpPr txBox="1"/>
          <p:nvPr/>
        </p:nvSpPr>
        <p:spPr>
          <a:xfrm>
            <a:off x="3562274" y="2834640"/>
            <a:ext cx="2236394" cy="1188720"/>
          </a:xfrm>
          <a:prstGeom prst="rect">
            <a:avLst/>
          </a:prstGeom>
          <a:noFill/>
          <a:ln/>
        </p:spPr>
        <p:txBody>
          <a:bodyPr wrap="square" lIns="0" tIns="0" rIns="0" bIns="0" rtlCol="0" anchor="ctr"/>
          <a:lstStyle/>
          <a:p>
            <a:pPr indent="0" marL="0">
              <a:buNone/>
            </a:pPr>
            <a:r>
              <a:rPr lang="en-US" sz="1100" dirty="0">
                <a:solidFill>
                  <a:srgbClr val="6E6878"/>
                </a:solidFill>
                <a:latin typeface="Alexandria" pitchFamily="34" charset="0"/>
                <a:ea typeface="Alexandria" pitchFamily="34" charset="-122"/>
                <a:cs typeface="Alexandria" pitchFamily="34" charset="-120"/>
              </a:rPr>
              <a:t>Điểm chạm</a:t>
            </a:r>
            <a:endParaRPr lang="en-US" sz="1400" dirty="0"/>
          </a:p>
          <a:p>
            <a:pPr indent="0" marL="0">
              <a:buNone/>
            </a:pPr>
            <a:r>
              <a:rPr lang="en-US" sz="1400" b="1" dirty="0">
                <a:solidFill>
                  <a:srgbClr val="2A2238"/>
                </a:solidFill>
                <a:latin typeface="Alexandria" pitchFamily="34" charset="0"/>
                <a:ea typeface="Alexandria" pitchFamily="34" charset="-122"/>
                <a:cs typeface="Alexandria" pitchFamily="34" charset="-120"/>
              </a:rPr>
              <a:t>Tìm hiểu chương trình</a:t>
            </a:r>
            <a:endParaRPr lang="en-US" sz="1400" dirty="0"/>
          </a:p>
        </p:txBody>
      </p:sp>
      <p:sp>
        <p:nvSpPr>
          <p:cNvPr id="36" name="Shape 33"/>
          <p:cNvSpPr/>
          <p:nvPr/>
        </p:nvSpPr>
        <p:spPr>
          <a:xfrm>
            <a:off x="4680471" y="4069080"/>
            <a:ext cx="914" cy="274320"/>
          </a:xfrm>
          <a:prstGeom prst="line">
            <a:avLst/>
          </a:prstGeom>
          <a:noFill/>
          <a:ln w="25400">
            <a:solidFill>
              <a:srgbClr val="2A2238"/>
            </a:solidFill>
            <a:prstDash val="solid"/>
            <a:tailEnd type="triangle"/>
          </a:ln>
        </p:spPr>
      </p:sp>
      <p:sp>
        <p:nvSpPr>
          <p:cNvPr id="37" name="Shape 34"/>
          <p:cNvSpPr/>
          <p:nvPr/>
        </p:nvSpPr>
        <p:spPr>
          <a:xfrm>
            <a:off x="3379394" y="4389120"/>
            <a:ext cx="2602154" cy="1600200"/>
          </a:xfrm>
          <a:prstGeom prst="roundRect">
            <a:avLst>
              <a:gd name="adj" fmla="val 6857"/>
            </a:avLst>
          </a:prstGeom>
          <a:solidFill>
            <a:srgbClr val="F1E1EE"/>
          </a:solidFill>
          <a:ln w="12700">
            <a:solidFill>
              <a:srgbClr val="962B7C"/>
            </a:solidFill>
            <a:prstDash val="solid"/>
          </a:ln>
        </p:spPr>
      </p:sp>
      <p:sp>
        <p:nvSpPr>
          <p:cNvPr id="38" name="Text 35"/>
          <p:cNvSpPr txBox="1"/>
          <p:nvPr/>
        </p:nvSpPr>
        <p:spPr>
          <a:xfrm>
            <a:off x="3562274" y="4389120"/>
            <a:ext cx="2236394" cy="1600200"/>
          </a:xfrm>
          <a:prstGeom prst="rect">
            <a:avLst/>
          </a:prstGeom>
          <a:noFill/>
          <a:ln/>
        </p:spPr>
        <p:txBody>
          <a:bodyPr wrap="square" lIns="0" tIns="0" rIns="0" bIns="0" rtlCol="0" anchor="ctr"/>
          <a:lstStyle/>
          <a:p>
            <a:pPr indent="0" marL="0">
              <a:buNone/>
            </a:pPr>
            <a:r>
              <a:rPr lang="en-US" sz="1100" dirty="0">
                <a:solidFill>
                  <a:srgbClr val="6E6878"/>
                </a:solidFill>
                <a:latin typeface="Alexandria" pitchFamily="34" charset="0"/>
                <a:ea typeface="Alexandria" pitchFamily="34" charset="-122"/>
                <a:cs typeface="Alexandria" pitchFamily="34" charset="-120"/>
              </a:rPr>
              <a:t>Khuếch đại bằng</a:t>
            </a:r>
            <a:endParaRPr lang="en-US" sz="1400" dirty="0"/>
          </a:p>
          <a:p>
            <a:pPr indent="0" marL="0">
              <a:buNone/>
            </a:pPr>
            <a:r>
              <a:rPr lang="en-US" sz="1400" dirty="0">
                <a:solidFill>
                  <a:srgbClr val="2A2238"/>
                </a:solidFill>
                <a:latin typeface="Alexandria" pitchFamily="34" charset="0"/>
                <a:ea typeface="Alexandria" pitchFamily="34" charset="-122"/>
                <a:cs typeface="Alexandria" pitchFamily="34" charset="-120"/>
              </a:rPr>
              <a:t>Bài phỏng vấn diễn giả trên báo kinh tế (earned)</a:t>
            </a:r>
            <a:endParaRPr lang="en-US" sz="1400" dirty="0"/>
          </a:p>
        </p:txBody>
      </p:sp>
      <p:sp>
        <p:nvSpPr>
          <p:cNvPr id="39" name="Shape 36"/>
          <p:cNvSpPr/>
          <p:nvPr/>
        </p:nvSpPr>
        <p:spPr>
          <a:xfrm>
            <a:off x="7282625" y="2148840"/>
            <a:ext cx="457200" cy="457200"/>
          </a:xfrm>
          <a:prstGeom prst="ellipse">
            <a:avLst/>
          </a:prstGeom>
          <a:solidFill>
            <a:srgbClr val="09A1E5"/>
          </a:solidFill>
          <a:ln w="12700">
            <a:solidFill>
              <a:srgbClr val="09A1E5"/>
            </a:solidFill>
            <a:prstDash val="solid"/>
          </a:ln>
        </p:spPr>
      </p:sp>
      <p:sp>
        <p:nvSpPr>
          <p:cNvPr id="40" name="Text 37"/>
          <p:cNvSpPr txBox="1"/>
          <p:nvPr/>
        </p:nvSpPr>
        <p:spPr>
          <a:xfrm>
            <a:off x="7282625" y="2148840"/>
            <a:ext cx="457200" cy="457200"/>
          </a:xfrm>
          <a:prstGeom prst="rect">
            <a:avLst/>
          </a:prstGeom>
          <a:noFill/>
          <a:ln/>
        </p:spPr>
        <p:txBody>
          <a:bodyPr wrap="square" lIns="0" tIns="0" rIns="0" bIns="0" rtlCol="0" anchor="ctr"/>
          <a:lstStyle/>
          <a:p>
            <a:pPr algn="ctr" indent="0" marL="0">
              <a:buNone/>
            </a:pPr>
            <a:endParaRPr lang="en-US" sz="1700" dirty="0"/>
          </a:p>
        </p:txBody>
      </p:sp>
      <p:sp>
        <p:nvSpPr>
          <p:cNvPr id="41" name="Text 38"/>
          <p:cNvSpPr txBox="1"/>
          <p:nvPr/>
        </p:nvSpPr>
        <p:spPr>
          <a:xfrm>
            <a:off x="6210148" y="1783080"/>
            <a:ext cx="2602154" cy="365760"/>
          </a:xfrm>
          <a:prstGeom prst="rect">
            <a:avLst/>
          </a:prstGeom>
          <a:noFill/>
          <a:ln/>
        </p:spPr>
        <p:txBody>
          <a:bodyPr wrap="square" lIns="0" tIns="0" rIns="0" bIns="0" rtlCol="0" anchor="ctr"/>
          <a:lstStyle/>
          <a:p>
            <a:pPr algn="ctr" indent="0" marL="0">
              <a:buNone/>
            </a:pPr>
            <a:r>
              <a:rPr lang="en-US" sz="1400" b="1" dirty="0">
                <a:solidFill>
                  <a:srgbClr val="0A7FB5"/>
                </a:solidFill>
                <a:latin typeface="Alexandria" pitchFamily="34" charset="0"/>
                <a:ea typeface="Alexandria" pitchFamily="34" charset="-122"/>
                <a:cs typeface="Alexandria" pitchFamily="34" charset="-120"/>
              </a:rPr>
              <a:t>T-3 tuần</a:t>
            </a:r>
            <a:endParaRPr lang="en-US" sz="1400" dirty="0"/>
          </a:p>
        </p:txBody>
      </p:sp>
      <p:sp>
        <p:nvSpPr>
          <p:cNvPr id="42" name="Shape 39"/>
          <p:cNvSpPr/>
          <p:nvPr/>
        </p:nvSpPr>
        <p:spPr>
          <a:xfrm>
            <a:off x="6210148" y="2834640"/>
            <a:ext cx="2602154" cy="1188720"/>
          </a:xfrm>
          <a:prstGeom prst="roundRect">
            <a:avLst>
              <a:gd name="adj" fmla="val 9231"/>
            </a:avLst>
          </a:prstGeom>
          <a:solidFill>
            <a:srgbClr val="FFFFFF"/>
          </a:solidFill>
          <a:ln w="15875">
            <a:solidFill>
              <a:srgbClr val="09A1E5"/>
            </a:solidFill>
            <a:prstDash val="solid"/>
          </a:ln>
        </p:spPr>
      </p:sp>
      <p:sp>
        <p:nvSpPr>
          <p:cNvPr id="43" name="Text 40"/>
          <p:cNvSpPr txBox="1"/>
          <p:nvPr/>
        </p:nvSpPr>
        <p:spPr>
          <a:xfrm>
            <a:off x="6393028" y="2834640"/>
            <a:ext cx="2236394" cy="1188720"/>
          </a:xfrm>
          <a:prstGeom prst="rect">
            <a:avLst/>
          </a:prstGeom>
          <a:noFill/>
          <a:ln/>
        </p:spPr>
        <p:txBody>
          <a:bodyPr wrap="square" lIns="0" tIns="0" rIns="0" bIns="0" rtlCol="0" anchor="ctr"/>
          <a:lstStyle/>
          <a:p>
            <a:pPr indent="0" marL="0">
              <a:buNone/>
            </a:pPr>
            <a:r>
              <a:rPr lang="en-US" sz="1100" dirty="0">
                <a:solidFill>
                  <a:srgbClr val="6E6878"/>
                </a:solidFill>
                <a:latin typeface="Alexandria" pitchFamily="34" charset="0"/>
                <a:ea typeface="Alexandria" pitchFamily="34" charset="-122"/>
                <a:cs typeface="Alexandria" pitchFamily="34" charset="-120"/>
              </a:rPr>
              <a:t>Điểm chạm</a:t>
            </a:r>
            <a:endParaRPr lang="en-US" sz="1400" dirty="0"/>
          </a:p>
          <a:p>
            <a:pPr indent="0" marL="0">
              <a:buNone/>
            </a:pPr>
            <a:r>
              <a:rPr lang="en-US" sz="1400" b="1" dirty="0">
                <a:solidFill>
                  <a:srgbClr val="2A2238"/>
                </a:solidFill>
                <a:latin typeface="Alexandria" pitchFamily="34" charset="0"/>
                <a:ea typeface="Alexandria" pitchFamily="34" charset="-122"/>
                <a:cs typeface="Alexandria" pitchFamily="34" charset="-120"/>
              </a:rPr>
              <a:t>Xác nhận tham dự, đăng ký phiên</a:t>
            </a:r>
            <a:endParaRPr lang="en-US" sz="1400" dirty="0"/>
          </a:p>
        </p:txBody>
      </p:sp>
      <p:sp>
        <p:nvSpPr>
          <p:cNvPr id="44" name="Shape 41"/>
          <p:cNvSpPr/>
          <p:nvPr/>
        </p:nvSpPr>
        <p:spPr>
          <a:xfrm>
            <a:off x="7511225" y="4069080"/>
            <a:ext cx="914" cy="274320"/>
          </a:xfrm>
          <a:prstGeom prst="line">
            <a:avLst/>
          </a:prstGeom>
          <a:noFill/>
          <a:ln w="25400">
            <a:solidFill>
              <a:srgbClr val="2A2238"/>
            </a:solidFill>
            <a:prstDash val="solid"/>
            <a:tailEnd type="triangle"/>
          </a:ln>
        </p:spPr>
      </p:sp>
      <p:sp>
        <p:nvSpPr>
          <p:cNvPr id="45" name="Shape 42"/>
          <p:cNvSpPr/>
          <p:nvPr/>
        </p:nvSpPr>
        <p:spPr>
          <a:xfrm>
            <a:off x="6210148" y="4389120"/>
            <a:ext cx="2602154" cy="1600200"/>
          </a:xfrm>
          <a:prstGeom prst="roundRect">
            <a:avLst>
              <a:gd name="adj" fmla="val 6857"/>
            </a:avLst>
          </a:prstGeom>
          <a:solidFill>
            <a:srgbClr val="DDF1FB"/>
          </a:solidFill>
          <a:ln w="12700">
            <a:solidFill>
              <a:srgbClr val="09A1E5"/>
            </a:solidFill>
            <a:prstDash val="solid"/>
          </a:ln>
        </p:spPr>
      </p:sp>
      <p:sp>
        <p:nvSpPr>
          <p:cNvPr id="46" name="Text 43"/>
          <p:cNvSpPr txBox="1"/>
          <p:nvPr/>
        </p:nvSpPr>
        <p:spPr>
          <a:xfrm>
            <a:off x="6393028" y="4389120"/>
            <a:ext cx="2236394" cy="1600200"/>
          </a:xfrm>
          <a:prstGeom prst="rect">
            <a:avLst/>
          </a:prstGeom>
          <a:noFill/>
          <a:ln/>
        </p:spPr>
        <p:txBody>
          <a:bodyPr wrap="square" lIns="0" tIns="0" rIns="0" bIns="0" rtlCol="0" anchor="ctr"/>
          <a:lstStyle/>
          <a:p>
            <a:pPr indent="0" marL="0">
              <a:buNone/>
            </a:pPr>
            <a:r>
              <a:rPr lang="en-US" sz="1100" dirty="0">
                <a:solidFill>
                  <a:srgbClr val="6E6878"/>
                </a:solidFill>
                <a:latin typeface="Alexandria" pitchFamily="34" charset="0"/>
                <a:ea typeface="Alexandria" pitchFamily="34" charset="-122"/>
                <a:cs typeface="Alexandria" pitchFamily="34" charset="-120"/>
              </a:rPr>
              <a:t>Khuếch đại bằng</a:t>
            </a:r>
            <a:endParaRPr lang="en-US" sz="1400" dirty="0"/>
          </a:p>
          <a:p>
            <a:pPr indent="0" marL="0">
              <a:buNone/>
            </a:pPr>
            <a:r>
              <a:rPr lang="en-US" sz="1400" dirty="0">
                <a:solidFill>
                  <a:srgbClr val="2A2238"/>
                </a:solidFill>
                <a:latin typeface="Alexandria" pitchFamily="34" charset="0"/>
                <a:ea typeface="Alexandria" pitchFamily="34" charset="-122"/>
                <a:cs typeface="Alexandria" pitchFamily="34" charset="-120"/>
              </a:rPr>
              <a:t>Video ngắn của diễn giả gửi riêng khách mời</a:t>
            </a:r>
            <a:endParaRPr lang="en-US" sz="1400" dirty="0"/>
          </a:p>
        </p:txBody>
      </p:sp>
      <p:sp>
        <p:nvSpPr>
          <p:cNvPr id="47" name="Shape 44"/>
          <p:cNvSpPr/>
          <p:nvPr/>
        </p:nvSpPr>
        <p:spPr>
          <a:xfrm>
            <a:off x="10113378" y="2148840"/>
            <a:ext cx="457200" cy="457200"/>
          </a:xfrm>
          <a:prstGeom prst="ellipse">
            <a:avLst/>
          </a:prstGeom>
          <a:solidFill>
            <a:srgbClr val="49B296"/>
          </a:solidFill>
          <a:ln w="12700">
            <a:solidFill>
              <a:srgbClr val="49B296"/>
            </a:solidFill>
            <a:prstDash val="solid"/>
          </a:ln>
        </p:spPr>
      </p:sp>
      <p:sp>
        <p:nvSpPr>
          <p:cNvPr id="48" name="Text 45"/>
          <p:cNvSpPr txBox="1"/>
          <p:nvPr/>
        </p:nvSpPr>
        <p:spPr>
          <a:xfrm>
            <a:off x="10113378" y="2148840"/>
            <a:ext cx="457200" cy="457200"/>
          </a:xfrm>
          <a:prstGeom prst="rect">
            <a:avLst/>
          </a:prstGeom>
          <a:noFill/>
          <a:ln/>
        </p:spPr>
        <p:txBody>
          <a:bodyPr wrap="square" lIns="0" tIns="0" rIns="0" bIns="0" rtlCol="0" anchor="ctr"/>
          <a:lstStyle/>
          <a:p>
            <a:pPr algn="ctr" indent="0" marL="0">
              <a:buNone/>
            </a:pPr>
            <a:endParaRPr lang="en-US" sz="1700" dirty="0"/>
          </a:p>
        </p:txBody>
      </p:sp>
      <p:sp>
        <p:nvSpPr>
          <p:cNvPr id="49" name="Text 46"/>
          <p:cNvSpPr txBox="1"/>
          <p:nvPr/>
        </p:nvSpPr>
        <p:spPr>
          <a:xfrm>
            <a:off x="9040901" y="1783080"/>
            <a:ext cx="2602154" cy="365760"/>
          </a:xfrm>
          <a:prstGeom prst="rect">
            <a:avLst/>
          </a:prstGeom>
          <a:noFill/>
          <a:ln/>
        </p:spPr>
        <p:txBody>
          <a:bodyPr wrap="square" lIns="0" tIns="0" rIns="0" bIns="0" rtlCol="0" anchor="ctr"/>
          <a:lstStyle/>
          <a:p>
            <a:pPr algn="ctr" indent="0" marL="0">
              <a:buNone/>
            </a:pPr>
            <a:r>
              <a:rPr lang="en-US" sz="1400" b="1" dirty="0">
                <a:solidFill>
                  <a:srgbClr val="2E8A71"/>
                </a:solidFill>
                <a:latin typeface="Alexandria" pitchFamily="34" charset="0"/>
                <a:ea typeface="Alexandria" pitchFamily="34" charset="-122"/>
                <a:cs typeface="Alexandria" pitchFamily="34" charset="-120"/>
              </a:rPr>
              <a:t>T-1 tuần</a:t>
            </a:r>
            <a:endParaRPr lang="en-US" sz="1400" dirty="0"/>
          </a:p>
        </p:txBody>
      </p:sp>
      <p:sp>
        <p:nvSpPr>
          <p:cNvPr id="50" name="Shape 47"/>
          <p:cNvSpPr/>
          <p:nvPr/>
        </p:nvSpPr>
        <p:spPr>
          <a:xfrm>
            <a:off x="9040901" y="2834640"/>
            <a:ext cx="2602154" cy="1188720"/>
          </a:xfrm>
          <a:prstGeom prst="roundRect">
            <a:avLst>
              <a:gd name="adj" fmla="val 9231"/>
            </a:avLst>
          </a:prstGeom>
          <a:solidFill>
            <a:srgbClr val="FFFFFF"/>
          </a:solidFill>
          <a:ln w="15875">
            <a:solidFill>
              <a:srgbClr val="49B296"/>
            </a:solidFill>
            <a:prstDash val="solid"/>
          </a:ln>
        </p:spPr>
      </p:sp>
      <p:sp>
        <p:nvSpPr>
          <p:cNvPr id="51" name="Text 48"/>
          <p:cNvSpPr txBox="1"/>
          <p:nvPr/>
        </p:nvSpPr>
        <p:spPr>
          <a:xfrm>
            <a:off x="9223781" y="2834640"/>
            <a:ext cx="2236394" cy="1188720"/>
          </a:xfrm>
          <a:prstGeom prst="rect">
            <a:avLst/>
          </a:prstGeom>
          <a:noFill/>
          <a:ln/>
        </p:spPr>
        <p:txBody>
          <a:bodyPr wrap="square" lIns="0" tIns="0" rIns="0" bIns="0" rtlCol="0" anchor="ctr"/>
          <a:lstStyle/>
          <a:p>
            <a:pPr indent="0" marL="0">
              <a:buNone/>
            </a:pPr>
            <a:r>
              <a:rPr lang="en-US" sz="1100" dirty="0">
                <a:solidFill>
                  <a:srgbClr val="6E6878"/>
                </a:solidFill>
                <a:latin typeface="Alexandria" pitchFamily="34" charset="0"/>
                <a:ea typeface="Alexandria" pitchFamily="34" charset="-122"/>
                <a:cs typeface="Alexandria" pitchFamily="34" charset="-120"/>
              </a:rPr>
              <a:t>Điểm chạm</a:t>
            </a:r>
            <a:endParaRPr lang="en-US" sz="1400" dirty="0"/>
          </a:p>
          <a:p>
            <a:pPr indent="0" marL="0">
              <a:buNone/>
            </a:pPr>
            <a:r>
              <a:rPr lang="en-US" sz="1400" b="1" dirty="0">
                <a:solidFill>
                  <a:srgbClr val="2A2238"/>
                </a:solidFill>
                <a:latin typeface="Alexandria" pitchFamily="34" charset="0"/>
                <a:ea typeface="Alexandria" pitchFamily="34" charset="-122"/>
                <a:cs typeface="Alexandria" pitchFamily="34" charset="-120"/>
              </a:rPr>
              <a:t>Nhắc lịch, thông tin chuẩn bị</a:t>
            </a:r>
            <a:endParaRPr lang="en-US" sz="1400" dirty="0"/>
          </a:p>
        </p:txBody>
      </p:sp>
      <p:sp>
        <p:nvSpPr>
          <p:cNvPr id="52" name="Shape 49"/>
          <p:cNvSpPr/>
          <p:nvPr/>
        </p:nvSpPr>
        <p:spPr>
          <a:xfrm>
            <a:off x="10341978" y="4069080"/>
            <a:ext cx="914" cy="274320"/>
          </a:xfrm>
          <a:prstGeom prst="line">
            <a:avLst/>
          </a:prstGeom>
          <a:noFill/>
          <a:ln w="25400">
            <a:solidFill>
              <a:srgbClr val="2A2238"/>
            </a:solidFill>
            <a:prstDash val="solid"/>
            <a:tailEnd type="triangle"/>
          </a:ln>
        </p:spPr>
      </p:sp>
      <p:sp>
        <p:nvSpPr>
          <p:cNvPr id="53" name="Shape 50"/>
          <p:cNvSpPr/>
          <p:nvPr/>
        </p:nvSpPr>
        <p:spPr>
          <a:xfrm>
            <a:off x="9040901" y="4389120"/>
            <a:ext cx="2602154" cy="1600200"/>
          </a:xfrm>
          <a:prstGeom prst="roundRect">
            <a:avLst>
              <a:gd name="adj" fmla="val 6857"/>
            </a:avLst>
          </a:prstGeom>
          <a:solidFill>
            <a:srgbClr val="E1F3EE"/>
          </a:solidFill>
          <a:ln w="12700">
            <a:solidFill>
              <a:srgbClr val="49B296"/>
            </a:solidFill>
            <a:prstDash val="solid"/>
          </a:ln>
        </p:spPr>
      </p:sp>
      <p:sp>
        <p:nvSpPr>
          <p:cNvPr id="54" name="Text 51"/>
          <p:cNvSpPr txBox="1"/>
          <p:nvPr/>
        </p:nvSpPr>
        <p:spPr>
          <a:xfrm>
            <a:off x="9223781" y="4389120"/>
            <a:ext cx="2236394" cy="1600200"/>
          </a:xfrm>
          <a:prstGeom prst="rect">
            <a:avLst/>
          </a:prstGeom>
          <a:noFill/>
          <a:ln/>
        </p:spPr>
        <p:txBody>
          <a:bodyPr wrap="square" lIns="0" tIns="0" rIns="0" bIns="0" rtlCol="0" anchor="ctr"/>
          <a:lstStyle/>
          <a:p>
            <a:pPr indent="0" marL="0">
              <a:buNone/>
            </a:pPr>
            <a:r>
              <a:rPr lang="en-US" sz="1100" dirty="0">
                <a:solidFill>
                  <a:srgbClr val="6E6878"/>
                </a:solidFill>
                <a:latin typeface="Alexandria" pitchFamily="34" charset="0"/>
                <a:ea typeface="Alexandria" pitchFamily="34" charset="-122"/>
                <a:cs typeface="Alexandria" pitchFamily="34" charset="-120"/>
              </a:rPr>
              <a:t>Khuếch đại bằng</a:t>
            </a:r>
            <a:endParaRPr lang="en-US" sz="1400" dirty="0"/>
          </a:p>
          <a:p>
            <a:pPr indent="0" marL="0">
              <a:buNone/>
            </a:pPr>
            <a:r>
              <a:rPr lang="en-US" sz="1400" dirty="0">
                <a:solidFill>
                  <a:srgbClr val="2A2238"/>
                </a:solidFill>
                <a:latin typeface="Alexandria" pitchFamily="34" charset="0"/>
                <a:ea typeface="Alexandria" pitchFamily="34" charset="-122"/>
                <a:cs typeface="Alexandria" pitchFamily="34" charset="-120"/>
              </a:rPr>
              <a:t>Câu hỏi khảo sát trước của diễn giả</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87782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11.1 KOL</a:t>
            </a:r>
            <a:endParaRPr lang="en-US" sz="1000" dirty="0"/>
          </a:p>
        </p:txBody>
      </p:sp>
      <p:sp>
        <p:nvSpPr>
          <p:cNvPr id="6" name="Shape 4"/>
          <p:cNvSpPr/>
          <p:nvPr/>
        </p:nvSpPr>
        <p:spPr>
          <a:xfrm>
            <a:off x="2368296"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368296"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11.2 Báo chí</a:t>
            </a:r>
            <a:endParaRPr lang="en-US" sz="1000" dirty="0"/>
          </a:p>
        </p:txBody>
      </p:sp>
      <p:sp>
        <p:nvSpPr>
          <p:cNvPr id="8" name="Shape 6"/>
          <p:cNvSpPr/>
          <p:nvPr/>
        </p:nvSpPr>
        <p:spPr>
          <a:xfrm>
            <a:off x="3666744"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3666744"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11.3 Booking &amp; đo lường</a:t>
            </a:r>
            <a:endParaRPr lang="en-US" sz="1000" dirty="0"/>
          </a:p>
        </p:txBody>
      </p:sp>
      <p:sp>
        <p:nvSpPr>
          <p:cNvPr id="10" name="Shape 8"/>
          <p:cNvSpPr/>
          <p:nvPr/>
        </p:nvSpPr>
        <p:spPr>
          <a:xfrm>
            <a:off x="5820156" y="274320"/>
            <a:ext cx="1421892" cy="292608"/>
          </a:xfrm>
          <a:prstGeom prst="roundRect">
            <a:avLst>
              <a:gd name="adj" fmla="val 50000"/>
            </a:avLst>
          </a:prstGeom>
          <a:solidFill>
            <a:srgbClr val="FF5178"/>
          </a:solidFill>
          <a:ln w="9525">
            <a:solidFill>
              <a:srgbClr val="FF5178"/>
            </a:solidFill>
            <a:prstDash val="solid"/>
          </a:ln>
        </p:spPr>
      </p:sp>
      <p:sp>
        <p:nvSpPr>
          <p:cNvPr id="11" name="Text 9"/>
          <p:cNvSpPr txBox="1"/>
          <p:nvPr/>
        </p:nvSpPr>
        <p:spPr>
          <a:xfrm>
            <a:off x="5820156" y="274320"/>
            <a:ext cx="142189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11.4 Khuếch đại</a:t>
            </a:r>
            <a:endParaRPr lang="en-US" sz="1000" dirty="0"/>
          </a:p>
        </p:txBody>
      </p:sp>
      <p:sp>
        <p:nvSpPr>
          <p:cNvPr id="12" name="Shape 10"/>
          <p:cNvSpPr/>
          <p:nvPr/>
        </p:nvSpPr>
        <p:spPr>
          <a:xfrm>
            <a:off x="7351776" y="274320"/>
            <a:ext cx="877824" cy="292608"/>
          </a:xfrm>
          <a:prstGeom prst="roundRect">
            <a:avLst>
              <a:gd name="adj" fmla="val 50000"/>
            </a:avLst>
          </a:prstGeom>
          <a:solidFill>
            <a:srgbClr val="FBFAF4"/>
          </a:solidFill>
          <a:ln w="9525">
            <a:solidFill>
              <a:srgbClr val="DCD7C8"/>
            </a:solidFill>
            <a:prstDash val="solid"/>
          </a:ln>
        </p:spPr>
      </p:sp>
      <p:sp>
        <p:nvSpPr>
          <p:cNvPr id="13" name="Text 11"/>
          <p:cNvSpPr txBox="1"/>
          <p:nvPr/>
        </p:nvSpPr>
        <p:spPr>
          <a:xfrm>
            <a:off x="735177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4" name="Shape 12"/>
          <p:cNvSpPr/>
          <p:nvPr/>
        </p:nvSpPr>
        <p:spPr>
          <a:xfrm>
            <a:off x="11259007" y="219456"/>
            <a:ext cx="384048" cy="384048"/>
          </a:xfrm>
          <a:prstGeom prst="ellipse">
            <a:avLst/>
          </a:prstGeom>
          <a:ln w="12700">
            <a:solidFill>
              <a:srgbClr val="09A1E5"/>
            </a:solidFill>
            <a:prstDash val="solid"/>
          </a:ln>
        </p:spPr>
      </p:sp>
      <p:sp>
        <p:nvSpPr>
          <p:cNvPr id="15" name="Shape 13"/>
          <p:cNvSpPr/>
          <p:nvPr/>
        </p:nvSpPr>
        <p:spPr>
          <a:xfrm>
            <a:off x="11324295" y="284744"/>
            <a:ext cx="253472" cy="253472"/>
          </a:xfrm>
          <a:prstGeom prst="ellipse">
            <a:avLst/>
          </a:prstGeom>
          <a:ln w="15875">
            <a:solidFill>
              <a:srgbClr val="962B7C"/>
            </a:solidFill>
            <a:prstDash val="solid"/>
          </a:ln>
        </p:spPr>
      </p:sp>
      <p:sp>
        <p:nvSpPr>
          <p:cNvPr id="16" name="Shape 14"/>
          <p:cNvSpPr/>
          <p:nvPr/>
        </p:nvSpPr>
        <p:spPr>
          <a:xfrm>
            <a:off x="11389584" y="350032"/>
            <a:ext cx="122895" cy="122895"/>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Earned đáng tin hơn, paid kiểm soát được hơn</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Nhận định của người soạn · nghĩa vụ gắn nhãn: X05.</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11   23</a:t>
            </a:r>
            <a:endParaRPr lang="en-US" sz="1000" dirty="0"/>
          </a:p>
        </p:txBody>
      </p:sp>
      <p:sp>
        <p:nvSpPr>
          <p:cNvPr id="21" name="Shape 18"/>
          <p:cNvSpPr/>
          <p:nvPr/>
        </p:nvSpPr>
        <p:spPr>
          <a:xfrm>
            <a:off x="3291840" y="1828800"/>
            <a:ext cx="4084168" cy="502920"/>
          </a:xfrm>
          <a:prstGeom prst="roundRect">
            <a:avLst>
              <a:gd name="adj" fmla="val 21818"/>
            </a:avLst>
          </a:prstGeom>
          <a:solidFill>
            <a:srgbClr val="49B296"/>
          </a:solidFill>
          <a:ln w="12700">
            <a:solidFill>
              <a:srgbClr val="49B296"/>
            </a:solidFill>
            <a:prstDash val="solid"/>
          </a:ln>
        </p:spPr>
      </p:sp>
      <p:sp>
        <p:nvSpPr>
          <p:cNvPr id="22" name="Text 19"/>
          <p:cNvSpPr txBox="1"/>
          <p:nvPr/>
        </p:nvSpPr>
        <p:spPr>
          <a:xfrm>
            <a:off x="3456432" y="1828800"/>
            <a:ext cx="3754984" cy="50292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Earned — báo chí tự viết</a:t>
            </a:r>
            <a:endParaRPr lang="en-US" sz="1500" dirty="0"/>
          </a:p>
        </p:txBody>
      </p:sp>
      <p:sp>
        <p:nvSpPr>
          <p:cNvPr id="23" name="Shape 20"/>
          <p:cNvSpPr/>
          <p:nvPr/>
        </p:nvSpPr>
        <p:spPr>
          <a:xfrm>
            <a:off x="7467448" y="1828800"/>
            <a:ext cx="4084168" cy="502920"/>
          </a:xfrm>
          <a:prstGeom prst="roundRect">
            <a:avLst>
              <a:gd name="adj" fmla="val 21818"/>
            </a:avLst>
          </a:prstGeom>
          <a:solidFill>
            <a:srgbClr val="FF9259"/>
          </a:solidFill>
          <a:ln w="12700">
            <a:solidFill>
              <a:srgbClr val="FF9259"/>
            </a:solidFill>
            <a:prstDash val="solid"/>
          </a:ln>
        </p:spPr>
      </p:sp>
      <p:sp>
        <p:nvSpPr>
          <p:cNvPr id="24" name="Text 21"/>
          <p:cNvSpPr txBox="1"/>
          <p:nvPr/>
        </p:nvSpPr>
        <p:spPr>
          <a:xfrm>
            <a:off x="7632040" y="1828800"/>
            <a:ext cx="3754984" cy="50292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Paid — KOL, bài đăng có phí</a:t>
            </a:r>
            <a:endParaRPr lang="en-US" sz="1500" dirty="0"/>
          </a:p>
        </p:txBody>
      </p:sp>
      <p:sp>
        <p:nvSpPr>
          <p:cNvPr id="25" name="Shape 22"/>
          <p:cNvSpPr/>
          <p:nvPr/>
        </p:nvSpPr>
        <p:spPr>
          <a:xfrm>
            <a:off x="548640" y="2441448"/>
            <a:ext cx="11002975" cy="914400"/>
          </a:xfrm>
          <a:prstGeom prst="rect">
            <a:avLst/>
          </a:prstGeom>
          <a:solidFill>
            <a:srgbClr val="F3F0E6"/>
          </a:solidFill>
          <a:ln w="12700">
            <a:solidFill>
              <a:srgbClr val="F3F0E6"/>
            </a:solidFill>
            <a:prstDash val="solid"/>
          </a:ln>
        </p:spPr>
      </p:sp>
      <p:sp>
        <p:nvSpPr>
          <p:cNvPr id="26" name="Text 23"/>
          <p:cNvSpPr txBox="1"/>
          <p:nvPr/>
        </p:nvSpPr>
        <p:spPr>
          <a:xfrm>
            <a:off x="713232" y="2441448"/>
            <a:ext cx="2414016" cy="91440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Kiểm soát nội dung</a:t>
            </a:r>
            <a:endParaRPr lang="en-US" sz="1700" dirty="0"/>
          </a:p>
        </p:txBody>
      </p:sp>
      <p:sp>
        <p:nvSpPr>
          <p:cNvPr id="27" name="Text 24"/>
          <p:cNvSpPr txBox="1"/>
          <p:nvPr/>
        </p:nvSpPr>
        <p:spPr>
          <a:xfrm>
            <a:off x="3456432" y="2441448"/>
            <a:ext cx="3846424" cy="91440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Thấp</a:t>
            </a:r>
            <a:endParaRPr lang="en-US" sz="1700" dirty="0"/>
          </a:p>
        </p:txBody>
      </p:sp>
      <p:sp>
        <p:nvSpPr>
          <p:cNvPr id="28" name="Text 25"/>
          <p:cNvSpPr txBox="1"/>
          <p:nvPr/>
        </p:nvSpPr>
        <p:spPr>
          <a:xfrm>
            <a:off x="7632040" y="2441448"/>
            <a:ext cx="3846424" cy="91440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Cao (duyệt được)</a:t>
            </a:r>
            <a:endParaRPr lang="en-US" sz="1700" dirty="0"/>
          </a:p>
        </p:txBody>
      </p:sp>
      <p:sp>
        <p:nvSpPr>
          <p:cNvPr id="29" name="Text 26"/>
          <p:cNvSpPr txBox="1"/>
          <p:nvPr/>
        </p:nvSpPr>
        <p:spPr>
          <a:xfrm>
            <a:off x="713232" y="3410712"/>
            <a:ext cx="2414016" cy="91440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Độ tin cậy với khách</a:t>
            </a:r>
            <a:endParaRPr lang="en-US" sz="1700" dirty="0"/>
          </a:p>
        </p:txBody>
      </p:sp>
      <p:sp>
        <p:nvSpPr>
          <p:cNvPr id="30" name="Text 27"/>
          <p:cNvSpPr txBox="1"/>
          <p:nvPr/>
        </p:nvSpPr>
        <p:spPr>
          <a:xfrm>
            <a:off x="3456432" y="3410712"/>
            <a:ext cx="3846424" cy="91440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Cao hơn</a:t>
            </a:r>
            <a:endParaRPr lang="en-US" sz="1700" dirty="0"/>
          </a:p>
        </p:txBody>
      </p:sp>
      <p:sp>
        <p:nvSpPr>
          <p:cNvPr id="31" name="Text 28"/>
          <p:cNvSpPr txBox="1"/>
          <p:nvPr/>
        </p:nvSpPr>
        <p:spPr>
          <a:xfrm>
            <a:off x="7632040" y="3410712"/>
            <a:ext cx="3846424" cy="91440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Phụ thuộc người đăng</a:t>
            </a:r>
            <a:endParaRPr lang="en-US" sz="1700" dirty="0"/>
          </a:p>
        </p:txBody>
      </p:sp>
      <p:sp>
        <p:nvSpPr>
          <p:cNvPr id="32" name="Shape 29"/>
          <p:cNvSpPr/>
          <p:nvPr/>
        </p:nvSpPr>
        <p:spPr>
          <a:xfrm>
            <a:off x="548640" y="4379976"/>
            <a:ext cx="11002975" cy="914400"/>
          </a:xfrm>
          <a:prstGeom prst="rect">
            <a:avLst/>
          </a:prstGeom>
          <a:solidFill>
            <a:srgbClr val="F3F0E6"/>
          </a:solidFill>
          <a:ln w="12700">
            <a:solidFill>
              <a:srgbClr val="F3F0E6"/>
            </a:solidFill>
            <a:prstDash val="solid"/>
          </a:ln>
        </p:spPr>
      </p:sp>
      <p:sp>
        <p:nvSpPr>
          <p:cNvPr id="33" name="Text 30"/>
          <p:cNvSpPr txBox="1"/>
          <p:nvPr/>
        </p:nvSpPr>
        <p:spPr>
          <a:xfrm>
            <a:off x="713232" y="4379976"/>
            <a:ext cx="2414016" cy="91440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Nghĩa vụ</a:t>
            </a:r>
            <a:endParaRPr lang="en-US" sz="1700" dirty="0"/>
          </a:p>
        </p:txBody>
      </p:sp>
      <p:sp>
        <p:nvSpPr>
          <p:cNvPr id="34" name="Text 31"/>
          <p:cNvSpPr txBox="1"/>
          <p:nvPr/>
        </p:nvSpPr>
        <p:spPr>
          <a:xfrm>
            <a:off x="3456432" y="4379976"/>
            <a:ext cx="3846424" cy="91440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Cung cấp thông tin đúng, đúng mảng</a:t>
            </a:r>
            <a:endParaRPr lang="en-US" sz="1700" dirty="0"/>
          </a:p>
        </p:txBody>
      </p:sp>
      <p:sp>
        <p:nvSpPr>
          <p:cNvPr id="35" name="Text 32"/>
          <p:cNvSpPr txBox="1"/>
          <p:nvPr/>
        </p:nvSpPr>
        <p:spPr>
          <a:xfrm>
            <a:off x="7632040" y="4379976"/>
            <a:ext cx="3846424" cy="91440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Gắn nhãn quảng cáo/tài trợ (X05)</a:t>
            </a:r>
            <a:endParaRPr lang="en-US" sz="1700" dirty="0"/>
          </a:p>
        </p:txBody>
      </p:sp>
      <p:sp>
        <p:nvSpPr>
          <p:cNvPr id="36" name="Shape 33"/>
          <p:cNvSpPr/>
          <p:nvPr/>
        </p:nvSpPr>
        <p:spPr>
          <a:xfrm>
            <a:off x="548640" y="5440680"/>
            <a:ext cx="11094415" cy="640080"/>
          </a:xfrm>
          <a:prstGeom prst="roundRect">
            <a:avLst>
              <a:gd name="adj" fmla="val 17143"/>
            </a:avLst>
          </a:prstGeom>
          <a:solidFill>
            <a:srgbClr val="FFF3C4"/>
          </a:solidFill>
          <a:ln w="12700">
            <a:solidFill>
              <a:srgbClr val="FFD23B"/>
            </a:solidFill>
            <a:prstDash val="solid"/>
          </a:ln>
        </p:spPr>
      </p:sp>
      <p:sp>
        <p:nvSpPr>
          <p:cNvPr id="37" name="Text 34"/>
          <p:cNvSpPr txBox="1"/>
          <p:nvPr/>
        </p:nvSpPr>
        <p:spPr>
          <a:xfrm>
            <a:off x="868680" y="5440680"/>
            <a:ext cx="10454335" cy="64008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Không có loại nào luôn tốt hơn — chọn theo điểm chạm và theo điều khách cần tin.</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87782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11.1 KOL</a:t>
            </a:r>
            <a:endParaRPr lang="en-US" sz="1000" dirty="0"/>
          </a:p>
        </p:txBody>
      </p:sp>
      <p:sp>
        <p:nvSpPr>
          <p:cNvPr id="6" name="Shape 4"/>
          <p:cNvSpPr/>
          <p:nvPr/>
        </p:nvSpPr>
        <p:spPr>
          <a:xfrm>
            <a:off x="2368296"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368296"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11.2 Báo chí</a:t>
            </a:r>
            <a:endParaRPr lang="en-US" sz="1000" dirty="0"/>
          </a:p>
        </p:txBody>
      </p:sp>
      <p:sp>
        <p:nvSpPr>
          <p:cNvPr id="8" name="Shape 6"/>
          <p:cNvSpPr/>
          <p:nvPr/>
        </p:nvSpPr>
        <p:spPr>
          <a:xfrm>
            <a:off x="3666744"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3666744"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11.3 Booking &amp; đo lường</a:t>
            </a:r>
            <a:endParaRPr lang="en-US" sz="1000" dirty="0"/>
          </a:p>
        </p:txBody>
      </p:sp>
      <p:sp>
        <p:nvSpPr>
          <p:cNvPr id="10" name="Shape 8"/>
          <p:cNvSpPr/>
          <p:nvPr/>
        </p:nvSpPr>
        <p:spPr>
          <a:xfrm>
            <a:off x="5820156" y="274320"/>
            <a:ext cx="1421892" cy="292608"/>
          </a:xfrm>
          <a:prstGeom prst="roundRect">
            <a:avLst>
              <a:gd name="adj" fmla="val 50000"/>
            </a:avLst>
          </a:prstGeom>
          <a:solidFill>
            <a:srgbClr val="FF5178"/>
          </a:solidFill>
          <a:ln w="9525">
            <a:solidFill>
              <a:srgbClr val="FF5178"/>
            </a:solidFill>
            <a:prstDash val="solid"/>
          </a:ln>
        </p:spPr>
      </p:sp>
      <p:sp>
        <p:nvSpPr>
          <p:cNvPr id="11" name="Text 9"/>
          <p:cNvSpPr txBox="1"/>
          <p:nvPr/>
        </p:nvSpPr>
        <p:spPr>
          <a:xfrm>
            <a:off x="5820156" y="274320"/>
            <a:ext cx="142189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11.4 Khuếch đại</a:t>
            </a:r>
            <a:endParaRPr lang="en-US" sz="1000" dirty="0"/>
          </a:p>
        </p:txBody>
      </p:sp>
      <p:sp>
        <p:nvSpPr>
          <p:cNvPr id="12" name="Shape 10"/>
          <p:cNvSpPr/>
          <p:nvPr/>
        </p:nvSpPr>
        <p:spPr>
          <a:xfrm>
            <a:off x="7351776" y="274320"/>
            <a:ext cx="877824" cy="292608"/>
          </a:xfrm>
          <a:prstGeom prst="roundRect">
            <a:avLst>
              <a:gd name="adj" fmla="val 50000"/>
            </a:avLst>
          </a:prstGeom>
          <a:solidFill>
            <a:srgbClr val="FBFAF4"/>
          </a:solidFill>
          <a:ln w="9525">
            <a:solidFill>
              <a:srgbClr val="DCD7C8"/>
            </a:solidFill>
            <a:prstDash val="solid"/>
          </a:ln>
        </p:spPr>
      </p:sp>
      <p:sp>
        <p:nvSpPr>
          <p:cNvPr id="13" name="Text 11"/>
          <p:cNvSpPr txBox="1"/>
          <p:nvPr/>
        </p:nvSpPr>
        <p:spPr>
          <a:xfrm>
            <a:off x="735177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4" name="Shape 12"/>
          <p:cNvSpPr/>
          <p:nvPr/>
        </p:nvSpPr>
        <p:spPr>
          <a:xfrm>
            <a:off x="11259007" y="219456"/>
            <a:ext cx="384048" cy="384048"/>
          </a:xfrm>
          <a:prstGeom prst="ellipse">
            <a:avLst/>
          </a:prstGeom>
          <a:ln w="12700">
            <a:solidFill>
              <a:srgbClr val="09A1E5"/>
            </a:solidFill>
            <a:prstDash val="solid"/>
          </a:ln>
        </p:spPr>
      </p:sp>
      <p:sp>
        <p:nvSpPr>
          <p:cNvPr id="15" name="Shape 13"/>
          <p:cNvSpPr/>
          <p:nvPr/>
        </p:nvSpPr>
        <p:spPr>
          <a:xfrm>
            <a:off x="11324295" y="284744"/>
            <a:ext cx="253472" cy="253472"/>
          </a:xfrm>
          <a:prstGeom prst="ellipse">
            <a:avLst/>
          </a:prstGeom>
          <a:ln w="15875">
            <a:solidFill>
              <a:srgbClr val="962B7C"/>
            </a:solidFill>
            <a:prstDash val="solid"/>
          </a:ln>
        </p:spPr>
      </p:sp>
      <p:sp>
        <p:nvSpPr>
          <p:cNvPr id="16" name="Shape 14"/>
          <p:cNvSpPr/>
          <p:nvPr/>
        </p:nvSpPr>
        <p:spPr>
          <a:xfrm>
            <a:off x="11389584" y="350032"/>
            <a:ext cx="122895" cy="122895"/>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Năm câu hỏi khuếch đại</a:t>
            </a:r>
            <a:endParaRPr lang="en-US" sz="26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11   24</a:t>
            </a:r>
            <a:endParaRPr lang="en-US" sz="1000" dirty="0"/>
          </a:p>
        </p:txBody>
      </p:sp>
      <p:sp>
        <p:nvSpPr>
          <p:cNvPr id="20" name="Shape 17"/>
          <p:cNvSpPr/>
          <p:nvPr/>
        </p:nvSpPr>
        <p:spPr>
          <a:xfrm>
            <a:off x="548640" y="1828800"/>
            <a:ext cx="11094415" cy="731520"/>
          </a:xfrm>
          <a:prstGeom prst="roundRect">
            <a:avLst>
              <a:gd name="adj" fmla="val 15000"/>
            </a:avLst>
          </a:prstGeom>
          <a:solidFill>
            <a:srgbClr val="FFFFFF"/>
          </a:solidFill>
          <a:ln w="19050">
            <a:solidFill>
              <a:srgbClr val="FF9259"/>
            </a:solidFill>
            <a:prstDash val="solid"/>
          </a:ln>
        </p:spPr>
      </p:sp>
      <p:sp>
        <p:nvSpPr>
          <p:cNvPr id="21" name="Shape 18"/>
          <p:cNvSpPr/>
          <p:nvPr/>
        </p:nvSpPr>
        <p:spPr>
          <a:xfrm>
            <a:off x="731520" y="1920240"/>
            <a:ext cx="548640" cy="548640"/>
          </a:xfrm>
          <a:prstGeom prst="ellipse">
            <a:avLst/>
          </a:prstGeom>
          <a:solidFill>
            <a:srgbClr val="FF9259"/>
          </a:solidFill>
          <a:ln w="12700">
            <a:solidFill>
              <a:srgbClr val="FF9259"/>
            </a:solidFill>
            <a:prstDash val="solid"/>
          </a:ln>
        </p:spPr>
      </p:sp>
      <p:sp>
        <p:nvSpPr>
          <p:cNvPr id="22" name="Text 19"/>
          <p:cNvSpPr txBox="1"/>
          <p:nvPr/>
        </p:nvSpPr>
        <p:spPr>
          <a:xfrm>
            <a:off x="731520" y="1920240"/>
            <a:ext cx="548640" cy="548640"/>
          </a:xfrm>
          <a:prstGeom prst="rect">
            <a:avLst/>
          </a:prstGeom>
          <a:noFill/>
          <a:ln/>
        </p:spPr>
        <p:txBody>
          <a:bodyPr wrap="square" lIns="0" tIns="0" rIns="0" bIns="0" rtlCol="0" anchor="ctr"/>
          <a:lstStyle/>
          <a:p>
            <a:pPr algn="ctr" indent="0" marL="0">
              <a:buNone/>
            </a:pPr>
            <a:r>
              <a:rPr lang="en-US" sz="2040" b="1" dirty="0">
                <a:solidFill>
                  <a:srgbClr val="2A2238"/>
                </a:solidFill>
                <a:latin typeface="Alexandria" pitchFamily="34" charset="0"/>
                <a:ea typeface="Alexandria" pitchFamily="34" charset="-122"/>
                <a:cs typeface="Alexandria" pitchFamily="34" charset="-120"/>
              </a:rPr>
              <a:t>1</a:t>
            </a:r>
            <a:endParaRPr lang="en-US" sz="2040" dirty="0"/>
          </a:p>
        </p:txBody>
      </p:sp>
      <p:sp>
        <p:nvSpPr>
          <p:cNvPr id="23" name="Text 20"/>
          <p:cNvSpPr txBox="1"/>
          <p:nvPr/>
        </p:nvSpPr>
        <p:spPr>
          <a:xfrm>
            <a:off x="1508760" y="1828800"/>
            <a:ext cx="9905695" cy="731520"/>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Điểm chạm nào của khách An Phát?</a:t>
            </a:r>
            <a:endParaRPr lang="en-US" sz="2000" dirty="0"/>
          </a:p>
        </p:txBody>
      </p:sp>
      <p:sp>
        <p:nvSpPr>
          <p:cNvPr id="24" name="Shape 21"/>
          <p:cNvSpPr/>
          <p:nvPr/>
        </p:nvSpPr>
        <p:spPr>
          <a:xfrm>
            <a:off x="548640" y="2679192"/>
            <a:ext cx="11094415" cy="731520"/>
          </a:xfrm>
          <a:prstGeom prst="roundRect">
            <a:avLst>
              <a:gd name="adj" fmla="val 15000"/>
            </a:avLst>
          </a:prstGeom>
          <a:solidFill>
            <a:srgbClr val="FFFFFF"/>
          </a:solidFill>
          <a:ln w="19050">
            <a:solidFill>
              <a:srgbClr val="962B7C"/>
            </a:solidFill>
            <a:prstDash val="solid"/>
          </a:ln>
        </p:spPr>
      </p:sp>
      <p:sp>
        <p:nvSpPr>
          <p:cNvPr id="25" name="Shape 22"/>
          <p:cNvSpPr/>
          <p:nvPr/>
        </p:nvSpPr>
        <p:spPr>
          <a:xfrm>
            <a:off x="731520" y="2770632"/>
            <a:ext cx="548640" cy="548640"/>
          </a:xfrm>
          <a:prstGeom prst="ellipse">
            <a:avLst/>
          </a:prstGeom>
          <a:solidFill>
            <a:srgbClr val="962B7C"/>
          </a:solidFill>
          <a:ln w="12700">
            <a:solidFill>
              <a:srgbClr val="962B7C"/>
            </a:solidFill>
            <a:prstDash val="solid"/>
          </a:ln>
        </p:spPr>
      </p:sp>
      <p:sp>
        <p:nvSpPr>
          <p:cNvPr id="26" name="Text 23"/>
          <p:cNvSpPr txBox="1"/>
          <p:nvPr/>
        </p:nvSpPr>
        <p:spPr>
          <a:xfrm>
            <a:off x="731520" y="2770632"/>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Alexandria" pitchFamily="34" charset="0"/>
                <a:ea typeface="Alexandria" pitchFamily="34" charset="-122"/>
                <a:cs typeface="Alexandria" pitchFamily="34" charset="-120"/>
              </a:rPr>
              <a:t>2</a:t>
            </a:r>
            <a:endParaRPr lang="en-US" sz="2040" dirty="0"/>
          </a:p>
        </p:txBody>
      </p:sp>
      <p:sp>
        <p:nvSpPr>
          <p:cNvPr id="27" name="Text 24"/>
          <p:cNvSpPr txBox="1"/>
          <p:nvPr/>
        </p:nvSpPr>
        <p:spPr>
          <a:xfrm>
            <a:off x="1508760" y="2679192"/>
            <a:ext cx="9905695" cy="731520"/>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Ai khuếch đại — và vì sao khách tin họ?</a:t>
            </a:r>
            <a:endParaRPr lang="en-US" sz="2000" dirty="0"/>
          </a:p>
        </p:txBody>
      </p:sp>
      <p:sp>
        <p:nvSpPr>
          <p:cNvPr id="28" name="Shape 25"/>
          <p:cNvSpPr/>
          <p:nvPr/>
        </p:nvSpPr>
        <p:spPr>
          <a:xfrm>
            <a:off x="548640" y="3529584"/>
            <a:ext cx="11094415" cy="731520"/>
          </a:xfrm>
          <a:prstGeom prst="roundRect">
            <a:avLst>
              <a:gd name="adj" fmla="val 15000"/>
            </a:avLst>
          </a:prstGeom>
          <a:solidFill>
            <a:srgbClr val="FFFFFF"/>
          </a:solidFill>
          <a:ln w="19050">
            <a:solidFill>
              <a:srgbClr val="FF5178"/>
            </a:solidFill>
            <a:prstDash val="solid"/>
          </a:ln>
        </p:spPr>
      </p:sp>
      <p:sp>
        <p:nvSpPr>
          <p:cNvPr id="29" name="Shape 26"/>
          <p:cNvSpPr/>
          <p:nvPr/>
        </p:nvSpPr>
        <p:spPr>
          <a:xfrm>
            <a:off x="731520" y="3621024"/>
            <a:ext cx="548640" cy="548640"/>
          </a:xfrm>
          <a:prstGeom prst="ellipse">
            <a:avLst/>
          </a:prstGeom>
          <a:solidFill>
            <a:srgbClr val="FF5178"/>
          </a:solidFill>
          <a:ln w="12700">
            <a:solidFill>
              <a:srgbClr val="FF5178"/>
            </a:solidFill>
            <a:prstDash val="solid"/>
          </a:ln>
        </p:spPr>
      </p:sp>
      <p:sp>
        <p:nvSpPr>
          <p:cNvPr id="30" name="Text 27"/>
          <p:cNvSpPr txBox="1"/>
          <p:nvPr/>
        </p:nvSpPr>
        <p:spPr>
          <a:xfrm>
            <a:off x="731520" y="3621024"/>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Alexandria" pitchFamily="34" charset="0"/>
                <a:ea typeface="Alexandria" pitchFamily="34" charset="-122"/>
                <a:cs typeface="Alexandria" pitchFamily="34" charset="-120"/>
              </a:rPr>
              <a:t>3</a:t>
            </a:r>
            <a:endParaRPr lang="en-US" sz="2040" dirty="0"/>
          </a:p>
        </p:txBody>
      </p:sp>
      <p:sp>
        <p:nvSpPr>
          <p:cNvPr id="31" name="Text 28"/>
          <p:cNvSpPr txBox="1"/>
          <p:nvPr/>
        </p:nvSpPr>
        <p:spPr>
          <a:xfrm>
            <a:off x="1508760" y="3529584"/>
            <a:ext cx="9905695" cy="731520"/>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Khách được gì (thông tin, lý do để đến)?</a:t>
            </a:r>
            <a:endParaRPr lang="en-US" sz="2000" dirty="0"/>
          </a:p>
        </p:txBody>
      </p:sp>
      <p:sp>
        <p:nvSpPr>
          <p:cNvPr id="32" name="Shape 29"/>
          <p:cNvSpPr/>
          <p:nvPr/>
        </p:nvSpPr>
        <p:spPr>
          <a:xfrm>
            <a:off x="548640" y="4379976"/>
            <a:ext cx="11094415" cy="731520"/>
          </a:xfrm>
          <a:prstGeom prst="roundRect">
            <a:avLst>
              <a:gd name="adj" fmla="val 15000"/>
            </a:avLst>
          </a:prstGeom>
          <a:solidFill>
            <a:srgbClr val="FFFFFF"/>
          </a:solidFill>
          <a:ln w="19050">
            <a:solidFill>
              <a:srgbClr val="09A1E5"/>
            </a:solidFill>
            <a:prstDash val="solid"/>
          </a:ln>
        </p:spPr>
      </p:sp>
      <p:sp>
        <p:nvSpPr>
          <p:cNvPr id="33" name="Shape 30"/>
          <p:cNvSpPr/>
          <p:nvPr/>
        </p:nvSpPr>
        <p:spPr>
          <a:xfrm>
            <a:off x="731520" y="4471416"/>
            <a:ext cx="548640" cy="548640"/>
          </a:xfrm>
          <a:prstGeom prst="ellipse">
            <a:avLst/>
          </a:prstGeom>
          <a:solidFill>
            <a:srgbClr val="09A1E5"/>
          </a:solidFill>
          <a:ln w="12700">
            <a:solidFill>
              <a:srgbClr val="09A1E5"/>
            </a:solidFill>
            <a:prstDash val="solid"/>
          </a:ln>
        </p:spPr>
      </p:sp>
      <p:sp>
        <p:nvSpPr>
          <p:cNvPr id="34" name="Text 31"/>
          <p:cNvSpPr txBox="1"/>
          <p:nvPr/>
        </p:nvSpPr>
        <p:spPr>
          <a:xfrm>
            <a:off x="731520" y="4471416"/>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Alexandria" pitchFamily="34" charset="0"/>
                <a:ea typeface="Alexandria" pitchFamily="34" charset="-122"/>
                <a:cs typeface="Alexandria" pitchFamily="34" charset="-120"/>
              </a:rPr>
              <a:t>4</a:t>
            </a:r>
            <a:endParaRPr lang="en-US" sz="2040" dirty="0"/>
          </a:p>
        </p:txBody>
      </p:sp>
      <p:sp>
        <p:nvSpPr>
          <p:cNvPr id="35" name="Text 32"/>
          <p:cNvSpPr txBox="1"/>
          <p:nvPr/>
        </p:nvSpPr>
        <p:spPr>
          <a:xfrm>
            <a:off x="1508760" y="4379976"/>
            <a:ext cx="9905695" cy="731520"/>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Điều khoản, nguyên tắc nào bảo vệ An Phát?</a:t>
            </a:r>
            <a:endParaRPr lang="en-US" sz="2000" dirty="0"/>
          </a:p>
        </p:txBody>
      </p:sp>
      <p:sp>
        <p:nvSpPr>
          <p:cNvPr id="36" name="Shape 33"/>
          <p:cNvSpPr/>
          <p:nvPr/>
        </p:nvSpPr>
        <p:spPr>
          <a:xfrm>
            <a:off x="548640" y="5230368"/>
            <a:ext cx="11094415" cy="731520"/>
          </a:xfrm>
          <a:prstGeom prst="roundRect">
            <a:avLst>
              <a:gd name="adj" fmla="val 15000"/>
            </a:avLst>
          </a:prstGeom>
          <a:solidFill>
            <a:srgbClr val="FFFFFF"/>
          </a:solidFill>
          <a:ln w="19050">
            <a:solidFill>
              <a:srgbClr val="49B296"/>
            </a:solidFill>
            <a:prstDash val="solid"/>
          </a:ln>
        </p:spPr>
      </p:sp>
      <p:sp>
        <p:nvSpPr>
          <p:cNvPr id="37" name="Shape 34"/>
          <p:cNvSpPr/>
          <p:nvPr/>
        </p:nvSpPr>
        <p:spPr>
          <a:xfrm>
            <a:off x="731520" y="5321808"/>
            <a:ext cx="548640" cy="548640"/>
          </a:xfrm>
          <a:prstGeom prst="ellipse">
            <a:avLst/>
          </a:prstGeom>
          <a:solidFill>
            <a:srgbClr val="49B296"/>
          </a:solidFill>
          <a:ln w="12700">
            <a:solidFill>
              <a:srgbClr val="49B296"/>
            </a:solidFill>
            <a:prstDash val="solid"/>
          </a:ln>
        </p:spPr>
      </p:sp>
      <p:sp>
        <p:nvSpPr>
          <p:cNvPr id="38" name="Text 35"/>
          <p:cNvSpPr txBox="1"/>
          <p:nvPr/>
        </p:nvSpPr>
        <p:spPr>
          <a:xfrm>
            <a:off x="731520" y="5321808"/>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Alexandria" pitchFamily="34" charset="0"/>
                <a:ea typeface="Alexandria" pitchFamily="34" charset="-122"/>
                <a:cs typeface="Alexandria" pitchFamily="34" charset="-120"/>
              </a:rPr>
              <a:t>5</a:t>
            </a:r>
            <a:endParaRPr lang="en-US" sz="2040" dirty="0"/>
          </a:p>
        </p:txBody>
      </p:sp>
      <p:sp>
        <p:nvSpPr>
          <p:cNvPr id="39" name="Text 36"/>
          <p:cNvSpPr txBox="1"/>
          <p:nvPr/>
        </p:nvSpPr>
        <p:spPr>
          <a:xfrm>
            <a:off x="1508760" y="5230368"/>
            <a:ext cx="9905695" cy="731520"/>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Đo bằng output – outcome nào?</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87782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11.1 KOL</a:t>
            </a:r>
            <a:endParaRPr lang="en-US" sz="1000" dirty="0"/>
          </a:p>
        </p:txBody>
      </p:sp>
      <p:sp>
        <p:nvSpPr>
          <p:cNvPr id="6" name="Shape 4"/>
          <p:cNvSpPr/>
          <p:nvPr/>
        </p:nvSpPr>
        <p:spPr>
          <a:xfrm>
            <a:off x="2368296"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368296"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11.2 Báo chí</a:t>
            </a:r>
            <a:endParaRPr lang="en-US" sz="1000" dirty="0"/>
          </a:p>
        </p:txBody>
      </p:sp>
      <p:sp>
        <p:nvSpPr>
          <p:cNvPr id="8" name="Shape 6"/>
          <p:cNvSpPr/>
          <p:nvPr/>
        </p:nvSpPr>
        <p:spPr>
          <a:xfrm>
            <a:off x="3666744"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3666744"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11.3 Booking &amp; đo lường</a:t>
            </a:r>
            <a:endParaRPr lang="en-US" sz="1000" dirty="0"/>
          </a:p>
        </p:txBody>
      </p:sp>
      <p:sp>
        <p:nvSpPr>
          <p:cNvPr id="10" name="Shape 8"/>
          <p:cNvSpPr/>
          <p:nvPr/>
        </p:nvSpPr>
        <p:spPr>
          <a:xfrm>
            <a:off x="5820156" y="274320"/>
            <a:ext cx="1421892" cy="292608"/>
          </a:xfrm>
          <a:prstGeom prst="roundRect">
            <a:avLst>
              <a:gd name="adj" fmla="val 50000"/>
            </a:avLst>
          </a:prstGeom>
          <a:solidFill>
            <a:srgbClr val="FF5178"/>
          </a:solidFill>
          <a:ln w="9525">
            <a:solidFill>
              <a:srgbClr val="FF5178"/>
            </a:solidFill>
            <a:prstDash val="solid"/>
          </a:ln>
        </p:spPr>
      </p:sp>
      <p:sp>
        <p:nvSpPr>
          <p:cNvPr id="11" name="Text 9"/>
          <p:cNvSpPr txBox="1"/>
          <p:nvPr/>
        </p:nvSpPr>
        <p:spPr>
          <a:xfrm>
            <a:off x="5820156" y="274320"/>
            <a:ext cx="142189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11.4 Khuếch đại</a:t>
            </a:r>
            <a:endParaRPr lang="en-US" sz="1000" dirty="0"/>
          </a:p>
        </p:txBody>
      </p:sp>
      <p:sp>
        <p:nvSpPr>
          <p:cNvPr id="12" name="Shape 10"/>
          <p:cNvSpPr/>
          <p:nvPr/>
        </p:nvSpPr>
        <p:spPr>
          <a:xfrm>
            <a:off x="7351776" y="274320"/>
            <a:ext cx="877824" cy="292608"/>
          </a:xfrm>
          <a:prstGeom prst="roundRect">
            <a:avLst>
              <a:gd name="adj" fmla="val 50000"/>
            </a:avLst>
          </a:prstGeom>
          <a:solidFill>
            <a:srgbClr val="FBFAF4"/>
          </a:solidFill>
          <a:ln w="9525">
            <a:solidFill>
              <a:srgbClr val="DCD7C8"/>
            </a:solidFill>
            <a:prstDash val="solid"/>
          </a:ln>
        </p:spPr>
      </p:sp>
      <p:sp>
        <p:nvSpPr>
          <p:cNvPr id="13" name="Text 11"/>
          <p:cNvSpPr txBox="1"/>
          <p:nvPr/>
        </p:nvSpPr>
        <p:spPr>
          <a:xfrm>
            <a:off x="735177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4" name="Shape 12"/>
          <p:cNvSpPr/>
          <p:nvPr/>
        </p:nvSpPr>
        <p:spPr>
          <a:xfrm>
            <a:off x="11259007" y="219456"/>
            <a:ext cx="384048" cy="384048"/>
          </a:xfrm>
          <a:prstGeom prst="ellipse">
            <a:avLst/>
          </a:prstGeom>
          <a:ln w="12700">
            <a:solidFill>
              <a:srgbClr val="09A1E5"/>
            </a:solidFill>
            <a:prstDash val="solid"/>
          </a:ln>
        </p:spPr>
      </p:sp>
      <p:sp>
        <p:nvSpPr>
          <p:cNvPr id="15" name="Shape 13"/>
          <p:cNvSpPr/>
          <p:nvPr/>
        </p:nvSpPr>
        <p:spPr>
          <a:xfrm>
            <a:off x="11324295" y="284744"/>
            <a:ext cx="253472" cy="253472"/>
          </a:xfrm>
          <a:prstGeom prst="ellipse">
            <a:avLst/>
          </a:prstGeom>
          <a:ln w="15875">
            <a:solidFill>
              <a:srgbClr val="962B7C"/>
            </a:solidFill>
            <a:prstDash val="solid"/>
          </a:ln>
        </p:spPr>
      </p:sp>
      <p:sp>
        <p:nvSpPr>
          <p:cNvPr id="16" name="Shape 14"/>
          <p:cNvSpPr/>
          <p:nvPr/>
        </p:nvSpPr>
        <p:spPr>
          <a:xfrm>
            <a:off x="11389584" y="350032"/>
            <a:ext cx="122895" cy="122895"/>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Thực hành 2 · Khuếch đại điểm chạm trước sự kiện</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Phiếu W11_activity_S6_khuech_dai_truoc_su_kien.md · Danh sách báo chí là giả định.</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11   25</a:t>
            </a:r>
            <a:endParaRPr lang="en-US" sz="1000" dirty="0"/>
          </a:p>
        </p:txBody>
      </p:sp>
      <p:sp>
        <p:nvSpPr>
          <p:cNvPr id="21" name="Text 18"/>
          <p:cNvSpPr txBox="1"/>
          <p:nvPr/>
        </p:nvSpPr>
        <p:spPr>
          <a:xfrm>
            <a:off x="548640" y="1737360"/>
            <a:ext cx="11094415" cy="365760"/>
          </a:xfrm>
          <a:prstGeom prst="rect">
            <a:avLst/>
          </a:prstGeom>
          <a:noFill/>
          <a:ln/>
        </p:spPr>
        <p:txBody>
          <a:bodyPr wrap="square" lIns="0" tIns="0" rIns="0" bIns="0" rtlCol="0" anchor="ctr"/>
          <a:lstStyle/>
          <a:p>
            <a:pPr indent="0" marL="0">
              <a:buNone/>
            </a:pPr>
            <a:r>
              <a:rPr lang="en-US" sz="1300" dirty="0">
                <a:solidFill>
                  <a:srgbClr val="6E6878"/>
                </a:solidFill>
                <a:latin typeface="Alexandria" pitchFamily="34" charset="0"/>
                <a:ea typeface="Alexandria" pitchFamily="34" charset="-122"/>
                <a:cs typeface="Alexandria" pitchFamily="34" charset="-120"/>
              </a:rPr>
              <a:t>Diễn giả: TS. Nam + chị Mai Anh · mục tiêu: tăng tỷ lệ CEO đến trực tiếp</a:t>
            </a:r>
            <a:endParaRPr lang="en-US" sz="1300" dirty="0"/>
          </a:p>
        </p:txBody>
      </p:sp>
      <p:sp>
        <p:nvSpPr>
          <p:cNvPr id="22" name="Shape 19"/>
          <p:cNvSpPr/>
          <p:nvPr/>
        </p:nvSpPr>
        <p:spPr>
          <a:xfrm>
            <a:off x="1097280" y="2194560"/>
            <a:ext cx="2286000" cy="384048"/>
          </a:xfrm>
          <a:prstGeom prst="roundRect">
            <a:avLst>
              <a:gd name="adj" fmla="val 28571"/>
            </a:avLst>
          </a:prstGeom>
          <a:solidFill>
            <a:srgbClr val="962B7C"/>
          </a:solidFill>
          <a:ln w="12700">
            <a:solidFill>
              <a:srgbClr val="962B7C"/>
            </a:solidFill>
            <a:prstDash val="solid"/>
          </a:ln>
        </p:spPr>
      </p:sp>
      <p:sp>
        <p:nvSpPr>
          <p:cNvPr id="23" name="Text 20"/>
          <p:cNvSpPr txBox="1"/>
          <p:nvPr/>
        </p:nvSpPr>
        <p:spPr>
          <a:xfrm>
            <a:off x="1261872" y="2194560"/>
            <a:ext cx="1956816" cy="384048"/>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Kênh</a:t>
            </a:r>
            <a:endParaRPr lang="en-US" sz="1500" dirty="0"/>
          </a:p>
        </p:txBody>
      </p:sp>
      <p:sp>
        <p:nvSpPr>
          <p:cNvPr id="24" name="Shape 21"/>
          <p:cNvSpPr/>
          <p:nvPr/>
        </p:nvSpPr>
        <p:spPr>
          <a:xfrm>
            <a:off x="3474720" y="2194560"/>
            <a:ext cx="1920240" cy="384048"/>
          </a:xfrm>
          <a:prstGeom prst="roundRect">
            <a:avLst>
              <a:gd name="adj" fmla="val 28571"/>
            </a:avLst>
          </a:prstGeom>
          <a:solidFill>
            <a:srgbClr val="09A1E5"/>
          </a:solidFill>
          <a:ln w="12700">
            <a:solidFill>
              <a:srgbClr val="09A1E5"/>
            </a:solidFill>
            <a:prstDash val="solid"/>
          </a:ln>
        </p:spPr>
      </p:sp>
      <p:sp>
        <p:nvSpPr>
          <p:cNvPr id="25" name="Text 22"/>
          <p:cNvSpPr txBox="1"/>
          <p:nvPr/>
        </p:nvSpPr>
        <p:spPr>
          <a:xfrm>
            <a:off x="3639312" y="2194560"/>
            <a:ext cx="1591056" cy="384048"/>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Mảng</a:t>
            </a:r>
            <a:endParaRPr lang="en-US" sz="1500" dirty="0"/>
          </a:p>
        </p:txBody>
      </p:sp>
      <p:sp>
        <p:nvSpPr>
          <p:cNvPr id="26" name="Shape 23"/>
          <p:cNvSpPr/>
          <p:nvPr/>
        </p:nvSpPr>
        <p:spPr>
          <a:xfrm>
            <a:off x="5486400" y="2194560"/>
            <a:ext cx="1280160" cy="384048"/>
          </a:xfrm>
          <a:prstGeom prst="roundRect">
            <a:avLst>
              <a:gd name="adj" fmla="val 28571"/>
            </a:avLst>
          </a:prstGeom>
          <a:solidFill>
            <a:srgbClr val="FF5178"/>
          </a:solidFill>
          <a:ln w="12700">
            <a:solidFill>
              <a:srgbClr val="FF5178"/>
            </a:solidFill>
            <a:prstDash val="solid"/>
          </a:ln>
        </p:spPr>
      </p:sp>
      <p:sp>
        <p:nvSpPr>
          <p:cNvPr id="27" name="Text 24"/>
          <p:cNvSpPr txBox="1"/>
          <p:nvPr/>
        </p:nvSpPr>
        <p:spPr>
          <a:xfrm>
            <a:off x="5650992" y="2194560"/>
            <a:ext cx="950976" cy="384048"/>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Quan hệ</a:t>
            </a:r>
            <a:endParaRPr lang="en-US" sz="1500" dirty="0"/>
          </a:p>
        </p:txBody>
      </p:sp>
      <p:sp>
        <p:nvSpPr>
          <p:cNvPr id="28" name="Shape 25"/>
          <p:cNvSpPr/>
          <p:nvPr/>
        </p:nvSpPr>
        <p:spPr>
          <a:xfrm>
            <a:off x="548640" y="2688336"/>
            <a:ext cx="6217920" cy="457200"/>
          </a:xfrm>
          <a:prstGeom prst="rect">
            <a:avLst/>
          </a:prstGeom>
          <a:solidFill>
            <a:srgbClr val="F3F0E6"/>
          </a:solidFill>
          <a:ln w="12700">
            <a:solidFill>
              <a:srgbClr val="F3F0E6"/>
            </a:solidFill>
            <a:prstDash val="solid"/>
          </a:ln>
        </p:spPr>
      </p:sp>
      <p:sp>
        <p:nvSpPr>
          <p:cNvPr id="29" name="Text 26"/>
          <p:cNvSpPr txBox="1"/>
          <p:nvPr/>
        </p:nvSpPr>
        <p:spPr>
          <a:xfrm>
            <a:off x="713232" y="2688336"/>
            <a:ext cx="219456" cy="457200"/>
          </a:xfrm>
          <a:prstGeom prst="rect">
            <a:avLst/>
          </a:prstGeom>
          <a:noFill/>
          <a:ln/>
        </p:spPr>
        <p:txBody>
          <a:bodyPr wrap="square" lIns="0" tIns="0" rIns="0" bIns="0" rtlCol="0" anchor="ctr"/>
          <a:lstStyle/>
          <a:p>
            <a:pPr indent="0" marL="0">
              <a:buNone/>
            </a:pPr>
            <a:r>
              <a:rPr lang="en-US" sz="1100" b="1" dirty="0">
                <a:solidFill>
                  <a:srgbClr val="2A2238"/>
                </a:solidFill>
                <a:latin typeface="Alexandria" pitchFamily="34" charset="0"/>
                <a:ea typeface="Alexandria" pitchFamily="34" charset="-122"/>
                <a:cs typeface="Alexandria" pitchFamily="34" charset="-120"/>
              </a:rPr>
              <a:t>A</a:t>
            </a:r>
            <a:endParaRPr lang="en-US" sz="1100" dirty="0"/>
          </a:p>
        </p:txBody>
      </p:sp>
      <p:sp>
        <p:nvSpPr>
          <p:cNvPr id="30" name="Text 27"/>
          <p:cNvSpPr txBox="1"/>
          <p:nvPr/>
        </p:nvSpPr>
        <p:spPr>
          <a:xfrm>
            <a:off x="1261872" y="2688336"/>
            <a:ext cx="2048256" cy="4572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Báo kinh tế lớn</a:t>
            </a:r>
            <a:endParaRPr lang="en-US" sz="1100" dirty="0"/>
          </a:p>
        </p:txBody>
      </p:sp>
      <p:sp>
        <p:nvSpPr>
          <p:cNvPr id="31" name="Text 28"/>
          <p:cNvSpPr txBox="1"/>
          <p:nvPr/>
        </p:nvSpPr>
        <p:spPr>
          <a:xfrm>
            <a:off x="3639312" y="2688336"/>
            <a:ext cx="1682496" cy="4572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Ngân hàng – tài chính</a:t>
            </a:r>
            <a:endParaRPr lang="en-US" sz="1100" dirty="0"/>
          </a:p>
        </p:txBody>
      </p:sp>
      <p:sp>
        <p:nvSpPr>
          <p:cNvPr id="32" name="Text 29"/>
          <p:cNvSpPr txBox="1"/>
          <p:nvPr/>
        </p:nvSpPr>
        <p:spPr>
          <a:xfrm>
            <a:off x="5650992" y="2688336"/>
            <a:ext cx="1042416" cy="4572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Đã làm 2 lần</a:t>
            </a:r>
            <a:endParaRPr lang="en-US" sz="1100" dirty="0"/>
          </a:p>
        </p:txBody>
      </p:sp>
      <p:sp>
        <p:nvSpPr>
          <p:cNvPr id="33" name="Text 30"/>
          <p:cNvSpPr txBox="1"/>
          <p:nvPr/>
        </p:nvSpPr>
        <p:spPr>
          <a:xfrm>
            <a:off x="713232" y="3200400"/>
            <a:ext cx="219456" cy="457200"/>
          </a:xfrm>
          <a:prstGeom prst="rect">
            <a:avLst/>
          </a:prstGeom>
          <a:noFill/>
          <a:ln/>
        </p:spPr>
        <p:txBody>
          <a:bodyPr wrap="square" lIns="0" tIns="0" rIns="0" bIns="0" rtlCol="0" anchor="ctr"/>
          <a:lstStyle/>
          <a:p>
            <a:pPr indent="0" marL="0">
              <a:buNone/>
            </a:pPr>
            <a:r>
              <a:rPr lang="en-US" sz="1100" b="1" dirty="0">
                <a:solidFill>
                  <a:srgbClr val="2A2238"/>
                </a:solidFill>
                <a:latin typeface="Alexandria" pitchFamily="34" charset="0"/>
                <a:ea typeface="Alexandria" pitchFamily="34" charset="-122"/>
                <a:cs typeface="Alexandria" pitchFamily="34" charset="-120"/>
              </a:rPr>
              <a:t>B</a:t>
            </a:r>
            <a:endParaRPr lang="en-US" sz="1100" dirty="0"/>
          </a:p>
        </p:txBody>
      </p:sp>
      <p:sp>
        <p:nvSpPr>
          <p:cNvPr id="34" name="Text 31"/>
          <p:cNvSpPr txBox="1"/>
          <p:nvPr/>
        </p:nvSpPr>
        <p:spPr>
          <a:xfrm>
            <a:off x="1261872" y="3200400"/>
            <a:ext cx="2048256" cy="4572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Tạp chí doanh nghiệp</a:t>
            </a:r>
            <a:endParaRPr lang="en-US" sz="1100" dirty="0"/>
          </a:p>
        </p:txBody>
      </p:sp>
      <p:sp>
        <p:nvSpPr>
          <p:cNvPr id="35" name="Text 32"/>
          <p:cNvSpPr txBox="1"/>
          <p:nvPr/>
        </p:nvSpPr>
        <p:spPr>
          <a:xfrm>
            <a:off x="3639312" y="3200400"/>
            <a:ext cx="1682496" cy="4572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Doanh nghiệp – quản trị</a:t>
            </a:r>
            <a:endParaRPr lang="en-US" sz="1100" dirty="0"/>
          </a:p>
        </p:txBody>
      </p:sp>
      <p:sp>
        <p:nvSpPr>
          <p:cNvPr id="36" name="Text 33"/>
          <p:cNvSpPr txBox="1"/>
          <p:nvPr/>
        </p:nvSpPr>
        <p:spPr>
          <a:xfrm>
            <a:off x="5650992" y="3200400"/>
            <a:ext cx="1042416" cy="4572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Chưa quen</a:t>
            </a:r>
            <a:endParaRPr lang="en-US" sz="1100" dirty="0"/>
          </a:p>
        </p:txBody>
      </p:sp>
      <p:sp>
        <p:nvSpPr>
          <p:cNvPr id="37" name="Shape 34"/>
          <p:cNvSpPr/>
          <p:nvPr/>
        </p:nvSpPr>
        <p:spPr>
          <a:xfrm>
            <a:off x="548640" y="3712464"/>
            <a:ext cx="6217920" cy="457200"/>
          </a:xfrm>
          <a:prstGeom prst="rect">
            <a:avLst/>
          </a:prstGeom>
          <a:solidFill>
            <a:srgbClr val="F3F0E6"/>
          </a:solidFill>
          <a:ln w="12700">
            <a:solidFill>
              <a:srgbClr val="F3F0E6"/>
            </a:solidFill>
            <a:prstDash val="solid"/>
          </a:ln>
        </p:spPr>
      </p:sp>
      <p:sp>
        <p:nvSpPr>
          <p:cNvPr id="38" name="Text 35"/>
          <p:cNvSpPr txBox="1"/>
          <p:nvPr/>
        </p:nvSpPr>
        <p:spPr>
          <a:xfrm>
            <a:off x="713232" y="3712464"/>
            <a:ext cx="219456" cy="457200"/>
          </a:xfrm>
          <a:prstGeom prst="rect">
            <a:avLst/>
          </a:prstGeom>
          <a:noFill/>
          <a:ln/>
        </p:spPr>
        <p:txBody>
          <a:bodyPr wrap="square" lIns="0" tIns="0" rIns="0" bIns="0" rtlCol="0" anchor="ctr"/>
          <a:lstStyle/>
          <a:p>
            <a:pPr indent="0" marL="0">
              <a:buNone/>
            </a:pPr>
            <a:r>
              <a:rPr lang="en-US" sz="1100" b="1" dirty="0">
                <a:solidFill>
                  <a:srgbClr val="2A2238"/>
                </a:solidFill>
                <a:latin typeface="Alexandria" pitchFamily="34" charset="0"/>
                <a:ea typeface="Alexandria" pitchFamily="34" charset="-122"/>
                <a:cs typeface="Alexandria" pitchFamily="34" charset="-120"/>
              </a:rPr>
              <a:t>C</a:t>
            </a:r>
            <a:endParaRPr lang="en-US" sz="1100" dirty="0"/>
          </a:p>
        </p:txBody>
      </p:sp>
      <p:sp>
        <p:nvSpPr>
          <p:cNvPr id="39" name="Text 36"/>
          <p:cNvSpPr txBox="1"/>
          <p:nvPr/>
        </p:nvSpPr>
        <p:spPr>
          <a:xfrm>
            <a:off x="1261872" y="3712464"/>
            <a:ext cx="2048256" cy="4572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Báo điện tử</a:t>
            </a:r>
            <a:endParaRPr lang="en-US" sz="1100" dirty="0"/>
          </a:p>
        </p:txBody>
      </p:sp>
      <p:sp>
        <p:nvSpPr>
          <p:cNvPr id="40" name="Text 37"/>
          <p:cNvSpPr txBox="1"/>
          <p:nvPr/>
        </p:nvSpPr>
        <p:spPr>
          <a:xfrm>
            <a:off x="3639312" y="3712464"/>
            <a:ext cx="1682496" cy="4572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Giải trí – sao</a:t>
            </a:r>
            <a:endParaRPr lang="en-US" sz="1100" dirty="0"/>
          </a:p>
        </p:txBody>
      </p:sp>
      <p:sp>
        <p:nvSpPr>
          <p:cNvPr id="41" name="Text 38"/>
          <p:cNvSpPr txBox="1"/>
          <p:nvPr/>
        </p:nvSpPr>
        <p:spPr>
          <a:xfrm>
            <a:off x="5650992" y="3712464"/>
            <a:ext cx="1042416" cy="4572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Đã quen</a:t>
            </a:r>
            <a:endParaRPr lang="en-US" sz="1100" dirty="0"/>
          </a:p>
        </p:txBody>
      </p:sp>
      <p:sp>
        <p:nvSpPr>
          <p:cNvPr id="42" name="Text 39"/>
          <p:cNvSpPr txBox="1"/>
          <p:nvPr/>
        </p:nvSpPr>
        <p:spPr>
          <a:xfrm>
            <a:off x="713232" y="4224528"/>
            <a:ext cx="219456" cy="457200"/>
          </a:xfrm>
          <a:prstGeom prst="rect">
            <a:avLst/>
          </a:prstGeom>
          <a:noFill/>
          <a:ln/>
        </p:spPr>
        <p:txBody>
          <a:bodyPr wrap="square" lIns="0" tIns="0" rIns="0" bIns="0" rtlCol="0" anchor="ctr"/>
          <a:lstStyle/>
          <a:p>
            <a:pPr indent="0" marL="0">
              <a:buNone/>
            </a:pPr>
            <a:r>
              <a:rPr lang="en-US" sz="1100" b="1" dirty="0">
                <a:solidFill>
                  <a:srgbClr val="2A2238"/>
                </a:solidFill>
                <a:latin typeface="Alexandria" pitchFamily="34" charset="0"/>
                <a:ea typeface="Alexandria" pitchFamily="34" charset="-122"/>
                <a:cs typeface="Alexandria" pitchFamily="34" charset="-120"/>
              </a:rPr>
              <a:t>D</a:t>
            </a:r>
            <a:endParaRPr lang="en-US" sz="1100" dirty="0"/>
          </a:p>
        </p:txBody>
      </p:sp>
      <p:sp>
        <p:nvSpPr>
          <p:cNvPr id="43" name="Text 40"/>
          <p:cNvSpPr txBox="1"/>
          <p:nvPr/>
        </p:nvSpPr>
        <p:spPr>
          <a:xfrm>
            <a:off x="1261872" y="4224528"/>
            <a:ext cx="2048256" cy="4572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Đài truyền hình</a:t>
            </a:r>
            <a:endParaRPr lang="en-US" sz="1100" dirty="0"/>
          </a:p>
        </p:txBody>
      </p:sp>
      <p:sp>
        <p:nvSpPr>
          <p:cNvPr id="44" name="Text 41"/>
          <p:cNvSpPr txBox="1"/>
          <p:nvPr/>
        </p:nvSpPr>
        <p:spPr>
          <a:xfrm>
            <a:off x="3639312" y="4224528"/>
            <a:ext cx="1682496" cy="4572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Kinh tế, đại chúng</a:t>
            </a:r>
            <a:endParaRPr lang="en-US" sz="1100" dirty="0"/>
          </a:p>
        </p:txBody>
      </p:sp>
      <p:sp>
        <p:nvSpPr>
          <p:cNvPr id="45" name="Text 42"/>
          <p:cNvSpPr txBox="1"/>
          <p:nvPr/>
        </p:nvSpPr>
        <p:spPr>
          <a:xfrm>
            <a:off x="5650992" y="4224528"/>
            <a:ext cx="1042416" cy="4572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Chưa quen</a:t>
            </a:r>
            <a:endParaRPr lang="en-US" sz="1100" dirty="0"/>
          </a:p>
        </p:txBody>
      </p:sp>
      <p:sp>
        <p:nvSpPr>
          <p:cNvPr id="46" name="Shape 43"/>
          <p:cNvSpPr/>
          <p:nvPr/>
        </p:nvSpPr>
        <p:spPr>
          <a:xfrm>
            <a:off x="548640" y="4736592"/>
            <a:ext cx="6217920" cy="457200"/>
          </a:xfrm>
          <a:prstGeom prst="rect">
            <a:avLst/>
          </a:prstGeom>
          <a:solidFill>
            <a:srgbClr val="F3F0E6"/>
          </a:solidFill>
          <a:ln w="12700">
            <a:solidFill>
              <a:srgbClr val="F3F0E6"/>
            </a:solidFill>
            <a:prstDash val="solid"/>
          </a:ln>
        </p:spPr>
      </p:sp>
      <p:sp>
        <p:nvSpPr>
          <p:cNvPr id="47" name="Text 44"/>
          <p:cNvSpPr txBox="1"/>
          <p:nvPr/>
        </p:nvSpPr>
        <p:spPr>
          <a:xfrm>
            <a:off x="713232" y="4736592"/>
            <a:ext cx="219456" cy="457200"/>
          </a:xfrm>
          <a:prstGeom prst="rect">
            <a:avLst/>
          </a:prstGeom>
          <a:noFill/>
          <a:ln/>
        </p:spPr>
        <p:txBody>
          <a:bodyPr wrap="square" lIns="0" tIns="0" rIns="0" bIns="0" rtlCol="0" anchor="ctr"/>
          <a:lstStyle/>
          <a:p>
            <a:pPr indent="0" marL="0">
              <a:buNone/>
            </a:pPr>
            <a:r>
              <a:rPr lang="en-US" sz="1100" b="1" dirty="0">
                <a:solidFill>
                  <a:srgbClr val="2A2238"/>
                </a:solidFill>
                <a:latin typeface="Alexandria" pitchFamily="34" charset="0"/>
                <a:ea typeface="Alexandria" pitchFamily="34" charset="-122"/>
                <a:cs typeface="Alexandria" pitchFamily="34" charset="-120"/>
              </a:rPr>
              <a:t>E</a:t>
            </a:r>
            <a:endParaRPr lang="en-US" sz="1100" dirty="0"/>
          </a:p>
        </p:txBody>
      </p:sp>
      <p:sp>
        <p:nvSpPr>
          <p:cNvPr id="48" name="Text 45"/>
          <p:cNvSpPr txBox="1"/>
          <p:nvPr/>
        </p:nvSpPr>
        <p:spPr>
          <a:xfrm>
            <a:off x="1261872" y="4736592"/>
            <a:ext cx="2048256" cy="4572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Trang tin “đăng theo yêu cầu, có báo giá”</a:t>
            </a:r>
            <a:endParaRPr lang="en-US" sz="1100" dirty="0"/>
          </a:p>
        </p:txBody>
      </p:sp>
      <p:sp>
        <p:nvSpPr>
          <p:cNvPr id="49" name="Text 46"/>
          <p:cNvSpPr txBox="1"/>
          <p:nvPr/>
        </p:nvSpPr>
        <p:spPr>
          <a:xfrm>
            <a:off x="3639312" y="4736592"/>
            <a:ext cx="1682496" cy="4572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Tổng hợp</a:t>
            </a:r>
            <a:endParaRPr lang="en-US" sz="1100" dirty="0"/>
          </a:p>
        </p:txBody>
      </p:sp>
      <p:sp>
        <p:nvSpPr>
          <p:cNvPr id="50" name="Text 47"/>
          <p:cNvSpPr txBox="1"/>
          <p:nvPr/>
        </p:nvSpPr>
        <p:spPr>
          <a:xfrm>
            <a:off x="5650992" y="4736592"/>
            <a:ext cx="1042416" cy="4572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Tự chào giá</a:t>
            </a:r>
            <a:endParaRPr lang="en-US" sz="1100" dirty="0"/>
          </a:p>
        </p:txBody>
      </p:sp>
      <p:sp>
        <p:nvSpPr>
          <p:cNvPr id="51" name="Text 48"/>
          <p:cNvSpPr txBox="1"/>
          <p:nvPr/>
        </p:nvSpPr>
        <p:spPr>
          <a:xfrm>
            <a:off x="7132320" y="2194560"/>
            <a:ext cx="4510735" cy="914400"/>
          </a:xfrm>
          <a:prstGeom prst="rect">
            <a:avLst/>
          </a:prstGeom>
          <a:noFill/>
          <a:ln/>
        </p:spPr>
        <p:txBody>
          <a:bodyPr wrap="square" lIns="0" tIns="0" rIns="0" bIns="0" rtlCol="0" anchor="t"/>
          <a:lstStyle/>
          <a:p>
            <a:pPr indent="0" marL="0">
              <a:buNone/>
            </a:pPr>
            <a:r>
              <a:rPr lang="en-US" sz="1200" dirty="0">
                <a:solidFill>
                  <a:srgbClr val="2A2238"/>
                </a:solidFill>
                <a:latin typeface="Alexandria" pitchFamily="34" charset="0"/>
                <a:ea typeface="Alexandria" pitchFamily="34" charset="-122"/>
                <a:cs typeface="Alexandria" pitchFamily="34" charset="-120"/>
              </a:rPr>
              <a:t>6 cột: điểm chạm · ai khuếch đại, vì sao tin · khách được gì · bảo vệ An Phát · 1 output + 1 outcome · earned hay paid</a:t>
            </a:r>
            <a:endParaRPr lang="en-US" sz="1200" dirty="0"/>
          </a:p>
        </p:txBody>
      </p:sp>
      <p:sp>
        <p:nvSpPr>
          <p:cNvPr id="52" name="Shape 49"/>
          <p:cNvSpPr/>
          <p:nvPr/>
        </p:nvSpPr>
        <p:spPr>
          <a:xfrm>
            <a:off x="7132320" y="3063240"/>
            <a:ext cx="658368" cy="658368"/>
          </a:xfrm>
          <a:prstGeom prst="ellipse">
            <a:avLst/>
          </a:prstGeom>
          <a:solidFill>
            <a:srgbClr val="FF9259"/>
          </a:solidFill>
          <a:ln w="12700">
            <a:solidFill>
              <a:srgbClr val="FF9259"/>
            </a:solidFill>
            <a:prstDash val="solid"/>
          </a:ln>
        </p:spPr>
      </p:sp>
      <p:sp>
        <p:nvSpPr>
          <p:cNvPr id="53" name="Text 50"/>
          <p:cNvSpPr txBox="1"/>
          <p:nvPr/>
        </p:nvSpPr>
        <p:spPr>
          <a:xfrm>
            <a:off x="7132320" y="3063240"/>
            <a:ext cx="658368" cy="658368"/>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15’</a:t>
            </a:r>
            <a:endParaRPr lang="en-US" sz="1600" dirty="0"/>
          </a:p>
        </p:txBody>
      </p:sp>
      <p:sp>
        <p:nvSpPr>
          <p:cNvPr id="54" name="Text 51"/>
          <p:cNvSpPr txBox="1"/>
          <p:nvPr/>
        </p:nvSpPr>
        <p:spPr>
          <a:xfrm>
            <a:off x="7955280" y="3063240"/>
            <a:ext cx="3687775" cy="65836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Lập kế hoạch ≥ 4 điểm chạm trên A1</a:t>
            </a:r>
            <a:endParaRPr lang="en-US" sz="1200" dirty="0"/>
          </a:p>
        </p:txBody>
      </p:sp>
      <p:sp>
        <p:nvSpPr>
          <p:cNvPr id="55" name="Shape 52"/>
          <p:cNvSpPr/>
          <p:nvPr/>
        </p:nvSpPr>
        <p:spPr>
          <a:xfrm>
            <a:off x="7132320" y="3840480"/>
            <a:ext cx="658368" cy="658368"/>
          </a:xfrm>
          <a:prstGeom prst="ellipse">
            <a:avLst/>
          </a:prstGeom>
          <a:solidFill>
            <a:srgbClr val="FF5178"/>
          </a:solidFill>
          <a:ln w="12700">
            <a:solidFill>
              <a:srgbClr val="FF5178"/>
            </a:solidFill>
            <a:prstDash val="solid"/>
          </a:ln>
        </p:spPr>
      </p:sp>
      <p:sp>
        <p:nvSpPr>
          <p:cNvPr id="56" name="Text 53"/>
          <p:cNvSpPr txBox="1"/>
          <p:nvPr/>
        </p:nvSpPr>
        <p:spPr>
          <a:xfrm>
            <a:off x="7132320" y="3840480"/>
            <a:ext cx="658368" cy="658368"/>
          </a:xfrm>
          <a:prstGeom prst="rect">
            <a:avLst/>
          </a:prstGeom>
          <a:noFill/>
          <a:ln/>
        </p:spPr>
        <p:txBody>
          <a:bodyPr wrap="square" lIns="0" tIns="0" rIns="0" bIns="0" rtlCol="0" anchor="ctr"/>
          <a:lstStyle/>
          <a:p>
            <a:pPr algn="ctr" indent="0" marL="0">
              <a:buNone/>
            </a:pPr>
            <a:r>
              <a:rPr lang="en-US" sz="1200" b="1" dirty="0">
                <a:solidFill>
                  <a:srgbClr val="FFFFFF"/>
                </a:solidFill>
                <a:latin typeface="Alexandria" pitchFamily="34" charset="0"/>
                <a:ea typeface="Alexandria" pitchFamily="34" charset="-122"/>
                <a:cs typeface="Alexandria" pitchFamily="34" charset="-120"/>
              </a:rPr>
              <a:t>2×4’</a:t>
            </a:r>
            <a:endParaRPr lang="en-US" sz="1200" dirty="0"/>
          </a:p>
        </p:txBody>
      </p:sp>
      <p:sp>
        <p:nvSpPr>
          <p:cNvPr id="57" name="Text 54"/>
          <p:cNvSpPr txBox="1"/>
          <p:nvPr/>
        </p:nvSpPr>
        <p:spPr>
          <a:xfrm>
            <a:off x="7955280" y="3840480"/>
            <a:ext cx="3687775" cy="65836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Xoay trạm: vai chị Vy (Thương hiệu) — 🟨 1 câu hỏi, 🟥 1 lo ngại</a:t>
            </a:r>
            <a:endParaRPr lang="en-US" sz="1200" dirty="0"/>
          </a:p>
        </p:txBody>
      </p:sp>
      <p:sp>
        <p:nvSpPr>
          <p:cNvPr id="58" name="Shape 55"/>
          <p:cNvSpPr/>
          <p:nvPr/>
        </p:nvSpPr>
        <p:spPr>
          <a:xfrm>
            <a:off x="7132320" y="4617720"/>
            <a:ext cx="658368" cy="658368"/>
          </a:xfrm>
          <a:prstGeom prst="ellipse">
            <a:avLst/>
          </a:prstGeom>
          <a:solidFill>
            <a:srgbClr val="49B296"/>
          </a:solidFill>
          <a:ln w="12700">
            <a:solidFill>
              <a:srgbClr val="49B296"/>
            </a:solidFill>
            <a:prstDash val="solid"/>
          </a:ln>
        </p:spPr>
      </p:sp>
      <p:sp>
        <p:nvSpPr>
          <p:cNvPr id="59" name="Text 56"/>
          <p:cNvSpPr txBox="1"/>
          <p:nvPr/>
        </p:nvSpPr>
        <p:spPr>
          <a:xfrm>
            <a:off x="7132320" y="4617720"/>
            <a:ext cx="658368" cy="658368"/>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4’</a:t>
            </a:r>
            <a:endParaRPr lang="en-US" sz="1600" dirty="0"/>
          </a:p>
        </p:txBody>
      </p:sp>
      <p:sp>
        <p:nvSpPr>
          <p:cNvPr id="60" name="Text 57"/>
          <p:cNvSpPr txBox="1"/>
          <p:nvPr/>
        </p:nvSpPr>
        <p:spPr>
          <a:xfrm>
            <a:off x="7955280" y="4617720"/>
            <a:ext cx="3687775" cy="65836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Về bàn, sửa một dòng</a:t>
            </a:r>
            <a:endParaRPr lang="en-US" sz="1200" dirty="0"/>
          </a:p>
        </p:txBody>
      </p:sp>
      <p:sp>
        <p:nvSpPr>
          <p:cNvPr id="61" name="Shape 58"/>
          <p:cNvSpPr/>
          <p:nvPr/>
        </p:nvSpPr>
        <p:spPr>
          <a:xfrm>
            <a:off x="548640" y="5532120"/>
            <a:ext cx="11094415" cy="548640"/>
          </a:xfrm>
          <a:prstGeom prst="roundRect">
            <a:avLst>
              <a:gd name="adj" fmla="val 20000"/>
            </a:avLst>
          </a:prstGeom>
          <a:solidFill>
            <a:srgbClr val="FFF3C4"/>
          </a:solidFill>
          <a:ln w="12700">
            <a:solidFill>
              <a:srgbClr val="FFD23B"/>
            </a:solidFill>
            <a:prstDash val="solid"/>
          </a:ln>
        </p:spPr>
      </p:sp>
      <p:sp>
        <p:nvSpPr>
          <p:cNvPr id="62" name="Text 59"/>
          <p:cNvSpPr txBox="1"/>
          <p:nvPr/>
        </p:nvSpPr>
        <p:spPr>
          <a:xfrm>
            <a:off x="822960" y="5532120"/>
            <a:ext cx="10545775" cy="54864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Dùng năm câu hỏi khuếch đại (slide trước) cho mọi dòng.</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87782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11.1 KOL</a:t>
            </a:r>
            <a:endParaRPr lang="en-US" sz="1000" dirty="0"/>
          </a:p>
        </p:txBody>
      </p:sp>
      <p:sp>
        <p:nvSpPr>
          <p:cNvPr id="6" name="Shape 4"/>
          <p:cNvSpPr/>
          <p:nvPr/>
        </p:nvSpPr>
        <p:spPr>
          <a:xfrm>
            <a:off x="2368296"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368296"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11.2 Báo chí</a:t>
            </a:r>
            <a:endParaRPr lang="en-US" sz="1000" dirty="0"/>
          </a:p>
        </p:txBody>
      </p:sp>
      <p:sp>
        <p:nvSpPr>
          <p:cNvPr id="8" name="Shape 6"/>
          <p:cNvSpPr/>
          <p:nvPr/>
        </p:nvSpPr>
        <p:spPr>
          <a:xfrm>
            <a:off x="3666744"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3666744"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11.3 Booking &amp; đo lường</a:t>
            </a:r>
            <a:endParaRPr lang="en-US" sz="1000" dirty="0"/>
          </a:p>
        </p:txBody>
      </p:sp>
      <p:sp>
        <p:nvSpPr>
          <p:cNvPr id="10" name="Shape 8"/>
          <p:cNvSpPr/>
          <p:nvPr/>
        </p:nvSpPr>
        <p:spPr>
          <a:xfrm>
            <a:off x="5820156" y="274320"/>
            <a:ext cx="1421892"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5820156"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11.4 Khuếch đại</a:t>
            </a:r>
            <a:endParaRPr lang="en-US" sz="1000" dirty="0"/>
          </a:p>
        </p:txBody>
      </p:sp>
      <p:sp>
        <p:nvSpPr>
          <p:cNvPr id="12" name="Shape 10"/>
          <p:cNvSpPr/>
          <p:nvPr/>
        </p:nvSpPr>
        <p:spPr>
          <a:xfrm>
            <a:off x="7351776" y="274320"/>
            <a:ext cx="877824" cy="292608"/>
          </a:xfrm>
          <a:prstGeom prst="roundRect">
            <a:avLst>
              <a:gd name="adj" fmla="val 50000"/>
            </a:avLst>
          </a:prstGeom>
          <a:solidFill>
            <a:srgbClr val="49B296"/>
          </a:solidFill>
          <a:ln w="9525">
            <a:solidFill>
              <a:srgbClr val="49B296"/>
            </a:solidFill>
            <a:prstDash val="solid"/>
          </a:ln>
        </p:spPr>
      </p:sp>
      <p:sp>
        <p:nvSpPr>
          <p:cNvPr id="13" name="Text 11"/>
          <p:cNvSpPr txBox="1"/>
          <p:nvPr/>
        </p:nvSpPr>
        <p:spPr>
          <a:xfrm>
            <a:off x="7351776"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4" name="Shape 12"/>
          <p:cNvSpPr/>
          <p:nvPr/>
        </p:nvSpPr>
        <p:spPr>
          <a:xfrm>
            <a:off x="11259007" y="219456"/>
            <a:ext cx="384048" cy="384048"/>
          </a:xfrm>
          <a:prstGeom prst="ellipse">
            <a:avLst/>
          </a:prstGeom>
          <a:ln w="12700">
            <a:solidFill>
              <a:srgbClr val="09A1E5"/>
            </a:solidFill>
            <a:prstDash val="solid"/>
          </a:ln>
        </p:spPr>
      </p:sp>
      <p:sp>
        <p:nvSpPr>
          <p:cNvPr id="15" name="Shape 13"/>
          <p:cNvSpPr/>
          <p:nvPr/>
        </p:nvSpPr>
        <p:spPr>
          <a:xfrm>
            <a:off x="11324295" y="284744"/>
            <a:ext cx="253472" cy="253472"/>
          </a:xfrm>
          <a:prstGeom prst="ellipse">
            <a:avLst/>
          </a:prstGeom>
          <a:ln w="15875">
            <a:solidFill>
              <a:srgbClr val="962B7C"/>
            </a:solidFill>
            <a:prstDash val="solid"/>
          </a:ln>
        </p:spPr>
      </p:sp>
      <p:sp>
        <p:nvSpPr>
          <p:cNvPr id="16" name="Shape 14"/>
          <p:cNvSpPr/>
          <p:nvPr/>
        </p:nvSpPr>
        <p:spPr>
          <a:xfrm>
            <a:off x="11389584" y="350032"/>
            <a:ext cx="122895" cy="122895"/>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Ba ý của Buổi 11</a:t>
            </a:r>
            <a:endParaRPr lang="en-US" sz="26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11   26</a:t>
            </a:r>
            <a:endParaRPr lang="en-US" sz="1000" dirty="0"/>
          </a:p>
        </p:txBody>
      </p:sp>
      <p:sp>
        <p:nvSpPr>
          <p:cNvPr id="20" name="Shape 17"/>
          <p:cNvSpPr/>
          <p:nvPr/>
        </p:nvSpPr>
        <p:spPr>
          <a:xfrm>
            <a:off x="548640" y="1828800"/>
            <a:ext cx="11094415" cy="1051560"/>
          </a:xfrm>
          <a:prstGeom prst="roundRect">
            <a:avLst>
              <a:gd name="adj" fmla="val 10435"/>
            </a:avLst>
          </a:prstGeom>
          <a:solidFill>
            <a:srgbClr val="F1E1EE"/>
          </a:solidFill>
          <a:ln w="12700">
            <a:solidFill>
              <a:srgbClr val="962B7C"/>
            </a:solidFill>
            <a:prstDash val="solid"/>
          </a:ln>
        </p:spPr>
      </p:sp>
      <p:sp>
        <p:nvSpPr>
          <p:cNvPr id="21" name="Shape 18"/>
          <p:cNvSpPr/>
          <p:nvPr/>
        </p:nvSpPr>
        <p:spPr>
          <a:xfrm>
            <a:off x="731520" y="1938528"/>
            <a:ext cx="822960" cy="822960"/>
          </a:xfrm>
          <a:prstGeom prst="ellipse">
            <a:avLst/>
          </a:prstGeom>
          <a:solidFill>
            <a:srgbClr val="962B7C"/>
          </a:solidFill>
          <a:ln w="12700">
            <a:solidFill>
              <a:srgbClr val="962B7C"/>
            </a:solidFill>
            <a:prstDash val="solid"/>
          </a:ln>
        </p:spPr>
      </p:sp>
      <p:sp>
        <p:nvSpPr>
          <p:cNvPr id="22" name="Text 19"/>
          <p:cNvSpPr txBox="1"/>
          <p:nvPr/>
        </p:nvSpPr>
        <p:spPr>
          <a:xfrm>
            <a:off x="731520" y="1938528"/>
            <a:ext cx="82296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11.1–2</a:t>
            </a:r>
            <a:endParaRPr lang="en-US" sz="1500" dirty="0"/>
          </a:p>
        </p:txBody>
      </p:sp>
      <p:sp>
        <p:nvSpPr>
          <p:cNvPr id="23" name="Text 20"/>
          <p:cNvSpPr txBox="1"/>
          <p:nvPr/>
        </p:nvSpPr>
        <p:spPr>
          <a:xfrm>
            <a:off x="1783080" y="1828800"/>
            <a:ext cx="9631375" cy="105156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Chọn KOL theo vai trò, độ tin cậy, tương đồng với khách của Key Account và rủi ro — không theo số follower. Hiểu khán giả trước, rồi lập bản đồ nhà báo: mảng × độc giả × mức quan hệ.</a:t>
            </a:r>
            <a:endParaRPr lang="en-US" sz="1500" dirty="0"/>
          </a:p>
        </p:txBody>
      </p:sp>
      <p:sp>
        <p:nvSpPr>
          <p:cNvPr id="24" name="Shape 21"/>
          <p:cNvSpPr/>
          <p:nvPr/>
        </p:nvSpPr>
        <p:spPr>
          <a:xfrm>
            <a:off x="548640" y="3017520"/>
            <a:ext cx="11094415" cy="1051560"/>
          </a:xfrm>
          <a:prstGeom prst="roundRect">
            <a:avLst>
              <a:gd name="adj" fmla="val 10435"/>
            </a:avLst>
          </a:prstGeom>
          <a:solidFill>
            <a:srgbClr val="DDF1FB"/>
          </a:solidFill>
          <a:ln w="12700">
            <a:solidFill>
              <a:srgbClr val="09A1E5"/>
            </a:solidFill>
            <a:prstDash val="solid"/>
          </a:ln>
        </p:spPr>
      </p:sp>
      <p:sp>
        <p:nvSpPr>
          <p:cNvPr id="25" name="Shape 22"/>
          <p:cNvSpPr/>
          <p:nvPr/>
        </p:nvSpPr>
        <p:spPr>
          <a:xfrm>
            <a:off x="731520" y="3127248"/>
            <a:ext cx="822960" cy="822960"/>
          </a:xfrm>
          <a:prstGeom prst="ellipse">
            <a:avLst/>
          </a:prstGeom>
          <a:solidFill>
            <a:srgbClr val="09A1E5"/>
          </a:solidFill>
          <a:ln w="12700">
            <a:solidFill>
              <a:srgbClr val="09A1E5"/>
            </a:solidFill>
            <a:prstDash val="solid"/>
          </a:ln>
        </p:spPr>
      </p:sp>
      <p:sp>
        <p:nvSpPr>
          <p:cNvPr id="26" name="Text 23"/>
          <p:cNvSpPr txBox="1"/>
          <p:nvPr/>
        </p:nvSpPr>
        <p:spPr>
          <a:xfrm>
            <a:off x="731520" y="3127248"/>
            <a:ext cx="82296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Alexandria" pitchFamily="34" charset="0"/>
                <a:ea typeface="Alexandria" pitchFamily="34" charset="-122"/>
                <a:cs typeface="Alexandria" pitchFamily="34" charset="-120"/>
              </a:rPr>
              <a:t>11.3</a:t>
            </a:r>
            <a:endParaRPr lang="en-US" sz="2000" dirty="0"/>
          </a:p>
        </p:txBody>
      </p:sp>
      <p:sp>
        <p:nvSpPr>
          <p:cNvPr id="27" name="Text 24"/>
          <p:cNvSpPr txBox="1"/>
          <p:nvPr/>
        </p:nvSpPr>
        <p:spPr>
          <a:xfrm>
            <a:off x="1783080" y="3017520"/>
            <a:ext cx="9631375" cy="105156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Booking là quy trình: brief → due diligence → hợp đồng (gắn nhãn, duyệt, chấm dứt) → thanh toán có chứng từ → báo cáo outputs – outcomes – impact, không dùng AVE.</a:t>
            </a:r>
            <a:endParaRPr lang="en-US" sz="1500" dirty="0"/>
          </a:p>
        </p:txBody>
      </p:sp>
      <p:sp>
        <p:nvSpPr>
          <p:cNvPr id="28" name="Shape 25"/>
          <p:cNvSpPr/>
          <p:nvPr/>
        </p:nvSpPr>
        <p:spPr>
          <a:xfrm>
            <a:off x="548640" y="4206240"/>
            <a:ext cx="11094415" cy="1051560"/>
          </a:xfrm>
          <a:prstGeom prst="roundRect">
            <a:avLst>
              <a:gd name="adj" fmla="val 10435"/>
            </a:avLst>
          </a:prstGeom>
          <a:solidFill>
            <a:srgbClr val="FFE4EA"/>
          </a:solidFill>
          <a:ln w="12700">
            <a:solidFill>
              <a:srgbClr val="FF5178"/>
            </a:solidFill>
            <a:prstDash val="solid"/>
          </a:ln>
        </p:spPr>
      </p:sp>
      <p:sp>
        <p:nvSpPr>
          <p:cNvPr id="29" name="Shape 26"/>
          <p:cNvSpPr/>
          <p:nvPr/>
        </p:nvSpPr>
        <p:spPr>
          <a:xfrm>
            <a:off x="731520" y="4315968"/>
            <a:ext cx="822960" cy="822960"/>
          </a:xfrm>
          <a:prstGeom prst="ellipse">
            <a:avLst/>
          </a:prstGeom>
          <a:solidFill>
            <a:srgbClr val="FF5178"/>
          </a:solidFill>
          <a:ln w="12700">
            <a:solidFill>
              <a:srgbClr val="FF5178"/>
            </a:solidFill>
            <a:prstDash val="solid"/>
          </a:ln>
        </p:spPr>
      </p:sp>
      <p:sp>
        <p:nvSpPr>
          <p:cNvPr id="30" name="Text 27"/>
          <p:cNvSpPr txBox="1"/>
          <p:nvPr/>
        </p:nvSpPr>
        <p:spPr>
          <a:xfrm>
            <a:off x="731520" y="4315968"/>
            <a:ext cx="82296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Alexandria" pitchFamily="34" charset="0"/>
                <a:ea typeface="Alexandria" pitchFamily="34" charset="-122"/>
                <a:cs typeface="Alexandria" pitchFamily="34" charset="-120"/>
              </a:rPr>
              <a:t>11.4</a:t>
            </a:r>
            <a:endParaRPr lang="en-US" sz="2000" dirty="0"/>
          </a:p>
        </p:txBody>
      </p:sp>
      <p:sp>
        <p:nvSpPr>
          <p:cNvPr id="31" name="Text 28"/>
          <p:cNvSpPr txBox="1"/>
          <p:nvPr/>
        </p:nvSpPr>
        <p:spPr>
          <a:xfrm>
            <a:off x="1783080" y="4206240"/>
            <a:ext cx="9631375" cy="105156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Báo chí và KOL khuếch đại điểm chạm trước sự kiện, cho khách một lý do để đến — và luôn bảo vệ Key Account.</a:t>
            </a:r>
            <a:endParaRPr lang="en-US" sz="1500" dirty="0"/>
          </a:p>
        </p:txBody>
      </p:sp>
      <p:sp>
        <p:nvSpPr>
          <p:cNvPr id="32" name="Shape 29"/>
          <p:cNvSpPr/>
          <p:nvPr/>
        </p:nvSpPr>
        <p:spPr>
          <a:xfrm>
            <a:off x="548640" y="5486400"/>
            <a:ext cx="11094415" cy="685800"/>
          </a:xfrm>
          <a:prstGeom prst="roundRect">
            <a:avLst>
              <a:gd name="adj" fmla="val 16000"/>
            </a:avLst>
          </a:prstGeom>
          <a:solidFill>
            <a:srgbClr val="FFF3C4"/>
          </a:solidFill>
          <a:ln w="12700">
            <a:solidFill>
              <a:srgbClr val="FFD23B"/>
            </a:solidFill>
            <a:prstDash val="solid"/>
          </a:ln>
        </p:spPr>
      </p:sp>
      <p:sp>
        <p:nvSpPr>
          <p:cNvPr id="33" name="Text 30"/>
          <p:cNvSpPr txBox="1"/>
          <p:nvPr/>
        </p:nvSpPr>
        <p:spPr>
          <a:xfrm>
            <a:off x="822960" y="5486400"/>
            <a:ext cx="10545775" cy="68580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Stakeholder Management Plan: </a:t>
            </a:r>
            <a:pPr indent="0" marL="0">
              <a:buNone/>
            </a:pPr>
            <a:r>
              <a:rPr lang="en-US" sz="1400" dirty="0">
                <a:solidFill>
                  <a:srgbClr val="2A2238"/>
                </a:solidFill>
                <a:latin typeface="Alexandria" pitchFamily="34" charset="0"/>
                <a:ea typeface="Alexandria" pitchFamily="34" charset="-122"/>
                <a:cs typeface="Alexandria" pitchFamily="34" charset="-120"/>
              </a:rPr>
              <a:t>thêm trang “báo chí và KOL” — khán giả, 3 nhà báo/KOL, điều khoản bắt buộc, 3 chỉ số outcome.</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87782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11.1 KOL</a:t>
            </a:r>
            <a:endParaRPr lang="en-US" sz="1000" dirty="0"/>
          </a:p>
        </p:txBody>
      </p:sp>
      <p:sp>
        <p:nvSpPr>
          <p:cNvPr id="6" name="Shape 4"/>
          <p:cNvSpPr/>
          <p:nvPr/>
        </p:nvSpPr>
        <p:spPr>
          <a:xfrm>
            <a:off x="2368296"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368296"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11.2 Báo chí</a:t>
            </a:r>
            <a:endParaRPr lang="en-US" sz="1000" dirty="0"/>
          </a:p>
        </p:txBody>
      </p:sp>
      <p:sp>
        <p:nvSpPr>
          <p:cNvPr id="8" name="Shape 6"/>
          <p:cNvSpPr/>
          <p:nvPr/>
        </p:nvSpPr>
        <p:spPr>
          <a:xfrm>
            <a:off x="3666744"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3666744"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11.3 Booking &amp; đo lường</a:t>
            </a:r>
            <a:endParaRPr lang="en-US" sz="1000" dirty="0"/>
          </a:p>
        </p:txBody>
      </p:sp>
      <p:sp>
        <p:nvSpPr>
          <p:cNvPr id="10" name="Shape 8"/>
          <p:cNvSpPr/>
          <p:nvPr/>
        </p:nvSpPr>
        <p:spPr>
          <a:xfrm>
            <a:off x="5820156" y="274320"/>
            <a:ext cx="1421892"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5820156"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11.4 Khuếch đại</a:t>
            </a:r>
            <a:endParaRPr lang="en-US" sz="1000" dirty="0"/>
          </a:p>
        </p:txBody>
      </p:sp>
      <p:sp>
        <p:nvSpPr>
          <p:cNvPr id="12" name="Shape 10"/>
          <p:cNvSpPr/>
          <p:nvPr/>
        </p:nvSpPr>
        <p:spPr>
          <a:xfrm>
            <a:off x="7351776" y="274320"/>
            <a:ext cx="877824" cy="292608"/>
          </a:xfrm>
          <a:prstGeom prst="roundRect">
            <a:avLst>
              <a:gd name="adj" fmla="val 50000"/>
            </a:avLst>
          </a:prstGeom>
          <a:solidFill>
            <a:srgbClr val="49B296"/>
          </a:solidFill>
          <a:ln w="9525">
            <a:solidFill>
              <a:srgbClr val="49B296"/>
            </a:solidFill>
            <a:prstDash val="solid"/>
          </a:ln>
        </p:spPr>
      </p:sp>
      <p:sp>
        <p:nvSpPr>
          <p:cNvPr id="13" name="Text 11"/>
          <p:cNvSpPr txBox="1"/>
          <p:nvPr/>
        </p:nvSpPr>
        <p:spPr>
          <a:xfrm>
            <a:off x="7351776"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4" name="Shape 12"/>
          <p:cNvSpPr/>
          <p:nvPr/>
        </p:nvSpPr>
        <p:spPr>
          <a:xfrm>
            <a:off x="11259007" y="219456"/>
            <a:ext cx="384048" cy="384048"/>
          </a:xfrm>
          <a:prstGeom prst="ellipse">
            <a:avLst/>
          </a:prstGeom>
          <a:ln w="12700">
            <a:solidFill>
              <a:srgbClr val="09A1E5"/>
            </a:solidFill>
            <a:prstDash val="solid"/>
          </a:ln>
        </p:spPr>
      </p:sp>
      <p:sp>
        <p:nvSpPr>
          <p:cNvPr id="15" name="Shape 13"/>
          <p:cNvSpPr/>
          <p:nvPr/>
        </p:nvSpPr>
        <p:spPr>
          <a:xfrm>
            <a:off x="11324295" y="284744"/>
            <a:ext cx="253472" cy="253472"/>
          </a:xfrm>
          <a:prstGeom prst="ellipse">
            <a:avLst/>
          </a:prstGeom>
          <a:ln w="15875">
            <a:solidFill>
              <a:srgbClr val="962B7C"/>
            </a:solidFill>
            <a:prstDash val="solid"/>
          </a:ln>
        </p:spPr>
      </p:sp>
      <p:sp>
        <p:nvSpPr>
          <p:cNvPr id="16" name="Shape 14"/>
          <p:cNvSpPr/>
          <p:nvPr/>
        </p:nvSpPr>
        <p:spPr>
          <a:xfrm>
            <a:off x="11389584" y="350032"/>
            <a:ext cx="122895" cy="122895"/>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Phiếu kiểm tra cuối giờ</a:t>
            </a:r>
            <a:endParaRPr lang="en-US" sz="26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11   27</a:t>
            </a:r>
            <a:endParaRPr lang="en-US" sz="1000" dirty="0"/>
          </a:p>
        </p:txBody>
      </p:sp>
      <p:sp>
        <p:nvSpPr>
          <p:cNvPr id="20" name="Shape 17"/>
          <p:cNvSpPr/>
          <p:nvPr/>
        </p:nvSpPr>
        <p:spPr>
          <a:xfrm>
            <a:off x="548640" y="1828800"/>
            <a:ext cx="11094415" cy="1280160"/>
          </a:xfrm>
          <a:prstGeom prst="roundRect">
            <a:avLst>
              <a:gd name="adj" fmla="val 8571"/>
            </a:avLst>
          </a:prstGeom>
          <a:solidFill>
            <a:srgbClr val="FFFFFF"/>
          </a:solidFill>
          <a:ln w="12700">
            <a:solidFill>
              <a:srgbClr val="DCD7C8"/>
            </a:solidFill>
            <a:prstDash val="solid"/>
          </a:ln>
        </p:spPr>
      </p:sp>
      <p:sp>
        <p:nvSpPr>
          <p:cNvPr id="21" name="Shape 18"/>
          <p:cNvSpPr/>
          <p:nvPr/>
        </p:nvSpPr>
        <p:spPr>
          <a:xfrm>
            <a:off x="777240" y="2148840"/>
            <a:ext cx="640080" cy="640080"/>
          </a:xfrm>
          <a:prstGeom prst="ellipse">
            <a:avLst/>
          </a:prstGeom>
          <a:solidFill>
            <a:srgbClr val="962B7C"/>
          </a:solidFill>
          <a:ln w="12700">
            <a:solidFill>
              <a:srgbClr val="962B7C"/>
            </a:solidFill>
            <a:prstDash val="solid"/>
          </a:ln>
        </p:spPr>
      </p:sp>
      <p:sp>
        <p:nvSpPr>
          <p:cNvPr id="22" name="Text 19"/>
          <p:cNvSpPr txBox="1"/>
          <p:nvPr/>
        </p:nvSpPr>
        <p:spPr>
          <a:xfrm>
            <a:off x="777240" y="2148840"/>
            <a:ext cx="640080" cy="640080"/>
          </a:xfrm>
          <a:prstGeom prst="rect">
            <a:avLst/>
          </a:prstGeom>
          <a:noFill/>
          <a:ln/>
        </p:spPr>
        <p:txBody>
          <a:bodyPr wrap="square" lIns="0" tIns="0" rIns="0" bIns="0" rtlCol="0" anchor="ctr"/>
          <a:lstStyle/>
          <a:p>
            <a:pPr algn="ctr" indent="0" marL="0">
              <a:buNone/>
            </a:pPr>
            <a:r>
              <a:rPr lang="en-US" sz="2380" b="1" dirty="0">
                <a:solidFill>
                  <a:srgbClr val="FFFFFF"/>
                </a:solidFill>
                <a:latin typeface="Alexandria" pitchFamily="34" charset="0"/>
                <a:ea typeface="Alexandria" pitchFamily="34" charset="-122"/>
                <a:cs typeface="Alexandria" pitchFamily="34" charset="-120"/>
              </a:rPr>
              <a:t>1</a:t>
            </a:r>
            <a:endParaRPr lang="en-US" sz="2380" dirty="0"/>
          </a:p>
        </p:txBody>
      </p:sp>
      <p:sp>
        <p:nvSpPr>
          <p:cNvPr id="23" name="Text 20"/>
          <p:cNvSpPr txBox="1"/>
          <p:nvPr/>
        </p:nvSpPr>
        <p:spPr>
          <a:xfrm>
            <a:off x="1645920" y="1828800"/>
            <a:ext cx="9768535" cy="128016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Với khách hàng trong dự án cũ của nhóm bạn, bạn chọn loại KOL/diễn giả nào? Bạn đang “mua” khán giả, sự bảo chứng hay nội dung của họ?</a:t>
            </a:r>
            <a:endParaRPr lang="en-US" sz="1700" dirty="0"/>
          </a:p>
        </p:txBody>
      </p:sp>
      <p:sp>
        <p:nvSpPr>
          <p:cNvPr id="24" name="Shape 21"/>
          <p:cNvSpPr/>
          <p:nvPr/>
        </p:nvSpPr>
        <p:spPr>
          <a:xfrm>
            <a:off x="548640" y="3291840"/>
            <a:ext cx="11094415" cy="1280160"/>
          </a:xfrm>
          <a:prstGeom prst="roundRect">
            <a:avLst>
              <a:gd name="adj" fmla="val 8571"/>
            </a:avLst>
          </a:prstGeom>
          <a:solidFill>
            <a:srgbClr val="FFFFFF"/>
          </a:solidFill>
          <a:ln w="12700">
            <a:solidFill>
              <a:srgbClr val="DCD7C8"/>
            </a:solidFill>
            <a:prstDash val="solid"/>
          </a:ln>
        </p:spPr>
      </p:sp>
      <p:sp>
        <p:nvSpPr>
          <p:cNvPr id="25" name="Shape 22"/>
          <p:cNvSpPr/>
          <p:nvPr/>
        </p:nvSpPr>
        <p:spPr>
          <a:xfrm>
            <a:off x="777240" y="3611880"/>
            <a:ext cx="640080" cy="640080"/>
          </a:xfrm>
          <a:prstGeom prst="ellipse">
            <a:avLst/>
          </a:prstGeom>
          <a:solidFill>
            <a:srgbClr val="09A1E5"/>
          </a:solidFill>
          <a:ln w="12700">
            <a:solidFill>
              <a:srgbClr val="09A1E5"/>
            </a:solidFill>
            <a:prstDash val="solid"/>
          </a:ln>
        </p:spPr>
      </p:sp>
      <p:sp>
        <p:nvSpPr>
          <p:cNvPr id="26" name="Text 23"/>
          <p:cNvSpPr txBox="1"/>
          <p:nvPr/>
        </p:nvSpPr>
        <p:spPr>
          <a:xfrm>
            <a:off x="777240" y="3611880"/>
            <a:ext cx="640080" cy="640080"/>
          </a:xfrm>
          <a:prstGeom prst="rect">
            <a:avLst/>
          </a:prstGeom>
          <a:noFill/>
          <a:ln/>
        </p:spPr>
        <p:txBody>
          <a:bodyPr wrap="square" lIns="0" tIns="0" rIns="0" bIns="0" rtlCol="0" anchor="ctr"/>
          <a:lstStyle/>
          <a:p>
            <a:pPr algn="ctr" indent="0" marL="0">
              <a:buNone/>
            </a:pPr>
            <a:r>
              <a:rPr lang="en-US" sz="2380" b="1" dirty="0">
                <a:solidFill>
                  <a:srgbClr val="FFFFFF"/>
                </a:solidFill>
                <a:latin typeface="Alexandria" pitchFamily="34" charset="0"/>
                <a:ea typeface="Alexandria" pitchFamily="34" charset="-122"/>
                <a:cs typeface="Alexandria" pitchFamily="34" charset="-120"/>
              </a:rPr>
              <a:t>2</a:t>
            </a:r>
            <a:endParaRPr lang="en-US" sz="2380" dirty="0"/>
          </a:p>
        </p:txBody>
      </p:sp>
      <p:sp>
        <p:nvSpPr>
          <p:cNvPr id="27" name="Text 24"/>
          <p:cNvSpPr txBox="1"/>
          <p:nvPr/>
        </p:nvSpPr>
        <p:spPr>
          <a:xfrm>
            <a:off x="1645920" y="3291840"/>
            <a:ext cx="9768535" cy="128016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Viết 1 điều khoản bạn nhất định đưa vào hợp đồng với KOL đó, và 1 chỉ số outcome (không phải output) bạn sẽ báo cáo cho khách hàng.</a:t>
            </a:r>
            <a:endParaRPr lang="en-US" sz="1700" dirty="0"/>
          </a:p>
        </p:txBody>
      </p:sp>
      <p:sp>
        <p:nvSpPr>
          <p:cNvPr id="28" name="Shape 25"/>
          <p:cNvSpPr/>
          <p:nvPr/>
        </p:nvSpPr>
        <p:spPr>
          <a:xfrm>
            <a:off x="548640" y="4846320"/>
            <a:ext cx="11094415" cy="1188720"/>
          </a:xfrm>
          <a:prstGeom prst="roundRect">
            <a:avLst>
              <a:gd name="adj" fmla="val 9231"/>
            </a:avLst>
          </a:prstGeom>
          <a:solidFill>
            <a:srgbClr val="E1F3EE"/>
          </a:solidFill>
          <a:ln w="12700">
            <a:solidFill>
              <a:srgbClr val="49B296"/>
            </a:solidFill>
            <a:prstDash val="solid"/>
          </a:ln>
        </p:spPr>
      </p:sp>
      <p:sp>
        <p:nvSpPr>
          <p:cNvPr id="29" name="Text 26"/>
          <p:cNvSpPr txBox="1"/>
          <p:nvPr/>
        </p:nvSpPr>
        <p:spPr>
          <a:xfrm>
            <a:off x="822960" y="4846320"/>
            <a:ext cx="10545775" cy="118872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Buổi 12: </a:t>
            </a:r>
            <a:pPr indent="0" marL="0">
              <a:buNone/>
            </a:pPr>
            <a:r>
              <a:rPr lang="en-US" sz="1600" dirty="0">
                <a:solidFill>
                  <a:srgbClr val="2A2238"/>
                </a:solidFill>
                <a:latin typeface="Alexandria" pitchFamily="34" charset="0"/>
                <a:ea typeface="Alexandria" pitchFamily="34" charset="-122"/>
                <a:cs typeface="Alexandria" pitchFamily="34" charset="-120"/>
              </a:rPr>
              <a:t>khi nhà tài trợ, nhà cung cấp, báo chí, KOL xung đột hoặc gặp sự cố — agency xử lý và biến xung đột thành cơ hội thế nào.</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87782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11.1 KOL</a:t>
            </a:r>
            <a:endParaRPr lang="en-US" sz="1000" dirty="0"/>
          </a:p>
        </p:txBody>
      </p:sp>
      <p:sp>
        <p:nvSpPr>
          <p:cNvPr id="6" name="Shape 4"/>
          <p:cNvSpPr/>
          <p:nvPr/>
        </p:nvSpPr>
        <p:spPr>
          <a:xfrm>
            <a:off x="2368296"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368296"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11.2 Báo chí</a:t>
            </a:r>
            <a:endParaRPr lang="en-US" sz="1000" dirty="0"/>
          </a:p>
        </p:txBody>
      </p:sp>
      <p:sp>
        <p:nvSpPr>
          <p:cNvPr id="8" name="Shape 6"/>
          <p:cNvSpPr/>
          <p:nvPr/>
        </p:nvSpPr>
        <p:spPr>
          <a:xfrm>
            <a:off x="3666744"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3666744"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11.3 Booking &amp; đo lường</a:t>
            </a:r>
            <a:endParaRPr lang="en-US" sz="1000" dirty="0"/>
          </a:p>
        </p:txBody>
      </p:sp>
      <p:sp>
        <p:nvSpPr>
          <p:cNvPr id="10" name="Shape 8"/>
          <p:cNvSpPr/>
          <p:nvPr/>
        </p:nvSpPr>
        <p:spPr>
          <a:xfrm>
            <a:off x="5820156" y="274320"/>
            <a:ext cx="1421892"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5820156"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11.4 Khuếch đại</a:t>
            </a:r>
            <a:endParaRPr lang="en-US" sz="1000" dirty="0"/>
          </a:p>
        </p:txBody>
      </p:sp>
      <p:sp>
        <p:nvSpPr>
          <p:cNvPr id="12" name="Shape 10"/>
          <p:cNvSpPr/>
          <p:nvPr/>
        </p:nvSpPr>
        <p:spPr>
          <a:xfrm>
            <a:off x="7351776" y="274320"/>
            <a:ext cx="877824" cy="292608"/>
          </a:xfrm>
          <a:prstGeom prst="roundRect">
            <a:avLst>
              <a:gd name="adj" fmla="val 50000"/>
            </a:avLst>
          </a:prstGeom>
          <a:solidFill>
            <a:srgbClr val="49B296"/>
          </a:solidFill>
          <a:ln w="9525">
            <a:solidFill>
              <a:srgbClr val="49B296"/>
            </a:solidFill>
            <a:prstDash val="solid"/>
          </a:ln>
        </p:spPr>
      </p:sp>
      <p:sp>
        <p:nvSpPr>
          <p:cNvPr id="13" name="Text 11"/>
          <p:cNvSpPr txBox="1"/>
          <p:nvPr/>
        </p:nvSpPr>
        <p:spPr>
          <a:xfrm>
            <a:off x="7351776"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4" name="Shape 12"/>
          <p:cNvSpPr/>
          <p:nvPr/>
        </p:nvSpPr>
        <p:spPr>
          <a:xfrm>
            <a:off x="11259007" y="219456"/>
            <a:ext cx="384048" cy="384048"/>
          </a:xfrm>
          <a:prstGeom prst="ellipse">
            <a:avLst/>
          </a:prstGeom>
          <a:ln w="12700">
            <a:solidFill>
              <a:srgbClr val="09A1E5"/>
            </a:solidFill>
            <a:prstDash val="solid"/>
          </a:ln>
        </p:spPr>
      </p:sp>
      <p:sp>
        <p:nvSpPr>
          <p:cNvPr id="15" name="Shape 13"/>
          <p:cNvSpPr/>
          <p:nvPr/>
        </p:nvSpPr>
        <p:spPr>
          <a:xfrm>
            <a:off x="11324295" y="284744"/>
            <a:ext cx="253472" cy="253472"/>
          </a:xfrm>
          <a:prstGeom prst="ellipse">
            <a:avLst/>
          </a:prstGeom>
          <a:ln w="15875">
            <a:solidFill>
              <a:srgbClr val="962B7C"/>
            </a:solidFill>
            <a:prstDash val="solid"/>
          </a:ln>
        </p:spPr>
      </p:sp>
      <p:sp>
        <p:nvSpPr>
          <p:cNvPr id="16" name="Shape 14"/>
          <p:cNvSpPr/>
          <p:nvPr/>
        </p:nvSpPr>
        <p:spPr>
          <a:xfrm>
            <a:off x="11389584" y="350032"/>
            <a:ext cx="122895" cy="122895"/>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Tài liệu tham khảo (1/2)</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Danh mục APA 7 đầy đủ (kèm DOI/URL): buoi-11_tu-lieu-tong-hop.md, mục 6.</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11   28</a:t>
            </a:r>
            <a:endParaRPr lang="en-US" sz="1000" dirty="0"/>
          </a:p>
        </p:txBody>
      </p:sp>
      <p:sp>
        <p:nvSpPr>
          <p:cNvPr id="21" name="Text 18"/>
          <p:cNvSpPr txBox="1"/>
          <p:nvPr/>
        </p:nvSpPr>
        <p:spPr>
          <a:xfrm>
            <a:off x="548640" y="1783080"/>
            <a:ext cx="640080" cy="530352"/>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X01</a:t>
            </a:r>
            <a:endParaRPr lang="en-US" sz="1100" dirty="0"/>
          </a:p>
        </p:txBody>
      </p:sp>
      <p:sp>
        <p:nvSpPr>
          <p:cNvPr id="22" name="Text 19"/>
          <p:cNvSpPr txBox="1"/>
          <p:nvPr/>
        </p:nvSpPr>
        <p:spPr>
          <a:xfrm>
            <a:off x="1234440" y="1783080"/>
            <a:ext cx="10408615" cy="530352"/>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Campbell, C., &amp; Farrell, J. R. (2020). More than meets the eye: The functional components underlying influencer marketing. Business Horizons, 63(4), 469–479.</a:t>
            </a:r>
            <a:endParaRPr lang="en-US" sz="1100" dirty="0"/>
          </a:p>
        </p:txBody>
      </p:sp>
      <p:sp>
        <p:nvSpPr>
          <p:cNvPr id="23" name="Text 20"/>
          <p:cNvSpPr txBox="1"/>
          <p:nvPr/>
        </p:nvSpPr>
        <p:spPr>
          <a:xfrm>
            <a:off x="548640" y="2386584"/>
            <a:ext cx="640080" cy="530352"/>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X02</a:t>
            </a:r>
            <a:endParaRPr lang="en-US" sz="1100" dirty="0"/>
          </a:p>
        </p:txBody>
      </p:sp>
      <p:sp>
        <p:nvSpPr>
          <p:cNvPr id="24" name="Text 21"/>
          <p:cNvSpPr txBox="1"/>
          <p:nvPr/>
        </p:nvSpPr>
        <p:spPr>
          <a:xfrm>
            <a:off x="1234440" y="2386584"/>
            <a:ext cx="10408615" cy="530352"/>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Ohanian, R. (1990). Construction and validation of a scale to measure celebrity endorsers’ perceived expertise, trustworthiness, and attractiveness. Journal of Advertising, 19(3), 39–52.</a:t>
            </a:r>
            <a:endParaRPr lang="en-US" sz="1100" dirty="0"/>
          </a:p>
        </p:txBody>
      </p:sp>
      <p:sp>
        <p:nvSpPr>
          <p:cNvPr id="25" name="Text 22"/>
          <p:cNvSpPr txBox="1"/>
          <p:nvPr/>
        </p:nvSpPr>
        <p:spPr>
          <a:xfrm>
            <a:off x="548640" y="2990088"/>
            <a:ext cx="640080" cy="530352"/>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X03</a:t>
            </a:r>
            <a:endParaRPr lang="en-US" sz="1100" dirty="0"/>
          </a:p>
        </p:txBody>
      </p:sp>
      <p:sp>
        <p:nvSpPr>
          <p:cNvPr id="26" name="Text 23"/>
          <p:cNvSpPr txBox="1"/>
          <p:nvPr/>
        </p:nvSpPr>
        <p:spPr>
          <a:xfrm>
            <a:off x="1234440" y="2990088"/>
            <a:ext cx="10408615" cy="530352"/>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Lou, C., &amp; Yuan, S. (2019). Influencer marketing: How message value and credibility affect consumer trust of branded content on social media. Journal of Interactive Advertising, 19(1), 58–73.</a:t>
            </a:r>
            <a:endParaRPr lang="en-US" sz="1100" dirty="0"/>
          </a:p>
        </p:txBody>
      </p:sp>
      <p:sp>
        <p:nvSpPr>
          <p:cNvPr id="27" name="Text 24"/>
          <p:cNvSpPr txBox="1"/>
          <p:nvPr/>
        </p:nvSpPr>
        <p:spPr>
          <a:xfrm>
            <a:off x="548640" y="3593592"/>
            <a:ext cx="640080" cy="530352"/>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X04</a:t>
            </a:r>
            <a:endParaRPr lang="en-US" sz="1100" dirty="0"/>
          </a:p>
        </p:txBody>
      </p:sp>
      <p:sp>
        <p:nvSpPr>
          <p:cNvPr id="28" name="Text 25"/>
          <p:cNvSpPr txBox="1"/>
          <p:nvPr/>
        </p:nvSpPr>
        <p:spPr>
          <a:xfrm>
            <a:off x="1234440" y="3593592"/>
            <a:ext cx="10408615" cy="530352"/>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HypeAuditor. (2025). The state of influencer marketing 2025.</a:t>
            </a:r>
            <a:endParaRPr lang="en-US" sz="1100" dirty="0"/>
          </a:p>
        </p:txBody>
      </p:sp>
      <p:sp>
        <p:nvSpPr>
          <p:cNvPr id="29" name="Text 26"/>
          <p:cNvSpPr txBox="1"/>
          <p:nvPr/>
        </p:nvSpPr>
        <p:spPr>
          <a:xfrm>
            <a:off x="548640" y="4197096"/>
            <a:ext cx="640080" cy="530352"/>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X05</a:t>
            </a:r>
            <a:endParaRPr lang="en-US" sz="1100" dirty="0"/>
          </a:p>
        </p:txBody>
      </p:sp>
      <p:sp>
        <p:nvSpPr>
          <p:cNvPr id="30" name="Text 27"/>
          <p:cNvSpPr txBox="1"/>
          <p:nvPr/>
        </p:nvSpPr>
        <p:spPr>
          <a:xfrm>
            <a:off x="1234440" y="4197096"/>
            <a:ext cx="10408615" cy="530352"/>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LuatVietnam. (n.d.). KOLs quảng cáo sản phẩm cần lưu ý 4 quy định mới từ 01/01/2026. · Thanh Niên. (2025, November 12). KOL, KOC phải xác minh thông tin, nêu rõ ràng quảng cáo.</a:t>
            </a:r>
            <a:endParaRPr lang="en-US" sz="1100" dirty="0"/>
          </a:p>
        </p:txBody>
      </p:sp>
      <p:sp>
        <p:nvSpPr>
          <p:cNvPr id="31" name="Text 28"/>
          <p:cNvSpPr txBox="1"/>
          <p:nvPr/>
        </p:nvSpPr>
        <p:spPr>
          <a:xfrm>
            <a:off x="548640" y="4800600"/>
            <a:ext cx="640080" cy="530352"/>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X06</a:t>
            </a:r>
            <a:endParaRPr lang="en-US" sz="1100" dirty="0"/>
          </a:p>
        </p:txBody>
      </p:sp>
      <p:sp>
        <p:nvSpPr>
          <p:cNvPr id="32" name="Text 29"/>
          <p:cNvSpPr txBox="1"/>
          <p:nvPr/>
        </p:nvSpPr>
        <p:spPr>
          <a:xfrm>
            <a:off x="1234440" y="4800600"/>
            <a:ext cx="10408615" cy="530352"/>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VnExpress. (2025, November 19). Hoa hậu Thùy Tiên, Hằng Du Mục, Quang Linh Vlogs bị phạt 2 năm tù. · Thanh Niên (19/11/2025); Dân trí (20/5/2025); VTC News (2025).</a:t>
            </a:r>
            <a:endParaRPr lang="en-US" sz="1100" dirty="0"/>
          </a:p>
        </p:txBody>
      </p:sp>
      <p:sp>
        <p:nvSpPr>
          <p:cNvPr id="33" name="Text 30"/>
          <p:cNvSpPr txBox="1"/>
          <p:nvPr/>
        </p:nvSpPr>
        <p:spPr>
          <a:xfrm>
            <a:off x="548640" y="5404104"/>
            <a:ext cx="640080" cy="530352"/>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X07</a:t>
            </a:r>
            <a:endParaRPr lang="en-US" sz="1100" dirty="0"/>
          </a:p>
        </p:txBody>
      </p:sp>
      <p:sp>
        <p:nvSpPr>
          <p:cNvPr id="34" name="Text 31"/>
          <p:cNvSpPr txBox="1"/>
          <p:nvPr/>
        </p:nvSpPr>
        <p:spPr>
          <a:xfrm>
            <a:off x="1234440" y="5404104"/>
            <a:ext cx="10408615" cy="530352"/>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Nhân Dân. (2026, April 17). Cảnh báo rủi ro từ khuyến nghị chứng khoán trái phép trên mạng xã hội. · VietnamPlus (17/4/2026).</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87782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11.1 KOL</a:t>
            </a:r>
            <a:endParaRPr lang="en-US" sz="1000" dirty="0"/>
          </a:p>
        </p:txBody>
      </p:sp>
      <p:sp>
        <p:nvSpPr>
          <p:cNvPr id="6" name="Shape 4"/>
          <p:cNvSpPr/>
          <p:nvPr/>
        </p:nvSpPr>
        <p:spPr>
          <a:xfrm>
            <a:off x="2368296"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368296"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11.2 Báo chí</a:t>
            </a:r>
            <a:endParaRPr lang="en-US" sz="1000" dirty="0"/>
          </a:p>
        </p:txBody>
      </p:sp>
      <p:sp>
        <p:nvSpPr>
          <p:cNvPr id="8" name="Shape 6"/>
          <p:cNvSpPr/>
          <p:nvPr/>
        </p:nvSpPr>
        <p:spPr>
          <a:xfrm>
            <a:off x="3666744"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3666744"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11.3 Booking &amp; đo lường</a:t>
            </a:r>
            <a:endParaRPr lang="en-US" sz="1000" dirty="0"/>
          </a:p>
        </p:txBody>
      </p:sp>
      <p:sp>
        <p:nvSpPr>
          <p:cNvPr id="10" name="Shape 8"/>
          <p:cNvSpPr/>
          <p:nvPr/>
        </p:nvSpPr>
        <p:spPr>
          <a:xfrm>
            <a:off x="5820156" y="274320"/>
            <a:ext cx="1421892"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5820156"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11.4 Khuếch đại</a:t>
            </a:r>
            <a:endParaRPr lang="en-US" sz="1000" dirty="0"/>
          </a:p>
        </p:txBody>
      </p:sp>
      <p:sp>
        <p:nvSpPr>
          <p:cNvPr id="12" name="Shape 10"/>
          <p:cNvSpPr/>
          <p:nvPr/>
        </p:nvSpPr>
        <p:spPr>
          <a:xfrm>
            <a:off x="7351776" y="274320"/>
            <a:ext cx="877824" cy="292608"/>
          </a:xfrm>
          <a:prstGeom prst="roundRect">
            <a:avLst>
              <a:gd name="adj" fmla="val 50000"/>
            </a:avLst>
          </a:prstGeom>
          <a:solidFill>
            <a:srgbClr val="49B296"/>
          </a:solidFill>
          <a:ln w="9525">
            <a:solidFill>
              <a:srgbClr val="49B296"/>
            </a:solidFill>
            <a:prstDash val="solid"/>
          </a:ln>
        </p:spPr>
      </p:sp>
      <p:sp>
        <p:nvSpPr>
          <p:cNvPr id="13" name="Text 11"/>
          <p:cNvSpPr txBox="1"/>
          <p:nvPr/>
        </p:nvSpPr>
        <p:spPr>
          <a:xfrm>
            <a:off x="7351776"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4" name="Shape 12"/>
          <p:cNvSpPr/>
          <p:nvPr/>
        </p:nvSpPr>
        <p:spPr>
          <a:xfrm>
            <a:off x="11259007" y="219456"/>
            <a:ext cx="384048" cy="384048"/>
          </a:xfrm>
          <a:prstGeom prst="ellipse">
            <a:avLst/>
          </a:prstGeom>
          <a:ln w="12700">
            <a:solidFill>
              <a:srgbClr val="09A1E5"/>
            </a:solidFill>
            <a:prstDash val="solid"/>
          </a:ln>
        </p:spPr>
      </p:sp>
      <p:sp>
        <p:nvSpPr>
          <p:cNvPr id="15" name="Shape 13"/>
          <p:cNvSpPr/>
          <p:nvPr/>
        </p:nvSpPr>
        <p:spPr>
          <a:xfrm>
            <a:off x="11324295" y="284744"/>
            <a:ext cx="253472" cy="253472"/>
          </a:xfrm>
          <a:prstGeom prst="ellipse">
            <a:avLst/>
          </a:prstGeom>
          <a:ln w="15875">
            <a:solidFill>
              <a:srgbClr val="962B7C"/>
            </a:solidFill>
            <a:prstDash val="solid"/>
          </a:ln>
        </p:spPr>
      </p:sp>
      <p:sp>
        <p:nvSpPr>
          <p:cNvPr id="16" name="Shape 14"/>
          <p:cNvSpPr/>
          <p:nvPr/>
        </p:nvSpPr>
        <p:spPr>
          <a:xfrm>
            <a:off x="11389584" y="350032"/>
            <a:ext cx="122895" cy="122895"/>
          </a:xfrm>
          <a:prstGeom prst="ellipse">
            <a:avLst/>
          </a:prstGeom>
          <a:solidFill>
            <a:srgbClr val="FF5178"/>
          </a:solidFill>
          <a:ln w="12700">
            <a:solidFill>
              <a:srgbClr val="FF5178"/>
            </a:solidFill>
            <a:prstDash val="solid"/>
          </a:ln>
        </p:spPr>
      </p:sp>
      <p:sp>
        <p:nvSpPr>
          <p:cNvPr id="17" name="Text 15"/>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Tài liệu tham khảo (2/2)</a:t>
            </a:r>
            <a:endParaRPr lang="en-US" sz="2600" dirty="0"/>
          </a:p>
        </p:txBody>
      </p:sp>
      <p:sp>
        <p:nvSpPr>
          <p:cNvPr id="18" name="Text 16"/>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Danh mục APA 7 đầy đủ (kèm DOI/URL): buoi-11_tu-lieu-tong-hop.md, mục 6.</a:t>
            </a:r>
            <a:endParaRPr lang="en-US" sz="1000" dirty="0"/>
          </a:p>
        </p:txBody>
      </p:sp>
      <p:sp>
        <p:nvSpPr>
          <p:cNvPr id="19" name="Text 17"/>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11   29</a:t>
            </a:r>
            <a:endParaRPr lang="en-US" sz="1000" dirty="0"/>
          </a:p>
        </p:txBody>
      </p:sp>
      <p:sp>
        <p:nvSpPr>
          <p:cNvPr id="21" name="Text 18"/>
          <p:cNvSpPr txBox="1"/>
          <p:nvPr/>
        </p:nvSpPr>
        <p:spPr>
          <a:xfrm>
            <a:off x="548640" y="1783080"/>
            <a:ext cx="640080" cy="530352"/>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X08</a:t>
            </a:r>
            <a:endParaRPr lang="en-US" sz="1100" dirty="0"/>
          </a:p>
        </p:txBody>
      </p:sp>
      <p:sp>
        <p:nvSpPr>
          <p:cNvPr id="22" name="Text 19"/>
          <p:cNvSpPr txBox="1"/>
          <p:nvPr/>
        </p:nvSpPr>
        <p:spPr>
          <a:xfrm>
            <a:off x="1234440" y="1783080"/>
            <a:ext cx="10408615" cy="530352"/>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Tuổi Trẻ Online. (2025, August 12). Gần 300 KOL cùng khởi động chương trình ‘Tín nhiệm người có ảnh hưởng’.</a:t>
            </a:r>
            <a:endParaRPr lang="en-US" sz="1100" dirty="0"/>
          </a:p>
        </p:txBody>
      </p:sp>
      <p:sp>
        <p:nvSpPr>
          <p:cNvPr id="23" name="Text 20"/>
          <p:cNvSpPr txBox="1"/>
          <p:nvPr/>
        </p:nvSpPr>
        <p:spPr>
          <a:xfrm>
            <a:off x="548640" y="2386584"/>
            <a:ext cx="640080" cy="530352"/>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X09</a:t>
            </a:r>
            <a:endParaRPr lang="en-US" sz="1100" dirty="0"/>
          </a:p>
        </p:txBody>
      </p:sp>
      <p:sp>
        <p:nvSpPr>
          <p:cNvPr id="24" name="Text 21"/>
          <p:cNvSpPr txBox="1"/>
          <p:nvPr/>
        </p:nvSpPr>
        <p:spPr>
          <a:xfrm>
            <a:off x="1234440" y="2386584"/>
            <a:ext cx="10408615" cy="530352"/>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Cision. (2025). Cision’s 2025 State of the Media Report… [Thông cáo báo chí]. PR Newswire.</a:t>
            </a:r>
            <a:endParaRPr lang="en-US" sz="1100" dirty="0"/>
          </a:p>
        </p:txBody>
      </p:sp>
      <p:sp>
        <p:nvSpPr>
          <p:cNvPr id="25" name="Text 22"/>
          <p:cNvSpPr txBox="1"/>
          <p:nvPr/>
        </p:nvSpPr>
        <p:spPr>
          <a:xfrm>
            <a:off x="548640" y="2990088"/>
            <a:ext cx="640080" cy="530352"/>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X10</a:t>
            </a:r>
            <a:endParaRPr lang="en-US" sz="1100" dirty="0"/>
          </a:p>
        </p:txBody>
      </p:sp>
      <p:sp>
        <p:nvSpPr>
          <p:cNvPr id="26" name="Text 23"/>
          <p:cNvSpPr txBox="1"/>
          <p:nvPr/>
        </p:nvSpPr>
        <p:spPr>
          <a:xfrm>
            <a:off x="1234440" y="2990088"/>
            <a:ext cx="10408615" cy="530352"/>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Báo Pháp Luật TP.HCM. (2026). Những điểm mới đáng chú ý của Nghị định hướng dẫn Luật Báo chí 2025. · LawNet. (n.d.). Quy định về tổ chức họp báo theo Luật Báo chí 2016.</a:t>
            </a:r>
            <a:endParaRPr lang="en-US" sz="1100" dirty="0"/>
          </a:p>
        </p:txBody>
      </p:sp>
      <p:sp>
        <p:nvSpPr>
          <p:cNvPr id="27" name="Text 24"/>
          <p:cNvSpPr txBox="1"/>
          <p:nvPr/>
        </p:nvSpPr>
        <p:spPr>
          <a:xfrm>
            <a:off x="548640" y="3593592"/>
            <a:ext cx="640080" cy="530352"/>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X11</a:t>
            </a:r>
            <a:endParaRPr lang="en-US" sz="1100" dirty="0"/>
          </a:p>
        </p:txBody>
      </p:sp>
      <p:sp>
        <p:nvSpPr>
          <p:cNvPr id="28" name="Text 25"/>
          <p:cNvSpPr txBox="1"/>
          <p:nvPr/>
        </p:nvSpPr>
        <p:spPr>
          <a:xfrm>
            <a:off x="1234440" y="3593592"/>
            <a:ext cx="10408615" cy="530352"/>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Hội Nhà báo Việt Nam. (2016). 10 điều Quy định đạo đức nghề nghiệp người làm báo Việt Nam (QĐ 483/QĐ-HNBVN).</a:t>
            </a:r>
            <a:endParaRPr lang="en-US" sz="1100" dirty="0"/>
          </a:p>
        </p:txBody>
      </p:sp>
      <p:sp>
        <p:nvSpPr>
          <p:cNvPr id="29" name="Text 26"/>
          <p:cNvSpPr txBox="1"/>
          <p:nvPr/>
        </p:nvSpPr>
        <p:spPr>
          <a:xfrm>
            <a:off x="548640" y="4197096"/>
            <a:ext cx="640080" cy="530352"/>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X12</a:t>
            </a:r>
            <a:endParaRPr lang="en-US" sz="1100" dirty="0"/>
          </a:p>
        </p:txBody>
      </p:sp>
      <p:sp>
        <p:nvSpPr>
          <p:cNvPr id="30" name="Text 27"/>
          <p:cNvSpPr txBox="1"/>
          <p:nvPr/>
        </p:nvSpPr>
        <p:spPr>
          <a:xfrm>
            <a:off x="1234440" y="4197096"/>
            <a:ext cx="10408615" cy="530352"/>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Dân trí. (2026, July 20). Ai làm KOL, KOC cần lưu ý điều này dù đã bị khấu trừ 10% thuế.</a:t>
            </a:r>
            <a:endParaRPr lang="en-US" sz="1100" dirty="0"/>
          </a:p>
        </p:txBody>
      </p:sp>
      <p:sp>
        <p:nvSpPr>
          <p:cNvPr id="31" name="Text 28"/>
          <p:cNvSpPr txBox="1"/>
          <p:nvPr/>
        </p:nvSpPr>
        <p:spPr>
          <a:xfrm>
            <a:off x="548640" y="4800600"/>
            <a:ext cx="640080" cy="530352"/>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X13</a:t>
            </a:r>
            <a:endParaRPr lang="en-US" sz="1100" dirty="0"/>
          </a:p>
        </p:txBody>
      </p:sp>
      <p:sp>
        <p:nvSpPr>
          <p:cNvPr id="32" name="Text 29"/>
          <p:cNvSpPr txBox="1"/>
          <p:nvPr/>
        </p:nvSpPr>
        <p:spPr>
          <a:xfrm>
            <a:off x="1234440" y="4800600"/>
            <a:ext cx="10408615" cy="530352"/>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AMEC. (2025). Barcelona Principles V4.0.</a:t>
            </a:r>
            <a:endParaRPr lang="en-US" sz="1100" dirty="0"/>
          </a:p>
        </p:txBody>
      </p:sp>
      <p:sp>
        <p:nvSpPr>
          <p:cNvPr id="33" name="Text 30"/>
          <p:cNvSpPr txBox="1"/>
          <p:nvPr/>
        </p:nvSpPr>
        <p:spPr>
          <a:xfrm>
            <a:off x="548640" y="5404104"/>
            <a:ext cx="640080" cy="530352"/>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X14</a:t>
            </a:r>
            <a:endParaRPr lang="en-US" sz="1100" dirty="0"/>
          </a:p>
        </p:txBody>
      </p:sp>
      <p:sp>
        <p:nvSpPr>
          <p:cNvPr id="34" name="Text 31"/>
          <p:cNvSpPr txBox="1"/>
          <p:nvPr/>
        </p:nvSpPr>
        <p:spPr>
          <a:xfrm>
            <a:off x="1234440" y="5404104"/>
            <a:ext cx="10408615" cy="530352"/>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Lemon, K. N., &amp; Verhoef, P. C. (2016). Understanding customer experience throughout the customer journey. Journal of Marketing, 80(6), 69–96.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EVM1110E — Buổi 11: Spreading Value: Media &amp; Influencers</dc:title>
  <dc:subject>Quản trị mối quan hệ trong tổ chức sự kiện</dc:subject>
  <dc:creator>PptxGenJS</dc:creator>
  <cp:lastModifiedBy>PptxGenJS</cp:lastModifiedBy>
  <cp:revision>1</cp:revision>
  <dcterms:created xsi:type="dcterms:W3CDTF">2026-10-03T04:59:20Z</dcterms:created>
  <dcterms:modified xsi:type="dcterms:W3CDTF">2026-10-03T04:59:20Z</dcterms:modified>
</cp:coreProperties>
</file>