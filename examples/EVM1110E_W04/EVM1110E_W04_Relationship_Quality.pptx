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Buổi 4 — đo và phát triển chất lượng quan hệ với Key Account.
Alt-text: ba cột trụ (Trust, Commitment, Functional conflict) đỡ một thanh ngang “Chất lượng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 Khởi động (5 phút). Chiếu: “Nova làm gala cho An Phát 4 năm. Chị Hạnh chưa bao giờ phàn nàn với Nova một lần nào.”
Giơ tay: “Đó là dấu hiệu (A) quan hệ rất tốt, hay (B) đáng lo?”
Chốt: “Có thể cả hai. Nếu chị Hạnh không nói điều chưa hài lòng, Nova không biết để sửa — và có thể một ngày Nova mất hợp đồng mà không hiểu vì sao. Hôm nay: đo quan hệ bằng ba trụ cột, trong đó có một trụ cột nghe lạ: xung đột.”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nguyên văn Morgan &amp; Hunt (1994). Nhấn “maximum efforts” — câu C1 của bộ câu hỏi dựng từ cụm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chữ cần nhớ: reliability ↔ câu T1; integrity ↔ câu T2.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Xung đột chức năng là kênh để nêu vấn đề và tìm giải pháp. Không phải “ít xung đột”.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mô hình Morgan &amp; Hunt, commitment và trust là biến trung gian then chốt; functional conflict là kết quả trực tiếp của trust; cooperation phát sinh từ cả commitment và trust.
Nói: “Có niềm tin thì dám nói thẳng; nói thẳng mà giải quyết được thì niềm tin tăng. Không có niềm tin thì bất đồng hoặc bị giấu đi, hoặc nổ ra.”
Alt-text: sơ đồ mũi tên — Commitment và Trust cùng dẫn đến Cooperation; Trust dẫn đến Functional conflict; Trust dẫn đến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Anderson &amp; Narus (1990): hợp tác là tiền đề của niềm tin — với khách hàng mới, cùng làm tốt vài việc nhỏ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Palmatier et al. (2006): hiệu quả khách quan chịu ảnh hưởng nhiều nhất từ chất lượng quan hệ (thước đo tổng hợp). Marketing quan hệ hiệu quả hơn trong dịch vụ và thị trường doanh nghiệp, và khi quan hệ xây với một cá nhân — mạnh nhưng rủi ro khi người đó rời đi (Buổi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Pham &amp; Pham (2025): “quan hệ” gồm thể diện, có qua có lại, tình cảm.
Nhận định: vì thể diện, bất đồng nên được nêu riêng, đúng người, đúng lúc — nêu trước đám đông dễ biến thành xung đột không chức năng.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Hiểu lầm: “Xung đột chức năng = ít xung đột” → là bất đồng được giải quyết êm thấm nhờ có niềm tin.
“Khách hàng không phàn nàn = hài lòng” → có thể là thiếu niềm tin để nói thẳng.
→ Chuyển sang S3 —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 Thực hành 1 (20 phút): 8 · 7 · 5.
GV hỏi: “Thẻ 8 làm yếu trụ cột nào — theo chữ nào trong định nghĩa?” (integrity).
Chốt: chẩn đoán bằng bằng chứng; integrity của agency là nền của trust; bất đồng không được nói ra (thẻ 2) là dấu hiệu thiếu xung đột chức năng.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8 phút. Ghi giờ quay lại lên slide/bảng.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Nguyên tắc: hỏi cả hai phía (Nova tự đánh giá và An Phát đánh giá), cùng một bộ câu hỏi, rồi xem khoảng cách.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minh họa: Nova tự chấm Functional conflict 4,3 nhưng An Phát chấm 2,7 → khoảng cách 1,6 — tín hiệu cần nói chuyện, dù điểm trung bình hai phía vẫn 3,5.
Alt-text: biểu đồ thanh ngang, mỗi trụ cột có hai thanh (Nova,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Dựng từ định nghĩa D01: T1 ↔ reliability, T2 ↔ integrity; C1 ↔ “maximum efforts”; F2 ↔ “resolved amicably”.
Chiếu suốt S6.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suốt S6 — người quan sát ghi lại theo năm bước này.
Bước 4: joint problem solving — Mohr &amp; Spekman (1994).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đây bốn cánh chim trời” (28/12/2025): theo báo chí đưa tin, tranh chấp thanh toán giữa nghệ sĩ và nhà sản xuất không được giải quyết, show không diễn ra, mọi bên chịu thiệt.
Chỉ nêu sự kiện đã đưa tin. Không quy lỗi cá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Dwyer, Schurr &amp; Oh (1987): phần lớn nghiên cứu và chiến lược coi trao đổi mua – bán là sự kiện rời rạc, không phải quan hệ liên tục; bài đề xuất khung phát triển quan hệ mua – bán.
McDonald et al. (1997) mô tả các giai đoạn phát triển quan hệ key account. Không nêu tên các giai đoạn — sẽ bổ sung sau khi kiểm tra toàn văn.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bảng này ở Bước 3 của Thực hành 2 (lộ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McMillan &amp; Woodruff (1999): ở Việt Nam thập niên 1990, quan hệ giao dịch càng lâu, tín dụng thương mại càng lớn.
Bằng chứng lịch sử — dùng để hiểu gốc rễ: thời gian quan hệ tự nó tạo niềm tin và giá trị kinh tế.
→ Chuyển sang S6 —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S6 — Thực hành 2 (30 phút): 3 · 10 · 10 · 7. Phát thẻ vai, thẻ chị Hạnh úp (chỉ người đóng vai đọc: đang bị ông Tuấn hỏi “có nên thử agency khác không”).
Nếu chị Thảo đổ lỗi cho nhà cung cấp AV → hỏi người quan sát: “Trong mắt An Phát, lỗi của ai?” (Buổi 10).
Nếu chị Thảo xin lỗi rồi dừng → “Giải pháp là gì? Ai làm, khi nào?”
Lộ trình toàn “chăm sóc khách tốt hơn” → yêu cầu bước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 Tổng hợp (3 phút).
Liên hệ SMP: đo nhanh ba trụ cột với khách hàng dự án cũ (theo cảm nhận của nhóm + bằng chứng) — nền cho phần B. Value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 cá nhân, không chấm điểm.
Cần xem: (a) không hiểu nhầm functional conflict là “không có xung đột”; (b) có bằng chứng, không chỉ cảm nhận.
Câu nối Buổi 5: “Quan hệ tốt là nền. Nhưng khách hàng ở lại vì giá trị. Buổi sau: xây đề xuất giá trị và cùng khách hàng tạo ra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ghi ở chân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7589520" y="1188720"/>
            <a:ext cx="3931920" cy="640080"/>
          </a:xfrm>
          <a:prstGeom prst="roundRect">
            <a:avLst>
              <a:gd name="adj" fmla="val 14286"/>
            </a:avLst>
          </a:prstGeom>
          <a:solidFill>
            <a:srgbClr val="FF9259"/>
          </a:solidFill>
          <a:ln w="12700">
            <a:solidFill>
              <a:srgbClr val="FF9259"/>
            </a:solidFill>
            <a:prstDash val="solid"/>
          </a:ln>
        </p:spPr>
      </p:sp>
      <p:sp>
        <p:nvSpPr>
          <p:cNvPr id="3" name="Text 1"/>
          <p:cNvSpPr txBox="1"/>
          <p:nvPr/>
        </p:nvSpPr>
        <p:spPr>
          <a:xfrm>
            <a:off x="7589520" y="1188720"/>
            <a:ext cx="3931920" cy="64008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Chất lượng quan hệ</a:t>
            </a:r>
            <a:endParaRPr lang="en-US" sz="1800" dirty="0"/>
          </a:p>
        </p:txBody>
      </p:sp>
      <p:sp>
        <p:nvSpPr>
          <p:cNvPr id="4" name="Shape 2"/>
          <p:cNvSpPr/>
          <p:nvPr/>
        </p:nvSpPr>
        <p:spPr>
          <a:xfrm>
            <a:off x="7589520" y="1938528"/>
            <a:ext cx="865022" cy="3273552"/>
          </a:xfrm>
          <a:prstGeom prst="rect">
            <a:avLst/>
          </a:prstGeom>
          <a:solidFill>
            <a:srgbClr val="962B7C"/>
          </a:solidFill>
          <a:ln w="12700">
            <a:solidFill>
              <a:srgbClr val="962B7C"/>
            </a:solidFill>
            <a:prstDash val="solid"/>
          </a:ln>
        </p:spPr>
      </p:sp>
      <p:sp>
        <p:nvSpPr>
          <p:cNvPr id="5" name="Text 3"/>
          <p:cNvSpPr txBox="1"/>
          <p:nvPr/>
        </p:nvSpPr>
        <p:spPr>
          <a:xfrm rot="16200000">
            <a:off x="6385255" y="3142793"/>
            <a:ext cx="3273552" cy="865022"/>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Trust</a:t>
            </a:r>
            <a:endParaRPr lang="en-US" sz="1600" dirty="0"/>
          </a:p>
        </p:txBody>
      </p:sp>
      <p:sp>
        <p:nvSpPr>
          <p:cNvPr id="6" name="Shape 4"/>
          <p:cNvSpPr/>
          <p:nvPr/>
        </p:nvSpPr>
        <p:spPr>
          <a:xfrm>
            <a:off x="9122969" y="1938528"/>
            <a:ext cx="865022" cy="3273552"/>
          </a:xfrm>
          <a:prstGeom prst="rect">
            <a:avLst/>
          </a:prstGeom>
          <a:solidFill>
            <a:srgbClr val="09A1E5"/>
          </a:solidFill>
          <a:ln w="12700">
            <a:solidFill>
              <a:srgbClr val="09A1E5"/>
            </a:solidFill>
            <a:prstDash val="solid"/>
          </a:ln>
        </p:spPr>
      </p:sp>
      <p:sp>
        <p:nvSpPr>
          <p:cNvPr id="7" name="Text 5"/>
          <p:cNvSpPr txBox="1"/>
          <p:nvPr/>
        </p:nvSpPr>
        <p:spPr>
          <a:xfrm rot="16200000">
            <a:off x="7918704" y="3142793"/>
            <a:ext cx="3273552" cy="865022"/>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Commitment</a:t>
            </a:r>
            <a:endParaRPr lang="en-US" sz="1600" dirty="0"/>
          </a:p>
        </p:txBody>
      </p:sp>
      <p:sp>
        <p:nvSpPr>
          <p:cNvPr id="8" name="Shape 6"/>
          <p:cNvSpPr/>
          <p:nvPr/>
        </p:nvSpPr>
        <p:spPr>
          <a:xfrm>
            <a:off x="10656418" y="1938528"/>
            <a:ext cx="865022" cy="3273552"/>
          </a:xfrm>
          <a:prstGeom prst="rect">
            <a:avLst/>
          </a:prstGeom>
          <a:solidFill>
            <a:srgbClr val="FF5178"/>
          </a:solidFill>
          <a:ln w="12700">
            <a:solidFill>
              <a:srgbClr val="FF5178"/>
            </a:solidFill>
            <a:prstDash val="solid"/>
          </a:ln>
        </p:spPr>
      </p:sp>
      <p:sp>
        <p:nvSpPr>
          <p:cNvPr id="9" name="Text 7"/>
          <p:cNvSpPr txBox="1"/>
          <p:nvPr/>
        </p:nvSpPr>
        <p:spPr>
          <a:xfrm rot="16200000">
            <a:off x="9452153" y="3142793"/>
            <a:ext cx="3273552" cy="865022"/>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Functional conflict</a:t>
            </a:r>
            <a:endParaRPr lang="en-US" sz="1600" dirty="0"/>
          </a:p>
        </p:txBody>
      </p:sp>
      <p:sp>
        <p:nvSpPr>
          <p:cNvPr id="10" name="Shape 8"/>
          <p:cNvSpPr/>
          <p:nvPr/>
        </p:nvSpPr>
        <p:spPr>
          <a:xfrm>
            <a:off x="7452360" y="5257800"/>
            <a:ext cx="4206240" cy="128016"/>
          </a:xfrm>
          <a:prstGeom prst="rect">
            <a:avLst/>
          </a:prstGeom>
          <a:solidFill>
            <a:srgbClr val="2A2238"/>
          </a:solidFill>
          <a:ln w="12700">
            <a:solidFill>
              <a:srgbClr val="2A2238"/>
            </a:solidFill>
            <a:prstDash val="solid"/>
          </a:ln>
        </p:spPr>
      </p:sp>
      <p:sp>
        <p:nvSpPr>
          <p:cNvPr id="11" name="Shape 9"/>
          <p:cNvSpPr/>
          <p:nvPr/>
        </p:nvSpPr>
        <p:spPr>
          <a:xfrm>
            <a:off x="548640" y="914400"/>
            <a:ext cx="2651760" cy="420624"/>
          </a:xfrm>
          <a:prstGeom prst="roundRect">
            <a:avLst>
              <a:gd name="adj" fmla="val 50000"/>
            </a:avLst>
          </a:prstGeom>
          <a:solidFill>
            <a:srgbClr val="FFD23B"/>
          </a:solidFill>
          <a:ln w="12700">
            <a:solidFill>
              <a:srgbClr val="FFD23B"/>
            </a:solidFill>
            <a:prstDash val="solid"/>
          </a:ln>
        </p:spPr>
      </p:sp>
      <p:sp>
        <p:nvSpPr>
          <p:cNvPr id="12" name="Text 10"/>
          <p:cNvSpPr txBox="1"/>
          <p:nvPr/>
        </p:nvSpPr>
        <p:spPr>
          <a:xfrm>
            <a:off x="621792" y="914400"/>
            <a:ext cx="2505456" cy="420624"/>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EVM1110E  ·  Buổi 4 / 15</a:t>
            </a:r>
            <a:endParaRPr lang="en-US" sz="1400" dirty="0"/>
          </a:p>
        </p:txBody>
      </p:sp>
      <p:sp>
        <p:nvSpPr>
          <p:cNvPr id="13" name="Text 11"/>
          <p:cNvSpPr txBox="1"/>
          <p:nvPr/>
        </p:nvSpPr>
        <p:spPr>
          <a:xfrm>
            <a:off x="548640" y="1600200"/>
            <a:ext cx="6035040" cy="1737360"/>
          </a:xfrm>
          <a:prstGeom prst="rect">
            <a:avLst/>
          </a:prstGeom>
          <a:noFill/>
          <a:ln/>
        </p:spPr>
        <p:txBody>
          <a:bodyPr wrap="square" lIns="0" tIns="0" rIns="0" bIns="0" rtlCol="0" anchor="t"/>
          <a:lstStyle/>
          <a:p>
            <a:pPr indent="0" marL="0">
              <a:buNone/>
            </a:pPr>
            <a:r>
              <a:rPr lang="en-US" sz="3800" b="1" dirty="0">
                <a:solidFill>
                  <a:srgbClr val="2A2238"/>
                </a:solidFill>
                <a:latin typeface="Alexandria" pitchFamily="34" charset="0"/>
                <a:ea typeface="Alexandria" pitchFamily="34" charset="-122"/>
                <a:cs typeface="Alexandria" pitchFamily="34" charset="-120"/>
              </a:rPr>
              <a:t>Quản trị mối quan hệ trong tổ chức sự kiện</a:t>
            </a:r>
            <a:endParaRPr lang="en-US" sz="3800" dirty="0"/>
          </a:p>
        </p:txBody>
      </p:sp>
      <p:sp>
        <p:nvSpPr>
          <p:cNvPr id="14" name="Text 12"/>
          <p:cNvSpPr txBox="1"/>
          <p:nvPr/>
        </p:nvSpPr>
        <p:spPr>
          <a:xfrm>
            <a:off x="548640" y="3429000"/>
            <a:ext cx="6035040" cy="914400"/>
          </a:xfrm>
          <a:prstGeom prst="rect">
            <a:avLst/>
          </a:prstGeom>
          <a:noFill/>
          <a:ln/>
        </p:spPr>
        <p:txBody>
          <a:bodyPr wrap="square" lIns="0" tIns="0" rIns="0" bIns="0" rtlCol="0" anchor="t"/>
          <a:lstStyle/>
          <a:p>
            <a:pPr indent="0" marL="0">
              <a:buNone/>
            </a:pPr>
            <a:r>
              <a:rPr lang="en-US" sz="2200" i="1" dirty="0">
                <a:solidFill>
                  <a:srgbClr val="962B7C"/>
                </a:solidFill>
                <a:latin typeface="Alexandria" pitchFamily="34" charset="0"/>
                <a:ea typeface="Alexandria" pitchFamily="34" charset="-122"/>
                <a:cs typeface="Alexandria" pitchFamily="34" charset="-120"/>
              </a:rPr>
              <a:t>Measuring Relationship Quality</a:t>
            </a:r>
            <a:endParaRPr lang="en-US" sz="2200" dirty="0"/>
          </a:p>
        </p:txBody>
      </p:sp>
      <p:sp>
        <p:nvSpPr>
          <p:cNvPr id="15" name="Text 13"/>
          <p:cNvSpPr txBox="1"/>
          <p:nvPr/>
        </p:nvSpPr>
        <p:spPr>
          <a:xfrm>
            <a:off x="548640" y="4572000"/>
            <a:ext cx="6035040" cy="1280160"/>
          </a:xfrm>
          <a:prstGeom prst="rect">
            <a:avLst/>
          </a:prstGeom>
          <a:noFill/>
          <a:ln/>
        </p:spPr>
        <p:txBody>
          <a:bodyPr wrap="square" lIns="0" tIns="0" rIns="0" bIns="0" rtlCol="0" anchor="t"/>
          <a:lstStyle/>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Phần 2 · Quản trị khách hàng trọng điểm — buổi 3/7</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Khoa Marketing · UEF</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Giảng viên: Đoàn Nguyễn Bảo Quyên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Khách hàng không bao giờ phàn nàn chưa chắc đã hài lòng</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Tình huống giả định Nova Events – Ngân hàng An Phát.</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2</a:t>
            </a:r>
            <a:endParaRPr lang="en-US" sz="1000" dirty="0"/>
          </a:p>
        </p:txBody>
      </p:sp>
      <p:sp>
        <p:nvSpPr>
          <p:cNvPr id="20" name="Shape 17"/>
          <p:cNvSpPr/>
          <p:nvPr/>
        </p:nvSpPr>
        <p:spPr>
          <a:xfrm>
            <a:off x="548640" y="1920240"/>
            <a:ext cx="11094415" cy="1737360"/>
          </a:xfrm>
          <a:prstGeom prst="roundRect">
            <a:avLst>
              <a:gd name="adj" fmla="val 6316"/>
            </a:avLst>
          </a:prstGeom>
          <a:solidFill>
            <a:srgbClr val="F1E1EE"/>
          </a:solidFill>
          <a:ln w="12700">
            <a:solidFill>
              <a:srgbClr val="962B7C"/>
            </a:solidFill>
            <a:prstDash val="solid"/>
          </a:ln>
        </p:spPr>
      </p:sp>
      <p:sp>
        <p:nvSpPr>
          <p:cNvPr id="21" name="Text 18"/>
          <p:cNvSpPr txBox="1"/>
          <p:nvPr/>
        </p:nvSpPr>
        <p:spPr>
          <a:xfrm>
            <a:off x="1005840" y="1920240"/>
            <a:ext cx="10180015" cy="1737360"/>
          </a:xfrm>
          <a:prstGeom prst="rect">
            <a:avLst/>
          </a:prstGeom>
          <a:noFill/>
          <a:ln/>
        </p:spPr>
        <p:txBody>
          <a:bodyPr wrap="square" lIns="0" tIns="0" rIns="0" bIns="0" rtlCol="0" anchor="ctr"/>
          <a:lstStyle/>
          <a:p>
            <a:pPr algn="ctr" indent="0" marL="0">
              <a:buNone/>
            </a:pPr>
            <a:r>
              <a:rPr lang="en-US" sz="4000" b="1" dirty="0">
                <a:solidFill>
                  <a:srgbClr val="962B7C"/>
                </a:solidFill>
                <a:latin typeface="Alexandria" pitchFamily="34" charset="0"/>
                <a:ea typeface="Alexandria" pitchFamily="34" charset="-122"/>
                <a:cs typeface="Alexandria" pitchFamily="34" charset="-120"/>
              </a:rPr>
              <a:t>4 năm </a:t>
            </a:r>
            <a:pPr algn="ctr" indent="0" marL="0">
              <a:buNone/>
            </a:pPr>
            <a:r>
              <a:rPr lang="en-US" sz="2400" dirty="0">
                <a:solidFill>
                  <a:srgbClr val="2A2238"/>
                </a:solidFill>
                <a:latin typeface="Alexandria" pitchFamily="34" charset="0"/>
                <a:ea typeface="Alexandria" pitchFamily="34" charset="-122"/>
                <a:cs typeface="Alexandria" pitchFamily="34" charset="-120"/>
              </a:rPr>
              <a:t>làm gala cho An Phát. Chị Hạnh </a:t>
            </a:r>
            <a:pPr algn="ctr" indent="0" marL="0">
              <a:buNone/>
            </a:pPr>
            <a:r>
              <a:rPr lang="en-US" sz="2400" b="1" dirty="0">
                <a:solidFill>
                  <a:srgbClr val="2A2238"/>
                </a:solidFill>
                <a:latin typeface="Alexandria" pitchFamily="34" charset="0"/>
                <a:ea typeface="Alexandria" pitchFamily="34" charset="-122"/>
                <a:cs typeface="Alexandria" pitchFamily="34" charset="-120"/>
              </a:rPr>
              <a:t>chưa bao giờ phàn nàn</a:t>
            </a:r>
            <a:pPr algn="ctr" indent="0" marL="0">
              <a:buNone/>
            </a:pPr>
            <a:r>
              <a:rPr lang="en-US" sz="2400" dirty="0">
                <a:solidFill>
                  <a:srgbClr val="2A2238"/>
                </a:solidFill>
                <a:latin typeface="Alexandria" pitchFamily="34" charset="0"/>
                <a:ea typeface="Alexandria" pitchFamily="34" charset="-122"/>
                <a:cs typeface="Alexandria" pitchFamily="34" charset="-120"/>
              </a:rPr>
              <a:t> với Nova một lần nào.</a:t>
            </a:r>
            <a:endParaRPr lang="en-US" sz="2400" dirty="0"/>
          </a:p>
        </p:txBody>
      </p:sp>
      <p:sp>
        <p:nvSpPr>
          <p:cNvPr id="22" name="Shape 19"/>
          <p:cNvSpPr/>
          <p:nvPr/>
        </p:nvSpPr>
        <p:spPr>
          <a:xfrm>
            <a:off x="548640" y="3931920"/>
            <a:ext cx="5410048" cy="1051560"/>
          </a:xfrm>
          <a:prstGeom prst="roundRect">
            <a:avLst>
              <a:gd name="adj" fmla="val 10435"/>
            </a:avLst>
          </a:prstGeom>
          <a:solidFill>
            <a:srgbClr val="E1F3EE"/>
          </a:solidFill>
          <a:ln w="19050">
            <a:solidFill>
              <a:srgbClr val="49B296"/>
            </a:solidFill>
            <a:prstDash val="solid"/>
          </a:ln>
        </p:spPr>
      </p:sp>
      <p:sp>
        <p:nvSpPr>
          <p:cNvPr id="23" name="Shape 20"/>
          <p:cNvSpPr/>
          <p:nvPr/>
        </p:nvSpPr>
        <p:spPr>
          <a:xfrm>
            <a:off x="822960" y="4114800"/>
            <a:ext cx="685800" cy="685800"/>
          </a:xfrm>
          <a:prstGeom prst="ellipse">
            <a:avLst/>
          </a:prstGeom>
          <a:solidFill>
            <a:srgbClr val="49B296"/>
          </a:solidFill>
          <a:ln w="12700">
            <a:solidFill>
              <a:srgbClr val="49B296"/>
            </a:solidFill>
            <a:prstDash val="solid"/>
          </a:ln>
        </p:spPr>
      </p:sp>
      <p:sp>
        <p:nvSpPr>
          <p:cNvPr id="24" name="Text 21"/>
          <p:cNvSpPr txBox="1"/>
          <p:nvPr/>
        </p:nvSpPr>
        <p:spPr>
          <a:xfrm>
            <a:off x="822960" y="411480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A</a:t>
            </a:r>
            <a:endParaRPr lang="en-US" sz="2200" dirty="0"/>
          </a:p>
        </p:txBody>
      </p:sp>
      <p:sp>
        <p:nvSpPr>
          <p:cNvPr id="25" name="Text 22"/>
          <p:cNvSpPr txBox="1"/>
          <p:nvPr/>
        </p:nvSpPr>
        <p:spPr>
          <a:xfrm>
            <a:off x="1737360" y="3931920"/>
            <a:ext cx="4038448" cy="1051560"/>
          </a:xfrm>
          <a:prstGeom prst="rect">
            <a:avLst/>
          </a:prstGeom>
          <a:noFill/>
          <a:ln/>
        </p:spPr>
        <p:txBody>
          <a:bodyPr wrap="square" lIns="0" tIns="0" rIns="0" bIns="0" rtlCol="0" anchor="ctr"/>
          <a:lstStyle/>
          <a:p>
            <a:pPr indent="0" marL="0">
              <a:buNone/>
            </a:pPr>
            <a:r>
              <a:rPr lang="en-US" sz="2200" b="1" dirty="0">
                <a:solidFill>
                  <a:srgbClr val="2A2238"/>
                </a:solidFill>
                <a:latin typeface="Alexandria" pitchFamily="34" charset="0"/>
                <a:ea typeface="Alexandria" pitchFamily="34" charset="-122"/>
                <a:cs typeface="Alexandria" pitchFamily="34" charset="-120"/>
              </a:rPr>
              <a:t>Quan hệ rất tốt</a:t>
            </a:r>
            <a:endParaRPr lang="en-US" sz="2200" dirty="0"/>
          </a:p>
        </p:txBody>
      </p:sp>
      <p:sp>
        <p:nvSpPr>
          <p:cNvPr id="26" name="Shape 23"/>
          <p:cNvSpPr/>
          <p:nvPr/>
        </p:nvSpPr>
        <p:spPr>
          <a:xfrm>
            <a:off x="6233008" y="3931920"/>
            <a:ext cx="5410048" cy="1051560"/>
          </a:xfrm>
          <a:prstGeom prst="roundRect">
            <a:avLst>
              <a:gd name="adj" fmla="val 10435"/>
            </a:avLst>
          </a:prstGeom>
          <a:solidFill>
            <a:srgbClr val="FFE4EA"/>
          </a:solidFill>
          <a:ln w="19050">
            <a:solidFill>
              <a:srgbClr val="FF5178"/>
            </a:solidFill>
            <a:prstDash val="solid"/>
          </a:ln>
        </p:spPr>
      </p:sp>
      <p:sp>
        <p:nvSpPr>
          <p:cNvPr id="27" name="Shape 24"/>
          <p:cNvSpPr/>
          <p:nvPr/>
        </p:nvSpPr>
        <p:spPr>
          <a:xfrm>
            <a:off x="6507328" y="4114800"/>
            <a:ext cx="685800" cy="685800"/>
          </a:xfrm>
          <a:prstGeom prst="ellipse">
            <a:avLst/>
          </a:prstGeom>
          <a:solidFill>
            <a:srgbClr val="FF5178"/>
          </a:solidFill>
          <a:ln w="12700">
            <a:solidFill>
              <a:srgbClr val="FF5178"/>
            </a:solidFill>
            <a:prstDash val="solid"/>
          </a:ln>
        </p:spPr>
      </p:sp>
      <p:sp>
        <p:nvSpPr>
          <p:cNvPr id="28" name="Text 25"/>
          <p:cNvSpPr txBox="1"/>
          <p:nvPr/>
        </p:nvSpPr>
        <p:spPr>
          <a:xfrm>
            <a:off x="6507328" y="411480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B</a:t>
            </a:r>
            <a:endParaRPr lang="en-US" sz="2200" dirty="0"/>
          </a:p>
        </p:txBody>
      </p:sp>
      <p:sp>
        <p:nvSpPr>
          <p:cNvPr id="29" name="Text 26"/>
          <p:cNvSpPr txBox="1"/>
          <p:nvPr/>
        </p:nvSpPr>
        <p:spPr>
          <a:xfrm>
            <a:off x="7421728" y="3931920"/>
            <a:ext cx="4038448" cy="1051560"/>
          </a:xfrm>
          <a:prstGeom prst="rect">
            <a:avLst/>
          </a:prstGeom>
          <a:noFill/>
          <a:ln/>
        </p:spPr>
        <p:txBody>
          <a:bodyPr wrap="square" lIns="0" tIns="0" rIns="0" bIns="0" rtlCol="0" anchor="ctr"/>
          <a:lstStyle/>
          <a:p>
            <a:pPr indent="0" marL="0">
              <a:buNone/>
            </a:pPr>
            <a:r>
              <a:rPr lang="en-US" sz="2200" b="1" dirty="0">
                <a:solidFill>
                  <a:srgbClr val="2A2238"/>
                </a:solidFill>
                <a:latin typeface="Alexandria" pitchFamily="34" charset="0"/>
                <a:ea typeface="Alexandria" pitchFamily="34" charset="-122"/>
                <a:cs typeface="Alexandria" pitchFamily="34" charset="-120"/>
              </a:rPr>
              <a:t>Đáng lo</a:t>
            </a:r>
            <a:endParaRPr lang="en-US" sz="2200" dirty="0"/>
          </a:p>
        </p:txBody>
      </p:sp>
      <p:sp>
        <p:nvSpPr>
          <p:cNvPr id="30" name="Shape 27"/>
          <p:cNvSpPr/>
          <p:nvPr/>
        </p:nvSpPr>
        <p:spPr>
          <a:xfrm>
            <a:off x="548640" y="5212080"/>
            <a:ext cx="11094415" cy="822960"/>
          </a:xfrm>
          <a:prstGeom prst="roundRect">
            <a:avLst>
              <a:gd name="adj" fmla="val 13333"/>
            </a:avLst>
          </a:prstGeom>
          <a:solidFill>
            <a:srgbClr val="FFF3C4"/>
          </a:solidFill>
          <a:ln w="12700">
            <a:solidFill>
              <a:srgbClr val="FFD23B"/>
            </a:solidFill>
            <a:prstDash val="solid"/>
          </a:ln>
        </p:spPr>
      </p:sp>
      <p:sp>
        <p:nvSpPr>
          <p:cNvPr id="31" name="Text 28"/>
          <p:cNvSpPr txBox="1"/>
          <p:nvPr/>
        </p:nvSpPr>
        <p:spPr>
          <a:xfrm>
            <a:off x="868680" y="5212080"/>
            <a:ext cx="10454335" cy="82296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Có thể cả hai — nếu chị Hạnh không nói, Nova không biết để sửa.</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Commitment: quan hệ đáng để nỗ lực tối đa giữ gìn</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D01: Morgan &amp; Hunt (1994), Journal of Marketing, 58(3) — nguyên văn, đã đối chiếu toàn văn.</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3</a:t>
            </a:r>
            <a:endParaRPr lang="en-US" sz="1000" dirty="0"/>
          </a:p>
        </p:txBody>
      </p:sp>
      <p:sp>
        <p:nvSpPr>
          <p:cNvPr id="20" name="Shape 17"/>
          <p:cNvSpPr/>
          <p:nvPr/>
        </p:nvSpPr>
        <p:spPr>
          <a:xfrm>
            <a:off x="548640" y="1828800"/>
            <a:ext cx="4937760" cy="548640"/>
          </a:xfrm>
          <a:prstGeom prst="roundRect">
            <a:avLst>
              <a:gd name="adj" fmla="val 50000"/>
            </a:avLst>
          </a:prstGeom>
          <a:solidFill>
            <a:srgbClr val="09A1E5"/>
          </a:solidFill>
          <a:ln w="12700">
            <a:solidFill>
              <a:srgbClr val="09A1E5"/>
            </a:solidFill>
            <a:prstDash val="solid"/>
          </a:ln>
        </p:spPr>
      </p:sp>
      <p:sp>
        <p:nvSpPr>
          <p:cNvPr id="21" name="Text 18"/>
          <p:cNvSpPr txBox="1"/>
          <p:nvPr/>
        </p:nvSpPr>
        <p:spPr>
          <a:xfrm>
            <a:off x="621792" y="1828800"/>
            <a:ext cx="4791456"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Cam kết · Commitment</a:t>
            </a:r>
            <a:endParaRPr lang="en-US" sz="1600" dirty="0"/>
          </a:p>
        </p:txBody>
      </p:sp>
      <p:sp>
        <p:nvSpPr>
          <p:cNvPr id="22" name="Shape 19"/>
          <p:cNvSpPr/>
          <p:nvPr/>
        </p:nvSpPr>
        <p:spPr>
          <a:xfrm>
            <a:off x="548640" y="2560320"/>
            <a:ext cx="11094415" cy="2057400"/>
          </a:xfrm>
          <a:prstGeom prst="roundRect">
            <a:avLst>
              <a:gd name="adj" fmla="val 5333"/>
            </a:avLst>
          </a:prstGeom>
          <a:solidFill>
            <a:srgbClr val="DDF1FB"/>
          </a:solidFill>
          <a:ln w="19050">
            <a:solidFill>
              <a:srgbClr val="09A1E5"/>
            </a:solidFill>
            <a:prstDash val="solid"/>
          </a:ln>
        </p:spPr>
      </p:sp>
      <p:sp>
        <p:nvSpPr>
          <p:cNvPr id="23" name="Text 20"/>
          <p:cNvSpPr txBox="1"/>
          <p:nvPr/>
        </p:nvSpPr>
        <p:spPr>
          <a:xfrm>
            <a:off x="960120" y="2560320"/>
            <a:ext cx="10271455" cy="2057400"/>
          </a:xfrm>
          <a:prstGeom prst="rect">
            <a:avLst/>
          </a:prstGeom>
          <a:noFill/>
          <a:ln/>
        </p:spPr>
        <p:txBody>
          <a:bodyPr wrap="square" lIns="0" tIns="0" rIns="0" bIns="0" rtlCol="0" anchor="ctr"/>
          <a:lstStyle/>
          <a:p>
            <a:pPr indent="0" marL="0">
              <a:buNone/>
            </a:pPr>
            <a:r>
              <a:rPr lang="en-US" sz="1800" i="1" dirty="0">
                <a:solidFill>
                  <a:srgbClr val="2A2238"/>
                </a:solidFill>
                <a:latin typeface="Alexandria" pitchFamily="34" charset="0"/>
                <a:ea typeface="Alexandria" pitchFamily="34" charset="-122"/>
                <a:cs typeface="Alexandria" pitchFamily="34" charset="-120"/>
              </a:rPr>
              <a:t>“an exchange partner believing that an ongoing relationship with another is so important as to warrant maximum efforts at maintaining it; that is, the committed party believes the relationship is worth working on to ensure that it endures indefinitely.”</a:t>
            </a:r>
            <a:endParaRPr lang="en-US" sz="1800" dirty="0"/>
          </a:p>
        </p:txBody>
      </p:sp>
      <p:sp>
        <p:nvSpPr>
          <p:cNvPr id="24" name="Shape 21"/>
          <p:cNvSpPr/>
          <p:nvPr/>
        </p:nvSpPr>
        <p:spPr>
          <a:xfrm>
            <a:off x="548640" y="4846320"/>
            <a:ext cx="11094415" cy="1143000"/>
          </a:xfrm>
          <a:prstGeom prst="roundRect">
            <a:avLst>
              <a:gd name="adj" fmla="val 9600"/>
            </a:avLst>
          </a:prstGeom>
          <a:solidFill>
            <a:srgbClr val="FFFFFF"/>
          </a:solidFill>
          <a:ln w="12700">
            <a:solidFill>
              <a:srgbClr val="DCD7C8"/>
            </a:solidFill>
            <a:prstDash val="solid"/>
          </a:ln>
        </p:spPr>
      </p:sp>
      <p:sp>
        <p:nvSpPr>
          <p:cNvPr id="25" name="Text 22"/>
          <p:cNvSpPr txBox="1"/>
          <p:nvPr/>
        </p:nvSpPr>
        <p:spPr>
          <a:xfrm>
            <a:off x="914400" y="4846320"/>
            <a:ext cx="10362895" cy="1143000"/>
          </a:xfrm>
          <a:prstGeom prst="rect">
            <a:avLst/>
          </a:prstGeom>
          <a:noFill/>
          <a:ln/>
        </p:spPr>
        <p:txBody>
          <a:bodyPr wrap="square" lIns="0" tIns="0" rIns="0" bIns="0" rtlCol="0" anchor="ctr"/>
          <a:lstStyle/>
          <a:p>
            <a:pPr indent="0" marL="0">
              <a:buNone/>
            </a:pPr>
            <a:r>
              <a:rPr lang="en-US" sz="1800" b="1" dirty="0">
                <a:solidFill>
                  <a:srgbClr val="09A1E5"/>
                </a:solidFill>
                <a:latin typeface="Alexandria" pitchFamily="34" charset="0"/>
                <a:ea typeface="Alexandria" pitchFamily="34" charset="-122"/>
                <a:cs typeface="Alexandria" pitchFamily="34" charset="-120"/>
              </a:rPr>
              <a:t>Nghĩa là: </a:t>
            </a:r>
            <a:pPr indent="0" marL="0">
              <a:buNone/>
            </a:pPr>
            <a:r>
              <a:rPr lang="en-US" sz="1800" dirty="0">
                <a:solidFill>
                  <a:srgbClr val="2A2238"/>
                </a:solidFill>
                <a:latin typeface="Alexandria" pitchFamily="34" charset="0"/>
                <a:ea typeface="Alexandria" pitchFamily="34" charset="-122"/>
                <a:cs typeface="Alexandria" pitchFamily="34" charset="-120"/>
              </a:rPr>
              <a:t>một bên tin rằng quan hệ </a:t>
            </a:r>
            <a:pPr indent="0" marL="0">
              <a:buNone/>
            </a:pPr>
            <a:r>
              <a:rPr lang="en-US" sz="1800" b="1" dirty="0">
                <a:solidFill>
                  <a:srgbClr val="2A2238"/>
                </a:solidFill>
                <a:latin typeface="Alexandria" pitchFamily="34" charset="0"/>
                <a:ea typeface="Alexandria" pitchFamily="34" charset="-122"/>
                <a:cs typeface="Alexandria" pitchFamily="34" charset="-120"/>
              </a:rPr>
              <a:t>quan trọng đến mức đáng nỗ lực tối đa để giữ</a:t>
            </a:r>
            <a:pPr indent="0" marL="0">
              <a:buNone/>
            </a:pPr>
            <a:r>
              <a:rPr lang="en-US" sz="1800" dirty="0">
                <a:solidFill>
                  <a:srgbClr val="2A2238"/>
                </a:solidFill>
                <a:latin typeface="Alexandria" pitchFamily="34" charset="0"/>
                <a:ea typeface="Alexandria" pitchFamily="34" charset="-122"/>
                <a:cs typeface="Alexandria" pitchFamily="34" charset="-120"/>
              </a:rPr>
              <a:t>, muốn quan hệ kéo dài.</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Trust: tin vào độ tin cậy và sự chính trực của bên kia</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D01: Morgan &amp; Hunt (1994), Journal of Marketing, 58(3) — nguyên văn.</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4</a:t>
            </a:r>
            <a:endParaRPr lang="en-US" sz="1000" dirty="0"/>
          </a:p>
        </p:txBody>
      </p:sp>
      <p:sp>
        <p:nvSpPr>
          <p:cNvPr id="20" name="Shape 17"/>
          <p:cNvSpPr/>
          <p:nvPr/>
        </p:nvSpPr>
        <p:spPr>
          <a:xfrm>
            <a:off x="548640" y="1828800"/>
            <a:ext cx="4937760" cy="548640"/>
          </a:xfrm>
          <a:prstGeom prst="roundRect">
            <a:avLst>
              <a:gd name="adj" fmla="val 50000"/>
            </a:avLst>
          </a:prstGeom>
          <a:solidFill>
            <a:srgbClr val="962B7C"/>
          </a:solidFill>
          <a:ln w="12700">
            <a:solidFill>
              <a:srgbClr val="962B7C"/>
            </a:solidFill>
            <a:prstDash val="solid"/>
          </a:ln>
        </p:spPr>
      </p:sp>
      <p:sp>
        <p:nvSpPr>
          <p:cNvPr id="21" name="Text 18"/>
          <p:cNvSpPr txBox="1"/>
          <p:nvPr/>
        </p:nvSpPr>
        <p:spPr>
          <a:xfrm>
            <a:off x="621792" y="1828800"/>
            <a:ext cx="4791456"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Niềm tin · Trust</a:t>
            </a:r>
            <a:endParaRPr lang="en-US" sz="1600" dirty="0"/>
          </a:p>
        </p:txBody>
      </p:sp>
      <p:sp>
        <p:nvSpPr>
          <p:cNvPr id="22" name="Shape 19"/>
          <p:cNvSpPr/>
          <p:nvPr/>
        </p:nvSpPr>
        <p:spPr>
          <a:xfrm>
            <a:off x="548640" y="2560320"/>
            <a:ext cx="11094415" cy="2057400"/>
          </a:xfrm>
          <a:prstGeom prst="roundRect">
            <a:avLst>
              <a:gd name="adj" fmla="val 5333"/>
            </a:avLst>
          </a:prstGeom>
          <a:solidFill>
            <a:srgbClr val="F1E1EE"/>
          </a:solidFill>
          <a:ln w="19050">
            <a:solidFill>
              <a:srgbClr val="962B7C"/>
            </a:solidFill>
            <a:prstDash val="solid"/>
          </a:ln>
        </p:spPr>
      </p:sp>
      <p:sp>
        <p:nvSpPr>
          <p:cNvPr id="23" name="Text 20"/>
          <p:cNvSpPr txBox="1"/>
          <p:nvPr/>
        </p:nvSpPr>
        <p:spPr>
          <a:xfrm>
            <a:off x="960120" y="2560320"/>
            <a:ext cx="10271455" cy="2057400"/>
          </a:xfrm>
          <a:prstGeom prst="rect">
            <a:avLst/>
          </a:prstGeom>
          <a:noFill/>
          <a:ln/>
        </p:spPr>
        <p:txBody>
          <a:bodyPr wrap="square" lIns="0" tIns="0" rIns="0" bIns="0" rtlCol="0" anchor="ctr"/>
          <a:lstStyle/>
          <a:p>
            <a:pPr indent="0" marL="0">
              <a:buNone/>
            </a:pPr>
            <a:r>
              <a:rPr lang="en-US" sz="1800" i="1" dirty="0">
                <a:solidFill>
                  <a:srgbClr val="2A2238"/>
                </a:solidFill>
                <a:latin typeface="Alexandria" pitchFamily="34" charset="0"/>
                <a:ea typeface="Alexandria" pitchFamily="34" charset="-122"/>
                <a:cs typeface="Alexandria" pitchFamily="34" charset="-120"/>
              </a:rPr>
              <a:t>“We conceptualize trust as existing when one party has confidence in an exchange partner’s reliability and integrity.”</a:t>
            </a:r>
            <a:endParaRPr lang="en-US" sz="1800" dirty="0"/>
          </a:p>
        </p:txBody>
      </p:sp>
      <p:sp>
        <p:nvSpPr>
          <p:cNvPr id="24" name="Shape 21"/>
          <p:cNvSpPr/>
          <p:nvPr/>
        </p:nvSpPr>
        <p:spPr>
          <a:xfrm>
            <a:off x="548640" y="4846320"/>
            <a:ext cx="11094415" cy="1143000"/>
          </a:xfrm>
          <a:prstGeom prst="roundRect">
            <a:avLst>
              <a:gd name="adj" fmla="val 9600"/>
            </a:avLst>
          </a:prstGeom>
          <a:solidFill>
            <a:srgbClr val="FFFFFF"/>
          </a:solidFill>
          <a:ln w="12700">
            <a:solidFill>
              <a:srgbClr val="DCD7C8"/>
            </a:solidFill>
            <a:prstDash val="solid"/>
          </a:ln>
        </p:spPr>
      </p:sp>
      <p:sp>
        <p:nvSpPr>
          <p:cNvPr id="25" name="Text 22"/>
          <p:cNvSpPr txBox="1"/>
          <p:nvPr/>
        </p:nvSpPr>
        <p:spPr>
          <a:xfrm>
            <a:off x="914400" y="4846320"/>
            <a:ext cx="10362895" cy="1143000"/>
          </a:xfrm>
          <a:prstGeom prst="rect">
            <a:avLst/>
          </a:prstGeom>
          <a:noFill/>
          <a:ln/>
        </p:spPr>
        <p:txBody>
          <a:bodyPr wrap="square" lIns="0" tIns="0" rIns="0" bIns="0" rtlCol="0" anchor="ctr"/>
          <a:lstStyle/>
          <a:p>
            <a:pPr indent="0" marL="0">
              <a:buNone/>
            </a:pPr>
            <a:r>
              <a:rPr lang="en-US" sz="1800" b="1" dirty="0">
                <a:solidFill>
                  <a:srgbClr val="962B7C"/>
                </a:solidFill>
                <a:latin typeface="Alexandria" pitchFamily="34" charset="0"/>
                <a:ea typeface="Alexandria" pitchFamily="34" charset="-122"/>
                <a:cs typeface="Alexandria" pitchFamily="34" charset="-120"/>
              </a:rPr>
              <a:t>Nghĩa là: </a:t>
            </a:r>
            <a:pPr indent="0" marL="0">
              <a:buNone/>
            </a:pPr>
            <a:r>
              <a:rPr lang="en-US" sz="1800" dirty="0">
                <a:solidFill>
                  <a:srgbClr val="2A2238"/>
                </a:solidFill>
                <a:latin typeface="Alexandria" pitchFamily="34" charset="0"/>
                <a:ea typeface="Alexandria" pitchFamily="34" charset="-122"/>
                <a:cs typeface="Alexandria" pitchFamily="34" charset="-120"/>
              </a:rPr>
              <a:t>tin vào </a:t>
            </a:r>
            <a:pPr indent="0" marL="0">
              <a:buNone/>
            </a:pPr>
            <a:r>
              <a:rPr lang="en-US" sz="1800" b="1" dirty="0">
                <a:solidFill>
                  <a:srgbClr val="2A2238"/>
                </a:solidFill>
                <a:latin typeface="Alexandria" pitchFamily="34" charset="0"/>
                <a:ea typeface="Alexandria" pitchFamily="34" charset="-122"/>
                <a:cs typeface="Alexandria" pitchFamily="34" charset="-120"/>
              </a:rPr>
              <a:t>độ tin cậy</a:t>
            </a:r>
            <a:pPr indent="0" marL="0">
              <a:buNone/>
            </a:pPr>
            <a:r>
              <a:rPr lang="en-US" sz="1800" dirty="0">
                <a:solidFill>
                  <a:srgbClr val="2A2238"/>
                </a:solidFill>
                <a:latin typeface="Alexandria" pitchFamily="34" charset="0"/>
                <a:ea typeface="Alexandria" pitchFamily="34" charset="-122"/>
                <a:cs typeface="Alexandria" pitchFamily="34" charset="-120"/>
              </a:rPr>
              <a:t> (làm đúng cam kết) và </a:t>
            </a:r>
            <a:pPr indent="0" marL="0">
              <a:buNone/>
            </a:pPr>
            <a:r>
              <a:rPr lang="en-US" sz="1800" b="1" dirty="0">
                <a:solidFill>
                  <a:srgbClr val="2A2238"/>
                </a:solidFill>
                <a:latin typeface="Alexandria" pitchFamily="34" charset="0"/>
                <a:ea typeface="Alexandria" pitchFamily="34" charset="-122"/>
                <a:cs typeface="Alexandria" pitchFamily="34" charset="-120"/>
              </a:rPr>
              <a:t>sự chính trực</a:t>
            </a:r>
            <a:pPr indent="0" marL="0">
              <a:buNone/>
            </a:pPr>
            <a:r>
              <a:rPr lang="en-US" sz="1800" dirty="0">
                <a:solidFill>
                  <a:srgbClr val="2A2238"/>
                </a:solidFill>
                <a:latin typeface="Alexandria" pitchFamily="34" charset="0"/>
                <a:ea typeface="Alexandria" pitchFamily="34" charset="-122"/>
                <a:cs typeface="Alexandria" pitchFamily="34" charset="-120"/>
              </a:rPr>
              <a:t> (trung thực) của bên kia.</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Functional conflict: bất đồng được giải quyết êm thấm</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D01: Morgan &amp; Hunt (1994), dẫn Anderson &amp; Narus (1990) — nguyên văn.</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5</a:t>
            </a:r>
            <a:endParaRPr lang="en-US" sz="1000" dirty="0"/>
          </a:p>
        </p:txBody>
      </p:sp>
      <p:sp>
        <p:nvSpPr>
          <p:cNvPr id="20" name="Shape 17"/>
          <p:cNvSpPr/>
          <p:nvPr/>
        </p:nvSpPr>
        <p:spPr>
          <a:xfrm>
            <a:off x="548640" y="1828800"/>
            <a:ext cx="4937760" cy="548640"/>
          </a:xfrm>
          <a:prstGeom prst="roundRect">
            <a:avLst>
              <a:gd name="adj" fmla="val 50000"/>
            </a:avLst>
          </a:prstGeom>
          <a:solidFill>
            <a:srgbClr val="FF5178"/>
          </a:solidFill>
          <a:ln w="12700">
            <a:solidFill>
              <a:srgbClr val="FF5178"/>
            </a:solidFill>
            <a:prstDash val="solid"/>
          </a:ln>
        </p:spPr>
      </p:sp>
      <p:sp>
        <p:nvSpPr>
          <p:cNvPr id="21" name="Text 18"/>
          <p:cNvSpPr txBox="1"/>
          <p:nvPr/>
        </p:nvSpPr>
        <p:spPr>
          <a:xfrm>
            <a:off x="621792" y="1828800"/>
            <a:ext cx="4791456"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Xung đột chức năng · Functional conflict</a:t>
            </a:r>
            <a:endParaRPr lang="en-US" sz="1600" dirty="0"/>
          </a:p>
        </p:txBody>
      </p:sp>
      <p:sp>
        <p:nvSpPr>
          <p:cNvPr id="22" name="Shape 19"/>
          <p:cNvSpPr/>
          <p:nvPr/>
        </p:nvSpPr>
        <p:spPr>
          <a:xfrm>
            <a:off x="548640" y="2560320"/>
            <a:ext cx="11094415" cy="2057400"/>
          </a:xfrm>
          <a:prstGeom prst="roundRect">
            <a:avLst>
              <a:gd name="adj" fmla="val 5333"/>
            </a:avLst>
          </a:prstGeom>
          <a:solidFill>
            <a:srgbClr val="FFE4EA"/>
          </a:solidFill>
          <a:ln w="19050">
            <a:solidFill>
              <a:srgbClr val="FF5178"/>
            </a:solidFill>
            <a:prstDash val="solid"/>
          </a:ln>
        </p:spPr>
      </p:sp>
      <p:sp>
        <p:nvSpPr>
          <p:cNvPr id="23" name="Text 20"/>
          <p:cNvSpPr txBox="1"/>
          <p:nvPr/>
        </p:nvSpPr>
        <p:spPr>
          <a:xfrm>
            <a:off x="960120" y="2560320"/>
            <a:ext cx="10271455" cy="2057400"/>
          </a:xfrm>
          <a:prstGeom prst="rect">
            <a:avLst/>
          </a:prstGeom>
          <a:noFill/>
          <a:ln/>
        </p:spPr>
        <p:txBody>
          <a:bodyPr wrap="square" lIns="0" tIns="0" rIns="0" bIns="0" rtlCol="0" anchor="ctr"/>
          <a:lstStyle/>
          <a:p>
            <a:pPr indent="0" marL="0">
              <a:buNone/>
            </a:pPr>
            <a:r>
              <a:rPr lang="en-US" sz="1800" i="1" dirty="0">
                <a:solidFill>
                  <a:srgbClr val="2A2238"/>
                </a:solidFill>
                <a:latin typeface="Alexandria" pitchFamily="34" charset="0"/>
                <a:ea typeface="Alexandria" pitchFamily="34" charset="-122"/>
                <a:cs typeface="Alexandria" pitchFamily="34" charset="-120"/>
              </a:rPr>
              <a:t>“when disputes are resolved amicably, such disagreements can be referred to as ‘functional conflict,’ because they prevent stagnation, stimulate interest and curiosity, and provide a ‘medium through which problems can be aired and solutions arrived at’”</a:t>
            </a:r>
            <a:endParaRPr lang="en-US" sz="1800" dirty="0"/>
          </a:p>
        </p:txBody>
      </p:sp>
      <p:sp>
        <p:nvSpPr>
          <p:cNvPr id="24" name="Shape 21"/>
          <p:cNvSpPr/>
          <p:nvPr/>
        </p:nvSpPr>
        <p:spPr>
          <a:xfrm>
            <a:off x="548640" y="4846320"/>
            <a:ext cx="11094415" cy="1143000"/>
          </a:xfrm>
          <a:prstGeom prst="roundRect">
            <a:avLst>
              <a:gd name="adj" fmla="val 9600"/>
            </a:avLst>
          </a:prstGeom>
          <a:solidFill>
            <a:srgbClr val="FFFFFF"/>
          </a:solidFill>
          <a:ln w="12700">
            <a:solidFill>
              <a:srgbClr val="DCD7C8"/>
            </a:solidFill>
            <a:prstDash val="solid"/>
          </a:ln>
        </p:spPr>
      </p:sp>
      <p:sp>
        <p:nvSpPr>
          <p:cNvPr id="25" name="Text 22"/>
          <p:cNvSpPr txBox="1"/>
          <p:nvPr/>
        </p:nvSpPr>
        <p:spPr>
          <a:xfrm>
            <a:off x="914400" y="4846320"/>
            <a:ext cx="10362895" cy="1143000"/>
          </a:xfrm>
          <a:prstGeom prst="rect">
            <a:avLst/>
          </a:prstGeom>
          <a:noFill/>
          <a:ln/>
        </p:spPr>
        <p:txBody>
          <a:bodyPr wrap="square" lIns="0" tIns="0" rIns="0" bIns="0"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Nghĩa là: </a:t>
            </a:r>
            <a:pPr indent="0" marL="0">
              <a:buNone/>
            </a:pPr>
            <a:r>
              <a:rPr lang="en-US" sz="1800" dirty="0">
                <a:solidFill>
                  <a:srgbClr val="2A2238"/>
                </a:solidFill>
                <a:latin typeface="Alexandria" pitchFamily="34" charset="0"/>
                <a:ea typeface="Alexandria" pitchFamily="34" charset="-122"/>
                <a:cs typeface="Alexandria" pitchFamily="34" charset="-120"/>
              </a:rPr>
              <a:t>bất đồng </a:t>
            </a:r>
            <a:pPr indent="0" marL="0">
              <a:buNone/>
            </a:pPr>
            <a:r>
              <a:rPr lang="en-US" sz="1800" b="1" dirty="0">
                <a:solidFill>
                  <a:srgbClr val="2A2238"/>
                </a:solidFill>
                <a:latin typeface="Alexandria" pitchFamily="34" charset="0"/>
                <a:ea typeface="Alexandria" pitchFamily="34" charset="-122"/>
                <a:cs typeface="Alexandria" pitchFamily="34" charset="-120"/>
              </a:rPr>
              <a:t>được giải quyết êm thấm</a:t>
            </a:r>
            <a:pPr indent="0" marL="0">
              <a:buNone/>
            </a:pPr>
            <a:r>
              <a:rPr lang="en-US" sz="1800" dirty="0">
                <a:solidFill>
                  <a:srgbClr val="2A2238"/>
                </a:solidFill>
                <a:latin typeface="Alexandria" pitchFamily="34" charset="0"/>
                <a:ea typeface="Alexandria" pitchFamily="34" charset="-122"/>
                <a:cs typeface="Alexandria" pitchFamily="34" charset="-120"/>
              </a:rPr>
              <a:t> giúp quan hệ không trì trệ — “just another part of doing business” (Anderson &amp; Narus, 1990).</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Xung đột chức năng là kết quả của niềm tin</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D01: Morgan &amp; Hunt (1994) — trích một phần mô hình KMV.</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6</a:t>
            </a:r>
            <a:endParaRPr lang="en-US" sz="1000" dirty="0"/>
          </a:p>
        </p:txBody>
      </p:sp>
      <p:sp>
        <p:nvSpPr>
          <p:cNvPr id="20" name="Shape 17"/>
          <p:cNvSpPr/>
          <p:nvPr/>
        </p:nvSpPr>
        <p:spPr>
          <a:xfrm>
            <a:off x="822960" y="2103120"/>
            <a:ext cx="2926080" cy="822960"/>
          </a:xfrm>
          <a:prstGeom prst="roundRect">
            <a:avLst>
              <a:gd name="adj" fmla="val 50000"/>
            </a:avLst>
          </a:prstGeom>
          <a:solidFill>
            <a:srgbClr val="962B7C"/>
          </a:solidFill>
          <a:ln w="12700">
            <a:solidFill>
              <a:srgbClr val="962B7C"/>
            </a:solidFill>
            <a:prstDash val="solid"/>
          </a:ln>
        </p:spPr>
      </p:sp>
      <p:sp>
        <p:nvSpPr>
          <p:cNvPr id="21" name="Text 18"/>
          <p:cNvSpPr txBox="1"/>
          <p:nvPr/>
        </p:nvSpPr>
        <p:spPr>
          <a:xfrm>
            <a:off x="896112" y="2103120"/>
            <a:ext cx="2779776"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Trust</a:t>
            </a:r>
            <a:endParaRPr lang="en-US" sz="1800" dirty="0"/>
          </a:p>
        </p:txBody>
      </p:sp>
      <p:sp>
        <p:nvSpPr>
          <p:cNvPr id="22" name="Shape 19"/>
          <p:cNvSpPr/>
          <p:nvPr/>
        </p:nvSpPr>
        <p:spPr>
          <a:xfrm>
            <a:off x="822960" y="4206240"/>
            <a:ext cx="2926080" cy="822960"/>
          </a:xfrm>
          <a:prstGeom prst="roundRect">
            <a:avLst>
              <a:gd name="adj" fmla="val 50000"/>
            </a:avLst>
          </a:prstGeom>
          <a:solidFill>
            <a:srgbClr val="09A1E5"/>
          </a:solidFill>
          <a:ln w="12700">
            <a:solidFill>
              <a:srgbClr val="09A1E5"/>
            </a:solidFill>
            <a:prstDash val="solid"/>
          </a:ln>
        </p:spPr>
      </p:sp>
      <p:sp>
        <p:nvSpPr>
          <p:cNvPr id="23" name="Text 20"/>
          <p:cNvSpPr txBox="1"/>
          <p:nvPr/>
        </p:nvSpPr>
        <p:spPr>
          <a:xfrm>
            <a:off x="896112" y="4206240"/>
            <a:ext cx="2779776"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Commitment</a:t>
            </a:r>
            <a:endParaRPr lang="en-US" sz="1800" dirty="0"/>
          </a:p>
        </p:txBody>
      </p:sp>
      <p:sp>
        <p:nvSpPr>
          <p:cNvPr id="24" name="Shape 21"/>
          <p:cNvSpPr/>
          <p:nvPr/>
        </p:nvSpPr>
        <p:spPr>
          <a:xfrm>
            <a:off x="5577840" y="2103120"/>
            <a:ext cx="2926080" cy="822960"/>
          </a:xfrm>
          <a:prstGeom prst="roundRect">
            <a:avLst>
              <a:gd name="adj" fmla="val 50000"/>
            </a:avLst>
          </a:prstGeom>
          <a:solidFill>
            <a:srgbClr val="FF5178"/>
          </a:solidFill>
          <a:ln w="12700">
            <a:solidFill>
              <a:srgbClr val="FF5178"/>
            </a:solidFill>
            <a:prstDash val="solid"/>
          </a:ln>
        </p:spPr>
      </p:sp>
      <p:sp>
        <p:nvSpPr>
          <p:cNvPr id="25" name="Text 22"/>
          <p:cNvSpPr txBox="1"/>
          <p:nvPr/>
        </p:nvSpPr>
        <p:spPr>
          <a:xfrm>
            <a:off x="5650992" y="2103120"/>
            <a:ext cx="2779776"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Functional conflict</a:t>
            </a:r>
            <a:endParaRPr lang="en-US" sz="1800" dirty="0"/>
          </a:p>
        </p:txBody>
      </p:sp>
      <p:sp>
        <p:nvSpPr>
          <p:cNvPr id="26" name="Shape 23"/>
          <p:cNvSpPr/>
          <p:nvPr/>
        </p:nvSpPr>
        <p:spPr>
          <a:xfrm>
            <a:off x="5577840" y="4206240"/>
            <a:ext cx="2926080" cy="822960"/>
          </a:xfrm>
          <a:prstGeom prst="roundRect">
            <a:avLst>
              <a:gd name="adj" fmla="val 50000"/>
            </a:avLst>
          </a:prstGeom>
          <a:solidFill>
            <a:srgbClr val="49B296"/>
          </a:solidFill>
          <a:ln w="12700">
            <a:solidFill>
              <a:srgbClr val="49B296"/>
            </a:solidFill>
            <a:prstDash val="solid"/>
          </a:ln>
        </p:spPr>
      </p:sp>
      <p:sp>
        <p:nvSpPr>
          <p:cNvPr id="27" name="Text 24"/>
          <p:cNvSpPr txBox="1"/>
          <p:nvPr/>
        </p:nvSpPr>
        <p:spPr>
          <a:xfrm>
            <a:off x="5650992" y="4206240"/>
            <a:ext cx="2779776"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Cooperation</a:t>
            </a:r>
            <a:endParaRPr lang="en-US" sz="1800" dirty="0"/>
          </a:p>
        </p:txBody>
      </p:sp>
      <p:sp>
        <p:nvSpPr>
          <p:cNvPr id="28" name="Shape 25"/>
          <p:cNvSpPr/>
          <p:nvPr/>
        </p:nvSpPr>
        <p:spPr>
          <a:xfrm>
            <a:off x="3794760" y="2514600"/>
            <a:ext cx="1691640" cy="914"/>
          </a:xfrm>
          <a:prstGeom prst="line">
            <a:avLst/>
          </a:prstGeom>
          <a:noFill/>
          <a:ln w="38100">
            <a:solidFill>
              <a:srgbClr val="2A2238"/>
            </a:solidFill>
            <a:prstDash val="solid"/>
            <a:tailEnd type="triangle"/>
          </a:ln>
        </p:spPr>
      </p:sp>
      <p:sp>
        <p:nvSpPr>
          <p:cNvPr id="29" name="Shape 26"/>
          <p:cNvSpPr/>
          <p:nvPr/>
        </p:nvSpPr>
        <p:spPr>
          <a:xfrm>
            <a:off x="3794760" y="4617720"/>
            <a:ext cx="1691640" cy="914"/>
          </a:xfrm>
          <a:prstGeom prst="line">
            <a:avLst/>
          </a:prstGeom>
          <a:noFill/>
          <a:ln w="38100">
            <a:solidFill>
              <a:srgbClr val="2A2238"/>
            </a:solidFill>
            <a:prstDash val="solid"/>
            <a:tailEnd type="triangle"/>
          </a:ln>
        </p:spPr>
      </p:sp>
      <p:sp>
        <p:nvSpPr>
          <p:cNvPr id="30" name="Shape 27"/>
          <p:cNvSpPr/>
          <p:nvPr/>
        </p:nvSpPr>
        <p:spPr>
          <a:xfrm>
            <a:off x="3657600" y="2926080"/>
            <a:ext cx="1920240" cy="1280160"/>
          </a:xfrm>
          <a:prstGeom prst="line">
            <a:avLst/>
          </a:prstGeom>
          <a:noFill/>
          <a:ln w="38100">
            <a:solidFill>
              <a:srgbClr val="2A2238"/>
            </a:solidFill>
            <a:prstDash val="solid"/>
            <a:tailEnd type="triangle"/>
          </a:ln>
        </p:spPr>
      </p:sp>
      <p:sp>
        <p:nvSpPr>
          <p:cNvPr id="31" name="Shape 28"/>
          <p:cNvSpPr/>
          <p:nvPr/>
        </p:nvSpPr>
        <p:spPr>
          <a:xfrm>
            <a:off x="2286000" y="2971800"/>
            <a:ext cx="914" cy="1188720"/>
          </a:xfrm>
          <a:prstGeom prst="line">
            <a:avLst/>
          </a:prstGeom>
          <a:noFill/>
          <a:ln w="38100">
            <a:solidFill>
              <a:srgbClr val="2A2238"/>
            </a:solidFill>
            <a:prstDash val="solid"/>
            <a:tailEnd type="triangle"/>
          </a:ln>
        </p:spPr>
      </p:sp>
      <p:sp>
        <p:nvSpPr>
          <p:cNvPr id="32" name="Shape 29"/>
          <p:cNvSpPr/>
          <p:nvPr/>
        </p:nvSpPr>
        <p:spPr>
          <a:xfrm>
            <a:off x="8869680" y="2103120"/>
            <a:ext cx="2773375" cy="2926080"/>
          </a:xfrm>
          <a:prstGeom prst="roundRect">
            <a:avLst>
              <a:gd name="adj" fmla="val 3956"/>
            </a:avLst>
          </a:prstGeom>
          <a:solidFill>
            <a:srgbClr val="FFF3C4"/>
          </a:solidFill>
          <a:ln w="12700">
            <a:solidFill>
              <a:srgbClr val="FFD23B"/>
            </a:solidFill>
            <a:prstDash val="solid"/>
          </a:ln>
        </p:spPr>
      </p:sp>
      <p:sp>
        <p:nvSpPr>
          <p:cNvPr id="33" name="Text 30"/>
          <p:cNvSpPr txBox="1"/>
          <p:nvPr/>
        </p:nvSpPr>
        <p:spPr>
          <a:xfrm>
            <a:off x="9098280" y="2103120"/>
            <a:ext cx="2316175" cy="29260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Có niềm tin thì dám nói thẳng; nói thẳng mà giải quyết được thì niềm tin tăng.</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Với khách hàng mới, hợp tác trước, niềm tin sau</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D02: Anderson &amp; Narus (1990), Journal of Marketing, 54(1), 42–58.</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7</a:t>
            </a:r>
            <a:endParaRPr lang="en-US" sz="1000" dirty="0"/>
          </a:p>
        </p:txBody>
      </p:sp>
      <p:sp>
        <p:nvSpPr>
          <p:cNvPr id="20" name="Shape 17"/>
          <p:cNvSpPr/>
          <p:nvPr/>
        </p:nvSpPr>
        <p:spPr>
          <a:xfrm>
            <a:off x="548640" y="3108960"/>
            <a:ext cx="3332378" cy="1463040"/>
          </a:xfrm>
          <a:prstGeom prst="roundRect">
            <a:avLst>
              <a:gd name="adj" fmla="val 7500"/>
            </a:avLst>
          </a:prstGeom>
          <a:solidFill>
            <a:srgbClr val="E1F3EE"/>
          </a:solidFill>
          <a:ln w="25400">
            <a:solidFill>
              <a:srgbClr val="49B296"/>
            </a:solidFill>
            <a:prstDash val="solid"/>
          </a:ln>
        </p:spPr>
      </p:sp>
      <p:sp>
        <p:nvSpPr>
          <p:cNvPr id="21" name="Text 18"/>
          <p:cNvSpPr txBox="1"/>
          <p:nvPr/>
        </p:nvSpPr>
        <p:spPr>
          <a:xfrm>
            <a:off x="731520" y="3108960"/>
            <a:ext cx="2966618" cy="146304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Cùng làm tốt vài việc nhỏ</a:t>
            </a:r>
            <a:endParaRPr lang="en-US" sz="2200" dirty="0"/>
          </a:p>
        </p:txBody>
      </p:sp>
      <p:sp>
        <p:nvSpPr>
          <p:cNvPr id="22" name="Shape 19"/>
          <p:cNvSpPr/>
          <p:nvPr/>
        </p:nvSpPr>
        <p:spPr>
          <a:xfrm>
            <a:off x="3954170" y="3840480"/>
            <a:ext cx="402336" cy="914"/>
          </a:xfrm>
          <a:prstGeom prst="line">
            <a:avLst/>
          </a:prstGeom>
          <a:noFill/>
          <a:ln w="38100">
            <a:solidFill>
              <a:srgbClr val="2A2238"/>
            </a:solidFill>
            <a:prstDash val="solid"/>
            <a:tailEnd type="triangle"/>
          </a:ln>
        </p:spPr>
      </p:sp>
      <p:sp>
        <p:nvSpPr>
          <p:cNvPr id="23" name="Shape 20"/>
          <p:cNvSpPr/>
          <p:nvPr/>
        </p:nvSpPr>
        <p:spPr>
          <a:xfrm>
            <a:off x="4429658" y="2560320"/>
            <a:ext cx="3332378" cy="2011680"/>
          </a:xfrm>
          <a:prstGeom prst="roundRect">
            <a:avLst>
              <a:gd name="adj" fmla="val 5455"/>
            </a:avLst>
          </a:prstGeom>
          <a:solidFill>
            <a:srgbClr val="DDF1FB"/>
          </a:solidFill>
          <a:ln w="25400">
            <a:solidFill>
              <a:srgbClr val="09A1E5"/>
            </a:solidFill>
            <a:prstDash val="solid"/>
          </a:ln>
        </p:spPr>
      </p:sp>
      <p:sp>
        <p:nvSpPr>
          <p:cNvPr id="24" name="Text 21"/>
          <p:cNvSpPr txBox="1"/>
          <p:nvPr/>
        </p:nvSpPr>
        <p:spPr>
          <a:xfrm>
            <a:off x="4612538" y="2560320"/>
            <a:ext cx="2966618" cy="201168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Hợp tác</a:t>
            </a:r>
            <a:endParaRPr lang="en-US" sz="2200" dirty="0"/>
          </a:p>
        </p:txBody>
      </p:sp>
      <p:sp>
        <p:nvSpPr>
          <p:cNvPr id="25" name="Shape 22"/>
          <p:cNvSpPr/>
          <p:nvPr/>
        </p:nvSpPr>
        <p:spPr>
          <a:xfrm>
            <a:off x="7835189" y="3840480"/>
            <a:ext cx="402336" cy="914"/>
          </a:xfrm>
          <a:prstGeom prst="line">
            <a:avLst/>
          </a:prstGeom>
          <a:noFill/>
          <a:ln w="38100">
            <a:solidFill>
              <a:srgbClr val="2A2238"/>
            </a:solidFill>
            <a:prstDash val="solid"/>
            <a:tailEnd type="triangle"/>
          </a:ln>
        </p:spPr>
      </p:sp>
      <p:sp>
        <p:nvSpPr>
          <p:cNvPr id="26" name="Shape 23"/>
          <p:cNvSpPr/>
          <p:nvPr/>
        </p:nvSpPr>
        <p:spPr>
          <a:xfrm>
            <a:off x="8310677" y="2011680"/>
            <a:ext cx="3332378" cy="2560320"/>
          </a:xfrm>
          <a:prstGeom prst="roundRect">
            <a:avLst>
              <a:gd name="adj" fmla="val 4286"/>
            </a:avLst>
          </a:prstGeom>
          <a:solidFill>
            <a:srgbClr val="F1E1EE"/>
          </a:solidFill>
          <a:ln w="25400">
            <a:solidFill>
              <a:srgbClr val="962B7C"/>
            </a:solidFill>
            <a:prstDash val="solid"/>
          </a:ln>
        </p:spPr>
      </p:sp>
      <p:sp>
        <p:nvSpPr>
          <p:cNvPr id="27" name="Text 24"/>
          <p:cNvSpPr txBox="1"/>
          <p:nvPr/>
        </p:nvSpPr>
        <p:spPr>
          <a:xfrm>
            <a:off x="8493557" y="2011680"/>
            <a:ext cx="2966618" cy="256032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Niềm tin</a:t>
            </a:r>
            <a:endParaRPr lang="en-US" sz="2200" dirty="0"/>
          </a:p>
        </p:txBody>
      </p:sp>
      <p:sp>
        <p:nvSpPr>
          <p:cNvPr id="28" name="Shape 25"/>
          <p:cNvSpPr/>
          <p:nvPr/>
        </p:nvSpPr>
        <p:spPr>
          <a:xfrm>
            <a:off x="548640" y="4892040"/>
            <a:ext cx="11094415" cy="1097280"/>
          </a:xfrm>
          <a:prstGeom prst="roundRect">
            <a:avLst>
              <a:gd name="adj" fmla="val 10000"/>
            </a:avLst>
          </a:prstGeom>
          <a:solidFill>
            <a:srgbClr val="FFF3C4"/>
          </a:solidFill>
          <a:ln w="12700">
            <a:solidFill>
              <a:srgbClr val="FFD23B"/>
            </a:solidFill>
            <a:prstDash val="solid"/>
          </a:ln>
        </p:spPr>
      </p:sp>
      <p:sp>
        <p:nvSpPr>
          <p:cNvPr id="29" name="Text 26"/>
          <p:cNvSpPr txBox="1"/>
          <p:nvPr/>
        </p:nvSpPr>
        <p:spPr>
          <a:xfrm>
            <a:off x="914400" y="4892040"/>
            <a:ext cx="10362895" cy="109728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Hợp tác là tiền đề của niềm tin — đừng chờ có niềm tin rồi mới cùng làm.</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Chất lượng quan hệ ảnh hưởng hiệu quả nhiều nhất</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D03: Palmatier, Dant, Grewal &amp; Evans (2006), Journal of Marketing, 70(4) — tổng hợp nhiều nghiên cứu (meta-analysis).</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8</a:t>
            </a:r>
            <a:endParaRPr lang="en-US" sz="1000" dirty="0"/>
          </a:p>
        </p:txBody>
      </p:sp>
      <p:sp>
        <p:nvSpPr>
          <p:cNvPr id="20" name="Shape 17"/>
          <p:cNvSpPr/>
          <p:nvPr/>
        </p:nvSpPr>
        <p:spPr>
          <a:xfrm>
            <a:off x="548640" y="1920240"/>
            <a:ext cx="5120640" cy="4069080"/>
          </a:xfrm>
          <a:prstGeom prst="roundRect">
            <a:avLst>
              <a:gd name="adj" fmla="val 2697"/>
            </a:avLst>
          </a:prstGeom>
          <a:solidFill>
            <a:srgbClr val="F1E1EE"/>
          </a:solidFill>
          <a:ln w="12700">
            <a:solidFill>
              <a:srgbClr val="962B7C"/>
            </a:solidFill>
            <a:prstDash val="solid"/>
          </a:ln>
        </p:spPr>
      </p:sp>
      <p:sp>
        <p:nvSpPr>
          <p:cNvPr id="21" name="Text 18"/>
          <p:cNvSpPr txBox="1"/>
          <p:nvPr/>
        </p:nvSpPr>
        <p:spPr>
          <a:xfrm>
            <a:off x="914400" y="1920240"/>
            <a:ext cx="4389120" cy="4069080"/>
          </a:xfrm>
          <a:prstGeom prst="rect">
            <a:avLst/>
          </a:prstGeom>
          <a:noFill/>
          <a:ln/>
        </p:spPr>
        <p:txBody>
          <a:bodyPr wrap="square" lIns="0" tIns="0" rIns="0" bIns="0" rtlCol="0" anchor="ctr"/>
          <a:lstStyle/>
          <a:p>
            <a:pPr indent="0" marL="0">
              <a:spcAft>
                <a:spcPts val="1000"/>
              </a:spcAft>
              <a:buNone/>
            </a:pPr>
            <a:r>
              <a:rPr lang="en-US" sz="3000" b="1" dirty="0">
                <a:solidFill>
                  <a:srgbClr val="962B7C"/>
                </a:solidFill>
                <a:latin typeface="Alexandria" pitchFamily="34" charset="0"/>
                <a:ea typeface="Alexandria" pitchFamily="34" charset="-122"/>
                <a:cs typeface="Alexandria" pitchFamily="34" charset="-120"/>
              </a:rPr>
              <a:t>Chất lượng quan hệ</a:t>
            </a:r>
            <a:endParaRPr lang="en-US" sz="3000" dirty="0"/>
          </a:p>
          <a:p>
            <a:pPr indent="0" marL="0">
              <a:spcAft>
                <a:spcPts val="1000"/>
              </a:spcAft>
              <a:buNone/>
            </a:pPr>
            <a:r>
              <a:rPr lang="en-US" sz="1700" dirty="0">
                <a:solidFill>
                  <a:srgbClr val="2A2238"/>
                </a:solidFill>
                <a:latin typeface="Alexandria" pitchFamily="34" charset="0"/>
                <a:ea typeface="Alexandria" pitchFamily="34" charset="-122"/>
                <a:cs typeface="Alexandria" pitchFamily="34" charset="-120"/>
              </a:rPr>
              <a:t>thước đo tổng hợp — ảnh hưởng nhiều nhất đến hiệu quả khách quan</a:t>
            </a:r>
            <a:endParaRPr lang="en-US" sz="3000" dirty="0"/>
          </a:p>
        </p:txBody>
      </p:sp>
      <p:sp>
        <p:nvSpPr>
          <p:cNvPr id="22" name="Text 19"/>
          <p:cNvSpPr txBox="1"/>
          <p:nvPr/>
        </p:nvSpPr>
        <p:spPr>
          <a:xfrm>
            <a:off x="5943600" y="1920240"/>
            <a:ext cx="5699455" cy="457200"/>
          </a:xfrm>
          <a:prstGeom prst="rect">
            <a:avLst/>
          </a:prstGeom>
          <a:noFill/>
          <a:ln/>
        </p:spPr>
        <p:txBody>
          <a:bodyPr wrap="square" lIns="0" tIns="0" rIns="0" bIns="0" rtlCol="0" anchor="ctr"/>
          <a:lstStyle/>
          <a:p>
            <a:pPr indent="0" marL="0">
              <a:buNone/>
            </a:pPr>
            <a:r>
              <a:rPr lang="en-US" sz="1700" b="1" dirty="0">
                <a:solidFill>
                  <a:srgbClr val="6E6878"/>
                </a:solidFill>
                <a:latin typeface="Alexandria" pitchFamily="34" charset="0"/>
                <a:ea typeface="Alexandria" pitchFamily="34" charset="-122"/>
                <a:cs typeface="Alexandria" pitchFamily="34" charset="-120"/>
              </a:rPr>
              <a:t>Marketing quan hệ hiệu quả hơn khi…</a:t>
            </a:r>
            <a:endParaRPr lang="en-US" sz="1700" dirty="0"/>
          </a:p>
        </p:txBody>
      </p:sp>
      <p:sp>
        <p:nvSpPr>
          <p:cNvPr id="23" name="Shape 20"/>
          <p:cNvSpPr/>
          <p:nvPr/>
        </p:nvSpPr>
        <p:spPr>
          <a:xfrm>
            <a:off x="5943600" y="2514600"/>
            <a:ext cx="5699455" cy="731520"/>
          </a:xfrm>
          <a:prstGeom prst="roundRect">
            <a:avLst>
              <a:gd name="adj" fmla="val 15000"/>
            </a:avLst>
          </a:prstGeom>
          <a:solidFill>
            <a:srgbClr val="DDF1FB"/>
          </a:solidFill>
          <a:ln w="12700">
            <a:solidFill>
              <a:srgbClr val="09A1E5"/>
            </a:solidFill>
            <a:prstDash val="solid"/>
          </a:ln>
        </p:spPr>
      </p:sp>
      <p:sp>
        <p:nvSpPr>
          <p:cNvPr id="24" name="Text 21"/>
          <p:cNvSpPr txBox="1"/>
          <p:nvPr/>
        </p:nvSpPr>
        <p:spPr>
          <a:xfrm>
            <a:off x="6217920" y="2514600"/>
            <a:ext cx="5150815" cy="73152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  dịch vụ</a:t>
            </a:r>
            <a:endParaRPr lang="en-US" sz="1800" dirty="0"/>
          </a:p>
        </p:txBody>
      </p:sp>
      <p:sp>
        <p:nvSpPr>
          <p:cNvPr id="25" name="Shape 22"/>
          <p:cNvSpPr/>
          <p:nvPr/>
        </p:nvSpPr>
        <p:spPr>
          <a:xfrm>
            <a:off x="5943600" y="3383280"/>
            <a:ext cx="5699455" cy="731520"/>
          </a:xfrm>
          <a:prstGeom prst="roundRect">
            <a:avLst>
              <a:gd name="adj" fmla="val 15000"/>
            </a:avLst>
          </a:prstGeom>
          <a:solidFill>
            <a:srgbClr val="E1F3EE"/>
          </a:solidFill>
          <a:ln w="12700">
            <a:solidFill>
              <a:srgbClr val="49B296"/>
            </a:solidFill>
            <a:prstDash val="solid"/>
          </a:ln>
        </p:spPr>
      </p:sp>
      <p:sp>
        <p:nvSpPr>
          <p:cNvPr id="26" name="Text 23"/>
          <p:cNvSpPr txBox="1"/>
          <p:nvPr/>
        </p:nvSpPr>
        <p:spPr>
          <a:xfrm>
            <a:off x="6217920" y="3383280"/>
            <a:ext cx="5150815" cy="73152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  thị trường doanh nghiệp (B2B)</a:t>
            </a:r>
            <a:endParaRPr lang="en-US" sz="1800" dirty="0"/>
          </a:p>
        </p:txBody>
      </p:sp>
      <p:sp>
        <p:nvSpPr>
          <p:cNvPr id="27" name="Shape 24"/>
          <p:cNvSpPr/>
          <p:nvPr/>
        </p:nvSpPr>
        <p:spPr>
          <a:xfrm>
            <a:off x="5943600" y="4251960"/>
            <a:ext cx="5699455" cy="731520"/>
          </a:xfrm>
          <a:prstGeom prst="roundRect">
            <a:avLst>
              <a:gd name="adj" fmla="val 15000"/>
            </a:avLst>
          </a:prstGeom>
          <a:solidFill>
            <a:srgbClr val="FFE4EA"/>
          </a:solidFill>
          <a:ln w="12700">
            <a:solidFill>
              <a:srgbClr val="FF5178"/>
            </a:solidFill>
            <a:prstDash val="solid"/>
          </a:ln>
        </p:spPr>
      </p:sp>
      <p:sp>
        <p:nvSpPr>
          <p:cNvPr id="28" name="Text 25"/>
          <p:cNvSpPr txBox="1"/>
          <p:nvPr/>
        </p:nvSpPr>
        <p:spPr>
          <a:xfrm>
            <a:off x="6217920" y="4251960"/>
            <a:ext cx="5150815" cy="73152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  quan hệ xây với một cá nhân</a:t>
            </a:r>
            <a:endParaRPr lang="en-US" sz="1800" dirty="0"/>
          </a:p>
        </p:txBody>
      </p:sp>
      <p:sp>
        <p:nvSpPr>
          <p:cNvPr id="29" name="Shape 26"/>
          <p:cNvSpPr/>
          <p:nvPr/>
        </p:nvSpPr>
        <p:spPr>
          <a:xfrm>
            <a:off x="5943600" y="5166360"/>
            <a:ext cx="5699455" cy="822960"/>
          </a:xfrm>
          <a:prstGeom prst="roundRect">
            <a:avLst>
              <a:gd name="adj" fmla="val 13333"/>
            </a:avLst>
          </a:prstGeom>
          <a:solidFill>
            <a:srgbClr val="FFF3C4"/>
          </a:solidFill>
          <a:ln w="12700">
            <a:solidFill>
              <a:srgbClr val="FFD23B"/>
            </a:solidFill>
            <a:prstDash val="solid"/>
          </a:ln>
        </p:spPr>
      </p:sp>
      <p:sp>
        <p:nvSpPr>
          <p:cNvPr id="30" name="Text 27"/>
          <p:cNvSpPr txBox="1"/>
          <p:nvPr/>
        </p:nvSpPr>
        <p:spPr>
          <a:xfrm>
            <a:off x="6217920" y="5166360"/>
            <a:ext cx="5150815" cy="82296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…nhưng rủi ro khi người đó rời đi — Buổi 8.</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Ở Việt Nam, thể diện quyết định cách nêu bất đồng</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D06 → T17: Pham &amp; Pham (2025), BIMTECH Business Perspectives. Hàm ý: nhận định của người soạn.</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9</a:t>
            </a:r>
            <a:endParaRPr lang="en-US" sz="1000" dirty="0"/>
          </a:p>
        </p:txBody>
      </p:sp>
      <p:sp>
        <p:nvSpPr>
          <p:cNvPr id="20" name="Text 17"/>
          <p:cNvSpPr txBox="1"/>
          <p:nvPr/>
        </p:nvSpPr>
        <p:spPr>
          <a:xfrm>
            <a:off x="548640" y="1828800"/>
            <a:ext cx="11094415" cy="411480"/>
          </a:xfrm>
          <a:prstGeom prst="rect">
            <a:avLst/>
          </a:prstGeom>
          <a:noFill/>
          <a:ln/>
        </p:spPr>
        <p:txBody>
          <a:bodyPr wrap="square" lIns="0" tIns="0" rIns="0" bIns="0" rtlCol="0" anchor="ctr"/>
          <a:lstStyle/>
          <a:p>
            <a:pPr indent="0" marL="0">
              <a:buNone/>
            </a:pPr>
            <a:r>
              <a:rPr lang="en-US" sz="1600" dirty="0">
                <a:solidFill>
                  <a:srgbClr val="6E6878"/>
                </a:solidFill>
                <a:latin typeface="Alexandria" pitchFamily="34" charset="0"/>
                <a:ea typeface="Alexandria" pitchFamily="34" charset="-122"/>
                <a:cs typeface="Alexandria" pitchFamily="34" charset="-120"/>
              </a:rPr>
              <a:t>“Quan hệ” trong kinh doanh Việt Nam gồm:</a:t>
            </a:r>
            <a:endParaRPr lang="en-US" sz="1600" dirty="0"/>
          </a:p>
        </p:txBody>
      </p:sp>
      <p:sp>
        <p:nvSpPr>
          <p:cNvPr id="21" name="Shape 18"/>
          <p:cNvSpPr/>
          <p:nvPr/>
        </p:nvSpPr>
        <p:spPr>
          <a:xfrm>
            <a:off x="548640" y="2377440"/>
            <a:ext cx="3515258" cy="1280160"/>
          </a:xfrm>
          <a:prstGeom prst="roundRect">
            <a:avLst>
              <a:gd name="adj" fmla="val 8571"/>
            </a:avLst>
          </a:prstGeom>
          <a:solidFill>
            <a:srgbClr val="F1E1EE"/>
          </a:solidFill>
          <a:ln w="38100">
            <a:solidFill>
              <a:srgbClr val="962B7C"/>
            </a:solidFill>
            <a:prstDash val="solid"/>
          </a:ln>
        </p:spPr>
      </p:sp>
      <p:sp>
        <p:nvSpPr>
          <p:cNvPr id="22" name="Text 19"/>
          <p:cNvSpPr txBox="1"/>
          <p:nvPr/>
        </p:nvSpPr>
        <p:spPr>
          <a:xfrm>
            <a:off x="548640" y="2377440"/>
            <a:ext cx="3515258" cy="1280160"/>
          </a:xfrm>
          <a:prstGeom prst="rect">
            <a:avLst/>
          </a:prstGeom>
          <a:noFill/>
          <a:ln/>
        </p:spPr>
        <p:txBody>
          <a:bodyPr wrap="square" lIns="0" tIns="0" rIns="0" bIns="0" rtlCol="0" anchor="ctr"/>
          <a:lstStyle/>
          <a:p>
            <a:pPr algn="ctr" indent="0" marL="0">
              <a:buNone/>
            </a:pPr>
            <a:r>
              <a:rPr lang="en-US" sz="2600" b="1" dirty="0">
                <a:solidFill>
                  <a:srgbClr val="2A2238"/>
                </a:solidFill>
                <a:latin typeface="Alexandria" pitchFamily="34" charset="0"/>
                <a:ea typeface="Alexandria" pitchFamily="34" charset="-122"/>
                <a:cs typeface="Alexandria" pitchFamily="34" charset="-120"/>
              </a:rPr>
              <a:t>Thể diện</a:t>
            </a:r>
            <a:endParaRPr lang="en-US" sz="2600" dirty="0"/>
          </a:p>
        </p:txBody>
      </p:sp>
      <p:sp>
        <p:nvSpPr>
          <p:cNvPr id="23" name="Shape 20"/>
          <p:cNvSpPr/>
          <p:nvPr/>
        </p:nvSpPr>
        <p:spPr>
          <a:xfrm>
            <a:off x="4338218" y="2377440"/>
            <a:ext cx="3515258" cy="1280160"/>
          </a:xfrm>
          <a:prstGeom prst="roundRect">
            <a:avLst>
              <a:gd name="adj" fmla="val 8571"/>
            </a:avLst>
          </a:prstGeom>
          <a:solidFill>
            <a:srgbClr val="DDF1FB"/>
          </a:solidFill>
          <a:ln w="19050">
            <a:solidFill>
              <a:srgbClr val="09A1E5"/>
            </a:solidFill>
            <a:prstDash val="solid"/>
          </a:ln>
        </p:spPr>
      </p:sp>
      <p:sp>
        <p:nvSpPr>
          <p:cNvPr id="24" name="Text 21"/>
          <p:cNvSpPr txBox="1"/>
          <p:nvPr/>
        </p:nvSpPr>
        <p:spPr>
          <a:xfrm>
            <a:off x="4338218" y="2377440"/>
            <a:ext cx="3515258" cy="1280160"/>
          </a:xfrm>
          <a:prstGeom prst="rect">
            <a:avLst/>
          </a:prstGeom>
          <a:noFill/>
          <a:ln/>
        </p:spPr>
        <p:txBody>
          <a:bodyPr wrap="square" lIns="0" tIns="0" rIns="0" bIns="0" rtlCol="0" anchor="ctr"/>
          <a:lstStyle/>
          <a:p>
            <a:pPr algn="ctr" indent="0" marL="0">
              <a:buNone/>
            </a:pPr>
            <a:r>
              <a:rPr lang="en-US" sz="2600" b="1" dirty="0">
                <a:solidFill>
                  <a:srgbClr val="2A2238"/>
                </a:solidFill>
                <a:latin typeface="Alexandria" pitchFamily="34" charset="0"/>
                <a:ea typeface="Alexandria" pitchFamily="34" charset="-122"/>
                <a:cs typeface="Alexandria" pitchFamily="34" charset="-120"/>
              </a:rPr>
              <a:t>Có qua có lại</a:t>
            </a:r>
            <a:endParaRPr lang="en-US" sz="2600" dirty="0"/>
          </a:p>
        </p:txBody>
      </p:sp>
      <p:sp>
        <p:nvSpPr>
          <p:cNvPr id="25" name="Shape 22"/>
          <p:cNvSpPr/>
          <p:nvPr/>
        </p:nvSpPr>
        <p:spPr>
          <a:xfrm>
            <a:off x="8127797" y="2377440"/>
            <a:ext cx="3515258" cy="1280160"/>
          </a:xfrm>
          <a:prstGeom prst="roundRect">
            <a:avLst>
              <a:gd name="adj" fmla="val 8571"/>
            </a:avLst>
          </a:prstGeom>
          <a:solidFill>
            <a:srgbClr val="FFE4EA"/>
          </a:solidFill>
          <a:ln w="19050">
            <a:solidFill>
              <a:srgbClr val="FF5178"/>
            </a:solidFill>
            <a:prstDash val="solid"/>
          </a:ln>
        </p:spPr>
      </p:sp>
      <p:sp>
        <p:nvSpPr>
          <p:cNvPr id="26" name="Text 23"/>
          <p:cNvSpPr txBox="1"/>
          <p:nvPr/>
        </p:nvSpPr>
        <p:spPr>
          <a:xfrm>
            <a:off x="8127797" y="2377440"/>
            <a:ext cx="3515258" cy="1280160"/>
          </a:xfrm>
          <a:prstGeom prst="rect">
            <a:avLst/>
          </a:prstGeom>
          <a:noFill/>
          <a:ln/>
        </p:spPr>
        <p:txBody>
          <a:bodyPr wrap="square" lIns="0" tIns="0" rIns="0" bIns="0" rtlCol="0" anchor="ctr"/>
          <a:lstStyle/>
          <a:p>
            <a:pPr algn="ctr" indent="0" marL="0">
              <a:buNone/>
            </a:pPr>
            <a:r>
              <a:rPr lang="en-US" sz="2600" b="1" dirty="0">
                <a:solidFill>
                  <a:srgbClr val="2A2238"/>
                </a:solidFill>
                <a:latin typeface="Alexandria" pitchFamily="34" charset="0"/>
                <a:ea typeface="Alexandria" pitchFamily="34" charset="-122"/>
                <a:cs typeface="Alexandria" pitchFamily="34" charset="-120"/>
              </a:rPr>
              <a:t>Tình cảm</a:t>
            </a:r>
            <a:endParaRPr lang="en-US" sz="2600" dirty="0"/>
          </a:p>
        </p:txBody>
      </p:sp>
      <p:sp>
        <p:nvSpPr>
          <p:cNvPr id="27" name="Shape 24"/>
          <p:cNvSpPr/>
          <p:nvPr/>
        </p:nvSpPr>
        <p:spPr>
          <a:xfrm>
            <a:off x="548640" y="3977640"/>
            <a:ext cx="11094415" cy="2011680"/>
          </a:xfrm>
          <a:prstGeom prst="roundRect">
            <a:avLst>
              <a:gd name="adj" fmla="val 5455"/>
            </a:avLst>
          </a:prstGeom>
          <a:solidFill>
            <a:srgbClr val="FFF3C4"/>
          </a:solidFill>
          <a:ln w="12700">
            <a:solidFill>
              <a:srgbClr val="FFD23B"/>
            </a:solidFill>
            <a:prstDash val="solid"/>
          </a:ln>
        </p:spPr>
      </p:sp>
      <p:sp>
        <p:nvSpPr>
          <p:cNvPr id="28" name="Text 25"/>
          <p:cNvSpPr txBox="1"/>
          <p:nvPr/>
        </p:nvSpPr>
        <p:spPr>
          <a:xfrm>
            <a:off x="914400" y="3977640"/>
            <a:ext cx="10362895" cy="2011680"/>
          </a:xfrm>
          <a:prstGeom prst="rect">
            <a:avLst/>
          </a:prstGeom>
          <a:noFill/>
          <a:ln/>
        </p:spPr>
        <p:txBody>
          <a:bodyPr wrap="square" lIns="0" tIns="0" rIns="0" bIns="0" rtlCol="0" anchor="ctr"/>
          <a:lstStyle/>
          <a:p>
            <a:pPr indent="0" marL="0">
              <a:buNone/>
            </a:pPr>
            <a:r>
              <a:rPr lang="en-US" sz="2100" b="1" dirty="0">
                <a:solidFill>
                  <a:srgbClr val="2A2238"/>
                </a:solidFill>
                <a:latin typeface="Alexandria" pitchFamily="34" charset="0"/>
                <a:ea typeface="Alexandria" pitchFamily="34" charset="-122"/>
                <a:cs typeface="Alexandria" pitchFamily="34" charset="-120"/>
              </a:rPr>
              <a:t>Hàm ý (nhận định): </a:t>
            </a:r>
            <a:pPr indent="0" marL="0">
              <a:buNone/>
            </a:pPr>
            <a:r>
              <a:rPr lang="en-US" sz="2100" dirty="0">
                <a:solidFill>
                  <a:srgbClr val="2A2238"/>
                </a:solidFill>
                <a:latin typeface="Alexandria" pitchFamily="34" charset="0"/>
                <a:ea typeface="Alexandria" pitchFamily="34" charset="-122"/>
                <a:cs typeface="Alexandria" pitchFamily="34" charset="-120"/>
              </a:rPr>
              <a:t>nêu bất đồng </a:t>
            </a:r>
            <a:pPr indent="0" marL="0">
              <a:buNone/>
            </a:pPr>
            <a:r>
              <a:rPr lang="en-US" sz="2100" b="1" dirty="0">
                <a:solidFill>
                  <a:srgbClr val="2A2238"/>
                </a:solidFill>
                <a:latin typeface="Alexandria" pitchFamily="34" charset="0"/>
                <a:ea typeface="Alexandria" pitchFamily="34" charset="-122"/>
                <a:cs typeface="Alexandria" pitchFamily="34" charset="-120"/>
              </a:rPr>
              <a:t>riêng, đúng người, đúng lúc</a:t>
            </a:r>
            <a:pPr indent="0" marL="0">
              <a:buNone/>
            </a:pPr>
            <a:r>
              <a:rPr lang="en-US" sz="2100" dirty="0">
                <a:solidFill>
                  <a:srgbClr val="2A2238"/>
                </a:solidFill>
                <a:latin typeface="Alexandria" pitchFamily="34" charset="0"/>
                <a:ea typeface="Alexandria" pitchFamily="34" charset="-122"/>
                <a:cs typeface="Alexandria" pitchFamily="34" charset="-120"/>
              </a:rPr>
              <a:t> — nêu trước đám đông dễ biến thành xung đột không chức năng.</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Không phàn nàn có thể là thiếu niềm tin</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10</a:t>
            </a:r>
            <a:endParaRPr lang="en-US" sz="1000" dirty="0"/>
          </a:p>
        </p:txBody>
      </p:sp>
      <p:sp>
        <p:nvSpPr>
          <p:cNvPr id="19" name="Shape 16"/>
          <p:cNvSpPr/>
          <p:nvPr/>
        </p:nvSpPr>
        <p:spPr>
          <a:xfrm>
            <a:off x="548640" y="1920240"/>
            <a:ext cx="4937760" cy="1737360"/>
          </a:xfrm>
          <a:prstGeom prst="roundRect">
            <a:avLst>
              <a:gd name="adj" fmla="val 6316"/>
            </a:avLst>
          </a:prstGeom>
          <a:solidFill>
            <a:srgbClr val="FFE4EA"/>
          </a:solidFill>
          <a:ln w="12700">
            <a:solidFill>
              <a:srgbClr val="FF5178"/>
            </a:solidFill>
            <a:prstDash val="solid"/>
          </a:ln>
        </p:spPr>
      </p:sp>
      <p:sp>
        <p:nvSpPr>
          <p:cNvPr id="20" name="Text 17"/>
          <p:cNvSpPr txBox="1"/>
          <p:nvPr/>
        </p:nvSpPr>
        <p:spPr>
          <a:xfrm>
            <a:off x="822960" y="1920240"/>
            <a:ext cx="4389120" cy="1737360"/>
          </a:xfrm>
          <a:prstGeom prst="rect">
            <a:avLst/>
          </a:prstGeom>
          <a:noFill/>
          <a:ln/>
        </p:spPr>
        <p:txBody>
          <a:bodyPr wrap="square" lIns="0" tIns="0" rIns="0" bIns="0" rtlCol="0" anchor="ctr"/>
          <a:lstStyle/>
          <a:p>
            <a:pPr indent="0" marL="0">
              <a:buNone/>
            </a:pPr>
            <a:r>
              <a:rPr lang="en-US" sz="1300" b="1" dirty="0">
                <a:solidFill>
                  <a:srgbClr val="E03A62"/>
                </a:solidFill>
                <a:latin typeface="Alexandria" pitchFamily="34" charset="0"/>
                <a:ea typeface="Alexandria" pitchFamily="34" charset="-122"/>
                <a:cs typeface="Alexandria" pitchFamily="34" charset="-120"/>
              </a:rPr>
              <a:t>Hiểu lầm</a:t>
            </a:r>
            <a:endParaRPr lang="en-US" sz="1300" dirty="0"/>
          </a:p>
          <a:p>
            <a:pPr indent="0" marL="0">
              <a:buNone/>
            </a:pPr>
            <a:r>
              <a:rPr lang="en-US" sz="1800" i="1" dirty="0">
                <a:solidFill>
                  <a:srgbClr val="2A2238"/>
                </a:solidFill>
                <a:latin typeface="Alexandria" pitchFamily="34" charset="0"/>
                <a:ea typeface="Alexandria" pitchFamily="34" charset="-122"/>
                <a:cs typeface="Alexandria" pitchFamily="34" charset="-120"/>
              </a:rPr>
              <a:t>“Xung đột chức năng = ít xung đột”</a:t>
            </a:r>
            <a:endParaRPr lang="en-US" sz="1300" dirty="0"/>
          </a:p>
        </p:txBody>
      </p:sp>
      <p:sp>
        <p:nvSpPr>
          <p:cNvPr id="21" name="Shape 18"/>
          <p:cNvSpPr/>
          <p:nvPr/>
        </p:nvSpPr>
        <p:spPr>
          <a:xfrm>
            <a:off x="5623560" y="2788920"/>
            <a:ext cx="777240" cy="914"/>
          </a:xfrm>
          <a:prstGeom prst="line">
            <a:avLst/>
          </a:prstGeom>
          <a:noFill/>
          <a:ln w="38100">
            <a:solidFill>
              <a:srgbClr val="2A2238"/>
            </a:solidFill>
            <a:prstDash val="solid"/>
            <a:tailEnd type="triangle"/>
          </a:ln>
        </p:spPr>
      </p:sp>
      <p:sp>
        <p:nvSpPr>
          <p:cNvPr id="22" name="Shape 19"/>
          <p:cNvSpPr/>
          <p:nvPr/>
        </p:nvSpPr>
        <p:spPr>
          <a:xfrm>
            <a:off x="6537960" y="1920240"/>
            <a:ext cx="5105095" cy="1737360"/>
          </a:xfrm>
          <a:prstGeom prst="roundRect">
            <a:avLst>
              <a:gd name="adj" fmla="val 6316"/>
            </a:avLst>
          </a:prstGeom>
          <a:solidFill>
            <a:srgbClr val="E1F3EE"/>
          </a:solidFill>
          <a:ln w="12700">
            <a:solidFill>
              <a:srgbClr val="49B296"/>
            </a:solidFill>
            <a:prstDash val="solid"/>
          </a:ln>
        </p:spPr>
      </p:sp>
      <p:sp>
        <p:nvSpPr>
          <p:cNvPr id="23" name="Text 20"/>
          <p:cNvSpPr txBox="1"/>
          <p:nvPr/>
        </p:nvSpPr>
        <p:spPr>
          <a:xfrm>
            <a:off x="6812280" y="1920240"/>
            <a:ext cx="4556455" cy="1737360"/>
          </a:xfrm>
          <a:prstGeom prst="rect">
            <a:avLst/>
          </a:prstGeom>
          <a:noFill/>
          <a:ln/>
        </p:spPr>
        <p:txBody>
          <a:bodyPr wrap="square" lIns="0" tIns="0" rIns="0" bIns="0" rtlCol="0" anchor="ctr"/>
          <a:lstStyle/>
          <a:p>
            <a:pPr indent="0" marL="0">
              <a:buNone/>
            </a:pPr>
            <a:r>
              <a:rPr lang="en-US" sz="1300" b="1" dirty="0">
                <a:solidFill>
                  <a:srgbClr val="2E8A71"/>
                </a:solidFill>
                <a:latin typeface="Alexandria" pitchFamily="34" charset="0"/>
                <a:ea typeface="Alexandria" pitchFamily="34" charset="-122"/>
                <a:cs typeface="Alexandria" pitchFamily="34" charset="-120"/>
              </a:rPr>
              <a:t>Sửa</a:t>
            </a:r>
            <a:endParaRPr lang="en-US" sz="1300" dirty="0"/>
          </a:p>
          <a:p>
            <a:pPr indent="0" marL="0">
              <a:buNone/>
            </a:pPr>
            <a:r>
              <a:rPr lang="en-US" sz="1900" b="1" dirty="0">
                <a:solidFill>
                  <a:srgbClr val="2A2238"/>
                </a:solidFill>
                <a:latin typeface="Alexandria" pitchFamily="34" charset="0"/>
                <a:ea typeface="Alexandria" pitchFamily="34" charset="-122"/>
                <a:cs typeface="Alexandria" pitchFamily="34" charset="-120"/>
              </a:rPr>
              <a:t>Là bất đồng được giải quyết êm thấm nhờ có niềm tin</a:t>
            </a:r>
            <a:endParaRPr lang="en-US" sz="1300" dirty="0"/>
          </a:p>
        </p:txBody>
      </p:sp>
      <p:sp>
        <p:nvSpPr>
          <p:cNvPr id="24" name="Shape 21"/>
          <p:cNvSpPr/>
          <p:nvPr/>
        </p:nvSpPr>
        <p:spPr>
          <a:xfrm>
            <a:off x="548640" y="3977640"/>
            <a:ext cx="4937760" cy="1737360"/>
          </a:xfrm>
          <a:prstGeom prst="roundRect">
            <a:avLst>
              <a:gd name="adj" fmla="val 6316"/>
            </a:avLst>
          </a:prstGeom>
          <a:solidFill>
            <a:srgbClr val="FFE4EA"/>
          </a:solidFill>
          <a:ln w="12700">
            <a:solidFill>
              <a:srgbClr val="FF5178"/>
            </a:solidFill>
            <a:prstDash val="solid"/>
          </a:ln>
        </p:spPr>
      </p:sp>
      <p:sp>
        <p:nvSpPr>
          <p:cNvPr id="25" name="Text 22"/>
          <p:cNvSpPr txBox="1"/>
          <p:nvPr/>
        </p:nvSpPr>
        <p:spPr>
          <a:xfrm>
            <a:off x="822960" y="3977640"/>
            <a:ext cx="4389120" cy="1737360"/>
          </a:xfrm>
          <a:prstGeom prst="rect">
            <a:avLst/>
          </a:prstGeom>
          <a:noFill/>
          <a:ln/>
        </p:spPr>
        <p:txBody>
          <a:bodyPr wrap="square" lIns="0" tIns="0" rIns="0" bIns="0" rtlCol="0" anchor="ctr"/>
          <a:lstStyle/>
          <a:p>
            <a:pPr indent="0" marL="0">
              <a:buNone/>
            </a:pPr>
            <a:r>
              <a:rPr lang="en-US" sz="1300" b="1" dirty="0">
                <a:solidFill>
                  <a:srgbClr val="E03A62"/>
                </a:solidFill>
                <a:latin typeface="Alexandria" pitchFamily="34" charset="0"/>
                <a:ea typeface="Alexandria" pitchFamily="34" charset="-122"/>
                <a:cs typeface="Alexandria" pitchFamily="34" charset="-120"/>
              </a:rPr>
              <a:t>Hiểu lầm</a:t>
            </a:r>
            <a:endParaRPr lang="en-US" sz="1300" dirty="0"/>
          </a:p>
          <a:p>
            <a:pPr indent="0" marL="0">
              <a:buNone/>
            </a:pPr>
            <a:r>
              <a:rPr lang="en-US" sz="1800" i="1" dirty="0">
                <a:solidFill>
                  <a:srgbClr val="2A2238"/>
                </a:solidFill>
                <a:latin typeface="Alexandria" pitchFamily="34" charset="0"/>
                <a:ea typeface="Alexandria" pitchFamily="34" charset="-122"/>
                <a:cs typeface="Alexandria" pitchFamily="34" charset="-120"/>
              </a:rPr>
              <a:t>“Khách hàng không phàn nàn = hài lòng”</a:t>
            </a:r>
            <a:endParaRPr lang="en-US" sz="1300" dirty="0"/>
          </a:p>
        </p:txBody>
      </p:sp>
      <p:sp>
        <p:nvSpPr>
          <p:cNvPr id="26" name="Shape 23"/>
          <p:cNvSpPr/>
          <p:nvPr/>
        </p:nvSpPr>
        <p:spPr>
          <a:xfrm>
            <a:off x="5623560" y="4846320"/>
            <a:ext cx="777240" cy="914"/>
          </a:xfrm>
          <a:prstGeom prst="line">
            <a:avLst/>
          </a:prstGeom>
          <a:noFill/>
          <a:ln w="38100">
            <a:solidFill>
              <a:srgbClr val="2A2238"/>
            </a:solidFill>
            <a:prstDash val="solid"/>
            <a:tailEnd type="triangle"/>
          </a:ln>
        </p:spPr>
      </p:sp>
      <p:sp>
        <p:nvSpPr>
          <p:cNvPr id="27" name="Shape 24"/>
          <p:cNvSpPr/>
          <p:nvPr/>
        </p:nvSpPr>
        <p:spPr>
          <a:xfrm>
            <a:off x="6537960" y="3977640"/>
            <a:ext cx="5105095" cy="1737360"/>
          </a:xfrm>
          <a:prstGeom prst="roundRect">
            <a:avLst>
              <a:gd name="adj" fmla="val 6316"/>
            </a:avLst>
          </a:prstGeom>
          <a:solidFill>
            <a:srgbClr val="E1F3EE"/>
          </a:solidFill>
          <a:ln w="12700">
            <a:solidFill>
              <a:srgbClr val="49B296"/>
            </a:solidFill>
            <a:prstDash val="solid"/>
          </a:ln>
        </p:spPr>
      </p:sp>
      <p:sp>
        <p:nvSpPr>
          <p:cNvPr id="28" name="Text 25"/>
          <p:cNvSpPr txBox="1"/>
          <p:nvPr/>
        </p:nvSpPr>
        <p:spPr>
          <a:xfrm>
            <a:off x="6812280" y="3977640"/>
            <a:ext cx="4556455" cy="1737360"/>
          </a:xfrm>
          <a:prstGeom prst="rect">
            <a:avLst/>
          </a:prstGeom>
          <a:noFill/>
          <a:ln/>
        </p:spPr>
        <p:txBody>
          <a:bodyPr wrap="square" lIns="0" tIns="0" rIns="0" bIns="0" rtlCol="0" anchor="ctr"/>
          <a:lstStyle/>
          <a:p>
            <a:pPr indent="0" marL="0">
              <a:buNone/>
            </a:pPr>
            <a:r>
              <a:rPr lang="en-US" sz="1300" b="1" dirty="0">
                <a:solidFill>
                  <a:srgbClr val="2E8A71"/>
                </a:solidFill>
                <a:latin typeface="Alexandria" pitchFamily="34" charset="0"/>
                <a:ea typeface="Alexandria" pitchFamily="34" charset="-122"/>
                <a:cs typeface="Alexandria" pitchFamily="34" charset="-120"/>
              </a:rPr>
              <a:t>Sửa</a:t>
            </a:r>
            <a:endParaRPr lang="en-US" sz="1300" dirty="0"/>
          </a:p>
          <a:p>
            <a:pPr indent="0" marL="0">
              <a:buNone/>
            </a:pPr>
            <a:r>
              <a:rPr lang="en-US" sz="1900" b="1" dirty="0">
                <a:solidFill>
                  <a:srgbClr val="2A2238"/>
                </a:solidFill>
                <a:latin typeface="Alexandria" pitchFamily="34" charset="0"/>
                <a:ea typeface="Alexandria" pitchFamily="34" charset="-122"/>
                <a:cs typeface="Alexandria" pitchFamily="34" charset="-120"/>
              </a:rPr>
              <a:t>Có thể là thiếu niềm tin để nói thẳng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1 · Chẩn đoán quan hệ Nova – An Phát</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W04_activity_S3_chan_doan_quan_he.md · Thẻ bằng chứng GIẢ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11</a:t>
            </a:r>
            <a:endParaRPr lang="en-US" sz="1000" dirty="0"/>
          </a:p>
        </p:txBody>
      </p:sp>
      <p:sp>
        <p:nvSpPr>
          <p:cNvPr id="20" name="Shape 17"/>
          <p:cNvSpPr/>
          <p:nvPr/>
        </p:nvSpPr>
        <p:spPr>
          <a:xfrm>
            <a:off x="548640" y="1783080"/>
            <a:ext cx="2407920" cy="1188720"/>
          </a:xfrm>
          <a:prstGeom prst="roundRect">
            <a:avLst>
              <a:gd name="adj" fmla="val 9231"/>
            </a:avLst>
          </a:prstGeom>
          <a:solidFill>
            <a:srgbClr val="FFFFFF"/>
          </a:solidFill>
          <a:ln w="12700">
            <a:solidFill>
              <a:srgbClr val="DCD7C8"/>
            </a:solidFill>
            <a:prstDash val="solid"/>
          </a:ln>
        </p:spPr>
      </p:sp>
      <p:sp>
        <p:nvSpPr>
          <p:cNvPr id="21" name="Shape 18"/>
          <p:cNvSpPr/>
          <p:nvPr/>
        </p:nvSpPr>
        <p:spPr>
          <a:xfrm>
            <a:off x="640080" y="1874520"/>
            <a:ext cx="384048" cy="384048"/>
          </a:xfrm>
          <a:prstGeom prst="ellipse">
            <a:avLst/>
          </a:prstGeom>
          <a:solidFill>
            <a:srgbClr val="962B7C"/>
          </a:solidFill>
          <a:ln w="12700">
            <a:solidFill>
              <a:srgbClr val="962B7C"/>
            </a:solidFill>
            <a:prstDash val="solid"/>
          </a:ln>
        </p:spPr>
      </p:sp>
      <p:sp>
        <p:nvSpPr>
          <p:cNvPr id="22" name="Text 19"/>
          <p:cNvSpPr txBox="1"/>
          <p:nvPr/>
        </p:nvSpPr>
        <p:spPr>
          <a:xfrm>
            <a:off x="64008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1</a:t>
            </a:r>
            <a:endParaRPr lang="en-US" sz="1300" dirty="0"/>
          </a:p>
        </p:txBody>
      </p:sp>
      <p:sp>
        <p:nvSpPr>
          <p:cNvPr id="23" name="Text 20"/>
          <p:cNvSpPr txBox="1"/>
          <p:nvPr/>
        </p:nvSpPr>
        <p:spPr>
          <a:xfrm>
            <a:off x="685800" y="2258568"/>
            <a:ext cx="2133600" cy="68580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Thanh toán đúng hạn 4 năm liền</a:t>
            </a:r>
            <a:endParaRPr lang="en-US" sz="1200" dirty="0"/>
          </a:p>
        </p:txBody>
      </p:sp>
      <p:sp>
        <p:nvSpPr>
          <p:cNvPr id="24" name="Shape 21"/>
          <p:cNvSpPr/>
          <p:nvPr/>
        </p:nvSpPr>
        <p:spPr>
          <a:xfrm>
            <a:off x="3093720" y="1783080"/>
            <a:ext cx="2407920" cy="1188720"/>
          </a:xfrm>
          <a:prstGeom prst="roundRect">
            <a:avLst>
              <a:gd name="adj" fmla="val 9231"/>
            </a:avLst>
          </a:prstGeom>
          <a:solidFill>
            <a:srgbClr val="FFFFFF"/>
          </a:solidFill>
          <a:ln w="12700">
            <a:solidFill>
              <a:srgbClr val="DCD7C8"/>
            </a:solidFill>
            <a:prstDash val="solid"/>
          </a:ln>
        </p:spPr>
      </p:sp>
      <p:sp>
        <p:nvSpPr>
          <p:cNvPr id="25" name="Shape 22"/>
          <p:cNvSpPr/>
          <p:nvPr/>
        </p:nvSpPr>
        <p:spPr>
          <a:xfrm>
            <a:off x="3185160" y="1874520"/>
            <a:ext cx="384048" cy="384048"/>
          </a:xfrm>
          <a:prstGeom prst="ellipse">
            <a:avLst/>
          </a:prstGeom>
          <a:solidFill>
            <a:srgbClr val="09A1E5"/>
          </a:solidFill>
          <a:ln w="12700">
            <a:solidFill>
              <a:srgbClr val="09A1E5"/>
            </a:solidFill>
            <a:prstDash val="solid"/>
          </a:ln>
        </p:spPr>
      </p:sp>
      <p:sp>
        <p:nvSpPr>
          <p:cNvPr id="26" name="Text 23"/>
          <p:cNvSpPr txBox="1"/>
          <p:nvPr/>
        </p:nvSpPr>
        <p:spPr>
          <a:xfrm>
            <a:off x="318516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2</a:t>
            </a:r>
            <a:endParaRPr lang="en-US" sz="1300" dirty="0"/>
          </a:p>
        </p:txBody>
      </p:sp>
      <p:sp>
        <p:nvSpPr>
          <p:cNvPr id="27" name="Text 24"/>
          <p:cNvSpPr txBox="1"/>
          <p:nvPr/>
        </p:nvSpPr>
        <p:spPr>
          <a:xfrm>
            <a:off x="3230880" y="2258568"/>
            <a:ext cx="2133600" cy="68580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Livestream chậm 15’; chị Lan không nói với Nova, chỉ kể chị Hạnh</a:t>
            </a:r>
            <a:endParaRPr lang="en-US" sz="1200" dirty="0"/>
          </a:p>
        </p:txBody>
      </p:sp>
      <p:sp>
        <p:nvSpPr>
          <p:cNvPr id="28" name="Shape 25"/>
          <p:cNvSpPr/>
          <p:nvPr/>
        </p:nvSpPr>
        <p:spPr>
          <a:xfrm>
            <a:off x="5638800" y="1783080"/>
            <a:ext cx="2407920" cy="1188720"/>
          </a:xfrm>
          <a:prstGeom prst="roundRect">
            <a:avLst>
              <a:gd name="adj" fmla="val 9231"/>
            </a:avLst>
          </a:prstGeom>
          <a:solidFill>
            <a:srgbClr val="FFFFFF"/>
          </a:solidFill>
          <a:ln w="12700">
            <a:solidFill>
              <a:srgbClr val="DCD7C8"/>
            </a:solidFill>
            <a:prstDash val="solid"/>
          </a:ln>
        </p:spPr>
      </p:sp>
      <p:sp>
        <p:nvSpPr>
          <p:cNvPr id="29" name="Shape 26"/>
          <p:cNvSpPr/>
          <p:nvPr/>
        </p:nvSpPr>
        <p:spPr>
          <a:xfrm>
            <a:off x="5730240" y="1874520"/>
            <a:ext cx="384048" cy="384048"/>
          </a:xfrm>
          <a:prstGeom prst="ellipse">
            <a:avLst/>
          </a:prstGeom>
          <a:solidFill>
            <a:srgbClr val="FF5178"/>
          </a:solidFill>
          <a:ln w="12700">
            <a:solidFill>
              <a:srgbClr val="FF5178"/>
            </a:solidFill>
            <a:prstDash val="solid"/>
          </a:ln>
        </p:spPr>
      </p:sp>
      <p:sp>
        <p:nvSpPr>
          <p:cNvPr id="30" name="Text 27"/>
          <p:cNvSpPr txBox="1"/>
          <p:nvPr/>
        </p:nvSpPr>
        <p:spPr>
          <a:xfrm>
            <a:off x="573024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3</a:t>
            </a:r>
            <a:endParaRPr lang="en-US" sz="1300" dirty="0"/>
          </a:p>
        </p:txBody>
      </p:sp>
      <p:sp>
        <p:nvSpPr>
          <p:cNvPr id="31" name="Text 28"/>
          <p:cNvSpPr txBox="1"/>
          <p:nvPr/>
        </p:nvSpPr>
        <p:spPr>
          <a:xfrm>
            <a:off x="5775960" y="2258568"/>
            <a:ext cx="2133600" cy="68580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Chị Hạnh đề nghị ý tưởng cho chương trình cả năm</a:t>
            </a:r>
            <a:endParaRPr lang="en-US" sz="1200" dirty="0"/>
          </a:p>
        </p:txBody>
      </p:sp>
      <p:sp>
        <p:nvSpPr>
          <p:cNvPr id="32" name="Shape 29"/>
          <p:cNvSpPr/>
          <p:nvPr/>
        </p:nvSpPr>
        <p:spPr>
          <a:xfrm>
            <a:off x="548640" y="3108960"/>
            <a:ext cx="2407920" cy="1188720"/>
          </a:xfrm>
          <a:prstGeom prst="roundRect">
            <a:avLst>
              <a:gd name="adj" fmla="val 9231"/>
            </a:avLst>
          </a:prstGeom>
          <a:solidFill>
            <a:srgbClr val="FFFFFF"/>
          </a:solidFill>
          <a:ln w="12700">
            <a:solidFill>
              <a:srgbClr val="DCD7C8"/>
            </a:solidFill>
            <a:prstDash val="solid"/>
          </a:ln>
        </p:spPr>
      </p:sp>
      <p:sp>
        <p:nvSpPr>
          <p:cNvPr id="33" name="Shape 30"/>
          <p:cNvSpPr/>
          <p:nvPr/>
        </p:nvSpPr>
        <p:spPr>
          <a:xfrm>
            <a:off x="640080" y="3200400"/>
            <a:ext cx="384048" cy="384048"/>
          </a:xfrm>
          <a:prstGeom prst="ellipse">
            <a:avLst/>
          </a:prstGeom>
          <a:solidFill>
            <a:srgbClr val="962B7C"/>
          </a:solidFill>
          <a:ln w="12700">
            <a:solidFill>
              <a:srgbClr val="962B7C"/>
            </a:solidFill>
            <a:prstDash val="solid"/>
          </a:ln>
        </p:spPr>
      </p:sp>
      <p:sp>
        <p:nvSpPr>
          <p:cNvPr id="34" name="Text 31"/>
          <p:cNvSpPr txBox="1"/>
          <p:nvPr/>
        </p:nvSpPr>
        <p:spPr>
          <a:xfrm>
            <a:off x="64008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4</a:t>
            </a:r>
            <a:endParaRPr lang="en-US" sz="1300" dirty="0"/>
          </a:p>
        </p:txBody>
      </p:sp>
      <p:sp>
        <p:nvSpPr>
          <p:cNvPr id="35" name="Text 32"/>
          <p:cNvSpPr txBox="1"/>
          <p:nvPr/>
        </p:nvSpPr>
        <p:spPr>
          <a:xfrm>
            <a:off x="685800" y="3584448"/>
            <a:ext cx="2133600" cy="68580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Vẫn mời 2 agency khác chào giá “cho đúng quy trình”</a:t>
            </a:r>
            <a:endParaRPr lang="en-US" sz="1200" dirty="0"/>
          </a:p>
        </p:txBody>
      </p:sp>
      <p:sp>
        <p:nvSpPr>
          <p:cNvPr id="36" name="Shape 33"/>
          <p:cNvSpPr/>
          <p:nvPr/>
        </p:nvSpPr>
        <p:spPr>
          <a:xfrm>
            <a:off x="3093720" y="3108960"/>
            <a:ext cx="2407920" cy="1188720"/>
          </a:xfrm>
          <a:prstGeom prst="roundRect">
            <a:avLst>
              <a:gd name="adj" fmla="val 9231"/>
            </a:avLst>
          </a:prstGeom>
          <a:solidFill>
            <a:srgbClr val="FFFFFF"/>
          </a:solidFill>
          <a:ln w="12700">
            <a:solidFill>
              <a:srgbClr val="DCD7C8"/>
            </a:solidFill>
            <a:prstDash val="solid"/>
          </a:ln>
        </p:spPr>
      </p:sp>
      <p:sp>
        <p:nvSpPr>
          <p:cNvPr id="37" name="Shape 34"/>
          <p:cNvSpPr/>
          <p:nvPr/>
        </p:nvSpPr>
        <p:spPr>
          <a:xfrm>
            <a:off x="3185160" y="3200400"/>
            <a:ext cx="384048" cy="384048"/>
          </a:xfrm>
          <a:prstGeom prst="ellipse">
            <a:avLst/>
          </a:prstGeom>
          <a:solidFill>
            <a:srgbClr val="09A1E5"/>
          </a:solidFill>
          <a:ln w="12700">
            <a:solidFill>
              <a:srgbClr val="09A1E5"/>
            </a:solidFill>
            <a:prstDash val="solid"/>
          </a:ln>
        </p:spPr>
      </p:sp>
      <p:sp>
        <p:nvSpPr>
          <p:cNvPr id="38" name="Text 35"/>
          <p:cNvSpPr txBox="1"/>
          <p:nvPr/>
        </p:nvSpPr>
        <p:spPr>
          <a:xfrm>
            <a:off x="318516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5</a:t>
            </a:r>
            <a:endParaRPr lang="en-US" sz="1300" dirty="0"/>
          </a:p>
        </p:txBody>
      </p:sp>
      <p:sp>
        <p:nvSpPr>
          <p:cNvPr id="39" name="Text 36"/>
          <p:cNvSpPr txBox="1"/>
          <p:nvPr/>
        </p:nvSpPr>
        <p:spPr>
          <a:xfrm>
            <a:off x="3230880" y="3584448"/>
            <a:ext cx="2133600" cy="68580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Đổi kịch bản sát ngày: họp 30’, thống nhất được</a:t>
            </a:r>
            <a:endParaRPr lang="en-US" sz="1200" dirty="0"/>
          </a:p>
        </p:txBody>
      </p:sp>
      <p:sp>
        <p:nvSpPr>
          <p:cNvPr id="40" name="Shape 37"/>
          <p:cNvSpPr/>
          <p:nvPr/>
        </p:nvSpPr>
        <p:spPr>
          <a:xfrm>
            <a:off x="5638800" y="3108960"/>
            <a:ext cx="2407920" cy="1188720"/>
          </a:xfrm>
          <a:prstGeom prst="roundRect">
            <a:avLst>
              <a:gd name="adj" fmla="val 9231"/>
            </a:avLst>
          </a:prstGeom>
          <a:solidFill>
            <a:srgbClr val="FFFFFF"/>
          </a:solidFill>
          <a:ln w="12700">
            <a:solidFill>
              <a:srgbClr val="DCD7C8"/>
            </a:solidFill>
            <a:prstDash val="solid"/>
          </a:ln>
        </p:spPr>
      </p:sp>
      <p:sp>
        <p:nvSpPr>
          <p:cNvPr id="41" name="Shape 38"/>
          <p:cNvSpPr/>
          <p:nvPr/>
        </p:nvSpPr>
        <p:spPr>
          <a:xfrm>
            <a:off x="5730240" y="3200400"/>
            <a:ext cx="384048" cy="384048"/>
          </a:xfrm>
          <a:prstGeom prst="ellipse">
            <a:avLst/>
          </a:prstGeom>
          <a:solidFill>
            <a:srgbClr val="FF5178"/>
          </a:solidFill>
          <a:ln w="12700">
            <a:solidFill>
              <a:srgbClr val="FF5178"/>
            </a:solidFill>
            <a:prstDash val="solid"/>
          </a:ln>
        </p:spPr>
      </p:sp>
      <p:sp>
        <p:nvSpPr>
          <p:cNvPr id="42" name="Text 39"/>
          <p:cNvSpPr txBox="1"/>
          <p:nvPr/>
        </p:nvSpPr>
        <p:spPr>
          <a:xfrm>
            <a:off x="573024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6</a:t>
            </a:r>
            <a:endParaRPr lang="en-US" sz="1300" dirty="0"/>
          </a:p>
        </p:txBody>
      </p:sp>
      <p:sp>
        <p:nvSpPr>
          <p:cNvPr id="43" name="Text 40"/>
          <p:cNvSpPr txBox="1"/>
          <p:nvPr/>
        </p:nvSpPr>
        <p:spPr>
          <a:xfrm>
            <a:off x="5775960" y="3584448"/>
            <a:ext cx="2133600" cy="68580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Nova chưa được mời họp kế hoạch năm</a:t>
            </a:r>
            <a:endParaRPr lang="en-US" sz="1200" dirty="0"/>
          </a:p>
        </p:txBody>
      </p:sp>
      <p:sp>
        <p:nvSpPr>
          <p:cNvPr id="44" name="Shape 41"/>
          <p:cNvSpPr/>
          <p:nvPr/>
        </p:nvSpPr>
        <p:spPr>
          <a:xfrm>
            <a:off x="548640" y="4434840"/>
            <a:ext cx="2407920" cy="1188720"/>
          </a:xfrm>
          <a:prstGeom prst="roundRect">
            <a:avLst>
              <a:gd name="adj" fmla="val 9231"/>
            </a:avLst>
          </a:prstGeom>
          <a:solidFill>
            <a:srgbClr val="FFFFFF"/>
          </a:solidFill>
          <a:ln w="12700">
            <a:solidFill>
              <a:srgbClr val="DCD7C8"/>
            </a:solidFill>
            <a:prstDash val="solid"/>
          </a:ln>
        </p:spPr>
      </p:sp>
      <p:sp>
        <p:nvSpPr>
          <p:cNvPr id="45" name="Shape 42"/>
          <p:cNvSpPr/>
          <p:nvPr/>
        </p:nvSpPr>
        <p:spPr>
          <a:xfrm>
            <a:off x="640080" y="4526280"/>
            <a:ext cx="384048" cy="384048"/>
          </a:xfrm>
          <a:prstGeom prst="ellipse">
            <a:avLst/>
          </a:prstGeom>
          <a:solidFill>
            <a:srgbClr val="962B7C"/>
          </a:solidFill>
          <a:ln w="12700">
            <a:solidFill>
              <a:srgbClr val="962B7C"/>
            </a:solidFill>
            <a:prstDash val="solid"/>
          </a:ln>
        </p:spPr>
      </p:sp>
      <p:sp>
        <p:nvSpPr>
          <p:cNvPr id="46" name="Text 43"/>
          <p:cNvSpPr txBox="1"/>
          <p:nvPr/>
        </p:nvSpPr>
        <p:spPr>
          <a:xfrm>
            <a:off x="640080"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7</a:t>
            </a:r>
            <a:endParaRPr lang="en-US" sz="1300" dirty="0"/>
          </a:p>
        </p:txBody>
      </p:sp>
      <p:sp>
        <p:nvSpPr>
          <p:cNvPr id="47" name="Text 44"/>
          <p:cNvSpPr txBox="1"/>
          <p:nvPr/>
        </p:nvSpPr>
        <p:spPr>
          <a:xfrm>
            <a:off x="685800" y="4910328"/>
            <a:ext cx="2133600" cy="68580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Chị Hạnh gửi số liệu tỷ lệ tham dự để Nova phân tích</a:t>
            </a:r>
            <a:endParaRPr lang="en-US" sz="1200" dirty="0"/>
          </a:p>
        </p:txBody>
      </p:sp>
      <p:sp>
        <p:nvSpPr>
          <p:cNvPr id="48" name="Shape 45"/>
          <p:cNvSpPr/>
          <p:nvPr/>
        </p:nvSpPr>
        <p:spPr>
          <a:xfrm>
            <a:off x="3093720" y="4434840"/>
            <a:ext cx="2407920" cy="1188720"/>
          </a:xfrm>
          <a:prstGeom prst="roundRect">
            <a:avLst>
              <a:gd name="adj" fmla="val 9231"/>
            </a:avLst>
          </a:prstGeom>
          <a:solidFill>
            <a:srgbClr val="FFFFFF"/>
          </a:solidFill>
          <a:ln w="12700">
            <a:solidFill>
              <a:srgbClr val="DCD7C8"/>
            </a:solidFill>
            <a:prstDash val="solid"/>
          </a:ln>
        </p:spPr>
      </p:sp>
      <p:sp>
        <p:nvSpPr>
          <p:cNvPr id="49" name="Shape 46"/>
          <p:cNvSpPr/>
          <p:nvPr/>
        </p:nvSpPr>
        <p:spPr>
          <a:xfrm>
            <a:off x="3185160" y="4526280"/>
            <a:ext cx="384048" cy="384048"/>
          </a:xfrm>
          <a:prstGeom prst="ellipse">
            <a:avLst/>
          </a:prstGeom>
          <a:solidFill>
            <a:srgbClr val="09A1E5"/>
          </a:solidFill>
          <a:ln w="12700">
            <a:solidFill>
              <a:srgbClr val="09A1E5"/>
            </a:solidFill>
            <a:prstDash val="solid"/>
          </a:ln>
        </p:spPr>
      </p:sp>
      <p:sp>
        <p:nvSpPr>
          <p:cNvPr id="50" name="Text 47"/>
          <p:cNvSpPr txBox="1"/>
          <p:nvPr/>
        </p:nvSpPr>
        <p:spPr>
          <a:xfrm>
            <a:off x="3185160"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8</a:t>
            </a:r>
            <a:endParaRPr lang="en-US" sz="1300" dirty="0"/>
          </a:p>
        </p:txBody>
      </p:sp>
      <p:sp>
        <p:nvSpPr>
          <p:cNvPr id="51" name="Text 48"/>
          <p:cNvSpPr txBox="1"/>
          <p:nvPr/>
        </p:nvSpPr>
        <p:spPr>
          <a:xfrm>
            <a:off x="3230880" y="4910328"/>
            <a:ext cx="2133600" cy="68580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Nova giấu việc nhà cung cấp AV đổi thiết bị</a:t>
            </a:r>
            <a:endParaRPr lang="en-US" sz="1200" dirty="0"/>
          </a:p>
        </p:txBody>
      </p:sp>
      <p:sp>
        <p:nvSpPr>
          <p:cNvPr id="52" name="Shape 49"/>
          <p:cNvSpPr/>
          <p:nvPr/>
        </p:nvSpPr>
        <p:spPr>
          <a:xfrm>
            <a:off x="5638800" y="4434840"/>
            <a:ext cx="2407920" cy="1188720"/>
          </a:xfrm>
          <a:prstGeom prst="roundRect">
            <a:avLst>
              <a:gd name="adj" fmla="val 9231"/>
            </a:avLst>
          </a:prstGeom>
          <a:solidFill>
            <a:srgbClr val="FFFFFF"/>
          </a:solidFill>
          <a:ln w="12700">
            <a:solidFill>
              <a:srgbClr val="DCD7C8"/>
            </a:solidFill>
            <a:prstDash val="solid"/>
          </a:ln>
        </p:spPr>
      </p:sp>
      <p:sp>
        <p:nvSpPr>
          <p:cNvPr id="53" name="Shape 50"/>
          <p:cNvSpPr/>
          <p:nvPr/>
        </p:nvSpPr>
        <p:spPr>
          <a:xfrm>
            <a:off x="5730240" y="4526280"/>
            <a:ext cx="384048" cy="384048"/>
          </a:xfrm>
          <a:prstGeom prst="ellipse">
            <a:avLst/>
          </a:prstGeom>
          <a:solidFill>
            <a:srgbClr val="FF5178"/>
          </a:solidFill>
          <a:ln w="12700">
            <a:solidFill>
              <a:srgbClr val="FF5178"/>
            </a:solidFill>
            <a:prstDash val="solid"/>
          </a:ln>
        </p:spPr>
      </p:sp>
      <p:sp>
        <p:nvSpPr>
          <p:cNvPr id="54" name="Text 51"/>
          <p:cNvSpPr txBox="1"/>
          <p:nvPr/>
        </p:nvSpPr>
        <p:spPr>
          <a:xfrm>
            <a:off x="5730240"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9</a:t>
            </a:r>
            <a:endParaRPr lang="en-US" sz="1300" dirty="0"/>
          </a:p>
        </p:txBody>
      </p:sp>
      <p:sp>
        <p:nvSpPr>
          <p:cNvPr id="55" name="Text 52"/>
          <p:cNvSpPr txBox="1"/>
          <p:nvPr/>
        </p:nvSpPr>
        <p:spPr>
          <a:xfrm>
            <a:off x="5775960" y="4910328"/>
            <a:ext cx="2133600" cy="68580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Nova đề nghị hợp đồng khung 2 năm; An Phát: “để xem”</a:t>
            </a:r>
            <a:endParaRPr lang="en-US" sz="1200" dirty="0"/>
          </a:p>
        </p:txBody>
      </p:sp>
      <p:sp>
        <p:nvSpPr>
          <p:cNvPr id="56" name="Shape 53"/>
          <p:cNvSpPr/>
          <p:nvPr/>
        </p:nvSpPr>
        <p:spPr>
          <a:xfrm>
            <a:off x="8321040" y="2011680"/>
            <a:ext cx="685800" cy="685800"/>
          </a:xfrm>
          <a:prstGeom prst="ellipse">
            <a:avLst/>
          </a:prstGeom>
          <a:solidFill>
            <a:srgbClr val="962B7C"/>
          </a:solidFill>
          <a:ln w="12700">
            <a:solidFill>
              <a:srgbClr val="962B7C"/>
            </a:solidFill>
            <a:prstDash val="solid"/>
          </a:ln>
        </p:spPr>
      </p:sp>
      <p:sp>
        <p:nvSpPr>
          <p:cNvPr id="57" name="Text 54"/>
          <p:cNvSpPr txBox="1"/>
          <p:nvPr/>
        </p:nvSpPr>
        <p:spPr>
          <a:xfrm>
            <a:off x="8321040" y="201168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8’</a:t>
            </a:r>
            <a:endParaRPr lang="en-US" sz="1600" dirty="0"/>
          </a:p>
        </p:txBody>
      </p:sp>
      <p:sp>
        <p:nvSpPr>
          <p:cNvPr id="58" name="Text 55"/>
          <p:cNvSpPr txBox="1"/>
          <p:nvPr/>
        </p:nvSpPr>
        <p:spPr>
          <a:xfrm>
            <a:off x="9189720" y="1783080"/>
            <a:ext cx="2453335" cy="118872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Xếp vào Trust · Commitment · Functional conflict; đánh dấu + / –</a:t>
            </a:r>
            <a:endParaRPr lang="en-US" sz="1300" dirty="0"/>
          </a:p>
        </p:txBody>
      </p:sp>
      <p:sp>
        <p:nvSpPr>
          <p:cNvPr id="59" name="Shape 56"/>
          <p:cNvSpPr/>
          <p:nvPr/>
        </p:nvSpPr>
        <p:spPr>
          <a:xfrm>
            <a:off x="8321040" y="3337560"/>
            <a:ext cx="685800" cy="685800"/>
          </a:xfrm>
          <a:prstGeom prst="ellipse">
            <a:avLst/>
          </a:prstGeom>
          <a:solidFill>
            <a:srgbClr val="09A1E5"/>
          </a:solidFill>
          <a:ln w="12700">
            <a:solidFill>
              <a:srgbClr val="09A1E5"/>
            </a:solidFill>
            <a:prstDash val="solid"/>
          </a:ln>
        </p:spPr>
      </p:sp>
      <p:sp>
        <p:nvSpPr>
          <p:cNvPr id="60" name="Text 57"/>
          <p:cNvSpPr txBox="1"/>
          <p:nvPr/>
        </p:nvSpPr>
        <p:spPr>
          <a:xfrm>
            <a:off x="8321040" y="333756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7’</a:t>
            </a:r>
            <a:endParaRPr lang="en-US" sz="1600" dirty="0"/>
          </a:p>
        </p:txBody>
      </p:sp>
      <p:sp>
        <p:nvSpPr>
          <p:cNvPr id="61" name="Text 58"/>
          <p:cNvSpPr txBox="1"/>
          <p:nvPr/>
        </p:nvSpPr>
        <p:spPr>
          <a:xfrm>
            <a:off x="9189720" y="3108960"/>
            <a:ext cx="2453335" cy="118872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Chấm mỗi trụ cột 1–5. Trụ cột nào yếu nhất? Vì sao?</a:t>
            </a:r>
            <a:endParaRPr lang="en-US" sz="1300" dirty="0"/>
          </a:p>
        </p:txBody>
      </p:sp>
      <p:sp>
        <p:nvSpPr>
          <p:cNvPr id="62" name="Shape 59"/>
          <p:cNvSpPr/>
          <p:nvPr/>
        </p:nvSpPr>
        <p:spPr>
          <a:xfrm>
            <a:off x="8321040" y="4663440"/>
            <a:ext cx="685800" cy="685800"/>
          </a:xfrm>
          <a:prstGeom prst="ellipse">
            <a:avLst/>
          </a:prstGeom>
          <a:solidFill>
            <a:srgbClr val="FF5178"/>
          </a:solidFill>
          <a:ln w="12700">
            <a:solidFill>
              <a:srgbClr val="FF5178"/>
            </a:solidFill>
            <a:prstDash val="solid"/>
          </a:ln>
        </p:spPr>
      </p:sp>
      <p:sp>
        <p:nvSpPr>
          <p:cNvPr id="63" name="Text 60"/>
          <p:cNvSpPr txBox="1"/>
          <p:nvPr/>
        </p:nvSpPr>
        <p:spPr>
          <a:xfrm>
            <a:off x="8321040" y="46634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5’</a:t>
            </a:r>
            <a:endParaRPr lang="en-US" sz="1600" dirty="0"/>
          </a:p>
        </p:txBody>
      </p:sp>
      <p:sp>
        <p:nvSpPr>
          <p:cNvPr id="64" name="Text 61"/>
          <p:cNvSpPr txBox="1"/>
          <p:nvPr/>
        </p:nvSpPr>
        <p:spPr>
          <a:xfrm>
            <a:off x="9189720" y="4434840"/>
            <a:ext cx="2453335" cy="118872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Một việc Nova làm trong 1 tháng tới để củng cố trụ cột yếu nhất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3840480" y="1554480"/>
            <a:ext cx="548640" cy="548640"/>
          </a:xfrm>
          <a:prstGeom prst="ellipse">
            <a:avLst/>
          </a:prstGeom>
          <a:solidFill>
            <a:srgbClr val="FF9259"/>
          </a:solidFill>
          <a:ln w="12700">
            <a:solidFill>
              <a:srgbClr val="FF9259"/>
            </a:solidFill>
            <a:prstDash val="solid"/>
          </a:ln>
        </p:spPr>
      </p:sp>
      <p:sp>
        <p:nvSpPr>
          <p:cNvPr id="3" name="Shape 1"/>
          <p:cNvSpPr/>
          <p:nvPr/>
        </p:nvSpPr>
        <p:spPr>
          <a:xfrm>
            <a:off x="4617720" y="1554480"/>
            <a:ext cx="548640" cy="548640"/>
          </a:xfrm>
          <a:prstGeom prst="ellipse">
            <a:avLst/>
          </a:prstGeom>
          <a:solidFill>
            <a:srgbClr val="FFD23B"/>
          </a:solidFill>
          <a:ln w="12700">
            <a:solidFill>
              <a:srgbClr val="FFD23B"/>
            </a:solidFill>
            <a:prstDash val="solid"/>
          </a:ln>
        </p:spPr>
      </p:sp>
      <p:sp>
        <p:nvSpPr>
          <p:cNvPr id="4" name="Shape 2"/>
          <p:cNvSpPr/>
          <p:nvPr/>
        </p:nvSpPr>
        <p:spPr>
          <a:xfrm>
            <a:off x="5394960" y="1554480"/>
            <a:ext cx="548640" cy="548640"/>
          </a:xfrm>
          <a:prstGeom prst="ellipse">
            <a:avLst/>
          </a:prstGeom>
          <a:solidFill>
            <a:srgbClr val="49B296"/>
          </a:solidFill>
          <a:ln w="12700">
            <a:solidFill>
              <a:srgbClr val="49B296"/>
            </a:solidFill>
            <a:prstDash val="solid"/>
          </a:ln>
        </p:spPr>
      </p:sp>
      <p:sp>
        <p:nvSpPr>
          <p:cNvPr id="5" name="Shape 3"/>
          <p:cNvSpPr/>
          <p:nvPr/>
        </p:nvSpPr>
        <p:spPr>
          <a:xfrm>
            <a:off x="6172200" y="1554480"/>
            <a:ext cx="548640" cy="548640"/>
          </a:xfrm>
          <a:prstGeom prst="ellipse">
            <a:avLst/>
          </a:prstGeom>
          <a:solidFill>
            <a:srgbClr val="09A1E5"/>
          </a:solidFill>
          <a:ln w="12700">
            <a:solidFill>
              <a:srgbClr val="09A1E5"/>
            </a:solidFill>
            <a:prstDash val="solid"/>
          </a:ln>
        </p:spPr>
      </p:sp>
      <p:sp>
        <p:nvSpPr>
          <p:cNvPr id="6" name="Shape 4"/>
          <p:cNvSpPr/>
          <p:nvPr/>
        </p:nvSpPr>
        <p:spPr>
          <a:xfrm>
            <a:off x="6949440" y="1554480"/>
            <a:ext cx="548640" cy="548640"/>
          </a:xfrm>
          <a:prstGeom prst="ellipse">
            <a:avLst/>
          </a:prstGeom>
          <a:solidFill>
            <a:srgbClr val="962B7C"/>
          </a:solidFill>
          <a:ln w="12700">
            <a:solidFill>
              <a:srgbClr val="962B7C"/>
            </a:solidFill>
            <a:prstDash val="solid"/>
          </a:ln>
        </p:spPr>
      </p:sp>
      <p:sp>
        <p:nvSpPr>
          <p:cNvPr id="7" name="Shape 5"/>
          <p:cNvSpPr/>
          <p:nvPr/>
        </p:nvSpPr>
        <p:spPr>
          <a:xfrm>
            <a:off x="7726680" y="1554480"/>
            <a:ext cx="548640" cy="548640"/>
          </a:xfrm>
          <a:prstGeom prst="ellipse">
            <a:avLst/>
          </a:prstGeom>
          <a:solidFill>
            <a:srgbClr val="FF5178"/>
          </a:solidFill>
          <a:ln w="12700">
            <a:solidFill>
              <a:srgbClr val="FF5178"/>
            </a:solidFill>
            <a:prstDash val="solid"/>
          </a:ln>
        </p:spPr>
      </p:sp>
      <p:sp>
        <p:nvSpPr>
          <p:cNvPr id="8" name="Text 6"/>
          <p:cNvSpPr txBox="1"/>
          <p:nvPr/>
        </p:nvSpPr>
        <p:spPr>
          <a:xfrm>
            <a:off x="548640" y="2468880"/>
            <a:ext cx="11094415" cy="1097280"/>
          </a:xfrm>
          <a:prstGeom prst="rect">
            <a:avLst/>
          </a:prstGeom>
          <a:noFill/>
          <a:ln/>
        </p:spPr>
        <p:txBody>
          <a:bodyPr wrap="square" lIns="0" tIns="0" rIns="0" bIns="0" rtlCol="0" anchor="ctr"/>
          <a:lstStyle/>
          <a:p>
            <a:pPr algn="ctr" indent="0" marL="0">
              <a:buNone/>
            </a:pPr>
            <a:r>
              <a:rPr lang="en-US" sz="5400" b="1" dirty="0">
                <a:solidFill>
                  <a:srgbClr val="2A2238"/>
                </a:solidFill>
                <a:latin typeface="Alexandria" pitchFamily="34" charset="0"/>
                <a:ea typeface="Alexandria" pitchFamily="34" charset="-122"/>
                <a:cs typeface="Alexandria" pitchFamily="34" charset="-120"/>
              </a:rPr>
              <a:t>Giải lao 8 phút</a:t>
            </a:r>
            <a:endParaRPr lang="en-US" sz="5400" dirty="0"/>
          </a:p>
        </p:txBody>
      </p:sp>
      <p:sp>
        <p:nvSpPr>
          <p:cNvPr id="9" name="Text 7"/>
          <p:cNvSpPr txBox="1"/>
          <p:nvPr/>
        </p:nvSpPr>
        <p:spPr>
          <a:xfrm>
            <a:off x="548640" y="3749040"/>
            <a:ext cx="11094415" cy="640080"/>
          </a:xfrm>
          <a:prstGeom prst="rect">
            <a:avLst/>
          </a:prstGeom>
          <a:noFill/>
          <a:ln/>
        </p:spPr>
        <p:txBody>
          <a:bodyPr wrap="square" lIns="0" tIns="0" rIns="0" bIns="0" rtlCol="0" anchor="ctr"/>
          <a:lstStyle/>
          <a:p>
            <a:pPr algn="ctr" indent="0" marL="0">
              <a:buNone/>
            </a:pPr>
            <a:r>
              <a:rPr lang="en-US" sz="2600" dirty="0">
                <a:solidFill>
                  <a:srgbClr val="962B7C"/>
                </a:solidFill>
                <a:latin typeface="Alexandria" pitchFamily="34" charset="0"/>
                <a:ea typeface="Alexandria" pitchFamily="34" charset="-122"/>
                <a:cs typeface="Alexandria" pitchFamily="34" charset="-120"/>
              </a:rPr>
              <a:t>Quay lại lúc  ____ : ____</a:t>
            </a:r>
            <a:endParaRPr lang="en-US" sz="2600" dirty="0"/>
          </a:p>
        </p:txBody>
      </p:sp>
      <p:sp>
        <p:nvSpPr>
          <p:cNvPr id="10" name="Text 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Đo chất lượng quan hệ bằng câu hỏi hai chiều</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Công cụ học tập của môn — không phải thang đo đã kiểm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13</a:t>
            </a:r>
            <a:endParaRPr lang="en-US" sz="1000" dirty="0"/>
          </a:p>
        </p:txBody>
      </p:sp>
      <p:sp>
        <p:nvSpPr>
          <p:cNvPr id="20" name="Shape 17"/>
          <p:cNvSpPr/>
          <p:nvPr/>
        </p:nvSpPr>
        <p:spPr>
          <a:xfrm>
            <a:off x="822960" y="3108960"/>
            <a:ext cx="2926080" cy="914400"/>
          </a:xfrm>
          <a:prstGeom prst="roundRect">
            <a:avLst>
              <a:gd name="adj" fmla="val 50000"/>
            </a:avLst>
          </a:prstGeom>
          <a:solidFill>
            <a:srgbClr val="962B7C"/>
          </a:solidFill>
          <a:ln w="12700">
            <a:solidFill>
              <a:srgbClr val="962B7C"/>
            </a:solidFill>
            <a:prstDash val="solid"/>
          </a:ln>
        </p:spPr>
      </p:sp>
      <p:sp>
        <p:nvSpPr>
          <p:cNvPr id="21" name="Text 18"/>
          <p:cNvSpPr txBox="1"/>
          <p:nvPr/>
        </p:nvSpPr>
        <p:spPr>
          <a:xfrm>
            <a:off x="896112" y="3108960"/>
            <a:ext cx="2779776"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Nova tự chấm</a:t>
            </a:r>
            <a:endParaRPr lang="en-US" sz="1800" dirty="0"/>
          </a:p>
        </p:txBody>
      </p:sp>
      <p:sp>
        <p:nvSpPr>
          <p:cNvPr id="22" name="Shape 19"/>
          <p:cNvSpPr/>
          <p:nvPr/>
        </p:nvSpPr>
        <p:spPr>
          <a:xfrm>
            <a:off x="8442655" y="3108960"/>
            <a:ext cx="2926080" cy="914400"/>
          </a:xfrm>
          <a:prstGeom prst="roundRect">
            <a:avLst>
              <a:gd name="adj" fmla="val 50000"/>
            </a:avLst>
          </a:prstGeom>
          <a:solidFill>
            <a:srgbClr val="09A1E5"/>
          </a:solidFill>
          <a:ln w="12700">
            <a:solidFill>
              <a:srgbClr val="09A1E5"/>
            </a:solidFill>
            <a:prstDash val="solid"/>
          </a:ln>
        </p:spPr>
      </p:sp>
      <p:sp>
        <p:nvSpPr>
          <p:cNvPr id="23" name="Text 20"/>
          <p:cNvSpPr txBox="1"/>
          <p:nvPr/>
        </p:nvSpPr>
        <p:spPr>
          <a:xfrm>
            <a:off x="8515807" y="3108960"/>
            <a:ext cx="2779776"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An Phát chấm</a:t>
            </a:r>
            <a:endParaRPr lang="en-US" sz="1800" dirty="0"/>
          </a:p>
        </p:txBody>
      </p:sp>
      <p:sp>
        <p:nvSpPr>
          <p:cNvPr id="24" name="Shape 21"/>
          <p:cNvSpPr/>
          <p:nvPr/>
        </p:nvSpPr>
        <p:spPr>
          <a:xfrm>
            <a:off x="4267048" y="2377440"/>
            <a:ext cx="3657600" cy="2377440"/>
          </a:xfrm>
          <a:prstGeom prst="roundRect">
            <a:avLst>
              <a:gd name="adj" fmla="val 4615"/>
            </a:avLst>
          </a:prstGeom>
          <a:solidFill>
            <a:srgbClr val="FFF3C4"/>
          </a:solidFill>
          <a:ln w="12700">
            <a:solidFill>
              <a:srgbClr val="FFD23B"/>
            </a:solidFill>
            <a:prstDash val="solid"/>
          </a:ln>
        </p:spPr>
      </p:sp>
      <p:sp>
        <p:nvSpPr>
          <p:cNvPr id="25" name="Text 22"/>
          <p:cNvSpPr txBox="1"/>
          <p:nvPr/>
        </p:nvSpPr>
        <p:spPr>
          <a:xfrm>
            <a:off x="4267048" y="2377440"/>
            <a:ext cx="3657600" cy="2377440"/>
          </a:xfrm>
          <a:prstGeom prst="rect">
            <a:avLst/>
          </a:prstGeom>
          <a:noFill/>
          <a:ln/>
        </p:spPr>
        <p:txBody>
          <a:bodyPr wrap="square" lIns="0" tIns="0" rIns="0" bIns="0" rtlCol="0" anchor="ctr"/>
          <a:lstStyle/>
          <a:p>
            <a:pPr algn="ctr" indent="0" marL="0">
              <a:spcAft>
                <a:spcPts val="600"/>
              </a:spcAft>
              <a:buNone/>
            </a:pPr>
            <a:r>
              <a:rPr lang="en-US" sz="2200" b="1" dirty="0">
                <a:solidFill>
                  <a:srgbClr val="2A2238"/>
                </a:solidFill>
                <a:latin typeface="Alexandria" pitchFamily="34" charset="0"/>
                <a:ea typeface="Alexandria" pitchFamily="34" charset="-122"/>
                <a:cs typeface="Alexandria" pitchFamily="34" charset="-120"/>
              </a:rPr>
              <a:t>Cùng 9 câu</a:t>
            </a:r>
            <a:endParaRPr lang="en-US" sz="2200" dirty="0"/>
          </a:p>
          <a:p>
            <a:pPr algn="ctr" indent="0" marL="0">
              <a:spcAft>
                <a:spcPts val="600"/>
              </a:spcAft>
              <a:buNone/>
            </a:pPr>
            <a:r>
              <a:rPr lang="en-US" sz="1500" dirty="0">
                <a:solidFill>
                  <a:srgbClr val="2A2238"/>
                </a:solidFill>
                <a:latin typeface="Alexandria" pitchFamily="34" charset="0"/>
                <a:ea typeface="Alexandria" pitchFamily="34" charset="-122"/>
                <a:cs typeface="Alexandria" pitchFamily="34" charset="-120"/>
              </a:rPr>
              <a:t>thang 1–5</a:t>
            </a:r>
            <a:endParaRPr lang="en-US" sz="2200" dirty="0"/>
          </a:p>
          <a:p>
            <a:pPr algn="ctr" indent="0" marL="0">
              <a:spcAft>
                <a:spcPts val="600"/>
              </a:spcAft>
              <a:buNone/>
            </a:pPr>
            <a:r>
              <a:rPr lang="en-US" sz="1700" b="1" dirty="0">
                <a:solidFill>
                  <a:srgbClr val="E03A62"/>
                </a:solidFill>
                <a:latin typeface="Alexandria" pitchFamily="34" charset="0"/>
                <a:ea typeface="Alexandria" pitchFamily="34" charset="-122"/>
                <a:cs typeface="Alexandria" pitchFamily="34" charset="-120"/>
              </a:rPr>
              <a:t>→ xem khoảng cách</a:t>
            </a:r>
            <a:endParaRPr lang="en-US" sz="2200" dirty="0"/>
          </a:p>
        </p:txBody>
      </p:sp>
      <p:sp>
        <p:nvSpPr>
          <p:cNvPr id="26" name="Shape 23"/>
          <p:cNvSpPr/>
          <p:nvPr/>
        </p:nvSpPr>
        <p:spPr>
          <a:xfrm>
            <a:off x="3840480" y="3566160"/>
            <a:ext cx="335128" cy="914"/>
          </a:xfrm>
          <a:prstGeom prst="line">
            <a:avLst/>
          </a:prstGeom>
          <a:noFill/>
          <a:ln w="38100">
            <a:solidFill>
              <a:srgbClr val="2A2238"/>
            </a:solidFill>
            <a:prstDash val="solid"/>
            <a:tailEnd type="triangle"/>
          </a:ln>
        </p:spPr>
      </p:sp>
      <p:sp>
        <p:nvSpPr>
          <p:cNvPr id="27" name="Shape 24"/>
          <p:cNvSpPr/>
          <p:nvPr/>
        </p:nvSpPr>
        <p:spPr>
          <a:xfrm flipH="1">
            <a:off x="8016088" y="3566160"/>
            <a:ext cx="335128" cy="914"/>
          </a:xfrm>
          <a:prstGeom prst="line">
            <a:avLst/>
          </a:prstGeom>
          <a:noFill/>
          <a:ln w="38100">
            <a:solidFill>
              <a:srgbClr val="2A2238"/>
            </a:solidFill>
            <a:prstDash val="solid"/>
            <a:tailEnd type="triangle"/>
          </a:ln>
        </p:spPr>
      </p:sp>
      <p:sp>
        <p:nvSpPr>
          <p:cNvPr id="28" name="Text 25"/>
          <p:cNvSpPr txBox="1"/>
          <p:nvPr/>
        </p:nvSpPr>
        <p:spPr>
          <a:xfrm>
            <a:off x="548640" y="5120640"/>
            <a:ext cx="11094415" cy="457200"/>
          </a:xfrm>
          <a:prstGeom prst="rect">
            <a:avLst/>
          </a:prstGeom>
          <a:noFill/>
          <a:ln/>
        </p:spPr>
        <p:txBody>
          <a:bodyPr wrap="square" lIns="0" tIns="0" rIns="0" bIns="0" rtlCol="0" anchor="ctr"/>
          <a:lstStyle/>
          <a:p>
            <a:pPr algn="ctr" indent="0" marL="0">
              <a:buNone/>
            </a:pPr>
            <a:r>
              <a:rPr lang="en-US" sz="1500" dirty="0">
                <a:solidFill>
                  <a:srgbClr val="6E6878"/>
                </a:solidFill>
                <a:latin typeface="Alexandria" pitchFamily="34" charset="0"/>
                <a:ea typeface="Alexandria" pitchFamily="34" charset="-122"/>
                <a:cs typeface="Alexandria" pitchFamily="34" charset="-120"/>
              </a:rPr>
              <a:t>1 = hoàn toàn không đồng ý · 5 = hoàn toàn đồng ý</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Khoảng cách giữa hai phía quan trọng hơn điểm trung bình</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Số liệu minh họa GIẢ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14</a:t>
            </a:r>
            <a:endParaRPr lang="en-US" sz="1000" dirty="0"/>
          </a:p>
        </p:txBody>
      </p:sp>
      <p:sp>
        <p:nvSpPr>
          <p:cNvPr id="20" name="Shape 17"/>
          <p:cNvSpPr/>
          <p:nvPr/>
        </p:nvSpPr>
        <p:spPr>
          <a:xfrm>
            <a:off x="548640" y="1783080"/>
            <a:ext cx="1828800" cy="384048"/>
          </a:xfrm>
          <a:prstGeom prst="roundRect">
            <a:avLst>
              <a:gd name="adj" fmla="val 50000"/>
            </a:avLst>
          </a:prstGeom>
          <a:solidFill>
            <a:srgbClr val="FFD23B"/>
          </a:solidFill>
          <a:ln w="12700">
            <a:solidFill>
              <a:srgbClr val="FFD23B"/>
            </a:solidFill>
            <a:prstDash val="solid"/>
          </a:ln>
        </p:spPr>
      </p:sp>
      <p:sp>
        <p:nvSpPr>
          <p:cNvPr id="21" name="Text 18"/>
          <p:cNvSpPr txBox="1"/>
          <p:nvPr/>
        </p:nvSpPr>
        <p:spPr>
          <a:xfrm>
            <a:off x="621792" y="1783080"/>
            <a:ext cx="1682496" cy="384048"/>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GIẢ ĐỊNH</a:t>
            </a:r>
            <a:endParaRPr lang="en-US" sz="1100" dirty="0"/>
          </a:p>
        </p:txBody>
      </p:sp>
      <p:sp>
        <p:nvSpPr>
          <p:cNvPr id="22" name="Text 19"/>
          <p:cNvSpPr txBox="1"/>
          <p:nvPr/>
        </p:nvSpPr>
        <p:spPr>
          <a:xfrm>
            <a:off x="548640" y="2377440"/>
            <a:ext cx="2560320" cy="8686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Trust</a:t>
            </a:r>
            <a:endParaRPr lang="en-US" sz="1600" dirty="0"/>
          </a:p>
        </p:txBody>
      </p:sp>
      <p:sp>
        <p:nvSpPr>
          <p:cNvPr id="23" name="Shape 20"/>
          <p:cNvSpPr/>
          <p:nvPr/>
        </p:nvSpPr>
        <p:spPr>
          <a:xfrm>
            <a:off x="3200400" y="2377440"/>
            <a:ext cx="4608576" cy="384048"/>
          </a:xfrm>
          <a:prstGeom prst="rect">
            <a:avLst/>
          </a:prstGeom>
          <a:solidFill>
            <a:srgbClr val="962B7C"/>
          </a:solidFill>
          <a:ln w="12700">
            <a:solidFill>
              <a:srgbClr val="962B7C"/>
            </a:solidFill>
            <a:prstDash val="solid"/>
          </a:ln>
        </p:spPr>
      </p:sp>
      <p:sp>
        <p:nvSpPr>
          <p:cNvPr id="24" name="Text 21"/>
          <p:cNvSpPr txBox="1"/>
          <p:nvPr/>
        </p:nvSpPr>
        <p:spPr>
          <a:xfrm>
            <a:off x="7900416" y="2377440"/>
            <a:ext cx="1645920" cy="38404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Nova  4,2</a:t>
            </a:r>
            <a:endParaRPr lang="en-US" sz="1200" dirty="0"/>
          </a:p>
        </p:txBody>
      </p:sp>
      <p:sp>
        <p:nvSpPr>
          <p:cNvPr id="25" name="Shape 22"/>
          <p:cNvSpPr/>
          <p:nvPr/>
        </p:nvSpPr>
        <p:spPr>
          <a:xfrm>
            <a:off x="3200400" y="2834640"/>
            <a:ext cx="4389120" cy="384048"/>
          </a:xfrm>
          <a:prstGeom prst="rect">
            <a:avLst/>
          </a:prstGeom>
          <a:solidFill>
            <a:srgbClr val="09A1E5"/>
          </a:solidFill>
          <a:ln w="12700">
            <a:solidFill>
              <a:srgbClr val="09A1E5"/>
            </a:solidFill>
            <a:prstDash val="solid"/>
          </a:ln>
        </p:spPr>
      </p:sp>
      <p:sp>
        <p:nvSpPr>
          <p:cNvPr id="26" name="Text 23"/>
          <p:cNvSpPr txBox="1"/>
          <p:nvPr/>
        </p:nvSpPr>
        <p:spPr>
          <a:xfrm>
            <a:off x="7680960" y="2834640"/>
            <a:ext cx="1645920" cy="38404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An Phát  4,0</a:t>
            </a:r>
            <a:endParaRPr lang="en-US" sz="1200" dirty="0"/>
          </a:p>
        </p:txBody>
      </p:sp>
      <p:sp>
        <p:nvSpPr>
          <p:cNvPr id="27" name="Shape 24"/>
          <p:cNvSpPr/>
          <p:nvPr/>
        </p:nvSpPr>
        <p:spPr>
          <a:xfrm>
            <a:off x="10607040" y="2450592"/>
            <a:ext cx="731520" cy="731520"/>
          </a:xfrm>
          <a:prstGeom prst="ellipse">
            <a:avLst/>
          </a:prstGeom>
          <a:solidFill>
            <a:srgbClr val="F3F0E6"/>
          </a:solidFill>
          <a:ln w="12700">
            <a:solidFill>
              <a:srgbClr val="F3F0E6"/>
            </a:solidFill>
            <a:prstDash val="solid"/>
          </a:ln>
        </p:spPr>
      </p:sp>
      <p:sp>
        <p:nvSpPr>
          <p:cNvPr id="28" name="Text 25"/>
          <p:cNvSpPr txBox="1"/>
          <p:nvPr/>
        </p:nvSpPr>
        <p:spPr>
          <a:xfrm>
            <a:off x="10607040" y="2450592"/>
            <a:ext cx="731520" cy="73152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0,2</a:t>
            </a:r>
            <a:endParaRPr lang="en-US" sz="1500" dirty="0"/>
          </a:p>
        </p:txBody>
      </p:sp>
      <p:sp>
        <p:nvSpPr>
          <p:cNvPr id="29" name="Text 26"/>
          <p:cNvSpPr txBox="1"/>
          <p:nvPr/>
        </p:nvSpPr>
        <p:spPr>
          <a:xfrm>
            <a:off x="548640" y="3474720"/>
            <a:ext cx="2560320" cy="8686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Commitment</a:t>
            </a:r>
            <a:endParaRPr lang="en-US" sz="1600" dirty="0"/>
          </a:p>
        </p:txBody>
      </p:sp>
      <p:sp>
        <p:nvSpPr>
          <p:cNvPr id="30" name="Shape 27"/>
          <p:cNvSpPr/>
          <p:nvPr/>
        </p:nvSpPr>
        <p:spPr>
          <a:xfrm>
            <a:off x="3200400" y="3474720"/>
            <a:ext cx="4389120" cy="384048"/>
          </a:xfrm>
          <a:prstGeom prst="rect">
            <a:avLst/>
          </a:prstGeom>
          <a:solidFill>
            <a:srgbClr val="962B7C"/>
          </a:solidFill>
          <a:ln w="12700">
            <a:solidFill>
              <a:srgbClr val="962B7C"/>
            </a:solidFill>
            <a:prstDash val="solid"/>
          </a:ln>
        </p:spPr>
      </p:sp>
      <p:sp>
        <p:nvSpPr>
          <p:cNvPr id="31" name="Text 28"/>
          <p:cNvSpPr txBox="1"/>
          <p:nvPr/>
        </p:nvSpPr>
        <p:spPr>
          <a:xfrm>
            <a:off x="7680960" y="3474720"/>
            <a:ext cx="1645920" cy="38404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Nova  4,0</a:t>
            </a:r>
            <a:endParaRPr lang="en-US" sz="1200" dirty="0"/>
          </a:p>
        </p:txBody>
      </p:sp>
      <p:sp>
        <p:nvSpPr>
          <p:cNvPr id="32" name="Shape 29"/>
          <p:cNvSpPr/>
          <p:nvPr/>
        </p:nvSpPr>
        <p:spPr>
          <a:xfrm>
            <a:off x="3200400" y="3931920"/>
            <a:ext cx="3840480" cy="384048"/>
          </a:xfrm>
          <a:prstGeom prst="rect">
            <a:avLst/>
          </a:prstGeom>
          <a:solidFill>
            <a:srgbClr val="09A1E5"/>
          </a:solidFill>
          <a:ln w="12700">
            <a:solidFill>
              <a:srgbClr val="09A1E5"/>
            </a:solidFill>
            <a:prstDash val="solid"/>
          </a:ln>
        </p:spPr>
      </p:sp>
      <p:sp>
        <p:nvSpPr>
          <p:cNvPr id="33" name="Text 30"/>
          <p:cNvSpPr txBox="1"/>
          <p:nvPr/>
        </p:nvSpPr>
        <p:spPr>
          <a:xfrm>
            <a:off x="7132320" y="3931920"/>
            <a:ext cx="1645920" cy="38404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An Phát  3,5</a:t>
            </a:r>
            <a:endParaRPr lang="en-US" sz="1200" dirty="0"/>
          </a:p>
        </p:txBody>
      </p:sp>
      <p:sp>
        <p:nvSpPr>
          <p:cNvPr id="34" name="Shape 31"/>
          <p:cNvSpPr/>
          <p:nvPr/>
        </p:nvSpPr>
        <p:spPr>
          <a:xfrm>
            <a:off x="10607040" y="3547872"/>
            <a:ext cx="731520" cy="731520"/>
          </a:xfrm>
          <a:prstGeom prst="ellipse">
            <a:avLst/>
          </a:prstGeom>
          <a:solidFill>
            <a:srgbClr val="F3F0E6"/>
          </a:solidFill>
          <a:ln w="12700">
            <a:solidFill>
              <a:srgbClr val="F3F0E6"/>
            </a:solidFill>
            <a:prstDash val="solid"/>
          </a:ln>
        </p:spPr>
      </p:sp>
      <p:sp>
        <p:nvSpPr>
          <p:cNvPr id="35" name="Text 32"/>
          <p:cNvSpPr txBox="1"/>
          <p:nvPr/>
        </p:nvSpPr>
        <p:spPr>
          <a:xfrm>
            <a:off x="10607040" y="3547872"/>
            <a:ext cx="731520" cy="73152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0,5</a:t>
            </a:r>
            <a:endParaRPr lang="en-US" sz="1500" dirty="0"/>
          </a:p>
        </p:txBody>
      </p:sp>
      <p:sp>
        <p:nvSpPr>
          <p:cNvPr id="36" name="Text 33"/>
          <p:cNvSpPr txBox="1"/>
          <p:nvPr/>
        </p:nvSpPr>
        <p:spPr>
          <a:xfrm>
            <a:off x="548640" y="4572000"/>
            <a:ext cx="2560320" cy="8686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Functional conflict</a:t>
            </a:r>
            <a:endParaRPr lang="en-US" sz="1600" dirty="0"/>
          </a:p>
        </p:txBody>
      </p:sp>
      <p:sp>
        <p:nvSpPr>
          <p:cNvPr id="37" name="Shape 34"/>
          <p:cNvSpPr/>
          <p:nvPr/>
        </p:nvSpPr>
        <p:spPr>
          <a:xfrm>
            <a:off x="3200400" y="4572000"/>
            <a:ext cx="4718304" cy="384048"/>
          </a:xfrm>
          <a:prstGeom prst="rect">
            <a:avLst/>
          </a:prstGeom>
          <a:solidFill>
            <a:srgbClr val="962B7C"/>
          </a:solidFill>
          <a:ln w="12700">
            <a:solidFill>
              <a:srgbClr val="962B7C"/>
            </a:solidFill>
            <a:prstDash val="solid"/>
          </a:ln>
        </p:spPr>
      </p:sp>
      <p:sp>
        <p:nvSpPr>
          <p:cNvPr id="38" name="Text 35"/>
          <p:cNvSpPr txBox="1"/>
          <p:nvPr/>
        </p:nvSpPr>
        <p:spPr>
          <a:xfrm>
            <a:off x="8010144" y="4572000"/>
            <a:ext cx="1645920" cy="38404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Nova  4,3</a:t>
            </a:r>
            <a:endParaRPr lang="en-US" sz="1200" dirty="0"/>
          </a:p>
        </p:txBody>
      </p:sp>
      <p:sp>
        <p:nvSpPr>
          <p:cNvPr id="39" name="Shape 36"/>
          <p:cNvSpPr/>
          <p:nvPr/>
        </p:nvSpPr>
        <p:spPr>
          <a:xfrm>
            <a:off x="3200400" y="5029200"/>
            <a:ext cx="2962656" cy="384048"/>
          </a:xfrm>
          <a:prstGeom prst="rect">
            <a:avLst/>
          </a:prstGeom>
          <a:solidFill>
            <a:srgbClr val="09A1E5"/>
          </a:solidFill>
          <a:ln w="12700">
            <a:solidFill>
              <a:srgbClr val="09A1E5"/>
            </a:solidFill>
            <a:prstDash val="solid"/>
          </a:ln>
        </p:spPr>
      </p:sp>
      <p:sp>
        <p:nvSpPr>
          <p:cNvPr id="40" name="Text 37"/>
          <p:cNvSpPr txBox="1"/>
          <p:nvPr/>
        </p:nvSpPr>
        <p:spPr>
          <a:xfrm>
            <a:off x="6254496" y="5029200"/>
            <a:ext cx="1645920" cy="38404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An Phát  2,7</a:t>
            </a:r>
            <a:endParaRPr lang="en-US" sz="1200" dirty="0"/>
          </a:p>
        </p:txBody>
      </p:sp>
      <p:sp>
        <p:nvSpPr>
          <p:cNvPr id="41" name="Shape 38"/>
          <p:cNvSpPr/>
          <p:nvPr/>
        </p:nvSpPr>
        <p:spPr>
          <a:xfrm>
            <a:off x="10607040" y="4645152"/>
            <a:ext cx="731520" cy="731520"/>
          </a:xfrm>
          <a:prstGeom prst="ellipse">
            <a:avLst/>
          </a:prstGeom>
          <a:solidFill>
            <a:srgbClr val="FF5178"/>
          </a:solidFill>
          <a:ln w="12700">
            <a:solidFill>
              <a:srgbClr val="FF5178"/>
            </a:solidFill>
            <a:prstDash val="solid"/>
          </a:ln>
        </p:spPr>
      </p:sp>
      <p:sp>
        <p:nvSpPr>
          <p:cNvPr id="42" name="Text 39"/>
          <p:cNvSpPr txBox="1"/>
          <p:nvPr/>
        </p:nvSpPr>
        <p:spPr>
          <a:xfrm>
            <a:off x="10607040" y="4645152"/>
            <a:ext cx="73152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1,6</a:t>
            </a:r>
            <a:endParaRPr lang="en-US" sz="1500" dirty="0"/>
          </a:p>
        </p:txBody>
      </p:sp>
      <p:sp>
        <p:nvSpPr>
          <p:cNvPr id="43" name="Text 40"/>
          <p:cNvSpPr txBox="1"/>
          <p:nvPr/>
        </p:nvSpPr>
        <p:spPr>
          <a:xfrm>
            <a:off x="10241280" y="1965960"/>
            <a:ext cx="1463040" cy="365760"/>
          </a:xfrm>
          <a:prstGeom prst="rect">
            <a:avLst/>
          </a:prstGeom>
          <a:noFill/>
          <a:ln/>
        </p:spPr>
        <p:txBody>
          <a:bodyPr wrap="square" lIns="0" tIns="0" rIns="0" bIns="0" rtlCol="0" anchor="ctr"/>
          <a:lstStyle/>
          <a:p>
            <a:pPr algn="ctr" indent="0" marL="0">
              <a:buNone/>
            </a:pPr>
            <a:r>
              <a:rPr lang="en-US" sz="1200" dirty="0">
                <a:solidFill>
                  <a:srgbClr val="6E6878"/>
                </a:solidFill>
                <a:latin typeface="Alexandria" pitchFamily="34" charset="0"/>
                <a:ea typeface="Alexandria" pitchFamily="34" charset="-122"/>
                <a:cs typeface="Alexandria" pitchFamily="34" charset="-120"/>
              </a:rPr>
              <a:t>khoảng cách</a:t>
            </a:r>
            <a:endParaRPr lang="en-US" sz="1200" dirty="0"/>
          </a:p>
        </p:txBody>
      </p:sp>
      <p:sp>
        <p:nvSpPr>
          <p:cNvPr id="44" name="Shape 41"/>
          <p:cNvSpPr/>
          <p:nvPr/>
        </p:nvSpPr>
        <p:spPr>
          <a:xfrm>
            <a:off x="548640" y="5623560"/>
            <a:ext cx="11094415" cy="457200"/>
          </a:xfrm>
          <a:prstGeom prst="roundRect">
            <a:avLst>
              <a:gd name="adj" fmla="val 24000"/>
            </a:avLst>
          </a:prstGeom>
          <a:solidFill>
            <a:srgbClr val="FFE4EA"/>
          </a:solidFill>
          <a:ln w="12700">
            <a:solidFill>
              <a:srgbClr val="FF5178"/>
            </a:solidFill>
            <a:prstDash val="solid"/>
          </a:ln>
        </p:spPr>
      </p:sp>
      <p:sp>
        <p:nvSpPr>
          <p:cNvPr id="45" name="Text 42"/>
          <p:cNvSpPr txBox="1"/>
          <p:nvPr/>
        </p:nvSpPr>
        <p:spPr>
          <a:xfrm>
            <a:off x="777240" y="5623560"/>
            <a:ext cx="10637215" cy="45720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Functional conflict lệch 1,6 điểm → cần nói chuyện, dù trung bình hai phía vẫn 3,5.</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Chín câu hỏi cho ba trụ cột</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Công cụ học tập của môn, dựng từ định nghĩa D01 — không phải thang đo đã kiểm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15</a:t>
            </a:r>
            <a:endParaRPr lang="en-US" sz="1000" dirty="0"/>
          </a:p>
        </p:txBody>
      </p:sp>
      <p:sp>
        <p:nvSpPr>
          <p:cNvPr id="20" name="Shape 17"/>
          <p:cNvSpPr/>
          <p:nvPr/>
        </p:nvSpPr>
        <p:spPr>
          <a:xfrm>
            <a:off x="548640" y="1783080"/>
            <a:ext cx="3515258" cy="548640"/>
          </a:xfrm>
          <a:prstGeom prst="roundRect">
            <a:avLst>
              <a:gd name="adj" fmla="val 50000"/>
            </a:avLst>
          </a:prstGeom>
          <a:solidFill>
            <a:srgbClr val="962B7C"/>
          </a:solidFill>
          <a:ln w="12700">
            <a:solidFill>
              <a:srgbClr val="962B7C"/>
            </a:solidFill>
            <a:prstDash val="solid"/>
          </a:ln>
        </p:spPr>
      </p:sp>
      <p:sp>
        <p:nvSpPr>
          <p:cNvPr id="21" name="Text 18"/>
          <p:cNvSpPr txBox="1"/>
          <p:nvPr/>
        </p:nvSpPr>
        <p:spPr>
          <a:xfrm>
            <a:off x="621792" y="1783080"/>
            <a:ext cx="3368954"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Trust</a:t>
            </a:r>
            <a:endParaRPr lang="en-US" sz="1700" dirty="0"/>
          </a:p>
        </p:txBody>
      </p:sp>
      <p:sp>
        <p:nvSpPr>
          <p:cNvPr id="22" name="Shape 19"/>
          <p:cNvSpPr/>
          <p:nvPr/>
        </p:nvSpPr>
        <p:spPr>
          <a:xfrm>
            <a:off x="548640" y="2468880"/>
            <a:ext cx="3515258" cy="3520440"/>
          </a:xfrm>
          <a:prstGeom prst="roundRect">
            <a:avLst>
              <a:gd name="adj" fmla="val 3121"/>
            </a:avLst>
          </a:prstGeom>
          <a:solidFill>
            <a:srgbClr val="F1E1EE"/>
          </a:solidFill>
          <a:ln w="12700">
            <a:solidFill>
              <a:srgbClr val="F1E1EE"/>
            </a:solidFill>
            <a:prstDash val="solid"/>
          </a:ln>
        </p:spPr>
      </p:sp>
      <p:sp>
        <p:nvSpPr>
          <p:cNvPr id="23" name="Text 20"/>
          <p:cNvSpPr txBox="1"/>
          <p:nvPr/>
        </p:nvSpPr>
        <p:spPr>
          <a:xfrm>
            <a:off x="822960" y="2606040"/>
            <a:ext cx="2966618" cy="3246120"/>
          </a:xfrm>
          <a:prstGeom prst="rect">
            <a:avLst/>
          </a:prstGeom>
          <a:noFill/>
          <a:ln/>
        </p:spPr>
        <p:txBody>
          <a:bodyPr wrap="square" lIns="0" tIns="0" rIns="0" bIns="0" rtlCol="0" anchor="t"/>
          <a:lstStyle/>
          <a:p>
            <a:pPr indent="0" marL="0">
              <a:spcAft>
                <a:spcPts val="1600"/>
              </a:spcAft>
              <a:buNone/>
            </a:pPr>
            <a:r>
              <a:rPr lang="en-US" sz="1500" dirty="0">
                <a:solidFill>
                  <a:srgbClr val="2A2238"/>
                </a:solidFill>
                <a:latin typeface="Alexandria" pitchFamily="34" charset="0"/>
                <a:ea typeface="Alexandria" pitchFamily="34" charset="-122"/>
                <a:cs typeface="Alexandria" pitchFamily="34" charset="-120"/>
              </a:rPr>
              <a:t>T1. Bên kia làm đúng những gì đã cam kết.</a:t>
            </a:r>
            <a:endParaRPr lang="en-US" sz="1500" dirty="0"/>
          </a:p>
          <a:p>
            <a:pPr indent="0" marL="0">
              <a:spcAft>
                <a:spcPts val="1600"/>
              </a:spcAft>
              <a:buNone/>
            </a:pPr>
            <a:r>
              <a:rPr lang="en-US" sz="1500" dirty="0">
                <a:solidFill>
                  <a:srgbClr val="2A2238"/>
                </a:solidFill>
                <a:latin typeface="Alexandria" pitchFamily="34" charset="0"/>
                <a:ea typeface="Alexandria" pitchFamily="34" charset="-122"/>
                <a:cs typeface="Alexandria" pitchFamily="34" charset="-120"/>
              </a:rPr>
              <a:t>T2. Khi có vấn đề, bên kia nói thật.</a:t>
            </a:r>
            <a:endParaRPr lang="en-US" sz="1500" dirty="0"/>
          </a:p>
          <a:p>
            <a:pPr indent="0" marL="0">
              <a:spcAft>
                <a:spcPts val="1600"/>
              </a:spcAft>
              <a:buNone/>
            </a:pPr>
            <a:r>
              <a:rPr lang="en-US" sz="1500" dirty="0">
                <a:solidFill>
                  <a:srgbClr val="2A2238"/>
                </a:solidFill>
                <a:latin typeface="Alexandria" pitchFamily="34" charset="0"/>
                <a:ea typeface="Alexandria" pitchFamily="34" charset="-122"/>
                <a:cs typeface="Alexandria" pitchFamily="34" charset="-120"/>
              </a:rPr>
              <a:t>T3. Tôi có thể dựa vào bên kia mà không cần kiểm tra lại mọi thứ.</a:t>
            </a:r>
            <a:endParaRPr lang="en-US" sz="1500" dirty="0"/>
          </a:p>
        </p:txBody>
      </p:sp>
      <p:sp>
        <p:nvSpPr>
          <p:cNvPr id="24" name="Shape 21"/>
          <p:cNvSpPr/>
          <p:nvPr/>
        </p:nvSpPr>
        <p:spPr>
          <a:xfrm>
            <a:off x="4338218" y="1783080"/>
            <a:ext cx="3515258" cy="548640"/>
          </a:xfrm>
          <a:prstGeom prst="roundRect">
            <a:avLst>
              <a:gd name="adj" fmla="val 50000"/>
            </a:avLst>
          </a:prstGeom>
          <a:solidFill>
            <a:srgbClr val="09A1E5"/>
          </a:solidFill>
          <a:ln w="12700">
            <a:solidFill>
              <a:srgbClr val="09A1E5"/>
            </a:solidFill>
            <a:prstDash val="solid"/>
          </a:ln>
        </p:spPr>
      </p:sp>
      <p:sp>
        <p:nvSpPr>
          <p:cNvPr id="25" name="Text 22"/>
          <p:cNvSpPr txBox="1"/>
          <p:nvPr/>
        </p:nvSpPr>
        <p:spPr>
          <a:xfrm>
            <a:off x="4411370" y="1783080"/>
            <a:ext cx="3368954"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Commitment</a:t>
            </a:r>
            <a:endParaRPr lang="en-US" sz="1700" dirty="0"/>
          </a:p>
        </p:txBody>
      </p:sp>
      <p:sp>
        <p:nvSpPr>
          <p:cNvPr id="26" name="Shape 23"/>
          <p:cNvSpPr/>
          <p:nvPr/>
        </p:nvSpPr>
        <p:spPr>
          <a:xfrm>
            <a:off x="4338218" y="2468880"/>
            <a:ext cx="3515258" cy="3520440"/>
          </a:xfrm>
          <a:prstGeom prst="roundRect">
            <a:avLst>
              <a:gd name="adj" fmla="val 3121"/>
            </a:avLst>
          </a:prstGeom>
          <a:solidFill>
            <a:srgbClr val="DDF1FB"/>
          </a:solidFill>
          <a:ln w="12700">
            <a:solidFill>
              <a:srgbClr val="DDF1FB"/>
            </a:solidFill>
            <a:prstDash val="solid"/>
          </a:ln>
        </p:spPr>
      </p:sp>
      <p:sp>
        <p:nvSpPr>
          <p:cNvPr id="27" name="Text 24"/>
          <p:cNvSpPr txBox="1"/>
          <p:nvPr/>
        </p:nvSpPr>
        <p:spPr>
          <a:xfrm>
            <a:off x="4612538" y="2606040"/>
            <a:ext cx="2966618" cy="3246120"/>
          </a:xfrm>
          <a:prstGeom prst="rect">
            <a:avLst/>
          </a:prstGeom>
          <a:noFill/>
          <a:ln/>
        </p:spPr>
        <p:txBody>
          <a:bodyPr wrap="square" lIns="0" tIns="0" rIns="0" bIns="0" rtlCol="0" anchor="t"/>
          <a:lstStyle/>
          <a:p>
            <a:pPr indent="0" marL="0">
              <a:spcAft>
                <a:spcPts val="1600"/>
              </a:spcAft>
              <a:buNone/>
            </a:pPr>
            <a:r>
              <a:rPr lang="en-US" sz="1500" dirty="0">
                <a:solidFill>
                  <a:srgbClr val="2A2238"/>
                </a:solidFill>
                <a:latin typeface="Alexandria" pitchFamily="34" charset="0"/>
                <a:ea typeface="Alexandria" pitchFamily="34" charset="-122"/>
                <a:cs typeface="Alexandria" pitchFamily="34" charset="-120"/>
              </a:rPr>
              <a:t>C1. Quan hệ này đáng để chúng tôi nỗ lực tối đa giữ gìn.</a:t>
            </a:r>
            <a:endParaRPr lang="en-US" sz="1500" dirty="0"/>
          </a:p>
          <a:p>
            <a:pPr indent="0" marL="0">
              <a:spcAft>
                <a:spcPts val="1600"/>
              </a:spcAft>
              <a:buNone/>
            </a:pPr>
            <a:r>
              <a:rPr lang="en-US" sz="1500" dirty="0">
                <a:solidFill>
                  <a:srgbClr val="2A2238"/>
                </a:solidFill>
                <a:latin typeface="Alexandria" pitchFamily="34" charset="0"/>
                <a:ea typeface="Alexandria" pitchFamily="34" charset="-122"/>
                <a:cs typeface="Alexandria" pitchFamily="34" charset="-120"/>
              </a:rPr>
              <a:t>C2. Chúng tôi muốn tiếp tục làm việc cùng nhau nhiều năm.</a:t>
            </a:r>
            <a:endParaRPr lang="en-US" sz="1500" dirty="0"/>
          </a:p>
          <a:p>
            <a:pPr indent="0" marL="0">
              <a:spcAft>
                <a:spcPts val="1600"/>
              </a:spcAft>
              <a:buNone/>
            </a:pPr>
            <a:r>
              <a:rPr lang="en-US" sz="1500" dirty="0">
                <a:solidFill>
                  <a:srgbClr val="2A2238"/>
                </a:solidFill>
                <a:latin typeface="Alexandria" pitchFamily="34" charset="0"/>
                <a:ea typeface="Alexandria" pitchFamily="34" charset="-122"/>
                <a:cs typeface="Alexandria" pitchFamily="34" charset="-120"/>
              </a:rPr>
              <a:t>C3. Chúng tôi sẵn sàng dành thời gian, nguồn lực riêng cho quan hệ này.</a:t>
            </a:r>
            <a:endParaRPr lang="en-US" sz="1500" dirty="0"/>
          </a:p>
        </p:txBody>
      </p:sp>
      <p:sp>
        <p:nvSpPr>
          <p:cNvPr id="28" name="Shape 25"/>
          <p:cNvSpPr/>
          <p:nvPr/>
        </p:nvSpPr>
        <p:spPr>
          <a:xfrm>
            <a:off x="8127797" y="1783080"/>
            <a:ext cx="3515258" cy="548640"/>
          </a:xfrm>
          <a:prstGeom prst="roundRect">
            <a:avLst>
              <a:gd name="adj" fmla="val 50000"/>
            </a:avLst>
          </a:prstGeom>
          <a:solidFill>
            <a:srgbClr val="FF5178"/>
          </a:solidFill>
          <a:ln w="12700">
            <a:solidFill>
              <a:srgbClr val="FF5178"/>
            </a:solidFill>
            <a:prstDash val="solid"/>
          </a:ln>
        </p:spPr>
      </p:sp>
      <p:sp>
        <p:nvSpPr>
          <p:cNvPr id="29" name="Text 26"/>
          <p:cNvSpPr txBox="1"/>
          <p:nvPr/>
        </p:nvSpPr>
        <p:spPr>
          <a:xfrm>
            <a:off x="8200949" y="1783080"/>
            <a:ext cx="3368954"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Functional conflict</a:t>
            </a:r>
            <a:endParaRPr lang="en-US" sz="1700" dirty="0"/>
          </a:p>
        </p:txBody>
      </p:sp>
      <p:sp>
        <p:nvSpPr>
          <p:cNvPr id="30" name="Shape 27"/>
          <p:cNvSpPr/>
          <p:nvPr/>
        </p:nvSpPr>
        <p:spPr>
          <a:xfrm>
            <a:off x="8127797" y="2468880"/>
            <a:ext cx="3515258" cy="3520440"/>
          </a:xfrm>
          <a:prstGeom prst="roundRect">
            <a:avLst>
              <a:gd name="adj" fmla="val 3121"/>
            </a:avLst>
          </a:prstGeom>
          <a:solidFill>
            <a:srgbClr val="FFE4EA"/>
          </a:solidFill>
          <a:ln w="12700">
            <a:solidFill>
              <a:srgbClr val="FFE4EA"/>
            </a:solidFill>
            <a:prstDash val="solid"/>
          </a:ln>
        </p:spPr>
      </p:sp>
      <p:sp>
        <p:nvSpPr>
          <p:cNvPr id="31" name="Text 28"/>
          <p:cNvSpPr txBox="1"/>
          <p:nvPr/>
        </p:nvSpPr>
        <p:spPr>
          <a:xfrm>
            <a:off x="8402117" y="2606040"/>
            <a:ext cx="2966618" cy="3246120"/>
          </a:xfrm>
          <a:prstGeom prst="rect">
            <a:avLst/>
          </a:prstGeom>
          <a:noFill/>
          <a:ln/>
        </p:spPr>
        <p:txBody>
          <a:bodyPr wrap="square" lIns="0" tIns="0" rIns="0" bIns="0" rtlCol="0" anchor="t"/>
          <a:lstStyle/>
          <a:p>
            <a:pPr indent="0" marL="0">
              <a:spcAft>
                <a:spcPts val="1600"/>
              </a:spcAft>
              <a:buNone/>
            </a:pPr>
            <a:r>
              <a:rPr lang="en-US" sz="1500" dirty="0">
                <a:solidFill>
                  <a:srgbClr val="2A2238"/>
                </a:solidFill>
                <a:latin typeface="Alexandria" pitchFamily="34" charset="0"/>
                <a:ea typeface="Alexandria" pitchFamily="34" charset="-122"/>
                <a:cs typeface="Alexandria" pitchFamily="34" charset="-120"/>
              </a:rPr>
              <a:t>F1. Khi bất đồng, hai bên nói thẳng với nhau.</a:t>
            </a:r>
            <a:endParaRPr lang="en-US" sz="1500" dirty="0"/>
          </a:p>
          <a:p>
            <a:pPr indent="0" marL="0">
              <a:spcAft>
                <a:spcPts val="1600"/>
              </a:spcAft>
              <a:buNone/>
            </a:pPr>
            <a:r>
              <a:rPr lang="en-US" sz="1500" dirty="0">
                <a:solidFill>
                  <a:srgbClr val="2A2238"/>
                </a:solidFill>
                <a:latin typeface="Alexandria" pitchFamily="34" charset="0"/>
                <a:ea typeface="Alexandria" pitchFamily="34" charset="-122"/>
                <a:cs typeface="Alexandria" pitchFamily="34" charset="-120"/>
              </a:rPr>
              <a:t>F2. Bất đồng thường được giải quyết êm thấm.</a:t>
            </a:r>
            <a:endParaRPr lang="en-US" sz="1500" dirty="0"/>
          </a:p>
          <a:p>
            <a:pPr indent="0" marL="0">
              <a:spcAft>
                <a:spcPts val="1600"/>
              </a:spcAft>
              <a:buNone/>
            </a:pPr>
            <a:r>
              <a:rPr lang="en-US" sz="1500" dirty="0">
                <a:solidFill>
                  <a:srgbClr val="2A2238"/>
                </a:solidFill>
                <a:latin typeface="Alexandria" pitchFamily="34" charset="0"/>
                <a:ea typeface="Alexandria" pitchFamily="34" charset="-122"/>
                <a:cs typeface="Alexandria" pitchFamily="34" charset="-120"/>
              </a:rPr>
              <a:t>F3. Sau mỗi lần bất đồng, cách làm việc tốt hơn.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Năm bước biến bất đồng thành xung đột chức năng</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 dựng từ D01, Y03 (Mohr &amp; Spekman, 1994), D06.</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16</a:t>
            </a:r>
            <a:endParaRPr lang="en-US" sz="1000" dirty="0"/>
          </a:p>
        </p:txBody>
      </p:sp>
      <p:sp>
        <p:nvSpPr>
          <p:cNvPr id="20" name="Shape 17"/>
          <p:cNvSpPr/>
          <p:nvPr/>
        </p:nvSpPr>
        <p:spPr>
          <a:xfrm>
            <a:off x="548640" y="4206240"/>
            <a:ext cx="2072579" cy="1783080"/>
          </a:xfrm>
          <a:prstGeom prst="rect">
            <a:avLst/>
          </a:prstGeom>
          <a:solidFill>
            <a:srgbClr val="FF9259"/>
          </a:solidFill>
          <a:ln w="12700">
            <a:solidFill>
              <a:srgbClr val="FF9259"/>
            </a:solidFill>
            <a:prstDash val="solid"/>
          </a:ln>
        </p:spPr>
      </p:sp>
      <p:sp>
        <p:nvSpPr>
          <p:cNvPr id="21" name="Shape 18"/>
          <p:cNvSpPr/>
          <p:nvPr/>
        </p:nvSpPr>
        <p:spPr>
          <a:xfrm>
            <a:off x="1219170" y="3337560"/>
            <a:ext cx="731520" cy="731520"/>
          </a:xfrm>
          <a:prstGeom prst="ellipse">
            <a:avLst/>
          </a:prstGeom>
          <a:solidFill>
            <a:srgbClr val="FF9259"/>
          </a:solidFill>
          <a:ln w="12700">
            <a:solidFill>
              <a:srgbClr val="FF9259"/>
            </a:solidFill>
            <a:prstDash val="solid"/>
          </a:ln>
        </p:spPr>
      </p:sp>
      <p:sp>
        <p:nvSpPr>
          <p:cNvPr id="22" name="Text 19"/>
          <p:cNvSpPr txBox="1"/>
          <p:nvPr/>
        </p:nvSpPr>
        <p:spPr>
          <a:xfrm>
            <a:off x="1219170" y="3337560"/>
            <a:ext cx="731520" cy="73152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1</a:t>
            </a:r>
            <a:endParaRPr lang="en-US" sz="2200" dirty="0"/>
          </a:p>
        </p:txBody>
      </p:sp>
      <p:sp>
        <p:nvSpPr>
          <p:cNvPr id="23" name="Text 20"/>
          <p:cNvSpPr txBox="1"/>
          <p:nvPr/>
        </p:nvSpPr>
        <p:spPr>
          <a:xfrm>
            <a:off x="658368" y="4297680"/>
            <a:ext cx="1853123" cy="1554480"/>
          </a:xfrm>
          <a:prstGeom prst="rect">
            <a:avLst/>
          </a:prstGeom>
          <a:noFill/>
          <a:ln/>
        </p:spPr>
        <p:txBody>
          <a:bodyPr wrap="square" lIns="0" tIns="0" rIns="0" bIns="0" rtlCol="0" anchor="t"/>
          <a:lstStyle/>
          <a:p>
            <a:pPr algn="ctr" indent="0" marL="0">
              <a:spcAft>
                <a:spcPts val="400"/>
              </a:spcAft>
              <a:buNone/>
            </a:pPr>
            <a:r>
              <a:rPr lang="en-US" sz="1700" b="1" dirty="0">
                <a:solidFill>
                  <a:srgbClr val="2A2238"/>
                </a:solidFill>
                <a:latin typeface="Alexandria" pitchFamily="34" charset="0"/>
                <a:ea typeface="Alexandria" pitchFamily="34" charset="-122"/>
                <a:cs typeface="Alexandria" pitchFamily="34" charset="-120"/>
              </a:rPr>
              <a:t>Nêu sớm</a:t>
            </a:r>
            <a:endParaRPr lang="en-US" sz="1700" dirty="0"/>
          </a:p>
          <a:p>
            <a:pPr algn="ctr" indent="0" marL="0">
              <a:spcAft>
                <a:spcPts val="400"/>
              </a:spcAft>
              <a:buNone/>
            </a:pPr>
            <a:r>
              <a:rPr lang="en-US" sz="1300" dirty="0">
                <a:solidFill>
                  <a:srgbClr val="2A2238"/>
                </a:solidFill>
                <a:latin typeface="Alexandria" pitchFamily="34" charset="0"/>
                <a:ea typeface="Alexandria" pitchFamily="34" charset="-122"/>
                <a:cs typeface="Alexandria" pitchFamily="34" charset="-120"/>
              </a:rPr>
              <a:t>trước khi thành bức xúc</a:t>
            </a:r>
            <a:endParaRPr lang="en-US" sz="1700" dirty="0"/>
          </a:p>
        </p:txBody>
      </p:sp>
      <p:sp>
        <p:nvSpPr>
          <p:cNvPr id="24" name="Shape 21"/>
          <p:cNvSpPr/>
          <p:nvPr/>
        </p:nvSpPr>
        <p:spPr>
          <a:xfrm>
            <a:off x="2804099" y="3840480"/>
            <a:ext cx="2072579" cy="2148840"/>
          </a:xfrm>
          <a:prstGeom prst="rect">
            <a:avLst/>
          </a:prstGeom>
          <a:solidFill>
            <a:srgbClr val="962B7C"/>
          </a:solidFill>
          <a:ln w="12700">
            <a:solidFill>
              <a:srgbClr val="962B7C"/>
            </a:solidFill>
            <a:prstDash val="solid"/>
          </a:ln>
        </p:spPr>
      </p:sp>
      <p:sp>
        <p:nvSpPr>
          <p:cNvPr id="25" name="Shape 22"/>
          <p:cNvSpPr/>
          <p:nvPr/>
        </p:nvSpPr>
        <p:spPr>
          <a:xfrm>
            <a:off x="3474629" y="2971800"/>
            <a:ext cx="731520" cy="731520"/>
          </a:xfrm>
          <a:prstGeom prst="ellipse">
            <a:avLst/>
          </a:prstGeom>
          <a:solidFill>
            <a:srgbClr val="962B7C"/>
          </a:solidFill>
          <a:ln w="12700">
            <a:solidFill>
              <a:srgbClr val="962B7C"/>
            </a:solidFill>
            <a:prstDash val="solid"/>
          </a:ln>
        </p:spPr>
      </p:sp>
      <p:sp>
        <p:nvSpPr>
          <p:cNvPr id="26" name="Text 23"/>
          <p:cNvSpPr txBox="1"/>
          <p:nvPr/>
        </p:nvSpPr>
        <p:spPr>
          <a:xfrm>
            <a:off x="3474629" y="29718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2</a:t>
            </a:r>
            <a:endParaRPr lang="en-US" sz="2200" dirty="0"/>
          </a:p>
        </p:txBody>
      </p:sp>
      <p:sp>
        <p:nvSpPr>
          <p:cNvPr id="27" name="Text 24"/>
          <p:cNvSpPr txBox="1"/>
          <p:nvPr/>
        </p:nvSpPr>
        <p:spPr>
          <a:xfrm>
            <a:off x="2913827" y="3931920"/>
            <a:ext cx="1853123" cy="1554480"/>
          </a:xfrm>
          <a:prstGeom prst="rect">
            <a:avLst/>
          </a:prstGeom>
          <a:noFill/>
          <a:ln/>
        </p:spPr>
        <p:txBody>
          <a:bodyPr wrap="square" lIns="0" tIns="0" rIns="0" bIns="0" rtlCol="0" anchor="t"/>
          <a:lstStyle/>
          <a:p>
            <a:pPr algn="ctr" indent="0" marL="0">
              <a:spcAft>
                <a:spcPts val="400"/>
              </a:spcAft>
              <a:buNone/>
            </a:pPr>
            <a:r>
              <a:rPr lang="en-US" sz="1700" b="1" dirty="0">
                <a:solidFill>
                  <a:srgbClr val="FFFFFF"/>
                </a:solidFill>
                <a:latin typeface="Alexandria" pitchFamily="34" charset="0"/>
                <a:ea typeface="Alexandria" pitchFamily="34" charset="-122"/>
                <a:cs typeface="Alexandria" pitchFamily="34" charset="-120"/>
              </a:rPr>
              <a:t>Nêu riêng, đúng người</a:t>
            </a:r>
            <a:endParaRPr lang="en-US" sz="1700" dirty="0"/>
          </a:p>
          <a:p>
            <a:pPr algn="ctr" indent="0" marL="0">
              <a:spcAft>
                <a:spcPts val="400"/>
              </a:spcAft>
              <a:buNone/>
            </a:pPr>
            <a:r>
              <a:rPr lang="en-US" sz="1300" dirty="0">
                <a:solidFill>
                  <a:srgbClr val="FFFFFF"/>
                </a:solidFill>
                <a:latin typeface="Alexandria" pitchFamily="34" charset="0"/>
                <a:ea typeface="Alexandria" pitchFamily="34" charset="-122"/>
                <a:cs typeface="Alexandria" pitchFamily="34" charset="-120"/>
              </a:rPr>
              <a:t>giữ thể diện</a:t>
            </a:r>
            <a:endParaRPr lang="en-US" sz="1700" dirty="0"/>
          </a:p>
        </p:txBody>
      </p:sp>
      <p:sp>
        <p:nvSpPr>
          <p:cNvPr id="28" name="Shape 25"/>
          <p:cNvSpPr/>
          <p:nvPr/>
        </p:nvSpPr>
        <p:spPr>
          <a:xfrm>
            <a:off x="5059558" y="3474720"/>
            <a:ext cx="2072579" cy="2514600"/>
          </a:xfrm>
          <a:prstGeom prst="rect">
            <a:avLst/>
          </a:prstGeom>
          <a:solidFill>
            <a:srgbClr val="09A1E5"/>
          </a:solidFill>
          <a:ln w="12700">
            <a:solidFill>
              <a:srgbClr val="09A1E5"/>
            </a:solidFill>
            <a:prstDash val="solid"/>
          </a:ln>
        </p:spPr>
      </p:sp>
      <p:sp>
        <p:nvSpPr>
          <p:cNvPr id="29" name="Shape 26"/>
          <p:cNvSpPr/>
          <p:nvPr/>
        </p:nvSpPr>
        <p:spPr>
          <a:xfrm>
            <a:off x="5730088" y="2606040"/>
            <a:ext cx="731520" cy="731520"/>
          </a:xfrm>
          <a:prstGeom prst="ellipse">
            <a:avLst/>
          </a:prstGeom>
          <a:solidFill>
            <a:srgbClr val="09A1E5"/>
          </a:solidFill>
          <a:ln w="12700">
            <a:solidFill>
              <a:srgbClr val="09A1E5"/>
            </a:solidFill>
            <a:prstDash val="solid"/>
          </a:ln>
        </p:spPr>
      </p:sp>
      <p:sp>
        <p:nvSpPr>
          <p:cNvPr id="30" name="Text 27"/>
          <p:cNvSpPr txBox="1"/>
          <p:nvPr/>
        </p:nvSpPr>
        <p:spPr>
          <a:xfrm>
            <a:off x="5730088" y="26060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3</a:t>
            </a:r>
            <a:endParaRPr lang="en-US" sz="2200" dirty="0"/>
          </a:p>
        </p:txBody>
      </p:sp>
      <p:sp>
        <p:nvSpPr>
          <p:cNvPr id="31" name="Text 28"/>
          <p:cNvSpPr txBox="1"/>
          <p:nvPr/>
        </p:nvSpPr>
        <p:spPr>
          <a:xfrm>
            <a:off x="5169286" y="3566160"/>
            <a:ext cx="1853123" cy="1554480"/>
          </a:xfrm>
          <a:prstGeom prst="rect">
            <a:avLst/>
          </a:prstGeom>
          <a:noFill/>
          <a:ln/>
        </p:spPr>
        <p:txBody>
          <a:bodyPr wrap="square" lIns="0" tIns="0" rIns="0" bIns="0" rtlCol="0" anchor="t"/>
          <a:lstStyle/>
          <a:p>
            <a:pPr algn="ctr" indent="0" marL="0">
              <a:spcAft>
                <a:spcPts val="400"/>
              </a:spcAft>
              <a:buNone/>
            </a:pPr>
            <a:r>
              <a:rPr lang="en-US" sz="1700" b="1" dirty="0">
                <a:solidFill>
                  <a:srgbClr val="FFFFFF"/>
                </a:solidFill>
                <a:latin typeface="Alexandria" pitchFamily="34" charset="0"/>
                <a:ea typeface="Alexandria" pitchFamily="34" charset="-122"/>
                <a:cs typeface="Alexandria" pitchFamily="34" charset="-120"/>
              </a:rPr>
              <a:t>Về vấn đề</a:t>
            </a:r>
            <a:endParaRPr lang="en-US" sz="1700" dirty="0"/>
          </a:p>
          <a:p>
            <a:pPr algn="ctr" indent="0" marL="0">
              <a:spcAft>
                <a:spcPts val="400"/>
              </a:spcAft>
              <a:buNone/>
            </a:pPr>
            <a:r>
              <a:rPr lang="en-US" sz="1300" dirty="0">
                <a:solidFill>
                  <a:srgbClr val="FFFFFF"/>
                </a:solidFill>
                <a:latin typeface="Alexandria" pitchFamily="34" charset="0"/>
                <a:ea typeface="Alexandria" pitchFamily="34" charset="-122"/>
                <a:cs typeface="Alexandria" pitchFamily="34" charset="-120"/>
              </a:rPr>
              <a:t>không về con người</a:t>
            </a:r>
            <a:endParaRPr lang="en-US" sz="1700" dirty="0"/>
          </a:p>
        </p:txBody>
      </p:sp>
      <p:sp>
        <p:nvSpPr>
          <p:cNvPr id="32" name="Shape 29"/>
          <p:cNvSpPr/>
          <p:nvPr/>
        </p:nvSpPr>
        <p:spPr>
          <a:xfrm>
            <a:off x="7315017" y="3108960"/>
            <a:ext cx="2072579" cy="2880360"/>
          </a:xfrm>
          <a:prstGeom prst="rect">
            <a:avLst/>
          </a:prstGeom>
          <a:solidFill>
            <a:srgbClr val="FF5178"/>
          </a:solidFill>
          <a:ln w="12700">
            <a:solidFill>
              <a:srgbClr val="FF5178"/>
            </a:solidFill>
            <a:prstDash val="solid"/>
          </a:ln>
        </p:spPr>
      </p:sp>
      <p:sp>
        <p:nvSpPr>
          <p:cNvPr id="33" name="Shape 30"/>
          <p:cNvSpPr/>
          <p:nvPr/>
        </p:nvSpPr>
        <p:spPr>
          <a:xfrm>
            <a:off x="7985547" y="2240280"/>
            <a:ext cx="731520" cy="731520"/>
          </a:xfrm>
          <a:prstGeom prst="ellipse">
            <a:avLst/>
          </a:prstGeom>
          <a:solidFill>
            <a:srgbClr val="FF5178"/>
          </a:solidFill>
          <a:ln w="12700">
            <a:solidFill>
              <a:srgbClr val="FF5178"/>
            </a:solidFill>
            <a:prstDash val="solid"/>
          </a:ln>
        </p:spPr>
      </p:sp>
      <p:sp>
        <p:nvSpPr>
          <p:cNvPr id="34" name="Text 31"/>
          <p:cNvSpPr txBox="1"/>
          <p:nvPr/>
        </p:nvSpPr>
        <p:spPr>
          <a:xfrm>
            <a:off x="7985547" y="224028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4</a:t>
            </a:r>
            <a:endParaRPr lang="en-US" sz="2200" dirty="0"/>
          </a:p>
        </p:txBody>
      </p:sp>
      <p:sp>
        <p:nvSpPr>
          <p:cNvPr id="35" name="Text 32"/>
          <p:cNvSpPr txBox="1"/>
          <p:nvPr/>
        </p:nvSpPr>
        <p:spPr>
          <a:xfrm>
            <a:off x="7424745" y="3200400"/>
            <a:ext cx="1853123" cy="1554480"/>
          </a:xfrm>
          <a:prstGeom prst="rect">
            <a:avLst/>
          </a:prstGeom>
          <a:noFill/>
          <a:ln/>
        </p:spPr>
        <p:txBody>
          <a:bodyPr wrap="square" lIns="0" tIns="0" rIns="0" bIns="0" rtlCol="0" anchor="t"/>
          <a:lstStyle/>
          <a:p>
            <a:pPr algn="ctr" indent="0" marL="0">
              <a:spcAft>
                <a:spcPts val="400"/>
              </a:spcAft>
              <a:buNone/>
            </a:pPr>
            <a:r>
              <a:rPr lang="en-US" sz="1700" b="1" dirty="0">
                <a:solidFill>
                  <a:srgbClr val="FFFFFF"/>
                </a:solidFill>
                <a:latin typeface="Alexandria" pitchFamily="34" charset="0"/>
                <a:ea typeface="Alexandria" pitchFamily="34" charset="-122"/>
                <a:cs typeface="Alexandria" pitchFamily="34" charset="-120"/>
              </a:rPr>
              <a:t>Cùng giải quyết</a:t>
            </a:r>
            <a:endParaRPr lang="en-US" sz="1700" dirty="0"/>
          </a:p>
          <a:p>
            <a:pPr algn="ctr" indent="0" marL="0">
              <a:spcAft>
                <a:spcPts val="400"/>
              </a:spcAft>
              <a:buNone/>
            </a:pPr>
            <a:r>
              <a:rPr lang="en-US" sz="1300" dirty="0">
                <a:solidFill>
                  <a:srgbClr val="FFFFFF"/>
                </a:solidFill>
                <a:latin typeface="Alexandria" pitchFamily="34" charset="0"/>
                <a:ea typeface="Alexandria" pitchFamily="34" charset="-122"/>
                <a:cs typeface="Alexandria" pitchFamily="34" charset="-120"/>
              </a:rPr>
              <a:t>joint problem solving</a:t>
            </a:r>
            <a:endParaRPr lang="en-US" sz="1700" dirty="0"/>
          </a:p>
        </p:txBody>
      </p:sp>
      <p:sp>
        <p:nvSpPr>
          <p:cNvPr id="36" name="Shape 33"/>
          <p:cNvSpPr/>
          <p:nvPr/>
        </p:nvSpPr>
        <p:spPr>
          <a:xfrm>
            <a:off x="9570476" y="2743200"/>
            <a:ext cx="2072579" cy="3246120"/>
          </a:xfrm>
          <a:prstGeom prst="rect">
            <a:avLst/>
          </a:prstGeom>
          <a:solidFill>
            <a:srgbClr val="49B296"/>
          </a:solidFill>
          <a:ln w="12700">
            <a:solidFill>
              <a:srgbClr val="49B296"/>
            </a:solidFill>
            <a:prstDash val="solid"/>
          </a:ln>
        </p:spPr>
      </p:sp>
      <p:sp>
        <p:nvSpPr>
          <p:cNvPr id="37" name="Shape 34"/>
          <p:cNvSpPr/>
          <p:nvPr/>
        </p:nvSpPr>
        <p:spPr>
          <a:xfrm>
            <a:off x="10241006" y="1874520"/>
            <a:ext cx="731520" cy="731520"/>
          </a:xfrm>
          <a:prstGeom prst="ellipse">
            <a:avLst/>
          </a:prstGeom>
          <a:solidFill>
            <a:srgbClr val="49B296"/>
          </a:solidFill>
          <a:ln w="12700">
            <a:solidFill>
              <a:srgbClr val="49B296"/>
            </a:solidFill>
            <a:prstDash val="solid"/>
          </a:ln>
        </p:spPr>
      </p:sp>
      <p:sp>
        <p:nvSpPr>
          <p:cNvPr id="38" name="Text 35"/>
          <p:cNvSpPr txBox="1"/>
          <p:nvPr/>
        </p:nvSpPr>
        <p:spPr>
          <a:xfrm>
            <a:off x="10241006" y="18745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5</a:t>
            </a:r>
            <a:endParaRPr lang="en-US" sz="2200" dirty="0"/>
          </a:p>
        </p:txBody>
      </p:sp>
      <p:sp>
        <p:nvSpPr>
          <p:cNvPr id="39" name="Text 36"/>
          <p:cNvSpPr txBox="1"/>
          <p:nvPr/>
        </p:nvSpPr>
        <p:spPr>
          <a:xfrm>
            <a:off x="9680204" y="2834640"/>
            <a:ext cx="1853123" cy="1554480"/>
          </a:xfrm>
          <a:prstGeom prst="rect">
            <a:avLst/>
          </a:prstGeom>
          <a:noFill/>
          <a:ln/>
        </p:spPr>
        <p:txBody>
          <a:bodyPr wrap="square" lIns="0" tIns="0" rIns="0" bIns="0" rtlCol="0" anchor="t"/>
          <a:lstStyle/>
          <a:p>
            <a:pPr algn="ctr" indent="0" marL="0">
              <a:spcAft>
                <a:spcPts val="400"/>
              </a:spcAft>
              <a:buNone/>
            </a:pPr>
            <a:r>
              <a:rPr lang="en-US" sz="1700" b="1" dirty="0">
                <a:solidFill>
                  <a:srgbClr val="FFFFFF"/>
                </a:solidFill>
                <a:latin typeface="Alexandria" pitchFamily="34" charset="0"/>
                <a:ea typeface="Alexandria" pitchFamily="34" charset="-122"/>
                <a:cs typeface="Alexandria" pitchFamily="34" charset="-120"/>
              </a:rPr>
              <a:t>Ghi lại, theo dõi</a:t>
            </a:r>
            <a:endParaRPr lang="en-US" sz="1700" dirty="0"/>
          </a:p>
          <a:p>
            <a:pPr algn="ctr" indent="0" marL="0">
              <a:spcAft>
                <a:spcPts val="400"/>
              </a:spcAft>
              <a:buNone/>
            </a:pPr>
            <a:r>
              <a:rPr lang="en-US" sz="1300" dirty="0">
                <a:solidFill>
                  <a:srgbClr val="FFFFFF"/>
                </a:solidFill>
                <a:latin typeface="Alexandria" pitchFamily="34" charset="0"/>
                <a:ea typeface="Alexandria" pitchFamily="34" charset="-122"/>
                <a:cs typeface="Alexandria" pitchFamily="34" charset="-120"/>
              </a:rPr>
              <a:t>việc đã thống nhất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Khi bất đồng không được giải quyết, cả mạng lưới trả giá</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D07 → Y09: Báo Văn hóa (3/1/2026). Chỉ nêu sự kiện đã đưa tin, không quy lỗi cá nhân.</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17</a:t>
            </a:r>
            <a:endParaRPr lang="en-US" sz="1000" dirty="0"/>
          </a:p>
        </p:txBody>
      </p:sp>
      <p:sp>
        <p:nvSpPr>
          <p:cNvPr id="20" name="Shape 17"/>
          <p:cNvSpPr/>
          <p:nvPr/>
        </p:nvSpPr>
        <p:spPr>
          <a:xfrm>
            <a:off x="548640" y="1828800"/>
            <a:ext cx="2377440" cy="411480"/>
          </a:xfrm>
          <a:prstGeom prst="roundRect">
            <a:avLst>
              <a:gd name="adj" fmla="val 50000"/>
            </a:avLst>
          </a:prstGeom>
          <a:solidFill>
            <a:srgbClr val="49B296"/>
          </a:solidFill>
          <a:ln w="12700">
            <a:solidFill>
              <a:srgbClr val="49B296"/>
            </a:solidFill>
            <a:prstDash val="solid"/>
          </a:ln>
        </p:spPr>
      </p:sp>
      <p:sp>
        <p:nvSpPr>
          <p:cNvPr id="21" name="Text 18"/>
          <p:cNvSpPr txBox="1"/>
          <p:nvPr/>
        </p:nvSpPr>
        <p:spPr>
          <a:xfrm>
            <a:off x="621792" y="1828800"/>
            <a:ext cx="2231136"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CASE THẬT · 28/12/2025</a:t>
            </a:r>
            <a:endParaRPr lang="en-US" sz="1100" dirty="0"/>
          </a:p>
        </p:txBody>
      </p:sp>
      <p:sp>
        <p:nvSpPr>
          <p:cNvPr id="22" name="Text 19"/>
          <p:cNvSpPr txBox="1"/>
          <p:nvPr/>
        </p:nvSpPr>
        <p:spPr>
          <a:xfrm>
            <a:off x="548640" y="2377440"/>
            <a:ext cx="11094415" cy="731520"/>
          </a:xfrm>
          <a:prstGeom prst="rect">
            <a:avLst/>
          </a:prstGeom>
          <a:noFill/>
          <a:ln/>
        </p:spPr>
        <p:txBody>
          <a:bodyPr wrap="square" lIns="0" tIns="0" rIns="0" bIns="0" rtlCol="0" anchor="ctr"/>
          <a:lstStyle/>
          <a:p>
            <a:pPr indent="0" marL="0">
              <a:buNone/>
            </a:pPr>
            <a:r>
              <a:rPr lang="en-US" sz="3000" b="1" dirty="0">
                <a:solidFill>
                  <a:srgbClr val="962B7C"/>
                </a:solidFill>
                <a:latin typeface="Alexandria" pitchFamily="34" charset="0"/>
                <a:ea typeface="Alexandria" pitchFamily="34" charset="-122"/>
                <a:cs typeface="Alexandria" pitchFamily="34" charset="-120"/>
              </a:rPr>
              <a:t>“Về đây bốn cánh chim trời”</a:t>
            </a:r>
            <a:endParaRPr lang="en-US" sz="3000" dirty="0"/>
          </a:p>
        </p:txBody>
      </p:sp>
      <p:sp>
        <p:nvSpPr>
          <p:cNvPr id="23" name="Shape 20"/>
          <p:cNvSpPr/>
          <p:nvPr/>
        </p:nvSpPr>
        <p:spPr>
          <a:xfrm>
            <a:off x="548640" y="3337560"/>
            <a:ext cx="3332378" cy="1828800"/>
          </a:xfrm>
          <a:prstGeom prst="roundRect">
            <a:avLst>
              <a:gd name="adj" fmla="val 6000"/>
            </a:avLst>
          </a:prstGeom>
          <a:solidFill>
            <a:srgbClr val="FFE9DE"/>
          </a:solidFill>
          <a:ln w="19050">
            <a:solidFill>
              <a:srgbClr val="FF9259"/>
            </a:solidFill>
            <a:prstDash val="solid"/>
          </a:ln>
        </p:spPr>
      </p:sp>
      <p:sp>
        <p:nvSpPr>
          <p:cNvPr id="24" name="Text 21"/>
          <p:cNvSpPr txBox="1"/>
          <p:nvPr/>
        </p:nvSpPr>
        <p:spPr>
          <a:xfrm>
            <a:off x="822960" y="3337560"/>
            <a:ext cx="2783738" cy="1828800"/>
          </a:xfrm>
          <a:prstGeom prst="rect">
            <a:avLst/>
          </a:prstGeom>
          <a:noFill/>
          <a:ln/>
        </p:spPr>
        <p:txBody>
          <a:bodyPr wrap="square" lIns="0" tIns="0" rIns="0" bIns="0" rtlCol="0" anchor="ctr"/>
          <a:lstStyle/>
          <a:p>
            <a:pPr algn="ctr" indent="0" marL="0">
              <a:spcAft>
                <a:spcPts val="400"/>
              </a:spcAft>
              <a:buNone/>
            </a:pPr>
            <a:r>
              <a:rPr lang="en-US" sz="2000" b="1" dirty="0">
                <a:solidFill>
                  <a:srgbClr val="2A2238"/>
                </a:solidFill>
                <a:latin typeface="Alexandria" pitchFamily="34" charset="0"/>
                <a:ea typeface="Alexandria" pitchFamily="34" charset="-122"/>
                <a:cs typeface="Alexandria" pitchFamily="34" charset="-120"/>
              </a:rPr>
              <a:t>Bất đồng thanh toán</a:t>
            </a:r>
            <a:endParaRPr lang="en-US" sz="2000" dirty="0"/>
          </a:p>
          <a:p>
            <a:pPr algn="ctr" indent="0" marL="0">
              <a:spcAft>
                <a:spcPts val="400"/>
              </a:spcAft>
              <a:buNone/>
            </a:pPr>
            <a:r>
              <a:rPr lang="en-US" sz="1400" dirty="0">
                <a:solidFill>
                  <a:srgbClr val="2A2238"/>
                </a:solidFill>
                <a:latin typeface="Alexandria" pitchFamily="34" charset="0"/>
                <a:ea typeface="Alexandria" pitchFamily="34" charset="-122"/>
                <a:cs typeface="Alexandria" pitchFamily="34" charset="-120"/>
              </a:rPr>
              <a:t>giữa nghệ sĩ và nhà sản xuất</a:t>
            </a:r>
            <a:endParaRPr lang="en-US" sz="2000" dirty="0"/>
          </a:p>
        </p:txBody>
      </p:sp>
      <p:sp>
        <p:nvSpPr>
          <p:cNvPr id="25" name="Shape 22"/>
          <p:cNvSpPr/>
          <p:nvPr/>
        </p:nvSpPr>
        <p:spPr>
          <a:xfrm>
            <a:off x="3954170" y="4251960"/>
            <a:ext cx="402336" cy="914"/>
          </a:xfrm>
          <a:prstGeom prst="line">
            <a:avLst/>
          </a:prstGeom>
          <a:noFill/>
          <a:ln w="38100">
            <a:solidFill>
              <a:srgbClr val="2A2238"/>
            </a:solidFill>
            <a:prstDash val="solid"/>
            <a:tailEnd type="triangle"/>
          </a:ln>
        </p:spPr>
      </p:sp>
      <p:sp>
        <p:nvSpPr>
          <p:cNvPr id="26" name="Shape 23"/>
          <p:cNvSpPr/>
          <p:nvPr/>
        </p:nvSpPr>
        <p:spPr>
          <a:xfrm>
            <a:off x="4429658" y="3337560"/>
            <a:ext cx="3332378" cy="1828800"/>
          </a:xfrm>
          <a:prstGeom prst="roundRect">
            <a:avLst>
              <a:gd name="adj" fmla="val 6000"/>
            </a:avLst>
          </a:prstGeom>
          <a:solidFill>
            <a:srgbClr val="FFE4EA"/>
          </a:solidFill>
          <a:ln w="19050">
            <a:solidFill>
              <a:srgbClr val="FF5178"/>
            </a:solidFill>
            <a:prstDash val="solid"/>
          </a:ln>
        </p:spPr>
      </p:sp>
      <p:sp>
        <p:nvSpPr>
          <p:cNvPr id="27" name="Text 24"/>
          <p:cNvSpPr txBox="1"/>
          <p:nvPr/>
        </p:nvSpPr>
        <p:spPr>
          <a:xfrm>
            <a:off x="4703978" y="3337560"/>
            <a:ext cx="2783738" cy="1828800"/>
          </a:xfrm>
          <a:prstGeom prst="rect">
            <a:avLst/>
          </a:prstGeom>
          <a:noFill/>
          <a:ln/>
        </p:spPr>
        <p:txBody>
          <a:bodyPr wrap="square" lIns="0" tIns="0" rIns="0" bIns="0" rtlCol="0" anchor="ctr"/>
          <a:lstStyle/>
          <a:p>
            <a:pPr algn="ctr" indent="0" marL="0">
              <a:spcAft>
                <a:spcPts val="400"/>
              </a:spcAft>
              <a:buNone/>
            </a:pPr>
            <a:r>
              <a:rPr lang="en-US" sz="2000" b="1" dirty="0">
                <a:solidFill>
                  <a:srgbClr val="2A2238"/>
                </a:solidFill>
                <a:latin typeface="Alexandria" pitchFamily="34" charset="0"/>
                <a:ea typeface="Alexandria" pitchFamily="34" charset="-122"/>
                <a:cs typeface="Alexandria" pitchFamily="34" charset="-120"/>
              </a:rPr>
              <a:t>Không được giải quyết</a:t>
            </a:r>
            <a:endParaRPr lang="en-US" sz="2000" dirty="0"/>
          </a:p>
          <a:p>
            <a:pPr algn="ctr" indent="0" marL="0">
              <a:spcAft>
                <a:spcPts val="400"/>
              </a:spcAft>
              <a:buNone/>
            </a:pPr>
            <a:r>
              <a:rPr lang="en-US" sz="1400" dirty="0">
                <a:solidFill>
                  <a:srgbClr val="2A2238"/>
                </a:solidFill>
                <a:latin typeface="Alexandria" pitchFamily="34" charset="0"/>
                <a:ea typeface="Alexandria" pitchFamily="34" charset="-122"/>
                <a:cs typeface="Alexandria" pitchFamily="34" charset="-120"/>
              </a:rPr>
              <a:t>theo báo chí đưa tin</a:t>
            </a:r>
            <a:endParaRPr lang="en-US" sz="2000" dirty="0"/>
          </a:p>
        </p:txBody>
      </p:sp>
      <p:sp>
        <p:nvSpPr>
          <p:cNvPr id="28" name="Shape 25"/>
          <p:cNvSpPr/>
          <p:nvPr/>
        </p:nvSpPr>
        <p:spPr>
          <a:xfrm>
            <a:off x="7835189" y="4251960"/>
            <a:ext cx="402336" cy="914"/>
          </a:xfrm>
          <a:prstGeom prst="line">
            <a:avLst/>
          </a:prstGeom>
          <a:noFill/>
          <a:ln w="38100">
            <a:solidFill>
              <a:srgbClr val="2A2238"/>
            </a:solidFill>
            <a:prstDash val="solid"/>
            <a:tailEnd type="triangle"/>
          </a:ln>
        </p:spPr>
      </p:sp>
      <p:sp>
        <p:nvSpPr>
          <p:cNvPr id="29" name="Shape 26"/>
          <p:cNvSpPr/>
          <p:nvPr/>
        </p:nvSpPr>
        <p:spPr>
          <a:xfrm>
            <a:off x="8310677" y="3337560"/>
            <a:ext cx="3332378" cy="1828800"/>
          </a:xfrm>
          <a:prstGeom prst="roundRect">
            <a:avLst>
              <a:gd name="adj" fmla="val 6000"/>
            </a:avLst>
          </a:prstGeom>
          <a:solidFill>
            <a:srgbClr val="F1E1EE"/>
          </a:solidFill>
          <a:ln w="19050">
            <a:solidFill>
              <a:srgbClr val="962B7C"/>
            </a:solidFill>
            <a:prstDash val="solid"/>
          </a:ln>
        </p:spPr>
      </p:sp>
      <p:sp>
        <p:nvSpPr>
          <p:cNvPr id="30" name="Text 27"/>
          <p:cNvSpPr txBox="1"/>
          <p:nvPr/>
        </p:nvSpPr>
        <p:spPr>
          <a:xfrm>
            <a:off x="8584997" y="3337560"/>
            <a:ext cx="2783738" cy="1828800"/>
          </a:xfrm>
          <a:prstGeom prst="rect">
            <a:avLst/>
          </a:prstGeom>
          <a:noFill/>
          <a:ln/>
        </p:spPr>
        <p:txBody>
          <a:bodyPr wrap="square" lIns="0" tIns="0" rIns="0" bIns="0" rtlCol="0" anchor="ctr"/>
          <a:lstStyle/>
          <a:p>
            <a:pPr algn="ctr" indent="0" marL="0">
              <a:spcAft>
                <a:spcPts val="400"/>
              </a:spcAft>
              <a:buNone/>
            </a:pPr>
            <a:r>
              <a:rPr lang="en-US" sz="2000" b="1" dirty="0">
                <a:solidFill>
                  <a:srgbClr val="2A2238"/>
                </a:solidFill>
                <a:latin typeface="Alexandria" pitchFamily="34" charset="0"/>
                <a:ea typeface="Alexandria" pitchFamily="34" charset="-122"/>
                <a:cs typeface="Alexandria" pitchFamily="34" charset="-120"/>
              </a:rPr>
              <a:t>Show không diễn ra</a:t>
            </a:r>
            <a:endParaRPr lang="en-US" sz="2000" dirty="0"/>
          </a:p>
          <a:p>
            <a:pPr algn="ctr" indent="0" marL="0">
              <a:spcAft>
                <a:spcPts val="400"/>
              </a:spcAft>
              <a:buNone/>
            </a:pPr>
            <a:r>
              <a:rPr lang="en-US" sz="1400" dirty="0">
                <a:solidFill>
                  <a:srgbClr val="2A2238"/>
                </a:solidFill>
                <a:latin typeface="Alexandria" pitchFamily="34" charset="0"/>
                <a:ea typeface="Alexandria" pitchFamily="34" charset="-122"/>
                <a:cs typeface="Alexandria" pitchFamily="34" charset="-120"/>
              </a:rPr>
              <a:t>mọi bên chịu thiệt</a:t>
            </a:r>
            <a:endParaRPr lang="en-US" sz="2000" dirty="0"/>
          </a:p>
        </p:txBody>
      </p:sp>
      <p:sp>
        <p:nvSpPr>
          <p:cNvPr id="31" name="Text 28"/>
          <p:cNvSpPr txBox="1"/>
          <p:nvPr/>
        </p:nvSpPr>
        <p:spPr>
          <a:xfrm>
            <a:off x="548640" y="5440680"/>
            <a:ext cx="11094415" cy="502920"/>
          </a:xfrm>
          <a:prstGeom prst="rect">
            <a:avLst/>
          </a:prstGeom>
          <a:noFill/>
          <a:ln/>
        </p:spPr>
        <p:txBody>
          <a:bodyPr wrap="square" lIns="0" tIns="0" rIns="0" bIns="0" rtlCol="0" anchor="ctr"/>
          <a:lstStyle/>
          <a:p>
            <a:pPr algn="ctr" indent="0" marL="0">
              <a:buNone/>
            </a:pPr>
            <a:r>
              <a:rPr lang="en-US" sz="1700" i="1" dirty="0">
                <a:solidFill>
                  <a:srgbClr val="6E6878"/>
                </a:solidFill>
                <a:latin typeface="Alexandria" pitchFamily="34" charset="0"/>
                <a:ea typeface="Alexandria" pitchFamily="34" charset="-122"/>
                <a:cs typeface="Alexandria" pitchFamily="34" charset="-120"/>
              </a:rPr>
              <a:t>Ví dụ ngược của functional conflict: niềm tin mất, quan hệ vỡ công khai.</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Trao đổi rời rạc khác trao đổi quan hệ</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D04: Dwyer, Schurr &amp; Oh (1987), Journal of Marketing, 51(2) · D05: McDonald, Millman &amp; Rogers (1997).</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18</a:t>
            </a:r>
            <a:endParaRPr lang="en-US" sz="1000" dirty="0"/>
          </a:p>
        </p:txBody>
      </p:sp>
      <p:sp>
        <p:nvSpPr>
          <p:cNvPr id="20" name="Shape 17"/>
          <p:cNvSpPr/>
          <p:nvPr/>
        </p:nvSpPr>
        <p:spPr>
          <a:xfrm>
            <a:off x="548640" y="1920240"/>
            <a:ext cx="5410048" cy="3017520"/>
          </a:xfrm>
          <a:prstGeom prst="roundRect">
            <a:avLst>
              <a:gd name="adj" fmla="val 3636"/>
            </a:avLst>
          </a:prstGeom>
          <a:solidFill>
            <a:srgbClr val="FFFFFF"/>
          </a:solidFill>
          <a:ln w="12700">
            <a:solidFill>
              <a:srgbClr val="DCD7C8"/>
            </a:solidFill>
            <a:prstDash val="solid"/>
          </a:ln>
        </p:spPr>
      </p:sp>
      <p:sp>
        <p:nvSpPr>
          <p:cNvPr id="21" name="Text 18"/>
          <p:cNvSpPr txBox="1"/>
          <p:nvPr/>
        </p:nvSpPr>
        <p:spPr>
          <a:xfrm>
            <a:off x="868680" y="2057400"/>
            <a:ext cx="4769968" cy="548640"/>
          </a:xfrm>
          <a:prstGeom prst="rect">
            <a:avLst/>
          </a:prstGeom>
          <a:noFill/>
          <a:ln/>
        </p:spPr>
        <p:txBody>
          <a:bodyPr wrap="square" lIns="0" tIns="0" rIns="0" bIns="0" rtlCol="0" anchor="ctr"/>
          <a:lstStyle/>
          <a:p>
            <a:pPr indent="0" marL="0">
              <a:buNone/>
            </a:pPr>
            <a:r>
              <a:rPr lang="en-US" sz="2200" b="1" dirty="0">
                <a:solidFill>
                  <a:srgbClr val="6E6878"/>
                </a:solidFill>
                <a:latin typeface="Alexandria" pitchFamily="34" charset="0"/>
                <a:ea typeface="Alexandria" pitchFamily="34" charset="-122"/>
                <a:cs typeface="Alexandria" pitchFamily="34" charset="-120"/>
              </a:rPr>
              <a:t>Trao đổi rời rạc</a:t>
            </a:r>
            <a:endParaRPr lang="en-US" sz="2200" dirty="0"/>
          </a:p>
        </p:txBody>
      </p:sp>
      <p:sp>
        <p:nvSpPr>
          <p:cNvPr id="22" name="Shape 19"/>
          <p:cNvSpPr/>
          <p:nvPr/>
        </p:nvSpPr>
        <p:spPr>
          <a:xfrm>
            <a:off x="1097280" y="3108960"/>
            <a:ext cx="548640" cy="548640"/>
          </a:xfrm>
          <a:prstGeom prst="ellipse">
            <a:avLst/>
          </a:prstGeom>
          <a:solidFill>
            <a:srgbClr val="F3F0E6"/>
          </a:solidFill>
          <a:ln w="19050">
            <a:solidFill>
              <a:srgbClr val="6E6878"/>
            </a:solidFill>
            <a:prstDash val="solid"/>
          </a:ln>
        </p:spPr>
      </p:sp>
      <p:sp>
        <p:nvSpPr>
          <p:cNvPr id="23" name="Shape 20"/>
          <p:cNvSpPr/>
          <p:nvPr/>
        </p:nvSpPr>
        <p:spPr>
          <a:xfrm>
            <a:off x="2286000" y="3108960"/>
            <a:ext cx="548640" cy="548640"/>
          </a:xfrm>
          <a:prstGeom prst="ellipse">
            <a:avLst/>
          </a:prstGeom>
          <a:solidFill>
            <a:srgbClr val="F3F0E6"/>
          </a:solidFill>
          <a:ln w="19050">
            <a:solidFill>
              <a:srgbClr val="6E6878"/>
            </a:solidFill>
            <a:prstDash val="solid"/>
          </a:ln>
        </p:spPr>
      </p:sp>
      <p:sp>
        <p:nvSpPr>
          <p:cNvPr id="24" name="Shape 21"/>
          <p:cNvSpPr/>
          <p:nvPr/>
        </p:nvSpPr>
        <p:spPr>
          <a:xfrm>
            <a:off x="3474720" y="3108960"/>
            <a:ext cx="548640" cy="548640"/>
          </a:xfrm>
          <a:prstGeom prst="ellipse">
            <a:avLst/>
          </a:prstGeom>
          <a:solidFill>
            <a:srgbClr val="F3F0E6"/>
          </a:solidFill>
          <a:ln w="19050">
            <a:solidFill>
              <a:srgbClr val="6E6878"/>
            </a:solidFill>
            <a:prstDash val="solid"/>
          </a:ln>
        </p:spPr>
      </p:sp>
      <p:sp>
        <p:nvSpPr>
          <p:cNvPr id="25" name="Shape 22"/>
          <p:cNvSpPr/>
          <p:nvPr/>
        </p:nvSpPr>
        <p:spPr>
          <a:xfrm>
            <a:off x="4663440" y="3108960"/>
            <a:ext cx="548640" cy="548640"/>
          </a:xfrm>
          <a:prstGeom prst="ellipse">
            <a:avLst/>
          </a:prstGeom>
          <a:solidFill>
            <a:srgbClr val="F3F0E6"/>
          </a:solidFill>
          <a:ln w="19050">
            <a:solidFill>
              <a:srgbClr val="6E6878"/>
            </a:solidFill>
            <a:prstDash val="solid"/>
          </a:ln>
        </p:spPr>
      </p:sp>
      <p:sp>
        <p:nvSpPr>
          <p:cNvPr id="26" name="Text 23"/>
          <p:cNvSpPr txBox="1"/>
          <p:nvPr/>
        </p:nvSpPr>
        <p:spPr>
          <a:xfrm>
            <a:off x="868680" y="4023360"/>
            <a:ext cx="4769968" cy="548640"/>
          </a:xfrm>
          <a:prstGeom prst="rect">
            <a:avLst/>
          </a:prstGeom>
          <a:noFill/>
          <a:ln/>
        </p:spPr>
        <p:txBody>
          <a:bodyPr wrap="square" lIns="0" tIns="0" rIns="0" bIns="0" rtlCol="0" anchor="ctr"/>
          <a:lstStyle/>
          <a:p>
            <a:pPr indent="0" marL="0">
              <a:buNone/>
            </a:pPr>
            <a:r>
              <a:rPr lang="en-US" sz="1500" dirty="0">
                <a:solidFill>
                  <a:srgbClr val="6E6878"/>
                </a:solidFill>
                <a:latin typeface="Alexandria" pitchFamily="34" charset="0"/>
                <a:ea typeface="Alexandria" pitchFamily="34" charset="-122"/>
                <a:cs typeface="Alexandria" pitchFamily="34" charset="-120"/>
              </a:rPr>
              <a:t>mỗi lần mua là một sự kiện riêng</a:t>
            </a:r>
            <a:endParaRPr lang="en-US" sz="1500" dirty="0"/>
          </a:p>
        </p:txBody>
      </p:sp>
      <p:sp>
        <p:nvSpPr>
          <p:cNvPr id="27" name="Shape 24"/>
          <p:cNvSpPr/>
          <p:nvPr/>
        </p:nvSpPr>
        <p:spPr>
          <a:xfrm>
            <a:off x="6233008" y="1920240"/>
            <a:ext cx="5410048" cy="3017520"/>
          </a:xfrm>
          <a:prstGeom prst="roundRect">
            <a:avLst>
              <a:gd name="adj" fmla="val 3636"/>
            </a:avLst>
          </a:prstGeom>
          <a:solidFill>
            <a:srgbClr val="FFE4EA"/>
          </a:solidFill>
          <a:ln w="19050">
            <a:solidFill>
              <a:srgbClr val="FF5178"/>
            </a:solidFill>
            <a:prstDash val="solid"/>
          </a:ln>
        </p:spPr>
      </p:sp>
      <p:sp>
        <p:nvSpPr>
          <p:cNvPr id="28" name="Text 25"/>
          <p:cNvSpPr txBox="1"/>
          <p:nvPr/>
        </p:nvSpPr>
        <p:spPr>
          <a:xfrm>
            <a:off x="6553048" y="2057400"/>
            <a:ext cx="4769968" cy="548640"/>
          </a:xfrm>
          <a:prstGeom prst="rect">
            <a:avLst/>
          </a:prstGeom>
          <a:noFill/>
          <a:ln/>
        </p:spPr>
        <p:txBody>
          <a:bodyPr wrap="square" lIns="0" tIns="0" rIns="0" bIns="0" rtlCol="0" anchor="ctr"/>
          <a:lstStyle/>
          <a:p>
            <a:pPr indent="0" marL="0">
              <a:buNone/>
            </a:pPr>
            <a:r>
              <a:rPr lang="en-US" sz="2200" b="1" dirty="0">
                <a:solidFill>
                  <a:srgbClr val="E03A62"/>
                </a:solidFill>
                <a:latin typeface="Alexandria" pitchFamily="34" charset="0"/>
                <a:ea typeface="Alexandria" pitchFamily="34" charset="-122"/>
                <a:cs typeface="Alexandria" pitchFamily="34" charset="-120"/>
              </a:rPr>
              <a:t>Trao đổi quan hệ</a:t>
            </a:r>
            <a:endParaRPr lang="en-US" sz="2200" dirty="0"/>
          </a:p>
        </p:txBody>
      </p:sp>
      <p:sp>
        <p:nvSpPr>
          <p:cNvPr id="29" name="Shape 26"/>
          <p:cNvSpPr/>
          <p:nvPr/>
        </p:nvSpPr>
        <p:spPr>
          <a:xfrm>
            <a:off x="7055968" y="3383280"/>
            <a:ext cx="3566160" cy="914"/>
          </a:xfrm>
          <a:prstGeom prst="line">
            <a:avLst/>
          </a:prstGeom>
          <a:noFill/>
          <a:ln w="50800">
            <a:solidFill>
              <a:srgbClr val="FF5178"/>
            </a:solidFill>
            <a:prstDash val="solid"/>
          </a:ln>
        </p:spPr>
      </p:sp>
      <p:sp>
        <p:nvSpPr>
          <p:cNvPr id="30" name="Shape 27"/>
          <p:cNvSpPr/>
          <p:nvPr/>
        </p:nvSpPr>
        <p:spPr>
          <a:xfrm>
            <a:off x="6781648" y="3108960"/>
            <a:ext cx="548640" cy="548640"/>
          </a:xfrm>
          <a:prstGeom prst="ellipse">
            <a:avLst/>
          </a:prstGeom>
          <a:solidFill>
            <a:srgbClr val="FF5178"/>
          </a:solidFill>
          <a:ln w="19050">
            <a:solidFill>
              <a:srgbClr val="FFFFFF"/>
            </a:solidFill>
            <a:prstDash val="solid"/>
          </a:ln>
        </p:spPr>
      </p:sp>
      <p:sp>
        <p:nvSpPr>
          <p:cNvPr id="31" name="Shape 28"/>
          <p:cNvSpPr/>
          <p:nvPr/>
        </p:nvSpPr>
        <p:spPr>
          <a:xfrm>
            <a:off x="7970368" y="3108960"/>
            <a:ext cx="548640" cy="548640"/>
          </a:xfrm>
          <a:prstGeom prst="ellipse">
            <a:avLst/>
          </a:prstGeom>
          <a:solidFill>
            <a:srgbClr val="FF5178"/>
          </a:solidFill>
          <a:ln w="19050">
            <a:solidFill>
              <a:srgbClr val="FFFFFF"/>
            </a:solidFill>
            <a:prstDash val="solid"/>
          </a:ln>
        </p:spPr>
      </p:sp>
      <p:sp>
        <p:nvSpPr>
          <p:cNvPr id="32" name="Shape 29"/>
          <p:cNvSpPr/>
          <p:nvPr/>
        </p:nvSpPr>
        <p:spPr>
          <a:xfrm>
            <a:off x="9159088" y="3108960"/>
            <a:ext cx="548640" cy="548640"/>
          </a:xfrm>
          <a:prstGeom prst="ellipse">
            <a:avLst/>
          </a:prstGeom>
          <a:solidFill>
            <a:srgbClr val="FF5178"/>
          </a:solidFill>
          <a:ln w="19050">
            <a:solidFill>
              <a:srgbClr val="FFFFFF"/>
            </a:solidFill>
            <a:prstDash val="solid"/>
          </a:ln>
        </p:spPr>
      </p:sp>
      <p:sp>
        <p:nvSpPr>
          <p:cNvPr id="33" name="Shape 30"/>
          <p:cNvSpPr/>
          <p:nvPr/>
        </p:nvSpPr>
        <p:spPr>
          <a:xfrm>
            <a:off x="10347808" y="3108960"/>
            <a:ext cx="548640" cy="548640"/>
          </a:xfrm>
          <a:prstGeom prst="ellipse">
            <a:avLst/>
          </a:prstGeom>
          <a:solidFill>
            <a:srgbClr val="FF5178"/>
          </a:solidFill>
          <a:ln w="19050">
            <a:solidFill>
              <a:srgbClr val="FFFFFF"/>
            </a:solidFill>
            <a:prstDash val="solid"/>
          </a:ln>
        </p:spPr>
      </p:sp>
      <p:sp>
        <p:nvSpPr>
          <p:cNvPr id="34" name="Text 31"/>
          <p:cNvSpPr txBox="1"/>
          <p:nvPr/>
        </p:nvSpPr>
        <p:spPr>
          <a:xfrm>
            <a:off x="6553048" y="4023360"/>
            <a:ext cx="4769968" cy="73152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các lần trao đổi nối thành một quan hệ liên tục, phát triển qua giai đoạn</a:t>
            </a:r>
            <a:endParaRPr lang="en-US" sz="1500" dirty="0"/>
          </a:p>
        </p:txBody>
      </p:sp>
      <p:sp>
        <p:nvSpPr>
          <p:cNvPr id="35" name="Shape 32"/>
          <p:cNvSpPr/>
          <p:nvPr/>
        </p:nvSpPr>
        <p:spPr>
          <a:xfrm>
            <a:off x="548640" y="5212080"/>
            <a:ext cx="11094415" cy="777240"/>
          </a:xfrm>
          <a:prstGeom prst="roundRect">
            <a:avLst>
              <a:gd name="adj" fmla="val 14118"/>
            </a:avLst>
          </a:prstGeom>
          <a:solidFill>
            <a:srgbClr val="FFF3C4"/>
          </a:solidFill>
          <a:ln w="12700">
            <a:solidFill>
              <a:srgbClr val="FFD23B"/>
            </a:solidFill>
            <a:prstDash val="solid"/>
          </a:ln>
        </p:spPr>
      </p:sp>
      <p:sp>
        <p:nvSpPr>
          <p:cNvPr id="36" name="Text 33"/>
          <p:cNvSpPr txBox="1"/>
          <p:nvPr/>
        </p:nvSpPr>
        <p:spPr>
          <a:xfrm>
            <a:off x="868680" y="5212080"/>
            <a:ext cx="10454335" cy="77724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Các giai đoạn phát triển quan hệ key account: McDonald et al. (1997) — học tiếp ở Buổi 8.</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Với agency, đi từ giao dịch sang đối tác thay đổi năm điều</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19</a:t>
            </a:r>
            <a:endParaRPr lang="en-US" sz="1000" dirty="0"/>
          </a:p>
        </p:txBody>
      </p:sp>
      <p:sp>
        <p:nvSpPr>
          <p:cNvPr id="20" name="Shape 17"/>
          <p:cNvSpPr/>
          <p:nvPr/>
        </p:nvSpPr>
        <p:spPr>
          <a:xfrm>
            <a:off x="548640" y="1783080"/>
            <a:ext cx="5455768" cy="502920"/>
          </a:xfrm>
          <a:prstGeom prst="roundRect">
            <a:avLst>
              <a:gd name="adj" fmla="val 21818"/>
            </a:avLst>
          </a:prstGeom>
          <a:solidFill>
            <a:srgbClr val="6E6878"/>
          </a:solidFill>
          <a:ln w="12700">
            <a:solidFill>
              <a:srgbClr val="6E6878"/>
            </a:solidFill>
            <a:prstDash val="solid"/>
          </a:ln>
        </p:spPr>
      </p:sp>
      <p:sp>
        <p:nvSpPr>
          <p:cNvPr id="21" name="Text 18"/>
          <p:cNvSpPr txBox="1"/>
          <p:nvPr/>
        </p:nvSpPr>
        <p:spPr>
          <a:xfrm>
            <a:off x="713232" y="1783080"/>
            <a:ext cx="5126584"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Giao dịch</a:t>
            </a:r>
            <a:endParaRPr lang="en-US" sz="1500" dirty="0"/>
          </a:p>
        </p:txBody>
      </p:sp>
      <p:sp>
        <p:nvSpPr>
          <p:cNvPr id="22" name="Shape 19"/>
          <p:cNvSpPr/>
          <p:nvPr/>
        </p:nvSpPr>
        <p:spPr>
          <a:xfrm>
            <a:off x="6095848" y="1783080"/>
            <a:ext cx="5455768" cy="502920"/>
          </a:xfrm>
          <a:prstGeom prst="roundRect">
            <a:avLst>
              <a:gd name="adj" fmla="val 21818"/>
            </a:avLst>
          </a:prstGeom>
          <a:solidFill>
            <a:srgbClr val="FF5178"/>
          </a:solidFill>
          <a:ln w="12700">
            <a:solidFill>
              <a:srgbClr val="FF5178"/>
            </a:solidFill>
            <a:prstDash val="solid"/>
          </a:ln>
        </p:spPr>
      </p:sp>
      <p:sp>
        <p:nvSpPr>
          <p:cNvPr id="23" name="Text 20"/>
          <p:cNvSpPr txBox="1"/>
          <p:nvPr/>
        </p:nvSpPr>
        <p:spPr>
          <a:xfrm>
            <a:off x="6260440" y="1783080"/>
            <a:ext cx="5126584"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Quan hệ đối tác</a:t>
            </a:r>
            <a:endParaRPr lang="en-US" sz="1500" dirty="0"/>
          </a:p>
        </p:txBody>
      </p:sp>
      <p:sp>
        <p:nvSpPr>
          <p:cNvPr id="24" name="Shape 21"/>
          <p:cNvSpPr/>
          <p:nvPr/>
        </p:nvSpPr>
        <p:spPr>
          <a:xfrm>
            <a:off x="548640" y="2395728"/>
            <a:ext cx="11002975" cy="658368"/>
          </a:xfrm>
          <a:prstGeom prst="rect">
            <a:avLst/>
          </a:prstGeom>
          <a:solidFill>
            <a:srgbClr val="F3F0E6"/>
          </a:solidFill>
          <a:ln w="12700">
            <a:solidFill>
              <a:srgbClr val="F3F0E6"/>
            </a:solidFill>
            <a:prstDash val="solid"/>
          </a:ln>
        </p:spPr>
      </p:sp>
      <p:sp>
        <p:nvSpPr>
          <p:cNvPr id="25" name="Text 22"/>
          <p:cNvSpPr txBox="1"/>
          <p:nvPr/>
        </p:nvSpPr>
        <p:spPr>
          <a:xfrm>
            <a:off x="713232" y="2395728"/>
            <a:ext cx="5218024" cy="658368"/>
          </a:xfrm>
          <a:prstGeom prst="rect">
            <a:avLst/>
          </a:prstGeom>
          <a:noFill/>
          <a:ln/>
        </p:spPr>
        <p:txBody>
          <a:bodyPr wrap="square" lIns="0" tIns="0" rIns="0" bIns="0" rtlCol="0" anchor="ctr"/>
          <a:lstStyle/>
          <a:p>
            <a:pPr indent="0" marL="0">
              <a:buNone/>
            </a:pPr>
            <a:r>
              <a:rPr lang="en-US" sz="1700" dirty="0">
                <a:solidFill>
                  <a:srgbClr val="6E6878"/>
                </a:solidFill>
                <a:latin typeface="Alexandria" pitchFamily="34" charset="0"/>
                <a:ea typeface="Alexandria" pitchFamily="34" charset="-122"/>
                <a:cs typeface="Alexandria" pitchFamily="34" charset="-120"/>
              </a:rPr>
              <a:t>Đấu thầu từng sự kiện</a:t>
            </a:r>
            <a:endParaRPr lang="en-US" sz="1700" dirty="0"/>
          </a:p>
        </p:txBody>
      </p:sp>
      <p:sp>
        <p:nvSpPr>
          <p:cNvPr id="26" name="Text 23"/>
          <p:cNvSpPr txBox="1"/>
          <p:nvPr/>
        </p:nvSpPr>
        <p:spPr>
          <a:xfrm>
            <a:off x="6260440" y="2395728"/>
            <a:ext cx="5218024" cy="658368"/>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Hợp đồng khung nhiều năm</a:t>
            </a:r>
            <a:endParaRPr lang="en-US" sz="1700" dirty="0"/>
          </a:p>
        </p:txBody>
      </p:sp>
      <p:sp>
        <p:nvSpPr>
          <p:cNvPr id="27" name="Text 24"/>
          <p:cNvSpPr txBox="1"/>
          <p:nvPr/>
        </p:nvSpPr>
        <p:spPr>
          <a:xfrm>
            <a:off x="713232" y="3108960"/>
            <a:ext cx="5218024" cy="658368"/>
          </a:xfrm>
          <a:prstGeom prst="rect">
            <a:avLst/>
          </a:prstGeom>
          <a:noFill/>
          <a:ln/>
        </p:spPr>
        <p:txBody>
          <a:bodyPr wrap="square" lIns="0" tIns="0" rIns="0" bIns="0" rtlCol="0" anchor="ctr"/>
          <a:lstStyle/>
          <a:p>
            <a:pPr indent="0" marL="0">
              <a:buNone/>
            </a:pPr>
            <a:r>
              <a:rPr lang="en-US" sz="1700" dirty="0">
                <a:solidFill>
                  <a:srgbClr val="6E6878"/>
                </a:solidFill>
                <a:latin typeface="Alexandria" pitchFamily="34" charset="0"/>
                <a:ea typeface="Alexandria" pitchFamily="34" charset="-122"/>
                <a:cs typeface="Alexandria" pitchFamily="34" charset="-120"/>
              </a:rPr>
              <a:t>Brief → đề xuất → làm → xong</a:t>
            </a:r>
            <a:endParaRPr lang="en-US" sz="1700" dirty="0"/>
          </a:p>
        </p:txBody>
      </p:sp>
      <p:sp>
        <p:nvSpPr>
          <p:cNvPr id="28" name="Text 25"/>
          <p:cNvSpPr txBox="1"/>
          <p:nvPr/>
        </p:nvSpPr>
        <p:spPr>
          <a:xfrm>
            <a:off x="6260440" y="3108960"/>
            <a:ext cx="5218024" cy="658368"/>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Cùng lập kế hoạch năm, đánh giá chung</a:t>
            </a:r>
            <a:endParaRPr lang="en-US" sz="1700" dirty="0"/>
          </a:p>
        </p:txBody>
      </p:sp>
      <p:sp>
        <p:nvSpPr>
          <p:cNvPr id="29" name="Shape 26"/>
          <p:cNvSpPr/>
          <p:nvPr/>
        </p:nvSpPr>
        <p:spPr>
          <a:xfrm>
            <a:off x="548640" y="3822192"/>
            <a:ext cx="11002975" cy="658368"/>
          </a:xfrm>
          <a:prstGeom prst="rect">
            <a:avLst/>
          </a:prstGeom>
          <a:solidFill>
            <a:srgbClr val="F3F0E6"/>
          </a:solidFill>
          <a:ln w="12700">
            <a:solidFill>
              <a:srgbClr val="F3F0E6"/>
            </a:solidFill>
            <a:prstDash val="solid"/>
          </a:ln>
        </p:spPr>
      </p:sp>
      <p:sp>
        <p:nvSpPr>
          <p:cNvPr id="30" name="Text 27"/>
          <p:cNvSpPr txBox="1"/>
          <p:nvPr/>
        </p:nvSpPr>
        <p:spPr>
          <a:xfrm>
            <a:off x="713232" y="3822192"/>
            <a:ext cx="5218024" cy="658368"/>
          </a:xfrm>
          <a:prstGeom prst="rect">
            <a:avLst/>
          </a:prstGeom>
          <a:noFill/>
          <a:ln/>
        </p:spPr>
        <p:txBody>
          <a:bodyPr wrap="square" lIns="0" tIns="0" rIns="0" bIns="0" rtlCol="0" anchor="ctr"/>
          <a:lstStyle/>
          <a:p>
            <a:pPr indent="0" marL="0">
              <a:buNone/>
            </a:pPr>
            <a:r>
              <a:rPr lang="en-US" sz="1700" dirty="0">
                <a:solidFill>
                  <a:srgbClr val="6E6878"/>
                </a:solidFill>
                <a:latin typeface="Alexandria" pitchFamily="34" charset="0"/>
                <a:ea typeface="Alexandria" pitchFamily="34" charset="-122"/>
                <a:cs typeface="Alexandria" pitchFamily="34" charset="-120"/>
              </a:rPr>
              <a:t>Một đầu mối</a:t>
            </a:r>
            <a:endParaRPr lang="en-US" sz="1700" dirty="0"/>
          </a:p>
        </p:txBody>
      </p:sp>
      <p:sp>
        <p:nvSpPr>
          <p:cNvPr id="31" name="Text 28"/>
          <p:cNvSpPr txBox="1"/>
          <p:nvPr/>
        </p:nvSpPr>
        <p:spPr>
          <a:xfrm>
            <a:off x="6260440" y="3822192"/>
            <a:ext cx="5218024" cy="658368"/>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Nhiều đầu mối nhiều cấp (Buổi 8)</a:t>
            </a:r>
            <a:endParaRPr lang="en-US" sz="1700" dirty="0"/>
          </a:p>
        </p:txBody>
      </p:sp>
      <p:sp>
        <p:nvSpPr>
          <p:cNvPr id="32" name="Text 29"/>
          <p:cNvSpPr txBox="1"/>
          <p:nvPr/>
        </p:nvSpPr>
        <p:spPr>
          <a:xfrm>
            <a:off x="713232" y="4535424"/>
            <a:ext cx="5218024" cy="658368"/>
          </a:xfrm>
          <a:prstGeom prst="rect">
            <a:avLst/>
          </a:prstGeom>
          <a:noFill/>
          <a:ln/>
        </p:spPr>
        <p:txBody>
          <a:bodyPr wrap="square" lIns="0" tIns="0" rIns="0" bIns="0" rtlCol="0" anchor="ctr"/>
          <a:lstStyle/>
          <a:p>
            <a:pPr indent="0" marL="0">
              <a:buNone/>
            </a:pPr>
            <a:r>
              <a:rPr lang="en-US" sz="1700" dirty="0">
                <a:solidFill>
                  <a:srgbClr val="6E6878"/>
                </a:solidFill>
                <a:latin typeface="Alexandria" pitchFamily="34" charset="0"/>
                <a:ea typeface="Alexandria" pitchFamily="34" charset="-122"/>
                <a:cs typeface="Alexandria" pitchFamily="34" charset="-120"/>
              </a:rPr>
              <a:t>Thông tin tối thiểu</a:t>
            </a:r>
            <a:endParaRPr lang="en-US" sz="1700" dirty="0"/>
          </a:p>
        </p:txBody>
      </p:sp>
      <p:sp>
        <p:nvSpPr>
          <p:cNvPr id="33" name="Text 30"/>
          <p:cNvSpPr txBox="1"/>
          <p:nvPr/>
        </p:nvSpPr>
        <p:spPr>
          <a:xfrm>
            <a:off x="6260440" y="4535424"/>
            <a:ext cx="5218024" cy="658368"/>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Chia sẻ mục tiêu, dữ liệu</a:t>
            </a:r>
            <a:endParaRPr lang="en-US" sz="1700" dirty="0"/>
          </a:p>
        </p:txBody>
      </p:sp>
      <p:sp>
        <p:nvSpPr>
          <p:cNvPr id="34" name="Shape 31"/>
          <p:cNvSpPr/>
          <p:nvPr/>
        </p:nvSpPr>
        <p:spPr>
          <a:xfrm>
            <a:off x="548640" y="5248656"/>
            <a:ext cx="11002975" cy="658368"/>
          </a:xfrm>
          <a:prstGeom prst="rect">
            <a:avLst/>
          </a:prstGeom>
          <a:solidFill>
            <a:srgbClr val="F3F0E6"/>
          </a:solidFill>
          <a:ln w="12700">
            <a:solidFill>
              <a:srgbClr val="F3F0E6"/>
            </a:solidFill>
            <a:prstDash val="solid"/>
          </a:ln>
        </p:spPr>
      </p:sp>
      <p:sp>
        <p:nvSpPr>
          <p:cNvPr id="35" name="Text 32"/>
          <p:cNvSpPr txBox="1"/>
          <p:nvPr/>
        </p:nvSpPr>
        <p:spPr>
          <a:xfrm>
            <a:off x="713232" y="5248656"/>
            <a:ext cx="5218024" cy="658368"/>
          </a:xfrm>
          <a:prstGeom prst="rect">
            <a:avLst/>
          </a:prstGeom>
          <a:noFill/>
          <a:ln/>
        </p:spPr>
        <p:txBody>
          <a:bodyPr wrap="square" lIns="0" tIns="0" rIns="0" bIns="0" rtlCol="0" anchor="ctr"/>
          <a:lstStyle/>
          <a:p>
            <a:pPr indent="0" marL="0">
              <a:buNone/>
            </a:pPr>
            <a:r>
              <a:rPr lang="en-US" sz="1700" dirty="0">
                <a:solidFill>
                  <a:srgbClr val="6E6878"/>
                </a:solidFill>
                <a:latin typeface="Alexandria" pitchFamily="34" charset="0"/>
                <a:ea typeface="Alexandria" pitchFamily="34" charset="-122"/>
                <a:cs typeface="Alexandria" pitchFamily="34" charset="-120"/>
              </a:rPr>
              <a:t>Đo bằng “sự kiện suôn sẻ”</a:t>
            </a:r>
            <a:endParaRPr lang="en-US" sz="1700" dirty="0"/>
          </a:p>
        </p:txBody>
      </p:sp>
      <p:sp>
        <p:nvSpPr>
          <p:cNvPr id="36" name="Text 33"/>
          <p:cNvSpPr txBox="1"/>
          <p:nvPr/>
        </p:nvSpPr>
        <p:spPr>
          <a:xfrm>
            <a:off x="6260440" y="5248656"/>
            <a:ext cx="5218024" cy="658368"/>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Đo bằng chất lượng quan hệ + kết quả kinh doanh</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Thời gian quan hệ tự nó tạo giá trị</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D06 → T18: McMillan &amp; Woodruff (1999), The Quarterly Journal of Economics, 114(4).</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20</a:t>
            </a:r>
            <a:endParaRPr lang="en-US" sz="1000" dirty="0"/>
          </a:p>
        </p:txBody>
      </p:sp>
      <p:sp>
        <p:nvSpPr>
          <p:cNvPr id="20" name="Shape 17"/>
          <p:cNvSpPr/>
          <p:nvPr/>
        </p:nvSpPr>
        <p:spPr>
          <a:xfrm>
            <a:off x="548640" y="1828800"/>
            <a:ext cx="2926080" cy="411480"/>
          </a:xfrm>
          <a:prstGeom prst="roundRect">
            <a:avLst>
              <a:gd name="adj" fmla="val 50000"/>
            </a:avLst>
          </a:prstGeom>
          <a:solidFill>
            <a:srgbClr val="FFD23B"/>
          </a:solidFill>
          <a:ln w="12700">
            <a:solidFill>
              <a:srgbClr val="FFD23B"/>
            </a:solidFill>
            <a:prstDash val="solid"/>
          </a:ln>
        </p:spPr>
      </p:sp>
      <p:sp>
        <p:nvSpPr>
          <p:cNvPr id="21" name="Text 18"/>
          <p:cNvSpPr txBox="1"/>
          <p:nvPr/>
        </p:nvSpPr>
        <p:spPr>
          <a:xfrm>
            <a:off x="621792" y="1828800"/>
            <a:ext cx="2779776" cy="41148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BẰNG CHỨNG LỊCH SỬ</a:t>
            </a:r>
            <a:endParaRPr lang="en-US" sz="1100" dirty="0"/>
          </a:p>
        </p:txBody>
      </p:sp>
      <p:sp>
        <p:nvSpPr>
          <p:cNvPr id="22" name="Shape 19"/>
          <p:cNvSpPr/>
          <p:nvPr/>
        </p:nvSpPr>
        <p:spPr>
          <a:xfrm>
            <a:off x="1280160" y="5577840"/>
            <a:ext cx="5486400" cy="914"/>
          </a:xfrm>
          <a:prstGeom prst="line">
            <a:avLst/>
          </a:prstGeom>
          <a:noFill/>
          <a:ln w="19050">
            <a:solidFill>
              <a:srgbClr val="6E6878"/>
            </a:solidFill>
            <a:prstDash val="solid"/>
            <a:tailEnd type="triangle"/>
          </a:ln>
        </p:spPr>
      </p:sp>
      <p:sp>
        <p:nvSpPr>
          <p:cNvPr id="23" name="Shape 20"/>
          <p:cNvSpPr/>
          <p:nvPr/>
        </p:nvSpPr>
        <p:spPr>
          <a:xfrm flipV="1">
            <a:off x="1280160" y="2560320"/>
            <a:ext cx="914" cy="3017520"/>
          </a:xfrm>
          <a:prstGeom prst="line">
            <a:avLst/>
          </a:prstGeom>
          <a:noFill/>
          <a:ln w="19050">
            <a:solidFill>
              <a:srgbClr val="6E6878"/>
            </a:solidFill>
            <a:prstDash val="solid"/>
            <a:tailEnd type="triangle"/>
          </a:ln>
        </p:spPr>
      </p:sp>
      <p:sp>
        <p:nvSpPr>
          <p:cNvPr id="24" name="Text 21"/>
          <p:cNvSpPr txBox="1"/>
          <p:nvPr/>
        </p:nvSpPr>
        <p:spPr>
          <a:xfrm>
            <a:off x="1280160" y="5623560"/>
            <a:ext cx="5486400" cy="320040"/>
          </a:xfrm>
          <a:prstGeom prst="rect">
            <a:avLst/>
          </a:prstGeom>
          <a:noFill/>
          <a:ln/>
        </p:spPr>
        <p:txBody>
          <a:bodyPr wrap="square" lIns="0" tIns="0" rIns="0" bIns="0" rtlCol="0" anchor="ctr"/>
          <a:lstStyle/>
          <a:p>
            <a:pPr algn="ctr" indent="0" marL="0">
              <a:buNone/>
            </a:pPr>
            <a:r>
              <a:rPr lang="en-US" sz="1200" dirty="0">
                <a:solidFill>
                  <a:srgbClr val="6E6878"/>
                </a:solidFill>
                <a:latin typeface="Alexandria" pitchFamily="34" charset="0"/>
                <a:ea typeface="Alexandria" pitchFamily="34" charset="-122"/>
                <a:cs typeface="Alexandria" pitchFamily="34" charset="-120"/>
              </a:rPr>
              <a:t>Thời gian quan hệ →</a:t>
            </a:r>
            <a:endParaRPr lang="en-US" sz="1200" dirty="0"/>
          </a:p>
        </p:txBody>
      </p:sp>
      <p:sp>
        <p:nvSpPr>
          <p:cNvPr id="25" name="Text 22"/>
          <p:cNvSpPr txBox="1"/>
          <p:nvPr/>
        </p:nvSpPr>
        <p:spPr>
          <a:xfrm rot="16200000">
            <a:off x="-548640" y="3886200"/>
            <a:ext cx="3017520" cy="320040"/>
          </a:xfrm>
          <a:prstGeom prst="rect">
            <a:avLst/>
          </a:prstGeom>
          <a:noFill/>
          <a:ln/>
        </p:spPr>
        <p:txBody>
          <a:bodyPr wrap="square" lIns="0" tIns="0" rIns="0" bIns="0" rtlCol="0" anchor="ctr"/>
          <a:lstStyle/>
          <a:p>
            <a:pPr algn="ctr" indent="0" marL="0">
              <a:buNone/>
            </a:pPr>
            <a:r>
              <a:rPr lang="en-US" sz="1200" dirty="0">
                <a:solidFill>
                  <a:srgbClr val="6E6878"/>
                </a:solidFill>
                <a:latin typeface="Alexandria" pitchFamily="34" charset="0"/>
                <a:ea typeface="Alexandria" pitchFamily="34" charset="-122"/>
                <a:cs typeface="Alexandria" pitchFamily="34" charset="-120"/>
              </a:rPr>
              <a:t>Tín dụng thương mại →</a:t>
            </a:r>
            <a:endParaRPr lang="en-US" sz="1200" dirty="0"/>
          </a:p>
        </p:txBody>
      </p:sp>
      <p:sp>
        <p:nvSpPr>
          <p:cNvPr id="26" name="Shape 23"/>
          <p:cNvSpPr/>
          <p:nvPr/>
        </p:nvSpPr>
        <p:spPr>
          <a:xfrm>
            <a:off x="1645920" y="4754880"/>
            <a:ext cx="685800" cy="822960"/>
          </a:xfrm>
          <a:prstGeom prst="rect">
            <a:avLst/>
          </a:prstGeom>
          <a:solidFill>
            <a:srgbClr val="FFE4EA"/>
          </a:solidFill>
          <a:ln w="12700">
            <a:solidFill>
              <a:srgbClr val="FFFFFF"/>
            </a:solidFill>
            <a:prstDash val="solid"/>
          </a:ln>
        </p:spPr>
      </p:sp>
      <p:sp>
        <p:nvSpPr>
          <p:cNvPr id="27" name="Shape 24"/>
          <p:cNvSpPr/>
          <p:nvPr/>
        </p:nvSpPr>
        <p:spPr>
          <a:xfrm>
            <a:off x="2651760" y="4297680"/>
            <a:ext cx="685800" cy="1280160"/>
          </a:xfrm>
          <a:prstGeom prst="rect">
            <a:avLst/>
          </a:prstGeom>
          <a:solidFill>
            <a:srgbClr val="FFE4EA"/>
          </a:solidFill>
          <a:ln w="12700">
            <a:solidFill>
              <a:srgbClr val="FFFFFF"/>
            </a:solidFill>
            <a:prstDash val="solid"/>
          </a:ln>
        </p:spPr>
      </p:sp>
      <p:sp>
        <p:nvSpPr>
          <p:cNvPr id="28" name="Shape 25"/>
          <p:cNvSpPr/>
          <p:nvPr/>
        </p:nvSpPr>
        <p:spPr>
          <a:xfrm>
            <a:off x="3657600" y="3931920"/>
            <a:ext cx="685800" cy="1645920"/>
          </a:xfrm>
          <a:prstGeom prst="rect">
            <a:avLst/>
          </a:prstGeom>
          <a:solidFill>
            <a:srgbClr val="FF5178"/>
          </a:solidFill>
          <a:ln w="12700">
            <a:solidFill>
              <a:srgbClr val="FFFFFF"/>
            </a:solidFill>
            <a:prstDash val="solid"/>
          </a:ln>
        </p:spPr>
      </p:sp>
      <p:sp>
        <p:nvSpPr>
          <p:cNvPr id="29" name="Shape 26"/>
          <p:cNvSpPr/>
          <p:nvPr/>
        </p:nvSpPr>
        <p:spPr>
          <a:xfrm>
            <a:off x="4663440" y="3383280"/>
            <a:ext cx="685800" cy="2194560"/>
          </a:xfrm>
          <a:prstGeom prst="rect">
            <a:avLst/>
          </a:prstGeom>
          <a:solidFill>
            <a:srgbClr val="FF5178"/>
          </a:solidFill>
          <a:ln w="12700">
            <a:solidFill>
              <a:srgbClr val="FFFFFF"/>
            </a:solidFill>
            <a:prstDash val="solid"/>
          </a:ln>
        </p:spPr>
      </p:sp>
      <p:sp>
        <p:nvSpPr>
          <p:cNvPr id="30" name="Shape 27"/>
          <p:cNvSpPr/>
          <p:nvPr/>
        </p:nvSpPr>
        <p:spPr>
          <a:xfrm>
            <a:off x="5669280" y="3017520"/>
            <a:ext cx="685800" cy="2560320"/>
          </a:xfrm>
          <a:prstGeom prst="rect">
            <a:avLst/>
          </a:prstGeom>
          <a:solidFill>
            <a:srgbClr val="962B7C"/>
          </a:solidFill>
          <a:ln w="12700">
            <a:solidFill>
              <a:srgbClr val="FFFFFF"/>
            </a:solidFill>
            <a:prstDash val="solid"/>
          </a:ln>
        </p:spPr>
      </p:sp>
      <p:sp>
        <p:nvSpPr>
          <p:cNvPr id="31" name="Shape 28"/>
          <p:cNvSpPr/>
          <p:nvPr/>
        </p:nvSpPr>
        <p:spPr>
          <a:xfrm>
            <a:off x="7406640" y="2377440"/>
            <a:ext cx="4236415" cy="2011680"/>
          </a:xfrm>
          <a:prstGeom prst="roundRect">
            <a:avLst>
              <a:gd name="adj" fmla="val 5455"/>
            </a:avLst>
          </a:prstGeom>
          <a:solidFill>
            <a:srgbClr val="F1E1EE"/>
          </a:solidFill>
          <a:ln w="12700">
            <a:solidFill>
              <a:srgbClr val="962B7C"/>
            </a:solidFill>
            <a:prstDash val="solid"/>
          </a:ln>
        </p:spPr>
      </p:sp>
      <p:sp>
        <p:nvSpPr>
          <p:cNvPr id="32" name="Text 29"/>
          <p:cNvSpPr txBox="1"/>
          <p:nvPr/>
        </p:nvSpPr>
        <p:spPr>
          <a:xfrm>
            <a:off x="7680960" y="2377440"/>
            <a:ext cx="3687775" cy="2011680"/>
          </a:xfrm>
          <a:prstGeom prst="rect">
            <a:avLst/>
          </a:prstGeom>
          <a:noFill/>
          <a:ln/>
        </p:spPr>
        <p:txBody>
          <a:bodyPr wrap="square" lIns="0" tIns="0" rIns="0" bIns="0" rtlCol="0" anchor="ctr"/>
          <a:lstStyle/>
          <a:p>
            <a:pPr indent="0" marL="0">
              <a:spcAft>
                <a:spcPts val="600"/>
              </a:spcAft>
              <a:buNone/>
            </a:pPr>
            <a:r>
              <a:rPr lang="en-US" sz="1900" b="1" dirty="0">
                <a:solidFill>
                  <a:srgbClr val="2A2238"/>
                </a:solidFill>
                <a:latin typeface="Alexandria" pitchFamily="34" charset="0"/>
                <a:ea typeface="Alexandria" pitchFamily="34" charset="-122"/>
                <a:cs typeface="Alexandria" pitchFamily="34" charset="-120"/>
              </a:rPr>
              <a:t>Việt Nam, thập niên 1990</a:t>
            </a:r>
            <a:endParaRPr lang="en-US" sz="1900" dirty="0"/>
          </a:p>
          <a:p>
            <a:pPr indent="0" marL="0">
              <a:spcAft>
                <a:spcPts val="600"/>
              </a:spcAft>
              <a:buNone/>
            </a:pPr>
            <a:r>
              <a:rPr lang="en-US" sz="1600" dirty="0">
                <a:solidFill>
                  <a:srgbClr val="2A2238"/>
                </a:solidFill>
                <a:latin typeface="Alexandria" pitchFamily="34" charset="0"/>
                <a:ea typeface="Alexandria" pitchFamily="34" charset="-122"/>
                <a:cs typeface="Alexandria" pitchFamily="34" charset="-120"/>
              </a:rPr>
              <a:t>quan hệ giao dịch càng lâu → tín dụng thương mại càng lớn</a:t>
            </a:r>
            <a:endParaRPr lang="en-US" sz="1900" dirty="0"/>
          </a:p>
        </p:txBody>
      </p:sp>
      <p:sp>
        <p:nvSpPr>
          <p:cNvPr id="33" name="Shape 30"/>
          <p:cNvSpPr/>
          <p:nvPr/>
        </p:nvSpPr>
        <p:spPr>
          <a:xfrm>
            <a:off x="7406640" y="4617720"/>
            <a:ext cx="4236415" cy="1371600"/>
          </a:xfrm>
          <a:prstGeom prst="roundRect">
            <a:avLst>
              <a:gd name="adj" fmla="val 8000"/>
            </a:avLst>
          </a:prstGeom>
          <a:solidFill>
            <a:srgbClr val="FFF3C4"/>
          </a:solidFill>
          <a:ln w="12700">
            <a:solidFill>
              <a:srgbClr val="FFD23B"/>
            </a:solidFill>
            <a:prstDash val="solid"/>
          </a:ln>
        </p:spPr>
      </p:sp>
      <p:sp>
        <p:nvSpPr>
          <p:cNvPr id="34" name="Text 31"/>
          <p:cNvSpPr txBox="1"/>
          <p:nvPr/>
        </p:nvSpPr>
        <p:spPr>
          <a:xfrm>
            <a:off x="7680960" y="4617720"/>
            <a:ext cx="3687775" cy="13716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Thời gian quan hệ tự nó tạo niềm tin và giá trị kinh tế.</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2 · Cuộc trò chuyện sau gala</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W04_activity_S6_cuoc_tro_chuyen_sau_gala.md · Tình huống GIẢ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21</a:t>
            </a:r>
            <a:endParaRPr lang="en-US" sz="1000" dirty="0"/>
          </a:p>
        </p:txBody>
      </p:sp>
      <p:sp>
        <p:nvSpPr>
          <p:cNvPr id="20" name="Shape 17"/>
          <p:cNvSpPr/>
          <p:nvPr/>
        </p:nvSpPr>
        <p:spPr>
          <a:xfrm>
            <a:off x="548640" y="1783080"/>
            <a:ext cx="11094415" cy="1005840"/>
          </a:xfrm>
          <a:prstGeom prst="roundRect">
            <a:avLst>
              <a:gd name="adj" fmla="val 10909"/>
            </a:avLst>
          </a:prstGeom>
          <a:solidFill>
            <a:srgbClr val="DDF1FB"/>
          </a:solidFill>
          <a:ln w="12700">
            <a:solidFill>
              <a:srgbClr val="09A1E5"/>
            </a:solidFill>
            <a:prstDash val="solid"/>
          </a:ln>
        </p:spPr>
      </p:sp>
      <p:sp>
        <p:nvSpPr>
          <p:cNvPr id="21" name="Text 18"/>
          <p:cNvSpPr txBox="1"/>
          <p:nvPr/>
        </p:nvSpPr>
        <p:spPr>
          <a:xfrm>
            <a:off x="822960" y="1783080"/>
            <a:ext cx="10545775" cy="10058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Tuần sau gala, Nova nghe gián tiếp: chị Lan không hài lòng vì livestream chậm 15 phút — lần thứ hai liên tiếp. Chị Hạnh chưa nói gì. Chị Thảo (KAMer Nova) hẹn gặp riêng chị Hạnh 20 phút.</a:t>
            </a:r>
            <a:endParaRPr lang="en-US" sz="1400" dirty="0"/>
          </a:p>
        </p:txBody>
      </p:sp>
      <p:sp>
        <p:nvSpPr>
          <p:cNvPr id="22" name="Shape 19"/>
          <p:cNvSpPr/>
          <p:nvPr/>
        </p:nvSpPr>
        <p:spPr>
          <a:xfrm>
            <a:off x="548640" y="2971800"/>
            <a:ext cx="3515258" cy="1463040"/>
          </a:xfrm>
          <a:prstGeom prst="roundRect">
            <a:avLst>
              <a:gd name="adj" fmla="val 7500"/>
            </a:avLst>
          </a:prstGeom>
          <a:solidFill>
            <a:srgbClr val="F1E1EE"/>
          </a:solidFill>
          <a:ln w="19050">
            <a:solidFill>
              <a:srgbClr val="962B7C"/>
            </a:solidFill>
            <a:prstDash val="solid"/>
          </a:ln>
        </p:spPr>
      </p:sp>
      <p:sp>
        <p:nvSpPr>
          <p:cNvPr id="23" name="Text 20"/>
          <p:cNvSpPr txBox="1"/>
          <p:nvPr/>
        </p:nvSpPr>
        <p:spPr>
          <a:xfrm>
            <a:off x="777240" y="2971800"/>
            <a:ext cx="3058058" cy="1463040"/>
          </a:xfrm>
          <a:prstGeom prst="rect">
            <a:avLst/>
          </a:prstGeom>
          <a:noFill/>
          <a:ln/>
        </p:spPr>
        <p:txBody>
          <a:bodyPr wrap="square" lIns="0" tIns="0" rIns="0" bIns="0" rtlCol="0" anchor="ctr"/>
          <a:lstStyle/>
          <a:p>
            <a:pPr indent="0" marL="0">
              <a:spcAft>
                <a:spcPts val="400"/>
              </a:spcAft>
              <a:buNone/>
            </a:pPr>
            <a:r>
              <a:rPr lang="en-US" sz="1600" b="1" dirty="0">
                <a:solidFill>
                  <a:srgbClr val="2A2238"/>
                </a:solidFill>
                <a:latin typeface="Alexandria" pitchFamily="34" charset="0"/>
                <a:ea typeface="Alexandria" pitchFamily="34" charset="-122"/>
                <a:cs typeface="Alexandria" pitchFamily="34" charset="-120"/>
              </a:rPr>
              <a:t>Chị Thảo · KAMer Nova</a:t>
            </a:r>
            <a:endParaRPr lang="en-US" sz="1600" dirty="0"/>
          </a:p>
          <a:p>
            <a:pPr indent="0" marL="0">
              <a:spcAft>
                <a:spcPts val="400"/>
              </a:spcAft>
              <a:buNone/>
            </a:pPr>
            <a:r>
              <a:rPr lang="en-US" sz="1300" dirty="0">
                <a:solidFill>
                  <a:srgbClr val="2A2238"/>
                </a:solidFill>
                <a:latin typeface="Alexandria" pitchFamily="34" charset="0"/>
                <a:ea typeface="Alexandria" pitchFamily="34" charset="-122"/>
                <a:cs typeface="Alexandria" pitchFamily="34" charset="-120"/>
              </a:rPr>
              <a:t>Nêu vấn đề trước, không đổ lỗi, cùng tìm giải pháp; đề xuất một bước dài hạn</a:t>
            </a:r>
            <a:endParaRPr lang="en-US" sz="1600" dirty="0"/>
          </a:p>
        </p:txBody>
      </p:sp>
      <p:sp>
        <p:nvSpPr>
          <p:cNvPr id="24" name="Shape 21"/>
          <p:cNvSpPr/>
          <p:nvPr/>
        </p:nvSpPr>
        <p:spPr>
          <a:xfrm>
            <a:off x="4338218" y="2971800"/>
            <a:ext cx="3515258" cy="1463040"/>
          </a:xfrm>
          <a:prstGeom prst="roundRect">
            <a:avLst>
              <a:gd name="adj" fmla="val 7500"/>
            </a:avLst>
          </a:prstGeom>
          <a:solidFill>
            <a:srgbClr val="FFE4EA"/>
          </a:solidFill>
          <a:ln w="19050">
            <a:solidFill>
              <a:srgbClr val="FF5178"/>
            </a:solidFill>
            <a:prstDash val="solid"/>
          </a:ln>
        </p:spPr>
      </p:sp>
      <p:sp>
        <p:nvSpPr>
          <p:cNvPr id="25" name="Text 22"/>
          <p:cNvSpPr txBox="1"/>
          <p:nvPr/>
        </p:nvSpPr>
        <p:spPr>
          <a:xfrm>
            <a:off x="4566818" y="2971800"/>
            <a:ext cx="3058058" cy="1463040"/>
          </a:xfrm>
          <a:prstGeom prst="rect">
            <a:avLst/>
          </a:prstGeom>
          <a:noFill/>
          <a:ln/>
        </p:spPr>
        <p:txBody>
          <a:bodyPr wrap="square" lIns="0" tIns="0" rIns="0" bIns="0" rtlCol="0" anchor="ctr"/>
          <a:lstStyle/>
          <a:p>
            <a:pPr indent="0" marL="0">
              <a:spcAft>
                <a:spcPts val="400"/>
              </a:spcAft>
              <a:buNone/>
            </a:pPr>
            <a:r>
              <a:rPr lang="en-US" sz="1600" b="1" dirty="0">
                <a:solidFill>
                  <a:srgbClr val="2A2238"/>
                </a:solidFill>
                <a:latin typeface="Alexandria" pitchFamily="34" charset="0"/>
                <a:ea typeface="Alexandria" pitchFamily="34" charset="-122"/>
                <a:cs typeface="Alexandria" pitchFamily="34" charset="-120"/>
              </a:rPr>
              <a:t>Chị Hạnh · An Phát</a:t>
            </a:r>
            <a:endParaRPr lang="en-US" sz="1600" dirty="0"/>
          </a:p>
          <a:p>
            <a:pPr indent="0" marL="0">
              <a:spcAft>
                <a:spcPts val="400"/>
              </a:spcAft>
              <a:buNone/>
            </a:pPr>
            <a:r>
              <a:rPr lang="en-US" sz="1300" dirty="0">
                <a:solidFill>
                  <a:srgbClr val="2A2238"/>
                </a:solidFill>
                <a:latin typeface="Alexandria" pitchFamily="34" charset="0"/>
                <a:ea typeface="Alexandria" pitchFamily="34" charset="-122"/>
                <a:cs typeface="Alexandria" pitchFamily="34" charset="-120"/>
              </a:rPr>
              <a:t>Hài lòng chung nhưng ngại nói thẳng… (thẻ úp)</a:t>
            </a:r>
            <a:endParaRPr lang="en-US" sz="1600" dirty="0"/>
          </a:p>
        </p:txBody>
      </p:sp>
      <p:sp>
        <p:nvSpPr>
          <p:cNvPr id="26" name="Shape 23"/>
          <p:cNvSpPr/>
          <p:nvPr/>
        </p:nvSpPr>
        <p:spPr>
          <a:xfrm>
            <a:off x="8127797" y="2971800"/>
            <a:ext cx="3515258" cy="1463040"/>
          </a:xfrm>
          <a:prstGeom prst="roundRect">
            <a:avLst>
              <a:gd name="adj" fmla="val 7500"/>
            </a:avLst>
          </a:prstGeom>
          <a:solidFill>
            <a:srgbClr val="E1F3EE"/>
          </a:solidFill>
          <a:ln w="19050">
            <a:solidFill>
              <a:srgbClr val="49B296"/>
            </a:solidFill>
            <a:prstDash val="solid"/>
          </a:ln>
        </p:spPr>
      </p:sp>
      <p:sp>
        <p:nvSpPr>
          <p:cNvPr id="27" name="Text 24"/>
          <p:cNvSpPr txBox="1"/>
          <p:nvPr/>
        </p:nvSpPr>
        <p:spPr>
          <a:xfrm>
            <a:off x="8356397" y="2971800"/>
            <a:ext cx="3058058" cy="1463040"/>
          </a:xfrm>
          <a:prstGeom prst="rect">
            <a:avLst/>
          </a:prstGeom>
          <a:noFill/>
          <a:ln/>
        </p:spPr>
        <p:txBody>
          <a:bodyPr wrap="square" lIns="0" tIns="0" rIns="0" bIns="0" rtlCol="0" anchor="ctr"/>
          <a:lstStyle/>
          <a:p>
            <a:pPr indent="0" marL="0">
              <a:spcAft>
                <a:spcPts val="400"/>
              </a:spcAft>
              <a:buNone/>
            </a:pPr>
            <a:r>
              <a:rPr lang="en-US" sz="1600" b="1" dirty="0">
                <a:solidFill>
                  <a:srgbClr val="2A2238"/>
                </a:solidFill>
                <a:latin typeface="Alexandria" pitchFamily="34" charset="0"/>
                <a:ea typeface="Alexandria" pitchFamily="34" charset="-122"/>
                <a:cs typeface="Alexandria" pitchFamily="34" charset="-120"/>
              </a:rPr>
              <a:t>Người quan sát</a:t>
            </a:r>
            <a:endParaRPr lang="en-US" sz="1600" dirty="0"/>
          </a:p>
          <a:p>
            <a:pPr indent="0" marL="0">
              <a:spcAft>
                <a:spcPts val="400"/>
              </a:spcAft>
              <a:buNone/>
            </a:pPr>
            <a:r>
              <a:rPr lang="en-US" sz="1300" dirty="0">
                <a:solidFill>
                  <a:srgbClr val="2A2238"/>
                </a:solidFill>
                <a:latin typeface="Alexandria" pitchFamily="34" charset="0"/>
                <a:ea typeface="Alexandria" pitchFamily="34" charset="-122"/>
                <a:cs typeface="Alexandria" pitchFamily="34" charset="-120"/>
              </a:rPr>
              <a:t>Ghi theo 5 bước: sớm · riêng · về vấn đề · cùng giải quyết · ghi lại</a:t>
            </a:r>
            <a:endParaRPr lang="en-US" sz="1600" dirty="0"/>
          </a:p>
        </p:txBody>
      </p:sp>
      <p:sp>
        <p:nvSpPr>
          <p:cNvPr id="28" name="Shape 25"/>
          <p:cNvSpPr/>
          <p:nvPr/>
        </p:nvSpPr>
        <p:spPr>
          <a:xfrm>
            <a:off x="548640" y="4754880"/>
            <a:ext cx="731520" cy="731520"/>
          </a:xfrm>
          <a:prstGeom prst="ellipse">
            <a:avLst/>
          </a:prstGeom>
          <a:solidFill>
            <a:srgbClr val="09A1E5"/>
          </a:solidFill>
          <a:ln w="12700">
            <a:solidFill>
              <a:srgbClr val="09A1E5"/>
            </a:solidFill>
            <a:prstDash val="solid"/>
          </a:ln>
        </p:spPr>
      </p:sp>
      <p:sp>
        <p:nvSpPr>
          <p:cNvPr id="29" name="Text 26"/>
          <p:cNvSpPr txBox="1"/>
          <p:nvPr/>
        </p:nvSpPr>
        <p:spPr>
          <a:xfrm>
            <a:off x="548640" y="475488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10’</a:t>
            </a:r>
            <a:endParaRPr lang="en-US" sz="1600" dirty="0"/>
          </a:p>
        </p:txBody>
      </p:sp>
      <p:sp>
        <p:nvSpPr>
          <p:cNvPr id="30" name="Text 27"/>
          <p:cNvSpPr txBox="1"/>
          <p:nvPr/>
        </p:nvSpPr>
        <p:spPr>
          <a:xfrm>
            <a:off x="1417320" y="4617720"/>
            <a:ext cx="2646578" cy="100584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Chuẩn bị: dự đoán F1–F3 hai phía; câu mở đầu + 2 phương án</a:t>
            </a:r>
            <a:endParaRPr lang="en-US" sz="1300" dirty="0"/>
          </a:p>
        </p:txBody>
      </p:sp>
      <p:sp>
        <p:nvSpPr>
          <p:cNvPr id="31" name="Shape 28"/>
          <p:cNvSpPr/>
          <p:nvPr/>
        </p:nvSpPr>
        <p:spPr>
          <a:xfrm>
            <a:off x="4338218" y="4754880"/>
            <a:ext cx="731520" cy="731520"/>
          </a:xfrm>
          <a:prstGeom prst="ellipse">
            <a:avLst/>
          </a:prstGeom>
          <a:solidFill>
            <a:srgbClr val="FF5178"/>
          </a:solidFill>
          <a:ln w="12700">
            <a:solidFill>
              <a:srgbClr val="FF5178"/>
            </a:solidFill>
            <a:prstDash val="solid"/>
          </a:ln>
        </p:spPr>
      </p:sp>
      <p:sp>
        <p:nvSpPr>
          <p:cNvPr id="32" name="Text 29"/>
          <p:cNvSpPr txBox="1"/>
          <p:nvPr/>
        </p:nvSpPr>
        <p:spPr>
          <a:xfrm>
            <a:off x="4338218" y="475488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10’</a:t>
            </a:r>
            <a:endParaRPr lang="en-US" sz="1600" dirty="0"/>
          </a:p>
        </p:txBody>
      </p:sp>
      <p:sp>
        <p:nvSpPr>
          <p:cNvPr id="33" name="Text 30"/>
          <p:cNvSpPr txBox="1"/>
          <p:nvPr/>
        </p:nvSpPr>
        <p:spPr>
          <a:xfrm>
            <a:off x="5206898" y="4617720"/>
            <a:ext cx="2646578" cy="100584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Đóng vai bộ ba: diễn 6’, nhận xét 3’</a:t>
            </a:r>
            <a:endParaRPr lang="en-US" sz="1300" dirty="0"/>
          </a:p>
        </p:txBody>
      </p:sp>
      <p:sp>
        <p:nvSpPr>
          <p:cNvPr id="34" name="Shape 31"/>
          <p:cNvSpPr/>
          <p:nvPr/>
        </p:nvSpPr>
        <p:spPr>
          <a:xfrm>
            <a:off x="8127797" y="4754880"/>
            <a:ext cx="731520" cy="731520"/>
          </a:xfrm>
          <a:prstGeom prst="ellipse">
            <a:avLst/>
          </a:prstGeom>
          <a:solidFill>
            <a:srgbClr val="962B7C"/>
          </a:solidFill>
          <a:ln w="12700">
            <a:solidFill>
              <a:srgbClr val="962B7C"/>
            </a:solidFill>
            <a:prstDash val="solid"/>
          </a:ln>
        </p:spPr>
      </p:sp>
      <p:sp>
        <p:nvSpPr>
          <p:cNvPr id="35" name="Text 32"/>
          <p:cNvSpPr txBox="1"/>
          <p:nvPr/>
        </p:nvSpPr>
        <p:spPr>
          <a:xfrm>
            <a:off x="8127797" y="475488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7’</a:t>
            </a:r>
            <a:endParaRPr lang="en-US" sz="1600" dirty="0"/>
          </a:p>
        </p:txBody>
      </p:sp>
      <p:sp>
        <p:nvSpPr>
          <p:cNvPr id="36" name="Text 33"/>
          <p:cNvSpPr txBox="1"/>
          <p:nvPr/>
        </p:nvSpPr>
        <p:spPr>
          <a:xfrm>
            <a:off x="8996477" y="4617720"/>
            <a:ext cx="2646578" cy="100584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Lộ trình 3 bước giao dịch → đối tác: làm gì · với ai · dấu hiệu</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ý của Buổi 4</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22</a:t>
            </a:r>
            <a:endParaRPr lang="en-US" sz="1000" dirty="0"/>
          </a:p>
        </p:txBody>
      </p:sp>
      <p:sp>
        <p:nvSpPr>
          <p:cNvPr id="19" name="Shape 16"/>
          <p:cNvSpPr/>
          <p:nvPr/>
        </p:nvSpPr>
        <p:spPr>
          <a:xfrm>
            <a:off x="548640" y="1828800"/>
            <a:ext cx="11094415" cy="822960"/>
          </a:xfrm>
          <a:prstGeom prst="roundRect">
            <a:avLst>
              <a:gd name="adj" fmla="val 13333"/>
            </a:avLst>
          </a:prstGeom>
          <a:solidFill>
            <a:srgbClr val="F1E1EE"/>
          </a:solidFill>
          <a:ln w="19050">
            <a:solidFill>
              <a:srgbClr val="962B7C"/>
            </a:solidFill>
            <a:prstDash val="solid"/>
          </a:ln>
        </p:spPr>
      </p:sp>
      <p:sp>
        <p:nvSpPr>
          <p:cNvPr id="20" name="Shape 17"/>
          <p:cNvSpPr/>
          <p:nvPr/>
        </p:nvSpPr>
        <p:spPr>
          <a:xfrm>
            <a:off x="777240" y="1897380"/>
            <a:ext cx="685800" cy="685800"/>
          </a:xfrm>
          <a:prstGeom prst="ellipse">
            <a:avLst/>
          </a:prstGeom>
          <a:solidFill>
            <a:srgbClr val="962B7C"/>
          </a:solidFill>
          <a:ln w="12700">
            <a:solidFill>
              <a:srgbClr val="962B7C"/>
            </a:solidFill>
            <a:prstDash val="solid"/>
          </a:ln>
        </p:spPr>
      </p:sp>
      <p:sp>
        <p:nvSpPr>
          <p:cNvPr id="21" name="Text 18"/>
          <p:cNvSpPr txBox="1"/>
          <p:nvPr/>
        </p:nvSpPr>
        <p:spPr>
          <a:xfrm>
            <a:off x="777240" y="189738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1</a:t>
            </a:r>
            <a:endParaRPr lang="en-US" sz="1800" dirty="0"/>
          </a:p>
        </p:txBody>
      </p:sp>
      <p:sp>
        <p:nvSpPr>
          <p:cNvPr id="22" name="Text 19"/>
          <p:cNvSpPr txBox="1"/>
          <p:nvPr/>
        </p:nvSpPr>
        <p:spPr>
          <a:xfrm>
            <a:off x="1691640" y="1828800"/>
            <a:ext cx="9722815" cy="8229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Ba trụ cột: trust (tin cậy + chính trực), commitment (đáng nỗ lực tối đa để giữ), functional conflict (bất đồng giải quyết êm thấm — kết quả của trust).</a:t>
            </a:r>
            <a:endParaRPr lang="en-US" sz="1700" dirty="0"/>
          </a:p>
        </p:txBody>
      </p:sp>
      <p:sp>
        <p:nvSpPr>
          <p:cNvPr id="23" name="Shape 20"/>
          <p:cNvSpPr/>
          <p:nvPr/>
        </p:nvSpPr>
        <p:spPr>
          <a:xfrm>
            <a:off x="548640" y="2834640"/>
            <a:ext cx="11094415" cy="822960"/>
          </a:xfrm>
          <a:prstGeom prst="roundRect">
            <a:avLst>
              <a:gd name="adj" fmla="val 13333"/>
            </a:avLst>
          </a:prstGeom>
          <a:solidFill>
            <a:srgbClr val="DDF1FB"/>
          </a:solidFill>
          <a:ln w="19050">
            <a:solidFill>
              <a:srgbClr val="09A1E5"/>
            </a:solidFill>
            <a:prstDash val="solid"/>
          </a:ln>
        </p:spPr>
      </p:sp>
      <p:sp>
        <p:nvSpPr>
          <p:cNvPr id="24" name="Shape 21"/>
          <p:cNvSpPr/>
          <p:nvPr/>
        </p:nvSpPr>
        <p:spPr>
          <a:xfrm>
            <a:off x="777240" y="2903220"/>
            <a:ext cx="685800" cy="685800"/>
          </a:xfrm>
          <a:prstGeom prst="ellipse">
            <a:avLst/>
          </a:prstGeom>
          <a:solidFill>
            <a:srgbClr val="09A1E5"/>
          </a:solidFill>
          <a:ln w="12700">
            <a:solidFill>
              <a:srgbClr val="09A1E5"/>
            </a:solidFill>
            <a:prstDash val="solid"/>
          </a:ln>
        </p:spPr>
      </p:sp>
      <p:sp>
        <p:nvSpPr>
          <p:cNvPr id="25" name="Text 22"/>
          <p:cNvSpPr txBox="1"/>
          <p:nvPr/>
        </p:nvSpPr>
        <p:spPr>
          <a:xfrm>
            <a:off x="777240" y="290322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2</a:t>
            </a:r>
            <a:endParaRPr lang="en-US" sz="1800" dirty="0"/>
          </a:p>
        </p:txBody>
      </p:sp>
      <p:sp>
        <p:nvSpPr>
          <p:cNvPr id="26" name="Text 23"/>
          <p:cNvSpPr txBox="1"/>
          <p:nvPr/>
        </p:nvSpPr>
        <p:spPr>
          <a:xfrm>
            <a:off x="1691640" y="2834640"/>
            <a:ext cx="9722815" cy="8229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Đo: hỏi cả hai phía, xem khoảng cách; bất đồng nêu sớm, riêng, cùng giải quyết.</a:t>
            </a:r>
            <a:endParaRPr lang="en-US" sz="1700" dirty="0"/>
          </a:p>
        </p:txBody>
      </p:sp>
      <p:sp>
        <p:nvSpPr>
          <p:cNvPr id="27" name="Shape 24"/>
          <p:cNvSpPr/>
          <p:nvPr/>
        </p:nvSpPr>
        <p:spPr>
          <a:xfrm>
            <a:off x="548640" y="3840480"/>
            <a:ext cx="11094415" cy="822960"/>
          </a:xfrm>
          <a:prstGeom prst="roundRect">
            <a:avLst>
              <a:gd name="adj" fmla="val 13333"/>
            </a:avLst>
          </a:prstGeom>
          <a:solidFill>
            <a:srgbClr val="FFE4EA"/>
          </a:solidFill>
          <a:ln w="19050">
            <a:solidFill>
              <a:srgbClr val="FF5178"/>
            </a:solidFill>
            <a:prstDash val="solid"/>
          </a:ln>
        </p:spPr>
      </p:sp>
      <p:sp>
        <p:nvSpPr>
          <p:cNvPr id="28" name="Shape 25"/>
          <p:cNvSpPr/>
          <p:nvPr/>
        </p:nvSpPr>
        <p:spPr>
          <a:xfrm>
            <a:off x="777240" y="3909060"/>
            <a:ext cx="685800" cy="685800"/>
          </a:xfrm>
          <a:prstGeom prst="ellipse">
            <a:avLst/>
          </a:prstGeom>
          <a:solidFill>
            <a:srgbClr val="FF5178"/>
          </a:solidFill>
          <a:ln w="12700">
            <a:solidFill>
              <a:srgbClr val="FF5178"/>
            </a:solidFill>
            <a:prstDash val="solid"/>
          </a:ln>
        </p:spPr>
      </p:sp>
      <p:sp>
        <p:nvSpPr>
          <p:cNvPr id="29" name="Text 26"/>
          <p:cNvSpPr txBox="1"/>
          <p:nvPr/>
        </p:nvSpPr>
        <p:spPr>
          <a:xfrm>
            <a:off x="777240" y="390906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3</a:t>
            </a:r>
            <a:endParaRPr lang="en-US" sz="1800" dirty="0"/>
          </a:p>
        </p:txBody>
      </p:sp>
      <p:sp>
        <p:nvSpPr>
          <p:cNvPr id="30" name="Text 27"/>
          <p:cNvSpPr txBox="1"/>
          <p:nvPr/>
        </p:nvSpPr>
        <p:spPr>
          <a:xfrm>
            <a:off x="1691640" y="3840480"/>
            <a:ext cx="9722815" cy="8229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Từ giao dịch sang quan hệ: hợp đồng khung, cùng lập kế hoạch, nhiều đầu mối, chia sẻ thông tin.</a:t>
            </a:r>
            <a:endParaRPr lang="en-US" sz="1700" dirty="0"/>
          </a:p>
        </p:txBody>
      </p:sp>
      <p:sp>
        <p:nvSpPr>
          <p:cNvPr id="31" name="Shape 28"/>
          <p:cNvSpPr/>
          <p:nvPr/>
        </p:nvSpPr>
        <p:spPr>
          <a:xfrm>
            <a:off x="548640" y="4983480"/>
            <a:ext cx="11094415" cy="1005840"/>
          </a:xfrm>
          <a:prstGeom prst="roundRect">
            <a:avLst>
              <a:gd name="adj" fmla="val 10909"/>
            </a:avLst>
          </a:prstGeom>
          <a:solidFill>
            <a:srgbClr val="FFF3C4"/>
          </a:solidFill>
          <a:ln w="12700">
            <a:solidFill>
              <a:srgbClr val="FFD23B"/>
            </a:solidFill>
            <a:prstDash val="solid"/>
          </a:ln>
        </p:spPr>
      </p:sp>
      <p:sp>
        <p:nvSpPr>
          <p:cNvPr id="32" name="Text 29"/>
          <p:cNvSpPr txBox="1"/>
          <p:nvPr/>
        </p:nvSpPr>
        <p:spPr>
          <a:xfrm>
            <a:off x="868680" y="4983480"/>
            <a:ext cx="10454335" cy="10058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Stakeholder Management Plan: </a:t>
            </a:r>
            <a:pPr indent="0" marL="0">
              <a:buNone/>
            </a:pPr>
            <a:r>
              <a:rPr lang="en-US" sz="1500" dirty="0">
                <a:solidFill>
                  <a:srgbClr val="2A2238"/>
                </a:solidFill>
                <a:latin typeface="Alexandria" pitchFamily="34" charset="0"/>
                <a:ea typeface="Alexandria" pitchFamily="34" charset="-122"/>
                <a:cs typeface="Alexandria" pitchFamily="34" charset="-120"/>
              </a:rPr>
              <a:t>đo nhanh ba trụ cột với khách hàng dự án cũ (cảm nhận + bằng chứng) — nền cho phần B. Value Opportunities.</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Phiếu kiểm tra cuối giờ</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23</a:t>
            </a:r>
            <a:endParaRPr lang="en-US" sz="1000" dirty="0"/>
          </a:p>
        </p:txBody>
      </p:sp>
      <p:sp>
        <p:nvSpPr>
          <p:cNvPr id="19" name="Shape 16"/>
          <p:cNvSpPr/>
          <p:nvPr/>
        </p:nvSpPr>
        <p:spPr>
          <a:xfrm>
            <a:off x="548640" y="1828800"/>
            <a:ext cx="11094415" cy="1280160"/>
          </a:xfrm>
          <a:prstGeom prst="roundRect">
            <a:avLst>
              <a:gd name="adj" fmla="val 8571"/>
            </a:avLst>
          </a:prstGeom>
          <a:solidFill>
            <a:srgbClr val="FFFFFF"/>
          </a:solidFill>
          <a:ln w="12700">
            <a:solidFill>
              <a:srgbClr val="DCD7C8"/>
            </a:solidFill>
            <a:prstDash val="solid"/>
          </a:ln>
        </p:spPr>
      </p:sp>
      <p:sp>
        <p:nvSpPr>
          <p:cNvPr id="20" name="Shape 17"/>
          <p:cNvSpPr/>
          <p:nvPr/>
        </p:nvSpPr>
        <p:spPr>
          <a:xfrm>
            <a:off x="777240" y="2148840"/>
            <a:ext cx="640080" cy="640080"/>
          </a:xfrm>
          <a:prstGeom prst="ellipse">
            <a:avLst/>
          </a:prstGeom>
          <a:solidFill>
            <a:srgbClr val="962B7C"/>
          </a:solidFill>
          <a:ln w="12700">
            <a:solidFill>
              <a:srgbClr val="962B7C"/>
            </a:solidFill>
            <a:prstDash val="solid"/>
          </a:ln>
        </p:spPr>
      </p:sp>
      <p:sp>
        <p:nvSpPr>
          <p:cNvPr id="21" name="Text 18"/>
          <p:cNvSpPr txBox="1"/>
          <p:nvPr/>
        </p:nvSpPr>
        <p:spPr>
          <a:xfrm>
            <a:off x="777240" y="214884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1</a:t>
            </a:r>
            <a:endParaRPr lang="en-US" sz="2380" dirty="0"/>
          </a:p>
        </p:txBody>
      </p:sp>
      <p:sp>
        <p:nvSpPr>
          <p:cNvPr id="22" name="Text 19"/>
          <p:cNvSpPr txBox="1"/>
          <p:nvPr/>
        </p:nvSpPr>
        <p:spPr>
          <a:xfrm>
            <a:off x="1645920" y="182880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Viết lại bằng lời của bạn: functional conflict là gì, và vì sao nó cần trust?</a:t>
            </a:r>
            <a:endParaRPr lang="en-US" sz="1700" dirty="0"/>
          </a:p>
        </p:txBody>
      </p:sp>
      <p:sp>
        <p:nvSpPr>
          <p:cNvPr id="23" name="Shape 20"/>
          <p:cNvSpPr/>
          <p:nvPr/>
        </p:nvSpPr>
        <p:spPr>
          <a:xfrm>
            <a:off x="548640" y="3291840"/>
            <a:ext cx="11094415" cy="1280160"/>
          </a:xfrm>
          <a:prstGeom prst="roundRect">
            <a:avLst>
              <a:gd name="adj" fmla="val 8571"/>
            </a:avLst>
          </a:prstGeom>
          <a:solidFill>
            <a:srgbClr val="FFFFFF"/>
          </a:solidFill>
          <a:ln w="12700">
            <a:solidFill>
              <a:srgbClr val="DCD7C8"/>
            </a:solidFill>
            <a:prstDash val="solid"/>
          </a:ln>
        </p:spPr>
      </p:sp>
      <p:sp>
        <p:nvSpPr>
          <p:cNvPr id="24" name="Shape 21"/>
          <p:cNvSpPr/>
          <p:nvPr/>
        </p:nvSpPr>
        <p:spPr>
          <a:xfrm>
            <a:off x="777240" y="3611880"/>
            <a:ext cx="640080" cy="640080"/>
          </a:xfrm>
          <a:prstGeom prst="ellipse">
            <a:avLst/>
          </a:prstGeom>
          <a:solidFill>
            <a:srgbClr val="09A1E5"/>
          </a:solidFill>
          <a:ln w="12700">
            <a:solidFill>
              <a:srgbClr val="09A1E5"/>
            </a:solidFill>
            <a:prstDash val="solid"/>
          </a:ln>
        </p:spPr>
      </p:sp>
      <p:sp>
        <p:nvSpPr>
          <p:cNvPr id="25" name="Text 22"/>
          <p:cNvSpPr txBox="1"/>
          <p:nvPr/>
        </p:nvSpPr>
        <p:spPr>
          <a:xfrm>
            <a:off x="777240" y="361188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26" name="Text 23"/>
          <p:cNvSpPr txBox="1"/>
          <p:nvPr/>
        </p:nvSpPr>
        <p:spPr>
          <a:xfrm>
            <a:off x="1645920" y="329184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Với khách hàng trong dự án cũ, trụ cột nào (trust, commitment, functional conflict) yếu nhất? Bằng chứng?</a:t>
            </a:r>
            <a:endParaRPr lang="en-US" sz="1700" dirty="0"/>
          </a:p>
        </p:txBody>
      </p:sp>
      <p:sp>
        <p:nvSpPr>
          <p:cNvPr id="27" name="Shape 24"/>
          <p:cNvSpPr/>
          <p:nvPr/>
        </p:nvSpPr>
        <p:spPr>
          <a:xfrm>
            <a:off x="548640" y="4846320"/>
            <a:ext cx="11094415" cy="1188720"/>
          </a:xfrm>
          <a:prstGeom prst="roundRect">
            <a:avLst>
              <a:gd name="adj" fmla="val 9231"/>
            </a:avLst>
          </a:prstGeom>
          <a:solidFill>
            <a:srgbClr val="E1F3EE"/>
          </a:solidFill>
          <a:ln w="12700">
            <a:solidFill>
              <a:srgbClr val="49B296"/>
            </a:solidFill>
            <a:prstDash val="solid"/>
          </a:ln>
        </p:spPr>
      </p:sp>
      <p:sp>
        <p:nvSpPr>
          <p:cNvPr id="28" name="Text 25"/>
          <p:cNvSpPr txBox="1"/>
          <p:nvPr/>
        </p:nvSpPr>
        <p:spPr>
          <a:xfrm>
            <a:off x="822960" y="4846320"/>
            <a:ext cx="10545775" cy="11887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Buổi 5: </a:t>
            </a:r>
            <a:pPr indent="0" marL="0">
              <a:buNone/>
            </a:pPr>
            <a:r>
              <a:rPr lang="en-US" sz="1600" dirty="0">
                <a:solidFill>
                  <a:srgbClr val="2A2238"/>
                </a:solidFill>
                <a:latin typeface="Alexandria" pitchFamily="34" charset="0"/>
                <a:ea typeface="Alexandria" pitchFamily="34" charset="-122"/>
                <a:cs typeface="Alexandria" pitchFamily="34" charset="-120"/>
              </a:rPr>
              <a:t>quan hệ tốt là nền, nhưng khách hàng ở lại vì giá trị — xây đề xuất giá trị và cùng khách hàng tạo ra giá trị.</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344168"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4.1 Ba trụ cột</a:t>
            </a:r>
            <a:endParaRPr lang="en-US" sz="1000" dirty="0"/>
          </a:p>
        </p:txBody>
      </p:sp>
      <p:sp>
        <p:nvSpPr>
          <p:cNvPr id="6" name="Shape 4"/>
          <p:cNvSpPr/>
          <p:nvPr/>
        </p:nvSpPr>
        <p:spPr>
          <a:xfrm>
            <a:off x="2834640" y="274320"/>
            <a:ext cx="173278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834640" y="274320"/>
            <a:ext cx="173278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Đo · xử lý bất đồng</a:t>
            </a:r>
            <a:endParaRPr lang="en-US" sz="1000" dirty="0"/>
          </a:p>
        </p:txBody>
      </p:sp>
      <p:sp>
        <p:nvSpPr>
          <p:cNvPr id="8" name="Shape 6"/>
          <p:cNvSpPr/>
          <p:nvPr/>
        </p:nvSpPr>
        <p:spPr>
          <a:xfrm>
            <a:off x="4677156" y="274320"/>
            <a:ext cx="204368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4.2 Giao dịch → đối tác</a:t>
            </a:r>
            <a:endParaRPr lang="en-US" sz="1000" dirty="0"/>
          </a:p>
        </p:txBody>
      </p:sp>
      <p:sp>
        <p:nvSpPr>
          <p:cNvPr id="10" name="Shape 8"/>
          <p:cNvSpPr/>
          <p:nvPr/>
        </p:nvSpPr>
        <p:spPr>
          <a:xfrm>
            <a:off x="6830568"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830568"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384048" cy="61448"/>
          </a:xfrm>
          <a:prstGeom prst="rect">
            <a:avLst/>
          </a:prstGeom>
          <a:solidFill>
            <a:srgbClr val="FF9259"/>
          </a:solidFill>
          <a:ln w="12700">
            <a:solidFill>
              <a:srgbClr val="FF9259"/>
            </a:solidFill>
            <a:prstDash val="solid"/>
          </a:ln>
        </p:spPr>
      </p:sp>
      <p:sp>
        <p:nvSpPr>
          <p:cNvPr id="13" name="Shape 11"/>
          <p:cNvSpPr/>
          <p:nvPr/>
        </p:nvSpPr>
        <p:spPr>
          <a:xfrm>
            <a:off x="11259007" y="311628"/>
            <a:ext cx="84491" cy="291876"/>
          </a:xfrm>
          <a:prstGeom prst="rect">
            <a:avLst/>
          </a:prstGeom>
          <a:solidFill>
            <a:srgbClr val="962B7C"/>
          </a:solidFill>
          <a:ln w="12700">
            <a:solidFill>
              <a:srgbClr val="962B7C"/>
            </a:solidFill>
            <a:prstDash val="solid"/>
          </a:ln>
        </p:spPr>
      </p:sp>
      <p:sp>
        <p:nvSpPr>
          <p:cNvPr id="14" name="Shape 12"/>
          <p:cNvSpPr/>
          <p:nvPr/>
        </p:nvSpPr>
        <p:spPr>
          <a:xfrm>
            <a:off x="11408786" y="311628"/>
            <a:ext cx="84491" cy="291876"/>
          </a:xfrm>
          <a:prstGeom prst="rect">
            <a:avLst/>
          </a:prstGeom>
          <a:solidFill>
            <a:srgbClr val="09A1E5"/>
          </a:solidFill>
          <a:ln w="12700">
            <a:solidFill>
              <a:srgbClr val="09A1E5"/>
            </a:solidFill>
            <a:prstDash val="solid"/>
          </a:ln>
        </p:spPr>
      </p:sp>
      <p:sp>
        <p:nvSpPr>
          <p:cNvPr id="15" name="Shape 13"/>
          <p:cNvSpPr/>
          <p:nvPr/>
        </p:nvSpPr>
        <p:spPr>
          <a:xfrm>
            <a:off x="11558565" y="311628"/>
            <a:ext cx="84491" cy="291876"/>
          </a:xfrm>
          <a:prstGeom prst="rect">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buoi-04_tu-lieu-tong-hop.md, mục 6.</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4   24</a:t>
            </a:r>
            <a:endParaRPr lang="en-US" sz="1000" dirty="0"/>
          </a:p>
        </p:txBody>
      </p:sp>
      <p:sp>
        <p:nvSpPr>
          <p:cNvPr id="20" name="Text 17"/>
          <p:cNvSpPr txBox="1"/>
          <p:nvPr/>
        </p:nvSpPr>
        <p:spPr>
          <a:xfrm>
            <a:off x="548640" y="1783080"/>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D01</a:t>
            </a:r>
            <a:endParaRPr lang="en-US" sz="1200" dirty="0"/>
          </a:p>
        </p:txBody>
      </p:sp>
      <p:sp>
        <p:nvSpPr>
          <p:cNvPr id="21" name="Text 18"/>
          <p:cNvSpPr txBox="1"/>
          <p:nvPr/>
        </p:nvSpPr>
        <p:spPr>
          <a:xfrm>
            <a:off x="1234440" y="1783080"/>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Morgan, R. M., &amp; Hunt, S. D. (1994). The commitment-trust theory of relationship marketing. Journal of Marketing, 58(3), 20–38. https://doi.org/10.1177/002224299405800302</a:t>
            </a:r>
            <a:endParaRPr lang="en-US" sz="1200" dirty="0"/>
          </a:p>
        </p:txBody>
      </p:sp>
      <p:sp>
        <p:nvSpPr>
          <p:cNvPr id="22" name="Text 19"/>
          <p:cNvSpPr txBox="1"/>
          <p:nvPr/>
        </p:nvSpPr>
        <p:spPr>
          <a:xfrm>
            <a:off x="548640" y="2397034"/>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D02</a:t>
            </a:r>
            <a:endParaRPr lang="en-US" sz="1200" dirty="0"/>
          </a:p>
        </p:txBody>
      </p:sp>
      <p:sp>
        <p:nvSpPr>
          <p:cNvPr id="23" name="Text 20"/>
          <p:cNvSpPr txBox="1"/>
          <p:nvPr/>
        </p:nvSpPr>
        <p:spPr>
          <a:xfrm>
            <a:off x="1234440" y="2397034"/>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Anderson, J. C., &amp; Narus, J. A. (1990). A model of distributor firm and manufacturer firm working partnerships. Journal of Marketing, 54(1), 42–58.</a:t>
            </a:r>
            <a:endParaRPr lang="en-US" sz="1200" dirty="0"/>
          </a:p>
        </p:txBody>
      </p:sp>
      <p:sp>
        <p:nvSpPr>
          <p:cNvPr id="24" name="Text 21"/>
          <p:cNvSpPr txBox="1"/>
          <p:nvPr/>
        </p:nvSpPr>
        <p:spPr>
          <a:xfrm>
            <a:off x="548640" y="3010989"/>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D03</a:t>
            </a:r>
            <a:endParaRPr lang="en-US" sz="1200" dirty="0"/>
          </a:p>
        </p:txBody>
      </p:sp>
      <p:sp>
        <p:nvSpPr>
          <p:cNvPr id="25" name="Text 22"/>
          <p:cNvSpPr txBox="1"/>
          <p:nvPr/>
        </p:nvSpPr>
        <p:spPr>
          <a:xfrm>
            <a:off x="1234440" y="3010989"/>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Palmatier, R. W., Dant, R. P., Grewal, D., &amp; Evans, K. R. (2006). Factors influencing the effectiveness of relationship marketing: A meta-analysis. Journal of Marketing, 70(4), 136–153.</a:t>
            </a:r>
            <a:endParaRPr lang="en-US" sz="1200" dirty="0"/>
          </a:p>
        </p:txBody>
      </p:sp>
      <p:sp>
        <p:nvSpPr>
          <p:cNvPr id="26" name="Text 23"/>
          <p:cNvSpPr txBox="1"/>
          <p:nvPr/>
        </p:nvSpPr>
        <p:spPr>
          <a:xfrm>
            <a:off x="548640" y="3624943"/>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D04</a:t>
            </a:r>
            <a:endParaRPr lang="en-US" sz="1200" dirty="0"/>
          </a:p>
        </p:txBody>
      </p:sp>
      <p:sp>
        <p:nvSpPr>
          <p:cNvPr id="27" name="Text 24"/>
          <p:cNvSpPr txBox="1"/>
          <p:nvPr/>
        </p:nvSpPr>
        <p:spPr>
          <a:xfrm>
            <a:off x="1234440" y="3624943"/>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Dwyer, F. R., Schurr, P. H., &amp; Oh, S. (1987). Developing buyer-seller relationships. Journal of Marketing, 51(2), 11–27.</a:t>
            </a:r>
            <a:endParaRPr lang="en-US" sz="1200" dirty="0"/>
          </a:p>
        </p:txBody>
      </p:sp>
      <p:sp>
        <p:nvSpPr>
          <p:cNvPr id="28" name="Text 25"/>
          <p:cNvSpPr txBox="1"/>
          <p:nvPr/>
        </p:nvSpPr>
        <p:spPr>
          <a:xfrm>
            <a:off x="548640" y="4238897"/>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D05</a:t>
            </a:r>
            <a:endParaRPr lang="en-US" sz="1200" dirty="0"/>
          </a:p>
        </p:txBody>
      </p:sp>
      <p:sp>
        <p:nvSpPr>
          <p:cNvPr id="29" name="Text 26"/>
          <p:cNvSpPr txBox="1"/>
          <p:nvPr/>
        </p:nvSpPr>
        <p:spPr>
          <a:xfrm>
            <a:off x="1234440" y="4238897"/>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McDonald, M., Millman, T., &amp; Rogers, B. (1997). Key account management: Theory, practice and challenges. Journal of Marketing Management, 13(8), 737–757.</a:t>
            </a:r>
            <a:endParaRPr lang="en-US" sz="1200" dirty="0"/>
          </a:p>
        </p:txBody>
      </p:sp>
      <p:sp>
        <p:nvSpPr>
          <p:cNvPr id="30" name="Text 27"/>
          <p:cNvSpPr txBox="1"/>
          <p:nvPr/>
        </p:nvSpPr>
        <p:spPr>
          <a:xfrm>
            <a:off x="548640" y="4852851"/>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D06</a:t>
            </a:r>
            <a:endParaRPr lang="en-US" sz="1200" dirty="0"/>
          </a:p>
        </p:txBody>
      </p:sp>
      <p:sp>
        <p:nvSpPr>
          <p:cNvPr id="31" name="Text 28"/>
          <p:cNvSpPr txBox="1"/>
          <p:nvPr/>
        </p:nvSpPr>
        <p:spPr>
          <a:xfrm>
            <a:off x="1234440" y="4852851"/>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Pham, H. H., &amp; Pham, N. C. (2025). Marketing insights from Quan He. BIMTECH Business Perspectives · McMillan, J., &amp; Woodruff, C. (1999). Interfirm relationships and informal credit in Vietnam. QJE, 114(4), 1285–1320.</a:t>
            </a:r>
            <a:endParaRPr lang="en-US" sz="1200" dirty="0"/>
          </a:p>
        </p:txBody>
      </p:sp>
      <p:sp>
        <p:nvSpPr>
          <p:cNvPr id="32" name="Text 29"/>
          <p:cNvSpPr txBox="1"/>
          <p:nvPr/>
        </p:nvSpPr>
        <p:spPr>
          <a:xfrm>
            <a:off x="548640" y="5466806"/>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D07</a:t>
            </a:r>
            <a:endParaRPr lang="en-US" sz="1200" dirty="0"/>
          </a:p>
        </p:txBody>
      </p:sp>
      <p:sp>
        <p:nvSpPr>
          <p:cNvPr id="33" name="Text 30"/>
          <p:cNvSpPr txBox="1"/>
          <p:nvPr/>
        </p:nvSpPr>
        <p:spPr>
          <a:xfrm>
            <a:off x="1234440" y="5466806"/>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Báo Văn hóa. (2026, January 3). Giữa hợp đồng và trách nhiệm, ranh giới nào cho nghệ sĩ?</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EVM1110E — Buổi 4: Measuring Relationship Quality</dc:title>
  <dc:subject>Quản trị mối quan hệ trong tổ chức sự kiện</dc:subject>
  <dc:creator>PptxGenJS</dc:creator>
  <cp:lastModifiedBy>PptxGenJS</cp:lastModifiedBy>
  <cp:revision>1</cp:revision>
  <dcterms:created xsi:type="dcterms:W3CDTF">2026-10-03T04:52:01Z</dcterms:created>
  <dcterms:modified xsi:type="dcterms:W3CDTF">2026-10-03T04:52:01Z</dcterms:modified>
</cp:coreProperties>
</file>