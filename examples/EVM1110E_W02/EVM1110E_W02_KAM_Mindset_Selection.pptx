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(dàn ý #1). Mở Phần 2 — Quản trị khách hàng trọng điểm (KAM).
Alt-text: ma trận hai trục sức hấp dẫn × vị thế cạnh tranh với ba khách hàng giả định đặt ở các ô khác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 Khởi động (5 phút). Chiếu và đọc: “Năm nay khách hàng đem doanh thu lớn nhất cho Nova là một công ty địa ốc: 3,5 tỷ đồng. Nhưng họ đấu thầu từng sự kiện, trả tiền sau 90 ngày, và năm nào cũng đổi agency.”
Giơ tay: “Đó có phải Key Account của Nova?” (Có / Không / Chưa biết)
Chốt: “Key Account không phải khách hàng lớn nhất, mà là khách hàng đáng đầu tư quan hệ nhất — và cũng muốn đầu tư lại vào 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McDonald: nhiều công ty nghĩ KAM là “bán hàng có gắn thêm núm” — tức là bán hàng phiên bản xịn. Đó là hiểu 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 McDonald, khách hàng lớn không muốn bị bán hàng; họ cần người hiểu tài chính, quy trình, tổ chức, văn hóa của họ và đưa giải pháp tạo lợi thế cho họ.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Millman &amp; Wilson (1995) — chính tên bài là thông điệp: từ bán cho khách hàng lớn sang quản trị khách hàng trọng điểm; phần lớn tài liệu KAM nhìn từ phía người bán; người làm KAM cần năng lực rộng hơn: phát triển kinh doanh, phân tích ngành, quản trị quan hệ.
McDonald, Millman &amp; Rogers (1997): KAM có lợi cho cả hai phía, phát triển qua các giai đoạn quan hệ (Buổi 4,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Homburg, Workman &amp; Jensen (2002) khái niệm hóa KAM theo bốn khía cạnh: activities, actors, resources, approach formalization.
Alt-text: bốn ô, mỗi ô một khía cạnh.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này dùng tiếp ở Thực hành 1 — các nhóm phân loại 8 hành vi theo các dòng của 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Buổi 1–6, GĐ Marketing An Phát là chị Hạnh.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Hiểu lầm: “KAM = chăm sóc khách VIP chu đáo hơn” → KAM là cách vận hành quan hệ, có kế hoạch và nguồn lực riêng.
“Làm KAM là phải chiều khách” → KAM hướng tới lợi ích hai phía; Buổi 6 sẽ tính chi phí phục vụ.
→ Chuyển sang S3 —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 — Thực hành 1 (20 phút): 8 · 8 · 4, GV chốt trong đoạn.
Thảo luận: hành vi nào gây tranh luận nhất? Giảm giá để giữ hợp đồng có bao giờ là KAM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8 phút. Ghi giờ quay lại lên slide/bảng.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McDonald: phải phân loại khách hàng lớn theo tiềm năng tăng lợi nhuận cho nhà cung cấp trong khoảng 3 năm và theo thế mạnh cạnh tranh của nhà cung cấp với từng khách hàng — để đặt mục tiêu và phân bổ nguồn lực có hạn.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thứ ba (đồng đầu tư) là tiêu chí mới nhất, phát hiện qua phỏng vấn lãnh đạo làm KAM.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câu đầu điều chỉnh từ khung GE–McKinsey (đánh giá danh mục kinh doanh) → đặt ứng viên lên ma trận hai trục. Câu thứ ba là cổng.
Alt-text: ma trận chín ô, trục dọc sức hấp dẫn của khách hàng, trục ngang vị thế cạnh tranh của agency; góc trên phải tô đậm là vùng ứng viên Key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chiếu suốt S6.
Cách chấm: mỗi tiêu chí 1–5 × trọng số (tổng 100) → điểm mỗi trục (thang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Chấm trên bảng: ngân sách ~2,2–2,4 tỷ/năm, 4 năm hợp tác, thanh toán đúng hạn, chị Hạnh tin Nova, nhưng Nova mới chỉ quen 1–2 người ở An Phát. → hấp dẫn cao, vị thế khá.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mở Buổi 8: từ Bow-tie (mọi thông tin đi qua một điểm) sang Diamond (các bộ phận hai bên làm việc trực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 hiệu quả cần đồng phát triển, đồng đầu tư. Một khách hàng hấp dẫn, agency có vị thế tốt, nhưng khách hàng không muốn đầu tư lại vào quan hệ → khó thành Key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biểu hiện giúp SV tìm bằng chứng “đồng đầu tư” cho từng ứng viên ở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“Đây là quan hệ nhà sản xuất – nhà tài trợ, không phải agency – khách hàng. Nhưng nó cho thấy khi một đối tác muốn đầu tư lại, quan hệ đổi hẳn chất.”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Khách hàng không phải Key Account vẫn được phục vụ tốt và có lời, nhưng theo cách chuẩn hóa hơn (ít nguồn lực riêng). Buổi 6 sẽ dùng CLV và chi phí phục vụ để quyết định chính xác hơn.
→ Chuyển sang S6 —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S6 — Thực hành 2 (30 phút): 3 · 15 · 8 · 4.
Lời mở đầu: “Nova chỉ đủ người cho hai Key Account. Chấm năm ứng viên theo hai trục và qua cổng đồng đầu tư. Sau đó anh Đức — CEO — sẽ đi hỏi từng bàn: vì sao?”
Với 3 khách hàng không chọn, nhóm ghi Nova phục vụ theo cách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S7 — Tổng hợp (3 phút).
Liên hệ SMP: với khách hàng từ dự án cũ, nhóm ghi một đoạn: khách hàng đạt ba tiêu chí đến đâu, vì sao chọn làm Key Account cho kế hoạch.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S8 — cá nhân, không chấm điểm. Giấy nhỏ hoặc Google Form (thêm QR nếu thu online).
Cần xem: (a) khác biệt nói về quan hệ, thời gian, giá trị cho khách hàng, không chỉ “chăm sóc kỹ hơn”; (b) SV không mặc định khách hàng cũ là Key Account.
Câu nối Buổi 3: “Đã chọn Key Account thì phải hiểu họ hơn chính họ. Buổi sau: thế giới của khách hàng, hành trình của khách hàng, và ai thật sự quyết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để tra cứu mã nguồn ghi ở chân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7680960" y="1097280"/>
            <a:ext cx="1304544" cy="1243584"/>
          </a:xfrm>
          <a:prstGeom prst="rect">
            <a:avLst/>
          </a:prstGeom>
          <a:solidFill>
            <a:srgbClr val="DDF1FB"/>
          </a:solidFill>
          <a:ln w="12700">
            <a:solidFill>
              <a:srgbClr val="FFFFFF"/>
            </a:solidFill>
            <a:prstDash val="solid"/>
          </a:ln>
        </p:spPr>
      </p:sp>
      <p:sp>
        <p:nvSpPr>
          <p:cNvPr id="3" name="Shape 1"/>
          <p:cNvSpPr/>
          <p:nvPr/>
        </p:nvSpPr>
        <p:spPr>
          <a:xfrm>
            <a:off x="9022080" y="1097280"/>
            <a:ext cx="1304544" cy="1243584"/>
          </a:xfrm>
          <a:prstGeom prst="rect">
            <a:avLst/>
          </a:prstGeom>
          <a:solidFill>
            <a:srgbClr val="F1E1EE"/>
          </a:solidFill>
          <a:ln w="12700">
            <a:solidFill>
              <a:srgbClr val="FFFFFF"/>
            </a:solidFill>
            <a:prstDash val="solid"/>
          </a:ln>
        </p:spPr>
      </p:sp>
      <p:sp>
        <p:nvSpPr>
          <p:cNvPr id="4" name="Shape 2"/>
          <p:cNvSpPr/>
          <p:nvPr/>
        </p:nvSpPr>
        <p:spPr>
          <a:xfrm>
            <a:off x="10363200" y="1097280"/>
            <a:ext cx="1304544" cy="1243584"/>
          </a:xfrm>
          <a:prstGeom prst="rect">
            <a:avLst/>
          </a:prstGeom>
          <a:solidFill>
            <a:srgbClr val="F1E1EE"/>
          </a:solidFill>
          <a:ln w="12700">
            <a:solidFill>
              <a:srgbClr val="FFFFFF"/>
            </a:solidFill>
            <a:prstDash val="solid"/>
          </a:ln>
        </p:spPr>
      </p:sp>
      <p:sp>
        <p:nvSpPr>
          <p:cNvPr id="5" name="Shape 3"/>
          <p:cNvSpPr/>
          <p:nvPr/>
        </p:nvSpPr>
        <p:spPr>
          <a:xfrm>
            <a:off x="7680960" y="2377440"/>
            <a:ext cx="1304544" cy="1243584"/>
          </a:xfrm>
          <a:prstGeom prst="rect">
            <a:avLst/>
          </a:prstGeom>
          <a:solidFill>
            <a:srgbClr val="E1F3EE"/>
          </a:solidFill>
          <a:ln w="12700">
            <a:solidFill>
              <a:srgbClr val="FFFFFF"/>
            </a:solidFill>
            <a:prstDash val="solid"/>
          </a:ln>
        </p:spPr>
      </p:sp>
      <p:sp>
        <p:nvSpPr>
          <p:cNvPr id="6" name="Shape 4"/>
          <p:cNvSpPr/>
          <p:nvPr/>
        </p:nvSpPr>
        <p:spPr>
          <a:xfrm>
            <a:off x="9022080" y="2377440"/>
            <a:ext cx="1304544" cy="1243584"/>
          </a:xfrm>
          <a:prstGeom prst="rect">
            <a:avLst/>
          </a:prstGeom>
          <a:solidFill>
            <a:srgbClr val="DDF1FB"/>
          </a:solidFill>
          <a:ln w="12700">
            <a:solidFill>
              <a:srgbClr val="FFFFFF"/>
            </a:solidFill>
            <a:prstDash val="solid"/>
          </a:ln>
        </p:spPr>
      </p:sp>
      <p:sp>
        <p:nvSpPr>
          <p:cNvPr id="7" name="Shape 5"/>
          <p:cNvSpPr/>
          <p:nvPr/>
        </p:nvSpPr>
        <p:spPr>
          <a:xfrm>
            <a:off x="10363200" y="2377440"/>
            <a:ext cx="1304544" cy="1243584"/>
          </a:xfrm>
          <a:prstGeom prst="rect">
            <a:avLst/>
          </a:prstGeom>
          <a:solidFill>
            <a:srgbClr val="F1E1EE"/>
          </a:solidFill>
          <a:ln w="12700">
            <a:solidFill>
              <a:srgbClr val="FFFFFF"/>
            </a:solidFill>
            <a:prstDash val="solid"/>
          </a:ln>
        </p:spPr>
      </p:sp>
      <p:sp>
        <p:nvSpPr>
          <p:cNvPr id="8" name="Shape 6"/>
          <p:cNvSpPr/>
          <p:nvPr/>
        </p:nvSpPr>
        <p:spPr>
          <a:xfrm>
            <a:off x="7680960" y="3657600"/>
            <a:ext cx="1304544" cy="1243584"/>
          </a:xfrm>
          <a:prstGeom prst="rect">
            <a:avLst/>
          </a:prstGeom>
          <a:solidFill>
            <a:srgbClr val="F3F0E6"/>
          </a:solidFill>
          <a:ln w="12700">
            <a:solidFill>
              <a:srgbClr val="FFFFFF"/>
            </a:solidFill>
            <a:prstDash val="solid"/>
          </a:ln>
        </p:spPr>
      </p:sp>
      <p:sp>
        <p:nvSpPr>
          <p:cNvPr id="9" name="Shape 7"/>
          <p:cNvSpPr/>
          <p:nvPr/>
        </p:nvSpPr>
        <p:spPr>
          <a:xfrm>
            <a:off x="9022080" y="3657600"/>
            <a:ext cx="1304544" cy="1243584"/>
          </a:xfrm>
          <a:prstGeom prst="rect">
            <a:avLst/>
          </a:prstGeom>
          <a:solidFill>
            <a:srgbClr val="E1F3EE"/>
          </a:solidFill>
          <a:ln w="12700">
            <a:solidFill>
              <a:srgbClr val="FFFFFF"/>
            </a:solidFill>
            <a:prstDash val="solid"/>
          </a:ln>
        </p:spPr>
      </p:sp>
      <p:sp>
        <p:nvSpPr>
          <p:cNvPr id="10" name="Shape 8"/>
          <p:cNvSpPr/>
          <p:nvPr/>
        </p:nvSpPr>
        <p:spPr>
          <a:xfrm>
            <a:off x="10363200" y="3657600"/>
            <a:ext cx="1304544" cy="1243584"/>
          </a:xfrm>
          <a:prstGeom prst="rect">
            <a:avLst/>
          </a:prstGeom>
          <a:solidFill>
            <a:srgbClr val="DDF1FB"/>
          </a:solidFill>
          <a:ln w="12700">
            <a:solidFill>
              <a:srgbClr val="FFFFFF"/>
            </a:solidFill>
            <a:prstDash val="solid"/>
          </a:ln>
        </p:spPr>
      </p:sp>
      <p:sp>
        <p:nvSpPr>
          <p:cNvPr id="11" name="Shape 9"/>
          <p:cNvSpPr/>
          <p:nvPr/>
        </p:nvSpPr>
        <p:spPr>
          <a:xfrm flipV="1">
            <a:off x="7571232" y="1097280"/>
            <a:ext cx="914" cy="3840480"/>
          </a:xfrm>
          <a:prstGeom prst="line">
            <a:avLst/>
          </a:prstGeom>
          <a:noFill/>
          <a:ln w="19050">
            <a:solidFill>
              <a:srgbClr val="6E6878"/>
            </a:solidFill>
            <a:prstDash val="solid"/>
            <a:tailEnd type="triangle"/>
          </a:ln>
        </p:spPr>
      </p:sp>
      <p:sp>
        <p:nvSpPr>
          <p:cNvPr id="12" name="Text 10"/>
          <p:cNvSpPr txBox="1"/>
          <p:nvPr/>
        </p:nvSpPr>
        <p:spPr>
          <a:xfrm rot="16200000">
            <a:off x="5394960" y="2880360"/>
            <a:ext cx="3840480"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Sức hấp dẫn của khách hàng  →</a:t>
            </a:r>
            <a:endParaRPr lang="en-US" sz="1100" dirty="0"/>
          </a:p>
        </p:txBody>
      </p:sp>
      <p:sp>
        <p:nvSpPr>
          <p:cNvPr id="13" name="Shape 11"/>
          <p:cNvSpPr/>
          <p:nvPr/>
        </p:nvSpPr>
        <p:spPr>
          <a:xfrm>
            <a:off x="7680960" y="5120640"/>
            <a:ext cx="4023360" cy="914"/>
          </a:xfrm>
          <a:prstGeom prst="line">
            <a:avLst/>
          </a:prstGeom>
          <a:noFill/>
          <a:ln w="19050">
            <a:solidFill>
              <a:srgbClr val="6E6878"/>
            </a:solidFill>
            <a:prstDash val="solid"/>
            <a:tailEnd type="triangle"/>
          </a:ln>
        </p:spPr>
      </p:sp>
      <p:sp>
        <p:nvSpPr>
          <p:cNvPr id="14" name="Text 12"/>
          <p:cNvSpPr txBox="1"/>
          <p:nvPr/>
        </p:nvSpPr>
        <p:spPr>
          <a:xfrm>
            <a:off x="7680960" y="5157216"/>
            <a:ext cx="4023360" cy="219456"/>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Vị thế cạnh tranh của agency  →</a:t>
            </a:r>
            <a:endParaRPr lang="en-US" sz="1100" dirty="0"/>
          </a:p>
        </p:txBody>
      </p:sp>
      <p:sp>
        <p:nvSpPr>
          <p:cNvPr id="15" name="Shape 13"/>
          <p:cNvSpPr/>
          <p:nvPr/>
        </p:nvSpPr>
        <p:spPr>
          <a:xfrm>
            <a:off x="8430768" y="3529584"/>
            <a:ext cx="512064" cy="512064"/>
          </a:xfrm>
          <a:prstGeom prst="ellipse">
            <a:avLst/>
          </a:prstGeom>
          <a:solidFill>
            <a:srgbClr val="6E6878"/>
          </a:solidFill>
          <a:ln w="25400">
            <a:solidFill>
              <a:srgbClr val="FFFFFF"/>
            </a:solidFill>
            <a:prstDash val="solid"/>
          </a:ln>
        </p:spPr>
      </p:sp>
      <p:sp>
        <p:nvSpPr>
          <p:cNvPr id="16" name="Text 14"/>
          <p:cNvSpPr txBox="1"/>
          <p:nvPr/>
        </p:nvSpPr>
        <p:spPr>
          <a:xfrm>
            <a:off x="7772400" y="4059936"/>
            <a:ext cx="1828800" cy="27432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Sông Xanh</a:t>
            </a:r>
            <a:endParaRPr lang="en-US" sz="1100" dirty="0"/>
          </a:p>
        </p:txBody>
      </p:sp>
      <p:sp>
        <p:nvSpPr>
          <p:cNvPr id="17" name="Shape 15"/>
          <p:cNvSpPr/>
          <p:nvPr/>
        </p:nvSpPr>
        <p:spPr>
          <a:xfrm>
            <a:off x="9919411" y="1686154"/>
            <a:ext cx="512064" cy="512064"/>
          </a:xfrm>
          <a:prstGeom prst="ellipse">
            <a:avLst/>
          </a:prstGeom>
          <a:solidFill>
            <a:srgbClr val="962B7C"/>
          </a:solidFill>
          <a:ln w="25400">
            <a:solidFill>
              <a:srgbClr val="FFFFFF"/>
            </a:solidFill>
            <a:prstDash val="solid"/>
          </a:ln>
        </p:spPr>
      </p:sp>
      <p:sp>
        <p:nvSpPr>
          <p:cNvPr id="18" name="Text 16"/>
          <p:cNvSpPr txBox="1"/>
          <p:nvPr/>
        </p:nvSpPr>
        <p:spPr>
          <a:xfrm>
            <a:off x="9261043" y="2216506"/>
            <a:ext cx="1828800" cy="27432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An Phát</a:t>
            </a:r>
            <a:endParaRPr lang="en-US" sz="1100" dirty="0"/>
          </a:p>
        </p:txBody>
      </p:sp>
      <p:sp>
        <p:nvSpPr>
          <p:cNvPr id="19" name="Shape 17"/>
          <p:cNvSpPr/>
          <p:nvPr/>
        </p:nvSpPr>
        <p:spPr>
          <a:xfrm>
            <a:off x="9235440" y="2569464"/>
            <a:ext cx="512064" cy="512064"/>
          </a:xfrm>
          <a:prstGeom prst="ellipse">
            <a:avLst/>
          </a:prstGeom>
          <a:solidFill>
            <a:srgbClr val="09A1E5"/>
          </a:solidFill>
          <a:ln w="25400">
            <a:solidFill>
              <a:srgbClr val="FFFFFF"/>
            </a:solidFill>
            <a:prstDash val="solid"/>
          </a:ln>
        </p:spPr>
      </p:sp>
      <p:sp>
        <p:nvSpPr>
          <p:cNvPr id="20" name="Text 18"/>
          <p:cNvSpPr txBox="1"/>
          <p:nvPr/>
        </p:nvSpPr>
        <p:spPr>
          <a:xfrm>
            <a:off x="8577072" y="3099816"/>
            <a:ext cx="1828800" cy="27432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Bếp Việt</a:t>
            </a:r>
            <a:endParaRPr lang="en-US" sz="1100" dirty="0"/>
          </a:p>
        </p:txBody>
      </p:sp>
      <p:sp>
        <p:nvSpPr>
          <p:cNvPr id="21" name="Shape 19"/>
          <p:cNvSpPr/>
          <p:nvPr/>
        </p:nvSpPr>
        <p:spPr>
          <a:xfrm>
            <a:off x="548640" y="914400"/>
            <a:ext cx="2651760" cy="420624"/>
          </a:xfrm>
          <a:prstGeom prst="roundRect">
            <a:avLst>
              <a:gd name="adj" fmla="val 50000"/>
            </a:avLst>
          </a:prstGeom>
          <a:solidFill>
            <a:srgbClr val="FFD23B"/>
          </a:solidFill>
          <a:ln w="12700">
            <a:solidFill>
              <a:srgbClr val="FFD23B"/>
            </a:solidFill>
            <a:prstDash val="solid"/>
          </a:ln>
        </p:spPr>
      </p:sp>
      <p:sp>
        <p:nvSpPr>
          <p:cNvPr id="22" name="Text 20"/>
          <p:cNvSpPr txBox="1"/>
          <p:nvPr/>
        </p:nvSpPr>
        <p:spPr>
          <a:xfrm>
            <a:off x="621792" y="914400"/>
            <a:ext cx="2505456" cy="420624"/>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EVM1110E  ·  Buổi 2 / 15</a:t>
            </a:r>
            <a:endParaRPr lang="en-US" sz="1400" dirty="0"/>
          </a:p>
        </p:txBody>
      </p:sp>
      <p:sp>
        <p:nvSpPr>
          <p:cNvPr id="23" name="Text 21"/>
          <p:cNvSpPr txBox="1"/>
          <p:nvPr/>
        </p:nvSpPr>
        <p:spPr>
          <a:xfrm>
            <a:off x="548640" y="1600200"/>
            <a:ext cx="6035040" cy="1737360"/>
          </a:xfrm>
          <a:prstGeom prst="rect">
            <a:avLst/>
          </a:prstGeom>
          <a:noFill/>
          <a:ln/>
        </p:spPr>
        <p:txBody>
          <a:bodyPr wrap="square" lIns="0" tIns="0" rIns="0" bIns="0" rtlCol="0" anchor="t"/>
          <a:lstStyle/>
          <a:p>
            <a:pPr indent="0" marL="0">
              <a:buNone/>
            </a:pPr>
            <a:r>
              <a:rPr lang="en-US" sz="3800" b="1" dirty="0">
                <a:solidFill>
                  <a:srgbClr val="2A2238"/>
                </a:solidFill>
                <a:latin typeface="Alexandria" pitchFamily="34" charset="0"/>
                <a:ea typeface="Alexandria" pitchFamily="34" charset="-122"/>
                <a:cs typeface="Alexandria" pitchFamily="34" charset="-120"/>
              </a:rPr>
              <a:t>Quản trị mối quan hệ trong tổ chức sự kiện</a:t>
            </a:r>
            <a:endParaRPr lang="en-US" sz="3800" dirty="0"/>
          </a:p>
        </p:txBody>
      </p:sp>
      <p:sp>
        <p:nvSpPr>
          <p:cNvPr id="24" name="Text 22"/>
          <p:cNvSpPr txBox="1"/>
          <p:nvPr/>
        </p:nvSpPr>
        <p:spPr>
          <a:xfrm>
            <a:off x="548640" y="3429000"/>
            <a:ext cx="6035040" cy="914400"/>
          </a:xfrm>
          <a:prstGeom prst="rect">
            <a:avLst/>
          </a:prstGeom>
          <a:noFill/>
          <a:ln/>
        </p:spPr>
        <p:txBody>
          <a:bodyPr wrap="square" lIns="0" tIns="0" rIns="0" bIns="0" rtlCol="0" anchor="t"/>
          <a:lstStyle/>
          <a:p>
            <a:pPr indent="0" marL="0">
              <a:buNone/>
            </a:pPr>
            <a:r>
              <a:rPr lang="en-US" sz="2200" i="1" dirty="0">
                <a:solidFill>
                  <a:srgbClr val="962B7C"/>
                </a:solidFill>
                <a:latin typeface="Alexandria" pitchFamily="34" charset="0"/>
                <a:ea typeface="Alexandria" pitchFamily="34" charset="-122"/>
                <a:cs typeface="Alexandria" pitchFamily="34" charset="-120"/>
              </a:rPr>
              <a:t>KAM Mindset &amp; Key Account Selection</a:t>
            </a:r>
            <a:endParaRPr lang="en-US" sz="2200" dirty="0"/>
          </a:p>
        </p:txBody>
      </p:sp>
      <p:sp>
        <p:nvSpPr>
          <p:cNvPr id="25" name="Text 23"/>
          <p:cNvSpPr txBox="1"/>
          <p:nvPr/>
        </p:nvSpPr>
        <p:spPr>
          <a:xfrm>
            <a:off x="548640" y="4572000"/>
            <a:ext cx="6035040" cy="1280160"/>
          </a:xfrm>
          <a:prstGeom prst="rect">
            <a:avLst/>
          </a:prstGeom>
          <a:noFill/>
          <a:ln/>
        </p:spPr>
        <p:txBody>
          <a:bodyPr wrap="square" lIns="0" tIns="0" rIns="0" bIns="0" rtlCol="0" anchor="t"/>
          <a:lstStyle/>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Phần 2 · Quản trị khách hàng trọng điểm — buổi 1/7</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Khoa Marketing · UEF</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Giảng viên: Đoàn Nguyễn Bảo Quyên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Khách hàng lớn nhất chưa chắc là Key Account</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Tình huống giả định — tên và con số chỉ dùng cho học tập.</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2</a:t>
            </a:r>
            <a:endParaRPr lang="en-US" sz="1000" dirty="0"/>
          </a:p>
        </p:txBody>
      </p:sp>
      <p:sp>
        <p:nvSpPr>
          <p:cNvPr id="25" name="Shape 22"/>
          <p:cNvSpPr/>
          <p:nvPr/>
        </p:nvSpPr>
        <p:spPr>
          <a:xfrm>
            <a:off x="548640" y="1920240"/>
            <a:ext cx="4754880" cy="4069080"/>
          </a:xfrm>
          <a:prstGeom prst="roundRect">
            <a:avLst>
              <a:gd name="adj" fmla="val 2697"/>
            </a:avLst>
          </a:prstGeom>
          <a:solidFill>
            <a:srgbClr val="FFE9DE"/>
          </a:solidFill>
          <a:ln w="12700">
            <a:solidFill>
              <a:srgbClr val="FF9259"/>
            </a:solidFill>
            <a:prstDash val="solid"/>
          </a:ln>
        </p:spPr>
      </p:sp>
      <p:sp>
        <p:nvSpPr>
          <p:cNvPr id="26" name="Text 23"/>
          <p:cNvSpPr txBox="1"/>
          <p:nvPr/>
        </p:nvSpPr>
        <p:spPr>
          <a:xfrm>
            <a:off x="868680" y="2057400"/>
            <a:ext cx="4114800" cy="411480"/>
          </a:xfrm>
          <a:prstGeom prst="rect">
            <a:avLst/>
          </a:prstGeom>
          <a:noFill/>
          <a:ln/>
        </p:spPr>
        <p:txBody>
          <a:bodyPr wrap="square" lIns="0" tIns="0" rIns="0" bIns="0" rtlCol="0" anchor="ctr"/>
          <a:lstStyle/>
          <a:p>
            <a:pPr indent="0" marL="0">
              <a:buNone/>
            </a:pPr>
            <a:r>
              <a:rPr lang="en-US" sz="1500" b="1" dirty="0">
                <a:solidFill>
                  <a:srgbClr val="D9622B"/>
                </a:solidFill>
                <a:latin typeface="Alexandria" pitchFamily="34" charset="0"/>
                <a:ea typeface="Alexandria" pitchFamily="34" charset="-122"/>
                <a:cs typeface="Alexandria" pitchFamily="34" charset="-120"/>
              </a:rPr>
              <a:t>Địa ốc Sông Xanh</a:t>
            </a:r>
            <a:endParaRPr lang="en-US" sz="1500" dirty="0"/>
          </a:p>
        </p:txBody>
      </p:sp>
      <p:sp>
        <p:nvSpPr>
          <p:cNvPr id="27" name="Text 24"/>
          <p:cNvSpPr txBox="1"/>
          <p:nvPr/>
        </p:nvSpPr>
        <p:spPr>
          <a:xfrm>
            <a:off x="868680" y="2514600"/>
            <a:ext cx="4114800" cy="1005840"/>
          </a:xfrm>
          <a:prstGeom prst="rect">
            <a:avLst/>
          </a:prstGeom>
          <a:noFill/>
          <a:ln/>
        </p:spPr>
        <p:txBody>
          <a:bodyPr wrap="square" lIns="0" tIns="0" rIns="0" bIns="0" rtlCol="0" anchor="ctr"/>
          <a:lstStyle/>
          <a:p>
            <a:pPr indent="0" marL="0">
              <a:buNone/>
            </a:pPr>
            <a:r>
              <a:rPr lang="en-US" sz="5400" b="1" dirty="0">
                <a:solidFill>
                  <a:srgbClr val="D9622B"/>
                </a:solidFill>
                <a:latin typeface="Alexandria" pitchFamily="34" charset="0"/>
                <a:ea typeface="Alexandria" pitchFamily="34" charset="-122"/>
                <a:cs typeface="Alexandria" pitchFamily="34" charset="-120"/>
              </a:rPr>
              <a:t>3,5 tỷ</a:t>
            </a:r>
            <a:endParaRPr lang="en-US" sz="5400" dirty="0"/>
          </a:p>
        </p:txBody>
      </p:sp>
      <p:sp>
        <p:nvSpPr>
          <p:cNvPr id="28" name="Text 25"/>
          <p:cNvSpPr txBox="1"/>
          <p:nvPr/>
        </p:nvSpPr>
        <p:spPr>
          <a:xfrm>
            <a:off x="868680" y="3520440"/>
            <a:ext cx="4114800" cy="4114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doanh thu lớn nhất của Nova năm nay</a:t>
            </a:r>
            <a:endParaRPr lang="en-US" sz="1500" dirty="0"/>
          </a:p>
        </p:txBody>
      </p:sp>
      <p:sp>
        <p:nvSpPr>
          <p:cNvPr id="29" name="Text 26"/>
          <p:cNvSpPr txBox="1"/>
          <p:nvPr/>
        </p:nvSpPr>
        <p:spPr>
          <a:xfrm>
            <a:off x="868680" y="4069080"/>
            <a:ext cx="4114800" cy="1737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A2238"/>
                </a:solidFill>
                <a:latin typeface="Alexandria" pitchFamily="34" charset="0"/>
                <a:ea typeface="Alexandria" pitchFamily="34" charset="-122"/>
                <a:cs typeface="Alexandria" pitchFamily="34" charset="-120"/>
              </a:rPr>
              <a:t>Đấu thầu từng sự kiện</a:t>
            </a:r>
            <a:endParaRPr lang="en-US" sz="1600" dirty="0"/>
          </a:p>
          <a:p>
            <a:pPr marL="342900" indent="-342900">
              <a:spcAft>
                <a:spcPts val="600"/>
              </a:spcAft>
              <a:buSzPct val="100000"/>
              <a:buChar char="•"/>
            </a:pPr>
            <a:r>
              <a:rPr lang="en-US" sz="1600" dirty="0">
                <a:solidFill>
                  <a:srgbClr val="2A2238"/>
                </a:solidFill>
                <a:latin typeface="Alexandria" pitchFamily="34" charset="0"/>
                <a:ea typeface="Alexandria" pitchFamily="34" charset="-122"/>
                <a:cs typeface="Alexandria" pitchFamily="34" charset="-120"/>
              </a:rPr>
              <a:t>Trả tiền sau 90 ngày</a:t>
            </a:r>
            <a:endParaRPr lang="en-US" sz="1600" dirty="0"/>
          </a:p>
          <a:p>
            <a:pPr marL="342900" indent="-342900">
              <a:spcAft>
                <a:spcPts val="600"/>
              </a:spcAft>
              <a:buSzPct val="100000"/>
              <a:buChar char="•"/>
            </a:pPr>
            <a:r>
              <a:rPr lang="en-US" sz="1600" dirty="0">
                <a:solidFill>
                  <a:srgbClr val="2A2238"/>
                </a:solidFill>
                <a:latin typeface="Alexandria" pitchFamily="34" charset="0"/>
                <a:ea typeface="Alexandria" pitchFamily="34" charset="-122"/>
                <a:cs typeface="Alexandria" pitchFamily="34" charset="-120"/>
              </a:rPr>
              <a:t>Năm nào cũng đổi agency</a:t>
            </a:r>
            <a:endParaRPr lang="en-US" sz="1600" dirty="0"/>
          </a:p>
        </p:txBody>
      </p:sp>
      <p:sp>
        <p:nvSpPr>
          <p:cNvPr id="30" name="Text 27"/>
          <p:cNvSpPr txBox="1"/>
          <p:nvPr/>
        </p:nvSpPr>
        <p:spPr>
          <a:xfrm>
            <a:off x="5669280" y="1920240"/>
            <a:ext cx="5973775" cy="640080"/>
          </a:xfrm>
          <a:prstGeom prst="rect">
            <a:avLst/>
          </a:prstGeom>
          <a:noFill/>
          <a:ln/>
        </p:spPr>
        <p:txBody>
          <a:bodyPr wrap="square" lIns="0" tIns="0" rIns="0" bIns="0" rtlCol="0" anchor="ctr"/>
          <a:lstStyle/>
          <a:p>
            <a:pPr indent="0" marL="0">
              <a:buNone/>
            </a:pPr>
            <a:r>
              <a:rPr lang="en-US" sz="2200" b="1" dirty="0">
                <a:solidFill>
                  <a:srgbClr val="2A2238"/>
                </a:solidFill>
                <a:latin typeface="Alexandria" pitchFamily="34" charset="0"/>
                <a:ea typeface="Alexandria" pitchFamily="34" charset="-122"/>
                <a:cs typeface="Alexandria" pitchFamily="34" charset="-120"/>
              </a:rPr>
              <a:t>Đó có phải Key Account của Nova?</a:t>
            </a:r>
            <a:endParaRPr lang="en-US" sz="2200" dirty="0"/>
          </a:p>
        </p:txBody>
      </p:sp>
      <p:sp>
        <p:nvSpPr>
          <p:cNvPr id="31" name="Shape 28"/>
          <p:cNvSpPr/>
          <p:nvPr/>
        </p:nvSpPr>
        <p:spPr>
          <a:xfrm>
            <a:off x="5669280" y="2743200"/>
            <a:ext cx="1869338" cy="731520"/>
          </a:xfrm>
          <a:prstGeom prst="roundRect">
            <a:avLst>
              <a:gd name="adj" fmla="val 50000"/>
            </a:avLst>
          </a:prstGeom>
          <a:solidFill>
            <a:srgbClr val="49B296"/>
          </a:solidFill>
          <a:ln w="12700">
            <a:solidFill>
              <a:srgbClr val="49B296"/>
            </a:solidFill>
            <a:prstDash val="solid"/>
          </a:ln>
        </p:spPr>
      </p:sp>
      <p:sp>
        <p:nvSpPr>
          <p:cNvPr id="32" name="Text 29"/>
          <p:cNvSpPr txBox="1"/>
          <p:nvPr/>
        </p:nvSpPr>
        <p:spPr>
          <a:xfrm>
            <a:off x="5742432" y="2743200"/>
            <a:ext cx="1723034"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Có</a:t>
            </a:r>
            <a:endParaRPr lang="en-US" sz="1800" dirty="0"/>
          </a:p>
        </p:txBody>
      </p:sp>
      <p:sp>
        <p:nvSpPr>
          <p:cNvPr id="33" name="Shape 30"/>
          <p:cNvSpPr/>
          <p:nvPr/>
        </p:nvSpPr>
        <p:spPr>
          <a:xfrm>
            <a:off x="7721498" y="2743200"/>
            <a:ext cx="1869338" cy="731520"/>
          </a:xfrm>
          <a:prstGeom prst="roundRect">
            <a:avLst>
              <a:gd name="adj" fmla="val 50000"/>
            </a:avLst>
          </a:prstGeom>
          <a:solidFill>
            <a:srgbClr val="FF5178"/>
          </a:solidFill>
          <a:ln w="12700">
            <a:solidFill>
              <a:srgbClr val="FF5178"/>
            </a:solidFill>
            <a:prstDash val="solid"/>
          </a:ln>
        </p:spPr>
      </p:sp>
      <p:sp>
        <p:nvSpPr>
          <p:cNvPr id="34" name="Text 31"/>
          <p:cNvSpPr txBox="1"/>
          <p:nvPr/>
        </p:nvSpPr>
        <p:spPr>
          <a:xfrm>
            <a:off x="7794650" y="2743200"/>
            <a:ext cx="1723034"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Không</a:t>
            </a:r>
            <a:endParaRPr lang="en-US" sz="1800" dirty="0"/>
          </a:p>
        </p:txBody>
      </p:sp>
      <p:sp>
        <p:nvSpPr>
          <p:cNvPr id="35" name="Shape 32"/>
          <p:cNvSpPr/>
          <p:nvPr/>
        </p:nvSpPr>
        <p:spPr>
          <a:xfrm>
            <a:off x="9773717" y="2743200"/>
            <a:ext cx="1869338" cy="731520"/>
          </a:xfrm>
          <a:prstGeom prst="roundRect">
            <a:avLst>
              <a:gd name="adj" fmla="val 50000"/>
            </a:avLst>
          </a:prstGeom>
          <a:solidFill>
            <a:srgbClr val="09A1E5"/>
          </a:solidFill>
          <a:ln w="12700">
            <a:solidFill>
              <a:srgbClr val="09A1E5"/>
            </a:solidFill>
            <a:prstDash val="solid"/>
          </a:ln>
        </p:spPr>
      </p:sp>
      <p:sp>
        <p:nvSpPr>
          <p:cNvPr id="36" name="Text 33"/>
          <p:cNvSpPr txBox="1"/>
          <p:nvPr/>
        </p:nvSpPr>
        <p:spPr>
          <a:xfrm>
            <a:off x="9846869" y="2743200"/>
            <a:ext cx="1723034"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Chưa biết</a:t>
            </a:r>
            <a:endParaRPr lang="en-US" sz="1800" dirty="0"/>
          </a:p>
        </p:txBody>
      </p:sp>
      <p:sp>
        <p:nvSpPr>
          <p:cNvPr id="37" name="Shape 34"/>
          <p:cNvSpPr/>
          <p:nvPr/>
        </p:nvSpPr>
        <p:spPr>
          <a:xfrm>
            <a:off x="5669280" y="3840480"/>
            <a:ext cx="5973775" cy="2148840"/>
          </a:xfrm>
          <a:prstGeom prst="roundRect">
            <a:avLst>
              <a:gd name="adj" fmla="val 5106"/>
            </a:avLst>
          </a:prstGeom>
          <a:solidFill>
            <a:srgbClr val="FFF3C4"/>
          </a:solidFill>
          <a:ln w="12700">
            <a:solidFill>
              <a:srgbClr val="FFD23B"/>
            </a:solidFill>
            <a:prstDash val="solid"/>
          </a:ln>
        </p:spPr>
      </p:sp>
      <p:sp>
        <p:nvSpPr>
          <p:cNvPr id="38" name="Text 35"/>
          <p:cNvSpPr txBox="1"/>
          <p:nvPr/>
        </p:nvSpPr>
        <p:spPr>
          <a:xfrm>
            <a:off x="5989320" y="3840480"/>
            <a:ext cx="5333695" cy="2148840"/>
          </a:xfrm>
          <a:prstGeom prst="rect">
            <a:avLst/>
          </a:prstGeom>
          <a:noFill/>
          <a:ln/>
        </p:spPr>
        <p:txBody>
          <a:bodyPr wrap="square" lIns="0" tIns="0" rIns="0" bIns="0" rtlCol="0" anchor="ctr"/>
          <a:lstStyle/>
          <a:p>
            <a:pPr indent="0" marL="0">
              <a:buNone/>
            </a:pPr>
            <a:r>
              <a:rPr lang="en-US" sz="1800" dirty="0">
                <a:solidFill>
                  <a:srgbClr val="2A2238"/>
                </a:solidFill>
                <a:latin typeface="Alexandria" pitchFamily="34" charset="0"/>
                <a:ea typeface="Alexandria" pitchFamily="34" charset="-122"/>
                <a:cs typeface="Alexandria" pitchFamily="34" charset="-120"/>
              </a:rPr>
              <a:t>Key Account không phải khách hàng </a:t>
            </a:r>
            <a:pPr indent="0" marL="0">
              <a:buNone/>
            </a:pPr>
            <a:r>
              <a:rPr lang="en-US" sz="1800" b="1" dirty="0">
                <a:solidFill>
                  <a:srgbClr val="2A2238"/>
                </a:solidFill>
                <a:latin typeface="Alexandria" pitchFamily="34" charset="0"/>
                <a:ea typeface="Alexandria" pitchFamily="34" charset="-122"/>
                <a:cs typeface="Alexandria" pitchFamily="34" charset="-120"/>
              </a:rPr>
              <a:t>lớn nhất</a:t>
            </a:r>
            <a:pPr indent="0" marL="0">
              <a:buNone/>
            </a:pPr>
            <a:r>
              <a:rPr lang="en-US" sz="1800" dirty="0">
                <a:solidFill>
                  <a:srgbClr val="2A2238"/>
                </a:solidFill>
                <a:latin typeface="Alexandria" pitchFamily="34" charset="0"/>
                <a:ea typeface="Alexandria" pitchFamily="34" charset="-122"/>
                <a:cs typeface="Alexandria" pitchFamily="34" charset="-120"/>
              </a:rPr>
              <a:t>, mà là khách hàng </a:t>
            </a:r>
            <a:pPr indent="0" marL="0">
              <a:buNone/>
            </a:pPr>
            <a:r>
              <a:rPr lang="en-US" sz="1800" b="1" dirty="0">
                <a:solidFill>
                  <a:srgbClr val="2A2238"/>
                </a:solidFill>
                <a:latin typeface="Alexandria" pitchFamily="34" charset="0"/>
                <a:ea typeface="Alexandria" pitchFamily="34" charset="-122"/>
                <a:cs typeface="Alexandria" pitchFamily="34" charset="-120"/>
              </a:rPr>
              <a:t>đáng đầu tư quan hệ nhất</a:t>
            </a:r>
            <a:pPr indent="0" marL="0">
              <a:buNone/>
            </a:pPr>
            <a:r>
              <a:rPr lang="en-US" sz="1800" dirty="0">
                <a:solidFill>
                  <a:srgbClr val="2A2238"/>
                </a:solidFill>
                <a:latin typeface="Alexandria" pitchFamily="34" charset="0"/>
                <a:ea typeface="Alexandria" pitchFamily="34" charset="-122"/>
                <a:cs typeface="Alexandria" pitchFamily="34" charset="-120"/>
              </a:rPr>
              <a:t> — và cũng muốn đầu tư lại vào ta.</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KAM không phải “bán hàng xịn hơn”</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B05: McDonald, Why many companies get key account management hopelessly wrong, Cranfield blog.</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3</a:t>
            </a:r>
            <a:endParaRPr lang="en-US" sz="1000" dirty="0"/>
          </a:p>
        </p:txBody>
      </p:sp>
      <p:sp>
        <p:nvSpPr>
          <p:cNvPr id="25" name="Shape 22"/>
          <p:cNvSpPr/>
          <p:nvPr/>
        </p:nvSpPr>
        <p:spPr>
          <a:xfrm>
            <a:off x="548640" y="2011680"/>
            <a:ext cx="11094415" cy="2194560"/>
          </a:xfrm>
          <a:prstGeom prst="roundRect">
            <a:avLst>
              <a:gd name="adj" fmla="val 5000"/>
            </a:avLst>
          </a:prstGeom>
          <a:solidFill>
            <a:srgbClr val="F1E1EE"/>
          </a:solidFill>
          <a:ln w="12700">
            <a:solidFill>
              <a:srgbClr val="962B7C"/>
            </a:solidFill>
            <a:prstDash val="solid"/>
          </a:ln>
        </p:spPr>
      </p:sp>
      <p:sp>
        <p:nvSpPr>
          <p:cNvPr id="26" name="Text 23"/>
          <p:cNvSpPr txBox="1"/>
          <p:nvPr/>
        </p:nvSpPr>
        <p:spPr>
          <a:xfrm>
            <a:off x="1005840" y="2011680"/>
            <a:ext cx="10180015" cy="2194560"/>
          </a:xfrm>
          <a:prstGeom prst="rect">
            <a:avLst/>
          </a:prstGeom>
          <a:noFill/>
          <a:ln/>
        </p:spPr>
        <p:txBody>
          <a:bodyPr wrap="square" lIns="0" tIns="0" rIns="0" bIns="0" rtlCol="0" anchor="ctr"/>
          <a:lstStyle/>
          <a:p>
            <a:pPr algn="ctr" indent="0" marL="0">
              <a:spcAft>
                <a:spcPts val="800"/>
              </a:spcAft>
              <a:buNone/>
            </a:pPr>
            <a:r>
              <a:rPr lang="en-US" sz="3000" b="1" i="1" dirty="0">
                <a:solidFill>
                  <a:srgbClr val="2A2238"/>
                </a:solidFill>
                <a:latin typeface="Alexandria" pitchFamily="34" charset="0"/>
                <a:ea typeface="Alexandria" pitchFamily="34" charset="-122"/>
                <a:cs typeface="Alexandria" pitchFamily="34" charset="-120"/>
              </a:rPr>
              <a:t>“Most companies think that KAM is ‘selling with knobs on’.”</a:t>
            </a:r>
            <a:endParaRPr lang="en-US" sz="3000" dirty="0"/>
          </a:p>
          <a:p>
            <a:pPr algn="ctr" indent="0" marL="0">
              <a:spcAft>
                <a:spcPts val="800"/>
              </a:spcAft>
              <a:buNone/>
            </a:pPr>
            <a:r>
              <a:rPr lang="en-US" sz="1400" dirty="0">
                <a:solidFill>
                  <a:srgbClr val="6E6878"/>
                </a:solidFill>
                <a:latin typeface="Alexandria" pitchFamily="34" charset="0"/>
                <a:ea typeface="Alexandria" pitchFamily="34" charset="-122"/>
                <a:cs typeface="Alexandria" pitchFamily="34" charset="-120"/>
              </a:rPr>
              <a:t>— Malcolm McDonald, Cranfield (B05)</a:t>
            </a:r>
            <a:endParaRPr lang="en-US" sz="3000" dirty="0"/>
          </a:p>
        </p:txBody>
      </p:sp>
      <p:sp>
        <p:nvSpPr>
          <p:cNvPr id="27" name="Shape 24"/>
          <p:cNvSpPr/>
          <p:nvPr/>
        </p:nvSpPr>
        <p:spPr>
          <a:xfrm>
            <a:off x="548640" y="4526280"/>
            <a:ext cx="5410048" cy="1463040"/>
          </a:xfrm>
          <a:prstGeom prst="roundRect">
            <a:avLst>
              <a:gd name="adj" fmla="val 7500"/>
            </a:avLst>
          </a:prstGeom>
          <a:solidFill>
            <a:srgbClr val="FFFFFF"/>
          </a:solidFill>
          <a:ln w="12700">
            <a:solidFill>
              <a:srgbClr val="DCD7C8"/>
            </a:solidFill>
            <a:prstDash val="solid"/>
          </a:ln>
        </p:spPr>
      </p:sp>
      <p:sp>
        <p:nvSpPr>
          <p:cNvPr id="28" name="Text 25"/>
          <p:cNvSpPr txBox="1"/>
          <p:nvPr/>
        </p:nvSpPr>
        <p:spPr>
          <a:xfrm>
            <a:off x="868680" y="4526280"/>
            <a:ext cx="4769968" cy="1463040"/>
          </a:xfrm>
          <a:prstGeom prst="rect">
            <a:avLst/>
          </a:prstGeom>
          <a:noFill/>
          <a:ln/>
        </p:spPr>
        <p:txBody>
          <a:bodyPr wrap="square" lIns="0" tIns="0" rIns="0" bIns="0" rtlCol="0" anchor="ctr"/>
          <a:lstStyle/>
          <a:p>
            <a:pPr indent="0" marL="0">
              <a:buNone/>
            </a:pPr>
            <a:r>
              <a:rPr lang="en-US" sz="1400" dirty="0">
                <a:solidFill>
                  <a:srgbClr val="6E6878"/>
                </a:solidFill>
                <a:latin typeface="Alexandria" pitchFamily="34" charset="0"/>
                <a:ea typeface="Alexandria" pitchFamily="34" charset="-122"/>
                <a:cs typeface="Alexandria" pitchFamily="34" charset="-120"/>
              </a:rPr>
              <a:t>Hiểu sai</a:t>
            </a:r>
            <a:endParaRPr lang="en-US" sz="1400" dirty="0"/>
          </a:p>
          <a:p>
            <a:pPr indent="0" marL="0">
              <a:buNone/>
            </a:pPr>
            <a:r>
              <a:rPr lang="en-US" sz="2000" b="1" dirty="0">
                <a:solidFill>
                  <a:srgbClr val="6E6878"/>
                </a:solidFill>
                <a:latin typeface="Alexandria" pitchFamily="34" charset="0"/>
                <a:ea typeface="Alexandria" pitchFamily="34" charset="-122"/>
                <a:cs typeface="Alexandria" pitchFamily="34" charset="-120"/>
              </a:rPr>
              <a:t>KAM = bán hàng phiên bản xịn</a:t>
            </a:r>
            <a:endParaRPr lang="en-US" sz="1400" dirty="0"/>
          </a:p>
        </p:txBody>
      </p:sp>
      <p:sp>
        <p:nvSpPr>
          <p:cNvPr id="29" name="Shape 26"/>
          <p:cNvSpPr/>
          <p:nvPr/>
        </p:nvSpPr>
        <p:spPr>
          <a:xfrm>
            <a:off x="6233008" y="4526280"/>
            <a:ext cx="5410048" cy="1463040"/>
          </a:xfrm>
          <a:prstGeom prst="roundRect">
            <a:avLst>
              <a:gd name="adj" fmla="val 7500"/>
            </a:avLst>
          </a:prstGeom>
          <a:solidFill>
            <a:srgbClr val="FFF3C4"/>
          </a:solidFill>
          <a:ln w="12700">
            <a:solidFill>
              <a:srgbClr val="FFD23B"/>
            </a:solidFill>
            <a:prstDash val="solid"/>
          </a:ln>
        </p:spPr>
      </p:sp>
      <p:sp>
        <p:nvSpPr>
          <p:cNvPr id="30" name="Text 27"/>
          <p:cNvSpPr txBox="1"/>
          <p:nvPr/>
        </p:nvSpPr>
        <p:spPr>
          <a:xfrm>
            <a:off x="6553048" y="4526280"/>
            <a:ext cx="4769968" cy="1463040"/>
          </a:xfrm>
          <a:prstGeom prst="rect">
            <a:avLst/>
          </a:prstGeom>
          <a:noFill/>
          <a:ln/>
        </p:spPr>
        <p:txBody>
          <a:bodyPr wrap="square" lIns="0" tIns="0" rIns="0" bIns="0" rtlCol="0" anchor="ctr"/>
          <a:lstStyle/>
          <a:p>
            <a:pPr indent="0" marL="0">
              <a:buNone/>
            </a:pPr>
            <a:r>
              <a:rPr lang="en-US" sz="1400" dirty="0">
                <a:solidFill>
                  <a:srgbClr val="6E6878"/>
                </a:solidFill>
                <a:latin typeface="Alexandria" pitchFamily="34" charset="0"/>
                <a:ea typeface="Alexandria" pitchFamily="34" charset="-122"/>
                <a:cs typeface="Alexandria" pitchFamily="34" charset="-120"/>
              </a:rPr>
              <a:t>Hiểu đúng</a:t>
            </a:r>
            <a:endParaRPr lang="en-US" sz="1400" dirty="0"/>
          </a:p>
          <a:p>
            <a:pPr indent="0" marL="0">
              <a:buNone/>
            </a:pPr>
            <a:r>
              <a:rPr lang="en-US" sz="2000" b="1" dirty="0">
                <a:solidFill>
                  <a:srgbClr val="2A2238"/>
                </a:solidFill>
                <a:latin typeface="Alexandria" pitchFamily="34" charset="0"/>
                <a:ea typeface="Alexandria" pitchFamily="34" charset="-122"/>
                <a:cs typeface="Alexandria" pitchFamily="34" charset="-120"/>
              </a:rPr>
              <a:t>KAM = quản trị quan hệ dài hạn, hai chiều</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Khách hàng lớn không muốn bị bán hàng</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B05: McDonald, Cranfield blog.</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4</a:t>
            </a:r>
            <a:endParaRPr lang="en-US" sz="1000" dirty="0"/>
          </a:p>
        </p:txBody>
      </p:sp>
      <p:sp>
        <p:nvSpPr>
          <p:cNvPr id="25" name="Text 22"/>
          <p:cNvSpPr txBox="1"/>
          <p:nvPr/>
        </p:nvSpPr>
        <p:spPr>
          <a:xfrm>
            <a:off x="548640" y="1828800"/>
            <a:ext cx="11094415" cy="457200"/>
          </a:xfrm>
          <a:prstGeom prst="rect">
            <a:avLst/>
          </a:prstGeom>
          <a:noFill/>
          <a:ln/>
        </p:spPr>
        <p:txBody>
          <a:bodyPr wrap="square" lIns="0" tIns="0" rIns="0" bIns="0" rtlCol="0" anchor="ctr"/>
          <a:lstStyle/>
          <a:p>
            <a:pPr indent="0" marL="0">
              <a:buNone/>
            </a:pPr>
            <a:r>
              <a:rPr lang="en-US" sz="1800" b="1" dirty="0">
                <a:solidFill>
                  <a:srgbClr val="6E6878"/>
                </a:solidFill>
                <a:latin typeface="Alexandria" pitchFamily="34" charset="0"/>
                <a:ea typeface="Alexandria" pitchFamily="34" charset="-122"/>
                <a:cs typeface="Alexandria" pitchFamily="34" charset="-120"/>
              </a:rPr>
              <a:t>Họ cần người hiểu…</a:t>
            </a:r>
            <a:endParaRPr lang="en-US" sz="1800" dirty="0"/>
          </a:p>
        </p:txBody>
      </p:sp>
      <p:sp>
        <p:nvSpPr>
          <p:cNvPr id="26" name="Shape 23"/>
          <p:cNvSpPr/>
          <p:nvPr/>
        </p:nvSpPr>
        <p:spPr>
          <a:xfrm>
            <a:off x="548640" y="2423160"/>
            <a:ext cx="2567864" cy="1554480"/>
          </a:xfrm>
          <a:prstGeom prst="roundRect">
            <a:avLst>
              <a:gd name="adj" fmla="val 7059"/>
            </a:avLst>
          </a:prstGeom>
          <a:solidFill>
            <a:srgbClr val="F1E1EE"/>
          </a:solidFill>
          <a:ln w="19050">
            <a:solidFill>
              <a:srgbClr val="962B7C"/>
            </a:solidFill>
            <a:prstDash val="solid"/>
          </a:ln>
        </p:spPr>
      </p:sp>
      <p:sp>
        <p:nvSpPr>
          <p:cNvPr id="27" name="Text 24"/>
          <p:cNvSpPr txBox="1"/>
          <p:nvPr/>
        </p:nvSpPr>
        <p:spPr>
          <a:xfrm>
            <a:off x="548640" y="2423160"/>
            <a:ext cx="2567864" cy="1554480"/>
          </a:xfrm>
          <a:prstGeom prst="rect">
            <a:avLst/>
          </a:prstGeom>
          <a:noFill/>
          <a:ln/>
        </p:spPr>
        <p:txBody>
          <a:bodyPr wrap="square" lIns="0" tIns="0" rIns="0" bIns="0" rtlCol="0" anchor="ctr"/>
          <a:lstStyle/>
          <a:p>
            <a:pPr algn="ctr" indent="0" marL="0">
              <a:buNone/>
            </a:pPr>
            <a:r>
              <a:rPr lang="en-US" sz="2600" b="1" dirty="0">
                <a:solidFill>
                  <a:srgbClr val="2A2238"/>
                </a:solidFill>
                <a:latin typeface="Alexandria" pitchFamily="34" charset="0"/>
                <a:ea typeface="Alexandria" pitchFamily="34" charset="-122"/>
                <a:cs typeface="Alexandria" pitchFamily="34" charset="-120"/>
              </a:rPr>
              <a:t>Tài chính</a:t>
            </a:r>
            <a:endParaRPr lang="en-US" sz="2600" dirty="0"/>
          </a:p>
        </p:txBody>
      </p:sp>
      <p:sp>
        <p:nvSpPr>
          <p:cNvPr id="28" name="Shape 25"/>
          <p:cNvSpPr/>
          <p:nvPr/>
        </p:nvSpPr>
        <p:spPr>
          <a:xfrm>
            <a:off x="3390824" y="2423160"/>
            <a:ext cx="2567864" cy="1554480"/>
          </a:xfrm>
          <a:prstGeom prst="roundRect">
            <a:avLst>
              <a:gd name="adj" fmla="val 7059"/>
            </a:avLst>
          </a:prstGeom>
          <a:solidFill>
            <a:srgbClr val="DDF1FB"/>
          </a:solidFill>
          <a:ln w="19050">
            <a:solidFill>
              <a:srgbClr val="09A1E5"/>
            </a:solidFill>
            <a:prstDash val="solid"/>
          </a:ln>
        </p:spPr>
      </p:sp>
      <p:sp>
        <p:nvSpPr>
          <p:cNvPr id="29" name="Text 26"/>
          <p:cNvSpPr txBox="1"/>
          <p:nvPr/>
        </p:nvSpPr>
        <p:spPr>
          <a:xfrm>
            <a:off x="3390824" y="2423160"/>
            <a:ext cx="2567864" cy="1554480"/>
          </a:xfrm>
          <a:prstGeom prst="rect">
            <a:avLst/>
          </a:prstGeom>
          <a:noFill/>
          <a:ln/>
        </p:spPr>
        <p:txBody>
          <a:bodyPr wrap="square" lIns="0" tIns="0" rIns="0" bIns="0" rtlCol="0" anchor="ctr"/>
          <a:lstStyle/>
          <a:p>
            <a:pPr algn="ctr" indent="0" marL="0">
              <a:buNone/>
            </a:pPr>
            <a:r>
              <a:rPr lang="en-US" sz="2600" b="1" dirty="0">
                <a:solidFill>
                  <a:srgbClr val="2A2238"/>
                </a:solidFill>
                <a:latin typeface="Alexandria" pitchFamily="34" charset="0"/>
                <a:ea typeface="Alexandria" pitchFamily="34" charset="-122"/>
                <a:cs typeface="Alexandria" pitchFamily="34" charset="-120"/>
              </a:rPr>
              <a:t>Quy trình</a:t>
            </a:r>
            <a:endParaRPr lang="en-US" sz="2600" dirty="0"/>
          </a:p>
        </p:txBody>
      </p:sp>
      <p:sp>
        <p:nvSpPr>
          <p:cNvPr id="30" name="Shape 27"/>
          <p:cNvSpPr/>
          <p:nvPr/>
        </p:nvSpPr>
        <p:spPr>
          <a:xfrm>
            <a:off x="6233008" y="2423160"/>
            <a:ext cx="2567864" cy="1554480"/>
          </a:xfrm>
          <a:prstGeom prst="roundRect">
            <a:avLst>
              <a:gd name="adj" fmla="val 7059"/>
            </a:avLst>
          </a:prstGeom>
          <a:solidFill>
            <a:srgbClr val="FFE9DE"/>
          </a:solidFill>
          <a:ln w="19050">
            <a:solidFill>
              <a:srgbClr val="FF9259"/>
            </a:solidFill>
            <a:prstDash val="solid"/>
          </a:ln>
        </p:spPr>
      </p:sp>
      <p:sp>
        <p:nvSpPr>
          <p:cNvPr id="31" name="Text 28"/>
          <p:cNvSpPr txBox="1"/>
          <p:nvPr/>
        </p:nvSpPr>
        <p:spPr>
          <a:xfrm>
            <a:off x="6233008" y="2423160"/>
            <a:ext cx="2567864" cy="1554480"/>
          </a:xfrm>
          <a:prstGeom prst="rect">
            <a:avLst/>
          </a:prstGeom>
          <a:noFill/>
          <a:ln/>
        </p:spPr>
        <p:txBody>
          <a:bodyPr wrap="square" lIns="0" tIns="0" rIns="0" bIns="0" rtlCol="0" anchor="ctr"/>
          <a:lstStyle/>
          <a:p>
            <a:pPr algn="ctr" indent="0" marL="0">
              <a:buNone/>
            </a:pPr>
            <a:r>
              <a:rPr lang="en-US" sz="2600" b="1" dirty="0">
                <a:solidFill>
                  <a:srgbClr val="2A2238"/>
                </a:solidFill>
                <a:latin typeface="Alexandria" pitchFamily="34" charset="0"/>
                <a:ea typeface="Alexandria" pitchFamily="34" charset="-122"/>
                <a:cs typeface="Alexandria" pitchFamily="34" charset="-120"/>
              </a:rPr>
              <a:t>Tổ chức</a:t>
            </a:r>
            <a:endParaRPr lang="en-US" sz="2600" dirty="0"/>
          </a:p>
        </p:txBody>
      </p:sp>
      <p:sp>
        <p:nvSpPr>
          <p:cNvPr id="32" name="Shape 29"/>
          <p:cNvSpPr/>
          <p:nvPr/>
        </p:nvSpPr>
        <p:spPr>
          <a:xfrm>
            <a:off x="9075191" y="2423160"/>
            <a:ext cx="2567864" cy="1554480"/>
          </a:xfrm>
          <a:prstGeom prst="roundRect">
            <a:avLst>
              <a:gd name="adj" fmla="val 7059"/>
            </a:avLst>
          </a:prstGeom>
          <a:solidFill>
            <a:srgbClr val="E1F3EE"/>
          </a:solidFill>
          <a:ln w="19050">
            <a:solidFill>
              <a:srgbClr val="49B296"/>
            </a:solidFill>
            <a:prstDash val="solid"/>
          </a:ln>
        </p:spPr>
      </p:sp>
      <p:sp>
        <p:nvSpPr>
          <p:cNvPr id="33" name="Text 30"/>
          <p:cNvSpPr txBox="1"/>
          <p:nvPr/>
        </p:nvSpPr>
        <p:spPr>
          <a:xfrm>
            <a:off x="9075191" y="2423160"/>
            <a:ext cx="2567864" cy="1554480"/>
          </a:xfrm>
          <a:prstGeom prst="rect">
            <a:avLst/>
          </a:prstGeom>
          <a:noFill/>
          <a:ln/>
        </p:spPr>
        <p:txBody>
          <a:bodyPr wrap="square" lIns="0" tIns="0" rIns="0" bIns="0" rtlCol="0" anchor="ctr"/>
          <a:lstStyle/>
          <a:p>
            <a:pPr algn="ctr" indent="0" marL="0">
              <a:buNone/>
            </a:pPr>
            <a:r>
              <a:rPr lang="en-US" sz="2600" b="1" dirty="0">
                <a:solidFill>
                  <a:srgbClr val="2A2238"/>
                </a:solidFill>
                <a:latin typeface="Alexandria" pitchFamily="34" charset="0"/>
                <a:ea typeface="Alexandria" pitchFamily="34" charset="-122"/>
                <a:cs typeface="Alexandria" pitchFamily="34" charset="-120"/>
              </a:rPr>
              <a:t>Văn hóa</a:t>
            </a:r>
            <a:endParaRPr lang="en-US" sz="2600" dirty="0"/>
          </a:p>
        </p:txBody>
      </p:sp>
      <p:sp>
        <p:nvSpPr>
          <p:cNvPr id="34" name="Shape 31"/>
          <p:cNvSpPr/>
          <p:nvPr/>
        </p:nvSpPr>
        <p:spPr>
          <a:xfrm>
            <a:off x="6095848" y="4114800"/>
            <a:ext cx="914" cy="502920"/>
          </a:xfrm>
          <a:prstGeom prst="line">
            <a:avLst/>
          </a:prstGeom>
          <a:noFill/>
          <a:ln w="38100">
            <a:solidFill>
              <a:srgbClr val="2A2238"/>
            </a:solidFill>
            <a:prstDash val="solid"/>
            <a:tailEnd type="triangle"/>
          </a:ln>
        </p:spPr>
      </p:sp>
      <p:sp>
        <p:nvSpPr>
          <p:cNvPr id="35" name="Shape 32"/>
          <p:cNvSpPr/>
          <p:nvPr/>
        </p:nvSpPr>
        <p:spPr>
          <a:xfrm>
            <a:off x="548640" y="4709160"/>
            <a:ext cx="11094415" cy="1280160"/>
          </a:xfrm>
          <a:prstGeom prst="roundRect">
            <a:avLst>
              <a:gd name="adj" fmla="val 8571"/>
            </a:avLst>
          </a:prstGeom>
          <a:solidFill>
            <a:srgbClr val="FFF3C4"/>
          </a:solidFill>
          <a:ln w="12700">
            <a:solidFill>
              <a:srgbClr val="FFD23B"/>
            </a:solidFill>
            <a:prstDash val="solid"/>
          </a:ln>
        </p:spPr>
      </p:sp>
      <p:sp>
        <p:nvSpPr>
          <p:cNvPr id="36" name="Text 33"/>
          <p:cNvSpPr txBox="1"/>
          <p:nvPr/>
        </p:nvSpPr>
        <p:spPr>
          <a:xfrm>
            <a:off x="914400" y="4709160"/>
            <a:ext cx="10362895" cy="1280160"/>
          </a:xfrm>
          <a:prstGeom prst="rect">
            <a:avLst/>
          </a:prstGeom>
          <a:noFill/>
          <a:ln/>
        </p:spPr>
        <p:txBody>
          <a:bodyPr wrap="square" lIns="0" tIns="0" rIns="0" bIns="0" rtlCol="0" anchor="ctr"/>
          <a:lstStyle/>
          <a:p>
            <a:pPr algn="ctr" indent="0" marL="0">
              <a:buNone/>
            </a:pPr>
            <a:r>
              <a:rPr lang="en-US" sz="2400" b="1" dirty="0">
                <a:solidFill>
                  <a:srgbClr val="2A2238"/>
                </a:solidFill>
                <a:latin typeface="Alexandria" pitchFamily="34" charset="0"/>
                <a:ea typeface="Alexandria" pitchFamily="34" charset="-122"/>
                <a:cs typeface="Alexandria" pitchFamily="34" charset="-120"/>
              </a:rPr>
              <a:t>…và đưa giải pháp tạo lợi thế cho chính họ.</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Từ key account selling đến key account management</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B02: Millman &amp; Wilson (1995) · B03: McDonald, Millman &amp; Rogers (1997).</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5</a:t>
            </a:r>
            <a:endParaRPr lang="en-US" sz="1000" dirty="0"/>
          </a:p>
        </p:txBody>
      </p:sp>
      <p:sp>
        <p:nvSpPr>
          <p:cNvPr id="25" name="Shape 22"/>
          <p:cNvSpPr/>
          <p:nvPr/>
        </p:nvSpPr>
        <p:spPr>
          <a:xfrm>
            <a:off x="548640" y="2103120"/>
            <a:ext cx="4206240" cy="914400"/>
          </a:xfrm>
          <a:prstGeom prst="roundRect">
            <a:avLst>
              <a:gd name="adj" fmla="val 50000"/>
            </a:avLst>
          </a:prstGeom>
          <a:solidFill>
            <a:srgbClr val="6E6878"/>
          </a:solidFill>
          <a:ln w="12700">
            <a:solidFill>
              <a:srgbClr val="6E6878"/>
            </a:solidFill>
            <a:prstDash val="solid"/>
          </a:ln>
        </p:spPr>
      </p:sp>
      <p:sp>
        <p:nvSpPr>
          <p:cNvPr id="26" name="Text 23"/>
          <p:cNvSpPr txBox="1"/>
          <p:nvPr/>
        </p:nvSpPr>
        <p:spPr>
          <a:xfrm>
            <a:off x="621792" y="2103120"/>
            <a:ext cx="4059936"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Alexandria" pitchFamily="34" charset="0"/>
                <a:ea typeface="Alexandria" pitchFamily="34" charset="-122"/>
                <a:cs typeface="Alexandria" pitchFamily="34" charset="-120"/>
              </a:rPr>
              <a:t>Key account SELLING</a:t>
            </a:r>
            <a:endParaRPr lang="en-US" sz="2000" dirty="0"/>
          </a:p>
        </p:txBody>
      </p:sp>
      <p:sp>
        <p:nvSpPr>
          <p:cNvPr id="27" name="Shape 24"/>
          <p:cNvSpPr/>
          <p:nvPr/>
        </p:nvSpPr>
        <p:spPr>
          <a:xfrm>
            <a:off x="4892040" y="2560320"/>
            <a:ext cx="1691640" cy="914"/>
          </a:xfrm>
          <a:prstGeom prst="line">
            <a:avLst/>
          </a:prstGeom>
          <a:noFill/>
          <a:ln w="50800">
            <a:solidFill>
              <a:srgbClr val="2A2238"/>
            </a:solidFill>
            <a:prstDash val="solid"/>
            <a:tailEnd type="triangle"/>
          </a:ln>
        </p:spPr>
      </p:sp>
      <p:sp>
        <p:nvSpPr>
          <p:cNvPr id="28" name="Text 25"/>
          <p:cNvSpPr txBox="1"/>
          <p:nvPr/>
        </p:nvSpPr>
        <p:spPr>
          <a:xfrm>
            <a:off x="4754880" y="2011680"/>
            <a:ext cx="2011680" cy="365760"/>
          </a:xfrm>
          <a:prstGeom prst="rect">
            <a:avLst/>
          </a:prstGeom>
          <a:noFill/>
          <a:ln/>
        </p:spPr>
        <p:txBody>
          <a:bodyPr wrap="square" lIns="0" tIns="0" rIns="0" bIns="0" rtlCol="0" anchor="ctr"/>
          <a:lstStyle/>
          <a:p>
            <a:pPr algn="ctr" indent="0" marL="0">
              <a:buNone/>
            </a:pPr>
            <a:r>
              <a:rPr lang="en-US" sz="1100" i="1" dirty="0">
                <a:solidFill>
                  <a:srgbClr val="6E6878"/>
                </a:solidFill>
                <a:latin typeface="Alexandria" pitchFamily="34" charset="0"/>
                <a:ea typeface="Alexandria" pitchFamily="34" charset="-122"/>
                <a:cs typeface="Alexandria" pitchFamily="34" charset="-120"/>
              </a:rPr>
              <a:t>Millman &amp; Wilson (1995)</a:t>
            </a:r>
            <a:endParaRPr lang="en-US" sz="1100" dirty="0"/>
          </a:p>
        </p:txBody>
      </p:sp>
      <p:sp>
        <p:nvSpPr>
          <p:cNvPr id="29" name="Shape 26"/>
          <p:cNvSpPr/>
          <p:nvPr/>
        </p:nvSpPr>
        <p:spPr>
          <a:xfrm>
            <a:off x="6720840" y="2103120"/>
            <a:ext cx="4922215" cy="914400"/>
          </a:xfrm>
          <a:prstGeom prst="roundRect">
            <a:avLst>
              <a:gd name="adj" fmla="val 50000"/>
            </a:avLst>
          </a:prstGeom>
          <a:solidFill>
            <a:srgbClr val="962B7C"/>
          </a:solidFill>
          <a:ln w="12700">
            <a:solidFill>
              <a:srgbClr val="962B7C"/>
            </a:solidFill>
            <a:prstDash val="solid"/>
          </a:ln>
        </p:spPr>
      </p:sp>
      <p:sp>
        <p:nvSpPr>
          <p:cNvPr id="30" name="Text 27"/>
          <p:cNvSpPr txBox="1"/>
          <p:nvPr/>
        </p:nvSpPr>
        <p:spPr>
          <a:xfrm>
            <a:off x="6793992" y="2103120"/>
            <a:ext cx="4775911"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Alexandria" pitchFamily="34" charset="0"/>
                <a:ea typeface="Alexandria" pitchFamily="34" charset="-122"/>
                <a:cs typeface="Alexandria" pitchFamily="34" charset="-120"/>
              </a:rPr>
              <a:t>Key account MANAGEMENT</a:t>
            </a:r>
            <a:endParaRPr lang="en-US" sz="2000" dirty="0"/>
          </a:p>
        </p:txBody>
      </p:sp>
      <p:sp>
        <p:nvSpPr>
          <p:cNvPr id="31" name="Shape 28"/>
          <p:cNvSpPr/>
          <p:nvPr/>
        </p:nvSpPr>
        <p:spPr>
          <a:xfrm>
            <a:off x="548640" y="3474720"/>
            <a:ext cx="5410048" cy="2514600"/>
          </a:xfrm>
          <a:prstGeom prst="roundRect">
            <a:avLst>
              <a:gd name="adj" fmla="val 4364"/>
            </a:avLst>
          </a:prstGeom>
          <a:solidFill>
            <a:srgbClr val="DDF1FB"/>
          </a:solidFill>
          <a:ln w="12700">
            <a:solidFill>
              <a:srgbClr val="09A1E5"/>
            </a:solidFill>
            <a:prstDash val="solid"/>
          </a:ln>
        </p:spPr>
      </p:sp>
      <p:sp>
        <p:nvSpPr>
          <p:cNvPr id="32" name="Text 29"/>
          <p:cNvSpPr txBox="1"/>
          <p:nvPr/>
        </p:nvSpPr>
        <p:spPr>
          <a:xfrm>
            <a:off x="868680" y="3474720"/>
            <a:ext cx="4769968" cy="2514600"/>
          </a:xfrm>
          <a:prstGeom prst="rect">
            <a:avLst/>
          </a:prstGeom>
          <a:noFill/>
          <a:ln/>
        </p:spPr>
        <p:txBody>
          <a:bodyPr wrap="square" lIns="0" tIns="0" rIns="0" bIns="0" rtlCol="0" anchor="ctr"/>
          <a:lstStyle/>
          <a:p>
            <a:pPr indent="0" marL="0">
              <a:spcAft>
                <a:spcPts val="800"/>
              </a:spcAft>
              <a:buNone/>
            </a:pPr>
            <a:r>
              <a:rPr lang="en-US" sz="1900" b="1" dirty="0">
                <a:solidFill>
                  <a:srgbClr val="2A2238"/>
                </a:solidFill>
                <a:latin typeface="Alexandria" pitchFamily="34" charset="0"/>
                <a:ea typeface="Alexandria" pitchFamily="34" charset="-122"/>
                <a:cs typeface="Alexandria" pitchFamily="34" charset="-120"/>
              </a:rPr>
              <a:t>Người làm KAM cần năng lực rộng hơn</a:t>
            </a:r>
            <a:endParaRPr lang="en-US" sz="1900" dirty="0"/>
          </a:p>
          <a:p>
            <a:pPr indent="0" marL="0">
              <a:spcAft>
                <a:spcPts val="800"/>
              </a:spcAft>
              <a:buNone/>
            </a:pPr>
            <a:r>
              <a:rPr lang="en-US" sz="1500" dirty="0">
                <a:solidFill>
                  <a:srgbClr val="2A2238"/>
                </a:solidFill>
                <a:latin typeface="Alexandria" pitchFamily="34" charset="0"/>
                <a:ea typeface="Alexandria" pitchFamily="34" charset="-122"/>
                <a:cs typeface="Alexandria" pitchFamily="34" charset="-120"/>
              </a:rPr>
              <a:t>phát triển kinh doanh · phân tích ngành · quản trị quan hệ</a:t>
            </a:r>
            <a:endParaRPr lang="en-US" sz="1900" dirty="0"/>
          </a:p>
        </p:txBody>
      </p:sp>
      <p:sp>
        <p:nvSpPr>
          <p:cNvPr id="33" name="Shape 30"/>
          <p:cNvSpPr/>
          <p:nvPr/>
        </p:nvSpPr>
        <p:spPr>
          <a:xfrm>
            <a:off x="6233008" y="3474720"/>
            <a:ext cx="5410048" cy="2514600"/>
          </a:xfrm>
          <a:prstGeom prst="roundRect">
            <a:avLst>
              <a:gd name="adj" fmla="val 4364"/>
            </a:avLst>
          </a:prstGeom>
          <a:solidFill>
            <a:srgbClr val="E1F3EE"/>
          </a:solidFill>
          <a:ln w="12700">
            <a:solidFill>
              <a:srgbClr val="49B296"/>
            </a:solidFill>
            <a:prstDash val="solid"/>
          </a:ln>
        </p:spPr>
      </p:sp>
      <p:sp>
        <p:nvSpPr>
          <p:cNvPr id="34" name="Text 31"/>
          <p:cNvSpPr txBox="1"/>
          <p:nvPr/>
        </p:nvSpPr>
        <p:spPr>
          <a:xfrm>
            <a:off x="6553048" y="3474720"/>
            <a:ext cx="4769968" cy="2514600"/>
          </a:xfrm>
          <a:prstGeom prst="rect">
            <a:avLst/>
          </a:prstGeom>
          <a:noFill/>
          <a:ln/>
        </p:spPr>
        <p:txBody>
          <a:bodyPr wrap="square" lIns="0" tIns="0" rIns="0" bIns="0" rtlCol="0" anchor="ctr"/>
          <a:lstStyle/>
          <a:p>
            <a:pPr indent="0" marL="0">
              <a:spcAft>
                <a:spcPts val="800"/>
              </a:spcAft>
              <a:buNone/>
            </a:pPr>
            <a:r>
              <a:rPr lang="en-US" sz="1900" b="1" dirty="0">
                <a:solidFill>
                  <a:srgbClr val="2A2238"/>
                </a:solidFill>
                <a:latin typeface="Alexandria" pitchFamily="34" charset="0"/>
                <a:ea typeface="Alexandria" pitchFamily="34" charset="-122"/>
                <a:cs typeface="Alexandria" pitchFamily="34" charset="-120"/>
              </a:rPr>
              <a:t>Lợi ích cho cả hai phía</a:t>
            </a:r>
            <a:endParaRPr lang="en-US" sz="1900" dirty="0"/>
          </a:p>
          <a:p>
            <a:pPr indent="0" marL="0">
              <a:spcAft>
                <a:spcPts val="800"/>
              </a:spcAft>
              <a:buNone/>
            </a:pPr>
            <a:r>
              <a:rPr lang="en-US" sz="1500" dirty="0">
                <a:solidFill>
                  <a:srgbClr val="2A2238"/>
                </a:solidFill>
                <a:latin typeface="Alexandria" pitchFamily="34" charset="0"/>
                <a:ea typeface="Alexandria" pitchFamily="34" charset="-122"/>
                <a:cs typeface="Alexandria" pitchFamily="34" charset="-120"/>
              </a:rPr>
              <a:t>quan hệ phát triển qua nhiều giai đoạn — McDonald, Millman &amp; Rogers (1997); học tiếp ở Buổi 4, 8</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KAM có bốn khía cạnh: hoạt động, người tham gia, nguồn lực, mức chính thức hóa</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B04: Homburg, Workman &amp; Jensen (2002), Journal of Marketing.</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6</a:t>
            </a:r>
            <a:endParaRPr lang="en-US" sz="1000" dirty="0"/>
          </a:p>
        </p:txBody>
      </p:sp>
      <p:sp>
        <p:nvSpPr>
          <p:cNvPr id="25" name="Shape 22"/>
          <p:cNvSpPr/>
          <p:nvPr/>
        </p:nvSpPr>
        <p:spPr>
          <a:xfrm>
            <a:off x="548640" y="1874520"/>
            <a:ext cx="5410048" cy="1920240"/>
          </a:xfrm>
          <a:prstGeom prst="roundRect">
            <a:avLst>
              <a:gd name="adj" fmla="val 5714"/>
            </a:avLst>
          </a:prstGeom>
          <a:solidFill>
            <a:srgbClr val="F1E1EE"/>
          </a:solidFill>
          <a:ln w="19050">
            <a:solidFill>
              <a:srgbClr val="962B7C"/>
            </a:solidFill>
            <a:prstDash val="solid"/>
          </a:ln>
        </p:spPr>
      </p:sp>
      <p:sp>
        <p:nvSpPr>
          <p:cNvPr id="26" name="Text 23"/>
          <p:cNvSpPr txBox="1"/>
          <p:nvPr/>
        </p:nvSpPr>
        <p:spPr>
          <a:xfrm>
            <a:off x="868680" y="2057400"/>
            <a:ext cx="4769968" cy="502920"/>
          </a:xfrm>
          <a:prstGeom prst="rect">
            <a:avLst/>
          </a:prstGeom>
          <a:noFill/>
          <a:ln/>
        </p:spPr>
        <p:txBody>
          <a:bodyPr wrap="square" lIns="0" tIns="0" rIns="0" bIns="0" rtlCol="0" anchor="ctr"/>
          <a:lstStyle/>
          <a:p>
            <a:pPr indent="0" marL="0">
              <a:buNone/>
            </a:pPr>
            <a:r>
              <a:rPr lang="en-US" sz="2200" b="1" dirty="0">
                <a:solidFill>
                  <a:srgbClr val="2A2238"/>
                </a:solidFill>
                <a:latin typeface="Alexandria" pitchFamily="34" charset="0"/>
                <a:ea typeface="Alexandria" pitchFamily="34" charset="-122"/>
                <a:cs typeface="Alexandria" pitchFamily="34" charset="-120"/>
              </a:rPr>
              <a:t>Hoạt động</a:t>
            </a:r>
            <a:endParaRPr lang="en-US" sz="2200" dirty="0"/>
          </a:p>
        </p:txBody>
      </p:sp>
      <p:sp>
        <p:nvSpPr>
          <p:cNvPr id="27" name="Text 24"/>
          <p:cNvSpPr txBox="1"/>
          <p:nvPr/>
        </p:nvSpPr>
        <p:spPr>
          <a:xfrm>
            <a:off x="868680" y="2560320"/>
            <a:ext cx="4769968" cy="320040"/>
          </a:xfrm>
          <a:prstGeom prst="rect">
            <a:avLst/>
          </a:prstGeom>
          <a:noFill/>
          <a:ln/>
        </p:spPr>
        <p:txBody>
          <a:bodyPr wrap="square" lIns="0" tIns="0" rIns="0" bIns="0" rtlCol="0" anchor="ctr"/>
          <a:lstStyle/>
          <a:p>
            <a:pPr indent="0" marL="0">
              <a:buNone/>
            </a:pPr>
            <a:r>
              <a:rPr lang="en-US" sz="1300" i="1" dirty="0">
                <a:solidFill>
                  <a:srgbClr val="6E6878"/>
                </a:solidFill>
                <a:latin typeface="Alexandria" pitchFamily="34" charset="0"/>
                <a:ea typeface="Alexandria" pitchFamily="34" charset="-122"/>
                <a:cs typeface="Alexandria" pitchFamily="34" charset="-120"/>
              </a:rPr>
              <a:t>activities</a:t>
            </a:r>
            <a:endParaRPr lang="en-US" sz="1300" dirty="0"/>
          </a:p>
        </p:txBody>
      </p:sp>
      <p:sp>
        <p:nvSpPr>
          <p:cNvPr id="28" name="Text 25"/>
          <p:cNvSpPr txBox="1"/>
          <p:nvPr/>
        </p:nvSpPr>
        <p:spPr>
          <a:xfrm>
            <a:off x="868680" y="2926080"/>
            <a:ext cx="4769968" cy="73152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Hiểu sâu khách hàng, lập kế hoạch riêng, đồng kiến tạo</a:t>
            </a:r>
            <a:endParaRPr lang="en-US" sz="1600" dirty="0"/>
          </a:p>
        </p:txBody>
      </p:sp>
      <p:sp>
        <p:nvSpPr>
          <p:cNvPr id="29" name="Shape 26"/>
          <p:cNvSpPr/>
          <p:nvPr/>
        </p:nvSpPr>
        <p:spPr>
          <a:xfrm>
            <a:off x="6233008" y="1874520"/>
            <a:ext cx="5410048" cy="1920240"/>
          </a:xfrm>
          <a:prstGeom prst="roundRect">
            <a:avLst>
              <a:gd name="adj" fmla="val 5714"/>
            </a:avLst>
          </a:prstGeom>
          <a:solidFill>
            <a:srgbClr val="DDF1FB"/>
          </a:solidFill>
          <a:ln w="19050">
            <a:solidFill>
              <a:srgbClr val="09A1E5"/>
            </a:solidFill>
            <a:prstDash val="solid"/>
          </a:ln>
        </p:spPr>
      </p:sp>
      <p:sp>
        <p:nvSpPr>
          <p:cNvPr id="30" name="Text 27"/>
          <p:cNvSpPr txBox="1"/>
          <p:nvPr/>
        </p:nvSpPr>
        <p:spPr>
          <a:xfrm>
            <a:off x="6553048" y="2057400"/>
            <a:ext cx="4769968" cy="502920"/>
          </a:xfrm>
          <a:prstGeom prst="rect">
            <a:avLst/>
          </a:prstGeom>
          <a:noFill/>
          <a:ln/>
        </p:spPr>
        <p:txBody>
          <a:bodyPr wrap="square" lIns="0" tIns="0" rIns="0" bIns="0" rtlCol="0" anchor="ctr"/>
          <a:lstStyle/>
          <a:p>
            <a:pPr indent="0" marL="0">
              <a:buNone/>
            </a:pPr>
            <a:r>
              <a:rPr lang="en-US" sz="2200" b="1" dirty="0">
                <a:solidFill>
                  <a:srgbClr val="2A2238"/>
                </a:solidFill>
                <a:latin typeface="Alexandria" pitchFamily="34" charset="0"/>
                <a:ea typeface="Alexandria" pitchFamily="34" charset="-122"/>
                <a:cs typeface="Alexandria" pitchFamily="34" charset="-120"/>
              </a:rPr>
              <a:t>Người tham gia</a:t>
            </a:r>
            <a:endParaRPr lang="en-US" sz="2200" dirty="0"/>
          </a:p>
        </p:txBody>
      </p:sp>
      <p:sp>
        <p:nvSpPr>
          <p:cNvPr id="31" name="Text 28"/>
          <p:cNvSpPr txBox="1"/>
          <p:nvPr/>
        </p:nvSpPr>
        <p:spPr>
          <a:xfrm>
            <a:off x="6553048" y="2560320"/>
            <a:ext cx="4769968" cy="320040"/>
          </a:xfrm>
          <a:prstGeom prst="rect">
            <a:avLst/>
          </a:prstGeom>
          <a:noFill/>
          <a:ln/>
        </p:spPr>
        <p:txBody>
          <a:bodyPr wrap="square" lIns="0" tIns="0" rIns="0" bIns="0" rtlCol="0" anchor="ctr"/>
          <a:lstStyle/>
          <a:p>
            <a:pPr indent="0" marL="0">
              <a:buNone/>
            </a:pPr>
            <a:r>
              <a:rPr lang="en-US" sz="1300" i="1" dirty="0">
                <a:solidFill>
                  <a:srgbClr val="6E6878"/>
                </a:solidFill>
                <a:latin typeface="Alexandria" pitchFamily="34" charset="0"/>
                <a:ea typeface="Alexandria" pitchFamily="34" charset="-122"/>
                <a:cs typeface="Alexandria" pitchFamily="34" charset="-120"/>
              </a:rPr>
              <a:t>actors</a:t>
            </a:r>
            <a:endParaRPr lang="en-US" sz="1300" dirty="0"/>
          </a:p>
        </p:txBody>
      </p:sp>
      <p:sp>
        <p:nvSpPr>
          <p:cNvPr id="32" name="Text 29"/>
          <p:cNvSpPr txBox="1"/>
          <p:nvPr/>
        </p:nvSpPr>
        <p:spPr>
          <a:xfrm>
            <a:off x="6553048" y="2926080"/>
            <a:ext cx="4769968" cy="73152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Nhiều người, nhiều cấp ở cả hai bên</a:t>
            </a:r>
            <a:endParaRPr lang="en-US" sz="1600" dirty="0"/>
          </a:p>
        </p:txBody>
      </p:sp>
      <p:sp>
        <p:nvSpPr>
          <p:cNvPr id="33" name="Shape 30"/>
          <p:cNvSpPr/>
          <p:nvPr/>
        </p:nvSpPr>
        <p:spPr>
          <a:xfrm>
            <a:off x="548640" y="3977640"/>
            <a:ext cx="5410048" cy="1920240"/>
          </a:xfrm>
          <a:prstGeom prst="roundRect">
            <a:avLst>
              <a:gd name="adj" fmla="val 5714"/>
            </a:avLst>
          </a:prstGeom>
          <a:solidFill>
            <a:srgbClr val="FFE9DE"/>
          </a:solidFill>
          <a:ln w="19050">
            <a:solidFill>
              <a:srgbClr val="FF9259"/>
            </a:solidFill>
            <a:prstDash val="solid"/>
          </a:ln>
        </p:spPr>
      </p:sp>
      <p:sp>
        <p:nvSpPr>
          <p:cNvPr id="34" name="Text 31"/>
          <p:cNvSpPr txBox="1"/>
          <p:nvPr/>
        </p:nvSpPr>
        <p:spPr>
          <a:xfrm>
            <a:off x="868680" y="4160520"/>
            <a:ext cx="4769968" cy="502920"/>
          </a:xfrm>
          <a:prstGeom prst="rect">
            <a:avLst/>
          </a:prstGeom>
          <a:noFill/>
          <a:ln/>
        </p:spPr>
        <p:txBody>
          <a:bodyPr wrap="square" lIns="0" tIns="0" rIns="0" bIns="0" rtlCol="0" anchor="ctr"/>
          <a:lstStyle/>
          <a:p>
            <a:pPr indent="0" marL="0">
              <a:buNone/>
            </a:pPr>
            <a:r>
              <a:rPr lang="en-US" sz="2200" b="1" dirty="0">
                <a:solidFill>
                  <a:srgbClr val="2A2238"/>
                </a:solidFill>
                <a:latin typeface="Alexandria" pitchFamily="34" charset="0"/>
                <a:ea typeface="Alexandria" pitchFamily="34" charset="-122"/>
                <a:cs typeface="Alexandria" pitchFamily="34" charset="-120"/>
              </a:rPr>
              <a:t>Nguồn lực</a:t>
            </a:r>
            <a:endParaRPr lang="en-US" sz="2200" dirty="0"/>
          </a:p>
        </p:txBody>
      </p:sp>
      <p:sp>
        <p:nvSpPr>
          <p:cNvPr id="35" name="Text 32"/>
          <p:cNvSpPr txBox="1"/>
          <p:nvPr/>
        </p:nvSpPr>
        <p:spPr>
          <a:xfrm>
            <a:off x="868680" y="4663440"/>
            <a:ext cx="4769968" cy="320040"/>
          </a:xfrm>
          <a:prstGeom prst="rect">
            <a:avLst/>
          </a:prstGeom>
          <a:noFill/>
          <a:ln/>
        </p:spPr>
        <p:txBody>
          <a:bodyPr wrap="square" lIns="0" tIns="0" rIns="0" bIns="0" rtlCol="0" anchor="ctr"/>
          <a:lstStyle/>
          <a:p>
            <a:pPr indent="0" marL="0">
              <a:buNone/>
            </a:pPr>
            <a:r>
              <a:rPr lang="en-US" sz="1300" i="1" dirty="0">
                <a:solidFill>
                  <a:srgbClr val="6E6878"/>
                </a:solidFill>
                <a:latin typeface="Alexandria" pitchFamily="34" charset="0"/>
                <a:ea typeface="Alexandria" pitchFamily="34" charset="-122"/>
                <a:cs typeface="Alexandria" pitchFamily="34" charset="-120"/>
              </a:rPr>
              <a:t>resources</a:t>
            </a:r>
            <a:endParaRPr lang="en-US" sz="1300" dirty="0"/>
          </a:p>
        </p:txBody>
      </p:sp>
      <p:sp>
        <p:nvSpPr>
          <p:cNvPr id="36" name="Text 33"/>
          <p:cNvSpPr txBox="1"/>
          <p:nvPr/>
        </p:nvSpPr>
        <p:spPr>
          <a:xfrm>
            <a:off x="868680" y="5029200"/>
            <a:ext cx="4769968" cy="73152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Dành riêng cho khách hàng này</a:t>
            </a:r>
            <a:endParaRPr lang="en-US" sz="1600" dirty="0"/>
          </a:p>
        </p:txBody>
      </p:sp>
      <p:sp>
        <p:nvSpPr>
          <p:cNvPr id="37" name="Shape 34"/>
          <p:cNvSpPr/>
          <p:nvPr/>
        </p:nvSpPr>
        <p:spPr>
          <a:xfrm>
            <a:off x="6233008" y="3977640"/>
            <a:ext cx="5410048" cy="1920240"/>
          </a:xfrm>
          <a:prstGeom prst="roundRect">
            <a:avLst>
              <a:gd name="adj" fmla="val 5714"/>
            </a:avLst>
          </a:prstGeom>
          <a:solidFill>
            <a:srgbClr val="E1F3EE"/>
          </a:solidFill>
          <a:ln w="19050">
            <a:solidFill>
              <a:srgbClr val="49B296"/>
            </a:solidFill>
            <a:prstDash val="solid"/>
          </a:ln>
        </p:spPr>
      </p:sp>
      <p:sp>
        <p:nvSpPr>
          <p:cNvPr id="38" name="Text 35"/>
          <p:cNvSpPr txBox="1"/>
          <p:nvPr/>
        </p:nvSpPr>
        <p:spPr>
          <a:xfrm>
            <a:off x="6553048" y="4160520"/>
            <a:ext cx="4769968" cy="502920"/>
          </a:xfrm>
          <a:prstGeom prst="rect">
            <a:avLst/>
          </a:prstGeom>
          <a:noFill/>
          <a:ln/>
        </p:spPr>
        <p:txBody>
          <a:bodyPr wrap="square" lIns="0" tIns="0" rIns="0" bIns="0" rtlCol="0" anchor="ctr"/>
          <a:lstStyle/>
          <a:p>
            <a:pPr indent="0" marL="0">
              <a:buNone/>
            </a:pPr>
            <a:r>
              <a:rPr lang="en-US" sz="2200" b="1" dirty="0">
                <a:solidFill>
                  <a:srgbClr val="2A2238"/>
                </a:solidFill>
                <a:latin typeface="Alexandria" pitchFamily="34" charset="0"/>
                <a:ea typeface="Alexandria" pitchFamily="34" charset="-122"/>
                <a:cs typeface="Alexandria" pitchFamily="34" charset="-120"/>
              </a:rPr>
              <a:t>Mức chính thức hóa</a:t>
            </a:r>
            <a:endParaRPr lang="en-US" sz="2200" dirty="0"/>
          </a:p>
        </p:txBody>
      </p:sp>
      <p:sp>
        <p:nvSpPr>
          <p:cNvPr id="39" name="Text 36"/>
          <p:cNvSpPr txBox="1"/>
          <p:nvPr/>
        </p:nvSpPr>
        <p:spPr>
          <a:xfrm>
            <a:off x="6553048" y="4663440"/>
            <a:ext cx="4769968" cy="320040"/>
          </a:xfrm>
          <a:prstGeom prst="rect">
            <a:avLst/>
          </a:prstGeom>
          <a:noFill/>
          <a:ln/>
        </p:spPr>
        <p:txBody>
          <a:bodyPr wrap="square" lIns="0" tIns="0" rIns="0" bIns="0" rtlCol="0" anchor="ctr"/>
          <a:lstStyle/>
          <a:p>
            <a:pPr indent="0" marL="0">
              <a:buNone/>
            </a:pPr>
            <a:r>
              <a:rPr lang="en-US" sz="1300" i="1" dirty="0">
                <a:solidFill>
                  <a:srgbClr val="6E6878"/>
                </a:solidFill>
                <a:latin typeface="Alexandria" pitchFamily="34" charset="0"/>
                <a:ea typeface="Alexandria" pitchFamily="34" charset="-122"/>
                <a:cs typeface="Alexandria" pitchFamily="34" charset="-120"/>
              </a:rPr>
              <a:t>formalization</a:t>
            </a:r>
            <a:endParaRPr lang="en-US" sz="1300" dirty="0"/>
          </a:p>
        </p:txBody>
      </p:sp>
      <p:sp>
        <p:nvSpPr>
          <p:cNvPr id="40" name="Text 37"/>
          <p:cNvSpPr txBox="1"/>
          <p:nvPr/>
        </p:nvSpPr>
        <p:spPr>
          <a:xfrm>
            <a:off x="6553048" y="5029200"/>
            <a:ext cx="4769968" cy="73152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Có quy trình, kế hoạch, đánh giá định kỳ</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Sales và KAM khác nhau ở mục tiêu, thời gian và cách tạo giá trị</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Bảng tổng hợp của người soạn, dựa trên B02–B05; bốn khía cạnh theo Homburg et al. (2002).</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7</a:t>
            </a:r>
            <a:endParaRPr lang="en-US" sz="1000" dirty="0"/>
          </a:p>
        </p:txBody>
      </p:sp>
      <p:sp>
        <p:nvSpPr>
          <p:cNvPr id="25" name="Shape 22"/>
          <p:cNvSpPr/>
          <p:nvPr/>
        </p:nvSpPr>
        <p:spPr>
          <a:xfrm>
            <a:off x="3200400" y="1783080"/>
            <a:ext cx="4129888" cy="457200"/>
          </a:xfrm>
          <a:prstGeom prst="roundRect">
            <a:avLst>
              <a:gd name="adj" fmla="val 24000"/>
            </a:avLst>
          </a:prstGeom>
          <a:solidFill>
            <a:srgbClr val="6E6878"/>
          </a:solidFill>
          <a:ln w="12700">
            <a:solidFill>
              <a:srgbClr val="6E6878"/>
            </a:solidFill>
            <a:prstDash val="solid"/>
          </a:ln>
        </p:spPr>
      </p:sp>
      <p:sp>
        <p:nvSpPr>
          <p:cNvPr id="26" name="Text 23"/>
          <p:cNvSpPr txBox="1"/>
          <p:nvPr/>
        </p:nvSpPr>
        <p:spPr>
          <a:xfrm>
            <a:off x="3364992" y="1783080"/>
            <a:ext cx="3800704" cy="45720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Sales · bán cho khách lớn</a:t>
            </a:r>
            <a:endParaRPr lang="en-US" sz="1500" dirty="0"/>
          </a:p>
        </p:txBody>
      </p:sp>
      <p:sp>
        <p:nvSpPr>
          <p:cNvPr id="27" name="Shape 24"/>
          <p:cNvSpPr/>
          <p:nvPr/>
        </p:nvSpPr>
        <p:spPr>
          <a:xfrm>
            <a:off x="7421728" y="1783080"/>
            <a:ext cx="4129888" cy="457200"/>
          </a:xfrm>
          <a:prstGeom prst="roundRect">
            <a:avLst>
              <a:gd name="adj" fmla="val 24000"/>
            </a:avLst>
          </a:prstGeom>
          <a:solidFill>
            <a:srgbClr val="962B7C"/>
          </a:solidFill>
          <a:ln w="12700">
            <a:solidFill>
              <a:srgbClr val="962B7C"/>
            </a:solidFill>
            <a:prstDash val="solid"/>
          </a:ln>
        </p:spPr>
      </p:sp>
      <p:sp>
        <p:nvSpPr>
          <p:cNvPr id="28" name="Text 25"/>
          <p:cNvSpPr txBox="1"/>
          <p:nvPr/>
        </p:nvSpPr>
        <p:spPr>
          <a:xfrm>
            <a:off x="7586320" y="1783080"/>
            <a:ext cx="3800704" cy="45720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KAM</a:t>
            </a:r>
            <a:endParaRPr lang="en-US" sz="1500" dirty="0"/>
          </a:p>
        </p:txBody>
      </p:sp>
      <p:sp>
        <p:nvSpPr>
          <p:cNvPr id="29" name="Shape 26"/>
          <p:cNvSpPr/>
          <p:nvPr/>
        </p:nvSpPr>
        <p:spPr>
          <a:xfrm>
            <a:off x="548640" y="2350008"/>
            <a:ext cx="11002975" cy="502920"/>
          </a:xfrm>
          <a:prstGeom prst="rect">
            <a:avLst/>
          </a:prstGeom>
          <a:solidFill>
            <a:srgbClr val="F3F0E6"/>
          </a:solidFill>
          <a:ln w="12700">
            <a:solidFill>
              <a:srgbClr val="F3F0E6"/>
            </a:solidFill>
            <a:prstDash val="solid"/>
          </a:ln>
        </p:spPr>
      </p:sp>
      <p:sp>
        <p:nvSpPr>
          <p:cNvPr id="30" name="Text 27"/>
          <p:cNvSpPr txBox="1"/>
          <p:nvPr/>
        </p:nvSpPr>
        <p:spPr>
          <a:xfrm>
            <a:off x="713232" y="2350008"/>
            <a:ext cx="2322576" cy="5029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Mục tiêu</a:t>
            </a:r>
            <a:endParaRPr lang="en-US" sz="1400" dirty="0"/>
          </a:p>
        </p:txBody>
      </p:sp>
      <p:sp>
        <p:nvSpPr>
          <p:cNvPr id="31" name="Text 28"/>
          <p:cNvSpPr txBox="1"/>
          <p:nvPr/>
        </p:nvSpPr>
        <p:spPr>
          <a:xfrm>
            <a:off x="3364992" y="2350008"/>
            <a:ext cx="3892144"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Chốt hợp đồng, doanh số kỳ này</a:t>
            </a:r>
            <a:endParaRPr lang="en-US" sz="1400" dirty="0"/>
          </a:p>
        </p:txBody>
      </p:sp>
      <p:sp>
        <p:nvSpPr>
          <p:cNvPr id="32" name="Text 29"/>
          <p:cNvSpPr txBox="1"/>
          <p:nvPr/>
        </p:nvSpPr>
        <p:spPr>
          <a:xfrm>
            <a:off x="7586320" y="2350008"/>
            <a:ext cx="3892144"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Giá trị dài hạn cho cả hai bên</a:t>
            </a:r>
            <a:endParaRPr lang="en-US" sz="1400" dirty="0"/>
          </a:p>
        </p:txBody>
      </p:sp>
      <p:sp>
        <p:nvSpPr>
          <p:cNvPr id="33" name="Text 30"/>
          <p:cNvSpPr txBox="1"/>
          <p:nvPr/>
        </p:nvSpPr>
        <p:spPr>
          <a:xfrm>
            <a:off x="713232" y="2907792"/>
            <a:ext cx="2322576" cy="5029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Tầm nhìn thời gian</a:t>
            </a:r>
            <a:endParaRPr lang="en-US" sz="1400" dirty="0"/>
          </a:p>
        </p:txBody>
      </p:sp>
      <p:sp>
        <p:nvSpPr>
          <p:cNvPr id="34" name="Text 31"/>
          <p:cNvSpPr txBox="1"/>
          <p:nvPr/>
        </p:nvSpPr>
        <p:spPr>
          <a:xfrm>
            <a:off x="3364992" y="2907792"/>
            <a:ext cx="3892144"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Từng sự kiện, từng quý</a:t>
            </a:r>
            <a:endParaRPr lang="en-US" sz="1400" dirty="0"/>
          </a:p>
        </p:txBody>
      </p:sp>
      <p:sp>
        <p:nvSpPr>
          <p:cNvPr id="35" name="Text 32"/>
          <p:cNvSpPr txBox="1"/>
          <p:nvPr/>
        </p:nvSpPr>
        <p:spPr>
          <a:xfrm>
            <a:off x="7586320" y="2907792"/>
            <a:ext cx="3892144"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Nhiều năm (3–5 năm)</a:t>
            </a:r>
            <a:endParaRPr lang="en-US" sz="1400" dirty="0"/>
          </a:p>
        </p:txBody>
      </p:sp>
      <p:sp>
        <p:nvSpPr>
          <p:cNvPr id="36" name="Shape 33"/>
          <p:cNvSpPr/>
          <p:nvPr/>
        </p:nvSpPr>
        <p:spPr>
          <a:xfrm>
            <a:off x="548640" y="3465576"/>
            <a:ext cx="11002975" cy="502920"/>
          </a:xfrm>
          <a:prstGeom prst="rect">
            <a:avLst/>
          </a:prstGeom>
          <a:solidFill>
            <a:srgbClr val="F3F0E6"/>
          </a:solidFill>
          <a:ln w="12700">
            <a:solidFill>
              <a:srgbClr val="F3F0E6"/>
            </a:solidFill>
            <a:prstDash val="solid"/>
          </a:ln>
        </p:spPr>
      </p:sp>
      <p:sp>
        <p:nvSpPr>
          <p:cNvPr id="37" name="Text 34"/>
          <p:cNvSpPr txBox="1"/>
          <p:nvPr/>
        </p:nvSpPr>
        <p:spPr>
          <a:xfrm>
            <a:off x="713232" y="3465576"/>
            <a:ext cx="2322576" cy="5029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Hoạt động</a:t>
            </a:r>
            <a:endParaRPr lang="en-US" sz="1400" dirty="0"/>
          </a:p>
        </p:txBody>
      </p:sp>
      <p:sp>
        <p:nvSpPr>
          <p:cNvPr id="38" name="Text 35"/>
          <p:cNvSpPr txBox="1"/>
          <p:nvPr/>
        </p:nvSpPr>
        <p:spPr>
          <a:xfrm>
            <a:off x="3364992" y="3465576"/>
            <a:ext cx="3892144"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Chào giá, đấu thầu, chăm sóc</a:t>
            </a:r>
            <a:endParaRPr lang="en-US" sz="1400" dirty="0"/>
          </a:p>
        </p:txBody>
      </p:sp>
      <p:sp>
        <p:nvSpPr>
          <p:cNvPr id="39" name="Text 36"/>
          <p:cNvSpPr txBox="1"/>
          <p:nvPr/>
        </p:nvSpPr>
        <p:spPr>
          <a:xfrm>
            <a:off x="7586320" y="3465576"/>
            <a:ext cx="3892144"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Hiểu sâu, kế hoạch riêng, đồng kiến tạo</a:t>
            </a:r>
            <a:endParaRPr lang="en-US" sz="1400" dirty="0"/>
          </a:p>
        </p:txBody>
      </p:sp>
      <p:sp>
        <p:nvSpPr>
          <p:cNvPr id="40" name="Text 37"/>
          <p:cNvSpPr txBox="1"/>
          <p:nvPr/>
        </p:nvSpPr>
        <p:spPr>
          <a:xfrm>
            <a:off x="713232" y="4023360"/>
            <a:ext cx="2322576" cy="5029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Người tham gia</a:t>
            </a:r>
            <a:endParaRPr lang="en-US" sz="1400" dirty="0"/>
          </a:p>
        </p:txBody>
      </p:sp>
      <p:sp>
        <p:nvSpPr>
          <p:cNvPr id="41" name="Text 38"/>
          <p:cNvSpPr txBox="1"/>
          <p:nvPr/>
        </p:nvSpPr>
        <p:spPr>
          <a:xfrm>
            <a:off x="3364992" y="4023360"/>
            <a:ext cx="3892144"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Một người bán ↔ một người mua</a:t>
            </a:r>
            <a:endParaRPr lang="en-US" sz="1400" dirty="0"/>
          </a:p>
        </p:txBody>
      </p:sp>
      <p:sp>
        <p:nvSpPr>
          <p:cNvPr id="42" name="Text 39"/>
          <p:cNvSpPr txBox="1"/>
          <p:nvPr/>
        </p:nvSpPr>
        <p:spPr>
          <a:xfrm>
            <a:off x="7586320" y="4023360"/>
            <a:ext cx="3892144"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Nhiều người, nhiều cấp hai bên</a:t>
            </a:r>
            <a:endParaRPr lang="en-US" sz="1400" dirty="0"/>
          </a:p>
        </p:txBody>
      </p:sp>
      <p:sp>
        <p:nvSpPr>
          <p:cNvPr id="43" name="Shape 40"/>
          <p:cNvSpPr/>
          <p:nvPr/>
        </p:nvSpPr>
        <p:spPr>
          <a:xfrm>
            <a:off x="548640" y="4581144"/>
            <a:ext cx="11002975" cy="502920"/>
          </a:xfrm>
          <a:prstGeom prst="rect">
            <a:avLst/>
          </a:prstGeom>
          <a:solidFill>
            <a:srgbClr val="F3F0E6"/>
          </a:solidFill>
          <a:ln w="12700">
            <a:solidFill>
              <a:srgbClr val="F3F0E6"/>
            </a:solidFill>
            <a:prstDash val="solid"/>
          </a:ln>
        </p:spPr>
      </p:sp>
      <p:sp>
        <p:nvSpPr>
          <p:cNvPr id="44" name="Text 41"/>
          <p:cNvSpPr txBox="1"/>
          <p:nvPr/>
        </p:nvSpPr>
        <p:spPr>
          <a:xfrm>
            <a:off x="713232" y="4581144"/>
            <a:ext cx="2322576" cy="5029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Nguồn lực</a:t>
            </a:r>
            <a:endParaRPr lang="en-US" sz="1400" dirty="0"/>
          </a:p>
        </p:txBody>
      </p:sp>
      <p:sp>
        <p:nvSpPr>
          <p:cNvPr id="45" name="Text 42"/>
          <p:cNvSpPr txBox="1"/>
          <p:nvPr/>
        </p:nvSpPr>
        <p:spPr>
          <a:xfrm>
            <a:off x="3364992" y="4581144"/>
            <a:ext cx="3892144"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Chung cho mọi khách</a:t>
            </a:r>
            <a:endParaRPr lang="en-US" sz="1400" dirty="0"/>
          </a:p>
        </p:txBody>
      </p:sp>
      <p:sp>
        <p:nvSpPr>
          <p:cNvPr id="46" name="Text 43"/>
          <p:cNvSpPr txBox="1"/>
          <p:nvPr/>
        </p:nvSpPr>
        <p:spPr>
          <a:xfrm>
            <a:off x="7586320" y="4581144"/>
            <a:ext cx="3892144"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Dành riêng cho khách hàng này</a:t>
            </a:r>
            <a:endParaRPr lang="en-US" sz="1400" dirty="0"/>
          </a:p>
        </p:txBody>
      </p:sp>
      <p:sp>
        <p:nvSpPr>
          <p:cNvPr id="47" name="Text 44"/>
          <p:cNvSpPr txBox="1"/>
          <p:nvPr/>
        </p:nvSpPr>
        <p:spPr>
          <a:xfrm>
            <a:off x="713232" y="5138928"/>
            <a:ext cx="2322576" cy="5029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Mức chính thức hóa</a:t>
            </a:r>
            <a:endParaRPr lang="en-US" sz="1400" dirty="0"/>
          </a:p>
        </p:txBody>
      </p:sp>
      <p:sp>
        <p:nvSpPr>
          <p:cNvPr id="48" name="Text 45"/>
          <p:cNvSpPr txBox="1"/>
          <p:nvPr/>
        </p:nvSpPr>
        <p:spPr>
          <a:xfrm>
            <a:off x="3364992" y="5138928"/>
            <a:ext cx="3892144"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Tùy người</a:t>
            </a:r>
            <a:endParaRPr lang="en-US" sz="1400" dirty="0"/>
          </a:p>
        </p:txBody>
      </p:sp>
      <p:sp>
        <p:nvSpPr>
          <p:cNvPr id="49" name="Text 46"/>
          <p:cNvSpPr txBox="1"/>
          <p:nvPr/>
        </p:nvSpPr>
        <p:spPr>
          <a:xfrm>
            <a:off x="7586320" y="5138928"/>
            <a:ext cx="3892144"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Quy trình, kế hoạch, đánh giá định kỳ</a:t>
            </a:r>
            <a:endParaRPr lang="en-US" sz="1400" dirty="0"/>
          </a:p>
        </p:txBody>
      </p:sp>
      <p:sp>
        <p:nvSpPr>
          <p:cNvPr id="50" name="Shape 47"/>
          <p:cNvSpPr/>
          <p:nvPr/>
        </p:nvSpPr>
        <p:spPr>
          <a:xfrm>
            <a:off x="548640" y="5696712"/>
            <a:ext cx="11002975" cy="502920"/>
          </a:xfrm>
          <a:prstGeom prst="rect">
            <a:avLst/>
          </a:prstGeom>
          <a:solidFill>
            <a:srgbClr val="F3F0E6"/>
          </a:solidFill>
          <a:ln w="12700">
            <a:solidFill>
              <a:srgbClr val="F3F0E6"/>
            </a:solidFill>
            <a:prstDash val="solid"/>
          </a:ln>
        </p:spPr>
      </p:sp>
      <p:sp>
        <p:nvSpPr>
          <p:cNvPr id="51" name="Text 48"/>
          <p:cNvSpPr txBox="1"/>
          <p:nvPr/>
        </p:nvSpPr>
        <p:spPr>
          <a:xfrm>
            <a:off x="713232" y="5696712"/>
            <a:ext cx="2322576" cy="5029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Cách tạo giá trị</a:t>
            </a:r>
            <a:endParaRPr lang="en-US" sz="1400" dirty="0"/>
          </a:p>
        </p:txBody>
      </p:sp>
      <p:sp>
        <p:nvSpPr>
          <p:cNvPr id="52" name="Text 49"/>
          <p:cNvSpPr txBox="1"/>
          <p:nvPr/>
        </p:nvSpPr>
        <p:spPr>
          <a:xfrm>
            <a:off x="3364992" y="5696712"/>
            <a:ext cx="3892144"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Dịch vụ tốt, giá tốt</a:t>
            </a:r>
            <a:endParaRPr lang="en-US" sz="1400" dirty="0"/>
          </a:p>
        </p:txBody>
      </p:sp>
      <p:sp>
        <p:nvSpPr>
          <p:cNvPr id="53" name="Text 50"/>
          <p:cNvSpPr txBox="1"/>
          <p:nvPr/>
        </p:nvSpPr>
        <p:spPr>
          <a:xfrm>
            <a:off x="7586320" y="5696712"/>
            <a:ext cx="3892144"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Lợi thế cho khách hàng (và khách của họ)</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Với An Phát: chờ brief gala, hay đề xuất chương trình cả năm?</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Tình huống giả định Nova Events – Ngân hàng An Phát.</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8</a:t>
            </a:r>
            <a:endParaRPr lang="en-US" sz="1000" dirty="0"/>
          </a:p>
        </p:txBody>
      </p:sp>
      <p:sp>
        <p:nvSpPr>
          <p:cNvPr id="25" name="Shape 22"/>
          <p:cNvSpPr/>
          <p:nvPr/>
        </p:nvSpPr>
        <p:spPr>
          <a:xfrm>
            <a:off x="548640" y="1874520"/>
            <a:ext cx="5410048" cy="548640"/>
          </a:xfrm>
          <a:prstGeom prst="roundRect">
            <a:avLst>
              <a:gd name="adj" fmla="val 50000"/>
            </a:avLst>
          </a:prstGeom>
          <a:solidFill>
            <a:srgbClr val="6E6878"/>
          </a:solidFill>
          <a:ln w="12700">
            <a:solidFill>
              <a:srgbClr val="6E6878"/>
            </a:solidFill>
            <a:prstDash val="solid"/>
          </a:ln>
        </p:spPr>
      </p:sp>
      <p:sp>
        <p:nvSpPr>
          <p:cNvPr id="26" name="Text 23"/>
          <p:cNvSpPr txBox="1"/>
          <p:nvPr/>
        </p:nvSpPr>
        <p:spPr>
          <a:xfrm>
            <a:off x="621792" y="1874520"/>
            <a:ext cx="5263744"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Cách Sales</a:t>
            </a:r>
            <a:endParaRPr lang="en-US" sz="1700" dirty="0"/>
          </a:p>
        </p:txBody>
      </p:sp>
      <p:sp>
        <p:nvSpPr>
          <p:cNvPr id="27" name="Shape 24"/>
          <p:cNvSpPr/>
          <p:nvPr/>
        </p:nvSpPr>
        <p:spPr>
          <a:xfrm>
            <a:off x="548640" y="2560320"/>
            <a:ext cx="5410048" cy="3429000"/>
          </a:xfrm>
          <a:prstGeom prst="roundRect">
            <a:avLst>
              <a:gd name="adj" fmla="val 3200"/>
            </a:avLst>
          </a:prstGeom>
          <a:solidFill>
            <a:srgbClr val="FFFFFF"/>
          </a:solidFill>
          <a:ln w="12700">
            <a:solidFill>
              <a:srgbClr val="DCD7C8"/>
            </a:solidFill>
            <a:prstDash val="solid"/>
          </a:ln>
        </p:spPr>
      </p:sp>
      <p:sp>
        <p:nvSpPr>
          <p:cNvPr id="28" name="Text 25"/>
          <p:cNvSpPr txBox="1"/>
          <p:nvPr/>
        </p:nvSpPr>
        <p:spPr>
          <a:xfrm>
            <a:off x="868680" y="2743200"/>
            <a:ext cx="4769968" cy="31089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6E6878"/>
                </a:solidFill>
                <a:latin typeface="Alexandria" pitchFamily="34" charset="0"/>
                <a:ea typeface="Alexandria" pitchFamily="34" charset="-122"/>
                <a:cs typeface="Alexandria" pitchFamily="34" charset="-120"/>
              </a:rPr>
              <a:t>Mỗi năm chờ An Phát gửi brief gala</a:t>
            </a:r>
            <a:endParaRPr lang="en-US" sz="1800" dirty="0"/>
          </a:p>
          <a:p>
            <a:pPr marL="342900" indent="-342900">
              <a:spcAft>
                <a:spcPts val="1400"/>
              </a:spcAft>
              <a:buSzPct val="100000"/>
              <a:buChar char="•"/>
            </a:pPr>
            <a:r>
              <a:rPr lang="en-US" sz="1800" dirty="0">
                <a:solidFill>
                  <a:srgbClr val="6E6878"/>
                </a:solidFill>
                <a:latin typeface="Alexandria" pitchFamily="34" charset="0"/>
                <a:ea typeface="Alexandria" pitchFamily="34" charset="-122"/>
                <a:cs typeface="Alexandria" pitchFamily="34" charset="-120"/>
              </a:rPr>
              <a:t>Làm đề xuất, chào giá</a:t>
            </a:r>
            <a:endParaRPr lang="en-US" sz="1800" dirty="0"/>
          </a:p>
          <a:p>
            <a:pPr marL="342900" indent="-342900">
              <a:spcAft>
                <a:spcPts val="1400"/>
              </a:spcAft>
              <a:buSzPct val="100000"/>
              <a:buChar char="•"/>
            </a:pPr>
            <a:r>
              <a:rPr lang="en-US" sz="1800" dirty="0">
                <a:solidFill>
                  <a:srgbClr val="6E6878"/>
                </a:solidFill>
                <a:latin typeface="Alexandria" pitchFamily="34" charset="0"/>
                <a:ea typeface="Alexandria" pitchFamily="34" charset="-122"/>
                <a:cs typeface="Alexandria" pitchFamily="34" charset="-120"/>
              </a:rPr>
              <a:t>Làm xong thì chờ năm sau</a:t>
            </a:r>
            <a:endParaRPr lang="en-US" sz="1800" dirty="0"/>
          </a:p>
        </p:txBody>
      </p:sp>
      <p:sp>
        <p:nvSpPr>
          <p:cNvPr id="29" name="Shape 26"/>
          <p:cNvSpPr/>
          <p:nvPr/>
        </p:nvSpPr>
        <p:spPr>
          <a:xfrm>
            <a:off x="6233008" y="1874520"/>
            <a:ext cx="5410048" cy="548640"/>
          </a:xfrm>
          <a:prstGeom prst="roundRect">
            <a:avLst>
              <a:gd name="adj" fmla="val 50000"/>
            </a:avLst>
          </a:prstGeom>
          <a:solidFill>
            <a:srgbClr val="962B7C"/>
          </a:solidFill>
          <a:ln w="12700">
            <a:solidFill>
              <a:srgbClr val="962B7C"/>
            </a:solidFill>
            <a:prstDash val="solid"/>
          </a:ln>
        </p:spPr>
      </p:sp>
      <p:sp>
        <p:nvSpPr>
          <p:cNvPr id="30" name="Text 27"/>
          <p:cNvSpPr txBox="1"/>
          <p:nvPr/>
        </p:nvSpPr>
        <p:spPr>
          <a:xfrm>
            <a:off x="6306160" y="1874520"/>
            <a:ext cx="5263744"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Cách KAM</a:t>
            </a:r>
            <a:endParaRPr lang="en-US" sz="1700" dirty="0"/>
          </a:p>
        </p:txBody>
      </p:sp>
      <p:sp>
        <p:nvSpPr>
          <p:cNvPr id="31" name="Shape 28"/>
          <p:cNvSpPr/>
          <p:nvPr/>
        </p:nvSpPr>
        <p:spPr>
          <a:xfrm>
            <a:off x="6233008" y="2560320"/>
            <a:ext cx="5410048" cy="3429000"/>
          </a:xfrm>
          <a:prstGeom prst="roundRect">
            <a:avLst>
              <a:gd name="adj" fmla="val 3200"/>
            </a:avLst>
          </a:prstGeom>
          <a:solidFill>
            <a:srgbClr val="F1E1EE"/>
          </a:solidFill>
          <a:ln w="12700">
            <a:solidFill>
              <a:srgbClr val="962B7C"/>
            </a:solidFill>
            <a:prstDash val="solid"/>
          </a:ln>
        </p:spPr>
      </p:sp>
      <p:sp>
        <p:nvSpPr>
          <p:cNvPr id="32" name="Text 29"/>
          <p:cNvSpPr txBox="1"/>
          <p:nvPr/>
        </p:nvSpPr>
        <p:spPr>
          <a:xfrm>
            <a:off x="6553048" y="2743200"/>
            <a:ext cx="4769968" cy="31089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2A2238"/>
                </a:solidFill>
                <a:latin typeface="Alexandria" pitchFamily="34" charset="0"/>
                <a:ea typeface="Alexandria" pitchFamily="34" charset="-122"/>
                <a:cs typeface="Alexandria" pitchFamily="34" charset="-120"/>
              </a:rPr>
              <a:t>Hiểu mục tiêu kinh doanh năm tới của An Phát: giữ khách doanh nghiệp</a:t>
            </a:r>
            <a:endParaRPr lang="en-US" sz="1800" dirty="0"/>
          </a:p>
          <a:p>
            <a:pPr marL="342900" indent="-342900">
              <a:spcAft>
                <a:spcPts val="1400"/>
              </a:spcAft>
              <a:buSzPct val="100000"/>
              <a:buChar char="•"/>
            </a:pPr>
            <a:r>
              <a:rPr lang="en-US" sz="1800" dirty="0">
                <a:solidFill>
                  <a:srgbClr val="2A2238"/>
                </a:solidFill>
                <a:latin typeface="Alexandria" pitchFamily="34" charset="0"/>
                <a:ea typeface="Alexandria" pitchFamily="34" charset="-122"/>
                <a:cs typeface="Alexandria" pitchFamily="34" charset="-120"/>
              </a:rPr>
              <a:t>Đề xuất chương trình khách hàng cả năm</a:t>
            </a:r>
            <a:endParaRPr lang="en-US" sz="1800" dirty="0"/>
          </a:p>
          <a:p>
            <a:pPr marL="342900" indent="-342900">
              <a:spcAft>
                <a:spcPts val="1400"/>
              </a:spcAft>
              <a:buSzPct val="100000"/>
              <a:buChar char="•"/>
            </a:pPr>
            <a:r>
              <a:rPr lang="en-US" sz="1800" dirty="0">
                <a:solidFill>
                  <a:srgbClr val="2A2238"/>
                </a:solidFill>
                <a:latin typeface="Alexandria" pitchFamily="34" charset="0"/>
                <a:ea typeface="Alexandria" pitchFamily="34" charset="-122"/>
                <a:cs typeface="Alexandria" pitchFamily="34" charset="-120"/>
              </a:rPr>
              <a:t>Đầu mối nhiều cấp</a:t>
            </a:r>
            <a:endParaRPr lang="en-US" sz="1800" dirty="0"/>
          </a:p>
          <a:p>
            <a:pPr marL="342900" indent="-342900">
              <a:spcAft>
                <a:spcPts val="1400"/>
              </a:spcAft>
              <a:buSzPct val="100000"/>
              <a:buChar char="•"/>
            </a:pPr>
            <a:r>
              <a:rPr lang="en-US" sz="1800" dirty="0">
                <a:solidFill>
                  <a:srgbClr val="2A2238"/>
                </a:solidFill>
                <a:latin typeface="Alexandria" pitchFamily="34" charset="0"/>
                <a:ea typeface="Alexandria" pitchFamily="34" charset="-122"/>
                <a:cs typeface="Alexandria" pitchFamily="34" charset="-120"/>
              </a:rPr>
              <a:t>Đánh giá chung sau mỗi sự kiện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KAM không có nghĩa là chiều khách</a:t>
            </a:r>
            <a:endParaRPr lang="en-US" sz="2600" dirty="0"/>
          </a:p>
        </p:txBody>
      </p:sp>
      <p:sp>
        <p:nvSpPr>
          <p:cNvPr id="22" name="Text 20"/>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9</a:t>
            </a:r>
            <a:endParaRPr lang="en-US" sz="1000" dirty="0"/>
          </a:p>
        </p:txBody>
      </p:sp>
      <p:sp>
        <p:nvSpPr>
          <p:cNvPr id="24" name="Shape 21"/>
          <p:cNvSpPr/>
          <p:nvPr/>
        </p:nvSpPr>
        <p:spPr>
          <a:xfrm>
            <a:off x="548640" y="1920240"/>
            <a:ext cx="4937760" cy="1737360"/>
          </a:xfrm>
          <a:prstGeom prst="roundRect">
            <a:avLst>
              <a:gd name="adj" fmla="val 6316"/>
            </a:avLst>
          </a:prstGeom>
          <a:solidFill>
            <a:srgbClr val="FFE4EA"/>
          </a:solidFill>
          <a:ln w="12700">
            <a:solidFill>
              <a:srgbClr val="FF5178"/>
            </a:solidFill>
            <a:prstDash val="solid"/>
          </a:ln>
        </p:spPr>
      </p:sp>
      <p:sp>
        <p:nvSpPr>
          <p:cNvPr id="25" name="Text 22"/>
          <p:cNvSpPr txBox="1"/>
          <p:nvPr/>
        </p:nvSpPr>
        <p:spPr>
          <a:xfrm>
            <a:off x="822960" y="1920240"/>
            <a:ext cx="4389120" cy="1737360"/>
          </a:xfrm>
          <a:prstGeom prst="rect">
            <a:avLst/>
          </a:prstGeom>
          <a:noFill/>
          <a:ln/>
        </p:spPr>
        <p:txBody>
          <a:bodyPr wrap="square" lIns="0" tIns="0" rIns="0" bIns="0" rtlCol="0" anchor="ctr"/>
          <a:lstStyle/>
          <a:p>
            <a:pPr indent="0" marL="0">
              <a:buNone/>
            </a:pPr>
            <a:r>
              <a:rPr lang="en-US" sz="1300" b="1" dirty="0">
                <a:solidFill>
                  <a:srgbClr val="E03A62"/>
                </a:solidFill>
                <a:latin typeface="Alexandria" pitchFamily="34" charset="0"/>
                <a:ea typeface="Alexandria" pitchFamily="34" charset="-122"/>
                <a:cs typeface="Alexandria" pitchFamily="34" charset="-120"/>
              </a:rPr>
              <a:t>Hiểu lầm</a:t>
            </a:r>
            <a:endParaRPr lang="en-US" sz="1300" dirty="0"/>
          </a:p>
          <a:p>
            <a:pPr indent="0" marL="0">
              <a:buNone/>
            </a:pPr>
            <a:r>
              <a:rPr lang="en-US" sz="1800" i="1" dirty="0">
                <a:solidFill>
                  <a:srgbClr val="2A2238"/>
                </a:solidFill>
                <a:latin typeface="Alexandria" pitchFamily="34" charset="0"/>
                <a:ea typeface="Alexandria" pitchFamily="34" charset="-122"/>
                <a:cs typeface="Alexandria" pitchFamily="34" charset="-120"/>
              </a:rPr>
              <a:t>“KAM = chăm sóc khách VIP chu đáo hơn”</a:t>
            </a:r>
            <a:endParaRPr lang="en-US" sz="1300" dirty="0"/>
          </a:p>
        </p:txBody>
      </p:sp>
      <p:sp>
        <p:nvSpPr>
          <p:cNvPr id="26" name="Shape 23"/>
          <p:cNvSpPr/>
          <p:nvPr/>
        </p:nvSpPr>
        <p:spPr>
          <a:xfrm>
            <a:off x="5623560" y="2788920"/>
            <a:ext cx="777240" cy="914"/>
          </a:xfrm>
          <a:prstGeom prst="line">
            <a:avLst/>
          </a:prstGeom>
          <a:noFill/>
          <a:ln w="38100">
            <a:solidFill>
              <a:srgbClr val="2A2238"/>
            </a:solidFill>
            <a:prstDash val="solid"/>
            <a:tailEnd type="triangle"/>
          </a:ln>
        </p:spPr>
      </p:sp>
      <p:sp>
        <p:nvSpPr>
          <p:cNvPr id="27" name="Shape 24"/>
          <p:cNvSpPr/>
          <p:nvPr/>
        </p:nvSpPr>
        <p:spPr>
          <a:xfrm>
            <a:off x="6537960" y="1920240"/>
            <a:ext cx="5105095" cy="1737360"/>
          </a:xfrm>
          <a:prstGeom prst="roundRect">
            <a:avLst>
              <a:gd name="adj" fmla="val 6316"/>
            </a:avLst>
          </a:prstGeom>
          <a:solidFill>
            <a:srgbClr val="E1F3EE"/>
          </a:solidFill>
          <a:ln w="12700">
            <a:solidFill>
              <a:srgbClr val="49B296"/>
            </a:solidFill>
            <a:prstDash val="solid"/>
          </a:ln>
        </p:spPr>
      </p:sp>
      <p:sp>
        <p:nvSpPr>
          <p:cNvPr id="28" name="Text 25"/>
          <p:cNvSpPr txBox="1"/>
          <p:nvPr/>
        </p:nvSpPr>
        <p:spPr>
          <a:xfrm>
            <a:off x="6812280" y="1920240"/>
            <a:ext cx="4556455" cy="1737360"/>
          </a:xfrm>
          <a:prstGeom prst="rect">
            <a:avLst/>
          </a:prstGeom>
          <a:noFill/>
          <a:ln/>
        </p:spPr>
        <p:txBody>
          <a:bodyPr wrap="square" lIns="0" tIns="0" rIns="0" bIns="0" rtlCol="0" anchor="ctr"/>
          <a:lstStyle/>
          <a:p>
            <a:pPr indent="0" marL="0">
              <a:buNone/>
            </a:pPr>
            <a:r>
              <a:rPr lang="en-US" sz="1300" b="1" dirty="0">
                <a:solidFill>
                  <a:srgbClr val="2E8A71"/>
                </a:solidFill>
                <a:latin typeface="Alexandria" pitchFamily="34" charset="0"/>
                <a:ea typeface="Alexandria" pitchFamily="34" charset="-122"/>
                <a:cs typeface="Alexandria" pitchFamily="34" charset="-120"/>
              </a:rPr>
              <a:t>Sửa</a:t>
            </a:r>
            <a:endParaRPr lang="en-US" sz="1300" dirty="0"/>
          </a:p>
          <a:p>
            <a:pPr indent="0" marL="0">
              <a:buNone/>
            </a:pPr>
            <a:r>
              <a:rPr lang="en-US" sz="1800" b="1" dirty="0">
                <a:solidFill>
                  <a:srgbClr val="2A2238"/>
                </a:solidFill>
                <a:latin typeface="Alexandria" pitchFamily="34" charset="0"/>
                <a:ea typeface="Alexandria" pitchFamily="34" charset="-122"/>
                <a:cs typeface="Alexandria" pitchFamily="34" charset="-120"/>
              </a:rPr>
              <a:t>KAM là cách vận hành quan hệ — có kế hoạch và nguồn lực riêng</a:t>
            </a:r>
            <a:endParaRPr lang="en-US" sz="1300" dirty="0"/>
          </a:p>
        </p:txBody>
      </p:sp>
      <p:sp>
        <p:nvSpPr>
          <p:cNvPr id="29" name="Shape 26"/>
          <p:cNvSpPr/>
          <p:nvPr/>
        </p:nvSpPr>
        <p:spPr>
          <a:xfrm>
            <a:off x="548640" y="3977640"/>
            <a:ext cx="4937760" cy="1737360"/>
          </a:xfrm>
          <a:prstGeom prst="roundRect">
            <a:avLst>
              <a:gd name="adj" fmla="val 6316"/>
            </a:avLst>
          </a:prstGeom>
          <a:solidFill>
            <a:srgbClr val="FFE4EA"/>
          </a:solidFill>
          <a:ln w="12700">
            <a:solidFill>
              <a:srgbClr val="FF5178"/>
            </a:solidFill>
            <a:prstDash val="solid"/>
          </a:ln>
        </p:spPr>
      </p:sp>
      <p:sp>
        <p:nvSpPr>
          <p:cNvPr id="30" name="Text 27"/>
          <p:cNvSpPr txBox="1"/>
          <p:nvPr/>
        </p:nvSpPr>
        <p:spPr>
          <a:xfrm>
            <a:off x="822960" y="3977640"/>
            <a:ext cx="4389120" cy="1737360"/>
          </a:xfrm>
          <a:prstGeom prst="rect">
            <a:avLst/>
          </a:prstGeom>
          <a:noFill/>
          <a:ln/>
        </p:spPr>
        <p:txBody>
          <a:bodyPr wrap="square" lIns="0" tIns="0" rIns="0" bIns="0" rtlCol="0" anchor="ctr"/>
          <a:lstStyle/>
          <a:p>
            <a:pPr indent="0" marL="0">
              <a:buNone/>
            </a:pPr>
            <a:r>
              <a:rPr lang="en-US" sz="1300" b="1" dirty="0">
                <a:solidFill>
                  <a:srgbClr val="E03A62"/>
                </a:solidFill>
                <a:latin typeface="Alexandria" pitchFamily="34" charset="0"/>
                <a:ea typeface="Alexandria" pitchFamily="34" charset="-122"/>
                <a:cs typeface="Alexandria" pitchFamily="34" charset="-120"/>
              </a:rPr>
              <a:t>Hiểu lầm</a:t>
            </a:r>
            <a:endParaRPr lang="en-US" sz="1300" dirty="0"/>
          </a:p>
          <a:p>
            <a:pPr indent="0" marL="0">
              <a:buNone/>
            </a:pPr>
            <a:r>
              <a:rPr lang="en-US" sz="1800" i="1" dirty="0">
                <a:solidFill>
                  <a:srgbClr val="2A2238"/>
                </a:solidFill>
                <a:latin typeface="Alexandria" pitchFamily="34" charset="0"/>
                <a:ea typeface="Alexandria" pitchFamily="34" charset="-122"/>
                <a:cs typeface="Alexandria" pitchFamily="34" charset="-120"/>
              </a:rPr>
              <a:t>“Làm KAM là phải chiều khách”</a:t>
            </a:r>
            <a:endParaRPr lang="en-US" sz="1300" dirty="0"/>
          </a:p>
        </p:txBody>
      </p:sp>
      <p:sp>
        <p:nvSpPr>
          <p:cNvPr id="31" name="Shape 28"/>
          <p:cNvSpPr/>
          <p:nvPr/>
        </p:nvSpPr>
        <p:spPr>
          <a:xfrm>
            <a:off x="5623560" y="4846320"/>
            <a:ext cx="777240" cy="914"/>
          </a:xfrm>
          <a:prstGeom prst="line">
            <a:avLst/>
          </a:prstGeom>
          <a:noFill/>
          <a:ln w="38100">
            <a:solidFill>
              <a:srgbClr val="2A2238"/>
            </a:solidFill>
            <a:prstDash val="solid"/>
            <a:tailEnd type="triangle"/>
          </a:ln>
        </p:spPr>
      </p:sp>
      <p:sp>
        <p:nvSpPr>
          <p:cNvPr id="32" name="Shape 29"/>
          <p:cNvSpPr/>
          <p:nvPr/>
        </p:nvSpPr>
        <p:spPr>
          <a:xfrm>
            <a:off x="6537960" y="3977640"/>
            <a:ext cx="5105095" cy="1737360"/>
          </a:xfrm>
          <a:prstGeom prst="roundRect">
            <a:avLst>
              <a:gd name="adj" fmla="val 6316"/>
            </a:avLst>
          </a:prstGeom>
          <a:solidFill>
            <a:srgbClr val="E1F3EE"/>
          </a:solidFill>
          <a:ln w="12700">
            <a:solidFill>
              <a:srgbClr val="49B296"/>
            </a:solidFill>
            <a:prstDash val="solid"/>
          </a:ln>
        </p:spPr>
      </p:sp>
      <p:sp>
        <p:nvSpPr>
          <p:cNvPr id="33" name="Text 30"/>
          <p:cNvSpPr txBox="1"/>
          <p:nvPr/>
        </p:nvSpPr>
        <p:spPr>
          <a:xfrm>
            <a:off x="6812280" y="3977640"/>
            <a:ext cx="4556455" cy="1737360"/>
          </a:xfrm>
          <a:prstGeom prst="rect">
            <a:avLst/>
          </a:prstGeom>
          <a:noFill/>
          <a:ln/>
        </p:spPr>
        <p:txBody>
          <a:bodyPr wrap="square" lIns="0" tIns="0" rIns="0" bIns="0" rtlCol="0" anchor="ctr"/>
          <a:lstStyle/>
          <a:p>
            <a:pPr indent="0" marL="0">
              <a:buNone/>
            </a:pPr>
            <a:r>
              <a:rPr lang="en-US" sz="1300" b="1" dirty="0">
                <a:solidFill>
                  <a:srgbClr val="2E8A71"/>
                </a:solidFill>
                <a:latin typeface="Alexandria" pitchFamily="34" charset="0"/>
                <a:ea typeface="Alexandria" pitchFamily="34" charset="-122"/>
                <a:cs typeface="Alexandria" pitchFamily="34" charset="-120"/>
              </a:rPr>
              <a:t>Sửa</a:t>
            </a:r>
            <a:endParaRPr lang="en-US" sz="1300" dirty="0"/>
          </a:p>
          <a:p>
            <a:pPr indent="0" marL="0">
              <a:buNone/>
            </a:pPr>
            <a:r>
              <a:rPr lang="en-US" sz="1800" b="1" dirty="0">
                <a:solidFill>
                  <a:srgbClr val="2A2238"/>
                </a:solidFill>
                <a:latin typeface="Alexandria" pitchFamily="34" charset="0"/>
                <a:ea typeface="Alexandria" pitchFamily="34" charset="-122"/>
                <a:cs typeface="Alexandria" pitchFamily="34" charset="-120"/>
              </a:rPr>
              <a:t>KAM hướng tới lợi ích hai phía — Buổi 6 sẽ tính chi phí phục vụ</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1 · Sales hay KAM?</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W02_activity_S3_sales_hay_kam.md · Tình huống giả định.</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10</a:t>
            </a:r>
            <a:endParaRPr lang="en-US" sz="1000" dirty="0"/>
          </a:p>
        </p:txBody>
      </p:sp>
      <p:sp>
        <p:nvSpPr>
          <p:cNvPr id="25" name="Text 22"/>
          <p:cNvSpPr txBox="1"/>
          <p:nvPr/>
        </p:nvSpPr>
        <p:spPr>
          <a:xfrm>
            <a:off x="548640" y="1737360"/>
            <a:ext cx="11094415" cy="365760"/>
          </a:xfrm>
          <a:prstGeom prst="rect">
            <a:avLst/>
          </a:prstGeom>
          <a:noFill/>
          <a:ln/>
        </p:spPr>
        <p:txBody>
          <a:bodyPr wrap="square" lIns="0" tIns="0" rIns="0" bIns="0" rtlCol="0" anchor="ctr"/>
          <a:lstStyle/>
          <a:p>
            <a:pPr indent="0" marL="0">
              <a:buNone/>
            </a:pPr>
            <a:r>
              <a:rPr lang="en-US" sz="1300" dirty="0">
                <a:solidFill>
                  <a:srgbClr val="6E6878"/>
                </a:solidFill>
                <a:latin typeface="Alexandria" pitchFamily="34" charset="0"/>
                <a:ea typeface="Alexandria" pitchFamily="34" charset="-122"/>
                <a:cs typeface="Alexandria" pitchFamily="34" charset="-120"/>
              </a:rPr>
              <a:t>Nova làm gala cho An Phát đã 4 năm. Tám việc nhân viên Nova đã làm năm qua:</a:t>
            </a:r>
            <a:endParaRPr lang="en-US" sz="1300" dirty="0"/>
          </a:p>
        </p:txBody>
      </p:sp>
      <p:sp>
        <p:nvSpPr>
          <p:cNvPr id="26" name="Shape 23"/>
          <p:cNvSpPr/>
          <p:nvPr/>
        </p:nvSpPr>
        <p:spPr>
          <a:xfrm>
            <a:off x="548640" y="2240280"/>
            <a:ext cx="3474720" cy="841248"/>
          </a:xfrm>
          <a:prstGeom prst="roundRect">
            <a:avLst>
              <a:gd name="adj" fmla="val 13043"/>
            </a:avLst>
          </a:prstGeom>
          <a:solidFill>
            <a:srgbClr val="FFFFFF"/>
          </a:solidFill>
          <a:ln w="12700">
            <a:solidFill>
              <a:srgbClr val="DCD7C8"/>
            </a:solidFill>
            <a:prstDash val="solid"/>
          </a:ln>
        </p:spPr>
      </p:sp>
      <p:sp>
        <p:nvSpPr>
          <p:cNvPr id="27" name="Shape 24"/>
          <p:cNvSpPr/>
          <p:nvPr/>
        </p:nvSpPr>
        <p:spPr>
          <a:xfrm>
            <a:off x="658368" y="2441448"/>
            <a:ext cx="438912" cy="438912"/>
          </a:xfrm>
          <a:prstGeom prst="ellipse">
            <a:avLst/>
          </a:prstGeom>
          <a:solidFill>
            <a:srgbClr val="962B7C"/>
          </a:solidFill>
          <a:ln w="12700">
            <a:solidFill>
              <a:srgbClr val="962B7C"/>
            </a:solidFill>
            <a:prstDash val="solid"/>
          </a:ln>
        </p:spPr>
      </p:sp>
      <p:sp>
        <p:nvSpPr>
          <p:cNvPr id="28" name="Text 25"/>
          <p:cNvSpPr txBox="1"/>
          <p:nvPr/>
        </p:nvSpPr>
        <p:spPr>
          <a:xfrm>
            <a:off x="658368" y="244144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1</a:t>
            </a:r>
            <a:endParaRPr lang="en-US" sz="1400" dirty="0"/>
          </a:p>
        </p:txBody>
      </p:sp>
      <p:sp>
        <p:nvSpPr>
          <p:cNvPr id="29" name="Text 26"/>
          <p:cNvSpPr txBox="1"/>
          <p:nvPr/>
        </p:nvSpPr>
        <p:spPr>
          <a:xfrm>
            <a:off x="1188720" y="2240280"/>
            <a:ext cx="2743200" cy="84124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Tháng 10 mới gọi hỏi “năm nay có làm gala không?”</a:t>
            </a:r>
            <a:endParaRPr lang="en-US" sz="1200" dirty="0"/>
          </a:p>
        </p:txBody>
      </p:sp>
      <p:sp>
        <p:nvSpPr>
          <p:cNvPr id="30" name="Shape 27"/>
          <p:cNvSpPr/>
          <p:nvPr/>
        </p:nvSpPr>
        <p:spPr>
          <a:xfrm>
            <a:off x="4206240" y="2240280"/>
            <a:ext cx="3474720" cy="841248"/>
          </a:xfrm>
          <a:prstGeom prst="roundRect">
            <a:avLst>
              <a:gd name="adj" fmla="val 13043"/>
            </a:avLst>
          </a:prstGeom>
          <a:solidFill>
            <a:srgbClr val="FFFFFF"/>
          </a:solidFill>
          <a:ln w="12700">
            <a:solidFill>
              <a:srgbClr val="DCD7C8"/>
            </a:solidFill>
            <a:prstDash val="solid"/>
          </a:ln>
        </p:spPr>
      </p:sp>
      <p:sp>
        <p:nvSpPr>
          <p:cNvPr id="31" name="Shape 28"/>
          <p:cNvSpPr/>
          <p:nvPr/>
        </p:nvSpPr>
        <p:spPr>
          <a:xfrm>
            <a:off x="4315968" y="2441448"/>
            <a:ext cx="438912" cy="438912"/>
          </a:xfrm>
          <a:prstGeom prst="ellipse">
            <a:avLst/>
          </a:prstGeom>
          <a:solidFill>
            <a:srgbClr val="962B7C"/>
          </a:solidFill>
          <a:ln w="12700">
            <a:solidFill>
              <a:srgbClr val="962B7C"/>
            </a:solidFill>
            <a:prstDash val="solid"/>
          </a:ln>
        </p:spPr>
      </p:sp>
      <p:sp>
        <p:nvSpPr>
          <p:cNvPr id="32" name="Text 29"/>
          <p:cNvSpPr txBox="1"/>
          <p:nvPr/>
        </p:nvSpPr>
        <p:spPr>
          <a:xfrm>
            <a:off x="4315968" y="244144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2</a:t>
            </a:r>
            <a:endParaRPr lang="en-US" sz="1400" dirty="0"/>
          </a:p>
        </p:txBody>
      </p:sp>
      <p:sp>
        <p:nvSpPr>
          <p:cNvPr id="33" name="Text 30"/>
          <p:cNvSpPr txBox="1"/>
          <p:nvPr/>
        </p:nvSpPr>
        <p:spPr>
          <a:xfrm>
            <a:off x="4846320" y="2240280"/>
            <a:ext cx="2743200" cy="84124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Đọc báo cáo thường niên để biết năm tới ưu tiên nhóm khách nào</a:t>
            </a:r>
            <a:endParaRPr lang="en-US" sz="1200" dirty="0"/>
          </a:p>
        </p:txBody>
      </p:sp>
      <p:sp>
        <p:nvSpPr>
          <p:cNvPr id="34" name="Shape 31"/>
          <p:cNvSpPr/>
          <p:nvPr/>
        </p:nvSpPr>
        <p:spPr>
          <a:xfrm>
            <a:off x="548640" y="3200400"/>
            <a:ext cx="3474720" cy="841248"/>
          </a:xfrm>
          <a:prstGeom prst="roundRect">
            <a:avLst>
              <a:gd name="adj" fmla="val 13043"/>
            </a:avLst>
          </a:prstGeom>
          <a:solidFill>
            <a:srgbClr val="FFFFFF"/>
          </a:solidFill>
          <a:ln w="12700">
            <a:solidFill>
              <a:srgbClr val="DCD7C8"/>
            </a:solidFill>
            <a:prstDash val="solid"/>
          </a:ln>
        </p:spPr>
      </p:sp>
      <p:sp>
        <p:nvSpPr>
          <p:cNvPr id="35" name="Shape 32"/>
          <p:cNvSpPr/>
          <p:nvPr/>
        </p:nvSpPr>
        <p:spPr>
          <a:xfrm>
            <a:off x="658368" y="3401568"/>
            <a:ext cx="438912" cy="438912"/>
          </a:xfrm>
          <a:prstGeom prst="ellipse">
            <a:avLst/>
          </a:prstGeom>
          <a:solidFill>
            <a:srgbClr val="09A1E5"/>
          </a:solidFill>
          <a:ln w="12700">
            <a:solidFill>
              <a:srgbClr val="09A1E5"/>
            </a:solidFill>
            <a:prstDash val="solid"/>
          </a:ln>
        </p:spPr>
      </p:sp>
      <p:sp>
        <p:nvSpPr>
          <p:cNvPr id="36" name="Text 33"/>
          <p:cNvSpPr txBox="1"/>
          <p:nvPr/>
        </p:nvSpPr>
        <p:spPr>
          <a:xfrm>
            <a:off x="658368" y="340156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3</a:t>
            </a:r>
            <a:endParaRPr lang="en-US" sz="1400" dirty="0"/>
          </a:p>
        </p:txBody>
      </p:sp>
      <p:sp>
        <p:nvSpPr>
          <p:cNvPr id="37" name="Text 34"/>
          <p:cNvSpPr txBox="1"/>
          <p:nvPr/>
        </p:nvSpPr>
        <p:spPr>
          <a:xfrm>
            <a:off x="1188720" y="3200400"/>
            <a:ext cx="2743200" cy="84124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Giảm giá 10% khi An Phát nói có agency chào rẻ hơn</a:t>
            </a:r>
            <a:endParaRPr lang="en-US" sz="1200" dirty="0"/>
          </a:p>
        </p:txBody>
      </p:sp>
      <p:sp>
        <p:nvSpPr>
          <p:cNvPr id="38" name="Shape 35"/>
          <p:cNvSpPr/>
          <p:nvPr/>
        </p:nvSpPr>
        <p:spPr>
          <a:xfrm>
            <a:off x="4206240" y="3200400"/>
            <a:ext cx="3474720" cy="841248"/>
          </a:xfrm>
          <a:prstGeom prst="roundRect">
            <a:avLst>
              <a:gd name="adj" fmla="val 13043"/>
            </a:avLst>
          </a:prstGeom>
          <a:solidFill>
            <a:srgbClr val="FFFFFF"/>
          </a:solidFill>
          <a:ln w="12700">
            <a:solidFill>
              <a:srgbClr val="DCD7C8"/>
            </a:solidFill>
            <a:prstDash val="solid"/>
          </a:ln>
        </p:spPr>
      </p:sp>
      <p:sp>
        <p:nvSpPr>
          <p:cNvPr id="39" name="Shape 36"/>
          <p:cNvSpPr/>
          <p:nvPr/>
        </p:nvSpPr>
        <p:spPr>
          <a:xfrm>
            <a:off x="4315968" y="3401568"/>
            <a:ext cx="438912" cy="438912"/>
          </a:xfrm>
          <a:prstGeom prst="ellipse">
            <a:avLst/>
          </a:prstGeom>
          <a:solidFill>
            <a:srgbClr val="09A1E5"/>
          </a:solidFill>
          <a:ln w="12700">
            <a:solidFill>
              <a:srgbClr val="09A1E5"/>
            </a:solidFill>
            <a:prstDash val="solid"/>
          </a:ln>
        </p:spPr>
      </p:sp>
      <p:sp>
        <p:nvSpPr>
          <p:cNvPr id="40" name="Text 37"/>
          <p:cNvSpPr txBox="1"/>
          <p:nvPr/>
        </p:nvSpPr>
        <p:spPr>
          <a:xfrm>
            <a:off x="4315968" y="340156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4</a:t>
            </a:r>
            <a:endParaRPr lang="en-US" sz="1400" dirty="0"/>
          </a:p>
        </p:txBody>
      </p:sp>
      <p:sp>
        <p:nvSpPr>
          <p:cNvPr id="41" name="Text 38"/>
          <p:cNvSpPr txBox="1"/>
          <p:nvPr/>
        </p:nvSpPr>
        <p:spPr>
          <a:xfrm>
            <a:off x="4846320" y="3200400"/>
            <a:ext cx="2743200" cy="84124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Sau gala, mời đội An Phát họp đánh giá chung</a:t>
            </a:r>
            <a:endParaRPr lang="en-US" sz="1200" dirty="0"/>
          </a:p>
        </p:txBody>
      </p:sp>
      <p:sp>
        <p:nvSpPr>
          <p:cNvPr id="42" name="Shape 39"/>
          <p:cNvSpPr/>
          <p:nvPr/>
        </p:nvSpPr>
        <p:spPr>
          <a:xfrm>
            <a:off x="548640" y="4160520"/>
            <a:ext cx="3474720" cy="841248"/>
          </a:xfrm>
          <a:prstGeom prst="roundRect">
            <a:avLst>
              <a:gd name="adj" fmla="val 13043"/>
            </a:avLst>
          </a:prstGeom>
          <a:solidFill>
            <a:srgbClr val="FFFFFF"/>
          </a:solidFill>
          <a:ln w="12700">
            <a:solidFill>
              <a:srgbClr val="DCD7C8"/>
            </a:solidFill>
            <a:prstDash val="solid"/>
          </a:ln>
        </p:spPr>
      </p:sp>
      <p:sp>
        <p:nvSpPr>
          <p:cNvPr id="43" name="Shape 40"/>
          <p:cNvSpPr/>
          <p:nvPr/>
        </p:nvSpPr>
        <p:spPr>
          <a:xfrm>
            <a:off x="658368" y="4361688"/>
            <a:ext cx="438912" cy="438912"/>
          </a:xfrm>
          <a:prstGeom prst="ellipse">
            <a:avLst/>
          </a:prstGeom>
          <a:solidFill>
            <a:srgbClr val="FF9259"/>
          </a:solidFill>
          <a:ln w="12700">
            <a:solidFill>
              <a:srgbClr val="FF9259"/>
            </a:solidFill>
            <a:prstDash val="solid"/>
          </a:ln>
        </p:spPr>
      </p:sp>
      <p:sp>
        <p:nvSpPr>
          <p:cNvPr id="44" name="Text 41"/>
          <p:cNvSpPr txBox="1"/>
          <p:nvPr/>
        </p:nvSpPr>
        <p:spPr>
          <a:xfrm>
            <a:off x="658368" y="4361688"/>
            <a:ext cx="438912" cy="438912"/>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5</a:t>
            </a:r>
            <a:endParaRPr lang="en-US" sz="1400" dirty="0"/>
          </a:p>
        </p:txBody>
      </p:sp>
      <p:sp>
        <p:nvSpPr>
          <p:cNvPr id="45" name="Text 42"/>
          <p:cNvSpPr txBox="1"/>
          <p:nvPr/>
        </p:nvSpPr>
        <p:spPr>
          <a:xfrm>
            <a:off x="1188720" y="4160520"/>
            <a:ext cx="2743200" cy="84124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Gửi hồ sơ năng lực chung như mọi khách khác</a:t>
            </a:r>
            <a:endParaRPr lang="en-US" sz="1200" dirty="0"/>
          </a:p>
        </p:txBody>
      </p:sp>
      <p:sp>
        <p:nvSpPr>
          <p:cNvPr id="46" name="Shape 43"/>
          <p:cNvSpPr/>
          <p:nvPr/>
        </p:nvSpPr>
        <p:spPr>
          <a:xfrm>
            <a:off x="4206240" y="4160520"/>
            <a:ext cx="3474720" cy="841248"/>
          </a:xfrm>
          <a:prstGeom prst="roundRect">
            <a:avLst>
              <a:gd name="adj" fmla="val 13043"/>
            </a:avLst>
          </a:prstGeom>
          <a:solidFill>
            <a:srgbClr val="FFFFFF"/>
          </a:solidFill>
          <a:ln w="12700">
            <a:solidFill>
              <a:srgbClr val="DCD7C8"/>
            </a:solidFill>
            <a:prstDash val="solid"/>
          </a:ln>
        </p:spPr>
      </p:sp>
      <p:sp>
        <p:nvSpPr>
          <p:cNvPr id="47" name="Shape 44"/>
          <p:cNvSpPr/>
          <p:nvPr/>
        </p:nvSpPr>
        <p:spPr>
          <a:xfrm>
            <a:off x="4315968" y="4361688"/>
            <a:ext cx="438912" cy="438912"/>
          </a:xfrm>
          <a:prstGeom prst="ellipse">
            <a:avLst/>
          </a:prstGeom>
          <a:solidFill>
            <a:srgbClr val="FF9259"/>
          </a:solidFill>
          <a:ln w="12700">
            <a:solidFill>
              <a:srgbClr val="FF9259"/>
            </a:solidFill>
            <a:prstDash val="solid"/>
          </a:ln>
        </p:spPr>
      </p:sp>
      <p:sp>
        <p:nvSpPr>
          <p:cNvPr id="48" name="Text 45"/>
          <p:cNvSpPr txBox="1"/>
          <p:nvPr/>
        </p:nvSpPr>
        <p:spPr>
          <a:xfrm>
            <a:off x="4315968" y="4361688"/>
            <a:ext cx="438912" cy="438912"/>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6</a:t>
            </a:r>
            <a:endParaRPr lang="en-US" sz="1400" dirty="0"/>
          </a:p>
        </p:txBody>
      </p:sp>
      <p:sp>
        <p:nvSpPr>
          <p:cNvPr id="49" name="Text 46"/>
          <p:cNvSpPr txBox="1"/>
          <p:nvPr/>
        </p:nvSpPr>
        <p:spPr>
          <a:xfrm>
            <a:off x="4846320" y="4160520"/>
            <a:ext cx="2743200" cy="84124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Đề xuất chương trình tri ân khách hàng cả năm</a:t>
            </a:r>
            <a:endParaRPr lang="en-US" sz="1200" dirty="0"/>
          </a:p>
        </p:txBody>
      </p:sp>
      <p:sp>
        <p:nvSpPr>
          <p:cNvPr id="50" name="Shape 47"/>
          <p:cNvSpPr/>
          <p:nvPr/>
        </p:nvSpPr>
        <p:spPr>
          <a:xfrm>
            <a:off x="548640" y="5120640"/>
            <a:ext cx="3474720" cy="841248"/>
          </a:xfrm>
          <a:prstGeom prst="roundRect">
            <a:avLst>
              <a:gd name="adj" fmla="val 13043"/>
            </a:avLst>
          </a:prstGeom>
          <a:solidFill>
            <a:srgbClr val="FFFFFF"/>
          </a:solidFill>
          <a:ln w="12700">
            <a:solidFill>
              <a:srgbClr val="DCD7C8"/>
            </a:solidFill>
            <a:prstDash val="solid"/>
          </a:ln>
        </p:spPr>
      </p:sp>
      <p:sp>
        <p:nvSpPr>
          <p:cNvPr id="51" name="Shape 48"/>
          <p:cNvSpPr/>
          <p:nvPr/>
        </p:nvSpPr>
        <p:spPr>
          <a:xfrm>
            <a:off x="658368" y="5321808"/>
            <a:ext cx="438912" cy="438912"/>
          </a:xfrm>
          <a:prstGeom prst="ellipse">
            <a:avLst/>
          </a:prstGeom>
          <a:solidFill>
            <a:srgbClr val="49B296"/>
          </a:solidFill>
          <a:ln w="12700">
            <a:solidFill>
              <a:srgbClr val="49B296"/>
            </a:solidFill>
            <a:prstDash val="solid"/>
          </a:ln>
        </p:spPr>
      </p:sp>
      <p:sp>
        <p:nvSpPr>
          <p:cNvPr id="52" name="Text 49"/>
          <p:cNvSpPr txBox="1"/>
          <p:nvPr/>
        </p:nvSpPr>
        <p:spPr>
          <a:xfrm>
            <a:off x="658368" y="532180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7</a:t>
            </a:r>
            <a:endParaRPr lang="en-US" sz="1400" dirty="0"/>
          </a:p>
        </p:txBody>
      </p:sp>
      <p:sp>
        <p:nvSpPr>
          <p:cNvPr id="53" name="Text 50"/>
          <p:cNvSpPr txBox="1"/>
          <p:nvPr/>
        </p:nvSpPr>
        <p:spPr>
          <a:xfrm>
            <a:off x="1188720" y="5120640"/>
            <a:ext cx="2743200" cy="84124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Chỉ nhân viên kinh doanh làm việc với An Phát</a:t>
            </a:r>
            <a:endParaRPr lang="en-US" sz="1200" dirty="0"/>
          </a:p>
        </p:txBody>
      </p:sp>
      <p:sp>
        <p:nvSpPr>
          <p:cNvPr id="54" name="Shape 51"/>
          <p:cNvSpPr/>
          <p:nvPr/>
        </p:nvSpPr>
        <p:spPr>
          <a:xfrm>
            <a:off x="4206240" y="5120640"/>
            <a:ext cx="3474720" cy="841248"/>
          </a:xfrm>
          <a:prstGeom prst="roundRect">
            <a:avLst>
              <a:gd name="adj" fmla="val 13043"/>
            </a:avLst>
          </a:prstGeom>
          <a:solidFill>
            <a:srgbClr val="FFFFFF"/>
          </a:solidFill>
          <a:ln w="12700">
            <a:solidFill>
              <a:srgbClr val="DCD7C8"/>
            </a:solidFill>
            <a:prstDash val="solid"/>
          </a:ln>
        </p:spPr>
      </p:sp>
      <p:sp>
        <p:nvSpPr>
          <p:cNvPr id="55" name="Shape 52"/>
          <p:cNvSpPr/>
          <p:nvPr/>
        </p:nvSpPr>
        <p:spPr>
          <a:xfrm>
            <a:off x="4315968" y="5321808"/>
            <a:ext cx="438912" cy="438912"/>
          </a:xfrm>
          <a:prstGeom prst="ellipse">
            <a:avLst/>
          </a:prstGeom>
          <a:solidFill>
            <a:srgbClr val="49B296"/>
          </a:solidFill>
          <a:ln w="12700">
            <a:solidFill>
              <a:srgbClr val="49B296"/>
            </a:solidFill>
            <a:prstDash val="solid"/>
          </a:ln>
        </p:spPr>
      </p:sp>
      <p:sp>
        <p:nvSpPr>
          <p:cNvPr id="56" name="Text 53"/>
          <p:cNvSpPr txBox="1"/>
          <p:nvPr/>
        </p:nvSpPr>
        <p:spPr>
          <a:xfrm>
            <a:off x="4315968" y="532180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8</a:t>
            </a:r>
            <a:endParaRPr lang="en-US" sz="1400" dirty="0"/>
          </a:p>
        </p:txBody>
      </p:sp>
      <p:sp>
        <p:nvSpPr>
          <p:cNvPr id="57" name="Text 54"/>
          <p:cNvSpPr txBox="1"/>
          <p:nvPr/>
        </p:nvSpPr>
        <p:spPr>
          <a:xfrm>
            <a:off x="4846320" y="5120640"/>
            <a:ext cx="2743200" cy="84124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Hỏi: khách VIP của ngân hàng năm nay lo điều gì nhất?</a:t>
            </a:r>
            <a:endParaRPr lang="en-US" sz="1200" dirty="0"/>
          </a:p>
        </p:txBody>
      </p:sp>
      <p:sp>
        <p:nvSpPr>
          <p:cNvPr id="58" name="Shape 55"/>
          <p:cNvSpPr/>
          <p:nvPr/>
        </p:nvSpPr>
        <p:spPr>
          <a:xfrm>
            <a:off x="7955280" y="2423160"/>
            <a:ext cx="685800" cy="685800"/>
          </a:xfrm>
          <a:prstGeom prst="ellipse">
            <a:avLst/>
          </a:prstGeom>
          <a:solidFill>
            <a:srgbClr val="FF9259"/>
          </a:solidFill>
          <a:ln w="12700">
            <a:solidFill>
              <a:srgbClr val="FF9259"/>
            </a:solidFill>
            <a:prstDash val="solid"/>
          </a:ln>
        </p:spPr>
      </p:sp>
      <p:sp>
        <p:nvSpPr>
          <p:cNvPr id="59" name="Text 56"/>
          <p:cNvSpPr txBox="1"/>
          <p:nvPr/>
        </p:nvSpPr>
        <p:spPr>
          <a:xfrm>
            <a:off x="7955280" y="2423160"/>
            <a:ext cx="685800" cy="68580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8’</a:t>
            </a:r>
            <a:endParaRPr lang="en-US" sz="1600" dirty="0"/>
          </a:p>
        </p:txBody>
      </p:sp>
      <p:sp>
        <p:nvSpPr>
          <p:cNvPr id="60" name="Text 57"/>
          <p:cNvSpPr txBox="1"/>
          <p:nvPr/>
        </p:nvSpPr>
        <p:spPr>
          <a:xfrm>
            <a:off x="8823960" y="2240280"/>
            <a:ext cx="2819095" cy="109728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Ghi S hay K + một lý do theo bảng so sánh</a:t>
            </a:r>
            <a:endParaRPr lang="en-US" sz="1300" dirty="0"/>
          </a:p>
        </p:txBody>
      </p:sp>
      <p:sp>
        <p:nvSpPr>
          <p:cNvPr id="61" name="Shape 58"/>
          <p:cNvSpPr/>
          <p:nvPr/>
        </p:nvSpPr>
        <p:spPr>
          <a:xfrm>
            <a:off x="7955280" y="3703320"/>
            <a:ext cx="685800" cy="685800"/>
          </a:xfrm>
          <a:prstGeom prst="ellipse">
            <a:avLst/>
          </a:prstGeom>
          <a:solidFill>
            <a:srgbClr val="962B7C"/>
          </a:solidFill>
          <a:ln w="12700">
            <a:solidFill>
              <a:srgbClr val="962B7C"/>
            </a:solidFill>
            <a:prstDash val="solid"/>
          </a:ln>
        </p:spPr>
      </p:sp>
      <p:sp>
        <p:nvSpPr>
          <p:cNvPr id="62" name="Text 59"/>
          <p:cNvSpPr txBox="1"/>
          <p:nvPr/>
        </p:nvSpPr>
        <p:spPr>
          <a:xfrm>
            <a:off x="7955280" y="370332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8’</a:t>
            </a:r>
            <a:endParaRPr lang="en-US" sz="1600" dirty="0"/>
          </a:p>
        </p:txBody>
      </p:sp>
      <p:sp>
        <p:nvSpPr>
          <p:cNvPr id="63" name="Text 60"/>
          <p:cNvSpPr txBox="1"/>
          <p:nvPr/>
        </p:nvSpPr>
        <p:spPr>
          <a:xfrm>
            <a:off x="8823960" y="3520440"/>
            <a:ext cx="2819095" cy="109728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Viết lại 2 hành vi S thành K: ai làm, làm gì, khi nào</a:t>
            </a:r>
            <a:endParaRPr lang="en-US" sz="1300" dirty="0"/>
          </a:p>
        </p:txBody>
      </p:sp>
      <p:sp>
        <p:nvSpPr>
          <p:cNvPr id="64" name="Shape 61"/>
          <p:cNvSpPr/>
          <p:nvPr/>
        </p:nvSpPr>
        <p:spPr>
          <a:xfrm>
            <a:off x="7955280" y="4983480"/>
            <a:ext cx="685800" cy="685800"/>
          </a:xfrm>
          <a:prstGeom prst="ellipse">
            <a:avLst/>
          </a:prstGeom>
          <a:solidFill>
            <a:srgbClr val="09A1E5"/>
          </a:solidFill>
          <a:ln w="12700">
            <a:solidFill>
              <a:srgbClr val="09A1E5"/>
            </a:solidFill>
            <a:prstDash val="solid"/>
          </a:ln>
        </p:spPr>
      </p:sp>
      <p:sp>
        <p:nvSpPr>
          <p:cNvPr id="65" name="Text 62"/>
          <p:cNvSpPr txBox="1"/>
          <p:nvPr/>
        </p:nvSpPr>
        <p:spPr>
          <a:xfrm>
            <a:off x="7955280" y="498348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4’</a:t>
            </a:r>
            <a:endParaRPr lang="en-US" sz="1600" dirty="0"/>
          </a:p>
        </p:txBody>
      </p:sp>
      <p:sp>
        <p:nvSpPr>
          <p:cNvPr id="66" name="Text 63"/>
          <p:cNvSpPr txBox="1"/>
          <p:nvPr/>
        </p:nvSpPr>
        <p:spPr>
          <a:xfrm>
            <a:off x="8823960" y="4800600"/>
            <a:ext cx="2819095" cy="109728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“Với An Phát, Nova làm KAM khi …”</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3840480" y="1554480"/>
            <a:ext cx="548640" cy="548640"/>
          </a:xfrm>
          <a:prstGeom prst="ellipse">
            <a:avLst/>
          </a:prstGeom>
          <a:solidFill>
            <a:srgbClr val="FF9259"/>
          </a:solidFill>
          <a:ln w="12700">
            <a:solidFill>
              <a:srgbClr val="FF9259"/>
            </a:solidFill>
            <a:prstDash val="solid"/>
          </a:ln>
        </p:spPr>
      </p:sp>
      <p:sp>
        <p:nvSpPr>
          <p:cNvPr id="3" name="Shape 1"/>
          <p:cNvSpPr/>
          <p:nvPr/>
        </p:nvSpPr>
        <p:spPr>
          <a:xfrm>
            <a:off x="4617720" y="1554480"/>
            <a:ext cx="548640" cy="548640"/>
          </a:xfrm>
          <a:prstGeom prst="ellipse">
            <a:avLst/>
          </a:prstGeom>
          <a:solidFill>
            <a:srgbClr val="FFD23B"/>
          </a:solidFill>
          <a:ln w="12700">
            <a:solidFill>
              <a:srgbClr val="FFD23B"/>
            </a:solidFill>
            <a:prstDash val="solid"/>
          </a:ln>
        </p:spPr>
      </p:sp>
      <p:sp>
        <p:nvSpPr>
          <p:cNvPr id="4" name="Shape 2"/>
          <p:cNvSpPr/>
          <p:nvPr/>
        </p:nvSpPr>
        <p:spPr>
          <a:xfrm>
            <a:off x="5394960" y="1554480"/>
            <a:ext cx="548640" cy="548640"/>
          </a:xfrm>
          <a:prstGeom prst="ellipse">
            <a:avLst/>
          </a:prstGeom>
          <a:solidFill>
            <a:srgbClr val="49B296"/>
          </a:solidFill>
          <a:ln w="12700">
            <a:solidFill>
              <a:srgbClr val="49B296"/>
            </a:solidFill>
            <a:prstDash val="solid"/>
          </a:ln>
        </p:spPr>
      </p:sp>
      <p:sp>
        <p:nvSpPr>
          <p:cNvPr id="5" name="Shape 3"/>
          <p:cNvSpPr/>
          <p:nvPr/>
        </p:nvSpPr>
        <p:spPr>
          <a:xfrm>
            <a:off x="6172200" y="1554480"/>
            <a:ext cx="548640" cy="548640"/>
          </a:xfrm>
          <a:prstGeom prst="ellipse">
            <a:avLst/>
          </a:prstGeom>
          <a:solidFill>
            <a:srgbClr val="09A1E5"/>
          </a:solidFill>
          <a:ln w="12700">
            <a:solidFill>
              <a:srgbClr val="09A1E5"/>
            </a:solidFill>
            <a:prstDash val="solid"/>
          </a:ln>
        </p:spPr>
      </p:sp>
      <p:sp>
        <p:nvSpPr>
          <p:cNvPr id="6" name="Shape 4"/>
          <p:cNvSpPr/>
          <p:nvPr/>
        </p:nvSpPr>
        <p:spPr>
          <a:xfrm>
            <a:off x="6949440" y="1554480"/>
            <a:ext cx="548640" cy="548640"/>
          </a:xfrm>
          <a:prstGeom prst="ellipse">
            <a:avLst/>
          </a:prstGeom>
          <a:solidFill>
            <a:srgbClr val="962B7C"/>
          </a:solidFill>
          <a:ln w="12700">
            <a:solidFill>
              <a:srgbClr val="962B7C"/>
            </a:solidFill>
            <a:prstDash val="solid"/>
          </a:ln>
        </p:spPr>
      </p:sp>
      <p:sp>
        <p:nvSpPr>
          <p:cNvPr id="7" name="Shape 5"/>
          <p:cNvSpPr/>
          <p:nvPr/>
        </p:nvSpPr>
        <p:spPr>
          <a:xfrm>
            <a:off x="7726680" y="1554480"/>
            <a:ext cx="548640" cy="548640"/>
          </a:xfrm>
          <a:prstGeom prst="ellipse">
            <a:avLst/>
          </a:prstGeom>
          <a:solidFill>
            <a:srgbClr val="FF5178"/>
          </a:solidFill>
          <a:ln w="12700">
            <a:solidFill>
              <a:srgbClr val="FF5178"/>
            </a:solidFill>
            <a:prstDash val="solid"/>
          </a:ln>
        </p:spPr>
      </p:sp>
      <p:sp>
        <p:nvSpPr>
          <p:cNvPr id="8" name="Text 6"/>
          <p:cNvSpPr txBox="1"/>
          <p:nvPr/>
        </p:nvSpPr>
        <p:spPr>
          <a:xfrm>
            <a:off x="548640" y="2468880"/>
            <a:ext cx="11094415" cy="1097280"/>
          </a:xfrm>
          <a:prstGeom prst="rect">
            <a:avLst/>
          </a:prstGeom>
          <a:noFill/>
          <a:ln/>
        </p:spPr>
        <p:txBody>
          <a:bodyPr wrap="square" lIns="0" tIns="0" rIns="0" bIns="0" rtlCol="0" anchor="ctr"/>
          <a:lstStyle/>
          <a:p>
            <a:pPr algn="ctr" indent="0" marL="0">
              <a:buNone/>
            </a:pPr>
            <a:r>
              <a:rPr lang="en-US" sz="5400" b="1" dirty="0">
                <a:solidFill>
                  <a:srgbClr val="2A2238"/>
                </a:solidFill>
                <a:latin typeface="Alexandria" pitchFamily="34" charset="0"/>
                <a:ea typeface="Alexandria" pitchFamily="34" charset="-122"/>
                <a:cs typeface="Alexandria" pitchFamily="34" charset="-120"/>
              </a:rPr>
              <a:t>Giải lao 8 phút</a:t>
            </a:r>
            <a:endParaRPr lang="en-US" sz="5400" dirty="0"/>
          </a:p>
        </p:txBody>
      </p:sp>
      <p:sp>
        <p:nvSpPr>
          <p:cNvPr id="9" name="Text 7"/>
          <p:cNvSpPr txBox="1"/>
          <p:nvPr/>
        </p:nvSpPr>
        <p:spPr>
          <a:xfrm>
            <a:off x="548640" y="3749040"/>
            <a:ext cx="11094415" cy="640080"/>
          </a:xfrm>
          <a:prstGeom prst="rect">
            <a:avLst/>
          </a:prstGeom>
          <a:noFill/>
          <a:ln/>
        </p:spPr>
        <p:txBody>
          <a:bodyPr wrap="square" lIns="0" tIns="0" rIns="0" bIns="0" rtlCol="0" anchor="ctr"/>
          <a:lstStyle/>
          <a:p>
            <a:pPr algn="ctr" indent="0" marL="0">
              <a:buNone/>
            </a:pPr>
            <a:r>
              <a:rPr lang="en-US" sz="2600" dirty="0">
                <a:solidFill>
                  <a:srgbClr val="962B7C"/>
                </a:solidFill>
                <a:latin typeface="Alexandria" pitchFamily="34" charset="0"/>
                <a:ea typeface="Alexandria" pitchFamily="34" charset="-122"/>
                <a:cs typeface="Alexandria" pitchFamily="34" charset="-120"/>
              </a:rPr>
              <a:t>Quay lại lúc  ____ : ____</a:t>
            </a:r>
            <a:endParaRPr lang="en-US" sz="2600" dirty="0"/>
          </a:p>
        </p:txBody>
      </p:sp>
      <p:sp>
        <p:nvSpPr>
          <p:cNvPr id="10" name="Text 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Làm hài lòng mọi khách hàng là con đường phá sản</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B05: McDonald, Cranfield blog.</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12</a:t>
            </a:r>
            <a:endParaRPr lang="en-US" sz="1000" dirty="0"/>
          </a:p>
        </p:txBody>
      </p:sp>
      <p:sp>
        <p:nvSpPr>
          <p:cNvPr id="25" name="Shape 22"/>
          <p:cNvSpPr/>
          <p:nvPr/>
        </p:nvSpPr>
        <p:spPr>
          <a:xfrm>
            <a:off x="548640" y="1920240"/>
            <a:ext cx="11094415" cy="1737360"/>
          </a:xfrm>
          <a:prstGeom prst="roundRect">
            <a:avLst>
              <a:gd name="adj" fmla="val 6316"/>
            </a:avLst>
          </a:prstGeom>
          <a:solidFill>
            <a:srgbClr val="FFE4EA"/>
          </a:solidFill>
          <a:ln w="12700">
            <a:solidFill>
              <a:srgbClr val="FF5178"/>
            </a:solidFill>
            <a:prstDash val="solid"/>
          </a:ln>
        </p:spPr>
      </p:sp>
      <p:sp>
        <p:nvSpPr>
          <p:cNvPr id="26" name="Text 23"/>
          <p:cNvSpPr txBox="1"/>
          <p:nvPr/>
        </p:nvSpPr>
        <p:spPr>
          <a:xfrm>
            <a:off x="1005840" y="1920240"/>
            <a:ext cx="10180015" cy="1737360"/>
          </a:xfrm>
          <a:prstGeom prst="rect">
            <a:avLst/>
          </a:prstGeom>
          <a:noFill/>
          <a:ln/>
        </p:spPr>
        <p:txBody>
          <a:bodyPr wrap="square" lIns="0" tIns="0" rIns="0" bIns="0" rtlCol="0" anchor="ctr"/>
          <a:lstStyle/>
          <a:p>
            <a:pPr algn="ctr" indent="0" marL="0">
              <a:buNone/>
            </a:pPr>
            <a:r>
              <a:rPr lang="en-US" sz="2600" b="1" i="1" dirty="0">
                <a:solidFill>
                  <a:srgbClr val="2A2238"/>
                </a:solidFill>
                <a:latin typeface="Alexandria" pitchFamily="34" charset="0"/>
                <a:ea typeface="Alexandria" pitchFamily="34" charset="-122"/>
                <a:cs typeface="Alexandria" pitchFamily="34" charset="-120"/>
              </a:rPr>
              <a:t>“One of the quickest ways to go bankrupt is to ‘delight’ your customers!” </a:t>
            </a:r>
            <a:pPr algn="ctr" indent="0" marL="0">
              <a:buNone/>
            </a:pPr>
            <a:r>
              <a:rPr lang="en-US" sz="1400" dirty="0">
                <a:solidFill>
                  <a:srgbClr val="6E6878"/>
                </a:solidFill>
                <a:latin typeface="Alexandria" pitchFamily="34" charset="0"/>
                <a:ea typeface="Alexandria" pitchFamily="34" charset="-122"/>
                <a:cs typeface="Alexandria" pitchFamily="34" charset="-120"/>
              </a:rPr>
              <a:t>— McDonald (B05)</a:t>
            </a:r>
            <a:endParaRPr lang="en-US" sz="2600" dirty="0"/>
          </a:p>
        </p:txBody>
      </p:sp>
      <p:sp>
        <p:nvSpPr>
          <p:cNvPr id="27" name="Text 24"/>
          <p:cNvSpPr txBox="1"/>
          <p:nvPr/>
        </p:nvSpPr>
        <p:spPr>
          <a:xfrm>
            <a:off x="548640" y="3931920"/>
            <a:ext cx="11094415" cy="411480"/>
          </a:xfrm>
          <a:prstGeom prst="rect">
            <a:avLst/>
          </a:prstGeom>
          <a:noFill/>
          <a:ln/>
        </p:spPr>
        <p:txBody>
          <a:bodyPr wrap="square" lIns="0" tIns="0" rIns="0" bIns="0" rtlCol="0" anchor="ctr"/>
          <a:lstStyle/>
          <a:p>
            <a:pPr indent="0" marL="0">
              <a:buNone/>
            </a:pPr>
            <a:r>
              <a:rPr lang="en-US" sz="1600" b="1" dirty="0">
                <a:solidFill>
                  <a:srgbClr val="6E6878"/>
                </a:solidFill>
                <a:latin typeface="Alexandria" pitchFamily="34" charset="0"/>
                <a:ea typeface="Alexandria" pitchFamily="34" charset="-122"/>
                <a:cs typeface="Alexandria" pitchFamily="34" charset="-120"/>
              </a:rPr>
              <a:t>Phân loại khách hàng lớn theo:</a:t>
            </a:r>
            <a:endParaRPr lang="en-US" sz="1600" dirty="0"/>
          </a:p>
        </p:txBody>
      </p:sp>
      <p:sp>
        <p:nvSpPr>
          <p:cNvPr id="28" name="Shape 25"/>
          <p:cNvSpPr/>
          <p:nvPr/>
        </p:nvSpPr>
        <p:spPr>
          <a:xfrm>
            <a:off x="548640" y="4434840"/>
            <a:ext cx="5410048" cy="1554480"/>
          </a:xfrm>
          <a:prstGeom prst="roundRect">
            <a:avLst>
              <a:gd name="adj" fmla="val 7059"/>
            </a:avLst>
          </a:prstGeom>
          <a:solidFill>
            <a:srgbClr val="F1E1EE"/>
          </a:solidFill>
          <a:ln w="12700">
            <a:solidFill>
              <a:srgbClr val="962B7C"/>
            </a:solidFill>
            <a:prstDash val="solid"/>
          </a:ln>
        </p:spPr>
      </p:sp>
      <p:sp>
        <p:nvSpPr>
          <p:cNvPr id="29" name="Text 26"/>
          <p:cNvSpPr txBox="1"/>
          <p:nvPr/>
        </p:nvSpPr>
        <p:spPr>
          <a:xfrm>
            <a:off x="868680" y="4434840"/>
            <a:ext cx="4769968" cy="155448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Tiềm năng tăng lợi nhuận</a:t>
            </a:r>
            <a:endParaRPr lang="en-US" sz="2000" dirty="0"/>
          </a:p>
          <a:p>
            <a:pPr indent="0" marL="0">
              <a:buNone/>
            </a:pPr>
            <a:r>
              <a:rPr lang="en-US" sz="1500" dirty="0">
                <a:solidFill>
                  <a:srgbClr val="2A2238"/>
                </a:solidFill>
                <a:latin typeface="Alexandria" pitchFamily="34" charset="0"/>
                <a:ea typeface="Alexandria" pitchFamily="34" charset="-122"/>
                <a:cs typeface="Alexandria" pitchFamily="34" charset="-120"/>
              </a:rPr>
              <a:t>cho agency trong khoảng 3 năm</a:t>
            </a:r>
            <a:endParaRPr lang="en-US" sz="2000" dirty="0"/>
          </a:p>
        </p:txBody>
      </p:sp>
      <p:sp>
        <p:nvSpPr>
          <p:cNvPr id="30" name="Shape 27"/>
          <p:cNvSpPr/>
          <p:nvPr/>
        </p:nvSpPr>
        <p:spPr>
          <a:xfrm>
            <a:off x="6233008" y="4434840"/>
            <a:ext cx="5410048" cy="1554480"/>
          </a:xfrm>
          <a:prstGeom prst="roundRect">
            <a:avLst>
              <a:gd name="adj" fmla="val 7059"/>
            </a:avLst>
          </a:prstGeom>
          <a:solidFill>
            <a:srgbClr val="DDF1FB"/>
          </a:solidFill>
          <a:ln w="12700">
            <a:solidFill>
              <a:srgbClr val="09A1E5"/>
            </a:solidFill>
            <a:prstDash val="solid"/>
          </a:ln>
        </p:spPr>
      </p:sp>
      <p:sp>
        <p:nvSpPr>
          <p:cNvPr id="31" name="Text 28"/>
          <p:cNvSpPr txBox="1"/>
          <p:nvPr/>
        </p:nvSpPr>
        <p:spPr>
          <a:xfrm>
            <a:off x="6553048" y="4434840"/>
            <a:ext cx="4769968" cy="155448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Thế mạnh cạnh tranh</a:t>
            </a:r>
            <a:endParaRPr lang="en-US" sz="2000" dirty="0"/>
          </a:p>
          <a:p>
            <a:pPr indent="0" marL="0">
              <a:buNone/>
            </a:pPr>
            <a:r>
              <a:rPr lang="en-US" sz="1500" dirty="0">
                <a:solidFill>
                  <a:srgbClr val="2A2238"/>
                </a:solidFill>
                <a:latin typeface="Alexandria" pitchFamily="34" charset="0"/>
                <a:ea typeface="Alexandria" pitchFamily="34" charset="-122"/>
                <a:cs typeface="Alexandria" pitchFamily="34" charset="-120"/>
              </a:rPr>
              <a:t>của agency với từng khách hàng</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Ba câu hỏi để chọn Key Account</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B07: Guesalaga, Adopting key account management – Choose me and I will choose you, Cranfield blog.</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13</a:t>
            </a:r>
            <a:endParaRPr lang="en-US" sz="1000" dirty="0"/>
          </a:p>
        </p:txBody>
      </p:sp>
      <p:sp>
        <p:nvSpPr>
          <p:cNvPr id="25" name="Shape 22"/>
          <p:cNvSpPr/>
          <p:nvPr/>
        </p:nvSpPr>
        <p:spPr>
          <a:xfrm>
            <a:off x="548640" y="1874520"/>
            <a:ext cx="11094415" cy="1207008"/>
          </a:xfrm>
          <a:prstGeom prst="roundRect">
            <a:avLst>
              <a:gd name="adj" fmla="val 9091"/>
            </a:avLst>
          </a:prstGeom>
          <a:solidFill>
            <a:srgbClr val="F1E1EE"/>
          </a:solidFill>
          <a:ln w="19050">
            <a:solidFill>
              <a:srgbClr val="962B7C"/>
            </a:solidFill>
            <a:prstDash val="solid"/>
          </a:ln>
        </p:spPr>
      </p:sp>
      <p:sp>
        <p:nvSpPr>
          <p:cNvPr id="26" name="Shape 23"/>
          <p:cNvSpPr/>
          <p:nvPr/>
        </p:nvSpPr>
        <p:spPr>
          <a:xfrm>
            <a:off x="777240" y="2112264"/>
            <a:ext cx="731520" cy="731520"/>
          </a:xfrm>
          <a:prstGeom prst="ellipse">
            <a:avLst/>
          </a:prstGeom>
          <a:solidFill>
            <a:srgbClr val="962B7C"/>
          </a:solidFill>
          <a:ln w="12700">
            <a:solidFill>
              <a:srgbClr val="962B7C"/>
            </a:solidFill>
            <a:prstDash val="solid"/>
          </a:ln>
        </p:spPr>
      </p:sp>
      <p:sp>
        <p:nvSpPr>
          <p:cNvPr id="27" name="Text 24"/>
          <p:cNvSpPr txBox="1"/>
          <p:nvPr/>
        </p:nvSpPr>
        <p:spPr>
          <a:xfrm>
            <a:off x="777240" y="2112264"/>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1</a:t>
            </a:r>
            <a:endParaRPr lang="en-US" sz="2200" dirty="0"/>
          </a:p>
        </p:txBody>
      </p:sp>
      <p:sp>
        <p:nvSpPr>
          <p:cNvPr id="28" name="Text 25"/>
          <p:cNvSpPr txBox="1"/>
          <p:nvPr/>
        </p:nvSpPr>
        <p:spPr>
          <a:xfrm>
            <a:off x="1737360" y="1874520"/>
            <a:ext cx="9722815" cy="1207008"/>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Khách hàng này có hấp dẫn không?</a:t>
            </a:r>
            <a:endParaRPr lang="en-US" sz="2000" dirty="0"/>
          </a:p>
          <a:p>
            <a:pPr indent="0" marL="0">
              <a:buNone/>
            </a:pPr>
            <a:r>
              <a:rPr lang="en-US" sz="1300" i="1" dirty="0">
                <a:solidFill>
                  <a:srgbClr val="6E6878"/>
                </a:solidFill>
                <a:latin typeface="Alexandria" pitchFamily="34" charset="0"/>
                <a:ea typeface="Alexandria" pitchFamily="34" charset="-122"/>
                <a:cs typeface="Alexandria" pitchFamily="34" charset="-120"/>
              </a:rPr>
              <a:t>customer attractiveness — chấm có trọng số</a:t>
            </a:r>
            <a:endParaRPr lang="en-US" sz="2000" dirty="0"/>
          </a:p>
        </p:txBody>
      </p:sp>
      <p:sp>
        <p:nvSpPr>
          <p:cNvPr id="29" name="Shape 26"/>
          <p:cNvSpPr/>
          <p:nvPr/>
        </p:nvSpPr>
        <p:spPr>
          <a:xfrm>
            <a:off x="548640" y="3246120"/>
            <a:ext cx="11094415" cy="1207008"/>
          </a:xfrm>
          <a:prstGeom prst="roundRect">
            <a:avLst>
              <a:gd name="adj" fmla="val 9091"/>
            </a:avLst>
          </a:prstGeom>
          <a:solidFill>
            <a:srgbClr val="DDF1FB"/>
          </a:solidFill>
          <a:ln w="19050">
            <a:solidFill>
              <a:srgbClr val="09A1E5"/>
            </a:solidFill>
            <a:prstDash val="solid"/>
          </a:ln>
        </p:spPr>
      </p:sp>
      <p:sp>
        <p:nvSpPr>
          <p:cNvPr id="30" name="Shape 27"/>
          <p:cNvSpPr/>
          <p:nvPr/>
        </p:nvSpPr>
        <p:spPr>
          <a:xfrm>
            <a:off x="777240" y="3483864"/>
            <a:ext cx="731520" cy="731520"/>
          </a:xfrm>
          <a:prstGeom prst="ellipse">
            <a:avLst/>
          </a:prstGeom>
          <a:solidFill>
            <a:srgbClr val="09A1E5"/>
          </a:solidFill>
          <a:ln w="12700">
            <a:solidFill>
              <a:srgbClr val="09A1E5"/>
            </a:solidFill>
            <a:prstDash val="solid"/>
          </a:ln>
        </p:spPr>
      </p:sp>
      <p:sp>
        <p:nvSpPr>
          <p:cNvPr id="31" name="Text 28"/>
          <p:cNvSpPr txBox="1"/>
          <p:nvPr/>
        </p:nvSpPr>
        <p:spPr>
          <a:xfrm>
            <a:off x="777240" y="3483864"/>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2</a:t>
            </a:r>
            <a:endParaRPr lang="en-US" sz="2200" dirty="0"/>
          </a:p>
        </p:txBody>
      </p:sp>
      <p:sp>
        <p:nvSpPr>
          <p:cNvPr id="32" name="Text 29"/>
          <p:cNvSpPr txBox="1"/>
          <p:nvPr/>
        </p:nvSpPr>
        <p:spPr>
          <a:xfrm>
            <a:off x="1737360" y="3246120"/>
            <a:ext cx="9722815" cy="1207008"/>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Agency có vị thế cạnh tranh mạnh với khách hàng này không?</a:t>
            </a:r>
            <a:endParaRPr lang="en-US" sz="2000" dirty="0"/>
          </a:p>
          <a:p>
            <a:pPr indent="0" marL="0">
              <a:buNone/>
            </a:pPr>
            <a:r>
              <a:rPr lang="en-US" sz="1300" i="1" dirty="0">
                <a:solidFill>
                  <a:srgbClr val="6E6878"/>
                </a:solidFill>
                <a:latin typeface="Alexandria" pitchFamily="34" charset="0"/>
                <a:ea typeface="Alexandria" pitchFamily="34" charset="-122"/>
                <a:cs typeface="Alexandria" pitchFamily="34" charset="-120"/>
              </a:rPr>
              <a:t>“Does our company have a strong competitive position to deal with this customer?”</a:t>
            </a:r>
            <a:endParaRPr lang="en-US" sz="2000" dirty="0"/>
          </a:p>
        </p:txBody>
      </p:sp>
      <p:sp>
        <p:nvSpPr>
          <p:cNvPr id="33" name="Shape 30"/>
          <p:cNvSpPr/>
          <p:nvPr/>
        </p:nvSpPr>
        <p:spPr>
          <a:xfrm>
            <a:off x="548640" y="4617720"/>
            <a:ext cx="11094415" cy="1207008"/>
          </a:xfrm>
          <a:prstGeom prst="roundRect">
            <a:avLst>
              <a:gd name="adj" fmla="val 9091"/>
            </a:avLst>
          </a:prstGeom>
          <a:solidFill>
            <a:srgbClr val="FFE4EA"/>
          </a:solidFill>
          <a:ln w="19050">
            <a:solidFill>
              <a:srgbClr val="FF5178"/>
            </a:solidFill>
            <a:prstDash val="solid"/>
          </a:ln>
        </p:spPr>
      </p:sp>
      <p:sp>
        <p:nvSpPr>
          <p:cNvPr id="34" name="Shape 31"/>
          <p:cNvSpPr/>
          <p:nvPr/>
        </p:nvSpPr>
        <p:spPr>
          <a:xfrm>
            <a:off x="777240" y="4855464"/>
            <a:ext cx="731520" cy="731520"/>
          </a:xfrm>
          <a:prstGeom prst="ellipse">
            <a:avLst/>
          </a:prstGeom>
          <a:solidFill>
            <a:srgbClr val="FF5178"/>
          </a:solidFill>
          <a:ln w="12700">
            <a:solidFill>
              <a:srgbClr val="FF5178"/>
            </a:solidFill>
            <a:prstDash val="solid"/>
          </a:ln>
        </p:spPr>
      </p:sp>
      <p:sp>
        <p:nvSpPr>
          <p:cNvPr id="35" name="Text 32"/>
          <p:cNvSpPr txBox="1"/>
          <p:nvPr/>
        </p:nvSpPr>
        <p:spPr>
          <a:xfrm>
            <a:off x="777240" y="4855464"/>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3</a:t>
            </a:r>
            <a:endParaRPr lang="en-US" sz="2200" dirty="0"/>
          </a:p>
        </p:txBody>
      </p:sp>
      <p:sp>
        <p:nvSpPr>
          <p:cNvPr id="36" name="Text 33"/>
          <p:cNvSpPr txBox="1"/>
          <p:nvPr/>
        </p:nvSpPr>
        <p:spPr>
          <a:xfrm>
            <a:off x="1737360" y="4617720"/>
            <a:ext cx="9722815" cy="1207008"/>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Khách hàng có sẵn sàng đồng đầu tư vào quan hệ không?</a:t>
            </a:r>
            <a:endParaRPr lang="en-US" sz="2000" dirty="0"/>
          </a:p>
          <a:p>
            <a:pPr indent="0" marL="0">
              <a:buNone/>
            </a:pPr>
            <a:r>
              <a:rPr lang="en-US" sz="1300" i="1" dirty="0">
                <a:solidFill>
                  <a:srgbClr val="6E6878"/>
                </a:solidFill>
                <a:latin typeface="Alexandria" pitchFamily="34" charset="0"/>
                <a:ea typeface="Alexandria" pitchFamily="34" charset="-122"/>
                <a:cs typeface="Alexandria" pitchFamily="34" charset="-120"/>
              </a:rPr>
              <a:t>“Is this customer willing to co-invest in a partnering relationship with us?”</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Hai trục đầu điều chỉnh từ khung GE–McKinsey</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B07: Guesalaga, Cranfield blog · cách trình bày “cổng” đồng đầu tư: nhận định của người soạn.</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14</a:t>
            </a:r>
            <a:endParaRPr lang="en-US" sz="1000" dirty="0"/>
          </a:p>
        </p:txBody>
      </p:sp>
      <p:sp>
        <p:nvSpPr>
          <p:cNvPr id="25" name="Shape 22"/>
          <p:cNvSpPr/>
          <p:nvPr/>
        </p:nvSpPr>
        <p:spPr>
          <a:xfrm>
            <a:off x="1005840" y="1828800"/>
            <a:ext cx="1822704" cy="1274064"/>
          </a:xfrm>
          <a:prstGeom prst="rect">
            <a:avLst/>
          </a:prstGeom>
          <a:solidFill>
            <a:srgbClr val="DDF1FB"/>
          </a:solidFill>
          <a:ln w="12700">
            <a:solidFill>
              <a:srgbClr val="FFFFFF"/>
            </a:solidFill>
            <a:prstDash val="solid"/>
          </a:ln>
        </p:spPr>
      </p:sp>
      <p:sp>
        <p:nvSpPr>
          <p:cNvPr id="26" name="Shape 23"/>
          <p:cNvSpPr/>
          <p:nvPr/>
        </p:nvSpPr>
        <p:spPr>
          <a:xfrm>
            <a:off x="2865120" y="1828800"/>
            <a:ext cx="1822704" cy="1274064"/>
          </a:xfrm>
          <a:prstGeom prst="rect">
            <a:avLst/>
          </a:prstGeom>
          <a:solidFill>
            <a:srgbClr val="F1E1EE"/>
          </a:solidFill>
          <a:ln w="12700">
            <a:solidFill>
              <a:srgbClr val="FFFFFF"/>
            </a:solidFill>
            <a:prstDash val="solid"/>
          </a:ln>
        </p:spPr>
      </p:sp>
      <p:sp>
        <p:nvSpPr>
          <p:cNvPr id="27" name="Shape 24"/>
          <p:cNvSpPr/>
          <p:nvPr/>
        </p:nvSpPr>
        <p:spPr>
          <a:xfrm>
            <a:off x="4724400" y="1828800"/>
            <a:ext cx="1822704" cy="1274064"/>
          </a:xfrm>
          <a:prstGeom prst="rect">
            <a:avLst/>
          </a:prstGeom>
          <a:solidFill>
            <a:srgbClr val="F1E1EE"/>
          </a:solidFill>
          <a:ln w="12700">
            <a:solidFill>
              <a:srgbClr val="FFFFFF"/>
            </a:solidFill>
            <a:prstDash val="solid"/>
          </a:ln>
        </p:spPr>
      </p:sp>
      <p:sp>
        <p:nvSpPr>
          <p:cNvPr id="28" name="Shape 25"/>
          <p:cNvSpPr/>
          <p:nvPr/>
        </p:nvSpPr>
        <p:spPr>
          <a:xfrm>
            <a:off x="1005840" y="3139440"/>
            <a:ext cx="1822704" cy="1274064"/>
          </a:xfrm>
          <a:prstGeom prst="rect">
            <a:avLst/>
          </a:prstGeom>
          <a:solidFill>
            <a:srgbClr val="E1F3EE"/>
          </a:solidFill>
          <a:ln w="12700">
            <a:solidFill>
              <a:srgbClr val="FFFFFF"/>
            </a:solidFill>
            <a:prstDash val="solid"/>
          </a:ln>
        </p:spPr>
      </p:sp>
      <p:sp>
        <p:nvSpPr>
          <p:cNvPr id="29" name="Shape 26"/>
          <p:cNvSpPr/>
          <p:nvPr/>
        </p:nvSpPr>
        <p:spPr>
          <a:xfrm>
            <a:off x="2865120" y="3139440"/>
            <a:ext cx="1822704" cy="1274064"/>
          </a:xfrm>
          <a:prstGeom prst="rect">
            <a:avLst/>
          </a:prstGeom>
          <a:solidFill>
            <a:srgbClr val="DDF1FB"/>
          </a:solidFill>
          <a:ln w="12700">
            <a:solidFill>
              <a:srgbClr val="FFFFFF"/>
            </a:solidFill>
            <a:prstDash val="solid"/>
          </a:ln>
        </p:spPr>
      </p:sp>
      <p:sp>
        <p:nvSpPr>
          <p:cNvPr id="30" name="Shape 27"/>
          <p:cNvSpPr/>
          <p:nvPr/>
        </p:nvSpPr>
        <p:spPr>
          <a:xfrm>
            <a:off x="4724400" y="3139440"/>
            <a:ext cx="1822704" cy="1274064"/>
          </a:xfrm>
          <a:prstGeom prst="rect">
            <a:avLst/>
          </a:prstGeom>
          <a:solidFill>
            <a:srgbClr val="F1E1EE"/>
          </a:solidFill>
          <a:ln w="12700">
            <a:solidFill>
              <a:srgbClr val="FFFFFF"/>
            </a:solidFill>
            <a:prstDash val="solid"/>
          </a:ln>
        </p:spPr>
      </p:sp>
      <p:sp>
        <p:nvSpPr>
          <p:cNvPr id="31" name="Shape 28"/>
          <p:cNvSpPr/>
          <p:nvPr/>
        </p:nvSpPr>
        <p:spPr>
          <a:xfrm>
            <a:off x="1005840" y="4450080"/>
            <a:ext cx="1822704" cy="1274064"/>
          </a:xfrm>
          <a:prstGeom prst="rect">
            <a:avLst/>
          </a:prstGeom>
          <a:solidFill>
            <a:srgbClr val="F3F0E6"/>
          </a:solidFill>
          <a:ln w="12700">
            <a:solidFill>
              <a:srgbClr val="FFFFFF"/>
            </a:solidFill>
            <a:prstDash val="solid"/>
          </a:ln>
        </p:spPr>
      </p:sp>
      <p:sp>
        <p:nvSpPr>
          <p:cNvPr id="32" name="Shape 29"/>
          <p:cNvSpPr/>
          <p:nvPr/>
        </p:nvSpPr>
        <p:spPr>
          <a:xfrm>
            <a:off x="2865120" y="4450080"/>
            <a:ext cx="1822704" cy="1274064"/>
          </a:xfrm>
          <a:prstGeom prst="rect">
            <a:avLst/>
          </a:prstGeom>
          <a:solidFill>
            <a:srgbClr val="E1F3EE"/>
          </a:solidFill>
          <a:ln w="12700">
            <a:solidFill>
              <a:srgbClr val="FFFFFF"/>
            </a:solidFill>
            <a:prstDash val="solid"/>
          </a:ln>
        </p:spPr>
      </p:sp>
      <p:sp>
        <p:nvSpPr>
          <p:cNvPr id="33" name="Shape 30"/>
          <p:cNvSpPr/>
          <p:nvPr/>
        </p:nvSpPr>
        <p:spPr>
          <a:xfrm>
            <a:off x="4724400" y="4450080"/>
            <a:ext cx="1822704" cy="1274064"/>
          </a:xfrm>
          <a:prstGeom prst="rect">
            <a:avLst/>
          </a:prstGeom>
          <a:solidFill>
            <a:srgbClr val="DDF1FB"/>
          </a:solidFill>
          <a:ln w="12700">
            <a:solidFill>
              <a:srgbClr val="FFFFFF"/>
            </a:solidFill>
            <a:prstDash val="solid"/>
          </a:ln>
        </p:spPr>
      </p:sp>
      <p:sp>
        <p:nvSpPr>
          <p:cNvPr id="34" name="Shape 31"/>
          <p:cNvSpPr/>
          <p:nvPr/>
        </p:nvSpPr>
        <p:spPr>
          <a:xfrm flipV="1">
            <a:off x="896112" y="1828800"/>
            <a:ext cx="914" cy="3931920"/>
          </a:xfrm>
          <a:prstGeom prst="line">
            <a:avLst/>
          </a:prstGeom>
          <a:noFill/>
          <a:ln w="19050">
            <a:solidFill>
              <a:srgbClr val="6E6878"/>
            </a:solidFill>
            <a:prstDash val="solid"/>
            <a:tailEnd type="triangle"/>
          </a:ln>
        </p:spPr>
      </p:sp>
      <p:sp>
        <p:nvSpPr>
          <p:cNvPr id="35" name="Text 32"/>
          <p:cNvSpPr txBox="1"/>
          <p:nvPr/>
        </p:nvSpPr>
        <p:spPr>
          <a:xfrm rot="16200000">
            <a:off x="-1325880" y="3657600"/>
            <a:ext cx="3931920"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Sức hấp dẫn của khách hàng  →</a:t>
            </a:r>
            <a:endParaRPr lang="en-US" sz="1100" dirty="0"/>
          </a:p>
        </p:txBody>
      </p:sp>
      <p:sp>
        <p:nvSpPr>
          <p:cNvPr id="36" name="Shape 33"/>
          <p:cNvSpPr/>
          <p:nvPr/>
        </p:nvSpPr>
        <p:spPr>
          <a:xfrm>
            <a:off x="1005840" y="5943600"/>
            <a:ext cx="5577840" cy="914"/>
          </a:xfrm>
          <a:prstGeom prst="line">
            <a:avLst/>
          </a:prstGeom>
          <a:noFill/>
          <a:ln w="19050">
            <a:solidFill>
              <a:srgbClr val="6E6878"/>
            </a:solidFill>
            <a:prstDash val="solid"/>
            <a:tailEnd type="triangle"/>
          </a:ln>
        </p:spPr>
      </p:sp>
      <p:sp>
        <p:nvSpPr>
          <p:cNvPr id="37" name="Text 34"/>
          <p:cNvSpPr txBox="1"/>
          <p:nvPr/>
        </p:nvSpPr>
        <p:spPr>
          <a:xfrm>
            <a:off x="1005840" y="5980176"/>
            <a:ext cx="5577840" cy="219456"/>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Vị thế cạnh tranh của agency  →</a:t>
            </a:r>
            <a:endParaRPr lang="en-US" sz="1100" dirty="0"/>
          </a:p>
        </p:txBody>
      </p:sp>
      <p:sp>
        <p:nvSpPr>
          <p:cNvPr id="38" name="Shape 35"/>
          <p:cNvSpPr/>
          <p:nvPr/>
        </p:nvSpPr>
        <p:spPr>
          <a:xfrm>
            <a:off x="2865120" y="1828800"/>
            <a:ext cx="3681984" cy="2584704"/>
          </a:xfrm>
          <a:prstGeom prst="rect">
            <a:avLst/>
          </a:prstGeom>
          <a:ln w="38100">
            <a:solidFill>
              <a:srgbClr val="962B7C"/>
            </a:solidFill>
            <a:prstDash val="dash"/>
          </a:ln>
        </p:spPr>
      </p:sp>
      <p:sp>
        <p:nvSpPr>
          <p:cNvPr id="39" name="Text 36"/>
          <p:cNvSpPr txBox="1"/>
          <p:nvPr/>
        </p:nvSpPr>
        <p:spPr>
          <a:xfrm>
            <a:off x="3002280" y="1965960"/>
            <a:ext cx="3444240" cy="365760"/>
          </a:xfrm>
          <a:prstGeom prst="rect">
            <a:avLst/>
          </a:prstGeom>
          <a:noFill/>
          <a:ln/>
        </p:spPr>
        <p:txBody>
          <a:bodyPr wrap="square" lIns="0" tIns="0" rIns="0" bIns="0" rtlCol="0" anchor="ctr"/>
          <a:lstStyle/>
          <a:p>
            <a:pPr indent="0" marL="0">
              <a:buNone/>
            </a:pPr>
            <a:r>
              <a:rPr lang="en-US" sz="1300" b="1" dirty="0">
                <a:solidFill>
                  <a:srgbClr val="962B7C"/>
                </a:solidFill>
                <a:latin typeface="Alexandria" pitchFamily="34" charset="0"/>
                <a:ea typeface="Alexandria" pitchFamily="34" charset="-122"/>
                <a:cs typeface="Alexandria" pitchFamily="34" charset="-120"/>
              </a:rPr>
              <a:t>vùng ứng viên Key Account</a:t>
            </a:r>
            <a:endParaRPr lang="en-US" sz="1300" dirty="0"/>
          </a:p>
        </p:txBody>
      </p:sp>
      <p:sp>
        <p:nvSpPr>
          <p:cNvPr id="40" name="Shape 37"/>
          <p:cNvSpPr/>
          <p:nvPr/>
        </p:nvSpPr>
        <p:spPr>
          <a:xfrm>
            <a:off x="6949440" y="1828800"/>
            <a:ext cx="4693615" cy="1828800"/>
          </a:xfrm>
          <a:prstGeom prst="roundRect">
            <a:avLst>
              <a:gd name="adj" fmla="val 6000"/>
            </a:avLst>
          </a:prstGeom>
          <a:solidFill>
            <a:srgbClr val="F1E1EE"/>
          </a:solidFill>
          <a:ln w="12700">
            <a:solidFill>
              <a:srgbClr val="962B7C"/>
            </a:solidFill>
            <a:prstDash val="solid"/>
          </a:ln>
        </p:spPr>
      </p:sp>
      <p:sp>
        <p:nvSpPr>
          <p:cNvPr id="41" name="Text 38"/>
          <p:cNvSpPr txBox="1"/>
          <p:nvPr/>
        </p:nvSpPr>
        <p:spPr>
          <a:xfrm>
            <a:off x="7223760" y="1828800"/>
            <a:ext cx="4144975" cy="18288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Trục 1 + 2</a:t>
            </a:r>
            <a:endParaRPr lang="en-US" sz="1800" dirty="0"/>
          </a:p>
          <a:p>
            <a:pPr indent="0" marL="0">
              <a:buNone/>
            </a:pPr>
            <a:r>
              <a:rPr lang="en-US" sz="1500" dirty="0">
                <a:solidFill>
                  <a:srgbClr val="2A2238"/>
                </a:solidFill>
                <a:latin typeface="Alexandria" pitchFamily="34" charset="0"/>
                <a:ea typeface="Alexandria" pitchFamily="34" charset="-122"/>
                <a:cs typeface="Alexandria" pitchFamily="34" charset="-120"/>
              </a:rPr>
              <a:t>hấp dẫn × vị thế — điều chỉnh từ ma trận GE–McKinsey, chấm có trọng số</a:t>
            </a:r>
            <a:endParaRPr lang="en-US" sz="1800" dirty="0"/>
          </a:p>
        </p:txBody>
      </p:sp>
      <p:sp>
        <p:nvSpPr>
          <p:cNvPr id="42" name="Shape 39"/>
          <p:cNvSpPr/>
          <p:nvPr/>
        </p:nvSpPr>
        <p:spPr>
          <a:xfrm>
            <a:off x="6949440" y="3886200"/>
            <a:ext cx="4693615" cy="1828800"/>
          </a:xfrm>
          <a:prstGeom prst="roundRect">
            <a:avLst>
              <a:gd name="adj" fmla="val 6000"/>
            </a:avLst>
          </a:prstGeom>
          <a:solidFill>
            <a:srgbClr val="FFE4EA"/>
          </a:solidFill>
          <a:ln w="12700">
            <a:solidFill>
              <a:srgbClr val="FF5178"/>
            </a:solidFill>
            <a:prstDash val="solid"/>
          </a:ln>
        </p:spPr>
      </p:sp>
      <p:sp>
        <p:nvSpPr>
          <p:cNvPr id="43" name="Text 40"/>
          <p:cNvSpPr txBox="1"/>
          <p:nvPr/>
        </p:nvSpPr>
        <p:spPr>
          <a:xfrm>
            <a:off x="7223760" y="3886200"/>
            <a:ext cx="4144975" cy="18288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Câu 3 là cổng</a:t>
            </a:r>
            <a:endParaRPr lang="en-US" sz="1800" dirty="0"/>
          </a:p>
          <a:p>
            <a:pPr indent="0" marL="0">
              <a:buNone/>
            </a:pPr>
            <a:r>
              <a:rPr lang="en-US" sz="1500" dirty="0">
                <a:solidFill>
                  <a:srgbClr val="2A2238"/>
                </a:solidFill>
                <a:latin typeface="Alexandria" pitchFamily="34" charset="0"/>
                <a:ea typeface="Alexandria" pitchFamily="34" charset="-122"/>
                <a:cs typeface="Alexandria" pitchFamily="34" charset="-120"/>
              </a:rPr>
              <a:t>ứng viên trong vùng vẫn phải qua cổng đồng đầu tư mới thành Key Account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Mỗi trục có tiêu chí con và trọng số</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Tiêu chí con gợi ý cho agency sự kiện: nhận định của người soạn — nhóm có thể sửa.</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15</a:t>
            </a:r>
            <a:endParaRPr lang="en-US" sz="1000" dirty="0"/>
          </a:p>
        </p:txBody>
      </p:sp>
      <p:sp>
        <p:nvSpPr>
          <p:cNvPr id="25" name="Shape 22"/>
          <p:cNvSpPr/>
          <p:nvPr/>
        </p:nvSpPr>
        <p:spPr>
          <a:xfrm>
            <a:off x="548640" y="1783080"/>
            <a:ext cx="5410048" cy="548640"/>
          </a:xfrm>
          <a:prstGeom prst="roundRect">
            <a:avLst>
              <a:gd name="adj" fmla="val 50000"/>
            </a:avLst>
          </a:prstGeom>
          <a:solidFill>
            <a:srgbClr val="962B7C"/>
          </a:solidFill>
          <a:ln w="12700">
            <a:solidFill>
              <a:srgbClr val="962B7C"/>
            </a:solidFill>
            <a:prstDash val="solid"/>
          </a:ln>
        </p:spPr>
      </p:sp>
      <p:sp>
        <p:nvSpPr>
          <p:cNvPr id="26" name="Text 23"/>
          <p:cNvSpPr txBox="1"/>
          <p:nvPr/>
        </p:nvSpPr>
        <p:spPr>
          <a:xfrm>
            <a:off x="621792" y="1783080"/>
            <a:ext cx="5263744"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Sức hấp dẫn của khách hàng</a:t>
            </a:r>
            <a:endParaRPr lang="en-US" sz="1600" dirty="0"/>
          </a:p>
        </p:txBody>
      </p:sp>
      <p:sp>
        <p:nvSpPr>
          <p:cNvPr id="27" name="Shape 24"/>
          <p:cNvSpPr/>
          <p:nvPr/>
        </p:nvSpPr>
        <p:spPr>
          <a:xfrm>
            <a:off x="548640" y="2468880"/>
            <a:ext cx="5410048" cy="2743200"/>
          </a:xfrm>
          <a:prstGeom prst="roundRect">
            <a:avLst>
              <a:gd name="adj" fmla="val 4000"/>
            </a:avLst>
          </a:prstGeom>
          <a:solidFill>
            <a:srgbClr val="F1E1EE"/>
          </a:solidFill>
          <a:ln w="12700">
            <a:solidFill>
              <a:srgbClr val="F1E1EE"/>
            </a:solidFill>
            <a:prstDash val="solid"/>
          </a:ln>
        </p:spPr>
      </p:sp>
      <p:sp>
        <p:nvSpPr>
          <p:cNvPr id="28" name="Text 25"/>
          <p:cNvSpPr txBox="1"/>
          <p:nvPr/>
        </p:nvSpPr>
        <p:spPr>
          <a:xfrm>
            <a:off x="868680" y="2606040"/>
            <a:ext cx="4769968" cy="251460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2A2238"/>
                </a:solidFill>
                <a:latin typeface="Alexandria" pitchFamily="34" charset="0"/>
                <a:ea typeface="Alexandria" pitchFamily="34" charset="-122"/>
                <a:cs typeface="Alexandria" pitchFamily="34" charset="-120"/>
              </a:rPr>
              <a:t>Ngân sách sự kiện/năm</a:t>
            </a:r>
            <a:endParaRPr lang="en-US" sz="1500" dirty="0"/>
          </a:p>
          <a:p>
            <a:pPr marL="342900" indent="-342900">
              <a:spcAft>
                <a:spcPts val="500"/>
              </a:spcAft>
              <a:buSzPct val="100000"/>
              <a:buChar char="•"/>
            </a:pPr>
            <a:r>
              <a:rPr lang="en-US" sz="1500" dirty="0">
                <a:solidFill>
                  <a:srgbClr val="2A2238"/>
                </a:solidFill>
                <a:latin typeface="Alexandria" pitchFamily="34" charset="0"/>
                <a:ea typeface="Alexandria" pitchFamily="34" charset="-122"/>
                <a:cs typeface="Alexandria" pitchFamily="34" charset="-120"/>
              </a:rPr>
              <a:t>Tiềm năng tăng trong 3 năm</a:t>
            </a:r>
            <a:endParaRPr lang="en-US" sz="1500" dirty="0"/>
          </a:p>
          <a:p>
            <a:pPr marL="342900" indent="-342900">
              <a:spcAft>
                <a:spcPts val="500"/>
              </a:spcAft>
              <a:buSzPct val="100000"/>
              <a:buChar char="•"/>
            </a:pPr>
            <a:r>
              <a:rPr lang="en-US" sz="1500" dirty="0">
                <a:solidFill>
                  <a:srgbClr val="2A2238"/>
                </a:solidFill>
                <a:latin typeface="Alexandria" pitchFamily="34" charset="0"/>
                <a:ea typeface="Alexandria" pitchFamily="34" charset="-122"/>
                <a:cs typeface="Alexandria" pitchFamily="34" charset="-120"/>
              </a:rPr>
              <a:t>Biên lợi nhuận kỳ vọng</a:t>
            </a:r>
            <a:endParaRPr lang="en-US" sz="1500" dirty="0"/>
          </a:p>
          <a:p>
            <a:pPr marL="342900" indent="-342900">
              <a:spcAft>
                <a:spcPts val="500"/>
              </a:spcAft>
              <a:buSzPct val="100000"/>
              <a:buChar char="•"/>
            </a:pPr>
            <a:r>
              <a:rPr lang="en-US" sz="1500" dirty="0">
                <a:solidFill>
                  <a:srgbClr val="2A2238"/>
                </a:solidFill>
                <a:latin typeface="Alexandria" pitchFamily="34" charset="0"/>
                <a:ea typeface="Alexandria" pitchFamily="34" charset="-122"/>
                <a:cs typeface="Alexandria" pitchFamily="34" charset="-120"/>
              </a:rPr>
              <a:t>Uy tín để làm hồ sơ năng lực</a:t>
            </a:r>
            <a:endParaRPr lang="en-US" sz="1500" dirty="0"/>
          </a:p>
          <a:p>
            <a:pPr marL="342900" indent="-342900">
              <a:spcAft>
                <a:spcPts val="500"/>
              </a:spcAft>
              <a:buSzPct val="100000"/>
              <a:buChar char="•"/>
            </a:pPr>
            <a:r>
              <a:rPr lang="en-US" sz="1500" dirty="0">
                <a:solidFill>
                  <a:srgbClr val="2A2238"/>
                </a:solidFill>
                <a:latin typeface="Alexandria" pitchFamily="34" charset="0"/>
                <a:ea typeface="Alexandria" pitchFamily="34" charset="-122"/>
                <a:cs typeface="Alexandria" pitchFamily="34" charset="-120"/>
              </a:rPr>
              <a:t>Thanh toán đúng hạn</a:t>
            </a:r>
            <a:endParaRPr lang="en-US" sz="1500" dirty="0"/>
          </a:p>
          <a:p>
            <a:pPr marL="342900" indent="-342900">
              <a:spcAft>
                <a:spcPts val="500"/>
              </a:spcAft>
              <a:buSzPct val="100000"/>
              <a:buChar char="•"/>
            </a:pPr>
            <a:r>
              <a:rPr lang="en-US" sz="1500" dirty="0">
                <a:solidFill>
                  <a:srgbClr val="2A2238"/>
                </a:solidFill>
                <a:latin typeface="Alexandria" pitchFamily="34" charset="0"/>
                <a:ea typeface="Alexandria" pitchFamily="34" charset="-122"/>
                <a:cs typeface="Alexandria" pitchFamily="34" charset="-120"/>
              </a:rPr>
              <a:t>Ngành phù hợp năng lực Nova</a:t>
            </a:r>
            <a:endParaRPr lang="en-US" sz="1500" dirty="0"/>
          </a:p>
        </p:txBody>
      </p:sp>
      <p:sp>
        <p:nvSpPr>
          <p:cNvPr id="29" name="Shape 26"/>
          <p:cNvSpPr/>
          <p:nvPr/>
        </p:nvSpPr>
        <p:spPr>
          <a:xfrm>
            <a:off x="6233008" y="1783080"/>
            <a:ext cx="5410048" cy="548640"/>
          </a:xfrm>
          <a:prstGeom prst="roundRect">
            <a:avLst>
              <a:gd name="adj" fmla="val 50000"/>
            </a:avLst>
          </a:prstGeom>
          <a:solidFill>
            <a:srgbClr val="09A1E5"/>
          </a:solidFill>
          <a:ln w="12700">
            <a:solidFill>
              <a:srgbClr val="09A1E5"/>
            </a:solidFill>
            <a:prstDash val="solid"/>
          </a:ln>
        </p:spPr>
      </p:sp>
      <p:sp>
        <p:nvSpPr>
          <p:cNvPr id="30" name="Text 27"/>
          <p:cNvSpPr txBox="1"/>
          <p:nvPr/>
        </p:nvSpPr>
        <p:spPr>
          <a:xfrm>
            <a:off x="6306160" y="1783080"/>
            <a:ext cx="5263744"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Vị thế cạnh tranh của agency</a:t>
            </a:r>
            <a:endParaRPr lang="en-US" sz="1600" dirty="0"/>
          </a:p>
        </p:txBody>
      </p:sp>
      <p:sp>
        <p:nvSpPr>
          <p:cNvPr id="31" name="Shape 28"/>
          <p:cNvSpPr/>
          <p:nvPr/>
        </p:nvSpPr>
        <p:spPr>
          <a:xfrm>
            <a:off x="6233008" y="2468880"/>
            <a:ext cx="5410048" cy="2743200"/>
          </a:xfrm>
          <a:prstGeom prst="roundRect">
            <a:avLst>
              <a:gd name="adj" fmla="val 4000"/>
            </a:avLst>
          </a:prstGeom>
          <a:solidFill>
            <a:srgbClr val="DDF1FB"/>
          </a:solidFill>
          <a:ln w="12700">
            <a:solidFill>
              <a:srgbClr val="DDF1FB"/>
            </a:solidFill>
            <a:prstDash val="solid"/>
          </a:ln>
        </p:spPr>
      </p:sp>
      <p:sp>
        <p:nvSpPr>
          <p:cNvPr id="32" name="Text 29"/>
          <p:cNvSpPr txBox="1"/>
          <p:nvPr/>
        </p:nvSpPr>
        <p:spPr>
          <a:xfrm>
            <a:off x="6553048" y="2606040"/>
            <a:ext cx="4769968" cy="251460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2A2238"/>
                </a:solidFill>
                <a:latin typeface="Alexandria" pitchFamily="34" charset="0"/>
                <a:ea typeface="Alexandria" pitchFamily="34" charset="-122"/>
                <a:cs typeface="Alexandria" pitchFamily="34" charset="-120"/>
              </a:rPr>
              <a:t>Quan hệ hiện có: số đầu mối, cấp</a:t>
            </a:r>
            <a:endParaRPr lang="en-US" sz="1500" dirty="0"/>
          </a:p>
          <a:p>
            <a:pPr marL="342900" indent="-342900">
              <a:spcAft>
                <a:spcPts val="500"/>
              </a:spcAft>
              <a:buSzPct val="100000"/>
              <a:buChar char="•"/>
            </a:pPr>
            <a:r>
              <a:rPr lang="en-US" sz="1500" dirty="0">
                <a:solidFill>
                  <a:srgbClr val="2A2238"/>
                </a:solidFill>
                <a:latin typeface="Alexandria" pitchFamily="34" charset="0"/>
                <a:ea typeface="Alexandria" pitchFamily="34" charset="-122"/>
                <a:cs typeface="Alexandria" pitchFamily="34" charset="-120"/>
              </a:rPr>
              <a:t>Hiểu ngành và khách của khách hàng</a:t>
            </a:r>
            <a:endParaRPr lang="en-US" sz="1500" dirty="0"/>
          </a:p>
          <a:p>
            <a:pPr marL="342900" indent="-342900">
              <a:spcAft>
                <a:spcPts val="500"/>
              </a:spcAft>
              <a:buSzPct val="100000"/>
              <a:buChar char="•"/>
            </a:pPr>
            <a:r>
              <a:rPr lang="en-US" sz="1500" dirty="0">
                <a:solidFill>
                  <a:srgbClr val="2A2238"/>
                </a:solidFill>
                <a:latin typeface="Alexandria" pitchFamily="34" charset="0"/>
                <a:ea typeface="Alexandria" pitchFamily="34" charset="-122"/>
                <a:cs typeface="Alexandria" pitchFamily="34" charset="-120"/>
              </a:rPr>
              <a:t>Kết quả các sự kiện đã làm</a:t>
            </a:r>
            <a:endParaRPr lang="en-US" sz="1500" dirty="0"/>
          </a:p>
          <a:p>
            <a:pPr marL="342900" indent="-342900">
              <a:spcAft>
                <a:spcPts val="500"/>
              </a:spcAft>
              <a:buSzPct val="100000"/>
              <a:buChar char="•"/>
            </a:pPr>
            <a:r>
              <a:rPr lang="en-US" sz="1500" dirty="0">
                <a:solidFill>
                  <a:srgbClr val="2A2238"/>
                </a:solidFill>
                <a:latin typeface="Alexandria" pitchFamily="34" charset="0"/>
                <a:ea typeface="Alexandria" pitchFamily="34" charset="-122"/>
                <a:cs typeface="Alexandria" pitchFamily="34" charset="-120"/>
              </a:rPr>
              <a:t>Năng lực đúng loại sự kiện khách cần</a:t>
            </a:r>
            <a:endParaRPr lang="en-US" sz="1500" dirty="0"/>
          </a:p>
          <a:p>
            <a:pPr marL="342900" indent="-342900">
              <a:spcAft>
                <a:spcPts val="500"/>
              </a:spcAft>
              <a:buSzPct val="100000"/>
              <a:buChar char="•"/>
            </a:pPr>
            <a:r>
              <a:rPr lang="en-US" sz="1500" dirty="0">
                <a:solidFill>
                  <a:srgbClr val="2A2238"/>
                </a:solidFill>
                <a:latin typeface="Alexandria" pitchFamily="34" charset="0"/>
                <a:ea typeface="Alexandria" pitchFamily="34" charset="-122"/>
                <a:cs typeface="Alexandria" pitchFamily="34" charset="-120"/>
              </a:rPr>
              <a:t>Vị trí so với agency khác</a:t>
            </a:r>
            <a:endParaRPr lang="en-US" sz="1500" dirty="0"/>
          </a:p>
        </p:txBody>
      </p:sp>
      <p:sp>
        <p:nvSpPr>
          <p:cNvPr id="33" name="Shape 30"/>
          <p:cNvSpPr/>
          <p:nvPr/>
        </p:nvSpPr>
        <p:spPr>
          <a:xfrm>
            <a:off x="548640" y="5394960"/>
            <a:ext cx="11094415" cy="640080"/>
          </a:xfrm>
          <a:prstGeom prst="roundRect">
            <a:avLst>
              <a:gd name="adj" fmla="val 17143"/>
            </a:avLst>
          </a:prstGeom>
          <a:solidFill>
            <a:srgbClr val="FFF3C4"/>
          </a:solidFill>
          <a:ln w="12700">
            <a:solidFill>
              <a:srgbClr val="FFD23B"/>
            </a:solidFill>
            <a:prstDash val="solid"/>
          </a:ln>
        </p:spPr>
      </p:sp>
      <p:sp>
        <p:nvSpPr>
          <p:cNvPr id="34" name="Text 31"/>
          <p:cNvSpPr txBox="1"/>
          <p:nvPr/>
        </p:nvSpPr>
        <p:spPr>
          <a:xfrm>
            <a:off x="822960" y="5394960"/>
            <a:ext cx="10545775" cy="6400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Cách chấm: </a:t>
            </a:r>
            <a:pPr indent="0" marL="0">
              <a:buNone/>
            </a:pPr>
            <a:r>
              <a:rPr lang="en-US" sz="1500" dirty="0">
                <a:solidFill>
                  <a:srgbClr val="2A2238"/>
                </a:solidFill>
                <a:latin typeface="Alexandria" pitchFamily="34" charset="0"/>
                <a:ea typeface="Alexandria" pitchFamily="34" charset="-122"/>
                <a:cs typeface="Alexandria" pitchFamily="34" charset="-120"/>
              </a:rPr>
              <a:t>mỗi tiêu chí 1–5 × trọng số (tổng 100) → điểm mỗi trục, thang 100</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Chấm thử An Phát: hấp dẫn cao, vị thế khá</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GIẢ ĐỊNH — chấm trên bảng cùng lớp.</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16</a:t>
            </a:r>
            <a:endParaRPr lang="en-US" sz="1000" dirty="0"/>
          </a:p>
        </p:txBody>
      </p:sp>
      <p:sp>
        <p:nvSpPr>
          <p:cNvPr id="25" name="Shape 22"/>
          <p:cNvSpPr/>
          <p:nvPr/>
        </p:nvSpPr>
        <p:spPr>
          <a:xfrm>
            <a:off x="9814255" y="1783080"/>
            <a:ext cx="1828800" cy="411480"/>
          </a:xfrm>
          <a:prstGeom prst="roundRect">
            <a:avLst>
              <a:gd name="adj" fmla="val 50000"/>
            </a:avLst>
          </a:prstGeom>
          <a:solidFill>
            <a:srgbClr val="FFD23B"/>
          </a:solidFill>
          <a:ln w="12700">
            <a:solidFill>
              <a:srgbClr val="FFD23B"/>
            </a:solidFill>
            <a:prstDash val="solid"/>
          </a:ln>
        </p:spPr>
      </p:sp>
      <p:sp>
        <p:nvSpPr>
          <p:cNvPr id="26" name="Text 23"/>
          <p:cNvSpPr txBox="1"/>
          <p:nvPr/>
        </p:nvSpPr>
        <p:spPr>
          <a:xfrm>
            <a:off x="9887407" y="1783080"/>
            <a:ext cx="1682496" cy="411480"/>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GIẢ ĐỊNH</a:t>
            </a:r>
            <a:endParaRPr lang="en-US" sz="1200" dirty="0"/>
          </a:p>
        </p:txBody>
      </p:sp>
      <p:sp>
        <p:nvSpPr>
          <p:cNvPr id="27" name="Shape 24"/>
          <p:cNvSpPr/>
          <p:nvPr/>
        </p:nvSpPr>
        <p:spPr>
          <a:xfrm>
            <a:off x="548640" y="2377440"/>
            <a:ext cx="5486400" cy="603504"/>
          </a:xfrm>
          <a:prstGeom prst="roundRect">
            <a:avLst>
              <a:gd name="adj" fmla="val 18182"/>
            </a:avLst>
          </a:prstGeom>
          <a:solidFill>
            <a:srgbClr val="E1F3EE"/>
          </a:solidFill>
          <a:ln w="12700">
            <a:solidFill>
              <a:srgbClr val="49B296"/>
            </a:solidFill>
            <a:prstDash val="solid"/>
          </a:ln>
        </p:spPr>
      </p:sp>
      <p:sp>
        <p:nvSpPr>
          <p:cNvPr id="28" name="Text 25"/>
          <p:cNvSpPr txBox="1"/>
          <p:nvPr/>
        </p:nvSpPr>
        <p:spPr>
          <a:xfrm>
            <a:off x="777240" y="2377440"/>
            <a:ext cx="5029200" cy="603504"/>
          </a:xfrm>
          <a:prstGeom prst="rect">
            <a:avLst/>
          </a:prstGeom>
          <a:noFill/>
          <a:ln/>
        </p:spPr>
        <p:txBody>
          <a:bodyPr wrap="square" lIns="0" tIns="0" rIns="0" bIns="0" rtlCol="0" anchor="ctr"/>
          <a:lstStyle/>
          <a:p>
            <a:pPr indent="0" marL="0">
              <a:buNone/>
            </a:pPr>
            <a:r>
              <a:rPr lang="en-US" sz="1600" dirty="0">
                <a:solidFill>
                  <a:srgbClr val="2A2238"/>
                </a:solidFill>
                <a:latin typeface="Alexandria" pitchFamily="34" charset="0"/>
                <a:ea typeface="Alexandria" pitchFamily="34" charset="-122"/>
                <a:cs typeface="Alexandria" pitchFamily="34" charset="-120"/>
              </a:rPr>
              <a:t>✓  Ngân sách ~2,2–2,4 tỷ/năm</a:t>
            </a:r>
            <a:endParaRPr lang="en-US" sz="1600" dirty="0"/>
          </a:p>
        </p:txBody>
      </p:sp>
      <p:sp>
        <p:nvSpPr>
          <p:cNvPr id="29" name="Shape 26"/>
          <p:cNvSpPr/>
          <p:nvPr/>
        </p:nvSpPr>
        <p:spPr>
          <a:xfrm>
            <a:off x="548640" y="3090672"/>
            <a:ext cx="5486400" cy="603504"/>
          </a:xfrm>
          <a:prstGeom prst="roundRect">
            <a:avLst>
              <a:gd name="adj" fmla="val 18182"/>
            </a:avLst>
          </a:prstGeom>
          <a:solidFill>
            <a:srgbClr val="E1F3EE"/>
          </a:solidFill>
          <a:ln w="12700">
            <a:solidFill>
              <a:srgbClr val="49B296"/>
            </a:solidFill>
            <a:prstDash val="solid"/>
          </a:ln>
        </p:spPr>
      </p:sp>
      <p:sp>
        <p:nvSpPr>
          <p:cNvPr id="30" name="Text 27"/>
          <p:cNvSpPr txBox="1"/>
          <p:nvPr/>
        </p:nvSpPr>
        <p:spPr>
          <a:xfrm>
            <a:off x="777240" y="3090672"/>
            <a:ext cx="5029200" cy="603504"/>
          </a:xfrm>
          <a:prstGeom prst="rect">
            <a:avLst/>
          </a:prstGeom>
          <a:noFill/>
          <a:ln/>
        </p:spPr>
        <p:txBody>
          <a:bodyPr wrap="square" lIns="0" tIns="0" rIns="0" bIns="0" rtlCol="0" anchor="ctr"/>
          <a:lstStyle/>
          <a:p>
            <a:pPr indent="0" marL="0">
              <a:buNone/>
            </a:pPr>
            <a:r>
              <a:rPr lang="en-US" sz="1600" dirty="0">
                <a:solidFill>
                  <a:srgbClr val="2A2238"/>
                </a:solidFill>
                <a:latin typeface="Alexandria" pitchFamily="34" charset="0"/>
                <a:ea typeface="Alexandria" pitchFamily="34" charset="-122"/>
                <a:cs typeface="Alexandria" pitchFamily="34" charset="-120"/>
              </a:rPr>
              <a:t>✓  4 năm hợp tác</a:t>
            </a:r>
            <a:endParaRPr lang="en-US" sz="1600" dirty="0"/>
          </a:p>
        </p:txBody>
      </p:sp>
      <p:sp>
        <p:nvSpPr>
          <p:cNvPr id="31" name="Shape 28"/>
          <p:cNvSpPr/>
          <p:nvPr/>
        </p:nvSpPr>
        <p:spPr>
          <a:xfrm>
            <a:off x="548640" y="3803904"/>
            <a:ext cx="5486400" cy="603504"/>
          </a:xfrm>
          <a:prstGeom prst="roundRect">
            <a:avLst>
              <a:gd name="adj" fmla="val 18182"/>
            </a:avLst>
          </a:prstGeom>
          <a:solidFill>
            <a:srgbClr val="E1F3EE"/>
          </a:solidFill>
          <a:ln w="12700">
            <a:solidFill>
              <a:srgbClr val="49B296"/>
            </a:solidFill>
            <a:prstDash val="solid"/>
          </a:ln>
        </p:spPr>
      </p:sp>
      <p:sp>
        <p:nvSpPr>
          <p:cNvPr id="32" name="Text 29"/>
          <p:cNvSpPr txBox="1"/>
          <p:nvPr/>
        </p:nvSpPr>
        <p:spPr>
          <a:xfrm>
            <a:off x="777240" y="3803904"/>
            <a:ext cx="5029200" cy="603504"/>
          </a:xfrm>
          <a:prstGeom prst="rect">
            <a:avLst/>
          </a:prstGeom>
          <a:noFill/>
          <a:ln/>
        </p:spPr>
        <p:txBody>
          <a:bodyPr wrap="square" lIns="0" tIns="0" rIns="0" bIns="0" rtlCol="0" anchor="ctr"/>
          <a:lstStyle/>
          <a:p>
            <a:pPr indent="0" marL="0">
              <a:buNone/>
            </a:pPr>
            <a:r>
              <a:rPr lang="en-US" sz="1600" dirty="0">
                <a:solidFill>
                  <a:srgbClr val="2A2238"/>
                </a:solidFill>
                <a:latin typeface="Alexandria" pitchFamily="34" charset="0"/>
                <a:ea typeface="Alexandria" pitchFamily="34" charset="-122"/>
                <a:cs typeface="Alexandria" pitchFamily="34" charset="-120"/>
              </a:rPr>
              <a:t>✓  Thanh toán đúng hạn</a:t>
            </a:r>
            <a:endParaRPr lang="en-US" sz="1600" dirty="0"/>
          </a:p>
        </p:txBody>
      </p:sp>
      <p:sp>
        <p:nvSpPr>
          <p:cNvPr id="33" name="Shape 30"/>
          <p:cNvSpPr/>
          <p:nvPr/>
        </p:nvSpPr>
        <p:spPr>
          <a:xfrm>
            <a:off x="548640" y="4517136"/>
            <a:ext cx="5486400" cy="603504"/>
          </a:xfrm>
          <a:prstGeom prst="roundRect">
            <a:avLst>
              <a:gd name="adj" fmla="val 18182"/>
            </a:avLst>
          </a:prstGeom>
          <a:solidFill>
            <a:srgbClr val="E1F3EE"/>
          </a:solidFill>
          <a:ln w="12700">
            <a:solidFill>
              <a:srgbClr val="49B296"/>
            </a:solidFill>
            <a:prstDash val="solid"/>
          </a:ln>
        </p:spPr>
      </p:sp>
      <p:sp>
        <p:nvSpPr>
          <p:cNvPr id="34" name="Text 31"/>
          <p:cNvSpPr txBox="1"/>
          <p:nvPr/>
        </p:nvSpPr>
        <p:spPr>
          <a:xfrm>
            <a:off x="777240" y="4517136"/>
            <a:ext cx="5029200" cy="603504"/>
          </a:xfrm>
          <a:prstGeom prst="rect">
            <a:avLst/>
          </a:prstGeom>
          <a:noFill/>
          <a:ln/>
        </p:spPr>
        <p:txBody>
          <a:bodyPr wrap="square" lIns="0" tIns="0" rIns="0" bIns="0" rtlCol="0" anchor="ctr"/>
          <a:lstStyle/>
          <a:p>
            <a:pPr indent="0" marL="0">
              <a:buNone/>
            </a:pPr>
            <a:r>
              <a:rPr lang="en-US" sz="1600" dirty="0">
                <a:solidFill>
                  <a:srgbClr val="2A2238"/>
                </a:solidFill>
                <a:latin typeface="Alexandria" pitchFamily="34" charset="0"/>
                <a:ea typeface="Alexandria" pitchFamily="34" charset="-122"/>
                <a:cs typeface="Alexandria" pitchFamily="34" charset="-120"/>
              </a:rPr>
              <a:t>✓  Chị Hạnh tin Nova</a:t>
            </a:r>
            <a:endParaRPr lang="en-US" sz="1600" dirty="0"/>
          </a:p>
        </p:txBody>
      </p:sp>
      <p:sp>
        <p:nvSpPr>
          <p:cNvPr id="35" name="Shape 32"/>
          <p:cNvSpPr/>
          <p:nvPr/>
        </p:nvSpPr>
        <p:spPr>
          <a:xfrm>
            <a:off x="548640" y="5230368"/>
            <a:ext cx="5486400" cy="603504"/>
          </a:xfrm>
          <a:prstGeom prst="roundRect">
            <a:avLst>
              <a:gd name="adj" fmla="val 18182"/>
            </a:avLst>
          </a:prstGeom>
          <a:solidFill>
            <a:srgbClr val="FFE4EA"/>
          </a:solidFill>
          <a:ln w="12700">
            <a:solidFill>
              <a:srgbClr val="FF5178"/>
            </a:solidFill>
            <a:prstDash val="solid"/>
          </a:ln>
        </p:spPr>
      </p:sp>
      <p:sp>
        <p:nvSpPr>
          <p:cNvPr id="36" name="Text 33"/>
          <p:cNvSpPr txBox="1"/>
          <p:nvPr/>
        </p:nvSpPr>
        <p:spPr>
          <a:xfrm>
            <a:off x="777240" y="5230368"/>
            <a:ext cx="5029200" cy="603504"/>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  Nova chỉ quen 1–2 người ở An Phát</a:t>
            </a:r>
            <a:endParaRPr lang="en-US" sz="1600" dirty="0"/>
          </a:p>
        </p:txBody>
      </p:sp>
      <p:sp>
        <p:nvSpPr>
          <p:cNvPr id="37" name="Text 34"/>
          <p:cNvSpPr txBox="1"/>
          <p:nvPr/>
        </p:nvSpPr>
        <p:spPr>
          <a:xfrm>
            <a:off x="6400800" y="2377440"/>
            <a:ext cx="5242255"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Sức hấp dẫn</a:t>
            </a:r>
            <a:endParaRPr lang="en-US" sz="1600" dirty="0"/>
          </a:p>
        </p:txBody>
      </p:sp>
      <p:sp>
        <p:nvSpPr>
          <p:cNvPr id="38" name="Shape 35"/>
          <p:cNvSpPr/>
          <p:nvPr/>
        </p:nvSpPr>
        <p:spPr>
          <a:xfrm>
            <a:off x="6400800" y="2880360"/>
            <a:ext cx="5242255" cy="548640"/>
          </a:xfrm>
          <a:prstGeom prst="rect">
            <a:avLst/>
          </a:prstGeom>
          <a:solidFill>
            <a:srgbClr val="F3F0E6"/>
          </a:solidFill>
          <a:ln w="12700">
            <a:solidFill>
              <a:srgbClr val="F3F0E6"/>
            </a:solidFill>
            <a:prstDash val="solid"/>
          </a:ln>
        </p:spPr>
      </p:sp>
      <p:sp>
        <p:nvSpPr>
          <p:cNvPr id="39" name="Shape 36"/>
          <p:cNvSpPr/>
          <p:nvPr/>
        </p:nvSpPr>
        <p:spPr>
          <a:xfrm>
            <a:off x="6400800" y="2880360"/>
            <a:ext cx="4455917" cy="548640"/>
          </a:xfrm>
          <a:prstGeom prst="rect">
            <a:avLst/>
          </a:prstGeom>
          <a:solidFill>
            <a:srgbClr val="962B7C"/>
          </a:solidFill>
          <a:ln w="12700">
            <a:solidFill>
              <a:srgbClr val="962B7C"/>
            </a:solidFill>
            <a:prstDash val="solid"/>
          </a:ln>
        </p:spPr>
      </p:sp>
      <p:sp>
        <p:nvSpPr>
          <p:cNvPr id="40" name="Text 37"/>
          <p:cNvSpPr txBox="1"/>
          <p:nvPr/>
        </p:nvSpPr>
        <p:spPr>
          <a:xfrm>
            <a:off x="6583680" y="2880360"/>
            <a:ext cx="1828800" cy="548640"/>
          </a:xfrm>
          <a:prstGeom prst="rect">
            <a:avLst/>
          </a:prstGeom>
          <a:noFill/>
          <a:ln/>
        </p:spPr>
        <p:txBody>
          <a:bodyPr wrap="square" lIns="0" tIns="0" rIns="0" bIns="0" rtlCol="0" anchor="ctr"/>
          <a:lstStyle/>
          <a:p>
            <a:pPr indent="0" marL="0">
              <a:buNone/>
            </a:pPr>
            <a:r>
              <a:rPr lang="en-US" sz="1800" b="1" dirty="0">
                <a:solidFill>
                  <a:srgbClr val="FFFFFF"/>
                </a:solidFill>
                <a:latin typeface="Alexandria" pitchFamily="34" charset="0"/>
                <a:ea typeface="Alexandria" pitchFamily="34" charset="-122"/>
                <a:cs typeface="Alexandria" pitchFamily="34" charset="-120"/>
              </a:rPr>
              <a:t>CAO</a:t>
            </a:r>
            <a:endParaRPr lang="en-US" sz="1800" dirty="0"/>
          </a:p>
        </p:txBody>
      </p:sp>
      <p:sp>
        <p:nvSpPr>
          <p:cNvPr id="41" name="Text 38"/>
          <p:cNvSpPr txBox="1"/>
          <p:nvPr/>
        </p:nvSpPr>
        <p:spPr>
          <a:xfrm>
            <a:off x="6400800" y="3977640"/>
            <a:ext cx="5242255"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Vị thế cạnh tranh</a:t>
            </a:r>
            <a:endParaRPr lang="en-US" sz="1600" dirty="0"/>
          </a:p>
        </p:txBody>
      </p:sp>
      <p:sp>
        <p:nvSpPr>
          <p:cNvPr id="42" name="Shape 39"/>
          <p:cNvSpPr/>
          <p:nvPr/>
        </p:nvSpPr>
        <p:spPr>
          <a:xfrm>
            <a:off x="6400800" y="4480560"/>
            <a:ext cx="5242255" cy="548640"/>
          </a:xfrm>
          <a:prstGeom prst="rect">
            <a:avLst/>
          </a:prstGeom>
          <a:solidFill>
            <a:srgbClr val="F3F0E6"/>
          </a:solidFill>
          <a:ln w="12700">
            <a:solidFill>
              <a:srgbClr val="F3F0E6"/>
            </a:solidFill>
            <a:prstDash val="solid"/>
          </a:ln>
        </p:spPr>
      </p:sp>
      <p:sp>
        <p:nvSpPr>
          <p:cNvPr id="43" name="Shape 40"/>
          <p:cNvSpPr/>
          <p:nvPr/>
        </p:nvSpPr>
        <p:spPr>
          <a:xfrm>
            <a:off x="6400800" y="4480560"/>
            <a:ext cx="3145353" cy="548640"/>
          </a:xfrm>
          <a:prstGeom prst="rect">
            <a:avLst/>
          </a:prstGeom>
          <a:solidFill>
            <a:srgbClr val="09A1E5"/>
          </a:solidFill>
          <a:ln w="12700">
            <a:solidFill>
              <a:srgbClr val="09A1E5"/>
            </a:solidFill>
            <a:prstDash val="solid"/>
          </a:ln>
        </p:spPr>
      </p:sp>
      <p:sp>
        <p:nvSpPr>
          <p:cNvPr id="44" name="Text 41"/>
          <p:cNvSpPr txBox="1"/>
          <p:nvPr/>
        </p:nvSpPr>
        <p:spPr>
          <a:xfrm>
            <a:off x="6583680" y="4480560"/>
            <a:ext cx="1828800" cy="548640"/>
          </a:xfrm>
          <a:prstGeom prst="rect">
            <a:avLst/>
          </a:prstGeom>
          <a:noFill/>
          <a:ln/>
        </p:spPr>
        <p:txBody>
          <a:bodyPr wrap="square" lIns="0" tIns="0" rIns="0" bIns="0" rtlCol="0" anchor="ctr"/>
          <a:lstStyle/>
          <a:p>
            <a:pPr indent="0" marL="0">
              <a:buNone/>
            </a:pPr>
            <a:r>
              <a:rPr lang="en-US" sz="1800" b="1" dirty="0">
                <a:solidFill>
                  <a:srgbClr val="FFFFFF"/>
                </a:solidFill>
                <a:latin typeface="Alexandria" pitchFamily="34" charset="0"/>
                <a:ea typeface="Alexandria" pitchFamily="34" charset="-122"/>
                <a:cs typeface="Alexandria" pitchFamily="34" charset="-120"/>
              </a:rPr>
              <a:t>KHÁ</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Điểm yếu của Nova với An Phát là chỉ quen một hai người</a:t>
            </a:r>
            <a:endParaRPr lang="en-US" sz="2600" dirty="0"/>
          </a:p>
        </p:txBody>
      </p:sp>
      <p:sp>
        <p:nvSpPr>
          <p:cNvPr id="22" name="Text 20"/>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17</a:t>
            </a:r>
            <a:endParaRPr lang="en-US" sz="1000" dirty="0"/>
          </a:p>
        </p:txBody>
      </p:sp>
      <p:sp>
        <p:nvSpPr>
          <p:cNvPr id="24" name="Shape 21"/>
          <p:cNvSpPr/>
          <p:nvPr/>
        </p:nvSpPr>
        <p:spPr>
          <a:xfrm>
            <a:off x="1005840" y="3291840"/>
            <a:ext cx="2194560" cy="731520"/>
          </a:xfrm>
          <a:prstGeom prst="roundRect">
            <a:avLst>
              <a:gd name="adj" fmla="val 50000"/>
            </a:avLst>
          </a:prstGeom>
          <a:solidFill>
            <a:srgbClr val="962B7C"/>
          </a:solidFill>
          <a:ln w="12700">
            <a:solidFill>
              <a:srgbClr val="962B7C"/>
            </a:solidFill>
            <a:prstDash val="solid"/>
          </a:ln>
        </p:spPr>
      </p:sp>
      <p:sp>
        <p:nvSpPr>
          <p:cNvPr id="25" name="Text 22"/>
          <p:cNvSpPr txBox="1"/>
          <p:nvPr/>
        </p:nvSpPr>
        <p:spPr>
          <a:xfrm>
            <a:off x="1078992" y="3291840"/>
            <a:ext cx="2048256"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Nova</a:t>
            </a:r>
            <a:endParaRPr lang="en-US" sz="1800" dirty="0"/>
          </a:p>
        </p:txBody>
      </p:sp>
      <p:sp>
        <p:nvSpPr>
          <p:cNvPr id="26" name="Shape 23"/>
          <p:cNvSpPr/>
          <p:nvPr/>
        </p:nvSpPr>
        <p:spPr>
          <a:xfrm>
            <a:off x="8991295" y="3291840"/>
            <a:ext cx="2194560" cy="731520"/>
          </a:xfrm>
          <a:prstGeom prst="roundRect">
            <a:avLst>
              <a:gd name="adj" fmla="val 50000"/>
            </a:avLst>
          </a:prstGeom>
          <a:solidFill>
            <a:srgbClr val="09A1E5"/>
          </a:solidFill>
          <a:ln w="12700">
            <a:solidFill>
              <a:srgbClr val="09A1E5"/>
            </a:solidFill>
            <a:prstDash val="solid"/>
          </a:ln>
        </p:spPr>
      </p:sp>
      <p:sp>
        <p:nvSpPr>
          <p:cNvPr id="27" name="Text 24"/>
          <p:cNvSpPr txBox="1"/>
          <p:nvPr/>
        </p:nvSpPr>
        <p:spPr>
          <a:xfrm>
            <a:off x="9064447" y="3291840"/>
            <a:ext cx="2048256"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An Phát</a:t>
            </a:r>
            <a:endParaRPr lang="en-US" sz="1800" dirty="0"/>
          </a:p>
        </p:txBody>
      </p:sp>
      <p:sp>
        <p:nvSpPr>
          <p:cNvPr id="28" name="Shape 25"/>
          <p:cNvSpPr/>
          <p:nvPr/>
        </p:nvSpPr>
        <p:spPr>
          <a:xfrm>
            <a:off x="3200400" y="3657600"/>
            <a:ext cx="5790895" cy="914"/>
          </a:xfrm>
          <a:prstGeom prst="line">
            <a:avLst/>
          </a:prstGeom>
          <a:noFill/>
          <a:ln w="50800">
            <a:solidFill>
              <a:srgbClr val="FF5178"/>
            </a:solidFill>
            <a:prstDash val="solid"/>
          </a:ln>
        </p:spPr>
      </p:sp>
      <p:sp>
        <p:nvSpPr>
          <p:cNvPr id="29" name="Shape 26"/>
          <p:cNvSpPr/>
          <p:nvPr/>
        </p:nvSpPr>
        <p:spPr>
          <a:xfrm>
            <a:off x="4815688" y="3337560"/>
            <a:ext cx="2560320" cy="640080"/>
          </a:xfrm>
          <a:prstGeom prst="roundRect">
            <a:avLst>
              <a:gd name="adj" fmla="val 50000"/>
            </a:avLst>
          </a:prstGeom>
          <a:solidFill>
            <a:srgbClr val="FFFFFF"/>
          </a:solidFill>
          <a:ln w="12700">
            <a:solidFill>
              <a:srgbClr val="FF5178"/>
            </a:solidFill>
            <a:prstDash val="solid"/>
          </a:ln>
        </p:spPr>
      </p:sp>
      <p:sp>
        <p:nvSpPr>
          <p:cNvPr id="30" name="Text 27"/>
          <p:cNvSpPr txBox="1"/>
          <p:nvPr/>
        </p:nvSpPr>
        <p:spPr>
          <a:xfrm>
            <a:off x="4888840" y="3337560"/>
            <a:ext cx="2414016" cy="64008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chị Hạnh — một sợi dây</a:t>
            </a:r>
            <a:endParaRPr lang="en-US" sz="1400" dirty="0"/>
          </a:p>
        </p:txBody>
      </p:sp>
      <p:sp>
        <p:nvSpPr>
          <p:cNvPr id="31" name="Shape 28"/>
          <p:cNvSpPr/>
          <p:nvPr/>
        </p:nvSpPr>
        <p:spPr>
          <a:xfrm>
            <a:off x="548640" y="4572000"/>
            <a:ext cx="11094415" cy="1417320"/>
          </a:xfrm>
          <a:prstGeom prst="roundRect">
            <a:avLst>
              <a:gd name="adj" fmla="val 7742"/>
            </a:avLst>
          </a:prstGeom>
          <a:solidFill>
            <a:srgbClr val="FFF3C4"/>
          </a:solidFill>
          <a:ln w="12700">
            <a:solidFill>
              <a:srgbClr val="FFD23B"/>
            </a:solidFill>
            <a:prstDash val="solid"/>
          </a:ln>
        </p:spPr>
      </p:sp>
      <p:sp>
        <p:nvSpPr>
          <p:cNvPr id="32" name="Text 29"/>
          <p:cNvSpPr txBox="1"/>
          <p:nvPr/>
        </p:nvSpPr>
        <p:spPr>
          <a:xfrm>
            <a:off x="914400" y="4572000"/>
            <a:ext cx="10362895" cy="141732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Nếu đầu mối duy nhất rời đi, quan hệ có thể đứt. </a:t>
            </a:r>
            <a:pPr indent="0" marL="0">
              <a:buNone/>
            </a:pPr>
            <a:r>
              <a:rPr lang="en-US" sz="1800" dirty="0">
                <a:solidFill>
                  <a:srgbClr val="2A2238"/>
                </a:solidFill>
                <a:latin typeface="Alexandria" pitchFamily="34" charset="0"/>
                <a:ea typeface="Alexandria" pitchFamily="34" charset="-122"/>
                <a:cs typeface="Alexandria" pitchFamily="34" charset="-120"/>
              </a:rPr>
              <a:t>Buổi 8: từ Bow-tie (một điểm nối) sang Diamond (nhiều cặp đối ứng).</a:t>
            </a:r>
            <a:endParaRPr lang="en-US" sz="1800" dirty="0"/>
          </a:p>
        </p:txBody>
      </p:sp>
      <p:sp>
        <p:nvSpPr>
          <p:cNvPr id="33" name="Text 30"/>
          <p:cNvSpPr txBox="1"/>
          <p:nvPr/>
        </p:nvSpPr>
        <p:spPr>
          <a:xfrm>
            <a:off x="548640" y="2011680"/>
            <a:ext cx="11094415" cy="548640"/>
          </a:xfrm>
          <a:prstGeom prst="rect">
            <a:avLst/>
          </a:prstGeom>
          <a:noFill/>
          <a:ln/>
        </p:spPr>
        <p:txBody>
          <a:bodyPr wrap="square" lIns="0" tIns="0" rIns="0" bIns="0" rtlCol="0" anchor="ctr"/>
          <a:lstStyle/>
          <a:p>
            <a:pPr algn="ctr" indent="0" marL="0">
              <a:buNone/>
            </a:pPr>
            <a:r>
              <a:rPr lang="en-US" sz="1800" dirty="0">
                <a:solidFill>
                  <a:srgbClr val="6E6878"/>
                </a:solidFill>
                <a:latin typeface="Alexandria" pitchFamily="34" charset="0"/>
                <a:ea typeface="Alexandria" pitchFamily="34" charset="-122"/>
                <a:cs typeface="Alexandria" pitchFamily="34" charset="-120"/>
              </a:rPr>
              <a:t>Vị thế “khá” — chưa “cao” — vì quan hệ chỉ đi qua một người</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Choose me and I will choose you</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B07: Guesalaga, Cranfield blog.</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18</a:t>
            </a:r>
            <a:endParaRPr lang="en-US" sz="1000" dirty="0"/>
          </a:p>
        </p:txBody>
      </p:sp>
      <p:sp>
        <p:nvSpPr>
          <p:cNvPr id="25" name="Shape 22"/>
          <p:cNvSpPr/>
          <p:nvPr/>
        </p:nvSpPr>
        <p:spPr>
          <a:xfrm>
            <a:off x="548640" y="1920240"/>
            <a:ext cx="11094415" cy="1554480"/>
          </a:xfrm>
          <a:prstGeom prst="roundRect">
            <a:avLst>
              <a:gd name="adj" fmla="val 7059"/>
            </a:avLst>
          </a:prstGeom>
          <a:solidFill>
            <a:srgbClr val="F1E1EE"/>
          </a:solidFill>
          <a:ln w="12700">
            <a:solidFill>
              <a:srgbClr val="962B7C"/>
            </a:solidFill>
            <a:prstDash val="solid"/>
          </a:ln>
        </p:spPr>
      </p:sp>
      <p:sp>
        <p:nvSpPr>
          <p:cNvPr id="26" name="Text 23"/>
          <p:cNvSpPr txBox="1"/>
          <p:nvPr/>
        </p:nvSpPr>
        <p:spPr>
          <a:xfrm>
            <a:off x="914400" y="1920240"/>
            <a:ext cx="10362895" cy="1554480"/>
          </a:xfrm>
          <a:prstGeom prst="rect">
            <a:avLst/>
          </a:prstGeom>
          <a:noFill/>
          <a:ln/>
        </p:spPr>
        <p:txBody>
          <a:bodyPr wrap="square" lIns="0" tIns="0" rIns="0" bIns="0" rtlCol="0" anchor="ctr"/>
          <a:lstStyle/>
          <a:p>
            <a:pPr algn="ctr" indent="0" marL="0">
              <a:buNone/>
            </a:pPr>
            <a:r>
              <a:rPr lang="en-US" sz="3400" b="1" i="1" dirty="0">
                <a:solidFill>
                  <a:srgbClr val="962B7C"/>
                </a:solidFill>
                <a:latin typeface="Alexandria" pitchFamily="34" charset="0"/>
                <a:ea typeface="Alexandria" pitchFamily="34" charset="-122"/>
                <a:cs typeface="Alexandria" pitchFamily="34" charset="-120"/>
              </a:rPr>
              <a:t>“Choose me and I will choose you”</a:t>
            </a:r>
            <a:endParaRPr lang="en-US" sz="3400" dirty="0"/>
          </a:p>
        </p:txBody>
      </p:sp>
      <p:sp>
        <p:nvSpPr>
          <p:cNvPr id="27" name="Shape 24"/>
          <p:cNvSpPr/>
          <p:nvPr/>
        </p:nvSpPr>
        <p:spPr>
          <a:xfrm>
            <a:off x="1097280" y="3931920"/>
            <a:ext cx="2743200" cy="822960"/>
          </a:xfrm>
          <a:prstGeom prst="roundRect">
            <a:avLst>
              <a:gd name="adj" fmla="val 50000"/>
            </a:avLst>
          </a:prstGeom>
          <a:solidFill>
            <a:srgbClr val="962B7C"/>
          </a:solidFill>
          <a:ln w="12700">
            <a:solidFill>
              <a:srgbClr val="962B7C"/>
            </a:solidFill>
            <a:prstDash val="solid"/>
          </a:ln>
        </p:spPr>
      </p:sp>
      <p:sp>
        <p:nvSpPr>
          <p:cNvPr id="28" name="Text 25"/>
          <p:cNvSpPr txBox="1"/>
          <p:nvPr/>
        </p:nvSpPr>
        <p:spPr>
          <a:xfrm>
            <a:off x="1170432" y="3931920"/>
            <a:ext cx="2596896"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Hấp dẫn</a:t>
            </a:r>
            <a:endParaRPr lang="en-US" sz="1800" dirty="0"/>
          </a:p>
        </p:txBody>
      </p:sp>
      <p:sp>
        <p:nvSpPr>
          <p:cNvPr id="29" name="Text 26"/>
          <p:cNvSpPr txBox="1"/>
          <p:nvPr/>
        </p:nvSpPr>
        <p:spPr>
          <a:xfrm>
            <a:off x="3840480" y="3931920"/>
            <a:ext cx="685800" cy="822960"/>
          </a:xfrm>
          <a:prstGeom prst="rect">
            <a:avLst/>
          </a:prstGeom>
          <a:noFill/>
          <a:ln/>
        </p:spPr>
        <p:txBody>
          <a:bodyPr wrap="square" lIns="0" tIns="0" rIns="0" bIns="0" rtlCol="0" anchor="ctr"/>
          <a:lstStyle/>
          <a:p>
            <a:pPr algn="ctr" indent="0" marL="0">
              <a:buNone/>
            </a:pPr>
            <a:r>
              <a:rPr lang="en-US" sz="2800" b="1" dirty="0">
                <a:solidFill>
                  <a:srgbClr val="2A2238"/>
                </a:solidFill>
                <a:latin typeface="Alexandria" pitchFamily="34" charset="0"/>
                <a:ea typeface="Alexandria" pitchFamily="34" charset="-122"/>
                <a:cs typeface="Alexandria" pitchFamily="34" charset="-120"/>
              </a:rPr>
              <a:t>+</a:t>
            </a:r>
            <a:endParaRPr lang="en-US" sz="2800" dirty="0"/>
          </a:p>
        </p:txBody>
      </p:sp>
      <p:sp>
        <p:nvSpPr>
          <p:cNvPr id="30" name="Shape 27"/>
          <p:cNvSpPr/>
          <p:nvPr/>
        </p:nvSpPr>
        <p:spPr>
          <a:xfrm>
            <a:off x="4526280" y="3931920"/>
            <a:ext cx="2743200" cy="822960"/>
          </a:xfrm>
          <a:prstGeom prst="roundRect">
            <a:avLst>
              <a:gd name="adj" fmla="val 50000"/>
            </a:avLst>
          </a:prstGeom>
          <a:solidFill>
            <a:srgbClr val="09A1E5"/>
          </a:solidFill>
          <a:ln w="12700">
            <a:solidFill>
              <a:srgbClr val="09A1E5"/>
            </a:solidFill>
            <a:prstDash val="solid"/>
          </a:ln>
        </p:spPr>
      </p:sp>
      <p:sp>
        <p:nvSpPr>
          <p:cNvPr id="31" name="Text 28"/>
          <p:cNvSpPr txBox="1"/>
          <p:nvPr/>
        </p:nvSpPr>
        <p:spPr>
          <a:xfrm>
            <a:off x="4599432" y="3931920"/>
            <a:ext cx="2596896"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Vị thế tốt</a:t>
            </a:r>
            <a:endParaRPr lang="en-US" sz="1800" dirty="0"/>
          </a:p>
        </p:txBody>
      </p:sp>
      <p:sp>
        <p:nvSpPr>
          <p:cNvPr id="32" name="Text 29"/>
          <p:cNvSpPr txBox="1"/>
          <p:nvPr/>
        </p:nvSpPr>
        <p:spPr>
          <a:xfrm>
            <a:off x="7269480" y="3931920"/>
            <a:ext cx="685800" cy="822960"/>
          </a:xfrm>
          <a:prstGeom prst="rect">
            <a:avLst/>
          </a:prstGeom>
          <a:noFill/>
          <a:ln/>
        </p:spPr>
        <p:txBody>
          <a:bodyPr wrap="square" lIns="0" tIns="0" rIns="0" bIns="0" rtlCol="0" anchor="ctr"/>
          <a:lstStyle/>
          <a:p>
            <a:pPr algn="ctr" indent="0" marL="0">
              <a:buNone/>
            </a:pPr>
            <a:r>
              <a:rPr lang="en-US" sz="2800" b="1" dirty="0">
                <a:solidFill>
                  <a:srgbClr val="2A2238"/>
                </a:solidFill>
                <a:latin typeface="Alexandria" pitchFamily="34" charset="0"/>
                <a:ea typeface="Alexandria" pitchFamily="34" charset="-122"/>
                <a:cs typeface="Alexandria" pitchFamily="34" charset="-120"/>
              </a:rPr>
              <a:t>+</a:t>
            </a:r>
            <a:endParaRPr lang="en-US" sz="2800" dirty="0"/>
          </a:p>
        </p:txBody>
      </p:sp>
      <p:sp>
        <p:nvSpPr>
          <p:cNvPr id="33" name="Shape 30"/>
          <p:cNvSpPr/>
          <p:nvPr/>
        </p:nvSpPr>
        <p:spPr>
          <a:xfrm>
            <a:off x="7955280" y="3931920"/>
            <a:ext cx="2743200" cy="822960"/>
          </a:xfrm>
          <a:prstGeom prst="roundRect">
            <a:avLst>
              <a:gd name="adj" fmla="val 50000"/>
            </a:avLst>
          </a:prstGeom>
          <a:solidFill>
            <a:srgbClr val="FF5178"/>
          </a:solidFill>
          <a:ln w="12700">
            <a:solidFill>
              <a:srgbClr val="FF5178"/>
            </a:solidFill>
            <a:prstDash val="solid"/>
          </a:ln>
        </p:spPr>
      </p:sp>
      <p:sp>
        <p:nvSpPr>
          <p:cNvPr id="34" name="Text 31"/>
          <p:cNvSpPr txBox="1"/>
          <p:nvPr/>
        </p:nvSpPr>
        <p:spPr>
          <a:xfrm>
            <a:off x="8028432" y="3931920"/>
            <a:ext cx="2596896"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Đồng đầu tư</a:t>
            </a:r>
            <a:endParaRPr lang="en-US" sz="1800" dirty="0"/>
          </a:p>
        </p:txBody>
      </p:sp>
      <p:sp>
        <p:nvSpPr>
          <p:cNvPr id="35" name="Shape 32"/>
          <p:cNvSpPr/>
          <p:nvPr/>
        </p:nvSpPr>
        <p:spPr>
          <a:xfrm>
            <a:off x="548640" y="5120640"/>
            <a:ext cx="11094415" cy="868680"/>
          </a:xfrm>
          <a:prstGeom prst="roundRect">
            <a:avLst>
              <a:gd name="adj" fmla="val 12632"/>
            </a:avLst>
          </a:prstGeom>
          <a:solidFill>
            <a:srgbClr val="FFF3C4"/>
          </a:solidFill>
          <a:ln w="12700">
            <a:solidFill>
              <a:srgbClr val="FFD23B"/>
            </a:solidFill>
            <a:prstDash val="solid"/>
          </a:ln>
        </p:spPr>
      </p:sp>
      <p:sp>
        <p:nvSpPr>
          <p:cNvPr id="36" name="Text 33"/>
          <p:cNvSpPr txBox="1"/>
          <p:nvPr/>
        </p:nvSpPr>
        <p:spPr>
          <a:xfrm>
            <a:off x="868680" y="5120640"/>
            <a:ext cx="10454335" cy="8686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Thiếu cổng thứ ba — khách hàng không muốn đầu tư lại — thì khó thành Key Account.</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Đồng đầu tư có bốn biểu hiện</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Biểu hiện với agency sự kiện: nhận định của người soạn.</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19</a:t>
            </a:r>
            <a:endParaRPr lang="en-US" sz="1000" dirty="0"/>
          </a:p>
        </p:txBody>
      </p:sp>
      <p:sp>
        <p:nvSpPr>
          <p:cNvPr id="25" name="Shape 22"/>
          <p:cNvSpPr/>
          <p:nvPr/>
        </p:nvSpPr>
        <p:spPr>
          <a:xfrm>
            <a:off x="548640" y="1874520"/>
            <a:ext cx="5410048" cy="1920240"/>
          </a:xfrm>
          <a:prstGeom prst="roundRect">
            <a:avLst>
              <a:gd name="adj" fmla="val 5714"/>
            </a:avLst>
          </a:prstGeom>
          <a:solidFill>
            <a:srgbClr val="F1E1EE"/>
          </a:solidFill>
          <a:ln w="19050">
            <a:solidFill>
              <a:srgbClr val="962B7C"/>
            </a:solidFill>
            <a:prstDash val="solid"/>
          </a:ln>
        </p:spPr>
      </p:sp>
      <p:sp>
        <p:nvSpPr>
          <p:cNvPr id="26" name="Shape 23"/>
          <p:cNvSpPr/>
          <p:nvPr/>
        </p:nvSpPr>
        <p:spPr>
          <a:xfrm>
            <a:off x="822960" y="2423160"/>
            <a:ext cx="822960" cy="822960"/>
          </a:xfrm>
          <a:prstGeom prst="ellipse">
            <a:avLst/>
          </a:prstGeom>
          <a:solidFill>
            <a:srgbClr val="962B7C"/>
          </a:solidFill>
          <a:ln w="12700">
            <a:solidFill>
              <a:srgbClr val="962B7C"/>
            </a:solidFill>
            <a:prstDash val="solid"/>
          </a:ln>
        </p:spPr>
      </p:sp>
      <p:sp>
        <p:nvSpPr>
          <p:cNvPr id="27" name="Text 24"/>
          <p:cNvSpPr txBox="1"/>
          <p:nvPr/>
        </p:nvSpPr>
        <p:spPr>
          <a:xfrm>
            <a:off x="822960" y="242316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28" name="Text 25"/>
          <p:cNvSpPr txBox="1"/>
          <p:nvPr/>
        </p:nvSpPr>
        <p:spPr>
          <a:xfrm>
            <a:off x="1874520" y="1874520"/>
            <a:ext cx="3855568" cy="192024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Hợp đồng khung nhiều năm</a:t>
            </a:r>
            <a:endParaRPr lang="en-US" sz="2000" dirty="0"/>
          </a:p>
          <a:p>
            <a:pPr indent="0" marL="0">
              <a:buNone/>
            </a:pPr>
            <a:r>
              <a:rPr lang="en-US" sz="1500" dirty="0">
                <a:solidFill>
                  <a:srgbClr val="2A2238"/>
                </a:solidFill>
                <a:latin typeface="Alexandria" pitchFamily="34" charset="0"/>
                <a:ea typeface="Alexandria" pitchFamily="34" charset="-122"/>
                <a:cs typeface="Alexandria" pitchFamily="34" charset="-120"/>
              </a:rPr>
              <a:t>thay vì đấu thầu từng sự kiện</a:t>
            </a:r>
            <a:endParaRPr lang="en-US" sz="2000" dirty="0"/>
          </a:p>
        </p:txBody>
      </p:sp>
      <p:sp>
        <p:nvSpPr>
          <p:cNvPr id="29" name="Shape 26"/>
          <p:cNvSpPr/>
          <p:nvPr/>
        </p:nvSpPr>
        <p:spPr>
          <a:xfrm>
            <a:off x="6233008" y="1874520"/>
            <a:ext cx="5410048" cy="1920240"/>
          </a:xfrm>
          <a:prstGeom prst="roundRect">
            <a:avLst>
              <a:gd name="adj" fmla="val 5714"/>
            </a:avLst>
          </a:prstGeom>
          <a:solidFill>
            <a:srgbClr val="DDF1FB"/>
          </a:solidFill>
          <a:ln w="19050">
            <a:solidFill>
              <a:srgbClr val="09A1E5"/>
            </a:solidFill>
            <a:prstDash val="solid"/>
          </a:ln>
        </p:spPr>
      </p:sp>
      <p:sp>
        <p:nvSpPr>
          <p:cNvPr id="30" name="Shape 27"/>
          <p:cNvSpPr/>
          <p:nvPr/>
        </p:nvSpPr>
        <p:spPr>
          <a:xfrm>
            <a:off x="6507328" y="2423160"/>
            <a:ext cx="822960" cy="822960"/>
          </a:xfrm>
          <a:prstGeom prst="ellipse">
            <a:avLst/>
          </a:prstGeom>
          <a:solidFill>
            <a:srgbClr val="09A1E5"/>
          </a:solidFill>
          <a:ln w="12700">
            <a:solidFill>
              <a:srgbClr val="09A1E5"/>
            </a:solidFill>
            <a:prstDash val="solid"/>
          </a:ln>
        </p:spPr>
      </p:sp>
      <p:sp>
        <p:nvSpPr>
          <p:cNvPr id="31" name="Text 28"/>
          <p:cNvSpPr txBox="1"/>
          <p:nvPr/>
        </p:nvSpPr>
        <p:spPr>
          <a:xfrm>
            <a:off x="6507328" y="242316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32" name="Text 29"/>
          <p:cNvSpPr txBox="1"/>
          <p:nvPr/>
        </p:nvSpPr>
        <p:spPr>
          <a:xfrm>
            <a:off x="7558888" y="1874520"/>
            <a:ext cx="3855568" cy="192024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Chia sẻ thông tin</a:t>
            </a:r>
            <a:endParaRPr lang="en-US" sz="2000" dirty="0"/>
          </a:p>
          <a:p>
            <a:pPr indent="0" marL="0">
              <a:buNone/>
            </a:pPr>
            <a:r>
              <a:rPr lang="en-US" sz="1500" dirty="0">
                <a:solidFill>
                  <a:srgbClr val="2A2238"/>
                </a:solidFill>
                <a:latin typeface="Alexandria" pitchFamily="34" charset="0"/>
                <a:ea typeface="Alexandria" pitchFamily="34" charset="-122"/>
                <a:cs typeface="Alexandria" pitchFamily="34" charset="-120"/>
              </a:rPr>
              <a:t>mục tiêu kinh doanh, dữ liệu khách mời, kết quả sau sự kiện</a:t>
            </a:r>
            <a:endParaRPr lang="en-US" sz="2000" dirty="0"/>
          </a:p>
        </p:txBody>
      </p:sp>
      <p:sp>
        <p:nvSpPr>
          <p:cNvPr id="33" name="Shape 30"/>
          <p:cNvSpPr/>
          <p:nvPr/>
        </p:nvSpPr>
        <p:spPr>
          <a:xfrm>
            <a:off x="548640" y="3977640"/>
            <a:ext cx="5410048" cy="1920240"/>
          </a:xfrm>
          <a:prstGeom prst="roundRect">
            <a:avLst>
              <a:gd name="adj" fmla="val 5714"/>
            </a:avLst>
          </a:prstGeom>
          <a:solidFill>
            <a:srgbClr val="FFE9DE"/>
          </a:solidFill>
          <a:ln w="19050">
            <a:solidFill>
              <a:srgbClr val="FF9259"/>
            </a:solidFill>
            <a:prstDash val="solid"/>
          </a:ln>
        </p:spPr>
      </p:sp>
      <p:sp>
        <p:nvSpPr>
          <p:cNvPr id="34" name="Shape 31"/>
          <p:cNvSpPr/>
          <p:nvPr/>
        </p:nvSpPr>
        <p:spPr>
          <a:xfrm>
            <a:off x="822960" y="4526280"/>
            <a:ext cx="822960" cy="822960"/>
          </a:xfrm>
          <a:prstGeom prst="ellipse">
            <a:avLst/>
          </a:prstGeom>
          <a:solidFill>
            <a:srgbClr val="FF9259"/>
          </a:solidFill>
          <a:ln w="12700">
            <a:solidFill>
              <a:srgbClr val="FF9259"/>
            </a:solidFill>
            <a:prstDash val="solid"/>
          </a:ln>
        </p:spPr>
      </p:sp>
      <p:sp>
        <p:nvSpPr>
          <p:cNvPr id="35" name="Text 32"/>
          <p:cNvSpPr txBox="1"/>
          <p:nvPr/>
        </p:nvSpPr>
        <p:spPr>
          <a:xfrm>
            <a:off x="822960" y="4526280"/>
            <a:ext cx="822960" cy="822960"/>
          </a:xfrm>
          <a:prstGeom prst="rect">
            <a:avLst/>
          </a:prstGeom>
          <a:noFill/>
          <a:ln/>
        </p:spPr>
        <p:txBody>
          <a:bodyPr wrap="square" lIns="0" tIns="0" rIns="0" bIns="0" rtlCol="0" anchor="ctr"/>
          <a:lstStyle/>
          <a:p>
            <a:pPr algn="ctr" indent="0" marL="0">
              <a:buNone/>
            </a:pPr>
            <a:r>
              <a:rPr lang="en-US" sz="2400" b="1" dirty="0">
                <a:solidFill>
                  <a:srgbClr val="2A2238"/>
                </a:solidFill>
                <a:latin typeface="Alexandria" pitchFamily="34" charset="0"/>
                <a:ea typeface="Alexandria" pitchFamily="34" charset="-122"/>
                <a:cs typeface="Alexandria" pitchFamily="34" charset="-120"/>
              </a:rPr>
              <a:t>3</a:t>
            </a:r>
            <a:endParaRPr lang="en-US" sz="2400" dirty="0"/>
          </a:p>
        </p:txBody>
      </p:sp>
      <p:sp>
        <p:nvSpPr>
          <p:cNvPr id="36" name="Text 33"/>
          <p:cNvSpPr txBox="1"/>
          <p:nvPr/>
        </p:nvSpPr>
        <p:spPr>
          <a:xfrm>
            <a:off x="1874520" y="3977640"/>
            <a:ext cx="3855568" cy="192024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Đầu mối cấp cao</a:t>
            </a:r>
            <a:endParaRPr lang="en-US" sz="2000" dirty="0"/>
          </a:p>
          <a:p>
            <a:pPr indent="0" marL="0">
              <a:buNone/>
            </a:pPr>
            <a:r>
              <a:rPr lang="en-US" sz="1500" dirty="0">
                <a:solidFill>
                  <a:srgbClr val="2A2238"/>
                </a:solidFill>
                <a:latin typeface="Alexandria" pitchFamily="34" charset="0"/>
                <a:ea typeface="Alexandria" pitchFamily="34" charset="-122"/>
                <a:cs typeface="Alexandria" pitchFamily="34" charset="-120"/>
              </a:rPr>
              <a:t>mời agency vào họp kế hoạch năm</a:t>
            </a:r>
            <a:endParaRPr lang="en-US" sz="2000" dirty="0"/>
          </a:p>
        </p:txBody>
      </p:sp>
      <p:sp>
        <p:nvSpPr>
          <p:cNvPr id="37" name="Shape 34"/>
          <p:cNvSpPr/>
          <p:nvPr/>
        </p:nvSpPr>
        <p:spPr>
          <a:xfrm>
            <a:off x="6233008" y="3977640"/>
            <a:ext cx="5410048" cy="1920240"/>
          </a:xfrm>
          <a:prstGeom prst="roundRect">
            <a:avLst>
              <a:gd name="adj" fmla="val 5714"/>
            </a:avLst>
          </a:prstGeom>
          <a:solidFill>
            <a:srgbClr val="E1F3EE"/>
          </a:solidFill>
          <a:ln w="19050">
            <a:solidFill>
              <a:srgbClr val="49B296"/>
            </a:solidFill>
            <a:prstDash val="solid"/>
          </a:ln>
        </p:spPr>
      </p:sp>
      <p:sp>
        <p:nvSpPr>
          <p:cNvPr id="38" name="Shape 35"/>
          <p:cNvSpPr/>
          <p:nvPr/>
        </p:nvSpPr>
        <p:spPr>
          <a:xfrm>
            <a:off x="6507328" y="4526280"/>
            <a:ext cx="822960" cy="822960"/>
          </a:xfrm>
          <a:prstGeom prst="ellipse">
            <a:avLst/>
          </a:prstGeom>
          <a:solidFill>
            <a:srgbClr val="49B296"/>
          </a:solidFill>
          <a:ln w="12700">
            <a:solidFill>
              <a:srgbClr val="49B296"/>
            </a:solidFill>
            <a:prstDash val="solid"/>
          </a:ln>
        </p:spPr>
      </p:sp>
      <p:sp>
        <p:nvSpPr>
          <p:cNvPr id="39" name="Text 36"/>
          <p:cNvSpPr txBox="1"/>
          <p:nvPr/>
        </p:nvSpPr>
        <p:spPr>
          <a:xfrm>
            <a:off x="6507328" y="452628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4</a:t>
            </a:r>
            <a:endParaRPr lang="en-US" sz="2400" dirty="0"/>
          </a:p>
        </p:txBody>
      </p:sp>
      <p:sp>
        <p:nvSpPr>
          <p:cNvPr id="40" name="Text 37"/>
          <p:cNvSpPr txBox="1"/>
          <p:nvPr/>
        </p:nvSpPr>
        <p:spPr>
          <a:xfrm>
            <a:off x="7558888" y="3977640"/>
            <a:ext cx="3855568" cy="192024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Thí điểm cùng làm</a:t>
            </a:r>
            <a:endParaRPr lang="en-US" sz="2000" dirty="0"/>
          </a:p>
          <a:p>
            <a:pPr indent="0" marL="0">
              <a:buNone/>
            </a:pPr>
            <a:r>
              <a:rPr lang="en-US" sz="1500" dirty="0">
                <a:solidFill>
                  <a:srgbClr val="2A2238"/>
                </a:solidFill>
                <a:latin typeface="Alexandria" pitchFamily="34" charset="0"/>
                <a:ea typeface="Alexandria" pitchFamily="34" charset="-122"/>
                <a:cs typeface="Alexandria" pitchFamily="34" charset="-120"/>
              </a:rPr>
              <a:t>chia chi phí, chia rủi ro</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Khi đối tác muốn đầu tư lại, quan hệ đổi chất</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B08 → U08 (Buổi 9): Znews; Tuổi Trẻ (1/2025). Ví dụ TƯƠNG TỰ — quan hệ nhà sản xuất – nhà tài trợ, không phải agency – khách hàng.</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20</a:t>
            </a:r>
            <a:endParaRPr lang="en-US" sz="1000" dirty="0"/>
          </a:p>
        </p:txBody>
      </p:sp>
      <p:sp>
        <p:nvSpPr>
          <p:cNvPr id="25" name="Shape 22"/>
          <p:cNvSpPr/>
          <p:nvPr/>
        </p:nvSpPr>
        <p:spPr>
          <a:xfrm>
            <a:off x="8899855" y="1783080"/>
            <a:ext cx="2743200" cy="411480"/>
          </a:xfrm>
          <a:prstGeom prst="roundRect">
            <a:avLst>
              <a:gd name="adj" fmla="val 50000"/>
            </a:avLst>
          </a:prstGeom>
          <a:solidFill>
            <a:srgbClr val="FFD23B"/>
          </a:solidFill>
          <a:ln w="12700">
            <a:solidFill>
              <a:srgbClr val="FFD23B"/>
            </a:solidFill>
            <a:prstDash val="solid"/>
          </a:ln>
        </p:spPr>
      </p:sp>
      <p:sp>
        <p:nvSpPr>
          <p:cNvPr id="26" name="Text 23"/>
          <p:cNvSpPr txBox="1"/>
          <p:nvPr/>
        </p:nvSpPr>
        <p:spPr>
          <a:xfrm>
            <a:off x="8973007" y="1783080"/>
            <a:ext cx="2596896" cy="411480"/>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VÍ DỤ TƯƠNG TỰ</a:t>
            </a:r>
            <a:endParaRPr lang="en-US" sz="1200" dirty="0"/>
          </a:p>
        </p:txBody>
      </p:sp>
      <p:sp>
        <p:nvSpPr>
          <p:cNvPr id="27" name="Shape 24"/>
          <p:cNvSpPr/>
          <p:nvPr/>
        </p:nvSpPr>
        <p:spPr>
          <a:xfrm>
            <a:off x="548640" y="2651760"/>
            <a:ext cx="4389120" cy="914400"/>
          </a:xfrm>
          <a:prstGeom prst="roundRect">
            <a:avLst>
              <a:gd name="adj" fmla="val 50000"/>
            </a:avLst>
          </a:prstGeom>
          <a:solidFill>
            <a:srgbClr val="962B7C"/>
          </a:solidFill>
          <a:ln w="12700">
            <a:solidFill>
              <a:srgbClr val="962B7C"/>
            </a:solidFill>
            <a:prstDash val="solid"/>
          </a:ln>
        </p:spPr>
      </p:sp>
      <p:sp>
        <p:nvSpPr>
          <p:cNvPr id="28" name="Text 25"/>
          <p:cNvSpPr txBox="1"/>
          <p:nvPr/>
        </p:nvSpPr>
        <p:spPr>
          <a:xfrm>
            <a:off x="621792" y="2651760"/>
            <a:ext cx="4242816"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2024 · nhà tài trợ concert</a:t>
            </a:r>
            <a:endParaRPr lang="en-US" sz="1800" dirty="0"/>
          </a:p>
        </p:txBody>
      </p:sp>
      <p:sp>
        <p:nvSpPr>
          <p:cNvPr id="29" name="Shape 26"/>
          <p:cNvSpPr/>
          <p:nvPr/>
        </p:nvSpPr>
        <p:spPr>
          <a:xfrm>
            <a:off x="5074920" y="3108960"/>
            <a:ext cx="1325880" cy="914"/>
          </a:xfrm>
          <a:prstGeom prst="line">
            <a:avLst/>
          </a:prstGeom>
          <a:noFill/>
          <a:ln w="50800">
            <a:solidFill>
              <a:srgbClr val="2A2238"/>
            </a:solidFill>
            <a:prstDash val="solid"/>
            <a:tailEnd type="triangle"/>
          </a:ln>
        </p:spPr>
      </p:sp>
      <p:sp>
        <p:nvSpPr>
          <p:cNvPr id="30" name="Shape 27"/>
          <p:cNvSpPr/>
          <p:nvPr/>
        </p:nvSpPr>
        <p:spPr>
          <a:xfrm>
            <a:off x="6537960" y="2651760"/>
            <a:ext cx="5105095" cy="914400"/>
          </a:xfrm>
          <a:prstGeom prst="roundRect">
            <a:avLst>
              <a:gd name="adj" fmla="val 50000"/>
            </a:avLst>
          </a:prstGeom>
          <a:solidFill>
            <a:srgbClr val="09A1E5"/>
          </a:solidFill>
          <a:ln w="12700">
            <a:solidFill>
              <a:srgbClr val="09A1E5"/>
            </a:solidFill>
            <a:prstDash val="solid"/>
          </a:ln>
        </p:spPr>
      </p:sp>
      <p:sp>
        <p:nvSpPr>
          <p:cNvPr id="31" name="Text 28"/>
          <p:cNvSpPr txBox="1"/>
          <p:nvPr/>
        </p:nvSpPr>
        <p:spPr>
          <a:xfrm>
            <a:off x="6611112" y="2651760"/>
            <a:ext cx="4958791"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2025 · “nhà đồng đầu tư”</a:t>
            </a:r>
            <a:endParaRPr lang="en-US" sz="1800" dirty="0"/>
          </a:p>
        </p:txBody>
      </p:sp>
      <p:sp>
        <p:nvSpPr>
          <p:cNvPr id="32" name="Text 29"/>
          <p:cNvSpPr txBox="1"/>
          <p:nvPr/>
        </p:nvSpPr>
        <p:spPr>
          <a:xfrm>
            <a:off x="548640" y="3703320"/>
            <a:ext cx="11094415" cy="411480"/>
          </a:xfrm>
          <a:prstGeom prst="rect">
            <a:avLst/>
          </a:prstGeom>
          <a:noFill/>
          <a:ln/>
        </p:spPr>
        <p:txBody>
          <a:bodyPr wrap="square" lIns="0" tIns="0" rIns="0" bIns="0" rtlCol="0" anchor="ctr"/>
          <a:lstStyle/>
          <a:p>
            <a:pPr algn="ctr" indent="0" marL="0">
              <a:buNone/>
            </a:pPr>
            <a:r>
              <a:rPr lang="en-US" sz="1400" i="1" dirty="0">
                <a:solidFill>
                  <a:srgbClr val="6E6878"/>
                </a:solidFill>
                <a:latin typeface="Alexandria" pitchFamily="34" charset="0"/>
                <a:ea typeface="Alexandria" pitchFamily="34" charset="-122"/>
                <a:cs typeface="Alexandria" pitchFamily="34" charset="-120"/>
              </a:rPr>
              <a:t>Techcombank và các concert “Anh trai vượt ngàn chông gai” (Yeah1)</a:t>
            </a:r>
            <a:endParaRPr lang="en-US" sz="1400" dirty="0"/>
          </a:p>
        </p:txBody>
      </p:sp>
      <p:sp>
        <p:nvSpPr>
          <p:cNvPr id="33" name="Shape 30"/>
          <p:cNvSpPr/>
          <p:nvPr/>
        </p:nvSpPr>
        <p:spPr>
          <a:xfrm>
            <a:off x="548640" y="4480560"/>
            <a:ext cx="11094415" cy="1508760"/>
          </a:xfrm>
          <a:prstGeom prst="roundRect">
            <a:avLst>
              <a:gd name="adj" fmla="val 7273"/>
            </a:avLst>
          </a:prstGeom>
          <a:solidFill>
            <a:srgbClr val="FFF3C4"/>
          </a:solidFill>
          <a:ln w="12700">
            <a:solidFill>
              <a:srgbClr val="FFD23B"/>
            </a:solidFill>
            <a:prstDash val="solid"/>
          </a:ln>
        </p:spPr>
      </p:sp>
      <p:sp>
        <p:nvSpPr>
          <p:cNvPr id="34" name="Text 31"/>
          <p:cNvSpPr txBox="1"/>
          <p:nvPr/>
        </p:nvSpPr>
        <p:spPr>
          <a:xfrm>
            <a:off x="914400" y="4480560"/>
            <a:ext cx="10362895" cy="150876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Khi một đối tác muốn đầu tư lại vào quan hệ, quan hệ đổi hẳn chất — từ mua bán sang cùng làm.</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Không chọn không có nghĩa là bỏ</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Nhận định của người soạn.</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21</a:t>
            </a:r>
            <a:endParaRPr lang="en-US" sz="1000" dirty="0"/>
          </a:p>
        </p:txBody>
      </p:sp>
      <p:sp>
        <p:nvSpPr>
          <p:cNvPr id="25" name="Shape 22"/>
          <p:cNvSpPr/>
          <p:nvPr/>
        </p:nvSpPr>
        <p:spPr>
          <a:xfrm>
            <a:off x="548640" y="1920240"/>
            <a:ext cx="5410048" cy="2926080"/>
          </a:xfrm>
          <a:prstGeom prst="roundRect">
            <a:avLst>
              <a:gd name="adj" fmla="val 3750"/>
            </a:avLst>
          </a:prstGeom>
          <a:solidFill>
            <a:srgbClr val="F1E1EE"/>
          </a:solidFill>
          <a:ln w="12700">
            <a:solidFill>
              <a:srgbClr val="962B7C"/>
            </a:solidFill>
            <a:prstDash val="solid"/>
          </a:ln>
        </p:spPr>
      </p:sp>
      <p:sp>
        <p:nvSpPr>
          <p:cNvPr id="26" name="Text 23"/>
          <p:cNvSpPr txBox="1"/>
          <p:nvPr/>
        </p:nvSpPr>
        <p:spPr>
          <a:xfrm>
            <a:off x="914400" y="1920240"/>
            <a:ext cx="4678528" cy="2926080"/>
          </a:xfrm>
          <a:prstGeom prst="rect">
            <a:avLst/>
          </a:prstGeom>
          <a:noFill/>
          <a:ln/>
        </p:spPr>
        <p:txBody>
          <a:bodyPr wrap="square" lIns="0" tIns="0" rIns="0" bIns="0" rtlCol="0" anchor="ctr"/>
          <a:lstStyle/>
          <a:p>
            <a:pPr indent="0" marL="0">
              <a:spcAft>
                <a:spcPts val="800"/>
              </a:spcAft>
              <a:buNone/>
            </a:pPr>
            <a:r>
              <a:rPr lang="en-US" sz="2400" b="1" dirty="0">
                <a:solidFill>
                  <a:srgbClr val="2A2238"/>
                </a:solidFill>
                <a:latin typeface="Alexandria" pitchFamily="34" charset="0"/>
                <a:ea typeface="Alexandria" pitchFamily="34" charset="-122"/>
                <a:cs typeface="Alexandria" pitchFamily="34" charset="-120"/>
              </a:rPr>
              <a:t>Key Account</a:t>
            </a:r>
            <a:endParaRPr lang="en-US" sz="2400" dirty="0"/>
          </a:p>
          <a:p>
            <a:pPr indent="0" marL="0">
              <a:spcAft>
                <a:spcPts val="800"/>
              </a:spcAft>
              <a:buNone/>
            </a:pPr>
            <a:r>
              <a:rPr lang="en-US" sz="1600" dirty="0">
                <a:solidFill>
                  <a:srgbClr val="2A2238"/>
                </a:solidFill>
                <a:latin typeface="Alexandria" pitchFamily="34" charset="0"/>
                <a:ea typeface="Alexandria" pitchFamily="34" charset="-122"/>
                <a:cs typeface="Alexandria" pitchFamily="34" charset="-120"/>
              </a:rPr>
              <a:t>nguồn lực riêng, kế hoạch riêng, đầu mối nhiều cấp</a:t>
            </a:r>
            <a:endParaRPr lang="en-US" sz="2400" dirty="0"/>
          </a:p>
        </p:txBody>
      </p:sp>
      <p:sp>
        <p:nvSpPr>
          <p:cNvPr id="27" name="Shape 24"/>
          <p:cNvSpPr/>
          <p:nvPr/>
        </p:nvSpPr>
        <p:spPr>
          <a:xfrm>
            <a:off x="6233008" y="1920240"/>
            <a:ext cx="5410048" cy="2926080"/>
          </a:xfrm>
          <a:prstGeom prst="roundRect">
            <a:avLst>
              <a:gd name="adj" fmla="val 3750"/>
            </a:avLst>
          </a:prstGeom>
          <a:solidFill>
            <a:srgbClr val="E1F3EE"/>
          </a:solidFill>
          <a:ln w="12700">
            <a:solidFill>
              <a:srgbClr val="49B296"/>
            </a:solidFill>
            <a:prstDash val="solid"/>
          </a:ln>
        </p:spPr>
      </p:sp>
      <p:sp>
        <p:nvSpPr>
          <p:cNvPr id="28" name="Text 25"/>
          <p:cNvSpPr txBox="1"/>
          <p:nvPr/>
        </p:nvSpPr>
        <p:spPr>
          <a:xfrm>
            <a:off x="6598768" y="1920240"/>
            <a:ext cx="4678528" cy="2926080"/>
          </a:xfrm>
          <a:prstGeom prst="rect">
            <a:avLst/>
          </a:prstGeom>
          <a:noFill/>
          <a:ln/>
        </p:spPr>
        <p:txBody>
          <a:bodyPr wrap="square" lIns="0" tIns="0" rIns="0" bIns="0" rtlCol="0" anchor="ctr"/>
          <a:lstStyle/>
          <a:p>
            <a:pPr indent="0" marL="0">
              <a:spcAft>
                <a:spcPts val="800"/>
              </a:spcAft>
              <a:buNone/>
            </a:pPr>
            <a:r>
              <a:rPr lang="en-US" sz="2400" b="1" dirty="0">
                <a:solidFill>
                  <a:srgbClr val="2A2238"/>
                </a:solidFill>
                <a:latin typeface="Alexandria" pitchFamily="34" charset="0"/>
                <a:ea typeface="Alexandria" pitchFamily="34" charset="-122"/>
                <a:cs typeface="Alexandria" pitchFamily="34" charset="-120"/>
              </a:rPr>
              <a:t>Khách hàng khác</a:t>
            </a:r>
            <a:endParaRPr lang="en-US" sz="2400" dirty="0"/>
          </a:p>
          <a:p>
            <a:pPr indent="0" marL="0">
              <a:spcAft>
                <a:spcPts val="800"/>
              </a:spcAft>
              <a:buNone/>
            </a:pPr>
            <a:r>
              <a:rPr lang="en-US" sz="1600" dirty="0">
                <a:solidFill>
                  <a:srgbClr val="2A2238"/>
                </a:solidFill>
                <a:latin typeface="Alexandria" pitchFamily="34" charset="0"/>
                <a:ea typeface="Alexandria" pitchFamily="34" charset="-122"/>
                <a:cs typeface="Alexandria" pitchFamily="34" charset="-120"/>
              </a:rPr>
              <a:t>vẫn phục vụ tốt và có lời — theo cách chuẩn hóa, ít nguồn lực riêng</a:t>
            </a:r>
            <a:endParaRPr lang="en-US" sz="2400" dirty="0"/>
          </a:p>
        </p:txBody>
      </p:sp>
      <p:sp>
        <p:nvSpPr>
          <p:cNvPr id="29" name="Shape 26"/>
          <p:cNvSpPr/>
          <p:nvPr/>
        </p:nvSpPr>
        <p:spPr>
          <a:xfrm>
            <a:off x="548640" y="5120640"/>
            <a:ext cx="11094415" cy="868680"/>
          </a:xfrm>
          <a:prstGeom prst="roundRect">
            <a:avLst>
              <a:gd name="adj" fmla="val 12632"/>
            </a:avLst>
          </a:prstGeom>
          <a:solidFill>
            <a:srgbClr val="FFF3C4"/>
          </a:solidFill>
          <a:ln w="12700">
            <a:solidFill>
              <a:srgbClr val="FFD23B"/>
            </a:solidFill>
            <a:prstDash val="solid"/>
          </a:ln>
        </p:spPr>
      </p:sp>
      <p:sp>
        <p:nvSpPr>
          <p:cNvPr id="30" name="Text 27"/>
          <p:cNvSpPr txBox="1"/>
          <p:nvPr/>
        </p:nvSpPr>
        <p:spPr>
          <a:xfrm>
            <a:off x="868680" y="5120640"/>
            <a:ext cx="10454335" cy="8686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Buổi 6: CLV và chi phí phục vụ (cost-to-serve) giúp quyết định chính xác hơn.</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2 · Nova chọn tối đa hai Key Account</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W02_activity_S6_chon_key_account.md · Tình huống giả định.</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22</a:t>
            </a:r>
            <a:endParaRPr lang="en-US" sz="1000" dirty="0"/>
          </a:p>
        </p:txBody>
      </p:sp>
      <p:sp>
        <p:nvSpPr>
          <p:cNvPr id="25" name="Shape 22"/>
          <p:cNvSpPr/>
          <p:nvPr/>
        </p:nvSpPr>
        <p:spPr>
          <a:xfrm>
            <a:off x="548640" y="1783080"/>
            <a:ext cx="7315200" cy="694944"/>
          </a:xfrm>
          <a:prstGeom prst="roundRect">
            <a:avLst>
              <a:gd name="adj" fmla="val 15789"/>
            </a:avLst>
          </a:prstGeom>
          <a:solidFill>
            <a:srgbClr val="F3F0E6"/>
          </a:solidFill>
          <a:ln w="12700">
            <a:solidFill>
              <a:srgbClr val="F3F0E6"/>
            </a:solidFill>
            <a:prstDash val="solid"/>
          </a:ln>
        </p:spPr>
      </p:sp>
      <p:sp>
        <p:nvSpPr>
          <p:cNvPr id="26" name="Shape 23"/>
          <p:cNvSpPr/>
          <p:nvPr/>
        </p:nvSpPr>
        <p:spPr>
          <a:xfrm>
            <a:off x="685800" y="1920240"/>
            <a:ext cx="420624" cy="420624"/>
          </a:xfrm>
          <a:prstGeom prst="ellipse">
            <a:avLst/>
          </a:prstGeom>
          <a:solidFill>
            <a:srgbClr val="962B7C"/>
          </a:solidFill>
          <a:ln w="12700">
            <a:solidFill>
              <a:srgbClr val="962B7C"/>
            </a:solidFill>
            <a:prstDash val="solid"/>
          </a:ln>
        </p:spPr>
      </p:sp>
      <p:sp>
        <p:nvSpPr>
          <p:cNvPr id="27" name="Text 24"/>
          <p:cNvSpPr txBox="1"/>
          <p:nvPr/>
        </p:nvSpPr>
        <p:spPr>
          <a:xfrm>
            <a:off x="685800" y="19202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1</a:t>
            </a:r>
            <a:endParaRPr lang="en-US" sz="1400" dirty="0"/>
          </a:p>
        </p:txBody>
      </p:sp>
      <p:sp>
        <p:nvSpPr>
          <p:cNvPr id="28" name="Text 25"/>
          <p:cNvSpPr txBox="1"/>
          <p:nvPr/>
        </p:nvSpPr>
        <p:spPr>
          <a:xfrm>
            <a:off x="1234440" y="1783080"/>
            <a:ext cx="2103120" cy="694944"/>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Ngân hàng An Phát</a:t>
            </a:r>
            <a:endParaRPr lang="en-US" sz="1300" dirty="0"/>
          </a:p>
        </p:txBody>
      </p:sp>
      <p:sp>
        <p:nvSpPr>
          <p:cNvPr id="29" name="Text 26"/>
          <p:cNvSpPr txBox="1"/>
          <p:nvPr/>
        </p:nvSpPr>
        <p:spPr>
          <a:xfrm>
            <a:off x="3337560" y="1783080"/>
            <a:ext cx="822960" cy="694944"/>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~2,3 tỷ</a:t>
            </a:r>
            <a:endParaRPr lang="en-US" sz="1300" dirty="0"/>
          </a:p>
        </p:txBody>
      </p:sp>
      <p:sp>
        <p:nvSpPr>
          <p:cNvPr id="30" name="Text 27"/>
          <p:cNvSpPr txBox="1"/>
          <p:nvPr/>
        </p:nvSpPr>
        <p:spPr>
          <a:xfrm>
            <a:off x="4160520" y="1783080"/>
            <a:ext cx="3566160" cy="694944"/>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4 năm; đúng hạn; chỉ quen 1–2 người; sẵn sàng bàn hợp đồng khung 2 năm</a:t>
            </a:r>
            <a:endParaRPr lang="en-US" sz="1100" dirty="0"/>
          </a:p>
        </p:txBody>
      </p:sp>
      <p:sp>
        <p:nvSpPr>
          <p:cNvPr id="31" name="Shape 28"/>
          <p:cNvSpPr/>
          <p:nvPr/>
        </p:nvSpPr>
        <p:spPr>
          <a:xfrm>
            <a:off x="548640" y="2569464"/>
            <a:ext cx="7315200" cy="694944"/>
          </a:xfrm>
          <a:prstGeom prst="roundRect">
            <a:avLst>
              <a:gd name="adj" fmla="val 15789"/>
            </a:avLst>
          </a:prstGeom>
          <a:solidFill>
            <a:srgbClr val="FFFFFF"/>
          </a:solidFill>
          <a:ln w="12700">
            <a:solidFill>
              <a:srgbClr val="DCD7C8"/>
            </a:solidFill>
            <a:prstDash val="solid"/>
          </a:ln>
        </p:spPr>
      </p:sp>
      <p:sp>
        <p:nvSpPr>
          <p:cNvPr id="32" name="Shape 29"/>
          <p:cNvSpPr/>
          <p:nvPr/>
        </p:nvSpPr>
        <p:spPr>
          <a:xfrm>
            <a:off x="685800" y="2706624"/>
            <a:ext cx="420624" cy="420624"/>
          </a:xfrm>
          <a:prstGeom prst="ellipse">
            <a:avLst/>
          </a:prstGeom>
          <a:solidFill>
            <a:srgbClr val="FF9259"/>
          </a:solidFill>
          <a:ln w="12700">
            <a:solidFill>
              <a:srgbClr val="FF9259"/>
            </a:solidFill>
            <a:prstDash val="solid"/>
          </a:ln>
        </p:spPr>
      </p:sp>
      <p:sp>
        <p:nvSpPr>
          <p:cNvPr id="33" name="Text 30"/>
          <p:cNvSpPr txBox="1"/>
          <p:nvPr/>
        </p:nvSpPr>
        <p:spPr>
          <a:xfrm>
            <a:off x="685800" y="2706624"/>
            <a:ext cx="420624" cy="420624"/>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2</a:t>
            </a:r>
            <a:endParaRPr lang="en-US" sz="1400" dirty="0"/>
          </a:p>
        </p:txBody>
      </p:sp>
      <p:sp>
        <p:nvSpPr>
          <p:cNvPr id="34" name="Text 31"/>
          <p:cNvSpPr txBox="1"/>
          <p:nvPr/>
        </p:nvSpPr>
        <p:spPr>
          <a:xfrm>
            <a:off x="1234440" y="2569464"/>
            <a:ext cx="2103120" cy="694944"/>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Địa ốc Sông Xanh</a:t>
            </a:r>
            <a:endParaRPr lang="en-US" sz="1300" dirty="0"/>
          </a:p>
        </p:txBody>
      </p:sp>
      <p:sp>
        <p:nvSpPr>
          <p:cNvPr id="35" name="Text 32"/>
          <p:cNvSpPr txBox="1"/>
          <p:nvPr/>
        </p:nvSpPr>
        <p:spPr>
          <a:xfrm>
            <a:off x="3337560" y="2569464"/>
            <a:ext cx="822960" cy="694944"/>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~3,5 tỷ</a:t>
            </a:r>
            <a:endParaRPr lang="en-US" sz="1300" dirty="0"/>
          </a:p>
        </p:txBody>
      </p:sp>
      <p:sp>
        <p:nvSpPr>
          <p:cNvPr id="36" name="Text 33"/>
          <p:cNvSpPr txBox="1"/>
          <p:nvPr/>
        </p:nvSpPr>
        <p:spPr>
          <a:xfrm>
            <a:off x="4160520" y="2569464"/>
            <a:ext cx="3566160" cy="694944"/>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đấu thầu theo giá; trả sau ~90 ngày; năm nào cũng đổi agency</a:t>
            </a:r>
            <a:endParaRPr lang="en-US" sz="1100" dirty="0"/>
          </a:p>
        </p:txBody>
      </p:sp>
      <p:sp>
        <p:nvSpPr>
          <p:cNvPr id="37" name="Shape 34"/>
          <p:cNvSpPr/>
          <p:nvPr/>
        </p:nvSpPr>
        <p:spPr>
          <a:xfrm>
            <a:off x="548640" y="3355848"/>
            <a:ext cx="7315200" cy="694944"/>
          </a:xfrm>
          <a:prstGeom prst="roundRect">
            <a:avLst>
              <a:gd name="adj" fmla="val 15789"/>
            </a:avLst>
          </a:prstGeom>
          <a:solidFill>
            <a:srgbClr val="F3F0E6"/>
          </a:solidFill>
          <a:ln w="12700">
            <a:solidFill>
              <a:srgbClr val="F3F0E6"/>
            </a:solidFill>
            <a:prstDash val="solid"/>
          </a:ln>
        </p:spPr>
      </p:sp>
      <p:sp>
        <p:nvSpPr>
          <p:cNvPr id="38" name="Shape 35"/>
          <p:cNvSpPr/>
          <p:nvPr/>
        </p:nvSpPr>
        <p:spPr>
          <a:xfrm>
            <a:off x="685800" y="3493008"/>
            <a:ext cx="420624" cy="420624"/>
          </a:xfrm>
          <a:prstGeom prst="ellipse">
            <a:avLst/>
          </a:prstGeom>
          <a:solidFill>
            <a:srgbClr val="09A1E5"/>
          </a:solidFill>
          <a:ln w="12700">
            <a:solidFill>
              <a:srgbClr val="09A1E5"/>
            </a:solidFill>
            <a:prstDash val="solid"/>
          </a:ln>
        </p:spPr>
      </p:sp>
      <p:sp>
        <p:nvSpPr>
          <p:cNvPr id="39" name="Text 36"/>
          <p:cNvSpPr txBox="1"/>
          <p:nvPr/>
        </p:nvSpPr>
        <p:spPr>
          <a:xfrm>
            <a:off x="685800" y="34930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3</a:t>
            </a:r>
            <a:endParaRPr lang="en-US" sz="1400" dirty="0"/>
          </a:p>
        </p:txBody>
      </p:sp>
      <p:sp>
        <p:nvSpPr>
          <p:cNvPr id="40" name="Text 37"/>
          <p:cNvSpPr txBox="1"/>
          <p:nvPr/>
        </p:nvSpPr>
        <p:spPr>
          <a:xfrm>
            <a:off x="1234440" y="3355848"/>
            <a:ext cx="2103120" cy="694944"/>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Dược phẩm MediPharm</a:t>
            </a:r>
            <a:endParaRPr lang="en-US" sz="1300" dirty="0"/>
          </a:p>
        </p:txBody>
      </p:sp>
      <p:sp>
        <p:nvSpPr>
          <p:cNvPr id="41" name="Text 38"/>
          <p:cNvSpPr txBox="1"/>
          <p:nvPr/>
        </p:nvSpPr>
        <p:spPr>
          <a:xfrm>
            <a:off x="3337560" y="3355848"/>
            <a:ext cx="822960" cy="694944"/>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~1,2 tỷ</a:t>
            </a:r>
            <a:endParaRPr lang="en-US" sz="1300" dirty="0"/>
          </a:p>
        </p:txBody>
      </p:sp>
      <p:sp>
        <p:nvSpPr>
          <p:cNvPr id="42" name="Text 39"/>
          <p:cNvSpPr txBox="1"/>
          <p:nvPr/>
        </p:nvSpPr>
        <p:spPr>
          <a:xfrm>
            <a:off x="4160520" y="3355848"/>
            <a:ext cx="3566160" cy="694944"/>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biên cao; tuân thủ chặt; Nova ít kinh nghiệm; muốn cùng thiết kế định dạng mới</a:t>
            </a:r>
            <a:endParaRPr lang="en-US" sz="1100" dirty="0"/>
          </a:p>
        </p:txBody>
      </p:sp>
      <p:sp>
        <p:nvSpPr>
          <p:cNvPr id="43" name="Shape 40"/>
          <p:cNvSpPr/>
          <p:nvPr/>
        </p:nvSpPr>
        <p:spPr>
          <a:xfrm>
            <a:off x="548640" y="4142232"/>
            <a:ext cx="7315200" cy="694944"/>
          </a:xfrm>
          <a:prstGeom prst="roundRect">
            <a:avLst>
              <a:gd name="adj" fmla="val 15789"/>
            </a:avLst>
          </a:prstGeom>
          <a:solidFill>
            <a:srgbClr val="FFFFFF"/>
          </a:solidFill>
          <a:ln w="12700">
            <a:solidFill>
              <a:srgbClr val="DCD7C8"/>
            </a:solidFill>
            <a:prstDash val="solid"/>
          </a:ln>
        </p:spPr>
      </p:sp>
      <p:sp>
        <p:nvSpPr>
          <p:cNvPr id="44" name="Shape 41"/>
          <p:cNvSpPr/>
          <p:nvPr/>
        </p:nvSpPr>
        <p:spPr>
          <a:xfrm>
            <a:off x="685800" y="4279392"/>
            <a:ext cx="420624" cy="420624"/>
          </a:xfrm>
          <a:prstGeom prst="ellipse">
            <a:avLst/>
          </a:prstGeom>
          <a:solidFill>
            <a:srgbClr val="49B296"/>
          </a:solidFill>
          <a:ln w="12700">
            <a:solidFill>
              <a:srgbClr val="49B296"/>
            </a:solidFill>
            <a:prstDash val="solid"/>
          </a:ln>
        </p:spPr>
      </p:sp>
      <p:sp>
        <p:nvSpPr>
          <p:cNvPr id="45" name="Text 42"/>
          <p:cNvSpPr txBox="1"/>
          <p:nvPr/>
        </p:nvSpPr>
        <p:spPr>
          <a:xfrm>
            <a:off x="685800" y="42793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4</a:t>
            </a:r>
            <a:endParaRPr lang="en-US" sz="1400" dirty="0"/>
          </a:p>
        </p:txBody>
      </p:sp>
      <p:sp>
        <p:nvSpPr>
          <p:cNvPr id="46" name="Text 43"/>
          <p:cNvSpPr txBox="1"/>
          <p:nvPr/>
        </p:nvSpPr>
        <p:spPr>
          <a:xfrm>
            <a:off x="1234440" y="4142232"/>
            <a:ext cx="2103120" cy="694944"/>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Đại học Bright Future</a:t>
            </a:r>
            <a:endParaRPr lang="en-US" sz="1300" dirty="0"/>
          </a:p>
        </p:txBody>
      </p:sp>
      <p:sp>
        <p:nvSpPr>
          <p:cNvPr id="47" name="Text 44"/>
          <p:cNvSpPr txBox="1"/>
          <p:nvPr/>
        </p:nvSpPr>
        <p:spPr>
          <a:xfrm>
            <a:off x="3337560" y="4142232"/>
            <a:ext cx="822960" cy="694944"/>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~0,6 tỷ</a:t>
            </a:r>
            <a:endParaRPr lang="en-US" sz="1300" dirty="0"/>
          </a:p>
        </p:txBody>
      </p:sp>
      <p:sp>
        <p:nvSpPr>
          <p:cNvPr id="48" name="Text 45"/>
          <p:cNvSpPr txBox="1"/>
          <p:nvPr/>
        </p:nvSpPr>
        <p:spPr>
          <a:xfrm>
            <a:off x="4160520" y="4142232"/>
            <a:ext cx="3566160" cy="694944"/>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ổn định, đơn giản, ít tiềm năng tăng</a:t>
            </a:r>
            <a:endParaRPr lang="en-US" sz="1100" dirty="0"/>
          </a:p>
        </p:txBody>
      </p:sp>
      <p:sp>
        <p:nvSpPr>
          <p:cNvPr id="49" name="Shape 46"/>
          <p:cNvSpPr/>
          <p:nvPr/>
        </p:nvSpPr>
        <p:spPr>
          <a:xfrm>
            <a:off x="548640" y="4928616"/>
            <a:ext cx="7315200" cy="694944"/>
          </a:xfrm>
          <a:prstGeom prst="roundRect">
            <a:avLst>
              <a:gd name="adj" fmla="val 15789"/>
            </a:avLst>
          </a:prstGeom>
          <a:solidFill>
            <a:srgbClr val="F3F0E6"/>
          </a:solidFill>
          <a:ln w="12700">
            <a:solidFill>
              <a:srgbClr val="F3F0E6"/>
            </a:solidFill>
            <a:prstDash val="solid"/>
          </a:ln>
        </p:spPr>
      </p:sp>
      <p:sp>
        <p:nvSpPr>
          <p:cNvPr id="50" name="Shape 47"/>
          <p:cNvSpPr/>
          <p:nvPr/>
        </p:nvSpPr>
        <p:spPr>
          <a:xfrm>
            <a:off x="685800" y="5065776"/>
            <a:ext cx="420624" cy="420624"/>
          </a:xfrm>
          <a:prstGeom prst="ellipse">
            <a:avLst/>
          </a:prstGeom>
          <a:solidFill>
            <a:srgbClr val="FF5178"/>
          </a:solidFill>
          <a:ln w="12700">
            <a:solidFill>
              <a:srgbClr val="FF5178"/>
            </a:solidFill>
            <a:prstDash val="solid"/>
          </a:ln>
        </p:spPr>
      </p:sp>
      <p:sp>
        <p:nvSpPr>
          <p:cNvPr id="51" name="Text 48"/>
          <p:cNvSpPr txBox="1"/>
          <p:nvPr/>
        </p:nvSpPr>
        <p:spPr>
          <a:xfrm>
            <a:off x="685800" y="50657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5</a:t>
            </a:r>
            <a:endParaRPr lang="en-US" sz="1400" dirty="0"/>
          </a:p>
        </p:txBody>
      </p:sp>
      <p:sp>
        <p:nvSpPr>
          <p:cNvPr id="52" name="Text 49"/>
          <p:cNvSpPr txBox="1"/>
          <p:nvPr/>
        </p:nvSpPr>
        <p:spPr>
          <a:xfrm>
            <a:off x="1234440" y="4928616"/>
            <a:ext cx="2103120" cy="694944"/>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Thực phẩm Bếp Việt</a:t>
            </a:r>
            <a:endParaRPr lang="en-US" sz="1300" dirty="0"/>
          </a:p>
        </p:txBody>
      </p:sp>
      <p:sp>
        <p:nvSpPr>
          <p:cNvPr id="53" name="Text 50"/>
          <p:cNvSpPr txBox="1"/>
          <p:nvPr/>
        </p:nvSpPr>
        <p:spPr>
          <a:xfrm>
            <a:off x="3337560" y="4928616"/>
            <a:ext cx="822960" cy="694944"/>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~1,8 tỷ</a:t>
            </a:r>
            <a:endParaRPr lang="en-US" sz="1300" dirty="0"/>
          </a:p>
        </p:txBody>
      </p:sp>
      <p:sp>
        <p:nvSpPr>
          <p:cNvPr id="54" name="Text 51"/>
          <p:cNvSpPr txBox="1"/>
          <p:nvPr/>
        </p:nvSpPr>
        <p:spPr>
          <a:xfrm>
            <a:off x="4160520" y="4928616"/>
            <a:ext cx="3566160" cy="694944"/>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tăng nhanh; đề nghị chia chi phí thí điểm; Nova yếu activation ngoài trời</a:t>
            </a:r>
            <a:endParaRPr lang="en-US" sz="1100" dirty="0"/>
          </a:p>
        </p:txBody>
      </p:sp>
      <p:sp>
        <p:nvSpPr>
          <p:cNvPr id="55" name="Shape 52"/>
          <p:cNvSpPr/>
          <p:nvPr/>
        </p:nvSpPr>
        <p:spPr>
          <a:xfrm>
            <a:off x="8138160" y="1965960"/>
            <a:ext cx="731520" cy="731520"/>
          </a:xfrm>
          <a:prstGeom prst="ellipse">
            <a:avLst/>
          </a:prstGeom>
          <a:solidFill>
            <a:srgbClr val="FF9259"/>
          </a:solidFill>
          <a:ln w="12700">
            <a:solidFill>
              <a:srgbClr val="FF9259"/>
            </a:solidFill>
            <a:prstDash val="solid"/>
          </a:ln>
        </p:spPr>
      </p:sp>
      <p:sp>
        <p:nvSpPr>
          <p:cNvPr id="56" name="Text 53"/>
          <p:cNvSpPr txBox="1"/>
          <p:nvPr/>
        </p:nvSpPr>
        <p:spPr>
          <a:xfrm>
            <a:off x="8138160" y="1965960"/>
            <a:ext cx="731520" cy="73152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15’</a:t>
            </a:r>
            <a:endParaRPr lang="en-US" sz="1600" dirty="0"/>
          </a:p>
        </p:txBody>
      </p:sp>
      <p:sp>
        <p:nvSpPr>
          <p:cNvPr id="57" name="Text 54"/>
          <p:cNvSpPr txBox="1"/>
          <p:nvPr/>
        </p:nvSpPr>
        <p:spPr>
          <a:xfrm>
            <a:off x="9006840" y="1783080"/>
            <a:ext cx="2636215" cy="11430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Chấm 2 trục + cổng đồng đầu tư; đặt lên ma trận; chọn ≤ 2</a:t>
            </a:r>
            <a:endParaRPr lang="en-US" sz="1200" dirty="0"/>
          </a:p>
        </p:txBody>
      </p:sp>
      <p:sp>
        <p:nvSpPr>
          <p:cNvPr id="58" name="Shape 55"/>
          <p:cNvSpPr/>
          <p:nvPr/>
        </p:nvSpPr>
        <p:spPr>
          <a:xfrm>
            <a:off x="8138160" y="3291840"/>
            <a:ext cx="731520" cy="731520"/>
          </a:xfrm>
          <a:prstGeom prst="ellipse">
            <a:avLst/>
          </a:prstGeom>
          <a:solidFill>
            <a:srgbClr val="FF5178"/>
          </a:solidFill>
          <a:ln w="12700">
            <a:solidFill>
              <a:srgbClr val="FF5178"/>
            </a:solidFill>
            <a:prstDash val="solid"/>
          </a:ln>
        </p:spPr>
      </p:sp>
      <p:sp>
        <p:nvSpPr>
          <p:cNvPr id="59" name="Text 56"/>
          <p:cNvSpPr txBox="1"/>
          <p:nvPr/>
        </p:nvSpPr>
        <p:spPr>
          <a:xfrm>
            <a:off x="8138160" y="3291840"/>
            <a:ext cx="731520"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2×4’</a:t>
            </a:r>
            <a:endParaRPr lang="en-US" sz="1300" dirty="0"/>
          </a:p>
        </p:txBody>
      </p:sp>
      <p:sp>
        <p:nvSpPr>
          <p:cNvPr id="60" name="Text 57"/>
          <p:cNvSpPr txBox="1"/>
          <p:nvPr/>
        </p:nvSpPr>
        <p:spPr>
          <a:xfrm>
            <a:off x="9006840" y="3108960"/>
            <a:ext cx="2636215" cy="11430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Xoay trạm: vai anh Đức — CEO Nova · 🟨 câu hỏi · 🟥 lo ngại</a:t>
            </a:r>
            <a:endParaRPr lang="en-US" sz="1200" dirty="0"/>
          </a:p>
        </p:txBody>
      </p:sp>
      <p:sp>
        <p:nvSpPr>
          <p:cNvPr id="61" name="Shape 58"/>
          <p:cNvSpPr/>
          <p:nvPr/>
        </p:nvSpPr>
        <p:spPr>
          <a:xfrm>
            <a:off x="8138160" y="4617720"/>
            <a:ext cx="731520" cy="731520"/>
          </a:xfrm>
          <a:prstGeom prst="ellipse">
            <a:avLst/>
          </a:prstGeom>
          <a:solidFill>
            <a:srgbClr val="49B296"/>
          </a:solidFill>
          <a:ln w="12700">
            <a:solidFill>
              <a:srgbClr val="49B296"/>
            </a:solidFill>
            <a:prstDash val="solid"/>
          </a:ln>
        </p:spPr>
      </p:sp>
      <p:sp>
        <p:nvSpPr>
          <p:cNvPr id="62" name="Text 59"/>
          <p:cNvSpPr txBox="1"/>
          <p:nvPr/>
        </p:nvSpPr>
        <p:spPr>
          <a:xfrm>
            <a:off x="8138160" y="461772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4’</a:t>
            </a:r>
            <a:endParaRPr lang="en-US" sz="1600" dirty="0"/>
          </a:p>
        </p:txBody>
      </p:sp>
      <p:sp>
        <p:nvSpPr>
          <p:cNvPr id="63" name="Text 60"/>
          <p:cNvSpPr txBox="1"/>
          <p:nvPr/>
        </p:nvSpPr>
        <p:spPr>
          <a:xfrm>
            <a:off x="9006840" y="4434840"/>
            <a:ext cx="2636215" cy="11430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Về bàn, sửa một điểm</a:t>
            </a:r>
            <a:endParaRPr lang="en-US" sz="1200" dirty="0"/>
          </a:p>
        </p:txBody>
      </p:sp>
      <p:sp>
        <p:nvSpPr>
          <p:cNvPr id="64" name="Shape 61"/>
          <p:cNvSpPr/>
          <p:nvPr/>
        </p:nvSpPr>
        <p:spPr>
          <a:xfrm>
            <a:off x="8138160" y="5669280"/>
            <a:ext cx="3504895" cy="411480"/>
          </a:xfrm>
          <a:prstGeom prst="roundRect">
            <a:avLst>
              <a:gd name="adj" fmla="val 26667"/>
            </a:avLst>
          </a:prstGeom>
          <a:solidFill>
            <a:srgbClr val="FFF3C4"/>
          </a:solidFill>
          <a:ln w="12700">
            <a:solidFill>
              <a:srgbClr val="FFD23B"/>
            </a:solidFill>
            <a:prstDash val="solid"/>
          </a:ln>
        </p:spPr>
      </p:sp>
      <p:sp>
        <p:nvSpPr>
          <p:cNvPr id="65" name="Text 62"/>
          <p:cNvSpPr txBox="1"/>
          <p:nvPr/>
        </p:nvSpPr>
        <p:spPr>
          <a:xfrm>
            <a:off x="8275320" y="5669280"/>
            <a:ext cx="3230575" cy="411480"/>
          </a:xfrm>
          <a:prstGeom prst="rect">
            <a:avLst/>
          </a:prstGeom>
          <a:noFill/>
          <a:ln/>
        </p:spPr>
        <p:txBody>
          <a:bodyPr wrap="square" lIns="0" tIns="0" rIns="0" bIns="0" rtlCol="0" anchor="ctr"/>
          <a:lstStyle/>
          <a:p>
            <a:pPr indent="0" marL="0">
              <a:buNone/>
            </a:pPr>
            <a:r>
              <a:rPr lang="en-US" sz="1100" b="1" dirty="0">
                <a:solidFill>
                  <a:srgbClr val="2A2238"/>
                </a:solidFill>
                <a:latin typeface="Alexandria" pitchFamily="34" charset="0"/>
                <a:ea typeface="Alexandria" pitchFamily="34" charset="-122"/>
                <a:cs typeface="Alexandria" pitchFamily="34" charset="-120"/>
              </a:rPr>
              <a:t>Nova chỉ đủ người cho tối đa 2 Key Account</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Ba ý của Buổi 2</a:t>
            </a:r>
            <a:endParaRPr lang="en-US" sz="2600" dirty="0"/>
          </a:p>
        </p:txBody>
      </p:sp>
      <p:sp>
        <p:nvSpPr>
          <p:cNvPr id="22" name="Text 20"/>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23</a:t>
            </a:r>
            <a:endParaRPr lang="en-US" sz="1000" dirty="0"/>
          </a:p>
        </p:txBody>
      </p:sp>
      <p:sp>
        <p:nvSpPr>
          <p:cNvPr id="24" name="Shape 21"/>
          <p:cNvSpPr/>
          <p:nvPr/>
        </p:nvSpPr>
        <p:spPr>
          <a:xfrm>
            <a:off x="548640" y="1828800"/>
            <a:ext cx="11094415" cy="822960"/>
          </a:xfrm>
          <a:prstGeom prst="roundRect">
            <a:avLst>
              <a:gd name="adj" fmla="val 13333"/>
            </a:avLst>
          </a:prstGeom>
          <a:solidFill>
            <a:srgbClr val="F1E1EE"/>
          </a:solidFill>
          <a:ln w="19050">
            <a:solidFill>
              <a:srgbClr val="962B7C"/>
            </a:solidFill>
            <a:prstDash val="solid"/>
          </a:ln>
        </p:spPr>
      </p:sp>
      <p:sp>
        <p:nvSpPr>
          <p:cNvPr id="25" name="Shape 22"/>
          <p:cNvSpPr/>
          <p:nvPr/>
        </p:nvSpPr>
        <p:spPr>
          <a:xfrm>
            <a:off x="777240" y="1897380"/>
            <a:ext cx="685800" cy="685800"/>
          </a:xfrm>
          <a:prstGeom prst="ellipse">
            <a:avLst/>
          </a:prstGeom>
          <a:solidFill>
            <a:srgbClr val="962B7C"/>
          </a:solidFill>
          <a:ln w="12700">
            <a:solidFill>
              <a:srgbClr val="962B7C"/>
            </a:solidFill>
            <a:prstDash val="solid"/>
          </a:ln>
        </p:spPr>
      </p:sp>
      <p:sp>
        <p:nvSpPr>
          <p:cNvPr id="26" name="Text 23"/>
          <p:cNvSpPr txBox="1"/>
          <p:nvPr/>
        </p:nvSpPr>
        <p:spPr>
          <a:xfrm>
            <a:off x="777240" y="1897380"/>
            <a:ext cx="6858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2.1</a:t>
            </a:r>
            <a:endParaRPr lang="en-US" sz="1300" dirty="0"/>
          </a:p>
        </p:txBody>
      </p:sp>
      <p:sp>
        <p:nvSpPr>
          <p:cNvPr id="27" name="Text 24"/>
          <p:cNvSpPr txBox="1"/>
          <p:nvPr/>
        </p:nvSpPr>
        <p:spPr>
          <a:xfrm>
            <a:off x="1691640" y="1828800"/>
            <a:ext cx="9722815" cy="8229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KAM không phải “bán hàng xịn hơn” mà là quản trị quan hệ dài hạn, hai chiều — nhiều người, có kế hoạch và nguồn lực riêng.</a:t>
            </a:r>
            <a:endParaRPr lang="en-US" sz="1700" dirty="0"/>
          </a:p>
        </p:txBody>
      </p:sp>
      <p:sp>
        <p:nvSpPr>
          <p:cNvPr id="28" name="Shape 25"/>
          <p:cNvSpPr/>
          <p:nvPr/>
        </p:nvSpPr>
        <p:spPr>
          <a:xfrm>
            <a:off x="548640" y="2834640"/>
            <a:ext cx="11094415" cy="822960"/>
          </a:xfrm>
          <a:prstGeom prst="roundRect">
            <a:avLst>
              <a:gd name="adj" fmla="val 13333"/>
            </a:avLst>
          </a:prstGeom>
          <a:solidFill>
            <a:srgbClr val="DDF1FB"/>
          </a:solidFill>
          <a:ln w="19050">
            <a:solidFill>
              <a:srgbClr val="09A1E5"/>
            </a:solidFill>
            <a:prstDash val="solid"/>
          </a:ln>
        </p:spPr>
      </p:sp>
      <p:sp>
        <p:nvSpPr>
          <p:cNvPr id="29" name="Shape 26"/>
          <p:cNvSpPr/>
          <p:nvPr/>
        </p:nvSpPr>
        <p:spPr>
          <a:xfrm>
            <a:off x="777240" y="2903220"/>
            <a:ext cx="685800" cy="685800"/>
          </a:xfrm>
          <a:prstGeom prst="ellipse">
            <a:avLst/>
          </a:prstGeom>
          <a:solidFill>
            <a:srgbClr val="09A1E5"/>
          </a:solidFill>
          <a:ln w="12700">
            <a:solidFill>
              <a:srgbClr val="09A1E5"/>
            </a:solidFill>
            <a:prstDash val="solid"/>
          </a:ln>
        </p:spPr>
      </p:sp>
      <p:sp>
        <p:nvSpPr>
          <p:cNvPr id="30" name="Text 27"/>
          <p:cNvSpPr txBox="1"/>
          <p:nvPr/>
        </p:nvSpPr>
        <p:spPr>
          <a:xfrm>
            <a:off x="777240" y="2903220"/>
            <a:ext cx="6858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2.2</a:t>
            </a:r>
            <a:endParaRPr lang="en-US" sz="1300" dirty="0"/>
          </a:p>
        </p:txBody>
      </p:sp>
      <p:sp>
        <p:nvSpPr>
          <p:cNvPr id="31" name="Text 28"/>
          <p:cNvSpPr txBox="1"/>
          <p:nvPr/>
        </p:nvSpPr>
        <p:spPr>
          <a:xfrm>
            <a:off x="1691640" y="2834640"/>
            <a:ext cx="9722815" cy="8229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Chọn Key Account bằng hai trục chấm có trọng số (sức hấp dẫn, vị thế cạnh tranh) và cổng đồng đầu tư.</a:t>
            </a:r>
            <a:endParaRPr lang="en-US" sz="1700" dirty="0"/>
          </a:p>
        </p:txBody>
      </p:sp>
      <p:sp>
        <p:nvSpPr>
          <p:cNvPr id="32" name="Shape 29"/>
          <p:cNvSpPr/>
          <p:nvPr/>
        </p:nvSpPr>
        <p:spPr>
          <a:xfrm>
            <a:off x="548640" y="3840480"/>
            <a:ext cx="11094415" cy="822960"/>
          </a:xfrm>
          <a:prstGeom prst="roundRect">
            <a:avLst>
              <a:gd name="adj" fmla="val 13333"/>
            </a:avLst>
          </a:prstGeom>
          <a:solidFill>
            <a:srgbClr val="FFE4EA"/>
          </a:solidFill>
          <a:ln w="19050">
            <a:solidFill>
              <a:srgbClr val="FF5178"/>
            </a:solidFill>
            <a:prstDash val="solid"/>
          </a:ln>
        </p:spPr>
      </p:sp>
      <p:sp>
        <p:nvSpPr>
          <p:cNvPr id="33" name="Shape 30"/>
          <p:cNvSpPr/>
          <p:nvPr/>
        </p:nvSpPr>
        <p:spPr>
          <a:xfrm>
            <a:off x="777240" y="3909060"/>
            <a:ext cx="685800" cy="685800"/>
          </a:xfrm>
          <a:prstGeom prst="ellipse">
            <a:avLst/>
          </a:prstGeom>
          <a:solidFill>
            <a:srgbClr val="FF5178"/>
          </a:solidFill>
          <a:ln w="12700">
            <a:solidFill>
              <a:srgbClr val="FF5178"/>
            </a:solidFill>
            <a:prstDash val="solid"/>
          </a:ln>
        </p:spPr>
      </p:sp>
      <p:sp>
        <p:nvSpPr>
          <p:cNvPr id="34" name="Text 31"/>
          <p:cNvSpPr txBox="1"/>
          <p:nvPr/>
        </p:nvSpPr>
        <p:spPr>
          <a:xfrm>
            <a:off x="777240" y="390906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a:t>
            </a:r>
            <a:endParaRPr lang="en-US" sz="1800" dirty="0"/>
          </a:p>
        </p:txBody>
      </p:sp>
      <p:sp>
        <p:nvSpPr>
          <p:cNvPr id="35" name="Text 32"/>
          <p:cNvSpPr txBox="1"/>
          <p:nvPr/>
        </p:nvSpPr>
        <p:spPr>
          <a:xfrm>
            <a:off x="1691640" y="3840480"/>
            <a:ext cx="9722815" cy="8229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Key Account không phải khách hàng lớn nhất, mà là khách hàng đáng và muốn cùng đầu tư.</a:t>
            </a:r>
            <a:endParaRPr lang="en-US" sz="1700" dirty="0"/>
          </a:p>
        </p:txBody>
      </p:sp>
      <p:sp>
        <p:nvSpPr>
          <p:cNvPr id="36" name="Shape 33"/>
          <p:cNvSpPr/>
          <p:nvPr/>
        </p:nvSpPr>
        <p:spPr>
          <a:xfrm>
            <a:off x="548640" y="4983480"/>
            <a:ext cx="11094415" cy="1005840"/>
          </a:xfrm>
          <a:prstGeom prst="roundRect">
            <a:avLst>
              <a:gd name="adj" fmla="val 10909"/>
            </a:avLst>
          </a:prstGeom>
          <a:solidFill>
            <a:srgbClr val="FFF3C4"/>
          </a:solidFill>
          <a:ln w="12700">
            <a:solidFill>
              <a:srgbClr val="FFD23B"/>
            </a:solidFill>
            <a:prstDash val="solid"/>
          </a:ln>
        </p:spPr>
      </p:sp>
      <p:sp>
        <p:nvSpPr>
          <p:cNvPr id="37" name="Text 34"/>
          <p:cNvSpPr txBox="1"/>
          <p:nvPr/>
        </p:nvSpPr>
        <p:spPr>
          <a:xfrm>
            <a:off x="868680" y="4983480"/>
            <a:ext cx="10454335" cy="10058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Stakeholder Management Plan: </a:t>
            </a:r>
            <a:pPr indent="0" marL="0">
              <a:buNone/>
            </a:pPr>
            <a:r>
              <a:rPr lang="en-US" sz="1500" dirty="0">
                <a:solidFill>
                  <a:srgbClr val="2A2238"/>
                </a:solidFill>
                <a:latin typeface="Alexandria" pitchFamily="34" charset="0"/>
                <a:ea typeface="Alexandria" pitchFamily="34" charset="-122"/>
                <a:cs typeface="Alexandria" pitchFamily="34" charset="-120"/>
              </a:rPr>
              <a:t>một đoạn — khách hàng của nhóm đạt ba tiêu chí đến đâu, vì sao chọn làm Key Account.</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Phiếu kiểm tra cuối giờ</a:t>
            </a:r>
            <a:endParaRPr lang="en-US" sz="2600" dirty="0"/>
          </a:p>
        </p:txBody>
      </p:sp>
      <p:sp>
        <p:nvSpPr>
          <p:cNvPr id="22" name="Text 20"/>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24</a:t>
            </a:r>
            <a:endParaRPr lang="en-US" sz="1000" dirty="0"/>
          </a:p>
        </p:txBody>
      </p:sp>
      <p:sp>
        <p:nvSpPr>
          <p:cNvPr id="24" name="Shape 21"/>
          <p:cNvSpPr/>
          <p:nvPr/>
        </p:nvSpPr>
        <p:spPr>
          <a:xfrm>
            <a:off x="548640" y="1828800"/>
            <a:ext cx="11094415" cy="1280160"/>
          </a:xfrm>
          <a:prstGeom prst="roundRect">
            <a:avLst>
              <a:gd name="adj" fmla="val 8571"/>
            </a:avLst>
          </a:prstGeom>
          <a:solidFill>
            <a:srgbClr val="FFFFFF"/>
          </a:solidFill>
          <a:ln w="12700">
            <a:solidFill>
              <a:srgbClr val="DCD7C8"/>
            </a:solidFill>
            <a:prstDash val="solid"/>
          </a:ln>
        </p:spPr>
      </p:sp>
      <p:sp>
        <p:nvSpPr>
          <p:cNvPr id="25" name="Shape 22"/>
          <p:cNvSpPr/>
          <p:nvPr/>
        </p:nvSpPr>
        <p:spPr>
          <a:xfrm>
            <a:off x="777240" y="2148840"/>
            <a:ext cx="640080" cy="640080"/>
          </a:xfrm>
          <a:prstGeom prst="ellipse">
            <a:avLst/>
          </a:prstGeom>
          <a:solidFill>
            <a:srgbClr val="962B7C"/>
          </a:solidFill>
          <a:ln w="12700">
            <a:solidFill>
              <a:srgbClr val="962B7C"/>
            </a:solidFill>
            <a:prstDash val="solid"/>
          </a:ln>
        </p:spPr>
      </p:sp>
      <p:sp>
        <p:nvSpPr>
          <p:cNvPr id="26" name="Text 23"/>
          <p:cNvSpPr txBox="1"/>
          <p:nvPr/>
        </p:nvSpPr>
        <p:spPr>
          <a:xfrm>
            <a:off x="777240" y="214884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1</a:t>
            </a:r>
            <a:endParaRPr lang="en-US" sz="2380" dirty="0"/>
          </a:p>
        </p:txBody>
      </p:sp>
      <p:sp>
        <p:nvSpPr>
          <p:cNvPr id="27" name="Text 24"/>
          <p:cNvSpPr txBox="1"/>
          <p:nvPr/>
        </p:nvSpPr>
        <p:spPr>
          <a:xfrm>
            <a:off x="1645920" y="1828800"/>
            <a:ext cx="9768535" cy="12801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Một điểm khác biệt giữa Sales và KAM, kèm ví dụ từ dự án sự kiện cũ của nhóm bạn.</a:t>
            </a:r>
            <a:endParaRPr lang="en-US" sz="1700" dirty="0"/>
          </a:p>
        </p:txBody>
      </p:sp>
      <p:sp>
        <p:nvSpPr>
          <p:cNvPr id="28" name="Shape 25"/>
          <p:cNvSpPr/>
          <p:nvPr/>
        </p:nvSpPr>
        <p:spPr>
          <a:xfrm>
            <a:off x="548640" y="3291840"/>
            <a:ext cx="11094415" cy="1280160"/>
          </a:xfrm>
          <a:prstGeom prst="roundRect">
            <a:avLst>
              <a:gd name="adj" fmla="val 8571"/>
            </a:avLst>
          </a:prstGeom>
          <a:solidFill>
            <a:srgbClr val="FFFFFF"/>
          </a:solidFill>
          <a:ln w="12700">
            <a:solidFill>
              <a:srgbClr val="DCD7C8"/>
            </a:solidFill>
            <a:prstDash val="solid"/>
          </a:ln>
        </p:spPr>
      </p:sp>
      <p:sp>
        <p:nvSpPr>
          <p:cNvPr id="29" name="Shape 26"/>
          <p:cNvSpPr/>
          <p:nvPr/>
        </p:nvSpPr>
        <p:spPr>
          <a:xfrm>
            <a:off x="777240" y="3611880"/>
            <a:ext cx="640080" cy="640080"/>
          </a:xfrm>
          <a:prstGeom prst="ellipse">
            <a:avLst/>
          </a:prstGeom>
          <a:solidFill>
            <a:srgbClr val="09A1E5"/>
          </a:solidFill>
          <a:ln w="12700">
            <a:solidFill>
              <a:srgbClr val="09A1E5"/>
            </a:solidFill>
            <a:prstDash val="solid"/>
          </a:ln>
        </p:spPr>
      </p:sp>
      <p:sp>
        <p:nvSpPr>
          <p:cNvPr id="30" name="Text 27"/>
          <p:cNvSpPr txBox="1"/>
          <p:nvPr/>
        </p:nvSpPr>
        <p:spPr>
          <a:xfrm>
            <a:off x="777240" y="361188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2</a:t>
            </a:r>
            <a:endParaRPr lang="en-US" sz="2380" dirty="0"/>
          </a:p>
        </p:txBody>
      </p:sp>
      <p:sp>
        <p:nvSpPr>
          <p:cNvPr id="31" name="Text 28"/>
          <p:cNvSpPr txBox="1"/>
          <p:nvPr/>
        </p:nvSpPr>
        <p:spPr>
          <a:xfrm>
            <a:off x="1645920" y="3291840"/>
            <a:ext cx="9768535" cy="12801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Khách hàng trong dự án cũ của nhóm đạt ba tiêu chí đến đâu? Tiêu chí nào yếu nhất?</a:t>
            </a:r>
            <a:endParaRPr lang="en-US" sz="1700" dirty="0"/>
          </a:p>
        </p:txBody>
      </p:sp>
      <p:sp>
        <p:nvSpPr>
          <p:cNvPr id="32" name="Shape 29"/>
          <p:cNvSpPr/>
          <p:nvPr/>
        </p:nvSpPr>
        <p:spPr>
          <a:xfrm>
            <a:off x="548640" y="4846320"/>
            <a:ext cx="11094415" cy="1188720"/>
          </a:xfrm>
          <a:prstGeom prst="roundRect">
            <a:avLst>
              <a:gd name="adj" fmla="val 9231"/>
            </a:avLst>
          </a:prstGeom>
          <a:solidFill>
            <a:srgbClr val="E1F3EE"/>
          </a:solidFill>
          <a:ln w="12700">
            <a:solidFill>
              <a:srgbClr val="49B296"/>
            </a:solidFill>
            <a:prstDash val="solid"/>
          </a:ln>
        </p:spPr>
      </p:sp>
      <p:sp>
        <p:nvSpPr>
          <p:cNvPr id="33" name="Text 30"/>
          <p:cNvSpPr txBox="1"/>
          <p:nvPr/>
        </p:nvSpPr>
        <p:spPr>
          <a:xfrm>
            <a:off x="822960" y="4846320"/>
            <a:ext cx="10545775" cy="11887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Buổi 3: </a:t>
            </a:r>
            <a:pPr indent="0" marL="0">
              <a:buNone/>
            </a:pPr>
            <a:r>
              <a:rPr lang="en-US" sz="1600" dirty="0">
                <a:solidFill>
                  <a:srgbClr val="2A2238"/>
                </a:solidFill>
                <a:latin typeface="Alexandria" pitchFamily="34" charset="0"/>
                <a:ea typeface="Alexandria" pitchFamily="34" charset="-122"/>
                <a:cs typeface="Alexandria" pitchFamily="34" charset="-120"/>
              </a:rPr>
              <a:t>đã chọn Key Account thì phải hiểu họ hơn chính họ — thế giới của khách hàng, hành trình của khách hàng, và ai thật sự quyết định.</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2.1 Sales vs KAM</a:t>
            </a:r>
            <a:endParaRPr lang="en-US" sz="1000" dirty="0"/>
          </a:p>
        </p:txBody>
      </p:sp>
      <p:sp>
        <p:nvSpPr>
          <p:cNvPr id="6" name="Shape 4"/>
          <p:cNvSpPr/>
          <p:nvPr/>
        </p:nvSpPr>
        <p:spPr>
          <a:xfrm>
            <a:off x="2990088" y="274320"/>
            <a:ext cx="1810512"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2.2 Chọn Key Account</a:t>
            </a:r>
            <a:endParaRPr lang="en-US" sz="1000" dirty="0"/>
          </a:p>
        </p:txBody>
      </p:sp>
      <p:sp>
        <p:nvSpPr>
          <p:cNvPr id="8" name="Shape 6"/>
          <p:cNvSpPr/>
          <p:nvPr/>
        </p:nvSpPr>
        <p:spPr>
          <a:xfrm>
            <a:off x="4910328" y="274320"/>
            <a:ext cx="111099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10328"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Đồng đầu tư</a:t>
            </a:r>
            <a:endParaRPr lang="en-US" sz="1000" dirty="0"/>
          </a:p>
        </p:txBody>
      </p:sp>
      <p:sp>
        <p:nvSpPr>
          <p:cNvPr id="10" name="Shape 8"/>
          <p:cNvSpPr/>
          <p:nvPr/>
        </p:nvSpPr>
        <p:spPr>
          <a:xfrm>
            <a:off x="6131052"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131052"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07533" cy="107533"/>
          </a:xfrm>
          <a:prstGeom prst="rect">
            <a:avLst/>
          </a:prstGeom>
          <a:solidFill>
            <a:srgbClr val="09A1E5">
              <a:alpha val="40000"/>
            </a:srgbClr>
          </a:solidFill>
          <a:ln w="12700">
            <a:solidFill>
              <a:srgbClr val="09A1E5"/>
            </a:solidFill>
            <a:prstDash val="solid"/>
          </a:ln>
        </p:spPr>
      </p:sp>
      <p:sp>
        <p:nvSpPr>
          <p:cNvPr id="13" name="Shape 11"/>
          <p:cNvSpPr/>
          <p:nvPr/>
        </p:nvSpPr>
        <p:spPr>
          <a:xfrm>
            <a:off x="11397264" y="219456"/>
            <a:ext cx="107533" cy="107533"/>
          </a:xfrm>
          <a:prstGeom prst="rect">
            <a:avLst/>
          </a:prstGeom>
          <a:solidFill>
            <a:srgbClr val="962B7C"/>
          </a:solidFill>
          <a:ln w="12700">
            <a:solidFill>
              <a:srgbClr val="962B7C"/>
            </a:solidFill>
            <a:prstDash val="solid"/>
          </a:ln>
        </p:spPr>
      </p:sp>
      <p:sp>
        <p:nvSpPr>
          <p:cNvPr id="14" name="Shape 12"/>
          <p:cNvSpPr/>
          <p:nvPr/>
        </p:nvSpPr>
        <p:spPr>
          <a:xfrm>
            <a:off x="11535522" y="219456"/>
            <a:ext cx="107533" cy="107533"/>
          </a:xfrm>
          <a:prstGeom prst="rect">
            <a:avLst/>
          </a:prstGeom>
          <a:solidFill>
            <a:srgbClr val="FF5178"/>
          </a:solidFill>
          <a:ln w="12700">
            <a:solidFill>
              <a:srgbClr val="FF5178"/>
            </a:solidFill>
            <a:prstDash val="solid"/>
          </a:ln>
        </p:spPr>
      </p:sp>
      <p:sp>
        <p:nvSpPr>
          <p:cNvPr id="15" name="Shape 13"/>
          <p:cNvSpPr/>
          <p:nvPr/>
        </p:nvSpPr>
        <p:spPr>
          <a:xfrm>
            <a:off x="11259007" y="357713"/>
            <a:ext cx="107533" cy="107533"/>
          </a:xfrm>
          <a:prstGeom prst="rect">
            <a:avLst/>
          </a:prstGeom>
          <a:solidFill>
            <a:srgbClr val="09A1E5">
              <a:alpha val="40000"/>
            </a:srgbClr>
          </a:solidFill>
          <a:ln w="12700">
            <a:solidFill>
              <a:srgbClr val="09A1E5"/>
            </a:solidFill>
            <a:prstDash val="solid"/>
          </a:ln>
        </p:spPr>
      </p:sp>
      <p:sp>
        <p:nvSpPr>
          <p:cNvPr id="16" name="Shape 14"/>
          <p:cNvSpPr/>
          <p:nvPr/>
        </p:nvSpPr>
        <p:spPr>
          <a:xfrm>
            <a:off x="11397264" y="357713"/>
            <a:ext cx="107533" cy="107533"/>
          </a:xfrm>
          <a:prstGeom prst="rect">
            <a:avLst/>
          </a:prstGeom>
          <a:solidFill>
            <a:srgbClr val="962B7C"/>
          </a:solidFill>
          <a:ln w="12700">
            <a:solidFill>
              <a:srgbClr val="962B7C"/>
            </a:solidFill>
            <a:prstDash val="solid"/>
          </a:ln>
        </p:spPr>
      </p:sp>
      <p:sp>
        <p:nvSpPr>
          <p:cNvPr id="17" name="Shape 15"/>
          <p:cNvSpPr/>
          <p:nvPr/>
        </p:nvSpPr>
        <p:spPr>
          <a:xfrm>
            <a:off x="11535522" y="357713"/>
            <a:ext cx="107533" cy="107533"/>
          </a:xfrm>
          <a:prstGeom prst="rect">
            <a:avLst/>
          </a:prstGeom>
          <a:solidFill>
            <a:srgbClr val="962B7C"/>
          </a:solidFill>
          <a:ln w="12700">
            <a:solidFill>
              <a:srgbClr val="962B7C"/>
            </a:solidFill>
            <a:prstDash val="solid"/>
          </a:ln>
        </p:spPr>
      </p:sp>
      <p:sp>
        <p:nvSpPr>
          <p:cNvPr id="18" name="Shape 16"/>
          <p:cNvSpPr/>
          <p:nvPr/>
        </p:nvSpPr>
        <p:spPr>
          <a:xfrm>
            <a:off x="11259007" y="495971"/>
            <a:ext cx="107533" cy="107533"/>
          </a:xfrm>
          <a:prstGeom prst="rect">
            <a:avLst/>
          </a:prstGeom>
          <a:solidFill>
            <a:srgbClr val="09A1E5">
              <a:alpha val="40000"/>
            </a:srgbClr>
          </a:solidFill>
          <a:ln w="12700">
            <a:solidFill>
              <a:srgbClr val="09A1E5"/>
            </a:solidFill>
            <a:prstDash val="solid"/>
          </a:ln>
        </p:spPr>
      </p:sp>
      <p:sp>
        <p:nvSpPr>
          <p:cNvPr id="19" name="Shape 17"/>
          <p:cNvSpPr/>
          <p:nvPr/>
        </p:nvSpPr>
        <p:spPr>
          <a:xfrm>
            <a:off x="11397264" y="495971"/>
            <a:ext cx="107533" cy="107533"/>
          </a:xfrm>
          <a:prstGeom prst="rect">
            <a:avLst/>
          </a:prstGeom>
          <a:solidFill>
            <a:srgbClr val="09A1E5">
              <a:alpha val="40000"/>
            </a:srgbClr>
          </a:solidFill>
          <a:ln w="12700">
            <a:solidFill>
              <a:srgbClr val="09A1E5"/>
            </a:solidFill>
            <a:prstDash val="solid"/>
          </a:ln>
        </p:spPr>
      </p:sp>
      <p:sp>
        <p:nvSpPr>
          <p:cNvPr id="20" name="Shape 18"/>
          <p:cNvSpPr/>
          <p:nvPr/>
        </p:nvSpPr>
        <p:spPr>
          <a:xfrm>
            <a:off x="11535522" y="495971"/>
            <a:ext cx="107533" cy="107533"/>
          </a:xfrm>
          <a:prstGeom prst="rect">
            <a:avLst/>
          </a:prstGeom>
          <a:solidFill>
            <a:srgbClr val="09A1E5">
              <a:alpha val="40000"/>
            </a:srgbClr>
          </a:solidFill>
          <a:ln w="12700">
            <a:solidFill>
              <a:srgbClr val="09A1E5"/>
            </a:solidFill>
            <a:prstDash val="solid"/>
          </a:ln>
        </p:spPr>
      </p:sp>
      <p:sp>
        <p:nvSpPr>
          <p:cNvPr id="21" name="Text 19"/>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a:t>
            </a:r>
            <a:endParaRPr lang="en-US" sz="2600" dirty="0"/>
          </a:p>
        </p:txBody>
      </p:sp>
      <p:sp>
        <p:nvSpPr>
          <p:cNvPr id="22" name="Text 20"/>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DOI/URL): buoi-02_tu-lieu-tong-hop.md, mục 6.</a:t>
            </a:r>
            <a:endParaRPr lang="en-US" sz="1000" dirty="0"/>
          </a:p>
        </p:txBody>
      </p:sp>
      <p:sp>
        <p:nvSpPr>
          <p:cNvPr id="23" name="Text 21"/>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2   25</a:t>
            </a:r>
            <a:endParaRPr lang="en-US" sz="1000" dirty="0"/>
          </a:p>
        </p:txBody>
      </p:sp>
      <p:sp>
        <p:nvSpPr>
          <p:cNvPr id="25" name="Text 22"/>
          <p:cNvSpPr txBox="1"/>
          <p:nvPr/>
        </p:nvSpPr>
        <p:spPr>
          <a:xfrm>
            <a:off x="548640" y="1783080"/>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B01</a:t>
            </a:r>
            <a:endParaRPr lang="en-US" sz="1200" dirty="0"/>
          </a:p>
        </p:txBody>
      </p:sp>
      <p:sp>
        <p:nvSpPr>
          <p:cNvPr id="26" name="Text 23"/>
          <p:cNvSpPr txBox="1"/>
          <p:nvPr/>
        </p:nvSpPr>
        <p:spPr>
          <a:xfrm>
            <a:off x="1234440" y="1783080"/>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Marcos, J., Davies, M., Guesalaga, R., &amp; Holt, S. (2018). Implementing key account management: Designing customer-centric processes for mutual growth. Kogan Page.</a:t>
            </a:r>
            <a:endParaRPr lang="en-US" sz="1200" dirty="0"/>
          </a:p>
        </p:txBody>
      </p:sp>
      <p:sp>
        <p:nvSpPr>
          <p:cNvPr id="27" name="Text 24"/>
          <p:cNvSpPr txBox="1"/>
          <p:nvPr/>
        </p:nvSpPr>
        <p:spPr>
          <a:xfrm>
            <a:off x="548640" y="2397034"/>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B02</a:t>
            </a:r>
            <a:endParaRPr lang="en-US" sz="1200" dirty="0"/>
          </a:p>
        </p:txBody>
      </p:sp>
      <p:sp>
        <p:nvSpPr>
          <p:cNvPr id="28" name="Text 25"/>
          <p:cNvSpPr txBox="1"/>
          <p:nvPr/>
        </p:nvSpPr>
        <p:spPr>
          <a:xfrm>
            <a:off x="1234440" y="2397034"/>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Millman, T., &amp; Wilson, K. (1995). From key account selling to key account management. Journal of Marketing Practice: Applied Marketing Science, 1(1), 9–21.</a:t>
            </a:r>
            <a:endParaRPr lang="en-US" sz="1200" dirty="0"/>
          </a:p>
        </p:txBody>
      </p:sp>
      <p:sp>
        <p:nvSpPr>
          <p:cNvPr id="29" name="Text 26"/>
          <p:cNvSpPr txBox="1"/>
          <p:nvPr/>
        </p:nvSpPr>
        <p:spPr>
          <a:xfrm>
            <a:off x="548640" y="3010989"/>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B03</a:t>
            </a:r>
            <a:endParaRPr lang="en-US" sz="1200" dirty="0"/>
          </a:p>
        </p:txBody>
      </p:sp>
      <p:sp>
        <p:nvSpPr>
          <p:cNvPr id="30" name="Text 27"/>
          <p:cNvSpPr txBox="1"/>
          <p:nvPr/>
        </p:nvSpPr>
        <p:spPr>
          <a:xfrm>
            <a:off x="1234440" y="3010989"/>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McDonald, M., Millman, T., &amp; Rogers, B. (1997). Key account management: Theory, practice and challenges. Journal of Marketing Management, 13(8), 737–757.</a:t>
            </a:r>
            <a:endParaRPr lang="en-US" sz="1200" dirty="0"/>
          </a:p>
        </p:txBody>
      </p:sp>
      <p:sp>
        <p:nvSpPr>
          <p:cNvPr id="31" name="Text 28"/>
          <p:cNvSpPr txBox="1"/>
          <p:nvPr/>
        </p:nvSpPr>
        <p:spPr>
          <a:xfrm>
            <a:off x="548640" y="3624943"/>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B04</a:t>
            </a:r>
            <a:endParaRPr lang="en-US" sz="1200" dirty="0"/>
          </a:p>
        </p:txBody>
      </p:sp>
      <p:sp>
        <p:nvSpPr>
          <p:cNvPr id="32" name="Text 29"/>
          <p:cNvSpPr txBox="1"/>
          <p:nvPr/>
        </p:nvSpPr>
        <p:spPr>
          <a:xfrm>
            <a:off x="1234440" y="3624943"/>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Homburg, C., Workman, J. P., Jr., &amp; Jensen, O. (2002). A configurational perspective on key account management. Journal of Marketing, 66(2), 38–60.</a:t>
            </a:r>
            <a:endParaRPr lang="en-US" sz="1200" dirty="0"/>
          </a:p>
        </p:txBody>
      </p:sp>
      <p:sp>
        <p:nvSpPr>
          <p:cNvPr id="33" name="Text 30"/>
          <p:cNvSpPr txBox="1"/>
          <p:nvPr/>
        </p:nvSpPr>
        <p:spPr>
          <a:xfrm>
            <a:off x="548640" y="4238897"/>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B05</a:t>
            </a:r>
            <a:endParaRPr lang="en-US" sz="1200" dirty="0"/>
          </a:p>
        </p:txBody>
      </p:sp>
      <p:sp>
        <p:nvSpPr>
          <p:cNvPr id="34" name="Text 31"/>
          <p:cNvSpPr txBox="1"/>
          <p:nvPr/>
        </p:nvSpPr>
        <p:spPr>
          <a:xfrm>
            <a:off x="1234440" y="4238897"/>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McDonald, M. (n.d.). Why many companies get key account management hopelessly wrong. Cranfield School of Management Executive Development Blog.</a:t>
            </a:r>
            <a:endParaRPr lang="en-US" sz="1200" dirty="0"/>
          </a:p>
        </p:txBody>
      </p:sp>
      <p:sp>
        <p:nvSpPr>
          <p:cNvPr id="35" name="Text 32"/>
          <p:cNvSpPr txBox="1"/>
          <p:nvPr/>
        </p:nvSpPr>
        <p:spPr>
          <a:xfrm>
            <a:off x="548640" y="4852851"/>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B07</a:t>
            </a:r>
            <a:endParaRPr lang="en-US" sz="1200" dirty="0"/>
          </a:p>
        </p:txBody>
      </p:sp>
      <p:sp>
        <p:nvSpPr>
          <p:cNvPr id="36" name="Text 33"/>
          <p:cNvSpPr txBox="1"/>
          <p:nvPr/>
        </p:nvSpPr>
        <p:spPr>
          <a:xfrm>
            <a:off x="1234440" y="4852851"/>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Guesalaga, R. (n.d.). Adopting key account management – Choose me and I will choose you. Cranfield School of Management Executive Development Blog.</a:t>
            </a:r>
            <a:endParaRPr lang="en-US" sz="1200" dirty="0"/>
          </a:p>
        </p:txBody>
      </p:sp>
      <p:sp>
        <p:nvSpPr>
          <p:cNvPr id="37" name="Text 34"/>
          <p:cNvSpPr txBox="1"/>
          <p:nvPr/>
        </p:nvSpPr>
        <p:spPr>
          <a:xfrm>
            <a:off x="548640" y="5466806"/>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B08</a:t>
            </a:r>
            <a:endParaRPr lang="en-US" sz="1200" dirty="0"/>
          </a:p>
        </p:txBody>
      </p:sp>
      <p:sp>
        <p:nvSpPr>
          <p:cNvPr id="38" name="Text 35"/>
          <p:cNvSpPr txBox="1"/>
          <p:nvPr/>
        </p:nvSpPr>
        <p:spPr>
          <a:xfrm>
            <a:off x="1234440" y="5466806"/>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Xem U08, U11 (Buổi 9): Znews (2025); Tuổi Trẻ Online (2025) — Techcombank và “Anh trai vượt ngàn chông gai”.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EVM1110E — Buổi 2: KAM Mindset &amp; Key Account Selection</dc:title>
  <dc:subject>Quản trị mối quan hệ trong tổ chức sự kiện</dc:subject>
  <dc:creator>PptxGenJS</dc:creator>
  <cp:lastModifiedBy>PptxGenJS</cp:lastModifiedBy>
  <cp:revision>1</cp:revision>
  <dcterms:created xsi:type="dcterms:W3CDTF">2026-10-03T04:45:31Z</dcterms:created>
  <dcterms:modified xsi:type="dcterms:W3CDTF">2026-10-03T04:45:31Z</dcterms:modified>
</cp:coreProperties>
</file>