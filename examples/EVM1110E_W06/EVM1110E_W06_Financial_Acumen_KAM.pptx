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 Buổi 6 — Nova tính giá trị của khách hàng với Nova và chi phí phục vụ, để quan hệ công bằng hai chiều.
Alt-text: ma trận biên lợi nhuận gộp × cost-to-serve với năm chấm tròn — năm khách hàng của Buổi 2, kích thước theo doanh thu.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 — Khởi động (5 phút). Chiếu: “Địa ốc Sông Xanh: doanh thu cho Nova 3,5 tỷ/năm. Ngân hàng An Phát: 2,3 tỷ/năm.”
Giơ tay: “Khách hàng nào đáng giá hơn với Nova?”
Chốt: “Doanh thu chỉ là một phần. Cần biết: lãi bao nhiêu, tốn bao nhiêu để phục vụ, và ở lại bao lâu. Hôm nay ta tính.”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Gupta et al. (2006): khi doanh thu đến từ quan hệ dài hạn, marketing nhằm tối đa hóa CLV và customer equity (tổng CLV của mọi khách hàng); CLV dùng để phân bổ nguồn lực cho thu hút, giữ chân, bán thêm.
Nối Buổi 2: chọn Key Account là quyết định phân bổ nguồn lực.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= lợi nhuận gộp − cost-to-serve riêng của khách hàng. Với An Phát: 2.300 × 18% = 414; 414 − 80 = 334 triệu.
Lỗi hay gặp ở Thực hành 1: dùng doanh thu thay cho m → hỏi “Nova giữ lại bao nhiêu sau khi trả nhà cung cấp và chi phí phục vụ?”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[VERIFY] Công thức là dạng đơn giản cho học tập. Berger &amp; Nasr (1998) trình bày nhiều mô hình CLV cho các trường hợp khác nhau; ta dùng dạng đơn giản nhất.
Năm 1 coi như chắc chắn (r^0 =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Tính cùng lớp từng dòng.
Hỏi: “Nếu r giảm còn 70%, CLV giảm nhiều hay ít?” — trả lời ở slide sau.
Alt-text: bảng năm dòng và biểu đồ cột giá trị hiện tại giảm dần qua năm năm.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85% → CLV ≈ 926 triệu; r = 70% → CLV ≈ 719 triệu: giảm khoảng 207 triệu (≈ 22%) chỉ vì tỷ lệ tái ký giảm 15 điểm.
Chốt: “Rất nhiều. Vì thế giữ chân — chất lượng quan hệ ở Buổi 4 — là tiền thật.”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Nối Buổi 4: trust, commitment, functional conflict → tỷ lệ tái ký → CLV.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phụ thuộc giả định (r, d, m) → ghi rõ giả định, thử độ nhạy.
CLV không đo được hết giá trị vô hình (uy tín, hồ sơ năng lực, học hỏi) — ghi bên cạnh, không bỏ.
→ Chuyển sang S3 — Thực hành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 — Thực hành 1 (20 phút): 3 · 10 · 7. Chia đôi nhóm: một nửa tính Sông Xanh, một nửa Bếp Việt.
Đáp án: Sông Xanh m = 100, CLV ≈ 138 triệu; Bếp Việt m = 178, CLV ≈ 416 triệu (r = 75%), ≈ 494 nếu r = 85%.
Quên chiết khấu → “1 đồng năm thứ 5 có bằng 1 đồng hôm nay?”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lao 8 phút. Ghi giờ quay lại lên slide/bảng.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Shapiro et al. (1987): lợi nhuận trên từng đơn hàng, từng khách hàng khác nhau rất lớn, nhiều khi quản lý không hiểu vì sao — vì giá thực nhận và chi phí phục vụ khác nhau.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Doanh nghiệp thường biết rõ chi phí làm ra sản phẩm nhưng ít biết chi phí phục vụ khách hàng; chi phí phục vụ phụ thuộc hành vi của khách hàng.
Nghiên cứu Kanthal của Kaplan (1989), theo dẫn lại: 20% khách hàng tạo 225% lợi nhuận, 10% khách hàng gây lỗ bằng 125% lợi nhuận — “whale curve”. Chưa kiểm chứng chéo.
Alt-text: đường cong cá voi — lợi nhuận tích lũy tăng lên 225% rồi giảm về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phí vốn do trả chậm nối Buổi 7 (Nova phải đặt cọc nhà cung cấp trước).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Sông Xanh trả sau 90 ngày trên 3.500 triệu, chi phí vốn 12%/năm → khoảng 3.500 × 12% × 90/365 ≈ 104 triệu/năm — chỉ riêng chi phí vốn.
So với lợi nhuận gộp của Sông Xanh: 350 triệu.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 họa quốc tế: khảo sát 273 lãnh đạo agency ở Mỹ: 97% gặp khách trả chậm; 57% mất 1.000–5.000 USD/tháng do scope creep.
Chưa kiểm chứng chéo; không phải event agency — dùng để minh họa, không suy rộng.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 trận của Shapiro et al. (1987) dùng hai trục giá thực nhận và chi phí phục vụ; Ang &amp; Taylor (2005) ghi nhận đây là mô hình đầu tiên gần với lợi nhuận khách hàng: khách chi phí phục vụ thấp mà trả giá cao là có lợi nhất.
Môn dùng biên lợi nhuận gộp thay cho giá thực nhận (quyết định của giảng viên).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Chiếu suốt S6. [VERIFY] tên bốn ô — mới có từ nguồn thứ cấp.
Alt-text: ma trận 2×2 — dọc biên lợi nhuận gộp, ngang cost-to-serve. Trên trái Passive, trên phải Carriage trade, dưới trái Bargain basement, dưới phải Aggressive.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tự đánh giá trong bài của McDonald. Cost-to-serve là điều kiện để value proposition bền vững; nối Buổi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ép khách: nhiều chi phí phục vụ giảm được khi cùng khách hàng thay đổi cách làm.
Nói: “Công bằng là cả hai cùng thấy quan hệ đáng giữ.”
→ Chuyển sang S6 — Thực hành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S6 — Thực hành 2 (30 phút): 3 · 5 · 8 · 8 · 6.
GV hỏi: “Khách hàng được gì từ đề xuất này?”
Xoay trạm: vòng 1 vai anh Đức (CEO Nova) — 🟨 câu hỏi về lợi nhuận của Nova; vòng 2 vai anh Khoa (ngân sách – mua sắm An Phát) — 🟥 lo ngại “đề xuất này có công bằng với khách hàng không?”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S7 — Tổng hợp (3 phút).
Liên hệ SMP: phần B. Value Opportunities — CLV và vị trí trên ma trận của khách hàng dự án cũ (số giả định ghi rõ). Đây cũng là nền cho câu hỏi “logic tài chính” ở Buổi 14–15.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S8 — cá nhân, không chấm điểm.
Cần xem: (a) hiểu CLV nhạy với tỷ lệ giữ chân (định hướng dài hạn); (b) đề xuất giảm chi phí cùng khách hàng, không chỉ tăng giá.
Câu nối Buổi 7: “Biết khách hàng đáng bao nhiêu và tốn bao nhiêu, ta mới đàm phán được. Buổi sau: hiểu phòng mua sắm của khách hàng, ma trận Kraljic, và đàm phán dựa trên giá trị.”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phụ lục — không chiếu khi dạy; để tra cứu mã nguồn ghi ở chân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1097280"/>
            <a:ext cx="1988820" cy="1897380"/>
          </a:xfrm>
          <a:prstGeom prst="rect">
            <a:avLst/>
          </a:prstGeom>
          <a:solidFill>
            <a:srgbClr val="E1F3EE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0" y="118872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Passive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69780" y="1097280"/>
            <a:ext cx="1988820" cy="1897380"/>
          </a:xfrm>
          <a:prstGeom prst="rect">
            <a:avLst/>
          </a:prstGeom>
          <a:solidFill>
            <a:srgbClr val="DDF1FB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06940" y="118872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Carriage trade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35240" y="3040380"/>
            <a:ext cx="1988820" cy="1897380"/>
          </a:xfrm>
          <a:prstGeom prst="rect">
            <a:avLst/>
          </a:prstGeom>
          <a:solidFill>
            <a:srgbClr val="F3F0E6"/>
          </a:solidFill>
          <a:ln w="12700">
            <a:solidFill>
              <a:srgbClr val="6E68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313182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Bargain basement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69780" y="3040380"/>
            <a:ext cx="1988820" cy="1897380"/>
          </a:xfrm>
          <a:prstGeom prst="rect">
            <a:avLst/>
          </a:prstGeom>
          <a:solidFill>
            <a:srgbClr val="FFE4EA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06940" y="3131820"/>
            <a:ext cx="1714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Aggressive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7498080" y="1097280"/>
            <a:ext cx="914" cy="3886200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 rot="16200000">
            <a:off x="5326380" y="29032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Biên lợi nhuận gộp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5120640"/>
            <a:ext cx="4069080" cy="914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635240" y="51480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Cost-to-serve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09917" y="2402259"/>
            <a:ext cx="499001" cy="499001"/>
          </a:xfrm>
          <a:prstGeom prst="ellipse">
            <a:avLst/>
          </a:prstGeom>
          <a:solidFill>
            <a:srgbClr val="962B7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0102" y="3368040"/>
            <a:ext cx="640080" cy="640080"/>
          </a:xfrm>
          <a:prstGeom prst="ellipse">
            <a:avLst/>
          </a:prstGeom>
          <a:solidFill>
            <a:srgbClr val="6E68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38183" y="1598241"/>
            <a:ext cx="369679" cy="369679"/>
          </a:xfrm>
          <a:prstGeom prst="ellipse">
            <a:avLst/>
          </a:prstGeom>
          <a:solidFill>
            <a:srgbClr val="09A1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8467" y="1831630"/>
            <a:ext cx="299139" cy="299139"/>
          </a:xfrm>
          <a:prstGeom prst="ellipse">
            <a:avLst/>
          </a:prstGeom>
          <a:solidFill>
            <a:srgbClr val="49B2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69384" y="2690731"/>
            <a:ext cx="440218" cy="440218"/>
          </a:xfrm>
          <a:prstGeom prst="ellipse">
            <a:avLst/>
          </a:prstGeom>
          <a:solidFill>
            <a:srgbClr val="FF925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91440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914400"/>
            <a:ext cx="2505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 ·  Buổi 6 / 15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Quản trị mối quan hệ trong tổ chức sự kiện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290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Financial Acumen in KAM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720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2 · Quản trị khách hàng trọng điểm — buổi 5/7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Khoa Marketing · UEF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Giảng viên: Đoàn Nguyễn Bảo Quyên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9259"/>
          </a:solidFill>
          <a:ln w="9525">
            <a:solidFill>
              <a:srgbClr val="FF9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 lớn nhất chưa chắc đáng giá nhất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Số liệu GIẢ ĐỊNH — dùng lại năm khách hàng của Buổi 2.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745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FE9DE"/>
          </a:solidFill>
          <a:ln w="19050">
            <a:solidFill>
              <a:srgbClr val="FF925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20116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22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Địa ốc Sông Xanh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251460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9622B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3,5 tỷ</a:t>
            </a:r>
            <a:endParaRPr lang="en-US" sz="5000" dirty="0"/>
          </a:p>
        </p:txBody>
      </p:sp>
      <p:sp>
        <p:nvSpPr>
          <p:cNvPr id="22" name="Shape 19"/>
          <p:cNvSpPr/>
          <p:nvPr/>
        </p:nvSpPr>
        <p:spPr>
          <a:xfrm>
            <a:off x="868680" y="3611880"/>
            <a:ext cx="4769968" cy="411480"/>
          </a:xfrm>
          <a:prstGeom prst="rect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02336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thu/năm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33008" y="18745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53048" y="201168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Ngân hàng An Phát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553048" y="251460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2,3 tỷ</a:t>
            </a:r>
            <a:endParaRPr lang="en-US" sz="5000" dirty="0"/>
          </a:p>
        </p:txBody>
      </p:sp>
      <p:sp>
        <p:nvSpPr>
          <p:cNvPr id="27" name="Shape 24"/>
          <p:cNvSpPr/>
          <p:nvPr/>
        </p:nvSpPr>
        <p:spPr>
          <a:xfrm>
            <a:off x="6553048" y="3611880"/>
            <a:ext cx="3148179" cy="411480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53048" y="402336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thu/năm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Khách hàng nào đáng giá hơn với Nova?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5257800"/>
            <a:ext cx="3515258" cy="64008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1792" y="5257800"/>
            <a:ext cx="3368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lãi bao nhiêu?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338218" y="5257800"/>
            <a:ext cx="3515258" cy="64008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11370" y="5257800"/>
            <a:ext cx="3368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tốn bao nhiêu để phục vụ?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127797" y="5257800"/>
            <a:ext cx="3515258" cy="640080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00949" y="5257800"/>
            <a:ext cx="3368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ở lại bao lâu?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giúp phân bổ nguồn lực cho quan hệ dài hạn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F01: Gupta et al. (2006), Journal of Service Research, 9(2), 139–155.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74520"/>
            <a:ext cx="5410048" cy="2194560"/>
          </a:xfrm>
          <a:prstGeom prst="roundRect">
            <a:avLst>
              <a:gd name="adj" fmla="val 5000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1874520"/>
            <a:ext cx="47699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lifetime value — giá trị trọn đời của một khách hàng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6233008" y="1874520"/>
            <a:ext cx="5410048" cy="2194560"/>
          </a:xfrm>
          <a:prstGeom prst="roundRect">
            <a:avLst>
              <a:gd name="adj" fmla="val 5000"/>
            </a:avLst>
          </a:prstGeom>
          <a:solidFill>
            <a:srgbClr val="DDF1FB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53048" y="1874520"/>
            <a:ext cx="47699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0A7FB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equity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CLV của mọi khách hàng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2976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dùng để phân bổ nguồn lực cho…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8640" y="4800600"/>
            <a:ext cx="3515258" cy="685800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4800600"/>
            <a:ext cx="3368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Thu hút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338218" y="4800600"/>
            <a:ext cx="3515258" cy="685800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11370" y="4800600"/>
            <a:ext cx="3368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Giữ chân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127797" y="4800600"/>
            <a:ext cx="3515258" cy="685800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00949" y="4800600"/>
            <a:ext cx="3368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Bán thêm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Nối Buổi 2: chọn Key Account là quyết định phân bổ nguồn lực.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tính trên đóng góp ròng, không trên doanh thu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 An Phát: GIẢ ĐỊNH.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20116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F3F0E6"/>
          </a:solidFill>
          <a:ln w="19050">
            <a:solidFill>
              <a:srgbClr val="6E68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21488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274320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2.300</a:t>
            </a:r>
            <a:endParaRPr lang="en-US" sz="38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6576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triệu/năm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90824" y="20116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DDF1FB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73704" y="21488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× biên gộp 18%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573704" y="274320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= 414</a:t>
            </a:r>
            <a:endParaRPr lang="en-US" sz="3800" dirty="0"/>
          </a:p>
        </p:txBody>
      </p:sp>
      <p:sp>
        <p:nvSpPr>
          <p:cNvPr id="26" name="Text 23"/>
          <p:cNvSpPr txBox="1"/>
          <p:nvPr/>
        </p:nvSpPr>
        <p:spPr>
          <a:xfrm>
            <a:off x="3573704" y="36576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triệu/năm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33008" y="20116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FFE4EA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15888" y="21488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− cost-to-serve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415888" y="274320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80</a:t>
            </a:r>
            <a:endParaRPr lang="en-US" sz="3800" dirty="0"/>
          </a:p>
        </p:txBody>
      </p:sp>
      <p:sp>
        <p:nvSpPr>
          <p:cNvPr id="30" name="Text 27"/>
          <p:cNvSpPr txBox="1"/>
          <p:nvPr/>
        </p:nvSpPr>
        <p:spPr>
          <a:xfrm>
            <a:off x="6415888" y="36576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triệu/năm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075191" y="2011680"/>
            <a:ext cx="2567864" cy="2286000"/>
          </a:xfrm>
          <a:prstGeom prst="roundRect">
            <a:avLst>
              <a:gd name="adj" fmla="val 4800"/>
            </a:avLst>
          </a:prstGeom>
          <a:solidFill>
            <a:srgbClr val="F1E1EE"/>
          </a:solidFill>
          <a:ln w="38100">
            <a:solidFill>
              <a:srgbClr val="962B7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58071" y="214884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 · đóng góp ròng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9258071" y="274320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= 334</a:t>
            </a:r>
            <a:endParaRPr lang="en-US" sz="3800" dirty="0"/>
          </a:p>
        </p:txBody>
      </p:sp>
      <p:sp>
        <p:nvSpPr>
          <p:cNvPr id="34" name="Text 31"/>
          <p:cNvSpPr txBox="1"/>
          <p:nvPr/>
        </p:nvSpPr>
        <p:spPr>
          <a:xfrm>
            <a:off x="9258071" y="36576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triệu/năm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466344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4400" y="4663440"/>
            <a:ext cx="10362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 = lợi nhuận gộp − cost-to-serve riêng của khách hàng</a:t>
            </a:r>
            <a:endParaRPr lang="en-US" sz="21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 không phải tiền Nova giữ lại.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Công thức đơn giản: đóng góp × tỷ lệ giữ chân, chiết khấu về hiện tại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Dạng học tập [VERIFY] · F02: Berger &amp; Nasr (1998) trình bày nhiều mô hình CLV.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7452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187452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≈ Σ</a:t>
            </a:r>
            <a:pPr algn="ctr" indent="0" marL="0">
              <a:buNone/>
            </a:pPr>
            <a:r>
              <a:rPr lang="en-US" sz="1600" b="1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 = 1…T</a:t>
            </a:r>
            <a:pPr algn="ctr" indent="0" marL="0">
              <a:buNone/>
            </a:pPr>
            <a:r>
              <a:rPr lang="en-US" sz="36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  m × r</a:t>
            </a:r>
            <a:pPr algn="ctr" indent="0" marL="0">
              <a:buNone/>
            </a:pPr>
            <a:r>
              <a:rPr lang="en-US" sz="3600" b="1" baseline="30000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(t − 1)</a:t>
            </a:r>
            <a:pPr algn="ctr" indent="0" marL="0">
              <a:buNone/>
            </a:pPr>
            <a:r>
              <a:rPr lang="en-US" sz="36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 /  (1 + d)</a:t>
            </a:r>
            <a:pPr algn="ctr" indent="0" marL="0">
              <a:buNone/>
            </a:pPr>
            <a:r>
              <a:rPr lang="en-US" sz="3600" b="1" baseline="30000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548640" y="361188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66812" y="3794760"/>
            <a:ext cx="731520" cy="73152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66812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46177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đóng góp ròng mỗi năm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5074920"/>
            <a:ext cx="2293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lợi nhuận gộp − cost-to-serve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390824" y="361188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08996" y="3794760"/>
            <a:ext cx="731520" cy="73152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308996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3527984" y="46177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tỷ lệ giữ chân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527984" y="5074920"/>
            <a:ext cx="2293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xác suất tái ký mỗi năm; năm 1 coi như chắc chắn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33008" y="361188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51180" y="3794760"/>
            <a:ext cx="731520" cy="73152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5118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6370168" y="46177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tỷ lệ chiết khấu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370168" y="5074920"/>
            <a:ext cx="2293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giá trị tiền theo thời gian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075191" y="3611880"/>
            <a:ext cx="256786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49B29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993363" y="3794760"/>
            <a:ext cx="731520" cy="73152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993363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</a:t>
            </a:r>
            <a:endParaRPr lang="en-US" sz="2400" dirty="0"/>
          </a:p>
        </p:txBody>
      </p:sp>
      <p:sp>
        <p:nvSpPr>
          <p:cNvPr id="39" name="Text 36"/>
          <p:cNvSpPr txBox="1"/>
          <p:nvPr/>
        </p:nvSpPr>
        <p:spPr>
          <a:xfrm>
            <a:off x="9212351" y="46177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số năm xem xét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9212351" y="5074920"/>
            <a:ext cx="2293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 5 năm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9814255" y="13258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887407" y="13258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[VERIFY]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5 năm của An Phát khoảng 926 triệu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 ĐỊNH: m = 334 triệu · r = 85% · d = 12% · T = 5. Tính cùng lớp.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783080"/>
            <a:ext cx="822960" cy="457200"/>
          </a:xfrm>
          <a:prstGeom prst="roundRect">
            <a:avLst>
              <a:gd name="adj" fmla="val 24000"/>
            </a:avLst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178308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463040" y="178308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627632" y="17830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Tính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754880" y="178308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19472" y="17830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Giá trị hiện tại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2350008"/>
            <a:ext cx="6309360" cy="530352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" y="2350008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627632" y="2350008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334 / 1,12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919472" y="2350008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298,2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" y="2935224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627632" y="2935224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334 × 0,85 / 1,12²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919472" y="2935224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226,3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48640" y="3520440"/>
            <a:ext cx="6309360" cy="530352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3232" y="3520440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627632" y="3520440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334 × 0,85² / 1,12³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4919472" y="3520440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171,8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13232" y="4105656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627632" y="4105656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334 × 0,85³ / 1,12⁴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4919472" y="4105656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130,4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48640" y="4690872"/>
            <a:ext cx="6309360" cy="530352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13232" y="469087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627632" y="4690872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334 × 0,85⁴ / 1,12⁵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919472" y="469087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98,9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48640" y="5321808"/>
            <a:ext cx="6309360" cy="685800"/>
          </a:xfrm>
          <a:prstGeom prst="roundRect">
            <a:avLst>
              <a:gd name="adj" fmla="val 16000"/>
            </a:avLst>
          </a:prstGeom>
          <a:solidFill>
            <a:srgbClr val="F1E1EE"/>
          </a:solidFill>
          <a:ln w="25400">
            <a:solidFill>
              <a:srgbClr val="962B7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31520" y="53218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5 năm  </a:t>
            </a:r>
            <a:pPr indent="0" marL="0">
              <a:buNone/>
            </a:pPr>
            <a:r>
              <a:rPr lang="en-US" sz="24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≈ 926 triệu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7589520" y="2215408"/>
            <a:ext cx="646115" cy="3453872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498080" y="1895368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298,2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7498080" y="5715000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 1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8418515" y="3048183"/>
            <a:ext cx="646115" cy="2621097"/>
          </a:xfrm>
          <a:prstGeom prst="rect">
            <a:avLst/>
          </a:prstGeom>
          <a:solidFill>
            <a:srgbClr val="962B7C">
              <a:alpha val="88000"/>
            </a:srgbClr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327075" y="2728143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226,3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8327075" y="5715000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 2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247510" y="3679424"/>
            <a:ext cx="646115" cy="1989856"/>
          </a:xfrm>
          <a:prstGeom prst="rect">
            <a:avLst/>
          </a:prstGeom>
          <a:solidFill>
            <a:srgbClr val="962B7C">
              <a:alpha val="76000"/>
            </a:srgbClr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156070" y="3359384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171,8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9156070" y="5715000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 3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076505" y="4158935"/>
            <a:ext cx="646115" cy="1510345"/>
          </a:xfrm>
          <a:prstGeom prst="rect">
            <a:avLst/>
          </a:prstGeom>
          <a:solidFill>
            <a:srgbClr val="962B7C">
              <a:alpha val="64000"/>
            </a:srgbClr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985065" y="3838895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130,4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9985065" y="5715000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 4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10905500" y="4523781"/>
            <a:ext cx="646115" cy="1145499"/>
          </a:xfrm>
          <a:prstGeom prst="rect">
            <a:avLst/>
          </a:prstGeom>
          <a:solidFill>
            <a:srgbClr val="962B7C">
              <a:alpha val="52000"/>
            </a:srgbClr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814060" y="4203741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98,9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0814060" y="5715000"/>
            <a:ext cx="828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Năm 5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498080" y="5669280"/>
            <a:ext cx="4144975" cy="914"/>
          </a:xfrm>
          <a:prstGeom prst="line">
            <a:avLst/>
          </a:prstGeom>
          <a:noFill/>
          <a:ln w="12700">
            <a:solidFill>
              <a:srgbClr val="6E687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814255" y="13258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887407" y="13258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 ĐỊNH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Tỷ lệ giữ chân thay đổi CLV rất mạnh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 ĐỊNH: m = 334 triệu · d = 12% · T = 5. Tính theo công thức slide trước.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74520"/>
            <a:ext cx="541004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 = 85%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849728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≈ 926 triệu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024128" y="2845613"/>
            <a:ext cx="716250" cy="1817827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2571293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298,2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959834" y="3283915"/>
            <a:ext cx="716250" cy="1379525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850106" y="3009595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226,3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895539" y="3616147"/>
            <a:ext cx="716250" cy="1047293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85811" y="3341827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171,8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831245" y="3868522"/>
            <a:ext cx="716250" cy="794918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21517" y="3594202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130,4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66950" y="4060546"/>
            <a:ext cx="716250" cy="602894"/>
          </a:xfrm>
          <a:prstGeom prst="rect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57222" y="3786226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98,9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14400" y="4663440"/>
            <a:ext cx="4678528" cy="914"/>
          </a:xfrm>
          <a:prstGeom prst="line">
            <a:avLst/>
          </a:prstGeom>
          <a:noFill/>
          <a:ln w="12700">
            <a:solidFill>
              <a:srgbClr val="6E687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33008" y="1874520"/>
            <a:ext cx="541004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53048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1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 = 70%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8534095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≈ 719 triệu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6708496" y="2845613"/>
            <a:ext cx="716250" cy="1817827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98768" y="2571293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298,2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644201" y="3527146"/>
            <a:ext cx="716250" cy="113629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534473" y="3252826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186,4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579907" y="3953256"/>
            <a:ext cx="716250" cy="710184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70179" y="3678936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116,5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515612" y="4219651"/>
            <a:ext cx="716250" cy="443789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405884" y="3945331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72,8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451318" y="4386072"/>
            <a:ext cx="716250" cy="277368"/>
          </a:xfrm>
          <a:prstGeom prst="rect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341590" y="4111752"/>
            <a:ext cx="935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45,5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598768" y="4663440"/>
            <a:ext cx="4678528" cy="914"/>
          </a:xfrm>
          <a:prstGeom prst="line">
            <a:avLst/>
          </a:prstGeom>
          <a:noFill/>
          <a:ln w="12700">
            <a:solidFill>
              <a:srgbClr val="6E687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8640" y="525780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68680" y="525780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Giữ chân giảm 15 điểm → CLV giảm ≈ 207 triệu (≈ 22%).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Quan hệ tốt là tiền thật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8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2194560"/>
            <a:ext cx="3332378" cy="2377440"/>
          </a:xfrm>
          <a:prstGeom prst="roundRect">
            <a:avLst>
              <a:gd name="adj" fmla="val 4615"/>
            </a:avLst>
          </a:prstGeom>
          <a:solidFill>
            <a:srgbClr val="F1E1EE"/>
          </a:solidFill>
          <a:ln w="25400">
            <a:solidFill>
              <a:srgbClr val="962B7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2194560"/>
            <a:ext cx="27837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Chất lượng quan hệ</a:t>
            </a:r>
            <a:endParaRPr lang="en-US" sz="2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trust · commitment · functional conflict (Buổi 4)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3954170" y="3383280"/>
            <a:ext cx="402336" cy="914"/>
          </a:xfrm>
          <a:prstGeom prst="line">
            <a:avLst/>
          </a:prstGeom>
          <a:noFill/>
          <a:ln w="38100">
            <a:solidFill>
              <a:srgbClr val="2A2238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429658" y="2194560"/>
            <a:ext cx="3332378" cy="2377440"/>
          </a:xfrm>
          <a:prstGeom prst="roundRect">
            <a:avLst>
              <a:gd name="adj" fmla="val 4615"/>
            </a:avLst>
          </a:prstGeom>
          <a:solidFill>
            <a:srgbClr val="FFE4EA"/>
          </a:solidFill>
          <a:ln w="25400">
            <a:solidFill>
              <a:srgbClr val="FF517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03978" y="2194560"/>
            <a:ext cx="27837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Tỷ lệ tái ký r</a:t>
            </a:r>
            <a:endParaRPr lang="en-US" sz="2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khách hàng ở lại năm sau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7835189" y="3383280"/>
            <a:ext cx="402336" cy="914"/>
          </a:xfrm>
          <a:prstGeom prst="line">
            <a:avLst/>
          </a:prstGeom>
          <a:noFill/>
          <a:ln w="38100">
            <a:solidFill>
              <a:srgbClr val="2A2238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310677" y="2194560"/>
            <a:ext cx="3332378" cy="2377440"/>
          </a:xfrm>
          <a:prstGeom prst="roundRect">
            <a:avLst>
              <a:gd name="adj" fmla="val 4615"/>
            </a:avLst>
          </a:prstGeom>
          <a:solidFill>
            <a:srgbClr val="FFF3C4"/>
          </a:solidFill>
          <a:ln w="25400">
            <a:solidFill>
              <a:srgbClr val="FFD23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84997" y="2194560"/>
            <a:ext cx="278373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</a:t>
            </a:r>
            <a:endParaRPr lang="en-US" sz="2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giá trị của khách hàng với Nova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029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Đầu tư vào quan hệ không phải chi phí “mềm” — nó hiện ra trong CLV.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là ước lượng theo giả định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874520"/>
            <a:ext cx="5410048" cy="4114800"/>
          </a:xfrm>
          <a:prstGeom prst="roundRect">
            <a:avLst>
              <a:gd name="adj" fmla="val 2667"/>
            </a:avLst>
          </a:prstGeom>
          <a:solidFill>
            <a:srgbClr val="DDF1FB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20116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Phụ thuộc giả định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2697480"/>
            <a:ext cx="47699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Ghi rõ r, d, m đã dùng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Thử độ nhạy: r thay đổi thì sao?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Nói CLV kèm giả định — không phải con số chính xác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33008" y="1874520"/>
            <a:ext cx="5410048" cy="4114800"/>
          </a:xfrm>
          <a:prstGeom prst="roundRect">
            <a:avLst>
              <a:gd name="adj" fmla="val 2667"/>
            </a:avLst>
          </a:prstGeom>
          <a:solidFill>
            <a:srgbClr val="E1F3EE"/>
          </a:solidFill>
          <a:ln w="19050">
            <a:solidFill>
              <a:srgbClr val="49B29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53048" y="20116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đo hết giá trị vô hình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553048" y="2697480"/>
            <a:ext cx="47699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Uy tín, thương hiệu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Hồ sơ năng lực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Học hỏi mảng mới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→ ghi bên cạnh, không bỏ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962B7C"/>
          </a:solidFill>
          <a:ln w="9525">
            <a:solidFill>
              <a:srgbClr val="962B7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Thực hành 1 · Tính CLV của Sông Xanh và Bếp Việt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Phiếu W06_activity_S3_tinh_clv.md · Số liệu GIẢ ĐỊNH (khách hàng Buổi 2).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91840" y="178308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56432" y="17830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Sông Xanh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669280" y="178308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33872" y="17830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Bếp Việt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2350008"/>
            <a:ext cx="7406640" cy="502920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3232" y="2350008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thu/năm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456432" y="235000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3.500 triệu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833872" y="2350008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1.800 triệu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" y="2907792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Biên lợi nhuận gộp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456432" y="290779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10%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33872" y="2907792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16%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3465576"/>
            <a:ext cx="7406640" cy="502920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13232" y="3465576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Cost-to-serve riêng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3456432" y="3465576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250 triệu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833872" y="3465576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110 triệu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" y="402336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Tỷ lệ tái ký r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3456432" y="402336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40%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33872" y="402336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75%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48640" y="4709160"/>
            <a:ext cx="7406640" cy="1280160"/>
          </a:xfrm>
          <a:prstGeom prst="roundRect">
            <a:avLst>
              <a:gd name="adj" fmla="val 8571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47091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 = 12% · T = 5 năm · </a:t>
            </a:r>
            <a:pPr indent="0" marL="0">
              <a:buNone/>
            </a:pPr>
            <a:r>
              <a:rPr lang="en-US" sz="13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Sông Xanh: CTS gồm chi phí vốn trả sau 90 ngày ~104, đấu thầu lại ~60, phát sinh ~86. Bếp Việt: thí điểm, học mảng mới.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229600" y="2057400"/>
            <a:ext cx="731520" cy="73152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296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3’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144000" y="1783080"/>
            <a:ext cx="2499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Tính m cho hai khách hàng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29600" y="3474720"/>
            <a:ext cx="731520" cy="73152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960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10’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3200400"/>
            <a:ext cx="2499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Nửa nhóm tính CLV 5 năm Sông Xanh, nửa kia Bếp Việt (bảng 5 dòng)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229600" y="4892040"/>
            <a:ext cx="731520" cy="73152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2960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7’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9144000" y="4617720"/>
            <a:ext cx="24990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Nếu Bếp Việt r = 85%? + 2 câu so sánh ba khách hàng cho anh Đức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8229600" y="5623560"/>
            <a:ext cx="3413455" cy="384048"/>
          </a:xfrm>
          <a:prstGeom prst="roundRect">
            <a:avLst>
              <a:gd name="adj" fmla="val 50000"/>
            </a:avLst>
          </a:prstGeom>
          <a:solidFill>
            <a:srgbClr val="F1E1EE"/>
          </a:solidFill>
          <a:ln w="12700">
            <a:solidFill>
              <a:srgbClr val="F1E1E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302752" y="5623560"/>
            <a:ext cx="32671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So với An Phát: CLV ≈ 926 triệu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554480"/>
            <a:ext cx="548640" cy="54864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17720" y="1554480"/>
            <a:ext cx="548640" cy="548640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554480"/>
            <a:ext cx="548640" cy="54864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554480"/>
            <a:ext cx="548640" cy="54864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1554480"/>
            <a:ext cx="548640" cy="54864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Giải lao 8 phút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Quay lại lúc  ____ : ____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9525">
            <a:solidFill>
              <a:srgbClr val="09A1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số cao không có nghĩa lợi nhuận cao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F03: Shapiro, Rangan, Moriarty &amp; Ross (1987), Harvard Business Review, 65(5).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7452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DDF1FB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18745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0A7FB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“Manage customers for profits (not just sales)”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520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Lợi nhuận từng khách hàng khác nhau rất lớn — vì hai thứ khác nhau: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5410048" cy="1828800"/>
          </a:xfrm>
          <a:prstGeom prst="roundRect">
            <a:avLst>
              <a:gd name="adj" fmla="val 6000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160520"/>
            <a:ext cx="476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Giá thực nhận</a:t>
            </a:r>
            <a:endParaRPr lang="en-US" sz="2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sau chiết khấu, đàm phán, phát sinh không tính tiền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6233008" y="4160520"/>
            <a:ext cx="5410048" cy="1828800"/>
          </a:xfrm>
          <a:prstGeom prst="roundRect">
            <a:avLst>
              <a:gd name="adj" fmla="val 6000"/>
            </a:avLst>
          </a:prstGeom>
          <a:solidFill>
            <a:srgbClr val="FFE4EA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53048" y="4160520"/>
            <a:ext cx="47699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 phí phục vụ</a:t>
            </a:r>
            <a:endParaRPr lang="en-US" sz="2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cost-to-serve — khác nhau theo từng khách hàng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9525">
            <a:solidFill>
              <a:srgbClr val="09A1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 phí phục vụ phụ thuộc hành vi khách hàng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F05: Guerreiro, Bio &amp; Merschmann (n.d.), dẫn Kaplan &amp; Narayanan (2001); Kaplan (1989) theo dẫn lại — chưa kiểm chứng chéo.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899855" y="13258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73007" y="132588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CHƯA KIỂM CHỨNG CHÉO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97280" y="5577840"/>
            <a:ext cx="6217920" cy="914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1097280" y="2103120"/>
            <a:ext cx="914" cy="3474720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1097280" y="56235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% khách hàng (xếp theo lợi nhuận) →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 flipV="1">
            <a:off x="1097280" y="3383280"/>
            <a:ext cx="621792" cy="2194560"/>
          </a:xfrm>
          <a:prstGeom prst="line">
            <a:avLst/>
          </a:prstGeom>
          <a:noFill/>
          <a:ln w="50800">
            <a:solidFill>
              <a:srgbClr val="962B7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1719072" y="2286000"/>
            <a:ext cx="621792" cy="1097280"/>
          </a:xfrm>
          <a:prstGeom prst="line">
            <a:avLst/>
          </a:prstGeom>
          <a:noFill/>
          <a:ln w="50800">
            <a:solidFill>
              <a:srgbClr val="962B7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40864" y="2286000"/>
            <a:ext cx="1243584" cy="146304"/>
          </a:xfrm>
          <a:prstGeom prst="line">
            <a:avLst/>
          </a:prstGeom>
          <a:noFill/>
          <a:ln w="50800">
            <a:solidFill>
              <a:srgbClr val="962B7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84448" y="2432304"/>
            <a:ext cx="1243584" cy="292608"/>
          </a:xfrm>
          <a:prstGeom prst="line">
            <a:avLst/>
          </a:prstGeom>
          <a:noFill/>
          <a:ln w="50800">
            <a:solidFill>
              <a:srgbClr val="962B7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28032" y="2724912"/>
            <a:ext cx="1243584" cy="438912"/>
          </a:xfrm>
          <a:prstGeom prst="line">
            <a:avLst/>
          </a:prstGeom>
          <a:noFill/>
          <a:ln w="50800">
            <a:solidFill>
              <a:srgbClr val="962B7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71616" y="3163824"/>
            <a:ext cx="621792" cy="292608"/>
          </a:xfrm>
          <a:prstGeom prst="line">
            <a:avLst/>
          </a:prstGeom>
          <a:noFill/>
          <a:ln w="50800">
            <a:solidFill>
              <a:srgbClr val="962B7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93408" y="3456432"/>
            <a:ext cx="621792" cy="658368"/>
          </a:xfrm>
          <a:prstGeom prst="line">
            <a:avLst/>
          </a:prstGeom>
          <a:noFill/>
          <a:ln w="50800">
            <a:solidFill>
              <a:srgbClr val="962B7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97280" y="4114800"/>
            <a:ext cx="6217920" cy="914"/>
          </a:xfrm>
          <a:prstGeom prst="line">
            <a:avLst/>
          </a:prstGeom>
          <a:noFill/>
          <a:ln w="12700">
            <a:solidFill>
              <a:srgbClr val="DCD7C8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411480" y="3977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100%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883664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225%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772400" y="1874520"/>
            <a:ext cx="3870655" cy="1417320"/>
          </a:xfrm>
          <a:prstGeom prst="roundRect">
            <a:avLst>
              <a:gd name="adj" fmla="val 7742"/>
            </a:avLst>
          </a:prstGeom>
          <a:solidFill>
            <a:srgbClr val="E1F3EE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46720" y="1874520"/>
            <a:ext cx="3322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20% khách hàng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tạo 225% lợi nhuận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7772400" y="3474720"/>
            <a:ext cx="3870655" cy="1417320"/>
          </a:xfrm>
          <a:prstGeom prst="roundRect">
            <a:avLst>
              <a:gd name="adj" fmla="val 7742"/>
            </a:avLst>
          </a:prstGeom>
          <a:solidFill>
            <a:srgbClr val="FFE4EA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46720" y="3474720"/>
            <a:ext cx="3322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10% khách hàng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gây lỗ bằng 125% lợi nhuận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0" y="5074920"/>
            <a:ext cx="3870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“whale curve” — Kaplan (1989), nghiên cứu Kanthal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9525">
            <a:solidFill>
              <a:srgbClr val="09A1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Agency có sáu loại chi phí phục vụ ẩn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Nhận định của người soạn.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2880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20116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Giờ đội KAM, họp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27432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số buổi họp, số người tham gia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338218" y="182880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DDF1FB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66818" y="2057400"/>
            <a:ext cx="548640" cy="54864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681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252618" y="20116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Sửa concept nhiều vòng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66818" y="27432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vòng hay 6 vòng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127797" y="182880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E9DE"/>
          </a:solidFill>
          <a:ln w="19050">
            <a:solidFill>
              <a:srgbClr val="FF925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56397" y="2057400"/>
            <a:ext cx="548640" cy="548640"/>
          </a:xfrm>
          <a:prstGeom prst="ellipse">
            <a:avLst/>
          </a:prstGeom>
          <a:solidFill>
            <a:srgbClr val="FF9259"/>
          </a:solidFill>
          <a:ln w="12700">
            <a:solidFill>
              <a:srgbClr val="FF925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6397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042197" y="20116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Scope creep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356397" y="274320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phát sinh ngoài phạm vi không tính tiền — thêm hạng mục sát ngày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393192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FE4EA"/>
          </a:solidFill>
          <a:ln w="38100">
            <a:solidFill>
              <a:srgbClr val="FF517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11480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 phí vốn do trả chậm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" y="48463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trả sau 90 ngày, Nova phải đặt cọc nhà cung cấp trước (Buổi 7)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338218" y="393192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E1F3EE"/>
          </a:solidFill>
          <a:ln w="19050">
            <a:solidFill>
              <a:srgbClr val="49B29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6681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252618" y="411480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Đấu thầu lại mỗi năm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4566818" y="48463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làm đề xuất, pitch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127797" y="3931920"/>
            <a:ext cx="3515258" cy="1920240"/>
          </a:xfrm>
          <a:prstGeom prst="roundRect">
            <a:avLst>
              <a:gd name="adj" fmla="val 5714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356397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9042197" y="411480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Nhân sự cấp cao phải có mặt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8356397" y="4846320"/>
            <a:ext cx="3058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CEO, trưởng bộ phận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9525">
            <a:solidFill>
              <a:srgbClr val="09A1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Trả chậm 90 ngày tốn khoảng 104 triệu chi phí vốn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Tính nhanh GIẢ ĐỊNH: chi phí vốn 12%/năm.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201168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925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2194560"/>
            <a:ext cx="2293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3.500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33756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triệu doanh thu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390824" y="201168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27984" y="2194560"/>
            <a:ext cx="2293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× 12%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3527984" y="333756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chi phí vốn/năm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233008" y="201168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70168" y="2194560"/>
            <a:ext cx="2293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× 90/365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6370168" y="333756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số ngày chờ tiền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075191" y="201168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FE4EA"/>
          </a:solidFill>
          <a:ln w="38100">
            <a:solidFill>
              <a:srgbClr val="FF517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12351" y="2194560"/>
            <a:ext cx="2293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3A6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≈ 104</a:t>
            </a:r>
            <a:endParaRPr lang="en-US" sz="4000" dirty="0"/>
          </a:p>
        </p:txBody>
      </p:sp>
      <p:sp>
        <p:nvSpPr>
          <p:cNvPr id="30" name="Text 27"/>
          <p:cNvSpPr txBox="1"/>
          <p:nvPr/>
        </p:nvSpPr>
        <p:spPr>
          <a:xfrm>
            <a:off x="9212351" y="333756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triệu/năm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48640" y="4572000"/>
            <a:ext cx="11094415" cy="1417320"/>
          </a:xfrm>
          <a:prstGeom prst="roundRect">
            <a:avLst>
              <a:gd name="adj" fmla="val 7742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572000"/>
            <a:ext cx="103628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Chỉ riêng chi phí vốn </a:t>
            </a:r>
            <a:pPr algn="ctr" indent="0" marL="0">
              <a:buNone/>
            </a:pPr>
            <a:r>
              <a:rPr lang="en-US" sz="2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≈ 104 triệu</a:t>
            </a:r>
            <a:pPr algn="ctr" indent="0" marL="0">
              <a:buNone/>
            </a:pPr>
            <a:r>
              <a:rPr lang="en-US" sz="21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— gần 1/3 lợi nhuận gộp 350 triệu của Sông Xanh.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09A1E5"/>
          </a:solidFill>
          <a:ln w="9525">
            <a:solidFill>
              <a:srgbClr val="09A1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Agency khắp nơi gặp trả chậm và phát sinh ngoài phạm vi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F07 → S19 (Buổi 7): The Drum (22/5/2025). Chưa kiểm chứng chéo; agency marketing ở Mỹ, không phải event agency.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78308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178308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MINH HỌA QUỐC TẾ · CHƯA KIỂM CHỨNG CHÉO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331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Khảo sát 273 lãnh đạo agency ở Mỹ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2971800"/>
            <a:ext cx="5410048" cy="3017520"/>
          </a:xfrm>
          <a:prstGeom prst="roundRect">
            <a:avLst>
              <a:gd name="adj" fmla="val 3636"/>
            </a:avLst>
          </a:prstGeom>
          <a:solidFill>
            <a:srgbClr val="FFE4EA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3200400"/>
            <a:ext cx="476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03A62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97%</a:t>
            </a:r>
            <a:endParaRPr lang="en-US" sz="80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470916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gặp khách hàng trả chậm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6233008" y="2971800"/>
            <a:ext cx="5410048" cy="3017520"/>
          </a:xfrm>
          <a:prstGeom prst="roundRect">
            <a:avLst>
              <a:gd name="adj" fmla="val 3636"/>
            </a:avLst>
          </a:prstGeom>
          <a:solidFill>
            <a:srgbClr val="DDF1FB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53048" y="3200400"/>
            <a:ext cx="476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A7FB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57%</a:t>
            </a:r>
            <a:endParaRPr lang="en-US" sz="8000" dirty="0"/>
          </a:p>
        </p:txBody>
      </p:sp>
      <p:sp>
        <p:nvSpPr>
          <p:cNvPr id="27" name="Text 24"/>
          <p:cNvSpPr txBox="1"/>
          <p:nvPr/>
        </p:nvSpPr>
        <p:spPr>
          <a:xfrm>
            <a:off x="6553048" y="470916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mất 1.000–5.000 USD/tháng do scope creep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9525">
            <a:solidFill>
              <a:srgbClr val="FF51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đặt khách hàng theo biên lợi nhuận và chi phí phục vụ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F03: Shapiro et al. (1987) · F04: Ang &amp; Taylor (2005). Trục dọc biên lợi nhuận gộp: biến thể của môn.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74520"/>
            <a:ext cx="5410048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7C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1874520"/>
            <a:ext cx="47699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Shapiro et al. (1987)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trục dọc: giá thực nhận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trục ngang: chi phí phục vụ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33008" y="1874520"/>
            <a:ext cx="5410048" cy="2194560"/>
          </a:xfrm>
          <a:prstGeom prst="roundRect">
            <a:avLst>
              <a:gd name="adj" fmla="val 5000"/>
            </a:avLst>
          </a:prstGeom>
          <a:solidFill>
            <a:srgbClr val="FFE4EA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53048" y="1874520"/>
            <a:ext cx="47699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Biến thể của môn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trục dọc: biên lợi nhuận gộp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trục ngang: cost-to-serve / doanh thu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6667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Ang &amp; Taylor (2005): </a:t>
            </a:r>
            <a:pPr indent="0" marL="0">
              <a:buNone/>
            </a:pPr>
            <a:r>
              <a:rPr lang="en-US" sz="19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mô hình đầu tiên gần với lợi nhuận khách hàng — khách chi phí phục vụ thấp mà trả giá cao là có lợi nhất.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9525">
            <a:solidFill>
              <a:srgbClr val="FF51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Bốn ô, bốn hướng hành động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Tên ô theo nguồn thứ cấp [VERIFY]; hướng hành động: nhận định của người soạn.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18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60120" y="1828800"/>
            <a:ext cx="3406140" cy="1920240"/>
          </a:xfrm>
          <a:prstGeom prst="rect">
            <a:avLst/>
          </a:prstGeom>
          <a:solidFill>
            <a:srgbClr val="E1F3EE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7280" y="1920240"/>
            <a:ext cx="31318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Passive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giữ gìn, đầu tư quan hệ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411980" y="1828800"/>
            <a:ext cx="3406140" cy="1920240"/>
          </a:xfrm>
          <a:prstGeom prst="rect">
            <a:avLst/>
          </a:prstGeom>
          <a:solidFill>
            <a:srgbClr val="DDF1FB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49140" y="1920240"/>
            <a:ext cx="31318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Carriage trade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kiểm soát chi phí phục vụ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60120" y="3794760"/>
            <a:ext cx="3406140" cy="1920240"/>
          </a:xfrm>
          <a:prstGeom prst="rect">
            <a:avLst/>
          </a:prstGeom>
          <a:solidFill>
            <a:srgbClr val="F3F0E6"/>
          </a:solidFill>
          <a:ln w="12700">
            <a:solidFill>
              <a:srgbClr val="6E687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97280" y="3886200"/>
            <a:ext cx="31318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Bargain basement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phục vụ chuẩn hóa, hiệu quả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411980" y="3794760"/>
            <a:ext cx="3406140" cy="1920240"/>
          </a:xfrm>
          <a:prstGeom prst="rect">
            <a:avLst/>
          </a:prstGeom>
          <a:solidFill>
            <a:srgbClr val="FFE4EA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49140" y="3886200"/>
            <a:ext cx="31318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Aggressive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cùng khách giảm chi phí / điều chỉnh phạm vi, giá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 flipV="1">
            <a:off x="822960" y="1828800"/>
            <a:ext cx="914" cy="3931920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 rot="16200000">
            <a:off x="-13716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Biên lợi nhuận gộp →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60120" y="5897880"/>
            <a:ext cx="6903720" cy="914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960120" y="5925312"/>
            <a:ext cx="690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Cost-to-serve →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0" y="1828800"/>
            <a:ext cx="3413455" cy="182880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58200" y="1828800"/>
            <a:ext cx="29562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Ngưỡng ở Thực hành 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biên gộp 15% · cost-to-serve / doanh thu 5%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229600" y="3886200"/>
            <a:ext cx="3413455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D7C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458200" y="3886200"/>
            <a:ext cx="295625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cho thấy </a:t>
            </a:r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vì sao</a:t>
            </a:r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một khách hàng lời hay lỗ — không chỉ </a:t>
            </a:r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</a:t>
            </a:r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631375" y="13258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704527" y="13258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[VERIFY] tên ô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9525">
            <a:solidFill>
              <a:srgbClr val="FF51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Không bán lỗ cho khách hàng nào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F06: McDonald — câu trong bảng tự đánh giá (Z05, E04).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19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920240"/>
            <a:ext cx="11094415" cy="2560320"/>
          </a:xfrm>
          <a:prstGeom prst="roundRect">
            <a:avLst>
              <a:gd name="adj" fmla="val 4286"/>
            </a:avLst>
          </a:prstGeom>
          <a:solidFill>
            <a:srgbClr val="FFE4EA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192024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600" b="1" i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“We do not sell unprofitably to any customer. We analyze our cost-to-serve customer figures to be sure of this.”</a:t>
            </a:r>
            <a:endParaRPr lang="en-US" sz="2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— McDonald, bảng tự đánh giá KAM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4754880"/>
            <a:ext cx="10362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Value proposition chỉ bền vững khi chính agency cũng có lãi — nối Buổi 13.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9525">
            <a:solidFill>
              <a:srgbClr val="FF51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Nhưng giảm chi phí phục vụ cùng khách hàng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Nhận định của người soạn — “bilateral benefits and fair relationships”.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20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828800"/>
            <a:ext cx="5410048" cy="1325880"/>
          </a:xfrm>
          <a:prstGeom prst="roundRect">
            <a:avLst>
              <a:gd name="adj" fmla="val 8276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1828800"/>
            <a:ext cx="476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Lịch duyệt rõ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ít vòng sửa concept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33008" y="1828800"/>
            <a:ext cx="5410048" cy="1325880"/>
          </a:xfrm>
          <a:prstGeom prst="roundRect">
            <a:avLst>
              <a:gd name="adj" fmla="val 8276"/>
            </a:avLst>
          </a:prstGeom>
          <a:solidFill>
            <a:srgbClr val="DDF1FB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53048" y="1828800"/>
            <a:ext cx="476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Gộp sự kiện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một gói năm thay vì từng lần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3337560"/>
            <a:ext cx="5410048" cy="1325880"/>
          </a:xfrm>
          <a:prstGeom prst="roundRect">
            <a:avLst>
              <a:gd name="adj" fmla="val 8276"/>
            </a:avLst>
          </a:prstGeom>
          <a:solidFill>
            <a:srgbClr val="FFE4EA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3337560"/>
            <a:ext cx="476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Thanh toán theo tiến độ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ví dụ cọc 30% – 40% – 30%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233008" y="3337560"/>
            <a:ext cx="5410048" cy="1325880"/>
          </a:xfrm>
          <a:prstGeom prst="roundRect">
            <a:avLst>
              <a:gd name="adj" fmla="val 8276"/>
            </a:avLst>
          </a:prstGeom>
          <a:solidFill>
            <a:srgbClr val="E1F3EE"/>
          </a:solidFill>
          <a:ln w="19050">
            <a:solidFill>
              <a:srgbClr val="49B29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53048" y="3337560"/>
            <a:ext cx="476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Phạm vi viết rõ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giảm scope creep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98348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Công bằng là cả hai cùng thấy quan hệ đáng giữ.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F5178"/>
          </a:solidFill>
          <a:ln w="9525">
            <a:solidFill>
              <a:srgbClr val="FF51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Thực hành 2 · Ma trận năm khách hàng của Nova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Phiếu W06_activity_S6_ma_tran_cost_to_serve.md · Số liệu GIẢ ĐỊNH.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21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178308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17830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Khách hàng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377440" y="1783080"/>
            <a:ext cx="1280160" cy="411480"/>
          </a:xfrm>
          <a:prstGeom prst="roundRect">
            <a:avLst>
              <a:gd name="adj" fmla="val 26667"/>
            </a:avLst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42032" y="178308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thu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749040" y="1783080"/>
            <a:ext cx="777240" cy="411480"/>
          </a:xfrm>
          <a:prstGeom prst="roundRect">
            <a:avLst>
              <a:gd name="adj" fmla="val 26667"/>
            </a:avLst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13632" y="1783080"/>
            <a:ext cx="448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Biên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617720" y="1783080"/>
            <a:ext cx="777240" cy="411480"/>
          </a:xfrm>
          <a:prstGeom prst="roundRect">
            <a:avLst>
              <a:gd name="adj" fmla="val 26667"/>
            </a:avLst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82312" y="1783080"/>
            <a:ext cx="448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CTS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0" y="1783080"/>
            <a:ext cx="1005840" cy="411480"/>
          </a:xfrm>
          <a:prstGeom prst="roundRect">
            <a:avLst>
              <a:gd name="adj" fmla="val 26667"/>
            </a:avLst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50992" y="1783080"/>
            <a:ext cx="676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CTS/DT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583680" y="178308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48272" y="17830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Hành vi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48640" y="2304288"/>
            <a:ext cx="7955280" cy="457200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3232" y="230428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 Phát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2542032" y="2304288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2.300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913632" y="2304288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18%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782312" y="2304288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80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650992" y="2304288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3,5%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748272" y="230428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đúng hạn; 2 vòng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13232" y="281635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Sông Xanh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2542032" y="2816352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3.500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3913632" y="2816352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10%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4782312" y="2816352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250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650992" y="2816352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7,1%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748272" y="281635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trả 90 ngày; thầu lại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8640" y="3328416"/>
            <a:ext cx="7955280" cy="457200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13232" y="3328416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MediPharm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2542032" y="3328416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1.200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3913632" y="3328416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28%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4782312" y="3328416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120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650992" y="3328416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10,0%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6748272" y="332841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duyệt pháp chế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713232" y="38404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Bright Future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2542032" y="3840480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600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3913632" y="3840480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20%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4782312" y="3840480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20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5650992" y="384048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3,3%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6748272" y="38404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đơn giản, lặp lại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48640" y="4352544"/>
            <a:ext cx="7955280" cy="457200"/>
          </a:xfrm>
          <a:prstGeom prst="rect">
            <a:avLst/>
          </a:prstGeom>
          <a:solidFill>
            <a:srgbClr val="F3F0E6"/>
          </a:solidFill>
          <a:ln w="12700">
            <a:solidFill>
              <a:srgbClr val="F3F0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13232" y="4352544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Bếp Việt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2542032" y="4352544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1.800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3913632" y="4352544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16%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4782312" y="4352544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110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5650992" y="435254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6,1%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6748272" y="435254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thí điểm mảng mới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4892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Ngưỡng: biên 15% · CTS/doanh thu 5% · đơn vị triệu/năm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8778240" y="1920240"/>
            <a:ext cx="685800" cy="68580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7782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5’</a:t>
            </a:r>
            <a:endParaRPr lang="en-US" sz="1500" dirty="0"/>
          </a:p>
        </p:txBody>
      </p:sp>
      <p:sp>
        <p:nvSpPr>
          <p:cNvPr id="67" name="Text 64"/>
          <p:cNvSpPr txBox="1"/>
          <p:nvPr/>
        </p:nvSpPr>
        <p:spPr>
          <a:xfrm>
            <a:off x="9601200" y="1783080"/>
            <a:ext cx="2041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Đặt 5 khách hàng lên ma trận; chấm to theo doanh thu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8778240" y="2999232"/>
            <a:ext cx="685800" cy="68580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8778240" y="2999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8’</a:t>
            </a:r>
            <a:endParaRPr lang="en-US" sz="1500" dirty="0"/>
          </a:p>
        </p:txBody>
      </p:sp>
      <p:sp>
        <p:nvSpPr>
          <p:cNvPr id="70" name="Text 67"/>
          <p:cNvSpPr txBox="1"/>
          <p:nvPr/>
        </p:nvSpPr>
        <p:spPr>
          <a:xfrm>
            <a:off x="9601200" y="2862072"/>
            <a:ext cx="2041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 khách ô bất lợi → 1 hành động bàn cùng khách: Nova được gì · khách được gì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8778240" y="4078224"/>
            <a:ext cx="685800" cy="68580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8778240" y="40782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2×4’</a:t>
            </a:r>
            <a:endParaRPr lang="en-US" sz="1200" dirty="0"/>
          </a:p>
        </p:txBody>
      </p:sp>
      <p:sp>
        <p:nvSpPr>
          <p:cNvPr id="73" name="Text 70"/>
          <p:cNvSpPr txBox="1"/>
          <p:nvPr/>
        </p:nvSpPr>
        <p:spPr>
          <a:xfrm>
            <a:off x="9601200" y="3941064"/>
            <a:ext cx="2041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Xoay trạm: 🟨 anh Đức (CEO Nova) · 🟥 anh Khoa (An Phát)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8778240" y="5157216"/>
            <a:ext cx="685800" cy="685800"/>
          </a:xfrm>
          <a:prstGeom prst="ellipse">
            <a:avLst/>
          </a:prstGeom>
          <a:solidFill>
            <a:srgbClr val="49B296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8778240" y="5157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6’</a:t>
            </a:r>
            <a:endParaRPr lang="en-US" sz="1500" dirty="0"/>
          </a:p>
        </p:txBody>
      </p:sp>
      <p:sp>
        <p:nvSpPr>
          <p:cNvPr id="76" name="Text 73"/>
          <p:cNvSpPr txBox="1"/>
          <p:nvPr/>
        </p:nvSpPr>
        <p:spPr>
          <a:xfrm>
            <a:off x="9601200" y="5020056"/>
            <a:ext cx="2041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Về bàn, sửa một hành động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9525">
            <a:solidFill>
              <a:srgbClr val="49B2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 ý của Buổi 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22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82880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F1E1EE"/>
          </a:solidFill>
          <a:ln w="19050">
            <a:solidFill>
              <a:srgbClr val="962B7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1897380"/>
            <a:ext cx="685800" cy="68580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18973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691640" y="1828800"/>
            <a:ext cx="972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CLV = giá trị hiện tại của đóng góp ròng trong nhiều năm; rất nhạy với tỷ lệ giữ chân → quan hệ là tiền thật.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283464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DDF1FB"/>
          </a:solidFill>
          <a:ln w="19050">
            <a:solidFill>
              <a:srgbClr val="09A1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2903220"/>
            <a:ext cx="685800" cy="68580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29032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691640" y="2834640"/>
            <a:ext cx="972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Doanh số ≠ lợi nhuận; cost-to-serve phụ thuộc hành vi khách hàng; agency có nhiều chi phí ẩn.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48640" y="384048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FFE4EA"/>
          </a:solidFill>
          <a:ln w="19050">
            <a:solidFill>
              <a:srgbClr val="FF517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909060"/>
            <a:ext cx="685800" cy="685800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F517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9090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3840480"/>
            <a:ext cx="9722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biên lợi nhuận gộp × cost-to-serve giúp chọn hành động; mục tiêu là quan hệ có lợi cho cả hai.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FFF3C4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" y="498348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Stakeholder Management Plan: </a:t>
            </a:r>
            <a:pPr indent="0" marL="0">
              <a:buNone/>
            </a:pPr>
            <a:r>
              <a:rPr lang="en-US" sz="15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phần B. Value Opportunities — CLV và vị trí trên ma trận (số giả định ghi rõ); nền cho “logic tài chính” ở Buổi 14–15.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9525">
            <a:solidFill>
              <a:srgbClr val="49B2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Phiếu kiểm tra cuối giờ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23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182880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D7C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962B7C"/>
          </a:solidFill>
          <a:ln w="12700">
            <a:solidFill>
              <a:srgbClr val="962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38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1828800"/>
            <a:ext cx="9768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Nếu tỷ lệ tái ký của An Phát giảm từ 85% xuống 70%, CLV thay đổi thế nào? Vì sao?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329184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D7C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09A1E5"/>
          </a:solidFill>
          <a:ln w="12700">
            <a:solidFill>
              <a:srgbClr val="09A1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38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3291840"/>
            <a:ext cx="9768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Hai thành phần cost-to-serve lớn nhất với khách hàng trong dự án cũ của nhóm là gì? Có cách nào cùng khách hàng giảm chúng?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48640" y="48463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E1F3EE"/>
          </a:solidFill>
          <a:ln w="12700">
            <a:solidFill>
              <a:srgbClr val="49B29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84632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Buổi 7: </a:t>
            </a:r>
            <a:pPr indent="0" marL="0">
              <a:buNone/>
            </a:pPr>
            <a:r>
              <a:rPr lang="en-US" sz="16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biết khách hàng đáng bao nhiêu và tốn bao nhiêu, ta mới đàm phán được — phòng mua sắm của khách hàng, ma trận Kraljic, và đàm phán dựa trên giá trị.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Mở đầu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80744" y="274320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80744" y="274320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6.1 CLV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90572" y="27432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90572" y="274320"/>
            <a:ext cx="1577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6.2 Cost-to-serve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"/>
            <a:ext cx="1732788" cy="292608"/>
          </a:xfrm>
          <a:prstGeom prst="roundRect">
            <a:avLst>
              <a:gd name="adj" fmla="val 50000"/>
            </a:avLst>
          </a:prstGeom>
          <a:solidFill>
            <a:srgbClr val="FBFAF4"/>
          </a:solidFill>
          <a:ln w="9525">
            <a:solidFill>
              <a:srgbClr val="DCD7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74320"/>
            <a:ext cx="1732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 trận · công bằng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20156" y="274320"/>
            <a:ext cx="877824" cy="292608"/>
          </a:xfrm>
          <a:prstGeom prst="roundRect">
            <a:avLst>
              <a:gd name="adj" fmla="val 50000"/>
            </a:avLst>
          </a:prstGeom>
          <a:solidFill>
            <a:srgbClr val="49B296"/>
          </a:solidFill>
          <a:ln w="9525">
            <a:solidFill>
              <a:srgbClr val="49B2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20156" y="2743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Tổng kết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259007" y="219456"/>
            <a:ext cx="314919" cy="314919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8136" y="288585"/>
            <a:ext cx="176662" cy="17666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2A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9436" y="449885"/>
            <a:ext cx="153619" cy="153619"/>
          </a:xfrm>
          <a:prstGeom prst="ellipse">
            <a:avLst/>
          </a:prstGeom>
          <a:solidFill>
            <a:srgbClr val="FF5178"/>
          </a:solidFill>
          <a:ln w="12700">
            <a:solidFill>
              <a:srgbClr val="FBFA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77724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Tài liệu tham khảo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Danh mục APA 7 đầy đủ (kèm DOI/URL): buoi-06_tu-lieu-tong-hop.md, mục 6.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6355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EVM1110E · Buổi 6   24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1783080"/>
            <a:ext cx="64008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1783080"/>
            <a:ext cx="10408615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Gupta, S., Hanssens, D., Hardie, B., Kahn, W., Kumar, V., Lin, N., Ravishanker, N., &amp; Sriram, S. (2006). Modeling customer lifetime value. Journal of Service Research, 9(2), 139–155. [VERIFY: đủ tác giả]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397034"/>
            <a:ext cx="64008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2397034"/>
            <a:ext cx="10408615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Berger, P. D., &amp; Nasr, N. I. (1998). Customer lifetime value: Marketing models and applications. Journal of Interactive Marketing, 12(1), 17–30.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010989"/>
            <a:ext cx="64008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3010989"/>
            <a:ext cx="10408615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Shapiro, B. P., Rangan, V. K., Moriarty, R. T., &amp; Ross, E. B. (1987). Manage customers for profits (not just sales). Harvard Business Review, 65(5), 101–108.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624943"/>
            <a:ext cx="64008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624943"/>
            <a:ext cx="10408615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Ang, L., &amp; Taylor, B. (2005). Managing customer profitability using portfolio matrices. Journal of Database Marketing &amp; Customer Strategy Management, 12(4), 298–304.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238897"/>
            <a:ext cx="64008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4238897"/>
            <a:ext cx="10408615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Guerreiro, R., Bio, S. R., &amp; Merschmann, E. V. V. (n.d.). Cost-to-serve measurement and customer profitability analysis: A case study at a food industry in Brazil [Bài hội thảo]. Intercostos.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4852851"/>
            <a:ext cx="64008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852851"/>
            <a:ext cx="10408615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Xem B01 (Marcos et al., 2018) và McDonald (Z05, E04) — câu “We do not sell unprofitably to any customer.”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466806"/>
            <a:ext cx="640080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2B7C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F07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234440" y="5466806"/>
            <a:ext cx="10408615" cy="5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23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Drum. (2025, May 22). Cash flow crunch: US agencies struggle to grow as late payments and scope creep bite.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EVM1110E — Buổi 6: Financial Acumen in KAM</dc:title>
  <dc:subject>Quản trị mối quan hệ trong tổ chức sự kiện</dc:subject>
  <dc:creator>PptxGenJS</dc:creator>
  <cp:lastModifiedBy>PptxGenJS</cp:lastModifiedBy>
  <cp:revision>1</cp:revision>
  <dcterms:created xsi:type="dcterms:W3CDTF">2026-10-03T04:58:57Z</dcterms:created>
  <dcterms:modified xsi:type="dcterms:W3CDTF">2026-10-03T04:58:57Z</dcterms:modified>
</cp:coreProperties>
</file>