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Buổi 3 — nhìn thế giới bằng mắt của Key Account.
Alt-text: ba vòng tròn đồng tâm (PESTEL, đối thủ, nội bộ An Phát) và một dòng thời gian ba giai đoạn trước–trong–sau.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Chiếu: “Năm 2026, Ngân hàng Nhà nước định hướng tín dụng toàn hệ thống tăng khoảng 15% và kiểm soát chặt tín dụng bất động sản (VnEconomy, 11/1/2026).”
Giơ tay: “Nova là agency sự kiện. Nova có cần biết điều này không?”
Chốt: “Có — vì An Phát cần biết. Khi tín dụng bị giới hạn, ngân hàng phải giữ khách doanh nghiệp tốt bằng cách khác. Đó có thể chính là lý do An Phát cần một chương trình khách hàng. Hôm nay: nhìn thế giới bằng mắt của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Cranfield KAM Forum, bước đầu của kế hoạch Key Account là Stage A — phân tích thế giới của khách hàng.
Góc nhìn của buổi: Nova phân tích thế giới của Key Account (An Phát), không phải thị trường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công cụ của Stage A, qua “wheel of customer understanding” (Dr Sue Holt).
Lời khuyên: nghiên cứu tương xứng với tầm quan trọng của khách hàng; thiếu thông tin thì đặt giả định và ghi rõ; xác nhận lại với khách hàng.
Alt-text: ba ô — PESTEL, phân tích đối thủ, phân tích nội bộ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rõ dòng nào là giả định. Chỉ dòng P (tín dụng ~15%, siết BĐS) là dữ kiện thật.
[VERIFY: văn bản hiện hành về bảo vệ dữ liệu khách hàng] — dòng L. Bán bảo hiểm qua ngân hàng nối Buổi 9 (U13).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dữ kiện đến hàm ý: tín dụng bị giới hạn → cạnh tranh giữ khách doanh nghiệp tốt bằng dịch vụ và quan hệ → An Phát cần sự kiện tạo giá trị thật cho khách doanh nghiệp, không chỉ tiệc.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thủ = ngân hàng khác đang giành khách doanh nghiệp VIP của An Phát (không phải agency khác của Nova).
Nội bộ = chiến lược, mục tiêu, cơ cấu, người ra quyết định của An Phát (→ phần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lầm: “PESTEL là để phân tích thị trường sự kiện” → trong KAM, phân tích ngành và đối thủ của khách hàng.
“Không có số liệu thì bỏ qua” → đặt giả định, ghi rõ, kiểm chứng sau (C01).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7 · 8 · 5, GV chốt trong đoạn.
Lời mở đầu: “Tám thẻ về thế giới của An Phát — một thẻ thật, bảy thẻ giả định. Xếp chúng, rồi trả lời: năm tới An Phát cần gì? Nova chỉ có ích khi giúp được điều đó.”
Nếu nhóm viết “An Phát cần một gala hoành tráng” → hỏi: “Đó là giải pháp của Nova. Nhu cầu kinh doanh của An Phát là gì?”
[VERIFY: văn bản hiện hành] cho thẻ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Lemon &amp; Verhoef (2016): prepurchase – purchase – postpurchase. Đây là nguồn gốc học thuật trực tiếp của ba giai đoạn trong đề cương.
Nhấn: hành trình bắt đầu trước ngày sự kiện và kéo dài sau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suốt S6 (Thực hành 2). Ký hiệu B · P · C · S dùng trên bản đồ hành trình.
Trích: “Partners can include marketing agencies…” — Nova chính là partner-owned.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1 dùng ở Buổi 3, 5, 9, 11. Lớp 2 dùng ở Buổi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Alt-text: dòng thời gian sáu điểm chạm qua ba giai đoạn, mỗi điểm ghi loại B/P/C/S.
Hỏi: “Nova làm nhiều điểm chạm nhưng khách thấy đó là của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“Của An Phát. Nova làm cho thương hiệu An Phát tỏa sáng.”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Webster &amp; Wind (1972): hành vi mua của tổ chức là quá trình ra quyết định của tổ chức. Bài này thường được dẫn cho khái niệm buying center / DMU.
[VERIFY: danh sách vai trò trong toàn văn — mới đọc tóm tắt]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thẻ nhân vật dùng tiếp trong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đây là định nghĩa làm việc của môn; nguồn gốc GRASP trong đề cương chưa tìm được bản công khai. [NEEDS PROFESSOR INPUT]
Chiếu suốt 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Chị Hạnh: đầu mối chính, quyền lực cao — nhưng không phải người phê duyệt cuối (→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lầm: “Người liên hệ nhiều nhất là người quyết định” → chị Hạnh liên hệ nhiều nhất, nhưng ông Tuấn phê duyệt, anh Khoa có thể chặn ở khâu mua sắm.
“Chỉ cần làm hài lòng người quyết định” → người dùng (chị Lan — livestream) và người gác cổng cũng ảnh hưởng.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(33 phút): 3 · 12 · 7 · 8 · 3. Chỉ slide bốn loại điểm chạm và slide GRASP.
Nếu hành trình chỉ có ngày gala → hỏi: “Khách quyết định có đến từ khi nào? Sau gala khách còn gặp An Phát ở đâu?”
Nếu Power của chị Hạnh cao nhất → “Ai ký phê duyệt cuối? Ai có thể chặn ở khâu mua sắm?”
State để trống với chị Vy → “Chưa biết” cũng là một trạng thái — và là rủi 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SMP: đây là phần A. Value Insights (Buổi 13) cho khách hàng từ dự án cũ.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Cần xem: (a) PESTEL là của khách hàng, không của agency; (b) phân biệt người liên hệ nhiều nhất với người quyết định.
Câu nối Buổi 4: “Hiểu khách hàng rồi, làm sao biết quan hệ với họ đang tốt hay xấu? Buổi sau: đo chất lượng quan hệ — niềm tin, cam kết, và xung đột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543800" y="594360"/>
            <a:ext cx="3840480" cy="3840480"/>
          </a:xfrm>
          <a:prstGeom prst="ellipse">
            <a:avLst/>
          </a:prstGeom>
          <a:solidFill>
            <a:srgbClr val="DDF1FB"/>
          </a:solidFill>
          <a:ln w="19050">
            <a:solidFill>
              <a:srgbClr val="09A1E5"/>
            </a:solidFill>
            <a:prstDash val="solid"/>
          </a:ln>
        </p:spPr>
      </p:sp>
      <p:sp>
        <p:nvSpPr>
          <p:cNvPr id="3" name="Shape 1"/>
          <p:cNvSpPr/>
          <p:nvPr/>
        </p:nvSpPr>
        <p:spPr>
          <a:xfrm>
            <a:off x="8138160" y="1188720"/>
            <a:ext cx="2651760" cy="2651760"/>
          </a:xfrm>
          <a:prstGeom prst="ellipse">
            <a:avLst/>
          </a:prstGeom>
          <a:solidFill>
            <a:srgbClr val="FFE4EA"/>
          </a:solidFill>
          <a:ln w="19050">
            <a:solidFill>
              <a:srgbClr val="FF5178"/>
            </a:solidFill>
            <a:prstDash val="solid"/>
          </a:ln>
        </p:spPr>
      </p:sp>
      <p:sp>
        <p:nvSpPr>
          <p:cNvPr id="4" name="Shape 2"/>
          <p:cNvSpPr/>
          <p:nvPr/>
        </p:nvSpPr>
        <p:spPr>
          <a:xfrm>
            <a:off x="8732520" y="1783080"/>
            <a:ext cx="1463040" cy="1463040"/>
          </a:xfrm>
          <a:prstGeom prst="ellipse">
            <a:avLst/>
          </a:prstGeom>
          <a:solidFill>
            <a:srgbClr val="F1E1EE"/>
          </a:solidFill>
          <a:ln w="19050">
            <a:solidFill>
              <a:srgbClr val="962B7C"/>
            </a:solidFill>
            <a:prstDash val="solid"/>
          </a:ln>
        </p:spPr>
      </p:sp>
      <p:sp>
        <p:nvSpPr>
          <p:cNvPr id="5" name="Text 3"/>
          <p:cNvSpPr txBox="1"/>
          <p:nvPr/>
        </p:nvSpPr>
        <p:spPr>
          <a:xfrm>
            <a:off x="8549640" y="731520"/>
            <a:ext cx="1828800" cy="320040"/>
          </a:xfrm>
          <a:prstGeom prst="rect">
            <a:avLst/>
          </a:prstGeom>
          <a:noFill/>
          <a:ln/>
        </p:spPr>
        <p:txBody>
          <a:bodyPr wrap="square" lIns="0" tIns="0" rIns="0" bIns="0" rtlCol="0" anchor="ctr"/>
          <a:lstStyle/>
          <a:p>
            <a:pPr algn="ctr" indent="0" marL="0">
              <a:buNone/>
            </a:pPr>
            <a:r>
              <a:rPr lang="en-US" sz="1200" b="1" dirty="0">
                <a:solidFill>
                  <a:srgbClr val="0A7FB5"/>
                </a:solidFill>
                <a:latin typeface="Alexandria" pitchFamily="34" charset="0"/>
                <a:ea typeface="Alexandria" pitchFamily="34" charset="-122"/>
                <a:cs typeface="Alexandria" pitchFamily="34" charset="-120"/>
              </a:rPr>
              <a:t>PESTEL</a:t>
            </a:r>
            <a:endParaRPr lang="en-US" sz="1200" dirty="0"/>
          </a:p>
        </p:txBody>
      </p:sp>
      <p:sp>
        <p:nvSpPr>
          <p:cNvPr id="6" name="Text 4"/>
          <p:cNvSpPr txBox="1"/>
          <p:nvPr/>
        </p:nvSpPr>
        <p:spPr>
          <a:xfrm>
            <a:off x="8549640" y="1307592"/>
            <a:ext cx="1828800" cy="320040"/>
          </a:xfrm>
          <a:prstGeom prst="rect">
            <a:avLst/>
          </a:prstGeom>
          <a:noFill/>
          <a:ln/>
        </p:spPr>
        <p:txBody>
          <a:bodyPr wrap="square" lIns="0" tIns="0" rIns="0" bIns="0" rtlCol="0" anchor="ctr"/>
          <a:lstStyle/>
          <a:p>
            <a:pPr algn="ctr" indent="0" marL="0">
              <a:buNone/>
            </a:pPr>
            <a:r>
              <a:rPr lang="en-US" sz="1200" b="1" dirty="0">
                <a:solidFill>
                  <a:srgbClr val="E03A62"/>
                </a:solidFill>
                <a:latin typeface="Alexandria" pitchFamily="34" charset="0"/>
                <a:ea typeface="Alexandria" pitchFamily="34" charset="-122"/>
                <a:cs typeface="Alexandria" pitchFamily="34" charset="-120"/>
              </a:rPr>
              <a:t>Đối thủ</a:t>
            </a:r>
            <a:endParaRPr lang="en-US" sz="1200" dirty="0"/>
          </a:p>
        </p:txBody>
      </p:sp>
      <p:sp>
        <p:nvSpPr>
          <p:cNvPr id="7" name="Text 5"/>
          <p:cNvSpPr txBox="1"/>
          <p:nvPr/>
        </p:nvSpPr>
        <p:spPr>
          <a:xfrm>
            <a:off x="8732520" y="2331720"/>
            <a:ext cx="1463040" cy="365760"/>
          </a:xfrm>
          <a:prstGeom prst="rect">
            <a:avLst/>
          </a:prstGeom>
          <a:noFill/>
          <a:ln/>
        </p:spPr>
        <p:txBody>
          <a:bodyPr wrap="square" lIns="0" tIns="0" rIns="0" bIns="0" rtlCol="0" anchor="ctr"/>
          <a:lstStyle/>
          <a:p>
            <a:pPr algn="ctr" indent="0" marL="0">
              <a:buNone/>
            </a:pPr>
            <a:r>
              <a:rPr lang="en-US" sz="1400" b="1" dirty="0">
                <a:solidFill>
                  <a:srgbClr val="962B7C"/>
                </a:solidFill>
                <a:latin typeface="Alexandria" pitchFamily="34" charset="0"/>
                <a:ea typeface="Alexandria" pitchFamily="34" charset="-122"/>
                <a:cs typeface="Alexandria" pitchFamily="34" charset="-120"/>
              </a:rPr>
              <a:t>An Phát</a:t>
            </a:r>
            <a:endParaRPr lang="en-US" sz="1400" dirty="0"/>
          </a:p>
        </p:txBody>
      </p:sp>
      <p:sp>
        <p:nvSpPr>
          <p:cNvPr id="8" name="Shape 6"/>
          <p:cNvSpPr/>
          <p:nvPr/>
        </p:nvSpPr>
        <p:spPr>
          <a:xfrm>
            <a:off x="7406640" y="5257800"/>
            <a:ext cx="4114800" cy="914"/>
          </a:xfrm>
          <a:prstGeom prst="line">
            <a:avLst/>
          </a:prstGeom>
          <a:noFill/>
          <a:ln w="38100">
            <a:solidFill>
              <a:srgbClr val="DCD7C8"/>
            </a:solidFill>
            <a:prstDash val="solid"/>
          </a:ln>
        </p:spPr>
      </p:sp>
      <p:sp>
        <p:nvSpPr>
          <p:cNvPr id="9" name="Shape 7"/>
          <p:cNvSpPr/>
          <p:nvPr/>
        </p:nvSpPr>
        <p:spPr>
          <a:xfrm>
            <a:off x="7205472" y="5056632"/>
            <a:ext cx="402336" cy="402336"/>
          </a:xfrm>
          <a:prstGeom prst="ellipse">
            <a:avLst/>
          </a:prstGeom>
          <a:solidFill>
            <a:srgbClr val="09A1E5"/>
          </a:solidFill>
          <a:ln w="25400">
            <a:solidFill>
              <a:srgbClr val="FFFFFF"/>
            </a:solidFill>
            <a:prstDash val="solid"/>
          </a:ln>
        </p:spPr>
      </p:sp>
      <p:sp>
        <p:nvSpPr>
          <p:cNvPr id="10" name="Text 8"/>
          <p:cNvSpPr txBox="1"/>
          <p:nvPr/>
        </p:nvSpPr>
        <p:spPr>
          <a:xfrm>
            <a:off x="6583680" y="5550408"/>
            <a:ext cx="1645920" cy="457200"/>
          </a:xfrm>
          <a:prstGeom prst="rect">
            <a:avLst/>
          </a:prstGeom>
          <a:noFill/>
          <a:ln/>
        </p:spPr>
        <p:txBody>
          <a:bodyPr wrap="square" lIns="0" tIns="0" rIns="0" bIns="0" rtlCol="0" anchor="t"/>
          <a:lstStyle/>
          <a:p>
            <a:pPr algn="ctr" indent="0" marL="0">
              <a:buNone/>
            </a:pPr>
            <a:r>
              <a:rPr lang="en-US" sz="1100" dirty="0">
                <a:solidFill>
                  <a:srgbClr val="2A2238"/>
                </a:solidFill>
                <a:latin typeface="Alexandria" pitchFamily="34" charset="0"/>
                <a:ea typeface="Alexandria" pitchFamily="34" charset="-122"/>
                <a:cs typeface="Alexandria" pitchFamily="34" charset="-120"/>
              </a:rPr>
              <a:t>Trước</a:t>
            </a:r>
            <a:endParaRPr lang="en-US" sz="1100" dirty="0"/>
          </a:p>
        </p:txBody>
      </p:sp>
      <p:sp>
        <p:nvSpPr>
          <p:cNvPr id="11" name="Shape 9"/>
          <p:cNvSpPr/>
          <p:nvPr/>
        </p:nvSpPr>
        <p:spPr>
          <a:xfrm>
            <a:off x="9262872" y="5056632"/>
            <a:ext cx="402336" cy="402336"/>
          </a:xfrm>
          <a:prstGeom prst="ellipse">
            <a:avLst/>
          </a:prstGeom>
          <a:solidFill>
            <a:srgbClr val="FF5178"/>
          </a:solidFill>
          <a:ln w="25400">
            <a:solidFill>
              <a:srgbClr val="FFFFFF"/>
            </a:solidFill>
            <a:prstDash val="solid"/>
          </a:ln>
        </p:spPr>
      </p:sp>
      <p:sp>
        <p:nvSpPr>
          <p:cNvPr id="12" name="Text 10"/>
          <p:cNvSpPr txBox="1"/>
          <p:nvPr/>
        </p:nvSpPr>
        <p:spPr>
          <a:xfrm>
            <a:off x="8641080" y="5550408"/>
            <a:ext cx="1645920" cy="457200"/>
          </a:xfrm>
          <a:prstGeom prst="rect">
            <a:avLst/>
          </a:prstGeom>
          <a:noFill/>
          <a:ln/>
        </p:spPr>
        <p:txBody>
          <a:bodyPr wrap="square" lIns="0" tIns="0" rIns="0" bIns="0" rtlCol="0" anchor="t"/>
          <a:lstStyle/>
          <a:p>
            <a:pPr algn="ctr" indent="0" marL="0">
              <a:buNone/>
            </a:pPr>
            <a:r>
              <a:rPr lang="en-US" sz="1100" dirty="0">
                <a:solidFill>
                  <a:srgbClr val="2A2238"/>
                </a:solidFill>
                <a:latin typeface="Alexandria" pitchFamily="34" charset="0"/>
                <a:ea typeface="Alexandria" pitchFamily="34" charset="-122"/>
                <a:cs typeface="Alexandria" pitchFamily="34" charset="-120"/>
              </a:rPr>
              <a:t>Trong</a:t>
            </a:r>
            <a:endParaRPr lang="en-US" sz="1100" dirty="0"/>
          </a:p>
        </p:txBody>
      </p:sp>
      <p:sp>
        <p:nvSpPr>
          <p:cNvPr id="13" name="Shape 11"/>
          <p:cNvSpPr/>
          <p:nvPr/>
        </p:nvSpPr>
        <p:spPr>
          <a:xfrm>
            <a:off x="11320272" y="5056632"/>
            <a:ext cx="402336" cy="402336"/>
          </a:xfrm>
          <a:prstGeom prst="ellipse">
            <a:avLst/>
          </a:prstGeom>
          <a:solidFill>
            <a:srgbClr val="962B7C"/>
          </a:solidFill>
          <a:ln w="25400">
            <a:solidFill>
              <a:srgbClr val="FFFFFF"/>
            </a:solidFill>
            <a:prstDash val="solid"/>
          </a:ln>
        </p:spPr>
      </p:sp>
      <p:sp>
        <p:nvSpPr>
          <p:cNvPr id="14" name="Text 12"/>
          <p:cNvSpPr txBox="1"/>
          <p:nvPr/>
        </p:nvSpPr>
        <p:spPr>
          <a:xfrm>
            <a:off x="10698480" y="5550408"/>
            <a:ext cx="1645920" cy="457200"/>
          </a:xfrm>
          <a:prstGeom prst="rect">
            <a:avLst/>
          </a:prstGeom>
          <a:noFill/>
          <a:ln/>
        </p:spPr>
        <p:txBody>
          <a:bodyPr wrap="square" lIns="0" tIns="0" rIns="0" bIns="0" rtlCol="0" anchor="t"/>
          <a:lstStyle/>
          <a:p>
            <a:pPr algn="ctr" indent="0" marL="0">
              <a:buNone/>
            </a:pPr>
            <a:r>
              <a:rPr lang="en-US" sz="1100" dirty="0">
                <a:solidFill>
                  <a:srgbClr val="2A2238"/>
                </a:solidFill>
                <a:latin typeface="Alexandria" pitchFamily="34" charset="0"/>
                <a:ea typeface="Alexandria" pitchFamily="34" charset="-122"/>
                <a:cs typeface="Alexandria" pitchFamily="34" charset="-120"/>
              </a:rPr>
              <a:t>Sau</a:t>
            </a:r>
            <a:endParaRPr lang="en-US" sz="1100" dirty="0"/>
          </a:p>
        </p:txBody>
      </p:sp>
      <p:sp>
        <p:nvSpPr>
          <p:cNvPr id="15" name="Shape 13"/>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16" name="Text 14"/>
          <p:cNvSpPr txBox="1"/>
          <p:nvPr/>
        </p:nvSpPr>
        <p:spPr>
          <a:xfrm>
            <a:off x="621792" y="914400"/>
            <a:ext cx="250545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3 / 15</a:t>
            </a:r>
            <a:endParaRPr lang="en-US" sz="1400" dirty="0"/>
          </a:p>
        </p:txBody>
      </p:sp>
      <p:sp>
        <p:nvSpPr>
          <p:cNvPr id="17" name="Text 15"/>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8" name="Text 16"/>
          <p:cNvSpPr txBox="1"/>
          <p:nvPr/>
        </p:nvSpPr>
        <p:spPr>
          <a:xfrm>
            <a:off x="548640" y="3429000"/>
            <a:ext cx="6035040" cy="91440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Understanding the Customer &amp; Customer Journey</a:t>
            </a:r>
            <a:endParaRPr lang="en-US" sz="2200" dirty="0"/>
          </a:p>
        </p:txBody>
      </p:sp>
      <p:sp>
        <p:nvSpPr>
          <p:cNvPr id="19" name="Text 17"/>
          <p:cNvSpPr txBox="1"/>
          <p:nvPr/>
        </p:nvSpPr>
        <p:spPr>
          <a:xfrm>
            <a:off x="548640" y="457200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2 · Quản trị khách hàng trọng điểm — buổi 2/7</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Tín dụng ngân hàng năm 2026 là chuyện của Nova</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C05: VnEconomy (11/1/2026); VnExpress (2026) — dữ kiện thật.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2</a:t>
            </a:r>
            <a:endParaRPr lang="en-US" sz="1000" dirty="0"/>
          </a:p>
        </p:txBody>
      </p:sp>
      <p:sp>
        <p:nvSpPr>
          <p:cNvPr id="20" name="Shape 17"/>
          <p:cNvSpPr/>
          <p:nvPr/>
        </p:nvSpPr>
        <p:spPr>
          <a:xfrm>
            <a:off x="548640" y="1920240"/>
            <a:ext cx="5120640" cy="4069080"/>
          </a:xfrm>
          <a:prstGeom prst="roundRect">
            <a:avLst>
              <a:gd name="adj" fmla="val 2697"/>
            </a:avLst>
          </a:prstGeom>
          <a:solidFill>
            <a:srgbClr val="DDF1FB"/>
          </a:solidFill>
          <a:ln w="12700">
            <a:solidFill>
              <a:srgbClr val="09A1E5"/>
            </a:solidFill>
            <a:prstDash val="solid"/>
          </a:ln>
        </p:spPr>
      </p:sp>
      <p:sp>
        <p:nvSpPr>
          <p:cNvPr id="21" name="Shape 18"/>
          <p:cNvSpPr/>
          <p:nvPr/>
        </p:nvSpPr>
        <p:spPr>
          <a:xfrm>
            <a:off x="868680" y="2148840"/>
            <a:ext cx="1737360" cy="384048"/>
          </a:xfrm>
          <a:prstGeom prst="roundRect">
            <a:avLst>
              <a:gd name="adj" fmla="val 50000"/>
            </a:avLst>
          </a:prstGeom>
          <a:solidFill>
            <a:srgbClr val="49B296"/>
          </a:solidFill>
          <a:ln w="12700">
            <a:solidFill>
              <a:srgbClr val="49B296"/>
            </a:solidFill>
            <a:prstDash val="solid"/>
          </a:ln>
        </p:spPr>
      </p:sp>
      <p:sp>
        <p:nvSpPr>
          <p:cNvPr id="22" name="Text 19"/>
          <p:cNvSpPr txBox="1"/>
          <p:nvPr/>
        </p:nvSpPr>
        <p:spPr>
          <a:xfrm>
            <a:off x="941832" y="2148840"/>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DỮ KIỆN THẬT</a:t>
            </a:r>
            <a:endParaRPr lang="en-US" sz="1100" dirty="0"/>
          </a:p>
        </p:txBody>
      </p:sp>
      <p:sp>
        <p:nvSpPr>
          <p:cNvPr id="23" name="Text 20"/>
          <p:cNvSpPr txBox="1"/>
          <p:nvPr/>
        </p:nvSpPr>
        <p:spPr>
          <a:xfrm>
            <a:off x="868680" y="2651760"/>
            <a:ext cx="4480560" cy="1097280"/>
          </a:xfrm>
          <a:prstGeom prst="rect">
            <a:avLst/>
          </a:prstGeom>
          <a:noFill/>
          <a:ln/>
        </p:spPr>
        <p:txBody>
          <a:bodyPr wrap="square" lIns="0" tIns="0" rIns="0" bIns="0" rtlCol="0" anchor="ctr"/>
          <a:lstStyle/>
          <a:p>
            <a:pPr indent="0" marL="0">
              <a:buNone/>
            </a:pPr>
            <a:r>
              <a:rPr lang="en-US" sz="6400" b="1" dirty="0">
                <a:solidFill>
                  <a:srgbClr val="0A7FB5"/>
                </a:solidFill>
                <a:latin typeface="Alexandria" pitchFamily="34" charset="0"/>
                <a:ea typeface="Alexandria" pitchFamily="34" charset="-122"/>
                <a:cs typeface="Alexandria" pitchFamily="34" charset="-120"/>
              </a:rPr>
              <a:t>~15%</a:t>
            </a:r>
            <a:endParaRPr lang="en-US" sz="6400" dirty="0"/>
          </a:p>
        </p:txBody>
      </p:sp>
      <p:sp>
        <p:nvSpPr>
          <p:cNvPr id="24" name="Text 21"/>
          <p:cNvSpPr txBox="1"/>
          <p:nvPr/>
        </p:nvSpPr>
        <p:spPr>
          <a:xfrm>
            <a:off x="868680" y="3749040"/>
            <a:ext cx="4480560" cy="7315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tăng trưởng tín dụng toàn hệ thống định hướng cho năm 2026</a:t>
            </a:r>
            <a:endParaRPr lang="en-US" sz="1600" dirty="0"/>
          </a:p>
        </p:txBody>
      </p:sp>
      <p:sp>
        <p:nvSpPr>
          <p:cNvPr id="25" name="Text 22"/>
          <p:cNvSpPr txBox="1"/>
          <p:nvPr/>
        </p:nvSpPr>
        <p:spPr>
          <a:xfrm>
            <a:off x="868680" y="4572000"/>
            <a:ext cx="4480560"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 </a:t>
            </a:r>
            <a:pPr indent="0" marL="0">
              <a:buNone/>
            </a:pPr>
            <a:r>
              <a:rPr lang="en-US" sz="1600" b="1" dirty="0">
                <a:solidFill>
                  <a:srgbClr val="2A2238"/>
                </a:solidFill>
                <a:latin typeface="Alexandria" pitchFamily="34" charset="0"/>
                <a:ea typeface="Alexandria" pitchFamily="34" charset="-122"/>
                <a:cs typeface="Alexandria" pitchFamily="34" charset="-120"/>
              </a:rPr>
              <a:t>kiểm soát chặt tín dụng bất động sản</a:t>
            </a:r>
            <a:endParaRPr lang="en-US" sz="1600" dirty="0"/>
          </a:p>
        </p:txBody>
      </p:sp>
      <p:sp>
        <p:nvSpPr>
          <p:cNvPr id="26" name="Text 23"/>
          <p:cNvSpPr txBox="1"/>
          <p:nvPr/>
        </p:nvSpPr>
        <p:spPr>
          <a:xfrm>
            <a:off x="868680" y="5257800"/>
            <a:ext cx="4480560" cy="365760"/>
          </a:xfrm>
          <a:prstGeom prst="rect">
            <a:avLst/>
          </a:prstGeom>
          <a:noFill/>
          <a:ln/>
        </p:spPr>
        <p:txBody>
          <a:bodyPr wrap="square" lIns="0" tIns="0" rIns="0" bIns="0" rtlCol="0" anchor="ctr"/>
          <a:lstStyle/>
          <a:p>
            <a:pPr indent="0" marL="0">
              <a:buNone/>
            </a:pPr>
            <a:r>
              <a:rPr lang="en-US" sz="1200" i="1" dirty="0">
                <a:solidFill>
                  <a:srgbClr val="6E6878"/>
                </a:solidFill>
                <a:latin typeface="Alexandria" pitchFamily="34" charset="0"/>
                <a:ea typeface="Alexandria" pitchFamily="34" charset="-122"/>
                <a:cs typeface="Alexandria" pitchFamily="34" charset="-120"/>
              </a:rPr>
              <a:t>Ngân hàng Nhà nước · VnEconomy, 11/1/2026</a:t>
            </a:r>
            <a:endParaRPr lang="en-US" sz="1200" dirty="0"/>
          </a:p>
        </p:txBody>
      </p:sp>
      <p:sp>
        <p:nvSpPr>
          <p:cNvPr id="27" name="Text 24"/>
          <p:cNvSpPr txBox="1"/>
          <p:nvPr/>
        </p:nvSpPr>
        <p:spPr>
          <a:xfrm>
            <a:off x="6035040" y="1920240"/>
            <a:ext cx="5608015" cy="82296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Nova là agency sự kiện. Nova có cần biết điều này không?</a:t>
            </a:r>
            <a:endParaRPr lang="en-US" sz="2100" dirty="0"/>
          </a:p>
        </p:txBody>
      </p:sp>
      <p:sp>
        <p:nvSpPr>
          <p:cNvPr id="28" name="Shape 25"/>
          <p:cNvSpPr/>
          <p:nvPr/>
        </p:nvSpPr>
        <p:spPr>
          <a:xfrm>
            <a:off x="6035040" y="2880360"/>
            <a:ext cx="2689708" cy="685800"/>
          </a:xfrm>
          <a:prstGeom prst="roundRect">
            <a:avLst>
              <a:gd name="adj" fmla="val 50000"/>
            </a:avLst>
          </a:prstGeom>
          <a:solidFill>
            <a:srgbClr val="49B296"/>
          </a:solidFill>
          <a:ln w="12700">
            <a:solidFill>
              <a:srgbClr val="49B296"/>
            </a:solidFill>
            <a:prstDash val="solid"/>
          </a:ln>
        </p:spPr>
      </p:sp>
      <p:sp>
        <p:nvSpPr>
          <p:cNvPr id="29" name="Text 26"/>
          <p:cNvSpPr txBox="1"/>
          <p:nvPr/>
        </p:nvSpPr>
        <p:spPr>
          <a:xfrm>
            <a:off x="6108192" y="2880360"/>
            <a:ext cx="2543404"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Có</a:t>
            </a:r>
            <a:endParaRPr lang="en-US" sz="1800" dirty="0"/>
          </a:p>
        </p:txBody>
      </p:sp>
      <p:sp>
        <p:nvSpPr>
          <p:cNvPr id="30" name="Shape 27"/>
          <p:cNvSpPr/>
          <p:nvPr/>
        </p:nvSpPr>
        <p:spPr>
          <a:xfrm>
            <a:off x="8953348" y="2880360"/>
            <a:ext cx="2689708" cy="685800"/>
          </a:xfrm>
          <a:prstGeom prst="roundRect">
            <a:avLst>
              <a:gd name="adj" fmla="val 50000"/>
            </a:avLst>
          </a:prstGeom>
          <a:solidFill>
            <a:srgbClr val="FF5178"/>
          </a:solidFill>
          <a:ln w="12700">
            <a:solidFill>
              <a:srgbClr val="FF5178"/>
            </a:solidFill>
            <a:prstDash val="solid"/>
          </a:ln>
        </p:spPr>
      </p:sp>
      <p:sp>
        <p:nvSpPr>
          <p:cNvPr id="31" name="Text 28"/>
          <p:cNvSpPr txBox="1"/>
          <p:nvPr/>
        </p:nvSpPr>
        <p:spPr>
          <a:xfrm>
            <a:off x="9026500" y="2880360"/>
            <a:ext cx="2543404"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Không</a:t>
            </a:r>
            <a:endParaRPr lang="en-US" sz="1800" dirty="0"/>
          </a:p>
        </p:txBody>
      </p:sp>
      <p:sp>
        <p:nvSpPr>
          <p:cNvPr id="32" name="Shape 29"/>
          <p:cNvSpPr/>
          <p:nvPr/>
        </p:nvSpPr>
        <p:spPr>
          <a:xfrm>
            <a:off x="6035040" y="3886200"/>
            <a:ext cx="5608015" cy="2103120"/>
          </a:xfrm>
          <a:prstGeom prst="roundRect">
            <a:avLst>
              <a:gd name="adj" fmla="val 5217"/>
            </a:avLst>
          </a:prstGeom>
          <a:solidFill>
            <a:srgbClr val="FFF3C4"/>
          </a:solidFill>
          <a:ln w="12700">
            <a:solidFill>
              <a:srgbClr val="FFD23B"/>
            </a:solidFill>
            <a:prstDash val="solid"/>
          </a:ln>
        </p:spPr>
      </p:sp>
      <p:sp>
        <p:nvSpPr>
          <p:cNvPr id="33" name="Text 30"/>
          <p:cNvSpPr txBox="1"/>
          <p:nvPr/>
        </p:nvSpPr>
        <p:spPr>
          <a:xfrm>
            <a:off x="6309360" y="3886200"/>
            <a:ext cx="5059375" cy="21031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Có — vì An Phát cần biết. </a:t>
            </a:r>
            <a:pPr indent="0" marL="0">
              <a:buNone/>
            </a:pPr>
            <a:r>
              <a:rPr lang="en-US" sz="1600" dirty="0">
                <a:solidFill>
                  <a:srgbClr val="2A2238"/>
                </a:solidFill>
                <a:latin typeface="Alexandria" pitchFamily="34" charset="0"/>
                <a:ea typeface="Alexandria" pitchFamily="34" charset="-122"/>
                <a:cs typeface="Alexandria" pitchFamily="34" charset="-120"/>
              </a:rPr>
              <a:t>Tín dụng bị giới hạn → ngân hàng phải giữ khách doanh nghiệp tốt bằng cách khác → có thể chính là lý do An Phát cần một chương trình khách hàng.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09A1E5"/>
          </a:solidFill>
          <a:ln w="9525">
            <a:solidFill>
              <a:srgbClr val="09A1E5"/>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Hiểu khách hàng hơn chính họ</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C01: Davies, The value planning framework for key accounts, KAM Forum (Cranfield).</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3</a:t>
            </a:r>
            <a:endParaRPr lang="en-US" sz="1000" dirty="0"/>
          </a:p>
        </p:txBody>
      </p:sp>
      <p:sp>
        <p:nvSpPr>
          <p:cNvPr id="20" name="Shape 17"/>
          <p:cNvSpPr/>
          <p:nvPr/>
        </p:nvSpPr>
        <p:spPr>
          <a:xfrm>
            <a:off x="548640" y="1920240"/>
            <a:ext cx="11094415" cy="1828800"/>
          </a:xfrm>
          <a:prstGeom prst="roundRect">
            <a:avLst>
              <a:gd name="adj" fmla="val 6000"/>
            </a:avLst>
          </a:prstGeom>
          <a:solidFill>
            <a:srgbClr val="DDF1FB"/>
          </a:solidFill>
          <a:ln w="12700">
            <a:solidFill>
              <a:srgbClr val="09A1E5"/>
            </a:solidFill>
            <a:prstDash val="solid"/>
          </a:ln>
        </p:spPr>
      </p:sp>
      <p:sp>
        <p:nvSpPr>
          <p:cNvPr id="21" name="Text 18"/>
          <p:cNvSpPr txBox="1"/>
          <p:nvPr/>
        </p:nvSpPr>
        <p:spPr>
          <a:xfrm>
            <a:off x="1005840" y="1920240"/>
            <a:ext cx="10180015" cy="1828800"/>
          </a:xfrm>
          <a:prstGeom prst="rect">
            <a:avLst/>
          </a:prstGeom>
          <a:noFill/>
          <a:ln/>
        </p:spPr>
        <p:txBody>
          <a:bodyPr wrap="square" lIns="0" tIns="0" rIns="0" bIns="0" rtlCol="0" anchor="ctr"/>
          <a:lstStyle/>
          <a:p>
            <a:pPr algn="ctr" indent="0" marL="0">
              <a:spcAft>
                <a:spcPts val="400"/>
              </a:spcAft>
              <a:buNone/>
            </a:pPr>
            <a:r>
              <a:rPr lang="en-US" sz="1600" b="1" dirty="0">
                <a:solidFill>
                  <a:srgbClr val="0A7FB5"/>
                </a:solidFill>
                <a:latin typeface="Alexandria" pitchFamily="34" charset="0"/>
                <a:ea typeface="Alexandria" pitchFamily="34" charset="-122"/>
                <a:cs typeface="Alexandria" pitchFamily="34" charset="-120"/>
              </a:rPr>
              <a:t>Stage A</a:t>
            </a:r>
            <a:endParaRPr lang="en-US" sz="1600" dirty="0"/>
          </a:p>
          <a:p>
            <a:pPr algn="ctr" indent="0" marL="0">
              <a:spcAft>
                <a:spcPts val="400"/>
              </a:spcAft>
              <a:buNone/>
            </a:pPr>
            <a:r>
              <a:rPr lang="en-US" sz="3400" b="1" i="1" dirty="0">
                <a:solidFill>
                  <a:srgbClr val="2A2238"/>
                </a:solidFill>
                <a:latin typeface="Alexandria" pitchFamily="34" charset="0"/>
                <a:ea typeface="Alexandria" pitchFamily="34" charset="-122"/>
                <a:cs typeface="Alexandria" pitchFamily="34" charset="-120"/>
              </a:rPr>
              <a:t>“analysing the customer’s world”</a:t>
            </a:r>
            <a:endParaRPr lang="en-US" sz="1600" dirty="0"/>
          </a:p>
        </p:txBody>
      </p:sp>
      <p:sp>
        <p:nvSpPr>
          <p:cNvPr id="22" name="Shape 19"/>
          <p:cNvSpPr/>
          <p:nvPr/>
        </p:nvSpPr>
        <p:spPr>
          <a:xfrm>
            <a:off x="548640" y="4069080"/>
            <a:ext cx="5410048" cy="1920240"/>
          </a:xfrm>
          <a:prstGeom prst="roundRect">
            <a:avLst>
              <a:gd name="adj" fmla="val 5714"/>
            </a:avLst>
          </a:prstGeom>
          <a:solidFill>
            <a:srgbClr val="FFFFFF"/>
          </a:solidFill>
          <a:ln w="19050">
            <a:solidFill>
              <a:srgbClr val="DCD7C8"/>
            </a:solidFill>
            <a:prstDash val="solid"/>
          </a:ln>
        </p:spPr>
      </p:sp>
      <p:sp>
        <p:nvSpPr>
          <p:cNvPr id="23" name="Text 20"/>
          <p:cNvSpPr txBox="1"/>
          <p:nvPr/>
        </p:nvSpPr>
        <p:spPr>
          <a:xfrm>
            <a:off x="868680" y="4069080"/>
            <a:ext cx="4769968" cy="1920240"/>
          </a:xfrm>
          <a:prstGeom prst="rect">
            <a:avLst/>
          </a:prstGeom>
          <a:noFill/>
          <a:ln/>
        </p:spPr>
        <p:txBody>
          <a:bodyPr wrap="square" lIns="0" tIns="0" rIns="0" bIns="0" rtlCol="0" anchor="ctr"/>
          <a:lstStyle/>
          <a:p>
            <a:pPr indent="0" marL="0">
              <a:spcAft>
                <a:spcPts val="600"/>
              </a:spcAft>
              <a:buNone/>
            </a:pPr>
            <a:r>
              <a:rPr lang="en-US" sz="2200" b="1" dirty="0">
                <a:solidFill>
                  <a:srgbClr val="6E6878"/>
                </a:solidFill>
                <a:latin typeface="Alexandria" pitchFamily="34" charset="0"/>
                <a:ea typeface="Alexandria" pitchFamily="34" charset="-122"/>
                <a:cs typeface="Alexandria" pitchFamily="34" charset="-120"/>
              </a:rPr>
              <a:t>✗  Thị trường của Nova</a:t>
            </a:r>
            <a:endParaRPr lang="en-US" sz="2200" dirty="0"/>
          </a:p>
          <a:p>
            <a:pPr indent="0" marL="0">
              <a:spcAft>
                <a:spcPts val="600"/>
              </a:spcAft>
              <a:buNone/>
            </a:pPr>
            <a:r>
              <a:rPr lang="en-US" sz="1500" dirty="0">
                <a:solidFill>
                  <a:srgbClr val="6E6878"/>
                </a:solidFill>
                <a:latin typeface="Alexandria" pitchFamily="34" charset="0"/>
                <a:ea typeface="Alexandria" pitchFamily="34" charset="-122"/>
                <a:cs typeface="Alexandria" pitchFamily="34" charset="-120"/>
              </a:rPr>
              <a:t>agency khác, giá dịch vụ sự kiện</a:t>
            </a:r>
            <a:endParaRPr lang="en-US" sz="2200" dirty="0"/>
          </a:p>
        </p:txBody>
      </p:sp>
      <p:sp>
        <p:nvSpPr>
          <p:cNvPr id="24" name="Shape 21"/>
          <p:cNvSpPr/>
          <p:nvPr/>
        </p:nvSpPr>
        <p:spPr>
          <a:xfrm>
            <a:off x="6233008" y="4069080"/>
            <a:ext cx="5410048" cy="1920240"/>
          </a:xfrm>
          <a:prstGeom prst="roundRect">
            <a:avLst>
              <a:gd name="adj" fmla="val 5714"/>
            </a:avLst>
          </a:prstGeom>
          <a:solidFill>
            <a:srgbClr val="DDF1FB"/>
          </a:solidFill>
          <a:ln w="19050">
            <a:solidFill>
              <a:srgbClr val="09A1E5"/>
            </a:solidFill>
            <a:prstDash val="solid"/>
          </a:ln>
        </p:spPr>
      </p:sp>
      <p:sp>
        <p:nvSpPr>
          <p:cNvPr id="25" name="Text 22"/>
          <p:cNvSpPr txBox="1"/>
          <p:nvPr/>
        </p:nvSpPr>
        <p:spPr>
          <a:xfrm>
            <a:off x="6553048" y="4069080"/>
            <a:ext cx="4769968" cy="1920240"/>
          </a:xfrm>
          <a:prstGeom prst="rect">
            <a:avLst/>
          </a:prstGeom>
          <a:noFill/>
          <a:ln/>
        </p:spPr>
        <p:txBody>
          <a:bodyPr wrap="square" lIns="0" tIns="0" rIns="0" bIns="0" rtlCol="0" anchor="ctr"/>
          <a:lstStyle/>
          <a:p>
            <a:pPr indent="0" marL="0">
              <a:spcAft>
                <a:spcPts val="600"/>
              </a:spcAft>
              <a:buNone/>
            </a:pPr>
            <a:r>
              <a:rPr lang="en-US" sz="2200" b="1" dirty="0">
                <a:solidFill>
                  <a:srgbClr val="2A2238"/>
                </a:solidFill>
                <a:latin typeface="Alexandria" pitchFamily="34" charset="0"/>
                <a:ea typeface="Alexandria" pitchFamily="34" charset="-122"/>
                <a:cs typeface="Alexandria" pitchFamily="34" charset="-120"/>
              </a:rPr>
              <a:t>✓  Thế giới của An Phát</a:t>
            </a:r>
            <a:endParaRPr lang="en-US" sz="2200" dirty="0"/>
          </a:p>
          <a:p>
            <a:pPr indent="0" marL="0">
              <a:spcAft>
                <a:spcPts val="600"/>
              </a:spcAft>
              <a:buNone/>
            </a:pPr>
            <a:r>
              <a:rPr lang="en-US" sz="1500" dirty="0">
                <a:solidFill>
                  <a:srgbClr val="2A2238"/>
                </a:solidFill>
                <a:latin typeface="Alexandria" pitchFamily="34" charset="0"/>
                <a:ea typeface="Alexandria" pitchFamily="34" charset="-122"/>
                <a:cs typeface="Alexandria" pitchFamily="34" charset="-120"/>
              </a:rPr>
              <a:t>ngành ngân hàng, đối thủ của An Phát, người trong An Phát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09A1E5"/>
          </a:solidFill>
          <a:ln w="9525">
            <a:solidFill>
              <a:srgbClr val="09A1E5"/>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công cụ: PESTEL, đối thủ, nội bộ khách hàng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C01: Davies, KAM Forum (Cranfield) — “wheel of customer understanding” của Dr Sue Holt.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4</a:t>
            </a:r>
            <a:endParaRPr lang="en-US" sz="1000" dirty="0"/>
          </a:p>
        </p:txBody>
      </p:sp>
      <p:sp>
        <p:nvSpPr>
          <p:cNvPr id="20" name="Shape 17"/>
          <p:cNvSpPr/>
          <p:nvPr/>
        </p:nvSpPr>
        <p:spPr>
          <a:xfrm>
            <a:off x="548640" y="1920240"/>
            <a:ext cx="3515258" cy="2651760"/>
          </a:xfrm>
          <a:prstGeom prst="roundRect">
            <a:avLst>
              <a:gd name="adj" fmla="val 4138"/>
            </a:avLst>
          </a:prstGeom>
          <a:solidFill>
            <a:srgbClr val="DDF1FB"/>
          </a:solidFill>
          <a:ln w="19050">
            <a:solidFill>
              <a:srgbClr val="09A1E5"/>
            </a:solidFill>
            <a:prstDash val="solid"/>
          </a:ln>
        </p:spPr>
      </p:sp>
      <p:sp>
        <p:nvSpPr>
          <p:cNvPr id="21" name="Shape 18"/>
          <p:cNvSpPr/>
          <p:nvPr/>
        </p:nvSpPr>
        <p:spPr>
          <a:xfrm>
            <a:off x="822960" y="2148840"/>
            <a:ext cx="685800" cy="685800"/>
          </a:xfrm>
          <a:prstGeom prst="ellipse">
            <a:avLst/>
          </a:prstGeom>
          <a:solidFill>
            <a:srgbClr val="09A1E5"/>
          </a:solidFill>
          <a:ln w="12700">
            <a:solidFill>
              <a:srgbClr val="09A1E5"/>
            </a:solidFill>
            <a:prstDash val="solid"/>
          </a:ln>
        </p:spPr>
      </p:sp>
      <p:sp>
        <p:nvSpPr>
          <p:cNvPr id="22" name="Text 19"/>
          <p:cNvSpPr txBox="1"/>
          <p:nvPr/>
        </p:nvSpPr>
        <p:spPr>
          <a:xfrm>
            <a:off x="822960" y="21488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a:t>
            </a:r>
            <a:endParaRPr lang="en-US" sz="2000" dirty="0"/>
          </a:p>
        </p:txBody>
      </p:sp>
      <p:sp>
        <p:nvSpPr>
          <p:cNvPr id="23" name="Text 20"/>
          <p:cNvSpPr txBox="1"/>
          <p:nvPr/>
        </p:nvSpPr>
        <p:spPr>
          <a:xfrm>
            <a:off x="822960" y="2926080"/>
            <a:ext cx="2966618" cy="5029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PESTEL</a:t>
            </a:r>
            <a:endParaRPr lang="en-US" sz="2200" dirty="0"/>
          </a:p>
        </p:txBody>
      </p:sp>
      <p:sp>
        <p:nvSpPr>
          <p:cNvPr id="24" name="Text 21"/>
          <p:cNvSpPr txBox="1"/>
          <p:nvPr/>
        </p:nvSpPr>
        <p:spPr>
          <a:xfrm>
            <a:off x="822960" y="3474720"/>
            <a:ext cx="2966618" cy="10058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Chính sách, kinh tế, xã hội, công nghệ, môi trường, pháp lý — của ngành khách hàng</a:t>
            </a:r>
            <a:endParaRPr lang="en-US" sz="1500" dirty="0"/>
          </a:p>
        </p:txBody>
      </p:sp>
      <p:sp>
        <p:nvSpPr>
          <p:cNvPr id="25" name="Shape 22"/>
          <p:cNvSpPr/>
          <p:nvPr/>
        </p:nvSpPr>
        <p:spPr>
          <a:xfrm>
            <a:off x="4338218" y="1920240"/>
            <a:ext cx="3515258" cy="2651760"/>
          </a:xfrm>
          <a:prstGeom prst="roundRect">
            <a:avLst>
              <a:gd name="adj" fmla="val 4138"/>
            </a:avLst>
          </a:prstGeom>
          <a:solidFill>
            <a:srgbClr val="FFE4EA"/>
          </a:solidFill>
          <a:ln w="19050">
            <a:solidFill>
              <a:srgbClr val="FF5178"/>
            </a:solidFill>
            <a:prstDash val="solid"/>
          </a:ln>
        </p:spPr>
      </p:sp>
      <p:sp>
        <p:nvSpPr>
          <p:cNvPr id="26" name="Shape 23"/>
          <p:cNvSpPr/>
          <p:nvPr/>
        </p:nvSpPr>
        <p:spPr>
          <a:xfrm>
            <a:off x="4612538" y="2148840"/>
            <a:ext cx="685800" cy="685800"/>
          </a:xfrm>
          <a:prstGeom prst="ellipse">
            <a:avLst/>
          </a:prstGeom>
          <a:solidFill>
            <a:srgbClr val="FF5178"/>
          </a:solidFill>
          <a:ln w="12700">
            <a:solidFill>
              <a:srgbClr val="FF5178"/>
            </a:solidFill>
            <a:prstDash val="solid"/>
          </a:ln>
        </p:spPr>
      </p:sp>
      <p:sp>
        <p:nvSpPr>
          <p:cNvPr id="27" name="Text 24"/>
          <p:cNvSpPr txBox="1"/>
          <p:nvPr/>
        </p:nvSpPr>
        <p:spPr>
          <a:xfrm>
            <a:off x="4612538" y="21488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2</a:t>
            </a:r>
            <a:endParaRPr lang="en-US" sz="2000" dirty="0"/>
          </a:p>
        </p:txBody>
      </p:sp>
      <p:sp>
        <p:nvSpPr>
          <p:cNvPr id="28" name="Text 25"/>
          <p:cNvSpPr txBox="1"/>
          <p:nvPr/>
        </p:nvSpPr>
        <p:spPr>
          <a:xfrm>
            <a:off x="4612538" y="2926080"/>
            <a:ext cx="2966618" cy="5029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Đối thủ</a:t>
            </a:r>
            <a:endParaRPr lang="en-US" sz="2200" dirty="0"/>
          </a:p>
        </p:txBody>
      </p:sp>
      <p:sp>
        <p:nvSpPr>
          <p:cNvPr id="29" name="Text 26"/>
          <p:cNvSpPr txBox="1"/>
          <p:nvPr/>
        </p:nvSpPr>
        <p:spPr>
          <a:xfrm>
            <a:off x="4612538" y="3474720"/>
            <a:ext cx="2966618" cy="10058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Ai đang giành khách hàng của khách hàng ta?</a:t>
            </a:r>
            <a:endParaRPr lang="en-US" sz="1500" dirty="0"/>
          </a:p>
        </p:txBody>
      </p:sp>
      <p:sp>
        <p:nvSpPr>
          <p:cNvPr id="30" name="Shape 27"/>
          <p:cNvSpPr/>
          <p:nvPr/>
        </p:nvSpPr>
        <p:spPr>
          <a:xfrm>
            <a:off x="8127797" y="1920240"/>
            <a:ext cx="3515258" cy="2651760"/>
          </a:xfrm>
          <a:prstGeom prst="roundRect">
            <a:avLst>
              <a:gd name="adj" fmla="val 4138"/>
            </a:avLst>
          </a:prstGeom>
          <a:solidFill>
            <a:srgbClr val="F1E1EE"/>
          </a:solidFill>
          <a:ln w="19050">
            <a:solidFill>
              <a:srgbClr val="962B7C"/>
            </a:solidFill>
            <a:prstDash val="solid"/>
          </a:ln>
        </p:spPr>
      </p:sp>
      <p:sp>
        <p:nvSpPr>
          <p:cNvPr id="31" name="Shape 28"/>
          <p:cNvSpPr/>
          <p:nvPr/>
        </p:nvSpPr>
        <p:spPr>
          <a:xfrm>
            <a:off x="8402117" y="2148840"/>
            <a:ext cx="685800" cy="685800"/>
          </a:xfrm>
          <a:prstGeom prst="ellipse">
            <a:avLst/>
          </a:prstGeom>
          <a:solidFill>
            <a:srgbClr val="962B7C"/>
          </a:solidFill>
          <a:ln w="12700">
            <a:solidFill>
              <a:srgbClr val="962B7C"/>
            </a:solidFill>
            <a:prstDash val="solid"/>
          </a:ln>
        </p:spPr>
      </p:sp>
      <p:sp>
        <p:nvSpPr>
          <p:cNvPr id="32" name="Text 29"/>
          <p:cNvSpPr txBox="1"/>
          <p:nvPr/>
        </p:nvSpPr>
        <p:spPr>
          <a:xfrm>
            <a:off x="8402117" y="21488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3</a:t>
            </a:r>
            <a:endParaRPr lang="en-US" sz="2000" dirty="0"/>
          </a:p>
        </p:txBody>
      </p:sp>
      <p:sp>
        <p:nvSpPr>
          <p:cNvPr id="33" name="Text 30"/>
          <p:cNvSpPr txBox="1"/>
          <p:nvPr/>
        </p:nvSpPr>
        <p:spPr>
          <a:xfrm>
            <a:off x="8402117" y="2926080"/>
            <a:ext cx="2966618" cy="502920"/>
          </a:xfrm>
          <a:prstGeom prst="rect">
            <a:avLst/>
          </a:prstGeom>
          <a:noFill/>
          <a:ln/>
        </p:spPr>
        <p:txBody>
          <a:bodyPr wrap="square" lIns="0" tIns="0" rIns="0" bIns="0" rtlCol="0" anchor="ctr"/>
          <a:lstStyle/>
          <a:p>
            <a:pPr indent="0" marL="0">
              <a:buNone/>
            </a:pPr>
            <a:r>
              <a:rPr lang="en-US" sz="2200" b="1" dirty="0">
                <a:solidFill>
                  <a:srgbClr val="2A2238"/>
                </a:solidFill>
                <a:latin typeface="Alexandria" pitchFamily="34" charset="0"/>
                <a:ea typeface="Alexandria" pitchFamily="34" charset="-122"/>
                <a:cs typeface="Alexandria" pitchFamily="34" charset="-120"/>
              </a:rPr>
              <a:t>Nội bộ khách hàng</a:t>
            </a:r>
            <a:endParaRPr lang="en-US" sz="2200" dirty="0"/>
          </a:p>
        </p:txBody>
      </p:sp>
      <p:sp>
        <p:nvSpPr>
          <p:cNvPr id="34" name="Text 31"/>
          <p:cNvSpPr txBox="1"/>
          <p:nvPr/>
        </p:nvSpPr>
        <p:spPr>
          <a:xfrm>
            <a:off x="8402117" y="3474720"/>
            <a:ext cx="2966618" cy="10058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Chiến lược, mục tiêu, cơ cấu, người ra quyết định</a:t>
            </a:r>
            <a:endParaRPr lang="en-US" sz="1500" dirty="0"/>
          </a:p>
        </p:txBody>
      </p:sp>
      <p:sp>
        <p:nvSpPr>
          <p:cNvPr id="35" name="Shape 32"/>
          <p:cNvSpPr/>
          <p:nvPr/>
        </p:nvSpPr>
        <p:spPr>
          <a:xfrm>
            <a:off x="548640" y="4846320"/>
            <a:ext cx="3515258" cy="1143000"/>
          </a:xfrm>
          <a:prstGeom prst="roundRect">
            <a:avLst>
              <a:gd name="adj" fmla="val 9600"/>
            </a:avLst>
          </a:prstGeom>
          <a:solidFill>
            <a:srgbClr val="FFF3C4"/>
          </a:solidFill>
          <a:ln w="12700">
            <a:solidFill>
              <a:srgbClr val="FFD23B"/>
            </a:solidFill>
            <a:prstDash val="solid"/>
          </a:ln>
        </p:spPr>
      </p:sp>
      <p:sp>
        <p:nvSpPr>
          <p:cNvPr id="36" name="Text 33"/>
          <p:cNvSpPr txBox="1"/>
          <p:nvPr/>
        </p:nvSpPr>
        <p:spPr>
          <a:xfrm>
            <a:off x="777240" y="4846320"/>
            <a:ext cx="3058058" cy="11430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Tương xứng</a:t>
            </a:r>
            <a:endParaRPr lang="en-US" sz="1600" dirty="0"/>
          </a:p>
          <a:p>
            <a:pPr indent="0" marL="0">
              <a:buNone/>
            </a:pPr>
            <a:r>
              <a:rPr lang="en-US" sz="1300" dirty="0">
                <a:solidFill>
                  <a:srgbClr val="2A2238"/>
                </a:solidFill>
                <a:latin typeface="Alexandria" pitchFamily="34" charset="0"/>
                <a:ea typeface="Alexandria" pitchFamily="34" charset="-122"/>
                <a:cs typeface="Alexandria" pitchFamily="34" charset="-120"/>
              </a:rPr>
              <a:t>nghiên cứu theo tầm quan trọng của khách hàng</a:t>
            </a:r>
            <a:endParaRPr lang="en-US" sz="1600" dirty="0"/>
          </a:p>
        </p:txBody>
      </p:sp>
      <p:sp>
        <p:nvSpPr>
          <p:cNvPr id="37" name="Shape 34"/>
          <p:cNvSpPr/>
          <p:nvPr/>
        </p:nvSpPr>
        <p:spPr>
          <a:xfrm>
            <a:off x="4338218" y="4846320"/>
            <a:ext cx="3515258" cy="1143000"/>
          </a:xfrm>
          <a:prstGeom prst="roundRect">
            <a:avLst>
              <a:gd name="adj" fmla="val 9600"/>
            </a:avLst>
          </a:prstGeom>
          <a:solidFill>
            <a:srgbClr val="FFF3C4"/>
          </a:solidFill>
          <a:ln w="12700">
            <a:solidFill>
              <a:srgbClr val="FFD23B"/>
            </a:solidFill>
            <a:prstDash val="solid"/>
          </a:ln>
        </p:spPr>
      </p:sp>
      <p:sp>
        <p:nvSpPr>
          <p:cNvPr id="38" name="Text 35"/>
          <p:cNvSpPr txBox="1"/>
          <p:nvPr/>
        </p:nvSpPr>
        <p:spPr>
          <a:xfrm>
            <a:off x="4566818" y="4846320"/>
            <a:ext cx="3058058" cy="11430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Ghi giả định</a:t>
            </a:r>
            <a:endParaRPr lang="en-US" sz="1600" dirty="0"/>
          </a:p>
          <a:p>
            <a:pPr indent="0" marL="0">
              <a:buNone/>
            </a:pPr>
            <a:r>
              <a:rPr lang="en-US" sz="1300" dirty="0">
                <a:solidFill>
                  <a:srgbClr val="2A2238"/>
                </a:solidFill>
                <a:latin typeface="Alexandria" pitchFamily="34" charset="0"/>
                <a:ea typeface="Alexandria" pitchFamily="34" charset="-122"/>
                <a:cs typeface="Alexandria" pitchFamily="34" charset="-120"/>
              </a:rPr>
              <a:t>thiếu thông tin thì đặt giả định, ghi rõ</a:t>
            </a:r>
            <a:endParaRPr lang="en-US" sz="1600" dirty="0"/>
          </a:p>
        </p:txBody>
      </p:sp>
      <p:sp>
        <p:nvSpPr>
          <p:cNvPr id="39" name="Shape 36"/>
          <p:cNvSpPr/>
          <p:nvPr/>
        </p:nvSpPr>
        <p:spPr>
          <a:xfrm>
            <a:off x="8127797" y="4846320"/>
            <a:ext cx="3515258" cy="1143000"/>
          </a:xfrm>
          <a:prstGeom prst="roundRect">
            <a:avLst>
              <a:gd name="adj" fmla="val 9600"/>
            </a:avLst>
          </a:prstGeom>
          <a:solidFill>
            <a:srgbClr val="FFF3C4"/>
          </a:solidFill>
          <a:ln w="12700">
            <a:solidFill>
              <a:srgbClr val="FFD23B"/>
            </a:solidFill>
            <a:prstDash val="solid"/>
          </a:ln>
        </p:spPr>
      </p:sp>
      <p:sp>
        <p:nvSpPr>
          <p:cNvPr id="40" name="Text 37"/>
          <p:cNvSpPr txBox="1"/>
          <p:nvPr/>
        </p:nvSpPr>
        <p:spPr>
          <a:xfrm>
            <a:off x="8356397" y="4846320"/>
            <a:ext cx="3058058" cy="11430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Xác nhận lại</a:t>
            </a:r>
            <a:endParaRPr lang="en-US" sz="1600" dirty="0"/>
          </a:p>
          <a:p>
            <a:pPr indent="0" marL="0">
              <a:buNone/>
            </a:pPr>
            <a:r>
              <a:rPr lang="en-US" sz="1300" dirty="0">
                <a:solidFill>
                  <a:srgbClr val="2A2238"/>
                </a:solidFill>
                <a:latin typeface="Alexandria" pitchFamily="34" charset="0"/>
                <a:ea typeface="Alexandria" pitchFamily="34" charset="-122"/>
                <a:cs typeface="Alexandria" pitchFamily="34" charset="-120"/>
              </a:rPr>
              <a:t>kiểm chứng với chính khách hàng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09A1E5"/>
          </a:solidFill>
          <a:ln w="9525">
            <a:solidFill>
              <a:srgbClr val="09A1E5"/>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PESTEL trong KAM là PESTEL của khách hàng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Dòng P: C05 (dữ kiện thật). Các dòng khác: GIẢ ĐỊNH để học tập.</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5</a:t>
            </a:r>
            <a:endParaRPr lang="en-US" sz="1000" dirty="0"/>
          </a:p>
        </p:txBody>
      </p:sp>
      <p:sp>
        <p:nvSpPr>
          <p:cNvPr id="20" name="Shape 17"/>
          <p:cNvSpPr/>
          <p:nvPr/>
        </p:nvSpPr>
        <p:spPr>
          <a:xfrm>
            <a:off x="2651760" y="1783080"/>
            <a:ext cx="4206240" cy="457200"/>
          </a:xfrm>
          <a:prstGeom prst="roundRect">
            <a:avLst>
              <a:gd name="adj" fmla="val 24000"/>
            </a:avLst>
          </a:prstGeom>
          <a:solidFill>
            <a:srgbClr val="09A1E5"/>
          </a:solidFill>
          <a:ln w="12700">
            <a:solidFill>
              <a:srgbClr val="09A1E5"/>
            </a:solidFill>
            <a:prstDash val="solid"/>
          </a:ln>
        </p:spPr>
      </p:sp>
      <p:sp>
        <p:nvSpPr>
          <p:cNvPr id="21" name="Text 18"/>
          <p:cNvSpPr txBox="1"/>
          <p:nvPr/>
        </p:nvSpPr>
        <p:spPr>
          <a:xfrm>
            <a:off x="2816352" y="1783080"/>
            <a:ext cx="3877056"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Câu hỏi cho An Phát</a:t>
            </a:r>
            <a:endParaRPr lang="en-US" sz="1500" dirty="0"/>
          </a:p>
        </p:txBody>
      </p:sp>
      <p:sp>
        <p:nvSpPr>
          <p:cNvPr id="22" name="Shape 19"/>
          <p:cNvSpPr/>
          <p:nvPr/>
        </p:nvSpPr>
        <p:spPr>
          <a:xfrm>
            <a:off x="6949440" y="1783080"/>
            <a:ext cx="4602175" cy="457200"/>
          </a:xfrm>
          <a:prstGeom prst="roundRect">
            <a:avLst>
              <a:gd name="adj" fmla="val 24000"/>
            </a:avLst>
          </a:prstGeom>
          <a:solidFill>
            <a:srgbClr val="962B7C"/>
          </a:solidFill>
          <a:ln w="12700">
            <a:solidFill>
              <a:srgbClr val="962B7C"/>
            </a:solidFill>
            <a:prstDash val="solid"/>
          </a:ln>
        </p:spPr>
      </p:sp>
      <p:sp>
        <p:nvSpPr>
          <p:cNvPr id="23" name="Text 20"/>
          <p:cNvSpPr txBox="1"/>
          <p:nvPr/>
        </p:nvSpPr>
        <p:spPr>
          <a:xfrm>
            <a:off x="7114032" y="1783080"/>
            <a:ext cx="4272991"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Ví dụ</a:t>
            </a:r>
            <a:endParaRPr lang="en-US" sz="1500" dirty="0"/>
          </a:p>
        </p:txBody>
      </p:sp>
      <p:sp>
        <p:nvSpPr>
          <p:cNvPr id="24" name="Shape 21"/>
          <p:cNvSpPr/>
          <p:nvPr/>
        </p:nvSpPr>
        <p:spPr>
          <a:xfrm>
            <a:off x="548640" y="2350008"/>
            <a:ext cx="11002975" cy="566928"/>
          </a:xfrm>
          <a:prstGeom prst="rect">
            <a:avLst/>
          </a:prstGeom>
          <a:solidFill>
            <a:srgbClr val="F3F0E6"/>
          </a:solidFill>
          <a:ln w="12700">
            <a:solidFill>
              <a:srgbClr val="F3F0E6"/>
            </a:solidFill>
            <a:prstDash val="solid"/>
          </a:ln>
        </p:spPr>
      </p:sp>
      <p:sp>
        <p:nvSpPr>
          <p:cNvPr id="25" name="Text 22"/>
          <p:cNvSpPr txBox="1"/>
          <p:nvPr/>
        </p:nvSpPr>
        <p:spPr>
          <a:xfrm>
            <a:off x="713232" y="2350008"/>
            <a:ext cx="1773936"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 – Chính trị</a:t>
            </a:r>
            <a:endParaRPr lang="en-US" sz="1300" dirty="0"/>
          </a:p>
        </p:txBody>
      </p:sp>
      <p:sp>
        <p:nvSpPr>
          <p:cNvPr id="26" name="Text 23"/>
          <p:cNvSpPr txBox="1"/>
          <p:nvPr/>
        </p:nvSpPr>
        <p:spPr>
          <a:xfrm>
            <a:off x="2816352" y="2350008"/>
            <a:ext cx="3968496"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Chính sách nào ảnh hưởng ngân hàng?</a:t>
            </a:r>
            <a:endParaRPr lang="en-US" sz="1300" dirty="0"/>
          </a:p>
        </p:txBody>
      </p:sp>
      <p:sp>
        <p:nvSpPr>
          <p:cNvPr id="27" name="Text 24"/>
          <p:cNvSpPr txBox="1"/>
          <p:nvPr/>
        </p:nvSpPr>
        <p:spPr>
          <a:xfrm>
            <a:off x="7114032" y="2350008"/>
            <a:ext cx="4364431"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THẬT: NHNN định hướng tín dụng ~15% năm 2026, siết tín dụng BĐS (C05)</a:t>
            </a:r>
            <a:endParaRPr lang="en-US" sz="1300" dirty="0"/>
          </a:p>
        </p:txBody>
      </p:sp>
      <p:sp>
        <p:nvSpPr>
          <p:cNvPr id="28" name="Text 25"/>
          <p:cNvSpPr txBox="1"/>
          <p:nvPr/>
        </p:nvSpPr>
        <p:spPr>
          <a:xfrm>
            <a:off x="713232" y="2971800"/>
            <a:ext cx="1773936"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E – Kinh tế</a:t>
            </a:r>
            <a:endParaRPr lang="en-US" sz="1300" dirty="0"/>
          </a:p>
        </p:txBody>
      </p:sp>
      <p:sp>
        <p:nvSpPr>
          <p:cNvPr id="29" name="Text 26"/>
          <p:cNvSpPr txBox="1"/>
          <p:nvPr/>
        </p:nvSpPr>
        <p:spPr>
          <a:xfrm>
            <a:off x="2816352" y="2971800"/>
            <a:ext cx="3968496"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Khách doanh nghiệp của An Phát đang lo gì?</a:t>
            </a:r>
            <a:endParaRPr lang="en-US" sz="1300" dirty="0"/>
          </a:p>
        </p:txBody>
      </p:sp>
      <p:sp>
        <p:nvSpPr>
          <p:cNvPr id="30" name="Text 27"/>
          <p:cNvSpPr txBox="1"/>
          <p:nvPr/>
        </p:nvSpPr>
        <p:spPr>
          <a:xfrm>
            <a:off x="7114032" y="2971800"/>
            <a:ext cx="4364431"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(giả định) chi phí vốn, dòng tiền</a:t>
            </a:r>
            <a:endParaRPr lang="en-US" sz="1300" dirty="0"/>
          </a:p>
        </p:txBody>
      </p:sp>
      <p:sp>
        <p:nvSpPr>
          <p:cNvPr id="31" name="Shape 28"/>
          <p:cNvSpPr/>
          <p:nvPr/>
        </p:nvSpPr>
        <p:spPr>
          <a:xfrm>
            <a:off x="548640" y="3593592"/>
            <a:ext cx="11002975" cy="566928"/>
          </a:xfrm>
          <a:prstGeom prst="rect">
            <a:avLst/>
          </a:prstGeom>
          <a:solidFill>
            <a:srgbClr val="F3F0E6"/>
          </a:solidFill>
          <a:ln w="12700">
            <a:solidFill>
              <a:srgbClr val="F3F0E6"/>
            </a:solidFill>
            <a:prstDash val="solid"/>
          </a:ln>
        </p:spPr>
      </p:sp>
      <p:sp>
        <p:nvSpPr>
          <p:cNvPr id="32" name="Text 29"/>
          <p:cNvSpPr txBox="1"/>
          <p:nvPr/>
        </p:nvSpPr>
        <p:spPr>
          <a:xfrm>
            <a:off x="713232" y="3593592"/>
            <a:ext cx="1773936"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S – Xã hội</a:t>
            </a:r>
            <a:endParaRPr lang="en-US" sz="1300" dirty="0"/>
          </a:p>
        </p:txBody>
      </p:sp>
      <p:sp>
        <p:nvSpPr>
          <p:cNvPr id="33" name="Text 30"/>
          <p:cNvSpPr txBox="1"/>
          <p:nvPr/>
        </p:nvSpPr>
        <p:spPr>
          <a:xfrm>
            <a:off x="2816352" y="3593592"/>
            <a:ext cx="3968496"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Thế hệ chủ doanh nghiệp thay đổi thế nào?</a:t>
            </a:r>
            <a:endParaRPr lang="en-US" sz="1300" dirty="0"/>
          </a:p>
        </p:txBody>
      </p:sp>
      <p:sp>
        <p:nvSpPr>
          <p:cNvPr id="34" name="Text 31"/>
          <p:cNvSpPr txBox="1"/>
          <p:nvPr/>
        </p:nvSpPr>
        <p:spPr>
          <a:xfrm>
            <a:off x="7114032" y="3593592"/>
            <a:ext cx="4364431"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(giả định) chủ doanh nghiệp trẻ, ưa trải nghiệm</a:t>
            </a:r>
            <a:endParaRPr lang="en-US" sz="1300" dirty="0"/>
          </a:p>
        </p:txBody>
      </p:sp>
      <p:sp>
        <p:nvSpPr>
          <p:cNvPr id="35" name="Text 32"/>
          <p:cNvSpPr txBox="1"/>
          <p:nvPr/>
        </p:nvSpPr>
        <p:spPr>
          <a:xfrm>
            <a:off x="713232" y="4215384"/>
            <a:ext cx="1773936"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T – Công nghệ</a:t>
            </a:r>
            <a:endParaRPr lang="en-US" sz="1300" dirty="0"/>
          </a:p>
        </p:txBody>
      </p:sp>
      <p:sp>
        <p:nvSpPr>
          <p:cNvPr id="36" name="Text 33"/>
          <p:cNvSpPr txBox="1"/>
          <p:nvPr/>
        </p:nvSpPr>
        <p:spPr>
          <a:xfrm>
            <a:off x="2816352" y="4215384"/>
            <a:ext cx="3968496"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Ngân hàng số ảnh hưởng quan hệ với khách?</a:t>
            </a:r>
            <a:endParaRPr lang="en-US" sz="1300" dirty="0"/>
          </a:p>
        </p:txBody>
      </p:sp>
      <p:sp>
        <p:nvSpPr>
          <p:cNvPr id="37" name="Text 34"/>
          <p:cNvSpPr txBox="1"/>
          <p:nvPr/>
        </p:nvSpPr>
        <p:spPr>
          <a:xfrm>
            <a:off x="7114032" y="4215384"/>
            <a:ext cx="4364431"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(giả định) khách ít đến chi nhánh</a:t>
            </a:r>
            <a:endParaRPr lang="en-US" sz="1300" dirty="0"/>
          </a:p>
        </p:txBody>
      </p:sp>
      <p:sp>
        <p:nvSpPr>
          <p:cNvPr id="38" name="Shape 35"/>
          <p:cNvSpPr/>
          <p:nvPr/>
        </p:nvSpPr>
        <p:spPr>
          <a:xfrm>
            <a:off x="548640" y="4837176"/>
            <a:ext cx="11002975" cy="566928"/>
          </a:xfrm>
          <a:prstGeom prst="rect">
            <a:avLst/>
          </a:prstGeom>
          <a:solidFill>
            <a:srgbClr val="F3F0E6"/>
          </a:solidFill>
          <a:ln w="12700">
            <a:solidFill>
              <a:srgbClr val="F3F0E6"/>
            </a:solidFill>
            <a:prstDash val="solid"/>
          </a:ln>
        </p:spPr>
      </p:sp>
      <p:sp>
        <p:nvSpPr>
          <p:cNvPr id="39" name="Text 36"/>
          <p:cNvSpPr txBox="1"/>
          <p:nvPr/>
        </p:nvSpPr>
        <p:spPr>
          <a:xfrm>
            <a:off x="713232" y="4837176"/>
            <a:ext cx="1773936"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E – Môi trường</a:t>
            </a:r>
            <a:endParaRPr lang="en-US" sz="1300" dirty="0"/>
          </a:p>
        </p:txBody>
      </p:sp>
      <p:sp>
        <p:nvSpPr>
          <p:cNvPr id="40" name="Text 37"/>
          <p:cNvSpPr txBox="1"/>
          <p:nvPr/>
        </p:nvSpPr>
        <p:spPr>
          <a:xfrm>
            <a:off x="2816352" y="4837176"/>
            <a:ext cx="3968496"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Xu hướng xanh?</a:t>
            </a:r>
            <a:endParaRPr lang="en-US" sz="1300" dirty="0"/>
          </a:p>
        </p:txBody>
      </p:sp>
      <p:sp>
        <p:nvSpPr>
          <p:cNvPr id="41" name="Text 38"/>
          <p:cNvSpPr txBox="1"/>
          <p:nvPr/>
        </p:nvSpPr>
        <p:spPr>
          <a:xfrm>
            <a:off x="7114032" y="4837176"/>
            <a:ext cx="4364431"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(giả định) tín dụng xanh</a:t>
            </a:r>
            <a:endParaRPr lang="en-US" sz="1300" dirty="0"/>
          </a:p>
        </p:txBody>
      </p:sp>
      <p:sp>
        <p:nvSpPr>
          <p:cNvPr id="42" name="Text 39"/>
          <p:cNvSpPr txBox="1"/>
          <p:nvPr/>
        </p:nvSpPr>
        <p:spPr>
          <a:xfrm>
            <a:off x="713232" y="5458968"/>
            <a:ext cx="1773936"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L – Pháp lý</a:t>
            </a:r>
            <a:endParaRPr lang="en-US" sz="1300" dirty="0"/>
          </a:p>
        </p:txBody>
      </p:sp>
      <p:sp>
        <p:nvSpPr>
          <p:cNvPr id="43" name="Text 40"/>
          <p:cNvSpPr txBox="1"/>
          <p:nvPr/>
        </p:nvSpPr>
        <p:spPr>
          <a:xfrm>
            <a:off x="2816352" y="5458968"/>
            <a:ext cx="3968496"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Quy định nào ràng buộc cách An Phát làm sự kiện?</a:t>
            </a:r>
            <a:endParaRPr lang="en-US" sz="1300" dirty="0"/>
          </a:p>
        </p:txBody>
      </p:sp>
      <p:sp>
        <p:nvSpPr>
          <p:cNvPr id="44" name="Text 41"/>
          <p:cNvSpPr txBox="1"/>
          <p:nvPr/>
        </p:nvSpPr>
        <p:spPr>
          <a:xfrm>
            <a:off x="7114032" y="5458968"/>
            <a:ext cx="4364431" cy="566928"/>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bảo vệ dữ liệu khách hàng [VERIFY]; bán bảo hiểm qua ngân hàng (Buổi 9)</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09A1E5"/>
          </a:solidFill>
          <a:ln w="9525">
            <a:solidFill>
              <a:srgbClr val="09A1E5"/>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Dữ kiện chỉ có giá trị khi thành nhu cầu</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Chuỗi suy luận: nhận định của người soạn, dựa trên C05.</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6</a:t>
            </a:r>
            <a:endParaRPr lang="en-US" sz="1000" dirty="0"/>
          </a:p>
        </p:txBody>
      </p:sp>
      <p:sp>
        <p:nvSpPr>
          <p:cNvPr id="20" name="Shape 17"/>
          <p:cNvSpPr/>
          <p:nvPr/>
        </p:nvSpPr>
        <p:spPr>
          <a:xfrm>
            <a:off x="548640" y="2011680"/>
            <a:ext cx="3332378" cy="548640"/>
          </a:xfrm>
          <a:prstGeom prst="roundRect">
            <a:avLst>
              <a:gd name="adj" fmla="val 50000"/>
            </a:avLst>
          </a:prstGeom>
          <a:solidFill>
            <a:srgbClr val="09A1E5"/>
          </a:solidFill>
          <a:ln w="12700">
            <a:solidFill>
              <a:srgbClr val="09A1E5"/>
            </a:solidFill>
            <a:prstDash val="solid"/>
          </a:ln>
        </p:spPr>
      </p:sp>
      <p:sp>
        <p:nvSpPr>
          <p:cNvPr id="21" name="Text 18"/>
          <p:cNvSpPr txBox="1"/>
          <p:nvPr/>
        </p:nvSpPr>
        <p:spPr>
          <a:xfrm>
            <a:off x="621792" y="2011680"/>
            <a:ext cx="3186074"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Dữ kiện</a:t>
            </a:r>
            <a:endParaRPr lang="en-US" sz="1600" dirty="0"/>
          </a:p>
        </p:txBody>
      </p:sp>
      <p:sp>
        <p:nvSpPr>
          <p:cNvPr id="22" name="Shape 19"/>
          <p:cNvSpPr/>
          <p:nvPr/>
        </p:nvSpPr>
        <p:spPr>
          <a:xfrm>
            <a:off x="548640" y="2697480"/>
            <a:ext cx="3332378" cy="2011680"/>
          </a:xfrm>
          <a:prstGeom prst="roundRect">
            <a:avLst>
              <a:gd name="adj" fmla="val 5455"/>
            </a:avLst>
          </a:prstGeom>
          <a:solidFill>
            <a:srgbClr val="DDF1FB"/>
          </a:solidFill>
          <a:ln w="19050">
            <a:solidFill>
              <a:srgbClr val="09A1E5"/>
            </a:solidFill>
            <a:prstDash val="solid"/>
          </a:ln>
        </p:spPr>
      </p:sp>
      <p:sp>
        <p:nvSpPr>
          <p:cNvPr id="23" name="Text 20"/>
          <p:cNvSpPr txBox="1"/>
          <p:nvPr/>
        </p:nvSpPr>
        <p:spPr>
          <a:xfrm>
            <a:off x="822960" y="2697480"/>
            <a:ext cx="2783738" cy="2011680"/>
          </a:xfrm>
          <a:prstGeom prst="rect">
            <a:avLst/>
          </a:prstGeom>
          <a:noFill/>
          <a:ln/>
        </p:spPr>
        <p:txBody>
          <a:bodyPr wrap="square" lIns="0" tIns="0" rIns="0" bIns="0" rtlCol="0" anchor="ctr"/>
          <a:lstStyle/>
          <a:p>
            <a:pPr algn="ctr" indent="0" marL="0">
              <a:buNone/>
            </a:pPr>
            <a:r>
              <a:rPr lang="en-US" sz="1800" dirty="0">
                <a:solidFill>
                  <a:srgbClr val="2A2238"/>
                </a:solidFill>
                <a:latin typeface="Alexandria" pitchFamily="34" charset="0"/>
                <a:ea typeface="Alexandria" pitchFamily="34" charset="-122"/>
                <a:cs typeface="Alexandria" pitchFamily="34" charset="-120"/>
              </a:rPr>
              <a:t>Tín dụng bị giới hạn (~15%, siết BĐS)</a:t>
            </a:r>
            <a:endParaRPr lang="en-US" sz="1800" dirty="0"/>
          </a:p>
        </p:txBody>
      </p:sp>
      <p:sp>
        <p:nvSpPr>
          <p:cNvPr id="24" name="Shape 21"/>
          <p:cNvSpPr/>
          <p:nvPr/>
        </p:nvSpPr>
        <p:spPr>
          <a:xfrm>
            <a:off x="3954170" y="3703320"/>
            <a:ext cx="402336" cy="914"/>
          </a:xfrm>
          <a:prstGeom prst="line">
            <a:avLst/>
          </a:prstGeom>
          <a:noFill/>
          <a:ln w="38100">
            <a:solidFill>
              <a:srgbClr val="2A2238"/>
            </a:solidFill>
            <a:prstDash val="solid"/>
            <a:tailEnd type="triangle"/>
          </a:ln>
        </p:spPr>
      </p:sp>
      <p:sp>
        <p:nvSpPr>
          <p:cNvPr id="25" name="Shape 22"/>
          <p:cNvSpPr/>
          <p:nvPr/>
        </p:nvSpPr>
        <p:spPr>
          <a:xfrm>
            <a:off x="4429658" y="2011680"/>
            <a:ext cx="3332378" cy="548640"/>
          </a:xfrm>
          <a:prstGeom prst="roundRect">
            <a:avLst>
              <a:gd name="adj" fmla="val 50000"/>
            </a:avLst>
          </a:prstGeom>
          <a:solidFill>
            <a:srgbClr val="FF5178"/>
          </a:solidFill>
          <a:ln w="12700">
            <a:solidFill>
              <a:srgbClr val="FF5178"/>
            </a:solidFill>
            <a:prstDash val="solid"/>
          </a:ln>
        </p:spPr>
      </p:sp>
      <p:sp>
        <p:nvSpPr>
          <p:cNvPr id="26" name="Text 23"/>
          <p:cNvSpPr txBox="1"/>
          <p:nvPr/>
        </p:nvSpPr>
        <p:spPr>
          <a:xfrm>
            <a:off x="4502810" y="2011680"/>
            <a:ext cx="3186074"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Hệ quả cho ngân hàng</a:t>
            </a:r>
            <a:endParaRPr lang="en-US" sz="1600" dirty="0"/>
          </a:p>
        </p:txBody>
      </p:sp>
      <p:sp>
        <p:nvSpPr>
          <p:cNvPr id="27" name="Shape 24"/>
          <p:cNvSpPr/>
          <p:nvPr/>
        </p:nvSpPr>
        <p:spPr>
          <a:xfrm>
            <a:off x="4429658" y="2697480"/>
            <a:ext cx="3332378" cy="2011680"/>
          </a:xfrm>
          <a:prstGeom prst="roundRect">
            <a:avLst>
              <a:gd name="adj" fmla="val 5455"/>
            </a:avLst>
          </a:prstGeom>
          <a:solidFill>
            <a:srgbClr val="FFE4EA"/>
          </a:solidFill>
          <a:ln w="19050">
            <a:solidFill>
              <a:srgbClr val="FF5178"/>
            </a:solidFill>
            <a:prstDash val="solid"/>
          </a:ln>
        </p:spPr>
      </p:sp>
      <p:sp>
        <p:nvSpPr>
          <p:cNvPr id="28" name="Text 25"/>
          <p:cNvSpPr txBox="1"/>
          <p:nvPr/>
        </p:nvSpPr>
        <p:spPr>
          <a:xfrm>
            <a:off x="4703978" y="2697480"/>
            <a:ext cx="2783738" cy="2011680"/>
          </a:xfrm>
          <a:prstGeom prst="rect">
            <a:avLst/>
          </a:prstGeom>
          <a:noFill/>
          <a:ln/>
        </p:spPr>
        <p:txBody>
          <a:bodyPr wrap="square" lIns="0" tIns="0" rIns="0" bIns="0" rtlCol="0" anchor="ctr"/>
          <a:lstStyle/>
          <a:p>
            <a:pPr algn="ctr" indent="0" marL="0">
              <a:buNone/>
            </a:pPr>
            <a:r>
              <a:rPr lang="en-US" sz="1800" dirty="0">
                <a:solidFill>
                  <a:srgbClr val="2A2238"/>
                </a:solidFill>
                <a:latin typeface="Alexandria" pitchFamily="34" charset="0"/>
                <a:ea typeface="Alexandria" pitchFamily="34" charset="-122"/>
                <a:cs typeface="Alexandria" pitchFamily="34" charset="-120"/>
              </a:rPr>
              <a:t>Cạnh tranh giữ khách doanh nghiệp tốt bằng dịch vụ và quan hệ</a:t>
            </a:r>
            <a:endParaRPr lang="en-US" sz="1800" dirty="0"/>
          </a:p>
        </p:txBody>
      </p:sp>
      <p:sp>
        <p:nvSpPr>
          <p:cNvPr id="29" name="Shape 26"/>
          <p:cNvSpPr/>
          <p:nvPr/>
        </p:nvSpPr>
        <p:spPr>
          <a:xfrm>
            <a:off x="7835189" y="3703320"/>
            <a:ext cx="402336" cy="914"/>
          </a:xfrm>
          <a:prstGeom prst="line">
            <a:avLst/>
          </a:prstGeom>
          <a:noFill/>
          <a:ln w="38100">
            <a:solidFill>
              <a:srgbClr val="2A2238"/>
            </a:solidFill>
            <a:prstDash val="solid"/>
            <a:tailEnd type="triangle"/>
          </a:ln>
        </p:spPr>
      </p:sp>
      <p:sp>
        <p:nvSpPr>
          <p:cNvPr id="30" name="Shape 27"/>
          <p:cNvSpPr/>
          <p:nvPr/>
        </p:nvSpPr>
        <p:spPr>
          <a:xfrm>
            <a:off x="8310677" y="2011680"/>
            <a:ext cx="3332378" cy="548640"/>
          </a:xfrm>
          <a:prstGeom prst="roundRect">
            <a:avLst>
              <a:gd name="adj" fmla="val 50000"/>
            </a:avLst>
          </a:prstGeom>
          <a:solidFill>
            <a:srgbClr val="962B7C"/>
          </a:solidFill>
          <a:ln w="12700">
            <a:solidFill>
              <a:srgbClr val="962B7C"/>
            </a:solidFill>
            <a:prstDash val="solid"/>
          </a:ln>
        </p:spPr>
      </p:sp>
      <p:sp>
        <p:nvSpPr>
          <p:cNvPr id="31" name="Text 28"/>
          <p:cNvSpPr txBox="1"/>
          <p:nvPr/>
        </p:nvSpPr>
        <p:spPr>
          <a:xfrm>
            <a:off x="8383829" y="2011680"/>
            <a:ext cx="3186074"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Nhu cầu của An Phát</a:t>
            </a:r>
            <a:endParaRPr lang="en-US" sz="1600" dirty="0"/>
          </a:p>
        </p:txBody>
      </p:sp>
      <p:sp>
        <p:nvSpPr>
          <p:cNvPr id="32" name="Shape 29"/>
          <p:cNvSpPr/>
          <p:nvPr/>
        </p:nvSpPr>
        <p:spPr>
          <a:xfrm>
            <a:off x="8310677" y="2697480"/>
            <a:ext cx="3332378" cy="2011680"/>
          </a:xfrm>
          <a:prstGeom prst="roundRect">
            <a:avLst>
              <a:gd name="adj" fmla="val 5455"/>
            </a:avLst>
          </a:prstGeom>
          <a:solidFill>
            <a:srgbClr val="F1E1EE"/>
          </a:solidFill>
          <a:ln w="19050">
            <a:solidFill>
              <a:srgbClr val="962B7C"/>
            </a:solidFill>
            <a:prstDash val="solid"/>
          </a:ln>
        </p:spPr>
      </p:sp>
      <p:sp>
        <p:nvSpPr>
          <p:cNvPr id="33" name="Text 30"/>
          <p:cNvSpPr txBox="1"/>
          <p:nvPr/>
        </p:nvSpPr>
        <p:spPr>
          <a:xfrm>
            <a:off x="8584997" y="2697480"/>
            <a:ext cx="2783738" cy="20116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Sự kiện tạo giá trị thật cho khách doanh nghiệp — không chỉ tiệc</a:t>
            </a:r>
            <a:endParaRPr lang="en-US" sz="1800" dirty="0"/>
          </a:p>
        </p:txBody>
      </p:sp>
      <p:sp>
        <p:nvSpPr>
          <p:cNvPr id="34" name="Shape 31"/>
          <p:cNvSpPr/>
          <p:nvPr/>
        </p:nvSpPr>
        <p:spPr>
          <a:xfrm>
            <a:off x="548640" y="5029200"/>
            <a:ext cx="11094415" cy="960120"/>
          </a:xfrm>
          <a:prstGeom prst="roundRect">
            <a:avLst>
              <a:gd name="adj" fmla="val 11429"/>
            </a:avLst>
          </a:prstGeom>
          <a:solidFill>
            <a:srgbClr val="FFF3C4"/>
          </a:solidFill>
          <a:ln w="12700">
            <a:solidFill>
              <a:srgbClr val="FFD23B"/>
            </a:solidFill>
            <a:prstDash val="solid"/>
          </a:ln>
        </p:spPr>
      </p:sp>
      <p:sp>
        <p:nvSpPr>
          <p:cNvPr id="35" name="Text 32"/>
          <p:cNvSpPr txBox="1"/>
          <p:nvPr/>
        </p:nvSpPr>
        <p:spPr>
          <a:xfrm>
            <a:off x="868680" y="5029200"/>
            <a:ext cx="10454335" cy="9601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Giá trị của phân tích nằm ở nhu cầu rút ra — không ở bảng điền đủ sáu chữ cái.</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09A1E5"/>
          </a:solidFill>
          <a:ln w="9525">
            <a:solidFill>
              <a:srgbClr val="09A1E5"/>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Đối thủ của An Phát là ngân hàng khác, không phải agency khác</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C01; ví dụ ngân hàng đối thủ: nhận định của người soạn.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7</a:t>
            </a:r>
            <a:endParaRPr lang="en-US" sz="1000" dirty="0"/>
          </a:p>
        </p:txBody>
      </p:sp>
      <p:sp>
        <p:nvSpPr>
          <p:cNvPr id="20" name="Shape 17"/>
          <p:cNvSpPr/>
          <p:nvPr/>
        </p:nvSpPr>
        <p:spPr>
          <a:xfrm>
            <a:off x="4724248" y="3246120"/>
            <a:ext cx="2743200" cy="822960"/>
          </a:xfrm>
          <a:prstGeom prst="roundRect">
            <a:avLst>
              <a:gd name="adj" fmla="val 50000"/>
            </a:avLst>
          </a:prstGeom>
          <a:solidFill>
            <a:srgbClr val="962B7C"/>
          </a:solidFill>
          <a:ln w="12700">
            <a:solidFill>
              <a:srgbClr val="962B7C"/>
            </a:solidFill>
            <a:prstDash val="solid"/>
          </a:ln>
        </p:spPr>
      </p:sp>
      <p:sp>
        <p:nvSpPr>
          <p:cNvPr id="21" name="Text 18"/>
          <p:cNvSpPr txBox="1"/>
          <p:nvPr/>
        </p:nvSpPr>
        <p:spPr>
          <a:xfrm>
            <a:off x="4797400" y="3246120"/>
            <a:ext cx="2596896"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An Phát</a:t>
            </a:r>
            <a:endParaRPr lang="en-US" sz="2000" dirty="0"/>
          </a:p>
        </p:txBody>
      </p:sp>
      <p:sp>
        <p:nvSpPr>
          <p:cNvPr id="22" name="Text 19"/>
          <p:cNvSpPr txBox="1"/>
          <p:nvPr/>
        </p:nvSpPr>
        <p:spPr>
          <a:xfrm>
            <a:off x="4724248" y="4114800"/>
            <a:ext cx="2743200" cy="365760"/>
          </a:xfrm>
          <a:prstGeom prst="rect">
            <a:avLst/>
          </a:prstGeom>
          <a:noFill/>
          <a:ln/>
        </p:spPr>
        <p:txBody>
          <a:bodyPr wrap="square" lIns="0" tIns="0" rIns="0" bIns="0" rtlCol="0" anchor="ctr"/>
          <a:lstStyle/>
          <a:p>
            <a:pPr algn="ctr" indent="0" marL="0">
              <a:buNone/>
            </a:pPr>
            <a:r>
              <a:rPr lang="en-US" sz="1300" i="1" dirty="0">
                <a:solidFill>
                  <a:srgbClr val="6E6878"/>
                </a:solidFill>
                <a:latin typeface="Alexandria" pitchFamily="34" charset="0"/>
                <a:ea typeface="Alexandria" pitchFamily="34" charset="-122"/>
                <a:cs typeface="Alexandria" pitchFamily="34" charset="-120"/>
              </a:rPr>
              <a:t>khách doanh nghiệp VIP</a:t>
            </a:r>
            <a:endParaRPr lang="en-US" sz="1300" dirty="0"/>
          </a:p>
        </p:txBody>
      </p:sp>
      <p:sp>
        <p:nvSpPr>
          <p:cNvPr id="23" name="Shape 20"/>
          <p:cNvSpPr/>
          <p:nvPr/>
        </p:nvSpPr>
        <p:spPr>
          <a:xfrm>
            <a:off x="548640" y="1965960"/>
            <a:ext cx="3291840" cy="1188720"/>
          </a:xfrm>
          <a:prstGeom prst="roundRect">
            <a:avLst>
              <a:gd name="adj" fmla="val 9231"/>
            </a:avLst>
          </a:prstGeom>
          <a:solidFill>
            <a:srgbClr val="FFE4EA"/>
          </a:solidFill>
          <a:ln w="12700">
            <a:solidFill>
              <a:srgbClr val="FF5178"/>
            </a:solidFill>
            <a:prstDash val="solid"/>
          </a:ln>
        </p:spPr>
      </p:sp>
      <p:sp>
        <p:nvSpPr>
          <p:cNvPr id="24" name="Text 21"/>
          <p:cNvSpPr txBox="1"/>
          <p:nvPr/>
        </p:nvSpPr>
        <p:spPr>
          <a:xfrm>
            <a:off x="777240" y="1965960"/>
            <a:ext cx="2834640" cy="11887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Ngân hàng X</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hội thảo chuyên đề hàng quý</a:t>
            </a:r>
            <a:endParaRPr lang="en-US" sz="1700" dirty="0"/>
          </a:p>
        </p:txBody>
      </p:sp>
      <p:sp>
        <p:nvSpPr>
          <p:cNvPr id="25" name="Shape 22"/>
          <p:cNvSpPr/>
          <p:nvPr/>
        </p:nvSpPr>
        <p:spPr>
          <a:xfrm>
            <a:off x="548640" y="4480560"/>
            <a:ext cx="3291840" cy="1188720"/>
          </a:xfrm>
          <a:prstGeom prst="roundRect">
            <a:avLst>
              <a:gd name="adj" fmla="val 9231"/>
            </a:avLst>
          </a:prstGeom>
          <a:solidFill>
            <a:srgbClr val="FFE4EA"/>
          </a:solidFill>
          <a:ln w="12700">
            <a:solidFill>
              <a:srgbClr val="FF5178"/>
            </a:solidFill>
            <a:prstDash val="solid"/>
          </a:ln>
        </p:spPr>
      </p:sp>
      <p:sp>
        <p:nvSpPr>
          <p:cNvPr id="26" name="Text 23"/>
          <p:cNvSpPr txBox="1"/>
          <p:nvPr/>
        </p:nvSpPr>
        <p:spPr>
          <a:xfrm>
            <a:off x="777240" y="4480560"/>
            <a:ext cx="2834640" cy="11887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Ngân hàng Y</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lãi suất ưu đãi</a:t>
            </a:r>
            <a:endParaRPr lang="en-US" sz="1700" dirty="0"/>
          </a:p>
        </p:txBody>
      </p:sp>
      <p:sp>
        <p:nvSpPr>
          <p:cNvPr id="27" name="Shape 24"/>
          <p:cNvSpPr/>
          <p:nvPr/>
        </p:nvSpPr>
        <p:spPr>
          <a:xfrm>
            <a:off x="8351215" y="1965960"/>
            <a:ext cx="3291840" cy="1188720"/>
          </a:xfrm>
          <a:prstGeom prst="roundRect">
            <a:avLst>
              <a:gd name="adj" fmla="val 9231"/>
            </a:avLst>
          </a:prstGeom>
          <a:solidFill>
            <a:srgbClr val="FFE4EA"/>
          </a:solidFill>
          <a:ln w="12700">
            <a:solidFill>
              <a:srgbClr val="FF5178"/>
            </a:solidFill>
            <a:prstDash val="solid"/>
          </a:ln>
        </p:spPr>
      </p:sp>
      <p:sp>
        <p:nvSpPr>
          <p:cNvPr id="28" name="Text 25"/>
          <p:cNvSpPr txBox="1"/>
          <p:nvPr/>
        </p:nvSpPr>
        <p:spPr>
          <a:xfrm>
            <a:off x="8579815" y="1965960"/>
            <a:ext cx="2834640" cy="11887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Ngân hàng Z</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(nhóm tự bổ sung)</a:t>
            </a:r>
            <a:endParaRPr lang="en-US" sz="1700" dirty="0"/>
          </a:p>
        </p:txBody>
      </p:sp>
      <p:sp>
        <p:nvSpPr>
          <p:cNvPr id="29" name="Shape 26"/>
          <p:cNvSpPr/>
          <p:nvPr/>
        </p:nvSpPr>
        <p:spPr>
          <a:xfrm>
            <a:off x="3931920" y="2697480"/>
            <a:ext cx="746608" cy="731520"/>
          </a:xfrm>
          <a:prstGeom prst="line">
            <a:avLst/>
          </a:prstGeom>
          <a:noFill/>
          <a:ln w="31750">
            <a:solidFill>
              <a:srgbClr val="FF5178"/>
            </a:solidFill>
            <a:prstDash val="solid"/>
            <a:tailEnd type="triangle"/>
          </a:ln>
        </p:spPr>
      </p:sp>
      <p:sp>
        <p:nvSpPr>
          <p:cNvPr id="30" name="Shape 27"/>
          <p:cNvSpPr/>
          <p:nvPr/>
        </p:nvSpPr>
        <p:spPr>
          <a:xfrm flipV="1">
            <a:off x="3931920" y="3931920"/>
            <a:ext cx="746608" cy="1005840"/>
          </a:xfrm>
          <a:prstGeom prst="line">
            <a:avLst/>
          </a:prstGeom>
          <a:noFill/>
          <a:ln w="31750">
            <a:solidFill>
              <a:srgbClr val="FF5178"/>
            </a:solidFill>
            <a:prstDash val="solid"/>
            <a:tailEnd type="triangle"/>
          </a:ln>
        </p:spPr>
      </p:sp>
      <p:sp>
        <p:nvSpPr>
          <p:cNvPr id="31" name="Shape 28"/>
          <p:cNvSpPr/>
          <p:nvPr/>
        </p:nvSpPr>
        <p:spPr>
          <a:xfrm flipH="1">
            <a:off x="7513168" y="2697480"/>
            <a:ext cx="746608" cy="731520"/>
          </a:xfrm>
          <a:prstGeom prst="line">
            <a:avLst/>
          </a:prstGeom>
          <a:noFill/>
          <a:ln w="31750">
            <a:solidFill>
              <a:srgbClr val="FF5178"/>
            </a:solidFill>
            <a:prstDash val="solid"/>
            <a:tailEnd type="triangle"/>
          </a:ln>
        </p:spPr>
      </p:sp>
      <p:sp>
        <p:nvSpPr>
          <p:cNvPr id="32" name="Shape 29"/>
          <p:cNvSpPr/>
          <p:nvPr/>
        </p:nvSpPr>
        <p:spPr>
          <a:xfrm>
            <a:off x="8351215" y="4480560"/>
            <a:ext cx="3291840" cy="1188720"/>
          </a:xfrm>
          <a:prstGeom prst="roundRect">
            <a:avLst>
              <a:gd name="adj" fmla="val 9231"/>
            </a:avLst>
          </a:prstGeom>
          <a:solidFill>
            <a:srgbClr val="FFFFFF"/>
          </a:solidFill>
          <a:ln w="12700">
            <a:solidFill>
              <a:srgbClr val="DCD7C8"/>
            </a:solidFill>
            <a:prstDash val="solid"/>
          </a:ln>
        </p:spPr>
      </p:sp>
      <p:sp>
        <p:nvSpPr>
          <p:cNvPr id="33" name="Text 30"/>
          <p:cNvSpPr txBox="1"/>
          <p:nvPr/>
        </p:nvSpPr>
        <p:spPr>
          <a:xfrm>
            <a:off x="8579815" y="4480560"/>
            <a:ext cx="2834640" cy="1188720"/>
          </a:xfrm>
          <a:prstGeom prst="rect">
            <a:avLst/>
          </a:prstGeom>
          <a:noFill/>
          <a:ln/>
        </p:spPr>
        <p:txBody>
          <a:bodyPr wrap="square" lIns="0" tIns="0" rIns="0" bIns="0" rtlCol="0" anchor="ctr"/>
          <a:lstStyle/>
          <a:p>
            <a:pPr indent="0" marL="0">
              <a:buNone/>
            </a:pPr>
            <a:r>
              <a:rPr lang="en-US" sz="1700" b="1" dirty="0">
                <a:solidFill>
                  <a:srgbClr val="6E6878"/>
                </a:solidFill>
                <a:latin typeface="Alexandria" pitchFamily="34" charset="0"/>
                <a:ea typeface="Alexandria" pitchFamily="34" charset="-122"/>
                <a:cs typeface="Alexandria" pitchFamily="34" charset="-120"/>
              </a:rPr>
              <a:t>✗ Agency khác</a:t>
            </a:r>
            <a:endParaRPr lang="en-US" sz="1700" dirty="0"/>
          </a:p>
          <a:p>
            <a:pPr indent="0" marL="0">
              <a:buNone/>
            </a:pPr>
            <a:r>
              <a:rPr lang="en-US" sz="1300" dirty="0">
                <a:solidFill>
                  <a:srgbClr val="6E6878"/>
                </a:solidFill>
                <a:latin typeface="Alexandria" pitchFamily="34" charset="0"/>
                <a:ea typeface="Alexandria" pitchFamily="34" charset="-122"/>
                <a:cs typeface="Alexandria" pitchFamily="34" charset="-120"/>
              </a:rPr>
              <a:t>là đối thủ của Nova — không phải của An Phát</a:t>
            </a:r>
            <a:endParaRPr lang="en-US" sz="1700" dirty="0"/>
          </a:p>
        </p:txBody>
      </p:sp>
      <p:sp>
        <p:nvSpPr>
          <p:cNvPr id="34" name="Text 31"/>
          <p:cNvSpPr txBox="1"/>
          <p:nvPr/>
        </p:nvSpPr>
        <p:spPr>
          <a:xfrm>
            <a:off x="548640" y="3291840"/>
            <a:ext cx="3291840" cy="731520"/>
          </a:xfrm>
          <a:prstGeom prst="rect">
            <a:avLst/>
          </a:prstGeom>
          <a:noFill/>
          <a:ln/>
        </p:spPr>
        <p:txBody>
          <a:bodyPr wrap="square" lIns="0" tIns="0" rIns="0" bIns="0" rtlCol="0" anchor="ctr"/>
          <a:lstStyle/>
          <a:p>
            <a:pPr indent="0" marL="0">
              <a:buNone/>
            </a:pPr>
            <a:r>
              <a:rPr lang="en-US" sz="1300" i="1" dirty="0">
                <a:solidFill>
                  <a:srgbClr val="E03A62"/>
                </a:solidFill>
                <a:latin typeface="Alexandria" pitchFamily="34" charset="0"/>
                <a:ea typeface="Alexandria" pitchFamily="34" charset="-122"/>
                <a:cs typeface="Alexandria" pitchFamily="34" charset="-120"/>
              </a:rPr>
              <a:t>Đối thủ giành khách của An Phát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09A1E5"/>
          </a:solidFill>
          <a:ln w="9525">
            <a:solidFill>
              <a:srgbClr val="09A1E5"/>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Thiếu dữ liệu thì ghi giả định, không bịa</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C01: Davies, KAM Forum (Cranfield).</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8</a:t>
            </a:r>
            <a:endParaRPr lang="en-US" sz="1000" dirty="0"/>
          </a:p>
        </p:txBody>
      </p:sp>
      <p:sp>
        <p:nvSpPr>
          <p:cNvPr id="20" name="Shape 17"/>
          <p:cNvSpPr/>
          <p:nvPr/>
        </p:nvSpPr>
        <p:spPr>
          <a:xfrm>
            <a:off x="548640" y="1920240"/>
            <a:ext cx="4937760" cy="1737360"/>
          </a:xfrm>
          <a:prstGeom prst="roundRect">
            <a:avLst>
              <a:gd name="adj" fmla="val 6316"/>
            </a:avLst>
          </a:prstGeom>
          <a:solidFill>
            <a:srgbClr val="FFE4EA"/>
          </a:solidFill>
          <a:ln w="12700">
            <a:solidFill>
              <a:srgbClr val="FF5178"/>
            </a:solidFill>
            <a:prstDash val="solid"/>
          </a:ln>
        </p:spPr>
      </p:sp>
      <p:sp>
        <p:nvSpPr>
          <p:cNvPr id="21" name="Text 18"/>
          <p:cNvSpPr txBox="1"/>
          <p:nvPr/>
        </p:nvSpPr>
        <p:spPr>
          <a:xfrm>
            <a:off x="822960" y="19202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“PESTEL là để phân tích thị trường sự kiện”</a:t>
            </a:r>
            <a:endParaRPr lang="en-US" sz="1300" dirty="0"/>
          </a:p>
        </p:txBody>
      </p:sp>
      <p:sp>
        <p:nvSpPr>
          <p:cNvPr id="22" name="Shape 19"/>
          <p:cNvSpPr/>
          <p:nvPr/>
        </p:nvSpPr>
        <p:spPr>
          <a:xfrm>
            <a:off x="5623560" y="2788920"/>
            <a:ext cx="777240" cy="914"/>
          </a:xfrm>
          <a:prstGeom prst="line">
            <a:avLst/>
          </a:prstGeom>
          <a:noFill/>
          <a:ln w="38100">
            <a:solidFill>
              <a:srgbClr val="2A2238"/>
            </a:solidFill>
            <a:prstDash val="solid"/>
            <a:tailEnd type="triangle"/>
          </a:ln>
        </p:spPr>
      </p:sp>
      <p:sp>
        <p:nvSpPr>
          <p:cNvPr id="23" name="Shape 20"/>
          <p:cNvSpPr/>
          <p:nvPr/>
        </p:nvSpPr>
        <p:spPr>
          <a:xfrm>
            <a:off x="6537960" y="1920240"/>
            <a:ext cx="5105095" cy="1737360"/>
          </a:xfrm>
          <a:prstGeom prst="roundRect">
            <a:avLst>
              <a:gd name="adj" fmla="val 6316"/>
            </a:avLst>
          </a:prstGeom>
          <a:solidFill>
            <a:srgbClr val="E1F3EE"/>
          </a:solidFill>
          <a:ln w="12700">
            <a:solidFill>
              <a:srgbClr val="49B296"/>
            </a:solidFill>
            <a:prstDash val="solid"/>
          </a:ln>
        </p:spPr>
      </p:sp>
      <p:sp>
        <p:nvSpPr>
          <p:cNvPr id="24" name="Text 21"/>
          <p:cNvSpPr txBox="1"/>
          <p:nvPr/>
        </p:nvSpPr>
        <p:spPr>
          <a:xfrm>
            <a:off x="6812280" y="19202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800" b="1" dirty="0">
                <a:solidFill>
                  <a:srgbClr val="2A2238"/>
                </a:solidFill>
                <a:latin typeface="Alexandria" pitchFamily="34" charset="0"/>
                <a:ea typeface="Alexandria" pitchFamily="34" charset="-122"/>
                <a:cs typeface="Alexandria" pitchFamily="34" charset="-120"/>
              </a:rPr>
              <a:t>Trong KAM, phân tích ngành và đối thủ của khách hàng</a:t>
            </a:r>
            <a:endParaRPr lang="en-US" sz="1300" dirty="0"/>
          </a:p>
        </p:txBody>
      </p:sp>
      <p:sp>
        <p:nvSpPr>
          <p:cNvPr id="25" name="Shape 22"/>
          <p:cNvSpPr/>
          <p:nvPr/>
        </p:nvSpPr>
        <p:spPr>
          <a:xfrm>
            <a:off x="548640" y="3977640"/>
            <a:ext cx="4937760" cy="1737360"/>
          </a:xfrm>
          <a:prstGeom prst="roundRect">
            <a:avLst>
              <a:gd name="adj" fmla="val 6316"/>
            </a:avLst>
          </a:prstGeom>
          <a:solidFill>
            <a:srgbClr val="FFE4EA"/>
          </a:solidFill>
          <a:ln w="12700">
            <a:solidFill>
              <a:srgbClr val="FF5178"/>
            </a:solidFill>
            <a:prstDash val="solid"/>
          </a:ln>
        </p:spPr>
      </p:sp>
      <p:sp>
        <p:nvSpPr>
          <p:cNvPr id="26" name="Text 23"/>
          <p:cNvSpPr txBox="1"/>
          <p:nvPr/>
        </p:nvSpPr>
        <p:spPr>
          <a:xfrm>
            <a:off x="822960" y="39776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“Không có số liệu thì bỏ qua”</a:t>
            </a:r>
            <a:endParaRPr lang="en-US" sz="1300" dirty="0"/>
          </a:p>
        </p:txBody>
      </p:sp>
      <p:sp>
        <p:nvSpPr>
          <p:cNvPr id="27" name="Shape 24"/>
          <p:cNvSpPr/>
          <p:nvPr/>
        </p:nvSpPr>
        <p:spPr>
          <a:xfrm>
            <a:off x="5623560" y="4846320"/>
            <a:ext cx="777240" cy="914"/>
          </a:xfrm>
          <a:prstGeom prst="line">
            <a:avLst/>
          </a:prstGeom>
          <a:noFill/>
          <a:ln w="38100">
            <a:solidFill>
              <a:srgbClr val="2A2238"/>
            </a:solidFill>
            <a:prstDash val="solid"/>
            <a:tailEnd type="triangle"/>
          </a:ln>
        </p:spPr>
      </p:sp>
      <p:sp>
        <p:nvSpPr>
          <p:cNvPr id="28" name="Shape 25"/>
          <p:cNvSpPr/>
          <p:nvPr/>
        </p:nvSpPr>
        <p:spPr>
          <a:xfrm>
            <a:off x="6537960" y="3977640"/>
            <a:ext cx="5105095" cy="1737360"/>
          </a:xfrm>
          <a:prstGeom prst="roundRect">
            <a:avLst>
              <a:gd name="adj" fmla="val 6316"/>
            </a:avLst>
          </a:prstGeom>
          <a:solidFill>
            <a:srgbClr val="E1F3EE"/>
          </a:solidFill>
          <a:ln w="12700">
            <a:solidFill>
              <a:srgbClr val="49B296"/>
            </a:solidFill>
            <a:prstDash val="solid"/>
          </a:ln>
        </p:spPr>
      </p:sp>
      <p:sp>
        <p:nvSpPr>
          <p:cNvPr id="29" name="Text 26"/>
          <p:cNvSpPr txBox="1"/>
          <p:nvPr/>
        </p:nvSpPr>
        <p:spPr>
          <a:xfrm>
            <a:off x="6812280" y="39776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800" b="1" dirty="0">
                <a:solidFill>
                  <a:srgbClr val="2A2238"/>
                </a:solidFill>
                <a:latin typeface="Alexandria" pitchFamily="34" charset="0"/>
                <a:ea typeface="Alexandria" pitchFamily="34" charset="-122"/>
                <a:cs typeface="Alexandria" pitchFamily="34" charset="-120"/>
              </a:rPr>
              <a:t>Đặt giả định → ghi rõ → kiểm chứng với khách hàng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09A1E5"/>
          </a:solidFill>
          <a:ln w="9525">
            <a:solidFill>
              <a:srgbClr val="09A1E5"/>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Thế giới của An Phát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W03_activity_S3_the_gioi_an_phat.md · Thẻ 1 thật (C05); thẻ 2–8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9</a:t>
            </a:r>
            <a:endParaRPr lang="en-US" sz="1000" dirty="0"/>
          </a:p>
        </p:txBody>
      </p:sp>
      <p:sp>
        <p:nvSpPr>
          <p:cNvPr id="20" name="Shape 17"/>
          <p:cNvSpPr/>
          <p:nvPr/>
        </p:nvSpPr>
        <p:spPr>
          <a:xfrm>
            <a:off x="548640" y="1783080"/>
            <a:ext cx="3474720" cy="841248"/>
          </a:xfrm>
          <a:prstGeom prst="roundRect">
            <a:avLst>
              <a:gd name="adj" fmla="val 13043"/>
            </a:avLst>
          </a:prstGeom>
          <a:solidFill>
            <a:srgbClr val="E1F3EE"/>
          </a:solidFill>
          <a:ln w="12700">
            <a:solidFill>
              <a:srgbClr val="49B296"/>
            </a:solidFill>
            <a:prstDash val="solid"/>
          </a:ln>
        </p:spPr>
      </p:sp>
      <p:sp>
        <p:nvSpPr>
          <p:cNvPr id="21" name="Shape 18"/>
          <p:cNvSpPr/>
          <p:nvPr/>
        </p:nvSpPr>
        <p:spPr>
          <a:xfrm>
            <a:off x="658368" y="1984248"/>
            <a:ext cx="438912" cy="438912"/>
          </a:xfrm>
          <a:prstGeom prst="ellipse">
            <a:avLst/>
          </a:prstGeom>
          <a:solidFill>
            <a:srgbClr val="49B296"/>
          </a:solidFill>
          <a:ln w="12700">
            <a:solidFill>
              <a:srgbClr val="49B296"/>
            </a:solidFill>
            <a:prstDash val="solid"/>
          </a:ln>
        </p:spPr>
      </p:sp>
      <p:sp>
        <p:nvSpPr>
          <p:cNvPr id="22" name="Text 19"/>
          <p:cNvSpPr txBox="1"/>
          <p:nvPr/>
        </p:nvSpPr>
        <p:spPr>
          <a:xfrm>
            <a:off x="658368" y="198424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1</a:t>
            </a:r>
            <a:endParaRPr lang="en-US" sz="1400" dirty="0"/>
          </a:p>
        </p:txBody>
      </p:sp>
      <p:sp>
        <p:nvSpPr>
          <p:cNvPr id="23" name="Text 20"/>
          <p:cNvSpPr txBox="1"/>
          <p:nvPr/>
        </p:nvSpPr>
        <p:spPr>
          <a:xfrm>
            <a:off x="1188720" y="1783080"/>
            <a:ext cx="2743200" cy="84124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THẬT · NHNN: tín dụng ~15% năm 2026, siết BĐS</a:t>
            </a:r>
            <a:endParaRPr lang="en-US" sz="1200" dirty="0"/>
          </a:p>
        </p:txBody>
      </p:sp>
      <p:sp>
        <p:nvSpPr>
          <p:cNvPr id="24" name="Shape 21"/>
          <p:cNvSpPr/>
          <p:nvPr/>
        </p:nvSpPr>
        <p:spPr>
          <a:xfrm>
            <a:off x="4206240" y="1783080"/>
            <a:ext cx="3474720" cy="841248"/>
          </a:xfrm>
          <a:prstGeom prst="roundRect">
            <a:avLst>
              <a:gd name="adj" fmla="val 13043"/>
            </a:avLst>
          </a:prstGeom>
          <a:solidFill>
            <a:srgbClr val="FFFFFF"/>
          </a:solidFill>
          <a:ln w="12700">
            <a:solidFill>
              <a:srgbClr val="DCD7C8"/>
            </a:solidFill>
            <a:prstDash val="solid"/>
          </a:ln>
        </p:spPr>
      </p:sp>
      <p:sp>
        <p:nvSpPr>
          <p:cNvPr id="25" name="Shape 22"/>
          <p:cNvSpPr/>
          <p:nvPr/>
        </p:nvSpPr>
        <p:spPr>
          <a:xfrm>
            <a:off x="4315968" y="1984248"/>
            <a:ext cx="438912" cy="438912"/>
          </a:xfrm>
          <a:prstGeom prst="ellipse">
            <a:avLst/>
          </a:prstGeom>
          <a:solidFill>
            <a:srgbClr val="09A1E5"/>
          </a:solidFill>
          <a:ln w="12700">
            <a:solidFill>
              <a:srgbClr val="09A1E5"/>
            </a:solidFill>
            <a:prstDash val="solid"/>
          </a:ln>
        </p:spPr>
      </p:sp>
      <p:sp>
        <p:nvSpPr>
          <p:cNvPr id="26" name="Text 23"/>
          <p:cNvSpPr txBox="1"/>
          <p:nvPr/>
        </p:nvSpPr>
        <p:spPr>
          <a:xfrm>
            <a:off x="4315968" y="198424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a:t>
            </a:r>
            <a:endParaRPr lang="en-US" sz="1400" dirty="0"/>
          </a:p>
        </p:txBody>
      </p:sp>
      <p:sp>
        <p:nvSpPr>
          <p:cNvPr id="27" name="Text 24"/>
          <p:cNvSpPr txBox="1"/>
          <p:nvPr/>
        </p:nvSpPr>
        <p:spPr>
          <a:xfrm>
            <a:off x="4846320" y="178308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Ngân hàng X mở hội thảo chuyên đề hàng quý</a:t>
            </a:r>
            <a:endParaRPr lang="en-US" sz="1200" dirty="0"/>
          </a:p>
        </p:txBody>
      </p:sp>
      <p:sp>
        <p:nvSpPr>
          <p:cNvPr id="28" name="Shape 25"/>
          <p:cNvSpPr/>
          <p:nvPr/>
        </p:nvSpPr>
        <p:spPr>
          <a:xfrm>
            <a:off x="548640" y="2743200"/>
            <a:ext cx="3474720" cy="841248"/>
          </a:xfrm>
          <a:prstGeom prst="roundRect">
            <a:avLst>
              <a:gd name="adj" fmla="val 13043"/>
            </a:avLst>
          </a:prstGeom>
          <a:solidFill>
            <a:srgbClr val="FFFFFF"/>
          </a:solidFill>
          <a:ln w="12700">
            <a:solidFill>
              <a:srgbClr val="DCD7C8"/>
            </a:solidFill>
            <a:prstDash val="solid"/>
          </a:ln>
        </p:spPr>
      </p:sp>
      <p:sp>
        <p:nvSpPr>
          <p:cNvPr id="29" name="Shape 26"/>
          <p:cNvSpPr/>
          <p:nvPr/>
        </p:nvSpPr>
        <p:spPr>
          <a:xfrm>
            <a:off x="658368" y="2944368"/>
            <a:ext cx="438912" cy="438912"/>
          </a:xfrm>
          <a:prstGeom prst="ellipse">
            <a:avLst/>
          </a:prstGeom>
          <a:solidFill>
            <a:srgbClr val="09A1E5"/>
          </a:solidFill>
          <a:ln w="12700">
            <a:solidFill>
              <a:srgbClr val="09A1E5"/>
            </a:solidFill>
            <a:prstDash val="solid"/>
          </a:ln>
        </p:spPr>
      </p:sp>
      <p:sp>
        <p:nvSpPr>
          <p:cNvPr id="30" name="Text 27"/>
          <p:cNvSpPr txBox="1"/>
          <p:nvPr/>
        </p:nvSpPr>
        <p:spPr>
          <a:xfrm>
            <a:off x="658368" y="29443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3</a:t>
            </a:r>
            <a:endParaRPr lang="en-US" sz="1400" dirty="0"/>
          </a:p>
        </p:txBody>
      </p:sp>
      <p:sp>
        <p:nvSpPr>
          <p:cNvPr id="31" name="Text 28"/>
          <p:cNvSpPr txBox="1"/>
          <p:nvPr/>
        </p:nvSpPr>
        <p:spPr>
          <a:xfrm>
            <a:off x="1188720" y="274320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Khách VIP lo nhất: chi phí vốn, dòng tiền</a:t>
            </a:r>
            <a:endParaRPr lang="en-US" sz="1200" dirty="0"/>
          </a:p>
        </p:txBody>
      </p:sp>
      <p:sp>
        <p:nvSpPr>
          <p:cNvPr id="32" name="Shape 29"/>
          <p:cNvSpPr/>
          <p:nvPr/>
        </p:nvSpPr>
        <p:spPr>
          <a:xfrm>
            <a:off x="4206240" y="2743200"/>
            <a:ext cx="3474720" cy="841248"/>
          </a:xfrm>
          <a:prstGeom prst="roundRect">
            <a:avLst>
              <a:gd name="adj" fmla="val 13043"/>
            </a:avLst>
          </a:prstGeom>
          <a:solidFill>
            <a:srgbClr val="FFFFFF"/>
          </a:solidFill>
          <a:ln w="12700">
            <a:solidFill>
              <a:srgbClr val="DCD7C8"/>
            </a:solidFill>
            <a:prstDash val="solid"/>
          </a:ln>
        </p:spPr>
      </p:sp>
      <p:sp>
        <p:nvSpPr>
          <p:cNvPr id="33" name="Shape 30"/>
          <p:cNvSpPr/>
          <p:nvPr/>
        </p:nvSpPr>
        <p:spPr>
          <a:xfrm>
            <a:off x="4315968" y="2944368"/>
            <a:ext cx="438912" cy="438912"/>
          </a:xfrm>
          <a:prstGeom prst="ellipse">
            <a:avLst/>
          </a:prstGeom>
          <a:solidFill>
            <a:srgbClr val="09A1E5"/>
          </a:solidFill>
          <a:ln w="12700">
            <a:solidFill>
              <a:srgbClr val="09A1E5"/>
            </a:solidFill>
            <a:prstDash val="solid"/>
          </a:ln>
        </p:spPr>
      </p:sp>
      <p:sp>
        <p:nvSpPr>
          <p:cNvPr id="34" name="Text 31"/>
          <p:cNvSpPr txBox="1"/>
          <p:nvPr/>
        </p:nvSpPr>
        <p:spPr>
          <a:xfrm>
            <a:off x="4315968" y="29443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4</a:t>
            </a:r>
            <a:endParaRPr lang="en-US" sz="1400" dirty="0"/>
          </a:p>
        </p:txBody>
      </p:sp>
      <p:sp>
        <p:nvSpPr>
          <p:cNvPr id="35" name="Text 32"/>
          <p:cNvSpPr txBox="1"/>
          <p:nvPr/>
        </p:nvSpPr>
        <p:spPr>
          <a:xfrm>
            <a:off x="4846320" y="274320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70% giao dịch qua ngân hàng số</a:t>
            </a:r>
            <a:endParaRPr lang="en-US" sz="1200" dirty="0"/>
          </a:p>
        </p:txBody>
      </p:sp>
      <p:sp>
        <p:nvSpPr>
          <p:cNvPr id="36" name="Shape 33"/>
          <p:cNvSpPr/>
          <p:nvPr/>
        </p:nvSpPr>
        <p:spPr>
          <a:xfrm>
            <a:off x="548640" y="3703320"/>
            <a:ext cx="3474720" cy="841248"/>
          </a:xfrm>
          <a:prstGeom prst="roundRect">
            <a:avLst>
              <a:gd name="adj" fmla="val 13043"/>
            </a:avLst>
          </a:prstGeom>
          <a:solidFill>
            <a:srgbClr val="FFFFFF"/>
          </a:solidFill>
          <a:ln w="12700">
            <a:solidFill>
              <a:srgbClr val="DCD7C8"/>
            </a:solidFill>
            <a:prstDash val="solid"/>
          </a:ln>
        </p:spPr>
      </p:sp>
      <p:sp>
        <p:nvSpPr>
          <p:cNvPr id="37" name="Shape 34"/>
          <p:cNvSpPr/>
          <p:nvPr/>
        </p:nvSpPr>
        <p:spPr>
          <a:xfrm>
            <a:off x="658368" y="3904488"/>
            <a:ext cx="438912" cy="438912"/>
          </a:xfrm>
          <a:prstGeom prst="ellipse">
            <a:avLst/>
          </a:prstGeom>
          <a:solidFill>
            <a:srgbClr val="09A1E5"/>
          </a:solidFill>
          <a:ln w="12700">
            <a:solidFill>
              <a:srgbClr val="09A1E5"/>
            </a:solidFill>
            <a:prstDash val="solid"/>
          </a:ln>
        </p:spPr>
      </p:sp>
      <p:sp>
        <p:nvSpPr>
          <p:cNvPr id="38" name="Text 35"/>
          <p:cNvSpPr txBox="1"/>
          <p:nvPr/>
        </p:nvSpPr>
        <p:spPr>
          <a:xfrm>
            <a:off x="658368" y="39044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5</a:t>
            </a:r>
            <a:endParaRPr lang="en-US" sz="1400" dirty="0"/>
          </a:p>
        </p:txBody>
      </p:sp>
      <p:sp>
        <p:nvSpPr>
          <p:cNvPr id="39" name="Text 36"/>
          <p:cNvSpPr txBox="1"/>
          <p:nvPr/>
        </p:nvSpPr>
        <p:spPr>
          <a:xfrm>
            <a:off x="1188720" y="370332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Nhiều chủ DN là thế hệ thứ hai, dưới 40</a:t>
            </a:r>
            <a:endParaRPr lang="en-US" sz="1200" dirty="0"/>
          </a:p>
        </p:txBody>
      </p:sp>
      <p:sp>
        <p:nvSpPr>
          <p:cNvPr id="40" name="Shape 37"/>
          <p:cNvSpPr/>
          <p:nvPr/>
        </p:nvSpPr>
        <p:spPr>
          <a:xfrm>
            <a:off x="4206240" y="3703320"/>
            <a:ext cx="3474720" cy="841248"/>
          </a:xfrm>
          <a:prstGeom prst="roundRect">
            <a:avLst>
              <a:gd name="adj" fmla="val 13043"/>
            </a:avLst>
          </a:prstGeom>
          <a:solidFill>
            <a:srgbClr val="FFFFFF"/>
          </a:solidFill>
          <a:ln w="12700">
            <a:solidFill>
              <a:srgbClr val="DCD7C8"/>
            </a:solidFill>
            <a:prstDash val="solid"/>
          </a:ln>
        </p:spPr>
      </p:sp>
      <p:sp>
        <p:nvSpPr>
          <p:cNvPr id="41" name="Shape 38"/>
          <p:cNvSpPr/>
          <p:nvPr/>
        </p:nvSpPr>
        <p:spPr>
          <a:xfrm>
            <a:off x="4315968" y="3904488"/>
            <a:ext cx="438912" cy="438912"/>
          </a:xfrm>
          <a:prstGeom prst="ellipse">
            <a:avLst/>
          </a:prstGeom>
          <a:solidFill>
            <a:srgbClr val="09A1E5"/>
          </a:solidFill>
          <a:ln w="12700">
            <a:solidFill>
              <a:srgbClr val="09A1E5"/>
            </a:solidFill>
            <a:prstDash val="solid"/>
          </a:ln>
        </p:spPr>
      </p:sp>
      <p:sp>
        <p:nvSpPr>
          <p:cNvPr id="42" name="Text 39"/>
          <p:cNvSpPr txBox="1"/>
          <p:nvPr/>
        </p:nvSpPr>
        <p:spPr>
          <a:xfrm>
            <a:off x="4315968" y="39044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6</a:t>
            </a:r>
            <a:endParaRPr lang="en-US" sz="1400" dirty="0"/>
          </a:p>
        </p:txBody>
      </p:sp>
      <p:sp>
        <p:nvSpPr>
          <p:cNvPr id="43" name="Text 40"/>
          <p:cNvSpPr txBox="1"/>
          <p:nvPr/>
        </p:nvSpPr>
        <p:spPr>
          <a:xfrm>
            <a:off x="4846320" y="370332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An Phát muốn tăng tín dụng xanh</a:t>
            </a:r>
            <a:endParaRPr lang="en-US" sz="1200" dirty="0"/>
          </a:p>
        </p:txBody>
      </p:sp>
      <p:sp>
        <p:nvSpPr>
          <p:cNvPr id="44" name="Shape 41"/>
          <p:cNvSpPr/>
          <p:nvPr/>
        </p:nvSpPr>
        <p:spPr>
          <a:xfrm>
            <a:off x="548640" y="4663440"/>
            <a:ext cx="3474720" cy="841248"/>
          </a:xfrm>
          <a:prstGeom prst="roundRect">
            <a:avLst>
              <a:gd name="adj" fmla="val 13043"/>
            </a:avLst>
          </a:prstGeom>
          <a:solidFill>
            <a:srgbClr val="FFFFFF"/>
          </a:solidFill>
          <a:ln w="12700">
            <a:solidFill>
              <a:srgbClr val="DCD7C8"/>
            </a:solidFill>
            <a:prstDash val="solid"/>
          </a:ln>
        </p:spPr>
      </p:sp>
      <p:sp>
        <p:nvSpPr>
          <p:cNvPr id="45" name="Shape 42"/>
          <p:cNvSpPr/>
          <p:nvPr/>
        </p:nvSpPr>
        <p:spPr>
          <a:xfrm>
            <a:off x="658368" y="4864608"/>
            <a:ext cx="438912" cy="438912"/>
          </a:xfrm>
          <a:prstGeom prst="ellipse">
            <a:avLst/>
          </a:prstGeom>
          <a:solidFill>
            <a:srgbClr val="09A1E5"/>
          </a:solidFill>
          <a:ln w="12700">
            <a:solidFill>
              <a:srgbClr val="09A1E5"/>
            </a:solidFill>
            <a:prstDash val="solid"/>
          </a:ln>
        </p:spPr>
      </p:sp>
      <p:sp>
        <p:nvSpPr>
          <p:cNvPr id="46" name="Text 43"/>
          <p:cNvSpPr txBox="1"/>
          <p:nvPr/>
        </p:nvSpPr>
        <p:spPr>
          <a:xfrm>
            <a:off x="658368" y="48646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7</a:t>
            </a:r>
            <a:endParaRPr lang="en-US" sz="1400" dirty="0"/>
          </a:p>
        </p:txBody>
      </p:sp>
      <p:sp>
        <p:nvSpPr>
          <p:cNvPr id="47" name="Text 44"/>
          <p:cNvSpPr txBox="1"/>
          <p:nvPr/>
        </p:nvSpPr>
        <p:spPr>
          <a:xfrm>
            <a:off x="1188720" y="466344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Quy định chặt hơn về bảo vệ dữ liệu cá nhân</a:t>
            </a:r>
            <a:endParaRPr lang="en-US" sz="1200" dirty="0"/>
          </a:p>
        </p:txBody>
      </p:sp>
      <p:sp>
        <p:nvSpPr>
          <p:cNvPr id="48" name="Shape 45"/>
          <p:cNvSpPr/>
          <p:nvPr/>
        </p:nvSpPr>
        <p:spPr>
          <a:xfrm>
            <a:off x="4206240" y="4663440"/>
            <a:ext cx="3474720" cy="841248"/>
          </a:xfrm>
          <a:prstGeom prst="roundRect">
            <a:avLst>
              <a:gd name="adj" fmla="val 13043"/>
            </a:avLst>
          </a:prstGeom>
          <a:solidFill>
            <a:srgbClr val="FFFFFF"/>
          </a:solidFill>
          <a:ln w="12700">
            <a:solidFill>
              <a:srgbClr val="DCD7C8"/>
            </a:solidFill>
            <a:prstDash val="solid"/>
          </a:ln>
        </p:spPr>
      </p:sp>
      <p:sp>
        <p:nvSpPr>
          <p:cNvPr id="49" name="Shape 46"/>
          <p:cNvSpPr/>
          <p:nvPr/>
        </p:nvSpPr>
        <p:spPr>
          <a:xfrm>
            <a:off x="4315968" y="4864608"/>
            <a:ext cx="438912" cy="438912"/>
          </a:xfrm>
          <a:prstGeom prst="ellipse">
            <a:avLst/>
          </a:prstGeom>
          <a:solidFill>
            <a:srgbClr val="09A1E5"/>
          </a:solidFill>
          <a:ln w="12700">
            <a:solidFill>
              <a:srgbClr val="09A1E5"/>
            </a:solidFill>
            <a:prstDash val="solid"/>
          </a:ln>
        </p:spPr>
      </p:sp>
      <p:sp>
        <p:nvSpPr>
          <p:cNvPr id="50" name="Text 47"/>
          <p:cNvSpPr txBox="1"/>
          <p:nvPr/>
        </p:nvSpPr>
        <p:spPr>
          <a:xfrm>
            <a:off x="4315968" y="48646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8</a:t>
            </a:r>
            <a:endParaRPr lang="en-US" sz="1400" dirty="0"/>
          </a:p>
        </p:txBody>
      </p:sp>
      <p:sp>
        <p:nvSpPr>
          <p:cNvPr id="51" name="Text 48"/>
          <p:cNvSpPr txBox="1"/>
          <p:nvPr/>
        </p:nvSpPr>
        <p:spPr>
          <a:xfrm>
            <a:off x="4846320" y="4663440"/>
            <a:ext cx="2743200" cy="84124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Ngân hàng Y chào lãi suất ưu đãi</a:t>
            </a:r>
            <a:endParaRPr lang="en-US" sz="1200" dirty="0"/>
          </a:p>
        </p:txBody>
      </p:sp>
      <p:sp>
        <p:nvSpPr>
          <p:cNvPr id="52" name="Shape 49"/>
          <p:cNvSpPr/>
          <p:nvPr/>
        </p:nvSpPr>
        <p:spPr>
          <a:xfrm>
            <a:off x="7955280" y="1984248"/>
            <a:ext cx="685800" cy="685800"/>
          </a:xfrm>
          <a:prstGeom prst="ellipse">
            <a:avLst/>
          </a:prstGeom>
          <a:solidFill>
            <a:srgbClr val="09A1E5"/>
          </a:solidFill>
          <a:ln w="12700">
            <a:solidFill>
              <a:srgbClr val="09A1E5"/>
            </a:solidFill>
            <a:prstDash val="solid"/>
          </a:ln>
        </p:spPr>
      </p:sp>
      <p:sp>
        <p:nvSpPr>
          <p:cNvPr id="53" name="Text 50"/>
          <p:cNvSpPr txBox="1"/>
          <p:nvPr/>
        </p:nvSpPr>
        <p:spPr>
          <a:xfrm>
            <a:off x="7955280" y="1984248"/>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7’</a:t>
            </a:r>
            <a:endParaRPr lang="en-US" sz="1600" dirty="0"/>
          </a:p>
        </p:txBody>
      </p:sp>
      <p:sp>
        <p:nvSpPr>
          <p:cNvPr id="54" name="Text 51"/>
          <p:cNvSpPr txBox="1"/>
          <p:nvPr/>
        </p:nvSpPr>
        <p:spPr>
          <a:xfrm>
            <a:off x="8823960" y="1783080"/>
            <a:ext cx="28190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Xếp 8 thẻ vào P·E·S·T·E·L hoặc “Đối thủ của An Phát”</a:t>
            </a:r>
            <a:endParaRPr lang="en-US" sz="1300" dirty="0"/>
          </a:p>
        </p:txBody>
      </p:sp>
      <p:sp>
        <p:nvSpPr>
          <p:cNvPr id="55" name="Shape 52"/>
          <p:cNvSpPr/>
          <p:nvPr/>
        </p:nvSpPr>
        <p:spPr>
          <a:xfrm>
            <a:off x="7955280" y="3310128"/>
            <a:ext cx="685800" cy="685800"/>
          </a:xfrm>
          <a:prstGeom prst="ellipse">
            <a:avLst/>
          </a:prstGeom>
          <a:solidFill>
            <a:srgbClr val="FF5178"/>
          </a:solidFill>
          <a:ln w="12700">
            <a:solidFill>
              <a:srgbClr val="FF5178"/>
            </a:solidFill>
            <a:prstDash val="solid"/>
          </a:ln>
        </p:spPr>
      </p:sp>
      <p:sp>
        <p:nvSpPr>
          <p:cNvPr id="56" name="Text 53"/>
          <p:cNvSpPr txBox="1"/>
          <p:nvPr/>
        </p:nvSpPr>
        <p:spPr>
          <a:xfrm>
            <a:off x="7955280" y="3310128"/>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8’</a:t>
            </a:r>
            <a:endParaRPr lang="en-US" sz="1600" dirty="0"/>
          </a:p>
        </p:txBody>
      </p:sp>
      <p:sp>
        <p:nvSpPr>
          <p:cNvPr id="57" name="Text 54"/>
          <p:cNvSpPr txBox="1"/>
          <p:nvPr/>
        </p:nvSpPr>
        <p:spPr>
          <a:xfrm>
            <a:off x="8823960" y="3108960"/>
            <a:ext cx="28190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3 nhu cầu, mỗi nhu cầu ≥ 2 thẻ: “Vì [thẻ…] và [thẻ…], An Phát cần …”</a:t>
            </a:r>
            <a:endParaRPr lang="en-US" sz="1300" dirty="0"/>
          </a:p>
        </p:txBody>
      </p:sp>
      <p:sp>
        <p:nvSpPr>
          <p:cNvPr id="58" name="Shape 55"/>
          <p:cNvSpPr/>
          <p:nvPr/>
        </p:nvSpPr>
        <p:spPr>
          <a:xfrm>
            <a:off x="7955280" y="4636008"/>
            <a:ext cx="685800" cy="685800"/>
          </a:xfrm>
          <a:prstGeom prst="ellipse">
            <a:avLst/>
          </a:prstGeom>
          <a:solidFill>
            <a:srgbClr val="962B7C"/>
          </a:solidFill>
          <a:ln w="12700">
            <a:solidFill>
              <a:srgbClr val="962B7C"/>
            </a:solidFill>
            <a:prstDash val="solid"/>
          </a:ln>
        </p:spPr>
      </p:sp>
      <p:sp>
        <p:nvSpPr>
          <p:cNvPr id="59" name="Text 56"/>
          <p:cNvSpPr txBox="1"/>
          <p:nvPr/>
        </p:nvSpPr>
        <p:spPr>
          <a:xfrm>
            <a:off x="7955280" y="4636008"/>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60" name="Text 57"/>
          <p:cNvSpPr txBox="1"/>
          <p:nvPr/>
        </p:nvSpPr>
        <p:spPr>
          <a:xfrm>
            <a:off x="8823960" y="4434840"/>
            <a:ext cx="28190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1 nhu cầu → Nova giúp bằng gì? + 1 giả định cần hỏi chị Hạnh</a:t>
            </a:r>
            <a:endParaRPr lang="en-US" sz="1300" dirty="0"/>
          </a:p>
        </p:txBody>
      </p:sp>
      <p:sp>
        <p:nvSpPr>
          <p:cNvPr id="61" name="Shape 58"/>
          <p:cNvSpPr/>
          <p:nvPr/>
        </p:nvSpPr>
        <p:spPr>
          <a:xfrm>
            <a:off x="7955280" y="5577840"/>
            <a:ext cx="3687775" cy="502920"/>
          </a:xfrm>
          <a:prstGeom prst="roundRect">
            <a:avLst>
              <a:gd name="adj" fmla="val 21818"/>
            </a:avLst>
          </a:prstGeom>
          <a:solidFill>
            <a:srgbClr val="FFF3C4"/>
          </a:solidFill>
          <a:ln w="12700">
            <a:solidFill>
              <a:srgbClr val="FFD23B"/>
            </a:solidFill>
            <a:prstDash val="solid"/>
          </a:ln>
        </p:spPr>
      </p:sp>
      <p:sp>
        <p:nvSpPr>
          <p:cNvPr id="62" name="Text 59"/>
          <p:cNvSpPr txBox="1"/>
          <p:nvPr/>
        </p:nvSpPr>
        <p:spPr>
          <a:xfrm>
            <a:off x="8092440" y="5577840"/>
            <a:ext cx="3413455" cy="502920"/>
          </a:xfrm>
          <a:prstGeom prst="rect">
            <a:avLst/>
          </a:prstGeom>
          <a:noFill/>
          <a:ln/>
        </p:spPr>
        <p:txBody>
          <a:bodyPr wrap="square" lIns="0" tIns="0" rIns="0" bIns="0" rtlCol="0" anchor="ctr"/>
          <a:lstStyle/>
          <a:p>
            <a:pPr indent="0" marL="0">
              <a:buNone/>
            </a:pPr>
            <a:r>
              <a:rPr lang="en-US" sz="1100" b="1" dirty="0">
                <a:solidFill>
                  <a:srgbClr val="2A2238"/>
                </a:solidFill>
                <a:latin typeface="Alexandria" pitchFamily="34" charset="0"/>
                <a:ea typeface="Alexandria" pitchFamily="34" charset="-122"/>
                <a:cs typeface="Alexandria" pitchFamily="34" charset="-120"/>
              </a:rPr>
              <a:t>Nhu cầu của An Phát — không phải của Nova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F5178"/>
          </a:solidFill>
          <a:ln w="9525">
            <a:solidFill>
              <a:srgbClr val="FF517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Hành trình có ba giai đoạn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C03: Lemon &amp; Verhoef (2016), Journal of Marketing.</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11</a:t>
            </a:r>
            <a:endParaRPr lang="en-US" sz="1000" dirty="0"/>
          </a:p>
        </p:txBody>
      </p:sp>
      <p:sp>
        <p:nvSpPr>
          <p:cNvPr id="20" name="Shape 17"/>
          <p:cNvSpPr/>
          <p:nvPr/>
        </p:nvSpPr>
        <p:spPr>
          <a:xfrm>
            <a:off x="548640" y="2103120"/>
            <a:ext cx="3713378" cy="1188720"/>
          </a:xfrm>
          <a:prstGeom prst="chevron">
            <a:avLst/>
          </a:prstGeom>
          <a:solidFill>
            <a:srgbClr val="09A1E5"/>
          </a:solidFill>
          <a:ln w="12700">
            <a:solidFill>
              <a:srgbClr val="09A1E5"/>
            </a:solidFill>
            <a:prstDash val="solid"/>
          </a:ln>
        </p:spPr>
      </p:sp>
      <p:sp>
        <p:nvSpPr>
          <p:cNvPr id="21" name="Text 18"/>
          <p:cNvSpPr txBox="1"/>
          <p:nvPr/>
        </p:nvSpPr>
        <p:spPr>
          <a:xfrm>
            <a:off x="1097280" y="2103120"/>
            <a:ext cx="2753258"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Trước</a:t>
            </a:r>
            <a:endParaRPr lang="en-US" sz="2600" dirty="0"/>
          </a:p>
          <a:p>
            <a:pPr algn="ctr" indent="0" marL="0">
              <a:buNone/>
            </a:pPr>
            <a:r>
              <a:rPr lang="en-US" sz="1300" i="1" dirty="0">
                <a:solidFill>
                  <a:srgbClr val="FFFFFF"/>
                </a:solidFill>
                <a:latin typeface="Alexandria" pitchFamily="34" charset="0"/>
                <a:ea typeface="Alexandria" pitchFamily="34" charset="-122"/>
                <a:cs typeface="Alexandria" pitchFamily="34" charset="-120"/>
              </a:rPr>
              <a:t>prepurchase</a:t>
            </a:r>
            <a:endParaRPr lang="en-US" sz="2600" dirty="0"/>
          </a:p>
        </p:txBody>
      </p:sp>
      <p:sp>
        <p:nvSpPr>
          <p:cNvPr id="22" name="Shape 19"/>
          <p:cNvSpPr/>
          <p:nvPr/>
        </p:nvSpPr>
        <p:spPr>
          <a:xfrm>
            <a:off x="548640" y="3611880"/>
            <a:ext cx="3576218" cy="1463040"/>
          </a:xfrm>
          <a:prstGeom prst="roundRect">
            <a:avLst>
              <a:gd name="adj" fmla="val 7500"/>
            </a:avLst>
          </a:prstGeom>
          <a:solidFill>
            <a:srgbClr val="DDF1FB"/>
          </a:solidFill>
          <a:ln w="12700">
            <a:solidFill>
              <a:srgbClr val="09A1E5"/>
            </a:solidFill>
            <a:prstDash val="solid"/>
          </a:ln>
        </p:spPr>
      </p:sp>
      <p:sp>
        <p:nvSpPr>
          <p:cNvPr id="23" name="Text 20"/>
          <p:cNvSpPr txBox="1"/>
          <p:nvPr/>
        </p:nvSpPr>
        <p:spPr>
          <a:xfrm>
            <a:off x="822960" y="3611880"/>
            <a:ext cx="3027578" cy="1463040"/>
          </a:xfrm>
          <a:prstGeom prst="rect">
            <a:avLst/>
          </a:prstGeom>
          <a:noFill/>
          <a:ln/>
        </p:spPr>
        <p:txBody>
          <a:bodyPr wrap="square" lIns="0" tIns="0" rIns="0" bIns="0" rtlCol="0" anchor="ctr"/>
          <a:lstStyle/>
          <a:p>
            <a:pPr algn="ctr" indent="0" marL="0">
              <a:buNone/>
            </a:pPr>
            <a:r>
              <a:rPr lang="en-US" sz="1700" dirty="0">
                <a:solidFill>
                  <a:srgbClr val="2A2238"/>
                </a:solidFill>
                <a:latin typeface="Alexandria" pitchFamily="34" charset="0"/>
                <a:ea typeface="Alexandria" pitchFamily="34" charset="-122"/>
                <a:cs typeface="Alexandria" pitchFamily="34" charset="-120"/>
              </a:rPr>
              <a:t>nhận thư mời, nghe kể, quyết định có đến</a:t>
            </a:r>
            <a:endParaRPr lang="en-US" sz="1700" dirty="0"/>
          </a:p>
        </p:txBody>
      </p:sp>
      <p:sp>
        <p:nvSpPr>
          <p:cNvPr id="24" name="Shape 21"/>
          <p:cNvSpPr/>
          <p:nvPr/>
        </p:nvSpPr>
        <p:spPr>
          <a:xfrm>
            <a:off x="4307738" y="2103120"/>
            <a:ext cx="3713378" cy="1188720"/>
          </a:xfrm>
          <a:prstGeom prst="chevron">
            <a:avLst/>
          </a:prstGeom>
          <a:solidFill>
            <a:srgbClr val="FF5178"/>
          </a:solidFill>
          <a:ln w="12700">
            <a:solidFill>
              <a:srgbClr val="FF5178"/>
            </a:solidFill>
            <a:prstDash val="solid"/>
          </a:ln>
        </p:spPr>
      </p:sp>
      <p:sp>
        <p:nvSpPr>
          <p:cNvPr id="25" name="Text 22"/>
          <p:cNvSpPr txBox="1"/>
          <p:nvPr/>
        </p:nvSpPr>
        <p:spPr>
          <a:xfrm>
            <a:off x="4856378" y="2103120"/>
            <a:ext cx="2753258"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Trong</a:t>
            </a:r>
            <a:endParaRPr lang="en-US" sz="2600" dirty="0"/>
          </a:p>
          <a:p>
            <a:pPr algn="ctr" indent="0" marL="0">
              <a:buNone/>
            </a:pPr>
            <a:r>
              <a:rPr lang="en-US" sz="1300" i="1" dirty="0">
                <a:solidFill>
                  <a:srgbClr val="FFFFFF"/>
                </a:solidFill>
                <a:latin typeface="Alexandria" pitchFamily="34" charset="0"/>
                <a:ea typeface="Alexandria" pitchFamily="34" charset="-122"/>
                <a:cs typeface="Alexandria" pitchFamily="34" charset="-120"/>
              </a:rPr>
              <a:t>purchase</a:t>
            </a:r>
            <a:endParaRPr lang="en-US" sz="2600" dirty="0"/>
          </a:p>
        </p:txBody>
      </p:sp>
      <p:sp>
        <p:nvSpPr>
          <p:cNvPr id="26" name="Shape 23"/>
          <p:cNvSpPr/>
          <p:nvPr/>
        </p:nvSpPr>
        <p:spPr>
          <a:xfrm>
            <a:off x="4307738" y="3611880"/>
            <a:ext cx="3576218" cy="1463040"/>
          </a:xfrm>
          <a:prstGeom prst="roundRect">
            <a:avLst>
              <a:gd name="adj" fmla="val 7500"/>
            </a:avLst>
          </a:prstGeom>
          <a:solidFill>
            <a:srgbClr val="FFE4EA"/>
          </a:solidFill>
          <a:ln w="12700">
            <a:solidFill>
              <a:srgbClr val="FF5178"/>
            </a:solidFill>
            <a:prstDash val="solid"/>
          </a:ln>
        </p:spPr>
      </p:sp>
      <p:sp>
        <p:nvSpPr>
          <p:cNvPr id="27" name="Text 24"/>
          <p:cNvSpPr txBox="1"/>
          <p:nvPr/>
        </p:nvSpPr>
        <p:spPr>
          <a:xfrm>
            <a:off x="4582058" y="3611880"/>
            <a:ext cx="3027578" cy="1463040"/>
          </a:xfrm>
          <a:prstGeom prst="rect">
            <a:avLst/>
          </a:prstGeom>
          <a:noFill/>
          <a:ln/>
        </p:spPr>
        <p:txBody>
          <a:bodyPr wrap="square" lIns="0" tIns="0" rIns="0" bIns="0" rtlCol="0" anchor="ctr"/>
          <a:lstStyle/>
          <a:p>
            <a:pPr algn="ctr" indent="0" marL="0">
              <a:buNone/>
            </a:pPr>
            <a:r>
              <a:rPr lang="en-US" sz="1700" dirty="0">
                <a:solidFill>
                  <a:srgbClr val="2A2238"/>
                </a:solidFill>
                <a:latin typeface="Alexandria" pitchFamily="34" charset="0"/>
                <a:ea typeface="Alexandria" pitchFamily="34" charset="-122"/>
                <a:cs typeface="Alexandria" pitchFamily="34" charset="-120"/>
              </a:rPr>
              <a:t>đón tiếp, chương trình, gặp gỡ</a:t>
            </a:r>
            <a:endParaRPr lang="en-US" sz="1700" dirty="0"/>
          </a:p>
        </p:txBody>
      </p:sp>
      <p:sp>
        <p:nvSpPr>
          <p:cNvPr id="28" name="Shape 25"/>
          <p:cNvSpPr/>
          <p:nvPr/>
        </p:nvSpPr>
        <p:spPr>
          <a:xfrm>
            <a:off x="8066837" y="2103120"/>
            <a:ext cx="3576218" cy="1188720"/>
          </a:xfrm>
          <a:prstGeom prst="chevron">
            <a:avLst/>
          </a:prstGeom>
          <a:solidFill>
            <a:srgbClr val="962B7C"/>
          </a:solidFill>
          <a:ln w="12700">
            <a:solidFill>
              <a:srgbClr val="962B7C"/>
            </a:solidFill>
            <a:prstDash val="solid"/>
          </a:ln>
        </p:spPr>
      </p:sp>
      <p:sp>
        <p:nvSpPr>
          <p:cNvPr id="29" name="Text 26"/>
          <p:cNvSpPr txBox="1"/>
          <p:nvPr/>
        </p:nvSpPr>
        <p:spPr>
          <a:xfrm>
            <a:off x="8615477" y="2103120"/>
            <a:ext cx="2753258"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Sau</a:t>
            </a:r>
            <a:endParaRPr lang="en-US" sz="2600" dirty="0"/>
          </a:p>
          <a:p>
            <a:pPr algn="ctr" indent="0" marL="0">
              <a:buNone/>
            </a:pPr>
            <a:r>
              <a:rPr lang="en-US" sz="1300" i="1" dirty="0">
                <a:solidFill>
                  <a:srgbClr val="FFFFFF"/>
                </a:solidFill>
                <a:latin typeface="Alexandria" pitchFamily="34" charset="0"/>
                <a:ea typeface="Alexandria" pitchFamily="34" charset="-122"/>
                <a:cs typeface="Alexandria" pitchFamily="34" charset="-120"/>
              </a:rPr>
              <a:t>postpurchase</a:t>
            </a:r>
            <a:endParaRPr lang="en-US" sz="2600" dirty="0"/>
          </a:p>
        </p:txBody>
      </p:sp>
      <p:sp>
        <p:nvSpPr>
          <p:cNvPr id="30" name="Shape 27"/>
          <p:cNvSpPr/>
          <p:nvPr/>
        </p:nvSpPr>
        <p:spPr>
          <a:xfrm>
            <a:off x="8066837" y="3611880"/>
            <a:ext cx="3576218" cy="1463040"/>
          </a:xfrm>
          <a:prstGeom prst="roundRect">
            <a:avLst>
              <a:gd name="adj" fmla="val 7500"/>
            </a:avLst>
          </a:prstGeom>
          <a:solidFill>
            <a:srgbClr val="F1E1EE"/>
          </a:solidFill>
          <a:ln w="12700">
            <a:solidFill>
              <a:srgbClr val="962B7C"/>
            </a:solidFill>
            <a:prstDash val="solid"/>
          </a:ln>
        </p:spPr>
      </p:sp>
      <p:sp>
        <p:nvSpPr>
          <p:cNvPr id="31" name="Text 28"/>
          <p:cNvSpPr txBox="1"/>
          <p:nvPr/>
        </p:nvSpPr>
        <p:spPr>
          <a:xfrm>
            <a:off x="8341157" y="3611880"/>
            <a:ext cx="3027578" cy="1463040"/>
          </a:xfrm>
          <a:prstGeom prst="rect">
            <a:avLst/>
          </a:prstGeom>
          <a:noFill/>
          <a:ln/>
        </p:spPr>
        <p:txBody>
          <a:bodyPr wrap="square" lIns="0" tIns="0" rIns="0" bIns="0" rtlCol="0" anchor="ctr"/>
          <a:lstStyle/>
          <a:p>
            <a:pPr algn="ctr" indent="0" marL="0">
              <a:buNone/>
            </a:pPr>
            <a:r>
              <a:rPr lang="en-US" sz="1700" dirty="0">
                <a:solidFill>
                  <a:srgbClr val="2A2238"/>
                </a:solidFill>
                <a:latin typeface="Alexandria" pitchFamily="34" charset="0"/>
                <a:ea typeface="Alexandria" pitchFamily="34" charset="-122"/>
                <a:cs typeface="Alexandria" pitchFamily="34" charset="-120"/>
              </a:rPr>
              <a:t>ảnh, thư cảm ơn, tin báo chí, liên lạc tiếp</a:t>
            </a:r>
            <a:endParaRPr lang="en-US" sz="1700" dirty="0"/>
          </a:p>
        </p:txBody>
      </p:sp>
      <p:sp>
        <p:nvSpPr>
          <p:cNvPr id="32" name="Text 29"/>
          <p:cNvSpPr txBox="1"/>
          <p:nvPr/>
        </p:nvSpPr>
        <p:spPr>
          <a:xfrm>
            <a:off x="548640" y="5349240"/>
            <a:ext cx="11094415" cy="548640"/>
          </a:xfrm>
          <a:prstGeom prst="rect">
            <a:avLst/>
          </a:prstGeom>
          <a:noFill/>
          <a:ln/>
        </p:spPr>
        <p:txBody>
          <a:bodyPr wrap="square" lIns="0" tIns="0" rIns="0" bIns="0" rtlCol="0" anchor="ctr"/>
          <a:lstStyle/>
          <a:p>
            <a:pPr algn="ctr" indent="0" marL="0">
              <a:buNone/>
            </a:pPr>
            <a:r>
              <a:rPr lang="en-US" sz="1900" b="1" dirty="0">
                <a:solidFill>
                  <a:srgbClr val="2A2238"/>
                </a:solidFill>
                <a:latin typeface="Alexandria" pitchFamily="34" charset="0"/>
                <a:ea typeface="Alexandria" pitchFamily="34" charset="-122"/>
                <a:cs typeface="Alexandria" pitchFamily="34" charset="-120"/>
              </a:rPr>
              <a:t>Hành trình bắt đầu trước ngày sự kiện và kéo dài sau đó.</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F5178"/>
          </a:solidFill>
          <a:ln w="9525">
            <a:solidFill>
              <a:srgbClr val="FF517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Điểm chạm có bốn loại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C03: Lemon &amp; Verhoef (2016), Journal of Marketing, 80(6), 69–96.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12</a:t>
            </a:r>
            <a:endParaRPr lang="en-US" sz="1000" dirty="0"/>
          </a:p>
        </p:txBody>
      </p:sp>
      <p:sp>
        <p:nvSpPr>
          <p:cNvPr id="20" name="Shape 17"/>
          <p:cNvSpPr/>
          <p:nvPr/>
        </p:nvSpPr>
        <p:spPr>
          <a:xfrm>
            <a:off x="548640" y="1874520"/>
            <a:ext cx="2567864" cy="2651760"/>
          </a:xfrm>
          <a:prstGeom prst="roundRect">
            <a:avLst>
              <a:gd name="adj" fmla="val 4273"/>
            </a:avLst>
          </a:prstGeom>
          <a:solidFill>
            <a:srgbClr val="F1E1EE"/>
          </a:solidFill>
          <a:ln w="19050">
            <a:solidFill>
              <a:srgbClr val="962B7C"/>
            </a:solidFill>
            <a:prstDash val="solid"/>
          </a:ln>
        </p:spPr>
      </p:sp>
      <p:sp>
        <p:nvSpPr>
          <p:cNvPr id="21" name="Shape 18"/>
          <p:cNvSpPr/>
          <p:nvPr/>
        </p:nvSpPr>
        <p:spPr>
          <a:xfrm>
            <a:off x="1421092" y="2103120"/>
            <a:ext cx="822960" cy="822960"/>
          </a:xfrm>
          <a:prstGeom prst="ellipse">
            <a:avLst/>
          </a:prstGeom>
          <a:solidFill>
            <a:srgbClr val="962B7C"/>
          </a:solidFill>
          <a:ln w="12700">
            <a:solidFill>
              <a:srgbClr val="962B7C"/>
            </a:solidFill>
            <a:prstDash val="solid"/>
          </a:ln>
        </p:spPr>
      </p:sp>
      <p:sp>
        <p:nvSpPr>
          <p:cNvPr id="22" name="Text 19"/>
          <p:cNvSpPr txBox="1"/>
          <p:nvPr/>
        </p:nvSpPr>
        <p:spPr>
          <a:xfrm>
            <a:off x="1421092" y="210312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B</a:t>
            </a:r>
            <a:endParaRPr lang="en-US" sz="2800" dirty="0"/>
          </a:p>
        </p:txBody>
      </p:sp>
      <p:sp>
        <p:nvSpPr>
          <p:cNvPr id="23" name="Text 20"/>
          <p:cNvSpPr txBox="1"/>
          <p:nvPr/>
        </p:nvSpPr>
        <p:spPr>
          <a:xfrm>
            <a:off x="731520" y="3063240"/>
            <a:ext cx="2202104" cy="45720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brand-owned</a:t>
            </a:r>
            <a:endParaRPr lang="en-US" sz="1800" dirty="0"/>
          </a:p>
        </p:txBody>
      </p:sp>
      <p:sp>
        <p:nvSpPr>
          <p:cNvPr id="24" name="Text 21"/>
          <p:cNvSpPr txBox="1"/>
          <p:nvPr/>
        </p:nvSpPr>
        <p:spPr>
          <a:xfrm>
            <a:off x="731520" y="3566160"/>
            <a:ext cx="2202104" cy="8229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do doanh nghiệp sở hữu</a:t>
            </a:r>
            <a:endParaRPr lang="en-US" sz="1400" dirty="0"/>
          </a:p>
        </p:txBody>
      </p:sp>
      <p:sp>
        <p:nvSpPr>
          <p:cNvPr id="25" name="Shape 22"/>
          <p:cNvSpPr/>
          <p:nvPr/>
        </p:nvSpPr>
        <p:spPr>
          <a:xfrm>
            <a:off x="3390824" y="1874520"/>
            <a:ext cx="2567864" cy="2651760"/>
          </a:xfrm>
          <a:prstGeom prst="roundRect">
            <a:avLst>
              <a:gd name="adj" fmla="val 4273"/>
            </a:avLst>
          </a:prstGeom>
          <a:solidFill>
            <a:srgbClr val="FFE4EA"/>
          </a:solidFill>
          <a:ln w="38100">
            <a:solidFill>
              <a:srgbClr val="FF5178"/>
            </a:solidFill>
            <a:prstDash val="solid"/>
          </a:ln>
        </p:spPr>
      </p:sp>
      <p:sp>
        <p:nvSpPr>
          <p:cNvPr id="26" name="Shape 23"/>
          <p:cNvSpPr/>
          <p:nvPr/>
        </p:nvSpPr>
        <p:spPr>
          <a:xfrm>
            <a:off x="4263276" y="2103120"/>
            <a:ext cx="822960" cy="822960"/>
          </a:xfrm>
          <a:prstGeom prst="ellipse">
            <a:avLst/>
          </a:prstGeom>
          <a:solidFill>
            <a:srgbClr val="FF5178"/>
          </a:solidFill>
          <a:ln w="12700">
            <a:solidFill>
              <a:srgbClr val="FF5178"/>
            </a:solidFill>
            <a:prstDash val="solid"/>
          </a:ln>
        </p:spPr>
      </p:sp>
      <p:sp>
        <p:nvSpPr>
          <p:cNvPr id="27" name="Text 24"/>
          <p:cNvSpPr txBox="1"/>
          <p:nvPr/>
        </p:nvSpPr>
        <p:spPr>
          <a:xfrm>
            <a:off x="4263276" y="210312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P</a:t>
            </a:r>
            <a:endParaRPr lang="en-US" sz="2800" dirty="0"/>
          </a:p>
        </p:txBody>
      </p:sp>
      <p:sp>
        <p:nvSpPr>
          <p:cNvPr id="28" name="Text 25"/>
          <p:cNvSpPr txBox="1"/>
          <p:nvPr/>
        </p:nvSpPr>
        <p:spPr>
          <a:xfrm>
            <a:off x="3573704" y="3063240"/>
            <a:ext cx="2202104" cy="45720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partner-owned</a:t>
            </a:r>
            <a:endParaRPr lang="en-US" sz="1800" dirty="0"/>
          </a:p>
        </p:txBody>
      </p:sp>
      <p:sp>
        <p:nvSpPr>
          <p:cNvPr id="29" name="Text 26"/>
          <p:cNvSpPr txBox="1"/>
          <p:nvPr/>
        </p:nvSpPr>
        <p:spPr>
          <a:xfrm>
            <a:off x="3573704" y="3566160"/>
            <a:ext cx="2202104" cy="8229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do đối tác — Nova ở đây</a:t>
            </a:r>
            <a:endParaRPr lang="en-US" sz="1400" dirty="0"/>
          </a:p>
        </p:txBody>
      </p:sp>
      <p:sp>
        <p:nvSpPr>
          <p:cNvPr id="30" name="Shape 27"/>
          <p:cNvSpPr/>
          <p:nvPr/>
        </p:nvSpPr>
        <p:spPr>
          <a:xfrm>
            <a:off x="6233008" y="1874520"/>
            <a:ext cx="2567864" cy="2651760"/>
          </a:xfrm>
          <a:prstGeom prst="roundRect">
            <a:avLst>
              <a:gd name="adj" fmla="val 4273"/>
            </a:avLst>
          </a:prstGeom>
          <a:solidFill>
            <a:srgbClr val="DDF1FB"/>
          </a:solidFill>
          <a:ln w="19050">
            <a:solidFill>
              <a:srgbClr val="09A1E5"/>
            </a:solidFill>
            <a:prstDash val="solid"/>
          </a:ln>
        </p:spPr>
      </p:sp>
      <p:sp>
        <p:nvSpPr>
          <p:cNvPr id="31" name="Shape 28"/>
          <p:cNvSpPr/>
          <p:nvPr/>
        </p:nvSpPr>
        <p:spPr>
          <a:xfrm>
            <a:off x="7105460" y="2103120"/>
            <a:ext cx="822960" cy="822960"/>
          </a:xfrm>
          <a:prstGeom prst="ellipse">
            <a:avLst/>
          </a:prstGeom>
          <a:solidFill>
            <a:srgbClr val="09A1E5"/>
          </a:solidFill>
          <a:ln w="12700">
            <a:solidFill>
              <a:srgbClr val="09A1E5"/>
            </a:solidFill>
            <a:prstDash val="solid"/>
          </a:ln>
        </p:spPr>
      </p:sp>
      <p:sp>
        <p:nvSpPr>
          <p:cNvPr id="32" name="Text 29"/>
          <p:cNvSpPr txBox="1"/>
          <p:nvPr/>
        </p:nvSpPr>
        <p:spPr>
          <a:xfrm>
            <a:off x="7105460" y="210312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C</a:t>
            </a:r>
            <a:endParaRPr lang="en-US" sz="2800" dirty="0"/>
          </a:p>
        </p:txBody>
      </p:sp>
      <p:sp>
        <p:nvSpPr>
          <p:cNvPr id="33" name="Text 30"/>
          <p:cNvSpPr txBox="1"/>
          <p:nvPr/>
        </p:nvSpPr>
        <p:spPr>
          <a:xfrm>
            <a:off x="6415888" y="3063240"/>
            <a:ext cx="2202104" cy="45720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customer-owned</a:t>
            </a:r>
            <a:endParaRPr lang="en-US" sz="1800" dirty="0"/>
          </a:p>
        </p:txBody>
      </p:sp>
      <p:sp>
        <p:nvSpPr>
          <p:cNvPr id="34" name="Text 31"/>
          <p:cNvSpPr txBox="1"/>
          <p:nvPr/>
        </p:nvSpPr>
        <p:spPr>
          <a:xfrm>
            <a:off x="6415888" y="3566160"/>
            <a:ext cx="2202104" cy="8229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khách tự làm</a:t>
            </a:r>
            <a:endParaRPr lang="en-US" sz="1400" dirty="0"/>
          </a:p>
        </p:txBody>
      </p:sp>
      <p:sp>
        <p:nvSpPr>
          <p:cNvPr id="35" name="Shape 32"/>
          <p:cNvSpPr/>
          <p:nvPr/>
        </p:nvSpPr>
        <p:spPr>
          <a:xfrm>
            <a:off x="9075191" y="1874520"/>
            <a:ext cx="2567864" cy="2651760"/>
          </a:xfrm>
          <a:prstGeom prst="roundRect">
            <a:avLst>
              <a:gd name="adj" fmla="val 4273"/>
            </a:avLst>
          </a:prstGeom>
          <a:solidFill>
            <a:srgbClr val="FFE9DE"/>
          </a:solidFill>
          <a:ln w="19050">
            <a:solidFill>
              <a:srgbClr val="FF9259"/>
            </a:solidFill>
            <a:prstDash val="solid"/>
          </a:ln>
        </p:spPr>
      </p:sp>
      <p:sp>
        <p:nvSpPr>
          <p:cNvPr id="36" name="Shape 33"/>
          <p:cNvSpPr/>
          <p:nvPr/>
        </p:nvSpPr>
        <p:spPr>
          <a:xfrm>
            <a:off x="9947643" y="2103120"/>
            <a:ext cx="822960" cy="822960"/>
          </a:xfrm>
          <a:prstGeom prst="ellipse">
            <a:avLst/>
          </a:prstGeom>
          <a:solidFill>
            <a:srgbClr val="FF9259"/>
          </a:solidFill>
          <a:ln w="12700">
            <a:solidFill>
              <a:srgbClr val="FF9259"/>
            </a:solidFill>
            <a:prstDash val="solid"/>
          </a:ln>
        </p:spPr>
      </p:sp>
      <p:sp>
        <p:nvSpPr>
          <p:cNvPr id="37" name="Text 34"/>
          <p:cNvSpPr txBox="1"/>
          <p:nvPr/>
        </p:nvSpPr>
        <p:spPr>
          <a:xfrm>
            <a:off x="9947643" y="2103120"/>
            <a:ext cx="822960" cy="822960"/>
          </a:xfrm>
          <a:prstGeom prst="rect">
            <a:avLst/>
          </a:prstGeom>
          <a:noFill/>
          <a:ln/>
        </p:spPr>
        <p:txBody>
          <a:bodyPr wrap="square" lIns="0" tIns="0" rIns="0" bIns="0" rtlCol="0" anchor="ctr"/>
          <a:lstStyle/>
          <a:p>
            <a:pPr algn="ctr" indent="0" marL="0">
              <a:buNone/>
            </a:pPr>
            <a:r>
              <a:rPr lang="en-US" sz="2800" b="1" dirty="0">
                <a:solidFill>
                  <a:srgbClr val="2A2238"/>
                </a:solidFill>
                <a:latin typeface="Alexandria" pitchFamily="34" charset="0"/>
                <a:ea typeface="Alexandria" pitchFamily="34" charset="-122"/>
                <a:cs typeface="Alexandria" pitchFamily="34" charset="-120"/>
              </a:rPr>
              <a:t>S</a:t>
            </a:r>
            <a:endParaRPr lang="en-US" sz="2800" dirty="0"/>
          </a:p>
        </p:txBody>
      </p:sp>
      <p:sp>
        <p:nvSpPr>
          <p:cNvPr id="38" name="Text 35"/>
          <p:cNvSpPr txBox="1"/>
          <p:nvPr/>
        </p:nvSpPr>
        <p:spPr>
          <a:xfrm>
            <a:off x="9258071" y="3063240"/>
            <a:ext cx="2202104" cy="45720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social / external</a:t>
            </a:r>
            <a:endParaRPr lang="en-US" sz="1800" dirty="0"/>
          </a:p>
        </p:txBody>
      </p:sp>
      <p:sp>
        <p:nvSpPr>
          <p:cNvPr id="39" name="Text 36"/>
          <p:cNvSpPr txBox="1"/>
          <p:nvPr/>
        </p:nvSpPr>
        <p:spPr>
          <a:xfrm>
            <a:off x="9258071" y="3566160"/>
            <a:ext cx="2202104" cy="8229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người khác, báo chí, mạng xã hội</a:t>
            </a:r>
            <a:endParaRPr lang="en-US" sz="1400" dirty="0"/>
          </a:p>
        </p:txBody>
      </p:sp>
      <p:sp>
        <p:nvSpPr>
          <p:cNvPr id="40" name="Shape 37"/>
          <p:cNvSpPr/>
          <p:nvPr/>
        </p:nvSpPr>
        <p:spPr>
          <a:xfrm>
            <a:off x="548640" y="4846320"/>
            <a:ext cx="11094415" cy="1143000"/>
          </a:xfrm>
          <a:prstGeom prst="roundRect">
            <a:avLst>
              <a:gd name="adj" fmla="val 9600"/>
            </a:avLst>
          </a:prstGeom>
          <a:solidFill>
            <a:srgbClr val="FFF3C4"/>
          </a:solidFill>
          <a:ln w="12700">
            <a:solidFill>
              <a:srgbClr val="FFD23B"/>
            </a:solidFill>
            <a:prstDash val="solid"/>
          </a:ln>
        </p:spPr>
      </p:sp>
      <p:sp>
        <p:nvSpPr>
          <p:cNvPr id="41" name="Text 38"/>
          <p:cNvSpPr txBox="1"/>
          <p:nvPr/>
        </p:nvSpPr>
        <p:spPr>
          <a:xfrm>
            <a:off x="914400" y="4846320"/>
            <a:ext cx="10362895" cy="1143000"/>
          </a:xfrm>
          <a:prstGeom prst="rect">
            <a:avLst/>
          </a:prstGeom>
          <a:noFill/>
          <a:ln/>
        </p:spPr>
        <p:txBody>
          <a:bodyPr wrap="square" lIns="0" tIns="0" rIns="0" bIns="0" rtlCol="0" anchor="ctr"/>
          <a:lstStyle/>
          <a:p>
            <a:pPr algn="ctr" indent="0" marL="0">
              <a:buNone/>
            </a:pPr>
            <a:r>
              <a:rPr lang="en-US" sz="2200" b="1" i="1" dirty="0">
                <a:solidFill>
                  <a:srgbClr val="2A2238"/>
                </a:solidFill>
                <a:latin typeface="Alexandria" pitchFamily="34" charset="0"/>
                <a:ea typeface="Alexandria" pitchFamily="34" charset="-122"/>
                <a:cs typeface="Alexandria" pitchFamily="34" charset="-120"/>
              </a:rPr>
              <a:t>“Partners can include marketing agencies…” </a:t>
            </a:r>
            <a:pPr algn="ctr" indent="0" marL="0">
              <a:buNone/>
            </a:pPr>
            <a:r>
              <a:rPr lang="en-US" sz="1400" dirty="0">
                <a:solidFill>
                  <a:srgbClr val="6E6878"/>
                </a:solidFill>
                <a:latin typeface="Alexandria" pitchFamily="34" charset="0"/>
                <a:ea typeface="Alexandria" pitchFamily="34" charset="-122"/>
                <a:cs typeface="Alexandria" pitchFamily="34" charset="-120"/>
              </a:rPr>
              <a:t>— Lemon &amp; Verhoef (2016)</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F5178"/>
          </a:solidFill>
          <a:ln w="9525">
            <a:solidFill>
              <a:srgbClr val="FF517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Môn học có hai lớp hành trình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Hai lớp hành trình: quyết định của giảng viên; nhận định của người soạn.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13</a:t>
            </a:r>
            <a:endParaRPr lang="en-US" sz="1000" dirty="0"/>
          </a:p>
        </p:txBody>
      </p:sp>
      <p:sp>
        <p:nvSpPr>
          <p:cNvPr id="20" name="Shape 17"/>
          <p:cNvSpPr/>
          <p:nvPr/>
        </p:nvSpPr>
        <p:spPr>
          <a:xfrm>
            <a:off x="548640" y="1874520"/>
            <a:ext cx="5410048" cy="4114800"/>
          </a:xfrm>
          <a:prstGeom prst="roundRect">
            <a:avLst>
              <a:gd name="adj" fmla="val 2667"/>
            </a:avLst>
          </a:prstGeom>
          <a:solidFill>
            <a:srgbClr val="FFE4EA"/>
          </a:solidFill>
          <a:ln w="19050">
            <a:solidFill>
              <a:srgbClr val="FF5178"/>
            </a:solidFill>
            <a:prstDash val="solid"/>
          </a:ln>
        </p:spPr>
      </p:sp>
      <p:sp>
        <p:nvSpPr>
          <p:cNvPr id="21" name="Shape 18"/>
          <p:cNvSpPr/>
          <p:nvPr/>
        </p:nvSpPr>
        <p:spPr>
          <a:xfrm>
            <a:off x="868680" y="2148840"/>
            <a:ext cx="1371600" cy="457200"/>
          </a:xfrm>
          <a:prstGeom prst="roundRect">
            <a:avLst>
              <a:gd name="adj" fmla="val 50000"/>
            </a:avLst>
          </a:prstGeom>
          <a:solidFill>
            <a:srgbClr val="FF5178"/>
          </a:solidFill>
          <a:ln w="12700">
            <a:solidFill>
              <a:srgbClr val="FF5178"/>
            </a:solidFill>
            <a:prstDash val="solid"/>
          </a:ln>
        </p:spPr>
      </p:sp>
      <p:sp>
        <p:nvSpPr>
          <p:cNvPr id="22" name="Text 19"/>
          <p:cNvSpPr txBox="1"/>
          <p:nvPr/>
        </p:nvSpPr>
        <p:spPr>
          <a:xfrm>
            <a:off x="941832" y="2148840"/>
            <a:ext cx="122529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Lớp 1</a:t>
            </a:r>
            <a:endParaRPr lang="en-US" sz="1500" dirty="0"/>
          </a:p>
        </p:txBody>
      </p:sp>
      <p:sp>
        <p:nvSpPr>
          <p:cNvPr id="23" name="Text 20"/>
          <p:cNvSpPr txBox="1"/>
          <p:nvPr/>
        </p:nvSpPr>
        <p:spPr>
          <a:xfrm>
            <a:off x="868680" y="2788920"/>
            <a:ext cx="4769968" cy="640080"/>
          </a:xfrm>
          <a:prstGeom prst="rect">
            <a:avLst/>
          </a:prstGeom>
          <a:noFill/>
          <a:ln/>
        </p:spPr>
        <p:txBody>
          <a:bodyPr wrap="square" lIns="0" tIns="0" rIns="0" bIns="0" rtlCol="0" anchor="ctr"/>
          <a:lstStyle/>
          <a:p>
            <a:pPr indent="0" marL="0">
              <a:buNone/>
            </a:pPr>
            <a:r>
              <a:rPr lang="en-US" sz="2600" b="1" dirty="0">
                <a:solidFill>
                  <a:srgbClr val="2A2238"/>
                </a:solidFill>
                <a:latin typeface="Alexandria" pitchFamily="34" charset="0"/>
                <a:ea typeface="Alexandria" pitchFamily="34" charset="-122"/>
                <a:cs typeface="Alexandria" pitchFamily="34" charset="-120"/>
              </a:rPr>
              <a:t>Khách của Key Account</a:t>
            </a:r>
            <a:endParaRPr lang="en-US" sz="2600" dirty="0"/>
          </a:p>
        </p:txBody>
      </p:sp>
      <p:sp>
        <p:nvSpPr>
          <p:cNvPr id="24" name="Text 21"/>
          <p:cNvSpPr txBox="1"/>
          <p:nvPr/>
        </p:nvSpPr>
        <p:spPr>
          <a:xfrm>
            <a:off x="868680" y="3474720"/>
            <a:ext cx="4769968" cy="1463040"/>
          </a:xfrm>
          <a:prstGeom prst="rect">
            <a:avLst/>
          </a:prstGeom>
          <a:noFill/>
          <a:ln/>
        </p:spPr>
        <p:txBody>
          <a:bodyPr wrap="square" lIns="0" tIns="0" rIns="0" bIns="0" rtlCol="0" anchor="t"/>
          <a:lstStyle/>
          <a:p>
            <a:pPr indent="0" marL="0">
              <a:buNone/>
            </a:pPr>
            <a:r>
              <a:rPr lang="en-US" sz="1700" dirty="0">
                <a:solidFill>
                  <a:srgbClr val="2A2238"/>
                </a:solidFill>
                <a:latin typeface="Alexandria" pitchFamily="34" charset="0"/>
                <a:ea typeface="Alexandria" pitchFamily="34" charset="-122"/>
                <a:cs typeface="Alexandria" pitchFamily="34" charset="-120"/>
              </a:rPr>
              <a:t>600 lãnh đạo doanh nghiệp VIP của An Phát — từ nhận thư mời đến sau gala</a:t>
            </a:r>
            <a:endParaRPr lang="en-US" sz="1700" dirty="0"/>
          </a:p>
        </p:txBody>
      </p:sp>
      <p:sp>
        <p:nvSpPr>
          <p:cNvPr id="25" name="Text 22"/>
          <p:cNvSpPr txBox="1"/>
          <p:nvPr/>
        </p:nvSpPr>
        <p:spPr>
          <a:xfrm>
            <a:off x="868680" y="5212080"/>
            <a:ext cx="4769968" cy="45720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Dùng ở: Buổi 3 · 5 · 9 · 11</a:t>
            </a:r>
            <a:endParaRPr lang="en-US" sz="1400" dirty="0"/>
          </a:p>
        </p:txBody>
      </p:sp>
      <p:sp>
        <p:nvSpPr>
          <p:cNvPr id="26" name="Shape 23"/>
          <p:cNvSpPr/>
          <p:nvPr/>
        </p:nvSpPr>
        <p:spPr>
          <a:xfrm>
            <a:off x="6233008" y="1874520"/>
            <a:ext cx="5410048" cy="4114800"/>
          </a:xfrm>
          <a:prstGeom prst="roundRect">
            <a:avLst>
              <a:gd name="adj" fmla="val 2667"/>
            </a:avLst>
          </a:prstGeom>
          <a:solidFill>
            <a:srgbClr val="F1E1EE"/>
          </a:solidFill>
          <a:ln w="19050">
            <a:solidFill>
              <a:srgbClr val="962B7C"/>
            </a:solidFill>
            <a:prstDash val="solid"/>
          </a:ln>
        </p:spPr>
      </p:sp>
      <p:sp>
        <p:nvSpPr>
          <p:cNvPr id="27" name="Shape 24"/>
          <p:cNvSpPr/>
          <p:nvPr/>
        </p:nvSpPr>
        <p:spPr>
          <a:xfrm>
            <a:off x="6553048" y="2148840"/>
            <a:ext cx="1371600" cy="457200"/>
          </a:xfrm>
          <a:prstGeom prst="roundRect">
            <a:avLst>
              <a:gd name="adj" fmla="val 50000"/>
            </a:avLst>
          </a:prstGeom>
          <a:solidFill>
            <a:srgbClr val="962B7C"/>
          </a:solidFill>
          <a:ln w="12700">
            <a:solidFill>
              <a:srgbClr val="962B7C"/>
            </a:solidFill>
            <a:prstDash val="solid"/>
          </a:ln>
        </p:spPr>
      </p:sp>
      <p:sp>
        <p:nvSpPr>
          <p:cNvPr id="28" name="Text 25"/>
          <p:cNvSpPr txBox="1"/>
          <p:nvPr/>
        </p:nvSpPr>
        <p:spPr>
          <a:xfrm>
            <a:off x="6626200" y="2148840"/>
            <a:ext cx="122529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Lớp 2</a:t>
            </a:r>
            <a:endParaRPr lang="en-US" sz="1500" dirty="0"/>
          </a:p>
        </p:txBody>
      </p:sp>
      <p:sp>
        <p:nvSpPr>
          <p:cNvPr id="29" name="Text 26"/>
          <p:cNvSpPr txBox="1"/>
          <p:nvPr/>
        </p:nvSpPr>
        <p:spPr>
          <a:xfrm>
            <a:off x="6553048" y="2788920"/>
            <a:ext cx="4769968" cy="640080"/>
          </a:xfrm>
          <a:prstGeom prst="rect">
            <a:avLst/>
          </a:prstGeom>
          <a:noFill/>
          <a:ln/>
        </p:spPr>
        <p:txBody>
          <a:bodyPr wrap="square" lIns="0" tIns="0" rIns="0" bIns="0" rtlCol="0" anchor="ctr"/>
          <a:lstStyle/>
          <a:p>
            <a:pPr indent="0" marL="0">
              <a:buNone/>
            </a:pPr>
            <a:r>
              <a:rPr lang="en-US" sz="2600" b="1" dirty="0">
                <a:solidFill>
                  <a:srgbClr val="2A2238"/>
                </a:solidFill>
                <a:latin typeface="Alexandria" pitchFamily="34" charset="0"/>
                <a:ea typeface="Alexandria" pitchFamily="34" charset="-122"/>
                <a:cs typeface="Alexandria" pitchFamily="34" charset="-120"/>
              </a:rPr>
              <a:t>Chính Key Account</a:t>
            </a:r>
            <a:endParaRPr lang="en-US" sz="2600" dirty="0"/>
          </a:p>
        </p:txBody>
      </p:sp>
      <p:sp>
        <p:nvSpPr>
          <p:cNvPr id="30" name="Text 27"/>
          <p:cNvSpPr txBox="1"/>
          <p:nvPr/>
        </p:nvSpPr>
        <p:spPr>
          <a:xfrm>
            <a:off x="6553048" y="3474720"/>
            <a:ext cx="4769968" cy="1463040"/>
          </a:xfrm>
          <a:prstGeom prst="rect">
            <a:avLst/>
          </a:prstGeom>
          <a:noFill/>
          <a:ln/>
        </p:spPr>
        <p:txBody>
          <a:bodyPr wrap="square" lIns="0" tIns="0" rIns="0" bIns="0" rtlCol="0" anchor="t"/>
          <a:lstStyle/>
          <a:p>
            <a:pPr indent="0" marL="0">
              <a:buNone/>
            </a:pPr>
            <a:r>
              <a:rPr lang="en-US" sz="1700" dirty="0">
                <a:solidFill>
                  <a:srgbClr val="2A2238"/>
                </a:solidFill>
                <a:latin typeface="Alexandria" pitchFamily="34" charset="0"/>
                <a:ea typeface="Alexandria" pitchFamily="34" charset="-122"/>
                <a:cs typeface="Alexandria" pitchFamily="34" charset="-120"/>
              </a:rPr>
              <a:t>An Phát mua dịch vụ của Nova: brief → đề xuất → hợp đồng → sự kiện → nghiệm thu</a:t>
            </a:r>
            <a:endParaRPr lang="en-US" sz="1700" dirty="0"/>
          </a:p>
        </p:txBody>
      </p:sp>
      <p:sp>
        <p:nvSpPr>
          <p:cNvPr id="31" name="Text 28"/>
          <p:cNvSpPr txBox="1"/>
          <p:nvPr/>
        </p:nvSpPr>
        <p:spPr>
          <a:xfrm>
            <a:off x="6553048" y="5212080"/>
            <a:ext cx="4769968" cy="45720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Dùng ở: Buổi 10</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F5178"/>
          </a:solidFill>
          <a:ln w="9525">
            <a:solidFill>
              <a:srgbClr val="FF517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Hành trình của khách VIP bắt đầu từ thư mời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 — lớp 1 (khách của An Phát).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14</a:t>
            </a:r>
            <a:endParaRPr lang="en-US" sz="1000" dirty="0"/>
          </a:p>
        </p:txBody>
      </p:sp>
      <p:sp>
        <p:nvSpPr>
          <p:cNvPr id="20" name="Shape 17"/>
          <p:cNvSpPr/>
          <p:nvPr/>
        </p:nvSpPr>
        <p:spPr>
          <a:xfrm>
            <a:off x="594360" y="1783080"/>
            <a:ext cx="3606698" cy="411480"/>
          </a:xfrm>
          <a:prstGeom prst="rect">
            <a:avLst/>
          </a:prstGeom>
          <a:solidFill>
            <a:srgbClr val="09A1E5"/>
          </a:solidFill>
          <a:ln w="12700">
            <a:solidFill>
              <a:srgbClr val="09A1E5"/>
            </a:solidFill>
            <a:prstDash val="solid"/>
          </a:ln>
        </p:spPr>
      </p:sp>
      <p:sp>
        <p:nvSpPr>
          <p:cNvPr id="21" name="Text 18"/>
          <p:cNvSpPr txBox="1"/>
          <p:nvPr/>
        </p:nvSpPr>
        <p:spPr>
          <a:xfrm>
            <a:off x="548640" y="1783080"/>
            <a:ext cx="3698138"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Trước</a:t>
            </a:r>
            <a:endParaRPr lang="en-US" sz="1500" dirty="0"/>
          </a:p>
        </p:txBody>
      </p:sp>
      <p:sp>
        <p:nvSpPr>
          <p:cNvPr id="22" name="Shape 19"/>
          <p:cNvSpPr/>
          <p:nvPr/>
        </p:nvSpPr>
        <p:spPr>
          <a:xfrm>
            <a:off x="4292498" y="1783080"/>
            <a:ext cx="3606698" cy="411480"/>
          </a:xfrm>
          <a:prstGeom prst="rect">
            <a:avLst/>
          </a:prstGeom>
          <a:solidFill>
            <a:srgbClr val="FF5178"/>
          </a:solidFill>
          <a:ln w="12700">
            <a:solidFill>
              <a:srgbClr val="FF5178"/>
            </a:solidFill>
            <a:prstDash val="solid"/>
          </a:ln>
        </p:spPr>
      </p:sp>
      <p:sp>
        <p:nvSpPr>
          <p:cNvPr id="23" name="Text 20"/>
          <p:cNvSpPr txBox="1"/>
          <p:nvPr/>
        </p:nvSpPr>
        <p:spPr>
          <a:xfrm>
            <a:off x="4246778" y="1783080"/>
            <a:ext cx="3698138"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Trong</a:t>
            </a:r>
            <a:endParaRPr lang="en-US" sz="1500" dirty="0"/>
          </a:p>
        </p:txBody>
      </p:sp>
      <p:sp>
        <p:nvSpPr>
          <p:cNvPr id="24" name="Shape 21"/>
          <p:cNvSpPr/>
          <p:nvPr/>
        </p:nvSpPr>
        <p:spPr>
          <a:xfrm>
            <a:off x="7990637" y="1783080"/>
            <a:ext cx="3606698" cy="411480"/>
          </a:xfrm>
          <a:prstGeom prst="rect">
            <a:avLst/>
          </a:prstGeom>
          <a:solidFill>
            <a:srgbClr val="962B7C"/>
          </a:solidFill>
          <a:ln w="12700">
            <a:solidFill>
              <a:srgbClr val="962B7C"/>
            </a:solidFill>
            <a:prstDash val="solid"/>
          </a:ln>
        </p:spPr>
      </p:sp>
      <p:sp>
        <p:nvSpPr>
          <p:cNvPr id="25" name="Text 22"/>
          <p:cNvSpPr txBox="1"/>
          <p:nvPr/>
        </p:nvSpPr>
        <p:spPr>
          <a:xfrm>
            <a:off x="7944917" y="1783080"/>
            <a:ext cx="3698138"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Sau</a:t>
            </a:r>
            <a:endParaRPr lang="en-US" sz="1500" dirty="0"/>
          </a:p>
        </p:txBody>
      </p:sp>
      <p:sp>
        <p:nvSpPr>
          <p:cNvPr id="26" name="Shape 23"/>
          <p:cNvSpPr/>
          <p:nvPr/>
        </p:nvSpPr>
        <p:spPr>
          <a:xfrm>
            <a:off x="1463040" y="3429000"/>
            <a:ext cx="9265615" cy="914"/>
          </a:xfrm>
          <a:prstGeom prst="line">
            <a:avLst/>
          </a:prstGeom>
          <a:noFill/>
          <a:ln w="50800">
            <a:solidFill>
              <a:srgbClr val="DCD7C8"/>
            </a:solidFill>
            <a:prstDash val="solid"/>
          </a:ln>
        </p:spPr>
      </p:sp>
      <p:sp>
        <p:nvSpPr>
          <p:cNvPr id="27" name="Shape 24"/>
          <p:cNvSpPr/>
          <p:nvPr/>
        </p:nvSpPr>
        <p:spPr>
          <a:xfrm>
            <a:off x="1188720" y="3154680"/>
            <a:ext cx="548640" cy="548640"/>
          </a:xfrm>
          <a:prstGeom prst="ellipse">
            <a:avLst/>
          </a:prstGeom>
          <a:solidFill>
            <a:srgbClr val="962B7C"/>
          </a:solidFill>
          <a:ln w="12700">
            <a:solidFill>
              <a:srgbClr val="962B7C"/>
            </a:solidFill>
            <a:prstDash val="solid"/>
          </a:ln>
        </p:spPr>
      </p:sp>
      <p:sp>
        <p:nvSpPr>
          <p:cNvPr id="28" name="Text 25"/>
          <p:cNvSpPr txBox="1"/>
          <p:nvPr/>
        </p:nvSpPr>
        <p:spPr>
          <a:xfrm>
            <a:off x="1188720"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B</a:t>
            </a:r>
            <a:endParaRPr lang="en-US" sz="1600" dirty="0"/>
          </a:p>
        </p:txBody>
      </p:sp>
      <p:sp>
        <p:nvSpPr>
          <p:cNvPr id="29" name="Shape 26"/>
          <p:cNvSpPr/>
          <p:nvPr/>
        </p:nvSpPr>
        <p:spPr>
          <a:xfrm>
            <a:off x="594360" y="2377440"/>
            <a:ext cx="1737360" cy="731520"/>
          </a:xfrm>
          <a:prstGeom prst="roundRect">
            <a:avLst>
              <a:gd name="adj" fmla="val 15000"/>
            </a:avLst>
          </a:prstGeom>
          <a:solidFill>
            <a:srgbClr val="FFFFFF"/>
          </a:solidFill>
          <a:ln w="12700">
            <a:solidFill>
              <a:srgbClr val="962B7C"/>
            </a:solidFill>
            <a:prstDash val="solid"/>
          </a:ln>
        </p:spPr>
      </p:sp>
      <p:sp>
        <p:nvSpPr>
          <p:cNvPr id="30" name="Text 27"/>
          <p:cNvSpPr txBox="1"/>
          <p:nvPr/>
        </p:nvSpPr>
        <p:spPr>
          <a:xfrm>
            <a:off x="640080" y="2377440"/>
            <a:ext cx="1645920" cy="73152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Nhận thư mời từ An Phát</a:t>
            </a:r>
            <a:endParaRPr lang="en-US" sz="1100" dirty="0"/>
          </a:p>
        </p:txBody>
      </p:sp>
      <p:sp>
        <p:nvSpPr>
          <p:cNvPr id="31" name="Shape 28"/>
          <p:cNvSpPr/>
          <p:nvPr/>
        </p:nvSpPr>
        <p:spPr>
          <a:xfrm>
            <a:off x="3041843" y="3154680"/>
            <a:ext cx="548640" cy="548640"/>
          </a:xfrm>
          <a:prstGeom prst="ellipse">
            <a:avLst/>
          </a:prstGeom>
          <a:solidFill>
            <a:srgbClr val="FF9259"/>
          </a:solidFill>
          <a:ln w="12700">
            <a:solidFill>
              <a:srgbClr val="FF9259"/>
            </a:solidFill>
            <a:prstDash val="solid"/>
          </a:ln>
        </p:spPr>
      </p:sp>
      <p:sp>
        <p:nvSpPr>
          <p:cNvPr id="32" name="Text 29"/>
          <p:cNvSpPr txBox="1"/>
          <p:nvPr/>
        </p:nvSpPr>
        <p:spPr>
          <a:xfrm>
            <a:off x="3041843" y="3154680"/>
            <a:ext cx="548640" cy="54864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S</a:t>
            </a:r>
            <a:endParaRPr lang="en-US" sz="1600" dirty="0"/>
          </a:p>
        </p:txBody>
      </p:sp>
      <p:sp>
        <p:nvSpPr>
          <p:cNvPr id="33" name="Shape 30"/>
          <p:cNvSpPr/>
          <p:nvPr/>
        </p:nvSpPr>
        <p:spPr>
          <a:xfrm>
            <a:off x="2447483" y="3931920"/>
            <a:ext cx="1737360" cy="731520"/>
          </a:xfrm>
          <a:prstGeom prst="roundRect">
            <a:avLst>
              <a:gd name="adj" fmla="val 15000"/>
            </a:avLst>
          </a:prstGeom>
          <a:solidFill>
            <a:srgbClr val="FFFFFF"/>
          </a:solidFill>
          <a:ln w="12700">
            <a:solidFill>
              <a:srgbClr val="FF9259"/>
            </a:solidFill>
            <a:prstDash val="solid"/>
          </a:ln>
        </p:spPr>
      </p:sp>
      <p:sp>
        <p:nvSpPr>
          <p:cNvPr id="34" name="Text 31"/>
          <p:cNvSpPr txBox="1"/>
          <p:nvPr/>
        </p:nvSpPr>
        <p:spPr>
          <a:xfrm>
            <a:off x="2493203" y="3931920"/>
            <a:ext cx="1645920" cy="73152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Đồng nghiệp kể về gala năm ngoái</a:t>
            </a:r>
            <a:endParaRPr lang="en-US" sz="1100" dirty="0"/>
          </a:p>
        </p:txBody>
      </p:sp>
      <p:sp>
        <p:nvSpPr>
          <p:cNvPr id="35" name="Shape 32"/>
          <p:cNvSpPr/>
          <p:nvPr/>
        </p:nvSpPr>
        <p:spPr>
          <a:xfrm>
            <a:off x="4894966" y="3154680"/>
            <a:ext cx="548640" cy="548640"/>
          </a:xfrm>
          <a:prstGeom prst="ellipse">
            <a:avLst/>
          </a:prstGeom>
          <a:solidFill>
            <a:srgbClr val="FF5178"/>
          </a:solidFill>
          <a:ln w="12700">
            <a:solidFill>
              <a:srgbClr val="FF5178"/>
            </a:solidFill>
            <a:prstDash val="solid"/>
          </a:ln>
        </p:spPr>
      </p:sp>
      <p:sp>
        <p:nvSpPr>
          <p:cNvPr id="36" name="Text 33"/>
          <p:cNvSpPr txBox="1"/>
          <p:nvPr/>
        </p:nvSpPr>
        <p:spPr>
          <a:xfrm>
            <a:off x="4894966"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P</a:t>
            </a:r>
            <a:endParaRPr lang="en-US" sz="1600" dirty="0"/>
          </a:p>
        </p:txBody>
      </p:sp>
      <p:sp>
        <p:nvSpPr>
          <p:cNvPr id="37" name="Shape 34"/>
          <p:cNvSpPr/>
          <p:nvPr/>
        </p:nvSpPr>
        <p:spPr>
          <a:xfrm>
            <a:off x="4300606" y="2377440"/>
            <a:ext cx="1737360" cy="731520"/>
          </a:xfrm>
          <a:prstGeom prst="roundRect">
            <a:avLst>
              <a:gd name="adj" fmla="val 15000"/>
            </a:avLst>
          </a:prstGeom>
          <a:solidFill>
            <a:srgbClr val="FFFFFF"/>
          </a:solidFill>
          <a:ln w="12700">
            <a:solidFill>
              <a:srgbClr val="FF5178"/>
            </a:solidFill>
            <a:prstDash val="solid"/>
          </a:ln>
        </p:spPr>
      </p:sp>
      <p:sp>
        <p:nvSpPr>
          <p:cNvPr id="38" name="Text 35"/>
          <p:cNvSpPr txBox="1"/>
          <p:nvPr/>
        </p:nvSpPr>
        <p:spPr>
          <a:xfrm>
            <a:off x="4346326" y="2377440"/>
            <a:ext cx="1645920" cy="73152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Đón tiếp tại khách sạn</a:t>
            </a:r>
            <a:endParaRPr lang="en-US" sz="1100" dirty="0"/>
          </a:p>
        </p:txBody>
      </p:sp>
      <p:sp>
        <p:nvSpPr>
          <p:cNvPr id="39" name="Shape 36"/>
          <p:cNvSpPr/>
          <p:nvPr/>
        </p:nvSpPr>
        <p:spPr>
          <a:xfrm>
            <a:off x="6748089" y="3154680"/>
            <a:ext cx="548640" cy="548640"/>
          </a:xfrm>
          <a:prstGeom prst="ellipse">
            <a:avLst/>
          </a:prstGeom>
          <a:solidFill>
            <a:srgbClr val="09A1E5"/>
          </a:solidFill>
          <a:ln w="12700">
            <a:solidFill>
              <a:srgbClr val="09A1E5"/>
            </a:solidFill>
            <a:prstDash val="solid"/>
          </a:ln>
        </p:spPr>
      </p:sp>
      <p:sp>
        <p:nvSpPr>
          <p:cNvPr id="40" name="Text 37"/>
          <p:cNvSpPr txBox="1"/>
          <p:nvPr/>
        </p:nvSpPr>
        <p:spPr>
          <a:xfrm>
            <a:off x="6748089"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C</a:t>
            </a:r>
            <a:endParaRPr lang="en-US" sz="1600" dirty="0"/>
          </a:p>
        </p:txBody>
      </p:sp>
      <p:sp>
        <p:nvSpPr>
          <p:cNvPr id="41" name="Shape 38"/>
          <p:cNvSpPr/>
          <p:nvPr/>
        </p:nvSpPr>
        <p:spPr>
          <a:xfrm>
            <a:off x="6153729" y="3931920"/>
            <a:ext cx="1737360" cy="731520"/>
          </a:xfrm>
          <a:prstGeom prst="roundRect">
            <a:avLst>
              <a:gd name="adj" fmla="val 15000"/>
            </a:avLst>
          </a:prstGeom>
          <a:solidFill>
            <a:srgbClr val="FFFFFF"/>
          </a:solidFill>
          <a:ln w="12700">
            <a:solidFill>
              <a:srgbClr val="09A1E5"/>
            </a:solidFill>
            <a:prstDash val="solid"/>
          </a:ln>
        </p:spPr>
      </p:sp>
      <p:sp>
        <p:nvSpPr>
          <p:cNvPr id="42" name="Text 39"/>
          <p:cNvSpPr txBox="1"/>
          <p:nvPr/>
        </p:nvSpPr>
        <p:spPr>
          <a:xfrm>
            <a:off x="6199449" y="3931920"/>
            <a:ext cx="1645920" cy="73152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Tự chụp ảnh, đăng mạng xã hội</a:t>
            </a:r>
            <a:endParaRPr lang="en-US" sz="1100" dirty="0"/>
          </a:p>
        </p:txBody>
      </p:sp>
      <p:sp>
        <p:nvSpPr>
          <p:cNvPr id="43" name="Shape 40"/>
          <p:cNvSpPr/>
          <p:nvPr/>
        </p:nvSpPr>
        <p:spPr>
          <a:xfrm>
            <a:off x="8601212" y="3154680"/>
            <a:ext cx="548640" cy="548640"/>
          </a:xfrm>
          <a:prstGeom prst="ellipse">
            <a:avLst/>
          </a:prstGeom>
          <a:solidFill>
            <a:srgbClr val="962B7C"/>
          </a:solidFill>
          <a:ln w="12700">
            <a:solidFill>
              <a:srgbClr val="962B7C"/>
            </a:solidFill>
            <a:prstDash val="solid"/>
          </a:ln>
        </p:spPr>
      </p:sp>
      <p:sp>
        <p:nvSpPr>
          <p:cNvPr id="44" name="Text 41"/>
          <p:cNvSpPr txBox="1"/>
          <p:nvPr/>
        </p:nvSpPr>
        <p:spPr>
          <a:xfrm>
            <a:off x="8601212"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B</a:t>
            </a:r>
            <a:endParaRPr lang="en-US" sz="1600" dirty="0"/>
          </a:p>
        </p:txBody>
      </p:sp>
      <p:sp>
        <p:nvSpPr>
          <p:cNvPr id="45" name="Shape 42"/>
          <p:cNvSpPr/>
          <p:nvPr/>
        </p:nvSpPr>
        <p:spPr>
          <a:xfrm>
            <a:off x="8006852" y="2377440"/>
            <a:ext cx="1737360" cy="731520"/>
          </a:xfrm>
          <a:prstGeom prst="roundRect">
            <a:avLst>
              <a:gd name="adj" fmla="val 15000"/>
            </a:avLst>
          </a:prstGeom>
          <a:solidFill>
            <a:srgbClr val="FFFFFF"/>
          </a:solidFill>
          <a:ln w="12700">
            <a:solidFill>
              <a:srgbClr val="962B7C"/>
            </a:solidFill>
            <a:prstDash val="solid"/>
          </a:ln>
        </p:spPr>
      </p:sp>
      <p:sp>
        <p:nvSpPr>
          <p:cNvPr id="46" name="Text 43"/>
          <p:cNvSpPr txBox="1"/>
          <p:nvPr/>
        </p:nvSpPr>
        <p:spPr>
          <a:xfrm>
            <a:off x="8052572" y="2377440"/>
            <a:ext cx="1645920" cy="73152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Nhận ảnh, thư cảm ơn (Nova làm hộ)</a:t>
            </a:r>
            <a:endParaRPr lang="en-US" sz="1100" dirty="0"/>
          </a:p>
        </p:txBody>
      </p:sp>
      <p:sp>
        <p:nvSpPr>
          <p:cNvPr id="47" name="Shape 44"/>
          <p:cNvSpPr/>
          <p:nvPr/>
        </p:nvSpPr>
        <p:spPr>
          <a:xfrm>
            <a:off x="10454335" y="3154680"/>
            <a:ext cx="548640" cy="548640"/>
          </a:xfrm>
          <a:prstGeom prst="ellipse">
            <a:avLst/>
          </a:prstGeom>
          <a:solidFill>
            <a:srgbClr val="FF9259"/>
          </a:solidFill>
          <a:ln w="12700">
            <a:solidFill>
              <a:srgbClr val="FF9259"/>
            </a:solidFill>
            <a:prstDash val="solid"/>
          </a:ln>
        </p:spPr>
      </p:sp>
      <p:sp>
        <p:nvSpPr>
          <p:cNvPr id="48" name="Text 45"/>
          <p:cNvSpPr txBox="1"/>
          <p:nvPr/>
        </p:nvSpPr>
        <p:spPr>
          <a:xfrm>
            <a:off x="10454335" y="3154680"/>
            <a:ext cx="548640" cy="54864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S</a:t>
            </a:r>
            <a:endParaRPr lang="en-US" sz="1600" dirty="0"/>
          </a:p>
        </p:txBody>
      </p:sp>
      <p:sp>
        <p:nvSpPr>
          <p:cNvPr id="49" name="Shape 46"/>
          <p:cNvSpPr/>
          <p:nvPr/>
        </p:nvSpPr>
        <p:spPr>
          <a:xfrm>
            <a:off x="9859975" y="3931920"/>
            <a:ext cx="1737360" cy="731520"/>
          </a:xfrm>
          <a:prstGeom prst="roundRect">
            <a:avLst>
              <a:gd name="adj" fmla="val 15000"/>
            </a:avLst>
          </a:prstGeom>
          <a:solidFill>
            <a:srgbClr val="FFFFFF"/>
          </a:solidFill>
          <a:ln w="12700">
            <a:solidFill>
              <a:srgbClr val="FF9259"/>
            </a:solidFill>
            <a:prstDash val="solid"/>
          </a:ln>
        </p:spPr>
      </p:sp>
      <p:sp>
        <p:nvSpPr>
          <p:cNvPr id="50" name="Text 47"/>
          <p:cNvSpPr txBox="1"/>
          <p:nvPr/>
        </p:nvSpPr>
        <p:spPr>
          <a:xfrm>
            <a:off x="9905695" y="3931920"/>
            <a:ext cx="1645920" cy="73152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Báo chí đưa tin</a:t>
            </a:r>
            <a:endParaRPr lang="en-US" sz="1100" dirty="0"/>
          </a:p>
        </p:txBody>
      </p:sp>
      <p:sp>
        <p:nvSpPr>
          <p:cNvPr id="51" name="Text 48"/>
          <p:cNvSpPr txBox="1"/>
          <p:nvPr/>
        </p:nvSpPr>
        <p:spPr>
          <a:xfrm>
            <a:off x="548640" y="4892040"/>
            <a:ext cx="11094415" cy="365760"/>
          </a:xfrm>
          <a:prstGeom prst="rect">
            <a:avLst/>
          </a:prstGeom>
          <a:noFill/>
          <a:ln/>
        </p:spPr>
        <p:txBody>
          <a:bodyPr wrap="square" lIns="0" tIns="0" rIns="0" bIns="0" rtlCol="0" anchor="ctr"/>
          <a:lstStyle/>
          <a:p>
            <a:pPr algn="ctr" indent="0" marL="0">
              <a:buNone/>
            </a:pPr>
            <a:r>
              <a:rPr lang="en-US" sz="1200" dirty="0">
                <a:solidFill>
                  <a:srgbClr val="6E6878"/>
                </a:solidFill>
                <a:latin typeface="Alexandria" pitchFamily="34" charset="0"/>
                <a:ea typeface="Alexandria" pitchFamily="34" charset="-122"/>
                <a:cs typeface="Alexandria" pitchFamily="34" charset="-120"/>
              </a:rPr>
              <a:t>B brand-owned · P partner-owned · C customer-owned · S social/external</a:t>
            </a:r>
            <a:endParaRPr lang="en-US" sz="1200" dirty="0"/>
          </a:p>
        </p:txBody>
      </p:sp>
      <p:sp>
        <p:nvSpPr>
          <p:cNvPr id="52" name="Shape 49"/>
          <p:cNvSpPr/>
          <p:nvPr/>
        </p:nvSpPr>
        <p:spPr>
          <a:xfrm>
            <a:off x="548640" y="5349240"/>
            <a:ext cx="11094415" cy="685800"/>
          </a:xfrm>
          <a:prstGeom prst="roundRect">
            <a:avLst>
              <a:gd name="adj" fmla="val 16000"/>
            </a:avLst>
          </a:prstGeom>
          <a:solidFill>
            <a:srgbClr val="FFF3C4"/>
          </a:solidFill>
          <a:ln w="12700">
            <a:solidFill>
              <a:srgbClr val="FFD23B"/>
            </a:solidFill>
            <a:prstDash val="solid"/>
          </a:ln>
        </p:spPr>
      </p:sp>
      <p:sp>
        <p:nvSpPr>
          <p:cNvPr id="53" name="Text 50"/>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Hỏi lớp: Nova làm nhiều điểm chạm — nhưng khách thấy đó là của ai?</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F5178"/>
          </a:solidFill>
          <a:ln w="9525">
            <a:solidFill>
              <a:srgbClr val="FF517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Nova làm, nhưng khách thấy An Phát</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15</a:t>
            </a:r>
            <a:endParaRPr lang="en-US" sz="1000" dirty="0"/>
          </a:p>
        </p:txBody>
      </p:sp>
      <p:sp>
        <p:nvSpPr>
          <p:cNvPr id="19" name="Shape 16"/>
          <p:cNvSpPr/>
          <p:nvPr/>
        </p:nvSpPr>
        <p:spPr>
          <a:xfrm>
            <a:off x="4358488" y="1828800"/>
            <a:ext cx="3474720" cy="3474720"/>
          </a:xfrm>
          <a:prstGeom prst="ellipse">
            <a:avLst/>
          </a:prstGeom>
          <a:solidFill>
            <a:srgbClr val="F1E1EE"/>
          </a:solidFill>
          <a:ln w="38100">
            <a:solidFill>
              <a:srgbClr val="962B7C"/>
            </a:solidFill>
            <a:prstDash val="solid"/>
          </a:ln>
        </p:spPr>
      </p:sp>
      <p:sp>
        <p:nvSpPr>
          <p:cNvPr id="20" name="Text 17"/>
          <p:cNvSpPr txBox="1"/>
          <p:nvPr/>
        </p:nvSpPr>
        <p:spPr>
          <a:xfrm>
            <a:off x="4358488" y="1828800"/>
            <a:ext cx="3474720" cy="3474720"/>
          </a:xfrm>
          <a:prstGeom prst="rect">
            <a:avLst/>
          </a:prstGeom>
          <a:noFill/>
          <a:ln/>
        </p:spPr>
        <p:txBody>
          <a:bodyPr wrap="square" lIns="0" tIns="0" rIns="0" bIns="0" rtlCol="0" anchor="ctr"/>
          <a:lstStyle/>
          <a:p>
            <a:pPr algn="ctr" indent="0" marL="0">
              <a:buNone/>
            </a:pPr>
            <a:r>
              <a:rPr lang="en-US" sz="3400" b="1" dirty="0">
                <a:solidFill>
                  <a:srgbClr val="962B7C"/>
                </a:solidFill>
                <a:latin typeface="Alexandria" pitchFamily="34" charset="0"/>
                <a:ea typeface="Alexandria" pitchFamily="34" charset="-122"/>
                <a:cs typeface="Alexandria" pitchFamily="34" charset="-120"/>
              </a:rPr>
              <a:t>An Phát</a:t>
            </a:r>
            <a:endParaRPr lang="en-US" sz="3400" dirty="0"/>
          </a:p>
        </p:txBody>
      </p:sp>
      <p:sp>
        <p:nvSpPr>
          <p:cNvPr id="21" name="Shape 18"/>
          <p:cNvSpPr/>
          <p:nvPr/>
        </p:nvSpPr>
        <p:spPr>
          <a:xfrm>
            <a:off x="914400" y="2103120"/>
            <a:ext cx="2377440" cy="640080"/>
          </a:xfrm>
          <a:prstGeom prst="roundRect">
            <a:avLst>
              <a:gd name="adj" fmla="val 50000"/>
            </a:avLst>
          </a:prstGeom>
          <a:solidFill>
            <a:srgbClr val="FFFFFF"/>
          </a:solidFill>
          <a:ln w="12700">
            <a:solidFill>
              <a:srgbClr val="FF5178"/>
            </a:solidFill>
            <a:prstDash val="solid"/>
          </a:ln>
        </p:spPr>
      </p:sp>
      <p:sp>
        <p:nvSpPr>
          <p:cNvPr id="22" name="Text 19"/>
          <p:cNvSpPr txBox="1"/>
          <p:nvPr/>
        </p:nvSpPr>
        <p:spPr>
          <a:xfrm>
            <a:off x="987552" y="2103120"/>
            <a:ext cx="2231136" cy="640080"/>
          </a:xfrm>
          <a:prstGeom prst="rect">
            <a:avLst/>
          </a:prstGeom>
          <a:noFill/>
          <a:ln/>
        </p:spPr>
        <p:txBody>
          <a:bodyPr wrap="square" lIns="0" tIns="0" rIns="0" bIns="0" rtlCol="0" anchor="ctr"/>
          <a:lstStyle/>
          <a:p>
            <a:pPr algn="ctr" indent="0" marL="0">
              <a:buNone/>
            </a:pPr>
            <a:r>
              <a:rPr lang="en-US" sz="1400" dirty="0">
                <a:solidFill>
                  <a:srgbClr val="2A2238"/>
                </a:solidFill>
                <a:latin typeface="Alexandria" pitchFamily="34" charset="0"/>
                <a:ea typeface="Alexandria" pitchFamily="34" charset="-122"/>
                <a:cs typeface="Alexandria" pitchFamily="34" charset="-120"/>
              </a:rPr>
              <a:t>Nova · thư mời</a:t>
            </a:r>
            <a:endParaRPr lang="en-US" sz="1400" dirty="0"/>
          </a:p>
        </p:txBody>
      </p:sp>
      <p:sp>
        <p:nvSpPr>
          <p:cNvPr id="23" name="Shape 20"/>
          <p:cNvSpPr/>
          <p:nvPr/>
        </p:nvSpPr>
        <p:spPr>
          <a:xfrm>
            <a:off x="3383280" y="2423160"/>
            <a:ext cx="929488" cy="1143000"/>
          </a:xfrm>
          <a:prstGeom prst="line">
            <a:avLst/>
          </a:prstGeom>
          <a:noFill/>
          <a:ln w="25400">
            <a:solidFill>
              <a:srgbClr val="FF5178"/>
            </a:solidFill>
            <a:prstDash val="solid"/>
            <a:tailEnd type="triangle"/>
          </a:ln>
        </p:spPr>
      </p:sp>
      <p:sp>
        <p:nvSpPr>
          <p:cNvPr id="24" name="Shape 21"/>
          <p:cNvSpPr/>
          <p:nvPr/>
        </p:nvSpPr>
        <p:spPr>
          <a:xfrm>
            <a:off x="8899855" y="2103120"/>
            <a:ext cx="2377440" cy="640080"/>
          </a:xfrm>
          <a:prstGeom prst="roundRect">
            <a:avLst>
              <a:gd name="adj" fmla="val 50000"/>
            </a:avLst>
          </a:prstGeom>
          <a:solidFill>
            <a:srgbClr val="FFFFFF"/>
          </a:solidFill>
          <a:ln w="12700">
            <a:solidFill>
              <a:srgbClr val="FF5178"/>
            </a:solidFill>
            <a:prstDash val="solid"/>
          </a:ln>
        </p:spPr>
      </p:sp>
      <p:sp>
        <p:nvSpPr>
          <p:cNvPr id="25" name="Text 22"/>
          <p:cNvSpPr txBox="1"/>
          <p:nvPr/>
        </p:nvSpPr>
        <p:spPr>
          <a:xfrm>
            <a:off x="8973007" y="2103120"/>
            <a:ext cx="2231136" cy="640080"/>
          </a:xfrm>
          <a:prstGeom prst="rect">
            <a:avLst/>
          </a:prstGeom>
          <a:noFill/>
          <a:ln/>
        </p:spPr>
        <p:txBody>
          <a:bodyPr wrap="square" lIns="0" tIns="0" rIns="0" bIns="0" rtlCol="0" anchor="ctr"/>
          <a:lstStyle/>
          <a:p>
            <a:pPr algn="ctr" indent="0" marL="0">
              <a:buNone/>
            </a:pPr>
            <a:r>
              <a:rPr lang="en-US" sz="1400" dirty="0">
                <a:solidFill>
                  <a:srgbClr val="2A2238"/>
                </a:solidFill>
                <a:latin typeface="Alexandria" pitchFamily="34" charset="0"/>
                <a:ea typeface="Alexandria" pitchFamily="34" charset="-122"/>
                <a:cs typeface="Alexandria" pitchFamily="34" charset="-120"/>
              </a:rPr>
              <a:t>Nova · đón tiếp</a:t>
            </a:r>
            <a:endParaRPr lang="en-US" sz="1400" dirty="0"/>
          </a:p>
        </p:txBody>
      </p:sp>
      <p:sp>
        <p:nvSpPr>
          <p:cNvPr id="26" name="Shape 23"/>
          <p:cNvSpPr/>
          <p:nvPr/>
        </p:nvSpPr>
        <p:spPr>
          <a:xfrm flipH="1">
            <a:off x="7878928" y="2423160"/>
            <a:ext cx="929488" cy="1143000"/>
          </a:xfrm>
          <a:prstGeom prst="line">
            <a:avLst/>
          </a:prstGeom>
          <a:noFill/>
          <a:ln w="25400">
            <a:solidFill>
              <a:srgbClr val="FF5178"/>
            </a:solidFill>
            <a:prstDash val="solid"/>
            <a:tailEnd type="triangle"/>
          </a:ln>
        </p:spPr>
      </p:sp>
      <p:sp>
        <p:nvSpPr>
          <p:cNvPr id="27" name="Shape 24"/>
          <p:cNvSpPr/>
          <p:nvPr/>
        </p:nvSpPr>
        <p:spPr>
          <a:xfrm>
            <a:off x="914400" y="3840480"/>
            <a:ext cx="2377440" cy="640080"/>
          </a:xfrm>
          <a:prstGeom prst="roundRect">
            <a:avLst>
              <a:gd name="adj" fmla="val 50000"/>
            </a:avLst>
          </a:prstGeom>
          <a:solidFill>
            <a:srgbClr val="FFFFFF"/>
          </a:solidFill>
          <a:ln w="12700">
            <a:solidFill>
              <a:srgbClr val="FF5178"/>
            </a:solidFill>
            <a:prstDash val="solid"/>
          </a:ln>
        </p:spPr>
      </p:sp>
      <p:sp>
        <p:nvSpPr>
          <p:cNvPr id="28" name="Text 25"/>
          <p:cNvSpPr txBox="1"/>
          <p:nvPr/>
        </p:nvSpPr>
        <p:spPr>
          <a:xfrm>
            <a:off x="987552" y="3840480"/>
            <a:ext cx="2231136" cy="640080"/>
          </a:xfrm>
          <a:prstGeom prst="rect">
            <a:avLst/>
          </a:prstGeom>
          <a:noFill/>
          <a:ln/>
        </p:spPr>
        <p:txBody>
          <a:bodyPr wrap="square" lIns="0" tIns="0" rIns="0" bIns="0" rtlCol="0" anchor="ctr"/>
          <a:lstStyle/>
          <a:p>
            <a:pPr algn="ctr" indent="0" marL="0">
              <a:buNone/>
            </a:pPr>
            <a:r>
              <a:rPr lang="en-US" sz="1400" dirty="0">
                <a:solidFill>
                  <a:srgbClr val="2A2238"/>
                </a:solidFill>
                <a:latin typeface="Alexandria" pitchFamily="34" charset="0"/>
                <a:ea typeface="Alexandria" pitchFamily="34" charset="-122"/>
                <a:cs typeface="Alexandria" pitchFamily="34" charset="-120"/>
              </a:rPr>
              <a:t>Nova · thư cảm ơn</a:t>
            </a:r>
            <a:endParaRPr lang="en-US" sz="1400" dirty="0"/>
          </a:p>
        </p:txBody>
      </p:sp>
      <p:sp>
        <p:nvSpPr>
          <p:cNvPr id="29" name="Shape 26"/>
          <p:cNvSpPr/>
          <p:nvPr/>
        </p:nvSpPr>
        <p:spPr>
          <a:xfrm flipV="1">
            <a:off x="3383280" y="3566160"/>
            <a:ext cx="929488" cy="594360"/>
          </a:xfrm>
          <a:prstGeom prst="line">
            <a:avLst/>
          </a:prstGeom>
          <a:noFill/>
          <a:ln w="25400">
            <a:solidFill>
              <a:srgbClr val="FF5178"/>
            </a:solidFill>
            <a:prstDash val="solid"/>
            <a:tailEnd type="triangle"/>
          </a:ln>
        </p:spPr>
      </p:sp>
      <p:sp>
        <p:nvSpPr>
          <p:cNvPr id="30" name="Shape 27"/>
          <p:cNvSpPr/>
          <p:nvPr/>
        </p:nvSpPr>
        <p:spPr>
          <a:xfrm>
            <a:off x="8899855" y="3840480"/>
            <a:ext cx="2377440" cy="640080"/>
          </a:xfrm>
          <a:prstGeom prst="roundRect">
            <a:avLst>
              <a:gd name="adj" fmla="val 50000"/>
            </a:avLst>
          </a:prstGeom>
          <a:solidFill>
            <a:srgbClr val="FFFFFF"/>
          </a:solidFill>
          <a:ln w="12700">
            <a:solidFill>
              <a:srgbClr val="FF5178"/>
            </a:solidFill>
            <a:prstDash val="solid"/>
          </a:ln>
        </p:spPr>
      </p:sp>
      <p:sp>
        <p:nvSpPr>
          <p:cNvPr id="31" name="Text 28"/>
          <p:cNvSpPr txBox="1"/>
          <p:nvPr/>
        </p:nvSpPr>
        <p:spPr>
          <a:xfrm>
            <a:off x="8973007" y="3840480"/>
            <a:ext cx="2231136" cy="640080"/>
          </a:xfrm>
          <a:prstGeom prst="rect">
            <a:avLst/>
          </a:prstGeom>
          <a:noFill/>
          <a:ln/>
        </p:spPr>
        <p:txBody>
          <a:bodyPr wrap="square" lIns="0" tIns="0" rIns="0" bIns="0" rtlCol="0" anchor="ctr"/>
          <a:lstStyle/>
          <a:p>
            <a:pPr algn="ctr" indent="0" marL="0">
              <a:buNone/>
            </a:pPr>
            <a:r>
              <a:rPr lang="en-US" sz="1400" dirty="0">
                <a:solidFill>
                  <a:srgbClr val="2A2238"/>
                </a:solidFill>
                <a:latin typeface="Alexandria" pitchFamily="34" charset="0"/>
                <a:ea typeface="Alexandria" pitchFamily="34" charset="-122"/>
                <a:cs typeface="Alexandria" pitchFamily="34" charset="-120"/>
              </a:rPr>
              <a:t>Nova · livestream</a:t>
            </a:r>
            <a:endParaRPr lang="en-US" sz="1400" dirty="0"/>
          </a:p>
        </p:txBody>
      </p:sp>
      <p:sp>
        <p:nvSpPr>
          <p:cNvPr id="32" name="Shape 29"/>
          <p:cNvSpPr/>
          <p:nvPr/>
        </p:nvSpPr>
        <p:spPr>
          <a:xfrm flipH="1" flipV="1">
            <a:off x="7878928" y="3566160"/>
            <a:ext cx="929488" cy="594360"/>
          </a:xfrm>
          <a:prstGeom prst="line">
            <a:avLst/>
          </a:prstGeom>
          <a:noFill/>
          <a:ln w="25400">
            <a:solidFill>
              <a:srgbClr val="FF5178"/>
            </a:solidFill>
            <a:prstDash val="solid"/>
            <a:tailEnd type="triangle"/>
          </a:ln>
        </p:spPr>
      </p:sp>
      <p:sp>
        <p:nvSpPr>
          <p:cNvPr id="33" name="Text 30"/>
          <p:cNvSpPr txBox="1"/>
          <p:nvPr/>
        </p:nvSpPr>
        <p:spPr>
          <a:xfrm>
            <a:off x="548640" y="5532120"/>
            <a:ext cx="11094415" cy="54864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Nova làm cho thương hiệu An Phát tỏa sáng.</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962B7C"/>
          </a:solidFill>
          <a:ln w="9525">
            <a:solidFill>
              <a:srgbClr val="962B7C"/>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Quyết định mua của tổ chức do nhiều người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C04: Webster &amp; Wind (1972), Journal of Marketing, 36(2), 12–19.</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16</a:t>
            </a:r>
            <a:endParaRPr lang="en-US" sz="1000" dirty="0"/>
          </a:p>
        </p:txBody>
      </p:sp>
      <p:sp>
        <p:nvSpPr>
          <p:cNvPr id="20" name="Text 17"/>
          <p:cNvSpPr txBox="1"/>
          <p:nvPr/>
        </p:nvSpPr>
        <p:spPr>
          <a:xfrm>
            <a:off x="548640" y="1783080"/>
            <a:ext cx="4114800" cy="411480"/>
          </a:xfrm>
          <a:prstGeom prst="rect">
            <a:avLst/>
          </a:prstGeom>
          <a:noFill/>
          <a:ln/>
        </p:spPr>
        <p:txBody>
          <a:bodyPr wrap="square" lIns="0" tIns="0" rIns="0" bIns="0" rtlCol="0" anchor="ctr"/>
          <a:lstStyle/>
          <a:p>
            <a:pPr indent="0" marL="0">
              <a:buNone/>
            </a:pPr>
            <a:r>
              <a:rPr lang="en-US" sz="1500" i="1" dirty="0">
                <a:solidFill>
                  <a:srgbClr val="6E6878"/>
                </a:solidFill>
                <a:latin typeface="Alexandria" pitchFamily="34" charset="0"/>
                <a:ea typeface="Alexandria" pitchFamily="34" charset="-122"/>
                <a:cs typeface="Alexandria" pitchFamily="34" charset="-120"/>
              </a:rPr>
              <a:t>buying center · DMU</a:t>
            </a:r>
            <a:endParaRPr lang="en-US" sz="1500" dirty="0"/>
          </a:p>
        </p:txBody>
      </p:sp>
      <p:sp>
        <p:nvSpPr>
          <p:cNvPr id="21" name="Shape 18"/>
          <p:cNvSpPr/>
          <p:nvPr/>
        </p:nvSpPr>
        <p:spPr>
          <a:xfrm>
            <a:off x="5090008" y="2926080"/>
            <a:ext cx="2011680" cy="2011680"/>
          </a:xfrm>
          <a:prstGeom prst="ellipse">
            <a:avLst/>
          </a:prstGeom>
          <a:solidFill>
            <a:srgbClr val="FFF3C4"/>
          </a:solidFill>
          <a:ln w="25400">
            <a:solidFill>
              <a:srgbClr val="FFD23B"/>
            </a:solidFill>
            <a:prstDash val="solid"/>
          </a:ln>
        </p:spPr>
      </p:sp>
      <p:sp>
        <p:nvSpPr>
          <p:cNvPr id="22" name="Text 19"/>
          <p:cNvSpPr txBox="1"/>
          <p:nvPr/>
        </p:nvSpPr>
        <p:spPr>
          <a:xfrm>
            <a:off x="5181448" y="3017520"/>
            <a:ext cx="1828800" cy="18288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Quyết định chọn agency</a:t>
            </a:r>
            <a:endParaRPr lang="en-US" sz="1500" dirty="0"/>
          </a:p>
        </p:txBody>
      </p:sp>
      <p:sp>
        <p:nvSpPr>
          <p:cNvPr id="23" name="Shape 20"/>
          <p:cNvSpPr/>
          <p:nvPr/>
        </p:nvSpPr>
        <p:spPr>
          <a:xfrm>
            <a:off x="4861408" y="1984248"/>
            <a:ext cx="2468880" cy="694944"/>
          </a:xfrm>
          <a:prstGeom prst="roundRect">
            <a:avLst>
              <a:gd name="adj" fmla="val 50000"/>
            </a:avLst>
          </a:prstGeom>
          <a:solidFill>
            <a:srgbClr val="09A1E5"/>
          </a:solidFill>
          <a:ln w="12700">
            <a:solidFill>
              <a:srgbClr val="09A1E5"/>
            </a:solidFill>
            <a:prstDash val="solid"/>
          </a:ln>
        </p:spPr>
      </p:sp>
      <p:sp>
        <p:nvSpPr>
          <p:cNvPr id="24" name="Text 21"/>
          <p:cNvSpPr txBox="1"/>
          <p:nvPr/>
        </p:nvSpPr>
        <p:spPr>
          <a:xfrm>
            <a:off x="4934560" y="1984248"/>
            <a:ext cx="2322576"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Người dùng</a:t>
            </a:r>
            <a:endParaRPr lang="en-US" sz="1500" dirty="0"/>
          </a:p>
        </p:txBody>
      </p:sp>
      <p:sp>
        <p:nvSpPr>
          <p:cNvPr id="25" name="Text 22"/>
          <p:cNvSpPr txBox="1"/>
          <p:nvPr/>
        </p:nvSpPr>
        <p:spPr>
          <a:xfrm>
            <a:off x="4861408" y="2697480"/>
            <a:ext cx="2468880" cy="27432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user</a:t>
            </a:r>
            <a:endParaRPr lang="en-US" sz="1100" dirty="0"/>
          </a:p>
        </p:txBody>
      </p:sp>
      <p:sp>
        <p:nvSpPr>
          <p:cNvPr id="26" name="Shape 23"/>
          <p:cNvSpPr/>
          <p:nvPr/>
        </p:nvSpPr>
        <p:spPr>
          <a:xfrm>
            <a:off x="7818204" y="3089959"/>
            <a:ext cx="2468880" cy="694944"/>
          </a:xfrm>
          <a:prstGeom prst="roundRect">
            <a:avLst>
              <a:gd name="adj" fmla="val 50000"/>
            </a:avLst>
          </a:prstGeom>
          <a:solidFill>
            <a:srgbClr val="FF5178"/>
          </a:solidFill>
          <a:ln w="12700">
            <a:solidFill>
              <a:srgbClr val="FF5178"/>
            </a:solidFill>
            <a:prstDash val="solid"/>
          </a:ln>
        </p:spPr>
      </p:sp>
      <p:sp>
        <p:nvSpPr>
          <p:cNvPr id="27" name="Text 24"/>
          <p:cNvSpPr txBox="1"/>
          <p:nvPr/>
        </p:nvSpPr>
        <p:spPr>
          <a:xfrm>
            <a:off x="7891356" y="3089959"/>
            <a:ext cx="2322576"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Người ảnh hưởng</a:t>
            </a:r>
            <a:endParaRPr lang="en-US" sz="1500" dirty="0"/>
          </a:p>
        </p:txBody>
      </p:sp>
      <p:sp>
        <p:nvSpPr>
          <p:cNvPr id="28" name="Text 25"/>
          <p:cNvSpPr txBox="1"/>
          <p:nvPr/>
        </p:nvSpPr>
        <p:spPr>
          <a:xfrm>
            <a:off x="7818204" y="3803191"/>
            <a:ext cx="2468880" cy="27432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influencer</a:t>
            </a:r>
            <a:endParaRPr lang="en-US" sz="1100" dirty="0"/>
          </a:p>
        </p:txBody>
      </p:sp>
      <p:sp>
        <p:nvSpPr>
          <p:cNvPr id="29" name="Shape 26"/>
          <p:cNvSpPr/>
          <p:nvPr/>
        </p:nvSpPr>
        <p:spPr>
          <a:xfrm>
            <a:off x="6688808" y="4879037"/>
            <a:ext cx="2468880" cy="694944"/>
          </a:xfrm>
          <a:prstGeom prst="roundRect">
            <a:avLst>
              <a:gd name="adj" fmla="val 50000"/>
            </a:avLst>
          </a:prstGeom>
          <a:solidFill>
            <a:srgbClr val="FF9259"/>
          </a:solidFill>
          <a:ln w="12700">
            <a:solidFill>
              <a:srgbClr val="FF9259"/>
            </a:solidFill>
            <a:prstDash val="solid"/>
          </a:ln>
        </p:spPr>
      </p:sp>
      <p:sp>
        <p:nvSpPr>
          <p:cNvPr id="30" name="Text 27"/>
          <p:cNvSpPr txBox="1"/>
          <p:nvPr/>
        </p:nvSpPr>
        <p:spPr>
          <a:xfrm>
            <a:off x="6761960" y="4879037"/>
            <a:ext cx="2322576" cy="694944"/>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Người mua</a:t>
            </a:r>
            <a:endParaRPr lang="en-US" sz="1500" dirty="0"/>
          </a:p>
        </p:txBody>
      </p:sp>
      <p:sp>
        <p:nvSpPr>
          <p:cNvPr id="31" name="Text 28"/>
          <p:cNvSpPr txBox="1"/>
          <p:nvPr/>
        </p:nvSpPr>
        <p:spPr>
          <a:xfrm>
            <a:off x="6688808" y="5592269"/>
            <a:ext cx="2468880" cy="27432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buyer</a:t>
            </a:r>
            <a:endParaRPr lang="en-US" sz="1100" dirty="0"/>
          </a:p>
        </p:txBody>
      </p:sp>
      <p:sp>
        <p:nvSpPr>
          <p:cNvPr id="32" name="Shape 29"/>
          <p:cNvSpPr/>
          <p:nvPr/>
        </p:nvSpPr>
        <p:spPr>
          <a:xfrm>
            <a:off x="3034007" y="4879037"/>
            <a:ext cx="2468880" cy="694944"/>
          </a:xfrm>
          <a:prstGeom prst="roundRect">
            <a:avLst>
              <a:gd name="adj" fmla="val 50000"/>
            </a:avLst>
          </a:prstGeom>
          <a:solidFill>
            <a:srgbClr val="962B7C"/>
          </a:solidFill>
          <a:ln w="12700">
            <a:solidFill>
              <a:srgbClr val="962B7C"/>
            </a:solidFill>
            <a:prstDash val="solid"/>
          </a:ln>
        </p:spPr>
      </p:sp>
      <p:sp>
        <p:nvSpPr>
          <p:cNvPr id="33" name="Text 30"/>
          <p:cNvSpPr txBox="1"/>
          <p:nvPr/>
        </p:nvSpPr>
        <p:spPr>
          <a:xfrm>
            <a:off x="3107159" y="4879037"/>
            <a:ext cx="2322576"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Người quyết định</a:t>
            </a:r>
            <a:endParaRPr lang="en-US" sz="1500" dirty="0"/>
          </a:p>
        </p:txBody>
      </p:sp>
      <p:sp>
        <p:nvSpPr>
          <p:cNvPr id="34" name="Text 31"/>
          <p:cNvSpPr txBox="1"/>
          <p:nvPr/>
        </p:nvSpPr>
        <p:spPr>
          <a:xfrm>
            <a:off x="3034007" y="5592269"/>
            <a:ext cx="2468880" cy="27432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decider</a:t>
            </a:r>
            <a:endParaRPr lang="en-US" sz="1100" dirty="0"/>
          </a:p>
        </p:txBody>
      </p:sp>
      <p:sp>
        <p:nvSpPr>
          <p:cNvPr id="35" name="Shape 32"/>
          <p:cNvSpPr/>
          <p:nvPr/>
        </p:nvSpPr>
        <p:spPr>
          <a:xfrm>
            <a:off x="1904611" y="3089959"/>
            <a:ext cx="2468880" cy="694944"/>
          </a:xfrm>
          <a:prstGeom prst="roundRect">
            <a:avLst>
              <a:gd name="adj" fmla="val 50000"/>
            </a:avLst>
          </a:prstGeom>
          <a:solidFill>
            <a:srgbClr val="49B296"/>
          </a:solidFill>
          <a:ln w="12700">
            <a:solidFill>
              <a:srgbClr val="49B296"/>
            </a:solidFill>
            <a:prstDash val="solid"/>
          </a:ln>
        </p:spPr>
      </p:sp>
      <p:sp>
        <p:nvSpPr>
          <p:cNvPr id="36" name="Text 33"/>
          <p:cNvSpPr txBox="1"/>
          <p:nvPr/>
        </p:nvSpPr>
        <p:spPr>
          <a:xfrm>
            <a:off x="1977763" y="3089959"/>
            <a:ext cx="2322576"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Người gác cổng</a:t>
            </a:r>
            <a:endParaRPr lang="en-US" sz="1500" dirty="0"/>
          </a:p>
        </p:txBody>
      </p:sp>
      <p:sp>
        <p:nvSpPr>
          <p:cNvPr id="37" name="Text 34"/>
          <p:cNvSpPr txBox="1"/>
          <p:nvPr/>
        </p:nvSpPr>
        <p:spPr>
          <a:xfrm>
            <a:off x="1904611" y="3803191"/>
            <a:ext cx="2468880" cy="274320"/>
          </a:xfrm>
          <a:prstGeom prst="rect">
            <a:avLst/>
          </a:prstGeom>
          <a:noFill/>
          <a:ln/>
        </p:spPr>
        <p:txBody>
          <a:bodyPr wrap="square" lIns="0" tIns="0" rIns="0" bIns="0" rtlCol="0" anchor="ctr"/>
          <a:lstStyle/>
          <a:p>
            <a:pPr algn="ctr" indent="0" marL="0">
              <a:buNone/>
            </a:pPr>
            <a:r>
              <a:rPr lang="en-US" sz="1100" i="1" dirty="0">
                <a:solidFill>
                  <a:srgbClr val="6E6878"/>
                </a:solidFill>
                <a:latin typeface="Alexandria" pitchFamily="34" charset="0"/>
                <a:ea typeface="Alexandria" pitchFamily="34" charset="-122"/>
                <a:cs typeface="Alexandria" pitchFamily="34" charset="-120"/>
              </a:rPr>
              <a:t>gatekeeper</a:t>
            </a:r>
            <a:endParaRPr lang="en-US" sz="1100" dirty="0"/>
          </a:p>
        </p:txBody>
      </p:sp>
      <p:sp>
        <p:nvSpPr>
          <p:cNvPr id="38" name="Shape 35"/>
          <p:cNvSpPr/>
          <p:nvPr/>
        </p:nvSpPr>
        <p:spPr>
          <a:xfrm>
            <a:off x="9631375" y="1783080"/>
            <a:ext cx="2011680" cy="384048"/>
          </a:xfrm>
          <a:prstGeom prst="roundRect">
            <a:avLst>
              <a:gd name="adj" fmla="val 50000"/>
            </a:avLst>
          </a:prstGeom>
          <a:solidFill>
            <a:srgbClr val="FFD23B"/>
          </a:solidFill>
          <a:ln w="12700">
            <a:solidFill>
              <a:srgbClr val="FFD23B"/>
            </a:solidFill>
            <a:prstDash val="solid"/>
          </a:ln>
        </p:spPr>
      </p:sp>
      <p:sp>
        <p:nvSpPr>
          <p:cNvPr id="39" name="Text 36"/>
          <p:cNvSpPr txBox="1"/>
          <p:nvPr/>
        </p:nvSpPr>
        <p:spPr>
          <a:xfrm>
            <a:off x="9704527" y="1783080"/>
            <a:ext cx="1865376" cy="384048"/>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[VERIFY] vai trò</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962B7C"/>
          </a:solidFill>
          <a:ln w="9525">
            <a:solidFill>
              <a:srgbClr val="962B7C"/>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Năm người của An Phát liên quan đến quyết định chọn Nova</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Nhân vật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17</a:t>
            </a:r>
            <a:endParaRPr lang="en-US" sz="1000" dirty="0"/>
          </a:p>
        </p:txBody>
      </p:sp>
      <p:sp>
        <p:nvSpPr>
          <p:cNvPr id="20" name="Shape 17"/>
          <p:cNvSpPr/>
          <p:nvPr/>
        </p:nvSpPr>
        <p:spPr>
          <a:xfrm>
            <a:off x="548640" y="1874520"/>
            <a:ext cx="2072579" cy="4114800"/>
          </a:xfrm>
          <a:prstGeom prst="roundRect">
            <a:avLst>
              <a:gd name="adj" fmla="val 5294"/>
            </a:avLst>
          </a:prstGeom>
          <a:solidFill>
            <a:srgbClr val="F1E1EE"/>
          </a:solidFill>
          <a:ln w="19050">
            <a:solidFill>
              <a:srgbClr val="962B7C"/>
            </a:solidFill>
            <a:prstDash val="solid"/>
          </a:ln>
        </p:spPr>
      </p:sp>
      <p:sp>
        <p:nvSpPr>
          <p:cNvPr id="21" name="Shape 18"/>
          <p:cNvSpPr/>
          <p:nvPr/>
        </p:nvSpPr>
        <p:spPr>
          <a:xfrm>
            <a:off x="1082010" y="2103120"/>
            <a:ext cx="1005840" cy="1005840"/>
          </a:xfrm>
          <a:prstGeom prst="ellipse">
            <a:avLst/>
          </a:prstGeom>
          <a:solidFill>
            <a:srgbClr val="962B7C"/>
          </a:solidFill>
          <a:ln w="12700">
            <a:solidFill>
              <a:srgbClr val="962B7C"/>
            </a:solidFill>
            <a:prstDash val="solid"/>
          </a:ln>
        </p:spPr>
      </p:sp>
      <p:sp>
        <p:nvSpPr>
          <p:cNvPr id="22" name="Text 19"/>
          <p:cNvSpPr txBox="1"/>
          <p:nvPr/>
        </p:nvSpPr>
        <p:spPr>
          <a:xfrm>
            <a:off x="1082010" y="2103120"/>
            <a:ext cx="1005840"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Alexandria" pitchFamily="34" charset="0"/>
                <a:ea typeface="Alexandria" pitchFamily="34" charset="-122"/>
                <a:cs typeface="Alexandria" pitchFamily="34" charset="-120"/>
              </a:rPr>
              <a:t>H</a:t>
            </a:r>
            <a:endParaRPr lang="en-US" sz="3000" dirty="0"/>
          </a:p>
        </p:txBody>
      </p:sp>
      <p:sp>
        <p:nvSpPr>
          <p:cNvPr id="23" name="Text 20"/>
          <p:cNvSpPr txBox="1"/>
          <p:nvPr/>
        </p:nvSpPr>
        <p:spPr>
          <a:xfrm>
            <a:off x="685800" y="3246120"/>
            <a:ext cx="1798259" cy="4114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Chị Hạnh</a:t>
            </a:r>
            <a:endParaRPr lang="en-US" sz="1800" dirty="0"/>
          </a:p>
        </p:txBody>
      </p:sp>
      <p:sp>
        <p:nvSpPr>
          <p:cNvPr id="24" name="Text 21"/>
          <p:cNvSpPr txBox="1"/>
          <p:nvPr/>
        </p:nvSpPr>
        <p:spPr>
          <a:xfrm>
            <a:off x="685800" y="3657600"/>
            <a:ext cx="1798259" cy="73152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GĐ Marketing</a:t>
            </a:r>
            <a:endParaRPr lang="en-US" sz="1200" dirty="0"/>
          </a:p>
        </p:txBody>
      </p:sp>
      <p:sp>
        <p:nvSpPr>
          <p:cNvPr id="25" name="Text 22"/>
          <p:cNvSpPr txBox="1"/>
          <p:nvPr/>
        </p:nvSpPr>
        <p:spPr>
          <a:xfrm>
            <a:off x="731520" y="4434840"/>
            <a:ext cx="1706819" cy="141732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Làm việc với Nova 4 năm; chịu áp lực đổi mới năm nay</a:t>
            </a:r>
            <a:endParaRPr lang="en-US" sz="1300" dirty="0"/>
          </a:p>
        </p:txBody>
      </p:sp>
      <p:sp>
        <p:nvSpPr>
          <p:cNvPr id="26" name="Shape 23"/>
          <p:cNvSpPr/>
          <p:nvPr/>
        </p:nvSpPr>
        <p:spPr>
          <a:xfrm>
            <a:off x="2804099" y="1874520"/>
            <a:ext cx="2072579" cy="4114800"/>
          </a:xfrm>
          <a:prstGeom prst="roundRect">
            <a:avLst>
              <a:gd name="adj" fmla="val 5294"/>
            </a:avLst>
          </a:prstGeom>
          <a:solidFill>
            <a:srgbClr val="DDF1FB"/>
          </a:solidFill>
          <a:ln w="19050">
            <a:solidFill>
              <a:srgbClr val="09A1E5"/>
            </a:solidFill>
            <a:prstDash val="solid"/>
          </a:ln>
        </p:spPr>
      </p:sp>
      <p:sp>
        <p:nvSpPr>
          <p:cNvPr id="27" name="Shape 24"/>
          <p:cNvSpPr/>
          <p:nvPr/>
        </p:nvSpPr>
        <p:spPr>
          <a:xfrm>
            <a:off x="3337469" y="2103120"/>
            <a:ext cx="1005840" cy="1005840"/>
          </a:xfrm>
          <a:prstGeom prst="ellipse">
            <a:avLst/>
          </a:prstGeom>
          <a:solidFill>
            <a:srgbClr val="09A1E5"/>
          </a:solidFill>
          <a:ln w="12700">
            <a:solidFill>
              <a:srgbClr val="09A1E5"/>
            </a:solidFill>
            <a:prstDash val="solid"/>
          </a:ln>
        </p:spPr>
      </p:sp>
      <p:sp>
        <p:nvSpPr>
          <p:cNvPr id="28" name="Text 25"/>
          <p:cNvSpPr txBox="1"/>
          <p:nvPr/>
        </p:nvSpPr>
        <p:spPr>
          <a:xfrm>
            <a:off x="3337469" y="2103120"/>
            <a:ext cx="1005840"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Alexandria" pitchFamily="34" charset="0"/>
                <a:ea typeface="Alexandria" pitchFamily="34" charset="-122"/>
                <a:cs typeface="Alexandria" pitchFamily="34" charset="-120"/>
              </a:rPr>
              <a:t>T</a:t>
            </a:r>
            <a:endParaRPr lang="en-US" sz="3000" dirty="0"/>
          </a:p>
        </p:txBody>
      </p:sp>
      <p:sp>
        <p:nvSpPr>
          <p:cNvPr id="29" name="Text 26"/>
          <p:cNvSpPr txBox="1"/>
          <p:nvPr/>
        </p:nvSpPr>
        <p:spPr>
          <a:xfrm>
            <a:off x="2941259" y="3246120"/>
            <a:ext cx="1798259" cy="4114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Ông Tuấn</a:t>
            </a:r>
            <a:endParaRPr lang="en-US" sz="1800" dirty="0"/>
          </a:p>
        </p:txBody>
      </p:sp>
      <p:sp>
        <p:nvSpPr>
          <p:cNvPr id="30" name="Text 27"/>
          <p:cNvSpPr txBox="1"/>
          <p:nvPr/>
        </p:nvSpPr>
        <p:spPr>
          <a:xfrm>
            <a:off x="2941259" y="3657600"/>
            <a:ext cx="1798259" cy="73152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Phó TGĐ khối Marketing – Truyền thông</a:t>
            </a:r>
            <a:endParaRPr lang="en-US" sz="1200" dirty="0"/>
          </a:p>
        </p:txBody>
      </p:sp>
      <p:sp>
        <p:nvSpPr>
          <p:cNvPr id="31" name="Text 28"/>
          <p:cNvSpPr txBox="1"/>
          <p:nvPr/>
        </p:nvSpPr>
        <p:spPr>
          <a:xfrm>
            <a:off x="2986979" y="4434840"/>
            <a:ext cx="1706819" cy="141732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Chỉ bắt tay Nova ở gala; quan tâm giữ khách DN lớn</a:t>
            </a:r>
            <a:endParaRPr lang="en-US" sz="1300" dirty="0"/>
          </a:p>
        </p:txBody>
      </p:sp>
      <p:sp>
        <p:nvSpPr>
          <p:cNvPr id="32" name="Shape 29"/>
          <p:cNvSpPr/>
          <p:nvPr/>
        </p:nvSpPr>
        <p:spPr>
          <a:xfrm>
            <a:off x="5059558" y="1874520"/>
            <a:ext cx="2072579" cy="4114800"/>
          </a:xfrm>
          <a:prstGeom prst="roundRect">
            <a:avLst>
              <a:gd name="adj" fmla="val 5294"/>
            </a:avLst>
          </a:prstGeom>
          <a:solidFill>
            <a:srgbClr val="FFE9DE"/>
          </a:solidFill>
          <a:ln w="19050">
            <a:solidFill>
              <a:srgbClr val="FF9259"/>
            </a:solidFill>
            <a:prstDash val="solid"/>
          </a:ln>
        </p:spPr>
      </p:sp>
      <p:sp>
        <p:nvSpPr>
          <p:cNvPr id="33" name="Shape 30"/>
          <p:cNvSpPr/>
          <p:nvPr/>
        </p:nvSpPr>
        <p:spPr>
          <a:xfrm>
            <a:off x="5592928" y="2103120"/>
            <a:ext cx="1005840" cy="1005840"/>
          </a:xfrm>
          <a:prstGeom prst="ellipse">
            <a:avLst/>
          </a:prstGeom>
          <a:solidFill>
            <a:srgbClr val="FF9259"/>
          </a:solidFill>
          <a:ln w="12700">
            <a:solidFill>
              <a:srgbClr val="FF9259"/>
            </a:solidFill>
            <a:prstDash val="solid"/>
          </a:ln>
        </p:spPr>
      </p:sp>
      <p:sp>
        <p:nvSpPr>
          <p:cNvPr id="34" name="Text 31"/>
          <p:cNvSpPr txBox="1"/>
          <p:nvPr/>
        </p:nvSpPr>
        <p:spPr>
          <a:xfrm>
            <a:off x="5592928" y="2103120"/>
            <a:ext cx="1005840" cy="1005840"/>
          </a:xfrm>
          <a:prstGeom prst="rect">
            <a:avLst/>
          </a:prstGeom>
          <a:noFill/>
          <a:ln/>
        </p:spPr>
        <p:txBody>
          <a:bodyPr wrap="square" lIns="0" tIns="0" rIns="0" bIns="0" rtlCol="0" anchor="ctr"/>
          <a:lstStyle/>
          <a:p>
            <a:pPr algn="ctr" indent="0" marL="0">
              <a:buNone/>
            </a:pPr>
            <a:r>
              <a:rPr lang="en-US" sz="3000" b="1" dirty="0">
                <a:solidFill>
                  <a:srgbClr val="2A2238"/>
                </a:solidFill>
                <a:latin typeface="Alexandria" pitchFamily="34" charset="0"/>
                <a:ea typeface="Alexandria" pitchFamily="34" charset="-122"/>
                <a:cs typeface="Alexandria" pitchFamily="34" charset="-120"/>
              </a:rPr>
              <a:t>K</a:t>
            </a:r>
            <a:endParaRPr lang="en-US" sz="3000" dirty="0"/>
          </a:p>
        </p:txBody>
      </p:sp>
      <p:sp>
        <p:nvSpPr>
          <p:cNvPr id="35" name="Text 32"/>
          <p:cNvSpPr txBox="1"/>
          <p:nvPr/>
        </p:nvSpPr>
        <p:spPr>
          <a:xfrm>
            <a:off x="5196718" y="3246120"/>
            <a:ext cx="1798259" cy="4114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Anh Khoa</a:t>
            </a:r>
            <a:endParaRPr lang="en-US" sz="1800" dirty="0"/>
          </a:p>
        </p:txBody>
      </p:sp>
      <p:sp>
        <p:nvSpPr>
          <p:cNvPr id="36" name="Text 33"/>
          <p:cNvSpPr txBox="1"/>
          <p:nvPr/>
        </p:nvSpPr>
        <p:spPr>
          <a:xfrm>
            <a:off x="5196718" y="3657600"/>
            <a:ext cx="1798259" cy="73152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Chuyên viên ngân sách – mua sắm</a:t>
            </a:r>
            <a:endParaRPr lang="en-US" sz="1200" dirty="0"/>
          </a:p>
        </p:txBody>
      </p:sp>
      <p:sp>
        <p:nvSpPr>
          <p:cNvPr id="37" name="Text 34"/>
          <p:cNvSpPr txBox="1"/>
          <p:nvPr/>
        </p:nvSpPr>
        <p:spPr>
          <a:xfrm>
            <a:off x="5242438" y="4434840"/>
            <a:ext cx="1706819" cy="141732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Chỉ gửi hồ sơ thanh toán; khó tính về quy trình</a:t>
            </a:r>
            <a:endParaRPr lang="en-US" sz="1300" dirty="0"/>
          </a:p>
        </p:txBody>
      </p:sp>
      <p:sp>
        <p:nvSpPr>
          <p:cNvPr id="38" name="Shape 35"/>
          <p:cNvSpPr/>
          <p:nvPr/>
        </p:nvSpPr>
        <p:spPr>
          <a:xfrm>
            <a:off x="7315017" y="1874520"/>
            <a:ext cx="2072579" cy="4114800"/>
          </a:xfrm>
          <a:prstGeom prst="roundRect">
            <a:avLst>
              <a:gd name="adj" fmla="val 5294"/>
            </a:avLst>
          </a:prstGeom>
          <a:solidFill>
            <a:srgbClr val="FFE4EA"/>
          </a:solidFill>
          <a:ln w="19050">
            <a:solidFill>
              <a:srgbClr val="FF5178"/>
            </a:solidFill>
            <a:prstDash val="solid"/>
          </a:ln>
        </p:spPr>
      </p:sp>
      <p:sp>
        <p:nvSpPr>
          <p:cNvPr id="39" name="Shape 36"/>
          <p:cNvSpPr/>
          <p:nvPr/>
        </p:nvSpPr>
        <p:spPr>
          <a:xfrm>
            <a:off x="7848387" y="2103120"/>
            <a:ext cx="1005840" cy="1005840"/>
          </a:xfrm>
          <a:prstGeom prst="ellipse">
            <a:avLst/>
          </a:prstGeom>
          <a:solidFill>
            <a:srgbClr val="FF5178"/>
          </a:solidFill>
          <a:ln w="12700">
            <a:solidFill>
              <a:srgbClr val="FF5178"/>
            </a:solidFill>
            <a:prstDash val="solid"/>
          </a:ln>
        </p:spPr>
      </p:sp>
      <p:sp>
        <p:nvSpPr>
          <p:cNvPr id="40" name="Text 37"/>
          <p:cNvSpPr txBox="1"/>
          <p:nvPr/>
        </p:nvSpPr>
        <p:spPr>
          <a:xfrm>
            <a:off x="7848387" y="2103120"/>
            <a:ext cx="1005840"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Alexandria" pitchFamily="34" charset="0"/>
                <a:ea typeface="Alexandria" pitchFamily="34" charset="-122"/>
                <a:cs typeface="Alexandria" pitchFamily="34" charset="-120"/>
              </a:rPr>
              <a:t>L</a:t>
            </a:r>
            <a:endParaRPr lang="en-US" sz="3000" dirty="0"/>
          </a:p>
        </p:txBody>
      </p:sp>
      <p:sp>
        <p:nvSpPr>
          <p:cNvPr id="41" name="Text 38"/>
          <p:cNvSpPr txBox="1"/>
          <p:nvPr/>
        </p:nvSpPr>
        <p:spPr>
          <a:xfrm>
            <a:off x="7452177" y="3246120"/>
            <a:ext cx="1798259" cy="4114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Chị Lan</a:t>
            </a:r>
            <a:endParaRPr lang="en-US" sz="1800" dirty="0"/>
          </a:p>
        </p:txBody>
      </p:sp>
      <p:sp>
        <p:nvSpPr>
          <p:cNvPr id="42" name="Text 39"/>
          <p:cNvSpPr txBox="1"/>
          <p:nvPr/>
        </p:nvSpPr>
        <p:spPr>
          <a:xfrm>
            <a:off x="7452177" y="3657600"/>
            <a:ext cx="1798259" cy="73152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Trưởng ban Truyền thông nội bộ</a:t>
            </a:r>
            <a:endParaRPr lang="en-US" sz="1200" dirty="0"/>
          </a:p>
        </p:txBody>
      </p:sp>
      <p:sp>
        <p:nvSpPr>
          <p:cNvPr id="43" name="Text 40"/>
          <p:cNvSpPr txBox="1"/>
          <p:nvPr/>
        </p:nvSpPr>
        <p:spPr>
          <a:xfrm>
            <a:off x="7497897" y="4434840"/>
            <a:ext cx="1706819" cy="141732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Lo livestream về 80 chi nhánh; năm ngoái bị chậm</a:t>
            </a:r>
            <a:endParaRPr lang="en-US" sz="1300" dirty="0"/>
          </a:p>
        </p:txBody>
      </p:sp>
      <p:sp>
        <p:nvSpPr>
          <p:cNvPr id="44" name="Shape 41"/>
          <p:cNvSpPr/>
          <p:nvPr/>
        </p:nvSpPr>
        <p:spPr>
          <a:xfrm>
            <a:off x="9570476" y="1874520"/>
            <a:ext cx="2072579" cy="4114800"/>
          </a:xfrm>
          <a:prstGeom prst="roundRect">
            <a:avLst>
              <a:gd name="adj" fmla="val 5294"/>
            </a:avLst>
          </a:prstGeom>
          <a:solidFill>
            <a:srgbClr val="E1F3EE"/>
          </a:solidFill>
          <a:ln w="19050">
            <a:solidFill>
              <a:srgbClr val="49B296"/>
            </a:solidFill>
            <a:prstDash val="solid"/>
          </a:ln>
        </p:spPr>
      </p:sp>
      <p:sp>
        <p:nvSpPr>
          <p:cNvPr id="45" name="Shape 42"/>
          <p:cNvSpPr/>
          <p:nvPr/>
        </p:nvSpPr>
        <p:spPr>
          <a:xfrm>
            <a:off x="10103846" y="2103120"/>
            <a:ext cx="1005840" cy="1005840"/>
          </a:xfrm>
          <a:prstGeom prst="ellipse">
            <a:avLst/>
          </a:prstGeom>
          <a:solidFill>
            <a:srgbClr val="49B296"/>
          </a:solidFill>
          <a:ln w="12700">
            <a:solidFill>
              <a:srgbClr val="49B296"/>
            </a:solidFill>
            <a:prstDash val="solid"/>
          </a:ln>
        </p:spPr>
      </p:sp>
      <p:sp>
        <p:nvSpPr>
          <p:cNvPr id="46" name="Text 43"/>
          <p:cNvSpPr txBox="1"/>
          <p:nvPr/>
        </p:nvSpPr>
        <p:spPr>
          <a:xfrm>
            <a:off x="10103846" y="2103120"/>
            <a:ext cx="1005840"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Alexandria" pitchFamily="34" charset="0"/>
                <a:ea typeface="Alexandria" pitchFamily="34" charset="-122"/>
                <a:cs typeface="Alexandria" pitchFamily="34" charset="-120"/>
              </a:rPr>
              <a:t>V</a:t>
            </a:r>
            <a:endParaRPr lang="en-US" sz="3000" dirty="0"/>
          </a:p>
        </p:txBody>
      </p:sp>
      <p:sp>
        <p:nvSpPr>
          <p:cNvPr id="47" name="Text 44"/>
          <p:cNvSpPr txBox="1"/>
          <p:nvPr/>
        </p:nvSpPr>
        <p:spPr>
          <a:xfrm>
            <a:off x="9707636" y="3246120"/>
            <a:ext cx="1798259" cy="4114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Chị Vy</a:t>
            </a:r>
            <a:endParaRPr lang="en-US" sz="1800" dirty="0"/>
          </a:p>
        </p:txBody>
      </p:sp>
      <p:sp>
        <p:nvSpPr>
          <p:cNvPr id="48" name="Text 45"/>
          <p:cNvSpPr txBox="1"/>
          <p:nvPr/>
        </p:nvSpPr>
        <p:spPr>
          <a:xfrm>
            <a:off x="9707636" y="3657600"/>
            <a:ext cx="1798259" cy="73152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Trưởng nhóm Thương hiệu</a:t>
            </a:r>
            <a:endParaRPr lang="en-US" sz="1200" dirty="0"/>
          </a:p>
        </p:txBody>
      </p:sp>
      <p:sp>
        <p:nvSpPr>
          <p:cNvPr id="49" name="Text 46"/>
          <p:cNvSpPr txBox="1"/>
          <p:nvPr/>
        </p:nvSpPr>
        <p:spPr>
          <a:xfrm>
            <a:off x="9753356" y="4434840"/>
            <a:ext cx="1706819" cy="141732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Chưa làm việc trực tiếp với Nova</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962B7C"/>
          </a:solidFill>
          <a:ln w="9525">
            <a:solidFill>
              <a:srgbClr val="962B7C"/>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GRASP: mục tiêu, vai trò, điều thu hút, thái độ, quyền lực</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C06: định nghĩa làm việc của môn — chưa tìm được nguồn công khai của GRASP [NEEDS PROFESSOR INPUT].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18</a:t>
            </a:r>
            <a:endParaRPr lang="en-US" sz="1000" dirty="0"/>
          </a:p>
        </p:txBody>
      </p:sp>
      <p:sp>
        <p:nvSpPr>
          <p:cNvPr id="20" name="Shape 17"/>
          <p:cNvSpPr/>
          <p:nvPr/>
        </p:nvSpPr>
        <p:spPr>
          <a:xfrm>
            <a:off x="548640" y="1783080"/>
            <a:ext cx="11094415" cy="749808"/>
          </a:xfrm>
          <a:prstGeom prst="roundRect">
            <a:avLst>
              <a:gd name="adj" fmla="val 14634"/>
            </a:avLst>
          </a:prstGeom>
          <a:solidFill>
            <a:srgbClr val="F1E1EE"/>
          </a:solidFill>
          <a:ln w="12700">
            <a:solidFill>
              <a:srgbClr val="F1E1EE"/>
            </a:solidFill>
            <a:prstDash val="solid"/>
          </a:ln>
        </p:spPr>
      </p:sp>
      <p:sp>
        <p:nvSpPr>
          <p:cNvPr id="21" name="Shape 18"/>
          <p:cNvSpPr/>
          <p:nvPr/>
        </p:nvSpPr>
        <p:spPr>
          <a:xfrm>
            <a:off x="685800" y="1856232"/>
            <a:ext cx="603504" cy="603504"/>
          </a:xfrm>
          <a:prstGeom prst="ellipse">
            <a:avLst/>
          </a:prstGeom>
          <a:solidFill>
            <a:srgbClr val="962B7C"/>
          </a:solidFill>
          <a:ln w="12700">
            <a:solidFill>
              <a:srgbClr val="962B7C"/>
            </a:solidFill>
            <a:prstDash val="solid"/>
          </a:ln>
        </p:spPr>
      </p:sp>
      <p:sp>
        <p:nvSpPr>
          <p:cNvPr id="22" name="Text 19"/>
          <p:cNvSpPr txBox="1"/>
          <p:nvPr/>
        </p:nvSpPr>
        <p:spPr>
          <a:xfrm>
            <a:off x="685800" y="1856232"/>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G</a:t>
            </a:r>
            <a:endParaRPr lang="en-US" sz="2200" dirty="0"/>
          </a:p>
        </p:txBody>
      </p:sp>
      <p:sp>
        <p:nvSpPr>
          <p:cNvPr id="23" name="Text 20"/>
          <p:cNvSpPr txBox="1"/>
          <p:nvPr/>
        </p:nvSpPr>
        <p:spPr>
          <a:xfrm>
            <a:off x="1463040" y="1783080"/>
            <a:ext cx="1463040" cy="7498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Goal</a:t>
            </a:r>
            <a:endParaRPr lang="en-US" sz="2000" dirty="0"/>
          </a:p>
        </p:txBody>
      </p:sp>
      <p:sp>
        <p:nvSpPr>
          <p:cNvPr id="24" name="Text 21"/>
          <p:cNvSpPr txBox="1"/>
          <p:nvPr/>
        </p:nvSpPr>
        <p:spPr>
          <a:xfrm>
            <a:off x="3017520" y="1783080"/>
            <a:ext cx="8442655" cy="749808"/>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Mục tiêu của họ (tổ chức và cá nhân)? KPI của họ?</a:t>
            </a:r>
            <a:endParaRPr lang="en-US" sz="1600" dirty="0"/>
          </a:p>
        </p:txBody>
      </p:sp>
      <p:sp>
        <p:nvSpPr>
          <p:cNvPr id="25" name="Shape 22"/>
          <p:cNvSpPr/>
          <p:nvPr/>
        </p:nvSpPr>
        <p:spPr>
          <a:xfrm>
            <a:off x="548640" y="2633472"/>
            <a:ext cx="11094415" cy="749808"/>
          </a:xfrm>
          <a:prstGeom prst="roundRect">
            <a:avLst>
              <a:gd name="adj" fmla="val 14634"/>
            </a:avLst>
          </a:prstGeom>
          <a:solidFill>
            <a:srgbClr val="DDF1FB"/>
          </a:solidFill>
          <a:ln w="12700">
            <a:solidFill>
              <a:srgbClr val="DDF1FB"/>
            </a:solidFill>
            <a:prstDash val="solid"/>
          </a:ln>
        </p:spPr>
      </p:sp>
      <p:sp>
        <p:nvSpPr>
          <p:cNvPr id="26" name="Shape 23"/>
          <p:cNvSpPr/>
          <p:nvPr/>
        </p:nvSpPr>
        <p:spPr>
          <a:xfrm>
            <a:off x="685800" y="2706624"/>
            <a:ext cx="603504" cy="603504"/>
          </a:xfrm>
          <a:prstGeom prst="ellipse">
            <a:avLst/>
          </a:prstGeom>
          <a:solidFill>
            <a:srgbClr val="09A1E5"/>
          </a:solidFill>
          <a:ln w="12700">
            <a:solidFill>
              <a:srgbClr val="09A1E5"/>
            </a:solidFill>
            <a:prstDash val="solid"/>
          </a:ln>
        </p:spPr>
      </p:sp>
      <p:sp>
        <p:nvSpPr>
          <p:cNvPr id="27" name="Text 24"/>
          <p:cNvSpPr txBox="1"/>
          <p:nvPr/>
        </p:nvSpPr>
        <p:spPr>
          <a:xfrm>
            <a:off x="685800" y="2706624"/>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R</a:t>
            </a:r>
            <a:endParaRPr lang="en-US" sz="2200" dirty="0"/>
          </a:p>
        </p:txBody>
      </p:sp>
      <p:sp>
        <p:nvSpPr>
          <p:cNvPr id="28" name="Text 25"/>
          <p:cNvSpPr txBox="1"/>
          <p:nvPr/>
        </p:nvSpPr>
        <p:spPr>
          <a:xfrm>
            <a:off x="1463040" y="2633472"/>
            <a:ext cx="1463040" cy="7498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Role</a:t>
            </a:r>
            <a:endParaRPr lang="en-US" sz="2000" dirty="0"/>
          </a:p>
        </p:txBody>
      </p:sp>
      <p:sp>
        <p:nvSpPr>
          <p:cNvPr id="29" name="Text 26"/>
          <p:cNvSpPr txBox="1"/>
          <p:nvPr/>
        </p:nvSpPr>
        <p:spPr>
          <a:xfrm>
            <a:off x="3017520" y="2633472"/>
            <a:ext cx="8442655" cy="749808"/>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Vai trò: quyết định, phê duyệt, ảnh hưởng, người dùng, gác cổng?</a:t>
            </a:r>
            <a:endParaRPr lang="en-US" sz="1600" dirty="0"/>
          </a:p>
        </p:txBody>
      </p:sp>
      <p:sp>
        <p:nvSpPr>
          <p:cNvPr id="30" name="Shape 27"/>
          <p:cNvSpPr/>
          <p:nvPr/>
        </p:nvSpPr>
        <p:spPr>
          <a:xfrm>
            <a:off x="548640" y="3483864"/>
            <a:ext cx="11094415" cy="749808"/>
          </a:xfrm>
          <a:prstGeom prst="roundRect">
            <a:avLst>
              <a:gd name="adj" fmla="val 14634"/>
            </a:avLst>
          </a:prstGeom>
          <a:solidFill>
            <a:srgbClr val="FFE4EA"/>
          </a:solidFill>
          <a:ln w="12700">
            <a:solidFill>
              <a:srgbClr val="FFE4EA"/>
            </a:solidFill>
            <a:prstDash val="solid"/>
          </a:ln>
        </p:spPr>
      </p:sp>
      <p:sp>
        <p:nvSpPr>
          <p:cNvPr id="31" name="Shape 28"/>
          <p:cNvSpPr/>
          <p:nvPr/>
        </p:nvSpPr>
        <p:spPr>
          <a:xfrm>
            <a:off x="685800" y="3557016"/>
            <a:ext cx="603504" cy="603504"/>
          </a:xfrm>
          <a:prstGeom prst="ellipse">
            <a:avLst/>
          </a:prstGeom>
          <a:solidFill>
            <a:srgbClr val="FF5178"/>
          </a:solidFill>
          <a:ln w="12700">
            <a:solidFill>
              <a:srgbClr val="FF5178"/>
            </a:solidFill>
            <a:prstDash val="solid"/>
          </a:ln>
        </p:spPr>
      </p:sp>
      <p:sp>
        <p:nvSpPr>
          <p:cNvPr id="32" name="Text 29"/>
          <p:cNvSpPr txBox="1"/>
          <p:nvPr/>
        </p:nvSpPr>
        <p:spPr>
          <a:xfrm>
            <a:off x="685800" y="3557016"/>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A</a:t>
            </a:r>
            <a:endParaRPr lang="en-US" sz="2200" dirty="0"/>
          </a:p>
        </p:txBody>
      </p:sp>
      <p:sp>
        <p:nvSpPr>
          <p:cNvPr id="33" name="Text 30"/>
          <p:cNvSpPr txBox="1"/>
          <p:nvPr/>
        </p:nvSpPr>
        <p:spPr>
          <a:xfrm>
            <a:off x="1463040" y="3483864"/>
            <a:ext cx="1463040" cy="7498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Appeal</a:t>
            </a:r>
            <a:endParaRPr lang="en-US" sz="2000" dirty="0"/>
          </a:p>
        </p:txBody>
      </p:sp>
      <p:sp>
        <p:nvSpPr>
          <p:cNvPr id="34" name="Text 31"/>
          <p:cNvSpPr txBox="1"/>
          <p:nvPr/>
        </p:nvSpPr>
        <p:spPr>
          <a:xfrm>
            <a:off x="3017520" y="3483864"/>
            <a:ext cx="8442655" cy="749808"/>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Điều gì trong đề xuất thu hút họ: giá, ý tưởng, an toàn, kết quả kinh doanh?</a:t>
            </a:r>
            <a:endParaRPr lang="en-US" sz="1600" dirty="0"/>
          </a:p>
        </p:txBody>
      </p:sp>
      <p:sp>
        <p:nvSpPr>
          <p:cNvPr id="35" name="Shape 32"/>
          <p:cNvSpPr/>
          <p:nvPr/>
        </p:nvSpPr>
        <p:spPr>
          <a:xfrm>
            <a:off x="548640" y="4334256"/>
            <a:ext cx="11094415" cy="749808"/>
          </a:xfrm>
          <a:prstGeom prst="roundRect">
            <a:avLst>
              <a:gd name="adj" fmla="val 14634"/>
            </a:avLst>
          </a:prstGeom>
          <a:solidFill>
            <a:srgbClr val="FFE9DE"/>
          </a:solidFill>
          <a:ln w="12700">
            <a:solidFill>
              <a:srgbClr val="FFE9DE"/>
            </a:solidFill>
            <a:prstDash val="solid"/>
          </a:ln>
        </p:spPr>
      </p:sp>
      <p:sp>
        <p:nvSpPr>
          <p:cNvPr id="36" name="Shape 33"/>
          <p:cNvSpPr/>
          <p:nvPr/>
        </p:nvSpPr>
        <p:spPr>
          <a:xfrm>
            <a:off x="685800" y="4407408"/>
            <a:ext cx="603504" cy="603504"/>
          </a:xfrm>
          <a:prstGeom prst="ellipse">
            <a:avLst/>
          </a:prstGeom>
          <a:solidFill>
            <a:srgbClr val="FF9259"/>
          </a:solidFill>
          <a:ln w="12700">
            <a:solidFill>
              <a:srgbClr val="FF9259"/>
            </a:solidFill>
            <a:prstDash val="solid"/>
          </a:ln>
        </p:spPr>
      </p:sp>
      <p:sp>
        <p:nvSpPr>
          <p:cNvPr id="37" name="Text 34"/>
          <p:cNvSpPr txBox="1"/>
          <p:nvPr/>
        </p:nvSpPr>
        <p:spPr>
          <a:xfrm>
            <a:off x="685800" y="4407408"/>
            <a:ext cx="603504" cy="603504"/>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S</a:t>
            </a:r>
            <a:endParaRPr lang="en-US" sz="2200" dirty="0"/>
          </a:p>
        </p:txBody>
      </p:sp>
      <p:sp>
        <p:nvSpPr>
          <p:cNvPr id="38" name="Text 35"/>
          <p:cNvSpPr txBox="1"/>
          <p:nvPr/>
        </p:nvSpPr>
        <p:spPr>
          <a:xfrm>
            <a:off x="1463040" y="4334256"/>
            <a:ext cx="1463040" cy="7498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State</a:t>
            </a:r>
            <a:endParaRPr lang="en-US" sz="2000" dirty="0"/>
          </a:p>
        </p:txBody>
      </p:sp>
      <p:sp>
        <p:nvSpPr>
          <p:cNvPr id="39" name="Text 36"/>
          <p:cNvSpPr txBox="1"/>
          <p:nvPr/>
        </p:nvSpPr>
        <p:spPr>
          <a:xfrm>
            <a:off x="3017520" y="4334256"/>
            <a:ext cx="8442655" cy="749808"/>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Thái độ hiện tại với Nova: ủng hộ, trung lập, hoài nghi, chưa biết?</a:t>
            </a:r>
            <a:endParaRPr lang="en-US" sz="1600" dirty="0"/>
          </a:p>
        </p:txBody>
      </p:sp>
      <p:sp>
        <p:nvSpPr>
          <p:cNvPr id="40" name="Shape 37"/>
          <p:cNvSpPr/>
          <p:nvPr/>
        </p:nvSpPr>
        <p:spPr>
          <a:xfrm>
            <a:off x="548640" y="5184648"/>
            <a:ext cx="11094415" cy="749808"/>
          </a:xfrm>
          <a:prstGeom prst="roundRect">
            <a:avLst>
              <a:gd name="adj" fmla="val 14634"/>
            </a:avLst>
          </a:prstGeom>
          <a:solidFill>
            <a:srgbClr val="E1F3EE"/>
          </a:solidFill>
          <a:ln w="12700">
            <a:solidFill>
              <a:srgbClr val="E1F3EE"/>
            </a:solidFill>
            <a:prstDash val="solid"/>
          </a:ln>
        </p:spPr>
      </p:sp>
      <p:sp>
        <p:nvSpPr>
          <p:cNvPr id="41" name="Shape 38"/>
          <p:cNvSpPr/>
          <p:nvPr/>
        </p:nvSpPr>
        <p:spPr>
          <a:xfrm>
            <a:off x="685800" y="5257800"/>
            <a:ext cx="603504" cy="603504"/>
          </a:xfrm>
          <a:prstGeom prst="ellipse">
            <a:avLst/>
          </a:prstGeom>
          <a:solidFill>
            <a:srgbClr val="49B296"/>
          </a:solidFill>
          <a:ln w="12700">
            <a:solidFill>
              <a:srgbClr val="49B296"/>
            </a:solidFill>
            <a:prstDash val="solid"/>
          </a:ln>
        </p:spPr>
      </p:sp>
      <p:sp>
        <p:nvSpPr>
          <p:cNvPr id="42" name="Text 39"/>
          <p:cNvSpPr txBox="1"/>
          <p:nvPr/>
        </p:nvSpPr>
        <p:spPr>
          <a:xfrm>
            <a:off x="685800" y="5257800"/>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P</a:t>
            </a:r>
            <a:endParaRPr lang="en-US" sz="2200" dirty="0"/>
          </a:p>
        </p:txBody>
      </p:sp>
      <p:sp>
        <p:nvSpPr>
          <p:cNvPr id="43" name="Text 40"/>
          <p:cNvSpPr txBox="1"/>
          <p:nvPr/>
        </p:nvSpPr>
        <p:spPr>
          <a:xfrm>
            <a:off x="1463040" y="5184648"/>
            <a:ext cx="1463040" cy="749808"/>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Power</a:t>
            </a:r>
            <a:endParaRPr lang="en-US" sz="2000" dirty="0"/>
          </a:p>
        </p:txBody>
      </p:sp>
      <p:sp>
        <p:nvSpPr>
          <p:cNvPr id="44" name="Text 41"/>
          <p:cNvSpPr txBox="1"/>
          <p:nvPr/>
        </p:nvSpPr>
        <p:spPr>
          <a:xfrm>
            <a:off x="3017520" y="5184648"/>
            <a:ext cx="8442655" cy="749808"/>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Mức ảnh hưởng thực tế đến quyết định?</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962B7C"/>
          </a:solidFill>
          <a:ln w="9525">
            <a:solidFill>
              <a:srgbClr val="962B7C"/>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GRASP của chị Hạnh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19</a:t>
            </a:r>
            <a:endParaRPr lang="en-US" sz="1000" dirty="0"/>
          </a:p>
        </p:txBody>
      </p:sp>
      <p:sp>
        <p:nvSpPr>
          <p:cNvPr id="20" name="Shape 17"/>
          <p:cNvSpPr/>
          <p:nvPr/>
        </p:nvSpPr>
        <p:spPr>
          <a:xfrm>
            <a:off x="548640" y="1874520"/>
            <a:ext cx="2072579" cy="3657600"/>
          </a:xfrm>
          <a:prstGeom prst="roundRect">
            <a:avLst>
              <a:gd name="adj" fmla="val 5294"/>
            </a:avLst>
          </a:prstGeom>
          <a:solidFill>
            <a:srgbClr val="F1E1EE"/>
          </a:solidFill>
          <a:ln w="19050">
            <a:solidFill>
              <a:srgbClr val="962B7C"/>
            </a:solidFill>
            <a:prstDash val="solid"/>
          </a:ln>
        </p:spPr>
      </p:sp>
      <p:sp>
        <p:nvSpPr>
          <p:cNvPr id="21" name="Shape 18"/>
          <p:cNvSpPr/>
          <p:nvPr/>
        </p:nvSpPr>
        <p:spPr>
          <a:xfrm>
            <a:off x="1173450" y="2103120"/>
            <a:ext cx="822960" cy="822960"/>
          </a:xfrm>
          <a:prstGeom prst="ellipse">
            <a:avLst/>
          </a:prstGeom>
          <a:solidFill>
            <a:srgbClr val="962B7C"/>
          </a:solidFill>
          <a:ln w="12700">
            <a:solidFill>
              <a:srgbClr val="962B7C"/>
            </a:solidFill>
            <a:prstDash val="solid"/>
          </a:ln>
        </p:spPr>
      </p:sp>
      <p:sp>
        <p:nvSpPr>
          <p:cNvPr id="22" name="Text 19"/>
          <p:cNvSpPr txBox="1"/>
          <p:nvPr/>
        </p:nvSpPr>
        <p:spPr>
          <a:xfrm>
            <a:off x="1173450" y="210312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G</a:t>
            </a:r>
            <a:endParaRPr lang="en-US" sz="2800" dirty="0"/>
          </a:p>
        </p:txBody>
      </p:sp>
      <p:sp>
        <p:nvSpPr>
          <p:cNvPr id="23" name="Text 20"/>
          <p:cNvSpPr txBox="1"/>
          <p:nvPr/>
        </p:nvSpPr>
        <p:spPr>
          <a:xfrm>
            <a:off x="685800" y="3063240"/>
            <a:ext cx="1798259" cy="4114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Goal</a:t>
            </a:r>
            <a:endParaRPr lang="en-US" sz="1700" dirty="0"/>
          </a:p>
        </p:txBody>
      </p:sp>
      <p:sp>
        <p:nvSpPr>
          <p:cNvPr id="24" name="Text 21"/>
          <p:cNvSpPr txBox="1"/>
          <p:nvPr/>
        </p:nvSpPr>
        <p:spPr>
          <a:xfrm>
            <a:off x="731520" y="3566160"/>
            <a:ext cx="1706819" cy="1828800"/>
          </a:xfrm>
          <a:prstGeom prst="rect">
            <a:avLst/>
          </a:prstGeom>
          <a:noFill/>
          <a:ln/>
        </p:spPr>
        <p:txBody>
          <a:bodyPr wrap="square" lIns="0" tIns="0" rIns="0" bIns="0" rtlCol="0" anchor="t"/>
          <a:lstStyle/>
          <a:p>
            <a:pPr algn="ctr" indent="0" marL="0">
              <a:buNone/>
            </a:pPr>
            <a:r>
              <a:rPr lang="en-US" sz="1500" dirty="0">
                <a:solidFill>
                  <a:srgbClr val="2A2238"/>
                </a:solidFill>
                <a:latin typeface="Alexandria" pitchFamily="34" charset="0"/>
                <a:ea typeface="Alexandria" pitchFamily="34" charset="-122"/>
                <a:cs typeface="Alexandria" pitchFamily="34" charset="-120"/>
              </a:rPr>
              <a:t>Hình ảnh ngân hàng với khách doanh nghiệp; tỷ lệ tham dự</a:t>
            </a:r>
            <a:endParaRPr lang="en-US" sz="1500" dirty="0"/>
          </a:p>
        </p:txBody>
      </p:sp>
      <p:sp>
        <p:nvSpPr>
          <p:cNvPr id="25" name="Shape 22"/>
          <p:cNvSpPr/>
          <p:nvPr/>
        </p:nvSpPr>
        <p:spPr>
          <a:xfrm>
            <a:off x="2804099" y="1874520"/>
            <a:ext cx="2072579" cy="3657600"/>
          </a:xfrm>
          <a:prstGeom prst="roundRect">
            <a:avLst>
              <a:gd name="adj" fmla="val 5294"/>
            </a:avLst>
          </a:prstGeom>
          <a:solidFill>
            <a:srgbClr val="DDF1FB"/>
          </a:solidFill>
          <a:ln w="19050">
            <a:solidFill>
              <a:srgbClr val="09A1E5"/>
            </a:solidFill>
            <a:prstDash val="solid"/>
          </a:ln>
        </p:spPr>
      </p:sp>
      <p:sp>
        <p:nvSpPr>
          <p:cNvPr id="26" name="Shape 23"/>
          <p:cNvSpPr/>
          <p:nvPr/>
        </p:nvSpPr>
        <p:spPr>
          <a:xfrm>
            <a:off x="3428909" y="2103120"/>
            <a:ext cx="822960" cy="822960"/>
          </a:xfrm>
          <a:prstGeom prst="ellipse">
            <a:avLst/>
          </a:prstGeom>
          <a:solidFill>
            <a:srgbClr val="09A1E5"/>
          </a:solidFill>
          <a:ln w="12700">
            <a:solidFill>
              <a:srgbClr val="09A1E5"/>
            </a:solidFill>
            <a:prstDash val="solid"/>
          </a:ln>
        </p:spPr>
      </p:sp>
      <p:sp>
        <p:nvSpPr>
          <p:cNvPr id="27" name="Text 24"/>
          <p:cNvSpPr txBox="1"/>
          <p:nvPr/>
        </p:nvSpPr>
        <p:spPr>
          <a:xfrm>
            <a:off x="3428909" y="210312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R</a:t>
            </a:r>
            <a:endParaRPr lang="en-US" sz="2800" dirty="0"/>
          </a:p>
        </p:txBody>
      </p:sp>
      <p:sp>
        <p:nvSpPr>
          <p:cNvPr id="28" name="Text 25"/>
          <p:cNvSpPr txBox="1"/>
          <p:nvPr/>
        </p:nvSpPr>
        <p:spPr>
          <a:xfrm>
            <a:off x="2941259" y="3063240"/>
            <a:ext cx="1798259" cy="4114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Role</a:t>
            </a:r>
            <a:endParaRPr lang="en-US" sz="1700" dirty="0"/>
          </a:p>
        </p:txBody>
      </p:sp>
      <p:sp>
        <p:nvSpPr>
          <p:cNvPr id="29" name="Text 26"/>
          <p:cNvSpPr txBox="1"/>
          <p:nvPr/>
        </p:nvSpPr>
        <p:spPr>
          <a:xfrm>
            <a:off x="2986979" y="3566160"/>
            <a:ext cx="1706819" cy="1828800"/>
          </a:xfrm>
          <a:prstGeom prst="rect">
            <a:avLst/>
          </a:prstGeom>
          <a:noFill/>
          <a:ln/>
        </p:spPr>
        <p:txBody>
          <a:bodyPr wrap="square" lIns="0" tIns="0" rIns="0" bIns="0" rtlCol="0" anchor="t"/>
          <a:lstStyle/>
          <a:p>
            <a:pPr algn="ctr" indent="0" marL="0">
              <a:buNone/>
            </a:pPr>
            <a:r>
              <a:rPr lang="en-US" sz="1500" dirty="0">
                <a:solidFill>
                  <a:srgbClr val="2A2238"/>
                </a:solidFill>
                <a:latin typeface="Alexandria" pitchFamily="34" charset="0"/>
                <a:ea typeface="Alexandria" pitchFamily="34" charset="-122"/>
                <a:cs typeface="Alexandria" pitchFamily="34" charset="-120"/>
              </a:rPr>
              <a:t>Đầu mối chính, đề xuất lên lãnh đạo</a:t>
            </a:r>
            <a:endParaRPr lang="en-US" sz="1500" dirty="0"/>
          </a:p>
        </p:txBody>
      </p:sp>
      <p:sp>
        <p:nvSpPr>
          <p:cNvPr id="30" name="Shape 27"/>
          <p:cNvSpPr/>
          <p:nvPr/>
        </p:nvSpPr>
        <p:spPr>
          <a:xfrm>
            <a:off x="5059558" y="1874520"/>
            <a:ext cx="2072579" cy="3657600"/>
          </a:xfrm>
          <a:prstGeom prst="roundRect">
            <a:avLst>
              <a:gd name="adj" fmla="val 5294"/>
            </a:avLst>
          </a:prstGeom>
          <a:solidFill>
            <a:srgbClr val="FFE4EA"/>
          </a:solidFill>
          <a:ln w="19050">
            <a:solidFill>
              <a:srgbClr val="FF5178"/>
            </a:solidFill>
            <a:prstDash val="solid"/>
          </a:ln>
        </p:spPr>
      </p:sp>
      <p:sp>
        <p:nvSpPr>
          <p:cNvPr id="31" name="Shape 28"/>
          <p:cNvSpPr/>
          <p:nvPr/>
        </p:nvSpPr>
        <p:spPr>
          <a:xfrm>
            <a:off x="5684368" y="2103120"/>
            <a:ext cx="822960" cy="822960"/>
          </a:xfrm>
          <a:prstGeom prst="ellipse">
            <a:avLst/>
          </a:prstGeom>
          <a:solidFill>
            <a:srgbClr val="FF5178"/>
          </a:solidFill>
          <a:ln w="12700">
            <a:solidFill>
              <a:srgbClr val="FF5178"/>
            </a:solidFill>
            <a:prstDash val="solid"/>
          </a:ln>
        </p:spPr>
      </p:sp>
      <p:sp>
        <p:nvSpPr>
          <p:cNvPr id="32" name="Text 29"/>
          <p:cNvSpPr txBox="1"/>
          <p:nvPr/>
        </p:nvSpPr>
        <p:spPr>
          <a:xfrm>
            <a:off x="5684368" y="210312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A</a:t>
            </a:r>
            <a:endParaRPr lang="en-US" sz="2800" dirty="0"/>
          </a:p>
        </p:txBody>
      </p:sp>
      <p:sp>
        <p:nvSpPr>
          <p:cNvPr id="33" name="Text 30"/>
          <p:cNvSpPr txBox="1"/>
          <p:nvPr/>
        </p:nvSpPr>
        <p:spPr>
          <a:xfrm>
            <a:off x="5196718" y="3063240"/>
            <a:ext cx="1798259" cy="4114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Appeal</a:t>
            </a:r>
            <a:endParaRPr lang="en-US" sz="1700" dirty="0"/>
          </a:p>
        </p:txBody>
      </p:sp>
      <p:sp>
        <p:nvSpPr>
          <p:cNvPr id="34" name="Text 31"/>
          <p:cNvSpPr txBox="1"/>
          <p:nvPr/>
        </p:nvSpPr>
        <p:spPr>
          <a:xfrm>
            <a:off x="5242438" y="3566160"/>
            <a:ext cx="1706819" cy="1828800"/>
          </a:xfrm>
          <a:prstGeom prst="rect">
            <a:avLst/>
          </a:prstGeom>
          <a:noFill/>
          <a:ln/>
        </p:spPr>
        <p:txBody>
          <a:bodyPr wrap="square" lIns="0" tIns="0" rIns="0" bIns="0" rtlCol="0" anchor="t"/>
          <a:lstStyle/>
          <a:p>
            <a:pPr algn="ctr" indent="0" marL="0">
              <a:buNone/>
            </a:pPr>
            <a:r>
              <a:rPr lang="en-US" sz="1500" dirty="0">
                <a:solidFill>
                  <a:srgbClr val="2A2238"/>
                </a:solidFill>
                <a:latin typeface="Alexandria" pitchFamily="34" charset="0"/>
                <a:ea typeface="Alexandria" pitchFamily="34" charset="-122"/>
                <a:cs typeface="Alexandria" pitchFamily="34" charset="-120"/>
              </a:rPr>
              <a:t>Ý tưởng mới nhưng an toàn thương hiệu</a:t>
            </a:r>
            <a:endParaRPr lang="en-US" sz="1500" dirty="0"/>
          </a:p>
        </p:txBody>
      </p:sp>
      <p:sp>
        <p:nvSpPr>
          <p:cNvPr id="35" name="Shape 32"/>
          <p:cNvSpPr/>
          <p:nvPr/>
        </p:nvSpPr>
        <p:spPr>
          <a:xfrm>
            <a:off x="7315017" y="1874520"/>
            <a:ext cx="2072579" cy="3657600"/>
          </a:xfrm>
          <a:prstGeom prst="roundRect">
            <a:avLst>
              <a:gd name="adj" fmla="val 5294"/>
            </a:avLst>
          </a:prstGeom>
          <a:solidFill>
            <a:srgbClr val="FFE9DE"/>
          </a:solidFill>
          <a:ln w="19050">
            <a:solidFill>
              <a:srgbClr val="FF9259"/>
            </a:solidFill>
            <a:prstDash val="solid"/>
          </a:ln>
        </p:spPr>
      </p:sp>
      <p:sp>
        <p:nvSpPr>
          <p:cNvPr id="36" name="Shape 33"/>
          <p:cNvSpPr/>
          <p:nvPr/>
        </p:nvSpPr>
        <p:spPr>
          <a:xfrm>
            <a:off x="7939827" y="2103120"/>
            <a:ext cx="822960" cy="822960"/>
          </a:xfrm>
          <a:prstGeom prst="ellipse">
            <a:avLst/>
          </a:prstGeom>
          <a:solidFill>
            <a:srgbClr val="FF9259"/>
          </a:solidFill>
          <a:ln w="12700">
            <a:solidFill>
              <a:srgbClr val="FF9259"/>
            </a:solidFill>
            <a:prstDash val="solid"/>
          </a:ln>
        </p:spPr>
      </p:sp>
      <p:sp>
        <p:nvSpPr>
          <p:cNvPr id="37" name="Text 34"/>
          <p:cNvSpPr txBox="1"/>
          <p:nvPr/>
        </p:nvSpPr>
        <p:spPr>
          <a:xfrm>
            <a:off x="7939827" y="2103120"/>
            <a:ext cx="822960" cy="822960"/>
          </a:xfrm>
          <a:prstGeom prst="rect">
            <a:avLst/>
          </a:prstGeom>
          <a:noFill/>
          <a:ln/>
        </p:spPr>
        <p:txBody>
          <a:bodyPr wrap="square" lIns="0" tIns="0" rIns="0" bIns="0" rtlCol="0" anchor="ctr"/>
          <a:lstStyle/>
          <a:p>
            <a:pPr algn="ctr" indent="0" marL="0">
              <a:buNone/>
            </a:pPr>
            <a:r>
              <a:rPr lang="en-US" sz="2800" b="1" dirty="0">
                <a:solidFill>
                  <a:srgbClr val="2A2238"/>
                </a:solidFill>
                <a:latin typeface="Alexandria" pitchFamily="34" charset="0"/>
                <a:ea typeface="Alexandria" pitchFamily="34" charset="-122"/>
                <a:cs typeface="Alexandria" pitchFamily="34" charset="-120"/>
              </a:rPr>
              <a:t>S</a:t>
            </a:r>
            <a:endParaRPr lang="en-US" sz="2800" dirty="0"/>
          </a:p>
        </p:txBody>
      </p:sp>
      <p:sp>
        <p:nvSpPr>
          <p:cNvPr id="38" name="Text 35"/>
          <p:cNvSpPr txBox="1"/>
          <p:nvPr/>
        </p:nvSpPr>
        <p:spPr>
          <a:xfrm>
            <a:off x="7452177" y="3063240"/>
            <a:ext cx="1798259" cy="4114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State</a:t>
            </a:r>
            <a:endParaRPr lang="en-US" sz="1700" dirty="0"/>
          </a:p>
        </p:txBody>
      </p:sp>
      <p:sp>
        <p:nvSpPr>
          <p:cNvPr id="39" name="Text 36"/>
          <p:cNvSpPr txBox="1"/>
          <p:nvPr/>
        </p:nvSpPr>
        <p:spPr>
          <a:xfrm>
            <a:off x="7497897" y="3566160"/>
            <a:ext cx="1706819" cy="1828800"/>
          </a:xfrm>
          <a:prstGeom prst="rect">
            <a:avLst/>
          </a:prstGeom>
          <a:noFill/>
          <a:ln/>
        </p:spPr>
        <p:txBody>
          <a:bodyPr wrap="square" lIns="0" tIns="0" rIns="0" bIns="0" rtlCol="0" anchor="t"/>
          <a:lstStyle/>
          <a:p>
            <a:pPr algn="ctr" indent="0" marL="0">
              <a:buNone/>
            </a:pPr>
            <a:r>
              <a:rPr lang="en-US" sz="1500" dirty="0">
                <a:solidFill>
                  <a:srgbClr val="2A2238"/>
                </a:solidFill>
                <a:latin typeface="Alexandria" pitchFamily="34" charset="0"/>
                <a:ea typeface="Alexandria" pitchFamily="34" charset="-122"/>
                <a:cs typeface="Alexandria" pitchFamily="34" charset="-120"/>
              </a:rPr>
              <a:t>Tin Nova (4 năm) nhưng áp lực đổi mới</a:t>
            </a:r>
            <a:endParaRPr lang="en-US" sz="1500" dirty="0"/>
          </a:p>
        </p:txBody>
      </p:sp>
      <p:sp>
        <p:nvSpPr>
          <p:cNvPr id="40" name="Shape 37"/>
          <p:cNvSpPr/>
          <p:nvPr/>
        </p:nvSpPr>
        <p:spPr>
          <a:xfrm>
            <a:off x="9570476" y="1874520"/>
            <a:ext cx="2072579" cy="3657600"/>
          </a:xfrm>
          <a:prstGeom prst="roundRect">
            <a:avLst>
              <a:gd name="adj" fmla="val 5294"/>
            </a:avLst>
          </a:prstGeom>
          <a:solidFill>
            <a:srgbClr val="E1F3EE"/>
          </a:solidFill>
          <a:ln w="19050">
            <a:solidFill>
              <a:srgbClr val="49B296"/>
            </a:solidFill>
            <a:prstDash val="solid"/>
          </a:ln>
        </p:spPr>
      </p:sp>
      <p:sp>
        <p:nvSpPr>
          <p:cNvPr id="41" name="Shape 38"/>
          <p:cNvSpPr/>
          <p:nvPr/>
        </p:nvSpPr>
        <p:spPr>
          <a:xfrm>
            <a:off x="10195286" y="2103120"/>
            <a:ext cx="822960" cy="822960"/>
          </a:xfrm>
          <a:prstGeom prst="ellipse">
            <a:avLst/>
          </a:prstGeom>
          <a:solidFill>
            <a:srgbClr val="49B296"/>
          </a:solidFill>
          <a:ln w="12700">
            <a:solidFill>
              <a:srgbClr val="49B296"/>
            </a:solidFill>
            <a:prstDash val="solid"/>
          </a:ln>
        </p:spPr>
      </p:sp>
      <p:sp>
        <p:nvSpPr>
          <p:cNvPr id="42" name="Text 39"/>
          <p:cNvSpPr txBox="1"/>
          <p:nvPr/>
        </p:nvSpPr>
        <p:spPr>
          <a:xfrm>
            <a:off x="10195286" y="210312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P</a:t>
            </a:r>
            <a:endParaRPr lang="en-US" sz="2800" dirty="0"/>
          </a:p>
        </p:txBody>
      </p:sp>
      <p:sp>
        <p:nvSpPr>
          <p:cNvPr id="43" name="Text 40"/>
          <p:cNvSpPr txBox="1"/>
          <p:nvPr/>
        </p:nvSpPr>
        <p:spPr>
          <a:xfrm>
            <a:off x="9707636" y="3063240"/>
            <a:ext cx="1798259" cy="4114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Power</a:t>
            </a:r>
            <a:endParaRPr lang="en-US" sz="1700" dirty="0"/>
          </a:p>
        </p:txBody>
      </p:sp>
      <p:sp>
        <p:nvSpPr>
          <p:cNvPr id="44" name="Text 41"/>
          <p:cNvSpPr txBox="1"/>
          <p:nvPr/>
        </p:nvSpPr>
        <p:spPr>
          <a:xfrm>
            <a:off x="9753356" y="3566160"/>
            <a:ext cx="1706819" cy="1828800"/>
          </a:xfrm>
          <a:prstGeom prst="rect">
            <a:avLst/>
          </a:prstGeom>
          <a:noFill/>
          <a:ln/>
        </p:spPr>
        <p:txBody>
          <a:bodyPr wrap="square" lIns="0" tIns="0" rIns="0" bIns="0" rtlCol="0" anchor="t"/>
          <a:lstStyle/>
          <a:p>
            <a:pPr algn="ctr" indent="0" marL="0">
              <a:buNone/>
            </a:pPr>
            <a:r>
              <a:rPr lang="en-US" sz="2800" b="1" dirty="0">
                <a:solidFill>
                  <a:srgbClr val="2A2238"/>
                </a:solidFill>
                <a:latin typeface="Alexandria" pitchFamily="34" charset="0"/>
                <a:ea typeface="Alexandria" pitchFamily="34" charset="-122"/>
                <a:cs typeface="Alexandria" pitchFamily="34" charset="-120"/>
              </a:rPr>
              <a:t>Cao</a:t>
            </a:r>
            <a:endParaRPr lang="en-US" sz="2800" dirty="0"/>
          </a:p>
        </p:txBody>
      </p:sp>
      <p:sp>
        <p:nvSpPr>
          <p:cNvPr id="45" name="Text 42"/>
          <p:cNvSpPr txBox="1"/>
          <p:nvPr/>
        </p:nvSpPr>
        <p:spPr>
          <a:xfrm>
            <a:off x="548640" y="5669280"/>
            <a:ext cx="11094415" cy="411480"/>
          </a:xfrm>
          <a:prstGeom prst="rect">
            <a:avLst/>
          </a:prstGeom>
          <a:noFill/>
          <a:ln/>
        </p:spPr>
        <p:txBody>
          <a:bodyPr wrap="square" lIns="0" tIns="0" rIns="0" bIns="0" rtlCol="0" anchor="ctr"/>
          <a:lstStyle/>
          <a:p>
            <a:pPr algn="ctr" indent="0" marL="0">
              <a:buNone/>
            </a:pPr>
            <a:r>
              <a:rPr lang="en-US" sz="1500" i="1" dirty="0">
                <a:solidFill>
                  <a:srgbClr val="6E6878"/>
                </a:solidFill>
                <a:latin typeface="Alexandria" pitchFamily="34" charset="0"/>
                <a:ea typeface="Alexandria" pitchFamily="34" charset="-122"/>
                <a:cs typeface="Alexandria" pitchFamily="34" charset="-120"/>
              </a:rPr>
              <a:t>Chị Hạnh · GĐ Marketing An Phát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962B7C"/>
          </a:solidFill>
          <a:ln w="9525">
            <a:solidFill>
              <a:srgbClr val="962B7C"/>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Người liên hệ nhiều nhất không phải người quyết định</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20</a:t>
            </a:r>
            <a:endParaRPr lang="en-US" sz="1000" dirty="0"/>
          </a:p>
        </p:txBody>
      </p:sp>
      <p:sp>
        <p:nvSpPr>
          <p:cNvPr id="19" name="Shape 16"/>
          <p:cNvSpPr/>
          <p:nvPr/>
        </p:nvSpPr>
        <p:spPr>
          <a:xfrm>
            <a:off x="548640" y="1920240"/>
            <a:ext cx="4937760" cy="1737360"/>
          </a:xfrm>
          <a:prstGeom prst="roundRect">
            <a:avLst>
              <a:gd name="adj" fmla="val 6316"/>
            </a:avLst>
          </a:prstGeom>
          <a:solidFill>
            <a:srgbClr val="FFE4EA"/>
          </a:solidFill>
          <a:ln w="12700">
            <a:solidFill>
              <a:srgbClr val="FF5178"/>
            </a:solidFill>
            <a:prstDash val="solid"/>
          </a:ln>
        </p:spPr>
      </p:sp>
      <p:sp>
        <p:nvSpPr>
          <p:cNvPr id="20" name="Text 17"/>
          <p:cNvSpPr txBox="1"/>
          <p:nvPr/>
        </p:nvSpPr>
        <p:spPr>
          <a:xfrm>
            <a:off x="822960" y="19202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“Người liên hệ nhiều nhất là người quyết định”</a:t>
            </a:r>
            <a:endParaRPr lang="en-US" sz="1300" dirty="0"/>
          </a:p>
        </p:txBody>
      </p:sp>
      <p:sp>
        <p:nvSpPr>
          <p:cNvPr id="21" name="Shape 18"/>
          <p:cNvSpPr/>
          <p:nvPr/>
        </p:nvSpPr>
        <p:spPr>
          <a:xfrm>
            <a:off x="5623560" y="2788920"/>
            <a:ext cx="777240" cy="914"/>
          </a:xfrm>
          <a:prstGeom prst="line">
            <a:avLst/>
          </a:prstGeom>
          <a:noFill/>
          <a:ln w="38100">
            <a:solidFill>
              <a:srgbClr val="2A2238"/>
            </a:solidFill>
            <a:prstDash val="solid"/>
            <a:tailEnd type="triangle"/>
          </a:ln>
        </p:spPr>
      </p:sp>
      <p:sp>
        <p:nvSpPr>
          <p:cNvPr id="22" name="Shape 19"/>
          <p:cNvSpPr/>
          <p:nvPr/>
        </p:nvSpPr>
        <p:spPr>
          <a:xfrm>
            <a:off x="6537960" y="1920240"/>
            <a:ext cx="5105095" cy="1737360"/>
          </a:xfrm>
          <a:prstGeom prst="roundRect">
            <a:avLst>
              <a:gd name="adj" fmla="val 6316"/>
            </a:avLst>
          </a:prstGeom>
          <a:solidFill>
            <a:srgbClr val="E1F3EE"/>
          </a:solidFill>
          <a:ln w="12700">
            <a:solidFill>
              <a:srgbClr val="49B296"/>
            </a:solidFill>
            <a:prstDash val="solid"/>
          </a:ln>
        </p:spPr>
      </p:sp>
      <p:sp>
        <p:nvSpPr>
          <p:cNvPr id="23" name="Text 20"/>
          <p:cNvSpPr txBox="1"/>
          <p:nvPr/>
        </p:nvSpPr>
        <p:spPr>
          <a:xfrm>
            <a:off x="6812280" y="19202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700" b="1" dirty="0">
                <a:solidFill>
                  <a:srgbClr val="2A2238"/>
                </a:solidFill>
                <a:latin typeface="Alexandria" pitchFamily="34" charset="0"/>
                <a:ea typeface="Alexandria" pitchFamily="34" charset="-122"/>
                <a:cs typeface="Alexandria" pitchFamily="34" charset="-120"/>
              </a:rPr>
              <a:t>Chị Hạnh liên hệ nhiều nhất — nhưng ông Tuấn phê duyệt, anh Khoa có thể chặn ở mua sắm</a:t>
            </a:r>
            <a:endParaRPr lang="en-US" sz="1300" dirty="0"/>
          </a:p>
        </p:txBody>
      </p:sp>
      <p:sp>
        <p:nvSpPr>
          <p:cNvPr id="24" name="Shape 21"/>
          <p:cNvSpPr/>
          <p:nvPr/>
        </p:nvSpPr>
        <p:spPr>
          <a:xfrm>
            <a:off x="548640" y="3977640"/>
            <a:ext cx="4937760" cy="1737360"/>
          </a:xfrm>
          <a:prstGeom prst="roundRect">
            <a:avLst>
              <a:gd name="adj" fmla="val 6316"/>
            </a:avLst>
          </a:prstGeom>
          <a:solidFill>
            <a:srgbClr val="FFE4EA"/>
          </a:solidFill>
          <a:ln w="12700">
            <a:solidFill>
              <a:srgbClr val="FF5178"/>
            </a:solidFill>
            <a:prstDash val="solid"/>
          </a:ln>
        </p:spPr>
      </p:sp>
      <p:sp>
        <p:nvSpPr>
          <p:cNvPr id="25" name="Text 22"/>
          <p:cNvSpPr txBox="1"/>
          <p:nvPr/>
        </p:nvSpPr>
        <p:spPr>
          <a:xfrm>
            <a:off x="822960" y="3977640"/>
            <a:ext cx="4389120" cy="1737360"/>
          </a:xfrm>
          <a:prstGeom prst="rect">
            <a:avLst/>
          </a:prstGeom>
          <a:noFill/>
          <a:ln/>
        </p:spPr>
        <p:txBody>
          <a:bodyPr wrap="square" lIns="0" tIns="0" rIns="0" bIns="0" rtlCol="0" anchor="ctr"/>
          <a:lstStyle/>
          <a:p>
            <a:pPr indent="0" marL="0">
              <a:buNone/>
            </a:pPr>
            <a:r>
              <a:rPr lang="en-US" sz="1300" b="1" dirty="0">
                <a:solidFill>
                  <a:srgbClr val="E03A62"/>
                </a:solidFill>
                <a:latin typeface="Alexandria" pitchFamily="34" charset="0"/>
                <a:ea typeface="Alexandria" pitchFamily="34" charset="-122"/>
                <a:cs typeface="Alexandria" pitchFamily="34" charset="-120"/>
              </a:rPr>
              <a:t>Hiểu lầm</a:t>
            </a:r>
            <a:endParaRPr lang="en-US" sz="1300" dirty="0"/>
          </a:p>
          <a:p>
            <a:pPr indent="0" marL="0">
              <a:buNone/>
            </a:pPr>
            <a:r>
              <a:rPr lang="en-US" sz="1800" i="1" dirty="0">
                <a:solidFill>
                  <a:srgbClr val="2A2238"/>
                </a:solidFill>
                <a:latin typeface="Alexandria" pitchFamily="34" charset="0"/>
                <a:ea typeface="Alexandria" pitchFamily="34" charset="-122"/>
                <a:cs typeface="Alexandria" pitchFamily="34" charset="-120"/>
              </a:rPr>
              <a:t>“Chỉ cần làm hài lòng người quyết định”</a:t>
            </a:r>
            <a:endParaRPr lang="en-US" sz="1300" dirty="0"/>
          </a:p>
        </p:txBody>
      </p:sp>
      <p:sp>
        <p:nvSpPr>
          <p:cNvPr id="26" name="Shape 23"/>
          <p:cNvSpPr/>
          <p:nvPr/>
        </p:nvSpPr>
        <p:spPr>
          <a:xfrm>
            <a:off x="5623560" y="4846320"/>
            <a:ext cx="777240" cy="914"/>
          </a:xfrm>
          <a:prstGeom prst="line">
            <a:avLst/>
          </a:prstGeom>
          <a:noFill/>
          <a:ln w="38100">
            <a:solidFill>
              <a:srgbClr val="2A2238"/>
            </a:solidFill>
            <a:prstDash val="solid"/>
            <a:tailEnd type="triangle"/>
          </a:ln>
        </p:spPr>
      </p:sp>
      <p:sp>
        <p:nvSpPr>
          <p:cNvPr id="27" name="Shape 24"/>
          <p:cNvSpPr/>
          <p:nvPr/>
        </p:nvSpPr>
        <p:spPr>
          <a:xfrm>
            <a:off x="6537960" y="3977640"/>
            <a:ext cx="5105095" cy="1737360"/>
          </a:xfrm>
          <a:prstGeom prst="roundRect">
            <a:avLst>
              <a:gd name="adj" fmla="val 6316"/>
            </a:avLst>
          </a:prstGeom>
          <a:solidFill>
            <a:srgbClr val="E1F3EE"/>
          </a:solidFill>
          <a:ln w="12700">
            <a:solidFill>
              <a:srgbClr val="49B296"/>
            </a:solidFill>
            <a:prstDash val="solid"/>
          </a:ln>
        </p:spPr>
      </p:sp>
      <p:sp>
        <p:nvSpPr>
          <p:cNvPr id="28" name="Text 25"/>
          <p:cNvSpPr txBox="1"/>
          <p:nvPr/>
        </p:nvSpPr>
        <p:spPr>
          <a:xfrm>
            <a:off x="6812280" y="3977640"/>
            <a:ext cx="4556455" cy="1737360"/>
          </a:xfrm>
          <a:prstGeom prst="rect">
            <a:avLst/>
          </a:prstGeom>
          <a:noFill/>
          <a:ln/>
        </p:spPr>
        <p:txBody>
          <a:bodyPr wrap="square" lIns="0" tIns="0" rIns="0" bIns="0" rtlCol="0" anchor="ctr"/>
          <a:lstStyle/>
          <a:p>
            <a:pPr indent="0" marL="0">
              <a:buNone/>
            </a:pPr>
            <a:r>
              <a:rPr lang="en-US" sz="1300" b="1" dirty="0">
                <a:solidFill>
                  <a:srgbClr val="2E8A71"/>
                </a:solidFill>
                <a:latin typeface="Alexandria" pitchFamily="34" charset="0"/>
                <a:ea typeface="Alexandria" pitchFamily="34" charset="-122"/>
                <a:cs typeface="Alexandria" pitchFamily="34" charset="-120"/>
              </a:rPr>
              <a:t>Sửa</a:t>
            </a:r>
            <a:endParaRPr lang="en-US" sz="1300" dirty="0"/>
          </a:p>
          <a:p>
            <a:pPr indent="0" marL="0">
              <a:buNone/>
            </a:pPr>
            <a:r>
              <a:rPr lang="en-US" sz="1700" b="1" dirty="0">
                <a:solidFill>
                  <a:srgbClr val="2A2238"/>
                </a:solidFill>
                <a:latin typeface="Alexandria" pitchFamily="34" charset="0"/>
                <a:ea typeface="Alexandria" pitchFamily="34" charset="-122"/>
                <a:cs typeface="Alexandria" pitchFamily="34" charset="-120"/>
              </a:rPr>
              <a:t>Người dùng (chị Lan — livestream) và người gác cổng cũng ảnh hưởng</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962B7C"/>
          </a:solidFill>
          <a:ln w="9525">
            <a:solidFill>
              <a:srgbClr val="962B7C"/>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Hành trình của khách VIP và DMU của An Phát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W03_activity_S6_hanh_trinh_va_dmu.md · Tình huống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21</a:t>
            </a:r>
            <a:endParaRPr lang="en-US" sz="1000" dirty="0"/>
          </a:p>
        </p:txBody>
      </p:sp>
      <p:sp>
        <p:nvSpPr>
          <p:cNvPr id="20" name="Text 17"/>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Hội nghị khách hàng + gala cho 600 lãnh đạo doanh nghiệp VIP của An Phát</a:t>
            </a:r>
            <a:endParaRPr lang="en-US" sz="1400" dirty="0"/>
          </a:p>
        </p:txBody>
      </p:sp>
      <p:sp>
        <p:nvSpPr>
          <p:cNvPr id="21" name="Shape 18"/>
          <p:cNvSpPr/>
          <p:nvPr/>
        </p:nvSpPr>
        <p:spPr>
          <a:xfrm>
            <a:off x="548640" y="2240280"/>
            <a:ext cx="5410048" cy="2331720"/>
          </a:xfrm>
          <a:prstGeom prst="roundRect">
            <a:avLst>
              <a:gd name="adj" fmla="val 4706"/>
            </a:avLst>
          </a:prstGeom>
          <a:solidFill>
            <a:srgbClr val="FFE4EA"/>
          </a:solidFill>
          <a:ln w="12700">
            <a:solidFill>
              <a:srgbClr val="FF5178"/>
            </a:solidFill>
            <a:prstDash val="solid"/>
          </a:ln>
        </p:spPr>
      </p:sp>
      <p:sp>
        <p:nvSpPr>
          <p:cNvPr id="22" name="Text 19"/>
          <p:cNvSpPr txBox="1"/>
          <p:nvPr/>
        </p:nvSpPr>
        <p:spPr>
          <a:xfrm>
            <a:off x="822960" y="2240280"/>
            <a:ext cx="4861408" cy="2331720"/>
          </a:xfrm>
          <a:prstGeom prst="rect">
            <a:avLst/>
          </a:prstGeom>
          <a:noFill/>
          <a:ln/>
        </p:spPr>
        <p:txBody>
          <a:bodyPr wrap="square" lIns="0" tIns="0" rIns="0" bIns="0" rtlCol="0" anchor="ctr"/>
          <a:lstStyle/>
          <a:p>
            <a:pPr indent="0" marL="0">
              <a:spcAft>
                <a:spcPts val="600"/>
              </a:spcAft>
              <a:buNone/>
            </a:pPr>
            <a:r>
              <a:rPr lang="en-US" sz="2000" b="1" dirty="0">
                <a:solidFill>
                  <a:srgbClr val="2A2238"/>
                </a:solidFill>
                <a:latin typeface="Alexandria" pitchFamily="34" charset="0"/>
                <a:ea typeface="Alexandria" pitchFamily="34" charset="-122"/>
                <a:cs typeface="Alexandria" pitchFamily="34" charset="-120"/>
              </a:rPr>
              <a:t>Nửa trái A1 · Hành trình</a:t>
            </a:r>
            <a:endParaRPr lang="en-US" sz="2000" dirty="0"/>
          </a:p>
          <a:p>
            <a:pPr indent="0" marL="0">
              <a:spcAft>
                <a:spcPts val="600"/>
              </a:spcAft>
              <a:buNone/>
            </a:pPr>
            <a:r>
              <a:rPr lang="en-US" sz="1700" dirty="0">
                <a:solidFill>
                  <a:srgbClr val="2A2238"/>
                </a:solidFill>
                <a:latin typeface="Alexandria" pitchFamily="34" charset="0"/>
                <a:ea typeface="Alexandria" pitchFamily="34" charset="-122"/>
                <a:cs typeface="Alexandria" pitchFamily="34" charset="-120"/>
              </a:rPr>
              <a:t>Một khách VIP · trước – trong – sau · ≥ 6 điểm chạm ghi B / P / C / S · khoanh ⚠️ 1 điểm dễ hỏng nhất</a:t>
            </a:r>
            <a:endParaRPr lang="en-US" sz="2000" dirty="0"/>
          </a:p>
        </p:txBody>
      </p:sp>
      <p:sp>
        <p:nvSpPr>
          <p:cNvPr id="23" name="Shape 20"/>
          <p:cNvSpPr/>
          <p:nvPr/>
        </p:nvSpPr>
        <p:spPr>
          <a:xfrm>
            <a:off x="6233008" y="2240280"/>
            <a:ext cx="5410048" cy="2331720"/>
          </a:xfrm>
          <a:prstGeom prst="roundRect">
            <a:avLst>
              <a:gd name="adj" fmla="val 4706"/>
            </a:avLst>
          </a:prstGeom>
          <a:solidFill>
            <a:srgbClr val="F1E1EE"/>
          </a:solidFill>
          <a:ln w="12700">
            <a:solidFill>
              <a:srgbClr val="962B7C"/>
            </a:solidFill>
            <a:prstDash val="solid"/>
          </a:ln>
        </p:spPr>
      </p:sp>
      <p:sp>
        <p:nvSpPr>
          <p:cNvPr id="24" name="Text 21"/>
          <p:cNvSpPr txBox="1"/>
          <p:nvPr/>
        </p:nvSpPr>
        <p:spPr>
          <a:xfrm>
            <a:off x="6507328" y="2240280"/>
            <a:ext cx="4861408" cy="2331720"/>
          </a:xfrm>
          <a:prstGeom prst="rect">
            <a:avLst/>
          </a:prstGeom>
          <a:noFill/>
          <a:ln/>
        </p:spPr>
        <p:txBody>
          <a:bodyPr wrap="square" lIns="0" tIns="0" rIns="0" bIns="0" rtlCol="0" anchor="ctr"/>
          <a:lstStyle/>
          <a:p>
            <a:pPr indent="0" marL="0">
              <a:spcAft>
                <a:spcPts val="600"/>
              </a:spcAft>
              <a:buNone/>
            </a:pPr>
            <a:r>
              <a:rPr lang="en-US" sz="2000" b="1" dirty="0">
                <a:solidFill>
                  <a:srgbClr val="2A2238"/>
                </a:solidFill>
                <a:latin typeface="Alexandria" pitchFamily="34" charset="0"/>
                <a:ea typeface="Alexandria" pitchFamily="34" charset="-122"/>
                <a:cs typeface="Alexandria" pitchFamily="34" charset="-120"/>
              </a:rPr>
              <a:t>Nửa phải A1 · GRASP</a:t>
            </a:r>
            <a:endParaRPr lang="en-US" sz="2000" dirty="0"/>
          </a:p>
          <a:p>
            <a:pPr indent="0" marL="0">
              <a:spcAft>
                <a:spcPts val="600"/>
              </a:spcAft>
              <a:buNone/>
            </a:pPr>
            <a:r>
              <a:rPr lang="en-US" sz="1700" dirty="0">
                <a:solidFill>
                  <a:srgbClr val="2A2238"/>
                </a:solidFill>
                <a:latin typeface="Alexandria" pitchFamily="34" charset="0"/>
                <a:ea typeface="Alexandria" pitchFamily="34" charset="-122"/>
                <a:cs typeface="Alexandria" pitchFamily="34" charset="-120"/>
              </a:rPr>
              <a:t>5 người · Power 1–5 · mỗi người 1 việc Nova nên làm · nối mỗi người với điểm chạm họ quan tâm nhất</a:t>
            </a:r>
            <a:endParaRPr lang="en-US" sz="2000" dirty="0"/>
          </a:p>
        </p:txBody>
      </p:sp>
      <p:sp>
        <p:nvSpPr>
          <p:cNvPr id="25" name="Shape 22"/>
          <p:cNvSpPr/>
          <p:nvPr/>
        </p:nvSpPr>
        <p:spPr>
          <a:xfrm>
            <a:off x="548640" y="4892040"/>
            <a:ext cx="731520" cy="731520"/>
          </a:xfrm>
          <a:prstGeom prst="ellipse">
            <a:avLst/>
          </a:prstGeom>
          <a:solidFill>
            <a:srgbClr val="FF5178"/>
          </a:solidFill>
          <a:ln w="12700">
            <a:solidFill>
              <a:srgbClr val="FF5178"/>
            </a:solidFill>
            <a:prstDash val="solid"/>
          </a:ln>
        </p:spPr>
      </p:sp>
      <p:sp>
        <p:nvSpPr>
          <p:cNvPr id="26" name="Text 23"/>
          <p:cNvSpPr txBox="1"/>
          <p:nvPr/>
        </p:nvSpPr>
        <p:spPr>
          <a:xfrm>
            <a:off x="548640" y="48920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12’</a:t>
            </a:r>
            <a:endParaRPr lang="en-US" sz="1600" dirty="0"/>
          </a:p>
        </p:txBody>
      </p:sp>
      <p:sp>
        <p:nvSpPr>
          <p:cNvPr id="27" name="Text 24"/>
          <p:cNvSpPr txBox="1"/>
          <p:nvPr/>
        </p:nvSpPr>
        <p:spPr>
          <a:xfrm>
            <a:off x="1371600" y="4800600"/>
            <a:ext cx="1813484" cy="9144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Hành trình</a:t>
            </a:r>
            <a:endParaRPr lang="en-US" sz="1200" dirty="0"/>
          </a:p>
        </p:txBody>
      </p:sp>
      <p:sp>
        <p:nvSpPr>
          <p:cNvPr id="28" name="Shape 25"/>
          <p:cNvSpPr/>
          <p:nvPr/>
        </p:nvSpPr>
        <p:spPr>
          <a:xfrm>
            <a:off x="3367964" y="4892040"/>
            <a:ext cx="731520" cy="731520"/>
          </a:xfrm>
          <a:prstGeom prst="ellipse">
            <a:avLst/>
          </a:prstGeom>
          <a:solidFill>
            <a:srgbClr val="962B7C"/>
          </a:solidFill>
          <a:ln w="12700">
            <a:solidFill>
              <a:srgbClr val="962B7C"/>
            </a:solidFill>
            <a:prstDash val="solid"/>
          </a:ln>
        </p:spPr>
      </p:sp>
      <p:sp>
        <p:nvSpPr>
          <p:cNvPr id="29" name="Text 26"/>
          <p:cNvSpPr txBox="1"/>
          <p:nvPr/>
        </p:nvSpPr>
        <p:spPr>
          <a:xfrm>
            <a:off x="3367964" y="48920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7’</a:t>
            </a:r>
            <a:endParaRPr lang="en-US" sz="1600" dirty="0"/>
          </a:p>
        </p:txBody>
      </p:sp>
      <p:sp>
        <p:nvSpPr>
          <p:cNvPr id="30" name="Text 27"/>
          <p:cNvSpPr txBox="1"/>
          <p:nvPr/>
        </p:nvSpPr>
        <p:spPr>
          <a:xfrm>
            <a:off x="4190924" y="4800600"/>
            <a:ext cx="1813484" cy="9144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GRASP</a:t>
            </a:r>
            <a:endParaRPr lang="en-US" sz="1200" dirty="0"/>
          </a:p>
        </p:txBody>
      </p:sp>
      <p:sp>
        <p:nvSpPr>
          <p:cNvPr id="31" name="Shape 28"/>
          <p:cNvSpPr/>
          <p:nvPr/>
        </p:nvSpPr>
        <p:spPr>
          <a:xfrm>
            <a:off x="6187288" y="4892040"/>
            <a:ext cx="731520" cy="731520"/>
          </a:xfrm>
          <a:prstGeom prst="ellipse">
            <a:avLst/>
          </a:prstGeom>
          <a:solidFill>
            <a:srgbClr val="09A1E5"/>
          </a:solidFill>
          <a:ln w="12700">
            <a:solidFill>
              <a:srgbClr val="09A1E5"/>
            </a:solidFill>
            <a:prstDash val="solid"/>
          </a:ln>
        </p:spPr>
      </p:sp>
      <p:sp>
        <p:nvSpPr>
          <p:cNvPr id="32" name="Text 29"/>
          <p:cNvSpPr txBox="1"/>
          <p:nvPr/>
        </p:nvSpPr>
        <p:spPr>
          <a:xfrm>
            <a:off x="6187288" y="489204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2×4’</a:t>
            </a:r>
            <a:endParaRPr lang="en-US" sz="1300" dirty="0"/>
          </a:p>
        </p:txBody>
      </p:sp>
      <p:sp>
        <p:nvSpPr>
          <p:cNvPr id="33" name="Text 30"/>
          <p:cNvSpPr txBox="1"/>
          <p:nvPr/>
        </p:nvSpPr>
        <p:spPr>
          <a:xfrm>
            <a:off x="7010248" y="4800600"/>
            <a:ext cx="1813484" cy="9144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Xoay trạm · vai chị Hạnh · 🟨 câu hỏi · 🟥 điều Nova hiểu sai</a:t>
            </a:r>
            <a:endParaRPr lang="en-US" sz="1200" dirty="0"/>
          </a:p>
        </p:txBody>
      </p:sp>
      <p:sp>
        <p:nvSpPr>
          <p:cNvPr id="34" name="Shape 31"/>
          <p:cNvSpPr/>
          <p:nvPr/>
        </p:nvSpPr>
        <p:spPr>
          <a:xfrm>
            <a:off x="9006611" y="4892040"/>
            <a:ext cx="731520" cy="731520"/>
          </a:xfrm>
          <a:prstGeom prst="ellipse">
            <a:avLst/>
          </a:prstGeom>
          <a:solidFill>
            <a:srgbClr val="49B296"/>
          </a:solidFill>
          <a:ln w="12700">
            <a:solidFill>
              <a:srgbClr val="49B296"/>
            </a:solidFill>
            <a:prstDash val="solid"/>
          </a:ln>
        </p:spPr>
      </p:sp>
      <p:sp>
        <p:nvSpPr>
          <p:cNvPr id="35" name="Text 32"/>
          <p:cNvSpPr txBox="1"/>
          <p:nvPr/>
        </p:nvSpPr>
        <p:spPr>
          <a:xfrm>
            <a:off x="9006611" y="48920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3’</a:t>
            </a:r>
            <a:endParaRPr lang="en-US" sz="1600" dirty="0"/>
          </a:p>
        </p:txBody>
      </p:sp>
      <p:sp>
        <p:nvSpPr>
          <p:cNvPr id="36" name="Text 33"/>
          <p:cNvSpPr txBox="1"/>
          <p:nvPr/>
        </p:nvSpPr>
        <p:spPr>
          <a:xfrm>
            <a:off x="9829571" y="4800600"/>
            <a:ext cx="1813484" cy="9144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Về bàn, sửa 1 điểm</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3</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22</a:t>
            </a:r>
            <a:endParaRPr lang="en-US" sz="1000" dirty="0"/>
          </a:p>
        </p:txBody>
      </p:sp>
      <p:sp>
        <p:nvSpPr>
          <p:cNvPr id="19" name="Shape 16"/>
          <p:cNvSpPr/>
          <p:nvPr/>
        </p:nvSpPr>
        <p:spPr>
          <a:xfrm>
            <a:off x="548640" y="1828800"/>
            <a:ext cx="11094415" cy="822960"/>
          </a:xfrm>
          <a:prstGeom prst="roundRect">
            <a:avLst>
              <a:gd name="adj" fmla="val 13333"/>
            </a:avLst>
          </a:prstGeom>
          <a:solidFill>
            <a:srgbClr val="F1E1EE"/>
          </a:solidFill>
          <a:ln w="19050">
            <a:solidFill>
              <a:srgbClr val="962B7C"/>
            </a:solidFill>
            <a:prstDash val="solid"/>
          </a:ln>
        </p:spPr>
      </p:sp>
      <p:sp>
        <p:nvSpPr>
          <p:cNvPr id="20" name="Shape 17"/>
          <p:cNvSpPr/>
          <p:nvPr/>
        </p:nvSpPr>
        <p:spPr>
          <a:xfrm>
            <a:off x="777240" y="1897380"/>
            <a:ext cx="685800" cy="685800"/>
          </a:xfrm>
          <a:prstGeom prst="ellipse">
            <a:avLst/>
          </a:prstGeom>
          <a:solidFill>
            <a:srgbClr val="962B7C"/>
          </a:solidFill>
          <a:ln w="12700">
            <a:solidFill>
              <a:srgbClr val="962B7C"/>
            </a:solidFill>
            <a:prstDash val="solid"/>
          </a:ln>
        </p:spPr>
      </p:sp>
      <p:sp>
        <p:nvSpPr>
          <p:cNvPr id="21" name="Text 18"/>
          <p:cNvSpPr txBox="1"/>
          <p:nvPr/>
        </p:nvSpPr>
        <p:spPr>
          <a:xfrm>
            <a:off x="777240" y="189738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3.1</a:t>
            </a:r>
            <a:endParaRPr lang="en-US" sz="1300" dirty="0"/>
          </a:p>
        </p:txBody>
      </p:sp>
      <p:sp>
        <p:nvSpPr>
          <p:cNvPr id="22" name="Text 19"/>
          <p:cNvSpPr txBox="1"/>
          <p:nvPr/>
        </p:nvSpPr>
        <p:spPr>
          <a:xfrm>
            <a:off x="1691640" y="182880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PESTEL và đối thủ của khách hàng → nhu cầu thật của họ; thiếu dữ liệu thì ghi rõ giả định.</a:t>
            </a:r>
            <a:endParaRPr lang="en-US" sz="1700" dirty="0"/>
          </a:p>
        </p:txBody>
      </p:sp>
      <p:sp>
        <p:nvSpPr>
          <p:cNvPr id="23" name="Shape 20"/>
          <p:cNvSpPr/>
          <p:nvPr/>
        </p:nvSpPr>
        <p:spPr>
          <a:xfrm>
            <a:off x="548640" y="2834640"/>
            <a:ext cx="11094415" cy="822960"/>
          </a:xfrm>
          <a:prstGeom prst="roundRect">
            <a:avLst>
              <a:gd name="adj" fmla="val 13333"/>
            </a:avLst>
          </a:prstGeom>
          <a:solidFill>
            <a:srgbClr val="DDF1FB"/>
          </a:solidFill>
          <a:ln w="19050">
            <a:solidFill>
              <a:srgbClr val="09A1E5"/>
            </a:solidFill>
            <a:prstDash val="solid"/>
          </a:ln>
        </p:spPr>
      </p:sp>
      <p:sp>
        <p:nvSpPr>
          <p:cNvPr id="24" name="Shape 21"/>
          <p:cNvSpPr/>
          <p:nvPr/>
        </p:nvSpPr>
        <p:spPr>
          <a:xfrm>
            <a:off x="777240" y="2903220"/>
            <a:ext cx="685800" cy="685800"/>
          </a:xfrm>
          <a:prstGeom prst="ellipse">
            <a:avLst/>
          </a:prstGeom>
          <a:solidFill>
            <a:srgbClr val="09A1E5"/>
          </a:solidFill>
          <a:ln w="12700">
            <a:solidFill>
              <a:srgbClr val="09A1E5"/>
            </a:solidFill>
            <a:prstDash val="solid"/>
          </a:ln>
        </p:spPr>
      </p:sp>
      <p:sp>
        <p:nvSpPr>
          <p:cNvPr id="25" name="Text 22"/>
          <p:cNvSpPr txBox="1"/>
          <p:nvPr/>
        </p:nvSpPr>
        <p:spPr>
          <a:xfrm>
            <a:off x="777240" y="290322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3.2</a:t>
            </a:r>
            <a:endParaRPr lang="en-US" sz="1300" dirty="0"/>
          </a:p>
        </p:txBody>
      </p:sp>
      <p:sp>
        <p:nvSpPr>
          <p:cNvPr id="26" name="Text 23"/>
          <p:cNvSpPr txBox="1"/>
          <p:nvPr/>
        </p:nvSpPr>
        <p:spPr>
          <a:xfrm>
            <a:off x="1691640" y="283464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Hành trình ba giai đoạn, bốn loại điểm chạm; hai lớp hành trình — khách của khách hàng, và chính khách hàng với agency.</a:t>
            </a:r>
            <a:endParaRPr lang="en-US" sz="1700" dirty="0"/>
          </a:p>
        </p:txBody>
      </p:sp>
      <p:sp>
        <p:nvSpPr>
          <p:cNvPr id="27" name="Shape 24"/>
          <p:cNvSpPr/>
          <p:nvPr/>
        </p:nvSpPr>
        <p:spPr>
          <a:xfrm>
            <a:off x="548640" y="3840480"/>
            <a:ext cx="11094415" cy="822960"/>
          </a:xfrm>
          <a:prstGeom prst="roundRect">
            <a:avLst>
              <a:gd name="adj" fmla="val 13333"/>
            </a:avLst>
          </a:prstGeom>
          <a:solidFill>
            <a:srgbClr val="FFE4EA"/>
          </a:solidFill>
          <a:ln w="19050">
            <a:solidFill>
              <a:srgbClr val="FF5178"/>
            </a:solidFill>
            <a:prstDash val="solid"/>
          </a:ln>
        </p:spPr>
      </p:sp>
      <p:sp>
        <p:nvSpPr>
          <p:cNvPr id="28" name="Shape 25"/>
          <p:cNvSpPr/>
          <p:nvPr/>
        </p:nvSpPr>
        <p:spPr>
          <a:xfrm>
            <a:off x="777240" y="3909060"/>
            <a:ext cx="685800" cy="685800"/>
          </a:xfrm>
          <a:prstGeom prst="ellipse">
            <a:avLst/>
          </a:prstGeom>
          <a:solidFill>
            <a:srgbClr val="FF5178"/>
          </a:solidFill>
          <a:ln w="12700">
            <a:solidFill>
              <a:srgbClr val="FF5178"/>
            </a:solidFill>
            <a:prstDash val="solid"/>
          </a:ln>
        </p:spPr>
      </p:sp>
      <p:sp>
        <p:nvSpPr>
          <p:cNvPr id="29" name="Text 26"/>
          <p:cNvSpPr txBox="1"/>
          <p:nvPr/>
        </p:nvSpPr>
        <p:spPr>
          <a:xfrm>
            <a:off x="777240" y="390906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3.3</a:t>
            </a:r>
            <a:endParaRPr lang="en-US" sz="1300" dirty="0"/>
          </a:p>
        </p:txBody>
      </p:sp>
      <p:sp>
        <p:nvSpPr>
          <p:cNvPr id="30" name="Text 27"/>
          <p:cNvSpPr txBox="1"/>
          <p:nvPr/>
        </p:nvSpPr>
        <p:spPr>
          <a:xfrm>
            <a:off x="1691640" y="384048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Quyết định do DMU; GRASP giúp hiểu từng người: mục tiêu, vai trò, điều thu hút, thái độ, quyền lực.</a:t>
            </a:r>
            <a:endParaRPr lang="en-US" sz="1700" dirty="0"/>
          </a:p>
        </p:txBody>
      </p:sp>
      <p:sp>
        <p:nvSpPr>
          <p:cNvPr id="31" name="Shape 28"/>
          <p:cNvSpPr/>
          <p:nvPr/>
        </p:nvSpPr>
        <p:spPr>
          <a:xfrm>
            <a:off x="548640" y="4983480"/>
            <a:ext cx="11094415" cy="1005840"/>
          </a:xfrm>
          <a:prstGeom prst="roundRect">
            <a:avLst>
              <a:gd name="adj" fmla="val 10909"/>
            </a:avLst>
          </a:prstGeom>
          <a:solidFill>
            <a:srgbClr val="FFF3C4"/>
          </a:solidFill>
          <a:ln w="12700">
            <a:solidFill>
              <a:srgbClr val="FFD23B"/>
            </a:solidFill>
            <a:prstDash val="solid"/>
          </a:ln>
        </p:spPr>
      </p:sp>
      <p:sp>
        <p:nvSpPr>
          <p:cNvPr id="32" name="Text 29"/>
          <p:cNvSpPr txBox="1"/>
          <p:nvPr/>
        </p:nvSpPr>
        <p:spPr>
          <a:xfrm>
            <a:off x="868680" y="4983480"/>
            <a:ext cx="10454335" cy="10058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500" dirty="0">
                <a:solidFill>
                  <a:srgbClr val="2A2238"/>
                </a:solidFill>
                <a:latin typeface="Alexandria" pitchFamily="34" charset="0"/>
                <a:ea typeface="Alexandria" pitchFamily="34" charset="-122"/>
                <a:cs typeface="Alexandria" pitchFamily="34" charset="-120"/>
              </a:rPr>
              <a:t>đây là phần A. Value Insights cho khách hàng từ dự án cũ của nhóm.</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23</a:t>
            </a:r>
            <a:endParaRPr lang="en-US" sz="1000" dirty="0"/>
          </a:p>
        </p:txBody>
      </p:sp>
      <p:sp>
        <p:nvSpPr>
          <p:cNvPr id="19" name="Shape 16"/>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0" name="Shape 17"/>
          <p:cNvSpPr/>
          <p:nvPr/>
        </p:nvSpPr>
        <p:spPr>
          <a:xfrm>
            <a:off x="777240" y="2148840"/>
            <a:ext cx="640080" cy="640080"/>
          </a:xfrm>
          <a:prstGeom prst="ellipse">
            <a:avLst/>
          </a:prstGeom>
          <a:solidFill>
            <a:srgbClr val="962B7C"/>
          </a:solidFill>
          <a:ln w="12700">
            <a:solidFill>
              <a:srgbClr val="962B7C"/>
            </a:solidFill>
            <a:prstDash val="solid"/>
          </a:ln>
        </p:spPr>
      </p:sp>
      <p:sp>
        <p:nvSpPr>
          <p:cNvPr id="21" name="Text 18"/>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2" name="Text 19"/>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Một yếu tố PESTEL của khách hàng trong dự án cũ của nhóm, và nó tạo ra nhu cầu gì cho khách hàng đó?</a:t>
            </a:r>
            <a:endParaRPr lang="en-US" sz="1700" dirty="0"/>
          </a:p>
        </p:txBody>
      </p:sp>
      <p:sp>
        <p:nvSpPr>
          <p:cNvPr id="23" name="Shape 20"/>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4" name="Shape 21"/>
          <p:cNvSpPr/>
          <p:nvPr/>
        </p:nvSpPr>
        <p:spPr>
          <a:xfrm>
            <a:off x="777240" y="3611880"/>
            <a:ext cx="640080" cy="640080"/>
          </a:xfrm>
          <a:prstGeom prst="ellipse">
            <a:avLst/>
          </a:prstGeom>
          <a:solidFill>
            <a:srgbClr val="09A1E5"/>
          </a:solidFill>
          <a:ln w="12700">
            <a:solidFill>
              <a:srgbClr val="09A1E5"/>
            </a:solidFill>
            <a:prstDash val="solid"/>
          </a:ln>
        </p:spPr>
      </p:sp>
      <p:sp>
        <p:nvSpPr>
          <p:cNvPr id="25" name="Text 22"/>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6" name="Text 23"/>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Người có quyền lực (Power) cao nhất trong DMU của khách hàng đó là ai? Nhóm đã từng làm việc trực tiếp với người đó chưa?</a:t>
            </a:r>
            <a:endParaRPr lang="en-US" sz="1700" dirty="0"/>
          </a:p>
        </p:txBody>
      </p:sp>
      <p:sp>
        <p:nvSpPr>
          <p:cNvPr id="27" name="Shape 24"/>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28" name="Text 25"/>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4: </a:t>
            </a:r>
            <a:pPr indent="0" marL="0">
              <a:buNone/>
            </a:pPr>
            <a:r>
              <a:rPr lang="en-US" sz="1600" dirty="0">
                <a:solidFill>
                  <a:srgbClr val="2A2238"/>
                </a:solidFill>
                <a:latin typeface="Alexandria" pitchFamily="34" charset="0"/>
                <a:ea typeface="Alexandria" pitchFamily="34" charset="-122"/>
                <a:cs typeface="Alexandria" pitchFamily="34" charset="-120"/>
              </a:rPr>
              <a:t>hiểu khách hàng rồi, làm sao biết quan hệ đang tốt hay xấu? Đo chất lượng quan hệ — niềm tin, cam kết, và xung đột chức năng.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043684"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3.1 Thế giới khách hàng</a:t>
            </a:r>
            <a:endParaRPr lang="en-US" sz="1000" dirty="0"/>
          </a:p>
        </p:txBody>
      </p:sp>
      <p:sp>
        <p:nvSpPr>
          <p:cNvPr id="6" name="Shape 4"/>
          <p:cNvSpPr/>
          <p:nvPr/>
        </p:nvSpPr>
        <p:spPr>
          <a:xfrm>
            <a:off x="3534156" y="274320"/>
            <a:ext cx="134416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534156" y="274320"/>
            <a:ext cx="134416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3.2 Hành trình</a:t>
            </a:r>
            <a:endParaRPr lang="en-US" sz="1000" dirty="0"/>
          </a:p>
        </p:txBody>
      </p:sp>
      <p:sp>
        <p:nvSpPr>
          <p:cNvPr id="8" name="Shape 6"/>
          <p:cNvSpPr/>
          <p:nvPr/>
        </p:nvSpPr>
        <p:spPr>
          <a:xfrm>
            <a:off x="4988052" y="274320"/>
            <a:ext cx="142189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42189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3.3 DMU · GRASP</a:t>
            </a:r>
            <a:endParaRPr lang="en-US" sz="1000" dirty="0"/>
          </a:p>
        </p:txBody>
      </p:sp>
      <p:sp>
        <p:nvSpPr>
          <p:cNvPr id="10" name="Shape 8"/>
          <p:cNvSpPr/>
          <p:nvPr/>
        </p:nvSpPr>
        <p:spPr>
          <a:xfrm>
            <a:off x="6519672"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519672"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16614" y="411480"/>
            <a:ext cx="268834" cy="914"/>
          </a:xfrm>
          <a:prstGeom prst="line">
            <a:avLst/>
          </a:prstGeom>
          <a:noFill/>
          <a:ln w="19050">
            <a:solidFill>
              <a:srgbClr val="DCD7C8"/>
            </a:solidFill>
            <a:prstDash val="solid"/>
          </a:ln>
        </p:spPr>
      </p:sp>
      <p:sp>
        <p:nvSpPr>
          <p:cNvPr id="13" name="Shape 11"/>
          <p:cNvSpPr/>
          <p:nvPr/>
        </p:nvSpPr>
        <p:spPr>
          <a:xfrm>
            <a:off x="11259007" y="353873"/>
            <a:ext cx="115214" cy="115214"/>
          </a:xfrm>
          <a:prstGeom prst="ellipse">
            <a:avLst/>
          </a:prstGeom>
          <a:solidFill>
            <a:srgbClr val="09A1E5"/>
          </a:solidFill>
          <a:ln w="12700">
            <a:solidFill>
              <a:srgbClr val="09A1E5"/>
            </a:solidFill>
            <a:prstDash val="solid"/>
          </a:ln>
        </p:spPr>
      </p:sp>
      <p:sp>
        <p:nvSpPr>
          <p:cNvPr id="14" name="Shape 12"/>
          <p:cNvSpPr/>
          <p:nvPr/>
        </p:nvSpPr>
        <p:spPr>
          <a:xfrm>
            <a:off x="11393424" y="353873"/>
            <a:ext cx="115214" cy="115214"/>
          </a:xfrm>
          <a:prstGeom prst="ellipse">
            <a:avLst/>
          </a:prstGeom>
          <a:solidFill>
            <a:srgbClr val="FF5178"/>
          </a:solidFill>
          <a:ln w="12700">
            <a:solidFill>
              <a:srgbClr val="FF5178"/>
            </a:solidFill>
            <a:prstDash val="solid"/>
          </a:ln>
        </p:spPr>
      </p:sp>
      <p:sp>
        <p:nvSpPr>
          <p:cNvPr id="15" name="Shape 13"/>
          <p:cNvSpPr/>
          <p:nvPr/>
        </p:nvSpPr>
        <p:spPr>
          <a:xfrm>
            <a:off x="11527841" y="353873"/>
            <a:ext cx="115214" cy="115214"/>
          </a:xfrm>
          <a:prstGeom prst="ellipse">
            <a:avLst/>
          </a:prstGeom>
          <a:solidFill>
            <a:srgbClr val="962B7C"/>
          </a:solidFill>
          <a:ln w="12700">
            <a:solidFill>
              <a:srgbClr val="962B7C"/>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buoi-03_tu-lieu-tong-hop.md, mục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3   24</a:t>
            </a:r>
            <a:endParaRPr lang="en-US" sz="1000" dirty="0"/>
          </a:p>
        </p:txBody>
      </p:sp>
      <p:sp>
        <p:nvSpPr>
          <p:cNvPr id="20" name="Text 17"/>
          <p:cNvSpPr txBox="1"/>
          <p:nvPr/>
        </p:nvSpPr>
        <p:spPr>
          <a:xfrm>
            <a:off x="548640" y="1783080"/>
            <a:ext cx="640080" cy="643128"/>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C01</a:t>
            </a:r>
            <a:endParaRPr lang="en-US" sz="1200" dirty="0"/>
          </a:p>
        </p:txBody>
      </p:sp>
      <p:sp>
        <p:nvSpPr>
          <p:cNvPr id="21" name="Text 18"/>
          <p:cNvSpPr txBox="1"/>
          <p:nvPr/>
        </p:nvSpPr>
        <p:spPr>
          <a:xfrm>
            <a:off x="1234440" y="1783080"/>
            <a:ext cx="10408615" cy="6431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Davies, M. (n.d.). The value planning framework for key accounts. Key Account Management Forum (Cranfield).</a:t>
            </a:r>
            <a:endParaRPr lang="en-US" sz="1200" dirty="0"/>
          </a:p>
        </p:txBody>
      </p:sp>
      <p:sp>
        <p:nvSpPr>
          <p:cNvPr id="22" name="Text 19"/>
          <p:cNvSpPr txBox="1"/>
          <p:nvPr/>
        </p:nvSpPr>
        <p:spPr>
          <a:xfrm>
            <a:off x="548640" y="2499360"/>
            <a:ext cx="640080" cy="643128"/>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C02</a:t>
            </a:r>
            <a:endParaRPr lang="en-US" sz="1200" dirty="0"/>
          </a:p>
        </p:txBody>
      </p:sp>
      <p:sp>
        <p:nvSpPr>
          <p:cNvPr id="23" name="Text 20"/>
          <p:cNvSpPr txBox="1"/>
          <p:nvPr/>
        </p:nvSpPr>
        <p:spPr>
          <a:xfrm>
            <a:off x="1234440" y="2499360"/>
            <a:ext cx="10408615" cy="6431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Marcos, J., Davies, M., Guesalaga, R., &amp; Holt, S. (2018). Implementing key account management. Kogan Page. (chương 3)</a:t>
            </a:r>
            <a:endParaRPr lang="en-US" sz="1200" dirty="0"/>
          </a:p>
        </p:txBody>
      </p:sp>
      <p:sp>
        <p:nvSpPr>
          <p:cNvPr id="24" name="Text 21"/>
          <p:cNvSpPr txBox="1"/>
          <p:nvPr/>
        </p:nvSpPr>
        <p:spPr>
          <a:xfrm>
            <a:off x="548640" y="3215640"/>
            <a:ext cx="640080" cy="643128"/>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C03</a:t>
            </a:r>
            <a:endParaRPr lang="en-US" sz="1200" dirty="0"/>
          </a:p>
        </p:txBody>
      </p:sp>
      <p:sp>
        <p:nvSpPr>
          <p:cNvPr id="25" name="Text 22"/>
          <p:cNvSpPr txBox="1"/>
          <p:nvPr/>
        </p:nvSpPr>
        <p:spPr>
          <a:xfrm>
            <a:off x="1234440" y="3215640"/>
            <a:ext cx="10408615" cy="6431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Lemon, K. N., &amp; Verhoef, P. C. (2016). Understanding customer experience throughout the customer journey. Journal of Marketing, 80(6), 69–96. https://doi.org/10.1509/jm.15.0420</a:t>
            </a:r>
            <a:endParaRPr lang="en-US" sz="1200" dirty="0"/>
          </a:p>
        </p:txBody>
      </p:sp>
      <p:sp>
        <p:nvSpPr>
          <p:cNvPr id="26" name="Text 23"/>
          <p:cNvSpPr txBox="1"/>
          <p:nvPr/>
        </p:nvSpPr>
        <p:spPr>
          <a:xfrm>
            <a:off x="548640" y="3931920"/>
            <a:ext cx="640080" cy="643128"/>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C04</a:t>
            </a:r>
            <a:endParaRPr lang="en-US" sz="1200" dirty="0"/>
          </a:p>
        </p:txBody>
      </p:sp>
      <p:sp>
        <p:nvSpPr>
          <p:cNvPr id="27" name="Text 24"/>
          <p:cNvSpPr txBox="1"/>
          <p:nvPr/>
        </p:nvSpPr>
        <p:spPr>
          <a:xfrm>
            <a:off x="1234440" y="3931920"/>
            <a:ext cx="10408615" cy="6431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Webster, F. E., Jr., &amp; Wind, Y. (1972). A general model for understanding organizational buying behavior. Journal of Marketing, 36(2), 12–19. https://doi.org/10.1177/002224297203600204</a:t>
            </a:r>
            <a:endParaRPr lang="en-US" sz="1200" dirty="0"/>
          </a:p>
        </p:txBody>
      </p:sp>
      <p:sp>
        <p:nvSpPr>
          <p:cNvPr id="28" name="Text 25"/>
          <p:cNvSpPr txBox="1"/>
          <p:nvPr/>
        </p:nvSpPr>
        <p:spPr>
          <a:xfrm>
            <a:off x="548640" y="4648200"/>
            <a:ext cx="640080" cy="643128"/>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C05</a:t>
            </a:r>
            <a:endParaRPr lang="en-US" sz="1200" dirty="0"/>
          </a:p>
        </p:txBody>
      </p:sp>
      <p:sp>
        <p:nvSpPr>
          <p:cNvPr id="29" name="Text 26"/>
          <p:cNvSpPr txBox="1"/>
          <p:nvPr/>
        </p:nvSpPr>
        <p:spPr>
          <a:xfrm>
            <a:off x="1234440" y="4648200"/>
            <a:ext cx="10408615" cy="6431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VnEconomy. (2026, January 11). Năm 2026, tín dụng dự kiến tăng thêm 2,79 triệu tỷ đồng, giảm 183.000 tỷ so với 2025. · VnExpress. (2026). Tăng trưởng tín dụng năm 2026 dự kiến 15%.</a:t>
            </a:r>
            <a:endParaRPr lang="en-US" sz="1200" dirty="0"/>
          </a:p>
        </p:txBody>
      </p:sp>
      <p:sp>
        <p:nvSpPr>
          <p:cNvPr id="30" name="Text 27"/>
          <p:cNvSpPr txBox="1"/>
          <p:nvPr/>
        </p:nvSpPr>
        <p:spPr>
          <a:xfrm>
            <a:off x="548640" y="5364480"/>
            <a:ext cx="640080" cy="643128"/>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C06</a:t>
            </a:r>
            <a:endParaRPr lang="en-US" sz="1200" dirty="0"/>
          </a:p>
        </p:txBody>
      </p:sp>
      <p:sp>
        <p:nvSpPr>
          <p:cNvPr id="31" name="Text 28"/>
          <p:cNvSpPr txBox="1"/>
          <p:nvPr/>
        </p:nvSpPr>
        <p:spPr>
          <a:xfrm>
            <a:off x="1234440" y="5364480"/>
            <a:ext cx="10408615" cy="643128"/>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GRASP (Goal, Role, Appeal, State, Power) — định nghĩa làm việc của môn; chưa có nguồn công khai [NEEDS PROFESSOR INPUT].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3: Understanding the Customer &amp; Customer Journey</dc:title>
  <dc:subject>Quản trị mối quan hệ trong tổ chức sự kiện</dc:subject>
  <dc:creator>PptxGenJS</dc:creator>
  <cp:lastModifiedBy>PptxGenJS</cp:lastModifiedBy>
  <cp:revision>1</cp:revision>
  <dcterms:created xsi:type="dcterms:W3CDTF">2026-10-03T04:49:08Z</dcterms:created>
  <dcterms:modified xsi:type="dcterms:W3CDTF">2026-10-03T04:49:08Z</dcterms:modified>
</cp:coreProperties>
</file>