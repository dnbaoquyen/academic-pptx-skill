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005840"/>
            <a:ext cx="3474720" cy="3474720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1965960"/>
            <a:ext cx="1645920" cy="164592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89320" y="2606040"/>
            <a:ext cx="1051560" cy="105156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86600" y="3749040"/>
            <a:ext cx="640080" cy="64008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4023360"/>
            <a:ext cx="411480" cy="411480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1097280"/>
            <a:ext cx="274320" cy="502920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16368" y="731520"/>
            <a:ext cx="274320" cy="868680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00416" y="914400"/>
            <a:ext cx="274320" cy="685800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84464" y="457200"/>
            <a:ext cx="274320" cy="1143000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0" y="1627632"/>
            <a:ext cx="1691640" cy="0"/>
          </a:xfrm>
          <a:prstGeom prst="line">
            <a:avLst/>
          </a:prstGeom>
          <a:noFill/>
          <a:ln w="19050">
            <a:solidFill>
              <a:srgbClr val="2B26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82296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8229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MARKETING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28016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định lượng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Đúng con số giúp ra quyết định rõ ràng và tự tin — từ khảo sát truyền thống đến ưu tiên tính năng và mức sẵn lòng chi trả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365760" cy="73152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931920"/>
            <a:ext cx="365760" cy="73152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88720" y="3931920"/>
            <a:ext cx="365760" cy="73152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3931920"/>
            <a:ext cx="365760" cy="73152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0240" y="3931920"/>
            <a:ext cx="365760" cy="73152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3931920"/>
            <a:ext cx="365760" cy="73152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69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Biên soạn từ tài liệu “Quantitative Research” (bản ghi khóa học của Sarah Weise, CEO công ty nghiên cứu thị trường BIXA)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Giới thiệu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học đi từ mục tiêu nghiên cứu đến câu chuyện dữ liệu thúc đẩy hành động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35608"/>
            <a:ext cx="457200" cy="457200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Nền tảng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0" y="14173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Định lượng hay định tính · ROI của dữ liệu · đặt mục tiêu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1975104"/>
            <a:ext cx="7589520" cy="0"/>
          </a:xfrm>
          <a:prstGeom prst="line">
            <a:avLst/>
          </a:prstGeom>
          <a:noFill/>
          <a:ln w="12700">
            <a:solidFill>
              <a:srgbClr val="E6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20391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Chọn kỹ thuật định lượng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840480" y="2039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Thống kê mô tả &amp; suy luận · cluster · MaxDiff · conjoint · Van Westendorp · Gabor-Granger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97280" y="2596896"/>
            <a:ext cx="7589520" cy="0"/>
          </a:xfrm>
          <a:prstGeom prst="line">
            <a:avLst/>
          </a:prstGeom>
          <a:noFill/>
          <a:ln w="12700">
            <a:solidFill>
              <a:srgbClr val="E6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679192"/>
            <a:ext cx="457200" cy="45720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" y="26609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Lập kế hoạch khảo sát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840480" y="26609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Cỡ mẫu · thiết kế câu hỏi · giảm thiên lệch · câu hỏi nhạy cảm · công cụ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97280" y="3218688"/>
            <a:ext cx="7589520" cy="0"/>
          </a:xfrm>
          <a:prstGeom prst="line">
            <a:avLst/>
          </a:prstGeom>
          <a:noFill/>
          <a:ln w="12700">
            <a:solidFill>
              <a:srgbClr val="E6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300984"/>
            <a:ext cx="457200" cy="45720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97280" y="32826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Phân tích dữ liệu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840480" y="328269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Làm sạch &amp; gia quyền · kể chuyện bằng số · câu hỏi mở · suy luận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97280" y="3840480"/>
            <a:ext cx="7589520" cy="0"/>
          </a:xfrm>
          <a:prstGeom prst="line">
            <a:avLst/>
          </a:prstGeom>
          <a:noFill/>
          <a:ln w="12700">
            <a:solidFill>
              <a:srgbClr val="E6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922776"/>
            <a:ext cx="457200" cy="457200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97280" y="39044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Báo cáo &amp; trực quan hóa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840480" y="39044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Kể chuyện bằng hình ảnh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Giới thiệu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Cần con số và quy mô thì chọn định lượng; cần chiều sâu thì chọn định tính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4023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155448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554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QUY MÔ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74520" y="15179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Định lượng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" y="201168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Dữ liệu khái quát hóa cho tổng thể lớn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Đo hài lòng toàn quốc: bao nhiêu % hài lòng, sẵn lòng giới thiệu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Nhu cầu thị trường: bao nhiêu người sẽ mua, tính năng nào quan trọng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1417320"/>
            <a:ext cx="4023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55448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554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CHIỀU SÂU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80760" y="15179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Định tính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800600" y="201168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Hiểu “vì sao” đằng sau hành vi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Phỏng vấn, nhóm tập trung, nhật ký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Giai đoạn khám phá: ý tưởng sản phẩm, thử nghiệm sáng tạo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Kết hợp cả hai: phương pháp “sandwich”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2834640" cy="685800"/>
          </a:xfrm>
          <a:prstGeom prst="homePlate">
            <a:avLst/>
          </a:prstGeom>
          <a:solidFill>
            <a:srgbClr val="FF5178"/>
          </a:solidFill>
          <a:ln w="19050">
            <a:solidFill>
              <a:srgbClr val="FBFA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Khoảng 10 phỏng vấn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Hình thành giả thuyết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46120" y="3749040"/>
            <a:ext cx="2834640" cy="685800"/>
          </a:xfrm>
          <a:prstGeom prst="chevron">
            <a:avLst/>
          </a:prstGeom>
          <a:solidFill>
            <a:srgbClr val="09A1E5"/>
          </a:solidFill>
          <a:ln w="19050">
            <a:solidFill>
              <a:srgbClr val="FBFA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Khảo sát khoảng 300 người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Giả thuyết có đúng trên quy mô lớn?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3749040"/>
            <a:ext cx="2834640" cy="685800"/>
          </a:xfrm>
          <a:prstGeom prst="chevron">
            <a:avLst/>
          </a:prstGeom>
          <a:solidFill>
            <a:srgbClr val="FF5178"/>
          </a:solidFill>
          <a:ln w="19050">
            <a:solidFill>
              <a:srgbClr val="FBFA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Định tính vòng 2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Đào sâu chi tiết vừa phát hiện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Giới thiệu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Dữ liệu định lượng mang lại lợi nhuận đo được, không chỉ là con số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23B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Tình huống: Nike, 2020–2021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18288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Đại dịch làm khách tại cửa hàng biến mất. Khảo sát cho thấy khách muốn trải nghiệm số cá nhân hóa → thử giày ảo, kế hoạch tập luyện riêng, chuyên gia tư vấn trực tuyến.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+85%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9D3E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doanh số số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57400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+19%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05740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9D3E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bán hàng trực tiếp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9D3E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Năm 2021 so với trước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49040" y="14173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14904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23×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86200" y="18928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khả năng thu hút khách khi ra quyết định dựa trên dữ liệu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63640" y="14173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4904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925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19×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00800" y="18928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khả năng có lợi nhuận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49040" y="2441448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8620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85%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886200" y="291693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lợi nhuận cao hơn ở doanh nghiệp giỏi về insight khách hàng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63640" y="2441448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63%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00800" y="291693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khách hàng kỳ vọng doanh nghiệp hiểu nhu cầu của họ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49040" y="3465576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86200" y="35387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30%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886200" y="394106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doanh thu bị mất có thể do sai lầm về định giá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63640" y="3465576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5387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64%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400800" y="394106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chuyển đổi tăng khi dời một nút trên trang chủ (Cvent)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Số liệu do người giảng dẫn trong tài liệu gốc; thêm: mỗi 1 USD đầu tư cho UX mang về 100 USD.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Giới thiệu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Mục tiêu nghiên cứu càng cụ thể, câu hỏi càng tập trung và dữ liệu càng dùng được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1EEE3"/>
          </a:solidFill>
          <a:ln w="12700">
            <a:solidFill>
              <a:srgbClr val="F1EE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4173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Chưa cụ thể: </a:t>
            </a:r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“Khách hàng nghĩ gì về sản phẩm?”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Cụ thể: </a:t>
            </a:r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“Khách đánh giá tính năng nào quan trọng nhất, và lý do là X, Y hay Z?”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1947672" cy="201168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377440"/>
            <a:ext cx="1947672" cy="91440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786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Ưu tiên tính năng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1089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Tính năng nào được coi trọng nhất? Điều gì thúc đẩy sự hài lòng?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51176" y="2377440"/>
            <a:ext cx="1947672" cy="201168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1176" y="2377440"/>
            <a:ext cx="1947672" cy="91440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88336" y="25786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Nhận biết thương hiệu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88336" y="31089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Đo nhận biết không gợi ý; so sánh với đối thủ — đối thủ theo ai?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45152" y="2377440"/>
            <a:ext cx="1947672" cy="201168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45152" y="2377440"/>
            <a:ext cx="1947672" cy="91440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25786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925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Giá &amp; sẵn lòng chi trả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82312" y="31089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Khoảng giá tối ưu; gói tính năng cho giá cao nhất; tính năng nào đáng giá hơn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39128" y="2377440"/>
            <a:ext cx="1947672" cy="201168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39128" y="2377440"/>
            <a:ext cx="1947672" cy="91440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76288" y="25786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Phân khúc &amp; nhu cầu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76288" y="31089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Phân khúc theo tâm lý học; nhu cầu khác nhau giữa các nhóm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Ví dụ: công ty luật cụ thể hóa “chuyên môn” thành kiến thức ngành, kinh nghiệm pháp lý hay hiểu biết về AI, tiền mã hóa.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  Chọn kỹ thuật định lượng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Thống kê mô tả tóm tắt bức tranh; thống kê suy luận cho biết khác biệt có thật hay không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41732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874520"/>
            <a:ext cx="4023360" cy="228600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4447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Thống kê mô tả</a:t>
            </a:r>
            <a:endParaRPr lang="en-US" sz="14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Bức tranh tổng thể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221992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Trung bình, trung vị, yếu vị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Trung bình bị lệch bởi giá trị ngoại lai → báo cả trung vị và yếu vị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97180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429000"/>
            <a:ext cx="4023360" cy="228600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9992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Thống kê suy luận</a:t>
            </a:r>
            <a:endParaRPr lang="en-US" sz="14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Dự đoán cho tổng thể lớn hơn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3776472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Khoảng tin cậy, kiểm định giả thuyết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Loại trừ khả năng mô hình xuất hiện do ngẫu nhiên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Ví dụ: khảo sát y tế 2023 → 2024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5488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Độ tin cậy 95%, sai số ±3% ở mỗi năm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37760" y="2606040"/>
            <a:ext cx="3566160" cy="0"/>
          </a:xfrm>
          <a:prstGeom prst="line">
            <a:avLst/>
          </a:prstGeom>
          <a:noFill/>
          <a:ln w="12700">
            <a:solidFill>
              <a:srgbClr val="7A74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94376" y="2478024"/>
            <a:ext cx="1069848" cy="256032"/>
          </a:xfrm>
          <a:prstGeom prst="rect">
            <a:avLst/>
          </a:prstGeom>
          <a:solidFill>
            <a:srgbClr val="09A1E5">
              <a:alpha val="30000"/>
            </a:srgbClr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5292" y="2542032"/>
            <a:ext cx="128016" cy="128016"/>
          </a:xfrm>
          <a:prstGeom prst="ellipse">
            <a:avLst/>
          </a:prstGeom>
          <a:solidFill>
            <a:srgbClr val="09A1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0660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2023 ±3%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42532" y="2478024"/>
            <a:ext cx="1069848" cy="256032"/>
          </a:xfrm>
          <a:prstGeom prst="rect">
            <a:avLst/>
          </a:prstGeom>
          <a:solidFill>
            <a:srgbClr val="962B7C">
              <a:alpha val="30000"/>
            </a:srgbClr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13448" y="2542032"/>
            <a:ext cx="128016" cy="128016"/>
          </a:xfrm>
          <a:prstGeom prst="ellipse">
            <a:avLst/>
          </a:prstGeom>
          <a:solidFill>
            <a:srgbClr val="962B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28816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2024 ±3%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0175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06324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≥ 6 điểm %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Chênh lệch giữa hai năm phải đủ lớn để không bị chồng khoảng sai số, mới được coi là khác biệt có ý nghĩa (đánh dấu Δ trên biểu đồ).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  Chọn kỹ thuật định lượng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Bảng chéo (crosstab) làm lộ khác biệt giữa các nhóm mà con số tổng che mất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“Tôi luôn biết trước chi phí dịch vụ y tế”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17830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Nữ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463040" y="1783080"/>
            <a:ext cx="2377440" cy="310896"/>
          </a:xfrm>
          <a:prstGeom prst="rect">
            <a:avLst/>
          </a:prstGeom>
          <a:solidFill>
            <a:srgbClr val="F1EEE3"/>
          </a:solidFill>
          <a:ln w="12700">
            <a:solidFill>
              <a:srgbClr val="F1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63040" y="1783080"/>
            <a:ext cx="1545336" cy="310896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81528" y="178308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26%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2219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Nam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463040" y="2221992"/>
            <a:ext cx="2377440" cy="310896"/>
          </a:xfrm>
          <a:prstGeom prst="rect">
            <a:avLst/>
          </a:prstGeom>
          <a:solidFill>
            <a:srgbClr val="F1EEE3"/>
          </a:solidFill>
          <a:ln w="12700">
            <a:solidFill>
              <a:srgbClr val="F1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0" y="2221992"/>
            <a:ext cx="1901952" cy="310896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38144" y="222199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32%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2743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“Không bao giờ biết trước chi phí”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1089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Chưa tốt nghiệp THPT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20240" y="3108960"/>
            <a:ext cx="1920240" cy="310896"/>
          </a:xfrm>
          <a:prstGeom prst="rect">
            <a:avLst/>
          </a:prstGeom>
          <a:solidFill>
            <a:srgbClr val="F1EEE3"/>
          </a:solidFill>
          <a:ln w="12700">
            <a:solidFill>
              <a:srgbClr val="F1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20240" y="3108960"/>
            <a:ext cx="1104138" cy="310896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7530" y="31089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23%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5478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Toàn bộ mẫu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920240" y="3547872"/>
            <a:ext cx="1920240" cy="310896"/>
          </a:xfrm>
          <a:prstGeom prst="rect">
            <a:avLst/>
          </a:prstGeom>
          <a:solidFill>
            <a:srgbClr val="F1EEE3"/>
          </a:solidFill>
          <a:ln w="12700">
            <a:solidFill>
              <a:srgbClr val="F1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3547872"/>
            <a:ext cx="672084" cy="310896"/>
          </a:xfrm>
          <a:prstGeom prst="rect">
            <a:avLst/>
          </a:prstGeom>
          <a:solidFill>
            <a:srgbClr val="7A7480"/>
          </a:solidFill>
          <a:ln w="12700">
            <a:solidFill>
              <a:srgbClr val="7A74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65476" y="35478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14%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Dữ liệu: khảo sát cảm nhận về y tế tại Mỹ do nhóm của người giảng thực hiện, được dẫn trong tài liệu gốc.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1417320"/>
            <a:ext cx="38404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141732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1874520"/>
            <a:ext cx="3840480" cy="228600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144475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Bảng chéo hoạt động thế nào?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937760" y="2221992"/>
            <a:ext cx="3639312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Hàng: một biến (vd. thế hệ); cột: một biến khác (vd. có khuyết tật hay không)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Đọc theo hàng: 11,4% Gen Z có khuyết tật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Đọc theo cột: trong nhóm có khuyết tật, 15,5% là Gen Z, 29,2% là Gen X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Áp vào từng câu hỏi để tìm nhóm trả lời khác biệt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  Chọn kỹ thuật định lượng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Phân tích cụm nhóm khách hàng theo đặc điểm chung để nhắm mục tiêu chính xác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393192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Biểu đồ cây (dendrogram)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" y="3931920"/>
            <a:ext cx="146304" cy="146304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25296" y="3931920"/>
            <a:ext cx="146304" cy="146304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55064" y="3931920"/>
            <a:ext cx="146304" cy="146304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84832" y="3931920"/>
            <a:ext cx="146304" cy="146304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3931920"/>
            <a:ext cx="146304" cy="146304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44368" y="3931920"/>
            <a:ext cx="146304" cy="146304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74136" y="3931920"/>
            <a:ext cx="146304" cy="146304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03904" y="3931920"/>
            <a:ext cx="146304" cy="146304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474720"/>
            <a:ext cx="0" cy="457200"/>
          </a:xfrm>
          <a:prstGeom prst="line">
            <a:avLst/>
          </a:prstGeom>
          <a:noFill/>
          <a:ln w="15875">
            <a:solidFill>
              <a:srgbClr val="2B26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98448" y="3474720"/>
            <a:ext cx="0" cy="457200"/>
          </a:xfrm>
          <a:prstGeom prst="line">
            <a:avLst/>
          </a:prstGeom>
          <a:noFill/>
          <a:ln w="15875">
            <a:solidFill>
              <a:srgbClr val="2B26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474720"/>
            <a:ext cx="429768" cy="0"/>
          </a:xfrm>
          <a:prstGeom prst="line">
            <a:avLst/>
          </a:prstGeom>
          <a:noFill/>
          <a:ln w="15875">
            <a:solidFill>
              <a:srgbClr val="2B26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28216" y="3566160"/>
            <a:ext cx="0" cy="365760"/>
          </a:xfrm>
          <a:prstGeom prst="line">
            <a:avLst/>
          </a:prstGeom>
          <a:noFill/>
          <a:ln w="15875">
            <a:solidFill>
              <a:srgbClr val="2B26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57984" y="3566160"/>
            <a:ext cx="0" cy="365760"/>
          </a:xfrm>
          <a:prstGeom prst="line">
            <a:avLst/>
          </a:prstGeom>
          <a:noFill/>
          <a:ln w="15875">
            <a:solidFill>
              <a:srgbClr val="2B26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28216" y="3566160"/>
            <a:ext cx="429768" cy="0"/>
          </a:xfrm>
          <a:prstGeom prst="line">
            <a:avLst/>
          </a:prstGeom>
          <a:noFill/>
          <a:ln w="15875">
            <a:solidFill>
              <a:srgbClr val="2B26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43100" y="3246120"/>
            <a:ext cx="0" cy="320040"/>
          </a:xfrm>
          <a:prstGeom prst="line">
            <a:avLst/>
          </a:prstGeom>
          <a:noFill/>
          <a:ln w="15875">
            <a:solidFill>
              <a:srgbClr val="2B26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87752" y="3246120"/>
            <a:ext cx="0" cy="685800"/>
          </a:xfrm>
          <a:prstGeom prst="line">
            <a:avLst/>
          </a:prstGeom>
          <a:noFill/>
          <a:ln w="15875">
            <a:solidFill>
              <a:srgbClr val="2B26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43100" y="3246120"/>
            <a:ext cx="644652" cy="0"/>
          </a:xfrm>
          <a:prstGeom prst="line">
            <a:avLst/>
          </a:prstGeom>
          <a:noFill/>
          <a:ln w="15875">
            <a:solidFill>
              <a:srgbClr val="2B26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17520" y="3611880"/>
            <a:ext cx="0" cy="320040"/>
          </a:xfrm>
          <a:prstGeom prst="line">
            <a:avLst/>
          </a:prstGeom>
          <a:noFill/>
          <a:ln w="15875">
            <a:solidFill>
              <a:srgbClr val="2B26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47288" y="3611880"/>
            <a:ext cx="0" cy="320040"/>
          </a:xfrm>
          <a:prstGeom prst="line">
            <a:avLst/>
          </a:prstGeom>
          <a:noFill/>
          <a:ln w="15875">
            <a:solidFill>
              <a:srgbClr val="2B26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3611880"/>
            <a:ext cx="429768" cy="0"/>
          </a:xfrm>
          <a:prstGeom prst="line">
            <a:avLst/>
          </a:prstGeom>
          <a:noFill/>
          <a:ln w="15875">
            <a:solidFill>
              <a:srgbClr val="2B26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32404" y="3337560"/>
            <a:ext cx="0" cy="274320"/>
          </a:xfrm>
          <a:prstGeom prst="line">
            <a:avLst/>
          </a:prstGeom>
          <a:noFill/>
          <a:ln w="15875">
            <a:solidFill>
              <a:srgbClr val="2B26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77056" y="3337560"/>
            <a:ext cx="0" cy="594360"/>
          </a:xfrm>
          <a:prstGeom prst="line">
            <a:avLst/>
          </a:prstGeom>
          <a:noFill/>
          <a:ln w="15875">
            <a:solidFill>
              <a:srgbClr val="2B26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32404" y="3337560"/>
            <a:ext cx="644652" cy="0"/>
          </a:xfrm>
          <a:prstGeom prst="line">
            <a:avLst/>
          </a:prstGeom>
          <a:noFill/>
          <a:ln w="15875">
            <a:solidFill>
              <a:srgbClr val="2B26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65426" y="2606040"/>
            <a:ext cx="0" cy="640080"/>
          </a:xfrm>
          <a:prstGeom prst="line">
            <a:avLst/>
          </a:prstGeom>
          <a:noFill/>
          <a:ln w="15875">
            <a:solidFill>
              <a:srgbClr val="2B26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54730" y="2606040"/>
            <a:ext cx="0" cy="731520"/>
          </a:xfrm>
          <a:prstGeom prst="line">
            <a:avLst/>
          </a:prstGeom>
          <a:noFill/>
          <a:ln w="15875">
            <a:solidFill>
              <a:srgbClr val="2B26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65426" y="2606040"/>
            <a:ext cx="1289304" cy="0"/>
          </a:xfrm>
          <a:prstGeom prst="line">
            <a:avLst/>
          </a:prstGeom>
          <a:noFill/>
          <a:ln w="15875">
            <a:solidFill>
              <a:srgbClr val="2B26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83564" y="2148840"/>
            <a:ext cx="0" cy="1325880"/>
          </a:xfrm>
          <a:prstGeom prst="line">
            <a:avLst/>
          </a:prstGeom>
          <a:noFill/>
          <a:ln w="15875">
            <a:solidFill>
              <a:srgbClr val="2B26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10078" y="2148840"/>
            <a:ext cx="0" cy="457200"/>
          </a:xfrm>
          <a:prstGeom prst="line">
            <a:avLst/>
          </a:prstGeom>
          <a:noFill/>
          <a:ln w="15875">
            <a:solidFill>
              <a:srgbClr val="2B26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3564" y="2148840"/>
            <a:ext cx="1826514" cy="0"/>
          </a:xfrm>
          <a:prstGeom prst="line">
            <a:avLst/>
          </a:prstGeom>
          <a:noFill/>
          <a:ln w="15875">
            <a:solidFill>
              <a:srgbClr val="2B26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5800" y="2971800"/>
            <a:ext cx="3566160" cy="0"/>
          </a:xfrm>
          <a:prstGeom prst="line">
            <a:avLst/>
          </a:prstGeom>
          <a:noFill/>
          <a:ln w="19050">
            <a:solidFill>
              <a:srgbClr val="FF9259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2834640" y="27432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25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Cắt ở đây → 3 cụm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1417320"/>
            <a:ext cx="40233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1527048"/>
            <a:ext cx="64008" cy="475488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64608" y="150876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Cách làm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864608" y="1801368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Thu thập dữ liệu → đưa vào thuật toán → nhóm người giống nhau trên các biến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2176272"/>
            <a:ext cx="40233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3440" y="2286000"/>
            <a:ext cx="64008" cy="475488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64608" y="226771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Công cụ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864608" y="2560320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SPSS (không cần code), R/Python (linh hoạt), SAS (dữ liệu lớn), Tableau (trực quan)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63440" y="2935224"/>
            <a:ext cx="40233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63440" y="3044952"/>
            <a:ext cx="64008" cy="475488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64608" y="3026664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925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Bao nhiêu cụm?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864608" y="3319272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Thường 3–5 cụm: ít quá bỏ lỡ khác biệt, nhiều quá thì rối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63440" y="3694176"/>
            <a:ext cx="40233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63440" y="3803904"/>
            <a:ext cx="64008" cy="475488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64608" y="378561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Ứng dụng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4864608" y="4078224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Thông điệp, phát triển sản phẩm; kết hợp dữ liệu giá → gói ưu đãi riêng cho từng nhóm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  Chọn kỹ thuật định lượng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MaxDiff xếp hạng tin cậy danh sách dài bằng nhiều lựa chọn “quan trọng nhất / kém nhất”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46304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7 ± 2</a:t>
            </a:r>
            <a:endParaRPr lang="en-US" sz="3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Định luật Miller: trí nhớ làm việc chỉ giữ được 5–7 mục → câu hỏi xếp hạng không quá 7 lựa chọn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358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Mỗi câu chọn 1 nhất / 1 kém nhất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" y="3364992"/>
            <a:ext cx="128016" cy="128016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88920" y="336499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3101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Nghe rõ khi khám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" y="363016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88920" y="363016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5753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Phân loại âm thanh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" y="389534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8920" y="3895344"/>
            <a:ext cx="128016" cy="128016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8404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Đăng nhập một lần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" y="416052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416052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1056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Livestream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0" y="141732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0" y="141732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1874520"/>
            <a:ext cx="2606040" cy="228600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29000" y="14447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Cách hoạt động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83280" y="2221992"/>
            <a:ext cx="240487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Phần mềm lấy ngẫu nhiên vài mục từ danh sách dài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Người trả lời chọn quan trọng nhất &amp; kém nhất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Lặp lại 10–15 lần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Cộng lựa chọn tích cực/tiêu cực → bảng xếp hạng; chia theo phân khúc nếu đủ mẫu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0760" y="141732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141732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80760" y="1874520"/>
            <a:ext cx="2606040" cy="228600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14447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Ví dụ: ống nghe kỹ thuật số</a:t>
            </a:r>
            <a:endParaRPr lang="en-US" sz="14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Hơn 20 tính năng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72200" y="2221992"/>
            <a:ext cx="240487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Hữu ích nhất: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nhận diện, phân loại, nghe rõ để chẩn đoán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5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Kém nhất: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đăng nhập một lần, xuất dữ liệu thô, hỗ trợ giấy tờ, livestream — gây bất ngờ cho đội sản phẩm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5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i="1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MaxDiff cũng kiểm tra được thông điệp, vd. khác biệt giữa vùng DACH và Mỹ/Anh.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  Chọn kỹ thuật định lượng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Conjoint cho khách chọn giữa các gói sản phẩm để đo họ sẵn sàng đánh đổi điều gì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Bạn sẽ mua gói nào?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1261872" cy="141732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Thương hiệu 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$220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24231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Điều khiển trên dây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0" y="1691640"/>
            <a:ext cx="1261872" cy="141732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Thương hiệu 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20240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$180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920240" y="24231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Điều khiển ở mặt nghe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1691640"/>
            <a:ext cx="1261872" cy="141732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1691640"/>
            <a:ext cx="1261872" cy="1417320"/>
          </a:xfrm>
          <a:prstGeom prst="roundRect">
            <a:avLst>
              <a:gd name="adj" fmla="val 5797"/>
            </a:avLst>
          </a:prstGeom>
          <a:solidFill>
            <a:srgbClr val="FF5178">
              <a:alpha val="8000"/>
            </a:srgbClr>
          </a:solidFill>
          <a:ln w="25400">
            <a:solidFill>
              <a:srgbClr val="FF51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Thương hiệu 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0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$300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291840" y="24231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Điều khiển trên dây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1546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Minh họa; phần mềm chọn ngẫu nhiên một mức cho mỗi thuộc tính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4747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1. Thuộc tính &amp; mức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7033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Vd. thương hiệu, giá ($180–$300, 4 mức), thiết kế, AI, pin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514600" y="34747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2. Số tổ hợp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14600" y="37033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Nhân số mức của các thuộc tính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39776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3. Số gói mỗi câu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206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Thường 3 gói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514600" y="39776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4. Số câu hỏi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14600" y="4206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10–15 câu; dùng conjoint calculator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Hai thước đo cần đọc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754880" y="173736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1847088"/>
            <a:ext cx="64008" cy="92354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182880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Tầm quan trọng tương đối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956048" y="2121408"/>
            <a:ext cx="3639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Thuộc tính nào ảnh hưởng quyết định mua nhiều nhất. Ví dụ: thiết kế còn quan trọng hơn cả giá.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30175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3127248"/>
            <a:ext cx="64008" cy="1197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56048" y="310896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Part-worth utility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956048" y="3401568"/>
            <a:ext cx="3639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Mức độ thích từng mức trong thuộc tính: cao = thúc đẩy mua; 0 = không ảnh hưởng; âm = làm giảm ý định mua. Ví dụ: “điều khiển trên dây” = 3,9.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Phần mềm hỗ trợ: Alchemer, Qualtrics, Conjointly (SurveyMonkey không có conjoint).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  Chọn kỹ thuật định lượng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Ít người thích hơn nhưng thích mãnh liệt hơn: conjoint đo được sức nặng của sở thích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527048"/>
            <a:ext cx="64008" cy="1152144"/>
          </a:xfrm>
          <a:prstGeom prst="rect">
            <a:avLst/>
          </a:prstGeom>
          <a:solidFill>
            <a:srgbClr val="7A7480"/>
          </a:solidFill>
          <a:ln w="12700">
            <a:solidFill>
              <a:srgbClr val="7A74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150876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Câu hỏi khảo sát đơn giản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1801368"/>
            <a:ext cx="3639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Đa số không có ưu tiên; giữa hai thiết kế, điều khiển ở mặt nghe thắng.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→ Kết luận dễ sai: chọn thiết kế mặt nghe.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35808"/>
            <a:ext cx="64008" cy="124358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0175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Conjoint + mô phỏng thị trường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3310128"/>
            <a:ext cx="3639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Người thích điều khiển trên dây thích mạnh đến mức sẵn sàng trả thêm. Người thích mặt nghe thì không trả thêm.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417320"/>
            <a:ext cx="4023360" cy="2971800"/>
          </a:xfrm>
          <a:prstGeom prst="roundRect">
            <a:avLst>
              <a:gd name="adj" fmla="val 2462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600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94%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4846320" y="2560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người vẫn chọn ống nghe có điều khiển trên dây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324612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2461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ngay cả khi đắt hơn </a:t>
            </a:r>
            <a:pPr indent="0" marL="0">
              <a:buNone/>
            </a:pPr>
            <a:r>
              <a:rPr lang="en-US" sz="20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120 USD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  Chọn kỹ thuật định lượng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Van Westendorp tìm khoảng giá chấp nhận được cho sản phẩm mới bằng bốn câu hỏi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Ở mức giá nào sản phẩm…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Quá rẻ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đến mức nghi ngờ chất lượng?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148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Hời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là một món hời đáng mua?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606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Bắt đầu đắt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nhưng vẫn cân nhắc?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Quá đắt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2880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không thể cân nhắc?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675888"/>
            <a:ext cx="64008" cy="64922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65760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Ô nhập số tự do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" y="3950208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Không dùng thanh trượt hay khoảng giá: con số hiển thị sẽ làm lệch câu trả lời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141732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Kết quả ví dụ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0" y="3291840"/>
            <a:ext cx="3474720" cy="0"/>
          </a:xfrm>
          <a:prstGeom prst="line">
            <a:avLst/>
          </a:prstGeom>
          <a:noFill/>
          <a:ln w="12700">
            <a:solidFill>
              <a:srgbClr val="7A74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0" y="3246120"/>
            <a:ext cx="0" cy="91440"/>
          </a:xfrm>
          <a:prstGeom prst="line">
            <a:avLst/>
          </a:prstGeom>
          <a:noFill/>
          <a:ln w="12700">
            <a:solidFill>
              <a:srgbClr val="7A74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33649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$8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709920" y="3246120"/>
            <a:ext cx="0" cy="91440"/>
          </a:xfrm>
          <a:prstGeom prst="line">
            <a:avLst/>
          </a:prstGeom>
          <a:noFill/>
          <a:ln w="12700">
            <a:solidFill>
              <a:srgbClr val="7A74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35600" y="33649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$12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82080" y="3246120"/>
            <a:ext cx="0" cy="91440"/>
          </a:xfrm>
          <a:prstGeom prst="line">
            <a:avLst/>
          </a:prstGeom>
          <a:noFill/>
          <a:ln w="12700">
            <a:solidFill>
              <a:srgbClr val="7A74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07760" y="33649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$16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640320" y="3246120"/>
            <a:ext cx="0" cy="91440"/>
          </a:xfrm>
          <a:prstGeom prst="line">
            <a:avLst/>
          </a:prstGeom>
          <a:noFill/>
          <a:ln w="12700">
            <a:solidFill>
              <a:srgbClr val="7A74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66000" y="33649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$22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412480" y="3246120"/>
            <a:ext cx="0" cy="91440"/>
          </a:xfrm>
          <a:prstGeom prst="line">
            <a:avLst/>
          </a:prstGeom>
          <a:noFill/>
          <a:ln w="12700">
            <a:solidFill>
              <a:srgbClr val="7A74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38160" y="33649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$26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709920" y="2743200"/>
            <a:ext cx="1930400" cy="411480"/>
          </a:xfrm>
          <a:prstGeom prst="rect">
            <a:avLst/>
          </a:prstGeom>
          <a:solidFill>
            <a:srgbClr val="49B296">
              <a:alpha val="70000"/>
            </a:srgbClr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09920" y="2743200"/>
            <a:ext cx="193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Khoảng giá tối ưu $12 – $22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82080" y="2148840"/>
            <a:ext cx="0" cy="594360"/>
          </a:xfrm>
          <a:prstGeom prst="line">
            <a:avLst/>
          </a:prstGeom>
          <a:noFill/>
          <a:ln w="25400">
            <a:solidFill>
              <a:srgbClr val="FF5178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556768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Điểm giá tối ưu $16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46320" y="3703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Dùng khi ra mắt sản phẩm mới hoặc vào thị trường mới, cần tìm khoảng giá chấp nhận được.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  Chọn kỹ thuật định lượng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Gabor-Granger tinh chỉnh giá: giá thấp hơn có thể mang lại doanh thu cao hơn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371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Ứng dụng sức khỏe: % người sẵn lòng đăng ký theo giá tháng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1783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$5,99 / tháng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691640" y="1783080"/>
            <a:ext cx="2331720" cy="457200"/>
          </a:xfrm>
          <a:prstGeom prst="rect">
            <a:avLst/>
          </a:prstGeom>
          <a:solidFill>
            <a:srgbClr val="F1EEE3"/>
          </a:solidFill>
          <a:ln w="12700">
            <a:solidFill>
              <a:srgbClr val="F1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91640" y="1783080"/>
            <a:ext cx="1969008" cy="457200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3800" y="1783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38%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24231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$9,99 / tháng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691640" y="2423160"/>
            <a:ext cx="2331720" cy="457200"/>
          </a:xfrm>
          <a:prstGeom prst="rect">
            <a:avLst/>
          </a:prstGeom>
          <a:solidFill>
            <a:srgbClr val="F1EEE3"/>
          </a:solidFill>
          <a:ln w="12700">
            <a:solidFill>
              <a:srgbClr val="F1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91640" y="2423160"/>
            <a:ext cx="1088136" cy="457200"/>
          </a:xfrm>
          <a:prstGeom prst="rect">
            <a:avLst/>
          </a:prstGeom>
          <a:solidFill>
            <a:srgbClr val="7A7480"/>
          </a:solidFill>
          <a:ln w="12700">
            <a:solidFill>
              <a:srgbClr val="7A74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52928" y="2423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21%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0632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$27.312</a:t>
            </a:r>
            <a:endParaRPr lang="en-US" sz="2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doanh thu tiềm năng cao nhất trên mỗi 1.000 khách đạt ở mức $5,99. Lên $9,99 ít người mua hơn và tổng doanh thu thấp hơn.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93776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Cách hỏi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937760" y="1773936"/>
            <a:ext cx="384048" cy="384048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17373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Bắt đầu ở giá giữa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40680" y="19842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Vd. $14,99 (dải $3,99–$25,99, bước $2)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37760" y="2322576"/>
            <a:ext cx="384048" cy="384048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22860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Có → giá cao hơn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40680" y="25328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Vd. $22,99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37760" y="2871216"/>
            <a:ext cx="384048" cy="384048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40680" y="28346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Không → giá thấp hơn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40680" y="30815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Bước nhảy lớn trước, nhỏ dần sau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37760" y="3419856"/>
            <a:ext cx="384048" cy="384048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40680" y="33832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Tìm giá cao nhất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40680" y="36301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Mỗi người một mức → vẽ đường cầu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37760" y="4023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Dùng cho sản phẩm đã có trên thị trường, khi đã biết khoảng giá.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  Chọn kỹ thuật định lượng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Mục tiêu nghiên cứu quyết định kỹ thuật — và có thể kết hợp nhiều kỹ thuật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23774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Nếu mục tiêu là…</a:t>
                      </a:r>
                      <a:endParaRPr lang="en-US" sz="11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Dùng</a:t>
                      </a:r>
                      <a:endParaRPr lang="en-US" sz="11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17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Xếp hạng tính năng hoặc thông điệp theo mức khách coi trọng</a:t>
                      </a:r>
                      <a:endParaRPr lang="en-US" sz="11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MaxDiff</a:t>
                      </a:r>
                      <a:endParaRPr lang="en-US" sz="11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Định giá sản phẩm mới, chưa chắc khoảng giá</a:t>
                      </a:r>
                      <a:endParaRPr lang="en-US" sz="11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Van Westendorp</a:t>
                      </a:r>
                      <a:endParaRPr lang="en-US" sz="11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Tinh chỉnh giá sản phẩm đã có</a:t>
                      </a:r>
                      <a:endParaRPr lang="en-US" sz="11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Gabor-Granger</a:t>
                      </a:r>
                      <a:endParaRPr lang="en-US" sz="11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Tìm gói tính năng lý tưởng, đánh đổi tính năng – giá</a:t>
                      </a:r>
                      <a:endParaRPr lang="en-US" sz="11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Conjoint</a:t>
                      </a:r>
                      <a:endParaRPr lang="en-US" sz="11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Phân khúc theo hành vi, sở thích</a:t>
                      </a:r>
                      <a:endParaRPr lang="en-US" sz="11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Phân tích cụm</a:t>
                      </a:r>
                      <a:endParaRPr lang="en-US" sz="11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Đo hài lòng, phản hồi sản phẩm, xu hướng, nhận biết thương hiệu, nhân khẩu học</a:t>
                      </a:r>
                      <a:endParaRPr lang="en-US" sz="11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Khảo sát truyền thống</a:t>
                      </a:r>
                      <a:endParaRPr lang="en-US" sz="11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  Lập kế hoạch khảo sát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Cỡ mẫu phụ thuộc quy mô tổng thể, độ tin cậy và sai số chấp nhận được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527048"/>
            <a:ext cx="64008" cy="493776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150876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Quy mô tổng thể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180136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Không rõ thì chọn ≥ 20.000 — trên mức này cỡ mẫu gần như không đổi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194560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304288"/>
            <a:ext cx="64008" cy="493776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28600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Độ tin cậy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257860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Phổ biến 95%: chạy 100 lần, 95 lần cho cùng kết quả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081528"/>
            <a:ext cx="64008" cy="493776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06324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Sai số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" y="335584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Phổ biến ±5 điểm phần trăm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7947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Càng đông chưa chắc càng tốt: quá nhiều tốn thời gian, quá ít thì nhóm con không đủ tin cậy (vd. phụ huynh ở Florida trong mẫu 150 người).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thể 10.000 người, độ tin cậy 95% (Raosoft)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18288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Sai số ±5%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760720" y="1828800"/>
            <a:ext cx="2286000" cy="502920"/>
          </a:xfrm>
          <a:prstGeom prst="rect">
            <a:avLst/>
          </a:prstGeom>
          <a:solidFill>
            <a:srgbClr val="F1EEE3"/>
          </a:solidFill>
          <a:ln w="12700">
            <a:solidFill>
              <a:srgbClr val="F1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1828800"/>
            <a:ext cx="1762125" cy="502920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95997" y="18288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370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663440" y="2560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Sai số ±8%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760720" y="2560320"/>
            <a:ext cx="2286000" cy="502920"/>
          </a:xfrm>
          <a:prstGeom prst="rect">
            <a:avLst/>
          </a:prstGeom>
          <a:solidFill>
            <a:srgbClr val="F1EEE3"/>
          </a:solidFill>
          <a:ln w="12700">
            <a:solidFill>
              <a:srgbClr val="F1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60720" y="2560320"/>
            <a:ext cx="704850" cy="502920"/>
          </a:xfrm>
          <a:prstGeom prst="rect">
            <a:avLst/>
          </a:prstGeom>
          <a:solidFill>
            <a:srgbClr val="7A7480"/>
          </a:solidFill>
          <a:ln w="12700">
            <a:solidFill>
              <a:srgbClr val="7A74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8722" y="25603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148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663440" y="329184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3375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Chấp nhận sai số lớn hơn → cần ít người hơn (khoảng 60% ít hơn), nhưng độ chính xác giảm. Cân nhắc thêm hạn ngạch (quota) cho các nhóm con cần phân tích.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  Lập kế hoạch khảo sát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Câu hỏi khảo sát tốt thì ngắn, trung lập, một ý và dùng thang đo cân bằng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0175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Nguyên tắc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Tránh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1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Nên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B29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Trung lập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“Bạn yêu sản phẩm này đến mức nào?”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“Bạn đánh giá mức hài lòng thế nào?”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Không dùng phủ định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“Bạn có không đồng ý rằng sản phẩm không hiệu quả?”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Hỏi trực tiếp, một chiều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Một ý mỗi câu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“Đánh giá dịch vụ khách hàng và trải nghiệm thanh toán”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Tách thành hai câu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Thang đo cân bằng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Nhiều lựa chọn tích cực hơn tiêu cực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Đủ tích cực, trung lập, tiêu cực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Nhãn bằng chữ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“Trên thang 1–5…”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“Rất quan trọng … Không quan trọng”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Giải thích thuật ngữ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Viết tắt, biệt ngữ ngành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Giải thích, ví dụ, hình ảnh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Luôn chạy thử (pretest) khảo sát để bắt câu hỏi gây khó hiểu trước khi phát hành.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  Lập kế hoạch khảo sát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Thiết kế khảo sát như một cuộc trò chuyện: dễ trước, nhân khẩu học sau cùng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63040"/>
            <a:ext cx="2130552" cy="594360"/>
          </a:xfrm>
          <a:prstGeom prst="homePlate">
            <a:avLst/>
          </a:prstGeom>
          <a:solidFill>
            <a:srgbClr val="FF5178"/>
          </a:solidFill>
          <a:ln w="19050">
            <a:solidFill>
              <a:srgbClr val="FBFA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463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Sàng lọc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Câu loại người không phù hợp ngay từ đầu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51176" y="1463040"/>
            <a:ext cx="2130552" cy="594360"/>
          </a:xfrm>
          <a:prstGeom prst="chevron">
            <a:avLst/>
          </a:prstGeom>
          <a:solidFill>
            <a:srgbClr val="FF9259"/>
          </a:solidFill>
          <a:ln w="19050">
            <a:solidFill>
              <a:srgbClr val="FBFA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71216" y="1463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Khởi động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642616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Câu dễ, không gây áp lực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45152" y="1463040"/>
            <a:ext cx="2130552" cy="594360"/>
          </a:xfrm>
          <a:prstGeom prst="chevron">
            <a:avLst/>
          </a:prstGeom>
          <a:solidFill>
            <a:srgbClr val="49B296"/>
          </a:solidFill>
          <a:ln w="19050">
            <a:solidFill>
              <a:srgbClr val="FBFA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1463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Nội dung chính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736592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Nhóm câu cùng chủ đề; skip logic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39128" y="1463040"/>
            <a:ext cx="2130552" cy="594360"/>
          </a:xfrm>
          <a:prstGeom prst="chevron">
            <a:avLst/>
          </a:prstGeom>
          <a:solidFill>
            <a:srgbClr val="09A1E5"/>
          </a:solidFill>
          <a:ln w="19050">
            <a:solidFill>
              <a:srgbClr val="FBFA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9168" y="1463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Nhân khẩu học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30568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Luôn đặt ở cuối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944368"/>
            <a:ext cx="64008" cy="69494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292608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Hướng dẫn rõ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Trước dạng câu hỏi lạ như Van Westendorp hay conjoint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28346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46120" y="2944368"/>
            <a:ext cx="64008" cy="69494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292608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Câu hỏi ma trận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47288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Gom các câu dùng chung thang đo để tiết kiệm thời gian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28346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2944368"/>
            <a:ext cx="64008" cy="69494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292608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Đa dạng dạng câu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36208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Lựa chọn, Likert, ma trận — giữ người trả lời tập trung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9319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23B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Tối đa 2 câu hỏi mở mỗi khảo sát.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Cần nhiều hơn? Hãy làm một vòng định tính trước.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  Lập kế hoạch khảo sát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Năm loại thiên lệch phổ biến và cách giảm ngay từ khâu thiết kế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31089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Thiên lệch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Biểu hiện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A1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Cách giảm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B29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Câu hỏi dẫn dắt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“Bạn thích điều gì ở sản phẩm mới?” — mặc định là có thích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“Trải nghiệm của bạn với sản phẩm mới thế nào?”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Phản hồi (response)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Thang đo nhiều lựa chọn tích cực hơn tiêu cực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Cân bằng số lựa chọn tích cực và tiêu cực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Chọn mẫu (sampling)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Khảo sát người dùng công nghệ nhưng chỉ hỏi người dùng iPhone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Mẫu đa dạng, đại diện; dùng hạn ngạch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Mong muốn xã hội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Trả lời theo cách “được chấp nhận”, nhất là chủ đề nhạy cảm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Nhấn mạnh ẩn danh; hỏi gián tiếp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Thứ tự câu hỏi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Hỏi hài lòng chung trước làm lệch đánh giá từng tính năng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Đi từ rộng, không dẫn dắt → cụ thể</a:t>
                      </a:r>
                      <a:endParaRPr lang="en-US" sz="10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Hỏi gián tiếp: thay vì “Bạn từng trễ hạn thanh toán chưa?” → “Theo bạn, các bà mẹ có con nhỏ trễ hạn thanh toán có phổ biến không?”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  Lập kế hoạch khảo sát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Đừng né chủ đề nhạy cảm — hãy hỏi một cách thấu cảm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Chính trị, tài chính, sức khỏe, tôn giáo, chủng tộc, bản dạng giới, cách nuôi dạy con…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73736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73736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94560"/>
            <a:ext cx="4023360" cy="228600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176479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Rủi ro với dữ liệu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2542032"/>
            <a:ext cx="382219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Khai quá (tập thể dục, từ thiện) hoặc khai thiếu (hành vi gây xấu hổ)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Bỏ câu, trả lời sai, “satisficing”: chọn đáp án đầu tiên hay trung lập hết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Bỏ khảo sát giữa chừng → tăng chi phí tuyển mẫu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Hiệu ứng mồi: câu chính trị ở đầu làm lệch câu về sản phẩm ở sau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73736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73736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194560"/>
            <a:ext cx="4023360" cy="228600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76479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Cách làm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2542032"/>
            <a:ext cx="382219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Báo trước sẽ có câu hỏi nhạy cảm; nhắc khảo sát ẩn danh, khuyến khích trả lời thật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Làm định tính trước để phát hiện điều nhạy cảm và dùng từ ngữ của chính người trả lời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Chạy thử để chỉnh từ ngữ và hướng dẫn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  Lập kế hoạch khảo sát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Chọn công cụ theo độ phức tạp của khảo sát, nguồn mẫu và ngân sách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Công cụ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Phù hợp cho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A1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Chi phí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A1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Google Forms, SurveyMonkey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Khảo sát đơn giản: trắc nghiệm, vài câu mở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Rẻ, dễ dùng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Alchemer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Kỹ thuật nâng cao; chuyển khảo sát sang đơn vị cung cấp mẫu khá suôn sẻ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Trung bình, không hợp đồng dài hạn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Qualtrics, Conjoint.ly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MaxDiff, conjoint, Van Westendorp, Gabor-Granger; kết hợp nhiều kỹ thuật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Cao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37947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794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23B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Không tự tìm được người phù hợp?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Hợp tác với đơn vị cung cấp panel và hỏi trước công cụ nào tích hợp tốt với hệ thống của họ.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  Phân tích dữ liệu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Làm sạch và gia quyền dữ liệu trước khi phân tích, nếu không con số sẽ đánh lừa bạn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527048"/>
            <a:ext cx="64008" cy="64922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15087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Mâu thuẫn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1801368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25 tuổi nhưng 30 năm kinh nghiệm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14173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1527048"/>
            <a:ext cx="64008" cy="64922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15087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925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Giá trị ngoại lai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47288" y="1801368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Đa số trả $20–50, một người trả $1.000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4173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527048"/>
            <a:ext cx="64008" cy="64922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5087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Trả lời một hàng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36208" y="1801368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Chọn cùng đáp án suốt; làm quá nhanh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3774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487168"/>
            <a:ext cx="64008" cy="64922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246888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Thiếu dữ liệu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" y="2761488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Ít thì bỏ thủ công; nhiều thì dùng phương pháp điền (imputation)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23774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46120" y="2487168"/>
            <a:ext cx="64008" cy="64922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246888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Định dạng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47288" y="2761488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Đồng nhất khi gộp nhiều nguồn, nhiều panel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23774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1EEE3"/>
          </a:solidFill>
          <a:ln w="12700">
            <a:solidFill>
              <a:srgbClr val="F1EE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2377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Phần lớn công cụ, kể cả SurveyMonkey, tự gắn cờ hoặc loại các lỗi này.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4290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4290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23B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Gia quyền (weighting):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Khảo sát y tế tại Mỹ chủ động lấy mẫu dư hai nhóm thiểu số để đủ ý nghĩa thống kê, rồi gia quyền theo dữ liệu điều tra dân số và Gallup để suy rộng cho toàn nước Mỹ.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  Phân tích dữ liệu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Biến thống kê mô tả thành câu chuyện bằng kịch bản năm bước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1517904" cy="233172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210312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Tiêu đề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2468880"/>
            <a:ext cx="1243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“Hài lòng giảm 15% do giao hàng chậm”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35124" y="1417320"/>
            <a:ext cx="1517904" cy="233172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72284" y="1554480"/>
            <a:ext cx="457200" cy="457200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7228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272284" y="210312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925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Bối cảnh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72284" y="2468880"/>
            <a:ext cx="1243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“70% hài lòng; phần lớn 30% còn lại phàn nàn về giao hàng”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13048" y="1417320"/>
            <a:ext cx="1517904" cy="233172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50208" y="1554480"/>
            <a:ext cx="457200" cy="457200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5020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950208" y="210312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Cụ thể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50208" y="2468880"/>
            <a:ext cx="1243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“Khách dưới 35 tuổi không hài lòng gấp đôi nhóm lớn tuổi”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90972" y="1417320"/>
            <a:ext cx="1517904" cy="233172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28132" y="1554480"/>
            <a:ext cx="457200" cy="45720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813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628132" y="210312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Tác động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28132" y="2468880"/>
            <a:ext cx="1243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“Sửa giao hàng có thể giảm 10% khách rời bỏ”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68896" y="1417320"/>
            <a:ext cx="1517904" cy="233172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06056" y="1554480"/>
            <a:ext cx="457200" cy="45720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060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306056" y="210312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Hành động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06056" y="2468880"/>
            <a:ext cx="1243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“Thêm kho vùng ở thị trường chính; báo giao hàng qua SMS”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840480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950208"/>
            <a:ext cx="64008" cy="402336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393192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Ít mà chất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58368" y="4224528"/>
            <a:ext cx="2313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" dirty="0"/>
          </a:p>
        </p:txBody>
      </p:sp>
      <p:sp>
        <p:nvSpPr>
          <p:cNvPr id="42" name="Shape 40"/>
          <p:cNvSpPr/>
          <p:nvPr/>
        </p:nvSpPr>
        <p:spPr>
          <a:xfrm>
            <a:off x="3246120" y="3840480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46120" y="3950208"/>
            <a:ext cx="64008" cy="402336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47288" y="393192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Ngôn ngữ đời thường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447288" y="4224528"/>
            <a:ext cx="2313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" dirty="0"/>
          </a:p>
        </p:txBody>
      </p:sp>
      <p:sp>
        <p:nvSpPr>
          <p:cNvPr id="46" name="Shape 44"/>
          <p:cNvSpPr/>
          <p:nvPr/>
        </p:nvSpPr>
        <p:spPr>
          <a:xfrm>
            <a:off x="6035040" y="3840480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35040" y="3950208"/>
            <a:ext cx="64008" cy="402336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36208" y="393192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Tìm tương phản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236208" y="4224528"/>
            <a:ext cx="2313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" dirty="0"/>
          </a:p>
        </p:txBody>
      </p:sp>
      <p:sp>
        <p:nvSpPr>
          <p:cNvPr id="50" name="Text 48"/>
          <p:cNvSpPr/>
          <p:nvPr/>
        </p:nvSpPr>
        <p:spPr>
          <a:xfrm>
            <a:off x="658368" y="4133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Chỉ giữ biểu đồ phục vụ insight chính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447288" y="4133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Nói “1 trên 3” thay vì “33%”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36208" y="4133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Nhóm này thích, nhóm kia thờ ơ — insight nằm ở đó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  Phân tích dữ liệu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Mã hóa câu trả lời mở theo năm bước — đừng tin vào word cloud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08176"/>
            <a:ext cx="438912" cy="438912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08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137160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Đọc mẫu ngẫu nhiên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137160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20–30 câu trả lời, ghi lại chủ đề lặp lại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011680"/>
            <a:ext cx="438912" cy="438912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197510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Tinh chỉnh khung mã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197510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Đọc thêm khoảng 20 câu; mã rõ ràng, đầy đủ, không gộp hai ý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615184"/>
            <a:ext cx="438912" cy="438912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15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257860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Gắn mã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34640" y="257860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Bảng tính: câu trả lời theo hàng, mã theo cột, đánh 0/1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18688"/>
            <a:ext cx="438912" cy="438912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18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182112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hợp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34640" y="318211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Đếm tần suất từng chủ đề; vẽ biểu đồ nếu cần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822192"/>
            <a:ext cx="438912" cy="438912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822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51560" y="3785616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Chọn trích dẫn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834640" y="378561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Lời người trả lời giúp con số có hồn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40680" y="1417320"/>
            <a:ext cx="3246120" cy="1463040"/>
          </a:xfrm>
          <a:prstGeom prst="roundRect">
            <a:avLst>
              <a:gd name="adj" fmla="val 5000"/>
            </a:avLst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14630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26%</a:t>
            </a:r>
            <a:endParaRPr lang="en-US" sz="3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người mong muốn kết quả xét nghiệm tại nhà “chính xác, đáng tin cậy” — ví dụ chủ đề nổi bật từ câu hỏi mở</a:t>
            </a:r>
            <a:endParaRPr lang="en-US" sz="3000" dirty="0"/>
          </a:p>
        </p:txBody>
      </p:sp>
      <p:sp>
        <p:nvSpPr>
          <p:cNvPr id="35" name="Shape 33"/>
          <p:cNvSpPr/>
          <p:nvPr/>
        </p:nvSpPr>
        <p:spPr>
          <a:xfrm>
            <a:off x="5440680" y="301752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40680" y="3127248"/>
            <a:ext cx="64008" cy="115214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41848" y="310896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Vì sao không dùng word cloud?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41848" y="3401568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Người ta hiếm khi nói đúng từ “dịch vụ khách hàng” khi kể về trải nghiệm tệ ở cửa hàng. AI cũng chưa hiểu được ngữ cảnh này.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  Phân tích dữ liệu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Suy luận biến câu chuyện dữ liệu thành khuyến nghị kinh doanh cụ thể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1EEE3"/>
          </a:solidFill>
          <a:ln w="12700">
            <a:solidFill>
              <a:srgbClr val="F1EE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4173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Ví dụ: </a:t>
            </a:r>
            <a:pPr indent="0" marL="0">
              <a:buNone/>
            </a:pPr>
            <a:r>
              <a:rPr lang="en-US" sz="110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Phụ huynh có con dưới 18 tuổi rất thích tính năng lên lịch, người không có con thì thờ ơ → tập trung marketing cho phụ huynh, thêm tùy biến cho nhóm còn lại, hay chuyển sang nhóm sinh lời hơn?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1517904" cy="2103120"/>
          </a:xfrm>
          <a:prstGeom prst="roundRect">
            <a:avLst>
              <a:gd name="adj" fmla="val 4819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44144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Bám mục tiêu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3017520"/>
            <a:ext cx="12984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Rời bỏ tăng 20% vì tính năng không có giá trị → định vị lại hoặc bỏ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35124" y="2331720"/>
            <a:ext cx="1517904" cy="2103120"/>
          </a:xfrm>
          <a:prstGeom prst="roundRect">
            <a:avLst>
              <a:gd name="adj" fmla="val 4819"/>
            </a:avLst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4852" y="244144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Hàm ý kinh doanh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244852" y="3017520"/>
            <a:ext cx="12984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35% than chờ tổng đài lâu → thêm nhân viên hoặc chatbot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13048" y="2331720"/>
            <a:ext cx="1517904" cy="2103120"/>
          </a:xfrm>
          <a:prstGeom prst="roundRect">
            <a:avLst>
              <a:gd name="adj" fmla="val 4819"/>
            </a:avLst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22776" y="244144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Mỗi nhóm một giải pháp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22776" y="3017520"/>
            <a:ext cx="12984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Mô phỏng tác động bằng giá trị vòng đời khách hàng (CLV)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90972" y="2331720"/>
            <a:ext cx="1517904" cy="2103120"/>
          </a:xfrm>
          <a:prstGeom prst="roundRect">
            <a:avLst>
              <a:gd name="adj" fmla="val 4819"/>
            </a:avLst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00700" y="244144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Học từ ngành khác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00700" y="3017520"/>
            <a:ext cx="12984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Email cá nhân hóa của bán lẻ gợi ý cho chăm sóc bệnh nhân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68896" y="2331720"/>
            <a:ext cx="1517904" cy="2103120"/>
          </a:xfrm>
          <a:prstGeom prst="roundRect">
            <a:avLst>
              <a:gd name="adj" fmla="val 4819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78624" y="244144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Ưu tiên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278624" y="3017520"/>
            <a:ext cx="12984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10 điểm cần cải thiện nhưng chỉ 2–3 điểm tạo đột phá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  Báo cáo &amp; trực quan hóa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Hình ảnh rõ ràng, ít mà đúng trọng tâm giúp insight dẫn tới hành động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Nghiên cứu định lượng trong Marketing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925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393192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25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Ví dụ chú thích (call-out)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19202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Ít nhất 1 cách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83080" y="1920240"/>
            <a:ext cx="1783080" cy="384048"/>
          </a:xfrm>
          <a:prstGeom prst="rect">
            <a:avLst/>
          </a:prstGeom>
          <a:solidFill>
            <a:srgbClr val="F1EEE3"/>
          </a:solidFill>
          <a:ln w="12700">
            <a:solidFill>
              <a:srgbClr val="F1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1920240"/>
            <a:ext cx="1479956" cy="384048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6188" y="19202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83%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24688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Không cách nào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83080" y="2468880"/>
            <a:ext cx="1783080" cy="384048"/>
          </a:xfrm>
          <a:prstGeom prst="rect">
            <a:avLst/>
          </a:prstGeom>
          <a:solidFill>
            <a:srgbClr val="F1EEE3"/>
          </a:solidFill>
          <a:ln w="12700">
            <a:solidFill>
              <a:srgbClr val="F1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2468880"/>
            <a:ext cx="303124" cy="384048"/>
          </a:xfrm>
          <a:prstGeom prst="rect">
            <a:avLst/>
          </a:prstGeom>
          <a:solidFill>
            <a:srgbClr val="7A7480"/>
          </a:solidFill>
          <a:ln w="12700">
            <a:solidFill>
              <a:srgbClr val="7A74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59356" y="24688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17%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0175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06324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17% chọn “không điều nào kể trên” nghĩa là 83% người trưởng thành ở Mỹ thấy e ngại hệ thống y tế theo ít nhất một cách.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141732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508760"/>
            <a:ext cx="64008" cy="365760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146304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Ít là nhiều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17099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Chỉ giữ hình ảnh phục vụ thông điệp chính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020824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112264"/>
            <a:ext cx="64008" cy="365760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206654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Rõ ràng là trên hết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64608" y="23134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Nhãn gọn, trục đúng tỷ lệ, không quá nhiều màu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62432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715768"/>
            <a:ext cx="64008" cy="365760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267004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Làm nổi vùng trọng tâm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64608" y="29169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Làm mờ phần không bàn tới; mũi tên, chú thích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3227832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319272"/>
            <a:ext cx="64008" cy="365760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32735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Màu có chủ đích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64608" y="35204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Một bộ màu thống nhất, tránh cầu vồng mỗi slide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3831336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922776"/>
            <a:ext cx="64008" cy="365760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387705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25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Tiêu đề → hình → hành động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64608" y="41239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Mỗi hình nằm trong mạch câu chuyện lớn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962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822960"/>
            <a:ext cx="2194560" cy="2194560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1188720"/>
            <a:ext cx="731520" cy="73152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23B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Không phải con số tạo ra thay đổi, mà là điều bạn làm với chúng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7373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23B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Bắt đầu từ mục tiêu cụ thể: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nó quyết định câu hỏi, kỹ thuật và cách đọc dữ liệu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41448"/>
            <a:ext cx="411480" cy="41148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41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39572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23B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Chọn đúng kỹ thuật: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MaxDiff ưu tiên, conjoint đánh đổi, Van Westendorp/Gabor-Granger định giá, cụm phân khúc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99816"/>
            <a:ext cx="411480" cy="41148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99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05409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23B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Thiết kế chặt chẽ: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cỡ mẫu phù hợp, câu hỏi trung lập, giảm thiên lệch, thấu cảm với chủ đề nhạy cảm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58184"/>
            <a:ext cx="411480" cy="41148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58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71246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23B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Kể chuyện để hành động: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làm sạch dữ liệu, dựng kịch bản, mã hóa câu mở, khuyến nghị ưu tiên, hình ảnh rõ ràng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9D3E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Câu hỏi và thảo luận?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Nghiên cứu định lượng trong Marketing</dc:title>
  <dc:subject>PptxGenJS Presentation</dc:subject>
  <dc:creator>PptxGenJS</dc:creator>
  <cp:lastModifiedBy>PptxGenJS</cp:lastModifiedBy>
  <cp:revision>1</cp:revision>
  <dcterms:created xsi:type="dcterms:W3CDTF">2026-10-01T16:45:11Z</dcterms:created>
  <dcterms:modified xsi:type="dcterms:W3CDTF">2026-10-01T16:45:11Z</dcterms:modified>
</cp:coreProperties>
</file>