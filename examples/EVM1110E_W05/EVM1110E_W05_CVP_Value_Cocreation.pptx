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Buổi 5 — Nova xây đề xuất giá trị cho An Phát và cùng An Phát tạo giá trị.
Alt-text: sơ đồ cây cầu — bờ trái Future state, bờ phải Offering 7Ps, mặt cầu Value appraisal; bên dưới bốn chấm của bốn thực hành đồng kiến tạo.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 — Khởi động (5 phút). Chiếu trang đầu hồ sơ năng lực Nova (giả định).
Giơ tay: “Đọc xong, chị Hạnh biết An Phát sẽ được gì không?”
Chốt: “Đó là nói về Nova. Đề xuất giá trị phải nói về An Phát — và tốt nhất là nói bằng con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Anderson, Narus &amp; van Rossum (2006): không có sự thống nhất CVP là gì; phần lớn CVP tuyên bố tiết kiệm và lợi ích mà không chứng minh, nên khách hàng coi là “marketing puffery”.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ba kiểu CVP mới đọc qua nguồn thứ cấp]
Resonating focus: 1–2 điểm khác biệt tạo giá trị lớn nhất cho khách hàng — cần hiểu sâu khách hàng (Buổi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nghĩa McDonald: CVP là chuyển các đề xuất của nhà cung cấp thành giá trị tiền, chứng minh đóng góp vào lợi nhuận của khách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“Future state là của An Phát. Offering là của Nova. Value appraisal là cây cầu — và là câu hội đồng sẽ hỏi ở Buổi 14.”
Alt-text: hai bờ nối bằng cầu — bờ trái Future state (của khách hàng), bờ phải Offering 7Ps (của agency), mặt cầu Value appraisal.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7Ps theo Booms &amp; Bitner (1981) — marketing dịch vụ. Agency sự kiện là dịch vụ nên People, Process, Physical evidence đặc biệt quan trọng.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state nối Buổi 3: tín dụng bị giới hạn → An Phát cần giữ khách doanh nghiệp VIP bằng giá trị ngoài lãi suất.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Nối Buổi 14 (bảo vệ kế hoạch): hội đồng sẽ hỏi “An Phát được bao nhiêu, đo thế nào?”. Không có value appraisal thì CVP chỉ là lời hứa.
→ Chuyển sang S3 —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 — Thực hành 1 (20 phút): 4 · 12 · 4.
GV hỏi: “Future state này là của An Phát hay của Nova?”
Nếu Value appraisal = “khách hài lòng” → gợi: tỷ lệ CEO đến trực tiếp, số cuộc hẹn sau sự kiện.
Nếu 7Ps bỏ trống People/Process → “Dịch vụ của Nova là con người và quy trình — An Phát thấy gì ở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lao 8 phút. Ghi giờ quay lại lên slide/bảng.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nguồn là định nghĩa làm việc của môn — nói rõ với lớp. Nguồn gần nhất tìm được: McDonald (E04) — tăng giá trị, giảm chi phí, tránh chi phí, đóng góp cảm xúc — tương ứng một phần với top-line và bottom-line (nhận định).
Alt-text: năm biểu tượng tròn, mỗi biểu tượng một nguồn giá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Top-line: khách DN gắn bó hơn → giao dịch với An Phát tăng (cấp 4 ROI — Buổi 8).
Bottom-line: gộp sự kiện cả năm, đàm phán nhà cung cấp (Buổi 7,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Chiếu suốt S6 — các nhóm gắn nguồn giá trị chính cho từng bước đồng kiến tạo.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đi sâu an toàn đám đông — ngoài phạm vi buổi này.
Với ngân hàng, bảo vệ dữ liệu khách mời là giá trị HSSEQ rõ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“Nguồn nào agency sự kiện hay quên nhất?” — Gợi ý: advisory.
Nova làm sự kiện cho nhiều ngân hàng, nhiều ngành → có insight về khách VIP mà An Phát không có.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VPBank dành quyền mua vé sớm concert G-DRAGON cho chủ thẻ — ngân hàng tạo giá trị cho khách của mình qua một sự kiện. Tương tự; không phải quan hệ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Nova không thiết kế cho An Phát mà cùng An Phát. Hiểu lầm hay gặp: mọi bước chỉ Nova làm, An Phát “duyệt”.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Chiếu suốt S6. Định nghĩa là nguyên văn Marcos-Cuevas et al. (2016).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Linking (huy động kết nối): co-diagnosis, co-ideation, co-evaluation. Materializing (tạo ra sản phẩm): co-design, co-testing, co-launching. Institutionalizing: embedding — xây quy tắc, chuẩn mực để đồng kiến tạo thành cách làm việc.
Cơ chế chung: “sustained purposeful engagement”.
Alt-text: sơ đồ ba tầng chồng lên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Blog Cranfield (Marcos): điều kiện đầu tiên là alignment of purpose — hai bên cùng mục tiêu. Đồng kiến tạo tốn công, nên dành cho Key Account (nối Buổi 2).
Ví dụ thật: Techcombank từ nhà tài trợ trở thành đồng đầu tư — đồng kiến tạo ở mức chia sẻ rủi ro – lợi ích.
→ Chuyển sang S6 —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S6 — Thực hành 2 (30 phút): 3 · 13 · 8 · 6. Chỉ slide bốn định nghĩa và slide năm nguồn.
GV hỏi: “Co-diagnosis dùng thông tin gì của An Phát?”
Nếu mọi bước chỉ Nova làm → “Ở đâu An Phát cùng làm?”
Nếu mời khách VIP khảo sát mà không nói đến đồng ý → “Dữ liệu khách của ngân hàng — ai đồng ý, bảo vệ thế nào?” (HSSEQ)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S7 — Tổng hợp (3 phút).
Liên hệ SMP: đây là phần C. Value Propositions (Buổi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S8 — cá nhân, không chấm điểm.
Cần xem: (a) CVP nói về giá trị cho khách hàng, có 1–2 điểm trọng tâm; (b) SV nhận ra advisory hoặc customer’s customer.
Câu nối Buổi 6: “Giá trị cho khách hàng phải đi cùng giá trị cho agency. Buổi sau: khách hàng này đáng bao nhiêu với Nova (CLV), và phục vụ họ tốn bao nhiêu (cost-to-serve)?”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phụ lục — không chiếu khi dạy; để tra cứu mã nguồn ghi ở chân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7223760" y="1371600"/>
            <a:ext cx="4389120" cy="987552"/>
          </a:xfrm>
          <a:prstGeom prst="roundRect">
            <a:avLst>
              <a:gd name="adj" fmla="val 7407"/>
            </a:avLst>
          </a:prstGeom>
          <a:solidFill>
            <a:srgbClr val="FFD23B"/>
          </a:solidFill>
          <a:ln w="12700">
            <a:solidFill>
              <a:srgbClr val="FFD23B"/>
            </a:solidFill>
            <a:prstDash val="solid"/>
          </a:ln>
        </p:spPr>
      </p:sp>
      <p:sp>
        <p:nvSpPr>
          <p:cNvPr id="3" name="Text 1"/>
          <p:cNvSpPr txBox="1"/>
          <p:nvPr/>
        </p:nvSpPr>
        <p:spPr>
          <a:xfrm>
            <a:off x="7406640" y="1371600"/>
            <a:ext cx="4023360" cy="987552"/>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Value appraisal</a:t>
            </a:r>
            <a:endParaRPr lang="en-US" sz="1600" dirty="0"/>
          </a:p>
        </p:txBody>
      </p:sp>
      <p:sp>
        <p:nvSpPr>
          <p:cNvPr id="4" name="Shape 2"/>
          <p:cNvSpPr/>
          <p:nvPr/>
        </p:nvSpPr>
        <p:spPr>
          <a:xfrm>
            <a:off x="7223760" y="2468880"/>
            <a:ext cx="1580083" cy="2194560"/>
          </a:xfrm>
          <a:prstGeom prst="roundRect">
            <a:avLst>
              <a:gd name="adj" fmla="val 6944"/>
            </a:avLst>
          </a:prstGeom>
          <a:solidFill>
            <a:srgbClr val="DDF1FB"/>
          </a:solidFill>
          <a:ln w="19050">
            <a:solidFill>
              <a:srgbClr val="09A1E5"/>
            </a:solidFill>
            <a:prstDash val="solid"/>
          </a:ln>
        </p:spPr>
      </p:sp>
      <p:sp>
        <p:nvSpPr>
          <p:cNvPr id="5" name="Text 3"/>
          <p:cNvSpPr txBox="1"/>
          <p:nvPr/>
        </p:nvSpPr>
        <p:spPr>
          <a:xfrm>
            <a:off x="7360920" y="2468880"/>
            <a:ext cx="1305763" cy="219456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Future state</a:t>
            </a:r>
            <a:endParaRPr lang="en-US" sz="1600" dirty="0"/>
          </a:p>
          <a:p>
            <a:pPr algn="ctr" indent="0" marL="0">
              <a:buNone/>
            </a:pPr>
            <a:r>
              <a:rPr lang="en-US" sz="1300" dirty="0">
                <a:solidFill>
                  <a:srgbClr val="2A2238"/>
                </a:solidFill>
                <a:latin typeface="Alexandria" pitchFamily="34" charset="0"/>
                <a:ea typeface="Alexandria" pitchFamily="34" charset="-122"/>
                <a:cs typeface="Alexandria" pitchFamily="34" charset="-120"/>
              </a:rPr>
              <a:t>của khách hàng</a:t>
            </a:r>
            <a:endParaRPr lang="en-US" sz="1600" dirty="0"/>
          </a:p>
        </p:txBody>
      </p:sp>
      <p:sp>
        <p:nvSpPr>
          <p:cNvPr id="6" name="Shape 4"/>
          <p:cNvSpPr/>
          <p:nvPr/>
        </p:nvSpPr>
        <p:spPr>
          <a:xfrm>
            <a:off x="10032797" y="2468880"/>
            <a:ext cx="1580083" cy="2194560"/>
          </a:xfrm>
          <a:prstGeom prst="roundRect">
            <a:avLst>
              <a:gd name="adj" fmla="val 6944"/>
            </a:avLst>
          </a:prstGeom>
          <a:solidFill>
            <a:srgbClr val="F1E1EE"/>
          </a:solidFill>
          <a:ln w="19050">
            <a:solidFill>
              <a:srgbClr val="962B7C"/>
            </a:solidFill>
            <a:prstDash val="solid"/>
          </a:ln>
        </p:spPr>
      </p:sp>
      <p:sp>
        <p:nvSpPr>
          <p:cNvPr id="7" name="Text 5"/>
          <p:cNvSpPr txBox="1"/>
          <p:nvPr/>
        </p:nvSpPr>
        <p:spPr>
          <a:xfrm>
            <a:off x="10169957" y="2468880"/>
            <a:ext cx="1305763" cy="219456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Offering · 7Ps</a:t>
            </a:r>
            <a:endParaRPr lang="en-US" sz="1600" dirty="0"/>
          </a:p>
          <a:p>
            <a:pPr algn="ctr" indent="0" marL="0">
              <a:buNone/>
            </a:pPr>
            <a:r>
              <a:rPr lang="en-US" sz="1300" dirty="0">
                <a:solidFill>
                  <a:srgbClr val="2A2238"/>
                </a:solidFill>
                <a:latin typeface="Alexandria" pitchFamily="34" charset="0"/>
                <a:ea typeface="Alexandria" pitchFamily="34" charset="-122"/>
                <a:cs typeface="Alexandria" pitchFamily="34" charset="-120"/>
              </a:rPr>
              <a:t>của agency</a:t>
            </a:r>
            <a:endParaRPr lang="en-US" sz="1600" dirty="0"/>
          </a:p>
        </p:txBody>
      </p:sp>
      <p:sp>
        <p:nvSpPr>
          <p:cNvPr id="8" name="Shape 6"/>
          <p:cNvSpPr/>
          <p:nvPr/>
        </p:nvSpPr>
        <p:spPr>
          <a:xfrm>
            <a:off x="8138160" y="5120640"/>
            <a:ext cx="457200" cy="457200"/>
          </a:xfrm>
          <a:prstGeom prst="ellipse">
            <a:avLst/>
          </a:prstGeom>
          <a:solidFill>
            <a:srgbClr val="49B296"/>
          </a:solidFill>
          <a:ln w="12700">
            <a:solidFill>
              <a:srgbClr val="49B296"/>
            </a:solidFill>
            <a:prstDash val="solid"/>
          </a:ln>
        </p:spPr>
      </p:sp>
      <p:sp>
        <p:nvSpPr>
          <p:cNvPr id="9" name="Shape 7"/>
          <p:cNvSpPr/>
          <p:nvPr/>
        </p:nvSpPr>
        <p:spPr>
          <a:xfrm>
            <a:off x="8823960" y="5120640"/>
            <a:ext cx="457200" cy="457200"/>
          </a:xfrm>
          <a:prstGeom prst="ellipse">
            <a:avLst/>
          </a:prstGeom>
          <a:solidFill>
            <a:srgbClr val="FF9259"/>
          </a:solidFill>
          <a:ln w="12700">
            <a:solidFill>
              <a:srgbClr val="FF9259"/>
            </a:solidFill>
            <a:prstDash val="solid"/>
          </a:ln>
        </p:spPr>
      </p:sp>
      <p:sp>
        <p:nvSpPr>
          <p:cNvPr id="10" name="Shape 8"/>
          <p:cNvSpPr/>
          <p:nvPr/>
        </p:nvSpPr>
        <p:spPr>
          <a:xfrm>
            <a:off x="9509760" y="5120640"/>
            <a:ext cx="457200" cy="457200"/>
          </a:xfrm>
          <a:prstGeom prst="ellipse">
            <a:avLst/>
          </a:prstGeom>
          <a:solidFill>
            <a:srgbClr val="FF5178"/>
          </a:solidFill>
          <a:ln w="12700">
            <a:solidFill>
              <a:srgbClr val="FF5178"/>
            </a:solidFill>
            <a:prstDash val="solid"/>
          </a:ln>
        </p:spPr>
      </p:sp>
      <p:sp>
        <p:nvSpPr>
          <p:cNvPr id="11" name="Shape 9"/>
          <p:cNvSpPr/>
          <p:nvPr/>
        </p:nvSpPr>
        <p:spPr>
          <a:xfrm>
            <a:off x="10195560" y="5120640"/>
            <a:ext cx="457200" cy="457200"/>
          </a:xfrm>
          <a:prstGeom prst="ellipse">
            <a:avLst/>
          </a:prstGeom>
          <a:solidFill>
            <a:srgbClr val="09A1E5"/>
          </a:solidFill>
          <a:ln w="12700">
            <a:solidFill>
              <a:srgbClr val="09A1E5"/>
            </a:solidFill>
            <a:prstDash val="solid"/>
          </a:ln>
        </p:spPr>
      </p:sp>
      <p:sp>
        <p:nvSpPr>
          <p:cNvPr id="12" name="Text 10"/>
          <p:cNvSpPr txBox="1"/>
          <p:nvPr/>
        </p:nvSpPr>
        <p:spPr>
          <a:xfrm>
            <a:off x="7223760" y="5623560"/>
            <a:ext cx="4389120" cy="320040"/>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co-diagnosis · ideation · design · testing</a:t>
            </a:r>
            <a:endParaRPr lang="en-US" sz="1100" dirty="0"/>
          </a:p>
        </p:txBody>
      </p:sp>
      <p:sp>
        <p:nvSpPr>
          <p:cNvPr id="13" name="Shape 11"/>
          <p:cNvSpPr/>
          <p:nvPr/>
        </p:nvSpPr>
        <p:spPr>
          <a:xfrm>
            <a:off x="548640" y="914400"/>
            <a:ext cx="2651760" cy="420624"/>
          </a:xfrm>
          <a:prstGeom prst="roundRect">
            <a:avLst>
              <a:gd name="adj" fmla="val 50000"/>
            </a:avLst>
          </a:prstGeom>
          <a:solidFill>
            <a:srgbClr val="FFD23B"/>
          </a:solidFill>
          <a:ln w="12700">
            <a:solidFill>
              <a:srgbClr val="FFD23B"/>
            </a:solidFill>
            <a:prstDash val="solid"/>
          </a:ln>
        </p:spPr>
      </p:sp>
      <p:sp>
        <p:nvSpPr>
          <p:cNvPr id="14" name="Text 12"/>
          <p:cNvSpPr txBox="1"/>
          <p:nvPr/>
        </p:nvSpPr>
        <p:spPr>
          <a:xfrm>
            <a:off x="621792" y="914400"/>
            <a:ext cx="2505456" cy="420624"/>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EVM1110E  ·  Buổi 5 / 15</a:t>
            </a:r>
            <a:endParaRPr lang="en-US" sz="1400" dirty="0"/>
          </a:p>
        </p:txBody>
      </p:sp>
      <p:sp>
        <p:nvSpPr>
          <p:cNvPr id="15" name="Text 13"/>
          <p:cNvSpPr txBox="1"/>
          <p:nvPr/>
        </p:nvSpPr>
        <p:spPr>
          <a:xfrm>
            <a:off x="548640" y="1600200"/>
            <a:ext cx="6035040" cy="1737360"/>
          </a:xfrm>
          <a:prstGeom prst="rect">
            <a:avLst/>
          </a:prstGeom>
          <a:noFill/>
          <a:ln/>
        </p:spPr>
        <p:txBody>
          <a:bodyPr wrap="square" lIns="0" tIns="0" rIns="0" bIns="0" rtlCol="0" anchor="t"/>
          <a:lstStyle/>
          <a:p>
            <a:pPr indent="0" marL="0">
              <a:buNone/>
            </a:pPr>
            <a:r>
              <a:rPr lang="en-US" sz="3800" b="1" dirty="0">
                <a:solidFill>
                  <a:srgbClr val="2A2238"/>
                </a:solidFill>
                <a:latin typeface="Alexandria" pitchFamily="34" charset="0"/>
                <a:ea typeface="Alexandria" pitchFamily="34" charset="-122"/>
                <a:cs typeface="Alexandria" pitchFamily="34" charset="-120"/>
              </a:rPr>
              <a:t>Quản trị mối quan hệ trong tổ chức sự kiện</a:t>
            </a:r>
            <a:endParaRPr lang="en-US" sz="3800" dirty="0"/>
          </a:p>
        </p:txBody>
      </p:sp>
      <p:sp>
        <p:nvSpPr>
          <p:cNvPr id="16" name="Text 14"/>
          <p:cNvSpPr txBox="1"/>
          <p:nvPr/>
        </p:nvSpPr>
        <p:spPr>
          <a:xfrm>
            <a:off x="548640" y="3429000"/>
            <a:ext cx="6035040" cy="914400"/>
          </a:xfrm>
          <a:prstGeom prst="rect">
            <a:avLst/>
          </a:prstGeom>
          <a:noFill/>
          <a:ln/>
        </p:spPr>
        <p:txBody>
          <a:bodyPr wrap="square" lIns="0" tIns="0" rIns="0" bIns="0" rtlCol="0" anchor="t"/>
          <a:lstStyle/>
          <a:p>
            <a:pPr indent="0" marL="0">
              <a:buNone/>
            </a:pPr>
            <a:r>
              <a:rPr lang="en-US" sz="2200" i="1" dirty="0">
                <a:solidFill>
                  <a:srgbClr val="962B7C"/>
                </a:solidFill>
                <a:latin typeface="Alexandria" pitchFamily="34" charset="0"/>
                <a:ea typeface="Alexandria" pitchFamily="34" charset="-122"/>
                <a:cs typeface="Alexandria" pitchFamily="34" charset="-120"/>
              </a:rPr>
              <a:t>CVP &amp; Value Co-creation</a:t>
            </a:r>
            <a:endParaRPr lang="en-US" sz="2200" dirty="0"/>
          </a:p>
        </p:txBody>
      </p:sp>
      <p:sp>
        <p:nvSpPr>
          <p:cNvPr id="17" name="Text 15"/>
          <p:cNvSpPr txBox="1"/>
          <p:nvPr/>
        </p:nvSpPr>
        <p:spPr>
          <a:xfrm>
            <a:off x="548640" y="4572000"/>
            <a:ext cx="6035040" cy="1280160"/>
          </a:xfrm>
          <a:prstGeom prst="rect">
            <a:avLst/>
          </a:prstGeom>
          <a:noFill/>
          <a:ln/>
        </p:spPr>
        <p:txBody>
          <a:bodyPr wrap="square" lIns="0" tIns="0" rIns="0" bIns="0" rtlCol="0" anchor="t"/>
          <a:lstStyle/>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Phần 2 · Quản trị khách hàng trọng điểm — buổi 4/7</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Khoa Marketing · UEF</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Giảng viên: Đoàn Nguyễn Bảo Quyên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F9259"/>
          </a:solidFill>
          <a:ln w="9525">
            <a:solidFill>
              <a:srgbClr val="FF9259"/>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b="1" dirty="0">
                <a:solidFill>
                  <a:srgbClr val="2A223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5.1 Cấu trúc CVP</a:t>
            </a:r>
            <a:endParaRPr lang="en-US" sz="1000" dirty="0"/>
          </a:p>
        </p:txBody>
      </p:sp>
      <p:sp>
        <p:nvSpPr>
          <p:cNvPr id="6" name="Shape 4"/>
          <p:cNvSpPr/>
          <p:nvPr/>
        </p:nvSpPr>
        <p:spPr>
          <a:xfrm>
            <a:off x="2990088"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5.2 Năm nguồn giá trị</a:t>
            </a:r>
            <a:endParaRPr lang="en-US" sz="1000" dirty="0"/>
          </a:p>
        </p:txBody>
      </p:sp>
      <p:sp>
        <p:nvSpPr>
          <p:cNvPr id="8" name="Shape 6"/>
          <p:cNvSpPr/>
          <p:nvPr/>
        </p:nvSpPr>
        <p:spPr>
          <a:xfrm>
            <a:off x="4988052" y="274320"/>
            <a:ext cx="157734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5.3 Đồng kiến tạo</a:t>
            </a:r>
            <a:endParaRPr lang="en-US" sz="1000" dirty="0"/>
          </a:p>
        </p:txBody>
      </p:sp>
      <p:sp>
        <p:nvSpPr>
          <p:cNvPr id="10" name="Shape 8"/>
          <p:cNvSpPr/>
          <p:nvPr/>
        </p:nvSpPr>
        <p:spPr>
          <a:xfrm>
            <a:off x="6675120"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675120"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334670"/>
            <a:ext cx="107533" cy="268834"/>
          </a:xfrm>
          <a:prstGeom prst="rect">
            <a:avLst/>
          </a:prstGeom>
          <a:solidFill>
            <a:srgbClr val="09A1E5"/>
          </a:solidFill>
          <a:ln w="12700">
            <a:solidFill>
              <a:srgbClr val="09A1E5"/>
            </a:solidFill>
            <a:prstDash val="solid"/>
          </a:ln>
        </p:spPr>
      </p:sp>
      <p:sp>
        <p:nvSpPr>
          <p:cNvPr id="13" name="Shape 11"/>
          <p:cNvSpPr/>
          <p:nvPr/>
        </p:nvSpPr>
        <p:spPr>
          <a:xfrm>
            <a:off x="11535522" y="334670"/>
            <a:ext cx="107533" cy="268834"/>
          </a:xfrm>
          <a:prstGeom prst="rect">
            <a:avLst/>
          </a:prstGeom>
          <a:solidFill>
            <a:srgbClr val="962B7C"/>
          </a:solidFill>
          <a:ln w="12700">
            <a:solidFill>
              <a:srgbClr val="962B7C"/>
            </a:solidFill>
            <a:prstDash val="solid"/>
          </a:ln>
        </p:spPr>
      </p:sp>
      <p:sp>
        <p:nvSpPr>
          <p:cNvPr id="14" name="Shape 12"/>
          <p:cNvSpPr/>
          <p:nvPr/>
        </p:nvSpPr>
        <p:spPr>
          <a:xfrm>
            <a:off x="11259007" y="250180"/>
            <a:ext cx="384048" cy="61448"/>
          </a:xfrm>
          <a:prstGeom prst="rect">
            <a:avLst/>
          </a:prstGeom>
          <a:solidFill>
            <a:srgbClr val="FFD23B"/>
          </a:solidFill>
          <a:ln w="12700">
            <a:solidFill>
              <a:srgbClr val="FFD23B"/>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Hồ sơ năng lực nói về Nova, đề xuất giá trị nói về khách hàng</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Hồ sơ năng lực GIẢ ĐỊNH.</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2</a:t>
            </a:r>
            <a:endParaRPr lang="en-US" sz="1000" dirty="0"/>
          </a:p>
        </p:txBody>
      </p:sp>
      <p:sp>
        <p:nvSpPr>
          <p:cNvPr id="19" name="Shape 16"/>
          <p:cNvSpPr/>
          <p:nvPr/>
        </p:nvSpPr>
        <p:spPr>
          <a:xfrm>
            <a:off x="548640" y="1920240"/>
            <a:ext cx="5852160" cy="4069080"/>
          </a:xfrm>
          <a:prstGeom prst="roundRect">
            <a:avLst>
              <a:gd name="adj" fmla="val 2697"/>
            </a:avLst>
          </a:prstGeom>
          <a:solidFill>
            <a:srgbClr val="FFFFFF"/>
          </a:solidFill>
          <a:ln w="12700">
            <a:solidFill>
              <a:srgbClr val="DCD7C8"/>
            </a:solidFill>
            <a:prstDash val="solid"/>
          </a:ln>
        </p:spPr>
      </p:sp>
      <p:sp>
        <p:nvSpPr>
          <p:cNvPr id="20" name="Shape 17"/>
          <p:cNvSpPr/>
          <p:nvPr/>
        </p:nvSpPr>
        <p:spPr>
          <a:xfrm>
            <a:off x="868680" y="2148840"/>
            <a:ext cx="2377440" cy="384048"/>
          </a:xfrm>
          <a:prstGeom prst="roundRect">
            <a:avLst>
              <a:gd name="adj" fmla="val 50000"/>
            </a:avLst>
          </a:prstGeom>
          <a:solidFill>
            <a:srgbClr val="6E6878"/>
          </a:solidFill>
          <a:ln w="12700">
            <a:solidFill>
              <a:srgbClr val="6E6878"/>
            </a:solidFill>
            <a:prstDash val="solid"/>
          </a:ln>
        </p:spPr>
      </p:sp>
      <p:sp>
        <p:nvSpPr>
          <p:cNvPr id="21" name="Text 18"/>
          <p:cNvSpPr txBox="1"/>
          <p:nvPr/>
        </p:nvSpPr>
        <p:spPr>
          <a:xfrm>
            <a:off x="941832" y="2148840"/>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HỒ SƠ NĂNG LỰC NOVA</a:t>
            </a:r>
            <a:endParaRPr lang="en-US" sz="1100" dirty="0"/>
          </a:p>
        </p:txBody>
      </p:sp>
      <p:sp>
        <p:nvSpPr>
          <p:cNvPr id="22" name="Text 19"/>
          <p:cNvSpPr txBox="1"/>
          <p:nvPr/>
        </p:nvSpPr>
        <p:spPr>
          <a:xfrm>
            <a:off x="868680" y="2743200"/>
            <a:ext cx="5212080" cy="914400"/>
          </a:xfrm>
          <a:prstGeom prst="rect">
            <a:avLst/>
          </a:prstGeom>
          <a:noFill/>
          <a:ln/>
        </p:spPr>
        <p:txBody>
          <a:bodyPr wrap="square" lIns="0" tIns="0" rIns="0" bIns="0" rtlCol="0" anchor="ctr"/>
          <a:lstStyle/>
          <a:p>
            <a:pPr indent="0" marL="0">
              <a:buNone/>
            </a:pPr>
            <a:r>
              <a:rPr lang="en-US" sz="2600" b="1" dirty="0">
                <a:solidFill>
                  <a:srgbClr val="6E6878"/>
                </a:solidFill>
                <a:latin typeface="Alexandria" pitchFamily="34" charset="0"/>
                <a:ea typeface="Alexandria" pitchFamily="34" charset="-122"/>
                <a:cs typeface="Alexandria" pitchFamily="34" charset="-120"/>
              </a:rPr>
              <a:t>Sáng tạo – Chuyên nghiệp – Tận tâm</a:t>
            </a:r>
            <a:endParaRPr lang="en-US" sz="2600" dirty="0"/>
          </a:p>
        </p:txBody>
      </p:sp>
      <p:sp>
        <p:nvSpPr>
          <p:cNvPr id="23" name="Text 20"/>
          <p:cNvSpPr txBox="1"/>
          <p:nvPr/>
        </p:nvSpPr>
        <p:spPr>
          <a:xfrm>
            <a:off x="868680" y="3749040"/>
            <a:ext cx="5212080" cy="548640"/>
          </a:xfrm>
          <a:prstGeom prst="rect">
            <a:avLst/>
          </a:prstGeom>
          <a:noFill/>
          <a:ln/>
        </p:spPr>
        <p:txBody>
          <a:bodyPr wrap="square" lIns="0" tIns="0" rIns="0" bIns="0" rtlCol="0" anchor="ctr"/>
          <a:lstStyle/>
          <a:p>
            <a:pPr indent="0" marL="0">
              <a:buNone/>
            </a:pPr>
            <a:r>
              <a:rPr lang="en-US" sz="1800" dirty="0">
                <a:solidFill>
                  <a:srgbClr val="6E6878"/>
                </a:solidFill>
                <a:latin typeface="Alexandria" pitchFamily="34" charset="0"/>
                <a:ea typeface="Alexandria" pitchFamily="34" charset="-122"/>
                <a:cs typeface="Alexandria" pitchFamily="34" charset="-120"/>
              </a:rPr>
              <a:t>Hơn 10 năm kinh nghiệm, 500 sự kiện.</a:t>
            </a:r>
            <a:endParaRPr lang="en-US" sz="1800" dirty="0"/>
          </a:p>
        </p:txBody>
      </p:sp>
      <p:sp>
        <p:nvSpPr>
          <p:cNvPr id="24" name="Shape 21"/>
          <p:cNvSpPr/>
          <p:nvPr/>
        </p:nvSpPr>
        <p:spPr>
          <a:xfrm>
            <a:off x="868680" y="4846320"/>
            <a:ext cx="1097280" cy="457200"/>
          </a:xfrm>
          <a:prstGeom prst="roundRect">
            <a:avLst>
              <a:gd name="adj" fmla="val 50000"/>
            </a:avLst>
          </a:prstGeom>
          <a:solidFill>
            <a:srgbClr val="F3F0E6"/>
          </a:solidFill>
          <a:ln w="12700">
            <a:solidFill>
              <a:srgbClr val="DCD7C8"/>
            </a:solidFill>
            <a:prstDash val="solid"/>
          </a:ln>
        </p:spPr>
      </p:sp>
      <p:sp>
        <p:nvSpPr>
          <p:cNvPr id="25" name="Text 22"/>
          <p:cNvSpPr txBox="1"/>
          <p:nvPr/>
        </p:nvSpPr>
        <p:spPr>
          <a:xfrm>
            <a:off x="941832" y="4846320"/>
            <a:ext cx="950976" cy="457200"/>
          </a:xfrm>
          <a:prstGeom prst="rect">
            <a:avLst/>
          </a:prstGeom>
          <a:noFill/>
          <a:ln/>
        </p:spPr>
        <p:txBody>
          <a:bodyPr wrap="square" lIns="0" tIns="0" rIns="0" bIns="0" rtlCol="0" anchor="ctr"/>
          <a:lstStyle/>
          <a:p>
            <a:pPr algn="ctr" indent="0" marL="0">
              <a:buNone/>
            </a:pPr>
            <a:r>
              <a:rPr lang="en-US" sz="1200" b="1" dirty="0">
                <a:solidFill>
                  <a:srgbClr val="6E6878"/>
                </a:solidFill>
                <a:latin typeface="Alexandria" pitchFamily="34" charset="0"/>
                <a:ea typeface="Alexandria" pitchFamily="34" charset="-122"/>
                <a:cs typeface="Alexandria" pitchFamily="34" charset="-120"/>
              </a:rPr>
              <a:t>Nova</a:t>
            </a:r>
            <a:endParaRPr lang="en-US" sz="1200" dirty="0"/>
          </a:p>
        </p:txBody>
      </p:sp>
      <p:sp>
        <p:nvSpPr>
          <p:cNvPr id="26" name="Shape 23"/>
          <p:cNvSpPr/>
          <p:nvPr/>
        </p:nvSpPr>
        <p:spPr>
          <a:xfrm>
            <a:off x="2148840" y="4846320"/>
            <a:ext cx="1097280" cy="457200"/>
          </a:xfrm>
          <a:prstGeom prst="roundRect">
            <a:avLst>
              <a:gd name="adj" fmla="val 50000"/>
            </a:avLst>
          </a:prstGeom>
          <a:solidFill>
            <a:srgbClr val="F3F0E6"/>
          </a:solidFill>
          <a:ln w="12700">
            <a:solidFill>
              <a:srgbClr val="DCD7C8"/>
            </a:solidFill>
            <a:prstDash val="solid"/>
          </a:ln>
        </p:spPr>
      </p:sp>
      <p:sp>
        <p:nvSpPr>
          <p:cNvPr id="27" name="Text 24"/>
          <p:cNvSpPr txBox="1"/>
          <p:nvPr/>
        </p:nvSpPr>
        <p:spPr>
          <a:xfrm>
            <a:off x="2221992" y="4846320"/>
            <a:ext cx="950976" cy="457200"/>
          </a:xfrm>
          <a:prstGeom prst="rect">
            <a:avLst/>
          </a:prstGeom>
          <a:noFill/>
          <a:ln/>
        </p:spPr>
        <p:txBody>
          <a:bodyPr wrap="square" lIns="0" tIns="0" rIns="0" bIns="0" rtlCol="0" anchor="ctr"/>
          <a:lstStyle/>
          <a:p>
            <a:pPr algn="ctr" indent="0" marL="0">
              <a:buNone/>
            </a:pPr>
            <a:r>
              <a:rPr lang="en-US" sz="1200" b="1" dirty="0">
                <a:solidFill>
                  <a:srgbClr val="6E6878"/>
                </a:solidFill>
                <a:latin typeface="Alexandria" pitchFamily="34" charset="0"/>
                <a:ea typeface="Alexandria" pitchFamily="34" charset="-122"/>
                <a:cs typeface="Alexandria" pitchFamily="34" charset="-120"/>
              </a:rPr>
              <a:t>Nova</a:t>
            </a:r>
            <a:endParaRPr lang="en-US" sz="1200" dirty="0"/>
          </a:p>
        </p:txBody>
      </p:sp>
      <p:sp>
        <p:nvSpPr>
          <p:cNvPr id="28" name="Shape 25"/>
          <p:cNvSpPr/>
          <p:nvPr/>
        </p:nvSpPr>
        <p:spPr>
          <a:xfrm>
            <a:off x="3429000" y="4846320"/>
            <a:ext cx="1097280" cy="457200"/>
          </a:xfrm>
          <a:prstGeom prst="roundRect">
            <a:avLst>
              <a:gd name="adj" fmla="val 50000"/>
            </a:avLst>
          </a:prstGeom>
          <a:solidFill>
            <a:srgbClr val="F3F0E6"/>
          </a:solidFill>
          <a:ln w="12700">
            <a:solidFill>
              <a:srgbClr val="DCD7C8"/>
            </a:solidFill>
            <a:prstDash val="solid"/>
          </a:ln>
        </p:spPr>
      </p:sp>
      <p:sp>
        <p:nvSpPr>
          <p:cNvPr id="29" name="Text 26"/>
          <p:cNvSpPr txBox="1"/>
          <p:nvPr/>
        </p:nvSpPr>
        <p:spPr>
          <a:xfrm>
            <a:off x="3502152" y="4846320"/>
            <a:ext cx="950976" cy="457200"/>
          </a:xfrm>
          <a:prstGeom prst="rect">
            <a:avLst/>
          </a:prstGeom>
          <a:noFill/>
          <a:ln/>
        </p:spPr>
        <p:txBody>
          <a:bodyPr wrap="square" lIns="0" tIns="0" rIns="0" bIns="0" rtlCol="0" anchor="ctr"/>
          <a:lstStyle/>
          <a:p>
            <a:pPr algn="ctr" indent="0" marL="0">
              <a:buNone/>
            </a:pPr>
            <a:r>
              <a:rPr lang="en-US" sz="1200" b="1" dirty="0">
                <a:solidFill>
                  <a:srgbClr val="6E6878"/>
                </a:solidFill>
                <a:latin typeface="Alexandria" pitchFamily="34" charset="0"/>
                <a:ea typeface="Alexandria" pitchFamily="34" charset="-122"/>
                <a:cs typeface="Alexandria" pitchFamily="34" charset="-120"/>
              </a:rPr>
              <a:t>Nova</a:t>
            </a:r>
            <a:endParaRPr lang="en-US" sz="1200" dirty="0"/>
          </a:p>
        </p:txBody>
      </p:sp>
      <p:sp>
        <p:nvSpPr>
          <p:cNvPr id="30" name="Text 27"/>
          <p:cNvSpPr txBox="1"/>
          <p:nvPr/>
        </p:nvSpPr>
        <p:spPr>
          <a:xfrm>
            <a:off x="6766560" y="1920240"/>
            <a:ext cx="4876495" cy="914400"/>
          </a:xfrm>
          <a:prstGeom prst="rect">
            <a:avLst/>
          </a:prstGeom>
          <a:noFill/>
          <a:ln/>
        </p:spPr>
        <p:txBody>
          <a:bodyPr wrap="square" lIns="0" tIns="0" rIns="0" bIns="0" rtlCol="0" anchor="ctr"/>
          <a:lstStyle/>
          <a:p>
            <a:pPr indent="0" marL="0">
              <a:buNone/>
            </a:pPr>
            <a:r>
              <a:rPr lang="en-US" sz="2100" b="1" dirty="0">
                <a:solidFill>
                  <a:srgbClr val="2A2238"/>
                </a:solidFill>
                <a:latin typeface="Alexandria" pitchFamily="34" charset="0"/>
                <a:ea typeface="Alexandria" pitchFamily="34" charset="-122"/>
                <a:cs typeface="Alexandria" pitchFamily="34" charset="-120"/>
              </a:rPr>
              <a:t>Đọc xong, chị Hạnh biết An Phát sẽ được gì không?</a:t>
            </a:r>
            <a:endParaRPr lang="en-US" sz="2100" dirty="0"/>
          </a:p>
        </p:txBody>
      </p:sp>
      <p:sp>
        <p:nvSpPr>
          <p:cNvPr id="31" name="Shape 28"/>
          <p:cNvSpPr/>
          <p:nvPr/>
        </p:nvSpPr>
        <p:spPr>
          <a:xfrm>
            <a:off x="6766560" y="3108960"/>
            <a:ext cx="4876495" cy="2880360"/>
          </a:xfrm>
          <a:prstGeom prst="roundRect">
            <a:avLst>
              <a:gd name="adj" fmla="val 3810"/>
            </a:avLst>
          </a:prstGeom>
          <a:solidFill>
            <a:srgbClr val="F1E1EE"/>
          </a:solidFill>
          <a:ln w="12700">
            <a:solidFill>
              <a:srgbClr val="962B7C"/>
            </a:solidFill>
            <a:prstDash val="solid"/>
          </a:ln>
        </p:spPr>
      </p:sp>
      <p:sp>
        <p:nvSpPr>
          <p:cNvPr id="32" name="Text 29"/>
          <p:cNvSpPr txBox="1"/>
          <p:nvPr/>
        </p:nvSpPr>
        <p:spPr>
          <a:xfrm>
            <a:off x="7086600" y="3108960"/>
            <a:ext cx="4236415" cy="2880360"/>
          </a:xfrm>
          <a:prstGeom prst="rect">
            <a:avLst/>
          </a:prstGeom>
          <a:noFill/>
          <a:ln/>
        </p:spPr>
        <p:txBody>
          <a:bodyPr wrap="square" lIns="0" tIns="0" rIns="0" bIns="0" rtlCol="0" anchor="ctr"/>
          <a:lstStyle/>
          <a:p>
            <a:pPr indent="0" marL="0">
              <a:spcAft>
                <a:spcPts val="800"/>
              </a:spcAft>
              <a:buNone/>
            </a:pPr>
            <a:r>
              <a:rPr lang="en-US" sz="2000" b="1" dirty="0">
                <a:solidFill>
                  <a:srgbClr val="2A2238"/>
                </a:solidFill>
                <a:latin typeface="Alexandria" pitchFamily="34" charset="0"/>
                <a:ea typeface="Alexandria" pitchFamily="34" charset="-122"/>
                <a:cs typeface="Alexandria" pitchFamily="34" charset="-120"/>
              </a:rPr>
              <a:t>Đó là nói về Nova.</a:t>
            </a:r>
            <a:endParaRPr lang="en-US" sz="2000" dirty="0"/>
          </a:p>
          <a:p>
            <a:pPr indent="0" marL="0">
              <a:spcAft>
                <a:spcPts val="800"/>
              </a:spcAft>
              <a:buNone/>
            </a:pPr>
            <a:r>
              <a:rPr lang="en-US" sz="2000" dirty="0">
                <a:solidFill>
                  <a:srgbClr val="2A2238"/>
                </a:solidFill>
                <a:latin typeface="Alexandria" pitchFamily="34" charset="0"/>
                <a:ea typeface="Alexandria" pitchFamily="34" charset="-122"/>
                <a:cs typeface="Alexandria" pitchFamily="34" charset="-120"/>
              </a:rPr>
              <a:t>Đề xuất giá trị phải nói về </a:t>
            </a:r>
            <a:pPr indent="0" marL="0">
              <a:spcAft>
                <a:spcPts val="800"/>
              </a:spcAft>
              <a:buNone/>
            </a:pPr>
            <a:r>
              <a:rPr lang="en-US" sz="2000" b="1" dirty="0">
                <a:solidFill>
                  <a:srgbClr val="962B7C"/>
                </a:solidFill>
                <a:latin typeface="Alexandria" pitchFamily="34" charset="0"/>
                <a:ea typeface="Alexandria" pitchFamily="34" charset="-122"/>
                <a:cs typeface="Alexandria" pitchFamily="34" charset="-120"/>
              </a:rPr>
              <a:t>An Phát</a:t>
            </a:r>
            <a:pPr indent="0" marL="0">
              <a:spcAft>
                <a:spcPts val="800"/>
              </a:spcAft>
              <a:buNone/>
            </a:pPr>
            <a:r>
              <a:rPr lang="en-US" sz="2000" dirty="0">
                <a:solidFill>
                  <a:srgbClr val="2A2238"/>
                </a:solidFill>
                <a:latin typeface="Alexandria" pitchFamily="34" charset="0"/>
                <a:ea typeface="Alexandria" pitchFamily="34" charset="-122"/>
                <a:cs typeface="Alexandria" pitchFamily="34" charset="-120"/>
              </a:rPr>
              <a:t> — và tốt nhất là nói bằng con số.</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5.1 Cấu trúc CVP</a:t>
            </a:r>
            <a:endParaRPr lang="en-US" sz="1000" dirty="0"/>
          </a:p>
        </p:txBody>
      </p:sp>
      <p:sp>
        <p:nvSpPr>
          <p:cNvPr id="6" name="Shape 4"/>
          <p:cNvSpPr/>
          <p:nvPr/>
        </p:nvSpPr>
        <p:spPr>
          <a:xfrm>
            <a:off x="2990088"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5.2 Năm nguồn giá trị</a:t>
            </a:r>
            <a:endParaRPr lang="en-US" sz="1000" dirty="0"/>
          </a:p>
        </p:txBody>
      </p:sp>
      <p:sp>
        <p:nvSpPr>
          <p:cNvPr id="8" name="Shape 6"/>
          <p:cNvSpPr/>
          <p:nvPr/>
        </p:nvSpPr>
        <p:spPr>
          <a:xfrm>
            <a:off x="4988052" y="274320"/>
            <a:ext cx="157734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5.3 Đồng kiến tạo</a:t>
            </a:r>
            <a:endParaRPr lang="en-US" sz="1000" dirty="0"/>
          </a:p>
        </p:txBody>
      </p:sp>
      <p:sp>
        <p:nvSpPr>
          <p:cNvPr id="10" name="Shape 8"/>
          <p:cNvSpPr/>
          <p:nvPr/>
        </p:nvSpPr>
        <p:spPr>
          <a:xfrm>
            <a:off x="6675120"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675120"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334670"/>
            <a:ext cx="107533" cy="268834"/>
          </a:xfrm>
          <a:prstGeom prst="rect">
            <a:avLst/>
          </a:prstGeom>
          <a:solidFill>
            <a:srgbClr val="09A1E5"/>
          </a:solidFill>
          <a:ln w="12700">
            <a:solidFill>
              <a:srgbClr val="09A1E5"/>
            </a:solidFill>
            <a:prstDash val="solid"/>
          </a:ln>
        </p:spPr>
      </p:sp>
      <p:sp>
        <p:nvSpPr>
          <p:cNvPr id="13" name="Shape 11"/>
          <p:cNvSpPr/>
          <p:nvPr/>
        </p:nvSpPr>
        <p:spPr>
          <a:xfrm>
            <a:off x="11535522" y="334670"/>
            <a:ext cx="107533" cy="268834"/>
          </a:xfrm>
          <a:prstGeom prst="rect">
            <a:avLst/>
          </a:prstGeom>
          <a:solidFill>
            <a:srgbClr val="962B7C"/>
          </a:solidFill>
          <a:ln w="12700">
            <a:solidFill>
              <a:srgbClr val="962B7C"/>
            </a:solidFill>
            <a:prstDash val="solid"/>
          </a:ln>
        </p:spPr>
      </p:sp>
      <p:sp>
        <p:nvSpPr>
          <p:cNvPr id="14" name="Shape 12"/>
          <p:cNvSpPr/>
          <p:nvPr/>
        </p:nvSpPr>
        <p:spPr>
          <a:xfrm>
            <a:off x="11259007" y="250180"/>
            <a:ext cx="384048" cy="61448"/>
          </a:xfrm>
          <a:prstGeom prst="rect">
            <a:avLst/>
          </a:prstGeom>
          <a:solidFill>
            <a:srgbClr val="FFD23B"/>
          </a:solidFill>
          <a:ln w="12700">
            <a:solidFill>
              <a:srgbClr val="FFD23B"/>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Phần lớn CVP tuyên bố mà không chứng minh</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E02: Anderson, Narus &amp; van Rossum (2006), Harvard Business Review, 84(3).</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3</a:t>
            </a:r>
            <a:endParaRPr lang="en-US" sz="1000" dirty="0"/>
          </a:p>
        </p:txBody>
      </p:sp>
      <p:sp>
        <p:nvSpPr>
          <p:cNvPr id="19" name="Shape 16"/>
          <p:cNvSpPr/>
          <p:nvPr/>
        </p:nvSpPr>
        <p:spPr>
          <a:xfrm>
            <a:off x="548640" y="1920240"/>
            <a:ext cx="11094415" cy="2103120"/>
          </a:xfrm>
          <a:prstGeom prst="roundRect">
            <a:avLst>
              <a:gd name="adj" fmla="val 5217"/>
            </a:avLst>
          </a:prstGeom>
          <a:solidFill>
            <a:srgbClr val="FFE4EA"/>
          </a:solidFill>
          <a:ln w="12700">
            <a:solidFill>
              <a:srgbClr val="FF5178"/>
            </a:solidFill>
            <a:prstDash val="solid"/>
          </a:ln>
        </p:spPr>
      </p:sp>
      <p:sp>
        <p:nvSpPr>
          <p:cNvPr id="20" name="Text 17"/>
          <p:cNvSpPr txBox="1"/>
          <p:nvPr/>
        </p:nvSpPr>
        <p:spPr>
          <a:xfrm>
            <a:off x="1005840" y="1920240"/>
            <a:ext cx="10180015" cy="2103120"/>
          </a:xfrm>
          <a:prstGeom prst="rect">
            <a:avLst/>
          </a:prstGeom>
          <a:noFill/>
          <a:ln/>
        </p:spPr>
        <p:txBody>
          <a:bodyPr wrap="square" lIns="0" tIns="0" rIns="0" bIns="0" rtlCol="0" anchor="ctr"/>
          <a:lstStyle/>
          <a:p>
            <a:pPr algn="ctr" indent="0" marL="0">
              <a:spcAft>
                <a:spcPts val="600"/>
              </a:spcAft>
              <a:buNone/>
            </a:pPr>
            <a:r>
              <a:rPr lang="en-US" sz="4400" b="1" i="1" dirty="0">
                <a:solidFill>
                  <a:srgbClr val="E03A62"/>
                </a:solidFill>
                <a:latin typeface="Alexandria" pitchFamily="34" charset="0"/>
                <a:ea typeface="Alexandria" pitchFamily="34" charset="-122"/>
                <a:cs typeface="Alexandria" pitchFamily="34" charset="-120"/>
              </a:rPr>
              <a:t>“marketing puffery”</a:t>
            </a:r>
            <a:endParaRPr lang="en-US" sz="4400" dirty="0"/>
          </a:p>
          <a:p>
            <a:pPr algn="ctr" indent="0" marL="0">
              <a:spcAft>
                <a:spcPts val="600"/>
              </a:spcAft>
              <a:buNone/>
            </a:pPr>
            <a:r>
              <a:rPr lang="en-US" sz="1800" dirty="0">
                <a:solidFill>
                  <a:srgbClr val="2A2238"/>
                </a:solidFill>
                <a:latin typeface="Alexandria" pitchFamily="34" charset="0"/>
                <a:ea typeface="Alexandria" pitchFamily="34" charset="-122"/>
                <a:cs typeface="Alexandria" pitchFamily="34" charset="-120"/>
              </a:rPr>
              <a:t>lời quảng cáo phóng đại — khách hàng nghe xong bỏ qua</a:t>
            </a:r>
            <a:endParaRPr lang="en-US" sz="4400" dirty="0"/>
          </a:p>
        </p:txBody>
      </p:sp>
      <p:sp>
        <p:nvSpPr>
          <p:cNvPr id="21" name="Shape 18"/>
          <p:cNvSpPr/>
          <p:nvPr/>
        </p:nvSpPr>
        <p:spPr>
          <a:xfrm>
            <a:off x="548640" y="4297680"/>
            <a:ext cx="5410048" cy="1691640"/>
          </a:xfrm>
          <a:prstGeom prst="roundRect">
            <a:avLst>
              <a:gd name="adj" fmla="val 6486"/>
            </a:avLst>
          </a:prstGeom>
          <a:solidFill>
            <a:srgbClr val="FFFFFF"/>
          </a:solidFill>
          <a:ln w="12700">
            <a:solidFill>
              <a:srgbClr val="DCD7C8"/>
            </a:solidFill>
            <a:prstDash val="solid"/>
          </a:ln>
        </p:spPr>
      </p:sp>
      <p:sp>
        <p:nvSpPr>
          <p:cNvPr id="22" name="Text 19"/>
          <p:cNvSpPr txBox="1"/>
          <p:nvPr/>
        </p:nvSpPr>
        <p:spPr>
          <a:xfrm>
            <a:off x="868680" y="4297680"/>
            <a:ext cx="4769968" cy="1691640"/>
          </a:xfrm>
          <a:prstGeom prst="rect">
            <a:avLst/>
          </a:prstGeom>
          <a:noFill/>
          <a:ln/>
        </p:spPr>
        <p:txBody>
          <a:bodyPr wrap="square" lIns="0" tIns="0" rIns="0" bIns="0" rtlCol="0" anchor="ctr"/>
          <a:lstStyle/>
          <a:p>
            <a:pPr indent="0" marL="0">
              <a:buNone/>
            </a:pPr>
            <a:r>
              <a:rPr lang="en-US" sz="2000" b="1" dirty="0">
                <a:solidFill>
                  <a:srgbClr val="6E6878"/>
                </a:solidFill>
                <a:latin typeface="Alexandria" pitchFamily="34" charset="0"/>
                <a:ea typeface="Alexandria" pitchFamily="34" charset="-122"/>
                <a:cs typeface="Alexandria" pitchFamily="34" charset="-120"/>
              </a:rPr>
              <a:t>Tuyên bố</a:t>
            </a:r>
            <a:endParaRPr lang="en-US" sz="2000" dirty="0"/>
          </a:p>
          <a:p>
            <a:pPr indent="0" marL="0">
              <a:buNone/>
            </a:pPr>
            <a:r>
              <a:rPr lang="en-US" sz="1700" i="1" dirty="0">
                <a:solidFill>
                  <a:srgbClr val="6E6878"/>
                </a:solidFill>
                <a:latin typeface="Alexandria" pitchFamily="34" charset="0"/>
                <a:ea typeface="Alexandria" pitchFamily="34" charset="-122"/>
                <a:cs typeface="Alexandria" pitchFamily="34" charset="-120"/>
              </a:rPr>
              <a:t>“tiết kiệm”, “hiệu quả”, “chuyên nghiệp”</a:t>
            </a:r>
            <a:endParaRPr lang="en-US" sz="2000" dirty="0"/>
          </a:p>
        </p:txBody>
      </p:sp>
      <p:sp>
        <p:nvSpPr>
          <p:cNvPr id="23" name="Shape 20"/>
          <p:cNvSpPr/>
          <p:nvPr/>
        </p:nvSpPr>
        <p:spPr>
          <a:xfrm>
            <a:off x="6233008" y="4297680"/>
            <a:ext cx="5410048" cy="1691640"/>
          </a:xfrm>
          <a:prstGeom prst="roundRect">
            <a:avLst>
              <a:gd name="adj" fmla="val 6486"/>
            </a:avLst>
          </a:prstGeom>
          <a:solidFill>
            <a:srgbClr val="E1F3EE"/>
          </a:solidFill>
          <a:ln w="12700">
            <a:solidFill>
              <a:srgbClr val="49B296"/>
            </a:solidFill>
            <a:prstDash val="solid"/>
          </a:ln>
        </p:spPr>
      </p:sp>
      <p:sp>
        <p:nvSpPr>
          <p:cNvPr id="24" name="Text 21"/>
          <p:cNvSpPr txBox="1"/>
          <p:nvPr/>
        </p:nvSpPr>
        <p:spPr>
          <a:xfrm>
            <a:off x="6553048" y="4297680"/>
            <a:ext cx="4769968" cy="169164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Chứng minh</a:t>
            </a:r>
            <a:endParaRPr lang="en-US" sz="2000" dirty="0"/>
          </a:p>
          <a:p>
            <a:pPr indent="0" marL="0">
              <a:buNone/>
            </a:pPr>
            <a:r>
              <a:rPr lang="en-US" sz="1700" dirty="0">
                <a:solidFill>
                  <a:srgbClr val="2A2238"/>
                </a:solidFill>
                <a:latin typeface="Alexandria" pitchFamily="34" charset="0"/>
                <a:ea typeface="Alexandria" pitchFamily="34" charset="-122"/>
                <a:cs typeface="Alexandria" pitchFamily="34" charset="-120"/>
              </a:rPr>
              <a:t>bằng số liệu, cách đo, so với chi phí</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5.1 Cấu trúc CVP</a:t>
            </a:r>
            <a:endParaRPr lang="en-US" sz="1000" dirty="0"/>
          </a:p>
        </p:txBody>
      </p:sp>
      <p:sp>
        <p:nvSpPr>
          <p:cNvPr id="6" name="Shape 4"/>
          <p:cNvSpPr/>
          <p:nvPr/>
        </p:nvSpPr>
        <p:spPr>
          <a:xfrm>
            <a:off x="2990088"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5.2 Năm nguồn giá trị</a:t>
            </a:r>
            <a:endParaRPr lang="en-US" sz="1000" dirty="0"/>
          </a:p>
        </p:txBody>
      </p:sp>
      <p:sp>
        <p:nvSpPr>
          <p:cNvPr id="8" name="Shape 6"/>
          <p:cNvSpPr/>
          <p:nvPr/>
        </p:nvSpPr>
        <p:spPr>
          <a:xfrm>
            <a:off x="4988052" y="274320"/>
            <a:ext cx="157734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5.3 Đồng kiến tạo</a:t>
            </a:r>
            <a:endParaRPr lang="en-US" sz="1000" dirty="0"/>
          </a:p>
        </p:txBody>
      </p:sp>
      <p:sp>
        <p:nvSpPr>
          <p:cNvPr id="10" name="Shape 8"/>
          <p:cNvSpPr/>
          <p:nvPr/>
        </p:nvSpPr>
        <p:spPr>
          <a:xfrm>
            <a:off x="6675120"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675120"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334670"/>
            <a:ext cx="107533" cy="268834"/>
          </a:xfrm>
          <a:prstGeom prst="rect">
            <a:avLst/>
          </a:prstGeom>
          <a:solidFill>
            <a:srgbClr val="09A1E5"/>
          </a:solidFill>
          <a:ln w="12700">
            <a:solidFill>
              <a:srgbClr val="09A1E5"/>
            </a:solidFill>
            <a:prstDash val="solid"/>
          </a:ln>
        </p:spPr>
      </p:sp>
      <p:sp>
        <p:nvSpPr>
          <p:cNvPr id="13" name="Shape 11"/>
          <p:cNvSpPr/>
          <p:nvPr/>
        </p:nvSpPr>
        <p:spPr>
          <a:xfrm>
            <a:off x="11535522" y="334670"/>
            <a:ext cx="107533" cy="268834"/>
          </a:xfrm>
          <a:prstGeom prst="rect">
            <a:avLst/>
          </a:prstGeom>
          <a:solidFill>
            <a:srgbClr val="962B7C"/>
          </a:solidFill>
          <a:ln w="12700">
            <a:solidFill>
              <a:srgbClr val="962B7C"/>
            </a:solidFill>
            <a:prstDash val="solid"/>
          </a:ln>
        </p:spPr>
      </p:sp>
      <p:sp>
        <p:nvSpPr>
          <p:cNvPr id="14" name="Shape 12"/>
          <p:cNvSpPr/>
          <p:nvPr/>
        </p:nvSpPr>
        <p:spPr>
          <a:xfrm>
            <a:off x="11259007" y="250180"/>
            <a:ext cx="384048" cy="61448"/>
          </a:xfrm>
          <a:prstGeom prst="rect">
            <a:avLst/>
          </a:prstGeom>
          <a:solidFill>
            <a:srgbClr val="FFD23B"/>
          </a:solidFill>
          <a:ln w="12700">
            <a:solidFill>
              <a:srgbClr val="FFD23B"/>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Có ba kiểu CVP — nên dùng resonating focus</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E02: Anderson, Narus &amp; van Rossum (2006) [VERIFY: ba kiểu CVP mới đọc qua nguồn thứ cấp].</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4</a:t>
            </a:r>
            <a:endParaRPr lang="en-US" sz="1000" dirty="0"/>
          </a:p>
        </p:txBody>
      </p:sp>
      <p:sp>
        <p:nvSpPr>
          <p:cNvPr id="19" name="Shape 16"/>
          <p:cNvSpPr/>
          <p:nvPr/>
        </p:nvSpPr>
        <p:spPr>
          <a:xfrm>
            <a:off x="548640" y="1874520"/>
            <a:ext cx="3515258" cy="4114800"/>
          </a:xfrm>
          <a:prstGeom prst="roundRect">
            <a:avLst>
              <a:gd name="adj" fmla="val 3121"/>
            </a:avLst>
          </a:prstGeom>
          <a:solidFill>
            <a:srgbClr val="FFFFFF"/>
          </a:solidFill>
          <a:ln w="19050">
            <a:solidFill>
              <a:srgbClr val="DCD7C8"/>
            </a:solidFill>
            <a:prstDash val="solid"/>
          </a:ln>
        </p:spPr>
      </p:sp>
      <p:sp>
        <p:nvSpPr>
          <p:cNvPr id="20" name="Shape 17"/>
          <p:cNvSpPr/>
          <p:nvPr/>
        </p:nvSpPr>
        <p:spPr>
          <a:xfrm>
            <a:off x="822960" y="2103120"/>
            <a:ext cx="685800" cy="685800"/>
          </a:xfrm>
          <a:prstGeom prst="ellipse">
            <a:avLst/>
          </a:prstGeom>
          <a:solidFill>
            <a:srgbClr val="F3F0E6"/>
          </a:solidFill>
          <a:ln w="12700">
            <a:solidFill>
              <a:srgbClr val="F3F0E6"/>
            </a:solidFill>
            <a:prstDash val="solid"/>
          </a:ln>
        </p:spPr>
      </p:sp>
      <p:sp>
        <p:nvSpPr>
          <p:cNvPr id="21" name="Text 18"/>
          <p:cNvSpPr txBox="1"/>
          <p:nvPr/>
        </p:nvSpPr>
        <p:spPr>
          <a:xfrm>
            <a:off x="822960" y="2103120"/>
            <a:ext cx="685800" cy="685800"/>
          </a:xfrm>
          <a:prstGeom prst="rect">
            <a:avLst/>
          </a:prstGeom>
          <a:noFill/>
          <a:ln/>
        </p:spPr>
        <p:txBody>
          <a:bodyPr wrap="square" lIns="0" tIns="0" rIns="0" bIns="0" rtlCol="0" anchor="ctr"/>
          <a:lstStyle/>
          <a:p>
            <a:pPr algn="ctr" indent="0" marL="0">
              <a:buNone/>
            </a:pPr>
            <a:r>
              <a:rPr lang="en-US" sz="2200" b="1" dirty="0">
                <a:solidFill>
                  <a:srgbClr val="6E6878"/>
                </a:solidFill>
                <a:latin typeface="Alexandria" pitchFamily="34" charset="0"/>
                <a:ea typeface="Alexandria" pitchFamily="34" charset="-122"/>
                <a:cs typeface="Alexandria" pitchFamily="34" charset="-120"/>
              </a:rPr>
              <a:t>✗</a:t>
            </a:r>
            <a:endParaRPr lang="en-US" sz="2200" dirty="0"/>
          </a:p>
        </p:txBody>
      </p:sp>
      <p:sp>
        <p:nvSpPr>
          <p:cNvPr id="22" name="Text 19"/>
          <p:cNvSpPr txBox="1"/>
          <p:nvPr/>
        </p:nvSpPr>
        <p:spPr>
          <a:xfrm>
            <a:off x="822960" y="2926080"/>
            <a:ext cx="2966618" cy="822960"/>
          </a:xfrm>
          <a:prstGeom prst="rect">
            <a:avLst/>
          </a:prstGeom>
          <a:noFill/>
          <a:ln/>
        </p:spPr>
        <p:txBody>
          <a:bodyPr wrap="square" lIns="0" tIns="0" rIns="0" bIns="0" rtlCol="0" anchor="t"/>
          <a:lstStyle/>
          <a:p>
            <a:pPr indent="0" marL="0">
              <a:buNone/>
            </a:pPr>
            <a:r>
              <a:rPr lang="en-US" sz="2000" b="1" dirty="0">
                <a:solidFill>
                  <a:srgbClr val="6E6878"/>
                </a:solidFill>
                <a:latin typeface="Alexandria" pitchFamily="34" charset="0"/>
                <a:ea typeface="Alexandria" pitchFamily="34" charset="-122"/>
                <a:cs typeface="Alexandria" pitchFamily="34" charset="-120"/>
              </a:rPr>
              <a:t>All benefits</a:t>
            </a:r>
            <a:endParaRPr lang="en-US" sz="2000" dirty="0"/>
          </a:p>
        </p:txBody>
      </p:sp>
      <p:sp>
        <p:nvSpPr>
          <p:cNvPr id="23" name="Text 20"/>
          <p:cNvSpPr txBox="1"/>
          <p:nvPr/>
        </p:nvSpPr>
        <p:spPr>
          <a:xfrm>
            <a:off x="822960" y="3749040"/>
            <a:ext cx="2966618" cy="91440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Liệt kê mọi lợi ích</a:t>
            </a:r>
            <a:endParaRPr lang="en-US" sz="1500" dirty="0"/>
          </a:p>
        </p:txBody>
      </p:sp>
      <p:sp>
        <p:nvSpPr>
          <p:cNvPr id="24" name="Text 21"/>
          <p:cNvSpPr txBox="1"/>
          <p:nvPr/>
        </p:nvSpPr>
        <p:spPr>
          <a:xfrm>
            <a:off x="822960" y="4754880"/>
            <a:ext cx="2966618" cy="1097280"/>
          </a:xfrm>
          <a:prstGeom prst="rect">
            <a:avLst/>
          </a:prstGeom>
          <a:noFill/>
          <a:ln/>
        </p:spPr>
        <p:txBody>
          <a:bodyPr wrap="square" lIns="0" tIns="0" rIns="0" bIns="0" rtlCol="0" anchor="t"/>
          <a:lstStyle/>
          <a:p>
            <a:pPr indent="0" marL="0">
              <a:buNone/>
            </a:pPr>
            <a:r>
              <a:rPr lang="en-US" sz="1300" i="1" dirty="0">
                <a:solidFill>
                  <a:srgbClr val="6E6878"/>
                </a:solidFill>
                <a:latin typeface="Alexandria" pitchFamily="34" charset="0"/>
                <a:ea typeface="Alexandria" pitchFamily="34" charset="-122"/>
                <a:cs typeface="Alexandria" pitchFamily="34" charset="-120"/>
              </a:rPr>
              <a:t>Dễ “tuyên bố lợi ích” không có thật với khách hàng</a:t>
            </a:r>
            <a:endParaRPr lang="en-US" sz="1300" dirty="0"/>
          </a:p>
        </p:txBody>
      </p:sp>
      <p:sp>
        <p:nvSpPr>
          <p:cNvPr id="25" name="Shape 22"/>
          <p:cNvSpPr/>
          <p:nvPr/>
        </p:nvSpPr>
        <p:spPr>
          <a:xfrm>
            <a:off x="4338218" y="1874520"/>
            <a:ext cx="3515258" cy="4114800"/>
          </a:xfrm>
          <a:prstGeom prst="roundRect">
            <a:avLst>
              <a:gd name="adj" fmla="val 3121"/>
            </a:avLst>
          </a:prstGeom>
          <a:solidFill>
            <a:srgbClr val="DDF1FB"/>
          </a:solidFill>
          <a:ln w="19050">
            <a:solidFill>
              <a:srgbClr val="09A1E5"/>
            </a:solidFill>
            <a:prstDash val="solid"/>
          </a:ln>
        </p:spPr>
      </p:sp>
      <p:sp>
        <p:nvSpPr>
          <p:cNvPr id="26" name="Shape 23"/>
          <p:cNvSpPr/>
          <p:nvPr/>
        </p:nvSpPr>
        <p:spPr>
          <a:xfrm>
            <a:off x="4612538" y="2103120"/>
            <a:ext cx="685800" cy="685800"/>
          </a:xfrm>
          <a:prstGeom prst="ellipse">
            <a:avLst/>
          </a:prstGeom>
          <a:solidFill>
            <a:srgbClr val="09A1E5"/>
          </a:solidFill>
          <a:ln w="12700">
            <a:solidFill>
              <a:srgbClr val="09A1E5"/>
            </a:solidFill>
            <a:prstDash val="solid"/>
          </a:ln>
        </p:spPr>
      </p:sp>
      <p:sp>
        <p:nvSpPr>
          <p:cNvPr id="27" name="Text 24"/>
          <p:cNvSpPr txBox="1"/>
          <p:nvPr/>
        </p:nvSpPr>
        <p:spPr>
          <a:xfrm>
            <a:off x="4612538" y="210312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a:t>
            </a:r>
            <a:endParaRPr lang="en-US" sz="2200" dirty="0"/>
          </a:p>
        </p:txBody>
      </p:sp>
      <p:sp>
        <p:nvSpPr>
          <p:cNvPr id="28" name="Text 25"/>
          <p:cNvSpPr txBox="1"/>
          <p:nvPr/>
        </p:nvSpPr>
        <p:spPr>
          <a:xfrm>
            <a:off x="4612538" y="2926080"/>
            <a:ext cx="2966618" cy="822960"/>
          </a:xfrm>
          <a:prstGeom prst="rect">
            <a:avLst/>
          </a:prstGeom>
          <a:noFill/>
          <a:ln/>
        </p:spPr>
        <p:txBody>
          <a:bodyPr wrap="square" lIns="0" tIns="0" rIns="0" bIns="0" rtlCol="0" anchor="t"/>
          <a:lstStyle/>
          <a:p>
            <a:pPr indent="0" marL="0">
              <a:buNone/>
            </a:pPr>
            <a:r>
              <a:rPr lang="en-US" sz="2000" b="1" dirty="0">
                <a:solidFill>
                  <a:srgbClr val="2A2238"/>
                </a:solidFill>
                <a:latin typeface="Alexandria" pitchFamily="34" charset="0"/>
                <a:ea typeface="Alexandria" pitchFamily="34" charset="-122"/>
                <a:cs typeface="Alexandria" pitchFamily="34" charset="-120"/>
              </a:rPr>
              <a:t>Favorable points of difference</a:t>
            </a:r>
            <a:endParaRPr lang="en-US" sz="2000" dirty="0"/>
          </a:p>
        </p:txBody>
      </p:sp>
      <p:sp>
        <p:nvSpPr>
          <p:cNvPr id="29" name="Text 26"/>
          <p:cNvSpPr txBox="1"/>
          <p:nvPr/>
        </p:nvSpPr>
        <p:spPr>
          <a:xfrm>
            <a:off x="4612538" y="3749040"/>
            <a:ext cx="2966618" cy="91440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Điểm khác biệt có lợi so với đối thủ</a:t>
            </a:r>
            <a:endParaRPr lang="en-US" sz="1500" dirty="0"/>
          </a:p>
        </p:txBody>
      </p:sp>
      <p:sp>
        <p:nvSpPr>
          <p:cNvPr id="30" name="Text 27"/>
          <p:cNvSpPr txBox="1"/>
          <p:nvPr/>
        </p:nvSpPr>
        <p:spPr>
          <a:xfrm>
            <a:off x="4612538" y="4754880"/>
            <a:ext cx="2966618" cy="1097280"/>
          </a:xfrm>
          <a:prstGeom prst="rect">
            <a:avLst/>
          </a:prstGeom>
          <a:noFill/>
          <a:ln/>
        </p:spPr>
        <p:txBody>
          <a:bodyPr wrap="square" lIns="0" tIns="0" rIns="0" bIns="0" rtlCol="0" anchor="t"/>
          <a:lstStyle/>
          <a:p>
            <a:pPr indent="0" marL="0">
              <a:buNone/>
            </a:pPr>
            <a:r>
              <a:rPr lang="en-US" sz="1300" i="1" dirty="0">
                <a:solidFill>
                  <a:srgbClr val="6E6878"/>
                </a:solidFill>
                <a:latin typeface="Alexandria" pitchFamily="34" charset="0"/>
                <a:ea typeface="Alexandria" pitchFamily="34" charset="-122"/>
                <a:cs typeface="Alexandria" pitchFamily="34" charset="-120"/>
              </a:rPr>
              <a:t>Khác biệt chưa chắc có giá trị với khách hàng này</a:t>
            </a:r>
            <a:endParaRPr lang="en-US" sz="1300" dirty="0"/>
          </a:p>
        </p:txBody>
      </p:sp>
      <p:sp>
        <p:nvSpPr>
          <p:cNvPr id="31" name="Shape 28"/>
          <p:cNvSpPr/>
          <p:nvPr/>
        </p:nvSpPr>
        <p:spPr>
          <a:xfrm>
            <a:off x="8127797" y="1874520"/>
            <a:ext cx="3515258" cy="4114800"/>
          </a:xfrm>
          <a:prstGeom prst="roundRect">
            <a:avLst>
              <a:gd name="adj" fmla="val 3121"/>
            </a:avLst>
          </a:prstGeom>
          <a:solidFill>
            <a:srgbClr val="F1E1EE"/>
          </a:solidFill>
          <a:ln w="38100">
            <a:solidFill>
              <a:srgbClr val="962B7C"/>
            </a:solidFill>
            <a:prstDash val="solid"/>
          </a:ln>
        </p:spPr>
      </p:sp>
      <p:sp>
        <p:nvSpPr>
          <p:cNvPr id="32" name="Shape 29"/>
          <p:cNvSpPr/>
          <p:nvPr/>
        </p:nvSpPr>
        <p:spPr>
          <a:xfrm>
            <a:off x="8402117" y="2103120"/>
            <a:ext cx="685800" cy="685800"/>
          </a:xfrm>
          <a:prstGeom prst="ellipse">
            <a:avLst/>
          </a:prstGeom>
          <a:solidFill>
            <a:srgbClr val="962B7C"/>
          </a:solidFill>
          <a:ln w="12700">
            <a:solidFill>
              <a:srgbClr val="962B7C"/>
            </a:solidFill>
            <a:prstDash val="solid"/>
          </a:ln>
        </p:spPr>
      </p:sp>
      <p:sp>
        <p:nvSpPr>
          <p:cNvPr id="33" name="Text 30"/>
          <p:cNvSpPr txBox="1"/>
          <p:nvPr/>
        </p:nvSpPr>
        <p:spPr>
          <a:xfrm>
            <a:off x="8402117" y="210312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a:t>
            </a:r>
            <a:endParaRPr lang="en-US" sz="2200" dirty="0"/>
          </a:p>
        </p:txBody>
      </p:sp>
      <p:sp>
        <p:nvSpPr>
          <p:cNvPr id="34" name="Text 31"/>
          <p:cNvSpPr txBox="1"/>
          <p:nvPr/>
        </p:nvSpPr>
        <p:spPr>
          <a:xfrm>
            <a:off x="8402117" y="2926080"/>
            <a:ext cx="2966618" cy="822960"/>
          </a:xfrm>
          <a:prstGeom prst="rect">
            <a:avLst/>
          </a:prstGeom>
          <a:noFill/>
          <a:ln/>
        </p:spPr>
        <p:txBody>
          <a:bodyPr wrap="square" lIns="0" tIns="0" rIns="0" bIns="0" rtlCol="0" anchor="t"/>
          <a:lstStyle/>
          <a:p>
            <a:pPr indent="0" marL="0">
              <a:buNone/>
            </a:pPr>
            <a:r>
              <a:rPr lang="en-US" sz="2000" b="1" dirty="0">
                <a:solidFill>
                  <a:srgbClr val="2A2238"/>
                </a:solidFill>
                <a:latin typeface="Alexandria" pitchFamily="34" charset="0"/>
                <a:ea typeface="Alexandria" pitchFamily="34" charset="-122"/>
                <a:cs typeface="Alexandria" pitchFamily="34" charset="-120"/>
              </a:rPr>
              <a:t>Resonating focus</a:t>
            </a:r>
            <a:endParaRPr lang="en-US" sz="2000" dirty="0"/>
          </a:p>
        </p:txBody>
      </p:sp>
      <p:sp>
        <p:nvSpPr>
          <p:cNvPr id="35" name="Text 32"/>
          <p:cNvSpPr txBox="1"/>
          <p:nvPr/>
        </p:nvSpPr>
        <p:spPr>
          <a:xfrm>
            <a:off x="8402117" y="3749040"/>
            <a:ext cx="2966618" cy="91440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1–2 điểm khác biệt tạo giá trị lớn nhất cho khách hàng</a:t>
            </a:r>
            <a:endParaRPr lang="en-US" sz="1500" dirty="0"/>
          </a:p>
        </p:txBody>
      </p:sp>
      <p:sp>
        <p:nvSpPr>
          <p:cNvPr id="36" name="Text 33"/>
          <p:cNvSpPr txBox="1"/>
          <p:nvPr/>
        </p:nvSpPr>
        <p:spPr>
          <a:xfrm>
            <a:off x="8402117" y="4754880"/>
            <a:ext cx="2966618" cy="1097280"/>
          </a:xfrm>
          <a:prstGeom prst="rect">
            <a:avLst/>
          </a:prstGeom>
          <a:noFill/>
          <a:ln/>
        </p:spPr>
        <p:txBody>
          <a:bodyPr wrap="square" lIns="0" tIns="0" rIns="0" bIns="0" rtlCol="0" anchor="t"/>
          <a:lstStyle/>
          <a:p>
            <a:pPr indent="0" marL="0">
              <a:buNone/>
            </a:pPr>
            <a:r>
              <a:rPr lang="en-US" sz="1300" i="1" dirty="0">
                <a:solidFill>
                  <a:srgbClr val="6E6878"/>
                </a:solidFill>
                <a:latin typeface="Alexandria" pitchFamily="34" charset="0"/>
                <a:ea typeface="Alexandria" pitchFamily="34" charset="-122"/>
                <a:cs typeface="Alexandria" pitchFamily="34" charset="-120"/>
              </a:rPr>
              <a:t>Cần hiểu sâu khách hàng — nên dùng</a:t>
            </a:r>
            <a:endParaRPr lang="en-US" sz="1300" dirty="0"/>
          </a:p>
        </p:txBody>
      </p:sp>
      <p:sp>
        <p:nvSpPr>
          <p:cNvPr id="37" name="Shape 34"/>
          <p:cNvSpPr/>
          <p:nvPr/>
        </p:nvSpPr>
        <p:spPr>
          <a:xfrm>
            <a:off x="9631375" y="1325880"/>
            <a:ext cx="2011680" cy="365760"/>
          </a:xfrm>
          <a:prstGeom prst="roundRect">
            <a:avLst>
              <a:gd name="adj" fmla="val 50000"/>
            </a:avLst>
          </a:prstGeom>
          <a:solidFill>
            <a:srgbClr val="FFD23B"/>
          </a:solidFill>
          <a:ln w="12700">
            <a:solidFill>
              <a:srgbClr val="FFD23B"/>
            </a:solidFill>
            <a:prstDash val="solid"/>
          </a:ln>
        </p:spPr>
      </p:sp>
      <p:sp>
        <p:nvSpPr>
          <p:cNvPr id="38" name="Text 35"/>
          <p:cNvSpPr txBox="1"/>
          <p:nvPr/>
        </p:nvSpPr>
        <p:spPr>
          <a:xfrm>
            <a:off x="9704527" y="1325880"/>
            <a:ext cx="1865376" cy="365760"/>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[VERIFY]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5.1 Cấu trúc CVP</a:t>
            </a:r>
            <a:endParaRPr lang="en-US" sz="1000" dirty="0"/>
          </a:p>
        </p:txBody>
      </p:sp>
      <p:sp>
        <p:nvSpPr>
          <p:cNvPr id="6" name="Shape 4"/>
          <p:cNvSpPr/>
          <p:nvPr/>
        </p:nvSpPr>
        <p:spPr>
          <a:xfrm>
            <a:off x="2990088"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5.2 Năm nguồn giá trị</a:t>
            </a:r>
            <a:endParaRPr lang="en-US" sz="1000" dirty="0"/>
          </a:p>
        </p:txBody>
      </p:sp>
      <p:sp>
        <p:nvSpPr>
          <p:cNvPr id="8" name="Shape 6"/>
          <p:cNvSpPr/>
          <p:nvPr/>
        </p:nvSpPr>
        <p:spPr>
          <a:xfrm>
            <a:off x="4988052" y="274320"/>
            <a:ext cx="157734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5.3 Đồng kiến tạo</a:t>
            </a:r>
            <a:endParaRPr lang="en-US" sz="1000" dirty="0"/>
          </a:p>
        </p:txBody>
      </p:sp>
      <p:sp>
        <p:nvSpPr>
          <p:cNvPr id="10" name="Shape 8"/>
          <p:cNvSpPr/>
          <p:nvPr/>
        </p:nvSpPr>
        <p:spPr>
          <a:xfrm>
            <a:off x="6675120"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675120"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334670"/>
            <a:ext cx="107533" cy="268834"/>
          </a:xfrm>
          <a:prstGeom prst="rect">
            <a:avLst/>
          </a:prstGeom>
          <a:solidFill>
            <a:srgbClr val="09A1E5"/>
          </a:solidFill>
          <a:ln w="12700">
            <a:solidFill>
              <a:srgbClr val="09A1E5"/>
            </a:solidFill>
            <a:prstDash val="solid"/>
          </a:ln>
        </p:spPr>
      </p:sp>
      <p:sp>
        <p:nvSpPr>
          <p:cNvPr id="13" name="Shape 11"/>
          <p:cNvSpPr/>
          <p:nvPr/>
        </p:nvSpPr>
        <p:spPr>
          <a:xfrm>
            <a:off x="11535522" y="334670"/>
            <a:ext cx="107533" cy="268834"/>
          </a:xfrm>
          <a:prstGeom prst="rect">
            <a:avLst/>
          </a:prstGeom>
          <a:solidFill>
            <a:srgbClr val="962B7C"/>
          </a:solidFill>
          <a:ln w="12700">
            <a:solidFill>
              <a:srgbClr val="962B7C"/>
            </a:solidFill>
            <a:prstDash val="solid"/>
          </a:ln>
        </p:spPr>
      </p:sp>
      <p:sp>
        <p:nvSpPr>
          <p:cNvPr id="14" name="Shape 12"/>
          <p:cNvSpPr/>
          <p:nvPr/>
        </p:nvSpPr>
        <p:spPr>
          <a:xfrm>
            <a:off x="11259007" y="250180"/>
            <a:ext cx="384048" cy="61448"/>
          </a:xfrm>
          <a:prstGeom prst="rect">
            <a:avLst/>
          </a:prstGeom>
          <a:solidFill>
            <a:srgbClr val="FFD23B"/>
          </a:solidFill>
          <a:ln w="12700">
            <a:solidFill>
              <a:srgbClr val="FFD23B"/>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CVP là đóng góp vào lợi nhuận của khách hàng, quy ra tiền</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E04: McDonald, How to create financially quantified value propositions in six (actionable!) steps, SAMA.</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5</a:t>
            </a:r>
            <a:endParaRPr lang="en-US" sz="1000" dirty="0"/>
          </a:p>
        </p:txBody>
      </p:sp>
      <p:sp>
        <p:nvSpPr>
          <p:cNvPr id="19" name="Shape 16"/>
          <p:cNvSpPr/>
          <p:nvPr/>
        </p:nvSpPr>
        <p:spPr>
          <a:xfrm>
            <a:off x="548640" y="1920240"/>
            <a:ext cx="11094415" cy="2286000"/>
          </a:xfrm>
          <a:prstGeom prst="roundRect">
            <a:avLst>
              <a:gd name="adj" fmla="val 4800"/>
            </a:avLst>
          </a:prstGeom>
          <a:solidFill>
            <a:srgbClr val="F1E1EE"/>
          </a:solidFill>
          <a:ln w="12700">
            <a:solidFill>
              <a:srgbClr val="962B7C"/>
            </a:solidFill>
            <a:prstDash val="solid"/>
          </a:ln>
        </p:spPr>
      </p:sp>
      <p:sp>
        <p:nvSpPr>
          <p:cNvPr id="20" name="Text 17"/>
          <p:cNvSpPr txBox="1"/>
          <p:nvPr/>
        </p:nvSpPr>
        <p:spPr>
          <a:xfrm>
            <a:off x="1005840" y="1920240"/>
            <a:ext cx="10180015" cy="2286000"/>
          </a:xfrm>
          <a:prstGeom prst="rect">
            <a:avLst/>
          </a:prstGeom>
          <a:noFill/>
          <a:ln/>
        </p:spPr>
        <p:txBody>
          <a:bodyPr wrap="square" lIns="0" tIns="0" rIns="0" bIns="0" rtlCol="0" anchor="ctr"/>
          <a:lstStyle/>
          <a:p>
            <a:pPr algn="ctr" indent="0" marL="0">
              <a:spcAft>
                <a:spcPts val="800"/>
              </a:spcAft>
              <a:buNone/>
            </a:pPr>
            <a:r>
              <a:rPr lang="en-US" sz="2400" i="1" dirty="0">
                <a:solidFill>
                  <a:srgbClr val="2A2238"/>
                </a:solidFill>
                <a:latin typeface="Alexandria" pitchFamily="34" charset="0"/>
                <a:ea typeface="Alexandria" pitchFamily="34" charset="-122"/>
                <a:cs typeface="Alexandria" pitchFamily="34" charset="-120"/>
              </a:rPr>
              <a:t>“the translation of the supplier’s offers into monetary terms that demonstrate their contribution to the customer’s profitability.”</a:t>
            </a:r>
            <a:endParaRPr lang="en-US" sz="2400" dirty="0"/>
          </a:p>
          <a:p>
            <a:pPr algn="ctr" indent="0" marL="0">
              <a:spcAft>
                <a:spcPts val="800"/>
              </a:spcAft>
              <a:buNone/>
            </a:pPr>
            <a:r>
              <a:rPr lang="en-US" sz="1400" dirty="0">
                <a:solidFill>
                  <a:srgbClr val="6E6878"/>
                </a:solidFill>
                <a:latin typeface="Alexandria" pitchFamily="34" charset="0"/>
                <a:ea typeface="Alexandria" pitchFamily="34" charset="-122"/>
                <a:cs typeface="Alexandria" pitchFamily="34" charset="-120"/>
              </a:rPr>
              <a:t>— Malcolm McDonald (E04)</a:t>
            </a:r>
            <a:endParaRPr lang="en-US" sz="2400" dirty="0"/>
          </a:p>
        </p:txBody>
      </p:sp>
      <p:sp>
        <p:nvSpPr>
          <p:cNvPr id="21" name="Shape 18"/>
          <p:cNvSpPr/>
          <p:nvPr/>
        </p:nvSpPr>
        <p:spPr>
          <a:xfrm>
            <a:off x="548640" y="4572000"/>
            <a:ext cx="3332378" cy="685800"/>
          </a:xfrm>
          <a:prstGeom prst="roundRect">
            <a:avLst>
              <a:gd name="adj" fmla="val 50000"/>
            </a:avLst>
          </a:prstGeom>
          <a:solidFill>
            <a:srgbClr val="962B7C"/>
          </a:solidFill>
          <a:ln w="12700">
            <a:solidFill>
              <a:srgbClr val="962B7C"/>
            </a:solidFill>
            <a:prstDash val="solid"/>
          </a:ln>
        </p:spPr>
      </p:sp>
      <p:sp>
        <p:nvSpPr>
          <p:cNvPr id="22" name="Text 19"/>
          <p:cNvSpPr txBox="1"/>
          <p:nvPr/>
        </p:nvSpPr>
        <p:spPr>
          <a:xfrm>
            <a:off x="621792" y="4572000"/>
            <a:ext cx="3186074" cy="68580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offers</a:t>
            </a:r>
            <a:endParaRPr lang="en-US" sz="1700" dirty="0"/>
          </a:p>
        </p:txBody>
      </p:sp>
      <p:sp>
        <p:nvSpPr>
          <p:cNvPr id="23" name="Text 20"/>
          <p:cNvSpPr txBox="1"/>
          <p:nvPr/>
        </p:nvSpPr>
        <p:spPr>
          <a:xfrm>
            <a:off x="548640" y="5349240"/>
            <a:ext cx="3332378" cy="457200"/>
          </a:xfrm>
          <a:prstGeom prst="rect">
            <a:avLst/>
          </a:prstGeom>
          <a:noFill/>
          <a:ln/>
        </p:spPr>
        <p:txBody>
          <a:bodyPr wrap="square" lIns="0" tIns="0" rIns="0" bIns="0" rtlCol="0" anchor="ctr"/>
          <a:lstStyle/>
          <a:p>
            <a:pPr algn="ctr" indent="0" marL="0">
              <a:buNone/>
            </a:pPr>
            <a:r>
              <a:rPr lang="en-US" sz="1500" dirty="0">
                <a:solidFill>
                  <a:srgbClr val="6E6878"/>
                </a:solidFill>
                <a:latin typeface="Alexandria" pitchFamily="34" charset="0"/>
                <a:ea typeface="Alexandria" pitchFamily="34" charset="-122"/>
                <a:cs typeface="Alexandria" pitchFamily="34" charset="-120"/>
              </a:rPr>
              <a:t>những gì agency đưa</a:t>
            </a:r>
            <a:endParaRPr lang="en-US" sz="1500" dirty="0"/>
          </a:p>
        </p:txBody>
      </p:sp>
      <p:sp>
        <p:nvSpPr>
          <p:cNvPr id="24" name="Shape 21"/>
          <p:cNvSpPr/>
          <p:nvPr/>
        </p:nvSpPr>
        <p:spPr>
          <a:xfrm>
            <a:off x="3954170" y="4914900"/>
            <a:ext cx="402336" cy="914"/>
          </a:xfrm>
          <a:prstGeom prst="line">
            <a:avLst/>
          </a:prstGeom>
          <a:noFill/>
          <a:ln w="38100">
            <a:solidFill>
              <a:srgbClr val="2A2238"/>
            </a:solidFill>
            <a:prstDash val="solid"/>
            <a:tailEnd type="triangle"/>
          </a:ln>
        </p:spPr>
      </p:sp>
      <p:sp>
        <p:nvSpPr>
          <p:cNvPr id="25" name="Shape 22"/>
          <p:cNvSpPr/>
          <p:nvPr/>
        </p:nvSpPr>
        <p:spPr>
          <a:xfrm>
            <a:off x="4429658" y="4572000"/>
            <a:ext cx="3332378" cy="685800"/>
          </a:xfrm>
          <a:prstGeom prst="roundRect">
            <a:avLst>
              <a:gd name="adj" fmla="val 50000"/>
            </a:avLst>
          </a:prstGeom>
          <a:solidFill>
            <a:srgbClr val="FFD23B"/>
          </a:solidFill>
          <a:ln w="12700">
            <a:solidFill>
              <a:srgbClr val="FFD23B"/>
            </a:solidFill>
            <a:prstDash val="solid"/>
          </a:ln>
        </p:spPr>
      </p:sp>
      <p:sp>
        <p:nvSpPr>
          <p:cNvPr id="26" name="Text 23"/>
          <p:cNvSpPr txBox="1"/>
          <p:nvPr/>
        </p:nvSpPr>
        <p:spPr>
          <a:xfrm>
            <a:off x="4502810" y="4572000"/>
            <a:ext cx="3186074" cy="685800"/>
          </a:xfrm>
          <a:prstGeom prst="rect">
            <a:avLst/>
          </a:prstGeom>
          <a:noFill/>
          <a:ln/>
        </p:spPr>
        <p:txBody>
          <a:bodyPr wrap="square" lIns="0" tIns="0" rIns="0" bIns="0" rtlCol="0" anchor="ctr"/>
          <a:lstStyle/>
          <a:p>
            <a:pPr algn="ctr" indent="0" marL="0">
              <a:buNone/>
            </a:pPr>
            <a:r>
              <a:rPr lang="en-US" sz="1700" b="1" dirty="0">
                <a:solidFill>
                  <a:srgbClr val="2A2238"/>
                </a:solidFill>
                <a:latin typeface="Alexandria" pitchFamily="34" charset="0"/>
                <a:ea typeface="Alexandria" pitchFamily="34" charset="-122"/>
                <a:cs typeface="Alexandria" pitchFamily="34" charset="-120"/>
              </a:rPr>
              <a:t>monetary terms</a:t>
            </a:r>
            <a:endParaRPr lang="en-US" sz="1700" dirty="0"/>
          </a:p>
        </p:txBody>
      </p:sp>
      <p:sp>
        <p:nvSpPr>
          <p:cNvPr id="27" name="Text 24"/>
          <p:cNvSpPr txBox="1"/>
          <p:nvPr/>
        </p:nvSpPr>
        <p:spPr>
          <a:xfrm>
            <a:off x="4429658" y="5349240"/>
            <a:ext cx="3332378" cy="457200"/>
          </a:xfrm>
          <a:prstGeom prst="rect">
            <a:avLst/>
          </a:prstGeom>
          <a:noFill/>
          <a:ln/>
        </p:spPr>
        <p:txBody>
          <a:bodyPr wrap="square" lIns="0" tIns="0" rIns="0" bIns="0" rtlCol="0" anchor="ctr"/>
          <a:lstStyle/>
          <a:p>
            <a:pPr algn="ctr" indent="0" marL="0">
              <a:buNone/>
            </a:pPr>
            <a:r>
              <a:rPr lang="en-US" sz="1500" dirty="0">
                <a:solidFill>
                  <a:srgbClr val="6E6878"/>
                </a:solidFill>
                <a:latin typeface="Alexandria" pitchFamily="34" charset="0"/>
                <a:ea typeface="Alexandria" pitchFamily="34" charset="-122"/>
                <a:cs typeface="Alexandria" pitchFamily="34" charset="-120"/>
              </a:rPr>
              <a:t>quy ra tiền</a:t>
            </a:r>
            <a:endParaRPr lang="en-US" sz="1500" dirty="0"/>
          </a:p>
        </p:txBody>
      </p:sp>
      <p:sp>
        <p:nvSpPr>
          <p:cNvPr id="28" name="Shape 25"/>
          <p:cNvSpPr/>
          <p:nvPr/>
        </p:nvSpPr>
        <p:spPr>
          <a:xfrm>
            <a:off x="7835189" y="4914900"/>
            <a:ext cx="402336" cy="914"/>
          </a:xfrm>
          <a:prstGeom prst="line">
            <a:avLst/>
          </a:prstGeom>
          <a:noFill/>
          <a:ln w="38100">
            <a:solidFill>
              <a:srgbClr val="2A2238"/>
            </a:solidFill>
            <a:prstDash val="solid"/>
            <a:tailEnd type="triangle"/>
          </a:ln>
        </p:spPr>
      </p:sp>
      <p:sp>
        <p:nvSpPr>
          <p:cNvPr id="29" name="Shape 26"/>
          <p:cNvSpPr/>
          <p:nvPr/>
        </p:nvSpPr>
        <p:spPr>
          <a:xfrm>
            <a:off x="8310677" y="4572000"/>
            <a:ext cx="3332378" cy="685800"/>
          </a:xfrm>
          <a:prstGeom prst="roundRect">
            <a:avLst>
              <a:gd name="adj" fmla="val 50000"/>
            </a:avLst>
          </a:prstGeom>
          <a:solidFill>
            <a:srgbClr val="09A1E5"/>
          </a:solidFill>
          <a:ln w="12700">
            <a:solidFill>
              <a:srgbClr val="09A1E5"/>
            </a:solidFill>
            <a:prstDash val="solid"/>
          </a:ln>
        </p:spPr>
      </p:sp>
      <p:sp>
        <p:nvSpPr>
          <p:cNvPr id="30" name="Text 27"/>
          <p:cNvSpPr txBox="1"/>
          <p:nvPr/>
        </p:nvSpPr>
        <p:spPr>
          <a:xfrm>
            <a:off x="8383829" y="4572000"/>
            <a:ext cx="3186074" cy="68580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customer’s profitability</a:t>
            </a:r>
            <a:endParaRPr lang="en-US" sz="1700" dirty="0"/>
          </a:p>
        </p:txBody>
      </p:sp>
      <p:sp>
        <p:nvSpPr>
          <p:cNvPr id="31" name="Text 28"/>
          <p:cNvSpPr txBox="1"/>
          <p:nvPr/>
        </p:nvSpPr>
        <p:spPr>
          <a:xfrm>
            <a:off x="8310677" y="5349240"/>
            <a:ext cx="3332378" cy="457200"/>
          </a:xfrm>
          <a:prstGeom prst="rect">
            <a:avLst/>
          </a:prstGeom>
          <a:noFill/>
          <a:ln/>
        </p:spPr>
        <p:txBody>
          <a:bodyPr wrap="square" lIns="0" tIns="0" rIns="0" bIns="0" rtlCol="0" anchor="ctr"/>
          <a:lstStyle/>
          <a:p>
            <a:pPr algn="ctr" indent="0" marL="0">
              <a:buNone/>
            </a:pPr>
            <a:r>
              <a:rPr lang="en-US" sz="1500" dirty="0">
                <a:solidFill>
                  <a:srgbClr val="6E6878"/>
                </a:solidFill>
                <a:latin typeface="Alexandria" pitchFamily="34" charset="0"/>
                <a:ea typeface="Alexandria" pitchFamily="34" charset="-122"/>
                <a:cs typeface="Alexandria" pitchFamily="34" charset="-120"/>
              </a:rPr>
              <a:t>lợi nhuận của khách hàng</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5.1 Cấu trúc CVP</a:t>
            </a:r>
            <a:endParaRPr lang="en-US" sz="1000" dirty="0"/>
          </a:p>
        </p:txBody>
      </p:sp>
      <p:sp>
        <p:nvSpPr>
          <p:cNvPr id="6" name="Shape 4"/>
          <p:cNvSpPr/>
          <p:nvPr/>
        </p:nvSpPr>
        <p:spPr>
          <a:xfrm>
            <a:off x="2990088"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5.2 Năm nguồn giá trị</a:t>
            </a:r>
            <a:endParaRPr lang="en-US" sz="1000" dirty="0"/>
          </a:p>
        </p:txBody>
      </p:sp>
      <p:sp>
        <p:nvSpPr>
          <p:cNvPr id="8" name="Shape 6"/>
          <p:cNvSpPr/>
          <p:nvPr/>
        </p:nvSpPr>
        <p:spPr>
          <a:xfrm>
            <a:off x="4988052" y="274320"/>
            <a:ext cx="157734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5.3 Đồng kiến tạo</a:t>
            </a:r>
            <a:endParaRPr lang="en-US" sz="1000" dirty="0"/>
          </a:p>
        </p:txBody>
      </p:sp>
      <p:sp>
        <p:nvSpPr>
          <p:cNvPr id="10" name="Shape 8"/>
          <p:cNvSpPr/>
          <p:nvPr/>
        </p:nvSpPr>
        <p:spPr>
          <a:xfrm>
            <a:off x="6675120"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675120"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334670"/>
            <a:ext cx="107533" cy="268834"/>
          </a:xfrm>
          <a:prstGeom prst="rect">
            <a:avLst/>
          </a:prstGeom>
          <a:solidFill>
            <a:srgbClr val="09A1E5"/>
          </a:solidFill>
          <a:ln w="12700">
            <a:solidFill>
              <a:srgbClr val="09A1E5"/>
            </a:solidFill>
            <a:prstDash val="solid"/>
          </a:ln>
        </p:spPr>
      </p:sp>
      <p:sp>
        <p:nvSpPr>
          <p:cNvPr id="13" name="Shape 11"/>
          <p:cNvSpPr/>
          <p:nvPr/>
        </p:nvSpPr>
        <p:spPr>
          <a:xfrm>
            <a:off x="11535522" y="334670"/>
            <a:ext cx="107533" cy="268834"/>
          </a:xfrm>
          <a:prstGeom prst="rect">
            <a:avLst/>
          </a:prstGeom>
          <a:solidFill>
            <a:srgbClr val="962B7C"/>
          </a:solidFill>
          <a:ln w="12700">
            <a:solidFill>
              <a:srgbClr val="962B7C"/>
            </a:solidFill>
            <a:prstDash val="solid"/>
          </a:ln>
        </p:spPr>
      </p:sp>
      <p:sp>
        <p:nvSpPr>
          <p:cNvPr id="14" name="Shape 12"/>
          <p:cNvSpPr/>
          <p:nvPr/>
        </p:nvSpPr>
        <p:spPr>
          <a:xfrm>
            <a:off x="11259007" y="250180"/>
            <a:ext cx="384048" cy="61448"/>
          </a:xfrm>
          <a:prstGeom prst="rect">
            <a:avLst/>
          </a:prstGeom>
          <a:solidFill>
            <a:srgbClr val="FFD23B"/>
          </a:solidFill>
          <a:ln w="12700">
            <a:solidFill>
              <a:srgbClr val="FFD23B"/>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CVP có ba phần: Future state – Offering – Value appraisal</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Định nghĩa làm việc của môn — nguồn gốc cấu trúc trong đề cương chưa tìm được bản công khai.</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6</a:t>
            </a:r>
            <a:endParaRPr lang="en-US" sz="1000" dirty="0"/>
          </a:p>
        </p:txBody>
      </p:sp>
      <p:sp>
        <p:nvSpPr>
          <p:cNvPr id="19" name="Shape 16"/>
          <p:cNvSpPr/>
          <p:nvPr/>
        </p:nvSpPr>
        <p:spPr>
          <a:xfrm>
            <a:off x="548640" y="1783080"/>
            <a:ext cx="3291840" cy="384048"/>
          </a:xfrm>
          <a:prstGeom prst="roundRect">
            <a:avLst>
              <a:gd name="adj" fmla="val 50000"/>
            </a:avLst>
          </a:prstGeom>
          <a:solidFill>
            <a:srgbClr val="F3F0E6"/>
          </a:solidFill>
          <a:ln w="12700">
            <a:solidFill>
              <a:srgbClr val="DCD7C8"/>
            </a:solidFill>
            <a:prstDash val="solid"/>
          </a:ln>
        </p:spPr>
      </p:sp>
      <p:sp>
        <p:nvSpPr>
          <p:cNvPr id="20" name="Text 17"/>
          <p:cNvSpPr txBox="1"/>
          <p:nvPr/>
        </p:nvSpPr>
        <p:spPr>
          <a:xfrm>
            <a:off x="621792" y="1783080"/>
            <a:ext cx="3145536" cy="384048"/>
          </a:xfrm>
          <a:prstGeom prst="rect">
            <a:avLst/>
          </a:prstGeom>
          <a:noFill/>
          <a:ln/>
        </p:spPr>
        <p:txBody>
          <a:bodyPr wrap="square" lIns="0" tIns="0" rIns="0" bIns="0" rtlCol="0" anchor="ctr"/>
          <a:lstStyle/>
          <a:p>
            <a:pPr algn="ctr" indent="0" marL="0">
              <a:buNone/>
            </a:pPr>
            <a:r>
              <a:rPr lang="en-US" sz="1200" b="1" dirty="0">
                <a:solidFill>
                  <a:srgbClr val="6E6878"/>
                </a:solidFill>
                <a:latin typeface="Alexandria" pitchFamily="34" charset="0"/>
                <a:ea typeface="Alexandria" pitchFamily="34" charset="-122"/>
                <a:cs typeface="Alexandria" pitchFamily="34" charset="-120"/>
              </a:rPr>
              <a:t>Định nghĩa làm việc của môn</a:t>
            </a:r>
            <a:endParaRPr lang="en-US" sz="1200" dirty="0"/>
          </a:p>
        </p:txBody>
      </p:sp>
      <p:sp>
        <p:nvSpPr>
          <p:cNvPr id="21" name="Shape 18"/>
          <p:cNvSpPr/>
          <p:nvPr/>
        </p:nvSpPr>
        <p:spPr>
          <a:xfrm>
            <a:off x="1005840" y="2468880"/>
            <a:ext cx="10180015" cy="877824"/>
          </a:xfrm>
          <a:prstGeom prst="roundRect">
            <a:avLst>
              <a:gd name="adj" fmla="val 8333"/>
            </a:avLst>
          </a:prstGeom>
          <a:solidFill>
            <a:srgbClr val="FFD23B"/>
          </a:solidFill>
          <a:ln w="12700">
            <a:solidFill>
              <a:srgbClr val="FFD23B"/>
            </a:solidFill>
            <a:prstDash val="solid"/>
          </a:ln>
        </p:spPr>
      </p:sp>
      <p:sp>
        <p:nvSpPr>
          <p:cNvPr id="22" name="Text 19"/>
          <p:cNvSpPr txBox="1"/>
          <p:nvPr/>
        </p:nvSpPr>
        <p:spPr>
          <a:xfrm>
            <a:off x="1188720" y="2468880"/>
            <a:ext cx="9814255" cy="877824"/>
          </a:xfrm>
          <a:prstGeom prst="rect">
            <a:avLst/>
          </a:prstGeom>
          <a:noFill/>
          <a:ln/>
        </p:spPr>
        <p:txBody>
          <a:bodyPr wrap="square" lIns="0" tIns="0" rIns="0" bIns="0" rtlCol="0" anchor="ctr"/>
          <a:lstStyle/>
          <a:p>
            <a:pPr algn="ctr" indent="0" marL="0">
              <a:buNone/>
            </a:pPr>
            <a:r>
              <a:rPr lang="en-US" sz="2200" b="1" dirty="0">
                <a:solidFill>
                  <a:srgbClr val="2A2238"/>
                </a:solidFill>
                <a:latin typeface="Alexandria" pitchFamily="34" charset="0"/>
                <a:ea typeface="Alexandria" pitchFamily="34" charset="-122"/>
                <a:cs typeface="Alexandria" pitchFamily="34" charset="-120"/>
              </a:rPr>
              <a:t>Value appraisal</a:t>
            </a:r>
            <a:endParaRPr lang="en-US" sz="2200" dirty="0"/>
          </a:p>
          <a:p>
            <a:pPr algn="ctr" indent="0" marL="0">
              <a:buNone/>
            </a:pPr>
            <a:r>
              <a:rPr lang="en-US" sz="1800" dirty="0">
                <a:solidFill>
                  <a:srgbClr val="2A2238"/>
                </a:solidFill>
                <a:latin typeface="Alexandria" pitchFamily="34" charset="0"/>
                <a:ea typeface="Alexandria" pitchFamily="34" charset="-122"/>
                <a:cs typeface="Alexandria" pitchFamily="34" charset="-120"/>
              </a:rPr>
              <a:t>được bao nhiêu, đo thế nào, so với chi phí?</a:t>
            </a:r>
            <a:endParaRPr lang="en-US" sz="2200" dirty="0"/>
          </a:p>
        </p:txBody>
      </p:sp>
      <p:sp>
        <p:nvSpPr>
          <p:cNvPr id="23" name="Shape 20"/>
          <p:cNvSpPr/>
          <p:nvPr/>
        </p:nvSpPr>
        <p:spPr>
          <a:xfrm>
            <a:off x="1005840" y="3456432"/>
            <a:ext cx="3664805" cy="1938528"/>
          </a:xfrm>
          <a:prstGeom prst="roundRect">
            <a:avLst>
              <a:gd name="adj" fmla="val 5660"/>
            </a:avLst>
          </a:prstGeom>
          <a:solidFill>
            <a:srgbClr val="DDF1FB"/>
          </a:solidFill>
          <a:ln w="19050">
            <a:solidFill>
              <a:srgbClr val="09A1E5"/>
            </a:solidFill>
            <a:prstDash val="solid"/>
          </a:ln>
        </p:spPr>
      </p:sp>
      <p:sp>
        <p:nvSpPr>
          <p:cNvPr id="24" name="Text 21"/>
          <p:cNvSpPr txBox="1"/>
          <p:nvPr/>
        </p:nvSpPr>
        <p:spPr>
          <a:xfrm>
            <a:off x="1143000" y="3456432"/>
            <a:ext cx="3390485" cy="1938528"/>
          </a:xfrm>
          <a:prstGeom prst="rect">
            <a:avLst/>
          </a:prstGeom>
          <a:noFill/>
          <a:ln/>
        </p:spPr>
        <p:txBody>
          <a:bodyPr wrap="square" lIns="0" tIns="0" rIns="0" bIns="0" rtlCol="0" anchor="ctr"/>
          <a:lstStyle/>
          <a:p>
            <a:pPr algn="ctr" indent="0" marL="0">
              <a:buNone/>
            </a:pPr>
            <a:r>
              <a:rPr lang="en-US" sz="2200" b="1" dirty="0">
                <a:solidFill>
                  <a:srgbClr val="2A2238"/>
                </a:solidFill>
                <a:latin typeface="Alexandria" pitchFamily="34" charset="0"/>
                <a:ea typeface="Alexandria" pitchFamily="34" charset="-122"/>
                <a:cs typeface="Alexandria" pitchFamily="34" charset="-120"/>
              </a:rPr>
              <a:t>Future state</a:t>
            </a:r>
            <a:endParaRPr lang="en-US" sz="2200" dirty="0"/>
          </a:p>
          <a:p>
            <a:pPr algn="ctr" indent="0" marL="0">
              <a:buNone/>
            </a:pPr>
            <a:r>
              <a:rPr lang="en-US" sz="1900" dirty="0">
                <a:solidFill>
                  <a:srgbClr val="2A2238"/>
                </a:solidFill>
                <a:latin typeface="Alexandria" pitchFamily="34" charset="0"/>
                <a:ea typeface="Alexandria" pitchFamily="34" charset="-122"/>
                <a:cs typeface="Alexandria" pitchFamily="34" charset="-120"/>
              </a:rPr>
              <a:t>khách hàng muốn ở đâu sau 1–3 năm?</a:t>
            </a:r>
            <a:endParaRPr lang="en-US" sz="2200" dirty="0"/>
          </a:p>
        </p:txBody>
      </p:sp>
      <p:sp>
        <p:nvSpPr>
          <p:cNvPr id="25" name="Shape 22"/>
          <p:cNvSpPr/>
          <p:nvPr/>
        </p:nvSpPr>
        <p:spPr>
          <a:xfrm>
            <a:off x="7521050" y="3456432"/>
            <a:ext cx="3664805" cy="1938528"/>
          </a:xfrm>
          <a:prstGeom prst="roundRect">
            <a:avLst>
              <a:gd name="adj" fmla="val 5660"/>
            </a:avLst>
          </a:prstGeom>
          <a:solidFill>
            <a:srgbClr val="F1E1EE"/>
          </a:solidFill>
          <a:ln w="19050">
            <a:solidFill>
              <a:srgbClr val="962B7C"/>
            </a:solidFill>
            <a:prstDash val="solid"/>
          </a:ln>
        </p:spPr>
      </p:sp>
      <p:sp>
        <p:nvSpPr>
          <p:cNvPr id="26" name="Text 23"/>
          <p:cNvSpPr txBox="1"/>
          <p:nvPr/>
        </p:nvSpPr>
        <p:spPr>
          <a:xfrm>
            <a:off x="7658210" y="3456432"/>
            <a:ext cx="3390485" cy="1938528"/>
          </a:xfrm>
          <a:prstGeom prst="rect">
            <a:avLst/>
          </a:prstGeom>
          <a:noFill/>
          <a:ln/>
        </p:spPr>
        <p:txBody>
          <a:bodyPr wrap="square" lIns="0" tIns="0" rIns="0" bIns="0" rtlCol="0" anchor="ctr"/>
          <a:lstStyle/>
          <a:p>
            <a:pPr algn="ctr" indent="0" marL="0">
              <a:buNone/>
            </a:pPr>
            <a:r>
              <a:rPr lang="en-US" sz="2200" b="1" dirty="0">
                <a:solidFill>
                  <a:srgbClr val="2A2238"/>
                </a:solidFill>
                <a:latin typeface="Alexandria" pitchFamily="34" charset="0"/>
                <a:ea typeface="Alexandria" pitchFamily="34" charset="-122"/>
                <a:cs typeface="Alexandria" pitchFamily="34" charset="-120"/>
              </a:rPr>
              <a:t>Offering · 7Ps</a:t>
            </a:r>
            <a:endParaRPr lang="en-US" sz="2200" dirty="0"/>
          </a:p>
          <a:p>
            <a:pPr algn="ctr" indent="0" marL="0">
              <a:buNone/>
            </a:pPr>
            <a:r>
              <a:rPr lang="en-US" sz="1900" dirty="0">
                <a:solidFill>
                  <a:srgbClr val="2A2238"/>
                </a:solidFill>
                <a:latin typeface="Alexandria" pitchFamily="34" charset="0"/>
                <a:ea typeface="Alexandria" pitchFamily="34" charset="-122"/>
                <a:cs typeface="Alexandria" pitchFamily="34" charset="-120"/>
              </a:rPr>
              <a:t>agency đưa gì?</a:t>
            </a:r>
            <a:endParaRPr lang="en-US" sz="2200" dirty="0"/>
          </a:p>
        </p:txBody>
      </p:sp>
      <p:sp>
        <p:nvSpPr>
          <p:cNvPr id="27" name="Text 24"/>
          <p:cNvSpPr txBox="1"/>
          <p:nvPr/>
        </p:nvSpPr>
        <p:spPr>
          <a:xfrm>
            <a:off x="548640" y="5532120"/>
            <a:ext cx="11094415" cy="45720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Value appraisal là cây cầu — và là câu hội đồng sẽ hỏi ở Buổi 14.</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5.1 Cấu trúc CVP</a:t>
            </a:r>
            <a:endParaRPr lang="en-US" sz="1000" dirty="0"/>
          </a:p>
        </p:txBody>
      </p:sp>
      <p:sp>
        <p:nvSpPr>
          <p:cNvPr id="6" name="Shape 4"/>
          <p:cNvSpPr/>
          <p:nvPr/>
        </p:nvSpPr>
        <p:spPr>
          <a:xfrm>
            <a:off x="2990088"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5.2 Năm nguồn giá trị</a:t>
            </a:r>
            <a:endParaRPr lang="en-US" sz="1000" dirty="0"/>
          </a:p>
        </p:txBody>
      </p:sp>
      <p:sp>
        <p:nvSpPr>
          <p:cNvPr id="8" name="Shape 6"/>
          <p:cNvSpPr/>
          <p:nvPr/>
        </p:nvSpPr>
        <p:spPr>
          <a:xfrm>
            <a:off x="4988052" y="274320"/>
            <a:ext cx="157734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5.3 Đồng kiến tạo</a:t>
            </a:r>
            <a:endParaRPr lang="en-US" sz="1000" dirty="0"/>
          </a:p>
        </p:txBody>
      </p:sp>
      <p:sp>
        <p:nvSpPr>
          <p:cNvPr id="10" name="Shape 8"/>
          <p:cNvSpPr/>
          <p:nvPr/>
        </p:nvSpPr>
        <p:spPr>
          <a:xfrm>
            <a:off x="6675120"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675120"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334670"/>
            <a:ext cx="107533" cy="268834"/>
          </a:xfrm>
          <a:prstGeom prst="rect">
            <a:avLst/>
          </a:prstGeom>
          <a:solidFill>
            <a:srgbClr val="09A1E5"/>
          </a:solidFill>
          <a:ln w="12700">
            <a:solidFill>
              <a:srgbClr val="09A1E5"/>
            </a:solidFill>
            <a:prstDash val="solid"/>
          </a:ln>
        </p:spPr>
      </p:sp>
      <p:sp>
        <p:nvSpPr>
          <p:cNvPr id="13" name="Shape 11"/>
          <p:cNvSpPr/>
          <p:nvPr/>
        </p:nvSpPr>
        <p:spPr>
          <a:xfrm>
            <a:off x="11535522" y="334670"/>
            <a:ext cx="107533" cy="268834"/>
          </a:xfrm>
          <a:prstGeom prst="rect">
            <a:avLst/>
          </a:prstGeom>
          <a:solidFill>
            <a:srgbClr val="962B7C"/>
          </a:solidFill>
          <a:ln w="12700">
            <a:solidFill>
              <a:srgbClr val="962B7C"/>
            </a:solidFill>
            <a:prstDash val="solid"/>
          </a:ln>
        </p:spPr>
      </p:sp>
      <p:sp>
        <p:nvSpPr>
          <p:cNvPr id="14" name="Shape 12"/>
          <p:cNvSpPr/>
          <p:nvPr/>
        </p:nvSpPr>
        <p:spPr>
          <a:xfrm>
            <a:off x="11259007" y="250180"/>
            <a:ext cx="384048" cy="61448"/>
          </a:xfrm>
          <a:prstGeom prst="rect">
            <a:avLst/>
          </a:prstGeom>
          <a:solidFill>
            <a:srgbClr val="FFD23B"/>
          </a:solidFill>
          <a:ln w="12700">
            <a:solidFill>
              <a:srgbClr val="FFD23B"/>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Offering của dịch vụ có 7Ps</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E03: Booms &amp; Bitner (1981), Marketing of services, AMA.</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7</a:t>
            </a:r>
            <a:endParaRPr lang="en-US" sz="1000" dirty="0"/>
          </a:p>
        </p:txBody>
      </p:sp>
      <p:sp>
        <p:nvSpPr>
          <p:cNvPr id="19" name="Shape 16"/>
          <p:cNvSpPr/>
          <p:nvPr/>
        </p:nvSpPr>
        <p:spPr>
          <a:xfrm>
            <a:off x="548640" y="2651760"/>
            <a:ext cx="1428162" cy="2103120"/>
          </a:xfrm>
          <a:prstGeom prst="roundRect">
            <a:avLst>
              <a:gd name="adj" fmla="val 7683"/>
            </a:avLst>
          </a:prstGeom>
          <a:solidFill>
            <a:srgbClr val="F3F0E6"/>
          </a:solidFill>
          <a:ln w="12700">
            <a:solidFill>
              <a:srgbClr val="DCD7C8"/>
            </a:solidFill>
            <a:prstDash val="solid"/>
          </a:ln>
        </p:spPr>
      </p:sp>
      <p:sp>
        <p:nvSpPr>
          <p:cNvPr id="20" name="Shape 17"/>
          <p:cNvSpPr/>
          <p:nvPr/>
        </p:nvSpPr>
        <p:spPr>
          <a:xfrm>
            <a:off x="942681" y="2880360"/>
            <a:ext cx="640080" cy="640080"/>
          </a:xfrm>
          <a:prstGeom prst="ellipse">
            <a:avLst/>
          </a:prstGeom>
          <a:solidFill>
            <a:srgbClr val="FBFAF4"/>
          </a:solidFill>
          <a:ln w="12700">
            <a:solidFill>
              <a:srgbClr val="FBFAF4"/>
            </a:solidFill>
            <a:prstDash val="solid"/>
          </a:ln>
        </p:spPr>
      </p:sp>
      <p:sp>
        <p:nvSpPr>
          <p:cNvPr id="21" name="Text 18"/>
          <p:cNvSpPr txBox="1"/>
          <p:nvPr/>
        </p:nvSpPr>
        <p:spPr>
          <a:xfrm>
            <a:off x="942681" y="2880360"/>
            <a:ext cx="640080" cy="640080"/>
          </a:xfrm>
          <a:prstGeom prst="rect">
            <a:avLst/>
          </a:prstGeom>
          <a:noFill/>
          <a:ln/>
        </p:spPr>
        <p:txBody>
          <a:bodyPr wrap="square" lIns="0" tIns="0" rIns="0" bIns="0" rtlCol="0" anchor="ctr"/>
          <a:lstStyle/>
          <a:p>
            <a:pPr algn="ctr" indent="0" marL="0">
              <a:buNone/>
            </a:pPr>
            <a:r>
              <a:rPr lang="en-US" sz="2000" b="1" dirty="0">
                <a:solidFill>
                  <a:srgbClr val="6E6878"/>
                </a:solidFill>
                <a:latin typeface="Alexandria" pitchFamily="34" charset="0"/>
                <a:ea typeface="Alexandria" pitchFamily="34" charset="-122"/>
                <a:cs typeface="Alexandria" pitchFamily="34" charset="-120"/>
              </a:rPr>
              <a:t>P</a:t>
            </a:r>
            <a:endParaRPr lang="en-US" sz="2000" dirty="0"/>
          </a:p>
        </p:txBody>
      </p:sp>
      <p:sp>
        <p:nvSpPr>
          <p:cNvPr id="22" name="Text 19"/>
          <p:cNvSpPr txBox="1"/>
          <p:nvPr/>
        </p:nvSpPr>
        <p:spPr>
          <a:xfrm>
            <a:off x="594360" y="3657600"/>
            <a:ext cx="1336722" cy="1097280"/>
          </a:xfrm>
          <a:prstGeom prst="rect">
            <a:avLst/>
          </a:prstGeom>
          <a:noFill/>
          <a:ln/>
        </p:spPr>
        <p:txBody>
          <a:bodyPr wrap="square" lIns="0" tIns="0" rIns="0" bIns="0" rtlCol="0" anchor="ctr"/>
          <a:lstStyle/>
          <a:p>
            <a:pPr algn="ctr" indent="0" marL="0">
              <a:buNone/>
            </a:pPr>
            <a:r>
              <a:rPr lang="en-US" sz="1500" b="1" dirty="0">
                <a:solidFill>
                  <a:srgbClr val="6E6878"/>
                </a:solidFill>
                <a:latin typeface="Alexandria" pitchFamily="34" charset="0"/>
                <a:ea typeface="Alexandria" pitchFamily="34" charset="-122"/>
                <a:cs typeface="Alexandria" pitchFamily="34" charset="-120"/>
              </a:rPr>
              <a:t>Product</a:t>
            </a:r>
            <a:endParaRPr lang="en-US" sz="1500" dirty="0"/>
          </a:p>
        </p:txBody>
      </p:sp>
      <p:sp>
        <p:nvSpPr>
          <p:cNvPr id="23" name="Shape 20"/>
          <p:cNvSpPr/>
          <p:nvPr/>
        </p:nvSpPr>
        <p:spPr>
          <a:xfrm>
            <a:off x="2159682" y="2651760"/>
            <a:ext cx="1428162" cy="2103120"/>
          </a:xfrm>
          <a:prstGeom prst="roundRect">
            <a:avLst>
              <a:gd name="adj" fmla="val 7683"/>
            </a:avLst>
          </a:prstGeom>
          <a:solidFill>
            <a:srgbClr val="F3F0E6"/>
          </a:solidFill>
          <a:ln w="12700">
            <a:solidFill>
              <a:srgbClr val="DCD7C8"/>
            </a:solidFill>
            <a:prstDash val="solid"/>
          </a:ln>
        </p:spPr>
      </p:sp>
      <p:sp>
        <p:nvSpPr>
          <p:cNvPr id="24" name="Shape 21"/>
          <p:cNvSpPr/>
          <p:nvPr/>
        </p:nvSpPr>
        <p:spPr>
          <a:xfrm>
            <a:off x="2553723" y="2880360"/>
            <a:ext cx="640080" cy="640080"/>
          </a:xfrm>
          <a:prstGeom prst="ellipse">
            <a:avLst/>
          </a:prstGeom>
          <a:solidFill>
            <a:srgbClr val="FBFAF4"/>
          </a:solidFill>
          <a:ln w="12700">
            <a:solidFill>
              <a:srgbClr val="FBFAF4"/>
            </a:solidFill>
            <a:prstDash val="solid"/>
          </a:ln>
        </p:spPr>
      </p:sp>
      <p:sp>
        <p:nvSpPr>
          <p:cNvPr id="25" name="Text 22"/>
          <p:cNvSpPr txBox="1"/>
          <p:nvPr/>
        </p:nvSpPr>
        <p:spPr>
          <a:xfrm>
            <a:off x="2553723" y="2880360"/>
            <a:ext cx="640080" cy="640080"/>
          </a:xfrm>
          <a:prstGeom prst="rect">
            <a:avLst/>
          </a:prstGeom>
          <a:noFill/>
          <a:ln/>
        </p:spPr>
        <p:txBody>
          <a:bodyPr wrap="square" lIns="0" tIns="0" rIns="0" bIns="0" rtlCol="0" anchor="ctr"/>
          <a:lstStyle/>
          <a:p>
            <a:pPr algn="ctr" indent="0" marL="0">
              <a:buNone/>
            </a:pPr>
            <a:r>
              <a:rPr lang="en-US" sz="2000" b="1" dirty="0">
                <a:solidFill>
                  <a:srgbClr val="6E6878"/>
                </a:solidFill>
                <a:latin typeface="Alexandria" pitchFamily="34" charset="0"/>
                <a:ea typeface="Alexandria" pitchFamily="34" charset="-122"/>
                <a:cs typeface="Alexandria" pitchFamily="34" charset="-120"/>
              </a:rPr>
              <a:t>P</a:t>
            </a:r>
            <a:endParaRPr lang="en-US" sz="2000" dirty="0"/>
          </a:p>
        </p:txBody>
      </p:sp>
      <p:sp>
        <p:nvSpPr>
          <p:cNvPr id="26" name="Text 23"/>
          <p:cNvSpPr txBox="1"/>
          <p:nvPr/>
        </p:nvSpPr>
        <p:spPr>
          <a:xfrm>
            <a:off x="2205402" y="3657600"/>
            <a:ext cx="1336722" cy="1097280"/>
          </a:xfrm>
          <a:prstGeom prst="rect">
            <a:avLst/>
          </a:prstGeom>
          <a:noFill/>
          <a:ln/>
        </p:spPr>
        <p:txBody>
          <a:bodyPr wrap="square" lIns="0" tIns="0" rIns="0" bIns="0" rtlCol="0" anchor="ctr"/>
          <a:lstStyle/>
          <a:p>
            <a:pPr algn="ctr" indent="0" marL="0">
              <a:buNone/>
            </a:pPr>
            <a:r>
              <a:rPr lang="en-US" sz="1500" b="1" dirty="0">
                <a:solidFill>
                  <a:srgbClr val="6E6878"/>
                </a:solidFill>
                <a:latin typeface="Alexandria" pitchFamily="34" charset="0"/>
                <a:ea typeface="Alexandria" pitchFamily="34" charset="-122"/>
                <a:cs typeface="Alexandria" pitchFamily="34" charset="-120"/>
              </a:rPr>
              <a:t>Price</a:t>
            </a:r>
            <a:endParaRPr lang="en-US" sz="1500" dirty="0"/>
          </a:p>
        </p:txBody>
      </p:sp>
      <p:sp>
        <p:nvSpPr>
          <p:cNvPr id="27" name="Shape 24"/>
          <p:cNvSpPr/>
          <p:nvPr/>
        </p:nvSpPr>
        <p:spPr>
          <a:xfrm>
            <a:off x="3770724" y="2651760"/>
            <a:ext cx="1428162" cy="2103120"/>
          </a:xfrm>
          <a:prstGeom prst="roundRect">
            <a:avLst>
              <a:gd name="adj" fmla="val 7683"/>
            </a:avLst>
          </a:prstGeom>
          <a:solidFill>
            <a:srgbClr val="F3F0E6"/>
          </a:solidFill>
          <a:ln w="12700">
            <a:solidFill>
              <a:srgbClr val="DCD7C8"/>
            </a:solidFill>
            <a:prstDash val="solid"/>
          </a:ln>
        </p:spPr>
      </p:sp>
      <p:sp>
        <p:nvSpPr>
          <p:cNvPr id="28" name="Shape 25"/>
          <p:cNvSpPr/>
          <p:nvPr/>
        </p:nvSpPr>
        <p:spPr>
          <a:xfrm>
            <a:off x="4164765" y="2880360"/>
            <a:ext cx="640080" cy="640080"/>
          </a:xfrm>
          <a:prstGeom prst="ellipse">
            <a:avLst/>
          </a:prstGeom>
          <a:solidFill>
            <a:srgbClr val="FBFAF4"/>
          </a:solidFill>
          <a:ln w="12700">
            <a:solidFill>
              <a:srgbClr val="FBFAF4"/>
            </a:solidFill>
            <a:prstDash val="solid"/>
          </a:ln>
        </p:spPr>
      </p:sp>
      <p:sp>
        <p:nvSpPr>
          <p:cNvPr id="29" name="Text 26"/>
          <p:cNvSpPr txBox="1"/>
          <p:nvPr/>
        </p:nvSpPr>
        <p:spPr>
          <a:xfrm>
            <a:off x="4164765" y="2880360"/>
            <a:ext cx="640080" cy="640080"/>
          </a:xfrm>
          <a:prstGeom prst="rect">
            <a:avLst/>
          </a:prstGeom>
          <a:noFill/>
          <a:ln/>
        </p:spPr>
        <p:txBody>
          <a:bodyPr wrap="square" lIns="0" tIns="0" rIns="0" bIns="0" rtlCol="0" anchor="ctr"/>
          <a:lstStyle/>
          <a:p>
            <a:pPr algn="ctr" indent="0" marL="0">
              <a:buNone/>
            </a:pPr>
            <a:r>
              <a:rPr lang="en-US" sz="2000" b="1" dirty="0">
                <a:solidFill>
                  <a:srgbClr val="6E6878"/>
                </a:solidFill>
                <a:latin typeface="Alexandria" pitchFamily="34" charset="0"/>
                <a:ea typeface="Alexandria" pitchFamily="34" charset="-122"/>
                <a:cs typeface="Alexandria" pitchFamily="34" charset="-120"/>
              </a:rPr>
              <a:t>P</a:t>
            </a:r>
            <a:endParaRPr lang="en-US" sz="2000" dirty="0"/>
          </a:p>
        </p:txBody>
      </p:sp>
      <p:sp>
        <p:nvSpPr>
          <p:cNvPr id="30" name="Text 27"/>
          <p:cNvSpPr txBox="1"/>
          <p:nvPr/>
        </p:nvSpPr>
        <p:spPr>
          <a:xfrm>
            <a:off x="3816444" y="3657600"/>
            <a:ext cx="1336722" cy="1097280"/>
          </a:xfrm>
          <a:prstGeom prst="rect">
            <a:avLst/>
          </a:prstGeom>
          <a:noFill/>
          <a:ln/>
        </p:spPr>
        <p:txBody>
          <a:bodyPr wrap="square" lIns="0" tIns="0" rIns="0" bIns="0" rtlCol="0" anchor="ctr"/>
          <a:lstStyle/>
          <a:p>
            <a:pPr algn="ctr" indent="0" marL="0">
              <a:buNone/>
            </a:pPr>
            <a:r>
              <a:rPr lang="en-US" sz="1500" b="1" dirty="0">
                <a:solidFill>
                  <a:srgbClr val="6E6878"/>
                </a:solidFill>
                <a:latin typeface="Alexandria" pitchFamily="34" charset="0"/>
                <a:ea typeface="Alexandria" pitchFamily="34" charset="-122"/>
                <a:cs typeface="Alexandria" pitchFamily="34" charset="-120"/>
              </a:rPr>
              <a:t>Place</a:t>
            </a:r>
            <a:endParaRPr lang="en-US" sz="1500" dirty="0"/>
          </a:p>
        </p:txBody>
      </p:sp>
      <p:sp>
        <p:nvSpPr>
          <p:cNvPr id="31" name="Shape 28"/>
          <p:cNvSpPr/>
          <p:nvPr/>
        </p:nvSpPr>
        <p:spPr>
          <a:xfrm>
            <a:off x="5381767" y="2651760"/>
            <a:ext cx="1428162" cy="2103120"/>
          </a:xfrm>
          <a:prstGeom prst="roundRect">
            <a:avLst>
              <a:gd name="adj" fmla="val 7683"/>
            </a:avLst>
          </a:prstGeom>
          <a:solidFill>
            <a:srgbClr val="F3F0E6"/>
          </a:solidFill>
          <a:ln w="12700">
            <a:solidFill>
              <a:srgbClr val="DCD7C8"/>
            </a:solidFill>
            <a:prstDash val="solid"/>
          </a:ln>
        </p:spPr>
      </p:sp>
      <p:sp>
        <p:nvSpPr>
          <p:cNvPr id="32" name="Shape 29"/>
          <p:cNvSpPr/>
          <p:nvPr/>
        </p:nvSpPr>
        <p:spPr>
          <a:xfrm>
            <a:off x="5775808" y="2880360"/>
            <a:ext cx="640080" cy="640080"/>
          </a:xfrm>
          <a:prstGeom prst="ellipse">
            <a:avLst/>
          </a:prstGeom>
          <a:solidFill>
            <a:srgbClr val="FBFAF4"/>
          </a:solidFill>
          <a:ln w="12700">
            <a:solidFill>
              <a:srgbClr val="FBFAF4"/>
            </a:solidFill>
            <a:prstDash val="solid"/>
          </a:ln>
        </p:spPr>
      </p:sp>
      <p:sp>
        <p:nvSpPr>
          <p:cNvPr id="33" name="Text 30"/>
          <p:cNvSpPr txBox="1"/>
          <p:nvPr/>
        </p:nvSpPr>
        <p:spPr>
          <a:xfrm>
            <a:off x="5775808" y="2880360"/>
            <a:ext cx="640080" cy="640080"/>
          </a:xfrm>
          <a:prstGeom prst="rect">
            <a:avLst/>
          </a:prstGeom>
          <a:noFill/>
          <a:ln/>
        </p:spPr>
        <p:txBody>
          <a:bodyPr wrap="square" lIns="0" tIns="0" rIns="0" bIns="0" rtlCol="0" anchor="ctr"/>
          <a:lstStyle/>
          <a:p>
            <a:pPr algn="ctr" indent="0" marL="0">
              <a:buNone/>
            </a:pPr>
            <a:r>
              <a:rPr lang="en-US" sz="2000" b="1" dirty="0">
                <a:solidFill>
                  <a:srgbClr val="6E6878"/>
                </a:solidFill>
                <a:latin typeface="Alexandria" pitchFamily="34" charset="0"/>
                <a:ea typeface="Alexandria" pitchFamily="34" charset="-122"/>
                <a:cs typeface="Alexandria" pitchFamily="34" charset="-120"/>
              </a:rPr>
              <a:t>P</a:t>
            </a:r>
            <a:endParaRPr lang="en-US" sz="2000" dirty="0"/>
          </a:p>
        </p:txBody>
      </p:sp>
      <p:sp>
        <p:nvSpPr>
          <p:cNvPr id="34" name="Text 31"/>
          <p:cNvSpPr txBox="1"/>
          <p:nvPr/>
        </p:nvSpPr>
        <p:spPr>
          <a:xfrm>
            <a:off x="5427487" y="3657600"/>
            <a:ext cx="1336722" cy="1097280"/>
          </a:xfrm>
          <a:prstGeom prst="rect">
            <a:avLst/>
          </a:prstGeom>
          <a:noFill/>
          <a:ln/>
        </p:spPr>
        <p:txBody>
          <a:bodyPr wrap="square" lIns="0" tIns="0" rIns="0" bIns="0" rtlCol="0" anchor="ctr"/>
          <a:lstStyle/>
          <a:p>
            <a:pPr algn="ctr" indent="0" marL="0">
              <a:buNone/>
            </a:pPr>
            <a:r>
              <a:rPr lang="en-US" sz="1500" b="1" dirty="0">
                <a:solidFill>
                  <a:srgbClr val="6E6878"/>
                </a:solidFill>
                <a:latin typeface="Alexandria" pitchFamily="34" charset="0"/>
                <a:ea typeface="Alexandria" pitchFamily="34" charset="-122"/>
                <a:cs typeface="Alexandria" pitchFamily="34" charset="-120"/>
              </a:rPr>
              <a:t>Promotion</a:t>
            </a:r>
            <a:endParaRPr lang="en-US" sz="1500" dirty="0"/>
          </a:p>
        </p:txBody>
      </p:sp>
      <p:sp>
        <p:nvSpPr>
          <p:cNvPr id="35" name="Shape 32"/>
          <p:cNvSpPr/>
          <p:nvPr/>
        </p:nvSpPr>
        <p:spPr>
          <a:xfrm>
            <a:off x="6992809" y="2011680"/>
            <a:ext cx="1428162" cy="2743200"/>
          </a:xfrm>
          <a:prstGeom prst="roundRect">
            <a:avLst>
              <a:gd name="adj" fmla="val 7683"/>
            </a:avLst>
          </a:prstGeom>
          <a:solidFill>
            <a:srgbClr val="962B7C"/>
          </a:solidFill>
          <a:ln w="12700">
            <a:solidFill>
              <a:srgbClr val="962B7C"/>
            </a:solidFill>
            <a:prstDash val="solid"/>
          </a:ln>
        </p:spPr>
      </p:sp>
      <p:sp>
        <p:nvSpPr>
          <p:cNvPr id="36" name="Shape 33"/>
          <p:cNvSpPr/>
          <p:nvPr/>
        </p:nvSpPr>
        <p:spPr>
          <a:xfrm>
            <a:off x="7386850" y="2240280"/>
            <a:ext cx="640080" cy="640080"/>
          </a:xfrm>
          <a:prstGeom prst="ellipse">
            <a:avLst/>
          </a:prstGeom>
          <a:solidFill>
            <a:srgbClr val="FFFFFF"/>
          </a:solidFill>
          <a:ln w="12700">
            <a:solidFill>
              <a:srgbClr val="FFFFFF"/>
            </a:solidFill>
            <a:prstDash val="solid"/>
          </a:ln>
        </p:spPr>
      </p:sp>
      <p:sp>
        <p:nvSpPr>
          <p:cNvPr id="37" name="Text 34"/>
          <p:cNvSpPr txBox="1"/>
          <p:nvPr/>
        </p:nvSpPr>
        <p:spPr>
          <a:xfrm>
            <a:off x="7386850" y="2240280"/>
            <a:ext cx="640080" cy="640080"/>
          </a:xfrm>
          <a:prstGeom prst="rect">
            <a:avLst/>
          </a:prstGeom>
          <a:noFill/>
          <a:ln/>
        </p:spPr>
        <p:txBody>
          <a:bodyPr wrap="square" lIns="0" tIns="0" rIns="0" bIns="0" rtlCol="0" anchor="ctr"/>
          <a:lstStyle/>
          <a:p>
            <a:pPr algn="ctr" indent="0" marL="0">
              <a:buNone/>
            </a:pPr>
            <a:r>
              <a:rPr lang="en-US" sz="2000" b="1" dirty="0">
                <a:solidFill>
                  <a:srgbClr val="962B7C"/>
                </a:solidFill>
                <a:latin typeface="Alexandria" pitchFamily="34" charset="0"/>
                <a:ea typeface="Alexandria" pitchFamily="34" charset="-122"/>
                <a:cs typeface="Alexandria" pitchFamily="34" charset="-120"/>
              </a:rPr>
              <a:t>P</a:t>
            </a:r>
            <a:endParaRPr lang="en-US" sz="2000" dirty="0"/>
          </a:p>
        </p:txBody>
      </p:sp>
      <p:sp>
        <p:nvSpPr>
          <p:cNvPr id="38" name="Text 35"/>
          <p:cNvSpPr txBox="1"/>
          <p:nvPr/>
        </p:nvSpPr>
        <p:spPr>
          <a:xfrm>
            <a:off x="7038529" y="3108960"/>
            <a:ext cx="1336722" cy="109728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People</a:t>
            </a:r>
            <a:endParaRPr lang="en-US" sz="1700" dirty="0"/>
          </a:p>
        </p:txBody>
      </p:sp>
      <p:sp>
        <p:nvSpPr>
          <p:cNvPr id="39" name="Shape 36"/>
          <p:cNvSpPr/>
          <p:nvPr/>
        </p:nvSpPr>
        <p:spPr>
          <a:xfrm>
            <a:off x="8603851" y="2011680"/>
            <a:ext cx="1428162" cy="2743200"/>
          </a:xfrm>
          <a:prstGeom prst="roundRect">
            <a:avLst>
              <a:gd name="adj" fmla="val 7683"/>
            </a:avLst>
          </a:prstGeom>
          <a:solidFill>
            <a:srgbClr val="09A1E5"/>
          </a:solidFill>
          <a:ln w="12700">
            <a:solidFill>
              <a:srgbClr val="09A1E5"/>
            </a:solidFill>
            <a:prstDash val="solid"/>
          </a:ln>
        </p:spPr>
      </p:sp>
      <p:sp>
        <p:nvSpPr>
          <p:cNvPr id="40" name="Shape 37"/>
          <p:cNvSpPr/>
          <p:nvPr/>
        </p:nvSpPr>
        <p:spPr>
          <a:xfrm>
            <a:off x="8997892" y="2240280"/>
            <a:ext cx="640080" cy="640080"/>
          </a:xfrm>
          <a:prstGeom prst="ellipse">
            <a:avLst/>
          </a:prstGeom>
          <a:solidFill>
            <a:srgbClr val="FFFFFF"/>
          </a:solidFill>
          <a:ln w="12700">
            <a:solidFill>
              <a:srgbClr val="FFFFFF"/>
            </a:solidFill>
            <a:prstDash val="solid"/>
          </a:ln>
        </p:spPr>
      </p:sp>
      <p:sp>
        <p:nvSpPr>
          <p:cNvPr id="41" name="Text 38"/>
          <p:cNvSpPr txBox="1"/>
          <p:nvPr/>
        </p:nvSpPr>
        <p:spPr>
          <a:xfrm>
            <a:off x="8997892" y="2240280"/>
            <a:ext cx="640080" cy="640080"/>
          </a:xfrm>
          <a:prstGeom prst="rect">
            <a:avLst/>
          </a:prstGeom>
          <a:noFill/>
          <a:ln/>
        </p:spPr>
        <p:txBody>
          <a:bodyPr wrap="square" lIns="0" tIns="0" rIns="0" bIns="0" rtlCol="0" anchor="ctr"/>
          <a:lstStyle/>
          <a:p>
            <a:pPr algn="ctr" indent="0" marL="0">
              <a:buNone/>
            </a:pPr>
            <a:r>
              <a:rPr lang="en-US" sz="2000" b="1" dirty="0">
                <a:solidFill>
                  <a:srgbClr val="09A1E5"/>
                </a:solidFill>
                <a:latin typeface="Alexandria" pitchFamily="34" charset="0"/>
                <a:ea typeface="Alexandria" pitchFamily="34" charset="-122"/>
                <a:cs typeface="Alexandria" pitchFamily="34" charset="-120"/>
              </a:rPr>
              <a:t>P</a:t>
            </a:r>
            <a:endParaRPr lang="en-US" sz="2000" dirty="0"/>
          </a:p>
        </p:txBody>
      </p:sp>
      <p:sp>
        <p:nvSpPr>
          <p:cNvPr id="42" name="Text 39"/>
          <p:cNvSpPr txBox="1"/>
          <p:nvPr/>
        </p:nvSpPr>
        <p:spPr>
          <a:xfrm>
            <a:off x="8649571" y="3108960"/>
            <a:ext cx="1336722" cy="109728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Process</a:t>
            </a:r>
            <a:endParaRPr lang="en-US" sz="1700" dirty="0"/>
          </a:p>
        </p:txBody>
      </p:sp>
      <p:sp>
        <p:nvSpPr>
          <p:cNvPr id="43" name="Shape 40"/>
          <p:cNvSpPr/>
          <p:nvPr/>
        </p:nvSpPr>
        <p:spPr>
          <a:xfrm>
            <a:off x="10214893" y="2011680"/>
            <a:ext cx="1428162" cy="2743200"/>
          </a:xfrm>
          <a:prstGeom prst="roundRect">
            <a:avLst>
              <a:gd name="adj" fmla="val 7683"/>
            </a:avLst>
          </a:prstGeom>
          <a:solidFill>
            <a:srgbClr val="FF5178"/>
          </a:solidFill>
          <a:ln w="12700">
            <a:solidFill>
              <a:srgbClr val="FF5178"/>
            </a:solidFill>
            <a:prstDash val="solid"/>
          </a:ln>
        </p:spPr>
      </p:sp>
      <p:sp>
        <p:nvSpPr>
          <p:cNvPr id="44" name="Shape 41"/>
          <p:cNvSpPr/>
          <p:nvPr/>
        </p:nvSpPr>
        <p:spPr>
          <a:xfrm>
            <a:off x="10608934" y="2240280"/>
            <a:ext cx="640080" cy="640080"/>
          </a:xfrm>
          <a:prstGeom prst="ellipse">
            <a:avLst/>
          </a:prstGeom>
          <a:solidFill>
            <a:srgbClr val="FFFFFF"/>
          </a:solidFill>
          <a:ln w="12700">
            <a:solidFill>
              <a:srgbClr val="FFFFFF"/>
            </a:solidFill>
            <a:prstDash val="solid"/>
          </a:ln>
        </p:spPr>
      </p:sp>
      <p:sp>
        <p:nvSpPr>
          <p:cNvPr id="45" name="Text 42"/>
          <p:cNvSpPr txBox="1"/>
          <p:nvPr/>
        </p:nvSpPr>
        <p:spPr>
          <a:xfrm>
            <a:off x="10608934" y="2240280"/>
            <a:ext cx="640080" cy="640080"/>
          </a:xfrm>
          <a:prstGeom prst="rect">
            <a:avLst/>
          </a:prstGeom>
          <a:noFill/>
          <a:ln/>
        </p:spPr>
        <p:txBody>
          <a:bodyPr wrap="square" lIns="0" tIns="0" rIns="0" bIns="0" rtlCol="0" anchor="ctr"/>
          <a:lstStyle/>
          <a:p>
            <a:pPr algn="ctr" indent="0" marL="0">
              <a:buNone/>
            </a:pPr>
            <a:r>
              <a:rPr lang="en-US" sz="2000" b="1" dirty="0">
                <a:solidFill>
                  <a:srgbClr val="FF5178"/>
                </a:solidFill>
                <a:latin typeface="Alexandria" pitchFamily="34" charset="0"/>
                <a:ea typeface="Alexandria" pitchFamily="34" charset="-122"/>
                <a:cs typeface="Alexandria" pitchFamily="34" charset="-120"/>
              </a:rPr>
              <a:t>P</a:t>
            </a:r>
            <a:endParaRPr lang="en-US" sz="2000" dirty="0"/>
          </a:p>
        </p:txBody>
      </p:sp>
      <p:sp>
        <p:nvSpPr>
          <p:cNvPr id="46" name="Text 43"/>
          <p:cNvSpPr txBox="1"/>
          <p:nvPr/>
        </p:nvSpPr>
        <p:spPr>
          <a:xfrm>
            <a:off x="10260613" y="3108960"/>
            <a:ext cx="1336722" cy="109728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Physical evidence</a:t>
            </a:r>
            <a:endParaRPr lang="en-US" sz="1700" dirty="0"/>
          </a:p>
        </p:txBody>
      </p:sp>
      <p:sp>
        <p:nvSpPr>
          <p:cNvPr id="47" name="Text 44"/>
          <p:cNvSpPr txBox="1"/>
          <p:nvPr/>
        </p:nvSpPr>
        <p:spPr>
          <a:xfrm>
            <a:off x="548640" y="4892040"/>
            <a:ext cx="6261289" cy="365760"/>
          </a:xfrm>
          <a:prstGeom prst="rect">
            <a:avLst/>
          </a:prstGeom>
          <a:noFill/>
          <a:ln/>
        </p:spPr>
        <p:txBody>
          <a:bodyPr wrap="square" lIns="0" tIns="0" rIns="0" bIns="0" rtlCol="0" anchor="ctr"/>
          <a:lstStyle/>
          <a:p>
            <a:pPr algn="ctr" indent="0" marL="0">
              <a:buNone/>
            </a:pPr>
            <a:r>
              <a:rPr lang="en-US" sz="1300" dirty="0">
                <a:solidFill>
                  <a:srgbClr val="6E6878"/>
                </a:solidFill>
                <a:latin typeface="Alexandria" pitchFamily="34" charset="0"/>
                <a:ea typeface="Alexandria" pitchFamily="34" charset="-122"/>
                <a:cs typeface="Alexandria" pitchFamily="34" charset="-120"/>
              </a:rPr>
              <a:t>4Ps của sản phẩm</a:t>
            </a:r>
            <a:endParaRPr lang="en-US" sz="1300" dirty="0"/>
          </a:p>
        </p:txBody>
      </p:sp>
      <p:sp>
        <p:nvSpPr>
          <p:cNvPr id="48" name="Text 45"/>
          <p:cNvSpPr txBox="1"/>
          <p:nvPr/>
        </p:nvSpPr>
        <p:spPr>
          <a:xfrm>
            <a:off x="6992809" y="4892040"/>
            <a:ext cx="4650247" cy="365760"/>
          </a:xfrm>
          <a:prstGeom prst="rect">
            <a:avLst/>
          </a:prstGeom>
          <a:noFill/>
          <a:ln/>
        </p:spPr>
        <p:txBody>
          <a:bodyPr wrap="square" lIns="0" tIns="0" rIns="0" bIns="0" rtlCol="0" anchor="ctr"/>
          <a:lstStyle/>
          <a:p>
            <a:pPr algn="ctr" indent="0" marL="0">
              <a:buNone/>
            </a:pPr>
            <a:r>
              <a:rPr lang="en-US" sz="1300" b="1" dirty="0">
                <a:solidFill>
                  <a:srgbClr val="962B7C"/>
                </a:solidFill>
                <a:latin typeface="Alexandria" pitchFamily="34" charset="0"/>
                <a:ea typeface="Alexandria" pitchFamily="34" charset="-122"/>
                <a:cs typeface="Alexandria" pitchFamily="34" charset="-120"/>
              </a:rPr>
              <a:t>+ 3Ps của dịch vụ — nhấn với agency sự kiện</a:t>
            </a:r>
            <a:endParaRPr lang="en-US" sz="1300" dirty="0"/>
          </a:p>
        </p:txBody>
      </p:sp>
      <p:sp>
        <p:nvSpPr>
          <p:cNvPr id="49" name="Shape 46"/>
          <p:cNvSpPr/>
          <p:nvPr/>
        </p:nvSpPr>
        <p:spPr>
          <a:xfrm>
            <a:off x="548640" y="5394960"/>
            <a:ext cx="11094415" cy="640080"/>
          </a:xfrm>
          <a:prstGeom prst="roundRect">
            <a:avLst>
              <a:gd name="adj" fmla="val 17143"/>
            </a:avLst>
          </a:prstGeom>
          <a:solidFill>
            <a:srgbClr val="FFF3C4"/>
          </a:solidFill>
          <a:ln w="12700">
            <a:solidFill>
              <a:srgbClr val="FFD23B"/>
            </a:solidFill>
            <a:prstDash val="solid"/>
          </a:ln>
        </p:spPr>
      </p:sp>
      <p:sp>
        <p:nvSpPr>
          <p:cNvPr id="50" name="Text 47"/>
          <p:cNvSpPr txBox="1"/>
          <p:nvPr/>
        </p:nvSpPr>
        <p:spPr>
          <a:xfrm>
            <a:off x="822960" y="5394960"/>
            <a:ext cx="10545775" cy="6400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Dịch vụ của Nova là con người và quy trình — An Phát thấy gì ở đó?</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5.1 Cấu trúc CVP</a:t>
            </a:r>
            <a:endParaRPr lang="en-US" sz="1000" dirty="0"/>
          </a:p>
        </p:txBody>
      </p:sp>
      <p:sp>
        <p:nvSpPr>
          <p:cNvPr id="6" name="Shape 4"/>
          <p:cNvSpPr/>
          <p:nvPr/>
        </p:nvSpPr>
        <p:spPr>
          <a:xfrm>
            <a:off x="2990088"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5.2 Năm nguồn giá trị</a:t>
            </a:r>
            <a:endParaRPr lang="en-US" sz="1000" dirty="0"/>
          </a:p>
        </p:txBody>
      </p:sp>
      <p:sp>
        <p:nvSpPr>
          <p:cNvPr id="8" name="Shape 6"/>
          <p:cNvSpPr/>
          <p:nvPr/>
        </p:nvSpPr>
        <p:spPr>
          <a:xfrm>
            <a:off x="4988052" y="274320"/>
            <a:ext cx="157734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5.3 Đồng kiến tạo</a:t>
            </a:r>
            <a:endParaRPr lang="en-US" sz="1000" dirty="0"/>
          </a:p>
        </p:txBody>
      </p:sp>
      <p:sp>
        <p:nvSpPr>
          <p:cNvPr id="10" name="Shape 8"/>
          <p:cNvSpPr/>
          <p:nvPr/>
        </p:nvSpPr>
        <p:spPr>
          <a:xfrm>
            <a:off x="6675120"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675120"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334670"/>
            <a:ext cx="107533" cy="268834"/>
          </a:xfrm>
          <a:prstGeom prst="rect">
            <a:avLst/>
          </a:prstGeom>
          <a:solidFill>
            <a:srgbClr val="09A1E5"/>
          </a:solidFill>
          <a:ln w="12700">
            <a:solidFill>
              <a:srgbClr val="09A1E5"/>
            </a:solidFill>
            <a:prstDash val="solid"/>
          </a:ln>
        </p:spPr>
      </p:sp>
      <p:sp>
        <p:nvSpPr>
          <p:cNvPr id="13" name="Shape 11"/>
          <p:cNvSpPr/>
          <p:nvPr/>
        </p:nvSpPr>
        <p:spPr>
          <a:xfrm>
            <a:off x="11535522" y="334670"/>
            <a:ext cx="107533" cy="268834"/>
          </a:xfrm>
          <a:prstGeom prst="rect">
            <a:avLst/>
          </a:prstGeom>
          <a:solidFill>
            <a:srgbClr val="962B7C"/>
          </a:solidFill>
          <a:ln w="12700">
            <a:solidFill>
              <a:srgbClr val="962B7C"/>
            </a:solidFill>
            <a:prstDash val="solid"/>
          </a:ln>
        </p:spPr>
      </p:sp>
      <p:sp>
        <p:nvSpPr>
          <p:cNvPr id="14" name="Shape 12"/>
          <p:cNvSpPr/>
          <p:nvPr/>
        </p:nvSpPr>
        <p:spPr>
          <a:xfrm>
            <a:off x="11259007" y="250180"/>
            <a:ext cx="384048" cy="61448"/>
          </a:xfrm>
          <a:prstGeom prst="rect">
            <a:avLst/>
          </a:prstGeom>
          <a:solidFill>
            <a:srgbClr val="FFD23B"/>
          </a:solidFill>
          <a:ln w="12700">
            <a:solidFill>
              <a:srgbClr val="FFD23B"/>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CVP của Nova cho An Phát</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Ví dụ GIẢ ĐỊNH; bối cảnh tín dụng từ Buổi 3 (C05).</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8</a:t>
            </a:r>
            <a:endParaRPr lang="en-US" sz="1000" dirty="0"/>
          </a:p>
        </p:txBody>
      </p:sp>
      <p:sp>
        <p:nvSpPr>
          <p:cNvPr id="19" name="Shape 16"/>
          <p:cNvSpPr/>
          <p:nvPr/>
        </p:nvSpPr>
        <p:spPr>
          <a:xfrm>
            <a:off x="9814255" y="1325880"/>
            <a:ext cx="1828800" cy="365760"/>
          </a:xfrm>
          <a:prstGeom prst="roundRect">
            <a:avLst>
              <a:gd name="adj" fmla="val 50000"/>
            </a:avLst>
          </a:prstGeom>
          <a:solidFill>
            <a:srgbClr val="FFD23B"/>
          </a:solidFill>
          <a:ln w="12700">
            <a:solidFill>
              <a:srgbClr val="FFD23B"/>
            </a:solidFill>
            <a:prstDash val="solid"/>
          </a:ln>
        </p:spPr>
      </p:sp>
      <p:sp>
        <p:nvSpPr>
          <p:cNvPr id="20" name="Text 17"/>
          <p:cNvSpPr txBox="1"/>
          <p:nvPr/>
        </p:nvSpPr>
        <p:spPr>
          <a:xfrm>
            <a:off x="9887407" y="1325880"/>
            <a:ext cx="1682496" cy="365760"/>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GIẢ ĐỊNH</a:t>
            </a:r>
            <a:endParaRPr lang="en-US" sz="1100" dirty="0"/>
          </a:p>
        </p:txBody>
      </p:sp>
      <p:sp>
        <p:nvSpPr>
          <p:cNvPr id="21" name="Shape 18"/>
          <p:cNvSpPr/>
          <p:nvPr/>
        </p:nvSpPr>
        <p:spPr>
          <a:xfrm>
            <a:off x="548640" y="1783080"/>
            <a:ext cx="11094415" cy="868680"/>
          </a:xfrm>
          <a:prstGeom prst="roundRect">
            <a:avLst>
              <a:gd name="adj" fmla="val 12632"/>
            </a:avLst>
          </a:prstGeom>
          <a:solidFill>
            <a:srgbClr val="DDF1FB"/>
          </a:solidFill>
          <a:ln w="12700">
            <a:solidFill>
              <a:srgbClr val="09A1E5"/>
            </a:solidFill>
            <a:prstDash val="solid"/>
          </a:ln>
        </p:spPr>
      </p:sp>
      <p:sp>
        <p:nvSpPr>
          <p:cNvPr id="22" name="Text 19"/>
          <p:cNvSpPr txBox="1"/>
          <p:nvPr/>
        </p:nvSpPr>
        <p:spPr>
          <a:xfrm>
            <a:off x="822960" y="1783080"/>
            <a:ext cx="10545775" cy="868680"/>
          </a:xfrm>
          <a:prstGeom prst="rect">
            <a:avLst/>
          </a:prstGeom>
          <a:noFill/>
          <a:ln/>
        </p:spPr>
        <p:txBody>
          <a:bodyPr wrap="square" lIns="0" tIns="0" rIns="0" bIns="0" rtlCol="0" anchor="ctr"/>
          <a:lstStyle/>
          <a:p>
            <a:pPr indent="0" marL="0">
              <a:buNone/>
            </a:pPr>
            <a:r>
              <a:rPr lang="en-US" sz="1600" b="1" dirty="0">
                <a:solidFill>
                  <a:srgbClr val="0A7FB5"/>
                </a:solidFill>
                <a:latin typeface="Alexandria" pitchFamily="34" charset="0"/>
                <a:ea typeface="Alexandria" pitchFamily="34" charset="-122"/>
                <a:cs typeface="Alexandria" pitchFamily="34" charset="-120"/>
              </a:rPr>
              <a:t>Future state  </a:t>
            </a:r>
            <a:pPr indent="0" marL="0">
              <a:buNone/>
            </a:pPr>
            <a:r>
              <a:rPr lang="en-US" sz="1600" dirty="0">
                <a:solidFill>
                  <a:srgbClr val="2A2238"/>
                </a:solidFill>
                <a:latin typeface="Alexandria" pitchFamily="34" charset="0"/>
                <a:ea typeface="Alexandria" pitchFamily="34" charset="-122"/>
                <a:cs typeface="Alexandria" pitchFamily="34" charset="-120"/>
              </a:rPr>
              <a:t>An Phát giữ và mở rộng quan hệ với khách doanh nghiệp VIP trong bối cảnh tín dụng bị giới hạn</a:t>
            </a:r>
            <a:endParaRPr lang="en-US" sz="1600" dirty="0"/>
          </a:p>
        </p:txBody>
      </p:sp>
      <p:sp>
        <p:nvSpPr>
          <p:cNvPr id="23" name="Shape 20"/>
          <p:cNvSpPr/>
          <p:nvPr/>
        </p:nvSpPr>
        <p:spPr>
          <a:xfrm>
            <a:off x="548640" y="2788920"/>
            <a:ext cx="2670734" cy="932688"/>
          </a:xfrm>
          <a:prstGeom prst="roundRect">
            <a:avLst>
              <a:gd name="adj" fmla="val 11765"/>
            </a:avLst>
          </a:prstGeom>
          <a:solidFill>
            <a:srgbClr val="FFFFFF"/>
          </a:solidFill>
          <a:ln w="12700">
            <a:solidFill>
              <a:srgbClr val="DCD7C8"/>
            </a:solidFill>
            <a:prstDash val="solid"/>
          </a:ln>
        </p:spPr>
      </p:sp>
      <p:sp>
        <p:nvSpPr>
          <p:cNvPr id="24" name="Text 21"/>
          <p:cNvSpPr txBox="1"/>
          <p:nvPr/>
        </p:nvSpPr>
        <p:spPr>
          <a:xfrm>
            <a:off x="685800" y="2788920"/>
            <a:ext cx="2396414" cy="932688"/>
          </a:xfrm>
          <a:prstGeom prst="rect">
            <a:avLst/>
          </a:prstGeom>
          <a:noFill/>
          <a:ln/>
        </p:spPr>
        <p:txBody>
          <a:bodyPr wrap="square" lIns="0" tIns="0" rIns="0" bIns="0" rtlCol="0" anchor="ctr"/>
          <a:lstStyle/>
          <a:p>
            <a:pPr indent="0" marL="0">
              <a:buNone/>
            </a:pPr>
            <a:r>
              <a:rPr lang="en-US" sz="1300" b="1" dirty="0">
                <a:solidFill>
                  <a:srgbClr val="962B7C"/>
                </a:solidFill>
                <a:latin typeface="Alexandria" pitchFamily="34" charset="0"/>
                <a:ea typeface="Alexandria" pitchFamily="34" charset="-122"/>
                <a:cs typeface="Alexandria" pitchFamily="34" charset="-120"/>
              </a:rPr>
              <a:t>Product</a:t>
            </a:r>
            <a:endParaRPr lang="en-US" sz="1300" dirty="0"/>
          </a:p>
          <a:p>
            <a:pPr indent="0" marL="0">
              <a:buNone/>
            </a:pPr>
            <a:r>
              <a:rPr lang="en-US" sz="1200" dirty="0">
                <a:solidFill>
                  <a:srgbClr val="2A2238"/>
                </a:solidFill>
                <a:latin typeface="Alexandria" pitchFamily="34" charset="0"/>
                <a:ea typeface="Alexandria" pitchFamily="34" charset="-122"/>
                <a:cs typeface="Alexandria" pitchFamily="34" charset="-120"/>
              </a:rPr>
              <a:t>Chương trình khách hàng cả năm (hội thảo quý + gala)</a:t>
            </a:r>
            <a:endParaRPr lang="en-US" sz="1300" dirty="0"/>
          </a:p>
        </p:txBody>
      </p:sp>
      <p:sp>
        <p:nvSpPr>
          <p:cNvPr id="25" name="Shape 22"/>
          <p:cNvSpPr/>
          <p:nvPr/>
        </p:nvSpPr>
        <p:spPr>
          <a:xfrm>
            <a:off x="3356534" y="2788920"/>
            <a:ext cx="2670734" cy="932688"/>
          </a:xfrm>
          <a:prstGeom prst="roundRect">
            <a:avLst>
              <a:gd name="adj" fmla="val 11765"/>
            </a:avLst>
          </a:prstGeom>
          <a:solidFill>
            <a:srgbClr val="FFFFFF"/>
          </a:solidFill>
          <a:ln w="12700">
            <a:solidFill>
              <a:srgbClr val="DCD7C8"/>
            </a:solidFill>
            <a:prstDash val="solid"/>
          </a:ln>
        </p:spPr>
      </p:sp>
      <p:sp>
        <p:nvSpPr>
          <p:cNvPr id="26" name="Text 23"/>
          <p:cNvSpPr txBox="1"/>
          <p:nvPr/>
        </p:nvSpPr>
        <p:spPr>
          <a:xfrm>
            <a:off x="3493694" y="2788920"/>
            <a:ext cx="2396414" cy="932688"/>
          </a:xfrm>
          <a:prstGeom prst="rect">
            <a:avLst/>
          </a:prstGeom>
          <a:noFill/>
          <a:ln/>
        </p:spPr>
        <p:txBody>
          <a:bodyPr wrap="square" lIns="0" tIns="0" rIns="0" bIns="0" rtlCol="0" anchor="ctr"/>
          <a:lstStyle/>
          <a:p>
            <a:pPr indent="0" marL="0">
              <a:buNone/>
            </a:pPr>
            <a:r>
              <a:rPr lang="en-US" sz="1300" b="1" dirty="0">
                <a:solidFill>
                  <a:srgbClr val="962B7C"/>
                </a:solidFill>
                <a:latin typeface="Alexandria" pitchFamily="34" charset="0"/>
                <a:ea typeface="Alexandria" pitchFamily="34" charset="-122"/>
                <a:cs typeface="Alexandria" pitchFamily="34" charset="-120"/>
              </a:rPr>
              <a:t>Price</a:t>
            </a:r>
            <a:endParaRPr lang="en-US" sz="1300" dirty="0"/>
          </a:p>
          <a:p>
            <a:pPr indent="0" marL="0">
              <a:buNone/>
            </a:pPr>
            <a:r>
              <a:rPr lang="en-US" sz="1200" dirty="0">
                <a:solidFill>
                  <a:srgbClr val="2A2238"/>
                </a:solidFill>
                <a:latin typeface="Alexandria" pitchFamily="34" charset="0"/>
                <a:ea typeface="Alexandria" pitchFamily="34" charset="-122"/>
                <a:cs typeface="Alexandria" pitchFamily="34" charset="-120"/>
              </a:rPr>
              <a:t>Gói giá theo năm</a:t>
            </a:r>
            <a:endParaRPr lang="en-US" sz="1300" dirty="0"/>
          </a:p>
        </p:txBody>
      </p:sp>
      <p:sp>
        <p:nvSpPr>
          <p:cNvPr id="27" name="Shape 24"/>
          <p:cNvSpPr/>
          <p:nvPr/>
        </p:nvSpPr>
        <p:spPr>
          <a:xfrm>
            <a:off x="6164428" y="2788920"/>
            <a:ext cx="2670734" cy="932688"/>
          </a:xfrm>
          <a:prstGeom prst="roundRect">
            <a:avLst>
              <a:gd name="adj" fmla="val 11765"/>
            </a:avLst>
          </a:prstGeom>
          <a:solidFill>
            <a:srgbClr val="FFFFFF"/>
          </a:solidFill>
          <a:ln w="12700">
            <a:solidFill>
              <a:srgbClr val="DCD7C8"/>
            </a:solidFill>
            <a:prstDash val="solid"/>
          </a:ln>
        </p:spPr>
      </p:sp>
      <p:sp>
        <p:nvSpPr>
          <p:cNvPr id="28" name="Text 25"/>
          <p:cNvSpPr txBox="1"/>
          <p:nvPr/>
        </p:nvSpPr>
        <p:spPr>
          <a:xfrm>
            <a:off x="6301588" y="2788920"/>
            <a:ext cx="2396414" cy="932688"/>
          </a:xfrm>
          <a:prstGeom prst="rect">
            <a:avLst/>
          </a:prstGeom>
          <a:noFill/>
          <a:ln/>
        </p:spPr>
        <p:txBody>
          <a:bodyPr wrap="square" lIns="0" tIns="0" rIns="0" bIns="0" rtlCol="0" anchor="ctr"/>
          <a:lstStyle/>
          <a:p>
            <a:pPr indent="0" marL="0">
              <a:buNone/>
            </a:pPr>
            <a:r>
              <a:rPr lang="en-US" sz="1300" b="1" dirty="0">
                <a:solidFill>
                  <a:srgbClr val="962B7C"/>
                </a:solidFill>
                <a:latin typeface="Alexandria" pitchFamily="34" charset="0"/>
                <a:ea typeface="Alexandria" pitchFamily="34" charset="-122"/>
                <a:cs typeface="Alexandria" pitchFamily="34" charset="-120"/>
              </a:rPr>
              <a:t>Place</a:t>
            </a:r>
            <a:endParaRPr lang="en-US" sz="1300" dirty="0"/>
          </a:p>
          <a:p>
            <a:pPr indent="0" marL="0">
              <a:buNone/>
            </a:pPr>
            <a:r>
              <a:rPr lang="en-US" sz="1200" dirty="0">
                <a:solidFill>
                  <a:srgbClr val="2A2238"/>
                </a:solidFill>
                <a:latin typeface="Alexandria" pitchFamily="34" charset="0"/>
                <a:ea typeface="Alexandria" pitchFamily="34" charset="-122"/>
                <a:cs typeface="Alexandria" pitchFamily="34" charset="-120"/>
              </a:rPr>
              <a:t>Offline + livestream 80 chi nhánh</a:t>
            </a:r>
            <a:endParaRPr lang="en-US" sz="1300" dirty="0"/>
          </a:p>
        </p:txBody>
      </p:sp>
      <p:sp>
        <p:nvSpPr>
          <p:cNvPr id="29" name="Shape 26"/>
          <p:cNvSpPr/>
          <p:nvPr/>
        </p:nvSpPr>
        <p:spPr>
          <a:xfrm>
            <a:off x="8972321" y="2788920"/>
            <a:ext cx="2670734" cy="932688"/>
          </a:xfrm>
          <a:prstGeom prst="roundRect">
            <a:avLst>
              <a:gd name="adj" fmla="val 11765"/>
            </a:avLst>
          </a:prstGeom>
          <a:solidFill>
            <a:srgbClr val="FFFFFF"/>
          </a:solidFill>
          <a:ln w="12700">
            <a:solidFill>
              <a:srgbClr val="DCD7C8"/>
            </a:solidFill>
            <a:prstDash val="solid"/>
          </a:ln>
        </p:spPr>
      </p:sp>
      <p:sp>
        <p:nvSpPr>
          <p:cNvPr id="30" name="Text 27"/>
          <p:cNvSpPr txBox="1"/>
          <p:nvPr/>
        </p:nvSpPr>
        <p:spPr>
          <a:xfrm>
            <a:off x="9109481" y="2788920"/>
            <a:ext cx="2396414" cy="932688"/>
          </a:xfrm>
          <a:prstGeom prst="rect">
            <a:avLst/>
          </a:prstGeom>
          <a:noFill/>
          <a:ln/>
        </p:spPr>
        <p:txBody>
          <a:bodyPr wrap="square" lIns="0" tIns="0" rIns="0" bIns="0" rtlCol="0" anchor="ctr"/>
          <a:lstStyle/>
          <a:p>
            <a:pPr indent="0" marL="0">
              <a:buNone/>
            </a:pPr>
            <a:r>
              <a:rPr lang="en-US" sz="1300" b="1" dirty="0">
                <a:solidFill>
                  <a:srgbClr val="962B7C"/>
                </a:solidFill>
                <a:latin typeface="Alexandria" pitchFamily="34" charset="0"/>
                <a:ea typeface="Alexandria" pitchFamily="34" charset="-122"/>
                <a:cs typeface="Alexandria" pitchFamily="34" charset="-120"/>
              </a:rPr>
              <a:t>Promotion</a:t>
            </a:r>
            <a:endParaRPr lang="en-US" sz="1300" dirty="0"/>
          </a:p>
          <a:p>
            <a:pPr indent="0" marL="0">
              <a:buNone/>
            </a:pPr>
            <a:r>
              <a:rPr lang="en-US" sz="1200" dirty="0">
                <a:solidFill>
                  <a:srgbClr val="2A2238"/>
                </a:solidFill>
                <a:latin typeface="Alexandria" pitchFamily="34" charset="0"/>
                <a:ea typeface="Alexandria" pitchFamily="34" charset="-122"/>
                <a:cs typeface="Alexandria" pitchFamily="34" charset="-120"/>
              </a:rPr>
              <a:t>Thư mời, bài chuyên gia</a:t>
            </a:r>
            <a:endParaRPr lang="en-US" sz="1300" dirty="0"/>
          </a:p>
        </p:txBody>
      </p:sp>
      <p:sp>
        <p:nvSpPr>
          <p:cNvPr id="31" name="Shape 28"/>
          <p:cNvSpPr/>
          <p:nvPr/>
        </p:nvSpPr>
        <p:spPr>
          <a:xfrm>
            <a:off x="548640" y="3840480"/>
            <a:ext cx="2670734" cy="932688"/>
          </a:xfrm>
          <a:prstGeom prst="roundRect">
            <a:avLst>
              <a:gd name="adj" fmla="val 11765"/>
            </a:avLst>
          </a:prstGeom>
          <a:solidFill>
            <a:srgbClr val="F1E1EE"/>
          </a:solidFill>
          <a:ln w="12700">
            <a:solidFill>
              <a:srgbClr val="962B7C"/>
            </a:solidFill>
            <a:prstDash val="solid"/>
          </a:ln>
        </p:spPr>
      </p:sp>
      <p:sp>
        <p:nvSpPr>
          <p:cNvPr id="32" name="Text 29"/>
          <p:cNvSpPr txBox="1"/>
          <p:nvPr/>
        </p:nvSpPr>
        <p:spPr>
          <a:xfrm>
            <a:off x="685800" y="3840480"/>
            <a:ext cx="2396414" cy="932688"/>
          </a:xfrm>
          <a:prstGeom prst="rect">
            <a:avLst/>
          </a:prstGeom>
          <a:noFill/>
          <a:ln/>
        </p:spPr>
        <p:txBody>
          <a:bodyPr wrap="square" lIns="0" tIns="0" rIns="0" bIns="0" rtlCol="0" anchor="ctr"/>
          <a:lstStyle/>
          <a:p>
            <a:pPr indent="0" marL="0">
              <a:buNone/>
            </a:pPr>
            <a:r>
              <a:rPr lang="en-US" sz="1300" b="1" dirty="0">
                <a:solidFill>
                  <a:srgbClr val="962B7C"/>
                </a:solidFill>
                <a:latin typeface="Alexandria" pitchFamily="34" charset="0"/>
                <a:ea typeface="Alexandria" pitchFamily="34" charset="-122"/>
                <a:cs typeface="Alexandria" pitchFamily="34" charset="-120"/>
              </a:rPr>
              <a:t>People</a:t>
            </a:r>
            <a:endParaRPr lang="en-US" sz="1300" dirty="0"/>
          </a:p>
          <a:p>
            <a:pPr indent="0" marL="0">
              <a:buNone/>
            </a:pPr>
            <a:r>
              <a:rPr lang="en-US" sz="1200" dirty="0">
                <a:solidFill>
                  <a:srgbClr val="2A2238"/>
                </a:solidFill>
                <a:latin typeface="Alexandria" pitchFamily="34" charset="0"/>
                <a:ea typeface="Alexandria" pitchFamily="34" charset="-122"/>
                <a:cs typeface="Alexandria" pitchFamily="34" charset="-120"/>
              </a:rPr>
              <a:t>Đội Nova cố định</a:t>
            </a:r>
            <a:endParaRPr lang="en-US" sz="1300" dirty="0"/>
          </a:p>
        </p:txBody>
      </p:sp>
      <p:sp>
        <p:nvSpPr>
          <p:cNvPr id="33" name="Shape 30"/>
          <p:cNvSpPr/>
          <p:nvPr/>
        </p:nvSpPr>
        <p:spPr>
          <a:xfrm>
            <a:off x="3356534" y="3840480"/>
            <a:ext cx="2670734" cy="932688"/>
          </a:xfrm>
          <a:prstGeom prst="roundRect">
            <a:avLst>
              <a:gd name="adj" fmla="val 11765"/>
            </a:avLst>
          </a:prstGeom>
          <a:solidFill>
            <a:srgbClr val="F1E1EE"/>
          </a:solidFill>
          <a:ln w="12700">
            <a:solidFill>
              <a:srgbClr val="962B7C"/>
            </a:solidFill>
            <a:prstDash val="solid"/>
          </a:ln>
        </p:spPr>
      </p:sp>
      <p:sp>
        <p:nvSpPr>
          <p:cNvPr id="34" name="Text 31"/>
          <p:cNvSpPr txBox="1"/>
          <p:nvPr/>
        </p:nvSpPr>
        <p:spPr>
          <a:xfrm>
            <a:off x="3493694" y="3840480"/>
            <a:ext cx="2396414" cy="932688"/>
          </a:xfrm>
          <a:prstGeom prst="rect">
            <a:avLst/>
          </a:prstGeom>
          <a:noFill/>
          <a:ln/>
        </p:spPr>
        <p:txBody>
          <a:bodyPr wrap="square" lIns="0" tIns="0" rIns="0" bIns="0" rtlCol="0" anchor="ctr"/>
          <a:lstStyle/>
          <a:p>
            <a:pPr indent="0" marL="0">
              <a:buNone/>
            </a:pPr>
            <a:r>
              <a:rPr lang="en-US" sz="1300" b="1" dirty="0">
                <a:solidFill>
                  <a:srgbClr val="962B7C"/>
                </a:solidFill>
                <a:latin typeface="Alexandria" pitchFamily="34" charset="0"/>
                <a:ea typeface="Alexandria" pitchFamily="34" charset="-122"/>
                <a:cs typeface="Alexandria" pitchFamily="34" charset="-120"/>
              </a:rPr>
              <a:t>Process</a:t>
            </a:r>
            <a:endParaRPr lang="en-US" sz="1300" dirty="0"/>
          </a:p>
          <a:p>
            <a:pPr indent="0" marL="0">
              <a:buNone/>
            </a:pPr>
            <a:r>
              <a:rPr lang="en-US" sz="1200" dirty="0">
                <a:solidFill>
                  <a:srgbClr val="2A2238"/>
                </a:solidFill>
                <a:latin typeface="Alexandria" pitchFamily="34" charset="0"/>
                <a:ea typeface="Alexandria" pitchFamily="34" charset="-122"/>
                <a:cs typeface="Alexandria" pitchFamily="34" charset="-120"/>
              </a:rPr>
              <a:t>Quy trình duyệt, đánh giá chung</a:t>
            </a:r>
            <a:endParaRPr lang="en-US" sz="1300" dirty="0"/>
          </a:p>
        </p:txBody>
      </p:sp>
      <p:sp>
        <p:nvSpPr>
          <p:cNvPr id="35" name="Shape 32"/>
          <p:cNvSpPr/>
          <p:nvPr/>
        </p:nvSpPr>
        <p:spPr>
          <a:xfrm>
            <a:off x="6164428" y="3840480"/>
            <a:ext cx="2670734" cy="932688"/>
          </a:xfrm>
          <a:prstGeom prst="roundRect">
            <a:avLst>
              <a:gd name="adj" fmla="val 11765"/>
            </a:avLst>
          </a:prstGeom>
          <a:solidFill>
            <a:srgbClr val="F1E1EE"/>
          </a:solidFill>
          <a:ln w="12700">
            <a:solidFill>
              <a:srgbClr val="962B7C"/>
            </a:solidFill>
            <a:prstDash val="solid"/>
          </a:ln>
        </p:spPr>
      </p:sp>
      <p:sp>
        <p:nvSpPr>
          <p:cNvPr id="36" name="Text 33"/>
          <p:cNvSpPr txBox="1"/>
          <p:nvPr/>
        </p:nvSpPr>
        <p:spPr>
          <a:xfrm>
            <a:off x="6301588" y="3840480"/>
            <a:ext cx="2396414" cy="932688"/>
          </a:xfrm>
          <a:prstGeom prst="rect">
            <a:avLst/>
          </a:prstGeom>
          <a:noFill/>
          <a:ln/>
        </p:spPr>
        <p:txBody>
          <a:bodyPr wrap="square" lIns="0" tIns="0" rIns="0" bIns="0" rtlCol="0" anchor="ctr"/>
          <a:lstStyle/>
          <a:p>
            <a:pPr indent="0" marL="0">
              <a:buNone/>
            </a:pPr>
            <a:r>
              <a:rPr lang="en-US" sz="1300" b="1" dirty="0">
                <a:solidFill>
                  <a:srgbClr val="962B7C"/>
                </a:solidFill>
                <a:latin typeface="Alexandria" pitchFamily="34" charset="0"/>
                <a:ea typeface="Alexandria" pitchFamily="34" charset="-122"/>
                <a:cs typeface="Alexandria" pitchFamily="34" charset="-120"/>
              </a:rPr>
              <a:t>Physical evidence</a:t>
            </a:r>
            <a:endParaRPr lang="en-US" sz="1300" dirty="0"/>
          </a:p>
          <a:p>
            <a:pPr indent="0" marL="0">
              <a:buNone/>
            </a:pPr>
            <a:r>
              <a:rPr lang="en-US" sz="1200" dirty="0">
                <a:solidFill>
                  <a:srgbClr val="2A2238"/>
                </a:solidFill>
                <a:latin typeface="Alexandria" pitchFamily="34" charset="0"/>
                <a:ea typeface="Alexandria" pitchFamily="34" charset="-122"/>
                <a:cs typeface="Alexandria" pitchFamily="34" charset="-120"/>
              </a:rPr>
              <a:t>Không gian, ảnh, báo cáo</a:t>
            </a:r>
            <a:endParaRPr lang="en-US" sz="1300" dirty="0"/>
          </a:p>
        </p:txBody>
      </p:sp>
      <p:sp>
        <p:nvSpPr>
          <p:cNvPr id="37" name="Text 34"/>
          <p:cNvSpPr txBox="1"/>
          <p:nvPr/>
        </p:nvSpPr>
        <p:spPr>
          <a:xfrm>
            <a:off x="8972321" y="3840480"/>
            <a:ext cx="2670734" cy="932688"/>
          </a:xfrm>
          <a:prstGeom prst="rect">
            <a:avLst/>
          </a:prstGeom>
          <a:noFill/>
          <a:ln/>
        </p:spPr>
        <p:txBody>
          <a:bodyPr wrap="square" lIns="0" tIns="0" rIns="0" bIns="0" rtlCol="0" anchor="ctr"/>
          <a:lstStyle/>
          <a:p>
            <a:pPr algn="ctr" indent="0" marL="0">
              <a:buNone/>
            </a:pPr>
            <a:r>
              <a:rPr lang="en-US" sz="1600" b="1" dirty="0">
                <a:solidFill>
                  <a:srgbClr val="962B7C"/>
                </a:solidFill>
                <a:latin typeface="Alexandria" pitchFamily="34" charset="0"/>
                <a:ea typeface="Alexandria" pitchFamily="34" charset="-122"/>
                <a:cs typeface="Alexandria" pitchFamily="34" charset="-120"/>
              </a:rPr>
              <a:t>Offering · 7Ps</a:t>
            </a:r>
            <a:endParaRPr lang="en-US" sz="1600" dirty="0"/>
          </a:p>
        </p:txBody>
      </p:sp>
      <p:sp>
        <p:nvSpPr>
          <p:cNvPr id="38" name="Shape 35"/>
          <p:cNvSpPr/>
          <p:nvPr/>
        </p:nvSpPr>
        <p:spPr>
          <a:xfrm>
            <a:off x="548640" y="4983480"/>
            <a:ext cx="11094415" cy="1005840"/>
          </a:xfrm>
          <a:prstGeom prst="roundRect">
            <a:avLst>
              <a:gd name="adj" fmla="val 10909"/>
            </a:avLst>
          </a:prstGeom>
          <a:solidFill>
            <a:srgbClr val="FFF3C4"/>
          </a:solidFill>
          <a:ln w="12700">
            <a:solidFill>
              <a:srgbClr val="FFD23B"/>
            </a:solidFill>
            <a:prstDash val="solid"/>
          </a:ln>
        </p:spPr>
      </p:sp>
      <p:sp>
        <p:nvSpPr>
          <p:cNvPr id="39" name="Text 36"/>
          <p:cNvSpPr txBox="1"/>
          <p:nvPr/>
        </p:nvSpPr>
        <p:spPr>
          <a:xfrm>
            <a:off x="822960" y="4983480"/>
            <a:ext cx="10545775" cy="100584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Value appraisal  </a:t>
            </a:r>
            <a:pPr indent="0" marL="0">
              <a:buNone/>
            </a:pPr>
            <a:r>
              <a:rPr lang="en-US" sz="1600" dirty="0">
                <a:solidFill>
                  <a:srgbClr val="2A2238"/>
                </a:solidFill>
                <a:latin typeface="Alexandria" pitchFamily="34" charset="0"/>
                <a:ea typeface="Alexandria" pitchFamily="34" charset="-122"/>
                <a:cs typeface="Alexandria" pitchFamily="34" charset="-120"/>
              </a:rPr>
              <a:t>tỷ lệ CEO đến trực tiếp · số cuộc hẹn kinh doanh sau sự kiện (An Phát báo) · chi phí gộp so với từng sự kiện rời</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5.1 Cấu trúc CVP</a:t>
            </a:r>
            <a:endParaRPr lang="en-US" sz="1000" dirty="0"/>
          </a:p>
        </p:txBody>
      </p:sp>
      <p:sp>
        <p:nvSpPr>
          <p:cNvPr id="6" name="Shape 4"/>
          <p:cNvSpPr/>
          <p:nvPr/>
        </p:nvSpPr>
        <p:spPr>
          <a:xfrm>
            <a:off x="2990088"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5.2 Năm nguồn giá trị</a:t>
            </a:r>
            <a:endParaRPr lang="en-US" sz="1000" dirty="0"/>
          </a:p>
        </p:txBody>
      </p:sp>
      <p:sp>
        <p:nvSpPr>
          <p:cNvPr id="8" name="Shape 6"/>
          <p:cNvSpPr/>
          <p:nvPr/>
        </p:nvSpPr>
        <p:spPr>
          <a:xfrm>
            <a:off x="4988052" y="274320"/>
            <a:ext cx="157734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5.3 Đồng kiến tạo</a:t>
            </a:r>
            <a:endParaRPr lang="en-US" sz="1000" dirty="0"/>
          </a:p>
        </p:txBody>
      </p:sp>
      <p:sp>
        <p:nvSpPr>
          <p:cNvPr id="10" name="Shape 8"/>
          <p:cNvSpPr/>
          <p:nvPr/>
        </p:nvSpPr>
        <p:spPr>
          <a:xfrm>
            <a:off x="6675120"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675120"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334670"/>
            <a:ext cx="107533" cy="268834"/>
          </a:xfrm>
          <a:prstGeom prst="rect">
            <a:avLst/>
          </a:prstGeom>
          <a:solidFill>
            <a:srgbClr val="09A1E5"/>
          </a:solidFill>
          <a:ln w="12700">
            <a:solidFill>
              <a:srgbClr val="09A1E5"/>
            </a:solidFill>
            <a:prstDash val="solid"/>
          </a:ln>
        </p:spPr>
      </p:sp>
      <p:sp>
        <p:nvSpPr>
          <p:cNvPr id="13" name="Shape 11"/>
          <p:cNvSpPr/>
          <p:nvPr/>
        </p:nvSpPr>
        <p:spPr>
          <a:xfrm>
            <a:off x="11535522" y="334670"/>
            <a:ext cx="107533" cy="268834"/>
          </a:xfrm>
          <a:prstGeom prst="rect">
            <a:avLst/>
          </a:prstGeom>
          <a:solidFill>
            <a:srgbClr val="962B7C"/>
          </a:solidFill>
          <a:ln w="12700">
            <a:solidFill>
              <a:srgbClr val="962B7C"/>
            </a:solidFill>
            <a:prstDash val="solid"/>
          </a:ln>
        </p:spPr>
      </p:sp>
      <p:sp>
        <p:nvSpPr>
          <p:cNvPr id="14" name="Shape 12"/>
          <p:cNvSpPr/>
          <p:nvPr/>
        </p:nvSpPr>
        <p:spPr>
          <a:xfrm>
            <a:off x="11259007" y="250180"/>
            <a:ext cx="384048" cy="61448"/>
          </a:xfrm>
          <a:prstGeom prst="rect">
            <a:avLst/>
          </a:prstGeom>
          <a:solidFill>
            <a:srgbClr val="FFD23B"/>
          </a:solidFill>
          <a:ln w="12700">
            <a:solidFill>
              <a:srgbClr val="FFD23B"/>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Value appraisal là câu hội đồng sẽ hỏi</a:t>
            </a:r>
            <a:endParaRPr lang="en-US" sz="2600" dirty="0"/>
          </a:p>
        </p:txBody>
      </p:sp>
      <p:sp>
        <p:nvSpPr>
          <p:cNvPr id="16" name="Text 14"/>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9</a:t>
            </a:r>
            <a:endParaRPr lang="en-US" sz="1000" dirty="0"/>
          </a:p>
        </p:txBody>
      </p:sp>
      <p:sp>
        <p:nvSpPr>
          <p:cNvPr id="18" name="Shape 15"/>
          <p:cNvSpPr/>
          <p:nvPr/>
        </p:nvSpPr>
        <p:spPr>
          <a:xfrm>
            <a:off x="548640" y="1920240"/>
            <a:ext cx="11094415" cy="1828800"/>
          </a:xfrm>
          <a:prstGeom prst="roundRect">
            <a:avLst>
              <a:gd name="adj" fmla="val 6000"/>
            </a:avLst>
          </a:prstGeom>
          <a:solidFill>
            <a:srgbClr val="FFF3C4"/>
          </a:solidFill>
          <a:ln w="12700">
            <a:solidFill>
              <a:srgbClr val="FFD23B"/>
            </a:solidFill>
            <a:prstDash val="solid"/>
          </a:ln>
        </p:spPr>
      </p:sp>
      <p:sp>
        <p:nvSpPr>
          <p:cNvPr id="19" name="Text 16"/>
          <p:cNvSpPr txBox="1"/>
          <p:nvPr/>
        </p:nvSpPr>
        <p:spPr>
          <a:xfrm>
            <a:off x="914400" y="1920240"/>
            <a:ext cx="10362895" cy="1828800"/>
          </a:xfrm>
          <a:prstGeom prst="rect">
            <a:avLst/>
          </a:prstGeom>
          <a:noFill/>
          <a:ln/>
        </p:spPr>
        <p:txBody>
          <a:bodyPr wrap="square" lIns="0" tIns="0" rIns="0" bIns="0" rtlCol="0" anchor="ctr"/>
          <a:lstStyle/>
          <a:p>
            <a:pPr algn="ctr" indent="0" marL="0">
              <a:buNone/>
            </a:pPr>
            <a:r>
              <a:rPr lang="en-US" sz="3200" b="1" i="1" dirty="0">
                <a:solidFill>
                  <a:srgbClr val="2A2238"/>
                </a:solidFill>
                <a:latin typeface="Alexandria" pitchFamily="34" charset="0"/>
                <a:ea typeface="Alexandria" pitchFamily="34" charset="-122"/>
                <a:cs typeface="Alexandria" pitchFamily="34" charset="-120"/>
              </a:rPr>
              <a:t>“An Phát được bao nhiêu — và đo thế nào?”</a:t>
            </a:r>
            <a:endParaRPr lang="en-US" sz="3200" dirty="0"/>
          </a:p>
        </p:txBody>
      </p:sp>
      <p:sp>
        <p:nvSpPr>
          <p:cNvPr id="20" name="Shape 17"/>
          <p:cNvSpPr/>
          <p:nvPr/>
        </p:nvSpPr>
        <p:spPr>
          <a:xfrm>
            <a:off x="548640" y="4069080"/>
            <a:ext cx="5410048" cy="1920240"/>
          </a:xfrm>
          <a:prstGeom prst="roundRect">
            <a:avLst>
              <a:gd name="adj" fmla="val 5714"/>
            </a:avLst>
          </a:prstGeom>
          <a:solidFill>
            <a:srgbClr val="FFE4EA"/>
          </a:solidFill>
          <a:ln w="12700">
            <a:solidFill>
              <a:srgbClr val="FF5178"/>
            </a:solidFill>
            <a:prstDash val="solid"/>
          </a:ln>
        </p:spPr>
      </p:sp>
      <p:sp>
        <p:nvSpPr>
          <p:cNvPr id="21" name="Text 18"/>
          <p:cNvSpPr txBox="1"/>
          <p:nvPr/>
        </p:nvSpPr>
        <p:spPr>
          <a:xfrm>
            <a:off x="868680" y="4069080"/>
            <a:ext cx="4769968" cy="1920240"/>
          </a:xfrm>
          <a:prstGeom prst="rect">
            <a:avLst/>
          </a:prstGeom>
          <a:noFill/>
          <a:ln/>
        </p:spPr>
        <p:txBody>
          <a:bodyPr wrap="square" lIns="0" tIns="0" rIns="0" bIns="0" rtlCol="0" anchor="ctr"/>
          <a:lstStyle/>
          <a:p>
            <a:pPr indent="0" marL="0">
              <a:spcAft>
                <a:spcPts val="600"/>
              </a:spcAft>
              <a:buNone/>
            </a:pPr>
            <a:r>
              <a:rPr lang="en-US" sz="2000" b="1" dirty="0">
                <a:solidFill>
                  <a:srgbClr val="E03A62"/>
                </a:solidFill>
                <a:latin typeface="Alexandria" pitchFamily="34" charset="0"/>
                <a:ea typeface="Alexandria" pitchFamily="34" charset="-122"/>
                <a:cs typeface="Alexandria" pitchFamily="34" charset="-120"/>
              </a:rPr>
              <a:t>Chỉ số yếu</a:t>
            </a:r>
            <a:endParaRPr lang="en-US" sz="2000" dirty="0"/>
          </a:p>
          <a:p>
            <a:pPr indent="0" marL="0">
              <a:spcAft>
                <a:spcPts val="600"/>
              </a:spcAft>
              <a:buNone/>
            </a:pPr>
            <a:r>
              <a:rPr lang="en-US" sz="1600" dirty="0">
                <a:solidFill>
                  <a:srgbClr val="2A2238"/>
                </a:solidFill>
                <a:latin typeface="Alexandria" pitchFamily="34" charset="0"/>
                <a:ea typeface="Alexandria" pitchFamily="34" charset="-122"/>
                <a:cs typeface="Alexandria" pitchFamily="34" charset="-120"/>
              </a:rPr>
              <a:t>“khách hài lòng” — Buổi 8 sẽ học ROI 6 cấp</a:t>
            </a:r>
            <a:endParaRPr lang="en-US" sz="2000" dirty="0"/>
          </a:p>
        </p:txBody>
      </p:sp>
      <p:sp>
        <p:nvSpPr>
          <p:cNvPr id="22" name="Shape 19"/>
          <p:cNvSpPr/>
          <p:nvPr/>
        </p:nvSpPr>
        <p:spPr>
          <a:xfrm>
            <a:off x="6233008" y="4069080"/>
            <a:ext cx="5410048" cy="1920240"/>
          </a:xfrm>
          <a:prstGeom prst="roundRect">
            <a:avLst>
              <a:gd name="adj" fmla="val 5714"/>
            </a:avLst>
          </a:prstGeom>
          <a:solidFill>
            <a:srgbClr val="E1F3EE"/>
          </a:solidFill>
          <a:ln w="12700">
            <a:solidFill>
              <a:srgbClr val="49B296"/>
            </a:solidFill>
            <a:prstDash val="solid"/>
          </a:ln>
        </p:spPr>
      </p:sp>
      <p:sp>
        <p:nvSpPr>
          <p:cNvPr id="23" name="Text 20"/>
          <p:cNvSpPr txBox="1"/>
          <p:nvPr/>
        </p:nvSpPr>
        <p:spPr>
          <a:xfrm>
            <a:off x="6553048" y="4069080"/>
            <a:ext cx="4769968" cy="1920240"/>
          </a:xfrm>
          <a:prstGeom prst="rect">
            <a:avLst/>
          </a:prstGeom>
          <a:noFill/>
          <a:ln/>
        </p:spPr>
        <p:txBody>
          <a:bodyPr wrap="square" lIns="0" tIns="0" rIns="0" bIns="0" rtlCol="0" anchor="ctr"/>
          <a:lstStyle/>
          <a:p>
            <a:pPr indent="0" marL="0">
              <a:spcAft>
                <a:spcPts val="600"/>
              </a:spcAft>
              <a:buNone/>
            </a:pPr>
            <a:r>
              <a:rPr lang="en-US" sz="2000" b="1" dirty="0">
                <a:solidFill>
                  <a:srgbClr val="2E8A71"/>
                </a:solidFill>
                <a:latin typeface="Alexandria" pitchFamily="34" charset="0"/>
                <a:ea typeface="Alexandria" pitchFamily="34" charset="-122"/>
                <a:cs typeface="Alexandria" pitchFamily="34" charset="-120"/>
              </a:rPr>
              <a:t>Chỉ số mạnh</a:t>
            </a:r>
            <a:endParaRPr lang="en-US" sz="2000" dirty="0"/>
          </a:p>
          <a:p>
            <a:pPr indent="0" marL="0">
              <a:spcAft>
                <a:spcPts val="600"/>
              </a:spcAft>
              <a:buNone/>
            </a:pPr>
            <a:r>
              <a:rPr lang="en-US" sz="1600" dirty="0">
                <a:solidFill>
                  <a:srgbClr val="2A2238"/>
                </a:solidFill>
                <a:latin typeface="Alexandria" pitchFamily="34" charset="0"/>
                <a:ea typeface="Alexandria" pitchFamily="34" charset="-122"/>
                <a:cs typeface="Alexandria" pitchFamily="34" charset="-120"/>
              </a:rPr>
              <a:t>tỷ lệ CEO đến trực tiếp · số cuộc hẹn sau sự kiện · chi phí so sánh</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5.1 Cấu trúc CVP</a:t>
            </a:r>
            <a:endParaRPr lang="en-US" sz="1000" dirty="0"/>
          </a:p>
        </p:txBody>
      </p:sp>
      <p:sp>
        <p:nvSpPr>
          <p:cNvPr id="6" name="Shape 4"/>
          <p:cNvSpPr/>
          <p:nvPr/>
        </p:nvSpPr>
        <p:spPr>
          <a:xfrm>
            <a:off x="2990088"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5.2 Năm nguồn giá trị</a:t>
            </a:r>
            <a:endParaRPr lang="en-US" sz="1000" dirty="0"/>
          </a:p>
        </p:txBody>
      </p:sp>
      <p:sp>
        <p:nvSpPr>
          <p:cNvPr id="8" name="Shape 6"/>
          <p:cNvSpPr/>
          <p:nvPr/>
        </p:nvSpPr>
        <p:spPr>
          <a:xfrm>
            <a:off x="4988052" y="274320"/>
            <a:ext cx="157734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5.3 Đồng kiến tạo</a:t>
            </a:r>
            <a:endParaRPr lang="en-US" sz="1000" dirty="0"/>
          </a:p>
        </p:txBody>
      </p:sp>
      <p:sp>
        <p:nvSpPr>
          <p:cNvPr id="10" name="Shape 8"/>
          <p:cNvSpPr/>
          <p:nvPr/>
        </p:nvSpPr>
        <p:spPr>
          <a:xfrm>
            <a:off x="6675120"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675120"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334670"/>
            <a:ext cx="107533" cy="268834"/>
          </a:xfrm>
          <a:prstGeom prst="rect">
            <a:avLst/>
          </a:prstGeom>
          <a:solidFill>
            <a:srgbClr val="09A1E5"/>
          </a:solidFill>
          <a:ln w="12700">
            <a:solidFill>
              <a:srgbClr val="09A1E5"/>
            </a:solidFill>
            <a:prstDash val="solid"/>
          </a:ln>
        </p:spPr>
      </p:sp>
      <p:sp>
        <p:nvSpPr>
          <p:cNvPr id="13" name="Shape 11"/>
          <p:cNvSpPr/>
          <p:nvPr/>
        </p:nvSpPr>
        <p:spPr>
          <a:xfrm>
            <a:off x="11535522" y="334670"/>
            <a:ext cx="107533" cy="268834"/>
          </a:xfrm>
          <a:prstGeom prst="rect">
            <a:avLst/>
          </a:prstGeom>
          <a:solidFill>
            <a:srgbClr val="962B7C"/>
          </a:solidFill>
          <a:ln w="12700">
            <a:solidFill>
              <a:srgbClr val="962B7C"/>
            </a:solidFill>
            <a:prstDash val="solid"/>
          </a:ln>
        </p:spPr>
      </p:sp>
      <p:sp>
        <p:nvSpPr>
          <p:cNvPr id="14" name="Shape 12"/>
          <p:cNvSpPr/>
          <p:nvPr/>
        </p:nvSpPr>
        <p:spPr>
          <a:xfrm>
            <a:off x="11259007" y="250180"/>
            <a:ext cx="384048" cy="61448"/>
          </a:xfrm>
          <a:prstGeom prst="rect">
            <a:avLst/>
          </a:prstGeom>
          <a:solidFill>
            <a:srgbClr val="FFD23B"/>
          </a:solidFill>
          <a:ln w="12700">
            <a:solidFill>
              <a:srgbClr val="FFD23B"/>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1 · Viết lại CVP của Nova cho An Phát</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W05_activity_S3_viet_lai_cvp.md · CVP GIẢ ĐỊNH.</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10</a:t>
            </a:r>
            <a:endParaRPr lang="en-US" sz="1000" dirty="0"/>
          </a:p>
        </p:txBody>
      </p:sp>
      <p:sp>
        <p:nvSpPr>
          <p:cNvPr id="19" name="Shape 16"/>
          <p:cNvSpPr/>
          <p:nvPr/>
        </p:nvSpPr>
        <p:spPr>
          <a:xfrm>
            <a:off x="548640" y="1783080"/>
            <a:ext cx="6949440" cy="2514600"/>
          </a:xfrm>
          <a:prstGeom prst="roundRect">
            <a:avLst>
              <a:gd name="adj" fmla="val 4364"/>
            </a:avLst>
          </a:prstGeom>
          <a:solidFill>
            <a:srgbClr val="FFFFFF"/>
          </a:solidFill>
          <a:ln w="12700">
            <a:solidFill>
              <a:srgbClr val="DCD7C8"/>
            </a:solidFill>
            <a:prstDash val="solid"/>
          </a:ln>
        </p:spPr>
      </p:sp>
      <p:sp>
        <p:nvSpPr>
          <p:cNvPr id="20" name="Text 17"/>
          <p:cNvSpPr txBox="1"/>
          <p:nvPr/>
        </p:nvSpPr>
        <p:spPr>
          <a:xfrm>
            <a:off x="822960" y="1783080"/>
            <a:ext cx="6400800" cy="2514600"/>
          </a:xfrm>
          <a:prstGeom prst="rect">
            <a:avLst/>
          </a:prstGeom>
          <a:noFill/>
          <a:ln/>
        </p:spPr>
        <p:txBody>
          <a:bodyPr wrap="square" lIns="0" tIns="0" rIns="0" bIns="0" rtlCol="0" anchor="ctr"/>
          <a:lstStyle/>
          <a:p>
            <a:pPr indent="0" marL="0">
              <a:spcAft>
                <a:spcPts val="400"/>
              </a:spcAft>
              <a:buNone/>
            </a:pPr>
            <a:r>
              <a:rPr lang="en-US" sz="1300" b="1" dirty="0">
                <a:solidFill>
                  <a:srgbClr val="6E6878"/>
                </a:solidFill>
                <a:latin typeface="Alexandria" pitchFamily="34" charset="0"/>
                <a:ea typeface="Alexandria" pitchFamily="34" charset="-122"/>
                <a:cs typeface="Alexandria" pitchFamily="34" charset="-120"/>
              </a:rPr>
              <a:t>CVP hiện tại</a:t>
            </a:r>
            <a:endParaRPr lang="en-US" sz="1300" dirty="0"/>
          </a:p>
          <a:p>
            <a:pPr indent="0" marL="0">
              <a:spcAft>
                <a:spcPts val="400"/>
              </a:spcAft>
              <a:buNone/>
            </a:pPr>
            <a:r>
              <a:rPr lang="en-US" sz="1400" i="1" dirty="0">
                <a:solidFill>
                  <a:srgbClr val="2A2238"/>
                </a:solidFill>
                <a:latin typeface="Alexandria" pitchFamily="34" charset="0"/>
                <a:ea typeface="Alexandria" pitchFamily="34" charset="-122"/>
                <a:cs typeface="Alexandria" pitchFamily="34" charset="-120"/>
              </a:rPr>
              <a:t>“Nova Events mang đến cho Ngân hàng An Phát: ý tưởng sáng tạo độc đáo, đội ngũ chuyên nghiệp hơn 10 năm kinh nghiệm, hệ thống âm thanh ánh sáng hiện đại, giá cả cạnh tranh, phục vụ tận tâm 24/7, mạng lưới nhà cung cấp rộng khắp, và kinh nghiệm tổ chức hơn 500 sự kiện.”</a:t>
            </a:r>
            <a:endParaRPr lang="en-US" sz="1300" dirty="0"/>
          </a:p>
        </p:txBody>
      </p:sp>
      <p:sp>
        <p:nvSpPr>
          <p:cNvPr id="21" name="Shape 18"/>
          <p:cNvSpPr/>
          <p:nvPr/>
        </p:nvSpPr>
        <p:spPr>
          <a:xfrm>
            <a:off x="548640" y="4480560"/>
            <a:ext cx="6949440" cy="1554480"/>
          </a:xfrm>
          <a:prstGeom prst="roundRect">
            <a:avLst>
              <a:gd name="adj" fmla="val 7059"/>
            </a:avLst>
          </a:prstGeom>
          <a:solidFill>
            <a:srgbClr val="DDF1FB"/>
          </a:solidFill>
          <a:ln w="12700">
            <a:solidFill>
              <a:srgbClr val="09A1E5"/>
            </a:solidFill>
            <a:prstDash val="solid"/>
          </a:ln>
        </p:spPr>
      </p:sp>
      <p:sp>
        <p:nvSpPr>
          <p:cNvPr id="22" name="Text 19"/>
          <p:cNvSpPr txBox="1"/>
          <p:nvPr/>
        </p:nvSpPr>
        <p:spPr>
          <a:xfrm>
            <a:off x="822960" y="4480560"/>
            <a:ext cx="6400800" cy="155448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Bối cảnh An Phát (Buổi 3): </a:t>
            </a:r>
            <a:pPr indent="0" marL="0">
              <a:buNone/>
            </a:pPr>
            <a:r>
              <a:rPr lang="en-US" sz="1300" dirty="0">
                <a:solidFill>
                  <a:srgbClr val="2A2238"/>
                </a:solidFill>
                <a:latin typeface="Alexandria" pitchFamily="34" charset="0"/>
                <a:ea typeface="Alexandria" pitchFamily="34" charset="-122"/>
                <a:cs typeface="Alexandria" pitchFamily="34" charset="-120"/>
              </a:rPr>
              <a:t>tín dụng 2026 ~15%; đối thủ mở hội thảo quý; khách DN lo chi phí vốn, dòng tiền; chủ DN trẻ; livestream 80 chi nhánh từng chậm.</a:t>
            </a:r>
            <a:endParaRPr lang="en-US" sz="1300" dirty="0"/>
          </a:p>
        </p:txBody>
      </p:sp>
      <p:sp>
        <p:nvSpPr>
          <p:cNvPr id="23" name="Shape 20"/>
          <p:cNvSpPr/>
          <p:nvPr/>
        </p:nvSpPr>
        <p:spPr>
          <a:xfrm>
            <a:off x="7772400" y="2057400"/>
            <a:ext cx="731520" cy="731520"/>
          </a:xfrm>
          <a:prstGeom prst="ellipse">
            <a:avLst/>
          </a:prstGeom>
          <a:solidFill>
            <a:srgbClr val="09A1E5"/>
          </a:solidFill>
          <a:ln w="12700">
            <a:solidFill>
              <a:srgbClr val="09A1E5"/>
            </a:solidFill>
            <a:prstDash val="solid"/>
          </a:ln>
        </p:spPr>
      </p:sp>
      <p:sp>
        <p:nvSpPr>
          <p:cNvPr id="24" name="Text 21"/>
          <p:cNvSpPr txBox="1"/>
          <p:nvPr/>
        </p:nvSpPr>
        <p:spPr>
          <a:xfrm>
            <a:off x="7772400" y="2057400"/>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4’</a:t>
            </a:r>
            <a:endParaRPr lang="en-US" sz="1600" dirty="0"/>
          </a:p>
        </p:txBody>
      </p:sp>
      <p:sp>
        <p:nvSpPr>
          <p:cNvPr id="25" name="Text 22"/>
          <p:cNvSpPr txBox="1"/>
          <p:nvPr/>
        </p:nvSpPr>
        <p:spPr>
          <a:xfrm>
            <a:off x="8686800" y="1783080"/>
            <a:ext cx="2956255" cy="128016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Kiểu CVP nào? Gạch chân câu nói về Nova</a:t>
            </a:r>
            <a:endParaRPr lang="en-US" sz="1300" dirty="0"/>
          </a:p>
        </p:txBody>
      </p:sp>
      <p:sp>
        <p:nvSpPr>
          <p:cNvPr id="26" name="Shape 23"/>
          <p:cNvSpPr/>
          <p:nvPr/>
        </p:nvSpPr>
        <p:spPr>
          <a:xfrm>
            <a:off x="7772400" y="3474720"/>
            <a:ext cx="731520" cy="731520"/>
          </a:xfrm>
          <a:prstGeom prst="ellipse">
            <a:avLst/>
          </a:prstGeom>
          <a:solidFill>
            <a:srgbClr val="962B7C"/>
          </a:solidFill>
          <a:ln w="12700">
            <a:solidFill>
              <a:srgbClr val="962B7C"/>
            </a:solidFill>
            <a:prstDash val="solid"/>
          </a:ln>
        </p:spPr>
      </p:sp>
      <p:sp>
        <p:nvSpPr>
          <p:cNvPr id="27" name="Text 24"/>
          <p:cNvSpPr txBox="1"/>
          <p:nvPr/>
        </p:nvSpPr>
        <p:spPr>
          <a:xfrm>
            <a:off x="7772400" y="3474720"/>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12’</a:t>
            </a:r>
            <a:endParaRPr lang="en-US" sz="1600" dirty="0"/>
          </a:p>
        </p:txBody>
      </p:sp>
      <p:sp>
        <p:nvSpPr>
          <p:cNvPr id="28" name="Text 25"/>
          <p:cNvSpPr txBox="1"/>
          <p:nvPr/>
        </p:nvSpPr>
        <p:spPr>
          <a:xfrm>
            <a:off x="8686800" y="3200400"/>
            <a:ext cx="2956255" cy="128016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Viết lại: Future state · 7Ps · 2 chỉ số value appraisal; in đậm 1–2 điểm trọng tâm</a:t>
            </a:r>
            <a:endParaRPr lang="en-US" sz="1300" dirty="0"/>
          </a:p>
        </p:txBody>
      </p:sp>
      <p:sp>
        <p:nvSpPr>
          <p:cNvPr id="29" name="Shape 26"/>
          <p:cNvSpPr/>
          <p:nvPr/>
        </p:nvSpPr>
        <p:spPr>
          <a:xfrm>
            <a:off x="7772400" y="4892040"/>
            <a:ext cx="731520" cy="731520"/>
          </a:xfrm>
          <a:prstGeom prst="ellipse">
            <a:avLst/>
          </a:prstGeom>
          <a:solidFill>
            <a:srgbClr val="FF5178"/>
          </a:solidFill>
          <a:ln w="12700">
            <a:solidFill>
              <a:srgbClr val="FF5178"/>
            </a:solidFill>
            <a:prstDash val="solid"/>
          </a:ln>
        </p:spPr>
      </p:sp>
      <p:sp>
        <p:nvSpPr>
          <p:cNvPr id="30" name="Text 27"/>
          <p:cNvSpPr txBox="1"/>
          <p:nvPr/>
        </p:nvSpPr>
        <p:spPr>
          <a:xfrm>
            <a:off x="7772400" y="4892040"/>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4’</a:t>
            </a:r>
            <a:endParaRPr lang="en-US" sz="1600" dirty="0"/>
          </a:p>
        </p:txBody>
      </p:sp>
      <p:sp>
        <p:nvSpPr>
          <p:cNvPr id="31" name="Text 28"/>
          <p:cNvSpPr txBox="1"/>
          <p:nvPr/>
        </p:nvSpPr>
        <p:spPr>
          <a:xfrm>
            <a:off x="8686800" y="4617720"/>
            <a:ext cx="2956255" cy="128016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Một câu chị Hạnh có thể nói lại với ông Tuấn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3840480" y="1554480"/>
            <a:ext cx="548640" cy="548640"/>
          </a:xfrm>
          <a:prstGeom prst="ellipse">
            <a:avLst/>
          </a:prstGeom>
          <a:solidFill>
            <a:srgbClr val="FF9259"/>
          </a:solidFill>
          <a:ln w="12700">
            <a:solidFill>
              <a:srgbClr val="FF9259"/>
            </a:solidFill>
            <a:prstDash val="solid"/>
          </a:ln>
        </p:spPr>
      </p:sp>
      <p:sp>
        <p:nvSpPr>
          <p:cNvPr id="3" name="Shape 1"/>
          <p:cNvSpPr/>
          <p:nvPr/>
        </p:nvSpPr>
        <p:spPr>
          <a:xfrm>
            <a:off x="4617720" y="1554480"/>
            <a:ext cx="548640" cy="548640"/>
          </a:xfrm>
          <a:prstGeom prst="ellipse">
            <a:avLst/>
          </a:prstGeom>
          <a:solidFill>
            <a:srgbClr val="FFD23B"/>
          </a:solidFill>
          <a:ln w="12700">
            <a:solidFill>
              <a:srgbClr val="FFD23B"/>
            </a:solidFill>
            <a:prstDash val="solid"/>
          </a:ln>
        </p:spPr>
      </p:sp>
      <p:sp>
        <p:nvSpPr>
          <p:cNvPr id="4" name="Shape 2"/>
          <p:cNvSpPr/>
          <p:nvPr/>
        </p:nvSpPr>
        <p:spPr>
          <a:xfrm>
            <a:off x="5394960" y="1554480"/>
            <a:ext cx="548640" cy="548640"/>
          </a:xfrm>
          <a:prstGeom prst="ellipse">
            <a:avLst/>
          </a:prstGeom>
          <a:solidFill>
            <a:srgbClr val="49B296"/>
          </a:solidFill>
          <a:ln w="12700">
            <a:solidFill>
              <a:srgbClr val="49B296"/>
            </a:solidFill>
            <a:prstDash val="solid"/>
          </a:ln>
        </p:spPr>
      </p:sp>
      <p:sp>
        <p:nvSpPr>
          <p:cNvPr id="5" name="Shape 3"/>
          <p:cNvSpPr/>
          <p:nvPr/>
        </p:nvSpPr>
        <p:spPr>
          <a:xfrm>
            <a:off x="6172200" y="1554480"/>
            <a:ext cx="548640" cy="548640"/>
          </a:xfrm>
          <a:prstGeom prst="ellipse">
            <a:avLst/>
          </a:prstGeom>
          <a:solidFill>
            <a:srgbClr val="09A1E5"/>
          </a:solidFill>
          <a:ln w="12700">
            <a:solidFill>
              <a:srgbClr val="09A1E5"/>
            </a:solidFill>
            <a:prstDash val="solid"/>
          </a:ln>
        </p:spPr>
      </p:sp>
      <p:sp>
        <p:nvSpPr>
          <p:cNvPr id="6" name="Shape 4"/>
          <p:cNvSpPr/>
          <p:nvPr/>
        </p:nvSpPr>
        <p:spPr>
          <a:xfrm>
            <a:off x="6949440" y="1554480"/>
            <a:ext cx="548640" cy="548640"/>
          </a:xfrm>
          <a:prstGeom prst="ellipse">
            <a:avLst/>
          </a:prstGeom>
          <a:solidFill>
            <a:srgbClr val="962B7C"/>
          </a:solidFill>
          <a:ln w="12700">
            <a:solidFill>
              <a:srgbClr val="962B7C"/>
            </a:solidFill>
            <a:prstDash val="solid"/>
          </a:ln>
        </p:spPr>
      </p:sp>
      <p:sp>
        <p:nvSpPr>
          <p:cNvPr id="7" name="Shape 5"/>
          <p:cNvSpPr/>
          <p:nvPr/>
        </p:nvSpPr>
        <p:spPr>
          <a:xfrm>
            <a:off x="7726680" y="1554480"/>
            <a:ext cx="548640" cy="548640"/>
          </a:xfrm>
          <a:prstGeom prst="ellipse">
            <a:avLst/>
          </a:prstGeom>
          <a:solidFill>
            <a:srgbClr val="FF5178"/>
          </a:solidFill>
          <a:ln w="12700">
            <a:solidFill>
              <a:srgbClr val="FF5178"/>
            </a:solidFill>
            <a:prstDash val="solid"/>
          </a:ln>
        </p:spPr>
      </p:sp>
      <p:sp>
        <p:nvSpPr>
          <p:cNvPr id="8" name="Text 6"/>
          <p:cNvSpPr txBox="1"/>
          <p:nvPr/>
        </p:nvSpPr>
        <p:spPr>
          <a:xfrm>
            <a:off x="548640" y="2468880"/>
            <a:ext cx="11094415" cy="1097280"/>
          </a:xfrm>
          <a:prstGeom prst="rect">
            <a:avLst/>
          </a:prstGeom>
          <a:noFill/>
          <a:ln/>
        </p:spPr>
        <p:txBody>
          <a:bodyPr wrap="square" lIns="0" tIns="0" rIns="0" bIns="0" rtlCol="0" anchor="ctr"/>
          <a:lstStyle/>
          <a:p>
            <a:pPr algn="ctr" indent="0" marL="0">
              <a:buNone/>
            </a:pPr>
            <a:r>
              <a:rPr lang="en-US" sz="5400" b="1" dirty="0">
                <a:solidFill>
                  <a:srgbClr val="2A2238"/>
                </a:solidFill>
                <a:latin typeface="Alexandria" pitchFamily="34" charset="0"/>
                <a:ea typeface="Alexandria" pitchFamily="34" charset="-122"/>
                <a:cs typeface="Alexandria" pitchFamily="34" charset="-120"/>
              </a:rPr>
              <a:t>Giải lao 8 phút</a:t>
            </a:r>
            <a:endParaRPr lang="en-US" sz="5400" dirty="0"/>
          </a:p>
        </p:txBody>
      </p:sp>
      <p:sp>
        <p:nvSpPr>
          <p:cNvPr id="9" name="Text 7"/>
          <p:cNvSpPr txBox="1"/>
          <p:nvPr/>
        </p:nvSpPr>
        <p:spPr>
          <a:xfrm>
            <a:off x="548640" y="3749040"/>
            <a:ext cx="11094415" cy="640080"/>
          </a:xfrm>
          <a:prstGeom prst="rect">
            <a:avLst/>
          </a:prstGeom>
          <a:noFill/>
          <a:ln/>
        </p:spPr>
        <p:txBody>
          <a:bodyPr wrap="square" lIns="0" tIns="0" rIns="0" bIns="0" rtlCol="0" anchor="ctr"/>
          <a:lstStyle/>
          <a:p>
            <a:pPr algn="ctr" indent="0" marL="0">
              <a:buNone/>
            </a:pPr>
            <a:r>
              <a:rPr lang="en-US" sz="2600" dirty="0">
                <a:solidFill>
                  <a:srgbClr val="962B7C"/>
                </a:solidFill>
                <a:latin typeface="Alexandria" pitchFamily="34" charset="0"/>
                <a:ea typeface="Alexandria" pitchFamily="34" charset="-122"/>
                <a:cs typeface="Alexandria" pitchFamily="34" charset="-120"/>
              </a:rPr>
              <a:t>Quay lại lúc  ____ : ____</a:t>
            </a:r>
            <a:endParaRPr lang="en-US" sz="2600" dirty="0"/>
          </a:p>
        </p:txBody>
      </p:sp>
      <p:sp>
        <p:nvSpPr>
          <p:cNvPr id="10" name="Text 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5.1 Cấu trúc CVP</a:t>
            </a:r>
            <a:endParaRPr lang="en-US" sz="1000" dirty="0"/>
          </a:p>
        </p:txBody>
      </p:sp>
      <p:sp>
        <p:nvSpPr>
          <p:cNvPr id="6" name="Shape 4"/>
          <p:cNvSpPr/>
          <p:nvPr/>
        </p:nvSpPr>
        <p:spPr>
          <a:xfrm>
            <a:off x="2990088" y="274320"/>
            <a:ext cx="1888236"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990088" y="274320"/>
            <a:ext cx="18882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5.2 Năm nguồn giá trị</a:t>
            </a:r>
            <a:endParaRPr lang="en-US" sz="1000" dirty="0"/>
          </a:p>
        </p:txBody>
      </p:sp>
      <p:sp>
        <p:nvSpPr>
          <p:cNvPr id="8" name="Shape 6"/>
          <p:cNvSpPr/>
          <p:nvPr/>
        </p:nvSpPr>
        <p:spPr>
          <a:xfrm>
            <a:off x="4988052" y="274320"/>
            <a:ext cx="157734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5.3 Đồng kiến tạo</a:t>
            </a:r>
            <a:endParaRPr lang="en-US" sz="1000" dirty="0"/>
          </a:p>
        </p:txBody>
      </p:sp>
      <p:sp>
        <p:nvSpPr>
          <p:cNvPr id="10" name="Shape 8"/>
          <p:cNvSpPr/>
          <p:nvPr/>
        </p:nvSpPr>
        <p:spPr>
          <a:xfrm>
            <a:off x="6675120"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675120"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334670"/>
            <a:ext cx="107533" cy="268834"/>
          </a:xfrm>
          <a:prstGeom prst="rect">
            <a:avLst/>
          </a:prstGeom>
          <a:solidFill>
            <a:srgbClr val="09A1E5"/>
          </a:solidFill>
          <a:ln w="12700">
            <a:solidFill>
              <a:srgbClr val="09A1E5"/>
            </a:solidFill>
            <a:prstDash val="solid"/>
          </a:ln>
        </p:spPr>
      </p:sp>
      <p:sp>
        <p:nvSpPr>
          <p:cNvPr id="13" name="Shape 11"/>
          <p:cNvSpPr/>
          <p:nvPr/>
        </p:nvSpPr>
        <p:spPr>
          <a:xfrm>
            <a:off x="11535522" y="334670"/>
            <a:ext cx="107533" cy="268834"/>
          </a:xfrm>
          <a:prstGeom prst="rect">
            <a:avLst/>
          </a:prstGeom>
          <a:solidFill>
            <a:srgbClr val="962B7C"/>
          </a:solidFill>
          <a:ln w="12700">
            <a:solidFill>
              <a:srgbClr val="962B7C"/>
            </a:solidFill>
            <a:prstDash val="solid"/>
          </a:ln>
        </p:spPr>
      </p:sp>
      <p:sp>
        <p:nvSpPr>
          <p:cNvPr id="14" name="Shape 12"/>
          <p:cNvSpPr/>
          <p:nvPr/>
        </p:nvSpPr>
        <p:spPr>
          <a:xfrm>
            <a:off x="11259007" y="250180"/>
            <a:ext cx="384048" cy="61448"/>
          </a:xfrm>
          <a:prstGeom prst="rect">
            <a:avLst/>
          </a:prstGeom>
          <a:solidFill>
            <a:srgbClr val="FFD23B"/>
          </a:solidFill>
          <a:ln w="12700">
            <a:solidFill>
              <a:srgbClr val="FFD23B"/>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Giá trị có năm nguồn</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Định nghĩa làm việc của môn. Gần nhất: McDonald (E04) — tăng giá trị, giảm chi phí, tránh chi phí, đóng góp cảm xúc.</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12</a:t>
            </a:r>
            <a:endParaRPr lang="en-US" sz="1000" dirty="0"/>
          </a:p>
        </p:txBody>
      </p:sp>
      <p:sp>
        <p:nvSpPr>
          <p:cNvPr id="19" name="Shape 16"/>
          <p:cNvSpPr/>
          <p:nvPr/>
        </p:nvSpPr>
        <p:spPr>
          <a:xfrm>
            <a:off x="548640" y="1874520"/>
            <a:ext cx="2072579" cy="4114800"/>
          </a:xfrm>
          <a:prstGeom prst="roundRect">
            <a:avLst>
              <a:gd name="adj" fmla="val 5294"/>
            </a:avLst>
          </a:prstGeom>
          <a:solidFill>
            <a:srgbClr val="E1F3EE"/>
          </a:solidFill>
          <a:ln w="19050">
            <a:solidFill>
              <a:srgbClr val="49B296"/>
            </a:solidFill>
            <a:prstDash val="solid"/>
          </a:ln>
        </p:spPr>
      </p:sp>
      <p:sp>
        <p:nvSpPr>
          <p:cNvPr id="20" name="Shape 17"/>
          <p:cNvSpPr/>
          <p:nvPr/>
        </p:nvSpPr>
        <p:spPr>
          <a:xfrm>
            <a:off x="990570" y="2194560"/>
            <a:ext cx="1188720" cy="1188720"/>
          </a:xfrm>
          <a:prstGeom prst="ellipse">
            <a:avLst/>
          </a:prstGeom>
          <a:solidFill>
            <a:srgbClr val="49B296"/>
          </a:solidFill>
          <a:ln w="12700">
            <a:solidFill>
              <a:srgbClr val="49B296"/>
            </a:solidFill>
            <a:prstDash val="solid"/>
          </a:ln>
        </p:spPr>
      </p:sp>
      <p:sp>
        <p:nvSpPr>
          <p:cNvPr id="21" name="Text 18"/>
          <p:cNvSpPr txBox="1"/>
          <p:nvPr/>
        </p:nvSpPr>
        <p:spPr>
          <a:xfrm>
            <a:off x="990570" y="2194560"/>
            <a:ext cx="1188720" cy="1188720"/>
          </a:xfrm>
          <a:prstGeom prst="rect">
            <a:avLst/>
          </a:prstGeom>
          <a:noFill/>
          <a:ln/>
        </p:spPr>
        <p:txBody>
          <a:bodyPr wrap="square" lIns="0" tIns="0" rIns="0" bIns="0" rtlCol="0" anchor="ctr"/>
          <a:lstStyle/>
          <a:p>
            <a:pPr algn="ctr" indent="0" marL="0">
              <a:buNone/>
            </a:pPr>
            <a:r>
              <a:rPr lang="en-US" sz="3400" b="1" dirty="0">
                <a:solidFill>
                  <a:srgbClr val="FFFFFF"/>
                </a:solidFill>
                <a:latin typeface="Alexandria" pitchFamily="34" charset="0"/>
                <a:ea typeface="Alexandria" pitchFamily="34" charset="-122"/>
                <a:cs typeface="Alexandria" pitchFamily="34" charset="-120"/>
              </a:rPr>
              <a:t>↑</a:t>
            </a:r>
            <a:endParaRPr lang="en-US" sz="3400" dirty="0"/>
          </a:p>
        </p:txBody>
      </p:sp>
      <p:sp>
        <p:nvSpPr>
          <p:cNvPr id="22" name="Text 19"/>
          <p:cNvSpPr txBox="1"/>
          <p:nvPr/>
        </p:nvSpPr>
        <p:spPr>
          <a:xfrm>
            <a:off x="640080" y="3611880"/>
            <a:ext cx="1889699" cy="82296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Top-line</a:t>
            </a:r>
            <a:endParaRPr lang="en-US" sz="1800" dirty="0"/>
          </a:p>
        </p:txBody>
      </p:sp>
      <p:sp>
        <p:nvSpPr>
          <p:cNvPr id="23" name="Text 20"/>
          <p:cNvSpPr txBox="1"/>
          <p:nvPr/>
        </p:nvSpPr>
        <p:spPr>
          <a:xfrm>
            <a:off x="685800" y="4480560"/>
            <a:ext cx="1798259" cy="1280160"/>
          </a:xfrm>
          <a:prstGeom prst="rect">
            <a:avLst/>
          </a:prstGeom>
          <a:noFill/>
          <a:ln/>
        </p:spPr>
        <p:txBody>
          <a:bodyPr wrap="square" lIns="0" tIns="0" rIns="0" bIns="0" rtlCol="0" anchor="t"/>
          <a:lstStyle/>
          <a:p>
            <a:pPr algn="ctr" indent="0" marL="0">
              <a:buNone/>
            </a:pPr>
            <a:r>
              <a:rPr lang="en-US" sz="1400" dirty="0">
                <a:solidFill>
                  <a:srgbClr val="2A2238"/>
                </a:solidFill>
                <a:latin typeface="Alexandria" pitchFamily="34" charset="0"/>
                <a:ea typeface="Alexandria" pitchFamily="34" charset="-122"/>
                <a:cs typeface="Alexandria" pitchFamily="34" charset="-120"/>
              </a:rPr>
              <a:t>tăng doanh thu</a:t>
            </a:r>
            <a:endParaRPr lang="en-US" sz="1400" dirty="0"/>
          </a:p>
        </p:txBody>
      </p:sp>
      <p:sp>
        <p:nvSpPr>
          <p:cNvPr id="24" name="Shape 21"/>
          <p:cNvSpPr/>
          <p:nvPr/>
        </p:nvSpPr>
        <p:spPr>
          <a:xfrm>
            <a:off x="2804099" y="1874520"/>
            <a:ext cx="2072579" cy="4114800"/>
          </a:xfrm>
          <a:prstGeom prst="roundRect">
            <a:avLst>
              <a:gd name="adj" fmla="val 5294"/>
            </a:avLst>
          </a:prstGeom>
          <a:solidFill>
            <a:srgbClr val="DDF1FB"/>
          </a:solidFill>
          <a:ln w="19050">
            <a:solidFill>
              <a:srgbClr val="09A1E5"/>
            </a:solidFill>
            <a:prstDash val="solid"/>
          </a:ln>
        </p:spPr>
      </p:sp>
      <p:sp>
        <p:nvSpPr>
          <p:cNvPr id="25" name="Shape 22"/>
          <p:cNvSpPr/>
          <p:nvPr/>
        </p:nvSpPr>
        <p:spPr>
          <a:xfrm>
            <a:off x="3246029" y="2194560"/>
            <a:ext cx="1188720" cy="1188720"/>
          </a:xfrm>
          <a:prstGeom prst="ellipse">
            <a:avLst/>
          </a:prstGeom>
          <a:solidFill>
            <a:srgbClr val="09A1E5"/>
          </a:solidFill>
          <a:ln w="12700">
            <a:solidFill>
              <a:srgbClr val="09A1E5"/>
            </a:solidFill>
            <a:prstDash val="solid"/>
          </a:ln>
        </p:spPr>
      </p:sp>
      <p:sp>
        <p:nvSpPr>
          <p:cNvPr id="26" name="Text 23"/>
          <p:cNvSpPr txBox="1"/>
          <p:nvPr/>
        </p:nvSpPr>
        <p:spPr>
          <a:xfrm>
            <a:off x="3246029" y="2194560"/>
            <a:ext cx="1188720" cy="1188720"/>
          </a:xfrm>
          <a:prstGeom prst="rect">
            <a:avLst/>
          </a:prstGeom>
          <a:noFill/>
          <a:ln/>
        </p:spPr>
        <p:txBody>
          <a:bodyPr wrap="square" lIns="0" tIns="0" rIns="0" bIns="0" rtlCol="0" anchor="ctr"/>
          <a:lstStyle/>
          <a:p>
            <a:pPr algn="ctr" indent="0" marL="0">
              <a:buNone/>
            </a:pPr>
            <a:r>
              <a:rPr lang="en-US" sz="3400" b="1" dirty="0">
                <a:solidFill>
                  <a:srgbClr val="FFFFFF"/>
                </a:solidFill>
                <a:latin typeface="Alexandria" pitchFamily="34" charset="0"/>
                <a:ea typeface="Alexandria" pitchFamily="34" charset="-122"/>
                <a:cs typeface="Alexandria" pitchFamily="34" charset="-120"/>
              </a:rPr>
              <a:t>↓</a:t>
            </a:r>
            <a:endParaRPr lang="en-US" sz="3400" dirty="0"/>
          </a:p>
        </p:txBody>
      </p:sp>
      <p:sp>
        <p:nvSpPr>
          <p:cNvPr id="27" name="Text 24"/>
          <p:cNvSpPr txBox="1"/>
          <p:nvPr/>
        </p:nvSpPr>
        <p:spPr>
          <a:xfrm>
            <a:off x="2895539" y="3611880"/>
            <a:ext cx="1889699" cy="82296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Bottom-line</a:t>
            </a:r>
            <a:endParaRPr lang="en-US" sz="1800" dirty="0"/>
          </a:p>
        </p:txBody>
      </p:sp>
      <p:sp>
        <p:nvSpPr>
          <p:cNvPr id="28" name="Text 25"/>
          <p:cNvSpPr txBox="1"/>
          <p:nvPr/>
        </p:nvSpPr>
        <p:spPr>
          <a:xfrm>
            <a:off x="2941259" y="4480560"/>
            <a:ext cx="1798259" cy="1280160"/>
          </a:xfrm>
          <a:prstGeom prst="rect">
            <a:avLst/>
          </a:prstGeom>
          <a:noFill/>
          <a:ln/>
        </p:spPr>
        <p:txBody>
          <a:bodyPr wrap="square" lIns="0" tIns="0" rIns="0" bIns="0" rtlCol="0" anchor="t"/>
          <a:lstStyle/>
          <a:p>
            <a:pPr algn="ctr" indent="0" marL="0">
              <a:buNone/>
            </a:pPr>
            <a:r>
              <a:rPr lang="en-US" sz="1400" dirty="0">
                <a:solidFill>
                  <a:srgbClr val="2A2238"/>
                </a:solidFill>
                <a:latin typeface="Alexandria" pitchFamily="34" charset="0"/>
                <a:ea typeface="Alexandria" pitchFamily="34" charset="-122"/>
                <a:cs typeface="Alexandria" pitchFamily="34" charset="-120"/>
              </a:rPr>
              <a:t>giảm / tránh chi phí</a:t>
            </a:r>
            <a:endParaRPr lang="en-US" sz="1400" dirty="0"/>
          </a:p>
        </p:txBody>
      </p:sp>
      <p:sp>
        <p:nvSpPr>
          <p:cNvPr id="29" name="Shape 26"/>
          <p:cNvSpPr/>
          <p:nvPr/>
        </p:nvSpPr>
        <p:spPr>
          <a:xfrm>
            <a:off x="5059558" y="1874520"/>
            <a:ext cx="2072579" cy="4114800"/>
          </a:xfrm>
          <a:prstGeom prst="roundRect">
            <a:avLst>
              <a:gd name="adj" fmla="val 5294"/>
            </a:avLst>
          </a:prstGeom>
          <a:solidFill>
            <a:srgbClr val="FFE9DE"/>
          </a:solidFill>
          <a:ln w="19050">
            <a:solidFill>
              <a:srgbClr val="FF9259"/>
            </a:solidFill>
            <a:prstDash val="solid"/>
          </a:ln>
        </p:spPr>
      </p:sp>
      <p:sp>
        <p:nvSpPr>
          <p:cNvPr id="30" name="Shape 27"/>
          <p:cNvSpPr/>
          <p:nvPr/>
        </p:nvSpPr>
        <p:spPr>
          <a:xfrm>
            <a:off x="5501488" y="2194560"/>
            <a:ext cx="1188720" cy="1188720"/>
          </a:xfrm>
          <a:prstGeom prst="ellipse">
            <a:avLst/>
          </a:prstGeom>
          <a:solidFill>
            <a:srgbClr val="FF9259"/>
          </a:solidFill>
          <a:ln w="12700">
            <a:solidFill>
              <a:srgbClr val="FF9259"/>
            </a:solidFill>
            <a:prstDash val="solid"/>
          </a:ln>
        </p:spPr>
      </p:sp>
      <p:sp>
        <p:nvSpPr>
          <p:cNvPr id="31" name="Text 28"/>
          <p:cNvSpPr txBox="1"/>
          <p:nvPr/>
        </p:nvSpPr>
        <p:spPr>
          <a:xfrm>
            <a:off x="5501488" y="2194560"/>
            <a:ext cx="1188720" cy="1188720"/>
          </a:xfrm>
          <a:prstGeom prst="rect">
            <a:avLst/>
          </a:prstGeom>
          <a:noFill/>
          <a:ln/>
        </p:spPr>
        <p:txBody>
          <a:bodyPr wrap="square" lIns="0" tIns="0" rIns="0" bIns="0" rtlCol="0" anchor="ctr"/>
          <a:lstStyle/>
          <a:p>
            <a:pPr algn="ctr" indent="0" marL="0">
              <a:buNone/>
            </a:pPr>
            <a:r>
              <a:rPr lang="en-US" sz="3400" b="1" dirty="0">
                <a:solidFill>
                  <a:srgbClr val="2A2238"/>
                </a:solidFill>
                <a:latin typeface="Alexandria" pitchFamily="34" charset="0"/>
                <a:ea typeface="Alexandria" pitchFamily="34" charset="-122"/>
                <a:cs typeface="Alexandria" pitchFamily="34" charset="-120"/>
              </a:rPr>
              <a:t>◆</a:t>
            </a:r>
            <a:endParaRPr lang="en-US" sz="3400" dirty="0"/>
          </a:p>
        </p:txBody>
      </p:sp>
      <p:sp>
        <p:nvSpPr>
          <p:cNvPr id="32" name="Text 29"/>
          <p:cNvSpPr txBox="1"/>
          <p:nvPr/>
        </p:nvSpPr>
        <p:spPr>
          <a:xfrm>
            <a:off x="5150998" y="3611880"/>
            <a:ext cx="1889699" cy="82296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HSSEQ</a:t>
            </a:r>
            <a:endParaRPr lang="en-US" sz="1800" dirty="0"/>
          </a:p>
        </p:txBody>
      </p:sp>
      <p:sp>
        <p:nvSpPr>
          <p:cNvPr id="33" name="Text 30"/>
          <p:cNvSpPr txBox="1"/>
          <p:nvPr/>
        </p:nvSpPr>
        <p:spPr>
          <a:xfrm>
            <a:off x="5196718" y="4480560"/>
            <a:ext cx="1798259" cy="1280160"/>
          </a:xfrm>
          <a:prstGeom prst="rect">
            <a:avLst/>
          </a:prstGeom>
          <a:noFill/>
          <a:ln/>
        </p:spPr>
        <p:txBody>
          <a:bodyPr wrap="square" lIns="0" tIns="0" rIns="0" bIns="0" rtlCol="0" anchor="t"/>
          <a:lstStyle/>
          <a:p>
            <a:pPr algn="ctr" indent="0" marL="0">
              <a:buNone/>
            </a:pPr>
            <a:r>
              <a:rPr lang="en-US" sz="1400" dirty="0">
                <a:solidFill>
                  <a:srgbClr val="2A2238"/>
                </a:solidFill>
                <a:latin typeface="Alexandria" pitchFamily="34" charset="0"/>
                <a:ea typeface="Alexandria" pitchFamily="34" charset="-122"/>
                <a:cs typeface="Alexandria" pitchFamily="34" charset="-120"/>
              </a:rPr>
              <a:t>health · safety · security · environment · quality</a:t>
            </a:r>
            <a:endParaRPr lang="en-US" sz="1400" dirty="0"/>
          </a:p>
        </p:txBody>
      </p:sp>
      <p:sp>
        <p:nvSpPr>
          <p:cNvPr id="34" name="Shape 31"/>
          <p:cNvSpPr/>
          <p:nvPr/>
        </p:nvSpPr>
        <p:spPr>
          <a:xfrm>
            <a:off x="7315017" y="1874520"/>
            <a:ext cx="2072579" cy="4114800"/>
          </a:xfrm>
          <a:prstGeom prst="roundRect">
            <a:avLst>
              <a:gd name="adj" fmla="val 5294"/>
            </a:avLst>
          </a:prstGeom>
          <a:solidFill>
            <a:srgbClr val="F1E1EE"/>
          </a:solidFill>
          <a:ln w="19050">
            <a:solidFill>
              <a:srgbClr val="962B7C"/>
            </a:solidFill>
            <a:prstDash val="solid"/>
          </a:ln>
        </p:spPr>
      </p:sp>
      <p:sp>
        <p:nvSpPr>
          <p:cNvPr id="35" name="Shape 32"/>
          <p:cNvSpPr/>
          <p:nvPr/>
        </p:nvSpPr>
        <p:spPr>
          <a:xfrm>
            <a:off x="7756947" y="2194560"/>
            <a:ext cx="1188720" cy="1188720"/>
          </a:xfrm>
          <a:prstGeom prst="ellipse">
            <a:avLst/>
          </a:prstGeom>
          <a:solidFill>
            <a:srgbClr val="962B7C"/>
          </a:solidFill>
          <a:ln w="12700">
            <a:solidFill>
              <a:srgbClr val="962B7C"/>
            </a:solidFill>
            <a:prstDash val="solid"/>
          </a:ln>
        </p:spPr>
      </p:sp>
      <p:sp>
        <p:nvSpPr>
          <p:cNvPr id="36" name="Text 33"/>
          <p:cNvSpPr txBox="1"/>
          <p:nvPr/>
        </p:nvSpPr>
        <p:spPr>
          <a:xfrm>
            <a:off x="7756947" y="2194560"/>
            <a:ext cx="1188720" cy="1188720"/>
          </a:xfrm>
          <a:prstGeom prst="rect">
            <a:avLst/>
          </a:prstGeom>
          <a:noFill/>
          <a:ln/>
        </p:spPr>
        <p:txBody>
          <a:bodyPr wrap="square" lIns="0" tIns="0" rIns="0" bIns="0" rtlCol="0" anchor="ctr"/>
          <a:lstStyle/>
          <a:p>
            <a:pPr algn="ctr" indent="0" marL="0">
              <a:buNone/>
            </a:pPr>
            <a:r>
              <a:rPr lang="en-US" sz="3400" b="1" dirty="0">
                <a:solidFill>
                  <a:srgbClr val="FFFFFF"/>
                </a:solidFill>
                <a:latin typeface="Alexandria" pitchFamily="34" charset="0"/>
                <a:ea typeface="Alexandria" pitchFamily="34" charset="-122"/>
                <a:cs typeface="Alexandria" pitchFamily="34" charset="-120"/>
              </a:rPr>
              <a:t>?</a:t>
            </a:r>
            <a:endParaRPr lang="en-US" sz="3400" dirty="0"/>
          </a:p>
        </p:txBody>
      </p:sp>
      <p:sp>
        <p:nvSpPr>
          <p:cNvPr id="37" name="Text 34"/>
          <p:cNvSpPr txBox="1"/>
          <p:nvPr/>
        </p:nvSpPr>
        <p:spPr>
          <a:xfrm>
            <a:off x="7406457" y="3611880"/>
            <a:ext cx="1889699" cy="82296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Advisory</a:t>
            </a:r>
            <a:endParaRPr lang="en-US" sz="1800" dirty="0"/>
          </a:p>
        </p:txBody>
      </p:sp>
      <p:sp>
        <p:nvSpPr>
          <p:cNvPr id="38" name="Text 35"/>
          <p:cNvSpPr txBox="1"/>
          <p:nvPr/>
        </p:nvSpPr>
        <p:spPr>
          <a:xfrm>
            <a:off x="7452177" y="4480560"/>
            <a:ext cx="1798259" cy="1280160"/>
          </a:xfrm>
          <a:prstGeom prst="rect">
            <a:avLst/>
          </a:prstGeom>
          <a:noFill/>
          <a:ln/>
        </p:spPr>
        <p:txBody>
          <a:bodyPr wrap="square" lIns="0" tIns="0" rIns="0" bIns="0" rtlCol="0" anchor="t"/>
          <a:lstStyle/>
          <a:p>
            <a:pPr algn="ctr" indent="0" marL="0">
              <a:buNone/>
            </a:pPr>
            <a:r>
              <a:rPr lang="en-US" sz="1400" dirty="0">
                <a:solidFill>
                  <a:srgbClr val="2A2238"/>
                </a:solidFill>
                <a:latin typeface="Alexandria" pitchFamily="34" charset="0"/>
                <a:ea typeface="Alexandria" pitchFamily="34" charset="-122"/>
                <a:cs typeface="Alexandria" pitchFamily="34" charset="-120"/>
              </a:rPr>
              <a:t>tư vấn, tri thức</a:t>
            </a:r>
            <a:endParaRPr lang="en-US" sz="1400" dirty="0"/>
          </a:p>
        </p:txBody>
      </p:sp>
      <p:sp>
        <p:nvSpPr>
          <p:cNvPr id="39" name="Shape 36"/>
          <p:cNvSpPr/>
          <p:nvPr/>
        </p:nvSpPr>
        <p:spPr>
          <a:xfrm>
            <a:off x="9570476" y="1874520"/>
            <a:ext cx="2072579" cy="4114800"/>
          </a:xfrm>
          <a:prstGeom prst="roundRect">
            <a:avLst>
              <a:gd name="adj" fmla="val 5294"/>
            </a:avLst>
          </a:prstGeom>
          <a:solidFill>
            <a:srgbClr val="FFE4EA"/>
          </a:solidFill>
          <a:ln w="19050">
            <a:solidFill>
              <a:srgbClr val="FF5178"/>
            </a:solidFill>
            <a:prstDash val="solid"/>
          </a:ln>
        </p:spPr>
      </p:sp>
      <p:sp>
        <p:nvSpPr>
          <p:cNvPr id="40" name="Shape 37"/>
          <p:cNvSpPr/>
          <p:nvPr/>
        </p:nvSpPr>
        <p:spPr>
          <a:xfrm>
            <a:off x="10012406" y="2194560"/>
            <a:ext cx="1188720" cy="1188720"/>
          </a:xfrm>
          <a:prstGeom prst="ellipse">
            <a:avLst/>
          </a:prstGeom>
          <a:solidFill>
            <a:srgbClr val="FF5178"/>
          </a:solidFill>
          <a:ln w="12700">
            <a:solidFill>
              <a:srgbClr val="FF5178"/>
            </a:solidFill>
            <a:prstDash val="solid"/>
          </a:ln>
        </p:spPr>
      </p:sp>
      <p:sp>
        <p:nvSpPr>
          <p:cNvPr id="41" name="Text 38"/>
          <p:cNvSpPr txBox="1"/>
          <p:nvPr/>
        </p:nvSpPr>
        <p:spPr>
          <a:xfrm>
            <a:off x="10012406" y="2194560"/>
            <a:ext cx="1188720" cy="1188720"/>
          </a:xfrm>
          <a:prstGeom prst="rect">
            <a:avLst/>
          </a:prstGeom>
          <a:noFill/>
          <a:ln/>
        </p:spPr>
        <p:txBody>
          <a:bodyPr wrap="square" lIns="0" tIns="0" rIns="0" bIns="0" rtlCol="0" anchor="ctr"/>
          <a:lstStyle/>
          <a:p>
            <a:pPr algn="ctr" indent="0" marL="0">
              <a:buNone/>
            </a:pPr>
            <a:r>
              <a:rPr lang="en-US" sz="3400" b="1" dirty="0">
                <a:solidFill>
                  <a:srgbClr val="FFFFFF"/>
                </a:solidFill>
                <a:latin typeface="Alexandria" pitchFamily="34" charset="0"/>
                <a:ea typeface="Alexandria" pitchFamily="34" charset="-122"/>
                <a:cs typeface="Alexandria" pitchFamily="34" charset="-120"/>
              </a:rPr>
              <a:t>♥</a:t>
            </a:r>
            <a:endParaRPr lang="en-US" sz="3400" dirty="0"/>
          </a:p>
        </p:txBody>
      </p:sp>
      <p:sp>
        <p:nvSpPr>
          <p:cNvPr id="42" name="Text 39"/>
          <p:cNvSpPr txBox="1"/>
          <p:nvPr/>
        </p:nvSpPr>
        <p:spPr>
          <a:xfrm>
            <a:off x="9661916" y="3611880"/>
            <a:ext cx="1889699" cy="82296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Customer’s customer</a:t>
            </a:r>
            <a:endParaRPr lang="en-US" sz="1800" dirty="0"/>
          </a:p>
        </p:txBody>
      </p:sp>
      <p:sp>
        <p:nvSpPr>
          <p:cNvPr id="43" name="Text 40"/>
          <p:cNvSpPr txBox="1"/>
          <p:nvPr/>
        </p:nvSpPr>
        <p:spPr>
          <a:xfrm>
            <a:off x="9707636" y="4480560"/>
            <a:ext cx="1798259" cy="1280160"/>
          </a:xfrm>
          <a:prstGeom prst="rect">
            <a:avLst/>
          </a:prstGeom>
          <a:noFill/>
          <a:ln/>
        </p:spPr>
        <p:txBody>
          <a:bodyPr wrap="square" lIns="0" tIns="0" rIns="0" bIns="0" rtlCol="0" anchor="t"/>
          <a:lstStyle/>
          <a:p>
            <a:pPr algn="ctr" indent="0" marL="0">
              <a:buNone/>
            </a:pPr>
            <a:r>
              <a:rPr lang="en-US" sz="1400" dirty="0">
                <a:solidFill>
                  <a:srgbClr val="2A2238"/>
                </a:solidFill>
                <a:latin typeface="Alexandria" pitchFamily="34" charset="0"/>
                <a:ea typeface="Alexandria" pitchFamily="34" charset="-122"/>
                <a:cs typeface="Alexandria" pitchFamily="34" charset="-120"/>
              </a:rPr>
              <a:t>giá trị cho khách của khách hàng</a:t>
            </a:r>
            <a:endParaRPr lang="en-US" sz="1400" dirty="0"/>
          </a:p>
        </p:txBody>
      </p:sp>
      <p:sp>
        <p:nvSpPr>
          <p:cNvPr id="44" name="Shape 41"/>
          <p:cNvSpPr/>
          <p:nvPr/>
        </p:nvSpPr>
        <p:spPr>
          <a:xfrm>
            <a:off x="8351215" y="1325880"/>
            <a:ext cx="3291840" cy="365760"/>
          </a:xfrm>
          <a:prstGeom prst="roundRect">
            <a:avLst>
              <a:gd name="adj" fmla="val 50000"/>
            </a:avLst>
          </a:prstGeom>
          <a:solidFill>
            <a:srgbClr val="F3F0E6"/>
          </a:solidFill>
          <a:ln w="12700">
            <a:solidFill>
              <a:srgbClr val="DCD7C8"/>
            </a:solidFill>
            <a:prstDash val="solid"/>
          </a:ln>
        </p:spPr>
      </p:sp>
      <p:sp>
        <p:nvSpPr>
          <p:cNvPr id="45" name="Text 42"/>
          <p:cNvSpPr txBox="1"/>
          <p:nvPr/>
        </p:nvSpPr>
        <p:spPr>
          <a:xfrm>
            <a:off x="8424367" y="1325880"/>
            <a:ext cx="3145536" cy="365760"/>
          </a:xfrm>
          <a:prstGeom prst="rect">
            <a:avLst/>
          </a:prstGeom>
          <a:noFill/>
          <a:ln/>
        </p:spPr>
        <p:txBody>
          <a:bodyPr wrap="square" lIns="0" tIns="0" rIns="0" bIns="0" rtlCol="0" anchor="ctr"/>
          <a:lstStyle/>
          <a:p>
            <a:pPr algn="ctr" indent="0" marL="0">
              <a:buNone/>
            </a:pPr>
            <a:r>
              <a:rPr lang="en-US" sz="1100" b="1" dirty="0">
                <a:solidFill>
                  <a:srgbClr val="6E6878"/>
                </a:solidFill>
                <a:latin typeface="Alexandria" pitchFamily="34" charset="0"/>
                <a:ea typeface="Alexandria" pitchFamily="34" charset="-122"/>
                <a:cs typeface="Alexandria" pitchFamily="34" charset="-120"/>
              </a:rPr>
              <a:t>Định nghĩa làm việc của môn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5.1 Cấu trúc CVP</a:t>
            </a:r>
            <a:endParaRPr lang="en-US" sz="1000" dirty="0"/>
          </a:p>
        </p:txBody>
      </p:sp>
      <p:sp>
        <p:nvSpPr>
          <p:cNvPr id="6" name="Shape 4"/>
          <p:cNvSpPr/>
          <p:nvPr/>
        </p:nvSpPr>
        <p:spPr>
          <a:xfrm>
            <a:off x="2990088" y="274320"/>
            <a:ext cx="1888236"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990088" y="274320"/>
            <a:ext cx="18882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5.2 Năm nguồn giá trị</a:t>
            </a:r>
            <a:endParaRPr lang="en-US" sz="1000" dirty="0"/>
          </a:p>
        </p:txBody>
      </p:sp>
      <p:sp>
        <p:nvSpPr>
          <p:cNvPr id="8" name="Shape 6"/>
          <p:cNvSpPr/>
          <p:nvPr/>
        </p:nvSpPr>
        <p:spPr>
          <a:xfrm>
            <a:off x="4988052" y="274320"/>
            <a:ext cx="157734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5.3 Đồng kiến tạo</a:t>
            </a:r>
            <a:endParaRPr lang="en-US" sz="1000" dirty="0"/>
          </a:p>
        </p:txBody>
      </p:sp>
      <p:sp>
        <p:nvSpPr>
          <p:cNvPr id="10" name="Shape 8"/>
          <p:cNvSpPr/>
          <p:nvPr/>
        </p:nvSpPr>
        <p:spPr>
          <a:xfrm>
            <a:off x="6675120"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675120"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334670"/>
            <a:ext cx="107533" cy="268834"/>
          </a:xfrm>
          <a:prstGeom prst="rect">
            <a:avLst/>
          </a:prstGeom>
          <a:solidFill>
            <a:srgbClr val="09A1E5"/>
          </a:solidFill>
          <a:ln w="12700">
            <a:solidFill>
              <a:srgbClr val="09A1E5"/>
            </a:solidFill>
            <a:prstDash val="solid"/>
          </a:ln>
        </p:spPr>
      </p:sp>
      <p:sp>
        <p:nvSpPr>
          <p:cNvPr id="13" name="Shape 11"/>
          <p:cNvSpPr/>
          <p:nvPr/>
        </p:nvSpPr>
        <p:spPr>
          <a:xfrm>
            <a:off x="11535522" y="334670"/>
            <a:ext cx="107533" cy="268834"/>
          </a:xfrm>
          <a:prstGeom prst="rect">
            <a:avLst/>
          </a:prstGeom>
          <a:solidFill>
            <a:srgbClr val="962B7C"/>
          </a:solidFill>
          <a:ln w="12700">
            <a:solidFill>
              <a:srgbClr val="962B7C"/>
            </a:solidFill>
            <a:prstDash val="solid"/>
          </a:ln>
        </p:spPr>
      </p:sp>
      <p:sp>
        <p:nvSpPr>
          <p:cNvPr id="14" name="Shape 12"/>
          <p:cNvSpPr/>
          <p:nvPr/>
        </p:nvSpPr>
        <p:spPr>
          <a:xfrm>
            <a:off x="11259007" y="250180"/>
            <a:ext cx="384048" cy="61448"/>
          </a:xfrm>
          <a:prstGeom prst="rect">
            <a:avLst/>
          </a:prstGeom>
          <a:solidFill>
            <a:srgbClr val="FFD23B"/>
          </a:solidFill>
          <a:ln w="12700">
            <a:solidFill>
              <a:srgbClr val="FFD23B"/>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Top-line và bottom-line: tăng doanh thu, giảm chi phí cho khách hàng</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Ví dụ GIẢ ĐỊNH; nối Buổi 7, 8, 10.</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13</a:t>
            </a:r>
            <a:endParaRPr lang="en-US" sz="1000" dirty="0"/>
          </a:p>
        </p:txBody>
      </p:sp>
      <p:sp>
        <p:nvSpPr>
          <p:cNvPr id="19" name="Shape 16"/>
          <p:cNvSpPr/>
          <p:nvPr/>
        </p:nvSpPr>
        <p:spPr>
          <a:xfrm>
            <a:off x="548640" y="1874520"/>
            <a:ext cx="5410048" cy="4114800"/>
          </a:xfrm>
          <a:prstGeom prst="roundRect">
            <a:avLst>
              <a:gd name="adj" fmla="val 2667"/>
            </a:avLst>
          </a:prstGeom>
          <a:solidFill>
            <a:srgbClr val="E1F3EE"/>
          </a:solidFill>
          <a:ln w="19050">
            <a:solidFill>
              <a:srgbClr val="49B296"/>
            </a:solidFill>
            <a:prstDash val="solid"/>
          </a:ln>
        </p:spPr>
      </p:sp>
      <p:sp>
        <p:nvSpPr>
          <p:cNvPr id="20" name="Shape 17"/>
          <p:cNvSpPr/>
          <p:nvPr/>
        </p:nvSpPr>
        <p:spPr>
          <a:xfrm>
            <a:off x="868680" y="2148840"/>
            <a:ext cx="1005840" cy="1005840"/>
          </a:xfrm>
          <a:prstGeom prst="ellipse">
            <a:avLst/>
          </a:prstGeom>
          <a:solidFill>
            <a:srgbClr val="49B296"/>
          </a:solidFill>
          <a:ln w="12700">
            <a:solidFill>
              <a:srgbClr val="49B296"/>
            </a:solidFill>
            <a:prstDash val="solid"/>
          </a:ln>
        </p:spPr>
      </p:sp>
      <p:sp>
        <p:nvSpPr>
          <p:cNvPr id="21" name="Text 18"/>
          <p:cNvSpPr txBox="1"/>
          <p:nvPr/>
        </p:nvSpPr>
        <p:spPr>
          <a:xfrm>
            <a:off x="868680" y="2148840"/>
            <a:ext cx="1005840" cy="1005840"/>
          </a:xfrm>
          <a:prstGeom prst="rect">
            <a:avLst/>
          </a:prstGeom>
          <a:noFill/>
          <a:ln/>
        </p:spPr>
        <p:txBody>
          <a:bodyPr wrap="square" lIns="0" tIns="0" rIns="0" bIns="0" rtlCol="0" anchor="ctr"/>
          <a:lstStyle/>
          <a:p>
            <a:pPr algn="ctr" indent="0" marL="0">
              <a:buNone/>
            </a:pPr>
            <a:r>
              <a:rPr lang="en-US" sz="3600" b="1" dirty="0">
                <a:solidFill>
                  <a:srgbClr val="FFFFFF"/>
                </a:solidFill>
                <a:latin typeface="Alexandria" pitchFamily="34" charset="0"/>
                <a:ea typeface="Alexandria" pitchFamily="34" charset="-122"/>
                <a:cs typeface="Alexandria" pitchFamily="34" charset="-120"/>
              </a:rPr>
              <a:t>↑</a:t>
            </a:r>
            <a:endParaRPr lang="en-US" sz="3600" dirty="0"/>
          </a:p>
        </p:txBody>
      </p:sp>
      <p:sp>
        <p:nvSpPr>
          <p:cNvPr id="22" name="Text 19"/>
          <p:cNvSpPr txBox="1"/>
          <p:nvPr/>
        </p:nvSpPr>
        <p:spPr>
          <a:xfrm>
            <a:off x="2103120" y="2103120"/>
            <a:ext cx="3581248" cy="1097280"/>
          </a:xfrm>
          <a:prstGeom prst="rect">
            <a:avLst/>
          </a:prstGeom>
          <a:noFill/>
          <a:ln/>
        </p:spPr>
        <p:txBody>
          <a:bodyPr wrap="square" lIns="0" tIns="0" rIns="0" bIns="0" rtlCol="0" anchor="ctr"/>
          <a:lstStyle/>
          <a:p>
            <a:pPr indent="0" marL="0">
              <a:buNone/>
            </a:pPr>
            <a:r>
              <a:rPr lang="en-US" sz="2800" b="1" dirty="0">
                <a:solidFill>
                  <a:srgbClr val="2A2238"/>
                </a:solidFill>
                <a:latin typeface="Alexandria" pitchFamily="34" charset="0"/>
                <a:ea typeface="Alexandria" pitchFamily="34" charset="-122"/>
                <a:cs typeface="Alexandria" pitchFamily="34" charset="-120"/>
              </a:rPr>
              <a:t>Top-line</a:t>
            </a:r>
            <a:endParaRPr lang="en-US" sz="2800" dirty="0"/>
          </a:p>
          <a:p>
            <a:pPr indent="0" marL="0">
              <a:buNone/>
            </a:pPr>
            <a:r>
              <a:rPr lang="en-US" sz="1500" dirty="0">
                <a:solidFill>
                  <a:srgbClr val="6E6878"/>
                </a:solidFill>
                <a:latin typeface="Alexandria" pitchFamily="34" charset="0"/>
                <a:ea typeface="Alexandria" pitchFamily="34" charset="-122"/>
                <a:cs typeface="Alexandria" pitchFamily="34" charset="-120"/>
              </a:rPr>
              <a:t>giúp khách hàng tăng doanh thu</a:t>
            </a:r>
            <a:endParaRPr lang="en-US" sz="2800" dirty="0"/>
          </a:p>
        </p:txBody>
      </p:sp>
      <p:sp>
        <p:nvSpPr>
          <p:cNvPr id="23" name="Text 20"/>
          <p:cNvSpPr txBox="1"/>
          <p:nvPr/>
        </p:nvSpPr>
        <p:spPr>
          <a:xfrm>
            <a:off x="868680" y="3520440"/>
            <a:ext cx="4769968" cy="1463040"/>
          </a:xfrm>
          <a:prstGeom prst="rect">
            <a:avLst/>
          </a:prstGeom>
          <a:noFill/>
          <a:ln/>
        </p:spPr>
        <p:txBody>
          <a:bodyPr wrap="square" lIns="0" tIns="0" rIns="0" bIns="0" rtlCol="0" anchor="t"/>
          <a:lstStyle/>
          <a:p>
            <a:pPr indent="0" marL="0">
              <a:buNone/>
            </a:pPr>
            <a:r>
              <a:rPr lang="en-US" sz="1800" b="1" dirty="0">
                <a:solidFill>
                  <a:srgbClr val="2A2238"/>
                </a:solidFill>
                <a:latin typeface="Alexandria" pitchFamily="34" charset="0"/>
                <a:ea typeface="Alexandria" pitchFamily="34" charset="-122"/>
                <a:cs typeface="Alexandria" pitchFamily="34" charset="-120"/>
              </a:rPr>
              <a:t>Với An Phát: </a:t>
            </a:r>
            <a:pPr indent="0" marL="0">
              <a:buNone/>
            </a:pPr>
            <a:r>
              <a:rPr lang="en-US" sz="1800" dirty="0">
                <a:solidFill>
                  <a:srgbClr val="2A2238"/>
                </a:solidFill>
                <a:latin typeface="Alexandria" pitchFamily="34" charset="0"/>
                <a:ea typeface="Alexandria" pitchFamily="34" charset="-122"/>
                <a:cs typeface="Alexandria" pitchFamily="34" charset="-120"/>
              </a:rPr>
              <a:t>Khách doanh nghiệp gắn bó hơn → giao dịch với An Phát tăng</a:t>
            </a:r>
            <a:endParaRPr lang="en-US" sz="1800" dirty="0"/>
          </a:p>
        </p:txBody>
      </p:sp>
      <p:sp>
        <p:nvSpPr>
          <p:cNvPr id="24" name="Text 21"/>
          <p:cNvSpPr txBox="1"/>
          <p:nvPr/>
        </p:nvSpPr>
        <p:spPr>
          <a:xfrm>
            <a:off x="868680" y="5257800"/>
            <a:ext cx="4769968" cy="457200"/>
          </a:xfrm>
          <a:prstGeom prst="rect">
            <a:avLst/>
          </a:prstGeom>
          <a:noFill/>
          <a:ln/>
        </p:spPr>
        <p:txBody>
          <a:bodyPr wrap="square" lIns="0" tIns="0" rIns="0" bIns="0" rtlCol="0" anchor="ctr"/>
          <a:lstStyle/>
          <a:p>
            <a:pPr indent="0" marL="0">
              <a:buNone/>
            </a:pPr>
            <a:r>
              <a:rPr lang="en-US" sz="1300" b="1" dirty="0">
                <a:solidFill>
                  <a:srgbClr val="6E6878"/>
                </a:solidFill>
                <a:latin typeface="Alexandria" pitchFamily="34" charset="0"/>
                <a:ea typeface="Alexandria" pitchFamily="34" charset="-122"/>
                <a:cs typeface="Alexandria" pitchFamily="34" charset="-120"/>
              </a:rPr>
              <a:t>Buổi 8 · cấp 4 ROI</a:t>
            </a:r>
            <a:endParaRPr lang="en-US" sz="1300" dirty="0"/>
          </a:p>
        </p:txBody>
      </p:sp>
      <p:sp>
        <p:nvSpPr>
          <p:cNvPr id="25" name="Shape 22"/>
          <p:cNvSpPr/>
          <p:nvPr/>
        </p:nvSpPr>
        <p:spPr>
          <a:xfrm>
            <a:off x="6233008" y="1874520"/>
            <a:ext cx="5410048" cy="4114800"/>
          </a:xfrm>
          <a:prstGeom prst="roundRect">
            <a:avLst>
              <a:gd name="adj" fmla="val 2667"/>
            </a:avLst>
          </a:prstGeom>
          <a:solidFill>
            <a:srgbClr val="DDF1FB"/>
          </a:solidFill>
          <a:ln w="19050">
            <a:solidFill>
              <a:srgbClr val="09A1E5"/>
            </a:solidFill>
            <a:prstDash val="solid"/>
          </a:ln>
        </p:spPr>
      </p:sp>
      <p:sp>
        <p:nvSpPr>
          <p:cNvPr id="26" name="Shape 23"/>
          <p:cNvSpPr/>
          <p:nvPr/>
        </p:nvSpPr>
        <p:spPr>
          <a:xfrm>
            <a:off x="6553048" y="2148840"/>
            <a:ext cx="1005840" cy="1005840"/>
          </a:xfrm>
          <a:prstGeom prst="ellipse">
            <a:avLst/>
          </a:prstGeom>
          <a:solidFill>
            <a:srgbClr val="09A1E5"/>
          </a:solidFill>
          <a:ln w="12700">
            <a:solidFill>
              <a:srgbClr val="09A1E5"/>
            </a:solidFill>
            <a:prstDash val="solid"/>
          </a:ln>
        </p:spPr>
      </p:sp>
      <p:sp>
        <p:nvSpPr>
          <p:cNvPr id="27" name="Text 24"/>
          <p:cNvSpPr txBox="1"/>
          <p:nvPr/>
        </p:nvSpPr>
        <p:spPr>
          <a:xfrm>
            <a:off x="6553048" y="2148840"/>
            <a:ext cx="1005840" cy="1005840"/>
          </a:xfrm>
          <a:prstGeom prst="rect">
            <a:avLst/>
          </a:prstGeom>
          <a:noFill/>
          <a:ln/>
        </p:spPr>
        <p:txBody>
          <a:bodyPr wrap="square" lIns="0" tIns="0" rIns="0" bIns="0" rtlCol="0" anchor="ctr"/>
          <a:lstStyle/>
          <a:p>
            <a:pPr algn="ctr" indent="0" marL="0">
              <a:buNone/>
            </a:pPr>
            <a:r>
              <a:rPr lang="en-US" sz="3600" b="1" dirty="0">
                <a:solidFill>
                  <a:srgbClr val="FFFFFF"/>
                </a:solidFill>
                <a:latin typeface="Alexandria" pitchFamily="34" charset="0"/>
                <a:ea typeface="Alexandria" pitchFamily="34" charset="-122"/>
                <a:cs typeface="Alexandria" pitchFamily="34" charset="-120"/>
              </a:rPr>
              <a:t>↓</a:t>
            </a:r>
            <a:endParaRPr lang="en-US" sz="3600" dirty="0"/>
          </a:p>
        </p:txBody>
      </p:sp>
      <p:sp>
        <p:nvSpPr>
          <p:cNvPr id="28" name="Text 25"/>
          <p:cNvSpPr txBox="1"/>
          <p:nvPr/>
        </p:nvSpPr>
        <p:spPr>
          <a:xfrm>
            <a:off x="7787488" y="2103120"/>
            <a:ext cx="3581248" cy="1097280"/>
          </a:xfrm>
          <a:prstGeom prst="rect">
            <a:avLst/>
          </a:prstGeom>
          <a:noFill/>
          <a:ln/>
        </p:spPr>
        <p:txBody>
          <a:bodyPr wrap="square" lIns="0" tIns="0" rIns="0" bIns="0" rtlCol="0" anchor="ctr"/>
          <a:lstStyle/>
          <a:p>
            <a:pPr indent="0" marL="0">
              <a:buNone/>
            </a:pPr>
            <a:r>
              <a:rPr lang="en-US" sz="2800" b="1" dirty="0">
                <a:solidFill>
                  <a:srgbClr val="2A2238"/>
                </a:solidFill>
                <a:latin typeface="Alexandria" pitchFamily="34" charset="0"/>
                <a:ea typeface="Alexandria" pitchFamily="34" charset="-122"/>
                <a:cs typeface="Alexandria" pitchFamily="34" charset="-120"/>
              </a:rPr>
              <a:t>Bottom-line</a:t>
            </a:r>
            <a:endParaRPr lang="en-US" sz="2800" dirty="0"/>
          </a:p>
          <a:p>
            <a:pPr indent="0" marL="0">
              <a:buNone/>
            </a:pPr>
            <a:r>
              <a:rPr lang="en-US" sz="1500" dirty="0">
                <a:solidFill>
                  <a:srgbClr val="6E6878"/>
                </a:solidFill>
                <a:latin typeface="Alexandria" pitchFamily="34" charset="0"/>
                <a:ea typeface="Alexandria" pitchFamily="34" charset="-122"/>
                <a:cs typeface="Alexandria" pitchFamily="34" charset="-120"/>
              </a:rPr>
              <a:t>giúp khách hàng giảm / tránh chi phí</a:t>
            </a:r>
            <a:endParaRPr lang="en-US" sz="2800" dirty="0"/>
          </a:p>
        </p:txBody>
      </p:sp>
      <p:sp>
        <p:nvSpPr>
          <p:cNvPr id="29" name="Text 26"/>
          <p:cNvSpPr txBox="1"/>
          <p:nvPr/>
        </p:nvSpPr>
        <p:spPr>
          <a:xfrm>
            <a:off x="6553048" y="3520440"/>
            <a:ext cx="4769968" cy="1463040"/>
          </a:xfrm>
          <a:prstGeom prst="rect">
            <a:avLst/>
          </a:prstGeom>
          <a:noFill/>
          <a:ln/>
        </p:spPr>
        <p:txBody>
          <a:bodyPr wrap="square" lIns="0" tIns="0" rIns="0" bIns="0" rtlCol="0" anchor="t"/>
          <a:lstStyle/>
          <a:p>
            <a:pPr indent="0" marL="0">
              <a:buNone/>
            </a:pPr>
            <a:r>
              <a:rPr lang="en-US" sz="1800" b="1" dirty="0">
                <a:solidFill>
                  <a:srgbClr val="2A2238"/>
                </a:solidFill>
                <a:latin typeface="Alexandria" pitchFamily="34" charset="0"/>
                <a:ea typeface="Alexandria" pitchFamily="34" charset="-122"/>
                <a:cs typeface="Alexandria" pitchFamily="34" charset="-120"/>
              </a:rPr>
              <a:t>Với An Phát: </a:t>
            </a:r>
            <a:pPr indent="0" marL="0">
              <a:buNone/>
            </a:pPr>
            <a:r>
              <a:rPr lang="en-US" sz="1800" dirty="0">
                <a:solidFill>
                  <a:srgbClr val="2A2238"/>
                </a:solidFill>
                <a:latin typeface="Alexandria" pitchFamily="34" charset="0"/>
                <a:ea typeface="Alexandria" pitchFamily="34" charset="-122"/>
                <a:cs typeface="Alexandria" pitchFamily="34" charset="-120"/>
              </a:rPr>
              <a:t>Gộp sự kiện cả năm, đàm phán nhà cung cấp</a:t>
            </a:r>
            <a:endParaRPr lang="en-US" sz="1800" dirty="0"/>
          </a:p>
        </p:txBody>
      </p:sp>
      <p:sp>
        <p:nvSpPr>
          <p:cNvPr id="30" name="Text 27"/>
          <p:cNvSpPr txBox="1"/>
          <p:nvPr/>
        </p:nvSpPr>
        <p:spPr>
          <a:xfrm>
            <a:off x="6553048" y="5257800"/>
            <a:ext cx="4769968" cy="457200"/>
          </a:xfrm>
          <a:prstGeom prst="rect">
            <a:avLst/>
          </a:prstGeom>
          <a:noFill/>
          <a:ln/>
        </p:spPr>
        <p:txBody>
          <a:bodyPr wrap="square" lIns="0" tIns="0" rIns="0" bIns="0" rtlCol="0" anchor="ctr"/>
          <a:lstStyle/>
          <a:p>
            <a:pPr indent="0" marL="0">
              <a:buNone/>
            </a:pPr>
            <a:r>
              <a:rPr lang="en-US" sz="1300" b="1" dirty="0">
                <a:solidFill>
                  <a:srgbClr val="6E6878"/>
                </a:solidFill>
                <a:latin typeface="Alexandria" pitchFamily="34" charset="0"/>
                <a:ea typeface="Alexandria" pitchFamily="34" charset="-122"/>
                <a:cs typeface="Alexandria" pitchFamily="34" charset="-120"/>
              </a:rPr>
              <a:t>Buổi 7 · 10</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5.1 Cấu trúc CVP</a:t>
            </a:r>
            <a:endParaRPr lang="en-US" sz="1000" dirty="0"/>
          </a:p>
        </p:txBody>
      </p:sp>
      <p:sp>
        <p:nvSpPr>
          <p:cNvPr id="6" name="Shape 4"/>
          <p:cNvSpPr/>
          <p:nvPr/>
        </p:nvSpPr>
        <p:spPr>
          <a:xfrm>
            <a:off x="2990088" y="274320"/>
            <a:ext cx="1888236"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990088" y="274320"/>
            <a:ext cx="18882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5.2 Năm nguồn giá trị</a:t>
            </a:r>
            <a:endParaRPr lang="en-US" sz="1000" dirty="0"/>
          </a:p>
        </p:txBody>
      </p:sp>
      <p:sp>
        <p:nvSpPr>
          <p:cNvPr id="8" name="Shape 6"/>
          <p:cNvSpPr/>
          <p:nvPr/>
        </p:nvSpPr>
        <p:spPr>
          <a:xfrm>
            <a:off x="4988052" y="274320"/>
            <a:ext cx="157734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5.3 Đồng kiến tạo</a:t>
            </a:r>
            <a:endParaRPr lang="en-US" sz="1000" dirty="0"/>
          </a:p>
        </p:txBody>
      </p:sp>
      <p:sp>
        <p:nvSpPr>
          <p:cNvPr id="10" name="Shape 8"/>
          <p:cNvSpPr/>
          <p:nvPr/>
        </p:nvSpPr>
        <p:spPr>
          <a:xfrm>
            <a:off x="6675120"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675120"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334670"/>
            <a:ext cx="107533" cy="268834"/>
          </a:xfrm>
          <a:prstGeom prst="rect">
            <a:avLst/>
          </a:prstGeom>
          <a:solidFill>
            <a:srgbClr val="09A1E5"/>
          </a:solidFill>
          <a:ln w="12700">
            <a:solidFill>
              <a:srgbClr val="09A1E5"/>
            </a:solidFill>
            <a:prstDash val="solid"/>
          </a:ln>
        </p:spPr>
      </p:sp>
      <p:sp>
        <p:nvSpPr>
          <p:cNvPr id="13" name="Shape 11"/>
          <p:cNvSpPr/>
          <p:nvPr/>
        </p:nvSpPr>
        <p:spPr>
          <a:xfrm>
            <a:off x="11535522" y="334670"/>
            <a:ext cx="107533" cy="268834"/>
          </a:xfrm>
          <a:prstGeom prst="rect">
            <a:avLst/>
          </a:prstGeom>
          <a:solidFill>
            <a:srgbClr val="962B7C"/>
          </a:solidFill>
          <a:ln w="12700">
            <a:solidFill>
              <a:srgbClr val="962B7C"/>
            </a:solidFill>
            <a:prstDash val="solid"/>
          </a:ln>
        </p:spPr>
      </p:sp>
      <p:sp>
        <p:nvSpPr>
          <p:cNvPr id="14" name="Shape 12"/>
          <p:cNvSpPr/>
          <p:nvPr/>
        </p:nvSpPr>
        <p:spPr>
          <a:xfrm>
            <a:off x="11259007" y="250180"/>
            <a:ext cx="384048" cy="61448"/>
          </a:xfrm>
          <a:prstGeom prst="rect">
            <a:avLst/>
          </a:prstGeom>
          <a:solidFill>
            <a:srgbClr val="FFD23B"/>
          </a:solidFill>
          <a:ln w="12700">
            <a:solidFill>
              <a:srgbClr val="FFD23B"/>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Năm nguồn giá trị với Nova – An Phát</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Ví dụ GIẢ ĐỊNH · định nghĩa làm việc của môn.</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14</a:t>
            </a:r>
            <a:endParaRPr lang="en-US" sz="1000" dirty="0"/>
          </a:p>
        </p:txBody>
      </p:sp>
      <p:sp>
        <p:nvSpPr>
          <p:cNvPr id="19" name="Shape 16"/>
          <p:cNvSpPr/>
          <p:nvPr/>
        </p:nvSpPr>
        <p:spPr>
          <a:xfrm>
            <a:off x="548640" y="1783080"/>
            <a:ext cx="11094415" cy="749808"/>
          </a:xfrm>
          <a:prstGeom prst="roundRect">
            <a:avLst>
              <a:gd name="adj" fmla="val 14634"/>
            </a:avLst>
          </a:prstGeom>
          <a:solidFill>
            <a:srgbClr val="E1F3EE"/>
          </a:solidFill>
          <a:ln w="12700">
            <a:solidFill>
              <a:srgbClr val="E1F3EE"/>
            </a:solidFill>
            <a:prstDash val="solid"/>
          </a:ln>
        </p:spPr>
      </p:sp>
      <p:sp>
        <p:nvSpPr>
          <p:cNvPr id="20" name="Shape 17"/>
          <p:cNvSpPr/>
          <p:nvPr/>
        </p:nvSpPr>
        <p:spPr>
          <a:xfrm>
            <a:off x="548640" y="1783080"/>
            <a:ext cx="128016" cy="749808"/>
          </a:xfrm>
          <a:prstGeom prst="rect">
            <a:avLst/>
          </a:prstGeom>
          <a:solidFill>
            <a:srgbClr val="49B296"/>
          </a:solidFill>
          <a:ln w="12700">
            <a:solidFill>
              <a:srgbClr val="49B296"/>
            </a:solidFill>
            <a:prstDash val="solid"/>
          </a:ln>
        </p:spPr>
      </p:sp>
      <p:sp>
        <p:nvSpPr>
          <p:cNvPr id="21" name="Text 18"/>
          <p:cNvSpPr txBox="1"/>
          <p:nvPr/>
        </p:nvSpPr>
        <p:spPr>
          <a:xfrm>
            <a:off x="868680" y="1783080"/>
            <a:ext cx="2560320" cy="749808"/>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Top-line</a:t>
            </a:r>
            <a:endParaRPr lang="en-US" sz="1700" dirty="0"/>
          </a:p>
        </p:txBody>
      </p:sp>
      <p:sp>
        <p:nvSpPr>
          <p:cNvPr id="22" name="Text 19"/>
          <p:cNvSpPr txBox="1"/>
          <p:nvPr/>
        </p:nvSpPr>
        <p:spPr>
          <a:xfrm>
            <a:off x="3474720" y="1783080"/>
            <a:ext cx="7985455" cy="749808"/>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Khách DN gắn bó hơn → giao dịch với An Phát tăng (Buổi 8)</a:t>
            </a:r>
            <a:endParaRPr lang="en-US" sz="1500" dirty="0"/>
          </a:p>
        </p:txBody>
      </p:sp>
      <p:sp>
        <p:nvSpPr>
          <p:cNvPr id="23" name="Shape 20"/>
          <p:cNvSpPr/>
          <p:nvPr/>
        </p:nvSpPr>
        <p:spPr>
          <a:xfrm>
            <a:off x="548640" y="2633472"/>
            <a:ext cx="11094415" cy="749808"/>
          </a:xfrm>
          <a:prstGeom prst="roundRect">
            <a:avLst>
              <a:gd name="adj" fmla="val 14634"/>
            </a:avLst>
          </a:prstGeom>
          <a:solidFill>
            <a:srgbClr val="DDF1FB"/>
          </a:solidFill>
          <a:ln w="12700">
            <a:solidFill>
              <a:srgbClr val="DDF1FB"/>
            </a:solidFill>
            <a:prstDash val="solid"/>
          </a:ln>
        </p:spPr>
      </p:sp>
      <p:sp>
        <p:nvSpPr>
          <p:cNvPr id="24" name="Shape 21"/>
          <p:cNvSpPr/>
          <p:nvPr/>
        </p:nvSpPr>
        <p:spPr>
          <a:xfrm>
            <a:off x="548640" y="2633472"/>
            <a:ext cx="128016" cy="749808"/>
          </a:xfrm>
          <a:prstGeom prst="rect">
            <a:avLst/>
          </a:prstGeom>
          <a:solidFill>
            <a:srgbClr val="09A1E5"/>
          </a:solidFill>
          <a:ln w="12700">
            <a:solidFill>
              <a:srgbClr val="09A1E5"/>
            </a:solidFill>
            <a:prstDash val="solid"/>
          </a:ln>
        </p:spPr>
      </p:sp>
      <p:sp>
        <p:nvSpPr>
          <p:cNvPr id="25" name="Text 22"/>
          <p:cNvSpPr txBox="1"/>
          <p:nvPr/>
        </p:nvSpPr>
        <p:spPr>
          <a:xfrm>
            <a:off x="868680" y="2633472"/>
            <a:ext cx="2560320" cy="749808"/>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Bottom-line</a:t>
            </a:r>
            <a:endParaRPr lang="en-US" sz="1700" dirty="0"/>
          </a:p>
        </p:txBody>
      </p:sp>
      <p:sp>
        <p:nvSpPr>
          <p:cNvPr id="26" name="Text 23"/>
          <p:cNvSpPr txBox="1"/>
          <p:nvPr/>
        </p:nvSpPr>
        <p:spPr>
          <a:xfrm>
            <a:off x="3474720" y="2633472"/>
            <a:ext cx="7985455" cy="749808"/>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Gộp sự kiện cả năm, đàm phán nhà cung cấp (Buổi 7, 10)</a:t>
            </a:r>
            <a:endParaRPr lang="en-US" sz="1500" dirty="0"/>
          </a:p>
        </p:txBody>
      </p:sp>
      <p:sp>
        <p:nvSpPr>
          <p:cNvPr id="27" name="Shape 24"/>
          <p:cNvSpPr/>
          <p:nvPr/>
        </p:nvSpPr>
        <p:spPr>
          <a:xfrm>
            <a:off x="548640" y="3483864"/>
            <a:ext cx="11094415" cy="749808"/>
          </a:xfrm>
          <a:prstGeom prst="roundRect">
            <a:avLst>
              <a:gd name="adj" fmla="val 14634"/>
            </a:avLst>
          </a:prstGeom>
          <a:solidFill>
            <a:srgbClr val="FFE9DE"/>
          </a:solidFill>
          <a:ln w="12700">
            <a:solidFill>
              <a:srgbClr val="FFE9DE"/>
            </a:solidFill>
            <a:prstDash val="solid"/>
          </a:ln>
        </p:spPr>
      </p:sp>
      <p:sp>
        <p:nvSpPr>
          <p:cNvPr id="28" name="Shape 25"/>
          <p:cNvSpPr/>
          <p:nvPr/>
        </p:nvSpPr>
        <p:spPr>
          <a:xfrm>
            <a:off x="548640" y="3483864"/>
            <a:ext cx="128016" cy="749808"/>
          </a:xfrm>
          <a:prstGeom prst="rect">
            <a:avLst/>
          </a:prstGeom>
          <a:solidFill>
            <a:srgbClr val="FF9259"/>
          </a:solidFill>
          <a:ln w="12700">
            <a:solidFill>
              <a:srgbClr val="FF9259"/>
            </a:solidFill>
            <a:prstDash val="solid"/>
          </a:ln>
        </p:spPr>
      </p:sp>
      <p:sp>
        <p:nvSpPr>
          <p:cNvPr id="29" name="Text 26"/>
          <p:cNvSpPr txBox="1"/>
          <p:nvPr/>
        </p:nvSpPr>
        <p:spPr>
          <a:xfrm>
            <a:off x="868680" y="3483864"/>
            <a:ext cx="2560320" cy="749808"/>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HSSEQ</a:t>
            </a:r>
            <a:endParaRPr lang="en-US" sz="1700" dirty="0"/>
          </a:p>
        </p:txBody>
      </p:sp>
      <p:sp>
        <p:nvSpPr>
          <p:cNvPr id="30" name="Text 27"/>
          <p:cNvSpPr txBox="1"/>
          <p:nvPr/>
        </p:nvSpPr>
        <p:spPr>
          <a:xfrm>
            <a:off x="3474720" y="3483864"/>
            <a:ext cx="7985455" cy="749808"/>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Bảo vệ dữ liệu khách mời; sự kiện xanh; chất lượng ổn định; giảm rủi ro uy tín</a:t>
            </a:r>
            <a:endParaRPr lang="en-US" sz="1500" dirty="0"/>
          </a:p>
        </p:txBody>
      </p:sp>
      <p:sp>
        <p:nvSpPr>
          <p:cNvPr id="31" name="Shape 28"/>
          <p:cNvSpPr/>
          <p:nvPr/>
        </p:nvSpPr>
        <p:spPr>
          <a:xfrm>
            <a:off x="548640" y="4334256"/>
            <a:ext cx="11094415" cy="749808"/>
          </a:xfrm>
          <a:prstGeom prst="roundRect">
            <a:avLst>
              <a:gd name="adj" fmla="val 14634"/>
            </a:avLst>
          </a:prstGeom>
          <a:solidFill>
            <a:srgbClr val="F1E1EE"/>
          </a:solidFill>
          <a:ln w="12700">
            <a:solidFill>
              <a:srgbClr val="F1E1EE"/>
            </a:solidFill>
            <a:prstDash val="solid"/>
          </a:ln>
        </p:spPr>
      </p:sp>
      <p:sp>
        <p:nvSpPr>
          <p:cNvPr id="32" name="Shape 29"/>
          <p:cNvSpPr/>
          <p:nvPr/>
        </p:nvSpPr>
        <p:spPr>
          <a:xfrm>
            <a:off x="548640" y="4334256"/>
            <a:ext cx="128016" cy="749808"/>
          </a:xfrm>
          <a:prstGeom prst="rect">
            <a:avLst/>
          </a:prstGeom>
          <a:solidFill>
            <a:srgbClr val="962B7C"/>
          </a:solidFill>
          <a:ln w="12700">
            <a:solidFill>
              <a:srgbClr val="962B7C"/>
            </a:solidFill>
            <a:prstDash val="solid"/>
          </a:ln>
        </p:spPr>
      </p:sp>
      <p:sp>
        <p:nvSpPr>
          <p:cNvPr id="33" name="Text 30"/>
          <p:cNvSpPr txBox="1"/>
          <p:nvPr/>
        </p:nvSpPr>
        <p:spPr>
          <a:xfrm>
            <a:off x="868680" y="4334256"/>
            <a:ext cx="2560320" cy="749808"/>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Advisory</a:t>
            </a:r>
            <a:endParaRPr lang="en-US" sz="1700" dirty="0"/>
          </a:p>
        </p:txBody>
      </p:sp>
      <p:sp>
        <p:nvSpPr>
          <p:cNvPr id="34" name="Text 31"/>
          <p:cNvSpPr txBox="1"/>
          <p:nvPr/>
        </p:nvSpPr>
        <p:spPr>
          <a:xfrm>
            <a:off x="3474720" y="4334256"/>
            <a:ext cx="7985455" cy="749808"/>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Nova chia sẻ insight về khách VIP, xu hướng sự kiện B2B</a:t>
            </a:r>
            <a:endParaRPr lang="en-US" sz="1500" dirty="0"/>
          </a:p>
        </p:txBody>
      </p:sp>
      <p:sp>
        <p:nvSpPr>
          <p:cNvPr id="35" name="Shape 32"/>
          <p:cNvSpPr/>
          <p:nvPr/>
        </p:nvSpPr>
        <p:spPr>
          <a:xfrm>
            <a:off x="548640" y="5184648"/>
            <a:ext cx="11094415" cy="749808"/>
          </a:xfrm>
          <a:prstGeom prst="roundRect">
            <a:avLst>
              <a:gd name="adj" fmla="val 14634"/>
            </a:avLst>
          </a:prstGeom>
          <a:solidFill>
            <a:srgbClr val="FFE4EA"/>
          </a:solidFill>
          <a:ln w="12700">
            <a:solidFill>
              <a:srgbClr val="FFE4EA"/>
            </a:solidFill>
            <a:prstDash val="solid"/>
          </a:ln>
        </p:spPr>
      </p:sp>
      <p:sp>
        <p:nvSpPr>
          <p:cNvPr id="36" name="Shape 33"/>
          <p:cNvSpPr/>
          <p:nvPr/>
        </p:nvSpPr>
        <p:spPr>
          <a:xfrm>
            <a:off x="548640" y="5184648"/>
            <a:ext cx="128016" cy="749808"/>
          </a:xfrm>
          <a:prstGeom prst="rect">
            <a:avLst/>
          </a:prstGeom>
          <a:solidFill>
            <a:srgbClr val="FF5178"/>
          </a:solidFill>
          <a:ln w="12700">
            <a:solidFill>
              <a:srgbClr val="FF5178"/>
            </a:solidFill>
            <a:prstDash val="solid"/>
          </a:ln>
        </p:spPr>
      </p:sp>
      <p:sp>
        <p:nvSpPr>
          <p:cNvPr id="37" name="Text 34"/>
          <p:cNvSpPr txBox="1"/>
          <p:nvPr/>
        </p:nvSpPr>
        <p:spPr>
          <a:xfrm>
            <a:off x="868680" y="5184648"/>
            <a:ext cx="2560320" cy="749808"/>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Customer’s customer</a:t>
            </a:r>
            <a:endParaRPr lang="en-US" sz="1700" dirty="0"/>
          </a:p>
        </p:txBody>
      </p:sp>
      <p:sp>
        <p:nvSpPr>
          <p:cNvPr id="38" name="Text 35"/>
          <p:cNvSpPr txBox="1"/>
          <p:nvPr/>
        </p:nvSpPr>
        <p:spPr>
          <a:xfrm>
            <a:off x="3474720" y="5184648"/>
            <a:ext cx="7985455" cy="749808"/>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600 khách VIP được kiến thức, kết nối, trải nghiệm → An Phát được lợi</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5.1 Cấu trúc CVP</a:t>
            </a:r>
            <a:endParaRPr lang="en-US" sz="1000" dirty="0"/>
          </a:p>
        </p:txBody>
      </p:sp>
      <p:sp>
        <p:nvSpPr>
          <p:cNvPr id="6" name="Shape 4"/>
          <p:cNvSpPr/>
          <p:nvPr/>
        </p:nvSpPr>
        <p:spPr>
          <a:xfrm>
            <a:off x="2990088" y="274320"/>
            <a:ext cx="1888236"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990088" y="274320"/>
            <a:ext cx="18882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5.2 Năm nguồn giá trị</a:t>
            </a:r>
            <a:endParaRPr lang="en-US" sz="1000" dirty="0"/>
          </a:p>
        </p:txBody>
      </p:sp>
      <p:sp>
        <p:nvSpPr>
          <p:cNvPr id="8" name="Shape 6"/>
          <p:cNvSpPr/>
          <p:nvPr/>
        </p:nvSpPr>
        <p:spPr>
          <a:xfrm>
            <a:off x="4988052" y="274320"/>
            <a:ext cx="157734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5.3 Đồng kiến tạo</a:t>
            </a:r>
            <a:endParaRPr lang="en-US" sz="1000" dirty="0"/>
          </a:p>
        </p:txBody>
      </p:sp>
      <p:sp>
        <p:nvSpPr>
          <p:cNvPr id="10" name="Shape 8"/>
          <p:cNvSpPr/>
          <p:nvPr/>
        </p:nvSpPr>
        <p:spPr>
          <a:xfrm>
            <a:off x="6675120"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675120"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334670"/>
            <a:ext cx="107533" cy="268834"/>
          </a:xfrm>
          <a:prstGeom prst="rect">
            <a:avLst/>
          </a:prstGeom>
          <a:solidFill>
            <a:srgbClr val="09A1E5"/>
          </a:solidFill>
          <a:ln w="12700">
            <a:solidFill>
              <a:srgbClr val="09A1E5"/>
            </a:solidFill>
            <a:prstDash val="solid"/>
          </a:ln>
        </p:spPr>
      </p:sp>
      <p:sp>
        <p:nvSpPr>
          <p:cNvPr id="13" name="Shape 11"/>
          <p:cNvSpPr/>
          <p:nvPr/>
        </p:nvSpPr>
        <p:spPr>
          <a:xfrm>
            <a:off x="11535522" y="334670"/>
            <a:ext cx="107533" cy="268834"/>
          </a:xfrm>
          <a:prstGeom prst="rect">
            <a:avLst/>
          </a:prstGeom>
          <a:solidFill>
            <a:srgbClr val="962B7C"/>
          </a:solidFill>
          <a:ln w="12700">
            <a:solidFill>
              <a:srgbClr val="962B7C"/>
            </a:solidFill>
            <a:prstDash val="solid"/>
          </a:ln>
        </p:spPr>
      </p:sp>
      <p:sp>
        <p:nvSpPr>
          <p:cNvPr id="14" name="Shape 12"/>
          <p:cNvSpPr/>
          <p:nvPr/>
        </p:nvSpPr>
        <p:spPr>
          <a:xfrm>
            <a:off x="11259007" y="250180"/>
            <a:ext cx="384048" cy="61448"/>
          </a:xfrm>
          <a:prstGeom prst="rect">
            <a:avLst/>
          </a:prstGeom>
          <a:solidFill>
            <a:srgbClr val="FFD23B"/>
          </a:solidFill>
          <a:ln w="12700">
            <a:solidFill>
              <a:srgbClr val="FFD23B"/>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HSSEQ: an toàn, an ninh, môi trường, chất lượng</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Ví dụ: nhận định của người soạn; nối Buổi 9, 11.</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15</a:t>
            </a:r>
            <a:endParaRPr lang="en-US" sz="1000" dirty="0"/>
          </a:p>
        </p:txBody>
      </p:sp>
      <p:sp>
        <p:nvSpPr>
          <p:cNvPr id="19" name="Shape 16"/>
          <p:cNvSpPr/>
          <p:nvPr/>
        </p:nvSpPr>
        <p:spPr>
          <a:xfrm>
            <a:off x="548640" y="1874520"/>
            <a:ext cx="2072579" cy="822960"/>
          </a:xfrm>
          <a:prstGeom prst="roundRect">
            <a:avLst>
              <a:gd name="adj" fmla="val 50000"/>
            </a:avLst>
          </a:prstGeom>
          <a:solidFill>
            <a:srgbClr val="49B296"/>
          </a:solidFill>
          <a:ln w="12700">
            <a:solidFill>
              <a:srgbClr val="49B296"/>
            </a:solidFill>
            <a:prstDash val="solid"/>
          </a:ln>
        </p:spPr>
      </p:sp>
      <p:sp>
        <p:nvSpPr>
          <p:cNvPr id="20" name="Text 17"/>
          <p:cNvSpPr txBox="1"/>
          <p:nvPr/>
        </p:nvSpPr>
        <p:spPr>
          <a:xfrm>
            <a:off x="621792" y="1874520"/>
            <a:ext cx="1926275"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H · Health</a:t>
            </a:r>
            <a:endParaRPr lang="en-US" sz="1500" dirty="0"/>
          </a:p>
        </p:txBody>
      </p:sp>
      <p:sp>
        <p:nvSpPr>
          <p:cNvPr id="21" name="Shape 18"/>
          <p:cNvSpPr/>
          <p:nvPr/>
        </p:nvSpPr>
        <p:spPr>
          <a:xfrm>
            <a:off x="2804099" y="1874520"/>
            <a:ext cx="2072579" cy="822960"/>
          </a:xfrm>
          <a:prstGeom prst="roundRect">
            <a:avLst>
              <a:gd name="adj" fmla="val 50000"/>
            </a:avLst>
          </a:prstGeom>
          <a:solidFill>
            <a:srgbClr val="FF9259"/>
          </a:solidFill>
          <a:ln w="12700">
            <a:solidFill>
              <a:srgbClr val="FF9259"/>
            </a:solidFill>
            <a:prstDash val="solid"/>
          </a:ln>
        </p:spPr>
      </p:sp>
      <p:sp>
        <p:nvSpPr>
          <p:cNvPr id="22" name="Text 19"/>
          <p:cNvSpPr txBox="1"/>
          <p:nvPr/>
        </p:nvSpPr>
        <p:spPr>
          <a:xfrm>
            <a:off x="2877251" y="1874520"/>
            <a:ext cx="1926275" cy="82296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S · Safety</a:t>
            </a:r>
            <a:endParaRPr lang="en-US" sz="1500" dirty="0"/>
          </a:p>
        </p:txBody>
      </p:sp>
      <p:sp>
        <p:nvSpPr>
          <p:cNvPr id="23" name="Shape 20"/>
          <p:cNvSpPr/>
          <p:nvPr/>
        </p:nvSpPr>
        <p:spPr>
          <a:xfrm>
            <a:off x="5059558" y="1874520"/>
            <a:ext cx="2072579" cy="822960"/>
          </a:xfrm>
          <a:prstGeom prst="roundRect">
            <a:avLst>
              <a:gd name="adj" fmla="val 50000"/>
            </a:avLst>
          </a:prstGeom>
          <a:solidFill>
            <a:srgbClr val="962B7C"/>
          </a:solidFill>
          <a:ln w="12700">
            <a:solidFill>
              <a:srgbClr val="962B7C"/>
            </a:solidFill>
            <a:prstDash val="solid"/>
          </a:ln>
        </p:spPr>
      </p:sp>
      <p:sp>
        <p:nvSpPr>
          <p:cNvPr id="24" name="Text 21"/>
          <p:cNvSpPr txBox="1"/>
          <p:nvPr/>
        </p:nvSpPr>
        <p:spPr>
          <a:xfrm>
            <a:off x="5132710" y="1874520"/>
            <a:ext cx="1926275"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S · Security</a:t>
            </a:r>
            <a:endParaRPr lang="en-US" sz="1500" dirty="0"/>
          </a:p>
        </p:txBody>
      </p:sp>
      <p:sp>
        <p:nvSpPr>
          <p:cNvPr id="25" name="Shape 22"/>
          <p:cNvSpPr/>
          <p:nvPr/>
        </p:nvSpPr>
        <p:spPr>
          <a:xfrm>
            <a:off x="7315017" y="1874520"/>
            <a:ext cx="2072579" cy="822960"/>
          </a:xfrm>
          <a:prstGeom prst="roundRect">
            <a:avLst>
              <a:gd name="adj" fmla="val 50000"/>
            </a:avLst>
          </a:prstGeom>
          <a:solidFill>
            <a:srgbClr val="09A1E5"/>
          </a:solidFill>
          <a:ln w="12700">
            <a:solidFill>
              <a:srgbClr val="09A1E5"/>
            </a:solidFill>
            <a:prstDash val="solid"/>
          </a:ln>
        </p:spPr>
      </p:sp>
      <p:sp>
        <p:nvSpPr>
          <p:cNvPr id="26" name="Text 23"/>
          <p:cNvSpPr txBox="1"/>
          <p:nvPr/>
        </p:nvSpPr>
        <p:spPr>
          <a:xfrm>
            <a:off x="7388169" y="1874520"/>
            <a:ext cx="1926275"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E · Environment</a:t>
            </a:r>
            <a:endParaRPr lang="en-US" sz="1500" dirty="0"/>
          </a:p>
        </p:txBody>
      </p:sp>
      <p:sp>
        <p:nvSpPr>
          <p:cNvPr id="27" name="Shape 24"/>
          <p:cNvSpPr/>
          <p:nvPr/>
        </p:nvSpPr>
        <p:spPr>
          <a:xfrm>
            <a:off x="9570476" y="1874520"/>
            <a:ext cx="2072579" cy="822960"/>
          </a:xfrm>
          <a:prstGeom prst="roundRect">
            <a:avLst>
              <a:gd name="adj" fmla="val 50000"/>
            </a:avLst>
          </a:prstGeom>
          <a:solidFill>
            <a:srgbClr val="FF5178"/>
          </a:solidFill>
          <a:ln w="12700">
            <a:solidFill>
              <a:srgbClr val="FF5178"/>
            </a:solidFill>
            <a:prstDash val="solid"/>
          </a:ln>
        </p:spPr>
      </p:sp>
      <p:sp>
        <p:nvSpPr>
          <p:cNvPr id="28" name="Text 25"/>
          <p:cNvSpPr txBox="1"/>
          <p:nvPr/>
        </p:nvSpPr>
        <p:spPr>
          <a:xfrm>
            <a:off x="9643628" y="1874520"/>
            <a:ext cx="1926275"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Q · Quality</a:t>
            </a:r>
            <a:endParaRPr lang="en-US" sz="1500" dirty="0"/>
          </a:p>
        </p:txBody>
      </p:sp>
      <p:sp>
        <p:nvSpPr>
          <p:cNvPr id="29" name="Shape 26"/>
          <p:cNvSpPr/>
          <p:nvPr/>
        </p:nvSpPr>
        <p:spPr>
          <a:xfrm>
            <a:off x="548640" y="3017520"/>
            <a:ext cx="3515258" cy="2194560"/>
          </a:xfrm>
          <a:prstGeom prst="roundRect">
            <a:avLst>
              <a:gd name="adj" fmla="val 5000"/>
            </a:avLst>
          </a:prstGeom>
          <a:solidFill>
            <a:srgbClr val="F1E1EE"/>
          </a:solidFill>
          <a:ln w="19050">
            <a:solidFill>
              <a:srgbClr val="962B7C"/>
            </a:solidFill>
            <a:prstDash val="solid"/>
          </a:ln>
        </p:spPr>
      </p:sp>
      <p:sp>
        <p:nvSpPr>
          <p:cNvPr id="30" name="Text 27"/>
          <p:cNvSpPr txBox="1"/>
          <p:nvPr/>
        </p:nvSpPr>
        <p:spPr>
          <a:xfrm>
            <a:off x="822960" y="3017520"/>
            <a:ext cx="2966618" cy="2194560"/>
          </a:xfrm>
          <a:prstGeom prst="rect">
            <a:avLst/>
          </a:prstGeom>
          <a:noFill/>
          <a:ln/>
        </p:spPr>
        <p:txBody>
          <a:bodyPr wrap="square" lIns="0" tIns="0" rIns="0" bIns="0" rtlCol="0" anchor="ctr"/>
          <a:lstStyle/>
          <a:p>
            <a:pPr indent="0" marL="0">
              <a:spcAft>
                <a:spcPts val="600"/>
              </a:spcAft>
              <a:buNone/>
            </a:pPr>
            <a:r>
              <a:rPr lang="en-US" sz="2000" b="1" dirty="0">
                <a:solidFill>
                  <a:srgbClr val="2A2238"/>
                </a:solidFill>
                <a:latin typeface="Alexandria" pitchFamily="34" charset="0"/>
                <a:ea typeface="Alexandria" pitchFamily="34" charset="-122"/>
                <a:cs typeface="Alexandria" pitchFamily="34" charset="-120"/>
              </a:rPr>
              <a:t>Bảo vệ dữ liệu khách mời</a:t>
            </a:r>
            <a:endParaRPr lang="en-US" sz="2000" dirty="0"/>
          </a:p>
          <a:p>
            <a:pPr indent="0" marL="0">
              <a:spcAft>
                <a:spcPts val="600"/>
              </a:spcAft>
              <a:buNone/>
            </a:pPr>
            <a:r>
              <a:rPr lang="en-US" sz="1400" dirty="0">
                <a:solidFill>
                  <a:srgbClr val="2A2238"/>
                </a:solidFill>
                <a:latin typeface="Alexandria" pitchFamily="34" charset="0"/>
                <a:ea typeface="Alexandria" pitchFamily="34" charset="-122"/>
                <a:cs typeface="Alexandria" pitchFamily="34" charset="-120"/>
              </a:rPr>
              <a:t>security — danh sách khách của ngân hàng</a:t>
            </a:r>
            <a:endParaRPr lang="en-US" sz="2000" dirty="0"/>
          </a:p>
        </p:txBody>
      </p:sp>
      <p:sp>
        <p:nvSpPr>
          <p:cNvPr id="31" name="Shape 28"/>
          <p:cNvSpPr/>
          <p:nvPr/>
        </p:nvSpPr>
        <p:spPr>
          <a:xfrm>
            <a:off x="4338218" y="3017520"/>
            <a:ext cx="3515258" cy="2194560"/>
          </a:xfrm>
          <a:prstGeom prst="roundRect">
            <a:avLst>
              <a:gd name="adj" fmla="val 5000"/>
            </a:avLst>
          </a:prstGeom>
          <a:solidFill>
            <a:srgbClr val="DDF1FB"/>
          </a:solidFill>
          <a:ln w="19050">
            <a:solidFill>
              <a:srgbClr val="09A1E5"/>
            </a:solidFill>
            <a:prstDash val="solid"/>
          </a:ln>
        </p:spPr>
      </p:sp>
      <p:sp>
        <p:nvSpPr>
          <p:cNvPr id="32" name="Text 29"/>
          <p:cNvSpPr txBox="1"/>
          <p:nvPr/>
        </p:nvSpPr>
        <p:spPr>
          <a:xfrm>
            <a:off x="4612538" y="3017520"/>
            <a:ext cx="2966618" cy="2194560"/>
          </a:xfrm>
          <a:prstGeom prst="rect">
            <a:avLst/>
          </a:prstGeom>
          <a:noFill/>
          <a:ln/>
        </p:spPr>
        <p:txBody>
          <a:bodyPr wrap="square" lIns="0" tIns="0" rIns="0" bIns="0" rtlCol="0" anchor="ctr"/>
          <a:lstStyle/>
          <a:p>
            <a:pPr indent="0" marL="0">
              <a:spcAft>
                <a:spcPts val="600"/>
              </a:spcAft>
              <a:buNone/>
            </a:pPr>
            <a:r>
              <a:rPr lang="en-US" sz="2000" b="1" dirty="0">
                <a:solidFill>
                  <a:srgbClr val="2A2238"/>
                </a:solidFill>
                <a:latin typeface="Alexandria" pitchFamily="34" charset="0"/>
                <a:ea typeface="Alexandria" pitchFamily="34" charset="-122"/>
                <a:cs typeface="Alexandria" pitchFamily="34" charset="-120"/>
              </a:rPr>
              <a:t>Sự kiện xanh</a:t>
            </a:r>
            <a:endParaRPr lang="en-US" sz="2000" dirty="0"/>
          </a:p>
          <a:p>
            <a:pPr indent="0" marL="0">
              <a:spcAft>
                <a:spcPts val="600"/>
              </a:spcAft>
              <a:buNone/>
            </a:pPr>
            <a:r>
              <a:rPr lang="en-US" sz="1400" dirty="0">
                <a:solidFill>
                  <a:srgbClr val="2A2238"/>
                </a:solidFill>
                <a:latin typeface="Alexandria" pitchFamily="34" charset="0"/>
                <a:ea typeface="Alexandria" pitchFamily="34" charset="-122"/>
                <a:cs typeface="Alexandria" pitchFamily="34" charset="-120"/>
              </a:rPr>
              <a:t>environment — giảm rác, vật liệu tái sử dụng</a:t>
            </a:r>
            <a:endParaRPr lang="en-US" sz="2000" dirty="0"/>
          </a:p>
        </p:txBody>
      </p:sp>
      <p:sp>
        <p:nvSpPr>
          <p:cNvPr id="33" name="Shape 30"/>
          <p:cNvSpPr/>
          <p:nvPr/>
        </p:nvSpPr>
        <p:spPr>
          <a:xfrm>
            <a:off x="8127797" y="3017520"/>
            <a:ext cx="3515258" cy="2194560"/>
          </a:xfrm>
          <a:prstGeom prst="roundRect">
            <a:avLst>
              <a:gd name="adj" fmla="val 5000"/>
            </a:avLst>
          </a:prstGeom>
          <a:solidFill>
            <a:srgbClr val="FFE4EA"/>
          </a:solidFill>
          <a:ln w="19050">
            <a:solidFill>
              <a:srgbClr val="FF5178"/>
            </a:solidFill>
            <a:prstDash val="solid"/>
          </a:ln>
        </p:spPr>
      </p:sp>
      <p:sp>
        <p:nvSpPr>
          <p:cNvPr id="34" name="Text 31"/>
          <p:cNvSpPr txBox="1"/>
          <p:nvPr/>
        </p:nvSpPr>
        <p:spPr>
          <a:xfrm>
            <a:off x="8402117" y="3017520"/>
            <a:ext cx="2966618" cy="2194560"/>
          </a:xfrm>
          <a:prstGeom prst="rect">
            <a:avLst/>
          </a:prstGeom>
          <a:noFill/>
          <a:ln/>
        </p:spPr>
        <p:txBody>
          <a:bodyPr wrap="square" lIns="0" tIns="0" rIns="0" bIns="0" rtlCol="0" anchor="ctr"/>
          <a:lstStyle/>
          <a:p>
            <a:pPr indent="0" marL="0">
              <a:spcAft>
                <a:spcPts val="600"/>
              </a:spcAft>
              <a:buNone/>
            </a:pPr>
            <a:r>
              <a:rPr lang="en-US" sz="2000" b="1" dirty="0">
                <a:solidFill>
                  <a:srgbClr val="2A2238"/>
                </a:solidFill>
                <a:latin typeface="Alexandria" pitchFamily="34" charset="0"/>
                <a:ea typeface="Alexandria" pitchFamily="34" charset="-122"/>
                <a:cs typeface="Alexandria" pitchFamily="34" charset="-120"/>
              </a:rPr>
              <a:t>Chất lượng ổn định</a:t>
            </a:r>
            <a:endParaRPr lang="en-US" sz="2000" dirty="0"/>
          </a:p>
          <a:p>
            <a:pPr indent="0" marL="0">
              <a:spcAft>
                <a:spcPts val="600"/>
              </a:spcAft>
              <a:buNone/>
            </a:pPr>
            <a:r>
              <a:rPr lang="en-US" sz="1400" dirty="0">
                <a:solidFill>
                  <a:srgbClr val="2A2238"/>
                </a:solidFill>
                <a:latin typeface="Alexandria" pitchFamily="34" charset="0"/>
                <a:ea typeface="Alexandria" pitchFamily="34" charset="-122"/>
                <a:cs typeface="Alexandria" pitchFamily="34" charset="-120"/>
              </a:rPr>
              <a:t>quality — livestream không lỗi, giảm rủi ro uy tín</a:t>
            </a:r>
            <a:endParaRPr lang="en-US" sz="2000" dirty="0"/>
          </a:p>
        </p:txBody>
      </p:sp>
      <p:sp>
        <p:nvSpPr>
          <p:cNvPr id="35" name="Text 32"/>
          <p:cNvSpPr txBox="1"/>
          <p:nvPr/>
        </p:nvSpPr>
        <p:spPr>
          <a:xfrm>
            <a:off x="548640" y="5440680"/>
            <a:ext cx="11094415" cy="411480"/>
          </a:xfrm>
          <a:prstGeom prst="rect">
            <a:avLst/>
          </a:prstGeom>
          <a:noFill/>
          <a:ln/>
        </p:spPr>
        <p:txBody>
          <a:bodyPr wrap="square" lIns="0" tIns="0" rIns="0" bIns="0" rtlCol="0" anchor="ctr"/>
          <a:lstStyle/>
          <a:p>
            <a:pPr algn="ctr" indent="0" marL="0">
              <a:buNone/>
            </a:pPr>
            <a:r>
              <a:rPr lang="en-US" sz="1400" dirty="0">
                <a:solidFill>
                  <a:srgbClr val="6E6878"/>
                </a:solidFill>
                <a:latin typeface="Alexandria" pitchFamily="34" charset="0"/>
                <a:ea typeface="Alexandria" pitchFamily="34" charset="-122"/>
                <a:cs typeface="Alexandria" pitchFamily="34" charset="-120"/>
              </a:rPr>
              <a:t>Buổi 9 (rủi ro uy tín) · Buổi 11 (sự kiện bền vững)</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5.1 Cấu trúc CVP</a:t>
            </a:r>
            <a:endParaRPr lang="en-US" sz="1000" dirty="0"/>
          </a:p>
        </p:txBody>
      </p:sp>
      <p:sp>
        <p:nvSpPr>
          <p:cNvPr id="6" name="Shape 4"/>
          <p:cNvSpPr/>
          <p:nvPr/>
        </p:nvSpPr>
        <p:spPr>
          <a:xfrm>
            <a:off x="2990088" y="274320"/>
            <a:ext cx="1888236"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990088" y="274320"/>
            <a:ext cx="18882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5.2 Năm nguồn giá trị</a:t>
            </a:r>
            <a:endParaRPr lang="en-US" sz="1000" dirty="0"/>
          </a:p>
        </p:txBody>
      </p:sp>
      <p:sp>
        <p:nvSpPr>
          <p:cNvPr id="8" name="Shape 6"/>
          <p:cNvSpPr/>
          <p:nvPr/>
        </p:nvSpPr>
        <p:spPr>
          <a:xfrm>
            <a:off x="4988052" y="274320"/>
            <a:ext cx="157734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5.3 Đồng kiến tạo</a:t>
            </a:r>
            <a:endParaRPr lang="en-US" sz="1000" dirty="0"/>
          </a:p>
        </p:txBody>
      </p:sp>
      <p:sp>
        <p:nvSpPr>
          <p:cNvPr id="10" name="Shape 8"/>
          <p:cNvSpPr/>
          <p:nvPr/>
        </p:nvSpPr>
        <p:spPr>
          <a:xfrm>
            <a:off x="6675120"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675120"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334670"/>
            <a:ext cx="107533" cy="268834"/>
          </a:xfrm>
          <a:prstGeom prst="rect">
            <a:avLst/>
          </a:prstGeom>
          <a:solidFill>
            <a:srgbClr val="09A1E5"/>
          </a:solidFill>
          <a:ln w="12700">
            <a:solidFill>
              <a:srgbClr val="09A1E5"/>
            </a:solidFill>
            <a:prstDash val="solid"/>
          </a:ln>
        </p:spPr>
      </p:sp>
      <p:sp>
        <p:nvSpPr>
          <p:cNvPr id="13" name="Shape 11"/>
          <p:cNvSpPr/>
          <p:nvPr/>
        </p:nvSpPr>
        <p:spPr>
          <a:xfrm>
            <a:off x="11535522" y="334670"/>
            <a:ext cx="107533" cy="268834"/>
          </a:xfrm>
          <a:prstGeom prst="rect">
            <a:avLst/>
          </a:prstGeom>
          <a:solidFill>
            <a:srgbClr val="962B7C"/>
          </a:solidFill>
          <a:ln w="12700">
            <a:solidFill>
              <a:srgbClr val="962B7C"/>
            </a:solidFill>
            <a:prstDash val="solid"/>
          </a:ln>
        </p:spPr>
      </p:sp>
      <p:sp>
        <p:nvSpPr>
          <p:cNvPr id="14" name="Shape 12"/>
          <p:cNvSpPr/>
          <p:nvPr/>
        </p:nvSpPr>
        <p:spPr>
          <a:xfrm>
            <a:off x="11259007" y="250180"/>
            <a:ext cx="384048" cy="61448"/>
          </a:xfrm>
          <a:prstGeom prst="rect">
            <a:avLst/>
          </a:prstGeom>
          <a:solidFill>
            <a:srgbClr val="FFD23B"/>
          </a:solidFill>
          <a:ln w="12700">
            <a:solidFill>
              <a:srgbClr val="FFD23B"/>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Advisory là nguồn giá trị agency hay quên</a:t>
            </a:r>
            <a:endParaRPr lang="en-US" sz="2600" dirty="0"/>
          </a:p>
        </p:txBody>
      </p:sp>
      <p:sp>
        <p:nvSpPr>
          <p:cNvPr id="16" name="Text 14"/>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16</a:t>
            </a:r>
            <a:endParaRPr lang="en-US" sz="1000" dirty="0"/>
          </a:p>
        </p:txBody>
      </p:sp>
      <p:sp>
        <p:nvSpPr>
          <p:cNvPr id="18" name="Shape 15"/>
          <p:cNvSpPr/>
          <p:nvPr/>
        </p:nvSpPr>
        <p:spPr>
          <a:xfrm>
            <a:off x="914400" y="2011680"/>
            <a:ext cx="3291840" cy="3291840"/>
          </a:xfrm>
          <a:prstGeom prst="ellipse">
            <a:avLst/>
          </a:prstGeom>
          <a:solidFill>
            <a:srgbClr val="F1E1EE"/>
          </a:solidFill>
          <a:ln w="38100">
            <a:solidFill>
              <a:srgbClr val="962B7C"/>
            </a:solidFill>
            <a:prstDash val="solid"/>
          </a:ln>
        </p:spPr>
      </p:sp>
      <p:sp>
        <p:nvSpPr>
          <p:cNvPr id="19" name="Text 16"/>
          <p:cNvSpPr txBox="1"/>
          <p:nvPr/>
        </p:nvSpPr>
        <p:spPr>
          <a:xfrm>
            <a:off x="914400" y="2011680"/>
            <a:ext cx="3291840" cy="3291840"/>
          </a:xfrm>
          <a:prstGeom prst="rect">
            <a:avLst/>
          </a:prstGeom>
          <a:noFill/>
          <a:ln/>
        </p:spPr>
        <p:txBody>
          <a:bodyPr wrap="square" lIns="0" tIns="0" rIns="0" bIns="0" rtlCol="0" anchor="ctr"/>
          <a:lstStyle/>
          <a:p>
            <a:pPr algn="ctr" indent="0" marL="0">
              <a:buNone/>
            </a:pPr>
            <a:r>
              <a:rPr lang="en-US" sz="12000" b="1" dirty="0">
                <a:solidFill>
                  <a:srgbClr val="962B7C"/>
                </a:solidFill>
                <a:latin typeface="Alexandria" pitchFamily="34" charset="0"/>
                <a:ea typeface="Alexandria" pitchFamily="34" charset="-122"/>
                <a:cs typeface="Alexandria" pitchFamily="34" charset="-120"/>
              </a:rPr>
              <a:t>?</a:t>
            </a:r>
            <a:endParaRPr lang="en-US" sz="12000" dirty="0"/>
          </a:p>
        </p:txBody>
      </p:sp>
      <p:sp>
        <p:nvSpPr>
          <p:cNvPr id="20" name="Text 17"/>
          <p:cNvSpPr txBox="1"/>
          <p:nvPr/>
        </p:nvSpPr>
        <p:spPr>
          <a:xfrm>
            <a:off x="4754880" y="1920240"/>
            <a:ext cx="6888175" cy="457200"/>
          </a:xfrm>
          <a:prstGeom prst="rect">
            <a:avLst/>
          </a:prstGeom>
          <a:noFill/>
          <a:ln/>
        </p:spPr>
        <p:txBody>
          <a:bodyPr wrap="square" lIns="0" tIns="0" rIns="0" bIns="0" rtlCol="0" anchor="ctr"/>
          <a:lstStyle/>
          <a:p>
            <a:pPr indent="0" marL="0">
              <a:buNone/>
            </a:pPr>
            <a:r>
              <a:rPr lang="en-US" sz="1800" b="1" dirty="0">
                <a:solidFill>
                  <a:srgbClr val="6E6878"/>
                </a:solidFill>
                <a:latin typeface="Alexandria" pitchFamily="34" charset="0"/>
                <a:ea typeface="Alexandria" pitchFamily="34" charset="-122"/>
                <a:cs typeface="Alexandria" pitchFamily="34" charset="-120"/>
              </a:rPr>
              <a:t>Nova biết điều An Phát chưa biết:</a:t>
            </a:r>
            <a:endParaRPr lang="en-US" sz="1800" dirty="0"/>
          </a:p>
        </p:txBody>
      </p:sp>
      <p:sp>
        <p:nvSpPr>
          <p:cNvPr id="21" name="Shape 18"/>
          <p:cNvSpPr/>
          <p:nvPr/>
        </p:nvSpPr>
        <p:spPr>
          <a:xfrm>
            <a:off x="4754880" y="2468880"/>
            <a:ext cx="6888175" cy="914400"/>
          </a:xfrm>
          <a:prstGeom prst="roundRect">
            <a:avLst>
              <a:gd name="adj" fmla="val 12000"/>
            </a:avLst>
          </a:prstGeom>
          <a:solidFill>
            <a:srgbClr val="FFFFFF"/>
          </a:solidFill>
          <a:ln w="12700">
            <a:solidFill>
              <a:srgbClr val="962B7C"/>
            </a:solidFill>
            <a:prstDash val="solid"/>
          </a:ln>
        </p:spPr>
      </p:sp>
      <p:sp>
        <p:nvSpPr>
          <p:cNvPr id="22" name="Text 19"/>
          <p:cNvSpPr txBox="1"/>
          <p:nvPr/>
        </p:nvSpPr>
        <p:spPr>
          <a:xfrm>
            <a:off x="5029200" y="2468880"/>
            <a:ext cx="6339535" cy="91440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Insight về khách VIP</a:t>
            </a:r>
            <a:endParaRPr lang="en-US" sz="1800" dirty="0"/>
          </a:p>
          <a:p>
            <a:pPr indent="0" marL="0">
              <a:buNone/>
            </a:pPr>
            <a:r>
              <a:rPr lang="en-US" sz="1400" dirty="0">
                <a:solidFill>
                  <a:srgbClr val="6E6878"/>
                </a:solidFill>
                <a:latin typeface="Alexandria" pitchFamily="34" charset="0"/>
                <a:ea typeface="Alexandria" pitchFamily="34" charset="-122"/>
                <a:cs typeface="Alexandria" pitchFamily="34" charset="-120"/>
              </a:rPr>
              <a:t>họ đến vì gì, bỏ về lúc nào, thích gì</a:t>
            </a:r>
            <a:endParaRPr lang="en-US" sz="1800" dirty="0"/>
          </a:p>
        </p:txBody>
      </p:sp>
      <p:sp>
        <p:nvSpPr>
          <p:cNvPr id="23" name="Shape 20"/>
          <p:cNvSpPr/>
          <p:nvPr/>
        </p:nvSpPr>
        <p:spPr>
          <a:xfrm>
            <a:off x="4754880" y="3474720"/>
            <a:ext cx="6888175" cy="914400"/>
          </a:xfrm>
          <a:prstGeom prst="roundRect">
            <a:avLst>
              <a:gd name="adj" fmla="val 12000"/>
            </a:avLst>
          </a:prstGeom>
          <a:solidFill>
            <a:srgbClr val="FFFFFF"/>
          </a:solidFill>
          <a:ln w="12700">
            <a:solidFill>
              <a:srgbClr val="962B7C"/>
            </a:solidFill>
            <a:prstDash val="solid"/>
          </a:ln>
        </p:spPr>
      </p:sp>
      <p:sp>
        <p:nvSpPr>
          <p:cNvPr id="24" name="Text 21"/>
          <p:cNvSpPr txBox="1"/>
          <p:nvPr/>
        </p:nvSpPr>
        <p:spPr>
          <a:xfrm>
            <a:off x="5029200" y="3474720"/>
            <a:ext cx="6339535" cy="91440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Xu hướng sự kiện B2B</a:t>
            </a:r>
            <a:endParaRPr lang="en-US" sz="1800" dirty="0"/>
          </a:p>
          <a:p>
            <a:pPr indent="0" marL="0">
              <a:buNone/>
            </a:pPr>
            <a:r>
              <a:rPr lang="en-US" sz="1400" dirty="0">
                <a:solidFill>
                  <a:srgbClr val="6E6878"/>
                </a:solidFill>
                <a:latin typeface="Alexandria" pitchFamily="34" charset="0"/>
                <a:ea typeface="Alexandria" pitchFamily="34" charset="-122"/>
                <a:cs typeface="Alexandria" pitchFamily="34" charset="-120"/>
              </a:rPr>
              <a:t>định dạng mới, công nghệ, chi phí</a:t>
            </a:r>
            <a:endParaRPr lang="en-US" sz="1800" dirty="0"/>
          </a:p>
        </p:txBody>
      </p:sp>
      <p:sp>
        <p:nvSpPr>
          <p:cNvPr id="25" name="Shape 22"/>
          <p:cNvSpPr/>
          <p:nvPr/>
        </p:nvSpPr>
        <p:spPr>
          <a:xfrm>
            <a:off x="4754880" y="4480560"/>
            <a:ext cx="6888175" cy="914400"/>
          </a:xfrm>
          <a:prstGeom prst="roundRect">
            <a:avLst>
              <a:gd name="adj" fmla="val 12000"/>
            </a:avLst>
          </a:prstGeom>
          <a:solidFill>
            <a:srgbClr val="FFFFFF"/>
          </a:solidFill>
          <a:ln w="12700">
            <a:solidFill>
              <a:srgbClr val="962B7C"/>
            </a:solidFill>
            <a:prstDash val="solid"/>
          </a:ln>
        </p:spPr>
      </p:sp>
      <p:sp>
        <p:nvSpPr>
          <p:cNvPr id="26" name="Text 23"/>
          <p:cNvSpPr txBox="1"/>
          <p:nvPr/>
        </p:nvSpPr>
        <p:spPr>
          <a:xfrm>
            <a:off x="5029200" y="4480560"/>
            <a:ext cx="6339535" cy="91440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Kinh nghiệm từ ngành khác</a:t>
            </a:r>
            <a:endParaRPr lang="en-US" sz="1800" dirty="0"/>
          </a:p>
          <a:p>
            <a:pPr indent="0" marL="0">
              <a:buNone/>
            </a:pPr>
            <a:r>
              <a:rPr lang="en-US" sz="1400" dirty="0">
                <a:solidFill>
                  <a:srgbClr val="6E6878"/>
                </a:solidFill>
                <a:latin typeface="Alexandria" pitchFamily="34" charset="0"/>
                <a:ea typeface="Alexandria" pitchFamily="34" charset="-122"/>
                <a:cs typeface="Alexandria" pitchFamily="34" charset="-120"/>
              </a:rPr>
              <a:t>điều đã thử ở nơi khác</a:t>
            </a:r>
            <a:endParaRPr lang="en-US" sz="1800" dirty="0"/>
          </a:p>
        </p:txBody>
      </p:sp>
      <p:sp>
        <p:nvSpPr>
          <p:cNvPr id="27" name="Text 24"/>
          <p:cNvSpPr txBox="1"/>
          <p:nvPr/>
        </p:nvSpPr>
        <p:spPr>
          <a:xfrm>
            <a:off x="4754880" y="5577840"/>
            <a:ext cx="6888175" cy="457200"/>
          </a:xfrm>
          <a:prstGeom prst="rect">
            <a:avLst/>
          </a:prstGeom>
          <a:noFill/>
          <a:ln/>
        </p:spPr>
        <p:txBody>
          <a:bodyPr wrap="square" lIns="0" tIns="0" rIns="0" bIns="0" rtlCol="0" anchor="ctr"/>
          <a:lstStyle/>
          <a:p>
            <a:pPr indent="0" marL="0">
              <a:buNone/>
            </a:pPr>
            <a:r>
              <a:rPr lang="en-US" sz="1600" b="1" dirty="0">
                <a:solidFill>
                  <a:srgbClr val="962B7C"/>
                </a:solidFill>
                <a:latin typeface="Alexandria" pitchFamily="34" charset="0"/>
                <a:ea typeface="Alexandria" pitchFamily="34" charset="-122"/>
                <a:cs typeface="Alexandria" pitchFamily="34" charset="-120"/>
              </a:rPr>
              <a:t>Chia sẻ tri thức là giá trị — không chỉ “làm sự kiện”.</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5.1 Cấu trúc CVP</a:t>
            </a:r>
            <a:endParaRPr lang="en-US" sz="1000" dirty="0"/>
          </a:p>
        </p:txBody>
      </p:sp>
      <p:sp>
        <p:nvSpPr>
          <p:cNvPr id="6" name="Shape 4"/>
          <p:cNvSpPr/>
          <p:nvPr/>
        </p:nvSpPr>
        <p:spPr>
          <a:xfrm>
            <a:off x="2990088" y="274320"/>
            <a:ext cx="1888236"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990088" y="274320"/>
            <a:ext cx="18882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5.2 Năm nguồn giá trị</a:t>
            </a:r>
            <a:endParaRPr lang="en-US" sz="1000" dirty="0"/>
          </a:p>
        </p:txBody>
      </p:sp>
      <p:sp>
        <p:nvSpPr>
          <p:cNvPr id="8" name="Shape 6"/>
          <p:cNvSpPr/>
          <p:nvPr/>
        </p:nvSpPr>
        <p:spPr>
          <a:xfrm>
            <a:off x="4988052" y="274320"/>
            <a:ext cx="157734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5.3 Đồng kiến tạo</a:t>
            </a:r>
            <a:endParaRPr lang="en-US" sz="1000" dirty="0"/>
          </a:p>
        </p:txBody>
      </p:sp>
      <p:sp>
        <p:nvSpPr>
          <p:cNvPr id="10" name="Shape 8"/>
          <p:cNvSpPr/>
          <p:nvPr/>
        </p:nvSpPr>
        <p:spPr>
          <a:xfrm>
            <a:off x="6675120"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675120"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334670"/>
            <a:ext cx="107533" cy="268834"/>
          </a:xfrm>
          <a:prstGeom prst="rect">
            <a:avLst/>
          </a:prstGeom>
          <a:solidFill>
            <a:srgbClr val="09A1E5"/>
          </a:solidFill>
          <a:ln w="12700">
            <a:solidFill>
              <a:srgbClr val="09A1E5"/>
            </a:solidFill>
            <a:prstDash val="solid"/>
          </a:ln>
        </p:spPr>
      </p:sp>
      <p:sp>
        <p:nvSpPr>
          <p:cNvPr id="13" name="Shape 11"/>
          <p:cNvSpPr/>
          <p:nvPr/>
        </p:nvSpPr>
        <p:spPr>
          <a:xfrm>
            <a:off x="11535522" y="334670"/>
            <a:ext cx="107533" cy="268834"/>
          </a:xfrm>
          <a:prstGeom prst="rect">
            <a:avLst/>
          </a:prstGeom>
          <a:solidFill>
            <a:srgbClr val="962B7C"/>
          </a:solidFill>
          <a:ln w="12700">
            <a:solidFill>
              <a:srgbClr val="962B7C"/>
            </a:solidFill>
            <a:prstDash val="solid"/>
          </a:ln>
        </p:spPr>
      </p:sp>
      <p:sp>
        <p:nvSpPr>
          <p:cNvPr id="14" name="Shape 12"/>
          <p:cNvSpPr/>
          <p:nvPr/>
        </p:nvSpPr>
        <p:spPr>
          <a:xfrm>
            <a:off x="11259007" y="250180"/>
            <a:ext cx="384048" cy="61448"/>
          </a:xfrm>
          <a:prstGeom prst="rect">
            <a:avLst/>
          </a:prstGeom>
          <a:solidFill>
            <a:srgbClr val="FFD23B"/>
          </a:solidFill>
          <a:ln w="12700">
            <a:solidFill>
              <a:srgbClr val="FFD23B"/>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Giá trị cho khách của khách hàng</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E07 → U10 (Buổi 9): VnExpress (5/10/2025) [nội dung được tài trợ]. Ví dụ TƯƠNG TỰ — không phải quan hệ agency.</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17</a:t>
            </a:r>
            <a:endParaRPr lang="en-US" sz="1000" dirty="0"/>
          </a:p>
        </p:txBody>
      </p:sp>
      <p:sp>
        <p:nvSpPr>
          <p:cNvPr id="19" name="Shape 16"/>
          <p:cNvSpPr/>
          <p:nvPr/>
        </p:nvSpPr>
        <p:spPr>
          <a:xfrm>
            <a:off x="8899855" y="1325880"/>
            <a:ext cx="2743200" cy="365760"/>
          </a:xfrm>
          <a:prstGeom prst="roundRect">
            <a:avLst>
              <a:gd name="adj" fmla="val 50000"/>
            </a:avLst>
          </a:prstGeom>
          <a:solidFill>
            <a:srgbClr val="FFD23B"/>
          </a:solidFill>
          <a:ln w="12700">
            <a:solidFill>
              <a:srgbClr val="FFD23B"/>
            </a:solidFill>
            <a:prstDash val="solid"/>
          </a:ln>
        </p:spPr>
      </p:sp>
      <p:sp>
        <p:nvSpPr>
          <p:cNvPr id="20" name="Text 17"/>
          <p:cNvSpPr txBox="1"/>
          <p:nvPr/>
        </p:nvSpPr>
        <p:spPr>
          <a:xfrm>
            <a:off x="8973007" y="1325880"/>
            <a:ext cx="2596896" cy="365760"/>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VÍ DỤ TƯƠNG TỰ</a:t>
            </a:r>
            <a:endParaRPr lang="en-US" sz="1100" dirty="0"/>
          </a:p>
        </p:txBody>
      </p:sp>
      <p:sp>
        <p:nvSpPr>
          <p:cNvPr id="21" name="Shape 18"/>
          <p:cNvSpPr/>
          <p:nvPr/>
        </p:nvSpPr>
        <p:spPr>
          <a:xfrm>
            <a:off x="548640" y="2103120"/>
            <a:ext cx="3332378" cy="1828800"/>
          </a:xfrm>
          <a:prstGeom prst="roundRect">
            <a:avLst>
              <a:gd name="adj" fmla="val 7500"/>
            </a:avLst>
          </a:prstGeom>
          <a:solidFill>
            <a:srgbClr val="FF9259"/>
          </a:solidFill>
          <a:ln w="12700">
            <a:solidFill>
              <a:srgbClr val="FF9259"/>
            </a:solidFill>
            <a:prstDash val="solid"/>
          </a:ln>
        </p:spPr>
      </p:sp>
      <p:sp>
        <p:nvSpPr>
          <p:cNvPr id="22" name="Text 19"/>
          <p:cNvSpPr txBox="1"/>
          <p:nvPr/>
        </p:nvSpPr>
        <p:spPr>
          <a:xfrm>
            <a:off x="731520" y="2103120"/>
            <a:ext cx="2966618" cy="1828800"/>
          </a:xfrm>
          <a:prstGeom prst="rect">
            <a:avLst/>
          </a:prstGeom>
          <a:noFill/>
          <a:ln/>
        </p:spPr>
        <p:txBody>
          <a:bodyPr wrap="square" lIns="0" tIns="0" rIns="0" bIns="0" rtlCol="0" anchor="ctr"/>
          <a:lstStyle/>
          <a:p>
            <a:pPr algn="ctr" indent="0" marL="0">
              <a:spcAft>
                <a:spcPts val="400"/>
              </a:spcAft>
              <a:buNone/>
            </a:pPr>
            <a:r>
              <a:rPr lang="en-US" sz="1400" dirty="0">
                <a:solidFill>
                  <a:srgbClr val="2A2238"/>
                </a:solidFill>
                <a:latin typeface="Alexandria" pitchFamily="34" charset="0"/>
                <a:ea typeface="Alexandria" pitchFamily="34" charset="-122"/>
                <a:cs typeface="Alexandria" pitchFamily="34" charset="-120"/>
              </a:rPr>
              <a:t>Sự kiện</a:t>
            </a:r>
            <a:endParaRPr lang="en-US" sz="1400" dirty="0"/>
          </a:p>
          <a:p>
            <a:pPr algn="ctr" indent="0" marL="0">
              <a:spcAft>
                <a:spcPts val="400"/>
              </a:spcAft>
              <a:buNone/>
            </a:pPr>
            <a:r>
              <a:rPr lang="en-US" sz="2000" b="1" dirty="0">
                <a:solidFill>
                  <a:srgbClr val="2A2238"/>
                </a:solidFill>
                <a:latin typeface="Alexandria" pitchFamily="34" charset="0"/>
                <a:ea typeface="Alexandria" pitchFamily="34" charset="-122"/>
                <a:cs typeface="Alexandria" pitchFamily="34" charset="-120"/>
              </a:rPr>
              <a:t>concert G-DRAGON</a:t>
            </a:r>
            <a:endParaRPr lang="en-US" sz="1400" dirty="0"/>
          </a:p>
        </p:txBody>
      </p:sp>
      <p:sp>
        <p:nvSpPr>
          <p:cNvPr id="23" name="Shape 20"/>
          <p:cNvSpPr/>
          <p:nvPr/>
        </p:nvSpPr>
        <p:spPr>
          <a:xfrm>
            <a:off x="3954170" y="3017520"/>
            <a:ext cx="402336" cy="914"/>
          </a:xfrm>
          <a:prstGeom prst="line">
            <a:avLst/>
          </a:prstGeom>
          <a:noFill/>
          <a:ln w="38100">
            <a:solidFill>
              <a:srgbClr val="2A2238"/>
            </a:solidFill>
            <a:prstDash val="solid"/>
            <a:tailEnd type="triangle"/>
          </a:ln>
        </p:spPr>
      </p:sp>
      <p:sp>
        <p:nvSpPr>
          <p:cNvPr id="24" name="Shape 21"/>
          <p:cNvSpPr/>
          <p:nvPr/>
        </p:nvSpPr>
        <p:spPr>
          <a:xfrm>
            <a:off x="4429658" y="2103120"/>
            <a:ext cx="3332378" cy="1828800"/>
          </a:xfrm>
          <a:prstGeom prst="roundRect">
            <a:avLst>
              <a:gd name="adj" fmla="val 7500"/>
            </a:avLst>
          </a:prstGeom>
          <a:solidFill>
            <a:srgbClr val="09A1E5"/>
          </a:solidFill>
          <a:ln w="12700">
            <a:solidFill>
              <a:srgbClr val="09A1E5"/>
            </a:solidFill>
            <a:prstDash val="solid"/>
          </a:ln>
        </p:spPr>
      </p:sp>
      <p:sp>
        <p:nvSpPr>
          <p:cNvPr id="25" name="Text 22"/>
          <p:cNvSpPr txBox="1"/>
          <p:nvPr/>
        </p:nvSpPr>
        <p:spPr>
          <a:xfrm>
            <a:off x="4612538" y="2103120"/>
            <a:ext cx="2966618" cy="1828800"/>
          </a:xfrm>
          <a:prstGeom prst="rect">
            <a:avLst/>
          </a:prstGeom>
          <a:noFill/>
          <a:ln/>
        </p:spPr>
        <p:txBody>
          <a:bodyPr wrap="square" lIns="0" tIns="0" rIns="0" bIns="0" rtlCol="0" anchor="ctr"/>
          <a:lstStyle/>
          <a:p>
            <a:pPr algn="ctr" indent="0" marL="0">
              <a:spcAft>
                <a:spcPts val="400"/>
              </a:spcAft>
              <a:buNone/>
            </a:pPr>
            <a:r>
              <a:rPr lang="en-US" sz="1400" dirty="0">
                <a:solidFill>
                  <a:srgbClr val="FFFFFF"/>
                </a:solidFill>
                <a:latin typeface="Alexandria" pitchFamily="34" charset="0"/>
                <a:ea typeface="Alexandria" pitchFamily="34" charset="-122"/>
                <a:cs typeface="Alexandria" pitchFamily="34" charset="-120"/>
              </a:rPr>
              <a:t>Ngân hàng</a:t>
            </a:r>
            <a:endParaRPr lang="en-US" sz="1400" dirty="0"/>
          </a:p>
          <a:p>
            <a:pPr algn="ctr" indent="0" marL="0">
              <a:spcAft>
                <a:spcPts val="400"/>
              </a:spcAft>
              <a:buNone/>
            </a:pPr>
            <a:r>
              <a:rPr lang="en-US" sz="2000" b="1" dirty="0">
                <a:solidFill>
                  <a:srgbClr val="FFFFFF"/>
                </a:solidFill>
                <a:latin typeface="Alexandria" pitchFamily="34" charset="0"/>
                <a:ea typeface="Alexandria" pitchFamily="34" charset="-122"/>
                <a:cs typeface="Alexandria" pitchFamily="34" charset="-120"/>
              </a:rPr>
              <a:t>VPBank</a:t>
            </a:r>
            <a:endParaRPr lang="en-US" sz="1400" dirty="0"/>
          </a:p>
        </p:txBody>
      </p:sp>
      <p:sp>
        <p:nvSpPr>
          <p:cNvPr id="26" name="Shape 23"/>
          <p:cNvSpPr/>
          <p:nvPr/>
        </p:nvSpPr>
        <p:spPr>
          <a:xfrm>
            <a:off x="7835189" y="3017520"/>
            <a:ext cx="402336" cy="914"/>
          </a:xfrm>
          <a:prstGeom prst="line">
            <a:avLst/>
          </a:prstGeom>
          <a:noFill/>
          <a:ln w="38100">
            <a:solidFill>
              <a:srgbClr val="2A2238"/>
            </a:solidFill>
            <a:prstDash val="solid"/>
            <a:tailEnd type="triangle"/>
          </a:ln>
        </p:spPr>
      </p:sp>
      <p:sp>
        <p:nvSpPr>
          <p:cNvPr id="27" name="Shape 24"/>
          <p:cNvSpPr/>
          <p:nvPr/>
        </p:nvSpPr>
        <p:spPr>
          <a:xfrm>
            <a:off x="8310677" y="2103120"/>
            <a:ext cx="3332378" cy="1828800"/>
          </a:xfrm>
          <a:prstGeom prst="roundRect">
            <a:avLst>
              <a:gd name="adj" fmla="val 7500"/>
            </a:avLst>
          </a:prstGeom>
          <a:solidFill>
            <a:srgbClr val="FF5178"/>
          </a:solidFill>
          <a:ln w="12700">
            <a:solidFill>
              <a:srgbClr val="FF5178"/>
            </a:solidFill>
            <a:prstDash val="solid"/>
          </a:ln>
        </p:spPr>
      </p:sp>
      <p:sp>
        <p:nvSpPr>
          <p:cNvPr id="28" name="Text 25"/>
          <p:cNvSpPr txBox="1"/>
          <p:nvPr/>
        </p:nvSpPr>
        <p:spPr>
          <a:xfrm>
            <a:off x="8493557" y="2103120"/>
            <a:ext cx="2966618" cy="1828800"/>
          </a:xfrm>
          <a:prstGeom prst="rect">
            <a:avLst/>
          </a:prstGeom>
          <a:noFill/>
          <a:ln/>
        </p:spPr>
        <p:txBody>
          <a:bodyPr wrap="square" lIns="0" tIns="0" rIns="0" bIns="0" rtlCol="0" anchor="ctr"/>
          <a:lstStyle/>
          <a:p>
            <a:pPr algn="ctr" indent="0" marL="0">
              <a:spcAft>
                <a:spcPts val="400"/>
              </a:spcAft>
              <a:buNone/>
            </a:pPr>
            <a:r>
              <a:rPr lang="en-US" sz="1400" dirty="0">
                <a:solidFill>
                  <a:srgbClr val="FFFFFF"/>
                </a:solidFill>
                <a:latin typeface="Alexandria" pitchFamily="34" charset="0"/>
                <a:ea typeface="Alexandria" pitchFamily="34" charset="-122"/>
                <a:cs typeface="Alexandria" pitchFamily="34" charset="-120"/>
              </a:rPr>
              <a:t>Khách của ngân hàng</a:t>
            </a:r>
            <a:endParaRPr lang="en-US" sz="1400" dirty="0"/>
          </a:p>
          <a:p>
            <a:pPr algn="ctr" indent="0" marL="0">
              <a:spcAft>
                <a:spcPts val="400"/>
              </a:spcAft>
              <a:buNone/>
            </a:pPr>
            <a:r>
              <a:rPr lang="en-US" sz="2000" b="1" dirty="0">
                <a:solidFill>
                  <a:srgbClr val="FFFFFF"/>
                </a:solidFill>
                <a:latin typeface="Alexandria" pitchFamily="34" charset="0"/>
                <a:ea typeface="Alexandria" pitchFamily="34" charset="-122"/>
                <a:cs typeface="Alexandria" pitchFamily="34" charset="-120"/>
              </a:rPr>
              <a:t>chủ thẻ — quyền mua vé sớm</a:t>
            </a:r>
            <a:endParaRPr lang="en-US" sz="1400" dirty="0"/>
          </a:p>
        </p:txBody>
      </p:sp>
      <p:sp>
        <p:nvSpPr>
          <p:cNvPr id="29" name="Shape 26"/>
          <p:cNvSpPr/>
          <p:nvPr/>
        </p:nvSpPr>
        <p:spPr>
          <a:xfrm>
            <a:off x="548640" y="4343400"/>
            <a:ext cx="11094415" cy="1645920"/>
          </a:xfrm>
          <a:prstGeom prst="roundRect">
            <a:avLst>
              <a:gd name="adj" fmla="val 6667"/>
            </a:avLst>
          </a:prstGeom>
          <a:solidFill>
            <a:srgbClr val="FFE4EA"/>
          </a:solidFill>
          <a:ln w="12700">
            <a:solidFill>
              <a:srgbClr val="FF5178"/>
            </a:solidFill>
            <a:prstDash val="solid"/>
          </a:ln>
        </p:spPr>
      </p:sp>
      <p:sp>
        <p:nvSpPr>
          <p:cNvPr id="30" name="Text 27"/>
          <p:cNvSpPr txBox="1"/>
          <p:nvPr/>
        </p:nvSpPr>
        <p:spPr>
          <a:xfrm>
            <a:off x="914400" y="4343400"/>
            <a:ext cx="10362895" cy="164592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Với An Phát: </a:t>
            </a:r>
            <a:pPr indent="0" marL="0">
              <a:buNone/>
            </a:pPr>
            <a:r>
              <a:rPr lang="en-US" sz="2000" dirty="0">
                <a:solidFill>
                  <a:srgbClr val="2A2238"/>
                </a:solidFill>
                <a:latin typeface="Alexandria" pitchFamily="34" charset="0"/>
                <a:ea typeface="Alexandria" pitchFamily="34" charset="-122"/>
                <a:cs typeface="Alexandria" pitchFamily="34" charset="-120"/>
              </a:rPr>
              <a:t>600 khách VIP được kiến thức, kết nối, trải nghiệm → khách gắn bó hơn → An Phát được lợi.</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5.1 Cấu trúc CVP</a:t>
            </a:r>
            <a:endParaRPr lang="en-US" sz="1000" dirty="0"/>
          </a:p>
        </p:txBody>
      </p:sp>
      <p:sp>
        <p:nvSpPr>
          <p:cNvPr id="6" name="Shape 4"/>
          <p:cNvSpPr/>
          <p:nvPr/>
        </p:nvSpPr>
        <p:spPr>
          <a:xfrm>
            <a:off x="2990088"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5.2 Năm nguồn giá trị</a:t>
            </a:r>
            <a:endParaRPr lang="en-US" sz="1000" dirty="0"/>
          </a:p>
        </p:txBody>
      </p:sp>
      <p:sp>
        <p:nvSpPr>
          <p:cNvPr id="8" name="Shape 6"/>
          <p:cNvSpPr/>
          <p:nvPr/>
        </p:nvSpPr>
        <p:spPr>
          <a:xfrm>
            <a:off x="4988052" y="274320"/>
            <a:ext cx="1577340"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988052" y="274320"/>
            <a:ext cx="15773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5.3 Đồng kiến tạo</a:t>
            </a:r>
            <a:endParaRPr lang="en-US" sz="1000" dirty="0"/>
          </a:p>
        </p:txBody>
      </p:sp>
      <p:sp>
        <p:nvSpPr>
          <p:cNvPr id="10" name="Shape 8"/>
          <p:cNvSpPr/>
          <p:nvPr/>
        </p:nvSpPr>
        <p:spPr>
          <a:xfrm>
            <a:off x="6675120"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675120"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334670"/>
            <a:ext cx="107533" cy="268834"/>
          </a:xfrm>
          <a:prstGeom prst="rect">
            <a:avLst/>
          </a:prstGeom>
          <a:solidFill>
            <a:srgbClr val="09A1E5"/>
          </a:solidFill>
          <a:ln w="12700">
            <a:solidFill>
              <a:srgbClr val="09A1E5"/>
            </a:solidFill>
            <a:prstDash val="solid"/>
          </a:ln>
        </p:spPr>
      </p:sp>
      <p:sp>
        <p:nvSpPr>
          <p:cNvPr id="13" name="Shape 11"/>
          <p:cNvSpPr/>
          <p:nvPr/>
        </p:nvSpPr>
        <p:spPr>
          <a:xfrm>
            <a:off x="11535522" y="334670"/>
            <a:ext cx="107533" cy="268834"/>
          </a:xfrm>
          <a:prstGeom prst="rect">
            <a:avLst/>
          </a:prstGeom>
          <a:solidFill>
            <a:srgbClr val="962B7C"/>
          </a:solidFill>
          <a:ln w="12700">
            <a:solidFill>
              <a:srgbClr val="962B7C"/>
            </a:solidFill>
            <a:prstDash val="solid"/>
          </a:ln>
        </p:spPr>
      </p:sp>
      <p:sp>
        <p:nvSpPr>
          <p:cNvPr id="14" name="Shape 12"/>
          <p:cNvSpPr/>
          <p:nvPr/>
        </p:nvSpPr>
        <p:spPr>
          <a:xfrm>
            <a:off x="11259007" y="250180"/>
            <a:ext cx="384048" cy="61448"/>
          </a:xfrm>
          <a:prstGeom prst="rect">
            <a:avLst/>
          </a:prstGeom>
          <a:solidFill>
            <a:srgbClr val="FFD23B"/>
          </a:solidFill>
          <a:ln w="12700">
            <a:solidFill>
              <a:srgbClr val="FFD23B"/>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Đồng kiến tạo là khách hàng cùng làm</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E05: Marcos-Cuevas, Nätti, Palo &amp; Baumann (2016), Industrial Marketing Management, 56.</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18</a:t>
            </a:r>
            <a:endParaRPr lang="en-US" sz="1000" dirty="0"/>
          </a:p>
        </p:txBody>
      </p:sp>
      <p:sp>
        <p:nvSpPr>
          <p:cNvPr id="19" name="Shape 16"/>
          <p:cNvSpPr/>
          <p:nvPr/>
        </p:nvSpPr>
        <p:spPr>
          <a:xfrm>
            <a:off x="548640" y="1920240"/>
            <a:ext cx="5410048" cy="4069080"/>
          </a:xfrm>
          <a:prstGeom prst="roundRect">
            <a:avLst>
              <a:gd name="adj" fmla="val 2697"/>
            </a:avLst>
          </a:prstGeom>
          <a:solidFill>
            <a:srgbClr val="FFFFFF"/>
          </a:solidFill>
          <a:ln w="12700">
            <a:solidFill>
              <a:srgbClr val="DCD7C8"/>
            </a:solidFill>
            <a:prstDash val="solid"/>
          </a:ln>
        </p:spPr>
      </p:sp>
      <p:sp>
        <p:nvSpPr>
          <p:cNvPr id="20" name="Text 17"/>
          <p:cNvSpPr txBox="1"/>
          <p:nvPr/>
        </p:nvSpPr>
        <p:spPr>
          <a:xfrm>
            <a:off x="868680" y="2103120"/>
            <a:ext cx="4769968" cy="548640"/>
          </a:xfrm>
          <a:prstGeom prst="rect">
            <a:avLst/>
          </a:prstGeom>
          <a:noFill/>
          <a:ln/>
        </p:spPr>
        <p:txBody>
          <a:bodyPr wrap="square" lIns="0" tIns="0" rIns="0" bIns="0" rtlCol="0" anchor="ctr"/>
          <a:lstStyle/>
          <a:p>
            <a:pPr indent="0" marL="0">
              <a:buNone/>
            </a:pPr>
            <a:r>
              <a:rPr lang="en-US" sz="2200" b="1" dirty="0">
                <a:solidFill>
                  <a:srgbClr val="6E6878"/>
                </a:solidFill>
                <a:latin typeface="Alexandria" pitchFamily="34" charset="0"/>
                <a:ea typeface="Alexandria" pitchFamily="34" charset="-122"/>
                <a:cs typeface="Alexandria" pitchFamily="34" charset="-120"/>
              </a:rPr>
              <a:t>Thiết kế CHO khách hàng</a:t>
            </a:r>
            <a:endParaRPr lang="en-US" sz="2200" dirty="0"/>
          </a:p>
        </p:txBody>
      </p:sp>
      <p:sp>
        <p:nvSpPr>
          <p:cNvPr id="21" name="Shape 18"/>
          <p:cNvSpPr/>
          <p:nvPr/>
        </p:nvSpPr>
        <p:spPr>
          <a:xfrm>
            <a:off x="1005840" y="3108960"/>
            <a:ext cx="2011680" cy="731520"/>
          </a:xfrm>
          <a:prstGeom prst="roundRect">
            <a:avLst>
              <a:gd name="adj" fmla="val 50000"/>
            </a:avLst>
          </a:prstGeom>
          <a:solidFill>
            <a:srgbClr val="6E6878"/>
          </a:solidFill>
          <a:ln w="12700">
            <a:solidFill>
              <a:srgbClr val="6E6878"/>
            </a:solidFill>
            <a:prstDash val="solid"/>
          </a:ln>
        </p:spPr>
      </p:sp>
      <p:sp>
        <p:nvSpPr>
          <p:cNvPr id="22" name="Text 19"/>
          <p:cNvSpPr txBox="1"/>
          <p:nvPr/>
        </p:nvSpPr>
        <p:spPr>
          <a:xfrm>
            <a:off x="1078992" y="3108960"/>
            <a:ext cx="1865376"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Nova làm</a:t>
            </a:r>
            <a:endParaRPr lang="en-US" sz="1600" dirty="0"/>
          </a:p>
        </p:txBody>
      </p:sp>
      <p:sp>
        <p:nvSpPr>
          <p:cNvPr id="23" name="Shape 20"/>
          <p:cNvSpPr/>
          <p:nvPr/>
        </p:nvSpPr>
        <p:spPr>
          <a:xfrm>
            <a:off x="3108960" y="3474720"/>
            <a:ext cx="822960" cy="914"/>
          </a:xfrm>
          <a:prstGeom prst="line">
            <a:avLst/>
          </a:prstGeom>
          <a:noFill/>
          <a:ln w="38100">
            <a:solidFill>
              <a:srgbClr val="6E6878"/>
            </a:solidFill>
            <a:prstDash val="solid"/>
            <a:tailEnd type="triangle"/>
          </a:ln>
        </p:spPr>
      </p:sp>
      <p:sp>
        <p:nvSpPr>
          <p:cNvPr id="24" name="Shape 21"/>
          <p:cNvSpPr/>
          <p:nvPr/>
        </p:nvSpPr>
        <p:spPr>
          <a:xfrm>
            <a:off x="4023360" y="3108960"/>
            <a:ext cx="1828800" cy="731520"/>
          </a:xfrm>
          <a:prstGeom prst="roundRect">
            <a:avLst>
              <a:gd name="adj" fmla="val 50000"/>
            </a:avLst>
          </a:prstGeom>
          <a:solidFill>
            <a:srgbClr val="F3F0E6"/>
          </a:solidFill>
          <a:ln w="12700">
            <a:solidFill>
              <a:srgbClr val="DCD7C8"/>
            </a:solidFill>
            <a:prstDash val="solid"/>
          </a:ln>
        </p:spPr>
      </p:sp>
      <p:sp>
        <p:nvSpPr>
          <p:cNvPr id="25" name="Text 22"/>
          <p:cNvSpPr txBox="1"/>
          <p:nvPr/>
        </p:nvSpPr>
        <p:spPr>
          <a:xfrm>
            <a:off x="4096512" y="3108960"/>
            <a:ext cx="1682496" cy="731520"/>
          </a:xfrm>
          <a:prstGeom prst="rect">
            <a:avLst/>
          </a:prstGeom>
          <a:noFill/>
          <a:ln/>
        </p:spPr>
        <p:txBody>
          <a:bodyPr wrap="square" lIns="0" tIns="0" rIns="0" bIns="0" rtlCol="0" anchor="ctr"/>
          <a:lstStyle/>
          <a:p>
            <a:pPr algn="ctr" indent="0" marL="0">
              <a:buNone/>
            </a:pPr>
            <a:r>
              <a:rPr lang="en-US" sz="1400" b="1" dirty="0">
                <a:solidFill>
                  <a:srgbClr val="6E6878"/>
                </a:solidFill>
                <a:latin typeface="Alexandria" pitchFamily="34" charset="0"/>
                <a:ea typeface="Alexandria" pitchFamily="34" charset="-122"/>
                <a:cs typeface="Alexandria" pitchFamily="34" charset="-120"/>
              </a:rPr>
              <a:t>An Phát duyệt</a:t>
            </a:r>
            <a:endParaRPr lang="en-US" sz="1400" dirty="0"/>
          </a:p>
        </p:txBody>
      </p:sp>
      <p:sp>
        <p:nvSpPr>
          <p:cNvPr id="26" name="Text 23"/>
          <p:cNvSpPr txBox="1"/>
          <p:nvPr/>
        </p:nvSpPr>
        <p:spPr>
          <a:xfrm>
            <a:off x="868680" y="4846320"/>
            <a:ext cx="4769968" cy="548640"/>
          </a:xfrm>
          <a:prstGeom prst="rect">
            <a:avLst/>
          </a:prstGeom>
          <a:noFill/>
          <a:ln/>
        </p:spPr>
        <p:txBody>
          <a:bodyPr wrap="square" lIns="0" tIns="0" rIns="0" bIns="0" rtlCol="0" anchor="ctr"/>
          <a:lstStyle/>
          <a:p>
            <a:pPr indent="0" marL="0">
              <a:buNone/>
            </a:pPr>
            <a:r>
              <a:rPr lang="en-US" sz="1700" dirty="0">
                <a:solidFill>
                  <a:srgbClr val="6E6878"/>
                </a:solidFill>
                <a:latin typeface="Alexandria" pitchFamily="34" charset="0"/>
                <a:ea typeface="Alexandria" pitchFamily="34" charset="-122"/>
                <a:cs typeface="Alexandria" pitchFamily="34" charset="-120"/>
              </a:rPr>
              <a:t>✗  khách hàng chỉ duyệt</a:t>
            </a:r>
            <a:endParaRPr lang="en-US" sz="1700" dirty="0"/>
          </a:p>
        </p:txBody>
      </p:sp>
      <p:sp>
        <p:nvSpPr>
          <p:cNvPr id="27" name="Shape 24"/>
          <p:cNvSpPr/>
          <p:nvPr/>
        </p:nvSpPr>
        <p:spPr>
          <a:xfrm>
            <a:off x="6233008" y="1920240"/>
            <a:ext cx="5410048" cy="4069080"/>
          </a:xfrm>
          <a:prstGeom prst="roundRect">
            <a:avLst>
              <a:gd name="adj" fmla="val 2697"/>
            </a:avLst>
          </a:prstGeom>
          <a:solidFill>
            <a:srgbClr val="FFE4EA"/>
          </a:solidFill>
          <a:ln w="19050">
            <a:solidFill>
              <a:srgbClr val="FF5178"/>
            </a:solidFill>
            <a:prstDash val="solid"/>
          </a:ln>
        </p:spPr>
      </p:sp>
      <p:sp>
        <p:nvSpPr>
          <p:cNvPr id="28" name="Text 25"/>
          <p:cNvSpPr txBox="1"/>
          <p:nvPr/>
        </p:nvSpPr>
        <p:spPr>
          <a:xfrm>
            <a:off x="6553048" y="2103120"/>
            <a:ext cx="4769968" cy="548640"/>
          </a:xfrm>
          <a:prstGeom prst="rect">
            <a:avLst/>
          </a:prstGeom>
          <a:noFill/>
          <a:ln/>
        </p:spPr>
        <p:txBody>
          <a:bodyPr wrap="square" lIns="0" tIns="0" rIns="0" bIns="0" rtlCol="0" anchor="ctr"/>
          <a:lstStyle/>
          <a:p>
            <a:pPr indent="0" marL="0">
              <a:buNone/>
            </a:pPr>
            <a:r>
              <a:rPr lang="en-US" sz="2200" b="1" dirty="0">
                <a:solidFill>
                  <a:srgbClr val="E03A62"/>
                </a:solidFill>
                <a:latin typeface="Alexandria" pitchFamily="34" charset="0"/>
                <a:ea typeface="Alexandria" pitchFamily="34" charset="-122"/>
                <a:cs typeface="Alexandria" pitchFamily="34" charset="-120"/>
              </a:rPr>
              <a:t>Thiết kế CÙNG khách hàng</a:t>
            </a:r>
            <a:endParaRPr lang="en-US" sz="2200" dirty="0"/>
          </a:p>
        </p:txBody>
      </p:sp>
      <p:sp>
        <p:nvSpPr>
          <p:cNvPr id="29" name="Shape 26"/>
          <p:cNvSpPr/>
          <p:nvPr/>
        </p:nvSpPr>
        <p:spPr>
          <a:xfrm>
            <a:off x="7109231" y="2926080"/>
            <a:ext cx="2194560" cy="1188720"/>
          </a:xfrm>
          <a:prstGeom prst="ellipse">
            <a:avLst/>
          </a:prstGeom>
          <a:solidFill>
            <a:srgbClr val="962B7C">
              <a:alpha val="75000"/>
            </a:srgbClr>
          </a:solidFill>
          <a:ln w="12700">
            <a:solidFill>
              <a:srgbClr val="962B7C"/>
            </a:solidFill>
            <a:prstDash val="solid"/>
          </a:ln>
        </p:spPr>
      </p:sp>
      <p:sp>
        <p:nvSpPr>
          <p:cNvPr id="30" name="Shape 27"/>
          <p:cNvSpPr/>
          <p:nvPr/>
        </p:nvSpPr>
        <p:spPr>
          <a:xfrm>
            <a:off x="8572271" y="2926080"/>
            <a:ext cx="2194560" cy="1188720"/>
          </a:xfrm>
          <a:prstGeom prst="ellipse">
            <a:avLst/>
          </a:prstGeom>
          <a:solidFill>
            <a:srgbClr val="09A1E5">
              <a:alpha val="75000"/>
            </a:srgbClr>
          </a:solidFill>
          <a:ln w="12700">
            <a:solidFill>
              <a:srgbClr val="09A1E5"/>
            </a:solidFill>
            <a:prstDash val="solid"/>
          </a:ln>
        </p:spPr>
      </p:sp>
      <p:sp>
        <p:nvSpPr>
          <p:cNvPr id="31" name="Text 28"/>
          <p:cNvSpPr txBox="1"/>
          <p:nvPr/>
        </p:nvSpPr>
        <p:spPr>
          <a:xfrm>
            <a:off x="7109231" y="2926080"/>
            <a:ext cx="1371600"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Nova</a:t>
            </a:r>
            <a:endParaRPr lang="en-US" sz="1500" dirty="0"/>
          </a:p>
        </p:txBody>
      </p:sp>
      <p:sp>
        <p:nvSpPr>
          <p:cNvPr id="32" name="Text 29"/>
          <p:cNvSpPr txBox="1"/>
          <p:nvPr/>
        </p:nvSpPr>
        <p:spPr>
          <a:xfrm>
            <a:off x="9395231" y="2926080"/>
            <a:ext cx="1371600"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An Phát</a:t>
            </a:r>
            <a:endParaRPr lang="en-US" sz="1500" dirty="0"/>
          </a:p>
        </p:txBody>
      </p:sp>
      <p:sp>
        <p:nvSpPr>
          <p:cNvPr id="33" name="Text 30"/>
          <p:cNvSpPr txBox="1"/>
          <p:nvPr/>
        </p:nvSpPr>
        <p:spPr>
          <a:xfrm>
            <a:off x="6553048" y="4846320"/>
            <a:ext cx="4769968" cy="54864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  khách hàng cùng làm từ đầu</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5.1 Cấu trúc CVP</a:t>
            </a:r>
            <a:endParaRPr lang="en-US" sz="1000" dirty="0"/>
          </a:p>
        </p:txBody>
      </p:sp>
      <p:sp>
        <p:nvSpPr>
          <p:cNvPr id="6" name="Shape 4"/>
          <p:cNvSpPr/>
          <p:nvPr/>
        </p:nvSpPr>
        <p:spPr>
          <a:xfrm>
            <a:off x="2990088"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5.2 Năm nguồn giá trị</a:t>
            </a:r>
            <a:endParaRPr lang="en-US" sz="1000" dirty="0"/>
          </a:p>
        </p:txBody>
      </p:sp>
      <p:sp>
        <p:nvSpPr>
          <p:cNvPr id="8" name="Shape 6"/>
          <p:cNvSpPr/>
          <p:nvPr/>
        </p:nvSpPr>
        <p:spPr>
          <a:xfrm>
            <a:off x="4988052" y="274320"/>
            <a:ext cx="1577340"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988052" y="274320"/>
            <a:ext cx="15773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5.3 Đồng kiến tạo</a:t>
            </a:r>
            <a:endParaRPr lang="en-US" sz="1000" dirty="0"/>
          </a:p>
        </p:txBody>
      </p:sp>
      <p:sp>
        <p:nvSpPr>
          <p:cNvPr id="10" name="Shape 8"/>
          <p:cNvSpPr/>
          <p:nvPr/>
        </p:nvSpPr>
        <p:spPr>
          <a:xfrm>
            <a:off x="6675120"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675120"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334670"/>
            <a:ext cx="107533" cy="268834"/>
          </a:xfrm>
          <a:prstGeom prst="rect">
            <a:avLst/>
          </a:prstGeom>
          <a:solidFill>
            <a:srgbClr val="09A1E5"/>
          </a:solidFill>
          <a:ln w="12700">
            <a:solidFill>
              <a:srgbClr val="09A1E5"/>
            </a:solidFill>
            <a:prstDash val="solid"/>
          </a:ln>
        </p:spPr>
      </p:sp>
      <p:sp>
        <p:nvSpPr>
          <p:cNvPr id="13" name="Shape 11"/>
          <p:cNvSpPr/>
          <p:nvPr/>
        </p:nvSpPr>
        <p:spPr>
          <a:xfrm>
            <a:off x="11535522" y="334670"/>
            <a:ext cx="107533" cy="268834"/>
          </a:xfrm>
          <a:prstGeom prst="rect">
            <a:avLst/>
          </a:prstGeom>
          <a:solidFill>
            <a:srgbClr val="962B7C"/>
          </a:solidFill>
          <a:ln w="12700">
            <a:solidFill>
              <a:srgbClr val="962B7C"/>
            </a:solidFill>
            <a:prstDash val="solid"/>
          </a:ln>
        </p:spPr>
      </p:sp>
      <p:sp>
        <p:nvSpPr>
          <p:cNvPr id="14" name="Shape 12"/>
          <p:cNvSpPr/>
          <p:nvPr/>
        </p:nvSpPr>
        <p:spPr>
          <a:xfrm>
            <a:off x="11259007" y="250180"/>
            <a:ext cx="384048" cy="61448"/>
          </a:xfrm>
          <a:prstGeom prst="rect">
            <a:avLst/>
          </a:prstGeom>
          <a:solidFill>
            <a:srgbClr val="FFD23B"/>
          </a:solidFill>
          <a:ln w="12700">
            <a:solidFill>
              <a:srgbClr val="FFD23B"/>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Bốn thực hành: co-diagnosis, co-ideation, co-design, co-testing</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E05: Marcos-Cuevas et al. (2016) — định nghĩa nguyên văn, đã đọc toàn văn. Ví dụ An Phát: GIẢ ĐỊNH.</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19</a:t>
            </a:r>
            <a:endParaRPr lang="en-US" sz="1000" dirty="0"/>
          </a:p>
        </p:txBody>
      </p:sp>
      <p:sp>
        <p:nvSpPr>
          <p:cNvPr id="19" name="Shape 16"/>
          <p:cNvSpPr/>
          <p:nvPr/>
        </p:nvSpPr>
        <p:spPr>
          <a:xfrm>
            <a:off x="2651760" y="1783080"/>
            <a:ext cx="4663440" cy="502920"/>
          </a:xfrm>
          <a:prstGeom prst="roundRect">
            <a:avLst>
              <a:gd name="adj" fmla="val 21818"/>
            </a:avLst>
          </a:prstGeom>
          <a:solidFill>
            <a:srgbClr val="FF5178"/>
          </a:solidFill>
          <a:ln w="12700">
            <a:solidFill>
              <a:srgbClr val="FF5178"/>
            </a:solidFill>
            <a:prstDash val="solid"/>
          </a:ln>
        </p:spPr>
      </p:sp>
      <p:sp>
        <p:nvSpPr>
          <p:cNvPr id="20" name="Text 17"/>
          <p:cNvSpPr txBox="1"/>
          <p:nvPr/>
        </p:nvSpPr>
        <p:spPr>
          <a:xfrm>
            <a:off x="2816352" y="1783080"/>
            <a:ext cx="4334256"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Định nghĩa (nguyên văn)</a:t>
            </a:r>
            <a:endParaRPr lang="en-US" sz="1500" dirty="0"/>
          </a:p>
        </p:txBody>
      </p:sp>
      <p:sp>
        <p:nvSpPr>
          <p:cNvPr id="21" name="Shape 18"/>
          <p:cNvSpPr/>
          <p:nvPr/>
        </p:nvSpPr>
        <p:spPr>
          <a:xfrm>
            <a:off x="7406640" y="1783080"/>
            <a:ext cx="4144975" cy="502920"/>
          </a:xfrm>
          <a:prstGeom prst="roundRect">
            <a:avLst>
              <a:gd name="adj" fmla="val 21818"/>
            </a:avLst>
          </a:prstGeom>
          <a:solidFill>
            <a:srgbClr val="962B7C"/>
          </a:solidFill>
          <a:ln w="12700">
            <a:solidFill>
              <a:srgbClr val="962B7C"/>
            </a:solidFill>
            <a:prstDash val="solid"/>
          </a:ln>
        </p:spPr>
      </p:sp>
      <p:sp>
        <p:nvSpPr>
          <p:cNvPr id="22" name="Text 19"/>
          <p:cNvSpPr txBox="1"/>
          <p:nvPr/>
        </p:nvSpPr>
        <p:spPr>
          <a:xfrm>
            <a:off x="7571232" y="1783080"/>
            <a:ext cx="3815791"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Với An Phát (ví dụ)</a:t>
            </a:r>
            <a:endParaRPr lang="en-US" sz="1500" dirty="0"/>
          </a:p>
        </p:txBody>
      </p:sp>
      <p:sp>
        <p:nvSpPr>
          <p:cNvPr id="23" name="Shape 20"/>
          <p:cNvSpPr/>
          <p:nvPr/>
        </p:nvSpPr>
        <p:spPr>
          <a:xfrm>
            <a:off x="548640" y="2395728"/>
            <a:ext cx="11002975" cy="868680"/>
          </a:xfrm>
          <a:prstGeom prst="rect">
            <a:avLst/>
          </a:prstGeom>
          <a:solidFill>
            <a:srgbClr val="F3F0E6"/>
          </a:solidFill>
          <a:ln w="12700">
            <a:solidFill>
              <a:srgbClr val="F3F0E6"/>
            </a:solidFill>
            <a:prstDash val="solid"/>
          </a:ln>
        </p:spPr>
      </p:sp>
      <p:sp>
        <p:nvSpPr>
          <p:cNvPr id="24" name="Text 21"/>
          <p:cNvSpPr txBox="1"/>
          <p:nvPr/>
        </p:nvSpPr>
        <p:spPr>
          <a:xfrm>
            <a:off x="713232" y="2395728"/>
            <a:ext cx="1773936" cy="8686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Co-diagnosis</a:t>
            </a:r>
            <a:endParaRPr lang="en-US" sz="1500" dirty="0"/>
          </a:p>
        </p:txBody>
      </p:sp>
      <p:sp>
        <p:nvSpPr>
          <p:cNvPr id="25" name="Text 22"/>
          <p:cNvSpPr txBox="1"/>
          <p:nvPr/>
        </p:nvSpPr>
        <p:spPr>
          <a:xfrm>
            <a:off x="2816352" y="2395728"/>
            <a:ext cx="4425696"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“Collecting and organizing information for collaborative use”</a:t>
            </a:r>
            <a:endParaRPr lang="en-US" sz="1500" dirty="0"/>
          </a:p>
        </p:txBody>
      </p:sp>
      <p:sp>
        <p:nvSpPr>
          <p:cNvPr id="26" name="Text 23"/>
          <p:cNvSpPr txBox="1"/>
          <p:nvPr/>
        </p:nvSpPr>
        <p:spPr>
          <a:xfrm>
            <a:off x="7571232" y="2395728"/>
            <a:ext cx="3907231"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Cùng phân tích khảo sát khách mời các năm</a:t>
            </a:r>
            <a:endParaRPr lang="en-US" sz="1500" dirty="0"/>
          </a:p>
        </p:txBody>
      </p:sp>
      <p:sp>
        <p:nvSpPr>
          <p:cNvPr id="27" name="Text 24"/>
          <p:cNvSpPr txBox="1"/>
          <p:nvPr/>
        </p:nvSpPr>
        <p:spPr>
          <a:xfrm>
            <a:off x="713232" y="3319272"/>
            <a:ext cx="1773936" cy="8686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Co-ideation</a:t>
            </a:r>
            <a:endParaRPr lang="en-US" sz="1500" dirty="0"/>
          </a:p>
        </p:txBody>
      </p:sp>
      <p:sp>
        <p:nvSpPr>
          <p:cNvPr id="28" name="Text 25"/>
          <p:cNvSpPr txBox="1"/>
          <p:nvPr/>
        </p:nvSpPr>
        <p:spPr>
          <a:xfrm>
            <a:off x="2816352" y="3319272"/>
            <a:ext cx="4425696"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“Generating and suggesting ideas, communicating and sharing, engaging”</a:t>
            </a:r>
            <a:endParaRPr lang="en-US" sz="1500" dirty="0"/>
          </a:p>
        </p:txBody>
      </p:sp>
      <p:sp>
        <p:nvSpPr>
          <p:cNvPr id="29" name="Text 26"/>
          <p:cNvSpPr txBox="1"/>
          <p:nvPr/>
        </p:nvSpPr>
        <p:spPr>
          <a:xfrm>
            <a:off x="7571232" y="3319272"/>
            <a:ext cx="3907231"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Workshop ý tưởng với chị Hạnh, chị Vy</a:t>
            </a:r>
            <a:endParaRPr lang="en-US" sz="1500" dirty="0"/>
          </a:p>
        </p:txBody>
      </p:sp>
      <p:sp>
        <p:nvSpPr>
          <p:cNvPr id="30" name="Shape 27"/>
          <p:cNvSpPr/>
          <p:nvPr/>
        </p:nvSpPr>
        <p:spPr>
          <a:xfrm>
            <a:off x="548640" y="4242816"/>
            <a:ext cx="11002975" cy="868680"/>
          </a:xfrm>
          <a:prstGeom prst="rect">
            <a:avLst/>
          </a:prstGeom>
          <a:solidFill>
            <a:srgbClr val="F3F0E6"/>
          </a:solidFill>
          <a:ln w="12700">
            <a:solidFill>
              <a:srgbClr val="F3F0E6"/>
            </a:solidFill>
            <a:prstDash val="solid"/>
          </a:ln>
        </p:spPr>
      </p:sp>
      <p:sp>
        <p:nvSpPr>
          <p:cNvPr id="31" name="Text 28"/>
          <p:cNvSpPr txBox="1"/>
          <p:nvPr/>
        </p:nvSpPr>
        <p:spPr>
          <a:xfrm>
            <a:off x="713232" y="4242816"/>
            <a:ext cx="1773936" cy="8686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Co-design</a:t>
            </a:r>
            <a:endParaRPr lang="en-US" sz="1500" dirty="0"/>
          </a:p>
        </p:txBody>
      </p:sp>
      <p:sp>
        <p:nvSpPr>
          <p:cNvPr id="32" name="Text 29"/>
          <p:cNvSpPr txBox="1"/>
          <p:nvPr/>
        </p:nvSpPr>
        <p:spPr>
          <a:xfrm>
            <a:off x="2816352" y="4242816"/>
            <a:ext cx="4425696"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“Developing concepts and knowledge”</a:t>
            </a:r>
            <a:endParaRPr lang="en-US" sz="1500" dirty="0"/>
          </a:p>
        </p:txBody>
      </p:sp>
      <p:sp>
        <p:nvSpPr>
          <p:cNvPr id="33" name="Text 30"/>
          <p:cNvSpPr txBox="1"/>
          <p:nvPr/>
        </p:nvSpPr>
        <p:spPr>
          <a:xfrm>
            <a:off x="7571232" y="4242816"/>
            <a:ext cx="3907231"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Cùng thiết kế hành trình khách VIP</a:t>
            </a:r>
            <a:endParaRPr lang="en-US" sz="1500" dirty="0"/>
          </a:p>
        </p:txBody>
      </p:sp>
      <p:sp>
        <p:nvSpPr>
          <p:cNvPr id="34" name="Text 31"/>
          <p:cNvSpPr txBox="1"/>
          <p:nvPr/>
        </p:nvSpPr>
        <p:spPr>
          <a:xfrm>
            <a:off x="713232" y="5166360"/>
            <a:ext cx="1773936" cy="8686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Co-testing</a:t>
            </a:r>
            <a:endParaRPr lang="en-US" sz="1500" dirty="0"/>
          </a:p>
        </p:txBody>
      </p:sp>
      <p:sp>
        <p:nvSpPr>
          <p:cNvPr id="35" name="Text 32"/>
          <p:cNvSpPr txBox="1"/>
          <p:nvPr/>
        </p:nvSpPr>
        <p:spPr>
          <a:xfrm>
            <a:off x="2816352" y="5166360"/>
            <a:ext cx="4425696"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“Prototyping and improving the offering, giving feedback”</a:t>
            </a:r>
            <a:endParaRPr lang="en-US" sz="1500" dirty="0"/>
          </a:p>
        </p:txBody>
      </p:sp>
      <p:sp>
        <p:nvSpPr>
          <p:cNvPr id="36" name="Text 33"/>
          <p:cNvSpPr txBox="1"/>
          <p:nvPr/>
        </p:nvSpPr>
        <p:spPr>
          <a:xfrm>
            <a:off x="7571232" y="5166360"/>
            <a:ext cx="3907231"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Thí điểm một hội thảo quý; chạy thử livestream với chị Lan</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5.1 Cấu trúc CVP</a:t>
            </a:r>
            <a:endParaRPr lang="en-US" sz="1000" dirty="0"/>
          </a:p>
        </p:txBody>
      </p:sp>
      <p:sp>
        <p:nvSpPr>
          <p:cNvPr id="6" name="Shape 4"/>
          <p:cNvSpPr/>
          <p:nvPr/>
        </p:nvSpPr>
        <p:spPr>
          <a:xfrm>
            <a:off x="2990088"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5.2 Năm nguồn giá trị</a:t>
            </a:r>
            <a:endParaRPr lang="en-US" sz="1000" dirty="0"/>
          </a:p>
        </p:txBody>
      </p:sp>
      <p:sp>
        <p:nvSpPr>
          <p:cNvPr id="8" name="Shape 6"/>
          <p:cNvSpPr/>
          <p:nvPr/>
        </p:nvSpPr>
        <p:spPr>
          <a:xfrm>
            <a:off x="4988052" y="274320"/>
            <a:ext cx="1577340"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988052" y="274320"/>
            <a:ext cx="15773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5.3 Đồng kiến tạo</a:t>
            </a:r>
            <a:endParaRPr lang="en-US" sz="1000" dirty="0"/>
          </a:p>
        </p:txBody>
      </p:sp>
      <p:sp>
        <p:nvSpPr>
          <p:cNvPr id="10" name="Shape 8"/>
          <p:cNvSpPr/>
          <p:nvPr/>
        </p:nvSpPr>
        <p:spPr>
          <a:xfrm>
            <a:off x="6675120"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675120"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334670"/>
            <a:ext cx="107533" cy="268834"/>
          </a:xfrm>
          <a:prstGeom prst="rect">
            <a:avLst/>
          </a:prstGeom>
          <a:solidFill>
            <a:srgbClr val="09A1E5"/>
          </a:solidFill>
          <a:ln w="12700">
            <a:solidFill>
              <a:srgbClr val="09A1E5"/>
            </a:solidFill>
            <a:prstDash val="solid"/>
          </a:ln>
        </p:spPr>
      </p:sp>
      <p:sp>
        <p:nvSpPr>
          <p:cNvPr id="13" name="Shape 11"/>
          <p:cNvSpPr/>
          <p:nvPr/>
        </p:nvSpPr>
        <p:spPr>
          <a:xfrm>
            <a:off x="11535522" y="334670"/>
            <a:ext cx="107533" cy="268834"/>
          </a:xfrm>
          <a:prstGeom prst="rect">
            <a:avLst/>
          </a:prstGeom>
          <a:solidFill>
            <a:srgbClr val="962B7C"/>
          </a:solidFill>
          <a:ln w="12700">
            <a:solidFill>
              <a:srgbClr val="962B7C"/>
            </a:solidFill>
            <a:prstDash val="solid"/>
          </a:ln>
        </p:spPr>
      </p:sp>
      <p:sp>
        <p:nvSpPr>
          <p:cNvPr id="14" name="Shape 12"/>
          <p:cNvSpPr/>
          <p:nvPr/>
        </p:nvSpPr>
        <p:spPr>
          <a:xfrm>
            <a:off x="11259007" y="250180"/>
            <a:ext cx="384048" cy="61448"/>
          </a:xfrm>
          <a:prstGeom prst="rect">
            <a:avLst/>
          </a:prstGeom>
          <a:solidFill>
            <a:srgbClr val="FFD23B"/>
          </a:solidFill>
          <a:ln w="12700">
            <a:solidFill>
              <a:srgbClr val="FFD23B"/>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Ba nhóm: linking – materializing – institutionalizing</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E05: Marcos-Cuevas et al. (2016), Industrial Marketing Management, 56, 97–107.</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20</a:t>
            </a:r>
            <a:endParaRPr lang="en-US" sz="1000" dirty="0"/>
          </a:p>
        </p:txBody>
      </p:sp>
      <p:sp>
        <p:nvSpPr>
          <p:cNvPr id="19" name="Shape 16"/>
          <p:cNvSpPr/>
          <p:nvPr/>
        </p:nvSpPr>
        <p:spPr>
          <a:xfrm>
            <a:off x="2011680" y="1874520"/>
            <a:ext cx="4572000" cy="1051560"/>
          </a:xfrm>
          <a:prstGeom prst="roundRect">
            <a:avLst>
              <a:gd name="adj" fmla="val 8696"/>
            </a:avLst>
          </a:prstGeom>
          <a:solidFill>
            <a:srgbClr val="962B7C"/>
          </a:solidFill>
          <a:ln w="12700">
            <a:solidFill>
              <a:srgbClr val="962B7C"/>
            </a:solidFill>
            <a:prstDash val="solid"/>
          </a:ln>
        </p:spPr>
      </p:sp>
      <p:sp>
        <p:nvSpPr>
          <p:cNvPr id="20" name="Text 17"/>
          <p:cNvSpPr txBox="1"/>
          <p:nvPr/>
        </p:nvSpPr>
        <p:spPr>
          <a:xfrm>
            <a:off x="2240280" y="1874520"/>
            <a:ext cx="4114800" cy="105156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Institutionalizing</a:t>
            </a:r>
            <a:endParaRPr lang="en-US" sz="1800" dirty="0"/>
          </a:p>
          <a:p>
            <a:pPr algn="ctr" indent="0" marL="0">
              <a:buNone/>
            </a:pPr>
            <a:r>
              <a:rPr lang="en-US" sz="1200" dirty="0">
                <a:solidFill>
                  <a:srgbClr val="FFFFFF"/>
                </a:solidFill>
                <a:latin typeface="Alexandria" pitchFamily="34" charset="0"/>
                <a:ea typeface="Alexandria" pitchFamily="34" charset="-122"/>
                <a:cs typeface="Alexandria" pitchFamily="34" charset="-120"/>
              </a:rPr>
              <a:t>embedding — quy tắc, chuẩn mực → đồng kiến tạo thành cách làm việc</a:t>
            </a:r>
            <a:endParaRPr lang="en-US" sz="1800" dirty="0"/>
          </a:p>
        </p:txBody>
      </p:sp>
      <p:sp>
        <p:nvSpPr>
          <p:cNvPr id="21" name="Shape 18"/>
          <p:cNvSpPr/>
          <p:nvPr/>
        </p:nvSpPr>
        <p:spPr>
          <a:xfrm>
            <a:off x="1280160" y="3063240"/>
            <a:ext cx="6035040" cy="1051560"/>
          </a:xfrm>
          <a:prstGeom prst="roundRect">
            <a:avLst>
              <a:gd name="adj" fmla="val 8696"/>
            </a:avLst>
          </a:prstGeom>
          <a:solidFill>
            <a:srgbClr val="FF5178"/>
          </a:solidFill>
          <a:ln w="12700">
            <a:solidFill>
              <a:srgbClr val="FF5178"/>
            </a:solidFill>
            <a:prstDash val="solid"/>
          </a:ln>
        </p:spPr>
      </p:sp>
      <p:sp>
        <p:nvSpPr>
          <p:cNvPr id="22" name="Text 19"/>
          <p:cNvSpPr txBox="1"/>
          <p:nvPr/>
        </p:nvSpPr>
        <p:spPr>
          <a:xfrm>
            <a:off x="1508760" y="3063240"/>
            <a:ext cx="5577840" cy="105156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Materializing</a:t>
            </a:r>
            <a:endParaRPr lang="en-US" sz="1800" dirty="0"/>
          </a:p>
          <a:p>
            <a:pPr algn="ctr" indent="0" marL="0">
              <a:buNone/>
            </a:pPr>
            <a:r>
              <a:rPr lang="en-US" sz="1200" dirty="0">
                <a:solidFill>
                  <a:srgbClr val="FFFFFF"/>
                </a:solidFill>
                <a:latin typeface="Alexandria" pitchFamily="34" charset="0"/>
                <a:ea typeface="Alexandria" pitchFamily="34" charset="-122"/>
                <a:cs typeface="Alexandria" pitchFamily="34" charset="-120"/>
              </a:rPr>
              <a:t>co-design · co-testing · co-launching — tạo ra sản phẩm</a:t>
            </a:r>
            <a:endParaRPr lang="en-US" sz="1800" dirty="0"/>
          </a:p>
        </p:txBody>
      </p:sp>
      <p:sp>
        <p:nvSpPr>
          <p:cNvPr id="23" name="Shape 20"/>
          <p:cNvSpPr/>
          <p:nvPr/>
        </p:nvSpPr>
        <p:spPr>
          <a:xfrm>
            <a:off x="548640" y="4251960"/>
            <a:ext cx="7498080" cy="1051560"/>
          </a:xfrm>
          <a:prstGeom prst="roundRect">
            <a:avLst>
              <a:gd name="adj" fmla="val 8696"/>
            </a:avLst>
          </a:prstGeom>
          <a:solidFill>
            <a:srgbClr val="09A1E5"/>
          </a:solidFill>
          <a:ln w="12700">
            <a:solidFill>
              <a:srgbClr val="09A1E5"/>
            </a:solidFill>
            <a:prstDash val="solid"/>
          </a:ln>
        </p:spPr>
      </p:sp>
      <p:sp>
        <p:nvSpPr>
          <p:cNvPr id="24" name="Text 21"/>
          <p:cNvSpPr txBox="1"/>
          <p:nvPr/>
        </p:nvSpPr>
        <p:spPr>
          <a:xfrm>
            <a:off x="777240" y="4251960"/>
            <a:ext cx="7040880" cy="105156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Linking</a:t>
            </a:r>
            <a:endParaRPr lang="en-US" sz="1800" dirty="0"/>
          </a:p>
          <a:p>
            <a:pPr algn="ctr" indent="0" marL="0">
              <a:buNone/>
            </a:pPr>
            <a:r>
              <a:rPr lang="en-US" sz="1200" dirty="0">
                <a:solidFill>
                  <a:srgbClr val="FFFFFF"/>
                </a:solidFill>
                <a:latin typeface="Alexandria" pitchFamily="34" charset="0"/>
                <a:ea typeface="Alexandria" pitchFamily="34" charset="-122"/>
                <a:cs typeface="Alexandria" pitchFamily="34" charset="-120"/>
              </a:rPr>
              <a:t>co-diagnosis · co-ideation · co-evaluation — huy động kết nối</a:t>
            </a:r>
            <a:endParaRPr lang="en-US" sz="1800" dirty="0"/>
          </a:p>
        </p:txBody>
      </p:sp>
      <p:sp>
        <p:nvSpPr>
          <p:cNvPr id="25" name="Shape 22"/>
          <p:cNvSpPr/>
          <p:nvPr/>
        </p:nvSpPr>
        <p:spPr>
          <a:xfrm>
            <a:off x="8412480" y="1874520"/>
            <a:ext cx="3230575" cy="3429000"/>
          </a:xfrm>
          <a:prstGeom prst="roundRect">
            <a:avLst>
              <a:gd name="adj" fmla="val 3397"/>
            </a:avLst>
          </a:prstGeom>
          <a:solidFill>
            <a:srgbClr val="FFF3C4"/>
          </a:solidFill>
          <a:ln w="12700">
            <a:solidFill>
              <a:srgbClr val="FFD23B"/>
            </a:solidFill>
            <a:prstDash val="solid"/>
          </a:ln>
        </p:spPr>
      </p:sp>
      <p:sp>
        <p:nvSpPr>
          <p:cNvPr id="26" name="Text 23"/>
          <p:cNvSpPr txBox="1"/>
          <p:nvPr/>
        </p:nvSpPr>
        <p:spPr>
          <a:xfrm>
            <a:off x="8686800" y="1874520"/>
            <a:ext cx="2681935" cy="3429000"/>
          </a:xfrm>
          <a:prstGeom prst="rect">
            <a:avLst/>
          </a:prstGeom>
          <a:noFill/>
          <a:ln/>
        </p:spPr>
        <p:txBody>
          <a:bodyPr wrap="square" lIns="0" tIns="0" rIns="0" bIns="0" rtlCol="0" anchor="ctr"/>
          <a:lstStyle/>
          <a:p>
            <a:pPr indent="0" marL="0">
              <a:spcAft>
                <a:spcPts val="800"/>
              </a:spcAft>
              <a:buNone/>
            </a:pPr>
            <a:r>
              <a:rPr lang="en-US" sz="2000" b="1" i="1" dirty="0">
                <a:solidFill>
                  <a:srgbClr val="2A2238"/>
                </a:solidFill>
                <a:latin typeface="Alexandria" pitchFamily="34" charset="0"/>
                <a:ea typeface="Alexandria" pitchFamily="34" charset="-122"/>
                <a:cs typeface="Alexandria" pitchFamily="34" charset="-120"/>
              </a:rPr>
              <a:t>“sustained purposeful engagement”</a:t>
            </a:r>
            <a:endParaRPr lang="en-US" sz="2000" dirty="0"/>
          </a:p>
          <a:p>
            <a:pPr indent="0" marL="0">
              <a:spcAft>
                <a:spcPts val="800"/>
              </a:spcAft>
              <a:buNone/>
            </a:pPr>
            <a:r>
              <a:rPr lang="en-US" sz="1500" dirty="0">
                <a:solidFill>
                  <a:srgbClr val="2A2238"/>
                </a:solidFill>
                <a:latin typeface="Alexandria" pitchFamily="34" charset="0"/>
                <a:ea typeface="Alexandria" pitchFamily="34" charset="-122"/>
                <a:cs typeface="Alexandria" pitchFamily="34" charset="-120"/>
              </a:rPr>
              <a:t>gắn kết có mục đích, bền bỉ — cơ chế chung của cả ba nhóm</a:t>
            </a:r>
            <a:endParaRPr lang="en-US" sz="2000" dirty="0"/>
          </a:p>
        </p:txBody>
      </p:sp>
      <p:sp>
        <p:nvSpPr>
          <p:cNvPr id="27" name="Text 24"/>
          <p:cNvSpPr txBox="1"/>
          <p:nvPr/>
        </p:nvSpPr>
        <p:spPr>
          <a:xfrm>
            <a:off x="548640" y="5532120"/>
            <a:ext cx="11094415" cy="411480"/>
          </a:xfrm>
          <a:prstGeom prst="rect">
            <a:avLst/>
          </a:prstGeom>
          <a:noFill/>
          <a:ln/>
        </p:spPr>
        <p:txBody>
          <a:bodyPr wrap="square" lIns="0" tIns="0" rIns="0" bIns="0" rtlCol="0" anchor="ctr"/>
          <a:lstStyle/>
          <a:p>
            <a:pPr algn="ctr" indent="0" marL="0">
              <a:buNone/>
            </a:pPr>
            <a:r>
              <a:rPr lang="en-US" sz="1400" dirty="0">
                <a:solidFill>
                  <a:srgbClr val="6E6878"/>
                </a:solidFill>
                <a:latin typeface="Alexandria" pitchFamily="34" charset="0"/>
                <a:ea typeface="Alexandria" pitchFamily="34" charset="-122"/>
                <a:cs typeface="Alexandria" pitchFamily="34" charset="-120"/>
              </a:rPr>
              <a:t>Bốn thực hành của đề cương nằm ở hai tầng dưới.</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5.1 Cấu trúc CVP</a:t>
            </a:r>
            <a:endParaRPr lang="en-US" sz="1000" dirty="0"/>
          </a:p>
        </p:txBody>
      </p:sp>
      <p:sp>
        <p:nvSpPr>
          <p:cNvPr id="6" name="Shape 4"/>
          <p:cNvSpPr/>
          <p:nvPr/>
        </p:nvSpPr>
        <p:spPr>
          <a:xfrm>
            <a:off x="2990088"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5.2 Năm nguồn giá trị</a:t>
            </a:r>
            <a:endParaRPr lang="en-US" sz="1000" dirty="0"/>
          </a:p>
        </p:txBody>
      </p:sp>
      <p:sp>
        <p:nvSpPr>
          <p:cNvPr id="8" name="Shape 6"/>
          <p:cNvSpPr/>
          <p:nvPr/>
        </p:nvSpPr>
        <p:spPr>
          <a:xfrm>
            <a:off x="4988052" y="274320"/>
            <a:ext cx="1577340"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988052" y="274320"/>
            <a:ext cx="15773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5.3 Đồng kiến tạo</a:t>
            </a:r>
            <a:endParaRPr lang="en-US" sz="1000" dirty="0"/>
          </a:p>
        </p:txBody>
      </p:sp>
      <p:sp>
        <p:nvSpPr>
          <p:cNvPr id="10" name="Shape 8"/>
          <p:cNvSpPr/>
          <p:nvPr/>
        </p:nvSpPr>
        <p:spPr>
          <a:xfrm>
            <a:off x="6675120"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675120"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334670"/>
            <a:ext cx="107533" cy="268834"/>
          </a:xfrm>
          <a:prstGeom prst="rect">
            <a:avLst/>
          </a:prstGeom>
          <a:solidFill>
            <a:srgbClr val="09A1E5"/>
          </a:solidFill>
          <a:ln w="12700">
            <a:solidFill>
              <a:srgbClr val="09A1E5"/>
            </a:solidFill>
            <a:prstDash val="solid"/>
          </a:ln>
        </p:spPr>
      </p:sp>
      <p:sp>
        <p:nvSpPr>
          <p:cNvPr id="13" name="Shape 11"/>
          <p:cNvSpPr/>
          <p:nvPr/>
        </p:nvSpPr>
        <p:spPr>
          <a:xfrm>
            <a:off x="11535522" y="334670"/>
            <a:ext cx="107533" cy="268834"/>
          </a:xfrm>
          <a:prstGeom prst="rect">
            <a:avLst/>
          </a:prstGeom>
          <a:solidFill>
            <a:srgbClr val="962B7C"/>
          </a:solidFill>
          <a:ln w="12700">
            <a:solidFill>
              <a:srgbClr val="962B7C"/>
            </a:solidFill>
            <a:prstDash val="solid"/>
          </a:ln>
        </p:spPr>
      </p:sp>
      <p:sp>
        <p:nvSpPr>
          <p:cNvPr id="14" name="Shape 12"/>
          <p:cNvSpPr/>
          <p:nvPr/>
        </p:nvSpPr>
        <p:spPr>
          <a:xfrm>
            <a:off x="11259007" y="250180"/>
            <a:ext cx="384048" cy="61448"/>
          </a:xfrm>
          <a:prstGeom prst="rect">
            <a:avLst/>
          </a:prstGeom>
          <a:solidFill>
            <a:srgbClr val="FFD23B"/>
          </a:solidFill>
          <a:ln w="12700">
            <a:solidFill>
              <a:srgbClr val="FFD23B"/>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Điều kiện đầu tiên là cùng mục đích</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Blog Cranfield (Marcos) · E07 → U08 (Buổi 9): Znews (20/1/2025). Ví dụ TƯƠNG TỰ.</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21</a:t>
            </a:r>
            <a:endParaRPr lang="en-US" sz="1000" dirty="0"/>
          </a:p>
        </p:txBody>
      </p:sp>
      <p:sp>
        <p:nvSpPr>
          <p:cNvPr id="19" name="Shape 16"/>
          <p:cNvSpPr/>
          <p:nvPr/>
        </p:nvSpPr>
        <p:spPr>
          <a:xfrm>
            <a:off x="548640" y="1920240"/>
            <a:ext cx="11094415" cy="1463040"/>
          </a:xfrm>
          <a:prstGeom prst="roundRect">
            <a:avLst>
              <a:gd name="adj" fmla="val 7500"/>
            </a:avLst>
          </a:prstGeom>
          <a:solidFill>
            <a:srgbClr val="F1E1EE"/>
          </a:solidFill>
          <a:ln w="12700">
            <a:solidFill>
              <a:srgbClr val="962B7C"/>
            </a:solidFill>
            <a:prstDash val="solid"/>
          </a:ln>
        </p:spPr>
      </p:sp>
      <p:sp>
        <p:nvSpPr>
          <p:cNvPr id="20" name="Text 17"/>
          <p:cNvSpPr txBox="1"/>
          <p:nvPr/>
        </p:nvSpPr>
        <p:spPr>
          <a:xfrm>
            <a:off x="914400" y="1920240"/>
            <a:ext cx="10362895" cy="1463040"/>
          </a:xfrm>
          <a:prstGeom prst="rect">
            <a:avLst/>
          </a:prstGeom>
          <a:noFill/>
          <a:ln/>
        </p:spPr>
        <p:txBody>
          <a:bodyPr wrap="square" lIns="0" tIns="0" rIns="0" bIns="0" rtlCol="0" anchor="ctr"/>
          <a:lstStyle/>
          <a:p>
            <a:pPr algn="ctr" indent="0" marL="0">
              <a:buNone/>
            </a:pPr>
            <a:r>
              <a:rPr lang="en-US" sz="2800" b="1" i="1" dirty="0">
                <a:solidFill>
                  <a:srgbClr val="962B7C"/>
                </a:solidFill>
                <a:latin typeface="Alexandria" pitchFamily="34" charset="0"/>
                <a:ea typeface="Alexandria" pitchFamily="34" charset="-122"/>
                <a:cs typeface="Alexandria" pitchFamily="34" charset="-120"/>
              </a:rPr>
              <a:t>alignment of purpose</a:t>
            </a:r>
            <a:pPr algn="ctr" indent="0" marL="0">
              <a:buNone/>
            </a:pPr>
            <a:r>
              <a:rPr lang="en-US" sz="2800" dirty="0">
                <a:solidFill>
                  <a:srgbClr val="2A2238"/>
                </a:solidFill>
                <a:latin typeface="Alexandria" pitchFamily="34" charset="0"/>
                <a:ea typeface="Alexandria" pitchFamily="34" charset="-122"/>
                <a:cs typeface="Alexandria" pitchFamily="34" charset="-120"/>
              </a:rPr>
              <a:t>  —  hai bên cùng mục tiêu</a:t>
            </a:r>
            <a:endParaRPr lang="en-US" sz="2800" dirty="0"/>
          </a:p>
        </p:txBody>
      </p:sp>
      <p:sp>
        <p:nvSpPr>
          <p:cNvPr id="21" name="Shape 18"/>
          <p:cNvSpPr/>
          <p:nvPr/>
        </p:nvSpPr>
        <p:spPr>
          <a:xfrm>
            <a:off x="548640" y="3657600"/>
            <a:ext cx="5410048" cy="2331720"/>
          </a:xfrm>
          <a:prstGeom prst="roundRect">
            <a:avLst>
              <a:gd name="adj" fmla="val 4706"/>
            </a:avLst>
          </a:prstGeom>
          <a:solidFill>
            <a:srgbClr val="FFF3C4"/>
          </a:solidFill>
          <a:ln w="12700">
            <a:solidFill>
              <a:srgbClr val="FFD23B"/>
            </a:solidFill>
            <a:prstDash val="solid"/>
          </a:ln>
        </p:spPr>
      </p:sp>
      <p:sp>
        <p:nvSpPr>
          <p:cNvPr id="22" name="Text 19"/>
          <p:cNvSpPr txBox="1"/>
          <p:nvPr/>
        </p:nvSpPr>
        <p:spPr>
          <a:xfrm>
            <a:off x="868680" y="3657600"/>
            <a:ext cx="4769968" cy="2331720"/>
          </a:xfrm>
          <a:prstGeom prst="rect">
            <a:avLst/>
          </a:prstGeom>
          <a:noFill/>
          <a:ln/>
        </p:spPr>
        <p:txBody>
          <a:bodyPr wrap="square" lIns="0" tIns="0" rIns="0" bIns="0" rtlCol="0" anchor="ctr"/>
          <a:lstStyle/>
          <a:p>
            <a:pPr indent="0" marL="0">
              <a:spcAft>
                <a:spcPts val="600"/>
              </a:spcAft>
              <a:buNone/>
            </a:pPr>
            <a:r>
              <a:rPr lang="en-US" sz="1900" b="1" dirty="0">
                <a:solidFill>
                  <a:srgbClr val="2A2238"/>
                </a:solidFill>
                <a:latin typeface="Alexandria" pitchFamily="34" charset="0"/>
                <a:ea typeface="Alexandria" pitchFamily="34" charset="-122"/>
                <a:cs typeface="Alexandria" pitchFamily="34" charset="-120"/>
              </a:rPr>
              <a:t>Tốn công → dành cho Key Account</a:t>
            </a:r>
            <a:endParaRPr lang="en-US" sz="1900" dirty="0"/>
          </a:p>
          <a:p>
            <a:pPr indent="0" marL="0">
              <a:spcAft>
                <a:spcPts val="600"/>
              </a:spcAft>
              <a:buNone/>
            </a:pPr>
            <a:r>
              <a:rPr lang="en-US" sz="1500" dirty="0">
                <a:solidFill>
                  <a:srgbClr val="2A2238"/>
                </a:solidFill>
                <a:latin typeface="Alexandria" pitchFamily="34" charset="0"/>
                <a:ea typeface="Alexandria" pitchFamily="34" charset="-122"/>
                <a:cs typeface="Alexandria" pitchFamily="34" charset="-120"/>
              </a:rPr>
              <a:t>nối Buổi 2: chỉ chọn tối đa hai Key Account</a:t>
            </a:r>
            <a:endParaRPr lang="en-US" sz="1900" dirty="0"/>
          </a:p>
        </p:txBody>
      </p:sp>
      <p:sp>
        <p:nvSpPr>
          <p:cNvPr id="23" name="Shape 20"/>
          <p:cNvSpPr/>
          <p:nvPr/>
        </p:nvSpPr>
        <p:spPr>
          <a:xfrm>
            <a:off x="6233008" y="3657600"/>
            <a:ext cx="5410048" cy="2331720"/>
          </a:xfrm>
          <a:prstGeom prst="roundRect">
            <a:avLst>
              <a:gd name="adj" fmla="val 4706"/>
            </a:avLst>
          </a:prstGeom>
          <a:solidFill>
            <a:srgbClr val="DDF1FB"/>
          </a:solidFill>
          <a:ln w="12700">
            <a:solidFill>
              <a:srgbClr val="09A1E5"/>
            </a:solidFill>
            <a:prstDash val="solid"/>
          </a:ln>
        </p:spPr>
      </p:sp>
      <p:sp>
        <p:nvSpPr>
          <p:cNvPr id="24" name="Text 21"/>
          <p:cNvSpPr txBox="1"/>
          <p:nvPr/>
        </p:nvSpPr>
        <p:spPr>
          <a:xfrm>
            <a:off x="6553048" y="3657600"/>
            <a:ext cx="4769968" cy="2331720"/>
          </a:xfrm>
          <a:prstGeom prst="rect">
            <a:avLst/>
          </a:prstGeom>
          <a:noFill/>
          <a:ln/>
        </p:spPr>
        <p:txBody>
          <a:bodyPr wrap="square" lIns="0" tIns="0" rIns="0" bIns="0" rtlCol="0" anchor="ctr"/>
          <a:lstStyle/>
          <a:p>
            <a:pPr indent="0" marL="0">
              <a:spcAft>
                <a:spcPts val="600"/>
              </a:spcAft>
              <a:buNone/>
            </a:pPr>
            <a:r>
              <a:rPr lang="en-US" sz="1900" b="1" dirty="0">
                <a:solidFill>
                  <a:srgbClr val="2A2238"/>
                </a:solidFill>
                <a:latin typeface="Alexandria" pitchFamily="34" charset="0"/>
                <a:ea typeface="Alexandria" pitchFamily="34" charset="-122"/>
                <a:cs typeface="Alexandria" pitchFamily="34" charset="-120"/>
              </a:rPr>
              <a:t>Techcombank: nhà tài trợ → đồng đầu tư</a:t>
            </a:r>
            <a:endParaRPr lang="en-US" sz="1900" dirty="0"/>
          </a:p>
          <a:p>
            <a:pPr indent="0" marL="0">
              <a:spcAft>
                <a:spcPts val="600"/>
              </a:spcAft>
              <a:buNone/>
            </a:pPr>
            <a:r>
              <a:rPr lang="en-US" sz="1500" dirty="0">
                <a:solidFill>
                  <a:srgbClr val="2A2238"/>
                </a:solidFill>
                <a:latin typeface="Alexandria" pitchFamily="34" charset="0"/>
                <a:ea typeface="Alexandria" pitchFamily="34" charset="-122"/>
                <a:cs typeface="Alexandria" pitchFamily="34" charset="-120"/>
              </a:rPr>
              <a:t>đồng kiến tạo ở mức chia sẻ rủi ro – lợi ích (ví dụ tương tự)</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5.1 Cấu trúc CVP</a:t>
            </a:r>
            <a:endParaRPr lang="en-US" sz="1000" dirty="0"/>
          </a:p>
        </p:txBody>
      </p:sp>
      <p:sp>
        <p:nvSpPr>
          <p:cNvPr id="6" name="Shape 4"/>
          <p:cNvSpPr/>
          <p:nvPr/>
        </p:nvSpPr>
        <p:spPr>
          <a:xfrm>
            <a:off x="2990088"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5.2 Năm nguồn giá trị</a:t>
            </a:r>
            <a:endParaRPr lang="en-US" sz="1000" dirty="0"/>
          </a:p>
        </p:txBody>
      </p:sp>
      <p:sp>
        <p:nvSpPr>
          <p:cNvPr id="8" name="Shape 6"/>
          <p:cNvSpPr/>
          <p:nvPr/>
        </p:nvSpPr>
        <p:spPr>
          <a:xfrm>
            <a:off x="4988052" y="274320"/>
            <a:ext cx="1577340"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988052" y="274320"/>
            <a:ext cx="15773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5.3 Đồng kiến tạo</a:t>
            </a:r>
            <a:endParaRPr lang="en-US" sz="1000" dirty="0"/>
          </a:p>
        </p:txBody>
      </p:sp>
      <p:sp>
        <p:nvSpPr>
          <p:cNvPr id="10" name="Shape 8"/>
          <p:cNvSpPr/>
          <p:nvPr/>
        </p:nvSpPr>
        <p:spPr>
          <a:xfrm>
            <a:off x="6675120"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675120"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334670"/>
            <a:ext cx="107533" cy="268834"/>
          </a:xfrm>
          <a:prstGeom prst="rect">
            <a:avLst/>
          </a:prstGeom>
          <a:solidFill>
            <a:srgbClr val="09A1E5"/>
          </a:solidFill>
          <a:ln w="12700">
            <a:solidFill>
              <a:srgbClr val="09A1E5"/>
            </a:solidFill>
            <a:prstDash val="solid"/>
          </a:ln>
        </p:spPr>
      </p:sp>
      <p:sp>
        <p:nvSpPr>
          <p:cNvPr id="13" name="Shape 11"/>
          <p:cNvSpPr/>
          <p:nvPr/>
        </p:nvSpPr>
        <p:spPr>
          <a:xfrm>
            <a:off x="11535522" y="334670"/>
            <a:ext cx="107533" cy="268834"/>
          </a:xfrm>
          <a:prstGeom prst="rect">
            <a:avLst/>
          </a:prstGeom>
          <a:solidFill>
            <a:srgbClr val="962B7C"/>
          </a:solidFill>
          <a:ln w="12700">
            <a:solidFill>
              <a:srgbClr val="962B7C"/>
            </a:solidFill>
            <a:prstDash val="solid"/>
          </a:ln>
        </p:spPr>
      </p:sp>
      <p:sp>
        <p:nvSpPr>
          <p:cNvPr id="14" name="Shape 12"/>
          <p:cNvSpPr/>
          <p:nvPr/>
        </p:nvSpPr>
        <p:spPr>
          <a:xfrm>
            <a:off x="11259007" y="250180"/>
            <a:ext cx="384048" cy="61448"/>
          </a:xfrm>
          <a:prstGeom prst="rect">
            <a:avLst/>
          </a:prstGeom>
          <a:solidFill>
            <a:srgbClr val="FFD23B"/>
          </a:solidFill>
          <a:ln w="12700">
            <a:solidFill>
              <a:srgbClr val="FFD23B"/>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2 · Kế hoạch đồng kiến tạo với An Phát</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W05_activity_S6_dong_kien_tao.md · Tình huống GIẢ ĐỊNH.</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22</a:t>
            </a:r>
            <a:endParaRPr lang="en-US" sz="1000" dirty="0"/>
          </a:p>
        </p:txBody>
      </p:sp>
      <p:sp>
        <p:nvSpPr>
          <p:cNvPr id="19" name="Shape 16"/>
          <p:cNvSpPr/>
          <p:nvPr/>
        </p:nvSpPr>
        <p:spPr>
          <a:xfrm>
            <a:off x="548640" y="1783080"/>
            <a:ext cx="11094415" cy="868680"/>
          </a:xfrm>
          <a:prstGeom prst="roundRect">
            <a:avLst>
              <a:gd name="adj" fmla="val 12632"/>
            </a:avLst>
          </a:prstGeom>
          <a:solidFill>
            <a:srgbClr val="DDF1FB"/>
          </a:solidFill>
          <a:ln w="12700">
            <a:solidFill>
              <a:srgbClr val="09A1E5"/>
            </a:solidFill>
            <a:prstDash val="solid"/>
          </a:ln>
        </p:spPr>
      </p:sp>
      <p:sp>
        <p:nvSpPr>
          <p:cNvPr id="20" name="Text 17"/>
          <p:cNvSpPr txBox="1"/>
          <p:nvPr/>
        </p:nvSpPr>
        <p:spPr>
          <a:xfrm>
            <a:off x="822960" y="1783080"/>
            <a:ext cx="10545775" cy="86868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Chị Hạnh đồng ý thử chương trình khách hàng cả năm thay cho một gala; muốn An Phát tham gia từ đầu nhưng lo tốn thời gian đội An Phát. Có thể tham gia: chị Hạnh, chị Vy, chị Lan, anh Khoa, một nhóm nhỏ khách VIP.</a:t>
            </a:r>
            <a:endParaRPr lang="en-US" sz="1300" dirty="0"/>
          </a:p>
        </p:txBody>
      </p:sp>
      <p:sp>
        <p:nvSpPr>
          <p:cNvPr id="21" name="Shape 18"/>
          <p:cNvSpPr/>
          <p:nvPr/>
        </p:nvSpPr>
        <p:spPr>
          <a:xfrm>
            <a:off x="548640" y="2788920"/>
            <a:ext cx="1920240" cy="384048"/>
          </a:xfrm>
          <a:prstGeom prst="roundRect">
            <a:avLst>
              <a:gd name="adj" fmla="val 28571"/>
            </a:avLst>
          </a:prstGeom>
          <a:solidFill>
            <a:srgbClr val="FF5178"/>
          </a:solidFill>
          <a:ln w="12700">
            <a:solidFill>
              <a:srgbClr val="FF5178"/>
            </a:solidFill>
            <a:prstDash val="solid"/>
          </a:ln>
        </p:spPr>
      </p:sp>
      <p:sp>
        <p:nvSpPr>
          <p:cNvPr id="22" name="Text 19"/>
          <p:cNvSpPr txBox="1"/>
          <p:nvPr/>
        </p:nvSpPr>
        <p:spPr>
          <a:xfrm>
            <a:off x="713232" y="2788920"/>
            <a:ext cx="1591056" cy="384048"/>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Bước</a:t>
            </a:r>
            <a:endParaRPr lang="en-US" sz="1500" dirty="0"/>
          </a:p>
        </p:txBody>
      </p:sp>
      <p:sp>
        <p:nvSpPr>
          <p:cNvPr id="23" name="Shape 20"/>
          <p:cNvSpPr/>
          <p:nvPr/>
        </p:nvSpPr>
        <p:spPr>
          <a:xfrm>
            <a:off x="2560320" y="2788920"/>
            <a:ext cx="2194560" cy="384048"/>
          </a:xfrm>
          <a:prstGeom prst="roundRect">
            <a:avLst>
              <a:gd name="adj" fmla="val 28571"/>
            </a:avLst>
          </a:prstGeom>
          <a:solidFill>
            <a:srgbClr val="F3F0E6"/>
          </a:solidFill>
          <a:ln w="12700">
            <a:solidFill>
              <a:srgbClr val="F3F0E6"/>
            </a:solidFill>
            <a:prstDash val="solid"/>
          </a:ln>
        </p:spPr>
      </p:sp>
      <p:sp>
        <p:nvSpPr>
          <p:cNvPr id="24" name="Text 21"/>
          <p:cNvSpPr txBox="1"/>
          <p:nvPr/>
        </p:nvSpPr>
        <p:spPr>
          <a:xfrm>
            <a:off x="2724912" y="2788920"/>
            <a:ext cx="1865376" cy="384048"/>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Làm gì</a:t>
            </a:r>
            <a:endParaRPr lang="en-US" sz="1500" dirty="0"/>
          </a:p>
        </p:txBody>
      </p:sp>
      <p:sp>
        <p:nvSpPr>
          <p:cNvPr id="25" name="Shape 22"/>
          <p:cNvSpPr/>
          <p:nvPr/>
        </p:nvSpPr>
        <p:spPr>
          <a:xfrm>
            <a:off x="4846320" y="2788920"/>
            <a:ext cx="2286000" cy="384048"/>
          </a:xfrm>
          <a:prstGeom prst="roundRect">
            <a:avLst>
              <a:gd name="adj" fmla="val 28571"/>
            </a:avLst>
          </a:prstGeom>
          <a:solidFill>
            <a:srgbClr val="F3F0E6"/>
          </a:solidFill>
          <a:ln w="12700">
            <a:solidFill>
              <a:srgbClr val="F3F0E6"/>
            </a:solidFill>
            <a:prstDash val="solid"/>
          </a:ln>
        </p:spPr>
      </p:sp>
      <p:sp>
        <p:nvSpPr>
          <p:cNvPr id="26" name="Text 23"/>
          <p:cNvSpPr txBox="1"/>
          <p:nvPr/>
        </p:nvSpPr>
        <p:spPr>
          <a:xfrm>
            <a:off x="5010912" y="2788920"/>
            <a:ext cx="1956816" cy="384048"/>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Ai · bao lâu</a:t>
            </a:r>
            <a:endParaRPr lang="en-US" sz="1500" dirty="0"/>
          </a:p>
        </p:txBody>
      </p:sp>
      <p:sp>
        <p:nvSpPr>
          <p:cNvPr id="27" name="Shape 24"/>
          <p:cNvSpPr/>
          <p:nvPr/>
        </p:nvSpPr>
        <p:spPr>
          <a:xfrm>
            <a:off x="7223760" y="2788920"/>
            <a:ext cx="1645920" cy="384048"/>
          </a:xfrm>
          <a:prstGeom prst="roundRect">
            <a:avLst>
              <a:gd name="adj" fmla="val 28571"/>
            </a:avLst>
          </a:prstGeom>
          <a:solidFill>
            <a:srgbClr val="F3F0E6"/>
          </a:solidFill>
          <a:ln w="12700">
            <a:solidFill>
              <a:srgbClr val="F3F0E6"/>
            </a:solidFill>
            <a:prstDash val="solid"/>
          </a:ln>
        </p:spPr>
      </p:sp>
      <p:sp>
        <p:nvSpPr>
          <p:cNvPr id="28" name="Text 25"/>
          <p:cNvSpPr txBox="1"/>
          <p:nvPr/>
        </p:nvSpPr>
        <p:spPr>
          <a:xfrm>
            <a:off x="7388352" y="2788920"/>
            <a:ext cx="1316736" cy="384048"/>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Đầu ra</a:t>
            </a:r>
            <a:endParaRPr lang="en-US" sz="1500" dirty="0"/>
          </a:p>
        </p:txBody>
      </p:sp>
      <p:sp>
        <p:nvSpPr>
          <p:cNvPr id="29" name="Shape 26"/>
          <p:cNvSpPr/>
          <p:nvPr/>
        </p:nvSpPr>
        <p:spPr>
          <a:xfrm>
            <a:off x="8961120" y="2788920"/>
            <a:ext cx="2590495" cy="384048"/>
          </a:xfrm>
          <a:prstGeom prst="roundRect">
            <a:avLst>
              <a:gd name="adj" fmla="val 28571"/>
            </a:avLst>
          </a:prstGeom>
          <a:solidFill>
            <a:srgbClr val="F3F0E6"/>
          </a:solidFill>
          <a:ln w="12700">
            <a:solidFill>
              <a:srgbClr val="F3F0E6"/>
            </a:solidFill>
            <a:prstDash val="solid"/>
          </a:ln>
        </p:spPr>
      </p:sp>
      <p:sp>
        <p:nvSpPr>
          <p:cNvPr id="30" name="Text 27"/>
          <p:cNvSpPr txBox="1"/>
          <p:nvPr/>
        </p:nvSpPr>
        <p:spPr>
          <a:xfrm>
            <a:off x="9125712" y="2788920"/>
            <a:ext cx="2261311" cy="384048"/>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Nguồn giá trị</a:t>
            </a:r>
            <a:endParaRPr lang="en-US" sz="1500" dirty="0"/>
          </a:p>
        </p:txBody>
      </p:sp>
      <p:sp>
        <p:nvSpPr>
          <p:cNvPr id="31" name="Shape 28"/>
          <p:cNvSpPr/>
          <p:nvPr/>
        </p:nvSpPr>
        <p:spPr>
          <a:xfrm>
            <a:off x="548640" y="3282696"/>
            <a:ext cx="11002975" cy="384048"/>
          </a:xfrm>
          <a:prstGeom prst="rect">
            <a:avLst/>
          </a:prstGeom>
          <a:solidFill>
            <a:srgbClr val="F3F0E6"/>
          </a:solidFill>
          <a:ln w="12700">
            <a:solidFill>
              <a:srgbClr val="F3F0E6"/>
            </a:solidFill>
            <a:prstDash val="solid"/>
          </a:ln>
        </p:spPr>
      </p:sp>
      <p:sp>
        <p:nvSpPr>
          <p:cNvPr id="32" name="Text 29"/>
          <p:cNvSpPr txBox="1"/>
          <p:nvPr/>
        </p:nvSpPr>
        <p:spPr>
          <a:xfrm>
            <a:off x="713232" y="3282696"/>
            <a:ext cx="1682496" cy="384048"/>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Co-diagnosis</a:t>
            </a:r>
            <a:endParaRPr lang="en-US" sz="1300" dirty="0"/>
          </a:p>
        </p:txBody>
      </p:sp>
      <p:sp>
        <p:nvSpPr>
          <p:cNvPr id="33" name="Text 30"/>
          <p:cNvSpPr txBox="1"/>
          <p:nvPr/>
        </p:nvSpPr>
        <p:spPr>
          <a:xfrm>
            <a:off x="2724912" y="3282696"/>
            <a:ext cx="1956816" cy="384048"/>
          </a:xfrm>
          <a:prstGeom prst="rect">
            <a:avLst/>
          </a:prstGeom>
          <a:noFill/>
          <a:ln/>
        </p:spPr>
        <p:txBody>
          <a:bodyPr wrap="square" lIns="0" tIns="0" rIns="0" bIns="0" rtlCol="0" anchor="ctr"/>
          <a:lstStyle/>
          <a:p>
            <a:pPr indent="0" marL="0">
              <a:buNone/>
            </a:pPr>
            <a:endParaRPr lang="en-US" sz="1300" dirty="0"/>
          </a:p>
        </p:txBody>
      </p:sp>
      <p:sp>
        <p:nvSpPr>
          <p:cNvPr id="34" name="Text 31"/>
          <p:cNvSpPr txBox="1"/>
          <p:nvPr/>
        </p:nvSpPr>
        <p:spPr>
          <a:xfrm>
            <a:off x="5010912" y="3282696"/>
            <a:ext cx="2048256" cy="384048"/>
          </a:xfrm>
          <a:prstGeom prst="rect">
            <a:avLst/>
          </a:prstGeom>
          <a:noFill/>
          <a:ln/>
        </p:spPr>
        <p:txBody>
          <a:bodyPr wrap="square" lIns="0" tIns="0" rIns="0" bIns="0" rtlCol="0" anchor="ctr"/>
          <a:lstStyle/>
          <a:p>
            <a:pPr indent="0" marL="0">
              <a:buNone/>
            </a:pPr>
            <a:endParaRPr lang="en-US" sz="1300" dirty="0"/>
          </a:p>
        </p:txBody>
      </p:sp>
      <p:sp>
        <p:nvSpPr>
          <p:cNvPr id="35" name="Text 32"/>
          <p:cNvSpPr txBox="1"/>
          <p:nvPr/>
        </p:nvSpPr>
        <p:spPr>
          <a:xfrm>
            <a:off x="7388352" y="3282696"/>
            <a:ext cx="1408176" cy="384048"/>
          </a:xfrm>
          <a:prstGeom prst="rect">
            <a:avLst/>
          </a:prstGeom>
          <a:noFill/>
          <a:ln/>
        </p:spPr>
        <p:txBody>
          <a:bodyPr wrap="square" lIns="0" tIns="0" rIns="0" bIns="0" rtlCol="0" anchor="ctr"/>
          <a:lstStyle/>
          <a:p>
            <a:pPr indent="0" marL="0">
              <a:buNone/>
            </a:pPr>
            <a:endParaRPr lang="en-US" sz="1300" dirty="0"/>
          </a:p>
        </p:txBody>
      </p:sp>
      <p:sp>
        <p:nvSpPr>
          <p:cNvPr id="36" name="Text 33"/>
          <p:cNvSpPr txBox="1"/>
          <p:nvPr/>
        </p:nvSpPr>
        <p:spPr>
          <a:xfrm>
            <a:off x="9125712" y="3282696"/>
            <a:ext cx="2352751" cy="384048"/>
          </a:xfrm>
          <a:prstGeom prst="rect">
            <a:avLst/>
          </a:prstGeom>
          <a:noFill/>
          <a:ln/>
        </p:spPr>
        <p:txBody>
          <a:bodyPr wrap="square" lIns="0" tIns="0" rIns="0" bIns="0" rtlCol="0" anchor="ctr"/>
          <a:lstStyle/>
          <a:p>
            <a:pPr indent="0" marL="0">
              <a:buNone/>
            </a:pPr>
            <a:endParaRPr lang="en-US" sz="1300" dirty="0"/>
          </a:p>
        </p:txBody>
      </p:sp>
      <p:sp>
        <p:nvSpPr>
          <p:cNvPr id="37" name="Text 34"/>
          <p:cNvSpPr txBox="1"/>
          <p:nvPr/>
        </p:nvSpPr>
        <p:spPr>
          <a:xfrm>
            <a:off x="713232" y="3721608"/>
            <a:ext cx="1682496" cy="384048"/>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Co-ideation</a:t>
            </a:r>
            <a:endParaRPr lang="en-US" sz="1300" dirty="0"/>
          </a:p>
        </p:txBody>
      </p:sp>
      <p:sp>
        <p:nvSpPr>
          <p:cNvPr id="38" name="Text 35"/>
          <p:cNvSpPr txBox="1"/>
          <p:nvPr/>
        </p:nvSpPr>
        <p:spPr>
          <a:xfrm>
            <a:off x="2724912" y="3721608"/>
            <a:ext cx="1956816" cy="384048"/>
          </a:xfrm>
          <a:prstGeom prst="rect">
            <a:avLst/>
          </a:prstGeom>
          <a:noFill/>
          <a:ln/>
        </p:spPr>
        <p:txBody>
          <a:bodyPr wrap="square" lIns="0" tIns="0" rIns="0" bIns="0" rtlCol="0" anchor="ctr"/>
          <a:lstStyle/>
          <a:p>
            <a:pPr indent="0" marL="0">
              <a:buNone/>
            </a:pPr>
            <a:endParaRPr lang="en-US" sz="1300" dirty="0"/>
          </a:p>
        </p:txBody>
      </p:sp>
      <p:sp>
        <p:nvSpPr>
          <p:cNvPr id="39" name="Text 36"/>
          <p:cNvSpPr txBox="1"/>
          <p:nvPr/>
        </p:nvSpPr>
        <p:spPr>
          <a:xfrm>
            <a:off x="5010912" y="3721608"/>
            <a:ext cx="2048256" cy="384048"/>
          </a:xfrm>
          <a:prstGeom prst="rect">
            <a:avLst/>
          </a:prstGeom>
          <a:noFill/>
          <a:ln/>
        </p:spPr>
        <p:txBody>
          <a:bodyPr wrap="square" lIns="0" tIns="0" rIns="0" bIns="0" rtlCol="0" anchor="ctr"/>
          <a:lstStyle/>
          <a:p>
            <a:pPr indent="0" marL="0">
              <a:buNone/>
            </a:pPr>
            <a:endParaRPr lang="en-US" sz="1300" dirty="0"/>
          </a:p>
        </p:txBody>
      </p:sp>
      <p:sp>
        <p:nvSpPr>
          <p:cNvPr id="40" name="Text 37"/>
          <p:cNvSpPr txBox="1"/>
          <p:nvPr/>
        </p:nvSpPr>
        <p:spPr>
          <a:xfrm>
            <a:off x="7388352" y="3721608"/>
            <a:ext cx="1408176" cy="384048"/>
          </a:xfrm>
          <a:prstGeom prst="rect">
            <a:avLst/>
          </a:prstGeom>
          <a:noFill/>
          <a:ln/>
        </p:spPr>
        <p:txBody>
          <a:bodyPr wrap="square" lIns="0" tIns="0" rIns="0" bIns="0" rtlCol="0" anchor="ctr"/>
          <a:lstStyle/>
          <a:p>
            <a:pPr indent="0" marL="0">
              <a:buNone/>
            </a:pPr>
            <a:endParaRPr lang="en-US" sz="1300" dirty="0"/>
          </a:p>
        </p:txBody>
      </p:sp>
      <p:sp>
        <p:nvSpPr>
          <p:cNvPr id="41" name="Text 38"/>
          <p:cNvSpPr txBox="1"/>
          <p:nvPr/>
        </p:nvSpPr>
        <p:spPr>
          <a:xfrm>
            <a:off x="9125712" y="3721608"/>
            <a:ext cx="2352751" cy="384048"/>
          </a:xfrm>
          <a:prstGeom prst="rect">
            <a:avLst/>
          </a:prstGeom>
          <a:noFill/>
          <a:ln/>
        </p:spPr>
        <p:txBody>
          <a:bodyPr wrap="square" lIns="0" tIns="0" rIns="0" bIns="0" rtlCol="0" anchor="ctr"/>
          <a:lstStyle/>
          <a:p>
            <a:pPr indent="0" marL="0">
              <a:buNone/>
            </a:pPr>
            <a:endParaRPr lang="en-US" sz="1300" dirty="0"/>
          </a:p>
        </p:txBody>
      </p:sp>
      <p:sp>
        <p:nvSpPr>
          <p:cNvPr id="42" name="Shape 39"/>
          <p:cNvSpPr/>
          <p:nvPr/>
        </p:nvSpPr>
        <p:spPr>
          <a:xfrm>
            <a:off x="548640" y="4160520"/>
            <a:ext cx="11002975" cy="384048"/>
          </a:xfrm>
          <a:prstGeom prst="rect">
            <a:avLst/>
          </a:prstGeom>
          <a:solidFill>
            <a:srgbClr val="F3F0E6"/>
          </a:solidFill>
          <a:ln w="12700">
            <a:solidFill>
              <a:srgbClr val="F3F0E6"/>
            </a:solidFill>
            <a:prstDash val="solid"/>
          </a:ln>
        </p:spPr>
      </p:sp>
      <p:sp>
        <p:nvSpPr>
          <p:cNvPr id="43" name="Text 40"/>
          <p:cNvSpPr txBox="1"/>
          <p:nvPr/>
        </p:nvSpPr>
        <p:spPr>
          <a:xfrm>
            <a:off x="713232" y="4160520"/>
            <a:ext cx="1682496" cy="384048"/>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Co-design</a:t>
            </a:r>
            <a:endParaRPr lang="en-US" sz="1300" dirty="0"/>
          </a:p>
        </p:txBody>
      </p:sp>
      <p:sp>
        <p:nvSpPr>
          <p:cNvPr id="44" name="Text 41"/>
          <p:cNvSpPr txBox="1"/>
          <p:nvPr/>
        </p:nvSpPr>
        <p:spPr>
          <a:xfrm>
            <a:off x="2724912" y="4160520"/>
            <a:ext cx="1956816" cy="384048"/>
          </a:xfrm>
          <a:prstGeom prst="rect">
            <a:avLst/>
          </a:prstGeom>
          <a:noFill/>
          <a:ln/>
        </p:spPr>
        <p:txBody>
          <a:bodyPr wrap="square" lIns="0" tIns="0" rIns="0" bIns="0" rtlCol="0" anchor="ctr"/>
          <a:lstStyle/>
          <a:p>
            <a:pPr indent="0" marL="0">
              <a:buNone/>
            </a:pPr>
            <a:endParaRPr lang="en-US" sz="1300" dirty="0"/>
          </a:p>
        </p:txBody>
      </p:sp>
      <p:sp>
        <p:nvSpPr>
          <p:cNvPr id="45" name="Text 42"/>
          <p:cNvSpPr txBox="1"/>
          <p:nvPr/>
        </p:nvSpPr>
        <p:spPr>
          <a:xfrm>
            <a:off x="5010912" y="4160520"/>
            <a:ext cx="2048256" cy="384048"/>
          </a:xfrm>
          <a:prstGeom prst="rect">
            <a:avLst/>
          </a:prstGeom>
          <a:noFill/>
          <a:ln/>
        </p:spPr>
        <p:txBody>
          <a:bodyPr wrap="square" lIns="0" tIns="0" rIns="0" bIns="0" rtlCol="0" anchor="ctr"/>
          <a:lstStyle/>
          <a:p>
            <a:pPr indent="0" marL="0">
              <a:buNone/>
            </a:pPr>
            <a:endParaRPr lang="en-US" sz="1300" dirty="0"/>
          </a:p>
        </p:txBody>
      </p:sp>
      <p:sp>
        <p:nvSpPr>
          <p:cNvPr id="46" name="Text 43"/>
          <p:cNvSpPr txBox="1"/>
          <p:nvPr/>
        </p:nvSpPr>
        <p:spPr>
          <a:xfrm>
            <a:off x="7388352" y="4160520"/>
            <a:ext cx="1408176" cy="384048"/>
          </a:xfrm>
          <a:prstGeom prst="rect">
            <a:avLst/>
          </a:prstGeom>
          <a:noFill/>
          <a:ln/>
        </p:spPr>
        <p:txBody>
          <a:bodyPr wrap="square" lIns="0" tIns="0" rIns="0" bIns="0" rtlCol="0" anchor="ctr"/>
          <a:lstStyle/>
          <a:p>
            <a:pPr indent="0" marL="0">
              <a:buNone/>
            </a:pPr>
            <a:endParaRPr lang="en-US" sz="1300" dirty="0"/>
          </a:p>
        </p:txBody>
      </p:sp>
      <p:sp>
        <p:nvSpPr>
          <p:cNvPr id="47" name="Text 44"/>
          <p:cNvSpPr txBox="1"/>
          <p:nvPr/>
        </p:nvSpPr>
        <p:spPr>
          <a:xfrm>
            <a:off x="9125712" y="4160520"/>
            <a:ext cx="2352751" cy="384048"/>
          </a:xfrm>
          <a:prstGeom prst="rect">
            <a:avLst/>
          </a:prstGeom>
          <a:noFill/>
          <a:ln/>
        </p:spPr>
        <p:txBody>
          <a:bodyPr wrap="square" lIns="0" tIns="0" rIns="0" bIns="0" rtlCol="0" anchor="ctr"/>
          <a:lstStyle/>
          <a:p>
            <a:pPr indent="0" marL="0">
              <a:buNone/>
            </a:pPr>
            <a:endParaRPr lang="en-US" sz="1300" dirty="0"/>
          </a:p>
        </p:txBody>
      </p:sp>
      <p:sp>
        <p:nvSpPr>
          <p:cNvPr id="48" name="Text 45"/>
          <p:cNvSpPr txBox="1"/>
          <p:nvPr/>
        </p:nvSpPr>
        <p:spPr>
          <a:xfrm>
            <a:off x="713232" y="4599432"/>
            <a:ext cx="1682496" cy="384048"/>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Co-testing</a:t>
            </a:r>
            <a:endParaRPr lang="en-US" sz="1300" dirty="0"/>
          </a:p>
        </p:txBody>
      </p:sp>
      <p:sp>
        <p:nvSpPr>
          <p:cNvPr id="49" name="Text 46"/>
          <p:cNvSpPr txBox="1"/>
          <p:nvPr/>
        </p:nvSpPr>
        <p:spPr>
          <a:xfrm>
            <a:off x="2724912" y="4599432"/>
            <a:ext cx="1956816" cy="384048"/>
          </a:xfrm>
          <a:prstGeom prst="rect">
            <a:avLst/>
          </a:prstGeom>
          <a:noFill/>
          <a:ln/>
        </p:spPr>
        <p:txBody>
          <a:bodyPr wrap="square" lIns="0" tIns="0" rIns="0" bIns="0" rtlCol="0" anchor="ctr"/>
          <a:lstStyle/>
          <a:p>
            <a:pPr indent="0" marL="0">
              <a:buNone/>
            </a:pPr>
            <a:endParaRPr lang="en-US" sz="1300" dirty="0"/>
          </a:p>
        </p:txBody>
      </p:sp>
      <p:sp>
        <p:nvSpPr>
          <p:cNvPr id="50" name="Text 47"/>
          <p:cNvSpPr txBox="1"/>
          <p:nvPr/>
        </p:nvSpPr>
        <p:spPr>
          <a:xfrm>
            <a:off x="5010912" y="4599432"/>
            <a:ext cx="2048256" cy="384048"/>
          </a:xfrm>
          <a:prstGeom prst="rect">
            <a:avLst/>
          </a:prstGeom>
          <a:noFill/>
          <a:ln/>
        </p:spPr>
        <p:txBody>
          <a:bodyPr wrap="square" lIns="0" tIns="0" rIns="0" bIns="0" rtlCol="0" anchor="ctr"/>
          <a:lstStyle/>
          <a:p>
            <a:pPr indent="0" marL="0">
              <a:buNone/>
            </a:pPr>
            <a:endParaRPr lang="en-US" sz="1300" dirty="0"/>
          </a:p>
        </p:txBody>
      </p:sp>
      <p:sp>
        <p:nvSpPr>
          <p:cNvPr id="51" name="Text 48"/>
          <p:cNvSpPr txBox="1"/>
          <p:nvPr/>
        </p:nvSpPr>
        <p:spPr>
          <a:xfrm>
            <a:off x="7388352" y="4599432"/>
            <a:ext cx="1408176" cy="384048"/>
          </a:xfrm>
          <a:prstGeom prst="rect">
            <a:avLst/>
          </a:prstGeom>
          <a:noFill/>
          <a:ln/>
        </p:spPr>
        <p:txBody>
          <a:bodyPr wrap="square" lIns="0" tIns="0" rIns="0" bIns="0" rtlCol="0" anchor="ctr"/>
          <a:lstStyle/>
          <a:p>
            <a:pPr indent="0" marL="0">
              <a:buNone/>
            </a:pPr>
            <a:endParaRPr lang="en-US" sz="1300" dirty="0"/>
          </a:p>
        </p:txBody>
      </p:sp>
      <p:sp>
        <p:nvSpPr>
          <p:cNvPr id="52" name="Text 49"/>
          <p:cNvSpPr txBox="1"/>
          <p:nvPr/>
        </p:nvSpPr>
        <p:spPr>
          <a:xfrm>
            <a:off x="9125712" y="4599432"/>
            <a:ext cx="2352751" cy="384048"/>
          </a:xfrm>
          <a:prstGeom prst="rect">
            <a:avLst/>
          </a:prstGeom>
          <a:noFill/>
          <a:ln/>
        </p:spPr>
        <p:txBody>
          <a:bodyPr wrap="square" lIns="0" tIns="0" rIns="0" bIns="0" rtlCol="0" anchor="ctr"/>
          <a:lstStyle/>
          <a:p>
            <a:pPr indent="0" marL="0">
              <a:buNone/>
            </a:pPr>
            <a:endParaRPr lang="en-US" sz="1300" dirty="0"/>
          </a:p>
        </p:txBody>
      </p:sp>
      <p:sp>
        <p:nvSpPr>
          <p:cNvPr id="53" name="Shape 50"/>
          <p:cNvSpPr/>
          <p:nvPr/>
        </p:nvSpPr>
        <p:spPr>
          <a:xfrm>
            <a:off x="548640" y="5120640"/>
            <a:ext cx="731520" cy="731520"/>
          </a:xfrm>
          <a:prstGeom prst="ellipse">
            <a:avLst/>
          </a:prstGeom>
          <a:solidFill>
            <a:srgbClr val="FF5178"/>
          </a:solidFill>
          <a:ln w="12700">
            <a:solidFill>
              <a:srgbClr val="FF5178"/>
            </a:solidFill>
            <a:prstDash val="solid"/>
          </a:ln>
        </p:spPr>
      </p:sp>
      <p:sp>
        <p:nvSpPr>
          <p:cNvPr id="54" name="Text 51"/>
          <p:cNvSpPr txBox="1"/>
          <p:nvPr/>
        </p:nvSpPr>
        <p:spPr>
          <a:xfrm>
            <a:off x="548640" y="5120640"/>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13’</a:t>
            </a:r>
            <a:endParaRPr lang="en-US" sz="1600" dirty="0"/>
          </a:p>
        </p:txBody>
      </p:sp>
      <p:sp>
        <p:nvSpPr>
          <p:cNvPr id="55" name="Text 52"/>
          <p:cNvSpPr txBox="1"/>
          <p:nvPr/>
        </p:nvSpPr>
        <p:spPr>
          <a:xfrm>
            <a:off x="1417320" y="5029200"/>
            <a:ext cx="2646578" cy="91440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Kế hoạch 4 bước + 1 điều kiện thành công</a:t>
            </a:r>
            <a:endParaRPr lang="en-US" sz="1300" dirty="0"/>
          </a:p>
        </p:txBody>
      </p:sp>
      <p:sp>
        <p:nvSpPr>
          <p:cNvPr id="56" name="Shape 53"/>
          <p:cNvSpPr/>
          <p:nvPr/>
        </p:nvSpPr>
        <p:spPr>
          <a:xfrm>
            <a:off x="4338218" y="5120640"/>
            <a:ext cx="731520" cy="731520"/>
          </a:xfrm>
          <a:prstGeom prst="ellipse">
            <a:avLst/>
          </a:prstGeom>
          <a:solidFill>
            <a:srgbClr val="09A1E5"/>
          </a:solidFill>
          <a:ln w="12700">
            <a:solidFill>
              <a:srgbClr val="09A1E5"/>
            </a:solidFill>
            <a:prstDash val="solid"/>
          </a:ln>
        </p:spPr>
      </p:sp>
      <p:sp>
        <p:nvSpPr>
          <p:cNvPr id="57" name="Text 54"/>
          <p:cNvSpPr txBox="1"/>
          <p:nvPr/>
        </p:nvSpPr>
        <p:spPr>
          <a:xfrm>
            <a:off x="4338218" y="5120640"/>
            <a:ext cx="731520"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2×4’</a:t>
            </a:r>
            <a:endParaRPr lang="en-US" sz="1300" dirty="0"/>
          </a:p>
        </p:txBody>
      </p:sp>
      <p:sp>
        <p:nvSpPr>
          <p:cNvPr id="58" name="Text 55"/>
          <p:cNvSpPr txBox="1"/>
          <p:nvPr/>
        </p:nvSpPr>
        <p:spPr>
          <a:xfrm>
            <a:off x="5206898" y="5029200"/>
            <a:ext cx="2646578" cy="91440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Xoay trạm · vai chị Hạnh · 🟨 câu hỏi · 🟥 lo ngại</a:t>
            </a:r>
            <a:endParaRPr lang="en-US" sz="1300" dirty="0"/>
          </a:p>
        </p:txBody>
      </p:sp>
      <p:sp>
        <p:nvSpPr>
          <p:cNvPr id="59" name="Shape 56"/>
          <p:cNvSpPr/>
          <p:nvPr/>
        </p:nvSpPr>
        <p:spPr>
          <a:xfrm>
            <a:off x="8127797" y="5120640"/>
            <a:ext cx="731520" cy="731520"/>
          </a:xfrm>
          <a:prstGeom prst="ellipse">
            <a:avLst/>
          </a:prstGeom>
          <a:solidFill>
            <a:srgbClr val="49B296"/>
          </a:solidFill>
          <a:ln w="12700">
            <a:solidFill>
              <a:srgbClr val="49B296"/>
            </a:solidFill>
            <a:prstDash val="solid"/>
          </a:ln>
        </p:spPr>
      </p:sp>
      <p:sp>
        <p:nvSpPr>
          <p:cNvPr id="60" name="Text 57"/>
          <p:cNvSpPr txBox="1"/>
          <p:nvPr/>
        </p:nvSpPr>
        <p:spPr>
          <a:xfrm>
            <a:off x="8127797" y="5120640"/>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6’</a:t>
            </a:r>
            <a:endParaRPr lang="en-US" sz="1600" dirty="0"/>
          </a:p>
        </p:txBody>
      </p:sp>
      <p:sp>
        <p:nvSpPr>
          <p:cNvPr id="61" name="Text 58"/>
          <p:cNvSpPr txBox="1"/>
          <p:nvPr/>
        </p:nvSpPr>
        <p:spPr>
          <a:xfrm>
            <a:off x="8996477" y="5029200"/>
            <a:ext cx="2646578" cy="91440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Về bàn, sửa một bước</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5.1 Cấu trúc CVP</a:t>
            </a:r>
            <a:endParaRPr lang="en-US" sz="1000" dirty="0"/>
          </a:p>
        </p:txBody>
      </p:sp>
      <p:sp>
        <p:nvSpPr>
          <p:cNvPr id="6" name="Shape 4"/>
          <p:cNvSpPr/>
          <p:nvPr/>
        </p:nvSpPr>
        <p:spPr>
          <a:xfrm>
            <a:off x="2990088"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5.2 Năm nguồn giá trị</a:t>
            </a:r>
            <a:endParaRPr lang="en-US" sz="1000" dirty="0"/>
          </a:p>
        </p:txBody>
      </p:sp>
      <p:sp>
        <p:nvSpPr>
          <p:cNvPr id="8" name="Shape 6"/>
          <p:cNvSpPr/>
          <p:nvPr/>
        </p:nvSpPr>
        <p:spPr>
          <a:xfrm>
            <a:off x="4988052" y="274320"/>
            <a:ext cx="157734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5.3 Đồng kiến tạo</a:t>
            </a:r>
            <a:endParaRPr lang="en-US" sz="1000" dirty="0"/>
          </a:p>
        </p:txBody>
      </p:sp>
      <p:sp>
        <p:nvSpPr>
          <p:cNvPr id="10" name="Shape 8"/>
          <p:cNvSpPr/>
          <p:nvPr/>
        </p:nvSpPr>
        <p:spPr>
          <a:xfrm>
            <a:off x="6675120"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675120"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334670"/>
            <a:ext cx="107533" cy="268834"/>
          </a:xfrm>
          <a:prstGeom prst="rect">
            <a:avLst/>
          </a:prstGeom>
          <a:solidFill>
            <a:srgbClr val="09A1E5"/>
          </a:solidFill>
          <a:ln w="12700">
            <a:solidFill>
              <a:srgbClr val="09A1E5"/>
            </a:solidFill>
            <a:prstDash val="solid"/>
          </a:ln>
        </p:spPr>
      </p:sp>
      <p:sp>
        <p:nvSpPr>
          <p:cNvPr id="13" name="Shape 11"/>
          <p:cNvSpPr/>
          <p:nvPr/>
        </p:nvSpPr>
        <p:spPr>
          <a:xfrm>
            <a:off x="11535522" y="334670"/>
            <a:ext cx="107533" cy="268834"/>
          </a:xfrm>
          <a:prstGeom prst="rect">
            <a:avLst/>
          </a:prstGeom>
          <a:solidFill>
            <a:srgbClr val="962B7C"/>
          </a:solidFill>
          <a:ln w="12700">
            <a:solidFill>
              <a:srgbClr val="962B7C"/>
            </a:solidFill>
            <a:prstDash val="solid"/>
          </a:ln>
        </p:spPr>
      </p:sp>
      <p:sp>
        <p:nvSpPr>
          <p:cNvPr id="14" name="Shape 12"/>
          <p:cNvSpPr/>
          <p:nvPr/>
        </p:nvSpPr>
        <p:spPr>
          <a:xfrm>
            <a:off x="11259007" y="250180"/>
            <a:ext cx="384048" cy="61448"/>
          </a:xfrm>
          <a:prstGeom prst="rect">
            <a:avLst/>
          </a:prstGeom>
          <a:solidFill>
            <a:srgbClr val="FFD23B"/>
          </a:solidFill>
          <a:ln w="12700">
            <a:solidFill>
              <a:srgbClr val="FFD23B"/>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Ba ý của Buổi 5</a:t>
            </a:r>
            <a:endParaRPr lang="en-US" sz="2600" dirty="0"/>
          </a:p>
        </p:txBody>
      </p:sp>
      <p:sp>
        <p:nvSpPr>
          <p:cNvPr id="16" name="Text 14"/>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23</a:t>
            </a:r>
            <a:endParaRPr lang="en-US" sz="1000" dirty="0"/>
          </a:p>
        </p:txBody>
      </p:sp>
      <p:sp>
        <p:nvSpPr>
          <p:cNvPr id="18" name="Shape 15"/>
          <p:cNvSpPr/>
          <p:nvPr/>
        </p:nvSpPr>
        <p:spPr>
          <a:xfrm>
            <a:off x="548640" y="1828800"/>
            <a:ext cx="11094415" cy="822960"/>
          </a:xfrm>
          <a:prstGeom prst="roundRect">
            <a:avLst>
              <a:gd name="adj" fmla="val 13333"/>
            </a:avLst>
          </a:prstGeom>
          <a:solidFill>
            <a:srgbClr val="F1E1EE"/>
          </a:solidFill>
          <a:ln w="19050">
            <a:solidFill>
              <a:srgbClr val="962B7C"/>
            </a:solidFill>
            <a:prstDash val="solid"/>
          </a:ln>
        </p:spPr>
      </p:sp>
      <p:sp>
        <p:nvSpPr>
          <p:cNvPr id="19" name="Shape 16"/>
          <p:cNvSpPr/>
          <p:nvPr/>
        </p:nvSpPr>
        <p:spPr>
          <a:xfrm>
            <a:off x="777240" y="1897380"/>
            <a:ext cx="685800" cy="685800"/>
          </a:xfrm>
          <a:prstGeom prst="ellipse">
            <a:avLst/>
          </a:prstGeom>
          <a:solidFill>
            <a:srgbClr val="962B7C"/>
          </a:solidFill>
          <a:ln w="12700">
            <a:solidFill>
              <a:srgbClr val="962B7C"/>
            </a:solidFill>
            <a:prstDash val="solid"/>
          </a:ln>
        </p:spPr>
      </p:sp>
      <p:sp>
        <p:nvSpPr>
          <p:cNvPr id="20" name="Text 17"/>
          <p:cNvSpPr txBox="1"/>
          <p:nvPr/>
        </p:nvSpPr>
        <p:spPr>
          <a:xfrm>
            <a:off x="777240" y="1897380"/>
            <a:ext cx="68580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5.1</a:t>
            </a:r>
            <a:endParaRPr lang="en-US" sz="1300" dirty="0"/>
          </a:p>
        </p:txBody>
      </p:sp>
      <p:sp>
        <p:nvSpPr>
          <p:cNvPr id="21" name="Text 18"/>
          <p:cNvSpPr txBox="1"/>
          <p:nvPr/>
        </p:nvSpPr>
        <p:spPr>
          <a:xfrm>
            <a:off x="1691640" y="1828800"/>
            <a:ext cx="9722815" cy="8229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CVP = Future state (của khách hàng) + Offering 7Ps (của agency) + Value appraisal (giá trị có số); dùng resonating focus.</a:t>
            </a:r>
            <a:endParaRPr lang="en-US" sz="1700" dirty="0"/>
          </a:p>
        </p:txBody>
      </p:sp>
      <p:sp>
        <p:nvSpPr>
          <p:cNvPr id="22" name="Shape 19"/>
          <p:cNvSpPr/>
          <p:nvPr/>
        </p:nvSpPr>
        <p:spPr>
          <a:xfrm>
            <a:off x="548640" y="2834640"/>
            <a:ext cx="11094415" cy="822960"/>
          </a:xfrm>
          <a:prstGeom prst="roundRect">
            <a:avLst>
              <a:gd name="adj" fmla="val 13333"/>
            </a:avLst>
          </a:prstGeom>
          <a:solidFill>
            <a:srgbClr val="DDF1FB"/>
          </a:solidFill>
          <a:ln w="19050">
            <a:solidFill>
              <a:srgbClr val="09A1E5"/>
            </a:solidFill>
            <a:prstDash val="solid"/>
          </a:ln>
        </p:spPr>
      </p:sp>
      <p:sp>
        <p:nvSpPr>
          <p:cNvPr id="23" name="Shape 20"/>
          <p:cNvSpPr/>
          <p:nvPr/>
        </p:nvSpPr>
        <p:spPr>
          <a:xfrm>
            <a:off x="777240" y="2903220"/>
            <a:ext cx="685800" cy="685800"/>
          </a:xfrm>
          <a:prstGeom prst="ellipse">
            <a:avLst/>
          </a:prstGeom>
          <a:solidFill>
            <a:srgbClr val="09A1E5"/>
          </a:solidFill>
          <a:ln w="12700">
            <a:solidFill>
              <a:srgbClr val="09A1E5"/>
            </a:solidFill>
            <a:prstDash val="solid"/>
          </a:ln>
        </p:spPr>
      </p:sp>
      <p:sp>
        <p:nvSpPr>
          <p:cNvPr id="24" name="Text 21"/>
          <p:cNvSpPr txBox="1"/>
          <p:nvPr/>
        </p:nvSpPr>
        <p:spPr>
          <a:xfrm>
            <a:off x="777240" y="2903220"/>
            <a:ext cx="68580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5.2</a:t>
            </a:r>
            <a:endParaRPr lang="en-US" sz="1300" dirty="0"/>
          </a:p>
        </p:txBody>
      </p:sp>
      <p:sp>
        <p:nvSpPr>
          <p:cNvPr id="25" name="Text 22"/>
          <p:cNvSpPr txBox="1"/>
          <p:nvPr/>
        </p:nvSpPr>
        <p:spPr>
          <a:xfrm>
            <a:off x="1691640" y="2834640"/>
            <a:ext cx="9722815" cy="8229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Tìm giá trị ở năm nguồn — đừng quên advisory và khách của khách hàng.</a:t>
            </a:r>
            <a:endParaRPr lang="en-US" sz="1700" dirty="0"/>
          </a:p>
        </p:txBody>
      </p:sp>
      <p:sp>
        <p:nvSpPr>
          <p:cNvPr id="26" name="Shape 23"/>
          <p:cNvSpPr/>
          <p:nvPr/>
        </p:nvSpPr>
        <p:spPr>
          <a:xfrm>
            <a:off x="548640" y="3840480"/>
            <a:ext cx="11094415" cy="822960"/>
          </a:xfrm>
          <a:prstGeom prst="roundRect">
            <a:avLst>
              <a:gd name="adj" fmla="val 13333"/>
            </a:avLst>
          </a:prstGeom>
          <a:solidFill>
            <a:srgbClr val="FFE4EA"/>
          </a:solidFill>
          <a:ln w="19050">
            <a:solidFill>
              <a:srgbClr val="FF5178"/>
            </a:solidFill>
            <a:prstDash val="solid"/>
          </a:ln>
        </p:spPr>
      </p:sp>
      <p:sp>
        <p:nvSpPr>
          <p:cNvPr id="27" name="Shape 24"/>
          <p:cNvSpPr/>
          <p:nvPr/>
        </p:nvSpPr>
        <p:spPr>
          <a:xfrm>
            <a:off x="777240" y="3909060"/>
            <a:ext cx="685800" cy="685800"/>
          </a:xfrm>
          <a:prstGeom prst="ellipse">
            <a:avLst/>
          </a:prstGeom>
          <a:solidFill>
            <a:srgbClr val="FF5178"/>
          </a:solidFill>
          <a:ln w="12700">
            <a:solidFill>
              <a:srgbClr val="FF5178"/>
            </a:solidFill>
            <a:prstDash val="solid"/>
          </a:ln>
        </p:spPr>
      </p:sp>
      <p:sp>
        <p:nvSpPr>
          <p:cNvPr id="28" name="Text 25"/>
          <p:cNvSpPr txBox="1"/>
          <p:nvPr/>
        </p:nvSpPr>
        <p:spPr>
          <a:xfrm>
            <a:off x="777240" y="3909060"/>
            <a:ext cx="68580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5.3</a:t>
            </a:r>
            <a:endParaRPr lang="en-US" sz="1300" dirty="0"/>
          </a:p>
        </p:txBody>
      </p:sp>
      <p:sp>
        <p:nvSpPr>
          <p:cNvPr id="29" name="Text 26"/>
          <p:cNvSpPr txBox="1"/>
          <p:nvPr/>
        </p:nvSpPr>
        <p:spPr>
          <a:xfrm>
            <a:off x="1691640" y="3840480"/>
            <a:ext cx="9722815" cy="8229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Đồng kiến tạo qua co-diagnosis → co-ideation → co-design → co-testing, với cùng mục đích.</a:t>
            </a:r>
            <a:endParaRPr lang="en-US" sz="1700" dirty="0"/>
          </a:p>
        </p:txBody>
      </p:sp>
      <p:sp>
        <p:nvSpPr>
          <p:cNvPr id="30" name="Shape 27"/>
          <p:cNvSpPr/>
          <p:nvPr/>
        </p:nvSpPr>
        <p:spPr>
          <a:xfrm>
            <a:off x="548640" y="4983480"/>
            <a:ext cx="11094415" cy="1005840"/>
          </a:xfrm>
          <a:prstGeom prst="roundRect">
            <a:avLst>
              <a:gd name="adj" fmla="val 10909"/>
            </a:avLst>
          </a:prstGeom>
          <a:solidFill>
            <a:srgbClr val="FFF3C4"/>
          </a:solidFill>
          <a:ln w="12700">
            <a:solidFill>
              <a:srgbClr val="FFD23B"/>
            </a:solidFill>
            <a:prstDash val="solid"/>
          </a:ln>
        </p:spPr>
      </p:sp>
      <p:sp>
        <p:nvSpPr>
          <p:cNvPr id="31" name="Text 28"/>
          <p:cNvSpPr txBox="1"/>
          <p:nvPr/>
        </p:nvSpPr>
        <p:spPr>
          <a:xfrm>
            <a:off x="868680" y="4983480"/>
            <a:ext cx="10454335" cy="10058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Stakeholder Management Plan: </a:t>
            </a:r>
            <a:pPr indent="0" marL="0">
              <a:buNone/>
            </a:pPr>
            <a:r>
              <a:rPr lang="en-US" sz="1500" dirty="0">
                <a:solidFill>
                  <a:srgbClr val="2A2238"/>
                </a:solidFill>
                <a:latin typeface="Alexandria" pitchFamily="34" charset="0"/>
                <a:ea typeface="Alexandria" pitchFamily="34" charset="-122"/>
                <a:cs typeface="Alexandria" pitchFamily="34" charset="-120"/>
              </a:rPr>
              <a:t>đây là phần C. Value Propositions cho khách hàng từ dự án cũ của nhóm.</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5.1 Cấu trúc CVP</a:t>
            </a:r>
            <a:endParaRPr lang="en-US" sz="1000" dirty="0"/>
          </a:p>
        </p:txBody>
      </p:sp>
      <p:sp>
        <p:nvSpPr>
          <p:cNvPr id="6" name="Shape 4"/>
          <p:cNvSpPr/>
          <p:nvPr/>
        </p:nvSpPr>
        <p:spPr>
          <a:xfrm>
            <a:off x="2990088"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5.2 Năm nguồn giá trị</a:t>
            </a:r>
            <a:endParaRPr lang="en-US" sz="1000" dirty="0"/>
          </a:p>
        </p:txBody>
      </p:sp>
      <p:sp>
        <p:nvSpPr>
          <p:cNvPr id="8" name="Shape 6"/>
          <p:cNvSpPr/>
          <p:nvPr/>
        </p:nvSpPr>
        <p:spPr>
          <a:xfrm>
            <a:off x="4988052" y="274320"/>
            <a:ext cx="157734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5.3 Đồng kiến tạo</a:t>
            </a:r>
            <a:endParaRPr lang="en-US" sz="1000" dirty="0"/>
          </a:p>
        </p:txBody>
      </p:sp>
      <p:sp>
        <p:nvSpPr>
          <p:cNvPr id="10" name="Shape 8"/>
          <p:cNvSpPr/>
          <p:nvPr/>
        </p:nvSpPr>
        <p:spPr>
          <a:xfrm>
            <a:off x="6675120"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675120"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334670"/>
            <a:ext cx="107533" cy="268834"/>
          </a:xfrm>
          <a:prstGeom prst="rect">
            <a:avLst/>
          </a:prstGeom>
          <a:solidFill>
            <a:srgbClr val="09A1E5"/>
          </a:solidFill>
          <a:ln w="12700">
            <a:solidFill>
              <a:srgbClr val="09A1E5"/>
            </a:solidFill>
            <a:prstDash val="solid"/>
          </a:ln>
        </p:spPr>
      </p:sp>
      <p:sp>
        <p:nvSpPr>
          <p:cNvPr id="13" name="Shape 11"/>
          <p:cNvSpPr/>
          <p:nvPr/>
        </p:nvSpPr>
        <p:spPr>
          <a:xfrm>
            <a:off x="11535522" y="334670"/>
            <a:ext cx="107533" cy="268834"/>
          </a:xfrm>
          <a:prstGeom prst="rect">
            <a:avLst/>
          </a:prstGeom>
          <a:solidFill>
            <a:srgbClr val="962B7C"/>
          </a:solidFill>
          <a:ln w="12700">
            <a:solidFill>
              <a:srgbClr val="962B7C"/>
            </a:solidFill>
            <a:prstDash val="solid"/>
          </a:ln>
        </p:spPr>
      </p:sp>
      <p:sp>
        <p:nvSpPr>
          <p:cNvPr id="14" name="Shape 12"/>
          <p:cNvSpPr/>
          <p:nvPr/>
        </p:nvSpPr>
        <p:spPr>
          <a:xfrm>
            <a:off x="11259007" y="250180"/>
            <a:ext cx="384048" cy="61448"/>
          </a:xfrm>
          <a:prstGeom prst="rect">
            <a:avLst/>
          </a:prstGeom>
          <a:solidFill>
            <a:srgbClr val="FFD23B"/>
          </a:solidFill>
          <a:ln w="12700">
            <a:solidFill>
              <a:srgbClr val="FFD23B"/>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Phiếu kiểm tra cuối giờ</a:t>
            </a:r>
            <a:endParaRPr lang="en-US" sz="2600" dirty="0"/>
          </a:p>
        </p:txBody>
      </p:sp>
      <p:sp>
        <p:nvSpPr>
          <p:cNvPr id="16" name="Text 14"/>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24</a:t>
            </a:r>
            <a:endParaRPr lang="en-US" sz="1000" dirty="0"/>
          </a:p>
        </p:txBody>
      </p:sp>
      <p:sp>
        <p:nvSpPr>
          <p:cNvPr id="18" name="Shape 15"/>
          <p:cNvSpPr/>
          <p:nvPr/>
        </p:nvSpPr>
        <p:spPr>
          <a:xfrm>
            <a:off x="548640" y="1828800"/>
            <a:ext cx="11094415" cy="1280160"/>
          </a:xfrm>
          <a:prstGeom prst="roundRect">
            <a:avLst>
              <a:gd name="adj" fmla="val 8571"/>
            </a:avLst>
          </a:prstGeom>
          <a:solidFill>
            <a:srgbClr val="FFFFFF"/>
          </a:solidFill>
          <a:ln w="12700">
            <a:solidFill>
              <a:srgbClr val="DCD7C8"/>
            </a:solidFill>
            <a:prstDash val="solid"/>
          </a:ln>
        </p:spPr>
      </p:sp>
      <p:sp>
        <p:nvSpPr>
          <p:cNvPr id="19" name="Shape 16"/>
          <p:cNvSpPr/>
          <p:nvPr/>
        </p:nvSpPr>
        <p:spPr>
          <a:xfrm>
            <a:off x="777240" y="2148840"/>
            <a:ext cx="640080" cy="640080"/>
          </a:xfrm>
          <a:prstGeom prst="ellipse">
            <a:avLst/>
          </a:prstGeom>
          <a:solidFill>
            <a:srgbClr val="962B7C"/>
          </a:solidFill>
          <a:ln w="12700">
            <a:solidFill>
              <a:srgbClr val="962B7C"/>
            </a:solidFill>
            <a:prstDash val="solid"/>
          </a:ln>
        </p:spPr>
      </p:sp>
      <p:sp>
        <p:nvSpPr>
          <p:cNvPr id="20" name="Text 17"/>
          <p:cNvSpPr txBox="1"/>
          <p:nvPr/>
        </p:nvSpPr>
        <p:spPr>
          <a:xfrm>
            <a:off x="777240" y="214884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1</a:t>
            </a:r>
            <a:endParaRPr lang="en-US" sz="2380" dirty="0"/>
          </a:p>
        </p:txBody>
      </p:sp>
      <p:sp>
        <p:nvSpPr>
          <p:cNvPr id="21" name="Text 18"/>
          <p:cNvSpPr txBox="1"/>
          <p:nvPr/>
        </p:nvSpPr>
        <p:spPr>
          <a:xfrm>
            <a:off x="1645920" y="1828800"/>
            <a:ext cx="9768535" cy="12801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Viết một câu CVP cho khách hàng dự án cũ của nhóm theo kiểu resonating focus.</a:t>
            </a:r>
            <a:endParaRPr lang="en-US" sz="1700" dirty="0"/>
          </a:p>
        </p:txBody>
      </p:sp>
      <p:sp>
        <p:nvSpPr>
          <p:cNvPr id="22" name="Shape 19"/>
          <p:cNvSpPr/>
          <p:nvPr/>
        </p:nvSpPr>
        <p:spPr>
          <a:xfrm>
            <a:off x="548640" y="3291840"/>
            <a:ext cx="11094415" cy="1280160"/>
          </a:xfrm>
          <a:prstGeom prst="roundRect">
            <a:avLst>
              <a:gd name="adj" fmla="val 8571"/>
            </a:avLst>
          </a:prstGeom>
          <a:solidFill>
            <a:srgbClr val="FFFFFF"/>
          </a:solidFill>
          <a:ln w="12700">
            <a:solidFill>
              <a:srgbClr val="DCD7C8"/>
            </a:solidFill>
            <a:prstDash val="solid"/>
          </a:ln>
        </p:spPr>
      </p:sp>
      <p:sp>
        <p:nvSpPr>
          <p:cNvPr id="23" name="Shape 20"/>
          <p:cNvSpPr/>
          <p:nvPr/>
        </p:nvSpPr>
        <p:spPr>
          <a:xfrm>
            <a:off x="777240" y="3611880"/>
            <a:ext cx="640080" cy="640080"/>
          </a:xfrm>
          <a:prstGeom prst="ellipse">
            <a:avLst/>
          </a:prstGeom>
          <a:solidFill>
            <a:srgbClr val="09A1E5"/>
          </a:solidFill>
          <a:ln w="12700">
            <a:solidFill>
              <a:srgbClr val="09A1E5"/>
            </a:solidFill>
            <a:prstDash val="solid"/>
          </a:ln>
        </p:spPr>
      </p:sp>
      <p:sp>
        <p:nvSpPr>
          <p:cNvPr id="24" name="Text 21"/>
          <p:cNvSpPr txBox="1"/>
          <p:nvPr/>
        </p:nvSpPr>
        <p:spPr>
          <a:xfrm>
            <a:off x="777240" y="361188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2</a:t>
            </a:r>
            <a:endParaRPr lang="en-US" sz="2380" dirty="0"/>
          </a:p>
        </p:txBody>
      </p:sp>
      <p:sp>
        <p:nvSpPr>
          <p:cNvPr id="25" name="Text 22"/>
          <p:cNvSpPr txBox="1"/>
          <p:nvPr/>
        </p:nvSpPr>
        <p:spPr>
          <a:xfrm>
            <a:off x="1645920" y="3291840"/>
            <a:ext cx="9768535" cy="12801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Nguồn giá trị nào (trong năm nguồn) nhóm chưa từng nghĩ tới với khách hàng đó?</a:t>
            </a:r>
            <a:endParaRPr lang="en-US" sz="1700" dirty="0"/>
          </a:p>
        </p:txBody>
      </p:sp>
      <p:sp>
        <p:nvSpPr>
          <p:cNvPr id="26" name="Shape 23"/>
          <p:cNvSpPr/>
          <p:nvPr/>
        </p:nvSpPr>
        <p:spPr>
          <a:xfrm>
            <a:off x="548640" y="4846320"/>
            <a:ext cx="11094415" cy="1188720"/>
          </a:xfrm>
          <a:prstGeom prst="roundRect">
            <a:avLst>
              <a:gd name="adj" fmla="val 9231"/>
            </a:avLst>
          </a:prstGeom>
          <a:solidFill>
            <a:srgbClr val="E1F3EE"/>
          </a:solidFill>
          <a:ln w="12700">
            <a:solidFill>
              <a:srgbClr val="49B296"/>
            </a:solidFill>
            <a:prstDash val="solid"/>
          </a:ln>
        </p:spPr>
      </p:sp>
      <p:sp>
        <p:nvSpPr>
          <p:cNvPr id="27" name="Text 24"/>
          <p:cNvSpPr txBox="1"/>
          <p:nvPr/>
        </p:nvSpPr>
        <p:spPr>
          <a:xfrm>
            <a:off x="822960" y="4846320"/>
            <a:ext cx="10545775" cy="118872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Buổi 6: </a:t>
            </a:r>
            <a:pPr indent="0" marL="0">
              <a:buNone/>
            </a:pPr>
            <a:r>
              <a:rPr lang="en-US" sz="1600" dirty="0">
                <a:solidFill>
                  <a:srgbClr val="2A2238"/>
                </a:solidFill>
                <a:latin typeface="Alexandria" pitchFamily="34" charset="0"/>
                <a:ea typeface="Alexandria" pitchFamily="34" charset="-122"/>
                <a:cs typeface="Alexandria" pitchFamily="34" charset="-120"/>
              </a:rPr>
              <a:t>giá trị cho khách hàng phải đi cùng giá trị cho agency — khách hàng này đáng bao nhiêu với Nova (CLV), và phục vụ họ tốn bao nhiêu (cost-to-serve)?</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49961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49961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5.1 Cấu trúc CVP</a:t>
            </a:r>
            <a:endParaRPr lang="en-US" sz="1000" dirty="0"/>
          </a:p>
        </p:txBody>
      </p:sp>
      <p:sp>
        <p:nvSpPr>
          <p:cNvPr id="6" name="Shape 4"/>
          <p:cNvSpPr/>
          <p:nvPr/>
        </p:nvSpPr>
        <p:spPr>
          <a:xfrm>
            <a:off x="2990088"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990088"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5.2 Năm nguồn giá trị</a:t>
            </a:r>
            <a:endParaRPr lang="en-US" sz="1000" dirty="0"/>
          </a:p>
        </p:txBody>
      </p:sp>
      <p:sp>
        <p:nvSpPr>
          <p:cNvPr id="8" name="Shape 6"/>
          <p:cNvSpPr/>
          <p:nvPr/>
        </p:nvSpPr>
        <p:spPr>
          <a:xfrm>
            <a:off x="4988052" y="274320"/>
            <a:ext cx="157734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988052" y="274320"/>
            <a:ext cx="157734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5.3 Đồng kiến tạo</a:t>
            </a:r>
            <a:endParaRPr lang="en-US" sz="1000" dirty="0"/>
          </a:p>
        </p:txBody>
      </p:sp>
      <p:sp>
        <p:nvSpPr>
          <p:cNvPr id="10" name="Shape 8"/>
          <p:cNvSpPr/>
          <p:nvPr/>
        </p:nvSpPr>
        <p:spPr>
          <a:xfrm>
            <a:off x="6675120"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675120"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59007" y="334670"/>
            <a:ext cx="107533" cy="268834"/>
          </a:xfrm>
          <a:prstGeom prst="rect">
            <a:avLst/>
          </a:prstGeom>
          <a:solidFill>
            <a:srgbClr val="09A1E5"/>
          </a:solidFill>
          <a:ln w="12700">
            <a:solidFill>
              <a:srgbClr val="09A1E5"/>
            </a:solidFill>
            <a:prstDash val="solid"/>
          </a:ln>
        </p:spPr>
      </p:sp>
      <p:sp>
        <p:nvSpPr>
          <p:cNvPr id="13" name="Shape 11"/>
          <p:cNvSpPr/>
          <p:nvPr/>
        </p:nvSpPr>
        <p:spPr>
          <a:xfrm>
            <a:off x="11535522" y="334670"/>
            <a:ext cx="107533" cy="268834"/>
          </a:xfrm>
          <a:prstGeom prst="rect">
            <a:avLst/>
          </a:prstGeom>
          <a:solidFill>
            <a:srgbClr val="962B7C"/>
          </a:solidFill>
          <a:ln w="12700">
            <a:solidFill>
              <a:srgbClr val="962B7C"/>
            </a:solidFill>
            <a:prstDash val="solid"/>
          </a:ln>
        </p:spPr>
      </p:sp>
      <p:sp>
        <p:nvSpPr>
          <p:cNvPr id="14" name="Shape 12"/>
          <p:cNvSpPr/>
          <p:nvPr/>
        </p:nvSpPr>
        <p:spPr>
          <a:xfrm>
            <a:off x="11259007" y="250180"/>
            <a:ext cx="384048" cy="61448"/>
          </a:xfrm>
          <a:prstGeom prst="rect">
            <a:avLst/>
          </a:prstGeom>
          <a:solidFill>
            <a:srgbClr val="FFD23B"/>
          </a:solidFill>
          <a:ln w="12700">
            <a:solidFill>
              <a:srgbClr val="FFD23B"/>
            </a:solidFill>
            <a:prstDash val="solid"/>
          </a:ln>
        </p:spPr>
      </p:sp>
      <p:sp>
        <p:nvSpPr>
          <p:cNvPr id="15" name="Text 13"/>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Tài liệu tham khảo</a:t>
            </a:r>
            <a:endParaRPr lang="en-US" sz="2600" dirty="0"/>
          </a:p>
        </p:txBody>
      </p:sp>
      <p:sp>
        <p:nvSpPr>
          <p:cNvPr id="16" name="Text 14"/>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Danh mục APA 7 đầy đủ (kèm DOI/URL): buoi-05_tu-lieu-tong-hop.md, mục 6.</a:t>
            </a:r>
            <a:endParaRPr lang="en-US" sz="10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5   25</a:t>
            </a:r>
            <a:endParaRPr lang="en-US" sz="1000" dirty="0"/>
          </a:p>
        </p:txBody>
      </p:sp>
      <p:sp>
        <p:nvSpPr>
          <p:cNvPr id="19" name="Text 16"/>
          <p:cNvSpPr txBox="1"/>
          <p:nvPr/>
        </p:nvSpPr>
        <p:spPr>
          <a:xfrm>
            <a:off x="548640" y="1783080"/>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E01</a:t>
            </a:r>
            <a:endParaRPr lang="en-US" sz="1200" dirty="0"/>
          </a:p>
        </p:txBody>
      </p:sp>
      <p:sp>
        <p:nvSpPr>
          <p:cNvPr id="20" name="Text 17"/>
          <p:cNvSpPr txBox="1"/>
          <p:nvPr/>
        </p:nvSpPr>
        <p:spPr>
          <a:xfrm>
            <a:off x="1234440" y="1783080"/>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Marcos, J., Davies, M., Guesalaga, R., &amp; Holt, S. (2018). Implementing key account management. Kogan Page. (chương 5, 6)</a:t>
            </a:r>
            <a:endParaRPr lang="en-US" sz="1200" dirty="0"/>
          </a:p>
        </p:txBody>
      </p:sp>
      <p:sp>
        <p:nvSpPr>
          <p:cNvPr id="21" name="Text 18"/>
          <p:cNvSpPr txBox="1"/>
          <p:nvPr/>
        </p:nvSpPr>
        <p:spPr>
          <a:xfrm>
            <a:off x="548640" y="2397034"/>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E02</a:t>
            </a:r>
            <a:endParaRPr lang="en-US" sz="1200" dirty="0"/>
          </a:p>
        </p:txBody>
      </p:sp>
      <p:sp>
        <p:nvSpPr>
          <p:cNvPr id="22" name="Text 19"/>
          <p:cNvSpPr txBox="1"/>
          <p:nvPr/>
        </p:nvSpPr>
        <p:spPr>
          <a:xfrm>
            <a:off x="1234440" y="2397034"/>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Anderson, J. C., Narus, J. A., &amp; van Rossum, W. (2006). Customer value propositions in business markets. Harvard Business Review, 84(3), 90–99.</a:t>
            </a:r>
            <a:endParaRPr lang="en-US" sz="1200" dirty="0"/>
          </a:p>
        </p:txBody>
      </p:sp>
      <p:sp>
        <p:nvSpPr>
          <p:cNvPr id="23" name="Text 20"/>
          <p:cNvSpPr txBox="1"/>
          <p:nvPr/>
        </p:nvSpPr>
        <p:spPr>
          <a:xfrm>
            <a:off x="548640" y="3010989"/>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E03</a:t>
            </a:r>
            <a:endParaRPr lang="en-US" sz="1200" dirty="0"/>
          </a:p>
        </p:txBody>
      </p:sp>
      <p:sp>
        <p:nvSpPr>
          <p:cNvPr id="24" name="Text 21"/>
          <p:cNvSpPr txBox="1"/>
          <p:nvPr/>
        </p:nvSpPr>
        <p:spPr>
          <a:xfrm>
            <a:off x="1234440" y="3010989"/>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Booms, B. H., &amp; Bitner, M. J. (1981). Marketing strategies and organization structures for service firms. In J. H. Donnelly &amp; W. R. George (Eds.), Marketing of services (pp. 47–51). AMA.</a:t>
            </a:r>
            <a:endParaRPr lang="en-US" sz="1200" dirty="0"/>
          </a:p>
        </p:txBody>
      </p:sp>
      <p:sp>
        <p:nvSpPr>
          <p:cNvPr id="25" name="Text 22"/>
          <p:cNvSpPr txBox="1"/>
          <p:nvPr/>
        </p:nvSpPr>
        <p:spPr>
          <a:xfrm>
            <a:off x="548640" y="3624943"/>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E04</a:t>
            </a:r>
            <a:endParaRPr lang="en-US" sz="1200" dirty="0"/>
          </a:p>
        </p:txBody>
      </p:sp>
      <p:sp>
        <p:nvSpPr>
          <p:cNvPr id="26" name="Text 23"/>
          <p:cNvSpPr txBox="1"/>
          <p:nvPr/>
        </p:nvSpPr>
        <p:spPr>
          <a:xfrm>
            <a:off x="1234440" y="3624943"/>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McDonald, M. (n.d.). How to create financially quantified value propositions in six (actionable!) steps. Strategic Account Management Association.</a:t>
            </a:r>
            <a:endParaRPr lang="en-US" sz="1200" dirty="0"/>
          </a:p>
        </p:txBody>
      </p:sp>
      <p:sp>
        <p:nvSpPr>
          <p:cNvPr id="27" name="Text 24"/>
          <p:cNvSpPr txBox="1"/>
          <p:nvPr/>
        </p:nvSpPr>
        <p:spPr>
          <a:xfrm>
            <a:off x="548640" y="4238897"/>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E05</a:t>
            </a:r>
            <a:endParaRPr lang="en-US" sz="1200" dirty="0"/>
          </a:p>
        </p:txBody>
      </p:sp>
      <p:sp>
        <p:nvSpPr>
          <p:cNvPr id="28" name="Text 25"/>
          <p:cNvSpPr txBox="1"/>
          <p:nvPr/>
        </p:nvSpPr>
        <p:spPr>
          <a:xfrm>
            <a:off x="1234440" y="4238897"/>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Marcos-Cuevas, J., Nätti, S., Palo, T., &amp; Baumann, J. (2016). Value co-creation practices and capabilities: Sustained purposeful engagement across B2B systems. Industrial Marketing Management, 56, 97–107.</a:t>
            </a:r>
            <a:endParaRPr lang="en-US" sz="1200" dirty="0"/>
          </a:p>
        </p:txBody>
      </p:sp>
      <p:sp>
        <p:nvSpPr>
          <p:cNvPr id="29" name="Text 26"/>
          <p:cNvSpPr txBox="1"/>
          <p:nvPr/>
        </p:nvSpPr>
        <p:spPr>
          <a:xfrm>
            <a:off x="548640" y="4852851"/>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E06</a:t>
            </a:r>
            <a:endParaRPr lang="en-US" sz="1200" dirty="0"/>
          </a:p>
        </p:txBody>
      </p:sp>
      <p:sp>
        <p:nvSpPr>
          <p:cNvPr id="30" name="Text 27"/>
          <p:cNvSpPr txBox="1"/>
          <p:nvPr/>
        </p:nvSpPr>
        <p:spPr>
          <a:xfrm>
            <a:off x="1234440" y="4852851"/>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Payne, A. F., Storbacka, K., &amp; Frow, P. (2008). Managing the co-creation of value. Journal of the Academy of Marketing Science, 36(1), 83–96.</a:t>
            </a:r>
            <a:endParaRPr lang="en-US" sz="1200" dirty="0"/>
          </a:p>
        </p:txBody>
      </p:sp>
      <p:sp>
        <p:nvSpPr>
          <p:cNvPr id="31" name="Text 28"/>
          <p:cNvSpPr txBox="1"/>
          <p:nvPr/>
        </p:nvSpPr>
        <p:spPr>
          <a:xfrm>
            <a:off x="548640" y="5466806"/>
            <a:ext cx="640080" cy="540802"/>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E07</a:t>
            </a:r>
            <a:endParaRPr lang="en-US" sz="1200" dirty="0"/>
          </a:p>
        </p:txBody>
      </p:sp>
      <p:sp>
        <p:nvSpPr>
          <p:cNvPr id="32" name="Text 29"/>
          <p:cNvSpPr txBox="1"/>
          <p:nvPr/>
        </p:nvSpPr>
        <p:spPr>
          <a:xfrm>
            <a:off x="1234440" y="5466806"/>
            <a:ext cx="10408615" cy="540802"/>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Xem U08, U10 (Buổi 9): Znews (2025, January 20) — Techcombank; VnExpress (2025, October 5) — VPBank, G-DRAGON [nội dung được tài trợ].</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EVM1110E — Buổi 5: CVP &amp; Value Co-creation</dc:title>
  <dc:subject>Quản trị mối quan hệ trong tổ chức sự kiện</dc:subject>
  <dc:creator>PptxGenJS</dc:creator>
  <cp:lastModifiedBy>PptxGenJS</cp:lastModifiedBy>
  <cp:revision>1</cp:revision>
  <dcterms:created xsi:type="dcterms:W3CDTF">2026-10-03T04:55:21Z</dcterms:created>
  <dcterms:modified xsi:type="dcterms:W3CDTF">2026-10-03T04:55:21Z</dcterms:modified>
</cp:coreProperties>
</file>