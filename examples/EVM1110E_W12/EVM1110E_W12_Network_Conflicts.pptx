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(dàn ý #1). Buổi này khép Phần 3. Điền tên giảng viên trước khi dạy.
Alt-text: sơ đồ hình sao — Key Account ở giữa, ba nhánh nối tới nhà tài trợ, nhà cung cấp – địa điểm, báo chí – KOL.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 Khởi động (5 phút). Đọc: “Tối 28/12/2025, Hà Nội. Khán giả đã vào Cung thi đấu, sân khấu và âm thanh ánh sáng đã dựng xong. Nhưng 40 nghệ sĩ không lên sân khấu. Báo chí đưa tin nguyên nhân là tranh chấp thanh toán giữa nghệ sĩ và nhà sản xuất.”
Không dùng ảnh chân dung, không nêu tên cá nhân, không quy lỗi cá nhân.
Giơ tay A/B/C/D. Chốt: “Ta không phán xử ai — vụ việc đang được xử lý theo pháp luật. Nhưng hãy nhìn: địa điểm, âm thanh ánh sáng, khán giả — những bên không tranh chấp — đều chịu thiệt. Một mạng lưới vỡ ở một mối nối là vỡ cả.”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“Buổi 9, 10, 11 ta học từng bên. Hôm nay ta nhìn cả mạng lưới: các bên này cũng quan hệ với nhau, và có lúc lợi ích của họ va nhau.” Nova nằm ở mọi mối nối.
Alt-text: sơ đồ hình sao ba nhánh — An Phát ở giữa; nhà tài trợ, nhà cung cấp – địa điểm, báo chí – KOL ở ba đầu; Nova nằm trên từng nhánh nối.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Dyer &amp; Singh (1998): nguồn lực then chốt của doanh nghiệp có thể vượt ra ngoài ranh giới doanh nghiệp, nằm trong quan hệ giữa các doanh nghiệp.
Morgan &amp; Hunt (1994): quan hệ thành công đòi hỏi cam kết và niềm tin.
[VERIFY: toàn văn Y01, Y02 chưa đọc — chỉ dùng nội dung tóm tắt]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 rents: lợi nhuận/giá trị vượt trội chỉ tạo ra được nhờ quan hệ giữa các bên.
Hiểu lầm: “Quan hệ lâu năm thì không cần hợp đồng chặt” → quản trị hiệu quả là một nguồn giá trị của quan hệ; hợp đồng rõ giúp quan hệ bền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Quyết định GV 3: leverage = giá trị do quan hệ dài hạn trong mạng lưới tạo ra.
Ví dụ thật (U08): Techcombank từ nhà tài trợ concert năm 2024 trở thành “nhà đồng đầu tư” năm 2025 — quan hệ dài hạn mở ra một cấu trúc hợp tác mới.
Hiểu lầm: “Leverage = dùng thế lớn để ép giá” → đó là quyền lực ngắn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Mohr &amp; Spekman (1994): đặc điểm của quan hệ đối tác thành công gồm cam kết, phối hợp, niềm tin; chất lượng giao tiếp và sự tham gia; và giải quyết xung đột bằng cùng giải quyết vấn đề (joint problem solving).
[VERIFY: các kỹ thuật giải quyết xung đột khác trong Mohr &amp; Spekman — mới đọc tóm tắt]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Ẩn dụ — hiệu ứng roi da (bullwhip, quyết định GV 7): trong chuỗi cung ứng, thông tin truyền qua từng mắt xích bị bóp méo, càng xa càng lệch. Ghi rõ đây là ẩn dụ.
Yêu cầu của anh Minh → Nova → khách sạn → bếp; → đơn vị AV → kỹ thuật viên.
Bỏ slide này nếu trễ giờ.
Alt-text: chuỗi bốn ô nối mũi tên; đường tín hiệu dưới mỗi ô to dần, cho thấy thông tin lệch dần.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báo chí: một số nghệ sĩ cho biết chưa nhận thanh toán, chưa có hợp đồng chính thức, được hẹn nhiều lần; một nhạc sĩ trả lại cát-sê trước 4 ngày khi thấy “dấu hiệu không ổn” (Báo Văn hóa, 3/1/2026). Sau đó, người đại diện đơn vị tổ chức bị khởi tố; một luật sư nhận xét thị trường thiếu ký quỹ, bảo lãnh, bảo hiểm hủy sự kiện (Nhân Dân, 23/1/2026).
Không nêu tên cá nhân, không quy lỗi cá nhân.
Hỏi: “Nếu Nova là agency của một nhà tài trợ show này, tín hiệu cảnh báo nào Nova có thể thấy trước?” — gợi ý: hợp đồng với nghệ sĩ chưa ký sát ngày; lịch thanh toán không rõ; các bên không nói chuyện với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 “the document used by an event organizer to convey information clearly and accurately to appropriate venue(s) and/or suppliers regarding all requirements for an event”.
Trường bắt buộc có ngày sửa đổi, đầu mối chính, họp trước sự kiện và họp sau sự kiện.
[VERIFY: APEX ESG có bản mới hơn bản 2005 không]
Nói: “Minh bạch không phải ‘kể hết cho mọi người’. Minh bạch là mọi bên cùng đọc một phiên bản đúng, biết ai đổi gì, khi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lầm: “Minh bạch là chia sẻ mọi thứ” → minh bạch về yêu cầu, lịch, thay đổi, thanh toán; bảo mật thông tin khách và giá.
→ Chuyển sang S3 —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 Thực hành 1 (20 phút). Đồng hồ 7 / 8 / 5 phút.
Deliverables Nova đã cam kết: trải nghiệm khách VIP không bị làm phiền · livestream ổn định · nhận diện thương hiệu đúng · phiên chuyên đề của TS. Nam · đúng giờ, đúng ngân sách.
Khi chốt: ghi thứ tự ưu tiên của 6 nhóm lên bảng. Thảo luận: các nhóm có xếp giống nhau không? Xung đột nào không cần báo anh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lao 8 phút. Ghi giờ quay lại lên slide/bảng.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Getz, Andersson &amp; Larson (2006) phân vai trò bên liên quan của lễ hội thành bảy vai, và thấy bên liên quan chủ chốt giữ nhiều vai cùng lúc.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nghĩa làm việc: xung đột lợi ích = khi lợi ích của một bên liên quan bên ngoài — hoặc các vai trò khác nhau của cùng một bên — đi ngược những gì Nova đã cam kết với Key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Larson (2002): mạng lưới làm marketing cho lễ hội là một political market square với lợi ích, xung đột, quyền lực; các quá trình: gác cổng, đàm phán, xây liên minh, xây niềm tin, xây bản sắc. Bản sắc chung giúp giảm xáo trộn.
Nói: “Xung đột là bình thường.”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“Nhiệm vụ của Nova không phải xóa xung đột, mà giữ cho mọi bên nhớ bản sắc chung: tất cả đang làm cho 600 khách của An Phát.”
Nhắc nhanh Mỹ Đình: concert 7/12/2024 và lịch thi đấu của đội tuyển — chủ địa điểm, nhà tổ chức concert và VFF có lợi ích trái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chiếu suốt S6.
1 Deliverable nào bị đe dọa? (livestream về 80 chi nhánh, trải nghiệm khách VIP, nhận diện thương hiệu, lịch…) — bắt đầu từ cam kết với Key Account, không từ bên đang to tiếng nhất.
2 Ai liên quan, giữ vai gì, nổi bật đến đâu? (quyền lực – tính chính đáng – tính cấp bách: Mitchell, Agle &amp; Wood, Buổi 1).
3 Lợi ích đằng sau lập trường? (đàm phán tích hợp, Buổi 7): Bình An đòi bàn tư vấn cạnh khu tiệc, nhưng thứ họ cần là khách hẹn gặp.
4 Cùng giải quyết; nếu không được, leo thang theo thứ tự đã thống nhất (người phụ trách → lãnh đạo Nova → Key Account).
5 Thông báo minh bạch cho Key Account và cập nhật ESG cho mọi bên.
Hiểu lầm: “Giải quyết xung đột = chọn bên đúng” → bảo vệ deliverable của Key Account; thường giải pháp tốt đáp ứng lợi ích của cả hai bên.
Alt-text: năm bậc thang đi lên.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lầm: “Không nói với khách hàng để khỏi mất điểm” → Key Account phát hiện muộn còn mất niềm tin hơn.
Câu hỏi Mỹ Đình: “Ở bước 5, ai phải biết sớm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Coombs (2007): mức đe dọa danh tiếng phụ thuộc trách nhiệm ban đầu bên liên quan quy cho tổ chức, lịch sử khủng hoảng, danh tiếng quan hệ trước đó.
Phạm vi: chỉ ở mức phối hợp bên liên quan; xử lý khủng hoảng chi tiết thuộc môn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Chiến lược theo SCCT: Deny (phủ nhận, đổ lỗi) · Diminish (bào chữa, biện minh) · Rebuild (bồi thường, xin lỗi); bổ trợ Bolstering (nhắc việc tốt, tri ân). Bày tỏ quan tâm đến người bị ảnh hưởng giúp giảm cảm xúc tiêu cực.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KOL/diễn giả vướng vụ việc: với An Phát, ban đầu thường gần nhóm nạn nhân; nhưng nếu thông tin đã có từ trước mà không ai kiểm tra, khách có thể thấy đó là lỗi có thể ngăn ngừa — lý do của due diligence ở Buổi 11.
Phản hồi của các đối tác trong vụ Kera (X06): thương hiệu hợp tác gỡ ảnh; công ty quản lý chấm dứt hợp đồng.
Nova không nói thay An Phát. Nova giữ deliverables: có diễn giả dự phòng? thay đổi kịch bản? Sau sự cố: ghi vào đánh giá sau sự kiện (Buổi 8).
Chỉ ở mức phối hợp bên liên quan.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dùng cho S6 và cho SMP của nhóm.
→ Chuyển sang S6 —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S6 — Thực hành 2 (30 phút): 3 mở đầu · 13 vẽ · 10 xoay trạm (2 vòng × 5 phút) · 4 sửa và chốt.
Lời mở đầu: “Từ Buổi 7 đến giờ, các bạn đã làm từng trang cho khách hàng của nhóm. Hôm nay ráp chúng thành một mạng lưới, và tìm hai chỗ mạng lưới đó có thể vỡ. Sau 13 phút, một người ở lại trình bày, những người khác đi làm hội đồng: mỗi bàn nhận một câu hỏi khó và một điểm yếu. Đây là buổi chạy thử — sai ở đây rẻ hơn sai ở buổi bảo vệ.”
Nếu nhóm chưa có trang SMP: dùng mạng lưới An Phát làm mẫu.
Khi chốt: ghi các câu hỏi phản biện lặp lại ở nhiều nhóm (danh sách ôn tập bảo vệ SMP).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S7 — Tổng hợp (3 phút). Ba câu chốt: 12.1 · 12.2 · sự cố.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Khép Phần 3: Buổi 9–12 đã gắn nhà tài trợ, nhà cung cấp – địa điểm, báo chí – KOL vào hành trình của Key Account.
Câu nối Buổi 13: “Phần 3 khép lại: các bạn đã có nhà tài trợ, nhà cung cấp – địa điểm, báo chí – KOL, và cách giữ cả mạng lưới làm việc cho Key Account. Buổi sau ta ráp tất cả thành Stakeholder Management Plan xoay quanh Key Account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S8 — cá nhân, không chấm điểm. Giấy nhỏ hoặc Google Form (thêm QR nếu thu online).
Cần xem: (a) nhận ra xung đột do vai trò chồng chéo, không chỉ “bên kia xấu”; (b) nối được với deliverable của Key Account; (c) câu hỏi phản biện cụ thể và kế hoạch bổ sung khả thi.
Câu nối Buổi 13: “Buổi sau ta ráp tất cả thành Stakeholder Management Plan xoay quanh Key Account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Y01–Y10 ghi ở chân slide. Tiêu đề báo Y09 giữ dạng chữ theo dàn ý. Toàn văn Y01, Y02, Y04, Y05 chưa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phụ lục — không chiếu khi dạy; để tra cứu mã nguồn Y01–Y10 ghi ở chân slide. Tiêu đề báo Y09 giữ dạng chữ theo dàn ý. Toàn văn Y01, Y02, Y04, Y05 chưa đọc.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AF4"/>
        </a:solidFill>
      </p:bgPr>
    </p:bg>
    <p:spTree>
      <p:nvGrpSpPr>
        <p:cNvPr id="1" name=""/>
        <p:cNvGrpSpPr/>
        <p:nvPr/>
      </p:nvGrpSpPr>
      <p:grpSpPr>
        <a:xfrm>
          <a:off x="0" y="0"/>
          <a:ext cx="0" cy="0"/>
          <a:chOff x="0" y="0"/>
          <a:chExt cx="0" cy="0"/>
        </a:xfrm>
      </p:grpSpPr>
      <p:sp>
        <p:nvSpPr>
          <p:cNvPr id="2" name="Shape 0"/>
          <p:cNvSpPr/>
          <p:nvPr/>
        </p:nvSpPr>
        <p:spPr>
          <a:xfrm flipV="1">
            <a:off x="9098280" y="1600200"/>
            <a:ext cx="914" cy="1828800"/>
          </a:xfrm>
          <a:prstGeom prst="line">
            <a:avLst/>
          </a:prstGeom>
          <a:noFill/>
          <a:ln w="38100">
            <a:solidFill>
              <a:srgbClr val="962B7C"/>
            </a:solidFill>
            <a:prstDash val="solid"/>
          </a:ln>
        </p:spPr>
      </p:sp>
      <p:sp>
        <p:nvSpPr>
          <p:cNvPr id="3" name="Shape 1"/>
          <p:cNvSpPr/>
          <p:nvPr/>
        </p:nvSpPr>
        <p:spPr>
          <a:xfrm>
            <a:off x="8641080" y="1143000"/>
            <a:ext cx="914400" cy="914400"/>
          </a:xfrm>
          <a:prstGeom prst="ellipse">
            <a:avLst/>
          </a:prstGeom>
          <a:solidFill>
            <a:srgbClr val="962B7C"/>
          </a:solidFill>
          <a:ln w="12700">
            <a:solidFill>
              <a:srgbClr val="962B7C"/>
            </a:solidFill>
            <a:prstDash val="solid"/>
          </a:ln>
        </p:spPr>
      </p:sp>
      <p:sp>
        <p:nvSpPr>
          <p:cNvPr id="4" name="Text 2"/>
          <p:cNvSpPr txBox="1"/>
          <p:nvPr/>
        </p:nvSpPr>
        <p:spPr>
          <a:xfrm>
            <a:off x="8001000" y="731520"/>
            <a:ext cx="2194560" cy="36576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Nhà tài trợ</a:t>
            </a:r>
            <a:endParaRPr lang="en-US" sz="1200" dirty="0"/>
          </a:p>
        </p:txBody>
      </p:sp>
      <p:sp>
        <p:nvSpPr>
          <p:cNvPr id="5" name="Shape 3"/>
          <p:cNvSpPr/>
          <p:nvPr/>
        </p:nvSpPr>
        <p:spPr>
          <a:xfrm>
            <a:off x="9098280" y="3429000"/>
            <a:ext cx="1583787" cy="914400"/>
          </a:xfrm>
          <a:prstGeom prst="line">
            <a:avLst/>
          </a:prstGeom>
          <a:noFill/>
          <a:ln w="38100">
            <a:solidFill>
              <a:srgbClr val="09A1E5"/>
            </a:solidFill>
            <a:prstDash val="solid"/>
          </a:ln>
        </p:spPr>
      </p:sp>
      <p:sp>
        <p:nvSpPr>
          <p:cNvPr id="6" name="Shape 4"/>
          <p:cNvSpPr/>
          <p:nvPr/>
        </p:nvSpPr>
        <p:spPr>
          <a:xfrm>
            <a:off x="10224867" y="3886200"/>
            <a:ext cx="914400" cy="914400"/>
          </a:xfrm>
          <a:prstGeom prst="ellipse">
            <a:avLst/>
          </a:prstGeom>
          <a:solidFill>
            <a:srgbClr val="09A1E5"/>
          </a:solidFill>
          <a:ln w="12700">
            <a:solidFill>
              <a:srgbClr val="09A1E5"/>
            </a:solidFill>
            <a:prstDash val="solid"/>
          </a:ln>
        </p:spPr>
      </p:sp>
      <p:sp>
        <p:nvSpPr>
          <p:cNvPr id="7" name="Text 5"/>
          <p:cNvSpPr txBox="1"/>
          <p:nvPr/>
        </p:nvSpPr>
        <p:spPr>
          <a:xfrm>
            <a:off x="9584787" y="4846320"/>
            <a:ext cx="2194560" cy="36576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Nhà cung cấp – địa điểm</a:t>
            </a:r>
            <a:endParaRPr lang="en-US" sz="1200" dirty="0"/>
          </a:p>
        </p:txBody>
      </p:sp>
      <p:sp>
        <p:nvSpPr>
          <p:cNvPr id="8" name="Shape 6"/>
          <p:cNvSpPr/>
          <p:nvPr/>
        </p:nvSpPr>
        <p:spPr>
          <a:xfrm flipH="1">
            <a:off x="7514493" y="3429000"/>
            <a:ext cx="1583787" cy="914400"/>
          </a:xfrm>
          <a:prstGeom prst="line">
            <a:avLst/>
          </a:prstGeom>
          <a:noFill/>
          <a:ln w="38100">
            <a:solidFill>
              <a:srgbClr val="FF5178"/>
            </a:solidFill>
            <a:prstDash val="solid"/>
          </a:ln>
        </p:spPr>
      </p:sp>
      <p:sp>
        <p:nvSpPr>
          <p:cNvPr id="9" name="Shape 7"/>
          <p:cNvSpPr/>
          <p:nvPr/>
        </p:nvSpPr>
        <p:spPr>
          <a:xfrm>
            <a:off x="7057293" y="3886200"/>
            <a:ext cx="914400" cy="914400"/>
          </a:xfrm>
          <a:prstGeom prst="ellipse">
            <a:avLst/>
          </a:prstGeom>
          <a:solidFill>
            <a:srgbClr val="FF5178"/>
          </a:solidFill>
          <a:ln w="12700">
            <a:solidFill>
              <a:srgbClr val="FF5178"/>
            </a:solidFill>
            <a:prstDash val="solid"/>
          </a:ln>
        </p:spPr>
      </p:sp>
      <p:sp>
        <p:nvSpPr>
          <p:cNvPr id="10" name="Text 8"/>
          <p:cNvSpPr txBox="1"/>
          <p:nvPr/>
        </p:nvSpPr>
        <p:spPr>
          <a:xfrm>
            <a:off x="6417213" y="4846320"/>
            <a:ext cx="2194560" cy="365760"/>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Báo chí – KOL</a:t>
            </a:r>
            <a:endParaRPr lang="en-US" sz="1200" dirty="0"/>
          </a:p>
        </p:txBody>
      </p:sp>
      <p:sp>
        <p:nvSpPr>
          <p:cNvPr id="11" name="Shape 9"/>
          <p:cNvSpPr/>
          <p:nvPr/>
        </p:nvSpPr>
        <p:spPr>
          <a:xfrm>
            <a:off x="8366760" y="2697480"/>
            <a:ext cx="1463040" cy="1463040"/>
          </a:xfrm>
          <a:prstGeom prst="ellipse">
            <a:avLst/>
          </a:prstGeom>
          <a:solidFill>
            <a:srgbClr val="FFD23B"/>
          </a:solidFill>
          <a:ln w="12700">
            <a:solidFill>
              <a:srgbClr val="FFD23B"/>
            </a:solidFill>
            <a:prstDash val="solid"/>
          </a:ln>
        </p:spPr>
      </p:sp>
      <p:sp>
        <p:nvSpPr>
          <p:cNvPr id="12" name="Text 10"/>
          <p:cNvSpPr txBox="1"/>
          <p:nvPr/>
        </p:nvSpPr>
        <p:spPr>
          <a:xfrm>
            <a:off x="8366760" y="2697480"/>
            <a:ext cx="1463040" cy="146304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Key Account</a:t>
            </a:r>
            <a:endParaRPr lang="en-US" sz="1400" dirty="0"/>
          </a:p>
        </p:txBody>
      </p:sp>
      <p:sp>
        <p:nvSpPr>
          <p:cNvPr id="13" name="Shape 11"/>
          <p:cNvSpPr/>
          <p:nvPr/>
        </p:nvSpPr>
        <p:spPr>
          <a:xfrm>
            <a:off x="11247120" y="914400"/>
            <a:ext cx="320040" cy="320040"/>
          </a:xfrm>
          <a:prstGeom prst="ellipse">
            <a:avLst/>
          </a:prstGeom>
          <a:solidFill>
            <a:srgbClr val="49B296"/>
          </a:solidFill>
          <a:ln w="12700">
            <a:solidFill>
              <a:srgbClr val="49B296"/>
            </a:solidFill>
            <a:prstDash val="solid"/>
          </a:ln>
        </p:spPr>
      </p:sp>
      <p:sp>
        <p:nvSpPr>
          <p:cNvPr id="14" name="Shape 12"/>
          <p:cNvSpPr/>
          <p:nvPr/>
        </p:nvSpPr>
        <p:spPr>
          <a:xfrm>
            <a:off x="7132320" y="5486400"/>
            <a:ext cx="320040" cy="320040"/>
          </a:xfrm>
          <a:prstGeom prst="ellipse">
            <a:avLst/>
          </a:prstGeom>
          <a:solidFill>
            <a:srgbClr val="FF9259"/>
          </a:solidFill>
          <a:ln w="12700">
            <a:solidFill>
              <a:srgbClr val="FF9259"/>
            </a:solidFill>
            <a:prstDash val="solid"/>
          </a:ln>
        </p:spPr>
      </p:sp>
      <p:sp>
        <p:nvSpPr>
          <p:cNvPr id="15" name="Shape 13"/>
          <p:cNvSpPr/>
          <p:nvPr/>
        </p:nvSpPr>
        <p:spPr>
          <a:xfrm>
            <a:off x="548640" y="914400"/>
            <a:ext cx="2834640" cy="420624"/>
          </a:xfrm>
          <a:prstGeom prst="roundRect">
            <a:avLst>
              <a:gd name="adj" fmla="val 50000"/>
            </a:avLst>
          </a:prstGeom>
          <a:solidFill>
            <a:srgbClr val="FFD23B"/>
          </a:solidFill>
          <a:ln w="12700">
            <a:solidFill>
              <a:srgbClr val="FFD23B"/>
            </a:solidFill>
            <a:prstDash val="solid"/>
          </a:ln>
        </p:spPr>
      </p:sp>
      <p:sp>
        <p:nvSpPr>
          <p:cNvPr id="16" name="Text 14"/>
          <p:cNvSpPr txBox="1"/>
          <p:nvPr/>
        </p:nvSpPr>
        <p:spPr>
          <a:xfrm>
            <a:off x="621792" y="914400"/>
            <a:ext cx="2688336" cy="420624"/>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EVM1110E  ·  Buổi 12 / 15</a:t>
            </a:r>
            <a:endParaRPr lang="en-US" sz="1400" dirty="0"/>
          </a:p>
        </p:txBody>
      </p:sp>
      <p:sp>
        <p:nvSpPr>
          <p:cNvPr id="17" name="Text 15"/>
          <p:cNvSpPr txBox="1"/>
          <p:nvPr/>
        </p:nvSpPr>
        <p:spPr>
          <a:xfrm>
            <a:off x="548640" y="1600200"/>
            <a:ext cx="6035040" cy="1737360"/>
          </a:xfrm>
          <a:prstGeom prst="rect">
            <a:avLst/>
          </a:prstGeom>
          <a:noFill/>
          <a:ln/>
        </p:spPr>
        <p:txBody>
          <a:bodyPr wrap="square" lIns="0" tIns="0" rIns="0" bIns="0" rtlCol="0" anchor="t"/>
          <a:lstStyle/>
          <a:p>
            <a:pPr indent="0" marL="0">
              <a:buNone/>
            </a:pPr>
            <a:r>
              <a:rPr lang="en-US" sz="3800" b="1" dirty="0">
                <a:solidFill>
                  <a:srgbClr val="2A2238"/>
                </a:solidFill>
                <a:latin typeface="Alexandria" pitchFamily="34" charset="0"/>
                <a:ea typeface="Alexandria" pitchFamily="34" charset="-122"/>
                <a:cs typeface="Alexandria" pitchFamily="34" charset="-120"/>
              </a:rPr>
              <a:t>Quản trị mối quan hệ trong tổ chức sự kiện</a:t>
            </a:r>
            <a:endParaRPr lang="en-US" sz="3800" dirty="0"/>
          </a:p>
        </p:txBody>
      </p:sp>
      <p:sp>
        <p:nvSpPr>
          <p:cNvPr id="18" name="Text 16"/>
          <p:cNvSpPr txBox="1"/>
          <p:nvPr/>
        </p:nvSpPr>
        <p:spPr>
          <a:xfrm>
            <a:off x="548640" y="3429000"/>
            <a:ext cx="6035040" cy="822960"/>
          </a:xfrm>
          <a:prstGeom prst="rect">
            <a:avLst/>
          </a:prstGeom>
          <a:noFill/>
          <a:ln/>
        </p:spPr>
        <p:txBody>
          <a:bodyPr wrap="square" lIns="0" tIns="0" rIns="0" bIns="0" rtlCol="0" anchor="t"/>
          <a:lstStyle/>
          <a:p>
            <a:pPr indent="0" marL="0">
              <a:buNone/>
            </a:pPr>
            <a:r>
              <a:rPr lang="en-US" sz="2200" i="1" dirty="0">
                <a:solidFill>
                  <a:srgbClr val="962B7C"/>
                </a:solidFill>
                <a:latin typeface="Alexandria" pitchFamily="34" charset="0"/>
                <a:ea typeface="Alexandria" pitchFamily="34" charset="-122"/>
                <a:cs typeface="Alexandria" pitchFamily="34" charset="-120"/>
              </a:rPr>
              <a:t>Leverage &amp; Resolving Network Conflicts</a:t>
            </a:r>
            <a:endParaRPr lang="en-US" sz="2200" dirty="0"/>
          </a:p>
        </p:txBody>
      </p:sp>
      <p:sp>
        <p:nvSpPr>
          <p:cNvPr id="19" name="Text 17"/>
          <p:cNvSpPr txBox="1"/>
          <p:nvPr/>
        </p:nvSpPr>
        <p:spPr>
          <a:xfrm>
            <a:off x="548640" y="4572000"/>
            <a:ext cx="6035040" cy="1280160"/>
          </a:xfrm>
          <a:prstGeom prst="rect">
            <a:avLst/>
          </a:prstGeom>
          <a:noFill/>
          <a:ln/>
        </p:spPr>
        <p:txBody>
          <a:bodyPr wrap="square" lIns="0" tIns="0" rIns="0" bIns="0" rtlCol="0" anchor="t"/>
          <a:lstStyle/>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Phần 3 · buổi 4/4 — Điều phối các bên liên quan phục vụ hành trình khách hàng</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Khoa Marketing · UEF</a:t>
            </a:r>
            <a:endParaRPr lang="en-US" sz="1500" dirty="0"/>
          </a:p>
          <a:p>
            <a:pPr indent="0" marL="0">
              <a:spcAft>
                <a:spcPts val="400"/>
              </a:spcAft>
              <a:buNone/>
            </a:pPr>
            <a:r>
              <a:rPr lang="en-US" sz="1500" dirty="0">
                <a:solidFill>
                  <a:srgbClr val="6E6878"/>
                </a:solidFill>
                <a:latin typeface="Alexandria" pitchFamily="34" charset="0"/>
                <a:ea typeface="Alexandria" pitchFamily="34" charset="-122"/>
                <a:cs typeface="Alexandria" pitchFamily="34" charset="-120"/>
              </a:rPr>
              <a:t>Giảng viên: [Tên giảng viên]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F9259"/>
          </a:solidFill>
          <a:ln w="9525">
            <a:solidFill>
              <a:srgbClr val="FF9259"/>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b="1" dirty="0">
                <a:solidFill>
                  <a:srgbClr val="2A223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Một mạng lưới vỡ ở một mối nối là vỡ cả</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Y09: Báo Văn hóa (3/1/2026); Nhân Dân (23/1/2026); Dân trí (31/12/2025). Vụ việc đang được xử lý theo pháp luật.</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a:t>
            </a:r>
            <a:endParaRPr lang="en-US" sz="1000" dirty="0"/>
          </a:p>
        </p:txBody>
      </p:sp>
      <p:sp>
        <p:nvSpPr>
          <p:cNvPr id="23" name="Shape 20"/>
          <p:cNvSpPr/>
          <p:nvPr/>
        </p:nvSpPr>
        <p:spPr>
          <a:xfrm>
            <a:off x="548640" y="1874520"/>
            <a:ext cx="4937760" cy="4114800"/>
          </a:xfrm>
          <a:prstGeom prst="roundRect">
            <a:avLst>
              <a:gd name="adj" fmla="val 2667"/>
            </a:avLst>
          </a:prstGeom>
          <a:solidFill>
            <a:srgbClr val="FFE4EA"/>
          </a:solidFill>
          <a:ln w="12700">
            <a:solidFill>
              <a:srgbClr val="FF5178"/>
            </a:solidFill>
            <a:prstDash val="solid"/>
          </a:ln>
        </p:spPr>
      </p:sp>
      <p:sp>
        <p:nvSpPr>
          <p:cNvPr id="24" name="Text 21"/>
          <p:cNvSpPr txBox="1"/>
          <p:nvPr/>
        </p:nvSpPr>
        <p:spPr>
          <a:xfrm>
            <a:off x="822960" y="2011680"/>
            <a:ext cx="4389120" cy="640080"/>
          </a:xfrm>
          <a:prstGeom prst="rect">
            <a:avLst/>
          </a:prstGeom>
          <a:noFill/>
          <a:ln/>
        </p:spPr>
        <p:txBody>
          <a:bodyPr wrap="square" lIns="0" tIns="0" rIns="0" bIns="0" rtlCol="0" anchor="t"/>
          <a:lstStyle/>
          <a:p>
            <a:pPr indent="0" marL="0">
              <a:buNone/>
            </a:pPr>
            <a:r>
              <a:rPr lang="en-US" sz="1400" b="1" dirty="0">
                <a:solidFill>
                  <a:srgbClr val="E03A62"/>
                </a:solidFill>
                <a:latin typeface="Alexandria" pitchFamily="34" charset="0"/>
                <a:ea typeface="Alexandria" pitchFamily="34" charset="-122"/>
                <a:cs typeface="Alexandria" pitchFamily="34" charset="-120"/>
              </a:rPr>
              <a:t>“Về đây bốn cánh chim trời” · Hà Nội · 28/12/2025</a:t>
            </a:r>
            <a:endParaRPr lang="en-US" sz="1400" dirty="0"/>
          </a:p>
        </p:txBody>
      </p:sp>
      <p:sp>
        <p:nvSpPr>
          <p:cNvPr id="25" name="Text 22"/>
          <p:cNvSpPr txBox="1"/>
          <p:nvPr/>
        </p:nvSpPr>
        <p:spPr>
          <a:xfrm>
            <a:off x="822960" y="2651760"/>
            <a:ext cx="4389120" cy="1005840"/>
          </a:xfrm>
          <a:prstGeom prst="rect">
            <a:avLst/>
          </a:prstGeom>
          <a:noFill/>
          <a:ln/>
        </p:spPr>
        <p:txBody>
          <a:bodyPr wrap="square" lIns="0" tIns="0" rIns="0" bIns="0" rtlCol="0" anchor="ctr"/>
          <a:lstStyle/>
          <a:p>
            <a:pPr indent="0" marL="0">
              <a:buNone/>
            </a:pPr>
            <a:r>
              <a:rPr lang="en-US" sz="6000" b="1" dirty="0">
                <a:solidFill>
                  <a:srgbClr val="E03A62"/>
                </a:solidFill>
                <a:latin typeface="Alexandria" pitchFamily="34" charset="0"/>
                <a:ea typeface="Alexandria" pitchFamily="34" charset="-122"/>
                <a:cs typeface="Alexandria" pitchFamily="34" charset="-120"/>
              </a:rPr>
              <a:t>40</a:t>
            </a:r>
            <a:endParaRPr lang="en-US" sz="6000" dirty="0"/>
          </a:p>
        </p:txBody>
      </p:sp>
      <p:sp>
        <p:nvSpPr>
          <p:cNvPr id="26" name="Text 23"/>
          <p:cNvSpPr txBox="1"/>
          <p:nvPr/>
        </p:nvSpPr>
        <p:spPr>
          <a:xfrm>
            <a:off x="822960" y="3657600"/>
            <a:ext cx="4389120" cy="1097280"/>
          </a:xfrm>
          <a:prstGeom prst="rect">
            <a:avLst/>
          </a:prstGeom>
          <a:noFill/>
          <a:ln/>
        </p:spPr>
        <p:txBody>
          <a:bodyPr wrap="square" lIns="0" tIns="0" rIns="0" bIns="0" rtlCol="0" anchor="t"/>
          <a:lstStyle/>
          <a:p>
            <a:pPr indent="0" marL="0">
              <a:buNone/>
            </a:pPr>
            <a:r>
              <a:rPr lang="en-US" sz="1500" dirty="0">
                <a:solidFill>
                  <a:srgbClr val="2A2238"/>
                </a:solidFill>
                <a:latin typeface="Alexandria" pitchFamily="34" charset="0"/>
                <a:ea typeface="Alexandria" pitchFamily="34" charset="-122"/>
                <a:cs typeface="Alexandria" pitchFamily="34" charset="-120"/>
              </a:rPr>
              <a:t>nghệ sĩ không lên sân khấu dù khán giả đã vào, sân khấu và âm thanh ánh sáng đã dựng xong.</a:t>
            </a:r>
            <a:endParaRPr lang="en-US" sz="1500" dirty="0"/>
          </a:p>
        </p:txBody>
      </p:sp>
      <p:sp>
        <p:nvSpPr>
          <p:cNvPr id="27" name="Text 24"/>
          <p:cNvSpPr txBox="1"/>
          <p:nvPr/>
        </p:nvSpPr>
        <p:spPr>
          <a:xfrm>
            <a:off x="822960" y="4846320"/>
            <a:ext cx="4389120" cy="914400"/>
          </a:xfrm>
          <a:prstGeom prst="rect">
            <a:avLst/>
          </a:prstGeom>
          <a:noFill/>
          <a:ln/>
        </p:spPr>
        <p:txBody>
          <a:bodyPr wrap="square" lIns="0" tIns="0" rIns="0" bIns="0" rtlCol="0" anchor="t"/>
          <a:lstStyle/>
          <a:p>
            <a:pPr indent="0" marL="0">
              <a:buNone/>
            </a:pPr>
            <a:r>
              <a:rPr lang="en-US" sz="1300" i="1" dirty="0">
                <a:solidFill>
                  <a:srgbClr val="6E6878"/>
                </a:solidFill>
                <a:latin typeface="Alexandria" pitchFamily="34" charset="0"/>
                <a:ea typeface="Alexandria" pitchFamily="34" charset="-122"/>
                <a:cs typeface="Alexandria" pitchFamily="34" charset="-120"/>
              </a:rPr>
              <a:t>Báo chí đưa tin: tranh chấp thanh toán giữa nghệ sĩ và nhà sản xuất.</a:t>
            </a:r>
            <a:endParaRPr lang="en-US" sz="1300" dirty="0"/>
          </a:p>
        </p:txBody>
      </p:sp>
      <p:sp>
        <p:nvSpPr>
          <p:cNvPr id="28" name="Text 25"/>
          <p:cNvSpPr txBox="1"/>
          <p:nvPr/>
        </p:nvSpPr>
        <p:spPr>
          <a:xfrm>
            <a:off x="5852160" y="1874520"/>
            <a:ext cx="5790895" cy="45720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Vấn đề nằm ở đâu?</a:t>
            </a:r>
            <a:endParaRPr lang="en-US" sz="1700" dirty="0"/>
          </a:p>
        </p:txBody>
      </p:sp>
      <p:sp>
        <p:nvSpPr>
          <p:cNvPr id="29" name="Shape 26"/>
          <p:cNvSpPr/>
          <p:nvPr/>
        </p:nvSpPr>
        <p:spPr>
          <a:xfrm>
            <a:off x="5852160" y="2423160"/>
            <a:ext cx="5790895" cy="768096"/>
          </a:xfrm>
          <a:prstGeom prst="roundRect">
            <a:avLst>
              <a:gd name="adj" fmla="val 14286"/>
            </a:avLst>
          </a:prstGeom>
          <a:solidFill>
            <a:srgbClr val="FFFFFF"/>
          </a:solidFill>
          <a:ln w="12700">
            <a:solidFill>
              <a:srgbClr val="DCD7C8"/>
            </a:solidFill>
            <a:prstDash val="solid"/>
          </a:ln>
        </p:spPr>
      </p:sp>
      <p:sp>
        <p:nvSpPr>
          <p:cNvPr id="30" name="Shape 27"/>
          <p:cNvSpPr/>
          <p:nvPr/>
        </p:nvSpPr>
        <p:spPr>
          <a:xfrm>
            <a:off x="6035040" y="2532888"/>
            <a:ext cx="548640" cy="548640"/>
          </a:xfrm>
          <a:prstGeom prst="ellipse">
            <a:avLst/>
          </a:prstGeom>
          <a:solidFill>
            <a:srgbClr val="FF9259"/>
          </a:solidFill>
          <a:ln w="12700">
            <a:solidFill>
              <a:srgbClr val="FF9259"/>
            </a:solidFill>
            <a:prstDash val="solid"/>
          </a:ln>
        </p:spPr>
      </p:sp>
      <p:sp>
        <p:nvSpPr>
          <p:cNvPr id="31" name="Text 28"/>
          <p:cNvSpPr txBox="1"/>
          <p:nvPr/>
        </p:nvSpPr>
        <p:spPr>
          <a:xfrm>
            <a:off x="6035040" y="2532888"/>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A</a:t>
            </a:r>
            <a:endParaRPr lang="en-US" sz="2040" dirty="0"/>
          </a:p>
        </p:txBody>
      </p:sp>
      <p:sp>
        <p:nvSpPr>
          <p:cNvPr id="32" name="Text 29"/>
          <p:cNvSpPr txBox="1"/>
          <p:nvPr/>
        </p:nvSpPr>
        <p:spPr>
          <a:xfrm>
            <a:off x="6766560" y="2423160"/>
            <a:ext cx="4693615" cy="768096"/>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Nhà tổ chức</a:t>
            </a:r>
            <a:endParaRPr lang="en-US" sz="1800" dirty="0"/>
          </a:p>
        </p:txBody>
      </p:sp>
      <p:sp>
        <p:nvSpPr>
          <p:cNvPr id="33" name="Shape 30"/>
          <p:cNvSpPr/>
          <p:nvPr/>
        </p:nvSpPr>
        <p:spPr>
          <a:xfrm>
            <a:off x="5852160" y="3319272"/>
            <a:ext cx="5790895" cy="768096"/>
          </a:xfrm>
          <a:prstGeom prst="roundRect">
            <a:avLst>
              <a:gd name="adj" fmla="val 14286"/>
            </a:avLst>
          </a:prstGeom>
          <a:solidFill>
            <a:srgbClr val="FFFFFF"/>
          </a:solidFill>
          <a:ln w="12700">
            <a:solidFill>
              <a:srgbClr val="DCD7C8"/>
            </a:solidFill>
            <a:prstDash val="solid"/>
          </a:ln>
        </p:spPr>
      </p:sp>
      <p:sp>
        <p:nvSpPr>
          <p:cNvPr id="34" name="Shape 31"/>
          <p:cNvSpPr/>
          <p:nvPr/>
        </p:nvSpPr>
        <p:spPr>
          <a:xfrm>
            <a:off x="6035040" y="3429000"/>
            <a:ext cx="548640" cy="548640"/>
          </a:xfrm>
          <a:prstGeom prst="ellipse">
            <a:avLst/>
          </a:prstGeom>
          <a:solidFill>
            <a:srgbClr val="09A1E5"/>
          </a:solidFill>
          <a:ln w="12700">
            <a:solidFill>
              <a:srgbClr val="09A1E5"/>
            </a:solidFill>
            <a:prstDash val="solid"/>
          </a:ln>
        </p:spPr>
      </p:sp>
      <p:sp>
        <p:nvSpPr>
          <p:cNvPr id="35" name="Text 32"/>
          <p:cNvSpPr txBox="1"/>
          <p:nvPr/>
        </p:nvSpPr>
        <p:spPr>
          <a:xfrm>
            <a:off x="6035040" y="3429000"/>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B</a:t>
            </a:r>
            <a:endParaRPr lang="en-US" sz="2040" dirty="0"/>
          </a:p>
        </p:txBody>
      </p:sp>
      <p:sp>
        <p:nvSpPr>
          <p:cNvPr id="36" name="Text 33"/>
          <p:cNvSpPr txBox="1"/>
          <p:nvPr/>
        </p:nvSpPr>
        <p:spPr>
          <a:xfrm>
            <a:off x="6766560" y="3319272"/>
            <a:ext cx="4693615" cy="768096"/>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Nghệ sĩ</a:t>
            </a:r>
            <a:endParaRPr lang="en-US" sz="1800" dirty="0"/>
          </a:p>
        </p:txBody>
      </p:sp>
      <p:sp>
        <p:nvSpPr>
          <p:cNvPr id="37" name="Shape 34"/>
          <p:cNvSpPr/>
          <p:nvPr/>
        </p:nvSpPr>
        <p:spPr>
          <a:xfrm>
            <a:off x="5852160" y="4215384"/>
            <a:ext cx="5790895" cy="768096"/>
          </a:xfrm>
          <a:prstGeom prst="roundRect">
            <a:avLst>
              <a:gd name="adj" fmla="val 14286"/>
            </a:avLst>
          </a:prstGeom>
          <a:solidFill>
            <a:srgbClr val="FFFFFF"/>
          </a:solidFill>
          <a:ln w="12700">
            <a:solidFill>
              <a:srgbClr val="DCD7C8"/>
            </a:solidFill>
            <a:prstDash val="solid"/>
          </a:ln>
        </p:spPr>
      </p:sp>
      <p:sp>
        <p:nvSpPr>
          <p:cNvPr id="38" name="Shape 35"/>
          <p:cNvSpPr/>
          <p:nvPr/>
        </p:nvSpPr>
        <p:spPr>
          <a:xfrm>
            <a:off x="6035040" y="4325112"/>
            <a:ext cx="548640" cy="548640"/>
          </a:xfrm>
          <a:prstGeom prst="ellipse">
            <a:avLst/>
          </a:prstGeom>
          <a:solidFill>
            <a:srgbClr val="49B296"/>
          </a:solidFill>
          <a:ln w="12700">
            <a:solidFill>
              <a:srgbClr val="49B296"/>
            </a:solidFill>
            <a:prstDash val="solid"/>
          </a:ln>
        </p:spPr>
      </p:sp>
      <p:sp>
        <p:nvSpPr>
          <p:cNvPr id="39" name="Text 36"/>
          <p:cNvSpPr txBox="1"/>
          <p:nvPr/>
        </p:nvSpPr>
        <p:spPr>
          <a:xfrm>
            <a:off x="6035040" y="432511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C</a:t>
            </a:r>
            <a:endParaRPr lang="en-US" sz="2040" dirty="0"/>
          </a:p>
        </p:txBody>
      </p:sp>
      <p:sp>
        <p:nvSpPr>
          <p:cNvPr id="40" name="Text 37"/>
          <p:cNvSpPr txBox="1"/>
          <p:nvPr/>
        </p:nvSpPr>
        <p:spPr>
          <a:xfrm>
            <a:off x="6766560" y="4215384"/>
            <a:ext cx="4693615" cy="768096"/>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Cả hai</a:t>
            </a:r>
            <a:endParaRPr lang="en-US" sz="1800" dirty="0"/>
          </a:p>
        </p:txBody>
      </p:sp>
      <p:sp>
        <p:nvSpPr>
          <p:cNvPr id="41" name="Shape 38"/>
          <p:cNvSpPr/>
          <p:nvPr/>
        </p:nvSpPr>
        <p:spPr>
          <a:xfrm>
            <a:off x="5852160" y="5111496"/>
            <a:ext cx="5790895" cy="768096"/>
          </a:xfrm>
          <a:prstGeom prst="roundRect">
            <a:avLst>
              <a:gd name="adj" fmla="val 14286"/>
            </a:avLst>
          </a:prstGeom>
          <a:solidFill>
            <a:srgbClr val="FFFFFF"/>
          </a:solidFill>
          <a:ln w="12700">
            <a:solidFill>
              <a:srgbClr val="DCD7C8"/>
            </a:solidFill>
            <a:prstDash val="solid"/>
          </a:ln>
        </p:spPr>
      </p:sp>
      <p:sp>
        <p:nvSpPr>
          <p:cNvPr id="42" name="Shape 39"/>
          <p:cNvSpPr/>
          <p:nvPr/>
        </p:nvSpPr>
        <p:spPr>
          <a:xfrm>
            <a:off x="6035040" y="5221224"/>
            <a:ext cx="548640" cy="548640"/>
          </a:xfrm>
          <a:prstGeom prst="ellipse">
            <a:avLst/>
          </a:prstGeom>
          <a:solidFill>
            <a:srgbClr val="962B7C"/>
          </a:solidFill>
          <a:ln w="12700">
            <a:solidFill>
              <a:srgbClr val="962B7C"/>
            </a:solidFill>
            <a:prstDash val="solid"/>
          </a:ln>
        </p:spPr>
      </p:sp>
      <p:sp>
        <p:nvSpPr>
          <p:cNvPr id="43" name="Text 40"/>
          <p:cNvSpPr txBox="1"/>
          <p:nvPr/>
        </p:nvSpPr>
        <p:spPr>
          <a:xfrm>
            <a:off x="6035040" y="5221224"/>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D</a:t>
            </a:r>
            <a:endParaRPr lang="en-US" sz="2040" dirty="0"/>
          </a:p>
        </p:txBody>
      </p:sp>
      <p:sp>
        <p:nvSpPr>
          <p:cNvPr id="44" name="Text 41"/>
          <p:cNvSpPr txBox="1"/>
          <p:nvPr/>
        </p:nvSpPr>
        <p:spPr>
          <a:xfrm>
            <a:off x="6766560" y="5111496"/>
            <a:ext cx="4693615" cy="768096"/>
          </a:xfrm>
          <a:prstGeom prst="rect">
            <a:avLst/>
          </a:prstGeom>
          <a:noFill/>
          <a:ln/>
        </p:spPr>
        <p:txBody>
          <a:bodyPr wrap="square" lIns="0" tIns="0" rIns="0" bIns="0" rtlCol="0" anchor="ctr"/>
          <a:lstStyle/>
          <a:p>
            <a:pPr indent="0" marL="0">
              <a:buNone/>
            </a:pPr>
            <a:r>
              <a:rPr lang="en-US" sz="1800" dirty="0">
                <a:solidFill>
                  <a:srgbClr val="2A2238"/>
                </a:solidFill>
                <a:latin typeface="Alexandria" pitchFamily="34" charset="0"/>
                <a:ea typeface="Alexandria" pitchFamily="34" charset="-122"/>
                <a:cs typeface="Alexandria" pitchFamily="34" charset="-120"/>
              </a:rPr>
              <a:t>Khoảng trống giữa các bên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Sau Buổi 9–11, An Phát đứng giữa một mạng lưới</a:t>
            </a:r>
            <a:endParaRPr lang="en-US" sz="26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3</a:t>
            </a:r>
            <a:endParaRPr lang="en-US" sz="1000" dirty="0"/>
          </a:p>
        </p:txBody>
      </p:sp>
      <p:sp>
        <p:nvSpPr>
          <p:cNvPr id="22" name="Shape 19"/>
          <p:cNvSpPr/>
          <p:nvPr/>
        </p:nvSpPr>
        <p:spPr>
          <a:xfrm flipV="1">
            <a:off x="3749040" y="2286000"/>
            <a:ext cx="914" cy="1737360"/>
          </a:xfrm>
          <a:prstGeom prst="line">
            <a:avLst/>
          </a:prstGeom>
          <a:noFill/>
          <a:ln w="38100">
            <a:solidFill>
              <a:srgbClr val="962B7C"/>
            </a:solidFill>
            <a:prstDash val="solid"/>
          </a:ln>
        </p:spPr>
      </p:sp>
      <p:sp>
        <p:nvSpPr>
          <p:cNvPr id="23" name="Shape 20"/>
          <p:cNvSpPr/>
          <p:nvPr/>
        </p:nvSpPr>
        <p:spPr>
          <a:xfrm>
            <a:off x="3337560" y="2903220"/>
            <a:ext cx="822960" cy="329184"/>
          </a:xfrm>
          <a:prstGeom prst="roundRect">
            <a:avLst>
              <a:gd name="adj" fmla="val 50000"/>
            </a:avLst>
          </a:prstGeom>
          <a:solidFill>
            <a:srgbClr val="FF9259"/>
          </a:solidFill>
          <a:ln w="12700">
            <a:solidFill>
              <a:srgbClr val="FF9259"/>
            </a:solidFill>
            <a:prstDash val="solid"/>
          </a:ln>
        </p:spPr>
      </p:sp>
      <p:sp>
        <p:nvSpPr>
          <p:cNvPr id="24" name="Text 21"/>
          <p:cNvSpPr txBox="1"/>
          <p:nvPr/>
        </p:nvSpPr>
        <p:spPr>
          <a:xfrm>
            <a:off x="3410712" y="2903220"/>
            <a:ext cx="676656" cy="329184"/>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Nova</a:t>
            </a:r>
            <a:endParaRPr lang="en-US" sz="1100" dirty="0"/>
          </a:p>
        </p:txBody>
      </p:sp>
      <p:sp>
        <p:nvSpPr>
          <p:cNvPr id="25" name="Shape 22"/>
          <p:cNvSpPr/>
          <p:nvPr/>
        </p:nvSpPr>
        <p:spPr>
          <a:xfrm>
            <a:off x="2514600" y="1828800"/>
            <a:ext cx="2468880" cy="914400"/>
          </a:xfrm>
          <a:prstGeom prst="roundRect">
            <a:avLst>
              <a:gd name="adj" fmla="val 12000"/>
            </a:avLst>
          </a:prstGeom>
          <a:solidFill>
            <a:srgbClr val="F1E1EE"/>
          </a:solidFill>
          <a:ln w="19050">
            <a:solidFill>
              <a:srgbClr val="962B7C"/>
            </a:solidFill>
            <a:prstDash val="solid"/>
          </a:ln>
        </p:spPr>
      </p:sp>
      <p:sp>
        <p:nvSpPr>
          <p:cNvPr id="26" name="Text 23"/>
          <p:cNvSpPr txBox="1"/>
          <p:nvPr/>
        </p:nvSpPr>
        <p:spPr>
          <a:xfrm>
            <a:off x="2606040" y="1828800"/>
            <a:ext cx="2286000" cy="91440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Nhà tài trợ</a:t>
            </a:r>
            <a:endParaRPr lang="en-US" sz="1300" dirty="0"/>
          </a:p>
          <a:p>
            <a:pPr algn="ctr" indent="0" marL="0">
              <a:buNone/>
            </a:pPr>
            <a:r>
              <a:rPr lang="en-US" sz="1000" dirty="0">
                <a:solidFill>
                  <a:srgbClr val="6E6878"/>
                </a:solidFill>
                <a:latin typeface="Alexandria" pitchFamily="34" charset="0"/>
                <a:ea typeface="Alexandria" pitchFamily="34" charset="-122"/>
                <a:cs typeface="Alexandria" pitchFamily="34" charset="-120"/>
              </a:rPr>
              <a:t>Bình An, GlobalCard · Buổi 9</a:t>
            </a:r>
            <a:endParaRPr lang="en-US" sz="1300" dirty="0"/>
          </a:p>
        </p:txBody>
      </p:sp>
      <p:sp>
        <p:nvSpPr>
          <p:cNvPr id="27" name="Shape 24"/>
          <p:cNvSpPr/>
          <p:nvPr/>
        </p:nvSpPr>
        <p:spPr>
          <a:xfrm>
            <a:off x="3749040" y="4023360"/>
            <a:ext cx="1821225" cy="1116753"/>
          </a:xfrm>
          <a:prstGeom prst="line">
            <a:avLst/>
          </a:prstGeom>
          <a:noFill/>
          <a:ln w="38100">
            <a:solidFill>
              <a:srgbClr val="09A1E5"/>
            </a:solidFill>
            <a:prstDash val="solid"/>
          </a:ln>
        </p:spPr>
      </p:sp>
      <p:sp>
        <p:nvSpPr>
          <p:cNvPr id="28" name="Shape 25"/>
          <p:cNvSpPr/>
          <p:nvPr/>
        </p:nvSpPr>
        <p:spPr>
          <a:xfrm>
            <a:off x="4193536" y="4383642"/>
            <a:ext cx="822960" cy="329184"/>
          </a:xfrm>
          <a:prstGeom prst="roundRect">
            <a:avLst>
              <a:gd name="adj" fmla="val 50000"/>
            </a:avLst>
          </a:prstGeom>
          <a:solidFill>
            <a:srgbClr val="FF9259"/>
          </a:solidFill>
          <a:ln w="12700">
            <a:solidFill>
              <a:srgbClr val="FF9259"/>
            </a:solidFill>
            <a:prstDash val="solid"/>
          </a:ln>
        </p:spPr>
      </p:sp>
      <p:sp>
        <p:nvSpPr>
          <p:cNvPr id="29" name="Text 26"/>
          <p:cNvSpPr txBox="1"/>
          <p:nvPr/>
        </p:nvSpPr>
        <p:spPr>
          <a:xfrm>
            <a:off x="4266688" y="4383642"/>
            <a:ext cx="676656" cy="329184"/>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Nova</a:t>
            </a:r>
            <a:endParaRPr lang="en-US" sz="1100" dirty="0"/>
          </a:p>
        </p:txBody>
      </p:sp>
      <p:sp>
        <p:nvSpPr>
          <p:cNvPr id="30" name="Shape 27"/>
          <p:cNvSpPr/>
          <p:nvPr/>
        </p:nvSpPr>
        <p:spPr>
          <a:xfrm>
            <a:off x="4335825" y="4682913"/>
            <a:ext cx="2468880" cy="914400"/>
          </a:xfrm>
          <a:prstGeom prst="roundRect">
            <a:avLst>
              <a:gd name="adj" fmla="val 12000"/>
            </a:avLst>
          </a:prstGeom>
          <a:solidFill>
            <a:srgbClr val="DDF1FB"/>
          </a:solidFill>
          <a:ln w="19050">
            <a:solidFill>
              <a:srgbClr val="09A1E5"/>
            </a:solidFill>
            <a:prstDash val="solid"/>
          </a:ln>
        </p:spPr>
      </p:sp>
      <p:sp>
        <p:nvSpPr>
          <p:cNvPr id="31" name="Text 28"/>
          <p:cNvSpPr txBox="1"/>
          <p:nvPr/>
        </p:nvSpPr>
        <p:spPr>
          <a:xfrm>
            <a:off x="4427265" y="4682913"/>
            <a:ext cx="2286000" cy="91440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Nhà cung cấp – địa điểm</a:t>
            </a:r>
            <a:endParaRPr lang="en-US" sz="1300" dirty="0"/>
          </a:p>
          <a:p>
            <a:pPr algn="ctr" indent="0" marL="0">
              <a:buNone/>
            </a:pPr>
            <a:r>
              <a:rPr lang="en-US" sz="1000" dirty="0">
                <a:solidFill>
                  <a:srgbClr val="6E6878"/>
                </a:solidFill>
                <a:latin typeface="Alexandria" pitchFamily="34" charset="0"/>
                <a:ea typeface="Alexandria" pitchFamily="34" charset="-122"/>
                <a:cs typeface="Alexandria" pitchFamily="34" charset="-120"/>
              </a:rPr>
              <a:t>khách sạn, AV, nhà in, xe · Buổi 10</a:t>
            </a:r>
            <a:endParaRPr lang="en-US" sz="1300" dirty="0"/>
          </a:p>
        </p:txBody>
      </p:sp>
      <p:sp>
        <p:nvSpPr>
          <p:cNvPr id="32" name="Shape 29"/>
          <p:cNvSpPr/>
          <p:nvPr/>
        </p:nvSpPr>
        <p:spPr>
          <a:xfrm flipH="1">
            <a:off x="1927815" y="4023360"/>
            <a:ext cx="1821225" cy="1116753"/>
          </a:xfrm>
          <a:prstGeom prst="line">
            <a:avLst/>
          </a:prstGeom>
          <a:noFill/>
          <a:ln w="38100">
            <a:solidFill>
              <a:srgbClr val="FF5178"/>
            </a:solidFill>
            <a:prstDash val="solid"/>
          </a:ln>
        </p:spPr>
      </p:sp>
      <p:sp>
        <p:nvSpPr>
          <p:cNvPr id="33" name="Shape 30"/>
          <p:cNvSpPr/>
          <p:nvPr/>
        </p:nvSpPr>
        <p:spPr>
          <a:xfrm>
            <a:off x="2481584" y="4383642"/>
            <a:ext cx="822960" cy="329184"/>
          </a:xfrm>
          <a:prstGeom prst="roundRect">
            <a:avLst>
              <a:gd name="adj" fmla="val 50000"/>
            </a:avLst>
          </a:prstGeom>
          <a:solidFill>
            <a:srgbClr val="FF9259"/>
          </a:solidFill>
          <a:ln w="12700">
            <a:solidFill>
              <a:srgbClr val="FF9259"/>
            </a:solidFill>
            <a:prstDash val="solid"/>
          </a:ln>
        </p:spPr>
      </p:sp>
      <p:sp>
        <p:nvSpPr>
          <p:cNvPr id="34" name="Text 31"/>
          <p:cNvSpPr txBox="1"/>
          <p:nvPr/>
        </p:nvSpPr>
        <p:spPr>
          <a:xfrm>
            <a:off x="2554736" y="4383642"/>
            <a:ext cx="676656" cy="329184"/>
          </a:xfrm>
          <a:prstGeom prst="rect">
            <a:avLst/>
          </a:prstGeom>
          <a:noFill/>
          <a:ln/>
        </p:spPr>
        <p:txBody>
          <a:bodyPr wrap="square" lIns="0" tIns="0" rIns="0" bIns="0" rtlCol="0" anchor="ctr"/>
          <a:lstStyle/>
          <a:p>
            <a:pPr algn="ctr" indent="0" marL="0">
              <a:buNone/>
            </a:pPr>
            <a:r>
              <a:rPr lang="en-US" sz="1100" b="1" dirty="0">
                <a:solidFill>
                  <a:srgbClr val="2A2238"/>
                </a:solidFill>
                <a:latin typeface="Alexandria" pitchFamily="34" charset="0"/>
                <a:ea typeface="Alexandria" pitchFamily="34" charset="-122"/>
                <a:cs typeface="Alexandria" pitchFamily="34" charset="-120"/>
              </a:rPr>
              <a:t>Nova</a:t>
            </a:r>
            <a:endParaRPr lang="en-US" sz="1100" dirty="0"/>
          </a:p>
        </p:txBody>
      </p:sp>
      <p:sp>
        <p:nvSpPr>
          <p:cNvPr id="35" name="Shape 32"/>
          <p:cNvSpPr/>
          <p:nvPr/>
        </p:nvSpPr>
        <p:spPr>
          <a:xfrm>
            <a:off x="693375" y="4682913"/>
            <a:ext cx="2468880" cy="914400"/>
          </a:xfrm>
          <a:prstGeom prst="roundRect">
            <a:avLst>
              <a:gd name="adj" fmla="val 12000"/>
            </a:avLst>
          </a:prstGeom>
          <a:solidFill>
            <a:srgbClr val="FFE4EA"/>
          </a:solidFill>
          <a:ln w="19050">
            <a:solidFill>
              <a:srgbClr val="FF5178"/>
            </a:solidFill>
            <a:prstDash val="solid"/>
          </a:ln>
        </p:spPr>
      </p:sp>
      <p:sp>
        <p:nvSpPr>
          <p:cNvPr id="36" name="Text 33"/>
          <p:cNvSpPr txBox="1"/>
          <p:nvPr/>
        </p:nvSpPr>
        <p:spPr>
          <a:xfrm>
            <a:off x="784815" y="4682913"/>
            <a:ext cx="2286000" cy="91440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Báo chí – KOL</a:t>
            </a:r>
            <a:endParaRPr lang="en-US" sz="1300" dirty="0"/>
          </a:p>
          <a:p>
            <a:pPr algn="ctr" indent="0" marL="0">
              <a:buNone/>
            </a:pPr>
            <a:r>
              <a:rPr lang="en-US" sz="1000" dirty="0">
                <a:solidFill>
                  <a:srgbClr val="6E6878"/>
                </a:solidFill>
                <a:latin typeface="Alexandria" pitchFamily="34" charset="0"/>
                <a:ea typeface="Alexandria" pitchFamily="34" charset="-122"/>
                <a:cs typeface="Alexandria" pitchFamily="34" charset="-120"/>
              </a:rPr>
              <a:t>nhà báo, TS. Nam, chị Mai Anh · Buổi 11</a:t>
            </a:r>
            <a:endParaRPr lang="en-US" sz="1300" dirty="0"/>
          </a:p>
        </p:txBody>
      </p:sp>
      <p:sp>
        <p:nvSpPr>
          <p:cNvPr id="37" name="Shape 34"/>
          <p:cNvSpPr/>
          <p:nvPr/>
        </p:nvSpPr>
        <p:spPr>
          <a:xfrm>
            <a:off x="3017520" y="3520440"/>
            <a:ext cx="1463040" cy="1005840"/>
          </a:xfrm>
          <a:prstGeom prst="ellipse">
            <a:avLst/>
          </a:prstGeom>
          <a:solidFill>
            <a:srgbClr val="FFD23B"/>
          </a:solidFill>
          <a:ln w="12700">
            <a:solidFill>
              <a:srgbClr val="FFD23B"/>
            </a:solidFill>
            <a:prstDash val="solid"/>
          </a:ln>
        </p:spPr>
      </p:sp>
      <p:sp>
        <p:nvSpPr>
          <p:cNvPr id="38" name="Text 35"/>
          <p:cNvSpPr txBox="1"/>
          <p:nvPr/>
        </p:nvSpPr>
        <p:spPr>
          <a:xfrm>
            <a:off x="3017520" y="3520440"/>
            <a:ext cx="1463040" cy="1005840"/>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An Phát</a:t>
            </a:r>
            <a:endParaRPr lang="en-US" sz="1600" dirty="0"/>
          </a:p>
        </p:txBody>
      </p:sp>
      <p:sp>
        <p:nvSpPr>
          <p:cNvPr id="39" name="Shape 36"/>
          <p:cNvSpPr/>
          <p:nvPr/>
        </p:nvSpPr>
        <p:spPr>
          <a:xfrm>
            <a:off x="7498080" y="2011680"/>
            <a:ext cx="4144975" cy="1463040"/>
          </a:xfrm>
          <a:prstGeom prst="roundRect">
            <a:avLst>
              <a:gd name="adj" fmla="val 7500"/>
            </a:avLst>
          </a:prstGeom>
          <a:solidFill>
            <a:srgbClr val="FFFFFF"/>
          </a:solidFill>
          <a:ln w="12700">
            <a:solidFill>
              <a:srgbClr val="DCD7C8"/>
            </a:solidFill>
            <a:prstDash val="solid"/>
          </a:ln>
        </p:spPr>
      </p:sp>
      <p:sp>
        <p:nvSpPr>
          <p:cNvPr id="40" name="Text 37"/>
          <p:cNvSpPr txBox="1"/>
          <p:nvPr/>
        </p:nvSpPr>
        <p:spPr>
          <a:xfrm>
            <a:off x="7772400" y="2011680"/>
            <a:ext cx="3596335" cy="14630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Buổi 9–11: </a:t>
            </a:r>
            <a:pPr indent="0" marL="0">
              <a:buNone/>
            </a:pPr>
            <a:r>
              <a:rPr lang="en-US" sz="1700" dirty="0">
                <a:solidFill>
                  <a:srgbClr val="2A2238"/>
                </a:solidFill>
                <a:latin typeface="Alexandria" pitchFamily="34" charset="0"/>
                <a:ea typeface="Alexandria" pitchFamily="34" charset="-122"/>
                <a:cs typeface="Alexandria" pitchFamily="34" charset="-120"/>
              </a:rPr>
              <a:t>học từng bên một.</a:t>
            </a:r>
            <a:endParaRPr lang="en-US" sz="1700" dirty="0"/>
          </a:p>
        </p:txBody>
      </p:sp>
      <p:sp>
        <p:nvSpPr>
          <p:cNvPr id="41" name="Shape 38"/>
          <p:cNvSpPr/>
          <p:nvPr/>
        </p:nvSpPr>
        <p:spPr>
          <a:xfrm>
            <a:off x="7498080" y="3703320"/>
            <a:ext cx="4144975" cy="2011680"/>
          </a:xfrm>
          <a:prstGeom prst="roundRect">
            <a:avLst>
              <a:gd name="adj" fmla="val 5455"/>
            </a:avLst>
          </a:prstGeom>
          <a:solidFill>
            <a:srgbClr val="FFF3C4"/>
          </a:solidFill>
          <a:ln w="12700">
            <a:solidFill>
              <a:srgbClr val="FFD23B"/>
            </a:solidFill>
            <a:prstDash val="solid"/>
          </a:ln>
        </p:spPr>
      </p:sp>
      <p:sp>
        <p:nvSpPr>
          <p:cNvPr id="42" name="Text 39"/>
          <p:cNvSpPr txBox="1"/>
          <p:nvPr/>
        </p:nvSpPr>
        <p:spPr>
          <a:xfrm>
            <a:off x="7772400" y="3703320"/>
            <a:ext cx="3596335" cy="201168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Buổi 12: </a:t>
            </a:r>
            <a:pPr indent="0" marL="0">
              <a:buNone/>
            </a:pPr>
            <a:r>
              <a:rPr lang="en-US" sz="1700" dirty="0">
                <a:solidFill>
                  <a:srgbClr val="2A2238"/>
                </a:solidFill>
                <a:latin typeface="Alexandria" pitchFamily="34" charset="0"/>
                <a:ea typeface="Alexandria" pitchFamily="34" charset="-122"/>
                <a:cs typeface="Alexandria" pitchFamily="34" charset="-120"/>
              </a:rPr>
              <a:t>nhìn cả mạng lưới — các bên cũng quan hệ với nhau, và có lúc lợi ích va nhau. Nova ở mọi mối nối.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Giá trị của agency một phần nằm trong quan hệ</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Y01: Dyer &amp; Singh (1998), Academy of Management Review · Y02: Morgan &amp; Hunt (1994), Journal of Marketing — mới đọc tóm tắt.</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4</a:t>
            </a:r>
            <a:endParaRPr lang="en-US" sz="1000" dirty="0"/>
          </a:p>
        </p:txBody>
      </p:sp>
      <p:sp>
        <p:nvSpPr>
          <p:cNvPr id="23" name="Shape 20"/>
          <p:cNvSpPr/>
          <p:nvPr/>
        </p:nvSpPr>
        <p:spPr>
          <a:xfrm>
            <a:off x="548640" y="1874520"/>
            <a:ext cx="5410048" cy="3017520"/>
          </a:xfrm>
          <a:prstGeom prst="roundRect">
            <a:avLst>
              <a:gd name="adj" fmla="val 3636"/>
            </a:avLst>
          </a:prstGeom>
          <a:solidFill>
            <a:srgbClr val="F1E1EE"/>
          </a:solidFill>
          <a:ln w="12700">
            <a:solidFill>
              <a:srgbClr val="962B7C"/>
            </a:solidFill>
            <a:prstDash val="solid"/>
          </a:ln>
        </p:spPr>
      </p:sp>
      <p:sp>
        <p:nvSpPr>
          <p:cNvPr id="24" name="Text 21"/>
          <p:cNvSpPr txBox="1"/>
          <p:nvPr/>
        </p:nvSpPr>
        <p:spPr>
          <a:xfrm>
            <a:off x="868680" y="2011680"/>
            <a:ext cx="4769968" cy="411480"/>
          </a:xfrm>
          <a:prstGeom prst="rect">
            <a:avLst/>
          </a:prstGeom>
          <a:noFill/>
          <a:ln/>
        </p:spPr>
        <p:txBody>
          <a:bodyPr wrap="square" lIns="0" tIns="0" rIns="0" bIns="0" rtlCol="0" anchor="ctr"/>
          <a:lstStyle/>
          <a:p>
            <a:pPr indent="0" marL="0">
              <a:buNone/>
            </a:pPr>
            <a:r>
              <a:rPr lang="en-US" sz="1400" b="1" dirty="0">
                <a:solidFill>
                  <a:srgbClr val="962B7C"/>
                </a:solidFill>
                <a:latin typeface="Alexandria" pitchFamily="34" charset="0"/>
                <a:ea typeface="Alexandria" pitchFamily="34" charset="-122"/>
                <a:cs typeface="Alexandria" pitchFamily="34" charset="-120"/>
              </a:rPr>
              <a:t>Dyer &amp; Singh (1998) · relational view</a:t>
            </a:r>
            <a:endParaRPr lang="en-US" sz="1400" dirty="0"/>
          </a:p>
        </p:txBody>
      </p:sp>
      <p:sp>
        <p:nvSpPr>
          <p:cNvPr id="25" name="Text 22"/>
          <p:cNvSpPr txBox="1"/>
          <p:nvPr/>
        </p:nvSpPr>
        <p:spPr>
          <a:xfrm>
            <a:off x="868680" y="2514600"/>
            <a:ext cx="4769968" cy="2194560"/>
          </a:xfrm>
          <a:prstGeom prst="rect">
            <a:avLst/>
          </a:prstGeom>
          <a:noFill/>
          <a:ln/>
        </p:spPr>
        <p:txBody>
          <a:bodyPr wrap="square" lIns="0" tIns="0" rIns="0" bIns="0" rtlCol="0" anchor="t"/>
          <a:lstStyle/>
          <a:p>
            <a:pPr indent="0" marL="0">
              <a:buNone/>
            </a:pPr>
            <a:r>
              <a:rPr lang="en-US" sz="2100" b="1" dirty="0">
                <a:solidFill>
                  <a:srgbClr val="2A2238"/>
                </a:solidFill>
                <a:latin typeface="Alexandria" pitchFamily="34" charset="0"/>
                <a:ea typeface="Alexandria" pitchFamily="34" charset="-122"/>
                <a:cs typeface="Alexandria" pitchFamily="34" charset="-120"/>
              </a:rPr>
              <a:t>Nguồn lực then chốt có thể nằm ngoài ranh giới doanh nghiệp — trong quan hệ giữa các doanh nghiệp.</a:t>
            </a:r>
            <a:endParaRPr lang="en-US" sz="2100" dirty="0"/>
          </a:p>
        </p:txBody>
      </p:sp>
      <p:sp>
        <p:nvSpPr>
          <p:cNvPr id="26" name="Shape 23"/>
          <p:cNvSpPr/>
          <p:nvPr/>
        </p:nvSpPr>
        <p:spPr>
          <a:xfrm>
            <a:off x="6233008" y="1874520"/>
            <a:ext cx="5410048" cy="3017520"/>
          </a:xfrm>
          <a:prstGeom prst="roundRect">
            <a:avLst>
              <a:gd name="adj" fmla="val 3636"/>
            </a:avLst>
          </a:prstGeom>
          <a:solidFill>
            <a:srgbClr val="DDF1FB"/>
          </a:solidFill>
          <a:ln w="12700">
            <a:solidFill>
              <a:srgbClr val="09A1E5"/>
            </a:solidFill>
            <a:prstDash val="solid"/>
          </a:ln>
        </p:spPr>
      </p:sp>
      <p:sp>
        <p:nvSpPr>
          <p:cNvPr id="27" name="Text 24"/>
          <p:cNvSpPr txBox="1"/>
          <p:nvPr/>
        </p:nvSpPr>
        <p:spPr>
          <a:xfrm>
            <a:off x="6553048" y="2011680"/>
            <a:ext cx="4769968" cy="411480"/>
          </a:xfrm>
          <a:prstGeom prst="rect">
            <a:avLst/>
          </a:prstGeom>
          <a:noFill/>
          <a:ln/>
        </p:spPr>
        <p:txBody>
          <a:bodyPr wrap="square" lIns="0" tIns="0" rIns="0" bIns="0" rtlCol="0" anchor="ctr"/>
          <a:lstStyle/>
          <a:p>
            <a:pPr indent="0" marL="0">
              <a:buNone/>
            </a:pPr>
            <a:r>
              <a:rPr lang="en-US" sz="1400" b="1" dirty="0">
                <a:solidFill>
                  <a:srgbClr val="0A7FB5"/>
                </a:solidFill>
                <a:latin typeface="Alexandria" pitchFamily="34" charset="0"/>
                <a:ea typeface="Alexandria" pitchFamily="34" charset="-122"/>
                <a:cs typeface="Alexandria" pitchFamily="34" charset="-120"/>
              </a:rPr>
              <a:t>Morgan &amp; Hunt (1994) · commitment–trust</a:t>
            </a:r>
            <a:endParaRPr lang="en-US" sz="1400" dirty="0"/>
          </a:p>
        </p:txBody>
      </p:sp>
      <p:sp>
        <p:nvSpPr>
          <p:cNvPr id="28" name="Shape 25"/>
          <p:cNvSpPr/>
          <p:nvPr/>
        </p:nvSpPr>
        <p:spPr>
          <a:xfrm>
            <a:off x="6553048" y="2788920"/>
            <a:ext cx="2194560" cy="731520"/>
          </a:xfrm>
          <a:prstGeom prst="roundRect">
            <a:avLst>
              <a:gd name="adj" fmla="val 50000"/>
            </a:avLst>
          </a:prstGeom>
          <a:solidFill>
            <a:srgbClr val="962B7C"/>
          </a:solidFill>
          <a:ln w="12700">
            <a:solidFill>
              <a:srgbClr val="962B7C"/>
            </a:solidFill>
            <a:prstDash val="solid"/>
          </a:ln>
        </p:spPr>
      </p:sp>
      <p:sp>
        <p:nvSpPr>
          <p:cNvPr id="29" name="Text 26"/>
          <p:cNvSpPr txBox="1"/>
          <p:nvPr/>
        </p:nvSpPr>
        <p:spPr>
          <a:xfrm>
            <a:off x="6626200" y="2788920"/>
            <a:ext cx="2048256"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Cam kết</a:t>
            </a:r>
            <a:endParaRPr lang="en-US" sz="1800" dirty="0"/>
          </a:p>
        </p:txBody>
      </p:sp>
      <p:sp>
        <p:nvSpPr>
          <p:cNvPr id="30" name="Text 27"/>
          <p:cNvSpPr txBox="1"/>
          <p:nvPr/>
        </p:nvSpPr>
        <p:spPr>
          <a:xfrm>
            <a:off x="8793328" y="2788920"/>
            <a:ext cx="548640" cy="731520"/>
          </a:xfrm>
          <a:prstGeom prst="rect">
            <a:avLst/>
          </a:prstGeom>
          <a:noFill/>
          <a:ln/>
        </p:spPr>
        <p:txBody>
          <a:bodyPr wrap="square" lIns="0" tIns="0" rIns="0" bIns="0" rtlCol="0" anchor="ctr"/>
          <a:lstStyle/>
          <a:p>
            <a:pPr algn="ctr" indent="0" marL="0">
              <a:buNone/>
            </a:pPr>
            <a:r>
              <a:rPr lang="en-US" sz="2800" b="1" dirty="0">
                <a:solidFill>
                  <a:srgbClr val="2A2238"/>
                </a:solidFill>
                <a:latin typeface="Alexandria" pitchFamily="34" charset="0"/>
                <a:ea typeface="Alexandria" pitchFamily="34" charset="-122"/>
                <a:cs typeface="Alexandria" pitchFamily="34" charset="-120"/>
              </a:rPr>
              <a:t>+</a:t>
            </a:r>
            <a:endParaRPr lang="en-US" sz="2800" dirty="0"/>
          </a:p>
        </p:txBody>
      </p:sp>
      <p:sp>
        <p:nvSpPr>
          <p:cNvPr id="31" name="Shape 28"/>
          <p:cNvSpPr/>
          <p:nvPr/>
        </p:nvSpPr>
        <p:spPr>
          <a:xfrm>
            <a:off x="9387688" y="2788920"/>
            <a:ext cx="2194560" cy="731520"/>
          </a:xfrm>
          <a:prstGeom prst="roundRect">
            <a:avLst>
              <a:gd name="adj" fmla="val 50000"/>
            </a:avLst>
          </a:prstGeom>
          <a:solidFill>
            <a:srgbClr val="09A1E5"/>
          </a:solidFill>
          <a:ln w="12700">
            <a:solidFill>
              <a:srgbClr val="09A1E5"/>
            </a:solidFill>
            <a:prstDash val="solid"/>
          </a:ln>
        </p:spPr>
      </p:sp>
      <p:sp>
        <p:nvSpPr>
          <p:cNvPr id="32" name="Text 29"/>
          <p:cNvSpPr txBox="1"/>
          <p:nvPr/>
        </p:nvSpPr>
        <p:spPr>
          <a:xfrm>
            <a:off x="9460840" y="2788920"/>
            <a:ext cx="2048256" cy="731520"/>
          </a:xfrm>
          <a:prstGeom prst="rect">
            <a:avLst/>
          </a:prstGeom>
          <a:noFill/>
          <a:ln/>
        </p:spPr>
        <p:txBody>
          <a:bodyPr wrap="square" lIns="0" tIns="0" rIns="0" bIns="0" rtlCol="0" anchor="ctr"/>
          <a:lstStyle/>
          <a:p>
            <a:pPr algn="ctr" indent="0" marL="0">
              <a:buNone/>
            </a:pPr>
            <a:r>
              <a:rPr lang="en-US" sz="1800" b="1" dirty="0">
                <a:solidFill>
                  <a:srgbClr val="FFFFFF"/>
                </a:solidFill>
                <a:latin typeface="Alexandria" pitchFamily="34" charset="0"/>
                <a:ea typeface="Alexandria" pitchFamily="34" charset="-122"/>
                <a:cs typeface="Alexandria" pitchFamily="34" charset="-120"/>
              </a:rPr>
              <a:t>Niềm tin</a:t>
            </a:r>
            <a:endParaRPr lang="en-US" sz="1800" dirty="0"/>
          </a:p>
        </p:txBody>
      </p:sp>
      <p:sp>
        <p:nvSpPr>
          <p:cNvPr id="33" name="Text 30"/>
          <p:cNvSpPr txBox="1"/>
          <p:nvPr/>
        </p:nvSpPr>
        <p:spPr>
          <a:xfrm>
            <a:off x="6553048" y="3794760"/>
            <a:ext cx="4769968" cy="54864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 quan hệ thành công</a:t>
            </a:r>
            <a:endParaRPr lang="en-US" sz="1800" dirty="0"/>
          </a:p>
        </p:txBody>
      </p:sp>
      <p:sp>
        <p:nvSpPr>
          <p:cNvPr id="34" name="Shape 31"/>
          <p:cNvSpPr/>
          <p:nvPr/>
        </p:nvSpPr>
        <p:spPr>
          <a:xfrm>
            <a:off x="548640" y="5166360"/>
            <a:ext cx="11094415" cy="822960"/>
          </a:xfrm>
          <a:prstGeom prst="roundRect">
            <a:avLst>
              <a:gd name="adj" fmla="val 13333"/>
            </a:avLst>
          </a:prstGeom>
          <a:solidFill>
            <a:srgbClr val="FFF3C4"/>
          </a:solidFill>
          <a:ln w="12700">
            <a:solidFill>
              <a:srgbClr val="FFD23B"/>
            </a:solidFill>
            <a:prstDash val="solid"/>
          </a:ln>
        </p:spPr>
      </p:sp>
      <p:sp>
        <p:nvSpPr>
          <p:cNvPr id="35" name="Text 32"/>
          <p:cNvSpPr txBox="1"/>
          <p:nvPr/>
        </p:nvSpPr>
        <p:spPr>
          <a:xfrm>
            <a:off x="868680" y="5166360"/>
            <a:ext cx="10454335" cy="82296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Leverage không phải “ép” đối tác — là làm được cho An Phát những việc agency khác không làm được, nhờ quan hệ lâu năm.</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Bốn nguồn relational rents của Nova</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Bốn nguồn: Dyer &amp; Singh (1998), Y01 · ví dụ với Nova: nhận định của người soạn.</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5</a:t>
            </a:r>
            <a:endParaRPr lang="en-US" sz="1000" dirty="0"/>
          </a:p>
        </p:txBody>
      </p:sp>
      <p:sp>
        <p:nvSpPr>
          <p:cNvPr id="23" name="Shape 20"/>
          <p:cNvSpPr/>
          <p:nvPr/>
        </p:nvSpPr>
        <p:spPr>
          <a:xfrm>
            <a:off x="548640" y="1828800"/>
            <a:ext cx="11094415" cy="914400"/>
          </a:xfrm>
          <a:prstGeom prst="roundRect">
            <a:avLst>
              <a:gd name="adj" fmla="val 12000"/>
            </a:avLst>
          </a:prstGeom>
          <a:solidFill>
            <a:srgbClr val="F1E1EE"/>
          </a:solidFill>
          <a:ln w="12700">
            <a:solidFill>
              <a:srgbClr val="962B7C"/>
            </a:solidFill>
            <a:prstDash val="solid"/>
          </a:ln>
        </p:spPr>
      </p:sp>
      <p:sp>
        <p:nvSpPr>
          <p:cNvPr id="24" name="Shape 21"/>
          <p:cNvSpPr/>
          <p:nvPr/>
        </p:nvSpPr>
        <p:spPr>
          <a:xfrm>
            <a:off x="731520" y="1993392"/>
            <a:ext cx="585216" cy="585216"/>
          </a:xfrm>
          <a:prstGeom prst="ellipse">
            <a:avLst/>
          </a:prstGeom>
          <a:solidFill>
            <a:srgbClr val="962B7C"/>
          </a:solidFill>
          <a:ln w="12700">
            <a:solidFill>
              <a:srgbClr val="962B7C"/>
            </a:solidFill>
            <a:prstDash val="solid"/>
          </a:ln>
        </p:spPr>
      </p:sp>
      <p:sp>
        <p:nvSpPr>
          <p:cNvPr id="25" name="Text 22"/>
          <p:cNvSpPr txBox="1"/>
          <p:nvPr/>
        </p:nvSpPr>
        <p:spPr>
          <a:xfrm>
            <a:off x="731520" y="1993392"/>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1</a:t>
            </a:r>
            <a:endParaRPr lang="en-US" sz="2176" dirty="0"/>
          </a:p>
        </p:txBody>
      </p:sp>
      <p:sp>
        <p:nvSpPr>
          <p:cNvPr id="26" name="Text 23"/>
          <p:cNvSpPr txBox="1"/>
          <p:nvPr/>
        </p:nvSpPr>
        <p:spPr>
          <a:xfrm>
            <a:off x="1508760" y="1828800"/>
            <a:ext cx="3657600" cy="9144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Tài sản đặc thù cho quan hệ</a:t>
            </a:r>
            <a:endParaRPr lang="en-US" sz="1600" dirty="0"/>
          </a:p>
          <a:p>
            <a:pPr indent="0" marL="0">
              <a:buNone/>
            </a:pPr>
            <a:r>
              <a:rPr lang="en-US" sz="1100" i="1" dirty="0">
                <a:solidFill>
                  <a:srgbClr val="6E6878"/>
                </a:solidFill>
                <a:latin typeface="Alexandria" pitchFamily="34" charset="0"/>
                <a:ea typeface="Alexandria" pitchFamily="34" charset="-122"/>
                <a:cs typeface="Alexandria" pitchFamily="34" charset="-120"/>
              </a:rPr>
              <a:t>relation-specific assets</a:t>
            </a:r>
            <a:endParaRPr lang="en-US" sz="1600" dirty="0"/>
          </a:p>
        </p:txBody>
      </p:sp>
      <p:sp>
        <p:nvSpPr>
          <p:cNvPr id="27" name="Text 24"/>
          <p:cNvSpPr txBox="1"/>
          <p:nvPr/>
        </p:nvSpPr>
        <p:spPr>
          <a:xfrm>
            <a:off x="5303520" y="1828800"/>
            <a:ext cx="6156655" cy="9144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Nova thuộc sơ đồ, quy trình bếp, giờ dựng của khách sạn quen</a:t>
            </a:r>
            <a:endParaRPr lang="en-US" sz="1400" dirty="0"/>
          </a:p>
        </p:txBody>
      </p:sp>
      <p:sp>
        <p:nvSpPr>
          <p:cNvPr id="28" name="Shape 25"/>
          <p:cNvSpPr/>
          <p:nvPr/>
        </p:nvSpPr>
        <p:spPr>
          <a:xfrm>
            <a:off x="548640" y="2880360"/>
            <a:ext cx="11094415" cy="914400"/>
          </a:xfrm>
          <a:prstGeom prst="roundRect">
            <a:avLst>
              <a:gd name="adj" fmla="val 12000"/>
            </a:avLst>
          </a:prstGeom>
          <a:solidFill>
            <a:srgbClr val="DDF1FB"/>
          </a:solidFill>
          <a:ln w="12700">
            <a:solidFill>
              <a:srgbClr val="09A1E5"/>
            </a:solidFill>
            <a:prstDash val="solid"/>
          </a:ln>
        </p:spPr>
      </p:sp>
      <p:sp>
        <p:nvSpPr>
          <p:cNvPr id="29" name="Shape 26"/>
          <p:cNvSpPr/>
          <p:nvPr/>
        </p:nvSpPr>
        <p:spPr>
          <a:xfrm>
            <a:off x="731520" y="3044952"/>
            <a:ext cx="585216" cy="585216"/>
          </a:xfrm>
          <a:prstGeom prst="ellipse">
            <a:avLst/>
          </a:prstGeom>
          <a:solidFill>
            <a:srgbClr val="09A1E5"/>
          </a:solidFill>
          <a:ln w="12700">
            <a:solidFill>
              <a:srgbClr val="09A1E5"/>
            </a:solidFill>
            <a:prstDash val="solid"/>
          </a:ln>
        </p:spPr>
      </p:sp>
      <p:sp>
        <p:nvSpPr>
          <p:cNvPr id="30" name="Text 27"/>
          <p:cNvSpPr txBox="1"/>
          <p:nvPr/>
        </p:nvSpPr>
        <p:spPr>
          <a:xfrm>
            <a:off x="731520" y="3044952"/>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2</a:t>
            </a:r>
            <a:endParaRPr lang="en-US" sz="2176" dirty="0"/>
          </a:p>
        </p:txBody>
      </p:sp>
      <p:sp>
        <p:nvSpPr>
          <p:cNvPr id="31" name="Text 28"/>
          <p:cNvSpPr txBox="1"/>
          <p:nvPr/>
        </p:nvSpPr>
        <p:spPr>
          <a:xfrm>
            <a:off x="1508760" y="2880360"/>
            <a:ext cx="3657600" cy="9144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Thói quen chia sẻ tri thức</a:t>
            </a:r>
            <a:endParaRPr lang="en-US" sz="1600" dirty="0"/>
          </a:p>
          <a:p>
            <a:pPr indent="0" marL="0">
              <a:buNone/>
            </a:pPr>
            <a:r>
              <a:rPr lang="en-US" sz="1100" i="1" dirty="0">
                <a:solidFill>
                  <a:srgbClr val="6E6878"/>
                </a:solidFill>
                <a:latin typeface="Alexandria" pitchFamily="34" charset="0"/>
                <a:ea typeface="Alexandria" pitchFamily="34" charset="-122"/>
                <a:cs typeface="Alexandria" pitchFamily="34" charset="-120"/>
              </a:rPr>
              <a:t>knowledge-sharing routines</a:t>
            </a:r>
            <a:endParaRPr lang="en-US" sz="1600" dirty="0"/>
          </a:p>
        </p:txBody>
      </p:sp>
      <p:sp>
        <p:nvSpPr>
          <p:cNvPr id="32" name="Text 29"/>
          <p:cNvSpPr txBox="1"/>
          <p:nvPr/>
        </p:nvSpPr>
        <p:spPr>
          <a:xfrm>
            <a:off x="5303520" y="2880360"/>
            <a:ext cx="6156655" cy="9144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Họp rút kinh nghiệm chung với nhà cung cấp sau mỗi sự kiện</a:t>
            </a:r>
            <a:endParaRPr lang="en-US" sz="1400" dirty="0"/>
          </a:p>
        </p:txBody>
      </p:sp>
      <p:sp>
        <p:nvSpPr>
          <p:cNvPr id="33" name="Shape 30"/>
          <p:cNvSpPr/>
          <p:nvPr/>
        </p:nvSpPr>
        <p:spPr>
          <a:xfrm>
            <a:off x="548640" y="3931920"/>
            <a:ext cx="11094415" cy="914400"/>
          </a:xfrm>
          <a:prstGeom prst="roundRect">
            <a:avLst>
              <a:gd name="adj" fmla="val 12000"/>
            </a:avLst>
          </a:prstGeom>
          <a:solidFill>
            <a:srgbClr val="FFE9DE"/>
          </a:solidFill>
          <a:ln w="12700">
            <a:solidFill>
              <a:srgbClr val="FF9259"/>
            </a:solidFill>
            <a:prstDash val="solid"/>
          </a:ln>
        </p:spPr>
      </p:sp>
      <p:sp>
        <p:nvSpPr>
          <p:cNvPr id="34" name="Shape 31"/>
          <p:cNvSpPr/>
          <p:nvPr/>
        </p:nvSpPr>
        <p:spPr>
          <a:xfrm>
            <a:off x="731520" y="4096512"/>
            <a:ext cx="585216" cy="585216"/>
          </a:xfrm>
          <a:prstGeom prst="ellipse">
            <a:avLst/>
          </a:prstGeom>
          <a:solidFill>
            <a:srgbClr val="FF9259"/>
          </a:solidFill>
          <a:ln w="12700">
            <a:solidFill>
              <a:srgbClr val="FF9259"/>
            </a:solidFill>
            <a:prstDash val="solid"/>
          </a:ln>
        </p:spPr>
      </p:sp>
      <p:sp>
        <p:nvSpPr>
          <p:cNvPr id="35" name="Text 32"/>
          <p:cNvSpPr txBox="1"/>
          <p:nvPr/>
        </p:nvSpPr>
        <p:spPr>
          <a:xfrm>
            <a:off x="731520" y="4096512"/>
            <a:ext cx="585216" cy="585216"/>
          </a:xfrm>
          <a:prstGeom prst="rect">
            <a:avLst/>
          </a:prstGeom>
          <a:noFill/>
          <a:ln/>
        </p:spPr>
        <p:txBody>
          <a:bodyPr wrap="square" lIns="0" tIns="0" rIns="0" bIns="0" rtlCol="0" anchor="ctr"/>
          <a:lstStyle/>
          <a:p>
            <a:pPr algn="ctr" indent="0" marL="0">
              <a:buNone/>
            </a:pPr>
            <a:r>
              <a:rPr lang="en-US" sz="2176" b="1" dirty="0">
                <a:solidFill>
                  <a:srgbClr val="2A2238"/>
                </a:solidFill>
                <a:latin typeface="Alexandria" pitchFamily="34" charset="0"/>
                <a:ea typeface="Alexandria" pitchFamily="34" charset="-122"/>
                <a:cs typeface="Alexandria" pitchFamily="34" charset="-120"/>
              </a:rPr>
              <a:t>3</a:t>
            </a:r>
            <a:endParaRPr lang="en-US" sz="2176" dirty="0"/>
          </a:p>
        </p:txBody>
      </p:sp>
      <p:sp>
        <p:nvSpPr>
          <p:cNvPr id="36" name="Text 33"/>
          <p:cNvSpPr txBox="1"/>
          <p:nvPr/>
        </p:nvSpPr>
        <p:spPr>
          <a:xfrm>
            <a:off x="1508760" y="3931920"/>
            <a:ext cx="3657600" cy="9144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Nguồn lực bổ trợ</a:t>
            </a:r>
            <a:endParaRPr lang="en-US" sz="1600" dirty="0"/>
          </a:p>
          <a:p>
            <a:pPr indent="0" marL="0">
              <a:buNone/>
            </a:pPr>
            <a:r>
              <a:rPr lang="en-US" sz="1100" i="1" dirty="0">
                <a:solidFill>
                  <a:srgbClr val="6E6878"/>
                </a:solidFill>
                <a:latin typeface="Alexandria" pitchFamily="34" charset="0"/>
                <a:ea typeface="Alexandria" pitchFamily="34" charset="-122"/>
                <a:cs typeface="Alexandria" pitchFamily="34" charset="-120"/>
              </a:rPr>
              <a:t>complementary resources</a:t>
            </a:r>
            <a:endParaRPr lang="en-US" sz="1600" dirty="0"/>
          </a:p>
        </p:txBody>
      </p:sp>
      <p:sp>
        <p:nvSpPr>
          <p:cNvPr id="37" name="Text 34"/>
          <p:cNvSpPr txBox="1"/>
          <p:nvPr/>
        </p:nvSpPr>
        <p:spPr>
          <a:xfrm>
            <a:off x="5303520" y="3931920"/>
            <a:ext cx="6156655" cy="9144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Đơn vị livestream quen + AV khách sạn làm được việc mà mỗi bên không làm một mình</a:t>
            </a:r>
            <a:endParaRPr lang="en-US" sz="1400" dirty="0"/>
          </a:p>
        </p:txBody>
      </p:sp>
      <p:sp>
        <p:nvSpPr>
          <p:cNvPr id="38" name="Shape 35"/>
          <p:cNvSpPr/>
          <p:nvPr/>
        </p:nvSpPr>
        <p:spPr>
          <a:xfrm>
            <a:off x="548640" y="4983480"/>
            <a:ext cx="11094415" cy="914400"/>
          </a:xfrm>
          <a:prstGeom prst="roundRect">
            <a:avLst>
              <a:gd name="adj" fmla="val 12000"/>
            </a:avLst>
          </a:prstGeom>
          <a:solidFill>
            <a:srgbClr val="E1F3EE"/>
          </a:solidFill>
          <a:ln w="12700">
            <a:solidFill>
              <a:srgbClr val="49B296"/>
            </a:solidFill>
            <a:prstDash val="solid"/>
          </a:ln>
        </p:spPr>
      </p:sp>
      <p:sp>
        <p:nvSpPr>
          <p:cNvPr id="39" name="Shape 36"/>
          <p:cNvSpPr/>
          <p:nvPr/>
        </p:nvSpPr>
        <p:spPr>
          <a:xfrm>
            <a:off x="731520" y="5148072"/>
            <a:ext cx="585216" cy="585216"/>
          </a:xfrm>
          <a:prstGeom prst="ellipse">
            <a:avLst/>
          </a:prstGeom>
          <a:solidFill>
            <a:srgbClr val="49B296"/>
          </a:solidFill>
          <a:ln w="12700">
            <a:solidFill>
              <a:srgbClr val="49B296"/>
            </a:solidFill>
            <a:prstDash val="solid"/>
          </a:ln>
        </p:spPr>
      </p:sp>
      <p:sp>
        <p:nvSpPr>
          <p:cNvPr id="40" name="Text 37"/>
          <p:cNvSpPr txBox="1"/>
          <p:nvPr/>
        </p:nvSpPr>
        <p:spPr>
          <a:xfrm>
            <a:off x="731520" y="5148072"/>
            <a:ext cx="585216" cy="585216"/>
          </a:xfrm>
          <a:prstGeom prst="rect">
            <a:avLst/>
          </a:prstGeom>
          <a:noFill/>
          <a:ln/>
        </p:spPr>
        <p:txBody>
          <a:bodyPr wrap="square" lIns="0" tIns="0" rIns="0" bIns="0" rtlCol="0" anchor="ctr"/>
          <a:lstStyle/>
          <a:p>
            <a:pPr algn="ctr" indent="0" marL="0">
              <a:buNone/>
            </a:pPr>
            <a:r>
              <a:rPr lang="en-US" sz="2176" b="1" dirty="0">
                <a:solidFill>
                  <a:srgbClr val="FFFFFF"/>
                </a:solidFill>
                <a:latin typeface="Alexandria" pitchFamily="34" charset="0"/>
                <a:ea typeface="Alexandria" pitchFamily="34" charset="-122"/>
                <a:cs typeface="Alexandria" pitchFamily="34" charset="-120"/>
              </a:rPr>
              <a:t>4</a:t>
            </a:r>
            <a:endParaRPr lang="en-US" sz="2176" dirty="0"/>
          </a:p>
        </p:txBody>
      </p:sp>
      <p:sp>
        <p:nvSpPr>
          <p:cNvPr id="41" name="Text 38"/>
          <p:cNvSpPr txBox="1"/>
          <p:nvPr/>
        </p:nvSpPr>
        <p:spPr>
          <a:xfrm>
            <a:off x="1508760" y="4983480"/>
            <a:ext cx="3657600" cy="91440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Quản trị hiệu quả</a:t>
            </a:r>
            <a:endParaRPr lang="en-US" sz="1600" dirty="0"/>
          </a:p>
          <a:p>
            <a:pPr indent="0" marL="0">
              <a:buNone/>
            </a:pPr>
            <a:r>
              <a:rPr lang="en-US" sz="1100" i="1" dirty="0">
                <a:solidFill>
                  <a:srgbClr val="6E6878"/>
                </a:solidFill>
                <a:latin typeface="Alexandria" pitchFamily="34" charset="0"/>
                <a:ea typeface="Alexandria" pitchFamily="34" charset="-122"/>
                <a:cs typeface="Alexandria" pitchFamily="34" charset="-120"/>
              </a:rPr>
              <a:t>effective governance</a:t>
            </a:r>
            <a:endParaRPr lang="en-US" sz="1600" dirty="0"/>
          </a:p>
        </p:txBody>
      </p:sp>
      <p:sp>
        <p:nvSpPr>
          <p:cNvPr id="42" name="Text 39"/>
          <p:cNvSpPr txBox="1"/>
          <p:nvPr/>
        </p:nvSpPr>
        <p:spPr>
          <a:xfrm>
            <a:off x="5303520" y="4983480"/>
            <a:ext cx="6156655" cy="914400"/>
          </a:xfrm>
          <a:prstGeom prst="rect">
            <a:avLst/>
          </a:prstGeom>
          <a:noFill/>
          <a:ln/>
        </p:spPr>
        <p:txBody>
          <a:bodyPr wrap="square" lIns="0" tIns="0" rIns="0" bIns="0" rtlCol="0" anchor="ctr"/>
          <a:lstStyle/>
          <a:p>
            <a:pPr indent="0" marL="0">
              <a:buNone/>
            </a:pPr>
            <a:r>
              <a:rPr lang="en-US" sz="1400" dirty="0">
                <a:solidFill>
                  <a:srgbClr val="2A2238"/>
                </a:solidFill>
                <a:latin typeface="Alexandria" pitchFamily="34" charset="0"/>
                <a:ea typeface="Alexandria" pitchFamily="34" charset="-122"/>
                <a:cs typeface="Alexandria" pitchFamily="34" charset="-120"/>
              </a:rPr>
              <a:t>Hợp đồng khung, cam kết dài hạn, cơ chế xử lý tranh chấp đã thống nhất</a:t>
            </a:r>
            <a:endParaRPr lang="en-US" sz="1400" dirty="0"/>
          </a:p>
        </p:txBody>
      </p:sp>
      <p:sp>
        <p:nvSpPr>
          <p:cNvPr id="43" name="Text 40"/>
          <p:cNvSpPr txBox="1"/>
          <p:nvPr/>
        </p:nvSpPr>
        <p:spPr>
          <a:xfrm>
            <a:off x="5303520" y="6035040"/>
            <a:ext cx="4572000" cy="274320"/>
          </a:xfrm>
          <a:prstGeom prst="rect">
            <a:avLst/>
          </a:prstGeom>
          <a:noFill/>
          <a:ln/>
        </p:spPr>
        <p:txBody>
          <a:bodyPr wrap="square" lIns="0" tIns="0" rIns="0" bIns="0" rtlCol="0" anchor="ctr"/>
          <a:lstStyle/>
          <a:p>
            <a:pPr indent="0" marL="0">
              <a:buNone/>
            </a:pPr>
            <a:r>
              <a:rPr lang="en-US" sz="1100" i="1" dirty="0">
                <a:solidFill>
                  <a:srgbClr val="6E6878"/>
                </a:solidFill>
                <a:latin typeface="Alexandria" pitchFamily="34" charset="0"/>
                <a:ea typeface="Alexandria" pitchFamily="34" charset="-122"/>
                <a:cs typeface="Alexandria" pitchFamily="34" charset="-120"/>
              </a:rPr>
              <a:t>Ví dụ trong mạng lưới của Nova</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Leverage là giá trị do quan hệ tạo ra, không phải ép đối tác</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U08 (Buổi 9): Znews; Tuổi Trẻ (1/2025) · định nghĩa leverage: quyết định GV.</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6</a:t>
            </a:r>
            <a:endParaRPr lang="en-US" sz="1000" dirty="0"/>
          </a:p>
        </p:txBody>
      </p:sp>
      <p:sp>
        <p:nvSpPr>
          <p:cNvPr id="23" name="Shape 20"/>
          <p:cNvSpPr/>
          <p:nvPr/>
        </p:nvSpPr>
        <p:spPr>
          <a:xfrm>
            <a:off x="548640" y="1874520"/>
            <a:ext cx="5410048" cy="2377440"/>
          </a:xfrm>
          <a:prstGeom prst="roundRect">
            <a:avLst>
              <a:gd name="adj" fmla="val 4615"/>
            </a:avLst>
          </a:prstGeom>
          <a:solidFill>
            <a:srgbClr val="FFFFFF"/>
          </a:solidFill>
          <a:ln w="12700">
            <a:solidFill>
              <a:srgbClr val="DCD7C8"/>
            </a:solidFill>
            <a:prstDash val="solid"/>
          </a:ln>
        </p:spPr>
      </p:sp>
      <p:sp>
        <p:nvSpPr>
          <p:cNvPr id="24" name="Text 21"/>
          <p:cNvSpPr txBox="1"/>
          <p:nvPr/>
        </p:nvSpPr>
        <p:spPr>
          <a:xfrm>
            <a:off x="868680" y="1874520"/>
            <a:ext cx="4769968" cy="2377440"/>
          </a:xfrm>
          <a:prstGeom prst="rect">
            <a:avLst/>
          </a:prstGeom>
          <a:noFill/>
          <a:ln/>
        </p:spPr>
        <p:txBody>
          <a:bodyPr wrap="square" lIns="0" tIns="0" rIns="0" bIns="0" rtlCol="0" anchor="ctr"/>
          <a:lstStyle/>
          <a:p>
            <a:pPr indent="0" marL="0">
              <a:spcAft>
                <a:spcPts val="400"/>
              </a:spcAft>
              <a:buNone/>
            </a:pPr>
            <a:r>
              <a:rPr lang="en-US" sz="1400" dirty="0">
                <a:solidFill>
                  <a:srgbClr val="6E6878"/>
                </a:solidFill>
                <a:latin typeface="Alexandria" pitchFamily="34" charset="0"/>
                <a:ea typeface="Alexandria" pitchFamily="34" charset="-122"/>
                <a:cs typeface="Alexandria" pitchFamily="34" charset="-120"/>
              </a:rPr>
              <a:t>Không phải</a:t>
            </a:r>
            <a:endParaRPr lang="en-US" sz="1400" dirty="0"/>
          </a:p>
          <a:p>
            <a:pPr indent="0" marL="0">
              <a:spcAft>
                <a:spcPts val="400"/>
              </a:spcAft>
              <a:buNone/>
            </a:pPr>
            <a:r>
              <a:rPr lang="en-US" sz="2400" b="1" dirty="0">
                <a:solidFill>
                  <a:srgbClr val="6E6878"/>
                </a:solidFill>
                <a:latin typeface="Alexandria" pitchFamily="34" charset="0"/>
                <a:ea typeface="Alexandria" pitchFamily="34" charset="-122"/>
                <a:cs typeface="Alexandria" pitchFamily="34" charset="-120"/>
              </a:rPr>
              <a:t>Dùng thế lớn để ép giá</a:t>
            </a:r>
            <a:endParaRPr lang="en-US" sz="1400" dirty="0"/>
          </a:p>
          <a:p>
            <a:pPr indent="0" marL="0">
              <a:spcAft>
                <a:spcPts val="400"/>
              </a:spcAft>
              <a:buNone/>
            </a:pPr>
            <a:r>
              <a:rPr lang="en-US" sz="1400" i="1" dirty="0">
                <a:solidFill>
                  <a:srgbClr val="6E6878"/>
                </a:solidFill>
                <a:latin typeface="Alexandria" pitchFamily="34" charset="0"/>
                <a:ea typeface="Alexandria" pitchFamily="34" charset="-122"/>
                <a:cs typeface="Alexandria" pitchFamily="34" charset="-120"/>
              </a:rPr>
              <a:t>quyền lực ngắn hạn</a:t>
            </a:r>
            <a:endParaRPr lang="en-US" sz="1400" dirty="0"/>
          </a:p>
        </p:txBody>
      </p:sp>
      <p:sp>
        <p:nvSpPr>
          <p:cNvPr id="25" name="Shape 22"/>
          <p:cNvSpPr/>
          <p:nvPr/>
        </p:nvSpPr>
        <p:spPr>
          <a:xfrm>
            <a:off x="6233008" y="1874520"/>
            <a:ext cx="5410048" cy="2377440"/>
          </a:xfrm>
          <a:prstGeom prst="roundRect">
            <a:avLst>
              <a:gd name="adj" fmla="val 4615"/>
            </a:avLst>
          </a:prstGeom>
          <a:solidFill>
            <a:srgbClr val="F1E1EE"/>
          </a:solidFill>
          <a:ln w="12700">
            <a:solidFill>
              <a:srgbClr val="962B7C"/>
            </a:solidFill>
            <a:prstDash val="solid"/>
          </a:ln>
        </p:spPr>
      </p:sp>
      <p:sp>
        <p:nvSpPr>
          <p:cNvPr id="26" name="Text 23"/>
          <p:cNvSpPr txBox="1"/>
          <p:nvPr/>
        </p:nvSpPr>
        <p:spPr>
          <a:xfrm>
            <a:off x="6553048" y="1874520"/>
            <a:ext cx="4769968" cy="2377440"/>
          </a:xfrm>
          <a:prstGeom prst="rect">
            <a:avLst/>
          </a:prstGeom>
          <a:noFill/>
          <a:ln/>
        </p:spPr>
        <p:txBody>
          <a:bodyPr wrap="square" lIns="0" tIns="0" rIns="0" bIns="0" rtlCol="0" anchor="ctr"/>
          <a:lstStyle/>
          <a:p>
            <a:pPr indent="0" marL="0">
              <a:spcAft>
                <a:spcPts val="400"/>
              </a:spcAft>
              <a:buNone/>
            </a:pPr>
            <a:r>
              <a:rPr lang="en-US" sz="1400" dirty="0">
                <a:solidFill>
                  <a:srgbClr val="962B7C"/>
                </a:solidFill>
                <a:latin typeface="Alexandria" pitchFamily="34" charset="0"/>
                <a:ea typeface="Alexandria" pitchFamily="34" charset="-122"/>
                <a:cs typeface="Alexandria" pitchFamily="34" charset="-120"/>
              </a:rPr>
              <a:t>Leverage của môn</a:t>
            </a:r>
            <a:endParaRPr lang="en-US" sz="1400" dirty="0"/>
          </a:p>
          <a:p>
            <a:pPr indent="0" marL="0">
              <a:spcAft>
                <a:spcPts val="400"/>
              </a:spcAft>
              <a:buNone/>
            </a:pPr>
            <a:r>
              <a:rPr lang="en-US" sz="2400" b="1" dirty="0">
                <a:solidFill>
                  <a:srgbClr val="2A2238"/>
                </a:solidFill>
                <a:latin typeface="Alexandria" pitchFamily="34" charset="0"/>
                <a:ea typeface="Alexandria" pitchFamily="34" charset="-122"/>
                <a:cs typeface="Alexandria" pitchFamily="34" charset="-120"/>
              </a:rPr>
              <a:t>Giá trị do quan hệ dài hạn tạo ra</a:t>
            </a:r>
            <a:endParaRPr lang="en-US" sz="1400" dirty="0"/>
          </a:p>
          <a:p>
            <a:pPr indent="0" marL="0">
              <a:spcAft>
                <a:spcPts val="400"/>
              </a:spcAft>
              <a:buNone/>
            </a:pPr>
            <a:r>
              <a:rPr lang="en-US" sz="1400" i="1" dirty="0">
                <a:solidFill>
                  <a:srgbClr val="2A2238"/>
                </a:solidFill>
                <a:latin typeface="Alexandria" pitchFamily="34" charset="0"/>
                <a:ea typeface="Alexandria" pitchFamily="34" charset="-122"/>
                <a:cs typeface="Alexandria" pitchFamily="34" charset="-120"/>
              </a:rPr>
              <a:t>cho cả hai bên và cho Key Account</a:t>
            </a:r>
            <a:endParaRPr lang="en-US" sz="1400" dirty="0"/>
          </a:p>
        </p:txBody>
      </p:sp>
      <p:sp>
        <p:nvSpPr>
          <p:cNvPr id="27" name="Text 24"/>
          <p:cNvSpPr txBox="1"/>
          <p:nvPr/>
        </p:nvSpPr>
        <p:spPr>
          <a:xfrm>
            <a:off x="548640" y="4480560"/>
            <a:ext cx="11094415" cy="36576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Ví dụ thật — Techcombank (Buổi 9)</a:t>
            </a:r>
            <a:endParaRPr lang="en-US" sz="1400" dirty="0"/>
          </a:p>
        </p:txBody>
      </p:sp>
      <p:sp>
        <p:nvSpPr>
          <p:cNvPr id="28" name="Shape 25"/>
          <p:cNvSpPr/>
          <p:nvPr/>
        </p:nvSpPr>
        <p:spPr>
          <a:xfrm>
            <a:off x="548640" y="4983480"/>
            <a:ext cx="3291840" cy="731520"/>
          </a:xfrm>
          <a:prstGeom prst="roundRect">
            <a:avLst>
              <a:gd name="adj" fmla="val 50000"/>
            </a:avLst>
          </a:prstGeom>
          <a:solidFill>
            <a:srgbClr val="962B7C"/>
          </a:solidFill>
          <a:ln w="12700">
            <a:solidFill>
              <a:srgbClr val="962B7C"/>
            </a:solidFill>
            <a:prstDash val="solid"/>
          </a:ln>
        </p:spPr>
      </p:sp>
      <p:sp>
        <p:nvSpPr>
          <p:cNvPr id="29" name="Text 26"/>
          <p:cNvSpPr txBox="1"/>
          <p:nvPr/>
        </p:nvSpPr>
        <p:spPr>
          <a:xfrm>
            <a:off x="621792" y="4983480"/>
            <a:ext cx="3145536"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2024 · nhà tài trợ kim cương</a:t>
            </a:r>
            <a:endParaRPr lang="en-US" sz="1400" dirty="0"/>
          </a:p>
        </p:txBody>
      </p:sp>
      <p:sp>
        <p:nvSpPr>
          <p:cNvPr id="30" name="Shape 27"/>
          <p:cNvSpPr/>
          <p:nvPr/>
        </p:nvSpPr>
        <p:spPr>
          <a:xfrm>
            <a:off x="3977640" y="5349240"/>
            <a:ext cx="1051560" cy="914"/>
          </a:xfrm>
          <a:prstGeom prst="line">
            <a:avLst/>
          </a:prstGeom>
          <a:noFill/>
          <a:ln w="38100">
            <a:solidFill>
              <a:srgbClr val="2A2238"/>
            </a:solidFill>
            <a:prstDash val="solid"/>
            <a:tailEnd type="triangle"/>
          </a:ln>
        </p:spPr>
      </p:sp>
      <p:sp>
        <p:nvSpPr>
          <p:cNvPr id="31" name="Shape 28"/>
          <p:cNvSpPr/>
          <p:nvPr/>
        </p:nvSpPr>
        <p:spPr>
          <a:xfrm>
            <a:off x="5166360" y="4983480"/>
            <a:ext cx="3291840" cy="731520"/>
          </a:xfrm>
          <a:prstGeom prst="roundRect">
            <a:avLst>
              <a:gd name="adj" fmla="val 50000"/>
            </a:avLst>
          </a:prstGeom>
          <a:solidFill>
            <a:srgbClr val="09A1E5"/>
          </a:solidFill>
          <a:ln w="12700">
            <a:solidFill>
              <a:srgbClr val="09A1E5"/>
            </a:solidFill>
            <a:prstDash val="solid"/>
          </a:ln>
        </p:spPr>
      </p:sp>
      <p:sp>
        <p:nvSpPr>
          <p:cNvPr id="32" name="Text 29"/>
          <p:cNvSpPr txBox="1"/>
          <p:nvPr/>
        </p:nvSpPr>
        <p:spPr>
          <a:xfrm>
            <a:off x="5239512" y="4983480"/>
            <a:ext cx="3145536" cy="73152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2025 · “nhà đồng đầu tư”</a:t>
            </a:r>
            <a:endParaRPr lang="en-US" sz="1400" dirty="0"/>
          </a:p>
        </p:txBody>
      </p:sp>
      <p:sp>
        <p:nvSpPr>
          <p:cNvPr id="33" name="Text 30"/>
          <p:cNvSpPr txBox="1"/>
          <p:nvPr/>
        </p:nvSpPr>
        <p:spPr>
          <a:xfrm>
            <a:off x="8641080" y="4983480"/>
            <a:ext cx="3001975" cy="731520"/>
          </a:xfrm>
          <a:prstGeom prst="rect">
            <a:avLst/>
          </a:prstGeom>
          <a:noFill/>
          <a:ln/>
        </p:spPr>
        <p:txBody>
          <a:bodyPr wrap="square" lIns="0" tIns="0" rIns="0" bIns="0" rtlCol="0" anchor="ctr"/>
          <a:lstStyle/>
          <a:p>
            <a:pPr indent="0" marL="0">
              <a:buNone/>
            </a:pPr>
            <a:r>
              <a:rPr lang="en-US" sz="1300" i="1" dirty="0">
                <a:solidFill>
                  <a:srgbClr val="2A2238"/>
                </a:solidFill>
                <a:latin typeface="Alexandria" pitchFamily="34" charset="0"/>
                <a:ea typeface="Alexandria" pitchFamily="34" charset="-122"/>
                <a:cs typeface="Alexandria" pitchFamily="34" charset="-120"/>
              </a:rPr>
              <a:t>quan hệ dài hạn mở ra một cấu trúc hợp tác mới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Đối tác thành công giao tiếp tốt và cùng giải quyết vấn đề</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Y03: Mohr &amp; Spekman (1994), Strategic Management Journal.</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7</a:t>
            </a:r>
            <a:endParaRPr lang="en-US" sz="1000" dirty="0"/>
          </a:p>
        </p:txBody>
      </p:sp>
      <p:sp>
        <p:nvSpPr>
          <p:cNvPr id="23" name="Shape 20"/>
          <p:cNvSpPr/>
          <p:nvPr/>
        </p:nvSpPr>
        <p:spPr>
          <a:xfrm>
            <a:off x="548640" y="1874520"/>
            <a:ext cx="3515258" cy="4114800"/>
          </a:xfrm>
          <a:prstGeom prst="roundRect">
            <a:avLst>
              <a:gd name="adj" fmla="val 3121"/>
            </a:avLst>
          </a:prstGeom>
          <a:solidFill>
            <a:srgbClr val="F1E1EE"/>
          </a:solidFill>
          <a:ln w="12700">
            <a:solidFill>
              <a:srgbClr val="962B7C"/>
            </a:solidFill>
            <a:prstDash val="solid"/>
          </a:ln>
        </p:spPr>
      </p:sp>
      <p:sp>
        <p:nvSpPr>
          <p:cNvPr id="24" name="Text 21"/>
          <p:cNvSpPr txBox="1"/>
          <p:nvPr/>
        </p:nvSpPr>
        <p:spPr>
          <a:xfrm>
            <a:off x="822960" y="2011680"/>
            <a:ext cx="2966618" cy="502920"/>
          </a:xfrm>
          <a:prstGeom prst="rect">
            <a:avLst/>
          </a:prstGeom>
          <a:noFill/>
          <a:ln/>
        </p:spPr>
        <p:txBody>
          <a:bodyPr wrap="square" lIns="0" tIns="0" rIns="0" bIns="0" rtlCol="0" anchor="ctr"/>
          <a:lstStyle/>
          <a:p>
            <a:pPr indent="0" marL="0">
              <a:buNone/>
            </a:pPr>
            <a:r>
              <a:rPr lang="en-US" sz="1800" b="1" dirty="0">
                <a:solidFill>
                  <a:srgbClr val="962B7C"/>
                </a:solidFill>
                <a:latin typeface="Alexandria" pitchFamily="34" charset="0"/>
                <a:ea typeface="Alexandria" pitchFamily="34" charset="-122"/>
                <a:cs typeface="Alexandria" pitchFamily="34" charset="-120"/>
              </a:rPr>
              <a:t>Thuộc tính quan hệ</a:t>
            </a:r>
            <a:endParaRPr lang="en-US" sz="1800" dirty="0"/>
          </a:p>
        </p:txBody>
      </p:sp>
      <p:sp>
        <p:nvSpPr>
          <p:cNvPr id="25" name="Shape 22"/>
          <p:cNvSpPr/>
          <p:nvPr/>
        </p:nvSpPr>
        <p:spPr>
          <a:xfrm>
            <a:off x="822960" y="2697480"/>
            <a:ext cx="2966618" cy="777240"/>
          </a:xfrm>
          <a:prstGeom prst="roundRect">
            <a:avLst>
              <a:gd name="adj" fmla="val 14118"/>
            </a:avLst>
          </a:prstGeom>
          <a:solidFill>
            <a:srgbClr val="FFFFFF"/>
          </a:solidFill>
          <a:ln w="12700">
            <a:solidFill>
              <a:srgbClr val="962B7C"/>
            </a:solidFill>
            <a:prstDash val="solid"/>
          </a:ln>
        </p:spPr>
      </p:sp>
      <p:sp>
        <p:nvSpPr>
          <p:cNvPr id="26" name="Text 23"/>
          <p:cNvSpPr txBox="1"/>
          <p:nvPr/>
        </p:nvSpPr>
        <p:spPr>
          <a:xfrm>
            <a:off x="960120" y="2697480"/>
            <a:ext cx="2692298"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Cam kết</a:t>
            </a:r>
            <a:endParaRPr lang="en-US" sz="1500" dirty="0"/>
          </a:p>
        </p:txBody>
      </p:sp>
      <p:sp>
        <p:nvSpPr>
          <p:cNvPr id="27" name="Shape 24"/>
          <p:cNvSpPr/>
          <p:nvPr/>
        </p:nvSpPr>
        <p:spPr>
          <a:xfrm>
            <a:off x="822960" y="3657600"/>
            <a:ext cx="2966618" cy="777240"/>
          </a:xfrm>
          <a:prstGeom prst="roundRect">
            <a:avLst>
              <a:gd name="adj" fmla="val 14118"/>
            </a:avLst>
          </a:prstGeom>
          <a:solidFill>
            <a:srgbClr val="FFFFFF"/>
          </a:solidFill>
          <a:ln w="12700">
            <a:solidFill>
              <a:srgbClr val="962B7C"/>
            </a:solidFill>
            <a:prstDash val="solid"/>
          </a:ln>
        </p:spPr>
      </p:sp>
      <p:sp>
        <p:nvSpPr>
          <p:cNvPr id="28" name="Text 25"/>
          <p:cNvSpPr txBox="1"/>
          <p:nvPr/>
        </p:nvSpPr>
        <p:spPr>
          <a:xfrm>
            <a:off x="960120" y="3657600"/>
            <a:ext cx="2692298"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Phối hợp</a:t>
            </a:r>
            <a:endParaRPr lang="en-US" sz="1500" dirty="0"/>
          </a:p>
        </p:txBody>
      </p:sp>
      <p:sp>
        <p:nvSpPr>
          <p:cNvPr id="29" name="Shape 26"/>
          <p:cNvSpPr/>
          <p:nvPr/>
        </p:nvSpPr>
        <p:spPr>
          <a:xfrm>
            <a:off x="822960" y="4617720"/>
            <a:ext cx="2966618" cy="777240"/>
          </a:xfrm>
          <a:prstGeom prst="roundRect">
            <a:avLst>
              <a:gd name="adj" fmla="val 14118"/>
            </a:avLst>
          </a:prstGeom>
          <a:solidFill>
            <a:srgbClr val="FFFFFF"/>
          </a:solidFill>
          <a:ln w="12700">
            <a:solidFill>
              <a:srgbClr val="962B7C"/>
            </a:solidFill>
            <a:prstDash val="solid"/>
          </a:ln>
        </p:spPr>
      </p:sp>
      <p:sp>
        <p:nvSpPr>
          <p:cNvPr id="30" name="Text 27"/>
          <p:cNvSpPr txBox="1"/>
          <p:nvPr/>
        </p:nvSpPr>
        <p:spPr>
          <a:xfrm>
            <a:off x="960120" y="4617720"/>
            <a:ext cx="2692298"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Niềm tin</a:t>
            </a:r>
            <a:endParaRPr lang="en-US" sz="1500" dirty="0"/>
          </a:p>
        </p:txBody>
      </p:sp>
      <p:sp>
        <p:nvSpPr>
          <p:cNvPr id="31" name="Shape 28"/>
          <p:cNvSpPr/>
          <p:nvPr/>
        </p:nvSpPr>
        <p:spPr>
          <a:xfrm>
            <a:off x="4338218" y="1874520"/>
            <a:ext cx="3515258" cy="4114800"/>
          </a:xfrm>
          <a:prstGeom prst="roundRect">
            <a:avLst>
              <a:gd name="adj" fmla="val 3121"/>
            </a:avLst>
          </a:prstGeom>
          <a:solidFill>
            <a:srgbClr val="DDF1FB"/>
          </a:solidFill>
          <a:ln w="12700">
            <a:solidFill>
              <a:srgbClr val="09A1E5"/>
            </a:solidFill>
            <a:prstDash val="solid"/>
          </a:ln>
        </p:spPr>
      </p:sp>
      <p:sp>
        <p:nvSpPr>
          <p:cNvPr id="32" name="Text 29"/>
          <p:cNvSpPr txBox="1"/>
          <p:nvPr/>
        </p:nvSpPr>
        <p:spPr>
          <a:xfrm>
            <a:off x="4612538" y="2011680"/>
            <a:ext cx="2966618" cy="502920"/>
          </a:xfrm>
          <a:prstGeom prst="rect">
            <a:avLst/>
          </a:prstGeom>
          <a:noFill/>
          <a:ln/>
        </p:spPr>
        <p:txBody>
          <a:bodyPr wrap="square" lIns="0" tIns="0" rIns="0" bIns="0" rtlCol="0" anchor="ctr"/>
          <a:lstStyle/>
          <a:p>
            <a:pPr indent="0" marL="0">
              <a:buNone/>
            </a:pPr>
            <a:r>
              <a:rPr lang="en-US" sz="1800" b="1" dirty="0">
                <a:solidFill>
                  <a:srgbClr val="0A7FB5"/>
                </a:solidFill>
                <a:latin typeface="Alexandria" pitchFamily="34" charset="0"/>
                <a:ea typeface="Alexandria" pitchFamily="34" charset="-122"/>
                <a:cs typeface="Alexandria" pitchFamily="34" charset="-120"/>
              </a:rPr>
              <a:t>Hành vi giao tiếp</a:t>
            </a:r>
            <a:endParaRPr lang="en-US" sz="1800" dirty="0"/>
          </a:p>
        </p:txBody>
      </p:sp>
      <p:sp>
        <p:nvSpPr>
          <p:cNvPr id="33" name="Shape 30"/>
          <p:cNvSpPr/>
          <p:nvPr/>
        </p:nvSpPr>
        <p:spPr>
          <a:xfrm>
            <a:off x="4612538" y="2697480"/>
            <a:ext cx="2966618" cy="777240"/>
          </a:xfrm>
          <a:prstGeom prst="roundRect">
            <a:avLst>
              <a:gd name="adj" fmla="val 14118"/>
            </a:avLst>
          </a:prstGeom>
          <a:solidFill>
            <a:srgbClr val="FFFFFF"/>
          </a:solidFill>
          <a:ln w="12700">
            <a:solidFill>
              <a:srgbClr val="09A1E5"/>
            </a:solidFill>
            <a:prstDash val="solid"/>
          </a:ln>
        </p:spPr>
      </p:sp>
      <p:sp>
        <p:nvSpPr>
          <p:cNvPr id="34" name="Text 31"/>
          <p:cNvSpPr txBox="1"/>
          <p:nvPr/>
        </p:nvSpPr>
        <p:spPr>
          <a:xfrm>
            <a:off x="4749698" y="2697480"/>
            <a:ext cx="2692298"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Chất lượng giao tiếp</a:t>
            </a:r>
            <a:endParaRPr lang="en-US" sz="1500" dirty="0"/>
          </a:p>
        </p:txBody>
      </p:sp>
      <p:sp>
        <p:nvSpPr>
          <p:cNvPr id="35" name="Shape 32"/>
          <p:cNvSpPr/>
          <p:nvPr/>
        </p:nvSpPr>
        <p:spPr>
          <a:xfrm>
            <a:off x="4612538" y="3657600"/>
            <a:ext cx="2966618" cy="777240"/>
          </a:xfrm>
          <a:prstGeom prst="roundRect">
            <a:avLst>
              <a:gd name="adj" fmla="val 14118"/>
            </a:avLst>
          </a:prstGeom>
          <a:solidFill>
            <a:srgbClr val="FFFFFF"/>
          </a:solidFill>
          <a:ln w="12700">
            <a:solidFill>
              <a:srgbClr val="09A1E5"/>
            </a:solidFill>
            <a:prstDash val="solid"/>
          </a:ln>
        </p:spPr>
      </p:sp>
      <p:sp>
        <p:nvSpPr>
          <p:cNvPr id="36" name="Text 33"/>
          <p:cNvSpPr txBox="1"/>
          <p:nvPr/>
        </p:nvSpPr>
        <p:spPr>
          <a:xfrm>
            <a:off x="4749698" y="3657600"/>
            <a:ext cx="2692298"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Sự tham gia</a:t>
            </a:r>
            <a:endParaRPr lang="en-US" sz="1500" dirty="0"/>
          </a:p>
        </p:txBody>
      </p:sp>
      <p:sp>
        <p:nvSpPr>
          <p:cNvPr id="37" name="Shape 34"/>
          <p:cNvSpPr/>
          <p:nvPr/>
        </p:nvSpPr>
        <p:spPr>
          <a:xfrm>
            <a:off x="8127797" y="1874520"/>
            <a:ext cx="3515258" cy="4114800"/>
          </a:xfrm>
          <a:prstGeom prst="roundRect">
            <a:avLst>
              <a:gd name="adj" fmla="val 3121"/>
            </a:avLst>
          </a:prstGeom>
          <a:solidFill>
            <a:srgbClr val="E1F3EE"/>
          </a:solidFill>
          <a:ln w="12700">
            <a:solidFill>
              <a:srgbClr val="49B296"/>
            </a:solidFill>
            <a:prstDash val="solid"/>
          </a:ln>
        </p:spPr>
      </p:sp>
      <p:sp>
        <p:nvSpPr>
          <p:cNvPr id="38" name="Text 35"/>
          <p:cNvSpPr txBox="1"/>
          <p:nvPr/>
        </p:nvSpPr>
        <p:spPr>
          <a:xfrm>
            <a:off x="8402117" y="2011680"/>
            <a:ext cx="2966618" cy="502920"/>
          </a:xfrm>
          <a:prstGeom prst="rect">
            <a:avLst/>
          </a:prstGeom>
          <a:noFill/>
          <a:ln/>
        </p:spPr>
        <p:txBody>
          <a:bodyPr wrap="square" lIns="0" tIns="0" rIns="0" bIns="0" rtlCol="0" anchor="ctr"/>
          <a:lstStyle/>
          <a:p>
            <a:pPr indent="0" marL="0">
              <a:buNone/>
            </a:pPr>
            <a:r>
              <a:rPr lang="en-US" sz="1800" b="1" dirty="0">
                <a:solidFill>
                  <a:srgbClr val="2E8A71"/>
                </a:solidFill>
                <a:latin typeface="Alexandria" pitchFamily="34" charset="0"/>
                <a:ea typeface="Alexandria" pitchFamily="34" charset="-122"/>
                <a:cs typeface="Alexandria" pitchFamily="34" charset="-120"/>
              </a:rPr>
              <a:t>Giải quyết xung đột</a:t>
            </a:r>
            <a:endParaRPr lang="en-US" sz="1800" dirty="0"/>
          </a:p>
        </p:txBody>
      </p:sp>
      <p:sp>
        <p:nvSpPr>
          <p:cNvPr id="39" name="Shape 36"/>
          <p:cNvSpPr/>
          <p:nvPr/>
        </p:nvSpPr>
        <p:spPr>
          <a:xfrm>
            <a:off x="8402117" y="2697480"/>
            <a:ext cx="2966618" cy="777240"/>
          </a:xfrm>
          <a:prstGeom prst="roundRect">
            <a:avLst>
              <a:gd name="adj" fmla="val 14118"/>
            </a:avLst>
          </a:prstGeom>
          <a:solidFill>
            <a:srgbClr val="FFFFFF"/>
          </a:solidFill>
          <a:ln w="12700">
            <a:solidFill>
              <a:srgbClr val="49B296"/>
            </a:solidFill>
            <a:prstDash val="solid"/>
          </a:ln>
        </p:spPr>
      </p:sp>
      <p:sp>
        <p:nvSpPr>
          <p:cNvPr id="40" name="Text 37"/>
          <p:cNvSpPr txBox="1"/>
          <p:nvPr/>
        </p:nvSpPr>
        <p:spPr>
          <a:xfrm>
            <a:off x="8539277" y="2697480"/>
            <a:ext cx="2692298" cy="7772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Cùng giải quyết vấn đề (joint problem solving)</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Mỗi lần truyền miệng là một lần lệch</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Y06: Lee, Padmanabhan &amp; Whang (1997), Management Science — dùng như ẨN DỤ, không phải nghiên cứu về sự kiện.</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8</a:t>
            </a:r>
            <a:endParaRPr lang="en-US" sz="1000" dirty="0"/>
          </a:p>
        </p:txBody>
      </p:sp>
      <p:sp>
        <p:nvSpPr>
          <p:cNvPr id="23" name="Shape 20"/>
          <p:cNvSpPr/>
          <p:nvPr/>
        </p:nvSpPr>
        <p:spPr>
          <a:xfrm>
            <a:off x="9814255" y="1783080"/>
            <a:ext cx="1828800" cy="411480"/>
          </a:xfrm>
          <a:prstGeom prst="roundRect">
            <a:avLst>
              <a:gd name="adj" fmla="val 50000"/>
            </a:avLst>
          </a:prstGeom>
          <a:solidFill>
            <a:srgbClr val="FFD23B"/>
          </a:solidFill>
          <a:ln w="12700">
            <a:solidFill>
              <a:srgbClr val="FFD23B"/>
            </a:solidFill>
            <a:prstDash val="solid"/>
          </a:ln>
        </p:spPr>
      </p:sp>
      <p:sp>
        <p:nvSpPr>
          <p:cNvPr id="24" name="Text 21"/>
          <p:cNvSpPr txBox="1"/>
          <p:nvPr/>
        </p:nvSpPr>
        <p:spPr>
          <a:xfrm>
            <a:off x="9887407" y="1783080"/>
            <a:ext cx="1682496" cy="41148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ẨN DỤ</a:t>
            </a:r>
            <a:endParaRPr lang="en-US" sz="1300" dirty="0"/>
          </a:p>
        </p:txBody>
      </p:sp>
      <p:sp>
        <p:nvSpPr>
          <p:cNvPr id="25" name="Shape 22"/>
          <p:cNvSpPr/>
          <p:nvPr/>
        </p:nvSpPr>
        <p:spPr>
          <a:xfrm>
            <a:off x="548640" y="2377440"/>
            <a:ext cx="2331720" cy="1097280"/>
          </a:xfrm>
          <a:prstGeom prst="roundRect">
            <a:avLst>
              <a:gd name="adj" fmla="val 10000"/>
            </a:avLst>
          </a:prstGeom>
          <a:solidFill>
            <a:srgbClr val="FFFFFF"/>
          </a:solidFill>
          <a:ln w="19050">
            <a:solidFill>
              <a:srgbClr val="962B7C"/>
            </a:solidFill>
            <a:prstDash val="solid"/>
          </a:ln>
        </p:spPr>
      </p:sp>
      <p:sp>
        <p:nvSpPr>
          <p:cNvPr id="26" name="Text 23"/>
          <p:cNvSpPr txBox="1"/>
          <p:nvPr/>
        </p:nvSpPr>
        <p:spPr>
          <a:xfrm>
            <a:off x="685800" y="2377440"/>
            <a:ext cx="2057400" cy="10972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Anh Minh</a:t>
            </a:r>
            <a:endParaRPr lang="en-US" sz="1800" dirty="0"/>
          </a:p>
          <a:p>
            <a:pPr algn="ctr" indent="0" marL="0">
              <a:buNone/>
            </a:pPr>
            <a:r>
              <a:rPr lang="en-US" sz="1200" dirty="0">
                <a:solidFill>
                  <a:srgbClr val="6E6878"/>
                </a:solidFill>
                <a:latin typeface="Alexandria" pitchFamily="34" charset="0"/>
                <a:ea typeface="Alexandria" pitchFamily="34" charset="-122"/>
                <a:cs typeface="Alexandria" pitchFamily="34" charset="-120"/>
              </a:rPr>
              <a:t>yêu cầu gốc</a:t>
            </a:r>
            <a:endParaRPr lang="en-US" sz="1800" dirty="0"/>
          </a:p>
        </p:txBody>
      </p:sp>
      <p:sp>
        <p:nvSpPr>
          <p:cNvPr id="27" name="Shape 24"/>
          <p:cNvSpPr/>
          <p:nvPr/>
        </p:nvSpPr>
        <p:spPr>
          <a:xfrm>
            <a:off x="2953512" y="2926080"/>
            <a:ext cx="402336" cy="914"/>
          </a:xfrm>
          <a:prstGeom prst="line">
            <a:avLst/>
          </a:prstGeom>
          <a:noFill/>
          <a:ln w="31750">
            <a:solidFill>
              <a:srgbClr val="2A2238"/>
            </a:solidFill>
            <a:prstDash val="solid"/>
            <a:tailEnd type="triangle"/>
          </a:ln>
        </p:spPr>
      </p:sp>
      <p:sp>
        <p:nvSpPr>
          <p:cNvPr id="28" name="Shape 25"/>
          <p:cNvSpPr/>
          <p:nvPr/>
        </p:nvSpPr>
        <p:spPr>
          <a:xfrm>
            <a:off x="685800" y="4187952"/>
            <a:ext cx="342900" cy="219456"/>
          </a:xfrm>
          <a:prstGeom prst="line">
            <a:avLst/>
          </a:prstGeom>
          <a:noFill/>
          <a:ln w="31750">
            <a:solidFill>
              <a:srgbClr val="962B7C"/>
            </a:solidFill>
            <a:prstDash val="solid"/>
          </a:ln>
        </p:spPr>
      </p:sp>
      <p:sp>
        <p:nvSpPr>
          <p:cNvPr id="29" name="Shape 26"/>
          <p:cNvSpPr/>
          <p:nvPr/>
        </p:nvSpPr>
        <p:spPr>
          <a:xfrm flipV="1">
            <a:off x="1028700" y="4187952"/>
            <a:ext cx="342900" cy="219456"/>
          </a:xfrm>
          <a:prstGeom prst="line">
            <a:avLst/>
          </a:prstGeom>
          <a:noFill/>
          <a:ln w="31750">
            <a:solidFill>
              <a:srgbClr val="962B7C"/>
            </a:solidFill>
            <a:prstDash val="solid"/>
          </a:ln>
        </p:spPr>
      </p:sp>
      <p:sp>
        <p:nvSpPr>
          <p:cNvPr id="30" name="Shape 27"/>
          <p:cNvSpPr/>
          <p:nvPr/>
        </p:nvSpPr>
        <p:spPr>
          <a:xfrm>
            <a:off x="1371600" y="4187952"/>
            <a:ext cx="342900" cy="219456"/>
          </a:xfrm>
          <a:prstGeom prst="line">
            <a:avLst/>
          </a:prstGeom>
          <a:noFill/>
          <a:ln w="31750">
            <a:solidFill>
              <a:srgbClr val="962B7C"/>
            </a:solidFill>
            <a:prstDash val="solid"/>
          </a:ln>
        </p:spPr>
      </p:sp>
      <p:sp>
        <p:nvSpPr>
          <p:cNvPr id="31" name="Shape 28"/>
          <p:cNvSpPr/>
          <p:nvPr/>
        </p:nvSpPr>
        <p:spPr>
          <a:xfrm flipV="1">
            <a:off x="1714500" y="4187952"/>
            <a:ext cx="342900" cy="219456"/>
          </a:xfrm>
          <a:prstGeom prst="line">
            <a:avLst/>
          </a:prstGeom>
          <a:noFill/>
          <a:ln w="31750">
            <a:solidFill>
              <a:srgbClr val="962B7C"/>
            </a:solidFill>
            <a:prstDash val="solid"/>
          </a:ln>
        </p:spPr>
      </p:sp>
      <p:sp>
        <p:nvSpPr>
          <p:cNvPr id="32" name="Shape 29"/>
          <p:cNvSpPr/>
          <p:nvPr/>
        </p:nvSpPr>
        <p:spPr>
          <a:xfrm>
            <a:off x="2057400" y="4187952"/>
            <a:ext cx="342900" cy="219456"/>
          </a:xfrm>
          <a:prstGeom prst="line">
            <a:avLst/>
          </a:prstGeom>
          <a:noFill/>
          <a:ln w="31750">
            <a:solidFill>
              <a:srgbClr val="962B7C"/>
            </a:solidFill>
            <a:prstDash val="solid"/>
          </a:ln>
        </p:spPr>
      </p:sp>
      <p:sp>
        <p:nvSpPr>
          <p:cNvPr id="33" name="Shape 30"/>
          <p:cNvSpPr/>
          <p:nvPr/>
        </p:nvSpPr>
        <p:spPr>
          <a:xfrm flipV="1">
            <a:off x="2400300" y="4187952"/>
            <a:ext cx="342900" cy="219456"/>
          </a:xfrm>
          <a:prstGeom prst="line">
            <a:avLst/>
          </a:prstGeom>
          <a:noFill/>
          <a:ln w="31750">
            <a:solidFill>
              <a:srgbClr val="962B7C"/>
            </a:solidFill>
            <a:prstDash val="solid"/>
          </a:ln>
        </p:spPr>
      </p:sp>
      <p:sp>
        <p:nvSpPr>
          <p:cNvPr id="34" name="Shape 31"/>
          <p:cNvSpPr/>
          <p:nvPr/>
        </p:nvSpPr>
        <p:spPr>
          <a:xfrm>
            <a:off x="3429000" y="2377440"/>
            <a:ext cx="2331720" cy="1097280"/>
          </a:xfrm>
          <a:prstGeom prst="roundRect">
            <a:avLst>
              <a:gd name="adj" fmla="val 10000"/>
            </a:avLst>
          </a:prstGeom>
          <a:solidFill>
            <a:srgbClr val="FFFFFF"/>
          </a:solidFill>
          <a:ln w="19050">
            <a:solidFill>
              <a:srgbClr val="FF9259"/>
            </a:solidFill>
            <a:prstDash val="solid"/>
          </a:ln>
        </p:spPr>
      </p:sp>
      <p:sp>
        <p:nvSpPr>
          <p:cNvPr id="35" name="Text 32"/>
          <p:cNvSpPr txBox="1"/>
          <p:nvPr/>
        </p:nvSpPr>
        <p:spPr>
          <a:xfrm>
            <a:off x="3566160" y="2377440"/>
            <a:ext cx="2057400" cy="10972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Nova</a:t>
            </a:r>
            <a:endParaRPr lang="en-US" sz="1800" dirty="0"/>
          </a:p>
          <a:p>
            <a:pPr algn="ctr" indent="0" marL="0">
              <a:buNone/>
            </a:pPr>
            <a:r>
              <a:rPr lang="en-US" sz="1200" dirty="0">
                <a:solidFill>
                  <a:srgbClr val="6E6878"/>
                </a:solidFill>
                <a:latin typeface="Alexandria" pitchFamily="34" charset="0"/>
                <a:ea typeface="Alexandria" pitchFamily="34" charset="-122"/>
                <a:cs typeface="Alexandria" pitchFamily="34" charset="-120"/>
              </a:rPr>
              <a:t>chuyển lời</a:t>
            </a:r>
            <a:endParaRPr lang="en-US" sz="1800" dirty="0"/>
          </a:p>
        </p:txBody>
      </p:sp>
      <p:sp>
        <p:nvSpPr>
          <p:cNvPr id="36" name="Shape 33"/>
          <p:cNvSpPr/>
          <p:nvPr/>
        </p:nvSpPr>
        <p:spPr>
          <a:xfrm>
            <a:off x="5833872" y="2926080"/>
            <a:ext cx="402336" cy="914"/>
          </a:xfrm>
          <a:prstGeom prst="line">
            <a:avLst/>
          </a:prstGeom>
          <a:noFill/>
          <a:ln w="31750">
            <a:solidFill>
              <a:srgbClr val="2A2238"/>
            </a:solidFill>
            <a:prstDash val="solid"/>
            <a:tailEnd type="triangle"/>
          </a:ln>
        </p:spPr>
      </p:sp>
      <p:sp>
        <p:nvSpPr>
          <p:cNvPr id="37" name="Shape 34"/>
          <p:cNvSpPr/>
          <p:nvPr/>
        </p:nvSpPr>
        <p:spPr>
          <a:xfrm>
            <a:off x="3566160" y="3931920"/>
            <a:ext cx="342900" cy="731520"/>
          </a:xfrm>
          <a:prstGeom prst="line">
            <a:avLst/>
          </a:prstGeom>
          <a:noFill/>
          <a:ln w="31750">
            <a:solidFill>
              <a:srgbClr val="FF9259"/>
            </a:solidFill>
            <a:prstDash val="solid"/>
          </a:ln>
        </p:spPr>
      </p:sp>
      <p:sp>
        <p:nvSpPr>
          <p:cNvPr id="38" name="Shape 35"/>
          <p:cNvSpPr/>
          <p:nvPr/>
        </p:nvSpPr>
        <p:spPr>
          <a:xfrm flipV="1">
            <a:off x="3909060" y="3931920"/>
            <a:ext cx="342900" cy="731520"/>
          </a:xfrm>
          <a:prstGeom prst="line">
            <a:avLst/>
          </a:prstGeom>
          <a:noFill/>
          <a:ln w="31750">
            <a:solidFill>
              <a:srgbClr val="FF9259"/>
            </a:solidFill>
            <a:prstDash val="solid"/>
          </a:ln>
        </p:spPr>
      </p:sp>
      <p:sp>
        <p:nvSpPr>
          <p:cNvPr id="39" name="Shape 36"/>
          <p:cNvSpPr/>
          <p:nvPr/>
        </p:nvSpPr>
        <p:spPr>
          <a:xfrm>
            <a:off x="4251960" y="3931920"/>
            <a:ext cx="342900" cy="731520"/>
          </a:xfrm>
          <a:prstGeom prst="line">
            <a:avLst/>
          </a:prstGeom>
          <a:noFill/>
          <a:ln w="31750">
            <a:solidFill>
              <a:srgbClr val="FF9259"/>
            </a:solidFill>
            <a:prstDash val="solid"/>
          </a:ln>
        </p:spPr>
      </p:sp>
      <p:sp>
        <p:nvSpPr>
          <p:cNvPr id="40" name="Shape 37"/>
          <p:cNvSpPr/>
          <p:nvPr/>
        </p:nvSpPr>
        <p:spPr>
          <a:xfrm flipV="1">
            <a:off x="4594860" y="3931920"/>
            <a:ext cx="342900" cy="731520"/>
          </a:xfrm>
          <a:prstGeom prst="line">
            <a:avLst/>
          </a:prstGeom>
          <a:noFill/>
          <a:ln w="31750">
            <a:solidFill>
              <a:srgbClr val="FF9259"/>
            </a:solidFill>
            <a:prstDash val="solid"/>
          </a:ln>
        </p:spPr>
      </p:sp>
      <p:sp>
        <p:nvSpPr>
          <p:cNvPr id="41" name="Shape 38"/>
          <p:cNvSpPr/>
          <p:nvPr/>
        </p:nvSpPr>
        <p:spPr>
          <a:xfrm>
            <a:off x="4937760" y="3931920"/>
            <a:ext cx="342900" cy="731520"/>
          </a:xfrm>
          <a:prstGeom prst="line">
            <a:avLst/>
          </a:prstGeom>
          <a:noFill/>
          <a:ln w="31750">
            <a:solidFill>
              <a:srgbClr val="FF9259"/>
            </a:solidFill>
            <a:prstDash val="solid"/>
          </a:ln>
        </p:spPr>
      </p:sp>
      <p:sp>
        <p:nvSpPr>
          <p:cNvPr id="42" name="Shape 39"/>
          <p:cNvSpPr/>
          <p:nvPr/>
        </p:nvSpPr>
        <p:spPr>
          <a:xfrm flipV="1">
            <a:off x="5280660" y="3931920"/>
            <a:ext cx="342900" cy="731520"/>
          </a:xfrm>
          <a:prstGeom prst="line">
            <a:avLst/>
          </a:prstGeom>
          <a:noFill/>
          <a:ln w="31750">
            <a:solidFill>
              <a:srgbClr val="FF9259"/>
            </a:solidFill>
            <a:prstDash val="solid"/>
          </a:ln>
        </p:spPr>
      </p:sp>
      <p:sp>
        <p:nvSpPr>
          <p:cNvPr id="43" name="Shape 40"/>
          <p:cNvSpPr/>
          <p:nvPr/>
        </p:nvSpPr>
        <p:spPr>
          <a:xfrm>
            <a:off x="6309360" y="2377440"/>
            <a:ext cx="2331720" cy="1097280"/>
          </a:xfrm>
          <a:prstGeom prst="roundRect">
            <a:avLst>
              <a:gd name="adj" fmla="val 10000"/>
            </a:avLst>
          </a:prstGeom>
          <a:solidFill>
            <a:srgbClr val="FFFFFF"/>
          </a:solidFill>
          <a:ln w="19050">
            <a:solidFill>
              <a:srgbClr val="09A1E5"/>
            </a:solidFill>
            <a:prstDash val="solid"/>
          </a:ln>
        </p:spPr>
      </p:sp>
      <p:sp>
        <p:nvSpPr>
          <p:cNvPr id="44" name="Text 41"/>
          <p:cNvSpPr txBox="1"/>
          <p:nvPr/>
        </p:nvSpPr>
        <p:spPr>
          <a:xfrm>
            <a:off x="6446520" y="2377440"/>
            <a:ext cx="2057400" cy="10972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Khách sạn</a:t>
            </a:r>
            <a:endParaRPr lang="en-US" sz="1800" dirty="0"/>
          </a:p>
          <a:p>
            <a:pPr algn="ctr" indent="0" marL="0">
              <a:buNone/>
            </a:pPr>
            <a:r>
              <a:rPr lang="en-US" sz="1200" dirty="0">
                <a:solidFill>
                  <a:srgbClr val="6E6878"/>
                </a:solidFill>
                <a:latin typeface="Alexandria" pitchFamily="34" charset="0"/>
                <a:ea typeface="Alexandria" pitchFamily="34" charset="-122"/>
                <a:cs typeface="Alexandria" pitchFamily="34" charset="-120"/>
              </a:rPr>
              <a:t>chuyển lời</a:t>
            </a:r>
            <a:endParaRPr lang="en-US" sz="1800" dirty="0"/>
          </a:p>
        </p:txBody>
      </p:sp>
      <p:sp>
        <p:nvSpPr>
          <p:cNvPr id="45" name="Shape 42"/>
          <p:cNvSpPr/>
          <p:nvPr/>
        </p:nvSpPr>
        <p:spPr>
          <a:xfrm>
            <a:off x="8714232" y="2926080"/>
            <a:ext cx="402336" cy="914"/>
          </a:xfrm>
          <a:prstGeom prst="line">
            <a:avLst/>
          </a:prstGeom>
          <a:noFill/>
          <a:ln w="31750">
            <a:solidFill>
              <a:srgbClr val="2A2238"/>
            </a:solidFill>
            <a:prstDash val="solid"/>
            <a:tailEnd type="triangle"/>
          </a:ln>
        </p:spPr>
      </p:sp>
      <p:sp>
        <p:nvSpPr>
          <p:cNvPr id="46" name="Shape 43"/>
          <p:cNvSpPr/>
          <p:nvPr/>
        </p:nvSpPr>
        <p:spPr>
          <a:xfrm>
            <a:off x="6446520" y="3675888"/>
            <a:ext cx="342900" cy="1243584"/>
          </a:xfrm>
          <a:prstGeom prst="line">
            <a:avLst/>
          </a:prstGeom>
          <a:noFill/>
          <a:ln w="31750">
            <a:solidFill>
              <a:srgbClr val="09A1E5"/>
            </a:solidFill>
            <a:prstDash val="solid"/>
          </a:ln>
        </p:spPr>
      </p:sp>
      <p:sp>
        <p:nvSpPr>
          <p:cNvPr id="47" name="Shape 44"/>
          <p:cNvSpPr/>
          <p:nvPr/>
        </p:nvSpPr>
        <p:spPr>
          <a:xfrm flipV="1">
            <a:off x="6789420" y="3675888"/>
            <a:ext cx="342900" cy="1243584"/>
          </a:xfrm>
          <a:prstGeom prst="line">
            <a:avLst/>
          </a:prstGeom>
          <a:noFill/>
          <a:ln w="31750">
            <a:solidFill>
              <a:srgbClr val="09A1E5"/>
            </a:solidFill>
            <a:prstDash val="solid"/>
          </a:ln>
        </p:spPr>
      </p:sp>
      <p:sp>
        <p:nvSpPr>
          <p:cNvPr id="48" name="Shape 45"/>
          <p:cNvSpPr/>
          <p:nvPr/>
        </p:nvSpPr>
        <p:spPr>
          <a:xfrm>
            <a:off x="7132320" y="3675888"/>
            <a:ext cx="342900" cy="1243584"/>
          </a:xfrm>
          <a:prstGeom prst="line">
            <a:avLst/>
          </a:prstGeom>
          <a:noFill/>
          <a:ln w="31750">
            <a:solidFill>
              <a:srgbClr val="09A1E5"/>
            </a:solidFill>
            <a:prstDash val="solid"/>
          </a:ln>
        </p:spPr>
      </p:sp>
      <p:sp>
        <p:nvSpPr>
          <p:cNvPr id="49" name="Shape 46"/>
          <p:cNvSpPr/>
          <p:nvPr/>
        </p:nvSpPr>
        <p:spPr>
          <a:xfrm flipV="1">
            <a:off x="7475220" y="3675888"/>
            <a:ext cx="342900" cy="1243584"/>
          </a:xfrm>
          <a:prstGeom prst="line">
            <a:avLst/>
          </a:prstGeom>
          <a:noFill/>
          <a:ln w="31750">
            <a:solidFill>
              <a:srgbClr val="09A1E5"/>
            </a:solidFill>
            <a:prstDash val="solid"/>
          </a:ln>
        </p:spPr>
      </p:sp>
      <p:sp>
        <p:nvSpPr>
          <p:cNvPr id="50" name="Shape 47"/>
          <p:cNvSpPr/>
          <p:nvPr/>
        </p:nvSpPr>
        <p:spPr>
          <a:xfrm>
            <a:off x="7818120" y="3675888"/>
            <a:ext cx="342900" cy="1243584"/>
          </a:xfrm>
          <a:prstGeom prst="line">
            <a:avLst/>
          </a:prstGeom>
          <a:noFill/>
          <a:ln w="31750">
            <a:solidFill>
              <a:srgbClr val="09A1E5"/>
            </a:solidFill>
            <a:prstDash val="solid"/>
          </a:ln>
        </p:spPr>
      </p:sp>
      <p:sp>
        <p:nvSpPr>
          <p:cNvPr id="51" name="Shape 48"/>
          <p:cNvSpPr/>
          <p:nvPr/>
        </p:nvSpPr>
        <p:spPr>
          <a:xfrm flipV="1">
            <a:off x="8161020" y="3675888"/>
            <a:ext cx="342900" cy="1243584"/>
          </a:xfrm>
          <a:prstGeom prst="line">
            <a:avLst/>
          </a:prstGeom>
          <a:noFill/>
          <a:ln w="31750">
            <a:solidFill>
              <a:srgbClr val="09A1E5"/>
            </a:solidFill>
            <a:prstDash val="solid"/>
          </a:ln>
        </p:spPr>
      </p:sp>
      <p:sp>
        <p:nvSpPr>
          <p:cNvPr id="52" name="Shape 49"/>
          <p:cNvSpPr/>
          <p:nvPr/>
        </p:nvSpPr>
        <p:spPr>
          <a:xfrm>
            <a:off x="9189720" y="2377440"/>
            <a:ext cx="2331720" cy="1097280"/>
          </a:xfrm>
          <a:prstGeom prst="roundRect">
            <a:avLst>
              <a:gd name="adj" fmla="val 10000"/>
            </a:avLst>
          </a:prstGeom>
          <a:solidFill>
            <a:srgbClr val="FFFFFF"/>
          </a:solidFill>
          <a:ln w="19050">
            <a:solidFill>
              <a:srgbClr val="FF5178"/>
            </a:solidFill>
            <a:prstDash val="solid"/>
          </a:ln>
        </p:spPr>
      </p:sp>
      <p:sp>
        <p:nvSpPr>
          <p:cNvPr id="53" name="Text 50"/>
          <p:cNvSpPr txBox="1"/>
          <p:nvPr/>
        </p:nvSpPr>
        <p:spPr>
          <a:xfrm>
            <a:off x="9326880" y="2377440"/>
            <a:ext cx="2057400" cy="1097280"/>
          </a:xfrm>
          <a:prstGeom prst="rect">
            <a:avLst/>
          </a:prstGeom>
          <a:noFill/>
          <a:ln/>
        </p:spPr>
        <p:txBody>
          <a:bodyPr wrap="square" lIns="0" tIns="0" rIns="0" bIns="0" rtlCol="0" anchor="ctr"/>
          <a:lstStyle/>
          <a:p>
            <a:pPr algn="ctr" indent="0" marL="0">
              <a:buNone/>
            </a:pPr>
            <a:r>
              <a:rPr lang="en-US" sz="1800" b="1" dirty="0">
                <a:solidFill>
                  <a:srgbClr val="2A2238"/>
                </a:solidFill>
                <a:latin typeface="Alexandria" pitchFamily="34" charset="0"/>
                <a:ea typeface="Alexandria" pitchFamily="34" charset="-122"/>
                <a:cs typeface="Alexandria" pitchFamily="34" charset="-120"/>
              </a:rPr>
              <a:t>Bếp</a:t>
            </a:r>
            <a:endParaRPr lang="en-US" sz="1800" dirty="0"/>
          </a:p>
          <a:p>
            <a:pPr algn="ctr" indent="0" marL="0">
              <a:buNone/>
            </a:pPr>
            <a:r>
              <a:rPr lang="en-US" sz="1200" dirty="0">
                <a:solidFill>
                  <a:srgbClr val="6E6878"/>
                </a:solidFill>
                <a:latin typeface="Alexandria" pitchFamily="34" charset="0"/>
                <a:ea typeface="Alexandria" pitchFamily="34" charset="-122"/>
                <a:cs typeface="Alexandria" pitchFamily="34" charset="-120"/>
              </a:rPr>
              <a:t>làm theo</a:t>
            </a:r>
            <a:endParaRPr lang="en-US" sz="1800" dirty="0"/>
          </a:p>
        </p:txBody>
      </p:sp>
      <p:sp>
        <p:nvSpPr>
          <p:cNvPr id="54" name="Shape 51"/>
          <p:cNvSpPr/>
          <p:nvPr/>
        </p:nvSpPr>
        <p:spPr>
          <a:xfrm>
            <a:off x="9326880" y="3419856"/>
            <a:ext cx="342900" cy="1755648"/>
          </a:xfrm>
          <a:prstGeom prst="line">
            <a:avLst/>
          </a:prstGeom>
          <a:noFill/>
          <a:ln w="31750">
            <a:solidFill>
              <a:srgbClr val="FF5178"/>
            </a:solidFill>
            <a:prstDash val="solid"/>
          </a:ln>
        </p:spPr>
      </p:sp>
      <p:sp>
        <p:nvSpPr>
          <p:cNvPr id="55" name="Shape 52"/>
          <p:cNvSpPr/>
          <p:nvPr/>
        </p:nvSpPr>
        <p:spPr>
          <a:xfrm flipV="1">
            <a:off x="9669780" y="3419856"/>
            <a:ext cx="342900" cy="1755648"/>
          </a:xfrm>
          <a:prstGeom prst="line">
            <a:avLst/>
          </a:prstGeom>
          <a:noFill/>
          <a:ln w="31750">
            <a:solidFill>
              <a:srgbClr val="FF5178"/>
            </a:solidFill>
            <a:prstDash val="solid"/>
          </a:ln>
        </p:spPr>
      </p:sp>
      <p:sp>
        <p:nvSpPr>
          <p:cNvPr id="56" name="Shape 53"/>
          <p:cNvSpPr/>
          <p:nvPr/>
        </p:nvSpPr>
        <p:spPr>
          <a:xfrm>
            <a:off x="10012680" y="3419856"/>
            <a:ext cx="342900" cy="1755648"/>
          </a:xfrm>
          <a:prstGeom prst="line">
            <a:avLst/>
          </a:prstGeom>
          <a:noFill/>
          <a:ln w="31750">
            <a:solidFill>
              <a:srgbClr val="FF5178"/>
            </a:solidFill>
            <a:prstDash val="solid"/>
          </a:ln>
        </p:spPr>
      </p:sp>
      <p:sp>
        <p:nvSpPr>
          <p:cNvPr id="57" name="Shape 54"/>
          <p:cNvSpPr/>
          <p:nvPr/>
        </p:nvSpPr>
        <p:spPr>
          <a:xfrm flipV="1">
            <a:off x="10355580" y="3419856"/>
            <a:ext cx="342900" cy="1755648"/>
          </a:xfrm>
          <a:prstGeom prst="line">
            <a:avLst/>
          </a:prstGeom>
          <a:noFill/>
          <a:ln w="31750">
            <a:solidFill>
              <a:srgbClr val="FF5178"/>
            </a:solidFill>
            <a:prstDash val="solid"/>
          </a:ln>
        </p:spPr>
      </p:sp>
      <p:sp>
        <p:nvSpPr>
          <p:cNvPr id="58" name="Shape 55"/>
          <p:cNvSpPr/>
          <p:nvPr/>
        </p:nvSpPr>
        <p:spPr>
          <a:xfrm>
            <a:off x="10698480" y="3419856"/>
            <a:ext cx="342900" cy="1755648"/>
          </a:xfrm>
          <a:prstGeom prst="line">
            <a:avLst/>
          </a:prstGeom>
          <a:noFill/>
          <a:ln w="31750">
            <a:solidFill>
              <a:srgbClr val="FF5178"/>
            </a:solidFill>
            <a:prstDash val="solid"/>
          </a:ln>
        </p:spPr>
      </p:sp>
      <p:sp>
        <p:nvSpPr>
          <p:cNvPr id="59" name="Shape 56"/>
          <p:cNvSpPr/>
          <p:nvPr/>
        </p:nvSpPr>
        <p:spPr>
          <a:xfrm flipV="1">
            <a:off x="11041380" y="3419856"/>
            <a:ext cx="342900" cy="1755648"/>
          </a:xfrm>
          <a:prstGeom prst="line">
            <a:avLst/>
          </a:prstGeom>
          <a:noFill/>
          <a:ln w="31750">
            <a:solidFill>
              <a:srgbClr val="FF5178"/>
            </a:solidFill>
            <a:prstDash val="solid"/>
          </a:ln>
        </p:spPr>
      </p:sp>
      <p:sp>
        <p:nvSpPr>
          <p:cNvPr id="60" name="Text 57"/>
          <p:cNvSpPr txBox="1"/>
          <p:nvPr/>
        </p:nvSpPr>
        <p:spPr>
          <a:xfrm>
            <a:off x="548640" y="5166360"/>
            <a:ext cx="11094415" cy="365760"/>
          </a:xfrm>
          <a:prstGeom prst="rect">
            <a:avLst/>
          </a:prstGeom>
          <a:noFill/>
          <a:ln/>
        </p:spPr>
        <p:txBody>
          <a:bodyPr wrap="square" lIns="0" tIns="0" rIns="0" bIns="0" rtlCol="0" anchor="ctr"/>
          <a:lstStyle/>
          <a:p>
            <a:pPr algn="ctr" indent="0" marL="0">
              <a:buNone/>
            </a:pPr>
            <a:r>
              <a:rPr lang="en-US" sz="1300" i="1" dirty="0">
                <a:solidFill>
                  <a:srgbClr val="6E6878"/>
                </a:solidFill>
                <a:latin typeface="Alexandria" pitchFamily="34" charset="0"/>
                <a:ea typeface="Alexandria" pitchFamily="34" charset="-122"/>
                <a:cs typeface="Alexandria" pitchFamily="34" charset="-120"/>
              </a:rPr>
              <a:t>tín hiệu lệch dần qua từng mắt xích</a:t>
            </a:r>
            <a:endParaRPr lang="en-US" sz="1300" dirty="0"/>
          </a:p>
        </p:txBody>
      </p:sp>
      <p:sp>
        <p:nvSpPr>
          <p:cNvPr id="61" name="Shape 58"/>
          <p:cNvSpPr/>
          <p:nvPr/>
        </p:nvSpPr>
        <p:spPr>
          <a:xfrm>
            <a:off x="548640" y="5532120"/>
            <a:ext cx="11094415" cy="548640"/>
          </a:xfrm>
          <a:prstGeom prst="roundRect">
            <a:avLst>
              <a:gd name="adj" fmla="val 20000"/>
            </a:avLst>
          </a:prstGeom>
          <a:solidFill>
            <a:srgbClr val="FFF3C4"/>
          </a:solidFill>
          <a:ln w="12700">
            <a:solidFill>
              <a:srgbClr val="FFD23B"/>
            </a:solidFill>
            <a:prstDash val="solid"/>
          </a:ln>
        </p:spPr>
      </p:sp>
      <p:sp>
        <p:nvSpPr>
          <p:cNvPr id="62" name="Text 59"/>
          <p:cNvSpPr txBox="1"/>
          <p:nvPr/>
        </p:nvSpPr>
        <p:spPr>
          <a:xfrm>
            <a:off x="822960" y="5532120"/>
            <a:ext cx="10545775" cy="54864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 Cần một tài liệu mà mọi bên cùng đọc (slide sau).</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Thiếu minh bạch thì những bên không tranh chấp cũng chịu thiệt</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Y09: Báo Văn hóa (3/1/2026); Nhân Dân (23/1/2026) — ý kiến luật sư là một ý kiến chuyên gia, chưa kiểm chứng chéo.</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9</a:t>
            </a:r>
            <a:endParaRPr lang="en-US" sz="1000" dirty="0"/>
          </a:p>
        </p:txBody>
      </p:sp>
      <p:sp>
        <p:nvSpPr>
          <p:cNvPr id="23" name="Text 20"/>
          <p:cNvSpPr txBox="1"/>
          <p:nvPr/>
        </p:nvSpPr>
        <p:spPr>
          <a:xfrm>
            <a:off x="548640" y="1783080"/>
            <a:ext cx="11094415" cy="411480"/>
          </a:xfrm>
          <a:prstGeom prst="rect">
            <a:avLst/>
          </a:prstGeom>
          <a:noFill/>
          <a:ln/>
        </p:spPr>
        <p:txBody>
          <a:bodyPr wrap="square" lIns="0" tIns="0" rIns="0" bIns="0" rtlCol="0" anchor="ctr"/>
          <a:lstStyle/>
          <a:p>
            <a:pPr indent="0" marL="0">
              <a:buNone/>
            </a:pPr>
            <a:r>
              <a:rPr lang="en-US" sz="1500" b="1" dirty="0">
                <a:solidFill>
                  <a:srgbClr val="E03A62"/>
                </a:solidFill>
                <a:latin typeface="Alexandria" pitchFamily="34" charset="0"/>
                <a:ea typeface="Alexandria" pitchFamily="34" charset="-122"/>
                <a:cs typeface="Alexandria" pitchFamily="34" charset="-120"/>
              </a:rPr>
              <a:t>Tín hiệu cảnh báo — theo báo chí đưa tin</a:t>
            </a:r>
            <a:endParaRPr lang="en-US" sz="1500" dirty="0"/>
          </a:p>
        </p:txBody>
      </p:sp>
      <p:sp>
        <p:nvSpPr>
          <p:cNvPr id="24" name="Shape 21"/>
          <p:cNvSpPr/>
          <p:nvPr/>
        </p:nvSpPr>
        <p:spPr>
          <a:xfrm>
            <a:off x="548640" y="2286000"/>
            <a:ext cx="3515258" cy="1737360"/>
          </a:xfrm>
          <a:prstGeom prst="roundRect">
            <a:avLst>
              <a:gd name="adj" fmla="val 6316"/>
            </a:avLst>
          </a:prstGeom>
          <a:solidFill>
            <a:srgbClr val="FFFFFF"/>
          </a:solidFill>
          <a:ln w="19050">
            <a:solidFill>
              <a:srgbClr val="FF9259"/>
            </a:solidFill>
            <a:prstDash val="solid"/>
          </a:ln>
        </p:spPr>
      </p:sp>
      <p:sp>
        <p:nvSpPr>
          <p:cNvPr id="25" name="Shape 22"/>
          <p:cNvSpPr/>
          <p:nvPr/>
        </p:nvSpPr>
        <p:spPr>
          <a:xfrm>
            <a:off x="777240" y="2423160"/>
            <a:ext cx="502920" cy="438912"/>
          </a:xfrm>
          <a:prstGeom prst="triangle">
            <a:avLst/>
          </a:prstGeom>
          <a:solidFill>
            <a:srgbClr val="FF9259"/>
          </a:solidFill>
          <a:ln w="12700">
            <a:solidFill>
              <a:srgbClr val="FF9259"/>
            </a:solidFill>
            <a:prstDash val="solid"/>
          </a:ln>
        </p:spPr>
      </p:sp>
      <p:sp>
        <p:nvSpPr>
          <p:cNvPr id="26" name="Text 23"/>
          <p:cNvSpPr txBox="1"/>
          <p:nvPr/>
        </p:nvSpPr>
        <p:spPr>
          <a:xfrm>
            <a:off x="777240" y="2487168"/>
            <a:ext cx="502920" cy="374904"/>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a:t>
            </a:r>
            <a:endParaRPr lang="en-US" sz="1500" dirty="0"/>
          </a:p>
        </p:txBody>
      </p:sp>
      <p:sp>
        <p:nvSpPr>
          <p:cNvPr id="27" name="Text 24"/>
          <p:cNvSpPr txBox="1"/>
          <p:nvPr/>
        </p:nvSpPr>
        <p:spPr>
          <a:xfrm>
            <a:off x="777240" y="2926080"/>
            <a:ext cx="305805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Hợp đồng chưa ký</a:t>
            </a:r>
            <a:endParaRPr lang="en-US" sz="1800" dirty="0"/>
          </a:p>
        </p:txBody>
      </p:sp>
      <p:sp>
        <p:nvSpPr>
          <p:cNvPr id="28" name="Text 25"/>
          <p:cNvSpPr txBox="1"/>
          <p:nvPr/>
        </p:nvSpPr>
        <p:spPr>
          <a:xfrm>
            <a:off x="777240" y="3383280"/>
            <a:ext cx="3058058" cy="548640"/>
          </a:xfrm>
          <a:prstGeom prst="rect">
            <a:avLst/>
          </a:prstGeom>
          <a:noFill/>
          <a:ln/>
        </p:spPr>
        <p:txBody>
          <a:bodyPr wrap="square" lIns="0" tIns="0" rIns="0" bIns="0" rtlCol="0" anchor="t"/>
          <a:lstStyle/>
          <a:p>
            <a:pPr indent="0" marL="0">
              <a:buNone/>
            </a:pPr>
            <a:r>
              <a:rPr lang="en-US" sz="1300" dirty="0">
                <a:solidFill>
                  <a:srgbClr val="6E6878"/>
                </a:solidFill>
                <a:latin typeface="Alexandria" pitchFamily="34" charset="0"/>
                <a:ea typeface="Alexandria" pitchFamily="34" charset="-122"/>
                <a:cs typeface="Alexandria" pitchFamily="34" charset="-120"/>
              </a:rPr>
              <a:t>sát ngày diễn</a:t>
            </a:r>
            <a:endParaRPr lang="en-US" sz="1300" dirty="0"/>
          </a:p>
        </p:txBody>
      </p:sp>
      <p:sp>
        <p:nvSpPr>
          <p:cNvPr id="29" name="Shape 26"/>
          <p:cNvSpPr/>
          <p:nvPr/>
        </p:nvSpPr>
        <p:spPr>
          <a:xfrm>
            <a:off x="4338218" y="2286000"/>
            <a:ext cx="3515258" cy="1737360"/>
          </a:xfrm>
          <a:prstGeom prst="roundRect">
            <a:avLst>
              <a:gd name="adj" fmla="val 6316"/>
            </a:avLst>
          </a:prstGeom>
          <a:solidFill>
            <a:srgbClr val="FFFFFF"/>
          </a:solidFill>
          <a:ln w="19050">
            <a:solidFill>
              <a:srgbClr val="FF5178"/>
            </a:solidFill>
            <a:prstDash val="solid"/>
          </a:ln>
        </p:spPr>
      </p:sp>
      <p:sp>
        <p:nvSpPr>
          <p:cNvPr id="30" name="Shape 27"/>
          <p:cNvSpPr/>
          <p:nvPr/>
        </p:nvSpPr>
        <p:spPr>
          <a:xfrm>
            <a:off x="4566818" y="2423160"/>
            <a:ext cx="502920" cy="438912"/>
          </a:xfrm>
          <a:prstGeom prst="triangle">
            <a:avLst/>
          </a:prstGeom>
          <a:solidFill>
            <a:srgbClr val="FF5178"/>
          </a:solidFill>
          <a:ln w="12700">
            <a:solidFill>
              <a:srgbClr val="FF5178"/>
            </a:solidFill>
            <a:prstDash val="solid"/>
          </a:ln>
        </p:spPr>
      </p:sp>
      <p:sp>
        <p:nvSpPr>
          <p:cNvPr id="31" name="Text 28"/>
          <p:cNvSpPr txBox="1"/>
          <p:nvPr/>
        </p:nvSpPr>
        <p:spPr>
          <a:xfrm>
            <a:off x="4566818" y="2487168"/>
            <a:ext cx="502920" cy="374904"/>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a:t>
            </a:r>
            <a:endParaRPr lang="en-US" sz="1500" dirty="0"/>
          </a:p>
        </p:txBody>
      </p:sp>
      <p:sp>
        <p:nvSpPr>
          <p:cNvPr id="32" name="Text 29"/>
          <p:cNvSpPr txBox="1"/>
          <p:nvPr/>
        </p:nvSpPr>
        <p:spPr>
          <a:xfrm>
            <a:off x="4566818" y="2926080"/>
            <a:ext cx="305805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Thanh toán chưa rõ</a:t>
            </a:r>
            <a:endParaRPr lang="en-US" sz="1800" dirty="0"/>
          </a:p>
        </p:txBody>
      </p:sp>
      <p:sp>
        <p:nvSpPr>
          <p:cNvPr id="33" name="Text 30"/>
          <p:cNvSpPr txBox="1"/>
          <p:nvPr/>
        </p:nvSpPr>
        <p:spPr>
          <a:xfrm>
            <a:off x="4566818" y="3383280"/>
            <a:ext cx="3058058" cy="548640"/>
          </a:xfrm>
          <a:prstGeom prst="rect">
            <a:avLst/>
          </a:prstGeom>
          <a:noFill/>
          <a:ln/>
        </p:spPr>
        <p:txBody>
          <a:bodyPr wrap="square" lIns="0" tIns="0" rIns="0" bIns="0" rtlCol="0" anchor="t"/>
          <a:lstStyle/>
          <a:p>
            <a:pPr indent="0" marL="0">
              <a:buNone/>
            </a:pPr>
            <a:r>
              <a:rPr lang="en-US" sz="1300" dirty="0">
                <a:solidFill>
                  <a:srgbClr val="6E6878"/>
                </a:solidFill>
                <a:latin typeface="Alexandria" pitchFamily="34" charset="0"/>
                <a:ea typeface="Alexandria" pitchFamily="34" charset="-122"/>
                <a:cs typeface="Alexandria" pitchFamily="34" charset="-120"/>
              </a:rPr>
              <a:t>chưa nhận, được hẹn nhiều lần</a:t>
            </a:r>
            <a:endParaRPr lang="en-US" sz="1300" dirty="0"/>
          </a:p>
        </p:txBody>
      </p:sp>
      <p:sp>
        <p:nvSpPr>
          <p:cNvPr id="34" name="Shape 31"/>
          <p:cNvSpPr/>
          <p:nvPr/>
        </p:nvSpPr>
        <p:spPr>
          <a:xfrm>
            <a:off x="8127797" y="2286000"/>
            <a:ext cx="3515258" cy="1737360"/>
          </a:xfrm>
          <a:prstGeom prst="roundRect">
            <a:avLst>
              <a:gd name="adj" fmla="val 6316"/>
            </a:avLst>
          </a:prstGeom>
          <a:solidFill>
            <a:srgbClr val="FFFFFF"/>
          </a:solidFill>
          <a:ln w="19050">
            <a:solidFill>
              <a:srgbClr val="962B7C"/>
            </a:solidFill>
            <a:prstDash val="solid"/>
          </a:ln>
        </p:spPr>
      </p:sp>
      <p:sp>
        <p:nvSpPr>
          <p:cNvPr id="35" name="Shape 32"/>
          <p:cNvSpPr/>
          <p:nvPr/>
        </p:nvSpPr>
        <p:spPr>
          <a:xfrm>
            <a:off x="8356397" y="2423160"/>
            <a:ext cx="502920" cy="438912"/>
          </a:xfrm>
          <a:prstGeom prst="triangle">
            <a:avLst/>
          </a:prstGeom>
          <a:solidFill>
            <a:srgbClr val="962B7C"/>
          </a:solidFill>
          <a:ln w="12700">
            <a:solidFill>
              <a:srgbClr val="962B7C"/>
            </a:solidFill>
            <a:prstDash val="solid"/>
          </a:ln>
        </p:spPr>
      </p:sp>
      <p:sp>
        <p:nvSpPr>
          <p:cNvPr id="36" name="Text 33"/>
          <p:cNvSpPr txBox="1"/>
          <p:nvPr/>
        </p:nvSpPr>
        <p:spPr>
          <a:xfrm>
            <a:off x="8356397" y="2487168"/>
            <a:ext cx="502920" cy="374904"/>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a:t>
            </a:r>
            <a:endParaRPr lang="en-US" sz="1500" dirty="0"/>
          </a:p>
        </p:txBody>
      </p:sp>
      <p:sp>
        <p:nvSpPr>
          <p:cNvPr id="37" name="Text 34"/>
          <p:cNvSpPr txBox="1"/>
          <p:nvPr/>
        </p:nvSpPr>
        <p:spPr>
          <a:xfrm>
            <a:off x="8356397" y="2926080"/>
            <a:ext cx="3058058" cy="457200"/>
          </a:xfrm>
          <a:prstGeom prst="rect">
            <a:avLst/>
          </a:prstGeom>
          <a:noFill/>
          <a:ln/>
        </p:spPr>
        <p:txBody>
          <a:bodyPr wrap="square" lIns="0" tIns="0" rIns="0" bIns="0" rtlCol="0" anchor="ctr"/>
          <a:lstStyle/>
          <a:p>
            <a:pPr indent="0" marL="0">
              <a:buNone/>
            </a:pPr>
            <a:r>
              <a:rPr lang="en-US" sz="1800" b="1" dirty="0">
                <a:solidFill>
                  <a:srgbClr val="2A2238"/>
                </a:solidFill>
                <a:latin typeface="Alexandria" pitchFamily="34" charset="0"/>
                <a:ea typeface="Alexandria" pitchFamily="34" charset="-122"/>
                <a:cs typeface="Alexandria" pitchFamily="34" charset="-120"/>
              </a:rPr>
              <a:t>Có người rút sớm</a:t>
            </a:r>
            <a:endParaRPr lang="en-US" sz="1800" dirty="0"/>
          </a:p>
        </p:txBody>
      </p:sp>
      <p:sp>
        <p:nvSpPr>
          <p:cNvPr id="38" name="Text 35"/>
          <p:cNvSpPr txBox="1"/>
          <p:nvPr/>
        </p:nvSpPr>
        <p:spPr>
          <a:xfrm>
            <a:off x="8356397" y="3383280"/>
            <a:ext cx="3058058" cy="548640"/>
          </a:xfrm>
          <a:prstGeom prst="rect">
            <a:avLst/>
          </a:prstGeom>
          <a:noFill/>
          <a:ln/>
        </p:spPr>
        <p:txBody>
          <a:bodyPr wrap="square" lIns="0" tIns="0" rIns="0" bIns="0" rtlCol="0" anchor="t"/>
          <a:lstStyle/>
          <a:p>
            <a:pPr indent="0" marL="0">
              <a:buNone/>
            </a:pPr>
            <a:r>
              <a:rPr lang="en-US" sz="1300" dirty="0">
                <a:solidFill>
                  <a:srgbClr val="6E6878"/>
                </a:solidFill>
                <a:latin typeface="Alexandria" pitchFamily="34" charset="0"/>
                <a:ea typeface="Alexandria" pitchFamily="34" charset="-122"/>
                <a:cs typeface="Alexandria" pitchFamily="34" charset="-120"/>
              </a:rPr>
              <a:t>một nhạc sĩ trả lại cát-sê trước 4 ngày</a:t>
            </a:r>
            <a:endParaRPr lang="en-US" sz="1300" dirty="0"/>
          </a:p>
        </p:txBody>
      </p:sp>
      <p:sp>
        <p:nvSpPr>
          <p:cNvPr id="39" name="Shape 36"/>
          <p:cNvSpPr/>
          <p:nvPr/>
        </p:nvSpPr>
        <p:spPr>
          <a:xfrm>
            <a:off x="548640" y="4297680"/>
            <a:ext cx="6035040" cy="1691640"/>
          </a:xfrm>
          <a:prstGeom prst="roundRect">
            <a:avLst>
              <a:gd name="adj" fmla="val 6486"/>
            </a:avLst>
          </a:prstGeom>
          <a:solidFill>
            <a:srgbClr val="FFE4EA"/>
          </a:solidFill>
          <a:ln w="12700">
            <a:solidFill>
              <a:srgbClr val="FF5178"/>
            </a:solidFill>
            <a:prstDash val="solid"/>
          </a:ln>
        </p:spPr>
      </p:sp>
      <p:sp>
        <p:nvSpPr>
          <p:cNvPr id="40" name="Text 37"/>
          <p:cNvSpPr txBox="1"/>
          <p:nvPr/>
        </p:nvSpPr>
        <p:spPr>
          <a:xfrm>
            <a:off x="822960" y="4297680"/>
            <a:ext cx="5486400" cy="16916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Bên không tranh chấp cũng chịu thiệt: </a:t>
            </a:r>
            <a:pPr indent="0" marL="0">
              <a:buNone/>
            </a:pPr>
            <a:r>
              <a:rPr lang="en-US" sz="1700" dirty="0">
                <a:solidFill>
                  <a:srgbClr val="2A2238"/>
                </a:solidFill>
                <a:latin typeface="Alexandria" pitchFamily="34" charset="0"/>
                <a:ea typeface="Alexandria" pitchFamily="34" charset="-122"/>
                <a:cs typeface="Alexandria" pitchFamily="34" charset="-120"/>
              </a:rPr>
              <a:t>địa điểm, âm thanh ánh sáng, khán giả.</a:t>
            </a:r>
            <a:endParaRPr lang="en-US" sz="1700" dirty="0"/>
          </a:p>
        </p:txBody>
      </p:sp>
      <p:sp>
        <p:nvSpPr>
          <p:cNvPr id="41" name="Shape 38"/>
          <p:cNvSpPr/>
          <p:nvPr/>
        </p:nvSpPr>
        <p:spPr>
          <a:xfrm>
            <a:off x="6858000" y="4297680"/>
            <a:ext cx="4785055" cy="1691640"/>
          </a:xfrm>
          <a:prstGeom prst="roundRect">
            <a:avLst>
              <a:gd name="adj" fmla="val 6486"/>
            </a:avLst>
          </a:prstGeom>
          <a:solidFill>
            <a:srgbClr val="FFFFFF"/>
          </a:solidFill>
          <a:ln w="12700">
            <a:solidFill>
              <a:srgbClr val="DCD7C8"/>
            </a:solidFill>
            <a:prstDash val="solid"/>
          </a:ln>
        </p:spPr>
      </p:sp>
      <p:sp>
        <p:nvSpPr>
          <p:cNvPr id="42" name="Text 39"/>
          <p:cNvSpPr txBox="1"/>
          <p:nvPr/>
        </p:nvSpPr>
        <p:spPr>
          <a:xfrm>
            <a:off x="7132320" y="4297680"/>
            <a:ext cx="4236415" cy="169164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Ý kiến một luật sư: </a:t>
            </a:r>
            <a:pPr indent="0" marL="0">
              <a:buNone/>
            </a:pPr>
            <a:r>
              <a:rPr lang="en-US" sz="1500" dirty="0">
                <a:solidFill>
                  <a:srgbClr val="2A2238"/>
                </a:solidFill>
                <a:latin typeface="Alexandria" pitchFamily="34" charset="0"/>
                <a:ea typeface="Alexandria" pitchFamily="34" charset="-122"/>
                <a:cs typeface="Alexandria" pitchFamily="34" charset="-120"/>
              </a:rPr>
              <a:t>thị trường thiếu ký quỹ, bảo lãnh, bảo hiểm hủy sự kiện.</a:t>
            </a:r>
            <a:pPr indent="0" marL="0">
              <a:buNone/>
            </a:pPr>
            <a:r>
              <a:rPr lang="en-US" sz="1100" dirty="0">
                <a:solidFill>
                  <a:srgbClr val="6E6878"/>
                </a:solidFill>
                <a:latin typeface="Alexandria" pitchFamily="34" charset="0"/>
                <a:ea typeface="Alexandria" pitchFamily="34" charset="-122"/>
                <a:cs typeface="Alexandria" pitchFamily="34" charset="-120"/>
              </a:rPr>
              <a:t>  chưa KCC</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Minh bạch là mọi bên đọc cùng một phiên bản đúng</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Y07: Convention Industry Council (2005), APEX Event Specifications Guide template.</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10</a:t>
            </a:r>
            <a:endParaRPr lang="en-US" sz="1000" dirty="0"/>
          </a:p>
        </p:txBody>
      </p:sp>
      <p:sp>
        <p:nvSpPr>
          <p:cNvPr id="23" name="Text 20"/>
          <p:cNvSpPr txBox="1"/>
          <p:nvPr/>
        </p:nvSpPr>
        <p:spPr>
          <a:xfrm>
            <a:off x="548640" y="1783080"/>
            <a:ext cx="11094415" cy="411480"/>
          </a:xfrm>
          <a:prstGeom prst="rect">
            <a:avLst/>
          </a:prstGeom>
          <a:noFill/>
          <a:ln/>
        </p:spPr>
        <p:txBody>
          <a:bodyPr wrap="square" lIns="0" tIns="0" rIns="0" bIns="0" rtlCol="0" anchor="ctr"/>
          <a:lstStyle/>
          <a:p>
            <a:pPr indent="0" marL="0">
              <a:buNone/>
            </a:pPr>
            <a:r>
              <a:rPr lang="en-US" sz="1500" b="1" dirty="0">
                <a:solidFill>
                  <a:srgbClr val="962B7C"/>
                </a:solidFill>
                <a:latin typeface="Alexandria" pitchFamily="34" charset="0"/>
                <a:ea typeface="Alexandria" pitchFamily="34" charset="-122"/>
                <a:cs typeface="Alexandria" pitchFamily="34" charset="-120"/>
              </a:rPr>
              <a:t>APEX Event Specifications Guide (ESG) — ba phần</a:t>
            </a:r>
            <a:endParaRPr lang="en-US" sz="1500" dirty="0"/>
          </a:p>
        </p:txBody>
      </p:sp>
      <p:sp>
        <p:nvSpPr>
          <p:cNvPr id="24" name="Shape 21"/>
          <p:cNvSpPr/>
          <p:nvPr/>
        </p:nvSpPr>
        <p:spPr>
          <a:xfrm>
            <a:off x="548640" y="2286000"/>
            <a:ext cx="3515258" cy="1280160"/>
          </a:xfrm>
          <a:prstGeom prst="roundRect">
            <a:avLst>
              <a:gd name="adj" fmla="val 8571"/>
            </a:avLst>
          </a:prstGeom>
          <a:solidFill>
            <a:srgbClr val="F1E1EE"/>
          </a:solidFill>
          <a:ln w="19050">
            <a:solidFill>
              <a:srgbClr val="962B7C"/>
            </a:solidFill>
            <a:prstDash val="solid"/>
          </a:ln>
        </p:spPr>
      </p:sp>
      <p:sp>
        <p:nvSpPr>
          <p:cNvPr id="25" name="Text 22"/>
          <p:cNvSpPr txBox="1"/>
          <p:nvPr/>
        </p:nvSpPr>
        <p:spPr>
          <a:xfrm>
            <a:off x="822960" y="2286000"/>
            <a:ext cx="2966618" cy="128016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Narrative</a:t>
            </a:r>
            <a:endParaRPr lang="en-US" sz="1900" dirty="0"/>
          </a:p>
          <a:p>
            <a:pPr indent="0" marL="0">
              <a:buNone/>
            </a:pPr>
            <a:r>
              <a:rPr lang="en-US" sz="1400" dirty="0">
                <a:solidFill>
                  <a:srgbClr val="2A2238"/>
                </a:solidFill>
                <a:latin typeface="Alexandria" pitchFamily="34" charset="0"/>
                <a:ea typeface="Alexandria" pitchFamily="34" charset="-122"/>
                <a:cs typeface="Alexandria" pitchFamily="34" charset="-120"/>
              </a:rPr>
              <a:t>tổng quan sự kiện</a:t>
            </a:r>
            <a:endParaRPr lang="en-US" sz="1900" dirty="0"/>
          </a:p>
        </p:txBody>
      </p:sp>
      <p:sp>
        <p:nvSpPr>
          <p:cNvPr id="26" name="Shape 23"/>
          <p:cNvSpPr/>
          <p:nvPr/>
        </p:nvSpPr>
        <p:spPr>
          <a:xfrm>
            <a:off x="4338218" y="2286000"/>
            <a:ext cx="3515258" cy="1280160"/>
          </a:xfrm>
          <a:prstGeom prst="roundRect">
            <a:avLst>
              <a:gd name="adj" fmla="val 8571"/>
            </a:avLst>
          </a:prstGeom>
          <a:solidFill>
            <a:srgbClr val="DDF1FB"/>
          </a:solidFill>
          <a:ln w="19050">
            <a:solidFill>
              <a:srgbClr val="09A1E5"/>
            </a:solidFill>
            <a:prstDash val="solid"/>
          </a:ln>
        </p:spPr>
      </p:sp>
      <p:sp>
        <p:nvSpPr>
          <p:cNvPr id="27" name="Text 24"/>
          <p:cNvSpPr txBox="1"/>
          <p:nvPr/>
        </p:nvSpPr>
        <p:spPr>
          <a:xfrm>
            <a:off x="4612538" y="2286000"/>
            <a:ext cx="2966618" cy="128016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Function Schedule</a:t>
            </a:r>
            <a:endParaRPr lang="en-US" sz="1900" dirty="0"/>
          </a:p>
          <a:p>
            <a:pPr indent="0" marL="0">
              <a:buNone/>
            </a:pPr>
            <a:r>
              <a:rPr lang="en-US" sz="1400" dirty="0">
                <a:solidFill>
                  <a:srgbClr val="2A2238"/>
                </a:solidFill>
                <a:latin typeface="Alexandria" pitchFamily="34" charset="0"/>
                <a:ea typeface="Alexandria" pitchFamily="34" charset="-122"/>
                <a:cs typeface="Alexandria" pitchFamily="34" charset="-120"/>
              </a:rPr>
              <a:t>lịch từng hoạt động</a:t>
            </a:r>
            <a:endParaRPr lang="en-US" sz="1900" dirty="0"/>
          </a:p>
        </p:txBody>
      </p:sp>
      <p:sp>
        <p:nvSpPr>
          <p:cNvPr id="28" name="Shape 25"/>
          <p:cNvSpPr/>
          <p:nvPr/>
        </p:nvSpPr>
        <p:spPr>
          <a:xfrm>
            <a:off x="8127797" y="2286000"/>
            <a:ext cx="3515258" cy="1280160"/>
          </a:xfrm>
          <a:prstGeom prst="roundRect">
            <a:avLst>
              <a:gd name="adj" fmla="val 8571"/>
            </a:avLst>
          </a:prstGeom>
          <a:solidFill>
            <a:srgbClr val="FFE9DE"/>
          </a:solidFill>
          <a:ln w="19050">
            <a:solidFill>
              <a:srgbClr val="FF9259"/>
            </a:solidFill>
            <a:prstDash val="solid"/>
          </a:ln>
        </p:spPr>
      </p:sp>
      <p:sp>
        <p:nvSpPr>
          <p:cNvPr id="29" name="Text 26"/>
          <p:cNvSpPr txBox="1"/>
          <p:nvPr/>
        </p:nvSpPr>
        <p:spPr>
          <a:xfrm>
            <a:off x="8402117" y="2286000"/>
            <a:ext cx="2966618" cy="128016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Function Set-up Order</a:t>
            </a:r>
            <a:endParaRPr lang="en-US" sz="1900" dirty="0"/>
          </a:p>
          <a:p>
            <a:pPr indent="0" marL="0">
              <a:buNone/>
            </a:pPr>
            <a:r>
              <a:rPr lang="en-US" sz="1400" dirty="0">
                <a:solidFill>
                  <a:srgbClr val="2A2238"/>
                </a:solidFill>
                <a:latin typeface="Alexandria" pitchFamily="34" charset="0"/>
                <a:ea typeface="Alexandria" pitchFamily="34" charset="-122"/>
                <a:cs typeface="Alexandria" pitchFamily="34" charset="-120"/>
              </a:rPr>
              <a:t>yêu cầu cho từng hoạt động</a:t>
            </a:r>
            <a:endParaRPr lang="en-US" sz="1900" dirty="0"/>
          </a:p>
        </p:txBody>
      </p:sp>
      <p:sp>
        <p:nvSpPr>
          <p:cNvPr id="30" name="Text 27"/>
          <p:cNvSpPr txBox="1"/>
          <p:nvPr/>
        </p:nvSpPr>
        <p:spPr>
          <a:xfrm>
            <a:off x="548640" y="3794760"/>
            <a:ext cx="11094415" cy="36576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Trường bắt buộc giữ mọi bên cùng một phiên bản:</a:t>
            </a:r>
            <a:endParaRPr lang="en-US" sz="1400" dirty="0"/>
          </a:p>
        </p:txBody>
      </p:sp>
      <p:sp>
        <p:nvSpPr>
          <p:cNvPr id="31" name="Shape 28"/>
          <p:cNvSpPr/>
          <p:nvPr/>
        </p:nvSpPr>
        <p:spPr>
          <a:xfrm>
            <a:off x="548640" y="4206240"/>
            <a:ext cx="2636444" cy="548640"/>
          </a:xfrm>
          <a:prstGeom prst="roundRect">
            <a:avLst>
              <a:gd name="adj" fmla="val 50000"/>
            </a:avLst>
          </a:prstGeom>
          <a:solidFill>
            <a:srgbClr val="FFFFFF"/>
          </a:solidFill>
          <a:ln w="12700">
            <a:solidFill>
              <a:srgbClr val="962B7C"/>
            </a:solidFill>
            <a:prstDash val="solid"/>
          </a:ln>
        </p:spPr>
      </p:sp>
      <p:sp>
        <p:nvSpPr>
          <p:cNvPr id="32" name="Text 29"/>
          <p:cNvSpPr txBox="1"/>
          <p:nvPr/>
        </p:nvSpPr>
        <p:spPr>
          <a:xfrm>
            <a:off x="621792" y="4206240"/>
            <a:ext cx="2490140" cy="54864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Ngày sửa đổi</a:t>
            </a:r>
            <a:endParaRPr lang="en-US" sz="1400" dirty="0"/>
          </a:p>
        </p:txBody>
      </p:sp>
      <p:sp>
        <p:nvSpPr>
          <p:cNvPr id="33" name="Shape 30"/>
          <p:cNvSpPr/>
          <p:nvPr/>
        </p:nvSpPr>
        <p:spPr>
          <a:xfrm>
            <a:off x="3367964" y="4206240"/>
            <a:ext cx="2636444" cy="548640"/>
          </a:xfrm>
          <a:prstGeom prst="roundRect">
            <a:avLst>
              <a:gd name="adj" fmla="val 50000"/>
            </a:avLst>
          </a:prstGeom>
          <a:solidFill>
            <a:srgbClr val="FFFFFF"/>
          </a:solidFill>
          <a:ln w="12700">
            <a:solidFill>
              <a:srgbClr val="962B7C"/>
            </a:solidFill>
            <a:prstDash val="solid"/>
          </a:ln>
        </p:spPr>
      </p:sp>
      <p:sp>
        <p:nvSpPr>
          <p:cNvPr id="34" name="Text 31"/>
          <p:cNvSpPr txBox="1"/>
          <p:nvPr/>
        </p:nvSpPr>
        <p:spPr>
          <a:xfrm>
            <a:off x="3441116" y="4206240"/>
            <a:ext cx="2490140" cy="54864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Đầu mối chính</a:t>
            </a:r>
            <a:endParaRPr lang="en-US" sz="1400" dirty="0"/>
          </a:p>
        </p:txBody>
      </p:sp>
      <p:sp>
        <p:nvSpPr>
          <p:cNvPr id="35" name="Shape 32"/>
          <p:cNvSpPr/>
          <p:nvPr/>
        </p:nvSpPr>
        <p:spPr>
          <a:xfrm>
            <a:off x="6187288" y="4206240"/>
            <a:ext cx="2636444" cy="548640"/>
          </a:xfrm>
          <a:prstGeom prst="roundRect">
            <a:avLst>
              <a:gd name="adj" fmla="val 50000"/>
            </a:avLst>
          </a:prstGeom>
          <a:solidFill>
            <a:srgbClr val="FFFFFF"/>
          </a:solidFill>
          <a:ln w="12700">
            <a:solidFill>
              <a:srgbClr val="962B7C"/>
            </a:solidFill>
            <a:prstDash val="solid"/>
          </a:ln>
        </p:spPr>
      </p:sp>
      <p:sp>
        <p:nvSpPr>
          <p:cNvPr id="36" name="Text 33"/>
          <p:cNvSpPr txBox="1"/>
          <p:nvPr/>
        </p:nvSpPr>
        <p:spPr>
          <a:xfrm>
            <a:off x="6260440" y="4206240"/>
            <a:ext cx="2490140" cy="54864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Họp trước sự kiện</a:t>
            </a:r>
            <a:endParaRPr lang="en-US" sz="1400" dirty="0"/>
          </a:p>
        </p:txBody>
      </p:sp>
      <p:sp>
        <p:nvSpPr>
          <p:cNvPr id="37" name="Shape 34"/>
          <p:cNvSpPr/>
          <p:nvPr/>
        </p:nvSpPr>
        <p:spPr>
          <a:xfrm>
            <a:off x="9006611" y="4206240"/>
            <a:ext cx="2636444" cy="548640"/>
          </a:xfrm>
          <a:prstGeom prst="roundRect">
            <a:avLst>
              <a:gd name="adj" fmla="val 50000"/>
            </a:avLst>
          </a:prstGeom>
          <a:solidFill>
            <a:srgbClr val="FFFFFF"/>
          </a:solidFill>
          <a:ln w="12700">
            <a:solidFill>
              <a:srgbClr val="962B7C"/>
            </a:solidFill>
            <a:prstDash val="solid"/>
          </a:ln>
        </p:spPr>
      </p:sp>
      <p:sp>
        <p:nvSpPr>
          <p:cNvPr id="38" name="Text 35"/>
          <p:cNvSpPr txBox="1"/>
          <p:nvPr/>
        </p:nvSpPr>
        <p:spPr>
          <a:xfrm>
            <a:off x="9079763" y="4206240"/>
            <a:ext cx="2490140" cy="54864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Họp sau sự kiện</a:t>
            </a:r>
            <a:endParaRPr lang="en-US" sz="1400" dirty="0"/>
          </a:p>
        </p:txBody>
      </p:sp>
      <p:sp>
        <p:nvSpPr>
          <p:cNvPr id="39" name="Text 36"/>
          <p:cNvSpPr txBox="1"/>
          <p:nvPr/>
        </p:nvSpPr>
        <p:spPr>
          <a:xfrm>
            <a:off x="548640" y="5029200"/>
            <a:ext cx="2560320" cy="731520"/>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Bộ APEX xuyên suốt môn:</a:t>
            </a:r>
            <a:endParaRPr lang="en-US" sz="1400" dirty="0"/>
          </a:p>
        </p:txBody>
      </p:sp>
      <p:sp>
        <p:nvSpPr>
          <p:cNvPr id="40" name="Shape 37"/>
          <p:cNvSpPr/>
          <p:nvPr/>
        </p:nvSpPr>
        <p:spPr>
          <a:xfrm>
            <a:off x="3200400" y="5074920"/>
            <a:ext cx="2286000" cy="640080"/>
          </a:xfrm>
          <a:prstGeom prst="roundRect">
            <a:avLst>
              <a:gd name="adj" fmla="val 50000"/>
            </a:avLst>
          </a:prstGeom>
          <a:solidFill>
            <a:srgbClr val="09A1E5"/>
          </a:solidFill>
          <a:ln w="12700">
            <a:solidFill>
              <a:srgbClr val="09A1E5"/>
            </a:solidFill>
            <a:prstDash val="solid"/>
          </a:ln>
        </p:spPr>
      </p:sp>
      <p:sp>
        <p:nvSpPr>
          <p:cNvPr id="41" name="Text 38"/>
          <p:cNvSpPr txBox="1"/>
          <p:nvPr/>
        </p:nvSpPr>
        <p:spPr>
          <a:xfrm>
            <a:off x="3273552" y="5074920"/>
            <a:ext cx="21396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RFP · Buổi 10</a:t>
            </a:r>
            <a:endParaRPr lang="en-US" sz="1400" dirty="0"/>
          </a:p>
        </p:txBody>
      </p:sp>
      <p:sp>
        <p:nvSpPr>
          <p:cNvPr id="42" name="Shape 39"/>
          <p:cNvSpPr/>
          <p:nvPr/>
        </p:nvSpPr>
        <p:spPr>
          <a:xfrm>
            <a:off x="5532120" y="5394960"/>
            <a:ext cx="457200" cy="914"/>
          </a:xfrm>
          <a:prstGeom prst="line">
            <a:avLst/>
          </a:prstGeom>
          <a:noFill/>
          <a:ln w="31750">
            <a:solidFill>
              <a:srgbClr val="2A2238"/>
            </a:solidFill>
            <a:prstDash val="solid"/>
            <a:tailEnd type="triangle"/>
          </a:ln>
        </p:spPr>
      </p:sp>
      <p:sp>
        <p:nvSpPr>
          <p:cNvPr id="43" name="Shape 40"/>
          <p:cNvSpPr/>
          <p:nvPr/>
        </p:nvSpPr>
        <p:spPr>
          <a:xfrm>
            <a:off x="6035040" y="5074920"/>
            <a:ext cx="2286000" cy="640080"/>
          </a:xfrm>
          <a:prstGeom prst="roundRect">
            <a:avLst>
              <a:gd name="adj" fmla="val 50000"/>
            </a:avLst>
          </a:prstGeom>
          <a:solidFill>
            <a:srgbClr val="962B7C"/>
          </a:solidFill>
          <a:ln w="12700">
            <a:solidFill>
              <a:srgbClr val="962B7C"/>
            </a:solidFill>
            <a:prstDash val="solid"/>
          </a:ln>
        </p:spPr>
      </p:sp>
      <p:sp>
        <p:nvSpPr>
          <p:cNvPr id="44" name="Text 41"/>
          <p:cNvSpPr txBox="1"/>
          <p:nvPr/>
        </p:nvSpPr>
        <p:spPr>
          <a:xfrm>
            <a:off x="6108192" y="5074920"/>
            <a:ext cx="21396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ESG · Buổi 12</a:t>
            </a:r>
            <a:endParaRPr lang="en-US" sz="1400" dirty="0"/>
          </a:p>
        </p:txBody>
      </p:sp>
      <p:sp>
        <p:nvSpPr>
          <p:cNvPr id="45" name="Shape 42"/>
          <p:cNvSpPr/>
          <p:nvPr/>
        </p:nvSpPr>
        <p:spPr>
          <a:xfrm>
            <a:off x="8366760" y="5394960"/>
            <a:ext cx="457200" cy="914"/>
          </a:xfrm>
          <a:prstGeom prst="line">
            <a:avLst/>
          </a:prstGeom>
          <a:noFill/>
          <a:ln w="31750">
            <a:solidFill>
              <a:srgbClr val="2A2238"/>
            </a:solidFill>
            <a:prstDash val="solid"/>
            <a:tailEnd type="triangle"/>
          </a:ln>
        </p:spPr>
      </p:sp>
      <p:sp>
        <p:nvSpPr>
          <p:cNvPr id="46" name="Shape 43"/>
          <p:cNvSpPr/>
          <p:nvPr/>
        </p:nvSpPr>
        <p:spPr>
          <a:xfrm>
            <a:off x="8869680" y="5074920"/>
            <a:ext cx="2286000" cy="640080"/>
          </a:xfrm>
          <a:prstGeom prst="roundRect">
            <a:avLst>
              <a:gd name="adj" fmla="val 50000"/>
            </a:avLst>
          </a:prstGeom>
          <a:solidFill>
            <a:srgbClr val="49B296"/>
          </a:solidFill>
          <a:ln w="12700">
            <a:solidFill>
              <a:srgbClr val="49B296"/>
            </a:solidFill>
            <a:prstDash val="solid"/>
          </a:ln>
        </p:spPr>
      </p:sp>
      <p:sp>
        <p:nvSpPr>
          <p:cNvPr id="47" name="Text 44"/>
          <p:cNvSpPr txBox="1"/>
          <p:nvPr/>
        </p:nvSpPr>
        <p:spPr>
          <a:xfrm>
            <a:off x="8942832" y="5074920"/>
            <a:ext cx="2139696"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PER · Buổi 8</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Minh bạch về yêu cầu, lịch, thanh toán — bảo mật về khách và giá</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11</a:t>
            </a:r>
            <a:endParaRPr lang="en-US" sz="1000" dirty="0"/>
          </a:p>
        </p:txBody>
      </p:sp>
      <p:sp>
        <p:nvSpPr>
          <p:cNvPr id="23" name="Shape 20"/>
          <p:cNvSpPr/>
          <p:nvPr/>
        </p:nvSpPr>
        <p:spPr>
          <a:xfrm>
            <a:off x="548640" y="1828800"/>
            <a:ext cx="5410048" cy="548640"/>
          </a:xfrm>
          <a:prstGeom prst="roundRect">
            <a:avLst>
              <a:gd name="adj" fmla="val 50000"/>
            </a:avLst>
          </a:prstGeom>
          <a:solidFill>
            <a:srgbClr val="49B296"/>
          </a:solidFill>
          <a:ln w="12700">
            <a:solidFill>
              <a:srgbClr val="49B296"/>
            </a:solidFill>
            <a:prstDash val="solid"/>
          </a:ln>
        </p:spPr>
      </p:sp>
      <p:sp>
        <p:nvSpPr>
          <p:cNvPr id="24" name="Text 21"/>
          <p:cNvSpPr txBox="1"/>
          <p:nvPr/>
        </p:nvSpPr>
        <p:spPr>
          <a:xfrm>
            <a:off x="621792" y="1828800"/>
            <a:ext cx="526374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Minh bạch với mạng lưới</a:t>
            </a:r>
            <a:endParaRPr lang="en-US" sz="1700" dirty="0"/>
          </a:p>
        </p:txBody>
      </p:sp>
      <p:sp>
        <p:nvSpPr>
          <p:cNvPr id="25" name="Shape 22"/>
          <p:cNvSpPr/>
          <p:nvPr/>
        </p:nvSpPr>
        <p:spPr>
          <a:xfrm>
            <a:off x="548640" y="2514600"/>
            <a:ext cx="5410048" cy="3474720"/>
          </a:xfrm>
          <a:prstGeom prst="roundRect">
            <a:avLst>
              <a:gd name="adj" fmla="val 3158"/>
            </a:avLst>
          </a:prstGeom>
          <a:solidFill>
            <a:srgbClr val="E1F3EE"/>
          </a:solidFill>
          <a:ln w="12700">
            <a:solidFill>
              <a:srgbClr val="E1F3EE"/>
            </a:solidFill>
            <a:prstDash val="solid"/>
          </a:ln>
        </p:spPr>
      </p:sp>
      <p:sp>
        <p:nvSpPr>
          <p:cNvPr id="26" name="Text 23"/>
          <p:cNvSpPr txBox="1"/>
          <p:nvPr/>
        </p:nvSpPr>
        <p:spPr>
          <a:xfrm>
            <a:off x="868680" y="2697480"/>
            <a:ext cx="476996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A2238"/>
                </a:solidFill>
                <a:latin typeface="Alexandria" pitchFamily="34" charset="0"/>
                <a:ea typeface="Alexandria" pitchFamily="34" charset="-122"/>
                <a:cs typeface="Alexandria" pitchFamily="34" charset="-120"/>
              </a:rPr>
              <a:t>Yêu cầu của sự kiện</a:t>
            </a:r>
            <a:endParaRPr lang="en-US" sz="1700" dirty="0"/>
          </a:p>
          <a:p>
            <a:pPr marL="342900" indent="-342900">
              <a:spcAft>
                <a:spcPts val="1200"/>
              </a:spcAft>
              <a:buSzPct val="100000"/>
              <a:buChar char="•"/>
            </a:pPr>
            <a:r>
              <a:rPr lang="en-US" sz="1700" dirty="0">
                <a:solidFill>
                  <a:srgbClr val="2A2238"/>
                </a:solidFill>
                <a:latin typeface="Alexandria" pitchFamily="34" charset="0"/>
                <a:ea typeface="Alexandria" pitchFamily="34" charset="-122"/>
                <a:cs typeface="Alexandria" pitchFamily="34" charset="-120"/>
              </a:rPr>
              <a:t>Lịch, giờ dựng – tháo</a:t>
            </a:r>
            <a:endParaRPr lang="en-US" sz="1700" dirty="0"/>
          </a:p>
          <a:p>
            <a:pPr marL="342900" indent="-342900">
              <a:spcAft>
                <a:spcPts val="1200"/>
              </a:spcAft>
              <a:buSzPct val="100000"/>
              <a:buChar char="•"/>
            </a:pPr>
            <a:r>
              <a:rPr lang="en-US" sz="1700" dirty="0">
                <a:solidFill>
                  <a:srgbClr val="2A2238"/>
                </a:solidFill>
                <a:latin typeface="Alexandria" pitchFamily="34" charset="0"/>
                <a:ea typeface="Alexandria" pitchFamily="34" charset="-122"/>
                <a:cs typeface="Alexandria" pitchFamily="34" charset="-120"/>
              </a:rPr>
              <a:t>Thay đổi: ai đổi gì, khi nào</a:t>
            </a:r>
            <a:endParaRPr lang="en-US" sz="1700" dirty="0"/>
          </a:p>
          <a:p>
            <a:pPr marL="342900" indent="-342900">
              <a:spcAft>
                <a:spcPts val="1200"/>
              </a:spcAft>
              <a:buSzPct val="100000"/>
              <a:buChar char="•"/>
            </a:pPr>
            <a:r>
              <a:rPr lang="en-US" sz="1700" dirty="0">
                <a:solidFill>
                  <a:srgbClr val="2A2238"/>
                </a:solidFill>
                <a:latin typeface="Alexandria" pitchFamily="34" charset="0"/>
                <a:ea typeface="Alexandria" pitchFamily="34" charset="-122"/>
                <a:cs typeface="Alexandria" pitchFamily="34" charset="-120"/>
              </a:rPr>
              <a:t>Lịch và điều kiện thanh toán</a:t>
            </a:r>
            <a:endParaRPr lang="en-US" sz="1700" dirty="0"/>
          </a:p>
        </p:txBody>
      </p:sp>
      <p:sp>
        <p:nvSpPr>
          <p:cNvPr id="27" name="Shape 24"/>
          <p:cNvSpPr/>
          <p:nvPr/>
        </p:nvSpPr>
        <p:spPr>
          <a:xfrm>
            <a:off x="6233008" y="1828800"/>
            <a:ext cx="5410048" cy="548640"/>
          </a:xfrm>
          <a:prstGeom prst="roundRect">
            <a:avLst>
              <a:gd name="adj" fmla="val 50000"/>
            </a:avLst>
          </a:prstGeom>
          <a:solidFill>
            <a:srgbClr val="FF5178"/>
          </a:solidFill>
          <a:ln w="12700">
            <a:solidFill>
              <a:srgbClr val="FF5178"/>
            </a:solidFill>
            <a:prstDash val="solid"/>
          </a:ln>
        </p:spPr>
      </p:sp>
      <p:sp>
        <p:nvSpPr>
          <p:cNvPr id="28" name="Text 25"/>
          <p:cNvSpPr txBox="1"/>
          <p:nvPr/>
        </p:nvSpPr>
        <p:spPr>
          <a:xfrm>
            <a:off x="6306160" y="1828800"/>
            <a:ext cx="5263744"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Bảo mật</a:t>
            </a:r>
            <a:endParaRPr lang="en-US" sz="1700" dirty="0"/>
          </a:p>
        </p:txBody>
      </p:sp>
      <p:sp>
        <p:nvSpPr>
          <p:cNvPr id="29" name="Shape 26"/>
          <p:cNvSpPr/>
          <p:nvPr/>
        </p:nvSpPr>
        <p:spPr>
          <a:xfrm>
            <a:off x="6233008" y="2514600"/>
            <a:ext cx="5410048" cy="3474720"/>
          </a:xfrm>
          <a:prstGeom prst="roundRect">
            <a:avLst>
              <a:gd name="adj" fmla="val 3158"/>
            </a:avLst>
          </a:prstGeom>
          <a:solidFill>
            <a:srgbClr val="FFE4EA"/>
          </a:solidFill>
          <a:ln w="12700">
            <a:solidFill>
              <a:srgbClr val="FFE4EA"/>
            </a:solidFill>
            <a:prstDash val="solid"/>
          </a:ln>
        </p:spPr>
      </p:sp>
      <p:sp>
        <p:nvSpPr>
          <p:cNvPr id="30" name="Text 27"/>
          <p:cNvSpPr txBox="1"/>
          <p:nvPr/>
        </p:nvSpPr>
        <p:spPr>
          <a:xfrm>
            <a:off x="6553048" y="2697480"/>
            <a:ext cx="476996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A2238"/>
                </a:solidFill>
                <a:latin typeface="Alexandria" pitchFamily="34" charset="0"/>
                <a:ea typeface="Alexandria" pitchFamily="34" charset="-122"/>
                <a:cs typeface="Alexandria" pitchFamily="34" charset="-120"/>
              </a:rPr>
              <a:t>Danh sách, thông tin cá nhân khách của An Phát (trừ phần cần thiết, có đồng ý)</a:t>
            </a:r>
            <a:endParaRPr lang="en-US" sz="1700" dirty="0"/>
          </a:p>
          <a:p>
            <a:pPr marL="342900" indent="-342900">
              <a:spcAft>
                <a:spcPts val="1200"/>
              </a:spcAft>
              <a:buSzPct val="100000"/>
              <a:buChar char="•"/>
            </a:pPr>
            <a:r>
              <a:rPr lang="en-US" sz="1700" dirty="0">
                <a:solidFill>
                  <a:srgbClr val="2A2238"/>
                </a:solidFill>
                <a:latin typeface="Alexandria" pitchFamily="34" charset="0"/>
                <a:ea typeface="Alexandria" pitchFamily="34" charset="-122"/>
                <a:cs typeface="Alexandria" pitchFamily="34" charset="-120"/>
              </a:rPr>
              <a:t>Giá của nhà cung cấp khác</a:t>
            </a:r>
            <a:endParaRPr lang="en-US" sz="1700" dirty="0"/>
          </a:p>
          <a:p>
            <a:pPr marL="342900" indent="-342900">
              <a:spcAft>
                <a:spcPts val="1200"/>
              </a:spcAft>
              <a:buSzPct val="100000"/>
              <a:buChar char="•"/>
            </a:pPr>
            <a:r>
              <a:rPr lang="en-US" sz="1700" dirty="0">
                <a:solidFill>
                  <a:srgbClr val="2A2238"/>
                </a:solidFill>
                <a:latin typeface="Alexandria" pitchFamily="34" charset="0"/>
                <a:ea typeface="Alexandria" pitchFamily="34" charset="-122"/>
                <a:cs typeface="Alexandria" pitchFamily="34" charset="-120"/>
              </a:rPr>
              <a:t>Thông tin nội bộ của An Phát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962B7C"/>
          </a:solidFill>
          <a:ln w="9525">
            <a:solidFill>
              <a:srgbClr val="962B7C"/>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1 · Tuần cuối trước gala: bốn xung đột cùng lúc</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W12_activity_S3_tuan_cuoi_truoc_gala.md · Tình huống giả định.</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12</a:t>
            </a:r>
            <a:endParaRPr lang="en-US" sz="1000" dirty="0"/>
          </a:p>
        </p:txBody>
      </p:sp>
      <p:sp>
        <p:nvSpPr>
          <p:cNvPr id="23" name="Text 20"/>
          <p:cNvSpPr txBox="1"/>
          <p:nvPr/>
        </p:nvSpPr>
        <p:spPr>
          <a:xfrm>
            <a:off x="548640" y="1737360"/>
            <a:ext cx="11094415" cy="36576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T-5 ngày · chị Thảo (KAMer) nhận bốn tin trong một buổi sáng</a:t>
            </a:r>
            <a:endParaRPr lang="en-US" sz="1300" dirty="0"/>
          </a:p>
        </p:txBody>
      </p:sp>
      <p:sp>
        <p:nvSpPr>
          <p:cNvPr id="24" name="Shape 21"/>
          <p:cNvSpPr/>
          <p:nvPr/>
        </p:nvSpPr>
        <p:spPr>
          <a:xfrm>
            <a:off x="548640" y="2240280"/>
            <a:ext cx="7040880" cy="786384"/>
          </a:xfrm>
          <a:prstGeom prst="roundRect">
            <a:avLst>
              <a:gd name="adj" fmla="val 13953"/>
            </a:avLst>
          </a:prstGeom>
          <a:solidFill>
            <a:srgbClr val="FFFFFF"/>
          </a:solidFill>
          <a:ln w="15875">
            <a:solidFill>
              <a:srgbClr val="962B7C"/>
            </a:solidFill>
            <a:prstDash val="solid"/>
          </a:ln>
        </p:spPr>
      </p:sp>
      <p:sp>
        <p:nvSpPr>
          <p:cNvPr id="25" name="Shape 22"/>
          <p:cNvSpPr/>
          <p:nvPr/>
        </p:nvSpPr>
        <p:spPr>
          <a:xfrm>
            <a:off x="685800" y="2404872"/>
            <a:ext cx="457200" cy="457200"/>
          </a:xfrm>
          <a:prstGeom prst="ellipse">
            <a:avLst/>
          </a:prstGeom>
          <a:solidFill>
            <a:srgbClr val="962B7C"/>
          </a:solidFill>
          <a:ln w="12700">
            <a:solidFill>
              <a:srgbClr val="962B7C"/>
            </a:solidFill>
            <a:prstDash val="solid"/>
          </a:ln>
        </p:spPr>
      </p:sp>
      <p:sp>
        <p:nvSpPr>
          <p:cNvPr id="26" name="Text 23"/>
          <p:cNvSpPr txBox="1"/>
          <p:nvPr/>
        </p:nvSpPr>
        <p:spPr>
          <a:xfrm>
            <a:off x="685800" y="24048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1</a:t>
            </a:r>
            <a:endParaRPr lang="en-US" sz="1400" dirty="0"/>
          </a:p>
        </p:txBody>
      </p:sp>
      <p:sp>
        <p:nvSpPr>
          <p:cNvPr id="27" name="Text 24"/>
          <p:cNvSpPr txBox="1"/>
          <p:nvPr/>
        </p:nvSpPr>
        <p:spPr>
          <a:xfrm>
            <a:off x="1280160" y="2240280"/>
            <a:ext cx="1737360" cy="78638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Bình An</a:t>
            </a:r>
            <a:endParaRPr lang="en-US" sz="1400" dirty="0"/>
          </a:p>
          <a:p>
            <a:pPr indent="0" marL="0">
              <a:buNone/>
            </a:pPr>
            <a:r>
              <a:rPr lang="en-US" sz="1000" dirty="0">
                <a:solidFill>
                  <a:srgbClr val="6E6878"/>
                </a:solidFill>
                <a:latin typeface="Alexandria" pitchFamily="34" charset="0"/>
                <a:ea typeface="Alexandria" pitchFamily="34" charset="-122"/>
                <a:cs typeface="Alexandria" pitchFamily="34" charset="-120"/>
              </a:rPr>
              <a:t>nhà tài trợ</a:t>
            </a:r>
            <a:endParaRPr lang="en-US" sz="1400" dirty="0"/>
          </a:p>
        </p:txBody>
      </p:sp>
      <p:sp>
        <p:nvSpPr>
          <p:cNvPr id="28" name="Text 25"/>
          <p:cNvSpPr txBox="1"/>
          <p:nvPr/>
        </p:nvSpPr>
        <p:spPr>
          <a:xfrm>
            <a:off x="3017520" y="2240280"/>
            <a:ext cx="4480560" cy="786384"/>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Muốn bàn tư vấn cạnh khu tiệc, phát tờ rơi — khác thỏa thuận đã ký</a:t>
            </a:r>
            <a:endParaRPr lang="en-US" sz="1200" dirty="0"/>
          </a:p>
        </p:txBody>
      </p:sp>
      <p:sp>
        <p:nvSpPr>
          <p:cNvPr id="29" name="Shape 26"/>
          <p:cNvSpPr/>
          <p:nvPr/>
        </p:nvSpPr>
        <p:spPr>
          <a:xfrm>
            <a:off x="548640" y="3136392"/>
            <a:ext cx="7040880" cy="786384"/>
          </a:xfrm>
          <a:prstGeom prst="roundRect">
            <a:avLst>
              <a:gd name="adj" fmla="val 13953"/>
            </a:avLst>
          </a:prstGeom>
          <a:solidFill>
            <a:srgbClr val="FFFFFF"/>
          </a:solidFill>
          <a:ln w="15875">
            <a:solidFill>
              <a:srgbClr val="09A1E5"/>
            </a:solidFill>
            <a:prstDash val="solid"/>
          </a:ln>
        </p:spPr>
      </p:sp>
      <p:sp>
        <p:nvSpPr>
          <p:cNvPr id="30" name="Shape 27"/>
          <p:cNvSpPr/>
          <p:nvPr/>
        </p:nvSpPr>
        <p:spPr>
          <a:xfrm>
            <a:off x="685800" y="3300984"/>
            <a:ext cx="457200" cy="457200"/>
          </a:xfrm>
          <a:prstGeom prst="ellipse">
            <a:avLst/>
          </a:prstGeom>
          <a:solidFill>
            <a:srgbClr val="09A1E5"/>
          </a:solidFill>
          <a:ln w="12700">
            <a:solidFill>
              <a:srgbClr val="09A1E5"/>
            </a:solidFill>
            <a:prstDash val="solid"/>
          </a:ln>
        </p:spPr>
      </p:sp>
      <p:sp>
        <p:nvSpPr>
          <p:cNvPr id="31" name="Text 28"/>
          <p:cNvSpPr txBox="1"/>
          <p:nvPr/>
        </p:nvSpPr>
        <p:spPr>
          <a:xfrm>
            <a:off x="685800" y="330098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2</a:t>
            </a:r>
            <a:endParaRPr lang="en-US" sz="1400" dirty="0"/>
          </a:p>
        </p:txBody>
      </p:sp>
      <p:sp>
        <p:nvSpPr>
          <p:cNvPr id="32" name="Text 29"/>
          <p:cNvSpPr txBox="1"/>
          <p:nvPr/>
        </p:nvSpPr>
        <p:spPr>
          <a:xfrm>
            <a:off x="1280160" y="3136392"/>
            <a:ext cx="1737360" cy="78638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Khách sạn B</a:t>
            </a:r>
            <a:endParaRPr lang="en-US" sz="1400" dirty="0"/>
          </a:p>
          <a:p>
            <a:pPr indent="0" marL="0">
              <a:buNone/>
            </a:pPr>
            <a:r>
              <a:rPr lang="en-US" sz="1000" dirty="0">
                <a:solidFill>
                  <a:srgbClr val="6E6878"/>
                </a:solidFill>
                <a:latin typeface="Alexandria" pitchFamily="34" charset="0"/>
                <a:ea typeface="Alexandria" pitchFamily="34" charset="-122"/>
                <a:cs typeface="Alexandria" pitchFamily="34" charset="-120"/>
              </a:rPr>
              <a:t>địa điểm</a:t>
            </a:r>
            <a:endParaRPr lang="en-US" sz="1400" dirty="0"/>
          </a:p>
        </p:txBody>
      </p:sp>
      <p:sp>
        <p:nvSpPr>
          <p:cNvPr id="33" name="Text 30"/>
          <p:cNvSpPr txBox="1"/>
          <p:nvPr/>
        </p:nvSpPr>
        <p:spPr>
          <a:xfrm>
            <a:off x="3017520" y="3136392"/>
            <a:ext cx="4480560" cy="786384"/>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Tiệc cưới 11/12 kéo dài: giờ dựng lùi 8h → 13h; livestream và bếp tranh khu hậu cần</a:t>
            </a:r>
            <a:endParaRPr lang="en-US" sz="1200" dirty="0"/>
          </a:p>
        </p:txBody>
      </p:sp>
      <p:sp>
        <p:nvSpPr>
          <p:cNvPr id="34" name="Shape 31"/>
          <p:cNvSpPr/>
          <p:nvPr/>
        </p:nvSpPr>
        <p:spPr>
          <a:xfrm>
            <a:off x="548640" y="4032504"/>
            <a:ext cx="7040880" cy="786384"/>
          </a:xfrm>
          <a:prstGeom prst="roundRect">
            <a:avLst>
              <a:gd name="adj" fmla="val 13953"/>
            </a:avLst>
          </a:prstGeom>
          <a:solidFill>
            <a:srgbClr val="FFFFFF"/>
          </a:solidFill>
          <a:ln w="15875">
            <a:solidFill>
              <a:srgbClr val="FF5178"/>
            </a:solidFill>
            <a:prstDash val="solid"/>
          </a:ln>
        </p:spPr>
      </p:sp>
      <p:sp>
        <p:nvSpPr>
          <p:cNvPr id="35" name="Shape 32"/>
          <p:cNvSpPr/>
          <p:nvPr/>
        </p:nvSpPr>
        <p:spPr>
          <a:xfrm>
            <a:off x="685800" y="4197096"/>
            <a:ext cx="457200" cy="457200"/>
          </a:xfrm>
          <a:prstGeom prst="ellipse">
            <a:avLst/>
          </a:prstGeom>
          <a:solidFill>
            <a:srgbClr val="FF5178"/>
          </a:solidFill>
          <a:ln w="12700">
            <a:solidFill>
              <a:srgbClr val="FF5178"/>
            </a:solidFill>
            <a:prstDash val="solid"/>
          </a:ln>
        </p:spPr>
      </p:sp>
      <p:sp>
        <p:nvSpPr>
          <p:cNvPr id="36" name="Text 33"/>
          <p:cNvSpPr txBox="1"/>
          <p:nvPr/>
        </p:nvSpPr>
        <p:spPr>
          <a:xfrm>
            <a:off x="685800" y="41970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lexandria" pitchFamily="34" charset="0"/>
                <a:ea typeface="Alexandria" pitchFamily="34" charset="-122"/>
                <a:cs typeface="Alexandria" pitchFamily="34" charset="-120"/>
              </a:rPr>
              <a:t>3</a:t>
            </a:r>
            <a:endParaRPr lang="en-US" sz="1400" dirty="0"/>
          </a:p>
        </p:txBody>
      </p:sp>
      <p:sp>
        <p:nvSpPr>
          <p:cNvPr id="37" name="Text 34"/>
          <p:cNvSpPr txBox="1"/>
          <p:nvPr/>
        </p:nvSpPr>
        <p:spPr>
          <a:xfrm>
            <a:off x="1280160" y="4032504"/>
            <a:ext cx="1737360" cy="78638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TS. Nam</a:t>
            </a:r>
            <a:endParaRPr lang="en-US" sz="1400" dirty="0"/>
          </a:p>
          <a:p>
            <a:pPr indent="0" marL="0">
              <a:buNone/>
            </a:pPr>
            <a:r>
              <a:rPr lang="en-US" sz="1000" dirty="0">
                <a:solidFill>
                  <a:srgbClr val="6E6878"/>
                </a:solidFill>
                <a:latin typeface="Alexandria" pitchFamily="34" charset="0"/>
                <a:ea typeface="Alexandria" pitchFamily="34" charset="-122"/>
                <a:cs typeface="Alexandria" pitchFamily="34" charset="-120"/>
              </a:rPr>
              <a:t>diễn giả chính</a:t>
            </a:r>
            <a:endParaRPr lang="en-US" sz="1400" dirty="0"/>
          </a:p>
        </p:txBody>
      </p:sp>
      <p:sp>
        <p:nvSpPr>
          <p:cNvPr id="38" name="Text 35"/>
          <p:cNvSpPr txBox="1"/>
          <p:nvPr/>
        </p:nvSpPr>
        <p:spPr>
          <a:xfrm>
            <a:off x="3017520" y="4032504"/>
            <a:ext cx="4480560" cy="786384"/>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Báo nêu tên ông trong HĐQT một công ty đang bị thanh tra (chưa kết luận)</a:t>
            </a:r>
            <a:endParaRPr lang="en-US" sz="1200" dirty="0"/>
          </a:p>
        </p:txBody>
      </p:sp>
      <p:sp>
        <p:nvSpPr>
          <p:cNvPr id="39" name="Shape 36"/>
          <p:cNvSpPr/>
          <p:nvPr/>
        </p:nvSpPr>
        <p:spPr>
          <a:xfrm>
            <a:off x="548640" y="4928616"/>
            <a:ext cx="7040880" cy="786384"/>
          </a:xfrm>
          <a:prstGeom prst="roundRect">
            <a:avLst>
              <a:gd name="adj" fmla="val 13953"/>
            </a:avLst>
          </a:prstGeom>
          <a:solidFill>
            <a:srgbClr val="FFFFFF"/>
          </a:solidFill>
          <a:ln w="15875">
            <a:solidFill>
              <a:srgbClr val="FF9259"/>
            </a:solidFill>
            <a:prstDash val="solid"/>
          </a:ln>
        </p:spPr>
      </p:sp>
      <p:sp>
        <p:nvSpPr>
          <p:cNvPr id="40" name="Shape 37"/>
          <p:cNvSpPr/>
          <p:nvPr/>
        </p:nvSpPr>
        <p:spPr>
          <a:xfrm>
            <a:off x="685800" y="5093208"/>
            <a:ext cx="457200" cy="457200"/>
          </a:xfrm>
          <a:prstGeom prst="ellipse">
            <a:avLst/>
          </a:prstGeom>
          <a:solidFill>
            <a:srgbClr val="FF9259"/>
          </a:solidFill>
          <a:ln w="12700">
            <a:solidFill>
              <a:srgbClr val="FF9259"/>
            </a:solidFill>
            <a:prstDash val="solid"/>
          </a:ln>
        </p:spPr>
      </p:sp>
      <p:sp>
        <p:nvSpPr>
          <p:cNvPr id="41" name="Text 38"/>
          <p:cNvSpPr txBox="1"/>
          <p:nvPr/>
        </p:nvSpPr>
        <p:spPr>
          <a:xfrm>
            <a:off x="685800" y="5093208"/>
            <a:ext cx="457200" cy="45720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4</a:t>
            </a:r>
            <a:endParaRPr lang="en-US" sz="1400" dirty="0"/>
          </a:p>
        </p:txBody>
      </p:sp>
      <p:sp>
        <p:nvSpPr>
          <p:cNvPr id="42" name="Text 39"/>
          <p:cNvSpPr txBox="1"/>
          <p:nvPr/>
        </p:nvSpPr>
        <p:spPr>
          <a:xfrm>
            <a:off x="1280160" y="4928616"/>
            <a:ext cx="1737360" cy="786384"/>
          </a:xfrm>
          <a:prstGeom prst="rect">
            <a:avLst/>
          </a:prstGeom>
          <a:noFill/>
          <a:ln/>
        </p:spPr>
        <p:txBody>
          <a:bodyPr wrap="square" lIns="0" tIns="0" rIns="0" bIns="0" rtlCol="0" anchor="ctr"/>
          <a:lstStyle/>
          <a:p>
            <a:pPr indent="0" marL="0">
              <a:buNone/>
            </a:pPr>
            <a:r>
              <a:rPr lang="en-US" sz="1400" b="1" dirty="0">
                <a:solidFill>
                  <a:srgbClr val="2A2238"/>
                </a:solidFill>
                <a:latin typeface="Alexandria" pitchFamily="34" charset="0"/>
                <a:ea typeface="Alexandria" pitchFamily="34" charset="-122"/>
                <a:cs typeface="Alexandria" pitchFamily="34" charset="-120"/>
              </a:rPr>
              <a:t>Nhà in</a:t>
            </a:r>
            <a:endParaRPr lang="en-US" sz="1400" dirty="0"/>
          </a:p>
          <a:p>
            <a:pPr indent="0" marL="0">
              <a:buNone/>
            </a:pPr>
            <a:r>
              <a:rPr lang="en-US" sz="1000" dirty="0">
                <a:solidFill>
                  <a:srgbClr val="6E6878"/>
                </a:solidFill>
                <a:latin typeface="Alexandria" pitchFamily="34" charset="0"/>
                <a:ea typeface="Alexandria" pitchFamily="34" charset="-122"/>
                <a:cs typeface="Alexandria" pitchFamily="34" charset="-120"/>
              </a:rPr>
              <a:t>đối tác 5 năm</a:t>
            </a:r>
            <a:endParaRPr lang="en-US" sz="1400" dirty="0"/>
          </a:p>
        </p:txBody>
      </p:sp>
      <p:sp>
        <p:nvSpPr>
          <p:cNvPr id="43" name="Text 40"/>
          <p:cNvSpPr txBox="1"/>
          <p:nvPr/>
        </p:nvSpPr>
        <p:spPr>
          <a:xfrm>
            <a:off x="3017520" y="4928616"/>
            <a:ext cx="4480560" cy="786384"/>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Trễ backdrop 1 ngày vì file duyệt muộn 2 ngày; xin phụ phí in gấp 15 tr</a:t>
            </a:r>
            <a:endParaRPr lang="en-US" sz="1200" dirty="0"/>
          </a:p>
        </p:txBody>
      </p:sp>
      <p:sp>
        <p:nvSpPr>
          <p:cNvPr id="44" name="Shape 41"/>
          <p:cNvSpPr/>
          <p:nvPr/>
        </p:nvSpPr>
        <p:spPr>
          <a:xfrm>
            <a:off x="7863840" y="2423160"/>
            <a:ext cx="658368" cy="658368"/>
          </a:xfrm>
          <a:prstGeom prst="ellipse">
            <a:avLst/>
          </a:prstGeom>
          <a:solidFill>
            <a:srgbClr val="FF9259"/>
          </a:solidFill>
          <a:ln w="12700">
            <a:solidFill>
              <a:srgbClr val="FF9259"/>
            </a:solidFill>
            <a:prstDash val="solid"/>
          </a:ln>
        </p:spPr>
      </p:sp>
      <p:sp>
        <p:nvSpPr>
          <p:cNvPr id="45" name="Text 42"/>
          <p:cNvSpPr txBox="1"/>
          <p:nvPr/>
        </p:nvSpPr>
        <p:spPr>
          <a:xfrm>
            <a:off x="7863840" y="2423160"/>
            <a:ext cx="658368" cy="658368"/>
          </a:xfrm>
          <a:prstGeom prst="rect">
            <a:avLst/>
          </a:prstGeom>
          <a:noFill/>
          <a:ln/>
        </p:spPr>
        <p:txBody>
          <a:bodyPr wrap="square" lIns="0" tIns="0" rIns="0" bIns="0" rtlCol="0" anchor="ctr"/>
          <a:lstStyle/>
          <a:p>
            <a:pPr algn="ctr" indent="0" marL="0">
              <a:buNone/>
            </a:pPr>
            <a:r>
              <a:rPr lang="en-US" sz="1600" b="1" dirty="0">
                <a:solidFill>
                  <a:srgbClr val="2A2238"/>
                </a:solidFill>
                <a:latin typeface="Alexandria" pitchFamily="34" charset="0"/>
                <a:ea typeface="Alexandria" pitchFamily="34" charset="-122"/>
                <a:cs typeface="Alexandria" pitchFamily="34" charset="-120"/>
              </a:rPr>
              <a:t>7’</a:t>
            </a:r>
            <a:endParaRPr lang="en-US" sz="1600" dirty="0"/>
          </a:p>
        </p:txBody>
      </p:sp>
      <p:sp>
        <p:nvSpPr>
          <p:cNvPr id="46" name="Text 43"/>
          <p:cNvSpPr txBox="1"/>
          <p:nvPr/>
        </p:nvSpPr>
        <p:spPr>
          <a:xfrm>
            <a:off x="8686800" y="2240280"/>
            <a:ext cx="2956255"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Mỗi tin: deliverable nào bị đe dọa · bên đó giữ vai nào · lợi ích thật</a:t>
            </a:r>
            <a:endParaRPr lang="en-US" sz="1200" dirty="0"/>
          </a:p>
        </p:txBody>
      </p:sp>
      <p:sp>
        <p:nvSpPr>
          <p:cNvPr id="47" name="Shape 44"/>
          <p:cNvSpPr/>
          <p:nvPr/>
        </p:nvSpPr>
        <p:spPr>
          <a:xfrm>
            <a:off x="7863840" y="3630168"/>
            <a:ext cx="658368" cy="658368"/>
          </a:xfrm>
          <a:prstGeom prst="ellipse">
            <a:avLst/>
          </a:prstGeom>
          <a:solidFill>
            <a:srgbClr val="962B7C"/>
          </a:solidFill>
          <a:ln w="12700">
            <a:solidFill>
              <a:srgbClr val="962B7C"/>
            </a:solidFill>
            <a:prstDash val="solid"/>
          </a:ln>
        </p:spPr>
      </p:sp>
      <p:sp>
        <p:nvSpPr>
          <p:cNvPr id="48" name="Text 45"/>
          <p:cNvSpPr txBox="1"/>
          <p:nvPr/>
        </p:nvSpPr>
        <p:spPr>
          <a:xfrm>
            <a:off x="7863840" y="3630168"/>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8’</a:t>
            </a:r>
            <a:endParaRPr lang="en-US" sz="1600" dirty="0"/>
          </a:p>
        </p:txBody>
      </p:sp>
      <p:sp>
        <p:nvSpPr>
          <p:cNvPr id="49" name="Text 46"/>
          <p:cNvSpPr txBox="1"/>
          <p:nvPr/>
        </p:nvSpPr>
        <p:spPr>
          <a:xfrm>
            <a:off x="8686800" y="3447288"/>
            <a:ext cx="2956255"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Xếp ưu tiên; 2 xung đột đầu: giải pháp cùng giải quyết + leo thang đến ai</a:t>
            </a:r>
            <a:endParaRPr lang="en-US" sz="1200" dirty="0"/>
          </a:p>
        </p:txBody>
      </p:sp>
      <p:sp>
        <p:nvSpPr>
          <p:cNvPr id="50" name="Shape 47"/>
          <p:cNvSpPr/>
          <p:nvPr/>
        </p:nvSpPr>
        <p:spPr>
          <a:xfrm>
            <a:off x="7863840" y="4837176"/>
            <a:ext cx="658368" cy="658368"/>
          </a:xfrm>
          <a:prstGeom prst="ellipse">
            <a:avLst/>
          </a:prstGeom>
          <a:solidFill>
            <a:srgbClr val="09A1E5"/>
          </a:solidFill>
          <a:ln w="12700">
            <a:solidFill>
              <a:srgbClr val="09A1E5"/>
            </a:solidFill>
            <a:prstDash val="solid"/>
          </a:ln>
        </p:spPr>
      </p:sp>
      <p:sp>
        <p:nvSpPr>
          <p:cNvPr id="51" name="Text 48"/>
          <p:cNvSpPr txBox="1"/>
          <p:nvPr/>
        </p:nvSpPr>
        <p:spPr>
          <a:xfrm>
            <a:off x="7863840" y="4837176"/>
            <a:ext cx="658368"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Alexandria" pitchFamily="34" charset="0"/>
                <a:ea typeface="Alexandria" pitchFamily="34" charset="-122"/>
                <a:cs typeface="Alexandria" pitchFamily="34" charset="-120"/>
              </a:rPr>
              <a:t>5’</a:t>
            </a:r>
            <a:endParaRPr lang="en-US" sz="1600" dirty="0"/>
          </a:p>
        </p:txBody>
      </p:sp>
      <p:sp>
        <p:nvSpPr>
          <p:cNvPr id="52" name="Text 49"/>
          <p:cNvSpPr txBox="1"/>
          <p:nvPr/>
        </p:nvSpPr>
        <p:spPr>
          <a:xfrm>
            <a:off x="8686800" y="4654296"/>
            <a:ext cx="2956255"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Tin nhắn 3–4 câu gửi anh Minh về một xung đột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3840480" y="1554480"/>
            <a:ext cx="548640" cy="548640"/>
          </a:xfrm>
          <a:prstGeom prst="ellipse">
            <a:avLst/>
          </a:prstGeom>
          <a:solidFill>
            <a:srgbClr val="FF9259"/>
          </a:solidFill>
          <a:ln w="12700">
            <a:solidFill>
              <a:srgbClr val="FF9259"/>
            </a:solidFill>
            <a:prstDash val="solid"/>
          </a:ln>
        </p:spPr>
      </p:sp>
      <p:sp>
        <p:nvSpPr>
          <p:cNvPr id="3" name="Shape 1"/>
          <p:cNvSpPr/>
          <p:nvPr/>
        </p:nvSpPr>
        <p:spPr>
          <a:xfrm>
            <a:off x="4617720" y="1554480"/>
            <a:ext cx="548640" cy="548640"/>
          </a:xfrm>
          <a:prstGeom prst="ellipse">
            <a:avLst/>
          </a:prstGeom>
          <a:solidFill>
            <a:srgbClr val="FFD23B"/>
          </a:solidFill>
          <a:ln w="12700">
            <a:solidFill>
              <a:srgbClr val="FFD23B"/>
            </a:solidFill>
            <a:prstDash val="solid"/>
          </a:ln>
        </p:spPr>
      </p:sp>
      <p:sp>
        <p:nvSpPr>
          <p:cNvPr id="4" name="Shape 2"/>
          <p:cNvSpPr/>
          <p:nvPr/>
        </p:nvSpPr>
        <p:spPr>
          <a:xfrm>
            <a:off x="5394960" y="1554480"/>
            <a:ext cx="548640" cy="548640"/>
          </a:xfrm>
          <a:prstGeom prst="ellipse">
            <a:avLst/>
          </a:prstGeom>
          <a:solidFill>
            <a:srgbClr val="49B296"/>
          </a:solidFill>
          <a:ln w="12700">
            <a:solidFill>
              <a:srgbClr val="49B296"/>
            </a:solidFill>
            <a:prstDash val="solid"/>
          </a:ln>
        </p:spPr>
      </p:sp>
      <p:sp>
        <p:nvSpPr>
          <p:cNvPr id="5" name="Shape 3"/>
          <p:cNvSpPr/>
          <p:nvPr/>
        </p:nvSpPr>
        <p:spPr>
          <a:xfrm>
            <a:off x="6172200" y="1554480"/>
            <a:ext cx="548640" cy="548640"/>
          </a:xfrm>
          <a:prstGeom prst="ellipse">
            <a:avLst/>
          </a:prstGeom>
          <a:solidFill>
            <a:srgbClr val="09A1E5"/>
          </a:solidFill>
          <a:ln w="12700">
            <a:solidFill>
              <a:srgbClr val="09A1E5"/>
            </a:solidFill>
            <a:prstDash val="solid"/>
          </a:ln>
        </p:spPr>
      </p:sp>
      <p:sp>
        <p:nvSpPr>
          <p:cNvPr id="6" name="Shape 4"/>
          <p:cNvSpPr/>
          <p:nvPr/>
        </p:nvSpPr>
        <p:spPr>
          <a:xfrm>
            <a:off x="6949440" y="1554480"/>
            <a:ext cx="548640" cy="548640"/>
          </a:xfrm>
          <a:prstGeom prst="ellipse">
            <a:avLst/>
          </a:prstGeom>
          <a:solidFill>
            <a:srgbClr val="962B7C"/>
          </a:solidFill>
          <a:ln w="12700">
            <a:solidFill>
              <a:srgbClr val="962B7C"/>
            </a:solidFill>
            <a:prstDash val="solid"/>
          </a:ln>
        </p:spPr>
      </p:sp>
      <p:sp>
        <p:nvSpPr>
          <p:cNvPr id="7" name="Shape 5"/>
          <p:cNvSpPr/>
          <p:nvPr/>
        </p:nvSpPr>
        <p:spPr>
          <a:xfrm>
            <a:off x="7726680" y="1554480"/>
            <a:ext cx="548640" cy="548640"/>
          </a:xfrm>
          <a:prstGeom prst="ellipse">
            <a:avLst/>
          </a:prstGeom>
          <a:solidFill>
            <a:srgbClr val="FF5178"/>
          </a:solidFill>
          <a:ln w="12700">
            <a:solidFill>
              <a:srgbClr val="FF5178"/>
            </a:solidFill>
            <a:prstDash val="solid"/>
          </a:ln>
        </p:spPr>
      </p:sp>
      <p:sp>
        <p:nvSpPr>
          <p:cNvPr id="8" name="Text 6"/>
          <p:cNvSpPr txBox="1"/>
          <p:nvPr/>
        </p:nvSpPr>
        <p:spPr>
          <a:xfrm>
            <a:off x="548640" y="2468880"/>
            <a:ext cx="11094415" cy="1097280"/>
          </a:xfrm>
          <a:prstGeom prst="rect">
            <a:avLst/>
          </a:prstGeom>
          <a:noFill/>
          <a:ln/>
        </p:spPr>
        <p:txBody>
          <a:bodyPr wrap="square" lIns="0" tIns="0" rIns="0" bIns="0" rtlCol="0" anchor="ctr"/>
          <a:lstStyle/>
          <a:p>
            <a:pPr algn="ctr" indent="0" marL="0">
              <a:buNone/>
            </a:pPr>
            <a:r>
              <a:rPr lang="en-US" sz="5400" b="1" dirty="0">
                <a:solidFill>
                  <a:srgbClr val="2A2238"/>
                </a:solidFill>
                <a:latin typeface="Alexandria" pitchFamily="34" charset="0"/>
                <a:ea typeface="Alexandria" pitchFamily="34" charset="-122"/>
                <a:cs typeface="Alexandria" pitchFamily="34" charset="-120"/>
              </a:rPr>
              <a:t>Giải lao 8 phút</a:t>
            </a:r>
            <a:endParaRPr lang="en-US" sz="5400" dirty="0"/>
          </a:p>
        </p:txBody>
      </p:sp>
      <p:sp>
        <p:nvSpPr>
          <p:cNvPr id="9" name="Text 7"/>
          <p:cNvSpPr txBox="1"/>
          <p:nvPr/>
        </p:nvSpPr>
        <p:spPr>
          <a:xfrm>
            <a:off x="548640" y="3749040"/>
            <a:ext cx="11094415" cy="640080"/>
          </a:xfrm>
          <a:prstGeom prst="rect">
            <a:avLst/>
          </a:prstGeom>
          <a:noFill/>
          <a:ln/>
        </p:spPr>
        <p:txBody>
          <a:bodyPr wrap="square" lIns="0" tIns="0" rIns="0" bIns="0" rtlCol="0" anchor="ctr"/>
          <a:lstStyle/>
          <a:p>
            <a:pPr algn="ctr" indent="0" marL="0">
              <a:buNone/>
            </a:pPr>
            <a:r>
              <a:rPr lang="en-US" sz="2600" dirty="0">
                <a:solidFill>
                  <a:srgbClr val="962B7C"/>
                </a:solidFill>
                <a:latin typeface="Alexandria" pitchFamily="34" charset="0"/>
                <a:ea typeface="Alexandria" pitchFamily="34" charset="-122"/>
                <a:cs typeface="Alexandria" pitchFamily="34" charset="-120"/>
              </a:rPr>
              <a:t>Quay lại lúc  ____ : ____</a:t>
            </a:r>
            <a:endParaRPr lang="en-US" sz="2600" dirty="0"/>
          </a:p>
        </p:txBody>
      </p:sp>
      <p:sp>
        <p:nvSpPr>
          <p:cNvPr id="10" name="Text 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Bên liên quan chủ chốt thường giữ nhiều vai</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Y04: Getz, Andersson &amp; Larson (2006), Event Management — mới đọc tóm tắt.</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14</a:t>
            </a:r>
            <a:endParaRPr lang="en-US" sz="1000" dirty="0"/>
          </a:p>
        </p:txBody>
      </p:sp>
      <p:sp>
        <p:nvSpPr>
          <p:cNvPr id="23" name="Shape 20"/>
          <p:cNvSpPr/>
          <p:nvPr/>
        </p:nvSpPr>
        <p:spPr>
          <a:xfrm flipV="1">
            <a:off x="6095848" y="2011680"/>
            <a:ext cx="914" cy="1874520"/>
          </a:xfrm>
          <a:prstGeom prst="line">
            <a:avLst/>
          </a:prstGeom>
          <a:noFill/>
          <a:ln w="19050">
            <a:solidFill>
              <a:srgbClr val="962B7C"/>
            </a:solidFill>
            <a:prstDash val="dash"/>
          </a:ln>
        </p:spPr>
      </p:sp>
      <p:sp>
        <p:nvSpPr>
          <p:cNvPr id="24" name="Shape 21"/>
          <p:cNvSpPr/>
          <p:nvPr/>
        </p:nvSpPr>
        <p:spPr>
          <a:xfrm>
            <a:off x="4952848" y="1737360"/>
            <a:ext cx="2286000" cy="548640"/>
          </a:xfrm>
          <a:prstGeom prst="roundRect">
            <a:avLst>
              <a:gd name="adj" fmla="val 50000"/>
            </a:avLst>
          </a:prstGeom>
          <a:solidFill>
            <a:srgbClr val="962B7C"/>
          </a:solidFill>
          <a:ln w="12700">
            <a:solidFill>
              <a:srgbClr val="962B7C"/>
            </a:solidFill>
            <a:prstDash val="solid"/>
          </a:ln>
        </p:spPr>
      </p:sp>
      <p:sp>
        <p:nvSpPr>
          <p:cNvPr id="25" name="Text 22"/>
          <p:cNvSpPr txBox="1"/>
          <p:nvPr/>
        </p:nvSpPr>
        <p:spPr>
          <a:xfrm>
            <a:off x="5026000" y="1737360"/>
            <a:ext cx="2139696"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Cơ quan quản lý</a:t>
            </a:r>
            <a:endParaRPr lang="en-US" sz="1300" dirty="0"/>
          </a:p>
        </p:txBody>
      </p:sp>
      <p:sp>
        <p:nvSpPr>
          <p:cNvPr id="26" name="Shape 23"/>
          <p:cNvSpPr/>
          <p:nvPr/>
        </p:nvSpPr>
        <p:spPr>
          <a:xfrm flipV="1">
            <a:off x="6095848" y="2717456"/>
            <a:ext cx="2271616" cy="1168744"/>
          </a:xfrm>
          <a:prstGeom prst="line">
            <a:avLst/>
          </a:prstGeom>
          <a:noFill/>
          <a:ln w="19050">
            <a:solidFill>
              <a:srgbClr val="09A1E5"/>
            </a:solidFill>
            <a:prstDash val="dash"/>
          </a:ln>
        </p:spPr>
      </p:sp>
      <p:sp>
        <p:nvSpPr>
          <p:cNvPr id="27" name="Shape 24"/>
          <p:cNvSpPr/>
          <p:nvPr/>
        </p:nvSpPr>
        <p:spPr>
          <a:xfrm>
            <a:off x="7224464" y="2443136"/>
            <a:ext cx="2286000" cy="548640"/>
          </a:xfrm>
          <a:prstGeom prst="roundRect">
            <a:avLst>
              <a:gd name="adj" fmla="val 50000"/>
            </a:avLst>
          </a:prstGeom>
          <a:solidFill>
            <a:srgbClr val="09A1E5"/>
          </a:solidFill>
          <a:ln w="12700">
            <a:solidFill>
              <a:srgbClr val="09A1E5"/>
            </a:solidFill>
            <a:prstDash val="solid"/>
          </a:ln>
        </p:spPr>
      </p:sp>
      <p:sp>
        <p:nvSpPr>
          <p:cNvPr id="28" name="Text 25"/>
          <p:cNvSpPr txBox="1"/>
          <p:nvPr/>
        </p:nvSpPr>
        <p:spPr>
          <a:xfrm>
            <a:off x="7297616" y="2443136"/>
            <a:ext cx="2139696"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Bên hỗ trợ</a:t>
            </a:r>
            <a:endParaRPr lang="en-US" sz="1300" dirty="0"/>
          </a:p>
        </p:txBody>
      </p:sp>
      <p:sp>
        <p:nvSpPr>
          <p:cNvPr id="29" name="Shape 26"/>
          <p:cNvSpPr/>
          <p:nvPr/>
        </p:nvSpPr>
        <p:spPr>
          <a:xfrm>
            <a:off x="6095848" y="3886200"/>
            <a:ext cx="2832659" cy="417120"/>
          </a:xfrm>
          <a:prstGeom prst="line">
            <a:avLst/>
          </a:prstGeom>
          <a:noFill/>
          <a:ln w="19050">
            <a:solidFill>
              <a:srgbClr val="FF9259"/>
            </a:solidFill>
            <a:prstDash val="dash"/>
          </a:ln>
        </p:spPr>
      </p:sp>
      <p:sp>
        <p:nvSpPr>
          <p:cNvPr id="30" name="Shape 27"/>
          <p:cNvSpPr/>
          <p:nvPr/>
        </p:nvSpPr>
        <p:spPr>
          <a:xfrm>
            <a:off x="7785506" y="4029000"/>
            <a:ext cx="2286000" cy="548640"/>
          </a:xfrm>
          <a:prstGeom prst="roundRect">
            <a:avLst>
              <a:gd name="adj" fmla="val 50000"/>
            </a:avLst>
          </a:prstGeom>
          <a:solidFill>
            <a:srgbClr val="FF9259"/>
          </a:solidFill>
          <a:ln w="12700">
            <a:solidFill>
              <a:srgbClr val="FF9259"/>
            </a:solidFill>
            <a:prstDash val="solid"/>
          </a:ln>
        </p:spPr>
      </p:sp>
      <p:sp>
        <p:nvSpPr>
          <p:cNvPr id="31" name="Text 28"/>
          <p:cNvSpPr txBox="1"/>
          <p:nvPr/>
        </p:nvSpPr>
        <p:spPr>
          <a:xfrm>
            <a:off x="7858658" y="4029000"/>
            <a:ext cx="2139696" cy="54864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Đồng sản xuất</a:t>
            </a:r>
            <a:endParaRPr lang="en-US" sz="1300" dirty="0"/>
          </a:p>
        </p:txBody>
      </p:sp>
      <p:sp>
        <p:nvSpPr>
          <p:cNvPr id="32" name="Shape 29"/>
          <p:cNvSpPr/>
          <p:nvPr/>
        </p:nvSpPr>
        <p:spPr>
          <a:xfrm>
            <a:off x="6095848" y="3886200"/>
            <a:ext cx="1260652" cy="1688884"/>
          </a:xfrm>
          <a:prstGeom prst="line">
            <a:avLst/>
          </a:prstGeom>
          <a:noFill/>
          <a:ln w="19050">
            <a:solidFill>
              <a:srgbClr val="49B296"/>
            </a:solidFill>
            <a:prstDash val="dash"/>
          </a:ln>
        </p:spPr>
      </p:sp>
      <p:sp>
        <p:nvSpPr>
          <p:cNvPr id="33" name="Shape 30"/>
          <p:cNvSpPr/>
          <p:nvPr/>
        </p:nvSpPr>
        <p:spPr>
          <a:xfrm>
            <a:off x="6213499" y="5300764"/>
            <a:ext cx="2286000" cy="548640"/>
          </a:xfrm>
          <a:prstGeom prst="roundRect">
            <a:avLst>
              <a:gd name="adj" fmla="val 50000"/>
            </a:avLst>
          </a:prstGeom>
          <a:solidFill>
            <a:srgbClr val="49B296"/>
          </a:solidFill>
          <a:ln w="12700">
            <a:solidFill>
              <a:srgbClr val="49B296"/>
            </a:solidFill>
            <a:prstDash val="solid"/>
          </a:ln>
        </p:spPr>
      </p:sp>
      <p:sp>
        <p:nvSpPr>
          <p:cNvPr id="34" name="Text 31"/>
          <p:cNvSpPr txBox="1"/>
          <p:nvPr/>
        </p:nvSpPr>
        <p:spPr>
          <a:xfrm>
            <a:off x="6286651" y="5300764"/>
            <a:ext cx="2139696"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Nhà cung cấp</a:t>
            </a:r>
            <a:endParaRPr lang="en-US" sz="1300" dirty="0"/>
          </a:p>
        </p:txBody>
      </p:sp>
      <p:sp>
        <p:nvSpPr>
          <p:cNvPr id="35" name="Shape 32"/>
          <p:cNvSpPr/>
          <p:nvPr/>
        </p:nvSpPr>
        <p:spPr>
          <a:xfrm flipH="1">
            <a:off x="4835196" y="3886200"/>
            <a:ext cx="1260652" cy="1688884"/>
          </a:xfrm>
          <a:prstGeom prst="line">
            <a:avLst/>
          </a:prstGeom>
          <a:noFill/>
          <a:ln w="19050">
            <a:solidFill>
              <a:srgbClr val="FF5178"/>
            </a:solidFill>
            <a:prstDash val="dash"/>
          </a:ln>
        </p:spPr>
      </p:sp>
      <p:sp>
        <p:nvSpPr>
          <p:cNvPr id="36" name="Shape 33"/>
          <p:cNvSpPr/>
          <p:nvPr/>
        </p:nvSpPr>
        <p:spPr>
          <a:xfrm>
            <a:off x="3692196" y="5300764"/>
            <a:ext cx="2286000" cy="548640"/>
          </a:xfrm>
          <a:prstGeom prst="roundRect">
            <a:avLst>
              <a:gd name="adj" fmla="val 50000"/>
            </a:avLst>
          </a:prstGeom>
          <a:solidFill>
            <a:srgbClr val="FF5178"/>
          </a:solidFill>
          <a:ln w="12700">
            <a:solidFill>
              <a:srgbClr val="FF5178"/>
            </a:solidFill>
            <a:prstDash val="solid"/>
          </a:ln>
        </p:spPr>
      </p:sp>
      <p:sp>
        <p:nvSpPr>
          <p:cNvPr id="37" name="Text 34"/>
          <p:cNvSpPr txBox="1"/>
          <p:nvPr/>
        </p:nvSpPr>
        <p:spPr>
          <a:xfrm>
            <a:off x="3765348" y="5300764"/>
            <a:ext cx="2139696"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Cộng tác</a:t>
            </a:r>
            <a:endParaRPr lang="en-US" sz="1300" dirty="0"/>
          </a:p>
        </p:txBody>
      </p:sp>
      <p:sp>
        <p:nvSpPr>
          <p:cNvPr id="38" name="Shape 35"/>
          <p:cNvSpPr/>
          <p:nvPr/>
        </p:nvSpPr>
        <p:spPr>
          <a:xfrm flipH="1">
            <a:off x="3263189" y="3886200"/>
            <a:ext cx="2832659" cy="417120"/>
          </a:xfrm>
          <a:prstGeom prst="line">
            <a:avLst/>
          </a:prstGeom>
          <a:noFill/>
          <a:ln w="19050">
            <a:solidFill>
              <a:srgbClr val="962B7C"/>
            </a:solidFill>
            <a:prstDash val="dash"/>
          </a:ln>
        </p:spPr>
      </p:sp>
      <p:sp>
        <p:nvSpPr>
          <p:cNvPr id="39" name="Shape 36"/>
          <p:cNvSpPr/>
          <p:nvPr/>
        </p:nvSpPr>
        <p:spPr>
          <a:xfrm>
            <a:off x="2120189" y="4029000"/>
            <a:ext cx="2286000" cy="548640"/>
          </a:xfrm>
          <a:prstGeom prst="roundRect">
            <a:avLst>
              <a:gd name="adj" fmla="val 50000"/>
            </a:avLst>
          </a:prstGeom>
          <a:solidFill>
            <a:srgbClr val="962B7C"/>
          </a:solidFill>
          <a:ln w="12700">
            <a:solidFill>
              <a:srgbClr val="962B7C"/>
            </a:solidFill>
            <a:prstDash val="solid"/>
          </a:ln>
        </p:spPr>
      </p:sp>
      <p:sp>
        <p:nvSpPr>
          <p:cNvPr id="40" name="Text 37"/>
          <p:cNvSpPr txBox="1"/>
          <p:nvPr/>
        </p:nvSpPr>
        <p:spPr>
          <a:xfrm>
            <a:off x="2193341" y="4029000"/>
            <a:ext cx="2139696"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Khán giả</a:t>
            </a:r>
            <a:endParaRPr lang="en-US" sz="1300" dirty="0"/>
          </a:p>
        </p:txBody>
      </p:sp>
      <p:sp>
        <p:nvSpPr>
          <p:cNvPr id="41" name="Shape 38"/>
          <p:cNvSpPr/>
          <p:nvPr/>
        </p:nvSpPr>
        <p:spPr>
          <a:xfrm flipH="1" flipV="1">
            <a:off x="3824232" y="2717456"/>
            <a:ext cx="2271616" cy="1168744"/>
          </a:xfrm>
          <a:prstGeom prst="line">
            <a:avLst/>
          </a:prstGeom>
          <a:noFill/>
          <a:ln w="19050">
            <a:solidFill>
              <a:srgbClr val="09A1E5"/>
            </a:solidFill>
            <a:prstDash val="dash"/>
          </a:ln>
        </p:spPr>
      </p:sp>
      <p:sp>
        <p:nvSpPr>
          <p:cNvPr id="42" name="Shape 39"/>
          <p:cNvSpPr/>
          <p:nvPr/>
        </p:nvSpPr>
        <p:spPr>
          <a:xfrm>
            <a:off x="2681232" y="2443136"/>
            <a:ext cx="2286000" cy="548640"/>
          </a:xfrm>
          <a:prstGeom prst="roundRect">
            <a:avLst>
              <a:gd name="adj" fmla="val 50000"/>
            </a:avLst>
          </a:prstGeom>
          <a:solidFill>
            <a:srgbClr val="09A1E5"/>
          </a:solidFill>
          <a:ln w="12700">
            <a:solidFill>
              <a:srgbClr val="09A1E5"/>
            </a:solidFill>
            <a:prstDash val="solid"/>
          </a:ln>
        </p:spPr>
      </p:sp>
      <p:sp>
        <p:nvSpPr>
          <p:cNvPr id="43" name="Text 40"/>
          <p:cNvSpPr txBox="1"/>
          <p:nvPr/>
        </p:nvSpPr>
        <p:spPr>
          <a:xfrm>
            <a:off x="2754384" y="2443136"/>
            <a:ext cx="2139696"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Bên chịu tác động</a:t>
            </a:r>
            <a:endParaRPr lang="en-US" sz="1300" dirty="0"/>
          </a:p>
        </p:txBody>
      </p:sp>
      <p:sp>
        <p:nvSpPr>
          <p:cNvPr id="44" name="Shape 41"/>
          <p:cNvSpPr/>
          <p:nvPr/>
        </p:nvSpPr>
        <p:spPr>
          <a:xfrm>
            <a:off x="5090008" y="3337560"/>
            <a:ext cx="2011680" cy="1097280"/>
          </a:xfrm>
          <a:prstGeom prst="ellipse">
            <a:avLst/>
          </a:prstGeom>
          <a:solidFill>
            <a:srgbClr val="FFD23B"/>
          </a:solidFill>
          <a:ln w="12700">
            <a:solidFill>
              <a:srgbClr val="FFD23B"/>
            </a:solidFill>
            <a:prstDash val="solid"/>
          </a:ln>
        </p:spPr>
      </p:sp>
      <p:sp>
        <p:nvSpPr>
          <p:cNvPr id="45" name="Text 42"/>
          <p:cNvSpPr txBox="1"/>
          <p:nvPr/>
        </p:nvSpPr>
        <p:spPr>
          <a:xfrm>
            <a:off x="5135728" y="3337560"/>
            <a:ext cx="1920240" cy="109728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Một bên liên quan chủ chốt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Xung đột lợi ích thường sinh ra từ vai chồng chéo</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Ví dụ giả định từ Buổi 9–11 · định nghĩa làm việc của môn (quyết định GV 4).</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15</a:t>
            </a:r>
            <a:endParaRPr lang="en-US" sz="1000" dirty="0"/>
          </a:p>
        </p:txBody>
      </p:sp>
      <p:sp>
        <p:nvSpPr>
          <p:cNvPr id="23" name="Shape 20"/>
          <p:cNvSpPr/>
          <p:nvPr/>
        </p:nvSpPr>
        <p:spPr>
          <a:xfrm>
            <a:off x="2743200" y="1783080"/>
            <a:ext cx="2286000" cy="502920"/>
          </a:xfrm>
          <a:prstGeom prst="roundRect">
            <a:avLst>
              <a:gd name="adj" fmla="val 21818"/>
            </a:avLst>
          </a:prstGeom>
          <a:solidFill>
            <a:srgbClr val="962B7C"/>
          </a:solidFill>
          <a:ln w="12700">
            <a:solidFill>
              <a:srgbClr val="962B7C"/>
            </a:solidFill>
            <a:prstDash val="solid"/>
          </a:ln>
        </p:spPr>
      </p:sp>
      <p:sp>
        <p:nvSpPr>
          <p:cNvPr id="24" name="Text 21"/>
          <p:cNvSpPr txBox="1"/>
          <p:nvPr/>
        </p:nvSpPr>
        <p:spPr>
          <a:xfrm>
            <a:off x="2907792" y="1783080"/>
            <a:ext cx="195681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Vai 1</a:t>
            </a:r>
            <a:endParaRPr lang="en-US" sz="1500" dirty="0"/>
          </a:p>
        </p:txBody>
      </p:sp>
      <p:sp>
        <p:nvSpPr>
          <p:cNvPr id="25" name="Shape 22"/>
          <p:cNvSpPr/>
          <p:nvPr/>
        </p:nvSpPr>
        <p:spPr>
          <a:xfrm>
            <a:off x="5120640" y="1783080"/>
            <a:ext cx="2834640" cy="502920"/>
          </a:xfrm>
          <a:prstGeom prst="roundRect">
            <a:avLst>
              <a:gd name="adj" fmla="val 21818"/>
            </a:avLst>
          </a:prstGeom>
          <a:solidFill>
            <a:srgbClr val="09A1E5"/>
          </a:solidFill>
          <a:ln w="12700">
            <a:solidFill>
              <a:srgbClr val="09A1E5"/>
            </a:solidFill>
            <a:prstDash val="solid"/>
          </a:ln>
        </p:spPr>
      </p:sp>
      <p:sp>
        <p:nvSpPr>
          <p:cNvPr id="26" name="Text 23"/>
          <p:cNvSpPr txBox="1"/>
          <p:nvPr/>
        </p:nvSpPr>
        <p:spPr>
          <a:xfrm>
            <a:off x="5285232" y="1783080"/>
            <a:ext cx="2505456"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Vai 2</a:t>
            </a:r>
            <a:endParaRPr lang="en-US" sz="1500" dirty="0"/>
          </a:p>
        </p:txBody>
      </p:sp>
      <p:sp>
        <p:nvSpPr>
          <p:cNvPr id="27" name="Shape 24"/>
          <p:cNvSpPr/>
          <p:nvPr/>
        </p:nvSpPr>
        <p:spPr>
          <a:xfrm>
            <a:off x="8046720" y="1783080"/>
            <a:ext cx="3596335" cy="502920"/>
          </a:xfrm>
          <a:prstGeom prst="roundRect">
            <a:avLst>
              <a:gd name="adj" fmla="val 21818"/>
            </a:avLst>
          </a:prstGeom>
          <a:solidFill>
            <a:srgbClr val="FF5178"/>
          </a:solidFill>
          <a:ln w="12700">
            <a:solidFill>
              <a:srgbClr val="FF5178"/>
            </a:solidFill>
            <a:prstDash val="solid"/>
          </a:ln>
        </p:spPr>
      </p:sp>
      <p:sp>
        <p:nvSpPr>
          <p:cNvPr id="28" name="Text 25"/>
          <p:cNvSpPr txBox="1"/>
          <p:nvPr/>
        </p:nvSpPr>
        <p:spPr>
          <a:xfrm>
            <a:off x="8211312" y="1783080"/>
            <a:ext cx="3267151" cy="502920"/>
          </a:xfrm>
          <a:prstGeom prst="rect">
            <a:avLst/>
          </a:prstGeom>
          <a:noFill/>
          <a:ln/>
        </p:spPr>
        <p:txBody>
          <a:bodyPr wrap="square" lIns="0" tIns="0" rIns="0" bIns="0" rtlCol="0" anchor="ctr"/>
          <a:lstStyle/>
          <a:p>
            <a:pPr indent="0" marL="0">
              <a:buNone/>
            </a:pPr>
            <a:r>
              <a:rPr lang="en-US" sz="1500" b="1" dirty="0">
                <a:solidFill>
                  <a:srgbClr val="FFFFFF"/>
                </a:solidFill>
                <a:latin typeface="Alexandria" pitchFamily="34" charset="0"/>
                <a:ea typeface="Alexandria" pitchFamily="34" charset="-122"/>
                <a:cs typeface="Alexandria" pitchFamily="34" charset="-120"/>
              </a:rPr>
              <a:t>Xung đột có thể</a:t>
            </a:r>
            <a:endParaRPr lang="en-US" sz="1500" dirty="0"/>
          </a:p>
        </p:txBody>
      </p:sp>
      <p:sp>
        <p:nvSpPr>
          <p:cNvPr id="29" name="Shape 26"/>
          <p:cNvSpPr/>
          <p:nvPr/>
        </p:nvSpPr>
        <p:spPr>
          <a:xfrm>
            <a:off x="548640" y="2395728"/>
            <a:ext cx="11094415" cy="868680"/>
          </a:xfrm>
          <a:prstGeom prst="rect">
            <a:avLst/>
          </a:prstGeom>
          <a:solidFill>
            <a:srgbClr val="F3F0E6"/>
          </a:solidFill>
          <a:ln w="12700">
            <a:solidFill>
              <a:srgbClr val="F3F0E6"/>
            </a:solidFill>
            <a:prstDash val="solid"/>
          </a:ln>
        </p:spPr>
      </p:sp>
      <p:sp>
        <p:nvSpPr>
          <p:cNvPr id="30" name="Text 27"/>
          <p:cNvSpPr txBox="1"/>
          <p:nvPr/>
        </p:nvSpPr>
        <p:spPr>
          <a:xfrm>
            <a:off x="713232" y="2395728"/>
            <a:ext cx="186537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Khách sạn</a:t>
            </a:r>
            <a:endParaRPr lang="en-US" sz="1500" dirty="0"/>
          </a:p>
        </p:txBody>
      </p:sp>
      <p:sp>
        <p:nvSpPr>
          <p:cNvPr id="31" name="Text 28"/>
          <p:cNvSpPr txBox="1"/>
          <p:nvPr/>
        </p:nvSpPr>
        <p:spPr>
          <a:xfrm>
            <a:off x="2907792" y="2395728"/>
            <a:ext cx="204825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Địa điểm</a:t>
            </a:r>
            <a:endParaRPr lang="en-US" sz="1500" dirty="0"/>
          </a:p>
        </p:txBody>
      </p:sp>
      <p:sp>
        <p:nvSpPr>
          <p:cNvPr id="32" name="Text 29"/>
          <p:cNvSpPr txBox="1"/>
          <p:nvPr/>
        </p:nvSpPr>
        <p:spPr>
          <a:xfrm>
            <a:off x="5285232" y="2395728"/>
            <a:ext cx="259689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Nhà cung cấp AV độc quyền</a:t>
            </a:r>
            <a:endParaRPr lang="en-US" sz="1500" dirty="0"/>
          </a:p>
        </p:txBody>
      </p:sp>
      <p:sp>
        <p:nvSpPr>
          <p:cNvPr id="33" name="Text 30"/>
          <p:cNvSpPr txBox="1"/>
          <p:nvPr/>
        </p:nvSpPr>
        <p:spPr>
          <a:xfrm>
            <a:off x="8211312" y="2395728"/>
            <a:ext cx="3358591"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Ưu tiên doanh thu AV hơn livestream của An Phát</a:t>
            </a:r>
            <a:endParaRPr lang="en-US" sz="1500" dirty="0"/>
          </a:p>
        </p:txBody>
      </p:sp>
      <p:sp>
        <p:nvSpPr>
          <p:cNvPr id="34" name="Text 31"/>
          <p:cNvSpPr txBox="1"/>
          <p:nvPr/>
        </p:nvSpPr>
        <p:spPr>
          <a:xfrm>
            <a:off x="713232" y="3319272"/>
            <a:ext cx="186537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Bảo hiểm Bình An</a:t>
            </a:r>
            <a:endParaRPr lang="en-US" sz="1500" dirty="0"/>
          </a:p>
        </p:txBody>
      </p:sp>
      <p:sp>
        <p:nvSpPr>
          <p:cNvPr id="35" name="Text 32"/>
          <p:cNvSpPr txBox="1"/>
          <p:nvPr/>
        </p:nvSpPr>
        <p:spPr>
          <a:xfrm>
            <a:off x="2907792" y="3319272"/>
            <a:ext cx="204825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Nhà tài trợ</a:t>
            </a:r>
            <a:endParaRPr lang="en-US" sz="1500" dirty="0"/>
          </a:p>
        </p:txBody>
      </p:sp>
      <p:sp>
        <p:nvSpPr>
          <p:cNvPr id="36" name="Text 33"/>
          <p:cNvSpPr txBox="1"/>
          <p:nvPr/>
        </p:nvSpPr>
        <p:spPr>
          <a:xfrm>
            <a:off x="5285232" y="3319272"/>
            <a:ext cx="259689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Đối tác kinh doanh của An Phát</a:t>
            </a:r>
            <a:endParaRPr lang="en-US" sz="1500" dirty="0"/>
          </a:p>
        </p:txBody>
      </p:sp>
      <p:sp>
        <p:nvSpPr>
          <p:cNvPr id="37" name="Text 34"/>
          <p:cNvSpPr txBox="1"/>
          <p:nvPr/>
        </p:nvSpPr>
        <p:spPr>
          <a:xfrm>
            <a:off x="8211312" y="3319272"/>
            <a:ext cx="3358591"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Muốn bán hàng tại gala ↔ trải nghiệm khách VIP</a:t>
            </a:r>
            <a:endParaRPr lang="en-US" sz="1500" dirty="0"/>
          </a:p>
        </p:txBody>
      </p:sp>
      <p:sp>
        <p:nvSpPr>
          <p:cNvPr id="38" name="Shape 35"/>
          <p:cNvSpPr/>
          <p:nvPr/>
        </p:nvSpPr>
        <p:spPr>
          <a:xfrm>
            <a:off x="548640" y="4242816"/>
            <a:ext cx="11094415" cy="868680"/>
          </a:xfrm>
          <a:prstGeom prst="rect">
            <a:avLst/>
          </a:prstGeom>
          <a:solidFill>
            <a:srgbClr val="F3F0E6"/>
          </a:solidFill>
          <a:ln w="12700">
            <a:solidFill>
              <a:srgbClr val="F3F0E6"/>
            </a:solidFill>
            <a:prstDash val="solid"/>
          </a:ln>
        </p:spPr>
      </p:sp>
      <p:sp>
        <p:nvSpPr>
          <p:cNvPr id="39" name="Text 36"/>
          <p:cNvSpPr txBox="1"/>
          <p:nvPr/>
        </p:nvSpPr>
        <p:spPr>
          <a:xfrm>
            <a:off x="713232" y="4242816"/>
            <a:ext cx="1865376"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Chị Mai Anh</a:t>
            </a:r>
            <a:endParaRPr lang="en-US" sz="1500" dirty="0"/>
          </a:p>
        </p:txBody>
      </p:sp>
      <p:sp>
        <p:nvSpPr>
          <p:cNvPr id="40" name="Text 37"/>
          <p:cNvSpPr txBox="1"/>
          <p:nvPr/>
        </p:nvSpPr>
        <p:spPr>
          <a:xfrm>
            <a:off x="2907792" y="4242816"/>
            <a:ext cx="204825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Diễn giả</a:t>
            </a:r>
            <a:endParaRPr lang="en-US" sz="1500" dirty="0"/>
          </a:p>
        </p:txBody>
      </p:sp>
      <p:sp>
        <p:nvSpPr>
          <p:cNvPr id="41" name="Text 38"/>
          <p:cNvSpPr txBox="1"/>
          <p:nvPr/>
        </p:nvSpPr>
        <p:spPr>
          <a:xfrm>
            <a:off x="5285232" y="4242816"/>
            <a:ext cx="2596896"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Khách hàng của An Phát</a:t>
            </a:r>
            <a:endParaRPr lang="en-US" sz="1500" dirty="0"/>
          </a:p>
        </p:txBody>
      </p:sp>
      <p:sp>
        <p:nvSpPr>
          <p:cNvPr id="42" name="Text 39"/>
          <p:cNvSpPr txBox="1"/>
          <p:nvPr/>
        </p:nvSpPr>
        <p:spPr>
          <a:xfrm>
            <a:off x="8211312" y="4242816"/>
            <a:ext cx="3358591" cy="86868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Muốn quảng bá công ty mình ↔ nội dung trung lập</a:t>
            </a:r>
            <a:endParaRPr lang="en-US" sz="1500" dirty="0"/>
          </a:p>
        </p:txBody>
      </p:sp>
      <p:sp>
        <p:nvSpPr>
          <p:cNvPr id="43" name="Shape 40"/>
          <p:cNvSpPr/>
          <p:nvPr/>
        </p:nvSpPr>
        <p:spPr>
          <a:xfrm>
            <a:off x="548640" y="5166360"/>
            <a:ext cx="11094415" cy="868680"/>
          </a:xfrm>
          <a:prstGeom prst="roundRect">
            <a:avLst>
              <a:gd name="adj" fmla="val 12632"/>
            </a:avLst>
          </a:prstGeom>
          <a:solidFill>
            <a:srgbClr val="FFF3C4"/>
          </a:solidFill>
          <a:ln w="12700">
            <a:solidFill>
              <a:srgbClr val="FFD23B"/>
            </a:solidFill>
            <a:prstDash val="solid"/>
          </a:ln>
        </p:spPr>
      </p:sp>
      <p:sp>
        <p:nvSpPr>
          <p:cNvPr id="44" name="Text 41"/>
          <p:cNvSpPr txBox="1"/>
          <p:nvPr/>
        </p:nvSpPr>
        <p:spPr>
          <a:xfrm>
            <a:off x="868680" y="5166360"/>
            <a:ext cx="10454335" cy="8686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Xung đột lợi ích (định nghĩa của môn): </a:t>
            </a:r>
            <a:pPr indent="0" marL="0">
              <a:buNone/>
            </a:pPr>
            <a:r>
              <a:rPr lang="en-US" sz="1500" dirty="0">
                <a:solidFill>
                  <a:srgbClr val="2A2238"/>
                </a:solidFill>
                <a:latin typeface="Alexandria" pitchFamily="34" charset="0"/>
                <a:ea typeface="Alexandria" pitchFamily="34" charset="-122"/>
                <a:cs typeface="Alexandria" pitchFamily="34" charset="-120"/>
              </a:rPr>
              <a:t>khi lợi ích của một bên — hoặc các vai khác nhau của cùng một bên — đi ngược điều Nova đã cam kết với Key Account.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Mạng lưới sự kiện là một quảng trường chính trị</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Y05: Larson (2002), International Journal of Tourism Research — mới đọc tóm tắt.</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16</a:t>
            </a:r>
            <a:endParaRPr lang="en-US" sz="1000" dirty="0"/>
          </a:p>
        </p:txBody>
      </p:sp>
      <p:sp>
        <p:nvSpPr>
          <p:cNvPr id="23" name="Text 20"/>
          <p:cNvSpPr txBox="1"/>
          <p:nvPr/>
        </p:nvSpPr>
        <p:spPr>
          <a:xfrm>
            <a:off x="548640" y="1783080"/>
            <a:ext cx="11094415" cy="36576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Trong quảng trường có:</a:t>
            </a:r>
            <a:endParaRPr lang="en-US" sz="1400" dirty="0"/>
          </a:p>
        </p:txBody>
      </p:sp>
      <p:sp>
        <p:nvSpPr>
          <p:cNvPr id="24" name="Shape 21"/>
          <p:cNvSpPr/>
          <p:nvPr/>
        </p:nvSpPr>
        <p:spPr>
          <a:xfrm>
            <a:off x="548640" y="2240280"/>
            <a:ext cx="3515258" cy="1097280"/>
          </a:xfrm>
          <a:prstGeom prst="roundRect">
            <a:avLst>
              <a:gd name="adj" fmla="val 10000"/>
            </a:avLst>
          </a:prstGeom>
          <a:solidFill>
            <a:srgbClr val="962B7C"/>
          </a:solidFill>
          <a:ln w="12700">
            <a:solidFill>
              <a:srgbClr val="962B7C"/>
            </a:solidFill>
            <a:prstDash val="solid"/>
          </a:ln>
        </p:spPr>
      </p:sp>
      <p:sp>
        <p:nvSpPr>
          <p:cNvPr id="25" name="Text 22"/>
          <p:cNvSpPr txBox="1"/>
          <p:nvPr/>
        </p:nvSpPr>
        <p:spPr>
          <a:xfrm>
            <a:off x="548640" y="2240280"/>
            <a:ext cx="3515258" cy="109728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Lợi ích</a:t>
            </a:r>
            <a:endParaRPr lang="en-US" sz="2600" dirty="0"/>
          </a:p>
        </p:txBody>
      </p:sp>
      <p:sp>
        <p:nvSpPr>
          <p:cNvPr id="26" name="Shape 23"/>
          <p:cNvSpPr/>
          <p:nvPr/>
        </p:nvSpPr>
        <p:spPr>
          <a:xfrm>
            <a:off x="4338218" y="2240280"/>
            <a:ext cx="3515258" cy="1097280"/>
          </a:xfrm>
          <a:prstGeom prst="roundRect">
            <a:avLst>
              <a:gd name="adj" fmla="val 10000"/>
            </a:avLst>
          </a:prstGeom>
          <a:solidFill>
            <a:srgbClr val="FF5178"/>
          </a:solidFill>
          <a:ln w="12700">
            <a:solidFill>
              <a:srgbClr val="FF5178"/>
            </a:solidFill>
            <a:prstDash val="solid"/>
          </a:ln>
        </p:spPr>
      </p:sp>
      <p:sp>
        <p:nvSpPr>
          <p:cNvPr id="27" name="Text 24"/>
          <p:cNvSpPr txBox="1"/>
          <p:nvPr/>
        </p:nvSpPr>
        <p:spPr>
          <a:xfrm>
            <a:off x="4338218" y="2240280"/>
            <a:ext cx="3515258" cy="109728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Xung đột</a:t>
            </a:r>
            <a:endParaRPr lang="en-US" sz="2600" dirty="0"/>
          </a:p>
        </p:txBody>
      </p:sp>
      <p:sp>
        <p:nvSpPr>
          <p:cNvPr id="28" name="Shape 25"/>
          <p:cNvSpPr/>
          <p:nvPr/>
        </p:nvSpPr>
        <p:spPr>
          <a:xfrm>
            <a:off x="8127797" y="2240280"/>
            <a:ext cx="3515258" cy="1097280"/>
          </a:xfrm>
          <a:prstGeom prst="roundRect">
            <a:avLst>
              <a:gd name="adj" fmla="val 10000"/>
            </a:avLst>
          </a:prstGeom>
          <a:solidFill>
            <a:srgbClr val="09A1E5"/>
          </a:solidFill>
          <a:ln w="12700">
            <a:solidFill>
              <a:srgbClr val="09A1E5"/>
            </a:solidFill>
            <a:prstDash val="solid"/>
          </a:ln>
        </p:spPr>
      </p:sp>
      <p:sp>
        <p:nvSpPr>
          <p:cNvPr id="29" name="Text 26"/>
          <p:cNvSpPr txBox="1"/>
          <p:nvPr/>
        </p:nvSpPr>
        <p:spPr>
          <a:xfrm>
            <a:off x="8127797" y="2240280"/>
            <a:ext cx="3515258" cy="1097280"/>
          </a:xfrm>
          <a:prstGeom prst="rect">
            <a:avLst/>
          </a:prstGeom>
          <a:noFill/>
          <a:ln/>
        </p:spPr>
        <p:txBody>
          <a:bodyPr wrap="square" lIns="0" tIns="0" rIns="0" bIns="0" rtlCol="0" anchor="ctr"/>
          <a:lstStyle/>
          <a:p>
            <a:pPr algn="ctr" indent="0" marL="0">
              <a:buNone/>
            </a:pPr>
            <a:r>
              <a:rPr lang="en-US" sz="2600" b="1" dirty="0">
                <a:solidFill>
                  <a:srgbClr val="FFFFFF"/>
                </a:solidFill>
                <a:latin typeface="Alexandria" pitchFamily="34" charset="0"/>
                <a:ea typeface="Alexandria" pitchFamily="34" charset="-122"/>
                <a:cs typeface="Alexandria" pitchFamily="34" charset="-120"/>
              </a:rPr>
              <a:t>Quyền lực</a:t>
            </a:r>
            <a:endParaRPr lang="en-US" sz="2600" dirty="0"/>
          </a:p>
        </p:txBody>
      </p:sp>
      <p:sp>
        <p:nvSpPr>
          <p:cNvPr id="30" name="Text 27"/>
          <p:cNvSpPr txBox="1"/>
          <p:nvPr/>
        </p:nvSpPr>
        <p:spPr>
          <a:xfrm>
            <a:off x="548640" y="3611880"/>
            <a:ext cx="11094415" cy="36576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Các quá trình diễn ra:</a:t>
            </a:r>
            <a:endParaRPr lang="en-US" sz="1400" dirty="0"/>
          </a:p>
        </p:txBody>
      </p:sp>
      <p:sp>
        <p:nvSpPr>
          <p:cNvPr id="31" name="Shape 28"/>
          <p:cNvSpPr/>
          <p:nvPr/>
        </p:nvSpPr>
        <p:spPr>
          <a:xfrm>
            <a:off x="548640" y="4069080"/>
            <a:ext cx="2072579" cy="640080"/>
          </a:xfrm>
          <a:prstGeom prst="roundRect">
            <a:avLst>
              <a:gd name="adj" fmla="val 50000"/>
            </a:avLst>
          </a:prstGeom>
          <a:solidFill>
            <a:srgbClr val="FFFFFF"/>
          </a:solidFill>
          <a:ln w="12700">
            <a:solidFill>
              <a:srgbClr val="DCD7C8"/>
            </a:solidFill>
            <a:prstDash val="solid"/>
          </a:ln>
        </p:spPr>
      </p:sp>
      <p:sp>
        <p:nvSpPr>
          <p:cNvPr id="32" name="Text 29"/>
          <p:cNvSpPr txBox="1"/>
          <p:nvPr/>
        </p:nvSpPr>
        <p:spPr>
          <a:xfrm>
            <a:off x="621792" y="4069080"/>
            <a:ext cx="1926275" cy="6400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Gác cổng</a:t>
            </a:r>
            <a:endParaRPr lang="en-US" sz="1500" dirty="0"/>
          </a:p>
        </p:txBody>
      </p:sp>
      <p:sp>
        <p:nvSpPr>
          <p:cNvPr id="33" name="Shape 30"/>
          <p:cNvSpPr/>
          <p:nvPr/>
        </p:nvSpPr>
        <p:spPr>
          <a:xfrm>
            <a:off x="2804099" y="4069080"/>
            <a:ext cx="2072579" cy="640080"/>
          </a:xfrm>
          <a:prstGeom prst="roundRect">
            <a:avLst>
              <a:gd name="adj" fmla="val 50000"/>
            </a:avLst>
          </a:prstGeom>
          <a:solidFill>
            <a:srgbClr val="FFFFFF"/>
          </a:solidFill>
          <a:ln w="12700">
            <a:solidFill>
              <a:srgbClr val="DCD7C8"/>
            </a:solidFill>
            <a:prstDash val="solid"/>
          </a:ln>
        </p:spPr>
      </p:sp>
      <p:sp>
        <p:nvSpPr>
          <p:cNvPr id="34" name="Text 31"/>
          <p:cNvSpPr txBox="1"/>
          <p:nvPr/>
        </p:nvSpPr>
        <p:spPr>
          <a:xfrm>
            <a:off x="2877251" y="4069080"/>
            <a:ext cx="1926275" cy="6400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Đàm phán</a:t>
            </a:r>
            <a:endParaRPr lang="en-US" sz="1500" dirty="0"/>
          </a:p>
        </p:txBody>
      </p:sp>
      <p:sp>
        <p:nvSpPr>
          <p:cNvPr id="35" name="Shape 32"/>
          <p:cNvSpPr/>
          <p:nvPr/>
        </p:nvSpPr>
        <p:spPr>
          <a:xfrm>
            <a:off x="5059558" y="4069080"/>
            <a:ext cx="2072579" cy="640080"/>
          </a:xfrm>
          <a:prstGeom prst="roundRect">
            <a:avLst>
              <a:gd name="adj" fmla="val 50000"/>
            </a:avLst>
          </a:prstGeom>
          <a:solidFill>
            <a:srgbClr val="FFFFFF"/>
          </a:solidFill>
          <a:ln w="12700">
            <a:solidFill>
              <a:srgbClr val="DCD7C8"/>
            </a:solidFill>
            <a:prstDash val="solid"/>
          </a:ln>
        </p:spPr>
      </p:sp>
      <p:sp>
        <p:nvSpPr>
          <p:cNvPr id="36" name="Text 33"/>
          <p:cNvSpPr txBox="1"/>
          <p:nvPr/>
        </p:nvSpPr>
        <p:spPr>
          <a:xfrm>
            <a:off x="5132710" y="4069080"/>
            <a:ext cx="1926275" cy="6400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Xây liên minh</a:t>
            </a:r>
            <a:endParaRPr lang="en-US" sz="1500" dirty="0"/>
          </a:p>
        </p:txBody>
      </p:sp>
      <p:sp>
        <p:nvSpPr>
          <p:cNvPr id="37" name="Shape 34"/>
          <p:cNvSpPr/>
          <p:nvPr/>
        </p:nvSpPr>
        <p:spPr>
          <a:xfrm>
            <a:off x="7315017" y="4069080"/>
            <a:ext cx="2072579" cy="640080"/>
          </a:xfrm>
          <a:prstGeom prst="roundRect">
            <a:avLst>
              <a:gd name="adj" fmla="val 50000"/>
            </a:avLst>
          </a:prstGeom>
          <a:solidFill>
            <a:srgbClr val="FFFFFF"/>
          </a:solidFill>
          <a:ln w="12700">
            <a:solidFill>
              <a:srgbClr val="DCD7C8"/>
            </a:solidFill>
            <a:prstDash val="solid"/>
          </a:ln>
        </p:spPr>
      </p:sp>
      <p:sp>
        <p:nvSpPr>
          <p:cNvPr id="38" name="Text 35"/>
          <p:cNvSpPr txBox="1"/>
          <p:nvPr/>
        </p:nvSpPr>
        <p:spPr>
          <a:xfrm>
            <a:off x="7388169" y="4069080"/>
            <a:ext cx="1926275" cy="640080"/>
          </a:xfrm>
          <a:prstGeom prst="rect">
            <a:avLst/>
          </a:prstGeom>
          <a:noFill/>
          <a:ln/>
        </p:spPr>
        <p:txBody>
          <a:bodyPr wrap="square" lIns="0" tIns="0" rIns="0" bIns="0" rtlCol="0" anchor="ctr"/>
          <a:lstStyle/>
          <a:p>
            <a:pPr algn="ctr" indent="0" marL="0">
              <a:buNone/>
            </a:pPr>
            <a:r>
              <a:rPr lang="en-US" sz="1500" b="1" dirty="0">
                <a:solidFill>
                  <a:srgbClr val="2A2238"/>
                </a:solidFill>
                <a:latin typeface="Alexandria" pitchFamily="34" charset="0"/>
                <a:ea typeface="Alexandria" pitchFamily="34" charset="-122"/>
                <a:cs typeface="Alexandria" pitchFamily="34" charset="-120"/>
              </a:rPr>
              <a:t>Xây niềm tin</a:t>
            </a:r>
            <a:endParaRPr lang="en-US" sz="1500" dirty="0"/>
          </a:p>
        </p:txBody>
      </p:sp>
      <p:sp>
        <p:nvSpPr>
          <p:cNvPr id="39" name="Shape 36"/>
          <p:cNvSpPr/>
          <p:nvPr/>
        </p:nvSpPr>
        <p:spPr>
          <a:xfrm>
            <a:off x="9570476" y="4069080"/>
            <a:ext cx="2072579" cy="640080"/>
          </a:xfrm>
          <a:prstGeom prst="roundRect">
            <a:avLst>
              <a:gd name="adj" fmla="val 50000"/>
            </a:avLst>
          </a:prstGeom>
          <a:solidFill>
            <a:srgbClr val="49B296"/>
          </a:solidFill>
          <a:ln w="12700">
            <a:solidFill>
              <a:srgbClr val="49B296"/>
            </a:solidFill>
            <a:prstDash val="solid"/>
          </a:ln>
        </p:spPr>
      </p:sp>
      <p:sp>
        <p:nvSpPr>
          <p:cNvPr id="40" name="Text 37"/>
          <p:cNvSpPr txBox="1"/>
          <p:nvPr/>
        </p:nvSpPr>
        <p:spPr>
          <a:xfrm>
            <a:off x="9643628" y="4069080"/>
            <a:ext cx="1926275"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Xây bản sắc</a:t>
            </a:r>
            <a:endParaRPr lang="en-US" sz="1500" dirty="0"/>
          </a:p>
        </p:txBody>
      </p:sp>
      <p:sp>
        <p:nvSpPr>
          <p:cNvPr id="41" name="Shape 38"/>
          <p:cNvSpPr/>
          <p:nvPr/>
        </p:nvSpPr>
        <p:spPr>
          <a:xfrm>
            <a:off x="548640" y="5029200"/>
            <a:ext cx="11094415" cy="960120"/>
          </a:xfrm>
          <a:prstGeom prst="roundRect">
            <a:avLst>
              <a:gd name="adj" fmla="val 11429"/>
            </a:avLst>
          </a:prstGeom>
          <a:solidFill>
            <a:srgbClr val="E1F3EE"/>
          </a:solidFill>
          <a:ln w="12700">
            <a:solidFill>
              <a:srgbClr val="49B296"/>
            </a:solidFill>
            <a:prstDash val="solid"/>
          </a:ln>
        </p:spPr>
      </p:sp>
      <p:sp>
        <p:nvSpPr>
          <p:cNvPr id="42" name="Text 39"/>
          <p:cNvSpPr txBox="1"/>
          <p:nvPr/>
        </p:nvSpPr>
        <p:spPr>
          <a:xfrm>
            <a:off x="868680" y="5029200"/>
            <a:ext cx="10454335" cy="96012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Bản sắc chung </a:t>
            </a:r>
            <a:pPr indent="0" marL="0">
              <a:buNone/>
            </a:pPr>
            <a:r>
              <a:rPr lang="en-US" sz="1700" dirty="0">
                <a:solidFill>
                  <a:srgbClr val="2A2238"/>
                </a:solidFill>
                <a:latin typeface="Alexandria" pitchFamily="34" charset="0"/>
                <a:ea typeface="Alexandria" pitchFamily="34" charset="-122"/>
                <a:cs typeface="Alexandria" pitchFamily="34" charset="-120"/>
              </a:rPr>
              <a:t>giúp giảm xáo trộn — xung đột là bình thường, nhiệm vụ không phải xóa nó.</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Bản sắc chung của mạng lưới: cùng phục vụ khách của Key Account</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V10 (Buổi 10): Tuổi Trẻ Online (11/11/2024) và các báo khác.</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17</a:t>
            </a:r>
            <a:endParaRPr lang="en-US" sz="1000" dirty="0"/>
          </a:p>
        </p:txBody>
      </p:sp>
      <p:sp>
        <p:nvSpPr>
          <p:cNvPr id="23" name="Shape 20"/>
          <p:cNvSpPr/>
          <p:nvPr/>
        </p:nvSpPr>
        <p:spPr>
          <a:xfrm>
            <a:off x="548640" y="1874520"/>
            <a:ext cx="11094415" cy="2011680"/>
          </a:xfrm>
          <a:prstGeom prst="roundRect">
            <a:avLst>
              <a:gd name="adj" fmla="val 5455"/>
            </a:avLst>
          </a:prstGeom>
          <a:solidFill>
            <a:srgbClr val="F1E1EE"/>
          </a:solidFill>
          <a:ln w="12700">
            <a:solidFill>
              <a:srgbClr val="962B7C"/>
            </a:solidFill>
            <a:prstDash val="solid"/>
          </a:ln>
        </p:spPr>
      </p:sp>
      <p:sp>
        <p:nvSpPr>
          <p:cNvPr id="24" name="Text 21"/>
          <p:cNvSpPr txBox="1"/>
          <p:nvPr/>
        </p:nvSpPr>
        <p:spPr>
          <a:xfrm>
            <a:off x="914400" y="1874520"/>
            <a:ext cx="10362895" cy="2011680"/>
          </a:xfrm>
          <a:prstGeom prst="rect">
            <a:avLst/>
          </a:prstGeom>
          <a:noFill/>
          <a:ln/>
        </p:spPr>
        <p:txBody>
          <a:bodyPr wrap="square" lIns="0" tIns="0" rIns="0" bIns="0" rtlCol="0" anchor="ctr"/>
          <a:lstStyle/>
          <a:p>
            <a:pPr algn="ctr" indent="0" marL="0">
              <a:buNone/>
            </a:pPr>
            <a:r>
              <a:rPr lang="en-US" sz="1800" dirty="0">
                <a:solidFill>
                  <a:srgbClr val="6E6878"/>
                </a:solidFill>
                <a:latin typeface="Alexandria" pitchFamily="34" charset="0"/>
                <a:ea typeface="Alexandria" pitchFamily="34" charset="-122"/>
                <a:cs typeface="Alexandria" pitchFamily="34" charset="-120"/>
              </a:rPr>
              <a:t>Tất cả đang làm cho</a:t>
            </a:r>
            <a:endParaRPr lang="en-US" sz="1800" dirty="0"/>
          </a:p>
          <a:p>
            <a:pPr algn="ctr" indent="0" marL="0">
              <a:buNone/>
            </a:pPr>
            <a:r>
              <a:rPr lang="en-US" sz="3600" b="1" dirty="0">
                <a:solidFill>
                  <a:srgbClr val="2A2238"/>
                </a:solidFill>
                <a:latin typeface="Alexandria" pitchFamily="34" charset="0"/>
                <a:ea typeface="Alexandria" pitchFamily="34" charset="-122"/>
                <a:cs typeface="Alexandria" pitchFamily="34" charset="-120"/>
              </a:rPr>
              <a:t>600 khách của An Phát.</a:t>
            </a:r>
            <a:endParaRPr lang="en-US" sz="1800" dirty="0"/>
          </a:p>
        </p:txBody>
      </p:sp>
      <p:sp>
        <p:nvSpPr>
          <p:cNvPr id="25" name="Shape 22"/>
          <p:cNvSpPr/>
          <p:nvPr/>
        </p:nvSpPr>
        <p:spPr>
          <a:xfrm>
            <a:off x="548640" y="4160520"/>
            <a:ext cx="11094415" cy="1828800"/>
          </a:xfrm>
          <a:prstGeom prst="roundRect">
            <a:avLst>
              <a:gd name="adj" fmla="val 6000"/>
            </a:avLst>
          </a:prstGeom>
          <a:solidFill>
            <a:srgbClr val="FFFFFF"/>
          </a:solidFill>
          <a:ln w="12700">
            <a:solidFill>
              <a:srgbClr val="DCD7C8"/>
            </a:solidFill>
            <a:prstDash val="solid"/>
          </a:ln>
        </p:spPr>
      </p:sp>
      <p:sp>
        <p:nvSpPr>
          <p:cNvPr id="26" name="Text 23"/>
          <p:cNvSpPr txBox="1"/>
          <p:nvPr/>
        </p:nvSpPr>
        <p:spPr>
          <a:xfrm>
            <a:off x="868680" y="4297680"/>
            <a:ext cx="10454335" cy="411480"/>
          </a:xfrm>
          <a:prstGeom prst="rect">
            <a:avLst/>
          </a:prstGeom>
          <a:noFill/>
          <a:ln/>
        </p:spPr>
        <p:txBody>
          <a:bodyPr wrap="square" lIns="0" tIns="0" rIns="0" bIns="0" rtlCol="0" anchor="ctr"/>
          <a:lstStyle/>
          <a:p>
            <a:pPr indent="0" marL="0">
              <a:buNone/>
            </a:pPr>
            <a:r>
              <a:rPr lang="en-US" sz="1400" b="1" dirty="0">
                <a:solidFill>
                  <a:srgbClr val="0A7FB5"/>
                </a:solidFill>
                <a:latin typeface="Alexandria" pitchFamily="34" charset="0"/>
                <a:ea typeface="Alexandria" pitchFamily="34" charset="-122"/>
                <a:cs typeface="Alexandria" pitchFamily="34" charset="-120"/>
              </a:rPr>
              <a:t>Nhắc lại Mỹ Đình (Buổi 10)</a:t>
            </a:r>
            <a:endParaRPr lang="en-US" sz="1400" dirty="0"/>
          </a:p>
        </p:txBody>
      </p:sp>
      <p:sp>
        <p:nvSpPr>
          <p:cNvPr id="27" name="Text 24"/>
          <p:cNvSpPr txBox="1"/>
          <p:nvPr/>
        </p:nvSpPr>
        <p:spPr>
          <a:xfrm>
            <a:off x="868680" y="4709160"/>
            <a:ext cx="10454335" cy="1143000"/>
          </a:xfrm>
          <a:prstGeom prst="rect">
            <a:avLst/>
          </a:prstGeom>
          <a:noFill/>
          <a:ln/>
        </p:spPr>
        <p:txBody>
          <a:bodyPr wrap="square" lIns="0" tIns="0" rIns="0" bIns="0" rtlCol="0" anchor="t"/>
          <a:lstStyle/>
          <a:p>
            <a:pPr indent="0" marL="0">
              <a:buNone/>
            </a:pPr>
            <a:r>
              <a:rPr lang="en-US" sz="1600" dirty="0">
                <a:solidFill>
                  <a:srgbClr val="2A2238"/>
                </a:solidFill>
                <a:latin typeface="Alexandria" pitchFamily="34" charset="0"/>
                <a:ea typeface="Alexandria" pitchFamily="34" charset="-122"/>
                <a:cs typeface="Alexandria" pitchFamily="34" charset="-120"/>
              </a:rPr>
              <a:t>Concert 7/12/2024 và lịch thi đấu của đội tuyển: chủ địa điểm, nhà tổ chức concert và VFF có lợi ích trái chiều — khi thiếu một bản sắc chung, mỗi bên kéo về phía mình.</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Năm bước bảo vệ deliverables</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dựng từ Y03, S12 (Buổi 7) và Mitchell et al. (Buổi 1).</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18</a:t>
            </a:r>
            <a:endParaRPr lang="en-US" sz="1000" dirty="0"/>
          </a:p>
        </p:txBody>
      </p:sp>
      <p:sp>
        <p:nvSpPr>
          <p:cNvPr id="23" name="Shape 20"/>
          <p:cNvSpPr/>
          <p:nvPr/>
        </p:nvSpPr>
        <p:spPr>
          <a:xfrm>
            <a:off x="548640" y="5349240"/>
            <a:ext cx="11094415" cy="749808"/>
          </a:xfrm>
          <a:prstGeom prst="roundRect">
            <a:avLst>
              <a:gd name="adj" fmla="val 14634"/>
            </a:avLst>
          </a:prstGeom>
          <a:solidFill>
            <a:srgbClr val="FFE9DE"/>
          </a:solidFill>
          <a:ln w="12700">
            <a:solidFill>
              <a:srgbClr val="FF9259"/>
            </a:solidFill>
            <a:prstDash val="solid"/>
          </a:ln>
        </p:spPr>
      </p:sp>
      <p:sp>
        <p:nvSpPr>
          <p:cNvPr id="24" name="Shape 21"/>
          <p:cNvSpPr/>
          <p:nvPr/>
        </p:nvSpPr>
        <p:spPr>
          <a:xfrm>
            <a:off x="658368" y="5458968"/>
            <a:ext cx="530352" cy="530352"/>
          </a:xfrm>
          <a:prstGeom prst="ellipse">
            <a:avLst/>
          </a:prstGeom>
          <a:solidFill>
            <a:srgbClr val="FF9259"/>
          </a:solidFill>
          <a:ln w="12700">
            <a:solidFill>
              <a:srgbClr val="FF9259"/>
            </a:solidFill>
            <a:prstDash val="solid"/>
          </a:ln>
        </p:spPr>
      </p:sp>
      <p:sp>
        <p:nvSpPr>
          <p:cNvPr id="25" name="Text 22"/>
          <p:cNvSpPr txBox="1"/>
          <p:nvPr/>
        </p:nvSpPr>
        <p:spPr>
          <a:xfrm>
            <a:off x="658368" y="5458968"/>
            <a:ext cx="530352" cy="530352"/>
          </a:xfrm>
          <a:prstGeom prst="rect">
            <a:avLst/>
          </a:prstGeom>
          <a:noFill/>
          <a:ln/>
        </p:spPr>
        <p:txBody>
          <a:bodyPr wrap="square" lIns="0" tIns="0" rIns="0" bIns="0" rtlCol="0" anchor="ctr"/>
          <a:lstStyle/>
          <a:p>
            <a:pPr algn="ctr" indent="0" marL="0">
              <a:buNone/>
            </a:pPr>
            <a:r>
              <a:rPr lang="en-US" sz="1972" b="1" dirty="0">
                <a:solidFill>
                  <a:srgbClr val="2A2238"/>
                </a:solidFill>
                <a:latin typeface="Alexandria" pitchFamily="34" charset="0"/>
                <a:ea typeface="Alexandria" pitchFamily="34" charset="-122"/>
                <a:cs typeface="Alexandria" pitchFamily="34" charset="-120"/>
              </a:rPr>
              <a:t>1</a:t>
            </a:r>
            <a:endParaRPr lang="en-US" sz="1972" dirty="0"/>
          </a:p>
        </p:txBody>
      </p:sp>
      <p:sp>
        <p:nvSpPr>
          <p:cNvPr id="26" name="Text 23"/>
          <p:cNvSpPr txBox="1"/>
          <p:nvPr/>
        </p:nvSpPr>
        <p:spPr>
          <a:xfrm>
            <a:off x="1325880" y="5349240"/>
            <a:ext cx="10180015" cy="7498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Deliverable nào bị đe dọa?</a:t>
            </a:r>
            <a:pPr indent="0" marL="0">
              <a:buNone/>
            </a:pPr>
            <a:r>
              <a:rPr lang="en-US" sz="1200" dirty="0">
                <a:solidFill>
                  <a:srgbClr val="6E6878"/>
                </a:solidFill>
                <a:latin typeface="Alexandria" pitchFamily="34" charset="0"/>
                <a:ea typeface="Alexandria" pitchFamily="34" charset="-122"/>
                <a:cs typeface="Alexandria" pitchFamily="34" charset="-120"/>
              </a:rPr>
              <a:t>   bắt đầu từ cam kết với Key Account</a:t>
            </a:r>
            <a:endParaRPr lang="en-US" sz="1600" dirty="0"/>
          </a:p>
        </p:txBody>
      </p:sp>
      <p:sp>
        <p:nvSpPr>
          <p:cNvPr id="27" name="Shape 24"/>
          <p:cNvSpPr/>
          <p:nvPr/>
        </p:nvSpPr>
        <p:spPr>
          <a:xfrm>
            <a:off x="1115568" y="4480560"/>
            <a:ext cx="10527487" cy="749808"/>
          </a:xfrm>
          <a:prstGeom prst="roundRect">
            <a:avLst>
              <a:gd name="adj" fmla="val 14634"/>
            </a:avLst>
          </a:prstGeom>
          <a:solidFill>
            <a:srgbClr val="F1E1EE"/>
          </a:solidFill>
          <a:ln w="12700">
            <a:solidFill>
              <a:srgbClr val="962B7C"/>
            </a:solidFill>
            <a:prstDash val="solid"/>
          </a:ln>
        </p:spPr>
      </p:sp>
      <p:sp>
        <p:nvSpPr>
          <p:cNvPr id="28" name="Shape 25"/>
          <p:cNvSpPr/>
          <p:nvPr/>
        </p:nvSpPr>
        <p:spPr>
          <a:xfrm>
            <a:off x="1225296" y="4590288"/>
            <a:ext cx="530352" cy="530352"/>
          </a:xfrm>
          <a:prstGeom prst="ellipse">
            <a:avLst/>
          </a:prstGeom>
          <a:solidFill>
            <a:srgbClr val="962B7C"/>
          </a:solidFill>
          <a:ln w="12700">
            <a:solidFill>
              <a:srgbClr val="962B7C"/>
            </a:solidFill>
            <a:prstDash val="solid"/>
          </a:ln>
        </p:spPr>
      </p:sp>
      <p:sp>
        <p:nvSpPr>
          <p:cNvPr id="29" name="Text 26"/>
          <p:cNvSpPr txBox="1"/>
          <p:nvPr/>
        </p:nvSpPr>
        <p:spPr>
          <a:xfrm>
            <a:off x="1225296" y="4590288"/>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Alexandria" pitchFamily="34" charset="0"/>
                <a:ea typeface="Alexandria" pitchFamily="34" charset="-122"/>
                <a:cs typeface="Alexandria" pitchFamily="34" charset="-120"/>
              </a:rPr>
              <a:t>2</a:t>
            </a:r>
            <a:endParaRPr lang="en-US" sz="1972" dirty="0"/>
          </a:p>
        </p:txBody>
      </p:sp>
      <p:sp>
        <p:nvSpPr>
          <p:cNvPr id="30" name="Text 27"/>
          <p:cNvSpPr txBox="1"/>
          <p:nvPr/>
        </p:nvSpPr>
        <p:spPr>
          <a:xfrm>
            <a:off x="1892808" y="4480560"/>
            <a:ext cx="9613087" cy="7498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Ai liên quan, vai gì, nổi bật đến đâu?</a:t>
            </a:r>
            <a:pPr indent="0" marL="0">
              <a:buNone/>
            </a:pPr>
            <a:r>
              <a:rPr lang="en-US" sz="1200" dirty="0">
                <a:solidFill>
                  <a:srgbClr val="6E6878"/>
                </a:solidFill>
                <a:latin typeface="Alexandria" pitchFamily="34" charset="0"/>
                <a:ea typeface="Alexandria" pitchFamily="34" charset="-122"/>
                <a:cs typeface="Alexandria" pitchFamily="34" charset="-120"/>
              </a:rPr>
              <a:t>   quyền lực · chính đáng · cấp bách (Buổi 1)</a:t>
            </a:r>
            <a:endParaRPr lang="en-US" sz="1600" dirty="0"/>
          </a:p>
        </p:txBody>
      </p:sp>
      <p:sp>
        <p:nvSpPr>
          <p:cNvPr id="31" name="Shape 28"/>
          <p:cNvSpPr/>
          <p:nvPr/>
        </p:nvSpPr>
        <p:spPr>
          <a:xfrm>
            <a:off x="1682496" y="3611880"/>
            <a:ext cx="9960559" cy="749808"/>
          </a:xfrm>
          <a:prstGeom prst="roundRect">
            <a:avLst>
              <a:gd name="adj" fmla="val 14634"/>
            </a:avLst>
          </a:prstGeom>
          <a:solidFill>
            <a:srgbClr val="DDF1FB"/>
          </a:solidFill>
          <a:ln w="12700">
            <a:solidFill>
              <a:srgbClr val="09A1E5"/>
            </a:solidFill>
            <a:prstDash val="solid"/>
          </a:ln>
        </p:spPr>
      </p:sp>
      <p:sp>
        <p:nvSpPr>
          <p:cNvPr id="32" name="Shape 29"/>
          <p:cNvSpPr/>
          <p:nvPr/>
        </p:nvSpPr>
        <p:spPr>
          <a:xfrm>
            <a:off x="1792224" y="3721608"/>
            <a:ext cx="530352" cy="530352"/>
          </a:xfrm>
          <a:prstGeom prst="ellipse">
            <a:avLst/>
          </a:prstGeom>
          <a:solidFill>
            <a:srgbClr val="09A1E5"/>
          </a:solidFill>
          <a:ln w="12700">
            <a:solidFill>
              <a:srgbClr val="09A1E5"/>
            </a:solidFill>
            <a:prstDash val="solid"/>
          </a:ln>
        </p:spPr>
      </p:sp>
      <p:sp>
        <p:nvSpPr>
          <p:cNvPr id="33" name="Text 30"/>
          <p:cNvSpPr txBox="1"/>
          <p:nvPr/>
        </p:nvSpPr>
        <p:spPr>
          <a:xfrm>
            <a:off x="1792224" y="3721608"/>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Alexandria" pitchFamily="34" charset="0"/>
                <a:ea typeface="Alexandria" pitchFamily="34" charset="-122"/>
                <a:cs typeface="Alexandria" pitchFamily="34" charset="-120"/>
              </a:rPr>
              <a:t>3</a:t>
            </a:r>
            <a:endParaRPr lang="en-US" sz="1972" dirty="0"/>
          </a:p>
        </p:txBody>
      </p:sp>
      <p:sp>
        <p:nvSpPr>
          <p:cNvPr id="34" name="Text 31"/>
          <p:cNvSpPr txBox="1"/>
          <p:nvPr/>
        </p:nvSpPr>
        <p:spPr>
          <a:xfrm>
            <a:off x="2459736" y="3611880"/>
            <a:ext cx="9046159" cy="7498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Lợi ích đằng sau lập trường?</a:t>
            </a:r>
            <a:pPr indent="0" marL="0">
              <a:buNone/>
            </a:pPr>
            <a:r>
              <a:rPr lang="en-US" sz="1200" dirty="0">
                <a:solidFill>
                  <a:srgbClr val="6E6878"/>
                </a:solidFill>
                <a:latin typeface="Alexandria" pitchFamily="34" charset="0"/>
                <a:ea typeface="Alexandria" pitchFamily="34" charset="-122"/>
                <a:cs typeface="Alexandria" pitchFamily="34" charset="-120"/>
              </a:rPr>
              <a:t>   đàm phán tích hợp (Buổi 7)</a:t>
            </a:r>
            <a:endParaRPr lang="en-US" sz="1600" dirty="0"/>
          </a:p>
        </p:txBody>
      </p:sp>
      <p:sp>
        <p:nvSpPr>
          <p:cNvPr id="35" name="Shape 32"/>
          <p:cNvSpPr/>
          <p:nvPr/>
        </p:nvSpPr>
        <p:spPr>
          <a:xfrm>
            <a:off x="2249424" y="2743200"/>
            <a:ext cx="9393631" cy="749808"/>
          </a:xfrm>
          <a:prstGeom prst="roundRect">
            <a:avLst>
              <a:gd name="adj" fmla="val 14634"/>
            </a:avLst>
          </a:prstGeom>
          <a:solidFill>
            <a:srgbClr val="FFE4EA"/>
          </a:solidFill>
          <a:ln w="12700">
            <a:solidFill>
              <a:srgbClr val="FF5178"/>
            </a:solidFill>
            <a:prstDash val="solid"/>
          </a:ln>
        </p:spPr>
      </p:sp>
      <p:sp>
        <p:nvSpPr>
          <p:cNvPr id="36" name="Shape 33"/>
          <p:cNvSpPr/>
          <p:nvPr/>
        </p:nvSpPr>
        <p:spPr>
          <a:xfrm>
            <a:off x="2359152" y="2852928"/>
            <a:ext cx="530352" cy="530352"/>
          </a:xfrm>
          <a:prstGeom prst="ellipse">
            <a:avLst/>
          </a:prstGeom>
          <a:solidFill>
            <a:srgbClr val="FF5178"/>
          </a:solidFill>
          <a:ln w="12700">
            <a:solidFill>
              <a:srgbClr val="FF5178"/>
            </a:solidFill>
            <a:prstDash val="solid"/>
          </a:ln>
        </p:spPr>
      </p:sp>
      <p:sp>
        <p:nvSpPr>
          <p:cNvPr id="37" name="Text 34"/>
          <p:cNvSpPr txBox="1"/>
          <p:nvPr/>
        </p:nvSpPr>
        <p:spPr>
          <a:xfrm>
            <a:off x="2359152" y="2852928"/>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Alexandria" pitchFamily="34" charset="0"/>
                <a:ea typeface="Alexandria" pitchFamily="34" charset="-122"/>
                <a:cs typeface="Alexandria" pitchFamily="34" charset="-120"/>
              </a:rPr>
              <a:t>4</a:t>
            </a:r>
            <a:endParaRPr lang="en-US" sz="1972" dirty="0"/>
          </a:p>
        </p:txBody>
      </p:sp>
      <p:sp>
        <p:nvSpPr>
          <p:cNvPr id="38" name="Text 35"/>
          <p:cNvSpPr txBox="1"/>
          <p:nvPr/>
        </p:nvSpPr>
        <p:spPr>
          <a:xfrm>
            <a:off x="3026664" y="2743200"/>
            <a:ext cx="8479231" cy="7498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Cùng giải quyết — không được thì leo thang</a:t>
            </a:r>
            <a:pPr indent="0" marL="0">
              <a:buNone/>
            </a:pPr>
            <a:r>
              <a:rPr lang="en-US" sz="1200" dirty="0">
                <a:solidFill>
                  <a:srgbClr val="6E6878"/>
                </a:solidFill>
                <a:latin typeface="Alexandria" pitchFamily="34" charset="0"/>
                <a:ea typeface="Alexandria" pitchFamily="34" charset="-122"/>
                <a:cs typeface="Alexandria" pitchFamily="34" charset="-120"/>
              </a:rPr>
              <a:t>   người phụ trách → lãnh đạo Nova → Key Account</a:t>
            </a:r>
            <a:endParaRPr lang="en-US" sz="1600" dirty="0"/>
          </a:p>
        </p:txBody>
      </p:sp>
      <p:sp>
        <p:nvSpPr>
          <p:cNvPr id="39" name="Shape 36"/>
          <p:cNvSpPr/>
          <p:nvPr/>
        </p:nvSpPr>
        <p:spPr>
          <a:xfrm>
            <a:off x="2816352" y="1874520"/>
            <a:ext cx="8826703" cy="749808"/>
          </a:xfrm>
          <a:prstGeom prst="roundRect">
            <a:avLst>
              <a:gd name="adj" fmla="val 14634"/>
            </a:avLst>
          </a:prstGeom>
          <a:solidFill>
            <a:srgbClr val="E1F3EE"/>
          </a:solidFill>
          <a:ln w="12700">
            <a:solidFill>
              <a:srgbClr val="49B296"/>
            </a:solidFill>
            <a:prstDash val="solid"/>
          </a:ln>
        </p:spPr>
      </p:sp>
      <p:sp>
        <p:nvSpPr>
          <p:cNvPr id="40" name="Shape 37"/>
          <p:cNvSpPr/>
          <p:nvPr/>
        </p:nvSpPr>
        <p:spPr>
          <a:xfrm>
            <a:off x="2926080" y="1984248"/>
            <a:ext cx="530352" cy="530352"/>
          </a:xfrm>
          <a:prstGeom prst="ellipse">
            <a:avLst/>
          </a:prstGeom>
          <a:solidFill>
            <a:srgbClr val="49B296"/>
          </a:solidFill>
          <a:ln w="12700">
            <a:solidFill>
              <a:srgbClr val="49B296"/>
            </a:solidFill>
            <a:prstDash val="solid"/>
          </a:ln>
        </p:spPr>
      </p:sp>
      <p:sp>
        <p:nvSpPr>
          <p:cNvPr id="41" name="Text 38"/>
          <p:cNvSpPr txBox="1"/>
          <p:nvPr/>
        </p:nvSpPr>
        <p:spPr>
          <a:xfrm>
            <a:off x="2926080" y="1984248"/>
            <a:ext cx="530352" cy="530352"/>
          </a:xfrm>
          <a:prstGeom prst="rect">
            <a:avLst/>
          </a:prstGeom>
          <a:noFill/>
          <a:ln/>
        </p:spPr>
        <p:txBody>
          <a:bodyPr wrap="square" lIns="0" tIns="0" rIns="0" bIns="0" rtlCol="0" anchor="ctr"/>
          <a:lstStyle/>
          <a:p>
            <a:pPr algn="ctr" indent="0" marL="0">
              <a:buNone/>
            </a:pPr>
            <a:r>
              <a:rPr lang="en-US" sz="1972" b="1" dirty="0">
                <a:solidFill>
                  <a:srgbClr val="FFFFFF"/>
                </a:solidFill>
                <a:latin typeface="Alexandria" pitchFamily="34" charset="0"/>
                <a:ea typeface="Alexandria" pitchFamily="34" charset="-122"/>
                <a:cs typeface="Alexandria" pitchFamily="34" charset="-120"/>
              </a:rPr>
              <a:t>5</a:t>
            </a:r>
            <a:endParaRPr lang="en-US" sz="1972" dirty="0"/>
          </a:p>
        </p:txBody>
      </p:sp>
      <p:sp>
        <p:nvSpPr>
          <p:cNvPr id="42" name="Text 39"/>
          <p:cNvSpPr txBox="1"/>
          <p:nvPr/>
        </p:nvSpPr>
        <p:spPr>
          <a:xfrm>
            <a:off x="3593592" y="1874520"/>
            <a:ext cx="7912303" cy="749808"/>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Báo Key Account + cập nhật ESG</a:t>
            </a:r>
            <a:pPr indent="0" marL="0">
              <a:buNone/>
            </a:pPr>
            <a:r>
              <a:rPr lang="en-US" sz="1200" dirty="0">
                <a:solidFill>
                  <a:srgbClr val="6E6878"/>
                </a:solidFill>
                <a:latin typeface="Alexandria" pitchFamily="34" charset="0"/>
                <a:ea typeface="Alexandria" pitchFamily="34" charset="-122"/>
                <a:cs typeface="Alexandria" pitchFamily="34" charset="-120"/>
              </a:rPr>
              <a:t>   cho mọi bên cùng một phiên bản</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09A1E5"/>
          </a:solidFill>
          <a:ln w="9525">
            <a:solidFill>
              <a:srgbClr val="09A1E5"/>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Giấu khách hàng là cách mất niềm tin nhanh nhất</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Y02: Morgan &amp; Hunt (1994) · Y03: Mohr &amp; Spekman (1994) · cấu trúc tin nhắn: phiếu Thực hành 1.</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19</a:t>
            </a:r>
            <a:endParaRPr lang="en-US" sz="1000" dirty="0"/>
          </a:p>
        </p:txBody>
      </p:sp>
      <p:sp>
        <p:nvSpPr>
          <p:cNvPr id="23" name="Text 20"/>
          <p:cNvSpPr txBox="1"/>
          <p:nvPr/>
        </p:nvSpPr>
        <p:spPr>
          <a:xfrm>
            <a:off x="548640" y="1783080"/>
            <a:ext cx="11094415" cy="411480"/>
          </a:xfrm>
          <a:prstGeom prst="rect">
            <a:avLst/>
          </a:prstGeom>
          <a:noFill/>
          <a:ln/>
        </p:spPr>
        <p:txBody>
          <a:bodyPr wrap="square" lIns="0" tIns="0" rIns="0" bIns="0" rtlCol="0" anchor="ctr"/>
          <a:lstStyle/>
          <a:p>
            <a:pPr indent="0" marL="0">
              <a:buNone/>
            </a:pPr>
            <a:r>
              <a:rPr lang="en-US" sz="1500" b="1" dirty="0">
                <a:solidFill>
                  <a:srgbClr val="2A2238"/>
                </a:solidFill>
                <a:latin typeface="Alexandria" pitchFamily="34" charset="0"/>
                <a:ea typeface="Alexandria" pitchFamily="34" charset="-122"/>
                <a:cs typeface="Alexandria" pitchFamily="34" charset="-120"/>
              </a:rPr>
              <a:t>Tin nhắn gửi Key Account — bốn ý</a:t>
            </a:r>
            <a:endParaRPr lang="en-US" sz="1500" dirty="0"/>
          </a:p>
        </p:txBody>
      </p:sp>
      <p:sp>
        <p:nvSpPr>
          <p:cNvPr id="24" name="Shape 21"/>
          <p:cNvSpPr/>
          <p:nvPr/>
        </p:nvSpPr>
        <p:spPr>
          <a:xfrm>
            <a:off x="548640" y="2286000"/>
            <a:ext cx="2464994" cy="1920240"/>
          </a:xfrm>
          <a:prstGeom prst="roundRect">
            <a:avLst>
              <a:gd name="adj" fmla="val 5714"/>
            </a:avLst>
          </a:prstGeom>
          <a:solidFill>
            <a:srgbClr val="FFE9DE"/>
          </a:solidFill>
          <a:ln w="19050">
            <a:solidFill>
              <a:srgbClr val="FF9259"/>
            </a:solidFill>
            <a:prstDash val="solid"/>
          </a:ln>
        </p:spPr>
      </p:sp>
      <p:sp>
        <p:nvSpPr>
          <p:cNvPr id="25" name="Shape 22"/>
          <p:cNvSpPr/>
          <p:nvPr/>
        </p:nvSpPr>
        <p:spPr>
          <a:xfrm>
            <a:off x="777240" y="2468880"/>
            <a:ext cx="594360" cy="594360"/>
          </a:xfrm>
          <a:prstGeom prst="ellipse">
            <a:avLst/>
          </a:prstGeom>
          <a:solidFill>
            <a:srgbClr val="FF9259"/>
          </a:solidFill>
          <a:ln w="12700">
            <a:solidFill>
              <a:srgbClr val="FF9259"/>
            </a:solidFill>
            <a:prstDash val="solid"/>
          </a:ln>
        </p:spPr>
      </p:sp>
      <p:sp>
        <p:nvSpPr>
          <p:cNvPr id="26" name="Text 23"/>
          <p:cNvSpPr txBox="1"/>
          <p:nvPr/>
        </p:nvSpPr>
        <p:spPr>
          <a:xfrm>
            <a:off x="777240" y="2468880"/>
            <a:ext cx="594360" cy="594360"/>
          </a:xfrm>
          <a:prstGeom prst="rect">
            <a:avLst/>
          </a:prstGeom>
          <a:noFill/>
          <a:ln/>
        </p:spPr>
        <p:txBody>
          <a:bodyPr wrap="square" lIns="0" tIns="0" rIns="0" bIns="0" rtlCol="0" anchor="ctr"/>
          <a:lstStyle/>
          <a:p>
            <a:pPr algn="ctr" indent="0" marL="0">
              <a:buNone/>
            </a:pPr>
            <a:r>
              <a:rPr lang="en-US" sz="2210" b="1" dirty="0">
                <a:solidFill>
                  <a:srgbClr val="2A2238"/>
                </a:solidFill>
                <a:latin typeface="Alexandria" pitchFamily="34" charset="0"/>
                <a:ea typeface="Alexandria" pitchFamily="34" charset="-122"/>
                <a:cs typeface="Alexandria" pitchFamily="34" charset="-120"/>
              </a:rPr>
              <a:t>1</a:t>
            </a:r>
            <a:endParaRPr lang="en-US" sz="2210" dirty="0"/>
          </a:p>
        </p:txBody>
      </p:sp>
      <p:sp>
        <p:nvSpPr>
          <p:cNvPr id="27" name="Text 24"/>
          <p:cNvSpPr txBox="1"/>
          <p:nvPr/>
        </p:nvSpPr>
        <p:spPr>
          <a:xfrm>
            <a:off x="777240" y="3200400"/>
            <a:ext cx="2007794" cy="9144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Chuyện gì xảy ra</a:t>
            </a:r>
            <a:endParaRPr lang="en-US" sz="1700" dirty="0"/>
          </a:p>
        </p:txBody>
      </p:sp>
      <p:sp>
        <p:nvSpPr>
          <p:cNvPr id="28" name="Shape 25"/>
          <p:cNvSpPr/>
          <p:nvPr/>
        </p:nvSpPr>
        <p:spPr>
          <a:xfrm>
            <a:off x="3059354" y="3246120"/>
            <a:ext cx="320040" cy="914"/>
          </a:xfrm>
          <a:prstGeom prst="line">
            <a:avLst/>
          </a:prstGeom>
          <a:noFill/>
          <a:ln w="31750">
            <a:solidFill>
              <a:srgbClr val="2A2238"/>
            </a:solidFill>
            <a:prstDash val="solid"/>
            <a:tailEnd type="triangle"/>
          </a:ln>
        </p:spPr>
      </p:sp>
      <p:sp>
        <p:nvSpPr>
          <p:cNvPr id="29" name="Shape 26"/>
          <p:cNvSpPr/>
          <p:nvPr/>
        </p:nvSpPr>
        <p:spPr>
          <a:xfrm>
            <a:off x="3425114" y="2286000"/>
            <a:ext cx="2464994" cy="1920240"/>
          </a:xfrm>
          <a:prstGeom prst="roundRect">
            <a:avLst>
              <a:gd name="adj" fmla="val 5714"/>
            </a:avLst>
          </a:prstGeom>
          <a:solidFill>
            <a:srgbClr val="F1E1EE"/>
          </a:solidFill>
          <a:ln w="19050">
            <a:solidFill>
              <a:srgbClr val="962B7C"/>
            </a:solidFill>
            <a:prstDash val="solid"/>
          </a:ln>
        </p:spPr>
      </p:sp>
      <p:sp>
        <p:nvSpPr>
          <p:cNvPr id="30" name="Shape 27"/>
          <p:cNvSpPr/>
          <p:nvPr/>
        </p:nvSpPr>
        <p:spPr>
          <a:xfrm>
            <a:off x="3653714" y="2468880"/>
            <a:ext cx="594360" cy="594360"/>
          </a:xfrm>
          <a:prstGeom prst="ellipse">
            <a:avLst/>
          </a:prstGeom>
          <a:solidFill>
            <a:srgbClr val="962B7C"/>
          </a:solidFill>
          <a:ln w="12700">
            <a:solidFill>
              <a:srgbClr val="962B7C"/>
            </a:solidFill>
            <a:prstDash val="solid"/>
          </a:ln>
        </p:spPr>
      </p:sp>
      <p:sp>
        <p:nvSpPr>
          <p:cNvPr id="31" name="Text 28"/>
          <p:cNvSpPr txBox="1"/>
          <p:nvPr/>
        </p:nvSpPr>
        <p:spPr>
          <a:xfrm>
            <a:off x="3653714" y="2468880"/>
            <a:ext cx="594360" cy="594360"/>
          </a:xfrm>
          <a:prstGeom prst="rect">
            <a:avLst/>
          </a:prstGeom>
          <a:noFill/>
          <a:ln/>
        </p:spPr>
        <p:txBody>
          <a:bodyPr wrap="square" lIns="0" tIns="0" rIns="0" bIns="0" rtlCol="0" anchor="ctr"/>
          <a:lstStyle/>
          <a:p>
            <a:pPr algn="ctr" indent="0" marL="0">
              <a:buNone/>
            </a:pPr>
            <a:r>
              <a:rPr lang="en-US" sz="2210" b="1" dirty="0">
                <a:solidFill>
                  <a:srgbClr val="FFFFFF"/>
                </a:solidFill>
                <a:latin typeface="Alexandria" pitchFamily="34" charset="0"/>
                <a:ea typeface="Alexandria" pitchFamily="34" charset="-122"/>
                <a:cs typeface="Alexandria" pitchFamily="34" charset="-120"/>
              </a:rPr>
              <a:t>2</a:t>
            </a:r>
            <a:endParaRPr lang="en-US" sz="2210" dirty="0"/>
          </a:p>
        </p:txBody>
      </p:sp>
      <p:sp>
        <p:nvSpPr>
          <p:cNvPr id="32" name="Text 29"/>
          <p:cNvSpPr txBox="1"/>
          <p:nvPr/>
        </p:nvSpPr>
        <p:spPr>
          <a:xfrm>
            <a:off x="3653714" y="3200400"/>
            <a:ext cx="2007794" cy="9144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Ảnh hưởng đến deliverable nào</a:t>
            </a:r>
            <a:endParaRPr lang="en-US" sz="1700" dirty="0"/>
          </a:p>
        </p:txBody>
      </p:sp>
      <p:sp>
        <p:nvSpPr>
          <p:cNvPr id="33" name="Shape 30"/>
          <p:cNvSpPr/>
          <p:nvPr/>
        </p:nvSpPr>
        <p:spPr>
          <a:xfrm>
            <a:off x="5935828" y="3246120"/>
            <a:ext cx="320040" cy="914"/>
          </a:xfrm>
          <a:prstGeom prst="line">
            <a:avLst/>
          </a:prstGeom>
          <a:noFill/>
          <a:ln w="31750">
            <a:solidFill>
              <a:srgbClr val="2A2238"/>
            </a:solidFill>
            <a:prstDash val="solid"/>
            <a:tailEnd type="triangle"/>
          </a:ln>
        </p:spPr>
      </p:sp>
      <p:sp>
        <p:nvSpPr>
          <p:cNvPr id="34" name="Shape 31"/>
          <p:cNvSpPr/>
          <p:nvPr/>
        </p:nvSpPr>
        <p:spPr>
          <a:xfrm>
            <a:off x="6301588" y="2286000"/>
            <a:ext cx="2464994" cy="1920240"/>
          </a:xfrm>
          <a:prstGeom prst="roundRect">
            <a:avLst>
              <a:gd name="adj" fmla="val 5714"/>
            </a:avLst>
          </a:prstGeom>
          <a:solidFill>
            <a:srgbClr val="DDF1FB"/>
          </a:solidFill>
          <a:ln w="19050">
            <a:solidFill>
              <a:srgbClr val="09A1E5"/>
            </a:solidFill>
            <a:prstDash val="solid"/>
          </a:ln>
        </p:spPr>
      </p:sp>
      <p:sp>
        <p:nvSpPr>
          <p:cNvPr id="35" name="Shape 32"/>
          <p:cNvSpPr/>
          <p:nvPr/>
        </p:nvSpPr>
        <p:spPr>
          <a:xfrm>
            <a:off x="6530188" y="2468880"/>
            <a:ext cx="594360" cy="594360"/>
          </a:xfrm>
          <a:prstGeom prst="ellipse">
            <a:avLst/>
          </a:prstGeom>
          <a:solidFill>
            <a:srgbClr val="09A1E5"/>
          </a:solidFill>
          <a:ln w="12700">
            <a:solidFill>
              <a:srgbClr val="09A1E5"/>
            </a:solidFill>
            <a:prstDash val="solid"/>
          </a:ln>
        </p:spPr>
      </p:sp>
      <p:sp>
        <p:nvSpPr>
          <p:cNvPr id="36" name="Text 33"/>
          <p:cNvSpPr txBox="1"/>
          <p:nvPr/>
        </p:nvSpPr>
        <p:spPr>
          <a:xfrm>
            <a:off x="6530188" y="2468880"/>
            <a:ext cx="594360" cy="594360"/>
          </a:xfrm>
          <a:prstGeom prst="rect">
            <a:avLst/>
          </a:prstGeom>
          <a:noFill/>
          <a:ln/>
        </p:spPr>
        <p:txBody>
          <a:bodyPr wrap="square" lIns="0" tIns="0" rIns="0" bIns="0" rtlCol="0" anchor="ctr"/>
          <a:lstStyle/>
          <a:p>
            <a:pPr algn="ctr" indent="0" marL="0">
              <a:buNone/>
            </a:pPr>
            <a:r>
              <a:rPr lang="en-US" sz="2210" b="1" dirty="0">
                <a:solidFill>
                  <a:srgbClr val="FFFFFF"/>
                </a:solidFill>
                <a:latin typeface="Alexandria" pitchFamily="34" charset="0"/>
                <a:ea typeface="Alexandria" pitchFamily="34" charset="-122"/>
                <a:cs typeface="Alexandria" pitchFamily="34" charset="-120"/>
              </a:rPr>
              <a:t>3</a:t>
            </a:r>
            <a:endParaRPr lang="en-US" sz="2210" dirty="0"/>
          </a:p>
        </p:txBody>
      </p:sp>
      <p:sp>
        <p:nvSpPr>
          <p:cNvPr id="37" name="Text 34"/>
          <p:cNvSpPr txBox="1"/>
          <p:nvPr/>
        </p:nvSpPr>
        <p:spPr>
          <a:xfrm>
            <a:off x="6530188" y="3200400"/>
            <a:ext cx="2007794" cy="9144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Nova đề xuất gì</a:t>
            </a:r>
            <a:endParaRPr lang="en-US" sz="1700" dirty="0"/>
          </a:p>
        </p:txBody>
      </p:sp>
      <p:sp>
        <p:nvSpPr>
          <p:cNvPr id="38" name="Shape 35"/>
          <p:cNvSpPr/>
          <p:nvPr/>
        </p:nvSpPr>
        <p:spPr>
          <a:xfrm>
            <a:off x="8812301" y="3246120"/>
            <a:ext cx="320040" cy="914"/>
          </a:xfrm>
          <a:prstGeom prst="line">
            <a:avLst/>
          </a:prstGeom>
          <a:noFill/>
          <a:ln w="31750">
            <a:solidFill>
              <a:srgbClr val="2A2238"/>
            </a:solidFill>
            <a:prstDash val="solid"/>
            <a:tailEnd type="triangle"/>
          </a:ln>
        </p:spPr>
      </p:sp>
      <p:sp>
        <p:nvSpPr>
          <p:cNvPr id="39" name="Shape 36"/>
          <p:cNvSpPr/>
          <p:nvPr/>
        </p:nvSpPr>
        <p:spPr>
          <a:xfrm>
            <a:off x="9178061" y="2286000"/>
            <a:ext cx="2464994" cy="1920240"/>
          </a:xfrm>
          <a:prstGeom prst="roundRect">
            <a:avLst>
              <a:gd name="adj" fmla="val 5714"/>
            </a:avLst>
          </a:prstGeom>
          <a:solidFill>
            <a:srgbClr val="E1F3EE"/>
          </a:solidFill>
          <a:ln w="19050">
            <a:solidFill>
              <a:srgbClr val="49B296"/>
            </a:solidFill>
            <a:prstDash val="solid"/>
          </a:ln>
        </p:spPr>
      </p:sp>
      <p:sp>
        <p:nvSpPr>
          <p:cNvPr id="40" name="Shape 37"/>
          <p:cNvSpPr/>
          <p:nvPr/>
        </p:nvSpPr>
        <p:spPr>
          <a:xfrm>
            <a:off x="9406661" y="2468880"/>
            <a:ext cx="594360" cy="594360"/>
          </a:xfrm>
          <a:prstGeom prst="ellipse">
            <a:avLst/>
          </a:prstGeom>
          <a:solidFill>
            <a:srgbClr val="49B296"/>
          </a:solidFill>
          <a:ln w="12700">
            <a:solidFill>
              <a:srgbClr val="49B296"/>
            </a:solidFill>
            <a:prstDash val="solid"/>
          </a:ln>
        </p:spPr>
      </p:sp>
      <p:sp>
        <p:nvSpPr>
          <p:cNvPr id="41" name="Text 38"/>
          <p:cNvSpPr txBox="1"/>
          <p:nvPr/>
        </p:nvSpPr>
        <p:spPr>
          <a:xfrm>
            <a:off x="9406661" y="2468880"/>
            <a:ext cx="594360" cy="594360"/>
          </a:xfrm>
          <a:prstGeom prst="rect">
            <a:avLst/>
          </a:prstGeom>
          <a:noFill/>
          <a:ln/>
        </p:spPr>
        <p:txBody>
          <a:bodyPr wrap="square" lIns="0" tIns="0" rIns="0" bIns="0" rtlCol="0" anchor="ctr"/>
          <a:lstStyle/>
          <a:p>
            <a:pPr algn="ctr" indent="0" marL="0">
              <a:buNone/>
            </a:pPr>
            <a:r>
              <a:rPr lang="en-US" sz="2210" b="1" dirty="0">
                <a:solidFill>
                  <a:srgbClr val="FFFFFF"/>
                </a:solidFill>
                <a:latin typeface="Alexandria" pitchFamily="34" charset="0"/>
                <a:ea typeface="Alexandria" pitchFamily="34" charset="-122"/>
                <a:cs typeface="Alexandria" pitchFamily="34" charset="-120"/>
              </a:rPr>
              <a:t>4</a:t>
            </a:r>
            <a:endParaRPr lang="en-US" sz="2210" dirty="0"/>
          </a:p>
        </p:txBody>
      </p:sp>
      <p:sp>
        <p:nvSpPr>
          <p:cNvPr id="42" name="Text 39"/>
          <p:cNvSpPr txBox="1"/>
          <p:nvPr/>
        </p:nvSpPr>
        <p:spPr>
          <a:xfrm>
            <a:off x="9406661" y="3200400"/>
            <a:ext cx="2007794" cy="9144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Cần anh Minh quyết gì</a:t>
            </a:r>
            <a:endParaRPr lang="en-US" sz="1700" dirty="0"/>
          </a:p>
        </p:txBody>
      </p:sp>
      <p:sp>
        <p:nvSpPr>
          <p:cNvPr id="43" name="Shape 40"/>
          <p:cNvSpPr/>
          <p:nvPr/>
        </p:nvSpPr>
        <p:spPr>
          <a:xfrm>
            <a:off x="548640" y="4526280"/>
            <a:ext cx="11094415" cy="1463040"/>
          </a:xfrm>
          <a:prstGeom prst="roundRect">
            <a:avLst>
              <a:gd name="adj" fmla="val 7500"/>
            </a:avLst>
          </a:prstGeom>
          <a:solidFill>
            <a:srgbClr val="FFE4EA"/>
          </a:solidFill>
          <a:ln w="12700">
            <a:solidFill>
              <a:srgbClr val="FF5178"/>
            </a:solidFill>
            <a:prstDash val="solid"/>
          </a:ln>
        </p:spPr>
      </p:sp>
      <p:sp>
        <p:nvSpPr>
          <p:cNvPr id="44" name="Text 41"/>
          <p:cNvSpPr txBox="1"/>
          <p:nvPr/>
        </p:nvSpPr>
        <p:spPr>
          <a:xfrm>
            <a:off x="868680" y="4526280"/>
            <a:ext cx="10454335" cy="146304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Key Account phát hiện muộn </a:t>
            </a:r>
            <a:pPr indent="0" marL="0">
              <a:buNone/>
            </a:pPr>
            <a:r>
              <a:rPr lang="en-US" sz="1700" dirty="0">
                <a:solidFill>
                  <a:srgbClr val="2A2238"/>
                </a:solidFill>
                <a:latin typeface="Alexandria" pitchFamily="34" charset="0"/>
                <a:ea typeface="Alexandria" pitchFamily="34" charset="-122"/>
                <a:cs typeface="Alexandria" pitchFamily="34" charset="-120"/>
              </a:rPr>
              <a:t>còn mất niềm tin hơn là nghe tin xấu sớm — cam kết và niềm tin là nền của quan hệ (Morgan &amp; Hunt).</a:t>
            </a:r>
            <a:endParaRPr lang="en-US" sz="1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Trách nhiệm quy cho ai quyết định cách phản hồi</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Y08: Coombs (2007), Corporate Reputation Review — SCCT.</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20</a:t>
            </a:r>
            <a:endParaRPr lang="en-US" sz="1000" dirty="0"/>
          </a:p>
        </p:txBody>
      </p:sp>
      <p:sp>
        <p:nvSpPr>
          <p:cNvPr id="23" name="Shape 20"/>
          <p:cNvSpPr/>
          <p:nvPr/>
        </p:nvSpPr>
        <p:spPr>
          <a:xfrm>
            <a:off x="1603218" y="3657600"/>
            <a:ext cx="1406103" cy="1097280"/>
          </a:xfrm>
          <a:prstGeom prst="rect">
            <a:avLst/>
          </a:prstGeom>
          <a:solidFill>
            <a:srgbClr val="49B296"/>
          </a:solidFill>
          <a:ln w="12700">
            <a:solidFill>
              <a:srgbClr val="49B296"/>
            </a:solidFill>
            <a:prstDash val="solid"/>
          </a:ln>
        </p:spPr>
      </p:sp>
      <p:sp>
        <p:nvSpPr>
          <p:cNvPr id="24" name="Text 21"/>
          <p:cNvSpPr txBox="1"/>
          <p:nvPr/>
        </p:nvSpPr>
        <p:spPr>
          <a:xfrm>
            <a:off x="548640" y="3246120"/>
            <a:ext cx="3515258" cy="36576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Rất thấp</a:t>
            </a:r>
            <a:endParaRPr lang="en-US" sz="1400" dirty="0"/>
          </a:p>
        </p:txBody>
      </p:sp>
      <p:sp>
        <p:nvSpPr>
          <p:cNvPr id="25" name="Shape 22"/>
          <p:cNvSpPr/>
          <p:nvPr/>
        </p:nvSpPr>
        <p:spPr>
          <a:xfrm>
            <a:off x="548640" y="4892040"/>
            <a:ext cx="3515258" cy="1097280"/>
          </a:xfrm>
          <a:prstGeom prst="roundRect">
            <a:avLst>
              <a:gd name="adj" fmla="val 10000"/>
            </a:avLst>
          </a:prstGeom>
          <a:solidFill>
            <a:srgbClr val="E1F3EE"/>
          </a:solidFill>
          <a:ln w="12700">
            <a:solidFill>
              <a:srgbClr val="49B296"/>
            </a:solidFill>
            <a:prstDash val="solid"/>
          </a:ln>
        </p:spPr>
      </p:sp>
      <p:sp>
        <p:nvSpPr>
          <p:cNvPr id="26" name="Text 23"/>
          <p:cNvSpPr txBox="1"/>
          <p:nvPr/>
        </p:nvSpPr>
        <p:spPr>
          <a:xfrm>
            <a:off x="731520" y="4892040"/>
            <a:ext cx="3149498" cy="10972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Nạn nhân</a:t>
            </a:r>
            <a:endParaRPr lang="en-US" sz="1700" dirty="0"/>
          </a:p>
          <a:p>
            <a:pPr algn="ctr" indent="0" marL="0">
              <a:buNone/>
            </a:pPr>
            <a:r>
              <a:rPr lang="en-US" sz="1200" dirty="0">
                <a:solidFill>
                  <a:srgbClr val="6E6878"/>
                </a:solidFill>
                <a:latin typeface="Alexandria" pitchFamily="34" charset="0"/>
                <a:ea typeface="Alexandria" pitchFamily="34" charset="-122"/>
                <a:cs typeface="Alexandria" pitchFamily="34" charset="-120"/>
              </a:rPr>
              <a:t>victim · Tin đồn, thiên tai</a:t>
            </a:r>
            <a:endParaRPr lang="en-US" sz="1700" dirty="0"/>
          </a:p>
        </p:txBody>
      </p:sp>
      <p:sp>
        <p:nvSpPr>
          <p:cNvPr id="27" name="Shape 24"/>
          <p:cNvSpPr/>
          <p:nvPr/>
        </p:nvSpPr>
        <p:spPr>
          <a:xfrm>
            <a:off x="5392796" y="2834640"/>
            <a:ext cx="1406103" cy="1920240"/>
          </a:xfrm>
          <a:prstGeom prst="rect">
            <a:avLst/>
          </a:prstGeom>
          <a:solidFill>
            <a:srgbClr val="FF9259"/>
          </a:solidFill>
          <a:ln w="12700">
            <a:solidFill>
              <a:srgbClr val="FF9259"/>
            </a:solidFill>
            <a:prstDash val="solid"/>
          </a:ln>
        </p:spPr>
      </p:sp>
      <p:sp>
        <p:nvSpPr>
          <p:cNvPr id="28" name="Text 25"/>
          <p:cNvSpPr txBox="1"/>
          <p:nvPr/>
        </p:nvSpPr>
        <p:spPr>
          <a:xfrm>
            <a:off x="4338218" y="2423160"/>
            <a:ext cx="3515258" cy="36576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Thấp</a:t>
            </a:r>
            <a:endParaRPr lang="en-US" sz="1400" dirty="0"/>
          </a:p>
        </p:txBody>
      </p:sp>
      <p:sp>
        <p:nvSpPr>
          <p:cNvPr id="29" name="Shape 26"/>
          <p:cNvSpPr/>
          <p:nvPr/>
        </p:nvSpPr>
        <p:spPr>
          <a:xfrm>
            <a:off x="4338218" y="4892040"/>
            <a:ext cx="3515258" cy="1097280"/>
          </a:xfrm>
          <a:prstGeom prst="roundRect">
            <a:avLst>
              <a:gd name="adj" fmla="val 10000"/>
            </a:avLst>
          </a:prstGeom>
          <a:solidFill>
            <a:srgbClr val="FFE9DE"/>
          </a:solidFill>
          <a:ln w="12700">
            <a:solidFill>
              <a:srgbClr val="FF9259"/>
            </a:solidFill>
            <a:prstDash val="solid"/>
          </a:ln>
        </p:spPr>
      </p:sp>
      <p:sp>
        <p:nvSpPr>
          <p:cNvPr id="30" name="Text 27"/>
          <p:cNvSpPr txBox="1"/>
          <p:nvPr/>
        </p:nvSpPr>
        <p:spPr>
          <a:xfrm>
            <a:off x="4521098" y="4892040"/>
            <a:ext cx="3149498" cy="10972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Tai nạn</a:t>
            </a:r>
            <a:endParaRPr lang="en-US" sz="1700" dirty="0"/>
          </a:p>
          <a:p>
            <a:pPr algn="ctr" indent="0" marL="0">
              <a:buNone/>
            </a:pPr>
            <a:r>
              <a:rPr lang="en-US" sz="1200" dirty="0">
                <a:solidFill>
                  <a:srgbClr val="6E6878"/>
                </a:solidFill>
                <a:latin typeface="Alexandria" pitchFamily="34" charset="0"/>
                <a:ea typeface="Alexandria" pitchFamily="34" charset="-122"/>
                <a:cs typeface="Alexandria" pitchFamily="34" charset="-120"/>
              </a:rPr>
              <a:t>accidental · Lỗi kỹ thuật</a:t>
            </a:r>
            <a:endParaRPr lang="en-US" sz="1700" dirty="0"/>
          </a:p>
        </p:txBody>
      </p:sp>
      <p:sp>
        <p:nvSpPr>
          <p:cNvPr id="31" name="Shape 28"/>
          <p:cNvSpPr/>
          <p:nvPr/>
        </p:nvSpPr>
        <p:spPr>
          <a:xfrm>
            <a:off x="9182374" y="2011680"/>
            <a:ext cx="1406103" cy="2743200"/>
          </a:xfrm>
          <a:prstGeom prst="rect">
            <a:avLst/>
          </a:prstGeom>
          <a:solidFill>
            <a:srgbClr val="FF5178"/>
          </a:solidFill>
          <a:ln w="12700">
            <a:solidFill>
              <a:srgbClr val="FF5178"/>
            </a:solidFill>
            <a:prstDash val="solid"/>
          </a:ln>
        </p:spPr>
      </p:sp>
      <p:sp>
        <p:nvSpPr>
          <p:cNvPr id="32" name="Text 29"/>
          <p:cNvSpPr txBox="1"/>
          <p:nvPr/>
        </p:nvSpPr>
        <p:spPr>
          <a:xfrm>
            <a:off x="8127797" y="1600200"/>
            <a:ext cx="3515258" cy="365760"/>
          </a:xfrm>
          <a:prstGeom prst="rect">
            <a:avLst/>
          </a:prstGeom>
          <a:noFill/>
          <a:ln/>
        </p:spPr>
        <p:txBody>
          <a:bodyPr wrap="square" lIns="0" tIns="0" rIns="0" bIns="0" rtlCol="0" anchor="ctr"/>
          <a:lstStyle/>
          <a:p>
            <a:pPr algn="ctr" indent="0" marL="0">
              <a:buNone/>
            </a:pPr>
            <a:r>
              <a:rPr lang="en-US" sz="1400" b="1" dirty="0">
                <a:solidFill>
                  <a:srgbClr val="2A2238"/>
                </a:solidFill>
                <a:latin typeface="Alexandria" pitchFamily="34" charset="0"/>
                <a:ea typeface="Alexandria" pitchFamily="34" charset="-122"/>
                <a:cs typeface="Alexandria" pitchFamily="34" charset="-120"/>
              </a:rPr>
              <a:t>Rất cao</a:t>
            </a:r>
            <a:endParaRPr lang="en-US" sz="1400" dirty="0"/>
          </a:p>
        </p:txBody>
      </p:sp>
      <p:sp>
        <p:nvSpPr>
          <p:cNvPr id="33" name="Shape 30"/>
          <p:cNvSpPr/>
          <p:nvPr/>
        </p:nvSpPr>
        <p:spPr>
          <a:xfrm>
            <a:off x="8127797" y="4892040"/>
            <a:ext cx="3515258" cy="1097280"/>
          </a:xfrm>
          <a:prstGeom prst="roundRect">
            <a:avLst>
              <a:gd name="adj" fmla="val 10000"/>
            </a:avLst>
          </a:prstGeom>
          <a:solidFill>
            <a:srgbClr val="FFE4EA"/>
          </a:solidFill>
          <a:ln w="12700">
            <a:solidFill>
              <a:srgbClr val="FF5178"/>
            </a:solidFill>
            <a:prstDash val="solid"/>
          </a:ln>
        </p:spPr>
      </p:sp>
      <p:sp>
        <p:nvSpPr>
          <p:cNvPr id="34" name="Text 31"/>
          <p:cNvSpPr txBox="1"/>
          <p:nvPr/>
        </p:nvSpPr>
        <p:spPr>
          <a:xfrm>
            <a:off x="8310677" y="4892040"/>
            <a:ext cx="3149498" cy="109728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Có thể ngăn ngừa</a:t>
            </a:r>
            <a:endParaRPr lang="en-US" sz="1700" dirty="0"/>
          </a:p>
          <a:p>
            <a:pPr algn="ctr" indent="0" marL="0">
              <a:buNone/>
            </a:pPr>
            <a:r>
              <a:rPr lang="en-US" sz="1200" dirty="0">
                <a:solidFill>
                  <a:srgbClr val="6E6878"/>
                </a:solidFill>
                <a:latin typeface="Alexandria" pitchFamily="34" charset="0"/>
                <a:ea typeface="Alexandria" pitchFamily="34" charset="-122"/>
                <a:cs typeface="Alexandria" pitchFamily="34" charset="-120"/>
              </a:rPr>
              <a:t>preventable · Lỗi con người, sai phạm</a:t>
            </a:r>
            <a:endParaRPr lang="en-US" sz="1700" dirty="0"/>
          </a:p>
        </p:txBody>
      </p:sp>
      <p:sp>
        <p:nvSpPr>
          <p:cNvPr id="35" name="Text 32"/>
          <p:cNvSpPr txBox="1"/>
          <p:nvPr/>
        </p:nvSpPr>
        <p:spPr>
          <a:xfrm>
            <a:off x="548640" y="1783080"/>
            <a:ext cx="11094415" cy="365760"/>
          </a:xfrm>
          <a:prstGeom prst="rect">
            <a:avLst/>
          </a:prstGeom>
          <a:noFill/>
          <a:ln/>
        </p:spPr>
        <p:txBody>
          <a:bodyPr wrap="square" lIns="0" tIns="0" rIns="0" bIns="0" rtlCol="0" anchor="ctr"/>
          <a:lstStyle/>
          <a:p>
            <a:pPr indent="0" marL="0">
              <a:buNone/>
            </a:pPr>
            <a:r>
              <a:rPr lang="en-US" sz="1400" b="1" dirty="0">
                <a:solidFill>
                  <a:srgbClr val="6E6878"/>
                </a:solidFill>
                <a:latin typeface="Alexandria" pitchFamily="34" charset="0"/>
                <a:ea typeface="Alexandria" pitchFamily="34" charset="-122"/>
                <a:cs typeface="Alexandria" pitchFamily="34" charset="-120"/>
              </a:rPr>
              <a:t>Trách nhiệm khách quy cho tổ chức →</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Phủ nhận, giảm nhẹ hay xây lại</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Y08: Coombs (2007).</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21</a:t>
            </a:r>
            <a:endParaRPr lang="en-US" sz="1000" dirty="0"/>
          </a:p>
        </p:txBody>
      </p:sp>
      <p:sp>
        <p:nvSpPr>
          <p:cNvPr id="23" name="Shape 20"/>
          <p:cNvSpPr/>
          <p:nvPr/>
        </p:nvSpPr>
        <p:spPr>
          <a:xfrm>
            <a:off x="548640" y="1874520"/>
            <a:ext cx="3515258" cy="2103120"/>
          </a:xfrm>
          <a:prstGeom prst="roundRect">
            <a:avLst>
              <a:gd name="adj" fmla="val 5217"/>
            </a:avLst>
          </a:prstGeom>
          <a:solidFill>
            <a:srgbClr val="FFFFFF"/>
          </a:solidFill>
          <a:ln w="19050">
            <a:solidFill>
              <a:srgbClr val="6E6878"/>
            </a:solidFill>
            <a:prstDash val="solid"/>
          </a:ln>
        </p:spPr>
      </p:sp>
      <p:sp>
        <p:nvSpPr>
          <p:cNvPr id="24" name="Text 21"/>
          <p:cNvSpPr txBox="1"/>
          <p:nvPr/>
        </p:nvSpPr>
        <p:spPr>
          <a:xfrm>
            <a:off x="822960" y="2057400"/>
            <a:ext cx="2966618" cy="731520"/>
          </a:xfrm>
          <a:prstGeom prst="rect">
            <a:avLst/>
          </a:prstGeom>
          <a:noFill/>
          <a:ln/>
        </p:spPr>
        <p:txBody>
          <a:bodyPr wrap="square" lIns="0" tIns="0" rIns="0" bIns="0" rtlCol="0" anchor="ctr"/>
          <a:lstStyle/>
          <a:p>
            <a:pPr indent="0" marL="0">
              <a:buNone/>
            </a:pPr>
            <a:r>
              <a:rPr lang="en-US" sz="3000" b="1" dirty="0">
                <a:solidFill>
                  <a:srgbClr val="6E6878"/>
                </a:solidFill>
                <a:latin typeface="Alexandria" pitchFamily="34" charset="0"/>
                <a:ea typeface="Alexandria" pitchFamily="34" charset="-122"/>
                <a:cs typeface="Alexandria" pitchFamily="34" charset="-120"/>
              </a:rPr>
              <a:t>Deny</a:t>
            </a:r>
            <a:endParaRPr lang="en-US" sz="3000" dirty="0"/>
          </a:p>
        </p:txBody>
      </p:sp>
      <p:sp>
        <p:nvSpPr>
          <p:cNvPr id="25" name="Text 22"/>
          <p:cNvSpPr txBox="1"/>
          <p:nvPr/>
        </p:nvSpPr>
        <p:spPr>
          <a:xfrm>
            <a:off x="822960" y="2880360"/>
            <a:ext cx="2966618" cy="914400"/>
          </a:xfrm>
          <a:prstGeom prst="rect">
            <a:avLst/>
          </a:prstGeom>
          <a:noFill/>
          <a:ln/>
        </p:spPr>
        <p:txBody>
          <a:bodyPr wrap="square" lIns="0" tIns="0" rIns="0" bIns="0" rtlCol="0" anchor="t"/>
          <a:lstStyle/>
          <a:p>
            <a:pPr indent="0" marL="0">
              <a:buNone/>
            </a:pPr>
            <a:r>
              <a:rPr lang="en-US" sz="1800" dirty="0">
                <a:solidFill>
                  <a:srgbClr val="2A2238"/>
                </a:solidFill>
                <a:latin typeface="Alexandria" pitchFamily="34" charset="0"/>
                <a:ea typeface="Alexandria" pitchFamily="34" charset="-122"/>
                <a:cs typeface="Alexandria" pitchFamily="34" charset="-120"/>
              </a:rPr>
              <a:t>Phủ nhận, đổ lỗi</a:t>
            </a:r>
            <a:endParaRPr lang="en-US" sz="1800" dirty="0"/>
          </a:p>
        </p:txBody>
      </p:sp>
      <p:sp>
        <p:nvSpPr>
          <p:cNvPr id="26" name="Shape 23"/>
          <p:cNvSpPr/>
          <p:nvPr/>
        </p:nvSpPr>
        <p:spPr>
          <a:xfrm>
            <a:off x="4338218" y="1874520"/>
            <a:ext cx="3515258" cy="2103120"/>
          </a:xfrm>
          <a:prstGeom prst="roundRect">
            <a:avLst>
              <a:gd name="adj" fmla="val 5217"/>
            </a:avLst>
          </a:prstGeom>
          <a:solidFill>
            <a:srgbClr val="FFE9DE"/>
          </a:solidFill>
          <a:ln w="19050">
            <a:solidFill>
              <a:srgbClr val="FF9259"/>
            </a:solidFill>
            <a:prstDash val="solid"/>
          </a:ln>
        </p:spPr>
      </p:sp>
      <p:sp>
        <p:nvSpPr>
          <p:cNvPr id="27" name="Text 24"/>
          <p:cNvSpPr txBox="1"/>
          <p:nvPr/>
        </p:nvSpPr>
        <p:spPr>
          <a:xfrm>
            <a:off x="4612538" y="2057400"/>
            <a:ext cx="2966618" cy="731520"/>
          </a:xfrm>
          <a:prstGeom prst="rect">
            <a:avLst/>
          </a:prstGeom>
          <a:noFill/>
          <a:ln/>
        </p:spPr>
        <p:txBody>
          <a:bodyPr wrap="square" lIns="0" tIns="0" rIns="0" bIns="0" rtlCol="0" anchor="ctr"/>
          <a:lstStyle/>
          <a:p>
            <a:pPr indent="0" marL="0">
              <a:buNone/>
            </a:pPr>
            <a:r>
              <a:rPr lang="en-US" sz="3000" b="1" dirty="0">
                <a:solidFill>
                  <a:srgbClr val="D9622B"/>
                </a:solidFill>
                <a:latin typeface="Alexandria" pitchFamily="34" charset="0"/>
                <a:ea typeface="Alexandria" pitchFamily="34" charset="-122"/>
                <a:cs typeface="Alexandria" pitchFamily="34" charset="-120"/>
              </a:rPr>
              <a:t>Diminish</a:t>
            </a:r>
            <a:endParaRPr lang="en-US" sz="3000" dirty="0"/>
          </a:p>
        </p:txBody>
      </p:sp>
      <p:sp>
        <p:nvSpPr>
          <p:cNvPr id="28" name="Text 25"/>
          <p:cNvSpPr txBox="1"/>
          <p:nvPr/>
        </p:nvSpPr>
        <p:spPr>
          <a:xfrm>
            <a:off x="4612538" y="2880360"/>
            <a:ext cx="2966618" cy="914400"/>
          </a:xfrm>
          <a:prstGeom prst="rect">
            <a:avLst/>
          </a:prstGeom>
          <a:noFill/>
          <a:ln/>
        </p:spPr>
        <p:txBody>
          <a:bodyPr wrap="square" lIns="0" tIns="0" rIns="0" bIns="0" rtlCol="0" anchor="t"/>
          <a:lstStyle/>
          <a:p>
            <a:pPr indent="0" marL="0">
              <a:buNone/>
            </a:pPr>
            <a:r>
              <a:rPr lang="en-US" sz="1800" dirty="0">
                <a:solidFill>
                  <a:srgbClr val="2A2238"/>
                </a:solidFill>
                <a:latin typeface="Alexandria" pitchFamily="34" charset="0"/>
                <a:ea typeface="Alexandria" pitchFamily="34" charset="-122"/>
                <a:cs typeface="Alexandria" pitchFamily="34" charset="-120"/>
              </a:rPr>
              <a:t>Bào chữa, biện minh</a:t>
            </a:r>
            <a:endParaRPr lang="en-US" sz="1800" dirty="0"/>
          </a:p>
        </p:txBody>
      </p:sp>
      <p:sp>
        <p:nvSpPr>
          <p:cNvPr id="29" name="Shape 26"/>
          <p:cNvSpPr/>
          <p:nvPr/>
        </p:nvSpPr>
        <p:spPr>
          <a:xfrm>
            <a:off x="8127797" y="1874520"/>
            <a:ext cx="3515258" cy="2103120"/>
          </a:xfrm>
          <a:prstGeom prst="roundRect">
            <a:avLst>
              <a:gd name="adj" fmla="val 5217"/>
            </a:avLst>
          </a:prstGeom>
          <a:solidFill>
            <a:srgbClr val="F1E1EE"/>
          </a:solidFill>
          <a:ln w="19050">
            <a:solidFill>
              <a:srgbClr val="962B7C"/>
            </a:solidFill>
            <a:prstDash val="solid"/>
          </a:ln>
        </p:spPr>
      </p:sp>
      <p:sp>
        <p:nvSpPr>
          <p:cNvPr id="30" name="Text 27"/>
          <p:cNvSpPr txBox="1"/>
          <p:nvPr/>
        </p:nvSpPr>
        <p:spPr>
          <a:xfrm>
            <a:off x="8402117" y="2057400"/>
            <a:ext cx="2966618" cy="731520"/>
          </a:xfrm>
          <a:prstGeom prst="rect">
            <a:avLst/>
          </a:prstGeom>
          <a:noFill/>
          <a:ln/>
        </p:spPr>
        <p:txBody>
          <a:bodyPr wrap="square" lIns="0" tIns="0" rIns="0" bIns="0" rtlCol="0" anchor="ctr"/>
          <a:lstStyle/>
          <a:p>
            <a:pPr indent="0" marL="0">
              <a:buNone/>
            </a:pPr>
            <a:r>
              <a:rPr lang="en-US" sz="3000" b="1" dirty="0">
                <a:solidFill>
                  <a:srgbClr val="962B7C"/>
                </a:solidFill>
                <a:latin typeface="Alexandria" pitchFamily="34" charset="0"/>
                <a:ea typeface="Alexandria" pitchFamily="34" charset="-122"/>
                <a:cs typeface="Alexandria" pitchFamily="34" charset="-120"/>
              </a:rPr>
              <a:t>Rebuild</a:t>
            </a:r>
            <a:endParaRPr lang="en-US" sz="3000" dirty="0"/>
          </a:p>
        </p:txBody>
      </p:sp>
      <p:sp>
        <p:nvSpPr>
          <p:cNvPr id="31" name="Text 28"/>
          <p:cNvSpPr txBox="1"/>
          <p:nvPr/>
        </p:nvSpPr>
        <p:spPr>
          <a:xfrm>
            <a:off x="8402117" y="2880360"/>
            <a:ext cx="2966618" cy="914400"/>
          </a:xfrm>
          <a:prstGeom prst="rect">
            <a:avLst/>
          </a:prstGeom>
          <a:noFill/>
          <a:ln/>
        </p:spPr>
        <p:txBody>
          <a:bodyPr wrap="square" lIns="0" tIns="0" rIns="0" bIns="0" rtlCol="0" anchor="t"/>
          <a:lstStyle/>
          <a:p>
            <a:pPr indent="0" marL="0">
              <a:buNone/>
            </a:pPr>
            <a:r>
              <a:rPr lang="en-US" sz="1800" dirty="0">
                <a:solidFill>
                  <a:srgbClr val="2A2238"/>
                </a:solidFill>
                <a:latin typeface="Alexandria" pitchFamily="34" charset="0"/>
                <a:ea typeface="Alexandria" pitchFamily="34" charset="-122"/>
                <a:cs typeface="Alexandria" pitchFamily="34" charset="-120"/>
              </a:rPr>
              <a:t>Bồi thường, xin lỗi</a:t>
            </a:r>
            <a:endParaRPr lang="en-US" sz="1800" dirty="0"/>
          </a:p>
        </p:txBody>
      </p:sp>
      <p:sp>
        <p:nvSpPr>
          <p:cNvPr id="32" name="Shape 29"/>
          <p:cNvSpPr/>
          <p:nvPr/>
        </p:nvSpPr>
        <p:spPr>
          <a:xfrm>
            <a:off x="548640" y="4251960"/>
            <a:ext cx="5486400" cy="1737360"/>
          </a:xfrm>
          <a:prstGeom prst="roundRect">
            <a:avLst>
              <a:gd name="adj" fmla="val 6316"/>
            </a:avLst>
          </a:prstGeom>
          <a:solidFill>
            <a:srgbClr val="E1F3EE"/>
          </a:solidFill>
          <a:ln w="12700">
            <a:solidFill>
              <a:srgbClr val="49B296"/>
            </a:solidFill>
            <a:prstDash val="solid"/>
          </a:ln>
        </p:spPr>
      </p:sp>
      <p:sp>
        <p:nvSpPr>
          <p:cNvPr id="33" name="Text 30"/>
          <p:cNvSpPr txBox="1"/>
          <p:nvPr/>
        </p:nvSpPr>
        <p:spPr>
          <a:xfrm>
            <a:off x="822960" y="4251960"/>
            <a:ext cx="4937760" cy="173736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Bổ trợ: Bolstering</a:t>
            </a:r>
            <a:endParaRPr lang="en-US" sz="1900" dirty="0"/>
          </a:p>
          <a:p>
            <a:pPr indent="0" marL="0">
              <a:buNone/>
            </a:pPr>
            <a:r>
              <a:rPr lang="en-US" sz="1500" dirty="0">
                <a:solidFill>
                  <a:srgbClr val="2A2238"/>
                </a:solidFill>
                <a:latin typeface="Alexandria" pitchFamily="34" charset="0"/>
                <a:ea typeface="Alexandria" pitchFamily="34" charset="-122"/>
                <a:cs typeface="Alexandria" pitchFamily="34" charset="-120"/>
              </a:rPr>
              <a:t>nhắc việc tốt đã làm, tri ân các bên</a:t>
            </a:r>
            <a:endParaRPr lang="en-US" sz="1900" dirty="0"/>
          </a:p>
        </p:txBody>
      </p:sp>
      <p:sp>
        <p:nvSpPr>
          <p:cNvPr id="34" name="Shape 31"/>
          <p:cNvSpPr/>
          <p:nvPr/>
        </p:nvSpPr>
        <p:spPr>
          <a:xfrm>
            <a:off x="6309360" y="4251960"/>
            <a:ext cx="5333695" cy="1737360"/>
          </a:xfrm>
          <a:prstGeom prst="roundRect">
            <a:avLst>
              <a:gd name="adj" fmla="val 6316"/>
            </a:avLst>
          </a:prstGeom>
          <a:solidFill>
            <a:srgbClr val="FFF3C4"/>
          </a:solidFill>
          <a:ln w="12700">
            <a:solidFill>
              <a:srgbClr val="FFD23B"/>
            </a:solidFill>
            <a:prstDash val="solid"/>
          </a:ln>
        </p:spPr>
      </p:sp>
      <p:sp>
        <p:nvSpPr>
          <p:cNvPr id="35" name="Text 32"/>
          <p:cNvSpPr txBox="1"/>
          <p:nvPr/>
        </p:nvSpPr>
        <p:spPr>
          <a:xfrm>
            <a:off x="6583680" y="4251960"/>
            <a:ext cx="4785055" cy="1737360"/>
          </a:xfrm>
          <a:prstGeom prst="rect">
            <a:avLst/>
          </a:prstGeom>
          <a:noFill/>
          <a:ln/>
        </p:spPr>
        <p:txBody>
          <a:bodyPr wrap="square" lIns="0" tIns="0" rIns="0" bIns="0" rtlCol="0" anchor="ctr"/>
          <a:lstStyle/>
          <a:p>
            <a:pPr indent="0" marL="0">
              <a:buNone/>
            </a:pPr>
            <a:r>
              <a:rPr lang="en-US" sz="1700" b="1" dirty="0">
                <a:solidFill>
                  <a:srgbClr val="2A2238"/>
                </a:solidFill>
                <a:latin typeface="Alexandria" pitchFamily="34" charset="0"/>
                <a:ea typeface="Alexandria" pitchFamily="34" charset="-122"/>
                <a:cs typeface="Alexandria" pitchFamily="34" charset="-120"/>
              </a:rPr>
              <a:t>Luôn: </a:t>
            </a:r>
            <a:pPr indent="0" marL="0">
              <a:buNone/>
            </a:pPr>
            <a:r>
              <a:rPr lang="en-US" sz="1700" dirty="0">
                <a:solidFill>
                  <a:srgbClr val="2A2238"/>
                </a:solidFill>
                <a:latin typeface="Alexandria" pitchFamily="34" charset="0"/>
                <a:ea typeface="Alexandria" pitchFamily="34" charset="-122"/>
                <a:cs typeface="Alexandria" pitchFamily="34" charset="-120"/>
              </a:rPr>
              <a:t>bày tỏ quan tâm đến người bị ảnh hưởng — giúp giảm cảm xúc tiêu cực.</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Khi một đối tác gây sự cố, Nova xác minh và khuyến nghị — Key Account quyết</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Nhận định của người soạn · X06 (Buổi 11): VnExpress, Thanh Niên, Dân trí, VTC News · due diligence: Buổi 11.</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22</a:t>
            </a:r>
            <a:endParaRPr lang="en-US" sz="1000" dirty="0"/>
          </a:p>
        </p:txBody>
      </p:sp>
      <p:sp>
        <p:nvSpPr>
          <p:cNvPr id="23" name="Shape 20"/>
          <p:cNvSpPr/>
          <p:nvPr/>
        </p:nvSpPr>
        <p:spPr>
          <a:xfrm>
            <a:off x="548640" y="1874520"/>
            <a:ext cx="3246120" cy="1645920"/>
          </a:xfrm>
          <a:prstGeom prst="roundRect">
            <a:avLst>
              <a:gd name="adj" fmla="val 6667"/>
            </a:avLst>
          </a:prstGeom>
          <a:solidFill>
            <a:srgbClr val="FFE9DE"/>
          </a:solidFill>
          <a:ln w="19050">
            <a:solidFill>
              <a:srgbClr val="FF9259"/>
            </a:solidFill>
            <a:prstDash val="solid"/>
          </a:ln>
        </p:spPr>
      </p:sp>
      <p:sp>
        <p:nvSpPr>
          <p:cNvPr id="24" name="Shape 21"/>
          <p:cNvSpPr/>
          <p:nvPr/>
        </p:nvSpPr>
        <p:spPr>
          <a:xfrm>
            <a:off x="777240" y="2011680"/>
            <a:ext cx="1371600" cy="384048"/>
          </a:xfrm>
          <a:prstGeom prst="roundRect">
            <a:avLst>
              <a:gd name="adj" fmla="val 50000"/>
            </a:avLst>
          </a:prstGeom>
          <a:solidFill>
            <a:srgbClr val="FF9259"/>
          </a:solidFill>
          <a:ln w="12700">
            <a:solidFill>
              <a:srgbClr val="FF9259"/>
            </a:solidFill>
            <a:prstDash val="solid"/>
          </a:ln>
        </p:spPr>
      </p:sp>
      <p:sp>
        <p:nvSpPr>
          <p:cNvPr id="25" name="Text 22"/>
          <p:cNvSpPr txBox="1"/>
          <p:nvPr/>
        </p:nvSpPr>
        <p:spPr>
          <a:xfrm>
            <a:off x="850392" y="2011680"/>
            <a:ext cx="1225296" cy="384048"/>
          </a:xfrm>
          <a:prstGeom prst="rect">
            <a:avLst/>
          </a:prstGeom>
          <a:noFill/>
          <a:ln/>
        </p:spPr>
        <p:txBody>
          <a:bodyPr wrap="square" lIns="0" tIns="0" rIns="0" bIns="0" rtlCol="0" anchor="ctr"/>
          <a:lstStyle/>
          <a:p>
            <a:pPr algn="ctr" indent="0" marL="0">
              <a:buNone/>
            </a:pPr>
            <a:r>
              <a:rPr lang="en-US" sz="1200" b="1" dirty="0">
                <a:solidFill>
                  <a:srgbClr val="2A2238"/>
                </a:solidFill>
                <a:latin typeface="Alexandria" pitchFamily="34" charset="0"/>
                <a:ea typeface="Alexandria" pitchFamily="34" charset="-122"/>
                <a:cs typeface="Alexandria" pitchFamily="34" charset="-120"/>
              </a:rPr>
              <a:t>Nova</a:t>
            </a:r>
            <a:endParaRPr lang="en-US" sz="1200" dirty="0"/>
          </a:p>
        </p:txBody>
      </p:sp>
      <p:sp>
        <p:nvSpPr>
          <p:cNvPr id="26" name="Text 23"/>
          <p:cNvSpPr txBox="1"/>
          <p:nvPr/>
        </p:nvSpPr>
        <p:spPr>
          <a:xfrm>
            <a:off x="777240" y="2514600"/>
            <a:ext cx="2788920" cy="9144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Xác minh sự việc</a:t>
            </a:r>
            <a:endParaRPr lang="en-US" sz="1700" dirty="0"/>
          </a:p>
        </p:txBody>
      </p:sp>
      <p:sp>
        <p:nvSpPr>
          <p:cNvPr id="27" name="Shape 24"/>
          <p:cNvSpPr/>
          <p:nvPr/>
        </p:nvSpPr>
        <p:spPr>
          <a:xfrm>
            <a:off x="3867912" y="2697480"/>
            <a:ext cx="356616" cy="914"/>
          </a:xfrm>
          <a:prstGeom prst="line">
            <a:avLst/>
          </a:prstGeom>
          <a:noFill/>
          <a:ln w="31750">
            <a:solidFill>
              <a:srgbClr val="2A2238"/>
            </a:solidFill>
            <a:prstDash val="solid"/>
            <a:tailEnd type="triangle"/>
          </a:ln>
        </p:spPr>
      </p:sp>
      <p:sp>
        <p:nvSpPr>
          <p:cNvPr id="28" name="Shape 25"/>
          <p:cNvSpPr/>
          <p:nvPr/>
        </p:nvSpPr>
        <p:spPr>
          <a:xfrm>
            <a:off x="4297680" y="1874520"/>
            <a:ext cx="3246120" cy="1645920"/>
          </a:xfrm>
          <a:prstGeom prst="roundRect">
            <a:avLst>
              <a:gd name="adj" fmla="val 6667"/>
            </a:avLst>
          </a:prstGeom>
          <a:solidFill>
            <a:srgbClr val="DDF1FB"/>
          </a:solidFill>
          <a:ln w="19050">
            <a:solidFill>
              <a:srgbClr val="09A1E5"/>
            </a:solidFill>
            <a:prstDash val="solid"/>
          </a:ln>
        </p:spPr>
      </p:sp>
      <p:sp>
        <p:nvSpPr>
          <p:cNvPr id="29" name="Shape 26"/>
          <p:cNvSpPr/>
          <p:nvPr/>
        </p:nvSpPr>
        <p:spPr>
          <a:xfrm>
            <a:off x="4526280" y="2011680"/>
            <a:ext cx="1371600" cy="384048"/>
          </a:xfrm>
          <a:prstGeom prst="roundRect">
            <a:avLst>
              <a:gd name="adj" fmla="val 50000"/>
            </a:avLst>
          </a:prstGeom>
          <a:solidFill>
            <a:srgbClr val="09A1E5"/>
          </a:solidFill>
          <a:ln w="12700">
            <a:solidFill>
              <a:srgbClr val="09A1E5"/>
            </a:solidFill>
            <a:prstDash val="solid"/>
          </a:ln>
        </p:spPr>
      </p:sp>
      <p:sp>
        <p:nvSpPr>
          <p:cNvPr id="30" name="Text 27"/>
          <p:cNvSpPr txBox="1"/>
          <p:nvPr/>
        </p:nvSpPr>
        <p:spPr>
          <a:xfrm>
            <a:off x="4599432" y="201168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Nova</a:t>
            </a:r>
            <a:endParaRPr lang="en-US" sz="1200" dirty="0"/>
          </a:p>
        </p:txBody>
      </p:sp>
      <p:sp>
        <p:nvSpPr>
          <p:cNvPr id="31" name="Text 28"/>
          <p:cNvSpPr txBox="1"/>
          <p:nvPr/>
        </p:nvSpPr>
        <p:spPr>
          <a:xfrm>
            <a:off x="4526280" y="2514600"/>
            <a:ext cx="2788920" cy="9144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Đưa phương án + khuyến nghị mức phản hồi</a:t>
            </a:r>
            <a:endParaRPr lang="en-US" sz="1700" dirty="0"/>
          </a:p>
        </p:txBody>
      </p:sp>
      <p:sp>
        <p:nvSpPr>
          <p:cNvPr id="32" name="Shape 29"/>
          <p:cNvSpPr/>
          <p:nvPr/>
        </p:nvSpPr>
        <p:spPr>
          <a:xfrm>
            <a:off x="7616952" y="2697480"/>
            <a:ext cx="356616" cy="914"/>
          </a:xfrm>
          <a:prstGeom prst="line">
            <a:avLst/>
          </a:prstGeom>
          <a:noFill/>
          <a:ln w="31750">
            <a:solidFill>
              <a:srgbClr val="2A2238"/>
            </a:solidFill>
            <a:prstDash val="solid"/>
            <a:tailEnd type="triangle"/>
          </a:ln>
        </p:spPr>
      </p:sp>
      <p:sp>
        <p:nvSpPr>
          <p:cNvPr id="33" name="Shape 30"/>
          <p:cNvSpPr/>
          <p:nvPr/>
        </p:nvSpPr>
        <p:spPr>
          <a:xfrm>
            <a:off x="8046720" y="1874520"/>
            <a:ext cx="3246120" cy="1645920"/>
          </a:xfrm>
          <a:prstGeom prst="roundRect">
            <a:avLst>
              <a:gd name="adj" fmla="val 6667"/>
            </a:avLst>
          </a:prstGeom>
          <a:solidFill>
            <a:srgbClr val="F1E1EE"/>
          </a:solidFill>
          <a:ln w="19050">
            <a:solidFill>
              <a:srgbClr val="962B7C"/>
            </a:solidFill>
            <a:prstDash val="solid"/>
          </a:ln>
        </p:spPr>
      </p:sp>
      <p:sp>
        <p:nvSpPr>
          <p:cNvPr id="34" name="Shape 31"/>
          <p:cNvSpPr/>
          <p:nvPr/>
        </p:nvSpPr>
        <p:spPr>
          <a:xfrm>
            <a:off x="8275320" y="2011680"/>
            <a:ext cx="1371600" cy="384048"/>
          </a:xfrm>
          <a:prstGeom prst="roundRect">
            <a:avLst>
              <a:gd name="adj" fmla="val 50000"/>
            </a:avLst>
          </a:prstGeom>
          <a:solidFill>
            <a:srgbClr val="962B7C"/>
          </a:solidFill>
          <a:ln w="12700">
            <a:solidFill>
              <a:srgbClr val="962B7C"/>
            </a:solidFill>
            <a:prstDash val="solid"/>
          </a:ln>
        </p:spPr>
      </p:sp>
      <p:sp>
        <p:nvSpPr>
          <p:cNvPr id="35" name="Text 32"/>
          <p:cNvSpPr txBox="1"/>
          <p:nvPr/>
        </p:nvSpPr>
        <p:spPr>
          <a:xfrm>
            <a:off x="8348472" y="2011680"/>
            <a:ext cx="1225296"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Alexandria" pitchFamily="34" charset="0"/>
                <a:ea typeface="Alexandria" pitchFamily="34" charset="-122"/>
                <a:cs typeface="Alexandria" pitchFamily="34" charset="-120"/>
              </a:rPr>
              <a:t>An Phát</a:t>
            </a:r>
            <a:endParaRPr lang="en-US" sz="1200" dirty="0"/>
          </a:p>
        </p:txBody>
      </p:sp>
      <p:sp>
        <p:nvSpPr>
          <p:cNvPr id="36" name="Text 33"/>
          <p:cNvSpPr txBox="1"/>
          <p:nvPr/>
        </p:nvSpPr>
        <p:spPr>
          <a:xfrm>
            <a:off x="8275320" y="2514600"/>
            <a:ext cx="2788920" cy="914400"/>
          </a:xfrm>
          <a:prstGeom prst="rect">
            <a:avLst/>
          </a:prstGeom>
          <a:noFill/>
          <a:ln/>
        </p:spPr>
        <p:txBody>
          <a:bodyPr wrap="square" lIns="0" tIns="0" rIns="0" bIns="0" rtlCol="0" anchor="t"/>
          <a:lstStyle/>
          <a:p>
            <a:pPr indent="0" marL="0">
              <a:buNone/>
            </a:pPr>
            <a:r>
              <a:rPr lang="en-US" sz="1700" b="1" dirty="0">
                <a:solidFill>
                  <a:srgbClr val="2A2238"/>
                </a:solidFill>
                <a:latin typeface="Alexandria" pitchFamily="34" charset="0"/>
                <a:ea typeface="Alexandria" pitchFamily="34" charset="-122"/>
                <a:cs typeface="Alexandria" pitchFamily="34" charset="-120"/>
              </a:rPr>
              <a:t>Quyết định và lên tiếng</a:t>
            </a:r>
            <a:endParaRPr lang="en-US" sz="1700" dirty="0"/>
          </a:p>
        </p:txBody>
      </p:sp>
      <p:sp>
        <p:nvSpPr>
          <p:cNvPr id="37" name="Shape 34"/>
          <p:cNvSpPr/>
          <p:nvPr/>
        </p:nvSpPr>
        <p:spPr>
          <a:xfrm>
            <a:off x="548640" y="3794760"/>
            <a:ext cx="5410048" cy="2194560"/>
          </a:xfrm>
          <a:prstGeom prst="roundRect">
            <a:avLst>
              <a:gd name="adj" fmla="val 5000"/>
            </a:avLst>
          </a:prstGeom>
          <a:solidFill>
            <a:srgbClr val="FFFFFF"/>
          </a:solidFill>
          <a:ln w="12700">
            <a:solidFill>
              <a:srgbClr val="DCD7C8"/>
            </a:solidFill>
            <a:prstDash val="solid"/>
          </a:ln>
        </p:spPr>
      </p:sp>
      <p:sp>
        <p:nvSpPr>
          <p:cNvPr id="38" name="Text 35"/>
          <p:cNvSpPr txBox="1"/>
          <p:nvPr/>
        </p:nvSpPr>
        <p:spPr>
          <a:xfrm>
            <a:off x="822960" y="3794760"/>
            <a:ext cx="4861408" cy="2194560"/>
          </a:xfrm>
          <a:prstGeom prst="rect">
            <a:avLst/>
          </a:prstGeom>
          <a:noFill/>
          <a:ln/>
        </p:spPr>
        <p:txBody>
          <a:bodyPr wrap="square" lIns="0" tIns="0" rIns="0" bIns="0" rtlCol="0" anchor="ctr"/>
          <a:lstStyle/>
          <a:p>
            <a:pPr indent="0" marL="0">
              <a:spcAft>
                <a:spcPts val="600"/>
              </a:spcAft>
              <a:buNone/>
            </a:pPr>
            <a:r>
              <a:rPr lang="en-US" sz="1600" b="1" dirty="0">
                <a:solidFill>
                  <a:srgbClr val="2A2238"/>
                </a:solidFill>
                <a:latin typeface="Alexandria" pitchFamily="34" charset="0"/>
                <a:ea typeface="Alexandria" pitchFamily="34" charset="-122"/>
                <a:cs typeface="Alexandria" pitchFamily="34" charset="-120"/>
              </a:rPr>
              <a:t>Ví dụ: diễn giả/KOL vướng vụ việc</a:t>
            </a:r>
            <a:endParaRPr lang="en-US" sz="1600" dirty="0"/>
          </a:p>
          <a:p>
            <a:pPr indent="0" marL="0">
              <a:spcAft>
                <a:spcPts val="600"/>
              </a:spcAft>
              <a:buNone/>
            </a:pPr>
            <a:r>
              <a:rPr lang="en-US" sz="1400" dirty="0">
                <a:solidFill>
                  <a:srgbClr val="2A2238"/>
                </a:solidFill>
                <a:latin typeface="Alexandria" pitchFamily="34" charset="0"/>
                <a:ea typeface="Alexandria" pitchFamily="34" charset="-122"/>
                <a:cs typeface="Alexandria" pitchFamily="34" charset="-120"/>
              </a:rPr>
              <a:t>Ban đầu An Phát gần nhóm “nạn nhân” — nhưng nếu thông tin có từ trước mà không ai kiểm tra, khách thấy lỗi “có thể ngăn ngừa” → due diligence (Buổi 11).</a:t>
            </a:r>
            <a:endParaRPr lang="en-US" sz="1600" dirty="0"/>
          </a:p>
        </p:txBody>
      </p:sp>
      <p:sp>
        <p:nvSpPr>
          <p:cNvPr id="39" name="Shape 36"/>
          <p:cNvSpPr/>
          <p:nvPr/>
        </p:nvSpPr>
        <p:spPr>
          <a:xfrm>
            <a:off x="6233008" y="3794760"/>
            <a:ext cx="5410048" cy="2194560"/>
          </a:xfrm>
          <a:prstGeom prst="roundRect">
            <a:avLst>
              <a:gd name="adj" fmla="val 5000"/>
            </a:avLst>
          </a:prstGeom>
          <a:solidFill>
            <a:srgbClr val="FFE4EA"/>
          </a:solidFill>
          <a:ln w="12700">
            <a:solidFill>
              <a:srgbClr val="FF5178"/>
            </a:solidFill>
            <a:prstDash val="solid"/>
          </a:ln>
        </p:spPr>
      </p:sp>
      <p:sp>
        <p:nvSpPr>
          <p:cNvPr id="40" name="Text 37"/>
          <p:cNvSpPr txBox="1"/>
          <p:nvPr/>
        </p:nvSpPr>
        <p:spPr>
          <a:xfrm>
            <a:off x="6507328" y="3794760"/>
            <a:ext cx="4861408" cy="2194560"/>
          </a:xfrm>
          <a:prstGeom prst="rect">
            <a:avLst/>
          </a:prstGeom>
          <a:noFill/>
          <a:ln/>
        </p:spPr>
        <p:txBody>
          <a:bodyPr wrap="square" lIns="0" tIns="0" rIns="0" bIns="0" rtlCol="0" anchor="ctr"/>
          <a:lstStyle/>
          <a:p>
            <a:pPr indent="0" marL="0">
              <a:spcAft>
                <a:spcPts val="600"/>
              </a:spcAft>
              <a:buNone/>
            </a:pPr>
            <a:r>
              <a:rPr lang="en-US" sz="1600" b="1" dirty="0">
                <a:solidFill>
                  <a:srgbClr val="2A2238"/>
                </a:solidFill>
                <a:latin typeface="Alexandria" pitchFamily="34" charset="0"/>
                <a:ea typeface="Alexandria" pitchFamily="34" charset="-122"/>
                <a:cs typeface="Alexandria" pitchFamily="34" charset="-120"/>
              </a:rPr>
              <a:t>Đối tác trong vụ Kera đã phản hồi</a:t>
            </a:r>
            <a:endParaRPr lang="en-US" sz="1600" dirty="0"/>
          </a:p>
          <a:p>
            <a:pPr indent="0" marL="0">
              <a:spcAft>
                <a:spcPts val="600"/>
              </a:spcAft>
              <a:buNone/>
            </a:pPr>
            <a:r>
              <a:rPr lang="en-US" sz="1400" dirty="0">
                <a:solidFill>
                  <a:srgbClr val="2A2238"/>
                </a:solidFill>
                <a:latin typeface="Alexandria" pitchFamily="34" charset="0"/>
                <a:ea typeface="Alexandria" pitchFamily="34" charset="-122"/>
                <a:cs typeface="Alexandria" pitchFamily="34" charset="-120"/>
              </a:rPr>
              <a:t>thương hiệu hợp tác gỡ ảnh; công ty quản lý chấm dứt hợp đồng.</a:t>
            </a:r>
            <a:endParaRPr lang="en-US" sz="1600" dirty="0"/>
          </a:p>
          <a:p>
            <a:pPr indent="0" marL="0">
              <a:spcAft>
                <a:spcPts val="600"/>
              </a:spcAft>
              <a:buNone/>
            </a:pPr>
            <a:r>
              <a:rPr lang="en-US" sz="1400" dirty="0">
                <a:solidFill>
                  <a:srgbClr val="2A2238"/>
                </a:solidFill>
                <a:latin typeface="Alexandria" pitchFamily="34" charset="0"/>
                <a:ea typeface="Alexandria" pitchFamily="34" charset="-122"/>
                <a:cs typeface="Alexandria" pitchFamily="34" charset="-120"/>
              </a:rPr>
              <a:t>Nova còn phải giữ deliverables: diễn giả dự phòng, kịch bản thay thế.</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Năm câu hỏi khi một bên gây sự cố</a:t>
            </a:r>
            <a:endParaRPr lang="en-US" sz="26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23</a:t>
            </a:r>
            <a:endParaRPr lang="en-US" sz="1000" dirty="0"/>
          </a:p>
        </p:txBody>
      </p:sp>
      <p:sp>
        <p:nvSpPr>
          <p:cNvPr id="22" name="Shape 19"/>
          <p:cNvSpPr/>
          <p:nvPr/>
        </p:nvSpPr>
        <p:spPr>
          <a:xfrm>
            <a:off x="548640" y="1828800"/>
            <a:ext cx="11094415" cy="731520"/>
          </a:xfrm>
          <a:prstGeom prst="roundRect">
            <a:avLst>
              <a:gd name="adj" fmla="val 15000"/>
            </a:avLst>
          </a:prstGeom>
          <a:solidFill>
            <a:srgbClr val="FFFFFF"/>
          </a:solidFill>
          <a:ln w="19050">
            <a:solidFill>
              <a:srgbClr val="FF9259"/>
            </a:solidFill>
            <a:prstDash val="solid"/>
          </a:ln>
        </p:spPr>
      </p:sp>
      <p:sp>
        <p:nvSpPr>
          <p:cNvPr id="23" name="Shape 20"/>
          <p:cNvSpPr/>
          <p:nvPr/>
        </p:nvSpPr>
        <p:spPr>
          <a:xfrm>
            <a:off x="731520" y="1920240"/>
            <a:ext cx="548640" cy="548640"/>
          </a:xfrm>
          <a:prstGeom prst="ellipse">
            <a:avLst/>
          </a:prstGeom>
          <a:solidFill>
            <a:srgbClr val="FF9259"/>
          </a:solidFill>
          <a:ln w="12700">
            <a:solidFill>
              <a:srgbClr val="FF9259"/>
            </a:solidFill>
            <a:prstDash val="solid"/>
          </a:ln>
        </p:spPr>
      </p:sp>
      <p:sp>
        <p:nvSpPr>
          <p:cNvPr id="24" name="Text 21"/>
          <p:cNvSpPr txBox="1"/>
          <p:nvPr/>
        </p:nvSpPr>
        <p:spPr>
          <a:xfrm>
            <a:off x="731520" y="1920240"/>
            <a:ext cx="548640" cy="548640"/>
          </a:xfrm>
          <a:prstGeom prst="rect">
            <a:avLst/>
          </a:prstGeom>
          <a:noFill/>
          <a:ln/>
        </p:spPr>
        <p:txBody>
          <a:bodyPr wrap="square" lIns="0" tIns="0" rIns="0" bIns="0" rtlCol="0" anchor="ctr"/>
          <a:lstStyle/>
          <a:p>
            <a:pPr algn="ctr" indent="0" marL="0">
              <a:buNone/>
            </a:pPr>
            <a:r>
              <a:rPr lang="en-US" sz="2040" b="1" dirty="0">
                <a:solidFill>
                  <a:srgbClr val="2A2238"/>
                </a:solidFill>
                <a:latin typeface="Alexandria" pitchFamily="34" charset="0"/>
                <a:ea typeface="Alexandria" pitchFamily="34" charset="-122"/>
                <a:cs typeface="Alexandria" pitchFamily="34" charset="-120"/>
              </a:rPr>
              <a:t>1</a:t>
            </a:r>
            <a:endParaRPr lang="en-US" sz="2040" dirty="0"/>
          </a:p>
        </p:txBody>
      </p:sp>
      <p:sp>
        <p:nvSpPr>
          <p:cNvPr id="25" name="Text 22"/>
          <p:cNvSpPr txBox="1"/>
          <p:nvPr/>
        </p:nvSpPr>
        <p:spPr>
          <a:xfrm>
            <a:off x="1508760" y="1828800"/>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Sự việc đã được xác minh chưa?</a:t>
            </a:r>
            <a:endParaRPr lang="en-US" sz="1900" dirty="0"/>
          </a:p>
        </p:txBody>
      </p:sp>
      <p:sp>
        <p:nvSpPr>
          <p:cNvPr id="26" name="Shape 23"/>
          <p:cNvSpPr/>
          <p:nvPr/>
        </p:nvSpPr>
        <p:spPr>
          <a:xfrm>
            <a:off x="548640" y="2679192"/>
            <a:ext cx="11094415" cy="731520"/>
          </a:xfrm>
          <a:prstGeom prst="roundRect">
            <a:avLst>
              <a:gd name="adj" fmla="val 15000"/>
            </a:avLst>
          </a:prstGeom>
          <a:solidFill>
            <a:srgbClr val="FFFFFF"/>
          </a:solidFill>
          <a:ln w="19050">
            <a:solidFill>
              <a:srgbClr val="962B7C"/>
            </a:solidFill>
            <a:prstDash val="solid"/>
          </a:ln>
        </p:spPr>
      </p:sp>
      <p:sp>
        <p:nvSpPr>
          <p:cNvPr id="27" name="Shape 24"/>
          <p:cNvSpPr/>
          <p:nvPr/>
        </p:nvSpPr>
        <p:spPr>
          <a:xfrm>
            <a:off x="731520" y="2770632"/>
            <a:ext cx="548640" cy="548640"/>
          </a:xfrm>
          <a:prstGeom prst="ellipse">
            <a:avLst/>
          </a:prstGeom>
          <a:solidFill>
            <a:srgbClr val="962B7C"/>
          </a:solidFill>
          <a:ln w="12700">
            <a:solidFill>
              <a:srgbClr val="962B7C"/>
            </a:solidFill>
            <a:prstDash val="solid"/>
          </a:ln>
        </p:spPr>
      </p:sp>
      <p:sp>
        <p:nvSpPr>
          <p:cNvPr id="28" name="Text 25"/>
          <p:cNvSpPr txBox="1"/>
          <p:nvPr/>
        </p:nvSpPr>
        <p:spPr>
          <a:xfrm>
            <a:off x="731520" y="2770632"/>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2</a:t>
            </a:r>
            <a:endParaRPr lang="en-US" sz="2040" dirty="0"/>
          </a:p>
        </p:txBody>
      </p:sp>
      <p:sp>
        <p:nvSpPr>
          <p:cNvPr id="29" name="Text 26"/>
          <p:cNvSpPr txBox="1"/>
          <p:nvPr/>
        </p:nvSpPr>
        <p:spPr>
          <a:xfrm>
            <a:off x="1508760" y="2679192"/>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Trong mắt khách của An Phát, ai chịu trách nhiệm (SCCT)?</a:t>
            </a:r>
            <a:endParaRPr lang="en-US" sz="1900" dirty="0"/>
          </a:p>
        </p:txBody>
      </p:sp>
      <p:sp>
        <p:nvSpPr>
          <p:cNvPr id="30" name="Shape 27"/>
          <p:cNvSpPr/>
          <p:nvPr/>
        </p:nvSpPr>
        <p:spPr>
          <a:xfrm>
            <a:off x="548640" y="3529584"/>
            <a:ext cx="11094415" cy="731520"/>
          </a:xfrm>
          <a:prstGeom prst="roundRect">
            <a:avLst>
              <a:gd name="adj" fmla="val 15000"/>
            </a:avLst>
          </a:prstGeom>
          <a:solidFill>
            <a:srgbClr val="FFFFFF"/>
          </a:solidFill>
          <a:ln w="19050">
            <a:solidFill>
              <a:srgbClr val="FF5178"/>
            </a:solidFill>
            <a:prstDash val="solid"/>
          </a:ln>
        </p:spPr>
      </p:sp>
      <p:sp>
        <p:nvSpPr>
          <p:cNvPr id="31" name="Shape 28"/>
          <p:cNvSpPr/>
          <p:nvPr/>
        </p:nvSpPr>
        <p:spPr>
          <a:xfrm>
            <a:off x="731520" y="3621024"/>
            <a:ext cx="548640" cy="548640"/>
          </a:xfrm>
          <a:prstGeom prst="ellipse">
            <a:avLst/>
          </a:prstGeom>
          <a:solidFill>
            <a:srgbClr val="FF5178"/>
          </a:solidFill>
          <a:ln w="12700">
            <a:solidFill>
              <a:srgbClr val="FF5178"/>
            </a:solidFill>
            <a:prstDash val="solid"/>
          </a:ln>
        </p:spPr>
      </p:sp>
      <p:sp>
        <p:nvSpPr>
          <p:cNvPr id="32" name="Text 29"/>
          <p:cNvSpPr txBox="1"/>
          <p:nvPr/>
        </p:nvSpPr>
        <p:spPr>
          <a:xfrm>
            <a:off x="731520" y="3621024"/>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3</a:t>
            </a:r>
            <a:endParaRPr lang="en-US" sz="2040" dirty="0"/>
          </a:p>
        </p:txBody>
      </p:sp>
      <p:sp>
        <p:nvSpPr>
          <p:cNvPr id="33" name="Text 30"/>
          <p:cNvSpPr txBox="1"/>
          <p:nvPr/>
        </p:nvSpPr>
        <p:spPr>
          <a:xfrm>
            <a:off x="1508760" y="3529584"/>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Deliverable nào bị ảnh hưởng? Phương án dự phòng?</a:t>
            </a:r>
            <a:endParaRPr lang="en-US" sz="1900" dirty="0"/>
          </a:p>
        </p:txBody>
      </p:sp>
      <p:sp>
        <p:nvSpPr>
          <p:cNvPr id="34" name="Shape 31"/>
          <p:cNvSpPr/>
          <p:nvPr/>
        </p:nvSpPr>
        <p:spPr>
          <a:xfrm>
            <a:off x="548640" y="4379976"/>
            <a:ext cx="11094415" cy="731520"/>
          </a:xfrm>
          <a:prstGeom prst="roundRect">
            <a:avLst>
              <a:gd name="adj" fmla="val 15000"/>
            </a:avLst>
          </a:prstGeom>
          <a:solidFill>
            <a:srgbClr val="FFFFFF"/>
          </a:solidFill>
          <a:ln w="19050">
            <a:solidFill>
              <a:srgbClr val="09A1E5"/>
            </a:solidFill>
            <a:prstDash val="solid"/>
          </a:ln>
        </p:spPr>
      </p:sp>
      <p:sp>
        <p:nvSpPr>
          <p:cNvPr id="35" name="Shape 32"/>
          <p:cNvSpPr/>
          <p:nvPr/>
        </p:nvSpPr>
        <p:spPr>
          <a:xfrm>
            <a:off x="731520" y="4471416"/>
            <a:ext cx="548640" cy="548640"/>
          </a:xfrm>
          <a:prstGeom prst="ellipse">
            <a:avLst/>
          </a:prstGeom>
          <a:solidFill>
            <a:srgbClr val="09A1E5"/>
          </a:solidFill>
          <a:ln w="12700">
            <a:solidFill>
              <a:srgbClr val="09A1E5"/>
            </a:solidFill>
            <a:prstDash val="solid"/>
          </a:ln>
        </p:spPr>
      </p:sp>
      <p:sp>
        <p:nvSpPr>
          <p:cNvPr id="36" name="Text 33"/>
          <p:cNvSpPr txBox="1"/>
          <p:nvPr/>
        </p:nvSpPr>
        <p:spPr>
          <a:xfrm>
            <a:off x="731520" y="4471416"/>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4</a:t>
            </a:r>
            <a:endParaRPr lang="en-US" sz="2040" dirty="0"/>
          </a:p>
        </p:txBody>
      </p:sp>
      <p:sp>
        <p:nvSpPr>
          <p:cNvPr id="37" name="Text 34"/>
          <p:cNvSpPr txBox="1"/>
          <p:nvPr/>
        </p:nvSpPr>
        <p:spPr>
          <a:xfrm>
            <a:off x="1508760" y="4379976"/>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Nova khuyến nghị An Phát phản hồi ở mức nào?</a:t>
            </a:r>
            <a:endParaRPr lang="en-US" sz="1900" dirty="0"/>
          </a:p>
        </p:txBody>
      </p:sp>
      <p:sp>
        <p:nvSpPr>
          <p:cNvPr id="38" name="Shape 35"/>
          <p:cNvSpPr/>
          <p:nvPr/>
        </p:nvSpPr>
        <p:spPr>
          <a:xfrm>
            <a:off x="548640" y="5230368"/>
            <a:ext cx="11094415" cy="731520"/>
          </a:xfrm>
          <a:prstGeom prst="roundRect">
            <a:avLst>
              <a:gd name="adj" fmla="val 15000"/>
            </a:avLst>
          </a:prstGeom>
          <a:solidFill>
            <a:srgbClr val="FFFFFF"/>
          </a:solidFill>
          <a:ln w="19050">
            <a:solidFill>
              <a:srgbClr val="49B296"/>
            </a:solidFill>
            <a:prstDash val="solid"/>
          </a:ln>
        </p:spPr>
      </p:sp>
      <p:sp>
        <p:nvSpPr>
          <p:cNvPr id="39" name="Shape 36"/>
          <p:cNvSpPr/>
          <p:nvPr/>
        </p:nvSpPr>
        <p:spPr>
          <a:xfrm>
            <a:off x="731520" y="5321808"/>
            <a:ext cx="548640" cy="548640"/>
          </a:xfrm>
          <a:prstGeom prst="ellipse">
            <a:avLst/>
          </a:prstGeom>
          <a:solidFill>
            <a:srgbClr val="49B296"/>
          </a:solidFill>
          <a:ln w="12700">
            <a:solidFill>
              <a:srgbClr val="49B296"/>
            </a:solidFill>
            <a:prstDash val="solid"/>
          </a:ln>
        </p:spPr>
      </p:sp>
      <p:sp>
        <p:nvSpPr>
          <p:cNvPr id="40" name="Text 37"/>
          <p:cNvSpPr txBox="1"/>
          <p:nvPr/>
        </p:nvSpPr>
        <p:spPr>
          <a:xfrm>
            <a:off x="731520" y="5321808"/>
            <a:ext cx="548640" cy="548640"/>
          </a:xfrm>
          <a:prstGeom prst="rect">
            <a:avLst/>
          </a:prstGeom>
          <a:noFill/>
          <a:ln/>
        </p:spPr>
        <p:txBody>
          <a:bodyPr wrap="square" lIns="0" tIns="0" rIns="0" bIns="0" rtlCol="0" anchor="ctr"/>
          <a:lstStyle/>
          <a:p>
            <a:pPr algn="ctr" indent="0" marL="0">
              <a:buNone/>
            </a:pPr>
            <a:r>
              <a:rPr lang="en-US" sz="2040" b="1" dirty="0">
                <a:solidFill>
                  <a:srgbClr val="FFFFFF"/>
                </a:solidFill>
                <a:latin typeface="Alexandria" pitchFamily="34" charset="0"/>
                <a:ea typeface="Alexandria" pitchFamily="34" charset="-122"/>
                <a:cs typeface="Alexandria" pitchFamily="34" charset="-120"/>
              </a:rPr>
              <a:t>5</a:t>
            </a:r>
            <a:endParaRPr lang="en-US" sz="2040" dirty="0"/>
          </a:p>
        </p:txBody>
      </p:sp>
      <p:sp>
        <p:nvSpPr>
          <p:cNvPr id="41" name="Text 38"/>
          <p:cNvSpPr txBox="1"/>
          <p:nvPr/>
        </p:nvSpPr>
        <p:spPr>
          <a:xfrm>
            <a:off x="1508760" y="5230368"/>
            <a:ext cx="9905695" cy="731520"/>
          </a:xfrm>
          <a:prstGeom prst="rect">
            <a:avLst/>
          </a:prstGeom>
          <a:noFill/>
          <a:ln/>
        </p:spPr>
        <p:txBody>
          <a:bodyPr wrap="square" lIns="0" tIns="0" rIns="0" bIns="0" rtlCol="0" anchor="ctr"/>
          <a:lstStyle/>
          <a:p>
            <a:pPr indent="0" marL="0">
              <a:buNone/>
            </a:pPr>
            <a:r>
              <a:rPr lang="en-US" sz="1900" b="1" dirty="0">
                <a:solidFill>
                  <a:srgbClr val="2A2238"/>
                </a:solidFill>
                <a:latin typeface="Alexandria" pitchFamily="34" charset="0"/>
                <a:ea typeface="Alexandria" pitchFamily="34" charset="-122"/>
                <a:cs typeface="Alexandria" pitchFamily="34" charset="-120"/>
              </a:rPr>
              <a:t>Ai thông báo cho ai, khi nào (cập nhật ESG)?</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F5178"/>
          </a:solidFill>
          <a:ln w="9525">
            <a:solidFill>
              <a:srgbClr val="FF517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FBFAF4"/>
          </a:solidFill>
          <a:ln w="9525">
            <a:solidFill>
              <a:srgbClr val="DCD7C8"/>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Thực hành 2 · Mạng lưới bên liên quan trong SMP của nhóm (chạy thử bảo vệ)</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Phiếu W12_activity_S6_mang_luoi_smp.md.</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24</a:t>
            </a:r>
            <a:endParaRPr lang="en-US" sz="1000" dirty="0"/>
          </a:p>
        </p:txBody>
      </p:sp>
      <p:sp>
        <p:nvSpPr>
          <p:cNvPr id="23" name="Text 20"/>
          <p:cNvSpPr txBox="1"/>
          <p:nvPr/>
        </p:nvSpPr>
        <p:spPr>
          <a:xfrm>
            <a:off x="548640" y="1737360"/>
            <a:ext cx="11094415" cy="411480"/>
          </a:xfrm>
          <a:prstGeom prst="rect">
            <a:avLst/>
          </a:prstGeom>
          <a:noFill/>
          <a:ln/>
        </p:spPr>
        <p:txBody>
          <a:bodyPr wrap="square" lIns="0" tIns="0" rIns="0" bIns="0" rtlCol="0" anchor="ctr"/>
          <a:lstStyle/>
          <a:p>
            <a:pPr indent="0" marL="0">
              <a:buNone/>
            </a:pPr>
            <a:r>
              <a:rPr lang="en-US" sz="1300" dirty="0">
                <a:solidFill>
                  <a:srgbClr val="6E6878"/>
                </a:solidFill>
                <a:latin typeface="Alexandria" pitchFamily="34" charset="0"/>
                <a:ea typeface="Alexandria" pitchFamily="34" charset="-122"/>
                <a:cs typeface="Alexandria" pitchFamily="34" charset="-120"/>
              </a:rPr>
              <a:t>Khách hàng của nhóm ở giữa · ≥ 5 bên liên quan bên ngoài · ◆ bên giữ nhiều vai · 2 xung đột (nét đứt) · 1 cơ chế minh bạch</a:t>
            </a:r>
            <a:endParaRPr lang="en-US" sz="1300" dirty="0"/>
          </a:p>
        </p:txBody>
      </p:sp>
      <p:sp>
        <p:nvSpPr>
          <p:cNvPr id="24" name="Shape 21"/>
          <p:cNvSpPr/>
          <p:nvPr/>
        </p:nvSpPr>
        <p:spPr>
          <a:xfrm>
            <a:off x="548640" y="2286000"/>
            <a:ext cx="2145731" cy="594360"/>
          </a:xfrm>
          <a:prstGeom prst="roundRect">
            <a:avLst>
              <a:gd name="adj" fmla="val 50000"/>
            </a:avLst>
          </a:prstGeom>
          <a:solidFill>
            <a:srgbClr val="FF9259"/>
          </a:solidFill>
          <a:ln w="12700">
            <a:solidFill>
              <a:srgbClr val="FF9259"/>
            </a:solidFill>
            <a:prstDash val="solid"/>
          </a:ln>
        </p:spPr>
      </p:sp>
      <p:sp>
        <p:nvSpPr>
          <p:cNvPr id="25" name="Text 22"/>
          <p:cNvSpPr txBox="1"/>
          <p:nvPr/>
        </p:nvSpPr>
        <p:spPr>
          <a:xfrm>
            <a:off x="621792" y="2286000"/>
            <a:ext cx="1999427" cy="594360"/>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Xung đột</a:t>
            </a:r>
            <a:endParaRPr lang="en-US" sz="1300" dirty="0"/>
          </a:p>
        </p:txBody>
      </p:sp>
      <p:sp>
        <p:nvSpPr>
          <p:cNvPr id="26" name="Shape 23"/>
          <p:cNvSpPr/>
          <p:nvPr/>
        </p:nvSpPr>
        <p:spPr>
          <a:xfrm>
            <a:off x="548640" y="3017520"/>
            <a:ext cx="2145731" cy="402336"/>
          </a:xfrm>
          <a:prstGeom prst="roundRect">
            <a:avLst>
              <a:gd name="adj" fmla="val 27273"/>
            </a:avLst>
          </a:prstGeom>
          <a:solidFill>
            <a:srgbClr val="F3F0E6"/>
          </a:solidFill>
          <a:ln w="12700">
            <a:solidFill>
              <a:srgbClr val="DCD7C8"/>
            </a:solidFill>
            <a:prstDash val="solid"/>
          </a:ln>
        </p:spPr>
      </p:sp>
      <p:sp>
        <p:nvSpPr>
          <p:cNvPr id="27" name="Text 24"/>
          <p:cNvSpPr txBox="1"/>
          <p:nvPr/>
        </p:nvSpPr>
        <p:spPr>
          <a:xfrm>
            <a:off x="548640" y="3017520"/>
            <a:ext cx="2145731" cy="402336"/>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1</a:t>
            </a:r>
            <a:endParaRPr lang="en-US" sz="1300" dirty="0"/>
          </a:p>
        </p:txBody>
      </p:sp>
      <p:sp>
        <p:nvSpPr>
          <p:cNvPr id="28" name="Shape 25"/>
          <p:cNvSpPr/>
          <p:nvPr/>
        </p:nvSpPr>
        <p:spPr>
          <a:xfrm>
            <a:off x="548640" y="3493008"/>
            <a:ext cx="2145731" cy="402336"/>
          </a:xfrm>
          <a:prstGeom prst="roundRect">
            <a:avLst>
              <a:gd name="adj" fmla="val 27273"/>
            </a:avLst>
          </a:prstGeom>
          <a:solidFill>
            <a:srgbClr val="F3F0E6"/>
          </a:solidFill>
          <a:ln w="12700">
            <a:solidFill>
              <a:srgbClr val="DCD7C8"/>
            </a:solidFill>
            <a:prstDash val="solid"/>
          </a:ln>
        </p:spPr>
      </p:sp>
      <p:sp>
        <p:nvSpPr>
          <p:cNvPr id="29" name="Text 26"/>
          <p:cNvSpPr txBox="1"/>
          <p:nvPr/>
        </p:nvSpPr>
        <p:spPr>
          <a:xfrm>
            <a:off x="548640" y="3493008"/>
            <a:ext cx="2145731" cy="402336"/>
          </a:xfrm>
          <a:prstGeom prst="rect">
            <a:avLst/>
          </a:prstGeom>
          <a:noFill/>
          <a:ln/>
        </p:spPr>
        <p:txBody>
          <a:bodyPr wrap="square" lIns="0" tIns="0" rIns="0" bIns="0" rtlCol="0" anchor="ctr"/>
          <a:lstStyle/>
          <a:p>
            <a:pPr algn="ctr" indent="0" marL="0">
              <a:buNone/>
            </a:pPr>
            <a:r>
              <a:rPr lang="en-US" sz="1300" b="1" dirty="0">
                <a:solidFill>
                  <a:srgbClr val="2A2238"/>
                </a:solidFill>
                <a:latin typeface="Alexandria" pitchFamily="34" charset="0"/>
                <a:ea typeface="Alexandria" pitchFamily="34" charset="-122"/>
                <a:cs typeface="Alexandria" pitchFamily="34" charset="-120"/>
              </a:rPr>
              <a:t>2</a:t>
            </a:r>
            <a:endParaRPr lang="en-US" sz="1300" dirty="0"/>
          </a:p>
        </p:txBody>
      </p:sp>
      <p:sp>
        <p:nvSpPr>
          <p:cNvPr id="30" name="Shape 27"/>
          <p:cNvSpPr/>
          <p:nvPr/>
        </p:nvSpPr>
        <p:spPr>
          <a:xfrm>
            <a:off x="2785811" y="2286000"/>
            <a:ext cx="2145731" cy="594360"/>
          </a:xfrm>
          <a:prstGeom prst="roundRect">
            <a:avLst>
              <a:gd name="adj" fmla="val 50000"/>
            </a:avLst>
          </a:prstGeom>
          <a:solidFill>
            <a:srgbClr val="962B7C"/>
          </a:solidFill>
          <a:ln w="12700">
            <a:solidFill>
              <a:srgbClr val="962B7C"/>
            </a:solidFill>
            <a:prstDash val="solid"/>
          </a:ln>
        </p:spPr>
      </p:sp>
      <p:sp>
        <p:nvSpPr>
          <p:cNvPr id="31" name="Text 28"/>
          <p:cNvSpPr txBox="1"/>
          <p:nvPr/>
        </p:nvSpPr>
        <p:spPr>
          <a:xfrm>
            <a:off x="2858963" y="2286000"/>
            <a:ext cx="1999427"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Deliverable bị đe dọa</a:t>
            </a:r>
            <a:endParaRPr lang="en-US" sz="1300" dirty="0"/>
          </a:p>
        </p:txBody>
      </p:sp>
      <p:sp>
        <p:nvSpPr>
          <p:cNvPr id="32" name="Shape 29"/>
          <p:cNvSpPr/>
          <p:nvPr/>
        </p:nvSpPr>
        <p:spPr>
          <a:xfrm>
            <a:off x="2785811" y="3017520"/>
            <a:ext cx="2145731" cy="402336"/>
          </a:xfrm>
          <a:prstGeom prst="roundRect">
            <a:avLst>
              <a:gd name="adj" fmla="val 27273"/>
            </a:avLst>
          </a:prstGeom>
          <a:solidFill>
            <a:srgbClr val="FFFFFF"/>
          </a:solidFill>
          <a:ln w="12700">
            <a:solidFill>
              <a:srgbClr val="DCD7C8"/>
            </a:solidFill>
            <a:prstDash val="solid"/>
          </a:ln>
        </p:spPr>
      </p:sp>
      <p:sp>
        <p:nvSpPr>
          <p:cNvPr id="33" name="Shape 30"/>
          <p:cNvSpPr/>
          <p:nvPr/>
        </p:nvSpPr>
        <p:spPr>
          <a:xfrm>
            <a:off x="2785811" y="3493008"/>
            <a:ext cx="2145731" cy="402336"/>
          </a:xfrm>
          <a:prstGeom prst="roundRect">
            <a:avLst>
              <a:gd name="adj" fmla="val 27273"/>
            </a:avLst>
          </a:prstGeom>
          <a:solidFill>
            <a:srgbClr val="FFFFFF"/>
          </a:solidFill>
          <a:ln w="12700">
            <a:solidFill>
              <a:srgbClr val="DCD7C8"/>
            </a:solidFill>
            <a:prstDash val="solid"/>
          </a:ln>
        </p:spPr>
      </p:sp>
      <p:sp>
        <p:nvSpPr>
          <p:cNvPr id="34" name="Shape 31"/>
          <p:cNvSpPr/>
          <p:nvPr/>
        </p:nvSpPr>
        <p:spPr>
          <a:xfrm>
            <a:off x="5022982" y="2286000"/>
            <a:ext cx="2145731" cy="594360"/>
          </a:xfrm>
          <a:prstGeom prst="roundRect">
            <a:avLst>
              <a:gd name="adj" fmla="val 50000"/>
            </a:avLst>
          </a:prstGeom>
          <a:solidFill>
            <a:srgbClr val="09A1E5"/>
          </a:solidFill>
          <a:ln w="12700">
            <a:solidFill>
              <a:srgbClr val="09A1E5"/>
            </a:solidFill>
            <a:prstDash val="solid"/>
          </a:ln>
        </p:spPr>
      </p:sp>
      <p:sp>
        <p:nvSpPr>
          <p:cNvPr id="35" name="Text 32"/>
          <p:cNvSpPr txBox="1"/>
          <p:nvPr/>
        </p:nvSpPr>
        <p:spPr>
          <a:xfrm>
            <a:off x="5096134" y="2286000"/>
            <a:ext cx="1999427"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Lợi ích thật các bên</a:t>
            </a:r>
            <a:endParaRPr lang="en-US" sz="1300" dirty="0"/>
          </a:p>
        </p:txBody>
      </p:sp>
      <p:sp>
        <p:nvSpPr>
          <p:cNvPr id="36" name="Shape 33"/>
          <p:cNvSpPr/>
          <p:nvPr/>
        </p:nvSpPr>
        <p:spPr>
          <a:xfrm>
            <a:off x="5022982" y="3017520"/>
            <a:ext cx="2145731" cy="402336"/>
          </a:xfrm>
          <a:prstGeom prst="roundRect">
            <a:avLst>
              <a:gd name="adj" fmla="val 27273"/>
            </a:avLst>
          </a:prstGeom>
          <a:solidFill>
            <a:srgbClr val="FFFFFF"/>
          </a:solidFill>
          <a:ln w="12700">
            <a:solidFill>
              <a:srgbClr val="DCD7C8"/>
            </a:solidFill>
            <a:prstDash val="solid"/>
          </a:ln>
        </p:spPr>
      </p:sp>
      <p:sp>
        <p:nvSpPr>
          <p:cNvPr id="37" name="Shape 34"/>
          <p:cNvSpPr/>
          <p:nvPr/>
        </p:nvSpPr>
        <p:spPr>
          <a:xfrm>
            <a:off x="5022982" y="3493008"/>
            <a:ext cx="2145731" cy="402336"/>
          </a:xfrm>
          <a:prstGeom prst="roundRect">
            <a:avLst>
              <a:gd name="adj" fmla="val 27273"/>
            </a:avLst>
          </a:prstGeom>
          <a:solidFill>
            <a:srgbClr val="FFFFFF"/>
          </a:solidFill>
          <a:ln w="12700">
            <a:solidFill>
              <a:srgbClr val="DCD7C8"/>
            </a:solidFill>
            <a:prstDash val="solid"/>
          </a:ln>
        </p:spPr>
      </p:sp>
      <p:sp>
        <p:nvSpPr>
          <p:cNvPr id="38" name="Shape 35"/>
          <p:cNvSpPr/>
          <p:nvPr/>
        </p:nvSpPr>
        <p:spPr>
          <a:xfrm>
            <a:off x="7260153" y="2286000"/>
            <a:ext cx="2145731" cy="594360"/>
          </a:xfrm>
          <a:prstGeom prst="roundRect">
            <a:avLst>
              <a:gd name="adj" fmla="val 50000"/>
            </a:avLst>
          </a:prstGeom>
          <a:solidFill>
            <a:srgbClr val="49B296"/>
          </a:solidFill>
          <a:ln w="12700">
            <a:solidFill>
              <a:srgbClr val="49B296"/>
            </a:solidFill>
            <a:prstDash val="solid"/>
          </a:ln>
        </p:spPr>
      </p:sp>
      <p:sp>
        <p:nvSpPr>
          <p:cNvPr id="39" name="Text 36"/>
          <p:cNvSpPr txBox="1"/>
          <p:nvPr/>
        </p:nvSpPr>
        <p:spPr>
          <a:xfrm>
            <a:off x="7333305" y="2286000"/>
            <a:ext cx="1999427"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Phòng trước</a:t>
            </a:r>
            <a:endParaRPr lang="en-US" sz="1300" dirty="0"/>
          </a:p>
        </p:txBody>
      </p:sp>
      <p:sp>
        <p:nvSpPr>
          <p:cNvPr id="40" name="Shape 37"/>
          <p:cNvSpPr/>
          <p:nvPr/>
        </p:nvSpPr>
        <p:spPr>
          <a:xfrm>
            <a:off x="7260153" y="3017520"/>
            <a:ext cx="2145731" cy="402336"/>
          </a:xfrm>
          <a:prstGeom prst="roundRect">
            <a:avLst>
              <a:gd name="adj" fmla="val 27273"/>
            </a:avLst>
          </a:prstGeom>
          <a:solidFill>
            <a:srgbClr val="FFFFFF"/>
          </a:solidFill>
          <a:ln w="12700">
            <a:solidFill>
              <a:srgbClr val="DCD7C8"/>
            </a:solidFill>
            <a:prstDash val="solid"/>
          </a:ln>
        </p:spPr>
      </p:sp>
      <p:sp>
        <p:nvSpPr>
          <p:cNvPr id="41" name="Shape 38"/>
          <p:cNvSpPr/>
          <p:nvPr/>
        </p:nvSpPr>
        <p:spPr>
          <a:xfrm>
            <a:off x="7260153" y="3493008"/>
            <a:ext cx="2145731" cy="402336"/>
          </a:xfrm>
          <a:prstGeom prst="roundRect">
            <a:avLst>
              <a:gd name="adj" fmla="val 27273"/>
            </a:avLst>
          </a:prstGeom>
          <a:solidFill>
            <a:srgbClr val="FFFFFF"/>
          </a:solidFill>
          <a:ln w="12700">
            <a:solidFill>
              <a:srgbClr val="DCD7C8"/>
            </a:solidFill>
            <a:prstDash val="solid"/>
          </a:ln>
        </p:spPr>
      </p:sp>
      <p:sp>
        <p:nvSpPr>
          <p:cNvPr id="42" name="Shape 39"/>
          <p:cNvSpPr/>
          <p:nvPr/>
        </p:nvSpPr>
        <p:spPr>
          <a:xfrm>
            <a:off x="9497324" y="2286000"/>
            <a:ext cx="2145731" cy="594360"/>
          </a:xfrm>
          <a:prstGeom prst="roundRect">
            <a:avLst>
              <a:gd name="adj" fmla="val 50000"/>
            </a:avLst>
          </a:prstGeom>
          <a:solidFill>
            <a:srgbClr val="FF5178"/>
          </a:solidFill>
          <a:ln w="12700">
            <a:solidFill>
              <a:srgbClr val="FF5178"/>
            </a:solidFill>
            <a:prstDash val="solid"/>
          </a:ln>
        </p:spPr>
      </p:sp>
      <p:sp>
        <p:nvSpPr>
          <p:cNvPr id="43" name="Text 40"/>
          <p:cNvSpPr txBox="1"/>
          <p:nvPr/>
        </p:nvSpPr>
        <p:spPr>
          <a:xfrm>
            <a:off x="9570476" y="2286000"/>
            <a:ext cx="1999427" cy="59436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Xử lý khi xảy ra</a:t>
            </a:r>
            <a:endParaRPr lang="en-US" sz="1300" dirty="0"/>
          </a:p>
        </p:txBody>
      </p:sp>
      <p:sp>
        <p:nvSpPr>
          <p:cNvPr id="44" name="Shape 41"/>
          <p:cNvSpPr/>
          <p:nvPr/>
        </p:nvSpPr>
        <p:spPr>
          <a:xfrm>
            <a:off x="9497324" y="3017520"/>
            <a:ext cx="2145731" cy="402336"/>
          </a:xfrm>
          <a:prstGeom prst="roundRect">
            <a:avLst>
              <a:gd name="adj" fmla="val 27273"/>
            </a:avLst>
          </a:prstGeom>
          <a:solidFill>
            <a:srgbClr val="FFFFFF"/>
          </a:solidFill>
          <a:ln w="12700">
            <a:solidFill>
              <a:srgbClr val="DCD7C8"/>
            </a:solidFill>
            <a:prstDash val="solid"/>
          </a:ln>
        </p:spPr>
      </p:sp>
      <p:sp>
        <p:nvSpPr>
          <p:cNvPr id="45" name="Shape 42"/>
          <p:cNvSpPr/>
          <p:nvPr/>
        </p:nvSpPr>
        <p:spPr>
          <a:xfrm>
            <a:off x="9497324" y="3493008"/>
            <a:ext cx="2145731" cy="402336"/>
          </a:xfrm>
          <a:prstGeom prst="roundRect">
            <a:avLst>
              <a:gd name="adj" fmla="val 27273"/>
            </a:avLst>
          </a:prstGeom>
          <a:solidFill>
            <a:srgbClr val="FFFFFF"/>
          </a:solidFill>
          <a:ln w="12700">
            <a:solidFill>
              <a:srgbClr val="DCD7C8"/>
            </a:solidFill>
            <a:prstDash val="solid"/>
          </a:ln>
        </p:spPr>
      </p:sp>
      <p:sp>
        <p:nvSpPr>
          <p:cNvPr id="46" name="Shape 43"/>
          <p:cNvSpPr/>
          <p:nvPr/>
        </p:nvSpPr>
        <p:spPr>
          <a:xfrm>
            <a:off x="548640" y="4343400"/>
            <a:ext cx="777240" cy="777240"/>
          </a:xfrm>
          <a:prstGeom prst="ellipse">
            <a:avLst/>
          </a:prstGeom>
          <a:solidFill>
            <a:srgbClr val="FF9259"/>
          </a:solidFill>
          <a:ln w="12700">
            <a:solidFill>
              <a:srgbClr val="FF9259"/>
            </a:solidFill>
            <a:prstDash val="solid"/>
          </a:ln>
        </p:spPr>
      </p:sp>
      <p:sp>
        <p:nvSpPr>
          <p:cNvPr id="47" name="Text 44"/>
          <p:cNvSpPr txBox="1"/>
          <p:nvPr/>
        </p:nvSpPr>
        <p:spPr>
          <a:xfrm>
            <a:off x="548640" y="4343400"/>
            <a:ext cx="777240" cy="777240"/>
          </a:xfrm>
          <a:prstGeom prst="rect">
            <a:avLst/>
          </a:prstGeom>
          <a:noFill/>
          <a:ln/>
        </p:spPr>
        <p:txBody>
          <a:bodyPr wrap="square" lIns="0" tIns="0" rIns="0" bIns="0" rtlCol="0" anchor="ctr"/>
          <a:lstStyle/>
          <a:p>
            <a:pPr algn="ctr" indent="0" marL="0">
              <a:buNone/>
            </a:pPr>
            <a:r>
              <a:rPr lang="en-US" sz="1700" b="1" dirty="0">
                <a:solidFill>
                  <a:srgbClr val="2A2238"/>
                </a:solidFill>
                <a:latin typeface="Alexandria" pitchFamily="34" charset="0"/>
                <a:ea typeface="Alexandria" pitchFamily="34" charset="-122"/>
                <a:cs typeface="Alexandria" pitchFamily="34" charset="-120"/>
              </a:rPr>
              <a:t>13’</a:t>
            </a:r>
            <a:endParaRPr lang="en-US" sz="1700" dirty="0"/>
          </a:p>
        </p:txBody>
      </p:sp>
      <p:sp>
        <p:nvSpPr>
          <p:cNvPr id="48" name="Text 45"/>
          <p:cNvSpPr txBox="1"/>
          <p:nvPr/>
        </p:nvSpPr>
        <p:spPr>
          <a:xfrm>
            <a:off x="1463040" y="4206240"/>
            <a:ext cx="2600858"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Vẽ mạng lưới và 2 xung đột trên A1</a:t>
            </a:r>
            <a:endParaRPr lang="en-US" sz="1200" dirty="0"/>
          </a:p>
        </p:txBody>
      </p:sp>
      <p:sp>
        <p:nvSpPr>
          <p:cNvPr id="49" name="Shape 46"/>
          <p:cNvSpPr/>
          <p:nvPr/>
        </p:nvSpPr>
        <p:spPr>
          <a:xfrm>
            <a:off x="4338218" y="4343400"/>
            <a:ext cx="777240" cy="777240"/>
          </a:xfrm>
          <a:prstGeom prst="ellipse">
            <a:avLst/>
          </a:prstGeom>
          <a:solidFill>
            <a:srgbClr val="FF5178"/>
          </a:solidFill>
          <a:ln w="12700">
            <a:solidFill>
              <a:srgbClr val="FF5178"/>
            </a:solidFill>
            <a:prstDash val="solid"/>
          </a:ln>
        </p:spPr>
      </p:sp>
      <p:sp>
        <p:nvSpPr>
          <p:cNvPr id="50" name="Text 47"/>
          <p:cNvSpPr txBox="1"/>
          <p:nvPr/>
        </p:nvSpPr>
        <p:spPr>
          <a:xfrm>
            <a:off x="4338218" y="4343400"/>
            <a:ext cx="77724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lexandria" pitchFamily="34" charset="0"/>
                <a:ea typeface="Alexandria" pitchFamily="34" charset="-122"/>
                <a:cs typeface="Alexandria" pitchFamily="34" charset="-120"/>
              </a:rPr>
              <a:t>2×5’</a:t>
            </a:r>
            <a:endParaRPr lang="en-US" sz="1300" dirty="0"/>
          </a:p>
        </p:txBody>
      </p:sp>
      <p:sp>
        <p:nvSpPr>
          <p:cNvPr id="51" name="Text 48"/>
          <p:cNvSpPr txBox="1"/>
          <p:nvPr/>
        </p:nvSpPr>
        <p:spPr>
          <a:xfrm>
            <a:off x="5252618" y="4206240"/>
            <a:ext cx="2600858"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Một người ở lại trình bày 1’; còn lại làm hội đồng bảo vệ — 🟨 1 câu hỏi, 🟥 1 điểm yếu</a:t>
            </a:r>
            <a:endParaRPr lang="en-US" sz="1200" dirty="0"/>
          </a:p>
        </p:txBody>
      </p:sp>
      <p:sp>
        <p:nvSpPr>
          <p:cNvPr id="52" name="Shape 49"/>
          <p:cNvSpPr/>
          <p:nvPr/>
        </p:nvSpPr>
        <p:spPr>
          <a:xfrm>
            <a:off x="8127797" y="4343400"/>
            <a:ext cx="777240" cy="777240"/>
          </a:xfrm>
          <a:prstGeom prst="ellipse">
            <a:avLst/>
          </a:prstGeom>
          <a:solidFill>
            <a:srgbClr val="49B296"/>
          </a:solidFill>
          <a:ln w="12700">
            <a:solidFill>
              <a:srgbClr val="49B296"/>
            </a:solidFill>
            <a:prstDash val="solid"/>
          </a:ln>
        </p:spPr>
      </p:sp>
      <p:sp>
        <p:nvSpPr>
          <p:cNvPr id="53" name="Text 50"/>
          <p:cNvSpPr txBox="1"/>
          <p:nvPr/>
        </p:nvSpPr>
        <p:spPr>
          <a:xfrm>
            <a:off x="8127797" y="4343400"/>
            <a:ext cx="77724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Alexandria" pitchFamily="34" charset="0"/>
                <a:ea typeface="Alexandria" pitchFamily="34" charset="-122"/>
                <a:cs typeface="Alexandria" pitchFamily="34" charset="-120"/>
              </a:rPr>
              <a:t>4’</a:t>
            </a:r>
            <a:endParaRPr lang="en-US" sz="1700" dirty="0"/>
          </a:p>
        </p:txBody>
      </p:sp>
      <p:sp>
        <p:nvSpPr>
          <p:cNvPr id="54" name="Text 51"/>
          <p:cNvSpPr txBox="1"/>
          <p:nvPr/>
        </p:nvSpPr>
        <p:spPr>
          <a:xfrm>
            <a:off x="9042197" y="4206240"/>
            <a:ext cx="2600858" cy="105156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Về bàn, sửa một điểm; ghi câu hỏi khó nhất</a:t>
            </a:r>
            <a:endParaRPr lang="en-US" sz="1200" dirty="0"/>
          </a:p>
        </p:txBody>
      </p:sp>
      <p:sp>
        <p:nvSpPr>
          <p:cNvPr id="55" name="Shape 52"/>
          <p:cNvSpPr/>
          <p:nvPr/>
        </p:nvSpPr>
        <p:spPr>
          <a:xfrm>
            <a:off x="548640" y="5486400"/>
            <a:ext cx="11094415" cy="594360"/>
          </a:xfrm>
          <a:prstGeom prst="roundRect">
            <a:avLst>
              <a:gd name="adj" fmla="val 18462"/>
            </a:avLst>
          </a:prstGeom>
          <a:solidFill>
            <a:srgbClr val="FFF3C4"/>
          </a:solidFill>
          <a:ln w="12700">
            <a:solidFill>
              <a:srgbClr val="FFD23B"/>
            </a:solidFill>
            <a:prstDash val="solid"/>
          </a:ln>
        </p:spPr>
      </p:sp>
      <p:sp>
        <p:nvSpPr>
          <p:cNvPr id="56" name="Text 53"/>
          <p:cNvSpPr txBox="1"/>
          <p:nvPr/>
        </p:nvSpPr>
        <p:spPr>
          <a:xfrm>
            <a:off x="822960" y="5486400"/>
            <a:ext cx="10545775" cy="594360"/>
          </a:xfrm>
          <a:prstGeom prst="rect">
            <a:avLst/>
          </a:prstGeom>
          <a:noFill/>
          <a:ln/>
        </p:spPr>
        <p:txBody>
          <a:bodyPr wrap="square" lIns="0" tIns="0" rIns="0" bIns="0" rtlCol="0" anchor="ctr"/>
          <a:lstStyle/>
          <a:p>
            <a:pPr indent="0" marL="0">
              <a:buNone/>
            </a:pPr>
            <a:r>
              <a:rPr lang="en-US" sz="1300" b="1" dirty="0">
                <a:solidFill>
                  <a:srgbClr val="2A2238"/>
                </a:solidFill>
                <a:latin typeface="Alexandria" pitchFamily="34" charset="0"/>
                <a:ea typeface="Alexandria" pitchFamily="34" charset="-122"/>
                <a:cs typeface="Alexandria" pitchFamily="34" charset="-120"/>
              </a:rPr>
              <a:t>Dùng năm bước bảo vệ deliverables và năm câu hỏi khi có sự cố.</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Ba ý của Buổi 12</a:t>
            </a:r>
            <a:endParaRPr lang="en-US" sz="26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25</a:t>
            </a:r>
            <a:endParaRPr lang="en-US" sz="1000" dirty="0"/>
          </a:p>
        </p:txBody>
      </p:sp>
      <p:sp>
        <p:nvSpPr>
          <p:cNvPr id="22" name="Shape 19"/>
          <p:cNvSpPr/>
          <p:nvPr/>
        </p:nvSpPr>
        <p:spPr>
          <a:xfrm>
            <a:off x="548640" y="1828800"/>
            <a:ext cx="11094415" cy="1188720"/>
          </a:xfrm>
          <a:prstGeom prst="roundRect">
            <a:avLst>
              <a:gd name="adj" fmla="val 9231"/>
            </a:avLst>
          </a:prstGeom>
          <a:solidFill>
            <a:srgbClr val="F1E1EE"/>
          </a:solidFill>
          <a:ln w="12700">
            <a:solidFill>
              <a:srgbClr val="962B7C"/>
            </a:solidFill>
            <a:prstDash val="solid"/>
          </a:ln>
        </p:spPr>
      </p:sp>
      <p:sp>
        <p:nvSpPr>
          <p:cNvPr id="23" name="Shape 20"/>
          <p:cNvSpPr/>
          <p:nvPr/>
        </p:nvSpPr>
        <p:spPr>
          <a:xfrm>
            <a:off x="731520" y="2011680"/>
            <a:ext cx="822960" cy="822960"/>
          </a:xfrm>
          <a:prstGeom prst="ellipse">
            <a:avLst/>
          </a:prstGeom>
          <a:solidFill>
            <a:srgbClr val="962B7C"/>
          </a:solidFill>
          <a:ln w="12700">
            <a:solidFill>
              <a:srgbClr val="962B7C"/>
            </a:solidFill>
            <a:prstDash val="solid"/>
          </a:ln>
        </p:spPr>
      </p:sp>
      <p:sp>
        <p:nvSpPr>
          <p:cNvPr id="24" name="Text 21"/>
          <p:cNvSpPr txBox="1"/>
          <p:nvPr/>
        </p:nvSpPr>
        <p:spPr>
          <a:xfrm>
            <a:off x="731520" y="201168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12.1</a:t>
            </a:r>
            <a:endParaRPr lang="en-US" sz="2000" dirty="0"/>
          </a:p>
        </p:txBody>
      </p:sp>
      <p:sp>
        <p:nvSpPr>
          <p:cNvPr id="25" name="Text 22"/>
          <p:cNvSpPr txBox="1"/>
          <p:nvPr/>
        </p:nvSpPr>
        <p:spPr>
          <a:xfrm>
            <a:off x="1783080" y="1828800"/>
            <a:ext cx="9631375" cy="11887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Giá trị của Nova nằm một phần trong quan hệ dài hạn (tài sản đặc thù, chia sẻ tri thức, năng lực bổ trợ, quản trị). Minh bạch = mọi bên đọc một phiên bản đúng (ESG); bảo mật thông tin khách và giá.</a:t>
            </a:r>
            <a:endParaRPr lang="en-US" sz="1500" dirty="0"/>
          </a:p>
        </p:txBody>
      </p:sp>
      <p:sp>
        <p:nvSpPr>
          <p:cNvPr id="26" name="Shape 23"/>
          <p:cNvSpPr/>
          <p:nvPr/>
        </p:nvSpPr>
        <p:spPr>
          <a:xfrm>
            <a:off x="548640" y="3200400"/>
            <a:ext cx="11094415" cy="1188720"/>
          </a:xfrm>
          <a:prstGeom prst="roundRect">
            <a:avLst>
              <a:gd name="adj" fmla="val 9231"/>
            </a:avLst>
          </a:prstGeom>
          <a:solidFill>
            <a:srgbClr val="DDF1FB"/>
          </a:solidFill>
          <a:ln w="12700">
            <a:solidFill>
              <a:srgbClr val="09A1E5"/>
            </a:solidFill>
            <a:prstDash val="solid"/>
          </a:ln>
        </p:spPr>
      </p:sp>
      <p:sp>
        <p:nvSpPr>
          <p:cNvPr id="27" name="Shape 24"/>
          <p:cNvSpPr/>
          <p:nvPr/>
        </p:nvSpPr>
        <p:spPr>
          <a:xfrm>
            <a:off x="731520" y="3383280"/>
            <a:ext cx="822960" cy="822960"/>
          </a:xfrm>
          <a:prstGeom prst="ellipse">
            <a:avLst/>
          </a:prstGeom>
          <a:solidFill>
            <a:srgbClr val="09A1E5"/>
          </a:solidFill>
          <a:ln w="12700">
            <a:solidFill>
              <a:srgbClr val="09A1E5"/>
            </a:solidFill>
            <a:prstDash val="solid"/>
          </a:ln>
        </p:spPr>
      </p:sp>
      <p:sp>
        <p:nvSpPr>
          <p:cNvPr id="28" name="Text 25"/>
          <p:cNvSpPr txBox="1"/>
          <p:nvPr/>
        </p:nvSpPr>
        <p:spPr>
          <a:xfrm>
            <a:off x="731520" y="338328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lexandria" pitchFamily="34" charset="0"/>
                <a:ea typeface="Alexandria" pitchFamily="34" charset="-122"/>
                <a:cs typeface="Alexandria" pitchFamily="34" charset="-120"/>
              </a:rPr>
              <a:t>12.2</a:t>
            </a:r>
            <a:endParaRPr lang="en-US" sz="2000" dirty="0"/>
          </a:p>
        </p:txBody>
      </p:sp>
      <p:sp>
        <p:nvSpPr>
          <p:cNvPr id="29" name="Text 26"/>
          <p:cNvSpPr txBox="1"/>
          <p:nvPr/>
        </p:nvSpPr>
        <p:spPr>
          <a:xfrm>
            <a:off x="1783080" y="3200400"/>
            <a:ext cx="9631375" cy="11887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Xung đột thường đến từ một bên nhiều vai. Năm bước: deliverable → ai, vai gì → lợi ích đằng sau → cùng giải quyết, leo thang → báo minh bạch cho Key Account.</a:t>
            </a:r>
            <a:endParaRPr lang="en-US" sz="1500" dirty="0"/>
          </a:p>
        </p:txBody>
      </p:sp>
      <p:sp>
        <p:nvSpPr>
          <p:cNvPr id="30" name="Shape 27"/>
          <p:cNvSpPr/>
          <p:nvPr/>
        </p:nvSpPr>
        <p:spPr>
          <a:xfrm>
            <a:off x="548640" y="4572000"/>
            <a:ext cx="11094415" cy="1188720"/>
          </a:xfrm>
          <a:prstGeom prst="roundRect">
            <a:avLst>
              <a:gd name="adj" fmla="val 9231"/>
            </a:avLst>
          </a:prstGeom>
          <a:solidFill>
            <a:srgbClr val="FFE4EA"/>
          </a:solidFill>
          <a:ln w="12700">
            <a:solidFill>
              <a:srgbClr val="FF5178"/>
            </a:solidFill>
            <a:prstDash val="solid"/>
          </a:ln>
        </p:spPr>
      </p:sp>
      <p:sp>
        <p:nvSpPr>
          <p:cNvPr id="31" name="Shape 28"/>
          <p:cNvSpPr/>
          <p:nvPr/>
        </p:nvSpPr>
        <p:spPr>
          <a:xfrm>
            <a:off x="731520" y="4754880"/>
            <a:ext cx="822960" cy="822960"/>
          </a:xfrm>
          <a:prstGeom prst="ellipse">
            <a:avLst/>
          </a:prstGeom>
          <a:solidFill>
            <a:srgbClr val="FF5178"/>
          </a:solidFill>
          <a:ln w="12700">
            <a:solidFill>
              <a:srgbClr val="FF5178"/>
            </a:solidFill>
            <a:prstDash val="solid"/>
          </a:ln>
        </p:spPr>
      </p:sp>
      <p:sp>
        <p:nvSpPr>
          <p:cNvPr id="32" name="Text 29"/>
          <p:cNvSpPr txBox="1"/>
          <p:nvPr/>
        </p:nvSpPr>
        <p:spPr>
          <a:xfrm>
            <a:off x="731520" y="475488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Alexandria" pitchFamily="34" charset="0"/>
                <a:ea typeface="Alexandria" pitchFamily="34" charset="-122"/>
                <a:cs typeface="Alexandria" pitchFamily="34" charset="-120"/>
              </a:rPr>
              <a:t>Sự cố</a:t>
            </a:r>
            <a:endParaRPr lang="en-US" sz="1500" dirty="0"/>
          </a:p>
        </p:txBody>
      </p:sp>
      <p:sp>
        <p:nvSpPr>
          <p:cNvPr id="33" name="Text 30"/>
          <p:cNvSpPr txBox="1"/>
          <p:nvPr/>
        </p:nvSpPr>
        <p:spPr>
          <a:xfrm>
            <a:off x="1783080" y="4572000"/>
            <a:ext cx="9631375" cy="1188720"/>
          </a:xfrm>
          <a:prstGeom prst="rect">
            <a:avLst/>
          </a:prstGeom>
          <a:noFill/>
          <a:ln/>
        </p:spPr>
        <p:txBody>
          <a:bodyPr wrap="square" lIns="0" tIns="0" rIns="0" bIns="0" rtlCol="0" anchor="ctr"/>
          <a:lstStyle/>
          <a:p>
            <a:pPr indent="0" marL="0">
              <a:buNone/>
            </a:pPr>
            <a:r>
              <a:rPr lang="en-US" sz="1500" dirty="0">
                <a:solidFill>
                  <a:srgbClr val="2A2238"/>
                </a:solidFill>
                <a:latin typeface="Alexandria" pitchFamily="34" charset="0"/>
                <a:ea typeface="Alexandria" pitchFamily="34" charset="-122"/>
                <a:cs typeface="Alexandria" pitchFamily="34" charset="-120"/>
              </a:rPr>
              <a:t>Phân loại theo mức trách nhiệm (SCCT); Nova xác minh, khuyến nghị, để Key Account quyết — và giữ deliverables.</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Phần 3 khép lại: mạng lưới bên ngoài phục vụ hành trình của Key Account</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Đề cương 13.2: đưa điều phối bên liên quan bên ngoài vào phần Value Delivery của Key Account Plan.</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26</a:t>
            </a:r>
            <a:endParaRPr lang="en-US" sz="1000" dirty="0"/>
          </a:p>
        </p:txBody>
      </p:sp>
      <p:sp>
        <p:nvSpPr>
          <p:cNvPr id="23" name="Shape 20"/>
          <p:cNvSpPr/>
          <p:nvPr/>
        </p:nvSpPr>
        <p:spPr>
          <a:xfrm>
            <a:off x="548640" y="1920240"/>
            <a:ext cx="2602154" cy="1463040"/>
          </a:xfrm>
          <a:prstGeom prst="roundRect">
            <a:avLst>
              <a:gd name="adj" fmla="val 7500"/>
            </a:avLst>
          </a:prstGeom>
          <a:solidFill>
            <a:srgbClr val="FFFFFF"/>
          </a:solidFill>
          <a:ln w="25400">
            <a:solidFill>
              <a:srgbClr val="962B7C"/>
            </a:solidFill>
            <a:prstDash val="solid"/>
          </a:ln>
        </p:spPr>
      </p:sp>
      <p:sp>
        <p:nvSpPr>
          <p:cNvPr id="24" name="Text 21"/>
          <p:cNvSpPr txBox="1"/>
          <p:nvPr/>
        </p:nvSpPr>
        <p:spPr>
          <a:xfrm>
            <a:off x="777240" y="2011680"/>
            <a:ext cx="2144954" cy="411480"/>
          </a:xfrm>
          <a:prstGeom prst="rect">
            <a:avLst/>
          </a:prstGeom>
          <a:noFill/>
          <a:ln/>
        </p:spPr>
        <p:txBody>
          <a:bodyPr wrap="square" lIns="0" tIns="0" rIns="0" bIns="0" rtlCol="0" anchor="ctr"/>
          <a:lstStyle/>
          <a:p>
            <a:pPr indent="0" marL="0">
              <a:buNone/>
            </a:pPr>
            <a:r>
              <a:rPr lang="en-US" sz="1400" b="1" dirty="0">
                <a:solidFill>
                  <a:srgbClr val="962B7C"/>
                </a:solidFill>
                <a:latin typeface="Alexandria" pitchFamily="34" charset="0"/>
                <a:ea typeface="Alexandria" pitchFamily="34" charset="-122"/>
                <a:cs typeface="Alexandria" pitchFamily="34" charset="-120"/>
              </a:rPr>
              <a:t>Buổi 9</a:t>
            </a:r>
            <a:endParaRPr lang="en-US" sz="1400" dirty="0"/>
          </a:p>
        </p:txBody>
      </p:sp>
      <p:sp>
        <p:nvSpPr>
          <p:cNvPr id="25" name="Text 22"/>
          <p:cNvSpPr txBox="1"/>
          <p:nvPr/>
        </p:nvSpPr>
        <p:spPr>
          <a:xfrm>
            <a:off x="777240" y="2468880"/>
            <a:ext cx="2144954" cy="82296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Nhà tài trợ – nhà đầu tư</a:t>
            </a:r>
            <a:endParaRPr lang="en-US" sz="1600" dirty="0"/>
          </a:p>
        </p:txBody>
      </p:sp>
      <p:sp>
        <p:nvSpPr>
          <p:cNvPr id="26" name="Shape 23"/>
          <p:cNvSpPr/>
          <p:nvPr/>
        </p:nvSpPr>
        <p:spPr>
          <a:xfrm>
            <a:off x="1849717" y="3474720"/>
            <a:ext cx="2759985" cy="685800"/>
          </a:xfrm>
          <a:prstGeom prst="line">
            <a:avLst/>
          </a:prstGeom>
          <a:noFill/>
          <a:ln w="25400">
            <a:solidFill>
              <a:srgbClr val="962B7C"/>
            </a:solidFill>
            <a:prstDash val="solid"/>
            <a:tailEnd type="triangle"/>
          </a:ln>
        </p:spPr>
      </p:sp>
      <p:sp>
        <p:nvSpPr>
          <p:cNvPr id="27" name="Shape 24"/>
          <p:cNvSpPr/>
          <p:nvPr/>
        </p:nvSpPr>
        <p:spPr>
          <a:xfrm>
            <a:off x="3379394" y="1920240"/>
            <a:ext cx="2602154" cy="1463040"/>
          </a:xfrm>
          <a:prstGeom prst="roundRect">
            <a:avLst>
              <a:gd name="adj" fmla="val 7500"/>
            </a:avLst>
          </a:prstGeom>
          <a:solidFill>
            <a:srgbClr val="FFFFFF"/>
          </a:solidFill>
          <a:ln w="25400">
            <a:solidFill>
              <a:srgbClr val="09A1E5"/>
            </a:solidFill>
            <a:prstDash val="solid"/>
          </a:ln>
        </p:spPr>
      </p:sp>
      <p:sp>
        <p:nvSpPr>
          <p:cNvPr id="28" name="Text 25"/>
          <p:cNvSpPr txBox="1"/>
          <p:nvPr/>
        </p:nvSpPr>
        <p:spPr>
          <a:xfrm>
            <a:off x="3607994" y="2011680"/>
            <a:ext cx="2144954" cy="411480"/>
          </a:xfrm>
          <a:prstGeom prst="rect">
            <a:avLst/>
          </a:prstGeom>
          <a:noFill/>
          <a:ln/>
        </p:spPr>
        <p:txBody>
          <a:bodyPr wrap="square" lIns="0" tIns="0" rIns="0" bIns="0" rtlCol="0" anchor="ctr"/>
          <a:lstStyle/>
          <a:p>
            <a:pPr indent="0" marL="0">
              <a:buNone/>
            </a:pPr>
            <a:r>
              <a:rPr lang="en-US" sz="1400" b="1" dirty="0">
                <a:solidFill>
                  <a:srgbClr val="0A7FB5"/>
                </a:solidFill>
                <a:latin typeface="Alexandria" pitchFamily="34" charset="0"/>
                <a:ea typeface="Alexandria" pitchFamily="34" charset="-122"/>
                <a:cs typeface="Alexandria" pitchFamily="34" charset="-120"/>
              </a:rPr>
              <a:t>Buổi 10</a:t>
            </a:r>
            <a:endParaRPr lang="en-US" sz="1400" dirty="0"/>
          </a:p>
        </p:txBody>
      </p:sp>
      <p:sp>
        <p:nvSpPr>
          <p:cNvPr id="29" name="Text 26"/>
          <p:cNvSpPr txBox="1"/>
          <p:nvPr/>
        </p:nvSpPr>
        <p:spPr>
          <a:xfrm>
            <a:off x="3607994" y="2468880"/>
            <a:ext cx="2144954" cy="82296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Nhà cung cấp – địa điểm</a:t>
            </a:r>
            <a:endParaRPr lang="en-US" sz="1600" dirty="0"/>
          </a:p>
        </p:txBody>
      </p:sp>
      <p:sp>
        <p:nvSpPr>
          <p:cNvPr id="30" name="Shape 27"/>
          <p:cNvSpPr/>
          <p:nvPr/>
        </p:nvSpPr>
        <p:spPr>
          <a:xfrm>
            <a:off x="4680471" y="3474720"/>
            <a:ext cx="919995" cy="685800"/>
          </a:xfrm>
          <a:prstGeom prst="line">
            <a:avLst/>
          </a:prstGeom>
          <a:noFill/>
          <a:ln w="25400">
            <a:solidFill>
              <a:srgbClr val="09A1E5"/>
            </a:solidFill>
            <a:prstDash val="solid"/>
            <a:tailEnd type="triangle"/>
          </a:ln>
        </p:spPr>
      </p:sp>
      <p:sp>
        <p:nvSpPr>
          <p:cNvPr id="31" name="Shape 28"/>
          <p:cNvSpPr/>
          <p:nvPr/>
        </p:nvSpPr>
        <p:spPr>
          <a:xfrm>
            <a:off x="6210148" y="1920240"/>
            <a:ext cx="2602154" cy="1463040"/>
          </a:xfrm>
          <a:prstGeom prst="roundRect">
            <a:avLst>
              <a:gd name="adj" fmla="val 7500"/>
            </a:avLst>
          </a:prstGeom>
          <a:solidFill>
            <a:srgbClr val="FFFFFF"/>
          </a:solidFill>
          <a:ln w="25400">
            <a:solidFill>
              <a:srgbClr val="FF5178"/>
            </a:solidFill>
            <a:prstDash val="solid"/>
          </a:ln>
        </p:spPr>
      </p:sp>
      <p:sp>
        <p:nvSpPr>
          <p:cNvPr id="32" name="Text 29"/>
          <p:cNvSpPr txBox="1"/>
          <p:nvPr/>
        </p:nvSpPr>
        <p:spPr>
          <a:xfrm>
            <a:off x="6438748" y="2011680"/>
            <a:ext cx="2144954" cy="411480"/>
          </a:xfrm>
          <a:prstGeom prst="rect">
            <a:avLst/>
          </a:prstGeom>
          <a:noFill/>
          <a:ln/>
        </p:spPr>
        <p:txBody>
          <a:bodyPr wrap="square" lIns="0" tIns="0" rIns="0" bIns="0" rtlCol="0" anchor="ctr"/>
          <a:lstStyle/>
          <a:p>
            <a:pPr indent="0" marL="0">
              <a:buNone/>
            </a:pPr>
            <a:r>
              <a:rPr lang="en-US" sz="1400" b="1" dirty="0">
                <a:solidFill>
                  <a:srgbClr val="E03A62"/>
                </a:solidFill>
                <a:latin typeface="Alexandria" pitchFamily="34" charset="0"/>
                <a:ea typeface="Alexandria" pitchFamily="34" charset="-122"/>
                <a:cs typeface="Alexandria" pitchFamily="34" charset="-120"/>
              </a:rPr>
              <a:t>Buổi 11</a:t>
            </a:r>
            <a:endParaRPr lang="en-US" sz="1400" dirty="0"/>
          </a:p>
        </p:txBody>
      </p:sp>
      <p:sp>
        <p:nvSpPr>
          <p:cNvPr id="33" name="Text 30"/>
          <p:cNvSpPr txBox="1"/>
          <p:nvPr/>
        </p:nvSpPr>
        <p:spPr>
          <a:xfrm>
            <a:off x="6438748" y="2468880"/>
            <a:ext cx="2144954" cy="82296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Báo chí – KOL</a:t>
            </a:r>
            <a:endParaRPr lang="en-US" sz="1600" dirty="0"/>
          </a:p>
        </p:txBody>
      </p:sp>
      <p:sp>
        <p:nvSpPr>
          <p:cNvPr id="34" name="Shape 31"/>
          <p:cNvSpPr/>
          <p:nvPr/>
        </p:nvSpPr>
        <p:spPr>
          <a:xfrm flipH="1">
            <a:off x="6591230" y="3474720"/>
            <a:ext cx="919995" cy="685800"/>
          </a:xfrm>
          <a:prstGeom prst="line">
            <a:avLst/>
          </a:prstGeom>
          <a:noFill/>
          <a:ln w="25400">
            <a:solidFill>
              <a:srgbClr val="FF5178"/>
            </a:solidFill>
            <a:prstDash val="solid"/>
            <a:tailEnd type="triangle"/>
          </a:ln>
        </p:spPr>
      </p:sp>
      <p:sp>
        <p:nvSpPr>
          <p:cNvPr id="35" name="Shape 32"/>
          <p:cNvSpPr/>
          <p:nvPr/>
        </p:nvSpPr>
        <p:spPr>
          <a:xfrm>
            <a:off x="9040901" y="1920240"/>
            <a:ext cx="2602154" cy="1463040"/>
          </a:xfrm>
          <a:prstGeom prst="roundRect">
            <a:avLst>
              <a:gd name="adj" fmla="val 7500"/>
            </a:avLst>
          </a:prstGeom>
          <a:solidFill>
            <a:srgbClr val="FFFFFF"/>
          </a:solidFill>
          <a:ln w="25400">
            <a:solidFill>
              <a:srgbClr val="FF9259"/>
            </a:solidFill>
            <a:prstDash val="solid"/>
          </a:ln>
        </p:spPr>
      </p:sp>
      <p:sp>
        <p:nvSpPr>
          <p:cNvPr id="36" name="Text 33"/>
          <p:cNvSpPr txBox="1"/>
          <p:nvPr/>
        </p:nvSpPr>
        <p:spPr>
          <a:xfrm>
            <a:off x="9269501" y="2011680"/>
            <a:ext cx="2144954" cy="411480"/>
          </a:xfrm>
          <a:prstGeom prst="rect">
            <a:avLst/>
          </a:prstGeom>
          <a:noFill/>
          <a:ln/>
        </p:spPr>
        <p:txBody>
          <a:bodyPr wrap="square" lIns="0" tIns="0" rIns="0" bIns="0" rtlCol="0" anchor="ctr"/>
          <a:lstStyle/>
          <a:p>
            <a:pPr indent="0" marL="0">
              <a:buNone/>
            </a:pPr>
            <a:r>
              <a:rPr lang="en-US" sz="1400" b="1" dirty="0">
                <a:solidFill>
                  <a:srgbClr val="D9622B"/>
                </a:solidFill>
                <a:latin typeface="Alexandria" pitchFamily="34" charset="0"/>
                <a:ea typeface="Alexandria" pitchFamily="34" charset="-122"/>
                <a:cs typeface="Alexandria" pitchFamily="34" charset="-120"/>
              </a:rPr>
              <a:t>Buổi 12</a:t>
            </a:r>
            <a:endParaRPr lang="en-US" sz="1400" dirty="0"/>
          </a:p>
        </p:txBody>
      </p:sp>
      <p:sp>
        <p:nvSpPr>
          <p:cNvPr id="37" name="Text 34"/>
          <p:cNvSpPr txBox="1"/>
          <p:nvPr/>
        </p:nvSpPr>
        <p:spPr>
          <a:xfrm>
            <a:off x="9269501" y="2468880"/>
            <a:ext cx="2144954" cy="822960"/>
          </a:xfrm>
          <a:prstGeom prst="rect">
            <a:avLst/>
          </a:prstGeom>
          <a:noFill/>
          <a:ln/>
        </p:spPr>
        <p:txBody>
          <a:bodyPr wrap="square" lIns="0" tIns="0" rIns="0" bIns="0" rtlCol="0" anchor="t"/>
          <a:lstStyle/>
          <a:p>
            <a:pPr indent="0" marL="0">
              <a:buNone/>
            </a:pPr>
            <a:r>
              <a:rPr lang="en-US" sz="1600" b="1" dirty="0">
                <a:solidFill>
                  <a:srgbClr val="2A2238"/>
                </a:solidFill>
                <a:latin typeface="Alexandria" pitchFamily="34" charset="0"/>
                <a:ea typeface="Alexandria" pitchFamily="34" charset="-122"/>
                <a:cs typeface="Alexandria" pitchFamily="34" charset="-120"/>
              </a:rPr>
              <a:t>Leverage &amp; xung đột mạng lưới</a:t>
            </a:r>
            <a:endParaRPr lang="en-US" sz="1600" dirty="0"/>
          </a:p>
        </p:txBody>
      </p:sp>
      <p:sp>
        <p:nvSpPr>
          <p:cNvPr id="38" name="Shape 35"/>
          <p:cNvSpPr/>
          <p:nvPr/>
        </p:nvSpPr>
        <p:spPr>
          <a:xfrm flipH="1">
            <a:off x="7581993" y="3474720"/>
            <a:ext cx="2759985" cy="685800"/>
          </a:xfrm>
          <a:prstGeom prst="line">
            <a:avLst/>
          </a:prstGeom>
          <a:noFill/>
          <a:ln w="25400">
            <a:solidFill>
              <a:srgbClr val="FF9259"/>
            </a:solidFill>
            <a:prstDash val="solid"/>
            <a:tailEnd type="triangle"/>
          </a:ln>
        </p:spPr>
      </p:sp>
      <p:sp>
        <p:nvSpPr>
          <p:cNvPr id="39" name="Shape 36"/>
          <p:cNvSpPr/>
          <p:nvPr/>
        </p:nvSpPr>
        <p:spPr>
          <a:xfrm>
            <a:off x="2834640" y="4206240"/>
            <a:ext cx="6522415" cy="1783080"/>
          </a:xfrm>
          <a:prstGeom prst="roundRect">
            <a:avLst>
              <a:gd name="adj" fmla="val 6154"/>
            </a:avLst>
          </a:prstGeom>
          <a:solidFill>
            <a:srgbClr val="49B296"/>
          </a:solidFill>
          <a:ln w="12700">
            <a:solidFill>
              <a:srgbClr val="49B296"/>
            </a:solidFill>
            <a:prstDash val="solid"/>
          </a:ln>
        </p:spPr>
      </p:sp>
      <p:sp>
        <p:nvSpPr>
          <p:cNvPr id="40" name="Text 37"/>
          <p:cNvSpPr txBox="1"/>
          <p:nvPr/>
        </p:nvSpPr>
        <p:spPr>
          <a:xfrm>
            <a:off x="3108960" y="4206240"/>
            <a:ext cx="5973775" cy="1783080"/>
          </a:xfrm>
          <a:prstGeom prst="rect">
            <a:avLst/>
          </a:prstGeom>
          <a:noFill/>
          <a:ln/>
        </p:spPr>
        <p:txBody>
          <a:bodyPr wrap="square" lIns="0" tIns="0" rIns="0" bIns="0" rtlCol="0" anchor="ctr"/>
          <a:lstStyle/>
          <a:p>
            <a:pPr algn="ctr" indent="0" marL="0">
              <a:buNone/>
            </a:pPr>
            <a:r>
              <a:rPr lang="en-US" sz="1500" dirty="0">
                <a:solidFill>
                  <a:srgbClr val="FFFFFF"/>
                </a:solidFill>
                <a:latin typeface="Alexandria" pitchFamily="34" charset="0"/>
                <a:ea typeface="Alexandria" pitchFamily="34" charset="-122"/>
                <a:cs typeface="Alexandria" pitchFamily="34" charset="-120"/>
              </a:rPr>
              <a:t>Buổi 13</a:t>
            </a:r>
            <a:endParaRPr lang="en-US" sz="1500" dirty="0"/>
          </a:p>
          <a:p>
            <a:pPr algn="ctr" indent="0" marL="0">
              <a:buNone/>
            </a:pPr>
            <a:r>
              <a:rPr lang="en-US" sz="2400" b="1" dirty="0">
                <a:solidFill>
                  <a:srgbClr val="FFFFFF"/>
                </a:solidFill>
                <a:latin typeface="Alexandria" pitchFamily="34" charset="0"/>
                <a:ea typeface="Alexandria" pitchFamily="34" charset="-122"/>
                <a:cs typeface="Alexandria" pitchFamily="34" charset="-120"/>
              </a:rPr>
              <a:t>Stakeholder Management Plan</a:t>
            </a:r>
            <a:endParaRPr lang="en-US" sz="1500" dirty="0"/>
          </a:p>
          <a:p>
            <a:pPr algn="ctr" indent="0" marL="0">
              <a:buNone/>
            </a:pPr>
            <a:r>
              <a:rPr lang="en-US" sz="1400" dirty="0">
                <a:solidFill>
                  <a:srgbClr val="FFFFFF"/>
                </a:solidFill>
                <a:latin typeface="Alexandria" pitchFamily="34" charset="0"/>
                <a:ea typeface="Alexandria" pitchFamily="34" charset="-122"/>
                <a:cs typeface="Alexandria" pitchFamily="34" charset="-120"/>
              </a:rPr>
              <a:t>xoay quanh Key Account Plan · phần Value Delivery</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Phiếu kiểm tra cuối giờ</a:t>
            </a:r>
            <a:endParaRPr lang="en-US" sz="2600" dirty="0"/>
          </a:p>
        </p:txBody>
      </p:sp>
      <p:sp>
        <p:nvSpPr>
          <p:cNvPr id="20" name="Text 18"/>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27</a:t>
            </a:r>
            <a:endParaRPr lang="en-US" sz="1000" dirty="0"/>
          </a:p>
        </p:txBody>
      </p:sp>
      <p:sp>
        <p:nvSpPr>
          <p:cNvPr id="22" name="Shape 19"/>
          <p:cNvSpPr/>
          <p:nvPr/>
        </p:nvSpPr>
        <p:spPr>
          <a:xfrm>
            <a:off x="548640" y="1828800"/>
            <a:ext cx="11094415" cy="1280160"/>
          </a:xfrm>
          <a:prstGeom prst="roundRect">
            <a:avLst>
              <a:gd name="adj" fmla="val 8571"/>
            </a:avLst>
          </a:prstGeom>
          <a:solidFill>
            <a:srgbClr val="FFFFFF"/>
          </a:solidFill>
          <a:ln w="12700">
            <a:solidFill>
              <a:srgbClr val="DCD7C8"/>
            </a:solidFill>
            <a:prstDash val="solid"/>
          </a:ln>
        </p:spPr>
      </p:sp>
      <p:sp>
        <p:nvSpPr>
          <p:cNvPr id="23" name="Shape 20"/>
          <p:cNvSpPr/>
          <p:nvPr/>
        </p:nvSpPr>
        <p:spPr>
          <a:xfrm>
            <a:off x="777240" y="2148840"/>
            <a:ext cx="640080" cy="640080"/>
          </a:xfrm>
          <a:prstGeom prst="ellipse">
            <a:avLst/>
          </a:prstGeom>
          <a:solidFill>
            <a:srgbClr val="962B7C"/>
          </a:solidFill>
          <a:ln w="12700">
            <a:solidFill>
              <a:srgbClr val="962B7C"/>
            </a:solidFill>
            <a:prstDash val="solid"/>
          </a:ln>
        </p:spPr>
      </p:sp>
      <p:sp>
        <p:nvSpPr>
          <p:cNvPr id="24" name="Text 21"/>
          <p:cNvSpPr txBox="1"/>
          <p:nvPr/>
        </p:nvSpPr>
        <p:spPr>
          <a:xfrm>
            <a:off x="777240" y="214884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1</a:t>
            </a:r>
            <a:endParaRPr lang="en-US" sz="2380" dirty="0"/>
          </a:p>
        </p:txBody>
      </p:sp>
      <p:sp>
        <p:nvSpPr>
          <p:cNvPr id="25" name="Text 22"/>
          <p:cNvSpPr txBox="1"/>
          <p:nvPr/>
        </p:nvSpPr>
        <p:spPr>
          <a:xfrm>
            <a:off x="1645920" y="182880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Trong SMP của nhóm bạn, bên liên quan bên ngoài nào giữ nhiều vai nhất? Điều đó có thể gây xung đột gì với deliverable cam kết cho khách hàng?</a:t>
            </a:r>
            <a:endParaRPr lang="en-US" sz="1700" dirty="0"/>
          </a:p>
        </p:txBody>
      </p:sp>
      <p:sp>
        <p:nvSpPr>
          <p:cNvPr id="26" name="Shape 23"/>
          <p:cNvSpPr/>
          <p:nvPr/>
        </p:nvSpPr>
        <p:spPr>
          <a:xfrm>
            <a:off x="548640" y="3291840"/>
            <a:ext cx="11094415" cy="1280160"/>
          </a:xfrm>
          <a:prstGeom prst="roundRect">
            <a:avLst>
              <a:gd name="adj" fmla="val 8571"/>
            </a:avLst>
          </a:prstGeom>
          <a:solidFill>
            <a:srgbClr val="FFFFFF"/>
          </a:solidFill>
          <a:ln w="12700">
            <a:solidFill>
              <a:srgbClr val="DCD7C8"/>
            </a:solidFill>
            <a:prstDash val="solid"/>
          </a:ln>
        </p:spPr>
      </p:sp>
      <p:sp>
        <p:nvSpPr>
          <p:cNvPr id="27" name="Shape 24"/>
          <p:cNvSpPr/>
          <p:nvPr/>
        </p:nvSpPr>
        <p:spPr>
          <a:xfrm>
            <a:off x="777240" y="3611880"/>
            <a:ext cx="640080" cy="640080"/>
          </a:xfrm>
          <a:prstGeom prst="ellipse">
            <a:avLst/>
          </a:prstGeom>
          <a:solidFill>
            <a:srgbClr val="09A1E5"/>
          </a:solidFill>
          <a:ln w="12700">
            <a:solidFill>
              <a:srgbClr val="09A1E5"/>
            </a:solidFill>
            <a:prstDash val="solid"/>
          </a:ln>
        </p:spPr>
      </p:sp>
      <p:sp>
        <p:nvSpPr>
          <p:cNvPr id="28" name="Text 25"/>
          <p:cNvSpPr txBox="1"/>
          <p:nvPr/>
        </p:nvSpPr>
        <p:spPr>
          <a:xfrm>
            <a:off x="777240" y="3611880"/>
            <a:ext cx="640080" cy="640080"/>
          </a:xfrm>
          <a:prstGeom prst="rect">
            <a:avLst/>
          </a:prstGeom>
          <a:noFill/>
          <a:ln/>
        </p:spPr>
        <p:txBody>
          <a:bodyPr wrap="square" lIns="0" tIns="0" rIns="0" bIns="0" rtlCol="0" anchor="ctr"/>
          <a:lstStyle/>
          <a:p>
            <a:pPr algn="ctr" indent="0" marL="0">
              <a:buNone/>
            </a:pPr>
            <a:r>
              <a:rPr lang="en-US" sz="2380" b="1" dirty="0">
                <a:solidFill>
                  <a:srgbClr val="FFFFFF"/>
                </a:solidFill>
                <a:latin typeface="Alexandria" pitchFamily="34" charset="0"/>
                <a:ea typeface="Alexandria" pitchFamily="34" charset="-122"/>
                <a:cs typeface="Alexandria" pitchFamily="34" charset="-120"/>
              </a:rPr>
              <a:t>2</a:t>
            </a:r>
            <a:endParaRPr lang="en-US" sz="2380" dirty="0"/>
          </a:p>
        </p:txBody>
      </p:sp>
      <p:sp>
        <p:nvSpPr>
          <p:cNvPr id="29" name="Text 26"/>
          <p:cNvSpPr txBox="1"/>
          <p:nvPr/>
        </p:nvSpPr>
        <p:spPr>
          <a:xfrm>
            <a:off x="1645920" y="3291840"/>
            <a:ext cx="9768535" cy="1280160"/>
          </a:xfrm>
          <a:prstGeom prst="rect">
            <a:avLst/>
          </a:prstGeom>
          <a:noFill/>
          <a:ln/>
        </p:spPr>
        <p:txBody>
          <a:bodyPr wrap="square" lIns="0" tIns="0" rIns="0" bIns="0" rtlCol="0" anchor="ctr"/>
          <a:lstStyle/>
          <a:p>
            <a:pPr indent="0" marL="0">
              <a:buNone/>
            </a:pPr>
            <a:r>
              <a:rPr lang="en-US" sz="1700" dirty="0">
                <a:solidFill>
                  <a:srgbClr val="2A2238"/>
                </a:solidFill>
                <a:latin typeface="Alexandria" pitchFamily="34" charset="0"/>
                <a:ea typeface="Alexandria" pitchFamily="34" charset="-122"/>
                <a:cs typeface="Alexandria" pitchFamily="34" charset="-120"/>
              </a:rPr>
              <a:t>Một câu hỏi phản biện nhóm bạn nhận được hôm nay mà nhóm chưa trả lời được. Nhóm sẽ bổ sung gì trước buổi bảo vệ?</a:t>
            </a:r>
            <a:endParaRPr lang="en-US" sz="1700" dirty="0"/>
          </a:p>
        </p:txBody>
      </p:sp>
      <p:sp>
        <p:nvSpPr>
          <p:cNvPr id="30" name="Shape 27"/>
          <p:cNvSpPr/>
          <p:nvPr/>
        </p:nvSpPr>
        <p:spPr>
          <a:xfrm>
            <a:off x="548640" y="4846320"/>
            <a:ext cx="11094415" cy="1188720"/>
          </a:xfrm>
          <a:prstGeom prst="roundRect">
            <a:avLst>
              <a:gd name="adj" fmla="val 9231"/>
            </a:avLst>
          </a:prstGeom>
          <a:solidFill>
            <a:srgbClr val="E1F3EE"/>
          </a:solidFill>
          <a:ln w="12700">
            <a:solidFill>
              <a:srgbClr val="49B296"/>
            </a:solidFill>
            <a:prstDash val="solid"/>
          </a:ln>
        </p:spPr>
      </p:sp>
      <p:sp>
        <p:nvSpPr>
          <p:cNvPr id="31" name="Text 28"/>
          <p:cNvSpPr txBox="1"/>
          <p:nvPr/>
        </p:nvSpPr>
        <p:spPr>
          <a:xfrm>
            <a:off x="822960" y="4846320"/>
            <a:ext cx="10545775" cy="1188720"/>
          </a:xfrm>
          <a:prstGeom prst="rect">
            <a:avLst/>
          </a:prstGeom>
          <a:noFill/>
          <a:ln/>
        </p:spPr>
        <p:txBody>
          <a:bodyPr wrap="square" lIns="0" tIns="0" rIns="0" bIns="0" rtlCol="0" anchor="ctr"/>
          <a:lstStyle/>
          <a:p>
            <a:pPr indent="0" marL="0">
              <a:buNone/>
            </a:pPr>
            <a:r>
              <a:rPr lang="en-US" sz="1600" b="1" dirty="0">
                <a:solidFill>
                  <a:srgbClr val="2A2238"/>
                </a:solidFill>
                <a:latin typeface="Alexandria" pitchFamily="34" charset="0"/>
                <a:ea typeface="Alexandria" pitchFamily="34" charset="-122"/>
                <a:cs typeface="Alexandria" pitchFamily="34" charset="-120"/>
              </a:rPr>
              <a:t>Buổi 13: </a:t>
            </a:r>
            <a:pPr indent="0" marL="0">
              <a:buNone/>
            </a:pPr>
            <a:r>
              <a:rPr lang="en-US" sz="1600" dirty="0">
                <a:solidFill>
                  <a:srgbClr val="2A2238"/>
                </a:solidFill>
                <a:latin typeface="Alexandria" pitchFamily="34" charset="0"/>
                <a:ea typeface="Alexandria" pitchFamily="34" charset="-122"/>
                <a:cs typeface="Alexandria" pitchFamily="34" charset="-120"/>
              </a:rPr>
              <a:t>ráp nhà tài trợ, nhà cung cấp – địa điểm, báo chí – KOL và cách giữ mạng lưới thành Stakeholder Management Plan xoay quanh Key Account Plan.</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(1/2)</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buoi-12_tu-lieu-tong-hop.md, mục 6.</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28</a:t>
            </a:r>
            <a:endParaRPr lang="en-US" sz="1000" dirty="0"/>
          </a:p>
        </p:txBody>
      </p:sp>
      <p:sp>
        <p:nvSpPr>
          <p:cNvPr id="23" name="Text 20"/>
          <p:cNvSpPr txBox="1"/>
          <p:nvPr/>
        </p:nvSpPr>
        <p:spPr>
          <a:xfrm>
            <a:off x="548640" y="178308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Y01</a:t>
            </a:r>
            <a:endParaRPr lang="en-US" sz="1200" dirty="0"/>
          </a:p>
        </p:txBody>
      </p:sp>
      <p:sp>
        <p:nvSpPr>
          <p:cNvPr id="24" name="Text 21"/>
          <p:cNvSpPr txBox="1"/>
          <p:nvPr/>
        </p:nvSpPr>
        <p:spPr>
          <a:xfrm>
            <a:off x="1234440" y="178308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Dyer, J. H., &amp; Singh, H. (1998). The relational view: Cooperative strategy and sources of interorganizational competitive advantage. Academy of Management Review, 23(4), 660–679.</a:t>
            </a:r>
            <a:endParaRPr lang="en-US" sz="1200" dirty="0"/>
          </a:p>
        </p:txBody>
      </p:sp>
      <p:sp>
        <p:nvSpPr>
          <p:cNvPr id="25" name="Text 22"/>
          <p:cNvSpPr txBox="1"/>
          <p:nvPr/>
        </p:nvSpPr>
        <p:spPr>
          <a:xfrm>
            <a:off x="548640" y="256032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Y02</a:t>
            </a:r>
            <a:endParaRPr lang="en-US" sz="1200" dirty="0"/>
          </a:p>
        </p:txBody>
      </p:sp>
      <p:sp>
        <p:nvSpPr>
          <p:cNvPr id="26" name="Text 23"/>
          <p:cNvSpPr txBox="1"/>
          <p:nvPr/>
        </p:nvSpPr>
        <p:spPr>
          <a:xfrm>
            <a:off x="1234440" y="256032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Morgan, R. M., &amp; Hunt, S. D. (1994). The commitment-trust theory of relationship marketing. Journal of Marketing, 58(3), 20–38.</a:t>
            </a:r>
            <a:endParaRPr lang="en-US" sz="1200" dirty="0"/>
          </a:p>
        </p:txBody>
      </p:sp>
      <p:sp>
        <p:nvSpPr>
          <p:cNvPr id="27" name="Text 24"/>
          <p:cNvSpPr txBox="1"/>
          <p:nvPr/>
        </p:nvSpPr>
        <p:spPr>
          <a:xfrm>
            <a:off x="548640" y="333756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Y03</a:t>
            </a:r>
            <a:endParaRPr lang="en-US" sz="1200" dirty="0"/>
          </a:p>
        </p:txBody>
      </p:sp>
      <p:sp>
        <p:nvSpPr>
          <p:cNvPr id="28" name="Text 25"/>
          <p:cNvSpPr txBox="1"/>
          <p:nvPr/>
        </p:nvSpPr>
        <p:spPr>
          <a:xfrm>
            <a:off x="1234440" y="333756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Mohr, J., &amp; Spekman, R. (1994). Characteristics of partnership success. Strategic Management Journal, 15(2), 135–152.</a:t>
            </a:r>
            <a:endParaRPr lang="en-US" sz="1200" dirty="0"/>
          </a:p>
        </p:txBody>
      </p:sp>
      <p:sp>
        <p:nvSpPr>
          <p:cNvPr id="29" name="Text 26"/>
          <p:cNvSpPr txBox="1"/>
          <p:nvPr/>
        </p:nvSpPr>
        <p:spPr>
          <a:xfrm>
            <a:off x="548640" y="411480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Y04</a:t>
            </a:r>
            <a:endParaRPr lang="en-US" sz="1200" dirty="0"/>
          </a:p>
        </p:txBody>
      </p:sp>
      <p:sp>
        <p:nvSpPr>
          <p:cNvPr id="30" name="Text 27"/>
          <p:cNvSpPr txBox="1"/>
          <p:nvPr/>
        </p:nvSpPr>
        <p:spPr>
          <a:xfrm>
            <a:off x="1234440" y="411480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Getz, D., Andersson, T., &amp; Larson, M. (2006). Festival stakeholder roles: Concepts and case studies. Event Management, 10(2), 103–122.</a:t>
            </a:r>
            <a:endParaRPr lang="en-US" sz="1200" dirty="0"/>
          </a:p>
        </p:txBody>
      </p:sp>
      <p:sp>
        <p:nvSpPr>
          <p:cNvPr id="31" name="Text 28"/>
          <p:cNvSpPr txBox="1"/>
          <p:nvPr/>
        </p:nvSpPr>
        <p:spPr>
          <a:xfrm>
            <a:off x="548640" y="489204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Y05</a:t>
            </a:r>
            <a:endParaRPr lang="en-US" sz="1200" dirty="0"/>
          </a:p>
        </p:txBody>
      </p:sp>
      <p:sp>
        <p:nvSpPr>
          <p:cNvPr id="32" name="Text 29"/>
          <p:cNvSpPr txBox="1"/>
          <p:nvPr/>
        </p:nvSpPr>
        <p:spPr>
          <a:xfrm>
            <a:off x="1234440" y="489204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Larson, M. (2002). A political approach to relationship marketing: Case study of the Storsjöyran festival. International Journal of Tourism Research, 4(2), 119–143.</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AF4"/>
        </a:solidFill>
      </p:bgPr>
    </p:bg>
    <p:spTree>
      <p:nvGrpSpPr>
        <p:cNvPr id="1" name=""/>
        <p:cNvGrpSpPr/>
        <p:nvPr/>
      </p:nvGrpSpPr>
      <p:grpSpPr>
        <a:xfrm>
          <a:off x="0" y="0"/>
          <a:ext cx="0" cy="0"/>
          <a:chOff x="0" y="0"/>
          <a:chExt cx="0" cy="0"/>
        </a:xfrm>
      </p:grpSpPr>
      <p:sp>
        <p:nvSpPr>
          <p:cNvPr id="2" name="Shape 0"/>
          <p:cNvSpPr/>
          <p:nvPr/>
        </p:nvSpPr>
        <p:spPr>
          <a:xfrm>
            <a:off x="548640" y="274320"/>
            <a:ext cx="722376" cy="292608"/>
          </a:xfrm>
          <a:prstGeom prst="roundRect">
            <a:avLst>
              <a:gd name="adj" fmla="val 50000"/>
            </a:avLst>
          </a:prstGeom>
          <a:solidFill>
            <a:srgbClr val="FBFAF4"/>
          </a:solidFill>
          <a:ln w="9525">
            <a:solidFill>
              <a:srgbClr val="DCD7C8"/>
            </a:solidFill>
            <a:prstDash val="solid"/>
          </a:ln>
        </p:spPr>
      </p:sp>
      <p:sp>
        <p:nvSpPr>
          <p:cNvPr id="3" name="Text 1"/>
          <p:cNvSpPr txBox="1"/>
          <p:nvPr/>
        </p:nvSpPr>
        <p:spPr>
          <a:xfrm>
            <a:off x="548640" y="274320"/>
            <a:ext cx="72237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Mở đầu</a:t>
            </a:r>
            <a:endParaRPr lang="en-US" sz="1000" dirty="0"/>
          </a:p>
        </p:txBody>
      </p:sp>
      <p:sp>
        <p:nvSpPr>
          <p:cNvPr id="4" name="Shape 2"/>
          <p:cNvSpPr/>
          <p:nvPr/>
        </p:nvSpPr>
        <p:spPr>
          <a:xfrm>
            <a:off x="1380744" y="274320"/>
            <a:ext cx="2199132" cy="292608"/>
          </a:xfrm>
          <a:prstGeom prst="roundRect">
            <a:avLst>
              <a:gd name="adj" fmla="val 50000"/>
            </a:avLst>
          </a:prstGeom>
          <a:solidFill>
            <a:srgbClr val="FBFAF4"/>
          </a:solidFill>
          <a:ln w="9525">
            <a:solidFill>
              <a:srgbClr val="DCD7C8"/>
            </a:solidFill>
            <a:prstDash val="solid"/>
          </a:ln>
        </p:spPr>
      </p:sp>
      <p:sp>
        <p:nvSpPr>
          <p:cNvPr id="5" name="Text 3"/>
          <p:cNvSpPr txBox="1"/>
          <p:nvPr/>
        </p:nvSpPr>
        <p:spPr>
          <a:xfrm>
            <a:off x="1380744" y="274320"/>
            <a:ext cx="2199132"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12.1 Leverage &amp; minh bạch</a:t>
            </a:r>
            <a:endParaRPr lang="en-US" sz="1000" dirty="0"/>
          </a:p>
        </p:txBody>
      </p:sp>
      <p:sp>
        <p:nvSpPr>
          <p:cNvPr id="6" name="Shape 4"/>
          <p:cNvSpPr/>
          <p:nvPr/>
        </p:nvSpPr>
        <p:spPr>
          <a:xfrm>
            <a:off x="3689604" y="274320"/>
            <a:ext cx="1888236" cy="292608"/>
          </a:xfrm>
          <a:prstGeom prst="roundRect">
            <a:avLst>
              <a:gd name="adj" fmla="val 50000"/>
            </a:avLst>
          </a:prstGeom>
          <a:solidFill>
            <a:srgbClr val="FBFAF4"/>
          </a:solidFill>
          <a:ln w="9525">
            <a:solidFill>
              <a:srgbClr val="DCD7C8"/>
            </a:solidFill>
            <a:prstDash val="solid"/>
          </a:ln>
        </p:spPr>
      </p:sp>
      <p:sp>
        <p:nvSpPr>
          <p:cNvPr id="7" name="Text 5"/>
          <p:cNvSpPr txBox="1"/>
          <p:nvPr/>
        </p:nvSpPr>
        <p:spPr>
          <a:xfrm>
            <a:off x="3689604" y="274320"/>
            <a:ext cx="1888236"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12.2 Xung đột lợi ích</a:t>
            </a:r>
            <a:endParaRPr lang="en-US" sz="1000" dirty="0"/>
          </a:p>
        </p:txBody>
      </p:sp>
      <p:sp>
        <p:nvSpPr>
          <p:cNvPr id="8" name="Shape 6"/>
          <p:cNvSpPr/>
          <p:nvPr/>
        </p:nvSpPr>
        <p:spPr>
          <a:xfrm>
            <a:off x="5687568" y="274320"/>
            <a:ext cx="1188720" cy="292608"/>
          </a:xfrm>
          <a:prstGeom prst="roundRect">
            <a:avLst>
              <a:gd name="adj" fmla="val 50000"/>
            </a:avLst>
          </a:prstGeom>
          <a:solidFill>
            <a:srgbClr val="FBFAF4"/>
          </a:solidFill>
          <a:ln w="9525">
            <a:solidFill>
              <a:srgbClr val="DCD7C8"/>
            </a:solidFill>
            <a:prstDash val="solid"/>
          </a:ln>
        </p:spPr>
      </p:sp>
      <p:sp>
        <p:nvSpPr>
          <p:cNvPr id="9" name="Text 7"/>
          <p:cNvSpPr txBox="1"/>
          <p:nvPr/>
        </p:nvSpPr>
        <p:spPr>
          <a:xfrm>
            <a:off x="5687568" y="274320"/>
            <a:ext cx="1188720" cy="292608"/>
          </a:xfrm>
          <a:prstGeom prst="rect">
            <a:avLst/>
          </a:prstGeom>
          <a:noFill/>
          <a:ln/>
        </p:spPr>
        <p:txBody>
          <a:bodyPr wrap="square" lIns="0" tIns="0" rIns="0" bIns="0" rtlCol="0" anchor="ctr"/>
          <a:lstStyle/>
          <a:p>
            <a:pPr algn="ctr" indent="0" marL="0">
              <a:buNone/>
            </a:pPr>
            <a:r>
              <a:rPr lang="en-US" sz="1000" dirty="0">
                <a:solidFill>
                  <a:srgbClr val="6E6878"/>
                </a:solidFill>
                <a:latin typeface="Alexandria" pitchFamily="34" charset="0"/>
                <a:ea typeface="Alexandria" pitchFamily="34" charset="-122"/>
                <a:cs typeface="Alexandria" pitchFamily="34" charset="-120"/>
              </a:rPr>
              <a:t>Khi có sự cố</a:t>
            </a:r>
            <a:endParaRPr lang="en-US" sz="1000" dirty="0"/>
          </a:p>
        </p:txBody>
      </p:sp>
      <p:sp>
        <p:nvSpPr>
          <p:cNvPr id="10" name="Shape 8"/>
          <p:cNvSpPr/>
          <p:nvPr/>
        </p:nvSpPr>
        <p:spPr>
          <a:xfrm>
            <a:off x="6986016" y="274320"/>
            <a:ext cx="877824" cy="292608"/>
          </a:xfrm>
          <a:prstGeom prst="roundRect">
            <a:avLst>
              <a:gd name="adj" fmla="val 50000"/>
            </a:avLst>
          </a:prstGeom>
          <a:solidFill>
            <a:srgbClr val="49B296"/>
          </a:solidFill>
          <a:ln w="9525">
            <a:solidFill>
              <a:srgbClr val="49B296"/>
            </a:solidFill>
            <a:prstDash val="solid"/>
          </a:ln>
        </p:spPr>
      </p:sp>
      <p:sp>
        <p:nvSpPr>
          <p:cNvPr id="11" name="Text 9"/>
          <p:cNvSpPr txBox="1"/>
          <p:nvPr/>
        </p:nvSpPr>
        <p:spPr>
          <a:xfrm>
            <a:off x="6986016" y="274320"/>
            <a:ext cx="877824"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lexandria" pitchFamily="34" charset="0"/>
                <a:ea typeface="Alexandria" pitchFamily="34" charset="-122"/>
                <a:cs typeface="Alexandria" pitchFamily="34" charset="-120"/>
              </a:rPr>
              <a:t>Tổng kết</a:t>
            </a:r>
            <a:endParaRPr lang="en-US" sz="1000" dirty="0"/>
          </a:p>
        </p:txBody>
      </p:sp>
      <p:sp>
        <p:nvSpPr>
          <p:cNvPr id="12" name="Shape 10"/>
          <p:cNvSpPr/>
          <p:nvPr/>
        </p:nvSpPr>
        <p:spPr>
          <a:xfrm flipV="1">
            <a:off x="11451031" y="265542"/>
            <a:ext cx="914" cy="145938"/>
          </a:xfrm>
          <a:prstGeom prst="line">
            <a:avLst/>
          </a:prstGeom>
          <a:noFill/>
          <a:ln w="15875">
            <a:solidFill>
              <a:srgbClr val="962B7C"/>
            </a:solidFill>
            <a:prstDash val="solid"/>
          </a:ln>
        </p:spPr>
      </p:sp>
      <p:sp>
        <p:nvSpPr>
          <p:cNvPr id="13" name="Shape 11"/>
          <p:cNvSpPr/>
          <p:nvPr/>
        </p:nvSpPr>
        <p:spPr>
          <a:xfrm>
            <a:off x="11401105" y="215616"/>
            <a:ext cx="99852" cy="99852"/>
          </a:xfrm>
          <a:prstGeom prst="ellipse">
            <a:avLst/>
          </a:prstGeom>
          <a:solidFill>
            <a:srgbClr val="962B7C"/>
          </a:solidFill>
          <a:ln w="12700">
            <a:solidFill>
              <a:srgbClr val="962B7C"/>
            </a:solidFill>
            <a:prstDash val="solid"/>
          </a:ln>
        </p:spPr>
      </p:sp>
      <p:sp>
        <p:nvSpPr>
          <p:cNvPr id="14" name="Shape 12"/>
          <p:cNvSpPr/>
          <p:nvPr/>
        </p:nvSpPr>
        <p:spPr>
          <a:xfrm>
            <a:off x="11451031" y="411480"/>
            <a:ext cx="126386" cy="72969"/>
          </a:xfrm>
          <a:prstGeom prst="line">
            <a:avLst/>
          </a:prstGeom>
          <a:noFill/>
          <a:ln w="15875">
            <a:solidFill>
              <a:srgbClr val="09A1E5"/>
            </a:solidFill>
            <a:prstDash val="solid"/>
          </a:ln>
        </p:spPr>
      </p:sp>
      <p:sp>
        <p:nvSpPr>
          <p:cNvPr id="15" name="Shape 13"/>
          <p:cNvSpPr/>
          <p:nvPr/>
        </p:nvSpPr>
        <p:spPr>
          <a:xfrm>
            <a:off x="11527491" y="434523"/>
            <a:ext cx="99852" cy="99852"/>
          </a:xfrm>
          <a:prstGeom prst="ellipse">
            <a:avLst/>
          </a:prstGeom>
          <a:solidFill>
            <a:srgbClr val="09A1E5"/>
          </a:solidFill>
          <a:ln w="12700">
            <a:solidFill>
              <a:srgbClr val="09A1E5"/>
            </a:solidFill>
            <a:prstDash val="solid"/>
          </a:ln>
        </p:spPr>
      </p:sp>
      <p:sp>
        <p:nvSpPr>
          <p:cNvPr id="16" name="Shape 14"/>
          <p:cNvSpPr/>
          <p:nvPr/>
        </p:nvSpPr>
        <p:spPr>
          <a:xfrm flipH="1">
            <a:off x="11324645" y="411480"/>
            <a:ext cx="126386" cy="72969"/>
          </a:xfrm>
          <a:prstGeom prst="line">
            <a:avLst/>
          </a:prstGeom>
          <a:noFill/>
          <a:ln w="15875">
            <a:solidFill>
              <a:srgbClr val="FF5178"/>
            </a:solidFill>
            <a:prstDash val="solid"/>
          </a:ln>
        </p:spPr>
      </p:sp>
      <p:sp>
        <p:nvSpPr>
          <p:cNvPr id="17" name="Shape 15"/>
          <p:cNvSpPr/>
          <p:nvPr/>
        </p:nvSpPr>
        <p:spPr>
          <a:xfrm>
            <a:off x="11274719" y="434523"/>
            <a:ext cx="99852" cy="99852"/>
          </a:xfrm>
          <a:prstGeom prst="ellipse">
            <a:avLst/>
          </a:prstGeom>
          <a:solidFill>
            <a:srgbClr val="FF5178"/>
          </a:solidFill>
          <a:ln w="12700">
            <a:solidFill>
              <a:srgbClr val="FF5178"/>
            </a:solidFill>
            <a:prstDash val="solid"/>
          </a:ln>
        </p:spPr>
      </p:sp>
      <p:sp>
        <p:nvSpPr>
          <p:cNvPr id="18" name="Shape 16"/>
          <p:cNvSpPr/>
          <p:nvPr/>
        </p:nvSpPr>
        <p:spPr>
          <a:xfrm>
            <a:off x="11391120" y="351569"/>
            <a:ext cx="119823" cy="119823"/>
          </a:xfrm>
          <a:prstGeom prst="ellipse">
            <a:avLst/>
          </a:prstGeom>
          <a:solidFill>
            <a:srgbClr val="FFD23B"/>
          </a:solidFill>
          <a:ln w="12700">
            <a:solidFill>
              <a:srgbClr val="FFD23B"/>
            </a:solidFill>
            <a:prstDash val="solid"/>
          </a:ln>
        </p:spPr>
      </p:sp>
      <p:sp>
        <p:nvSpPr>
          <p:cNvPr id="19" name="Text 17"/>
          <p:cNvSpPr txBox="1"/>
          <p:nvPr/>
        </p:nvSpPr>
        <p:spPr>
          <a:xfrm>
            <a:off x="548640" y="777240"/>
            <a:ext cx="11094415" cy="960120"/>
          </a:xfrm>
          <a:prstGeom prst="rect">
            <a:avLst/>
          </a:prstGeom>
          <a:noFill/>
          <a:ln/>
        </p:spPr>
        <p:txBody>
          <a:bodyPr wrap="square" lIns="0" tIns="0" rIns="0" bIns="0" rtlCol="0" anchor="ctr">
            <a:normAutofit/>
          </a:bodyPr>
          <a:lstStyle/>
          <a:p>
            <a:pPr indent="0" marL="0">
              <a:buNone/>
            </a:pPr>
            <a:r>
              <a:rPr lang="en-US" sz="2600" b="1" dirty="0">
                <a:solidFill>
                  <a:srgbClr val="2A2238"/>
                </a:solidFill>
                <a:latin typeface="Alexandria" pitchFamily="34" charset="0"/>
                <a:ea typeface="Alexandria" pitchFamily="34" charset="-122"/>
                <a:cs typeface="Alexandria" pitchFamily="34" charset="-120"/>
              </a:rPr>
              <a:t>Tài liệu tham khảo (2/2)</a:t>
            </a:r>
            <a:endParaRPr lang="en-US" sz="2600" dirty="0"/>
          </a:p>
        </p:txBody>
      </p:sp>
      <p:sp>
        <p:nvSpPr>
          <p:cNvPr id="20" name="Text 18"/>
          <p:cNvSpPr txBox="1"/>
          <p:nvPr/>
        </p:nvSpPr>
        <p:spPr>
          <a:xfrm>
            <a:off x="548640" y="6355080"/>
            <a:ext cx="9082735" cy="274320"/>
          </a:xfrm>
          <a:prstGeom prst="rect">
            <a:avLst/>
          </a:prstGeom>
          <a:noFill/>
          <a:ln/>
        </p:spPr>
        <p:txBody>
          <a:bodyPr wrap="square" lIns="0" tIns="0" rIns="0" bIns="0" rtlCol="0" anchor="ctr"/>
          <a:lstStyle/>
          <a:p>
            <a:pPr indent="0" marL="0">
              <a:buNone/>
            </a:pPr>
            <a:r>
              <a:rPr lang="en-US" sz="1000" dirty="0">
                <a:solidFill>
                  <a:srgbClr val="6E6878"/>
                </a:solidFill>
                <a:latin typeface="Alexandria" pitchFamily="34" charset="0"/>
                <a:ea typeface="Alexandria" pitchFamily="34" charset="-122"/>
                <a:cs typeface="Alexandria" pitchFamily="34" charset="-120"/>
              </a:rPr>
              <a:t>Danh mục APA 7 đầy đủ (kèm DOI/URL): buoi-12_tu-lieu-tong-hop.md, mục 6.</a:t>
            </a:r>
            <a:endParaRPr lang="en-US" sz="1000" dirty="0"/>
          </a:p>
        </p:txBody>
      </p:sp>
      <p:sp>
        <p:nvSpPr>
          <p:cNvPr id="21" name="Text 19"/>
          <p:cNvSpPr txBox="1"/>
          <p:nvPr/>
        </p:nvSpPr>
        <p:spPr>
          <a:xfrm>
            <a:off x="9357055" y="6355080"/>
            <a:ext cx="2286000" cy="274320"/>
          </a:xfrm>
          <a:prstGeom prst="rect">
            <a:avLst/>
          </a:prstGeom>
          <a:noFill/>
          <a:ln/>
        </p:spPr>
        <p:txBody>
          <a:bodyPr wrap="square" lIns="0" tIns="0" rIns="0" bIns="0" rtlCol="0" anchor="ctr"/>
          <a:lstStyle/>
          <a:p>
            <a:pPr algn="r" indent="0" marL="0">
              <a:buNone/>
            </a:pPr>
            <a:r>
              <a:rPr lang="en-US" sz="1000" dirty="0">
                <a:solidFill>
                  <a:srgbClr val="6E6878"/>
                </a:solidFill>
                <a:latin typeface="Alexandria" pitchFamily="34" charset="0"/>
                <a:ea typeface="Alexandria" pitchFamily="34" charset="-122"/>
                <a:cs typeface="Alexandria" pitchFamily="34" charset="-120"/>
              </a:rPr>
              <a:t>EVM1110E · Buổi 12   29</a:t>
            </a:r>
            <a:endParaRPr lang="en-US" sz="1000" dirty="0"/>
          </a:p>
        </p:txBody>
      </p:sp>
      <p:sp>
        <p:nvSpPr>
          <p:cNvPr id="23" name="Text 20"/>
          <p:cNvSpPr txBox="1"/>
          <p:nvPr/>
        </p:nvSpPr>
        <p:spPr>
          <a:xfrm>
            <a:off x="548640" y="178308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Y06</a:t>
            </a:r>
            <a:endParaRPr lang="en-US" sz="1200" dirty="0"/>
          </a:p>
        </p:txBody>
      </p:sp>
      <p:sp>
        <p:nvSpPr>
          <p:cNvPr id="24" name="Text 21"/>
          <p:cNvSpPr txBox="1"/>
          <p:nvPr/>
        </p:nvSpPr>
        <p:spPr>
          <a:xfrm>
            <a:off x="1234440" y="178308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Lee, H. L., Padmanabhan, V., &amp; Whang, S. (1997). Information distortion in a supply chain: The bullwhip effect. Management Science, 43(4), 546–558.</a:t>
            </a:r>
            <a:endParaRPr lang="en-US" sz="1200" dirty="0"/>
          </a:p>
        </p:txBody>
      </p:sp>
      <p:sp>
        <p:nvSpPr>
          <p:cNvPr id="25" name="Text 22"/>
          <p:cNvSpPr txBox="1"/>
          <p:nvPr/>
        </p:nvSpPr>
        <p:spPr>
          <a:xfrm>
            <a:off x="548640" y="256032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Y07</a:t>
            </a:r>
            <a:endParaRPr lang="en-US" sz="1200" dirty="0"/>
          </a:p>
        </p:txBody>
      </p:sp>
      <p:sp>
        <p:nvSpPr>
          <p:cNvPr id="26" name="Text 23"/>
          <p:cNvSpPr txBox="1"/>
          <p:nvPr/>
        </p:nvSpPr>
        <p:spPr>
          <a:xfrm>
            <a:off x="1234440" y="256032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Convention Industry Council. (2005). The APEX event specifications guide template.</a:t>
            </a:r>
            <a:endParaRPr lang="en-US" sz="1200" dirty="0"/>
          </a:p>
        </p:txBody>
      </p:sp>
      <p:sp>
        <p:nvSpPr>
          <p:cNvPr id="27" name="Text 24"/>
          <p:cNvSpPr txBox="1"/>
          <p:nvPr/>
        </p:nvSpPr>
        <p:spPr>
          <a:xfrm>
            <a:off x="548640" y="333756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Y08</a:t>
            </a:r>
            <a:endParaRPr lang="en-US" sz="1200" dirty="0"/>
          </a:p>
        </p:txBody>
      </p:sp>
      <p:sp>
        <p:nvSpPr>
          <p:cNvPr id="28" name="Text 25"/>
          <p:cNvSpPr txBox="1"/>
          <p:nvPr/>
        </p:nvSpPr>
        <p:spPr>
          <a:xfrm>
            <a:off x="1234440" y="333756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Coombs, W. T. (2007). Protecting organization reputations during a crisis: The development and application of situational crisis communication theory. Corporate Reputation Review, 10(3), 163–176.</a:t>
            </a:r>
            <a:endParaRPr lang="en-US" sz="1200" dirty="0"/>
          </a:p>
        </p:txBody>
      </p:sp>
      <p:sp>
        <p:nvSpPr>
          <p:cNvPr id="29" name="Text 26"/>
          <p:cNvSpPr txBox="1"/>
          <p:nvPr/>
        </p:nvSpPr>
        <p:spPr>
          <a:xfrm>
            <a:off x="548640" y="411480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Y09</a:t>
            </a:r>
            <a:endParaRPr lang="en-US" sz="1200" dirty="0"/>
          </a:p>
        </p:txBody>
      </p:sp>
      <p:sp>
        <p:nvSpPr>
          <p:cNvPr id="30" name="Text 27"/>
          <p:cNvSpPr txBox="1"/>
          <p:nvPr/>
        </p:nvSpPr>
        <p:spPr>
          <a:xfrm>
            <a:off x="1234440" y="411480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Báo Văn hóa. (2026, January 3). Giữa hợp đồng và trách nhiệm, ranh giới nào cho nghệ sĩ? · Nhân Dân. (2026, January 23). Khoảng trống pháp lý trên thị trường biểu diễn. · Dân trí. (2025, December 31). Vụ “Về đây bốn cánh chim trời”: Việc cấp phép, huỷ show ở Việt Nam thế nào?</a:t>
            </a:r>
            <a:endParaRPr lang="en-US" sz="1200" dirty="0"/>
          </a:p>
        </p:txBody>
      </p:sp>
      <p:sp>
        <p:nvSpPr>
          <p:cNvPr id="31" name="Text 28"/>
          <p:cNvSpPr txBox="1"/>
          <p:nvPr/>
        </p:nvSpPr>
        <p:spPr>
          <a:xfrm>
            <a:off x="548640" y="4892040"/>
            <a:ext cx="640080" cy="685800"/>
          </a:xfrm>
          <a:prstGeom prst="rect">
            <a:avLst/>
          </a:prstGeom>
          <a:noFill/>
          <a:ln/>
        </p:spPr>
        <p:txBody>
          <a:bodyPr wrap="square" lIns="0" tIns="0" rIns="0" bIns="0" rtlCol="0" anchor="ctr"/>
          <a:lstStyle/>
          <a:p>
            <a:pPr indent="0" marL="0">
              <a:buNone/>
            </a:pPr>
            <a:r>
              <a:rPr lang="en-US" sz="1200" b="1" dirty="0">
                <a:solidFill>
                  <a:srgbClr val="962B7C"/>
                </a:solidFill>
                <a:latin typeface="Alexandria" pitchFamily="34" charset="0"/>
                <a:ea typeface="Alexandria" pitchFamily="34" charset="-122"/>
                <a:cs typeface="Alexandria" pitchFamily="34" charset="-120"/>
              </a:rPr>
              <a:t>Y10</a:t>
            </a:r>
            <a:endParaRPr lang="en-US" sz="1200" dirty="0"/>
          </a:p>
        </p:txBody>
      </p:sp>
      <p:sp>
        <p:nvSpPr>
          <p:cNvPr id="32" name="Text 29"/>
          <p:cNvSpPr txBox="1"/>
          <p:nvPr/>
        </p:nvSpPr>
        <p:spPr>
          <a:xfrm>
            <a:off x="1234440" y="4892040"/>
            <a:ext cx="10408615" cy="685800"/>
          </a:xfrm>
          <a:prstGeom prst="rect">
            <a:avLst/>
          </a:prstGeom>
          <a:noFill/>
          <a:ln/>
        </p:spPr>
        <p:txBody>
          <a:bodyPr wrap="square" lIns="0" tIns="0" rIns="0" bIns="0" rtlCol="0" anchor="ctr"/>
          <a:lstStyle/>
          <a:p>
            <a:pPr indent="0" marL="0">
              <a:buNone/>
            </a:pPr>
            <a:r>
              <a:rPr lang="en-US" sz="1200" dirty="0">
                <a:solidFill>
                  <a:srgbClr val="2A2238"/>
                </a:solidFill>
                <a:latin typeface="Alexandria" pitchFamily="34" charset="0"/>
                <a:ea typeface="Alexandria" pitchFamily="34" charset="-122"/>
                <a:cs typeface="Alexandria" pitchFamily="34" charset="-120"/>
              </a:rPr>
              <a:t>Xem các thẻ U08, U11 (Buổi 9), V10 (Buổi 10), X06 (Buổi 11), S12, S15 (Buổi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EVM1110E — Buổi 12: Leverage &amp; Resolving Network Conflicts</dc:title>
  <dc:subject>Quản trị mối quan hệ trong tổ chức sự kiện</dc:subject>
  <dc:creator>PptxGenJS</dc:creator>
  <cp:lastModifiedBy>PptxGenJS</cp:lastModifiedBy>
  <cp:revision>1</cp:revision>
  <dcterms:created xsi:type="dcterms:W3CDTF">2026-09-27T16:02:13Z</dcterms:created>
  <dcterms:modified xsi:type="dcterms:W3CDTF">2026-09-27T16:02:13Z</dcterms:modified>
</cp:coreProperties>
</file>