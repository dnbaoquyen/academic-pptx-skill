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4f7678e2-5ef8-2d5c-7261-524572ffce04}">
          <p14:sldIdLst>
            <p14:sldId id="256"/>
          </p14:sldIdLst>
        </p14:section>
        <p14:section name="S1 · Khởi động — hai nhóm trình bày phương pháp" id="{f8d56a91-72c2-62c1-1afd-d7907b4465e5}">
          <p14:sldIdLst>
            <p14:sldId id="257"/>
            <p14:sldId id="258"/>
          </p14:sldIdLst>
        </p14:section>
        <p14:section name="S2 · Mở bài — hỏi 5.000 người giàu thì sao?" id="{c488d15e-7df1-2de0-6050-d14123e4ce13}">
          <p14:sldIdLst>
            <p14:sldId id="259"/>
            <p14:sldId id="260"/>
            <p14:sldId id="261"/>
          </p14:sldIdLst>
        </p14:section>
        <p14:section name="S3 · Lý do chọn mẫu và các khái niệm" id="{06e2dec3-f0ed-33f9-b0ec-ea574f3ac177}">
          <p14:sldIdLst>
            <p14:sldId id="262"/>
            <p14:sldId id="263"/>
            <p14:sldId id="264"/>
            <p14:sldId id="265"/>
            <p14:sldId id="266"/>
            <p14:sldId id="267"/>
            <p14:sldId id="268"/>
            <p14:sldId id="269"/>
          </p14:sldIdLst>
        </p14:section>
        <p14:section name="S4 · Quy trình và kích thước mẫu" id="{9763e3e0-69fd-6a84-d42b-33a2ca223c4c}">
          <p14:sldIdLst>
            <p14:sldId id="270"/>
            <p14:sldId id="271"/>
            <p14:sldId id="272"/>
            <p14:sldId id="273"/>
            <p14:sldId id="274"/>
            <p14:sldId id="275"/>
            <p14:sldId id="276"/>
            <p14:sldId id="277"/>
            <p14:sldId id="278"/>
            <p14:sldId id="279"/>
          </p14:sldIdLst>
        </p14:section>
        <p14:section name="S5 · Xác suất và phi xác suất; bốn phương pháp xác suất" id="{8a99afa3-dfd9-2d66-ff6d-23b6ab5ae61a}">
          <p14:sldIdLst>
            <p14:sldId id="280"/>
            <p14:sldId id="281"/>
            <p14:sldId id="282"/>
            <p14:sldId id="283"/>
            <p14:sldId id="284"/>
            <p14:sldId id="285"/>
            <p14:sldId id="286"/>
            <p14:sldId id="287"/>
            <p14:sldId id="288"/>
          </p14:sldIdLst>
        </p14:section>
        <p14:section name="S6 · Phi xác suất; sai lệch; giới hạn khái quát hóa" id="{5ddb2484-e5fb-f23e-22d7-97a870f00cfa}">
          <p14:sldIdLst>
            <p14:sldId id="289"/>
            <p14:sldId id="290"/>
            <p14:sldId id="291"/>
            <p14:sldId id="292"/>
            <p14:sldId id="293"/>
            <p14:sldId id="294"/>
            <p14:sldId id="295"/>
            <p14:sldId id="296"/>
            <p14:sldId id="297"/>
            <p14:sldId id="298"/>
            <p14:sldId id="299"/>
            <p14:sldId id="300"/>
            <p14:sldId id="301"/>
          </p14:sldIdLst>
        </p14:section>
        <p14:section name="S7 · Kiểm tra nhanh" id="{456cf676-37f5-fda4-cb93-c47bb8e55f47}">
          <p14:sldIdLst>
            <p14:sldId id="302"/>
            <p14:sldId id="303"/>
          </p14:sldIdLst>
        </p14:section>
        <p14:section name="S8 · Thực hành nhóm: tính toán và kế hoạch chọn mẫu" id="{f3253d9c-f05d-f900-945f-4a0ced638737}">
          <p14:sldIdLst>
            <p14:sldId id="304"/>
            <p14:sldId id="305"/>
            <p14:sldId id="306"/>
            <p14:sldId id="307"/>
          </p14:sldIdLst>
        </p14:section>
        <p14:section name="S9 · Kết buổi" id="{69c88bb4-cf4a-779d-2efb-b5c4bd8d1963}">
          <p14:sldIdLst>
            <p14:sldId id="308"/>
            <p14:sldId id="309"/>
            <p14:sldId id="310"/>
            <p14:sldId id="31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giảng slide này. Trong lúc lớp ổn định, nhắc các nhóm mở bài tập Buổi 7 — phần mô tả phương pháp thu thập — vì phần khởi động sẽ mời hai nhóm trình bày nhanh.
Giới thiệu một câu: "Hôm nay là Bài 6 — chọn mẫu. Buổi 7 các nhóm đã quyết định hỏi bằng cách nào; hôm nay trả lời hai câu còn lại: hỏi ai, và hỏi bao nhiêu người."
Nhắc cấu trúc buổi: khởi động, phần giảng về khái niệm và cỡ mẫu trước giải lao; sau giải lao là tám phương pháp chọn mẫu, kiểm tra nhanh và 45 phút thực hành gồm phiếu bài tập tính toán và kế hoạch chọn mẫu cho dự án. Nhắc mang máy tính bỏ túi hoặc mở Excel, Google Sheets. Chuyển ngay sang slide khởi động.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khởi động 8 phút. Mời hai nhóm, ưu tiên một nhóm định lượng và một nhóm định tính để cả lớp thấy hai hướng. Mỗi nhóm 3 phút, không cần slide, đọc từ bài tập Buổi 7.
Mục tiêu của phần này không phải chấm điểm mà là tạo cầu nối: sau mỗi nhóm, giảng viên hỏi lại đúng một câu về người trả lời — câu đó dẫn thẳng vào bài hôm nay.
Nếu không nhóm nào xung phong, gọi nhóm có đề cương M4 rõ nhất mà giảng viên đã đọc. Giữ đúng 3 phút mỗi nhóm; dùng đồng hồ trên điện thoại để báo khi còn 30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Mời hai nhóm, mỗi nhóm nói ba ý trong 3 phút: một, nhóm chọn phương pháp nào — khảo sát, phỏng vấn sâu hay thảo luận nhóm; hai, vì sao phương pháp đó phù hợp với câu hỏi nghiên cứu; ba, dữ liệu thứ cấp nào nhóm đã tìm được cho phần bối cảnh.
Sau mỗi nhóm, hỏi lại đúng câu trên hộp: "Nhóm sẽ hỏi ai? Khoảng bao nhiêu người? Và tìm họ ở đâu?" Câu trả lời thường gặp: "Hỏi sinh viên, khoảng 200 người, gửi link vào các group Facebook." Không sửa ngay — ghi lên góc bảng "ai? bao nhiêu? tìm ở đâu?" và nói: "Cuối buổi hôm nay, nhóm sẽ trả lời lại ba câu này kỹ hơn nhiều."
Phản hồi ngắn cho mỗi nhóm, khoảng 30 giây: một điểm tốt, một điểm cần chỉnh. Lỗi hay gặp: chọn phương pháp vì "dễ làm" chứ không vì câu hỏi nghiên cứu; nhóm định tính nói "phỏng vấn 100 người".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mở bài 4 phút. Quay lại tình huống mở đầu học phần ở Buổi 1 để đặt vấn đề cho chọn mẫu: cỡ mẫu lớn không cứu được một mẫu hỏi sai người.
Chuẩn bị chỉ định 2 bạn trả lời câu hỏi trên slide tiếp theo; sau đó giới thiệu ba câu hỏi của chọn mẫu sẽ đi suốt buổi.
Giữ phần này ngắn — mục tiêu chỉ là tạo một hình ảnh dễ nhớ: mẫu lớn mà sai người thì vẫn sai. Hình ảnh này sẽ được nhắc lại khi học lưu ý "công thức chỉ đúng với mẫu xác suất" và khi nói về sai lệch chọn mẫu.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Nhắc câu chuyện mở đầu học phần: một hãng điện thoại sắp bán dòng điện thoại giá rẻ, đi khảo sát ở showroom cao cấp, hỏi khách hàng thu nhập cao — và kết luận "giá không quan trọng". Hôm đó chúng ta đã chỉ ra lỗi: hỏi sai người.
Câu hỏi hôm nay: "Nếu công ty hỏi 5.000 người giàu thay vì 1.000 người, kết quả có đúng hơn không?" Chỉ định 2 bạn. Câu trả lời mong đợi: không — vẫn sai, chỉ là sai với nhiều người hơn.
Chốt: mẫu lớn hơn mà vẫn sai đối tượng thì chỉ cho ra một kết quả sai chắc chắn hơn. Ngược lại, 400 người được chọn đúng cách từ những người thật sự có thể mua điện thoại giá rẻ có thể cho câu trả lời đáng tin. Người giảng trong video dùng chính ví dụ này: mẫu bị chệch thì dữ liệu vô giá trị, dù phân tích phía sau hiện đại đến đâu — "garbage in, garbage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Buổi 1 dừng ở câu "hỏi ai". Hôm nay đi tiếp với ba câu hỏi của chọn mẫu. Một: hỏi ai — đám đông nghiên cứu và khung mẫu. Hai: hỏi bao nhiêu người — kích thước mẫu. Ba: chọn họ bằng cách nào — tám phương pháp chọn mẫu, chia thành hai họ xác suất và phi xác suất.
Nói: "Buổi 1 dừng ở 'hỏi ai'. Hôm nay đi hết ba câu — và cuối buổi nhóm sẽ trả lời ba câu này cho dự án của mình, trong phần thực hành Phần B."
Chỉ lên góc bảng nơi đã ghi "ai? bao nhiêu? tìm ở đâu?" ở phần khởi động: ba câu đó chính là ba ô trên slide. Trước giải lao: hỏi ai và bao nhiêu. Sau giải lao: chọn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S3 khoảng 18 phút: vì sao chọn mẫu thay vì tổng điều tra, nghịch lý về sai số, các khái niệm cơ bản (đám đông, đám đông nghiên cứu, phần tử, đơn vị, khung mẫu, hiệu quả chọn mẫu) và một kiểm tra nhanh.
Dùng một ví dụ chạy suốt phần khái niệm — thói quen mua trà sữa của sinh viên (giả định) — giống tài liệu học tập để sinh viên ôn lại dễ.
Nhắc lớp: các khái niệm này là ngôn ngữ chung cho phần còn lại của buổi và cho mục 4.3.3 của đề cương.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điều tra (census) là thu thập dữ liệu từ tất cả phần tử của đám đông. Chọn mẫu (sampling) là thu thập từ một bộ phận, rồi dùng kết quả để suy ra đám đông.
Hỏi lớp trước khi đọc các ô: "Vì sao các công ty không hỏi tất cả khách hàng?" Để lớp nêu 2–3 lý do.
Bốn lý do theo tài liệu học tập. Chi phí: hỏi hàng triệu người tiêu dùng là không khả thi về ngân sách. Thời gian: quyết định marketing cần thông tin kịp thời. Độ chính xác: mẫu nhỏ được thực hiện cẩn thận có thể chính xác hơn tổng điều tra làm vội — slide sau giải thích. Tính phá hủy: một số kiểm tra làm hỏng sản phẩm.
Ví dụ tính phá hủy: một hãng nước mắm muốn kiểm tra độ mặn của cả lô — nếu nếm hết từng chai thì không còn chai nào để bán. Ví dụ minh họa từ video: thay vì hỏi toàn bộ 10.000 khách hàng về một sản phẩm mới, doanh nghiệp chọn mẫu 500 khách.
Lưu ý cho giảng viên: slide UEF gốc chỉ có 3 lý do và gọi NE là "sai lệch hệ thống" — dùng 4 lý do và tên "sai số không do chọn mẫu".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Lý do thứ ba nghe vô lý: hỏi ít người mà lại chính xác hơn hỏi tất cả? Để hiểu, tách kết quả nghiên cứu thành hai loại sai số. Sai số do chọn mẫu (SE — sampling error): chênh lệch vì chỉ hỏi một bộ phận; tổng điều tra không có loại này. Sai số không do chọn mẫu (NE — non-sampling error): sai do ghi chép, câu hỏi khó hiểu, người trả lời qua loa, nhập liệu sai — loại này tăng mạnh khi quy mô thu thập quá lớn.
Ví dụ giả định: tổng điều tra 50.000 khách cần hàng trăm người phỏng vấn được hướng dẫn vội, phiếu dồn về nhập liệu trong vài ngày — SE bằng 0 nhưng NE rất lớn. Một mẫu 400 người với 5 người phỏng vấn được huấn luyện kỹ thì có SE, nhưng NE nhỏ hơn nhiều.
Viết câu kết lên bảng (câu trong hộp). Có thể vẽ nhanh đồ thị: SE đi xuống, NE đi lên, tổng sai số hình chữ U — có một cỡ mẫu vừa phải cho tổng sai số thấp nhất.
Lưu ý cho giảng viên: slide UEF gốc kết luận bằng ký hiệu "ΔNE − ΔSE &gt; 0" — không dùng ký hiệu này vì dễ học thuộc sai; dùng câu chữ như trên.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Đám đông (tổng thể, population) là toàn bộ các phần tử có chung đặc điểm mà nhà nghiên cứu quan tâm — ví dụ "sinh viên Việt Nam". Nhưng không ai nghiên cứu được "sinh viên Việt Nam" nói chung. Đám đông nghiên cứu (target population) là đám đông được xác định cụ thể theo bốn yếu tố: phần tử, đơn vị, phạm vi không gian và thời gian.
Hỏi lần lượt bốn câu, chờ lớp trả lời từng câu. Phần tử — ai trả lời? Một sinh viên đại học hệ chính quy. Đơn vị — chọn theo cái gì? Từng sinh viên, hay từng lớp. Không gian — ở đâu? Đang học tại TP.HCM. Thời gian — khi nào? Đã mua trà sữa ít nhất một lần trong 3 tháng qua; khảo sát trong học kỳ này.
Ghép lại: "Sinh viên đại học hệ chính quy đang học tại TP.HCM, đã mua trà sữa ít nhất một lần trong 3 tháng qua, khảo sát trong học kỳ này." Nhấn: đây là câu sinh viên phải viết trong đề cương mục 4.3.3.
Lưu ý cho giảng viên: slide UEF gốc định nghĩa đám đông nghiên cứu là "khối lượng thực tế có thể tiếp cận qua dữ liệu" — dễ nhầm với khung mẫu; dùng định nghĩa bốn yếu tố.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tử (element) là đối tượng cung cấp thông tin — ví dụ một sinh viên. Đơn vị, hay đơn vị mẫu (sampling unit), là đơn vị chứa phần tử, dùng để chọn trong quá trình lấy mẫu; có thể trùng với phần tử.
Phần tử và đơn vị khác nhau khi ta chọn theo "gói". Ví dụ trên slide UEF: muốn khảo sát hộ gia đình, ta có thể chọn quận, rồi chọn phường, rồi chọn hộ gia đình. Quận, phường là các đơn vị ở từng bước; người trả lời trong hộ là phần tử.
Ví dụ trà sữa: nếu nhóm bốc thăm từng lớp học rồi hỏi sinh viên trong lớp thì đơn vị là một lớp, phần tử là một sinh viên. Nếu bốc thẳng từng sinh viên thì đơn vị trùng với phần tử.
Nói: "Khi bốc thẳng từng người thì đơn vị trùng với phần tử. Khi bốc theo 'gói' thì khác." Phân biệt này sẽ quay lại khi học chọn mẫu theo nhóm sau giải lao.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Khung mẫu (sampling frame) là danh sách các đơn vị của đám đông nghiên cứu, dùng để chọn mẫu — nói gọn là danh sách để bốc. Lý tưởng nhất, khung mẫu trùng khít với đám đông nghiên cứu. Thực tế hiếm khi như vậy.
Sai số khung mẫu xảy ra khi khung mẫu không trùng với đám đông nghiên cứu: thiếu người, thừa người, hoặc trùng lặp. Ví dụ trong hộp: dùng danh sách thành viên một nhóm Facebook làm khung mẫu cho "sinh viên TP.HCM" sẽ bỏ sót người không tham gia nhóm (thiếu), lẫn vào người đã tốt nghiệp hoặc không phải sinh viên (thừa), và một người có thể có hai tài khoản (trùng).
Ở thị trường thiếu dữ liệu chuẩn — rất phổ biến ở Việt Nam — có khung mẫu tốt là điều khó và tốn kém. Đó là lý do phần lớn dự án sinh viên không có khung mẫu; cuối buổi sẽ thấy điều này quyết định phương pháp chọn mẫu của nhóm.
Nhắc đạo đức: danh sách lớp, danh sách sinh viên chứa dữ liệu cá nhân — chỉ dùng khi được phép. Lưu ý cho giảng viên: bổ sung quy định của trường về việc sinh viên dùng danh sách lớp làm khung mẫu nếu có.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Hiệu quả chọn mẫu có hai nghĩa. Hiệu quả thống kê: với cùng cỡ mẫu, phương pháp nào cho sai số nhỏ hơn thì hiệu quả hơn. Hiệu quả kinh tế: với cùng mức chính xác, phương pháp nào rẻ hơn thì hiệu quả hơn — ví dụ chọn theo nhóm, tức chỉ đến vài lớp học hay vài khu phố, giúp giảm chi phí đi lại so với đi khắp nơi tìm từng người.
Hỏi nhanh: "Nếu bạn có ngân sách cố định, bạn sẽ nghĩ đến loại hiệu quả nào trước?" Không cần đáp án đúng — mục đích là để lớp thấy hai loại hiệu quả là hai cách nhìn khác nhau về cùng một đánh đổi giữa độ chính xác và chi phí.
Nói: "Hai chữ này sẽ quay lại khi so sánh phân tầng với theo nhóm sau giải lao." Đi nhanh, khoảng một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Ngữ cảnh giả định: khảo sát mức hài lòng của khách hàng thành viên một chuỗi siêu thị mini, chọn mẫu theo cửa hàng. Chỉ định 4 bạn, mỗi bạn một dòng, khoảng 2 phút cả hoạt động.
Đáp án. (a) Danh sách 120 cửa hàng của chuỗi: khung mẫu — danh sách các đơn vị. (b) Một cửa hàng được bốc thăm: đơn vị. (c) Chị Lan, khách hàng thành viên trả lời phiếu: phần tử. (d) "Khách hàng thành viên đã mua ít nhất 1 lần trong tháng 9, tại các cửa hàng ở TP.HCM": đám đông nghiên cứu.
Câu (d) là câu bẫy — không thuộc ba lựa chọn đầu trong tiêu đề. Khen bạn nào nhận ra. Chỉ ra đủ bốn yếu tố trong câu (d): phần tử là khách hàng thành viên, đơn vị là cửa hàng, không gian là TP.HCM, thời gian là tháng 9.
Chuyển ý: "Biết hỏi ai rồi — câu hỏi thứ hai: hỏi bao nhiêu người?"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S4 khoảng 18 phút: quy trình chọn mẫu 5 bước, năm yếu tố quyết định cỡ mẫu, hai công thức (trung bình và tỷ lệ) với ví dụ bằng số, thử tay, quy tắc kinh nghiệm theo kỹ thuật phân tích, và lưu ý quan trọng nhất: công thức chỉ đúng với mẫu xác suất.
Nhắc lớp chuẩn bị máy tính bỏ túi hoặc Excel. Công thức và ví dụ theo tài liệu học tập — video bài giảng không có công thức.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chọn mẫu 5 bước theo tài liệu học tập: xác định thị trường (đám đông) nghiên cứu → xác định khung mẫu → xác định kích thước mẫu → chọn phương pháp chọn mẫu → tiến hành chọn mẫu.
Thứ tự này có lý do. Nói: "Chưa biết hỏi ai thì không tìm được danh sách; có danh sách hay không quyết định chọn được phương pháp xác suất hay không." Bước 1 đến 2 chúng ta vừa học; bước 3 là phần tiếp theo; bước 4 sau giải lao.
Hỏi lớp: "Nhóm của bạn đang ở bước nào?" Phần lớn các nhóm mới có một câu mơ hồ về bước 1. Nhắc: phần thực hành Phần B hôm nay, nhóm sẽ đi đúng 5 bước này cho dự án của mình — phiếu Phần B được thiết kế theo đúng thứ tự trên.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Hỏi trước: "Theo các bạn, cần hỏi bao nhiêu người là đủ? Phụ thuộc vào cái gì?" Gom ý lớp vào năm yếu tố.
Một: mức độ tin cậy mong muốn (Z) — muốn chắc chắn hơn thì cần nhiều người hơn; thường dùng 95%. Hai: sai số cho phép (e) — muốn kết quả sát thực tế hơn thì cần nhiều người hơn. Ba: mức độ biến thiên của đám đông — đám đông càng đa dạng càng cần mẫu lớn. Bốn: kỹ thuật phân tích dự kiến — mỗi kỹ thuật cần một số quan sát tối thiểu. Năm: nguồn lực — ngân sách, thời gian, nhân lực.
Video bài giảng còn nêu thêm quy mô đám đông và mục đích nghiên cứu — khám phá cần ít, quyết định chiến lược lớn cần nhiều. Chỉ nói bằng lời; video không có công thức.
Chuyển ý: ba yếu tố đầu đi vào công thức; yếu tố thứ tư cho quy tắc kinh nghiệm; yếu tố thứ năm là giới hạn thực tế.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Áp dụng cho mẫu xác suất ngẫu nhiên đơn giản, đám đông lớn. Ký hiệu: Z là giá trị phân phối chuẩn theo độ tin cậy (95% thì Z = 1,96); σ là độ lệch chuẩn của đám đông, ước từ nghiên cứu trước hoặc nghiên cứu thử; e là sai số cho phép, cùng đơn vị với biến.
Ví dụ giả định: ước lượng chi tiêu trà sữa trung bình mỗi tuần của sinh viên. Nghiên cứu thử cho σ ≈ 40.000 đ; muốn sai số không quá 5.000 đ; độ tin cậy 95%. n = 1,96² × 40.000² / 5.000².
Giải thích bước giữa trên bảng: 40.000² / 5.000² = (40.000 / 5.000)² = 8² = 64. Vậy n = 3,8416 × 64 ≈ 245,9 → làm tròn lên 246.
Nhấn: luôn làm tròn lên, vì làm tròn xuống thì sai số vượt mức cho phép.
Chỉ ra khó khăn: phải biết trước σ — mà thường ta chưa biết. Vì vậy trong thực tế, công thức theo tỷ lệ ở slide sau được dùng nhiều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Công thức khi ước lượng tỷ lệ: n = Z² × p(1 − p) / e², trong đó p là tỷ lệ dự kiến; chưa biết thì dùng p = 0,5 — cho cỡ mẫu lớn nhất, an toàn nhất.
Ví dụ: ước lượng tỷ lệ sinh viên đã mua mỹ phẩm nội địa, độ tin cậy 95%, sai số ±5%. Viết từng bước lên bảng: 1,96² × 0,5 × 0,5 / 0,05² = 3,8416 × 0,25 / 0,0025 ≈ 384,2 → 385.
Hỏi: "Vì sao p = 0,5 lại an toàn nhất?" Gợi ý: so p(1 − p) với các giá trị p khác: 0,5 × 0,5 = 0,25; 0,2 × 0,8 = 0,16; 0,1 × 0,9 = 0,09. Không biết p thì giả định trường hợp "khó nhất".
Nói: "Con số 385 các bạn sẽ gặp rất nhiều trong các bài nghiên cứu — từ nay gặp, các bạn biết nó từ đâu ra: độ tin cậy 95%, sai số ±5%, p = 0,5."
Tính bằng Excel hoặc Google Sheets: =ROUNDUP(1.96^2*0.5*0.5/0.05^2; 0) → 385. Dấu phân cách "," hay ";" và dấu thập phân tùy cài đặt ngôn ngữ của máy.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cả lớp 1 phút tự tính bằng máy tính cá nhân hoặc Excel, dùng đúng công thức tỷ lệ vừa học, chỉ thay e. Trong lúc lớp tính, đi quanh xem có bạn nào nhập e = 10 thay vì 0,10 — lỗi rất phổ biến.
Sau 1 phút, chỉ định 2 bạn đọc kết quả, mỗi bạn một ô. Chưa xác nhận đúng sai ngay; hỏi lớp: "Ai ra số khác?" Nếu có bạn ra 96 hoặc 1.067, hỏi: "Bạn làm tròn thế nào?" — nhắc lại quy tắc luôn làm tròn lên.
Trước khi chuyển sang slide đáp án, hỏi lớp đoán: "Từ ±10% xuống ±3%, cỡ mẫu tăng khoảng mấy lần?" Để lớp đoán con số trước khi thấy.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Đáp án: sai số ±10% → n = 3,8416 × 0,25 / 0,01 = 96,04 → 97. Sai số ±3% → n = 3,8416 × 0,25 / 0,0009 ≈ 1.067,1 → 1.068.
Nhận xét: sai số giảm từ 10% xuống 3% thì cỡ mẫu tăng hơn 10 lần. Vì e nằm ở mẫu số và bình phương, muốn chính xác thêm một chút phải trả giá rất đắt.
Ví dụ minh họa từ video: các cuộc thăm dò chính trị thường chấp nhận sai số ±3% hoặc ±5% — với ±3%, cỡ mẫu khoảng một nghìn người là vì thế.
Hỏi lớp: "Với dự án nhóm, sai số bao nhiêu là hợp lý?" Gợi ý: ±5% là mức thường dùng; nhưng như sẽ thấy ở hai slide sau, với mẫu thuận tiện thì cỡ mẫu chủ yếu căn cứ vào kỹ thuật phân tích.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Nhiều nghiên cứu kinh doanh xác định cỡ mẫu theo kỹ thuật phân tích sẽ dùng. Phân tích nhân tố khám phá (EFA): tối thiểu 5 quan sát cho mỗi biến đo lường, tốt hơn là 10; mẫu không dưới 50, nên từ 100 trở lên (Hair và cộng sự, 2019). Hồi quy bội: n ≥ 50 + 8m, với m là số biến độc lập (Tabachnick và Fidell, 2019).
Ví dụ: bảng hỏi có 24 biến quan sát → theo tỷ lệ 5:1 cần ít nhất 120 người trả lời hợp lệ. Mô hình có 5 biến độc lập → hồi quy cần ít nhất 50 + 8 × 5 = 90.
Nói rõ: EFA và hồi quy là điểm cộng trong học phần này, không bắt buộc. Nhóm nào định làm thì dùng quy tắc này làm căn cứ cỡ mẫu và phải trích dẫn nguồn — đưa Hair và cộng sự hoặc Tabachnick và Fidell vào danh mục tài liệu tham khảo của nhóm.
Lưu ý cho giảng viên: cần xác nhận số trang của quy tắc 5:1/10:1 trong Hair et al. (2019) và n ≥ 50 + 8m trong Tabachnick &amp; Fidell (2019).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ý quan trọng nhất của phần cỡ mẫu với dự án sinh viên — nói chậm.
Công thức ở hai slide trước giả định mẫu được chọn ngẫu nhiên từ khung mẫu. Với mẫu thuận tiện, tăng cỡ mẫu không làm mẫu đại diện hơn. 1.000 phiếu thu từ group Facebook của trường mình vẫn chỉ đại diện cho… những người trong group đó chịu trả lời. Cỡ mẫu khi đó chủ yếu để đủ cho kỹ thuật phân tích.
Nói: "Đây là bài học '5.000 người giàu' nói bằng ngôn ngữ thống kê."
Dự trù phiếu không hợp lệ: nên phát thêm khoảng 10–20% vì sẽ có phiếu trả lời thiếu, trả lời một màu, không qua câu gạn lọc. Cách tính chính xác: cần 385 phiếu hợp lệ, dự kiến 15% không hợp lệ → phát 385 / 0,85 ≈ 453 phiếu. Bài A1(e) của phiếu bài tập sẽ luyện điểm này.
Nếu sinh viên hỏi "đám đông nhỏ thì sao": chỉ sang mục hiệu chỉnh đám đông hữu hạn trong tài liệu đọc thêm.
Chuyển ý: "Câu hỏi thứ ba — chọn họ bằng cách nào — sau giải lao."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lao 15 phút, từ phút 48 đến phút 63. Điền giờ quay lại cụ thể vào chỗ "…" trước buổi học, hoặc viết lên bảng.
Giao câu hỏi để nghĩ trong giờ nghỉ: "Nhóm mình có danh sách người trả lời không?" — tức là nhóm có khung mẫu không. Câu trả lời sẽ quyết định nhóm dùng được phương pháp chọn mẫu nào ở phần sau giải lao.
Trong giờ nghỉ, giảng viên có thể xem nhanh câu đám đông nghiên cứu của một vài nhóm để chuẩn bị phản hồi cho phần thực hành.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S5 khoảng 17 phút: so sánh hai họ phương pháp, bản đồ tám phương pháp, rồi đi lần lượt bốn phương pháp xác suất — ngẫu nhiên đơn giản, hệ thống, phân tầng, theo nhóm — và so sánh phân tầng với theo nhóm.
Mở phần bằng câu hỏi giờ giải lao: "Nhóm nào có danh sách người trả lời? Giơ tay." Thường rất ít tay — giữ kết quả này để nối với phần dự án.
Giới thiệu cách đi: trước hết là bảng so sánh hai họ, rồi bản đồ tám phương pháp, sau đó từng phương pháp xác suất kèm một ví dụ gần với sinh viên.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 qua bảng. Cách chọn: xác suất — mỗi phần tử có xác suất được chọn biết trước, khác 0; phi xác suất — dựa vào sự thuận tiện hoặc phán đoán của nhà nghiên cứu. Cần khung mẫu: xác suất có; phi xác suất không bắt buộc. Tính được sai số chọn mẫu: có / không. Khái quát hóa cho đám đông: có cơ sở thống kê / không có cơ sở thống kê. Chi phí, thời gian: cao hơn / thấp hơn. Phù hợp: xác suất cho nghiên cứu mô tả cần ước lượng cho đám đông; phi xác suất cho nghiên cứu khám phá, định tính, thử nghiệm bảng hỏi, ngân sách hạn chế.
Nhấn hai dòng in đậm — quan trọng nhất. Nói: "Chỉ mẫu xác suất mới cho phép nói 'kết quả này đúng cho đám đông với sai số ±5%'."
Nối lại slide trước giải lao: công thức 385 chỉ có nghĩa khi mẫu là xác suất.
Lưu ý cho giảng viên: slide UEF gốc chỉ có ba dòng ưu, nhược, phạm vi — đã bổ sung theo tài liệu học tập.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 đồ tám phương pháp chọn mẫu, chia thành hai họ. Xác suất: ngẫu nhiên đơn giản, hệ thống, phân tầng, theo nhóm. Phi xác suất: thuận tiện, phán đoán (có chủ đích), phát triển mầm (quả bóng tuyết), định mức.
Nói: "Bốn phương pháp đầu cần khung mẫu; bốn phương pháp sau thì không bắt buộc."
Hỏi: "Nhóm nào vừa giơ tay là có danh sách người trả lời? Vậy nhóm còn lại sẽ dùng cột nào?" Để lớp tự thấy: không có khung mẫu thì gần như chắc chắn ở cột phải.
Giới thiệu thứ tự: đi cột trái trước, từng phương pháp một, sau đó so sánh phân tầng với theo nhóm; phần sau đi cột phải, và cuối cùng là bảng tổng hợp "dùng khi nào" để các nhóm chụp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Ngẫu nhiên đơn giản: mỗi phần tử trong khung mẫu có cơ hội được chọn như nhau. Hình ảnh người giảng trong video dùng: bỏ tên tất cả mọi người vào một chiếc mũ rồi bốc thăm.
Nói: "Ngày nay chiếc mũ là máy tính." Cách làm: đánh số khung mẫu, trong Excel tạo một cột =RAND(), sắp xếp theo cột này và lấy n dòng đầu. Có thể làm mẫu nhanh trên máy chiếu nếu có thời gian.
Ưu điểm: đơn giản, dễ hiểu, là nền tảng của các công thức thống kê vừa học. Nhược điểm: cần khung mẫu đầy đủ; mẫu có thể phân tán về địa lý, tốn kém để tiếp cận — ví dụ bốc 400 sinh viên ngẫu nhiên từ danh sách toàn thành phố thì phải đi đến rất nhiều trường.
Chuyển ý: nếu danh sách quá dài và không muốn tạo số ngẫu nhiên cho từng người — dùng chọn mẫu hệ thống.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Chọn mẫu hệ thống: tính bước nhảy k = N/n, chọn ngẫu nhiên một điểm bắt đầu từ 1 đến k, sau đó cứ cách k phần tử lại chọn một.
Ví dụ: N = 1.000, n = 100 → k = 10. Bốc ngẫu nhiên được số 7 → chọn các phần tử số 7, 17, 27, …, 997.
Ưu điểm: dễ làm hơn ngẫu nhiên đơn giản; dùng được tại hiện trường — cứ 10 khách ra khỏi cửa hàng thì hỏi một người, không cần danh sách trước.
Nhược điểm: sai lệch nếu danh sách có tính chu kỳ trùng với k. Hỏi: "Cho một ví dụ danh sách có tính chu kỳ?" Gợi ý nếu lớp im: danh sách bán hàng theo ngày, k = 7 → ngày nào cũng rơi đúng vào chủ nhật.
Lưu ý cho giảng viên: slide UEF gốc dùng điểm xuất phát 6 — đã đổi thành 7 cho khớp tài liệu học tập.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Chọn mẫu phân tầng: chia đám đông thành các tầng theo một đặc điểm liên quan đến vấn đề nghiên cứu, sao cho đồng nhất trong từng tầng và khác biệt giữa các tầng; sau đó chọn ngẫu nhiên trong mỗi tầng.
Hình dung: ba tầng — một tầng toàn hình tròn, một tầng toàn tam giác, một tầng toàn hình vuông; mẫu lấy một ít từ cả ba tầng, nên không tầng nào bị bỏ sót.
Phân tầng thường tăng độ chính xác so với ngẫu nhiên đơn giản cùng cỡ mẫu, nếu tầng được chia theo đặc điểm liên quan. Nhấn chữ "liên quan": chia theo màu áo thì vô ích.
Video bài giảng dùng ví dụ sinh viên một chương trình đào tạo chia theo năm học. Slide sau chuyển sang bối cảnh lớp mình — sinh viên một khoa ở UEF (giả định).
Lưu ý cho giảng viên: slide UEF gốc nói phân tầng "hiệu quả thống kê cao nhất trong các phương pháp xác suất" — nói quá; đã sửa.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giả định — số liệu không phải số sinh viên thật của UEF. Nghiên cứu thói quen chi tiêu của sinh viên một khoa: N = 2.000, cần n = 200, phân tầng theo năm học.
Phân bổ tỷ lệ giữ đúng cơ cấu đám đông: mỗi tầng lấy 10% (200 / 2.000) → 80, 60, 40, 20. Phân bổ không tỷ lệ, ví dụ chia đều 50 mỗi năm, dùng khi cần đủ người để so sánh các tầng nhỏ.
Nói: "Phân bổ tỷ lệ: năm 4 chỉ 20 người — quá ít để so sánh với năm 1. Chia đều thì đủ so sánh, nhưng khi tính kết quả chung cho cả khoa phải điều chỉnh trọng số" — nếu không, ý kiến năm 4 bị khuếch đại gấp 2,5 lần (50 so với 20).
Hỏi: "Vì sao năm học là tiêu chí tầng hợp lý cho đề tài chi tiêu?" Mong đợi: năm học liên quan đến thu nhập, nơi ở, thói quen — đồng nhất trong năm, khác biệt giữa các năm.
Lưu ý cho giảng viên: bảng của slide UEF gốc (700/400/300/600) đã được thay bằng bảng của tài liệu học tập.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Chọn mẫu theo nhóm (cụm): chia đám đông thành các nhóm có sẵn — lớp học, khu phố, cửa hàng — chọn ngẫu nhiên một số nhóm, rồi: một bước — khảo sát tất cả phần tử trong các nhóm được chọn; hoặc hai bước — chọn ngẫu nhiên tiếp một số phần tử trong mỗi nhóm được chọn.
Khác phân tầng ở chỗ: mỗi nhóm nên đa dạng như một đám đông thu nhỏ, và các nhóm giống nhau. Hình dung ba khung, khung nào cũng trộn đủ hình tròn, tam giác, vuông; chỉ hai khung được chọn.
Ví dụ trong video: nghiên cứu hệ thống giáo dục một quốc gia — chia các trường theo vùng, chọn ngẫu nhiên một số cụm. Ví dụ gần lớp mình (giả định): khảo sát sinh viên một trường bằng cách bốc thăm 8 lớp học phần sáng thứ Hai, rồi phát phiếu cho cả lớp.
Lưu ý cho giảng viên: hình minh họa slide UEF gốc vẽ nhóm giữa toàn hình tam giác — trái với "bên trong nhóm đa dạng"; nếu dùng hình gốc, cần sửa hoặc nói rõ.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sánh phân tầng và theo nhóm. Bên trong mỗi tầng hay nhóm: phân tầng đồng nhất; theo nhóm đa dạng, mỗi nhóm như một đám đông thu nhỏ. Giữa các tầng hay nhóm: phân tầng khác biệt; theo nhóm tương tự nhau. Chọn: phân tầng lấy phần tử từ mọi tầng; theo nhóm chỉ lấy một số nhóm. Mục tiêu chính: phân tầng tăng độ chính xác — hiệu quả thống kê; theo nhóm giảm chi phí — hiệu quả kinh tế.
Nối lại slide hiệu quả chọn mẫu trước giải lao: "Hai chữ đã hứa sẽ quay lại — đây."
Câu dễ nhớ: phân tầng lấy một ít từ tất cả các tầng; theo nhóm lấy gần như tất cả từ một vài nhóm.
Hỏi nhanh: "Bốc thăm 8 lớp học phần rồi phát phiếu cả lớp — phân tầng hay theo nhóm?" Mong đợi: theo nhóm, một bước.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S6 khoảng 15 phút: bốn phương pháp phi xác suất (thuận tiện, phán đoán, phát triển mầm, định mức) kèm hoạt động nhỏ tìm lỗi bảng định mức; hai nguồn sai lệch dự án hay gặp; và thông điệp quan trọng nhất cho dự án: mẫu của nhóm gần như chắc là phi xác suất — chấp nhận được, nếu nói thật.
Nói trước với lớp: "Phần này nói về đúng loại mẫu mà các nhóm sẽ dùng." Hoạt động tìm lỗi bảng định mức chỉ 1 phút — chuẩn bị sẵn slide bảng sai và bảng đúng liền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Trong nghiên cứu ứng dụng, tốc độ và tính khả thi rất quan trọng, nên phương pháp phi xác suất được dùng nhiều. Nhưng phải nói rõ cái giá: không tính được sai số chọn mẫu và không có cơ sở thống kê để khái quát hóa cho đám đông.
Nói: "Không phải 'khái quát được 90%' — mà là không có cơ sở thống kê." Nhấn: đây không phải chuyện mức độ, mà là chuyện có hay không có cơ sở.
Hỏi: "Vậy kết quả từ mẫu phi xác suất có vô dụng không?" Mong đợi: không — vẫn cho hiểu biết hữu ích, gợi ý, kiểm tra mối quan hệ trong mẫu; chỉ là không được nói "đúng cho toàn bộ đám đông".
Lưu ý cho giảng viên: slide UEF gốc viết "không thể khái quát hóa 100%" và "lợi thế tuyệt đối" — dễ hiểu nhầm; đã sửa.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Thuận tiện (convenience): chọn những người dễ tiếp cận nhất — bạn bè, người đi ngang qua, thành viên nhóm mạng xã hội. Ví dụ trong video: giảng viên khảo sát ngay sinh viên lớp mình. Ưu: nhanh, rẻ, dễ làm. Nhược: dễ thiên lệch — mẫu giống nhà nghiên cứu, cùng trường, cùng tuổi, cùng sở thích; không khái quát hóa được.
Phán đoán, hay có chủ đích (judgmental): nhà nghiên cứu dựa vào hiểu biết để chọn những người phù hợp nhất với mục tiêu — chuyên gia, khách hàng trung thành, người vừa đổi thương hiệu. Ví dụ video: muốn hiểu sinh viên học giỏi thì chọn đúng những sinh viên có thành tích cao. Thường dùng trong định tính; kết quả phụ thuộc vào "con mắt" của nhà nghiên cứu.
Hỏi: "Nhóm định tính phỏng vấn sâu 8 người — thường chọn theo cách nào?" Mong đợi: phán đoán, với tiêu chí chọn rõ ràng.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Phát triển mầm, hay quả bóng tuyết: chọn một số người tham gia ban đầu — thường chọn có chủ đích — sau đó nhờ họ giới thiệu thêm những người có cùng đặc điểm. Mẫu lan rộng dần qua các lượt giới thiệu.
Phù hợp với đối tượng hiếm, khó tìm: người chơi một môn thể thao ít phổ biến, người sưu tầm đồ cổ. Ví dụ gần sinh viên (giả định): người sưu tầm mô hình nhân vật, người nuôi thú cưng ngoại lai.
Nhược điểm: mẫu có xu hướng giống nhau vì cùng một mạng lưới quen biết.
Hỏi: "Đề tài nào trong lớp có thể cần phát triển mầm?" Gợi ý: nhóm định tính nghiên cứu một nhóm khách hàng hẹp.
Lưu ý cho giảng viên: slide UEF gốc ghi "chọn ngẫu nhiên một số phần tử ban đầu" và "trường hợp áp dụng tuyệt đối" — đã sửa thành "thường chọn có chủ đích" và "phù hợp khi". Video không có ví dụ phát triển mầm; ví dụ theo tài liệu học tập.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Định mức (quota): xác định tỷ lệ theo một hoặc nhiều đặc điểm của đám đông, rồi chọn người trả lời — thuận tiện hoặc phán đoán — cho đến khi đủ định mức.
Hình ảnh trong video: lấp đầy ghế trên một chuyến xe buýt. Xe có số ghế chia sẵn cho mỗi nhóm; người phỏng vấn mời bất kỳ ai thuộc nhóm đó lên xe cho đến khi hết ghế của nhóm. Ví dụ video: cần 10 sinh viên, 10 giáo viên, 10 phụ huynh — gặp ai phù hợp gần nhất thì mời, đủ 10 thì thôi.
Nhấn: mẫu định mức có cơ cấu giống đám đông theo các đặc điểm đã chọn, nhưng người trả lời trong mỗi ô không được chọn ngẫu nhiên — người phỏng vấn mời người dễ gặp nhất. Vì vậy định mức vẫn là phi xác suất.
Lưu ý cho giảng viên: slide UEF gốc nói định mức là "phương pháp phi xác suất phổ biến nhất trong thực tiễn" (chưa có nguồn) và "đại diện tương đối" — không dùng hai câu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giả định — định mức theo một thuộc tính, n = 100. Tỷ lệ trong đám đông: nhóm 18–30 chiếm 30%, 31–40 chiếm 40%, 41–50 chiếm 30%. Số người cần khảo sát = tỷ lệ × cỡ mẫu: 30, 40, 30, tổng 100.
Nói: "Người phỏng vấn tự do chọn người, miễn đủ định mức từng nhóm tuổi." Khi nhóm 31–40 đã đủ 40 người, người thứ 41 thuộc nhóm này bị cảm ơn và không hỏi tiếp.
Hỏi: "Tỷ lệ 30/40/30 lấy từ đâu?" Mong đợi: từ dữ liệu thứ cấp — ví dụ số liệu thống kê dân số, báo cáo ngành. Nhắc: trong kế hoạch chọn mẫu, nhóm phải ghi nguồn của tỷ lệ định mức.
Lưu ý cho giảng viên: slide UEF gốc ghi nhóm tuổi "20–30" — đã đổi thành "18–30" cho khớp tài liệu học tập.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nhỏ 1 phút. Đây là bảng định mức hai thuộc tính — tuổi × giới tính, giả định nam/nữ 50/50 trong mỗi nhóm tuổi — lấy từ slide gốc của bộ slide môn học, nhãn tuổi đã sửa thành 18–30. Bảng có lỗi.
Nói: "Bảng này có gì sai? Một phút, tìm với bạn bên cạnh." Để lớp tìm.
Gợi ý nếu lớp im: "Cộng cột thì đúng — tổng nam 50, tổng nữ 50, tổng chung 100. Thử so tổng từng dòng với tỷ lệ của nhóm."
Đáp án: dòng 31–40 chiếm 40% thì phải là 40 người, nhưng bảng ghi 30; dòng 41–50 chiếm 30% thì phải là 30, nhưng bảng ghi 40 — hai dòng bị đảo.
Có thể nói với lớp sau khi chữa: "Tài liệu giảng dạy cũng có thể sai — kiểm tra là thói quen của người làm nghiên cứu."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đã sửa. 18–30 (30%): 15 nam, 15 nữ, tổng 30. 31–40 (40%): 20, 20, tổng 40. 41–50 (30%): 15, 15, tổng 30. Tổng: 50, 50, 100.
Nói: "Lỗi không lộ khi cộng cột. Quy tắc: luôn cộng kiểm tra theo dòng và theo cột, và so với tỷ lệ của từng nhóm." Bảng sai rất khó phát hiện nếu chỉ cộng cột: tổng nam vẫn 50, tổng nữ vẫn 50, tổng chung vẫn 100. Chỉ khi so tổng từng dòng với tỷ lệ nhóm tuổi — 40% của 100 là 40, không phải 30 — mới thấy lỗi.
Nhắc định mức vẫn là phi xác suất. Gieo câu hỏi cho phần kiểm tra nhanh: "Phân tầng và định mức giống nhau ở chỗ cùng chia theo đặc điểm. Khác nhau ở đâu?" — giữ câu trả lời đến S7.
Bài A4 và A5 trong phiếu bài tập sẽ luyện đúng kỹ năng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Sai lệch chọn mẫu (sampling bias): khi một số nhóm bị đại diện quá nhiều hoặc quá ít trong mẫu. Ví dụ trong video: nghiên cứu thời trang giới trẻ mà thu dữ liệu từ người trên 40 tuổi; nghiên cứu người dùng điện thoại thông minh nói chung mà chỉ khảo sát người dùng iPhone; và tất nhiên, hỏi người giàu về điện thoại giá rẻ. Liên hệ dự án: "Nhóm khảo sát 'sinh viên TP.HCM' nhưng 80% phiếu là sinh viên trường mình, khoa mình — đó là sai lệch chọn mẫu."
Sai lệch không phản hồi (non-response bias): khi một nhóm không tham gia hoặc từ chối trả lời, và nhóm đó khác với những người trả lời. Ví dụ giả định: khảo sát mức hài lòng về căng-tin qua email; người rất hài lòng hoặc rất bực mình thì trả lời, người bình thường bỏ qua → kết quả lệch về hai cực.
Cách giảm: đa dạng hóa kênh tiếp cận, không chỉ một group Facebook; dùng định mức để giữ cơ cấu; bảng hỏi ngắn, rõ, có lời giới thiệu; nhắc lại một lần với người chưa trả lời; bảo đảm ẩn danh; ghi lại và báo cáo số người được mời, số trả lời, số phiếu hợp lệ.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thẳng — đây là điều sinh viên cần nghe nhất hôm nay. Gần như chắc chắn các nhóm sẽ dùng mẫu thuận tiện hoặc định mức (định lượng) và phán đoán (định tính). Điều này hoàn toàn chấp nhận được — miễn là nhóm làm ba việc.
Một: nói đúng tên phương pháp. Không gọi mẫu thuận tiện là "ngẫu nhiên". Nói: "Gửi link vào group Facebook không phải chọn mẫu ngẫu nhiên." Hai: mô tả rõ cách tiếp cận người trả lời — kênh nào, thời gian nào, điều kiện gạn lọc. Ba: ghi trong phần hạn chế rằng kết quả không khái quát hóa thống kê cho toàn bộ đám đông — câu mẫu ở slide sau.
Nói chậm câu này: "Trung thực về giới hạn không làm bài yếu đi — giấu nó mới làm bài yếu đi."
Hỏi lớp: "Nhóm nào đã từng viết 'chọn mẫu ngẫu nhiên' trong đề cương?" Không gọi tên; chỉ để các nhóm tự kiểm 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to câu mẫu. Nhóm có thể dùng câu này gần như nguyên văn trong phần hạn chế của đề cương (mục 4.3.6) và trong chương kết luận, thay "sinh viên TP.HCM" bằng đám đông nghiên cứu của nhóm mình.
Câu đầy đủ theo bài giảng: "Mẫu được chọn theo phương pháp thuận tiện nên kết quả không thể khái quát hóa cho toàn bộ sinh viên TP.HCM; nghiên cứu sau nên dùng mẫu xác suất hoặc mở rộng phạm vi khảo sát."
Nhấn: câu này phải khớp với phần phương pháp. Nếu phương pháp ghi "định mức", câu hạn chế ghi "định mức"; không được để phương pháp ghi "ngẫu nhiên" còn hạn chế ghi "thuận tiện".
Chuyển ý: "Chụp lại bảng tổng hợp ở hai slide sau — dùng ngay ở phần thực hành."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tổng hợp theo tài liệu học tập, nửa đầu: bốn phương pháp xác suất. Nói: "Chụp lại bảng này — dùng ngay ở phần thực hành."
Ngẫu nhiên đơn giản: khi có khung mẫu đầy đủ, đám đông không quá phân tán. Hệ thống: khi có danh sách hoặc dòng người nối tiếp, không có tính chu kỳ. Phân tầng: khi đám đông gồm các nhóm khác biệt rõ, cần độ chính xác cao. Theo nhóm: khi đám đông phân tán, có sẵn các nhóm tương tự nhau, cần tiết kiệm.
Nhắc: cả bốn đều cần khung mẫu — hoặc ít nhất một danh sách các nhóm. Hỏi: "Nhóm nào trong lớp có thể dùng một trong bốn phương pháp này?" Thường rất ít nhóm — trừ khi nhóm được phép dùng danh sách lớp học phần hoặc làm việc với một doanh nghiệp có danh sách khách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Nửa sau bảng tổng hợp: bốn phương pháp phi xác suất. Thuận tiện: nghiên cứu khám phá, thử bảng hỏi, ngân sách rất hạn chế. Phán đoán: nghiên cứu định tính, cần người có hiểu biết hoặc trải nghiệm cụ thể. Phát triển mầm: đối tượng hiếm, khó tìm. Định mức: muốn mẫu có cơ cấu giống đám đông mà không có khung mẫu.
Liên hệ dự án: nhóm định lượng không có khung mẫu thường chọn giữa thuận tiện và định mức — định mức tốt hơn nếu tìm được tỷ lệ từ dữ liệu thứ cấp. Nhóm định tính thường dùng phán đoán, có thể kết hợp phát triển mầm.
Chuyển sang kiểm tra nhanh: "Ba câu hỏi để xem cả buổi hôm nay đã vào chưa."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Kiểm tra nhanh 5 phút: ba câu hỏi, chỉ định phát biểu, mỗi câu 1–2 bạn. Không chấm điểm.
Nếu câu 1 nhiều bạn trả lời sai, dừng 1 phút nhắc lại thông điệp "mẫu của nhóm gần như chắc là thuận tiện — ổn, nếu nói thật" — đây là lỗi sẽ xuất hiện trong bài giữa kỳ.
Câu 3 có thể cho lớp 30 giây bấm máy. Câu 2 là câu khó nhất — nếu lớp im, gợi ý: "Trong mỗi tầng hoặc mỗi ô, người trả lời được chọn bằng cách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Chiếu ba câu, chỉ định phát biểu — mỗi câu 1–2 bạn.
Câu 1 — mong đợi: đây là mẫu thuận tiện, người tự chọn tham gia, không phải ngẫu nhiên — không có khung mẫu, không ai bốc thăm; 600 phiếu không làm mẫu đại diện hơn; phải ghi hạn chế về khái quát hóa.
Câu 2 — mong đợi: giống — cùng chia đám đông theo đặc điểm và phân bổ số lượng cho từng nhóm. Khác — phân tầng chọn ngẫu nhiên trong mỗi tầng (xác suất, cần khung mẫu); định mức chọn thuận tiện hoặc phán đoán trong mỗi ô (phi xác suất).
Câu 3 — mong đợi: 4 lần, vì e bình phương ở mẫu số. 385 → 3,8416 × 0,25 / 0,000625 ≈ 1.536,6 → 1.537.
Nếu câu 1 nhiều bạn sai: dừng 1 phút nhắc lại ba việc của slide "nói thật". Chuyển sang thực hành.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Phát hai phiếu: phiếu bài tập tính toán Phần A (không kèm đáp án) và phiếu kế hoạch chọn mẫu Phần B. Phần A 20 phút (15 làm + 5 chữa); Phần B 25 phút (22 làm + 3 chia sẻ).
Nếu chạy quá giờ: rút gọn Phần A, chuyển A2 và A3(d) thành bài tự làm. Không cắt Phần B và phần kết buổi.
Nói kịch bản mở đầu Phần A ngay khi phát phiếu để không mất thời gian. Giảng viên đi các bàn suốt 45 phút; ghi lại lỗi phổ biến để chữa chung ở phút 115–120.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Kịch bản mở đầu: "20 phút đầu, các nhóm làm phiếu bài tập tính toán — làm theo nhóm, mỗi người tự bấm máy rồi so kết quả với nhau. Dùng máy tính bỏ túi, Excel hay Google Sheets đều được. Không cần làm hết; ưu tiên bài A1, A4, A5. Phút thứ 15 tôi chữa bài."
Năm bài: A1 cỡ mẫu khi ước lượng tỷ lệ với e = 5% và 4%; A2 bước nhảy k của mẫu hệ thống; A3 phân bổ tầng theo tỷ lệ và chia đều; A4 bảng định mức hai thuộc tính; A5 phát hiện lỗi trong bảng định mức. Tất cả là tình huống giả định.
Mốc thời gian: phút 100 đọc kịch bản, phát phiếu; phút 100–115 đi các bàn, kiểm tra A1 (có làm tròn lên không?) và A4 (có cộng kiểm tra không?); phút 115–120 chữa nhanh bằng slide đáp án.
Nhắc ghi cả cách tính, không chỉ kết quả, và dùng e = 0,05 chứ không phải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Chỉ chiếu khi chữa bài; không đưa slide này vào bản phát cho sinh viên trước giờ. Gọi một nhóm đọc A1, một nhóm đọc A5.
A1: (a) 385; (b) 3,8416 × 0,25 / 0,0016 = 600,25 → 601; (c) 601 / 385 ≈ 1,56 — tăng khoảng 56%, vì (5/4)² = 1,5625; (d) p ≈ 0,2 → 3,8416 × 0,16 / 0,0025 ≈ 245,9 → 246, nhỏ hơn 385 vì p(1 − p) = 0,16 &lt; 0,25; (e) phát 385 / 0,85 ≈ 453 phiếu, với e = 4% thì 601 / 0,85 ≈ 708.
A2: k = 2.400 / 120 = 20; bắt đầu 13 → 13, 33, 53, 73, …, người cuối 13 + 119 × 20 = 2.393; tại cửa hàng 600 / 50 = 12. A3: phân bổ tỷ lệ 90, 75, 45, 30; chia đều 60 mỗi ngành. A4: 105 / 45, 63 / 27, 42 / 18, tổng 210 / 90. A5: dòng 31–40 phải là 20 / 20 / 40, dòng 41–50 phải là 15 / 15 / 30.
Nhấn lỗi phổ biến: làm tròn xuống; dùng e = 5 thay vì 0,05; lấy 385 × 1,15 ≈ 443 — nhưng 443 × 0,85 ≈ 377, chưa đủ 385 phiếu hợp lệ; chia cho 0,85 mới bảo đảm.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slide này trên màn hình suốt Phần B. 22 phút làm theo 5 bước, 3 phút cuối mời 2 nhóm đọc đám đông nghiên cứu và câu hạn chế của nhóm.
Bước 1 (5'): viết đám đông nghiên cứu đủ 4 yếu tố; kiểm tra có khớp với vấn đề nghiên cứu không. Bước 2 (2'): nhóm có danh sách nào không, có được phép dùng không; nếu không, ghi "không có khung mẫu"; nếu dùng một nhóm mạng xã hội làm nguồn, nguồn đó thiếu ai, thừa ai. Bước 3 (5'): định lượng — cỡ mẫu mục tiêu và căn cứ (công thức ghi rõ Z, e, p, hoặc quy tắc kinh nghiệm có nguồn), cộng dự trù 10–20% → số phiếu cần thu; định tính — số người phỏng vấn sâu (thường 6–10) và lý do; kiểm tra tính khả thi trong khoảng 2 tuần thu dữ liệu. Bước 4 (5'): đúng tên phương pháp, xác suất hay phi xác suất, cách tiếp cận; nếu định mức thì lập bảng và cộng kiểm tra. Bước 5 (5'): 1–3 câu gạn lọc khớp với 4 yếu tố, rủi ro sai lệch và cách giảm, câu hạn chế cho mục 4.3.6.
Giảng viên đi từng nhóm. Nếu nhóm bí: dùng ví dụ trà sữa trong phần giảng làm khuôn mẫu.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phút cuối: phiếu ra về, giao bài tập kế hoạch chọn mẫu, nhắc mốc bài giữa kỳ và nối sang Buổi 9. Còn 1 phút dự phòng.
Phát phiếu giấy nhỏ ngay khi phần chia sẻ của Phần B kết thúc.
Nói câu nối sang Buổi 9: "Hôm nay biết hỏi ai, hỏi bao nhiêu. Buổi 9: đo điều mình muốn biết bằng cách nào." Nhắc nhóm mang theo mô hình nghiên cứu và danh sách tài liệu. Thu phiếu ra về ở cửa lớp.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Phát phiếu ra về — giấy nhỏ. Mỗi bạn viết hai dòng, làm cá nhân, khoảng 1–2 phút. Dòng 1: nhóm mình dự định dùng phương pháp chọn mẫu nào, và một lý do. Dòng 2: một điều mình còn mơ hồ về chọn mẫu.
Nói: "Không chấm điểm. Viết thật — tôi đọc trước Buổi 9."
Thu lại. Sau buổi học, đếm số phiếu ghi "ngẫu nhiên" cho một mẫu thực chất là thuận tiện — ví dụ "ngẫu nhiên, gửi link vào group". Nếu nhiều, mở đầu Buổi 9 bằng 2 phút nhắc lại thông điệp "nói đúng tên phương pháp". Dòng 2 dùng để chọn nội dung nhắc lại ngắn.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về nhà — kế hoạch chọn mẫu, làm theo nhóm, không chấm điểm riêng: hoàn thiện kế hoạch đã làm trên lớp theo 8 mục của phiếu Phần B; cập nhật vào mục 4.3.3 của đề cương và phần chọn mẫu trong chương phương pháp (Chương 3 định lượng hoặc Chương 2 định tính). Hoàn thành trước Buổi 9. Hình thức nộp: … (giảng viên điền).
Nhắc mốc giữa kỳ: bài giữa kỳ nộp trên LMS trước Buổi 11 — Chương 1–3 (định lượng) hoặc Chương 1–2 (định tính) kèm bản nháp bảng hỏi. Kế hoạch chọn mẫu hôm nay là một phần của chương phương pháp trong bài giữa kỳ.
Tự học: tài liệu học tập Bài 6, tài liệu đọc thêm của Buổi 8, các bài tập ôn tập cuối Bài 6.
Câu nối: "Hôm nay nhóm đã biết hỏi ai và hỏi bao nhiêu người. Buổi 9 trả lời câu còn lại: đo cái mình muốn biết bằng cách nào — mỗi khái niệm trong mô hình sẽ được đo bằng thang đo nào. Mang theo mô hình nghiên cứu và danh sách tài liệu của nhóm."
Lưu ý cho giảng viên: điền hình thức nộp kế hoạch chọn mẫu, ngày giờ và mục nộp bài giữa kỳ trên LMS.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giảng slide này. Nhắc các nhóm: nhóm nào dùng quy tắc kinh nghiệm để xác định cỡ mẫu — 5 quan sát mỗi biến cho EFA, hay n ≥ 50 + 8m cho hồi quy — phải đưa Hair và cộng sự (2019) hoặc Tabachnick và Fidell (2019) vào danh mục tài liệu tham khảo của nhóm, theo đúng định dạng APA 7 như trên.
Khung lý thuyết chọn mẫu của tài liệu học tập dựa trên Malhotra (2019) và Brown và cộng sự (2014) — hai cuốn nên đọc nếu nhóm muốn tìm hiểu sâu hơn về các phương pháp chọn mẫu xác suất.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BFAF4"/>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FBFA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840480" y="2103120"/>
            <a:ext cx="6766560" cy="2194560"/>
          </a:xfrm>
          <a:prstGeom prst="rect">
            <a:avLst/>
          </a:prstGeom>
          <a:noFill/>
          <a:ln/>
        </p:spPr>
        <p:txBody>
          <a:bodyPr wrap="square" rtlCol="0"/>
          <a:lstStyle>
            <a:lvl1pPr algn="l" indent="0" marL="0">
              <a:buNone/>
              <a:defRPr lang="en-US" b="1" dirty="0">
                <a:solidFill>
                  <a:srgbClr val="2E2A3A"/>
                </a:solidFill>
                <a:latin typeface="Alexandria" pitchFamily="34" charset="0"/>
                <a:ea typeface="Alexandria" pitchFamily="34" charset="-122"/>
                <a:cs typeface="Alexandria"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BFA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789920" cy="1280160"/>
          </a:xfrm>
          <a:prstGeom prst="rect">
            <a:avLst/>
          </a:prstGeom>
          <a:noFill/>
          <a:ln/>
        </p:spPr>
        <p:txBody>
          <a:bodyPr wrap="square" rtlCol="0"/>
          <a:lstStyle>
            <a:lvl1pPr algn="l" indent="0" marL="0">
              <a:buNone/>
              <a:defRPr lang="en-US" b="1" dirty="0">
                <a:solidFill>
                  <a:srgbClr val="2E2A3A"/>
                </a:solidFill>
                <a:latin typeface="Alexandria" pitchFamily="34" charset="0"/>
                <a:ea typeface="Alexandria" pitchFamily="34" charset="-122"/>
                <a:cs typeface="Alexandria"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bg>
      <p:bgPr>
        <a:solidFill>
          <a:srgbClr val="FBFAF4"/>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rang trí"/>
          <p:cNvSpPr/>
          <p:nvPr/>
        </p:nvSpPr>
        <p:spPr>
          <a:xfrm>
            <a:off x="8229600" y="822960"/>
            <a:ext cx="4023360" cy="4023360"/>
          </a:xfrm>
          <a:prstGeom prst="ellipse">
            <a:avLst/>
          </a:prstGeom>
          <a:solidFill>
            <a:srgbClr val="962B7C"/>
          </a:solidFill>
          <a:ln/>
        </p:spPr>
      </p:sp>
      <p:sp>
        <p:nvSpPr>
          <p:cNvPr id="3" name="Trang trí"/>
          <p:cNvSpPr/>
          <p:nvPr/>
        </p:nvSpPr>
        <p:spPr>
          <a:xfrm>
            <a:off x="7589520" y="4206240"/>
            <a:ext cx="1920240" cy="1920240"/>
          </a:xfrm>
          <a:prstGeom prst="ellipse">
            <a:avLst/>
          </a:prstGeom>
          <a:solidFill>
            <a:srgbClr val="FFD23B"/>
          </a:solidFill>
          <a:ln/>
        </p:spPr>
      </p:sp>
      <p:sp>
        <p:nvSpPr>
          <p:cNvPr id="4" name="Trang trí"/>
          <p:cNvSpPr/>
          <p:nvPr/>
        </p:nvSpPr>
        <p:spPr>
          <a:xfrm>
            <a:off x="11064240" y="182880"/>
            <a:ext cx="1371600" cy="1371600"/>
          </a:xfrm>
          <a:prstGeom prst="ellipse">
            <a:avLst/>
          </a:prstGeom>
          <a:solidFill>
            <a:srgbClr val="49B296"/>
          </a:solidFill>
          <a:ln/>
        </p:spPr>
      </p:sp>
      <p:sp>
        <p:nvSpPr>
          <p:cNvPr id="5" name="Trang trí"/>
          <p:cNvSpPr/>
          <p:nvPr/>
        </p:nvSpPr>
        <p:spPr>
          <a:xfrm>
            <a:off x="10607040" y="4480560"/>
            <a:ext cx="1737360" cy="1737360"/>
          </a:xfrm>
          <a:prstGeom prst="ellipse">
            <a:avLst/>
          </a:prstGeom>
          <a:solidFill>
            <a:srgbClr val="FF9259"/>
          </a:solidFill>
          <a:ln/>
        </p:spPr>
      </p:sp>
      <p:sp>
        <p:nvSpPr>
          <p:cNvPr id="6" name="Trang trí"/>
          <p:cNvSpPr/>
          <p:nvPr/>
        </p:nvSpPr>
        <p:spPr>
          <a:xfrm>
            <a:off x="9966960" y="6035040"/>
            <a:ext cx="640080" cy="640080"/>
          </a:xfrm>
          <a:prstGeom prst="ellipse">
            <a:avLst/>
          </a:prstGeom>
          <a:solidFill>
            <a:srgbClr val="FF5178"/>
          </a:solidFill>
          <a:ln/>
        </p:spPr>
      </p:sp>
      <p:sp>
        <p:nvSpPr>
          <p:cNvPr id="7" name="Trang trí"/>
          <p:cNvSpPr/>
          <p:nvPr/>
        </p:nvSpPr>
        <p:spPr>
          <a:xfrm>
            <a:off x="7818120" y="502920"/>
            <a:ext cx="548640" cy="548640"/>
          </a:xfrm>
          <a:prstGeom prst="ellipse">
            <a:avLst/>
          </a:prstGeom>
          <a:solidFill>
            <a:srgbClr val="09A1E5"/>
          </a:solidFill>
          <a:ln/>
        </p:spPr>
      </p:sp>
      <p:sp>
        <p:nvSpPr>
          <p:cNvPr id="8" name="Text 6"/>
          <p:cNvSpPr txBox="1"/>
          <p:nvPr/>
        </p:nvSpPr>
        <p:spPr>
          <a:xfrm>
            <a:off x="8229600" y="822960"/>
            <a:ext cx="4023360" cy="4023360"/>
          </a:xfrm>
          <a:prstGeom prst="rect">
            <a:avLst/>
          </a:prstGeom>
          <a:noFill/>
          <a:ln/>
        </p:spPr>
        <p:txBody>
          <a:bodyPr wrap="square" lIns="0" tIns="0" rIns="0" bIns="0" rtlCol="0" anchor="ctr"/>
          <a:lstStyle/>
          <a:p>
            <a:pPr algn="ctr" indent="0" marL="0">
              <a:lnSpc>
                <a:spcPts val="10000"/>
              </a:lnSpc>
              <a:buNone/>
            </a:pPr>
            <a:r>
              <a:rPr lang="en-US" sz="2800" b="1" dirty="0">
                <a:solidFill>
                  <a:srgbClr val="FFFFFF"/>
                </a:solidFill>
                <a:latin typeface="Alexandria" pitchFamily="34" charset="0"/>
                <a:ea typeface="Alexandria" pitchFamily="34" charset="-122"/>
                <a:cs typeface="Alexandria" pitchFamily="34" charset="-120"/>
              </a:rPr>
              <a:t>BUỔI</a:t>
            </a:r>
            <a:endParaRPr lang="en-US" sz="2800" dirty="0"/>
          </a:p>
          <a:p>
            <a:pPr algn="ctr" indent="0" marL="0">
              <a:lnSpc>
                <a:spcPts val="10000"/>
              </a:lnSpc>
              <a:buNone/>
            </a:pPr>
            <a:r>
              <a:rPr lang="en-US" sz="9600" b="1" dirty="0">
                <a:solidFill>
                  <a:srgbClr val="FFFFFF"/>
                </a:solidFill>
                <a:latin typeface="Alexandria" pitchFamily="34" charset="0"/>
                <a:ea typeface="Alexandria" pitchFamily="34" charset="-122"/>
                <a:cs typeface="Alexandria" pitchFamily="34" charset="-120"/>
              </a:rPr>
              <a:t>8</a:t>
            </a:r>
            <a:endParaRPr lang="en-US" sz="2800" dirty="0"/>
          </a:p>
        </p:txBody>
      </p:sp>
      <p:sp>
        <p:nvSpPr>
          <p:cNvPr id="9" name="Text 7"/>
          <p:cNvSpPr txBox="1"/>
          <p:nvPr/>
        </p:nvSpPr>
        <p:spPr>
          <a:xfrm>
            <a:off x="548640" y="731520"/>
            <a:ext cx="694944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962B7C"/>
                </a:solidFill>
                <a:latin typeface="Alexandria" pitchFamily="34" charset="0"/>
                <a:ea typeface="Alexandria" pitchFamily="34" charset="-122"/>
                <a:cs typeface="Alexandria" pitchFamily="34" charset="-120"/>
              </a:rPr>
              <a:t>MKT1107 · NGHIÊN CỨU MARKETING</a:t>
            </a:r>
            <a:endParaRPr lang="en-US" sz="2400" dirty="0"/>
          </a:p>
        </p:txBody>
      </p:sp>
      <p:sp>
        <p:nvSpPr>
          <p:cNvPr id="10" name="Text 8"/>
          <p:cNvSpPr txBox="1"/>
          <p:nvPr/>
        </p:nvSpPr>
        <p:spPr>
          <a:xfrm>
            <a:off x="548640" y="1463040"/>
            <a:ext cx="6949440" cy="2651760"/>
          </a:xfrm>
          <a:prstGeom prst="rect">
            <a:avLst/>
          </a:prstGeom>
          <a:noFill/>
          <a:ln/>
        </p:spPr>
        <p:txBody>
          <a:bodyPr wrap="square" lIns="76200" tIns="76200" rIns="76200" bIns="76200" rtlCol="0" anchor="ctr"/>
          <a:lstStyle/>
          <a:p>
            <a:pPr algn="l" indent="0" marL="0">
              <a:lnSpc>
                <a:spcPts val="6200"/>
              </a:lnSpc>
              <a:buNone/>
            </a:pPr>
            <a:r>
              <a:rPr lang="en-US" sz="4800" b="1" dirty="0">
                <a:solidFill>
                  <a:srgbClr val="2E2A3A"/>
                </a:solidFill>
                <a:latin typeface="Alexandria" pitchFamily="34" charset="0"/>
                <a:ea typeface="Alexandria" pitchFamily="34" charset="-122"/>
                <a:cs typeface="Alexandria" pitchFamily="34" charset="-120"/>
              </a:rPr>
              <a:t>Bài 6: Chọn mẫu để nghiên cứu</a:t>
            </a:r>
            <a:endParaRPr lang="en-US" sz="4800" dirty="0"/>
          </a:p>
        </p:txBody>
      </p:sp>
      <p:sp>
        <p:nvSpPr>
          <p:cNvPr id="11" name="Text 9"/>
          <p:cNvSpPr txBox="1"/>
          <p:nvPr/>
        </p:nvSpPr>
        <p:spPr>
          <a:xfrm>
            <a:off x="548640" y="4251960"/>
            <a:ext cx="6766560" cy="91440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5B5668"/>
                </a:solidFill>
                <a:latin typeface="Alexandria" pitchFamily="34" charset="0"/>
                <a:ea typeface="Alexandria" pitchFamily="34" charset="-122"/>
                <a:cs typeface="Alexandria" pitchFamily="34" charset="-120"/>
              </a:rPr>
              <a:t>MKT1107 · Nghiên cứu Marketing</a:t>
            </a:r>
            <a:endParaRPr lang="en-US" sz="2800" dirty="0"/>
          </a:p>
        </p:txBody>
      </p:sp>
      <p:sp>
        <p:nvSpPr>
          <p:cNvPr id="12" name="Text 10"/>
          <p:cNvSpPr txBox="1"/>
          <p:nvPr/>
        </p:nvSpPr>
        <p:spPr>
          <a:xfrm>
            <a:off x="548640" y="5349240"/>
            <a:ext cx="676656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GV: Đoàn Nguyễn Bảo Quyên</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BFE4F0"/>
          </a:solidFill>
          <a:ln/>
        </p:spPr>
      </p:sp>
      <p:sp>
        <p:nvSpPr>
          <p:cNvPr id="3" name="Nhãn S1"/>
          <p:cNvSpPr/>
          <p:nvPr/>
        </p:nvSpPr>
        <p:spPr>
          <a:xfrm>
            <a:off x="822960" y="2240280"/>
            <a:ext cx="2377440" cy="2377440"/>
          </a:xfrm>
          <a:prstGeom prst="ellipse">
            <a:avLst/>
          </a:prstGeom>
          <a:solidFill>
            <a:srgbClr val="09A1E5"/>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S1</a:t>
            </a:r>
            <a:endParaRPr lang="en-US" sz="6000" dirty="0"/>
          </a:p>
        </p:txBody>
      </p:sp>
      <p:sp>
        <p:nvSpPr>
          <p:cNvPr id="5" name="Trang trí"/>
          <p:cNvSpPr/>
          <p:nvPr/>
        </p:nvSpPr>
        <p:spPr>
          <a:xfrm>
            <a:off x="10881360" y="457200"/>
            <a:ext cx="822960" cy="822960"/>
          </a:xfrm>
          <a:prstGeom prst="ellipse">
            <a:avLst/>
          </a:prstGeom>
          <a:solidFill>
            <a:srgbClr val="962B7C"/>
          </a:solidFill>
          <a:ln/>
        </p:spPr>
      </p:sp>
      <p:sp>
        <p:nvSpPr>
          <p:cNvPr id="6" name="Trang trí"/>
          <p:cNvSpPr/>
          <p:nvPr/>
        </p:nvSpPr>
        <p:spPr>
          <a:xfrm>
            <a:off x="10241280" y="4480560"/>
            <a:ext cx="1188720" cy="1188720"/>
          </a:xfrm>
          <a:prstGeom prst="ellipse">
            <a:avLst/>
          </a:prstGeom>
          <a:solidFill>
            <a:srgbClr val="FFD23B"/>
          </a:solidFill>
          <a:ln/>
        </p:spPr>
      </p:sp>
      <p:sp>
        <p:nvSpPr>
          <p:cNvPr id="7" name="Trang trí"/>
          <p:cNvSpPr/>
          <p:nvPr/>
        </p:nvSpPr>
        <p:spPr>
          <a:xfrm>
            <a:off x="9784080" y="5760720"/>
            <a:ext cx="365760" cy="365760"/>
          </a:xfrm>
          <a:prstGeom prst="ellipse">
            <a:avLst/>
          </a:prstGeom>
          <a:solidFill>
            <a:srgbClr val="49B296"/>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0–8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300" b="1" dirty="0">
                <a:solidFill>
                  <a:srgbClr val="2E2A3A"/>
                </a:solidFill>
                <a:latin typeface="Alexandria" pitchFamily="34" charset="0"/>
                <a:ea typeface="Alexandria" pitchFamily="34" charset="-122"/>
                <a:cs typeface="Alexandria" pitchFamily="34" charset="-120"/>
              </a:rPr>
              <a:t>Khởi động — hai nhóm trình bày phương pháp</a:t>
            </a:r>
            <a:endParaRPr lang="en-US" sz="43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Hai nhóm, hai phương pháp thu thập: nghe và hỏi lại</a:t>
            </a:r>
            <a:endParaRPr lang="en-US" sz="3400" dirty="0"/>
          </a:p>
        </p:txBody>
      </p:sp>
      <p:sp>
        <p:nvSpPr>
          <p:cNvPr id="6" name="Thẻ Cách làm"/>
          <p:cNvSpPr/>
          <p:nvPr/>
        </p:nvSpPr>
        <p:spPr>
          <a:xfrm>
            <a:off x="548640" y="1783080"/>
            <a:ext cx="3505200" cy="2740660"/>
          </a:xfrm>
          <a:prstGeom prst="roundRect">
            <a:avLst>
              <a:gd name="adj" fmla="val 6006"/>
            </a:avLst>
          </a:prstGeom>
          <a:solidFill>
            <a:srgbClr val="FCE7D8"/>
          </a:solidFill>
          <a:ln/>
        </p:spPr>
      </p:sp>
      <p:sp>
        <p:nvSpPr>
          <p:cNvPr id="7" name="Nhãn 1"/>
          <p:cNvSpPr/>
          <p:nvPr/>
        </p:nvSpPr>
        <p:spPr>
          <a:xfrm>
            <a:off x="713232" y="1947672"/>
            <a:ext cx="548640" cy="548640"/>
          </a:xfrm>
          <a:prstGeom prst="ellipse">
            <a:avLst/>
          </a:prstGeom>
          <a:solidFill>
            <a:srgbClr val="FF9259"/>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Cách làm</a:t>
            </a:r>
            <a:endParaRPr lang="en-US" sz="2800" dirty="0"/>
          </a:p>
        </p:txBody>
      </p:sp>
      <p:sp>
        <p:nvSpPr>
          <p:cNvPr id="10" name="Text 8"/>
          <p:cNvSpPr txBox="1"/>
          <p:nvPr/>
        </p:nvSpPr>
        <p:spPr>
          <a:xfrm>
            <a:off x="685800" y="258064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Khảo sát, phỏng vấn sâu hay thảo luận nhóm?</a:t>
            </a:r>
            <a:endParaRPr lang="en-US" sz="2600" dirty="0"/>
          </a:p>
        </p:txBody>
      </p:sp>
      <p:sp>
        <p:nvSpPr>
          <p:cNvPr id="11" name="Thẻ Vì sao"/>
          <p:cNvSpPr/>
          <p:nvPr/>
        </p:nvSpPr>
        <p:spPr>
          <a:xfrm>
            <a:off x="4328160" y="1783080"/>
            <a:ext cx="3505200" cy="2740660"/>
          </a:xfrm>
          <a:prstGeom prst="roundRect">
            <a:avLst>
              <a:gd name="adj" fmla="val 6006"/>
            </a:avLst>
          </a:prstGeom>
          <a:solidFill>
            <a:srgbClr val="E9D5DE"/>
          </a:solidFill>
          <a:ln/>
        </p:spPr>
      </p:sp>
      <p:sp>
        <p:nvSpPr>
          <p:cNvPr id="12" name="Nhãn 2"/>
          <p:cNvSpPr/>
          <p:nvPr/>
        </p:nvSpPr>
        <p:spPr>
          <a:xfrm>
            <a:off x="4492752" y="1947672"/>
            <a:ext cx="548640" cy="548640"/>
          </a:xfrm>
          <a:prstGeom prst="ellipse">
            <a:avLst/>
          </a:prstGeom>
          <a:solidFill>
            <a:srgbClr val="962B7C"/>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Vì sao</a:t>
            </a:r>
            <a:endParaRPr lang="en-US" sz="2800" dirty="0"/>
          </a:p>
        </p:txBody>
      </p:sp>
      <p:sp>
        <p:nvSpPr>
          <p:cNvPr id="15" name="Text 13"/>
          <p:cNvSpPr txBox="1"/>
          <p:nvPr/>
        </p:nvSpPr>
        <p:spPr>
          <a:xfrm>
            <a:off x="4465320" y="258064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Phù hợp câu hỏi nghiên cứu thế nào?</a:t>
            </a:r>
            <a:endParaRPr lang="en-US" sz="2600" dirty="0"/>
          </a:p>
        </p:txBody>
      </p:sp>
      <p:sp>
        <p:nvSpPr>
          <p:cNvPr id="16" name="Thẻ Thứ cấp"/>
          <p:cNvSpPr/>
          <p:nvPr/>
        </p:nvSpPr>
        <p:spPr>
          <a:xfrm>
            <a:off x="8107680" y="1783080"/>
            <a:ext cx="3505200" cy="2740660"/>
          </a:xfrm>
          <a:prstGeom prst="roundRect">
            <a:avLst>
              <a:gd name="adj" fmla="val 6006"/>
            </a:avLst>
          </a:prstGeom>
          <a:solidFill>
            <a:srgbClr val="FCF3D3"/>
          </a:solidFill>
          <a:ln/>
        </p:spPr>
      </p:sp>
      <p:sp>
        <p:nvSpPr>
          <p:cNvPr id="17" name="Nhãn 3"/>
          <p:cNvSpPr/>
          <p:nvPr/>
        </p:nvSpPr>
        <p:spPr>
          <a:xfrm>
            <a:off x="8272272" y="1947672"/>
            <a:ext cx="548640" cy="548640"/>
          </a:xfrm>
          <a:prstGeom prst="ellipse">
            <a:avLst/>
          </a:prstGeom>
          <a:solidFill>
            <a:srgbClr val="FFD23B"/>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Thứ cấp</a:t>
            </a:r>
            <a:endParaRPr lang="en-US" sz="2800" dirty="0"/>
          </a:p>
        </p:txBody>
      </p:sp>
      <p:sp>
        <p:nvSpPr>
          <p:cNvPr id="20" name="Text 18"/>
          <p:cNvSpPr txBox="1"/>
          <p:nvPr/>
        </p:nvSpPr>
        <p:spPr>
          <a:xfrm>
            <a:off x="8244840" y="258064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Nhóm đã tìm được gì cho bối cảnh?</a:t>
            </a:r>
            <a:endParaRPr lang="en-US" sz="2600" dirty="0"/>
          </a:p>
        </p:txBody>
      </p:sp>
      <p:sp>
        <p:nvSpPr>
          <p:cNvPr id="21" name="Ghi chú nổi bật"/>
          <p:cNvSpPr/>
          <p:nvPr/>
        </p:nvSpPr>
        <p:spPr>
          <a:xfrm>
            <a:off x="548640" y="4889500"/>
            <a:ext cx="11064240" cy="685800"/>
          </a:xfrm>
          <a:prstGeom prst="roundRect">
            <a:avLst>
              <a:gd name="adj" fmla="val 24000"/>
            </a:avLst>
          </a:prstGeom>
          <a:solidFill>
            <a:srgbClr val="C6E4D8"/>
          </a:solidFill>
          <a:ln/>
        </p:spPr>
      </p:sp>
      <p:sp>
        <p:nvSpPr>
          <p:cNvPr id="22" name="Nhãn !"/>
          <p:cNvSpPr/>
          <p:nvPr/>
        </p:nvSpPr>
        <p:spPr>
          <a:xfrm>
            <a:off x="731520" y="5003800"/>
            <a:ext cx="457200" cy="457200"/>
          </a:xfrm>
          <a:prstGeom prst="ellipse">
            <a:avLst/>
          </a:prstGeom>
          <a:solidFill>
            <a:srgbClr val="49B296"/>
          </a:solidFill>
          <a:ln/>
        </p:spPr>
      </p:sp>
      <p:sp>
        <p:nvSpPr>
          <p:cNvPr id="23" name="Text 21"/>
          <p:cNvSpPr txBox="1"/>
          <p:nvPr/>
        </p:nvSpPr>
        <p:spPr>
          <a:xfrm>
            <a:off x="731520" y="500380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4" name="Text 22"/>
          <p:cNvSpPr txBox="1"/>
          <p:nvPr/>
        </p:nvSpPr>
        <p:spPr>
          <a:xfrm>
            <a:off x="1325880" y="488950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Hỏi ai? Bao nhiêu người? Tìm họ ở đâu?</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E2C6D6"/>
          </a:solidFill>
          <a:ln/>
        </p:spPr>
      </p:sp>
      <p:sp>
        <p:nvSpPr>
          <p:cNvPr id="3" name="Nhãn S2"/>
          <p:cNvSpPr/>
          <p:nvPr/>
        </p:nvSpPr>
        <p:spPr>
          <a:xfrm>
            <a:off x="822960" y="2240280"/>
            <a:ext cx="2377440" cy="2377440"/>
          </a:xfrm>
          <a:prstGeom prst="ellipse">
            <a:avLst/>
          </a:prstGeom>
          <a:solidFill>
            <a:srgbClr val="962B7C"/>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FFFFFF"/>
                </a:solidFill>
                <a:latin typeface="Alexandria" pitchFamily="34" charset="0"/>
                <a:ea typeface="Alexandria" pitchFamily="34" charset="-122"/>
                <a:cs typeface="Alexandria" pitchFamily="34" charset="-120"/>
              </a:rPr>
              <a:t>S2</a:t>
            </a:r>
            <a:endParaRPr lang="en-US" sz="6000" dirty="0"/>
          </a:p>
        </p:txBody>
      </p:sp>
      <p:sp>
        <p:nvSpPr>
          <p:cNvPr id="5" name="Trang trí"/>
          <p:cNvSpPr/>
          <p:nvPr/>
        </p:nvSpPr>
        <p:spPr>
          <a:xfrm>
            <a:off x="10881360" y="457200"/>
            <a:ext cx="822960" cy="822960"/>
          </a:xfrm>
          <a:prstGeom prst="ellipse">
            <a:avLst/>
          </a:prstGeom>
          <a:solidFill>
            <a:srgbClr val="49B296"/>
          </a:solidFill>
          <a:ln/>
        </p:spPr>
      </p:sp>
      <p:sp>
        <p:nvSpPr>
          <p:cNvPr id="6" name="Trang trí"/>
          <p:cNvSpPr/>
          <p:nvPr/>
        </p:nvSpPr>
        <p:spPr>
          <a:xfrm>
            <a:off x="10241280" y="4480560"/>
            <a:ext cx="1188720" cy="1188720"/>
          </a:xfrm>
          <a:prstGeom prst="ellipse">
            <a:avLst/>
          </a:prstGeom>
          <a:solidFill>
            <a:srgbClr val="FF5178"/>
          </a:solidFill>
          <a:ln/>
        </p:spPr>
      </p:sp>
      <p:sp>
        <p:nvSpPr>
          <p:cNvPr id="7" name="Trang trí"/>
          <p:cNvSpPr/>
          <p:nvPr/>
        </p:nvSpPr>
        <p:spPr>
          <a:xfrm>
            <a:off x="9784080" y="5760720"/>
            <a:ext cx="365760" cy="365760"/>
          </a:xfrm>
          <a:prstGeom prst="ellipse">
            <a:avLst/>
          </a:prstGeom>
          <a:solidFill>
            <a:srgbClr val="09A1E5"/>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8–12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Mở bài — hỏi 5.000 người giàu thì sao?</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Buổi 1 hỏi người giàu về điện thoại giá rẻ; hôm nay hỏi tiếp: hỏi 5.000 người giàu thì sao?</a:t>
            </a:r>
            <a:endParaRPr lang="en-US" sz="3400" dirty="0"/>
          </a:p>
        </p:txBody>
      </p:sp>
      <p:sp>
        <p:nvSpPr>
          <p:cNvPr id="6" name="Tình huống"/>
          <p:cNvSpPr/>
          <p:nvPr/>
        </p:nvSpPr>
        <p:spPr>
          <a:xfrm>
            <a:off x="548640" y="1783080"/>
            <a:ext cx="6858000" cy="4297680"/>
          </a:xfrm>
          <a:prstGeom prst="roundRect">
            <a:avLst>
              <a:gd name="adj" fmla="val 3830"/>
            </a:avLst>
          </a:prstGeom>
          <a:solidFill>
            <a:srgbClr val="FCDCDE"/>
          </a:solidFill>
          <a:ln/>
        </p:spPr>
      </p:sp>
      <p:sp>
        <p:nvSpPr>
          <p:cNvPr id="7" name="Nhãn tình huống"/>
          <p:cNvSpPr/>
          <p:nvPr/>
        </p:nvSpPr>
        <p:spPr>
          <a:xfrm>
            <a:off x="777240" y="2011680"/>
            <a:ext cx="2377440" cy="566928"/>
          </a:xfrm>
          <a:prstGeom prst="roundRect">
            <a:avLst>
              <a:gd name="adj" fmla="val 48387"/>
            </a:avLst>
          </a:prstGeom>
          <a:solidFill>
            <a:srgbClr val="FF5178"/>
          </a:solidFill>
          <a:ln/>
        </p:spPr>
      </p:sp>
      <p:sp>
        <p:nvSpPr>
          <p:cNvPr id="8" name="Text 6"/>
          <p:cNvSpPr txBox="1"/>
          <p:nvPr/>
        </p:nvSpPr>
        <p:spPr>
          <a:xfrm>
            <a:off x="777240" y="2011680"/>
            <a:ext cx="237744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Buổi 1</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Một hãng điện thoại sắp bán dòng máy giá rẻ.</a:t>
            </a:r>
            <a:endParaRPr lang="en-US" sz="2800" dirty="0"/>
          </a:p>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Họ khảo sát khách tại showroom cao cấp và kết luận: “giá không quan trọng”.</a:t>
            </a:r>
            <a:endParaRPr lang="en-US" sz="2800" dirty="0"/>
          </a:p>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Lỗi: hỏi sai người.</a:t>
            </a:r>
            <a:endParaRPr lang="en-US" sz="28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Hỏi 5.000 người giàu thay vì 1.000 — kết quả có đúng hơn không?</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Chọn mẫu trả lời ba câu: hỏi ai, hỏi bao nhiêu người, chọn họ bằng cách nào</a:t>
            </a:r>
            <a:endParaRPr lang="en-US" sz="3400" dirty="0"/>
          </a:p>
        </p:txBody>
      </p:sp>
      <p:sp>
        <p:nvSpPr>
          <p:cNvPr id="6" name="Thẻ Hỏi ai?"/>
          <p:cNvSpPr/>
          <p:nvPr/>
        </p:nvSpPr>
        <p:spPr>
          <a:xfrm>
            <a:off x="548640" y="1783080"/>
            <a:ext cx="3505200" cy="2311400"/>
          </a:xfrm>
          <a:prstGeom prst="roundRect">
            <a:avLst>
              <a:gd name="adj" fmla="val 7121"/>
            </a:avLst>
          </a:prstGeom>
          <a:solidFill>
            <a:srgbClr val="DBEDE3"/>
          </a:solidFill>
          <a:ln/>
        </p:spPr>
      </p:sp>
      <p:sp>
        <p:nvSpPr>
          <p:cNvPr id="7" name="Nhãn 1"/>
          <p:cNvSpPr/>
          <p:nvPr/>
        </p:nvSpPr>
        <p:spPr>
          <a:xfrm>
            <a:off x="713232" y="1947672"/>
            <a:ext cx="548640" cy="548640"/>
          </a:xfrm>
          <a:prstGeom prst="ellipse">
            <a:avLst/>
          </a:prstGeom>
          <a:solidFill>
            <a:srgbClr val="49B296"/>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Hỏi ai?</a:t>
            </a:r>
            <a:endParaRPr lang="en-US" sz="2800" dirty="0"/>
          </a:p>
        </p:txBody>
      </p:sp>
      <p:sp>
        <p:nvSpPr>
          <p:cNvPr id="10" name="Text 8"/>
          <p:cNvSpPr txBox="1"/>
          <p:nvPr/>
        </p:nvSpPr>
        <p:spPr>
          <a:xfrm>
            <a:off x="685800" y="2580640"/>
            <a:ext cx="3230880" cy="14681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Đám đông nghiên cứu, khung mẫu</a:t>
            </a:r>
            <a:endParaRPr lang="en-US" sz="2600" dirty="0"/>
          </a:p>
        </p:txBody>
      </p:sp>
      <p:sp>
        <p:nvSpPr>
          <p:cNvPr id="11" name="Thẻ Bao nhiêu?"/>
          <p:cNvSpPr/>
          <p:nvPr/>
        </p:nvSpPr>
        <p:spPr>
          <a:xfrm>
            <a:off x="4328160" y="1783080"/>
            <a:ext cx="3505200" cy="2311400"/>
          </a:xfrm>
          <a:prstGeom prst="roundRect">
            <a:avLst>
              <a:gd name="adj" fmla="val 7121"/>
            </a:avLst>
          </a:prstGeom>
          <a:solidFill>
            <a:srgbClr val="FCDCDE"/>
          </a:solidFill>
          <a:ln/>
        </p:spPr>
      </p:sp>
      <p:sp>
        <p:nvSpPr>
          <p:cNvPr id="12" name="Nhãn 2"/>
          <p:cNvSpPr/>
          <p:nvPr/>
        </p:nvSpPr>
        <p:spPr>
          <a:xfrm>
            <a:off x="4492752" y="1947672"/>
            <a:ext cx="548640" cy="548640"/>
          </a:xfrm>
          <a:prstGeom prst="ellipse">
            <a:avLst/>
          </a:prstGeom>
          <a:solidFill>
            <a:srgbClr val="FF5178"/>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Bao nhiêu?</a:t>
            </a:r>
            <a:endParaRPr lang="en-US" sz="2800" dirty="0"/>
          </a:p>
        </p:txBody>
      </p:sp>
      <p:sp>
        <p:nvSpPr>
          <p:cNvPr id="15" name="Text 13"/>
          <p:cNvSpPr txBox="1"/>
          <p:nvPr/>
        </p:nvSpPr>
        <p:spPr>
          <a:xfrm>
            <a:off x="4465320" y="2580640"/>
            <a:ext cx="3230880" cy="14681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Kích thước mẫu</a:t>
            </a:r>
            <a:endParaRPr lang="en-US" sz="2600" dirty="0"/>
          </a:p>
        </p:txBody>
      </p:sp>
      <p:sp>
        <p:nvSpPr>
          <p:cNvPr id="16" name="Thẻ Cách chọn?"/>
          <p:cNvSpPr/>
          <p:nvPr/>
        </p:nvSpPr>
        <p:spPr>
          <a:xfrm>
            <a:off x="8107680" y="1783080"/>
            <a:ext cx="3505200" cy="2311400"/>
          </a:xfrm>
          <a:prstGeom prst="roundRect">
            <a:avLst>
              <a:gd name="adj" fmla="val 7121"/>
            </a:avLst>
          </a:prstGeom>
          <a:solidFill>
            <a:srgbClr val="CFEAF1"/>
          </a:solidFill>
          <a:ln/>
        </p:spPr>
      </p:sp>
      <p:sp>
        <p:nvSpPr>
          <p:cNvPr id="17" name="Nhãn 3"/>
          <p:cNvSpPr/>
          <p:nvPr/>
        </p:nvSpPr>
        <p:spPr>
          <a:xfrm>
            <a:off x="8272272" y="1947672"/>
            <a:ext cx="548640" cy="548640"/>
          </a:xfrm>
          <a:prstGeom prst="ellipse">
            <a:avLst/>
          </a:prstGeom>
          <a:solidFill>
            <a:srgbClr val="09A1E5"/>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Cách chọn?</a:t>
            </a:r>
            <a:endParaRPr lang="en-US" sz="2800" dirty="0"/>
          </a:p>
        </p:txBody>
      </p:sp>
      <p:sp>
        <p:nvSpPr>
          <p:cNvPr id="20" name="Text 18"/>
          <p:cNvSpPr txBox="1"/>
          <p:nvPr/>
        </p:nvSpPr>
        <p:spPr>
          <a:xfrm>
            <a:off x="8244840" y="2580640"/>
            <a:ext cx="3230880" cy="14681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8 phương pháp chọn mẫu</a:t>
            </a:r>
            <a:endParaRPr lang="en-US" sz="2600" dirty="0"/>
          </a:p>
        </p:txBody>
      </p:sp>
      <p:sp>
        <p:nvSpPr>
          <p:cNvPr id="21" name="Ghi chú nổi bật"/>
          <p:cNvSpPr/>
          <p:nvPr/>
        </p:nvSpPr>
        <p:spPr>
          <a:xfrm>
            <a:off x="548640" y="4460240"/>
            <a:ext cx="11064240" cy="685800"/>
          </a:xfrm>
          <a:prstGeom prst="roundRect">
            <a:avLst>
              <a:gd name="adj" fmla="val 24000"/>
            </a:avLst>
          </a:prstGeom>
          <a:solidFill>
            <a:srgbClr val="FCDBC5"/>
          </a:solidFill>
          <a:ln/>
        </p:spPr>
      </p:sp>
      <p:sp>
        <p:nvSpPr>
          <p:cNvPr id="22" name="Nhãn !"/>
          <p:cNvSpPr/>
          <p:nvPr/>
        </p:nvSpPr>
        <p:spPr>
          <a:xfrm>
            <a:off x="731520" y="4574540"/>
            <a:ext cx="457200" cy="457200"/>
          </a:xfrm>
          <a:prstGeom prst="ellipse">
            <a:avLst/>
          </a:prstGeom>
          <a:solidFill>
            <a:srgbClr val="FF9259"/>
          </a:solidFill>
          <a:ln/>
        </p:spPr>
      </p:sp>
      <p:sp>
        <p:nvSpPr>
          <p:cNvPr id="23" name="Text 21"/>
          <p:cNvSpPr txBox="1"/>
          <p:nvPr/>
        </p:nvSpPr>
        <p:spPr>
          <a:xfrm>
            <a:off x="731520" y="457454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4" name="Text 22"/>
          <p:cNvSpPr txBox="1"/>
          <p:nvPr/>
        </p:nvSpPr>
        <p:spPr>
          <a:xfrm>
            <a:off x="1325880" y="446024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Cuối buổi: nhóm trả lời ba câu này cho dự án</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D0D5"/>
          </a:solidFill>
          <a:ln/>
        </p:spPr>
      </p:sp>
      <p:sp>
        <p:nvSpPr>
          <p:cNvPr id="3" name="Nhãn S3"/>
          <p:cNvSpPr/>
          <p:nvPr/>
        </p:nvSpPr>
        <p:spPr>
          <a:xfrm>
            <a:off x="822960" y="2240280"/>
            <a:ext cx="2377440" cy="2377440"/>
          </a:xfrm>
          <a:prstGeom prst="ellipse">
            <a:avLst/>
          </a:prstGeom>
          <a:solidFill>
            <a:srgbClr val="FF5178"/>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S3</a:t>
            </a:r>
            <a:endParaRPr lang="en-US" sz="6000" dirty="0"/>
          </a:p>
        </p:txBody>
      </p:sp>
      <p:sp>
        <p:nvSpPr>
          <p:cNvPr id="5" name="Trang trí"/>
          <p:cNvSpPr/>
          <p:nvPr/>
        </p:nvSpPr>
        <p:spPr>
          <a:xfrm>
            <a:off x="10881360" y="457200"/>
            <a:ext cx="822960" cy="822960"/>
          </a:xfrm>
          <a:prstGeom prst="ellipse">
            <a:avLst/>
          </a:prstGeom>
          <a:solidFill>
            <a:srgbClr val="FF9259"/>
          </a:solidFill>
          <a:ln/>
        </p:spPr>
      </p:sp>
      <p:sp>
        <p:nvSpPr>
          <p:cNvPr id="6" name="Trang trí"/>
          <p:cNvSpPr/>
          <p:nvPr/>
        </p:nvSpPr>
        <p:spPr>
          <a:xfrm>
            <a:off x="10241280" y="4480560"/>
            <a:ext cx="1188720" cy="1188720"/>
          </a:xfrm>
          <a:prstGeom prst="ellipse">
            <a:avLst/>
          </a:prstGeom>
          <a:solidFill>
            <a:srgbClr val="962B7C"/>
          </a:solidFill>
          <a:ln/>
        </p:spPr>
      </p:sp>
      <p:sp>
        <p:nvSpPr>
          <p:cNvPr id="7" name="Trang trí"/>
          <p:cNvSpPr/>
          <p:nvPr/>
        </p:nvSpPr>
        <p:spPr>
          <a:xfrm>
            <a:off x="9784080" y="5760720"/>
            <a:ext cx="365760" cy="365760"/>
          </a:xfrm>
          <a:prstGeom prst="ellipse">
            <a:avLst/>
          </a:prstGeom>
          <a:solidFill>
            <a:srgbClr val="FFD23B"/>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12–30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Lý do chọn mẫu và các khái niệm</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Không ai khảo sát toàn bộ thị trường — và thường cũng không cần</a:t>
            </a:r>
            <a:endParaRPr lang="en-US" sz="3400" dirty="0"/>
          </a:p>
        </p:txBody>
      </p:sp>
      <p:sp>
        <p:nvSpPr>
          <p:cNvPr id="6" name="Thẻ Chi phí"/>
          <p:cNvSpPr/>
          <p:nvPr/>
        </p:nvSpPr>
        <p:spPr>
          <a:xfrm>
            <a:off x="548640" y="1783080"/>
            <a:ext cx="5394960" cy="2011680"/>
          </a:xfrm>
          <a:prstGeom prst="roundRect">
            <a:avLst>
              <a:gd name="adj" fmla="val 8182"/>
            </a:avLst>
          </a:prstGeom>
          <a:solidFill>
            <a:srgbClr val="CFEAF1"/>
          </a:solidFill>
          <a:ln/>
        </p:spPr>
      </p:sp>
      <p:sp>
        <p:nvSpPr>
          <p:cNvPr id="7" name="Nhãn 1"/>
          <p:cNvSpPr/>
          <p:nvPr/>
        </p:nvSpPr>
        <p:spPr>
          <a:xfrm>
            <a:off x="713232" y="1947672"/>
            <a:ext cx="548640" cy="548640"/>
          </a:xfrm>
          <a:prstGeom prst="ellipse">
            <a:avLst/>
          </a:prstGeom>
          <a:solidFill>
            <a:srgbClr val="09A1E5"/>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Chi phí</a:t>
            </a:r>
            <a:endParaRPr lang="en-US" sz="2800" dirty="0"/>
          </a:p>
        </p:txBody>
      </p:sp>
      <p:sp>
        <p:nvSpPr>
          <p:cNvPr id="10" name="Text 8"/>
          <p:cNvSpPr txBox="1"/>
          <p:nvPr/>
        </p:nvSpPr>
        <p:spPr>
          <a:xfrm>
            <a:off x="685800" y="2580640"/>
            <a:ext cx="512064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Hỏi hàng triệu người tiêu dùng là không khả thi</a:t>
            </a:r>
            <a:endParaRPr lang="en-US" sz="2600" dirty="0"/>
          </a:p>
        </p:txBody>
      </p:sp>
      <p:sp>
        <p:nvSpPr>
          <p:cNvPr id="11" name="Thẻ Thời gian"/>
          <p:cNvSpPr/>
          <p:nvPr/>
        </p:nvSpPr>
        <p:spPr>
          <a:xfrm>
            <a:off x="6217920" y="1783080"/>
            <a:ext cx="5394960" cy="2011680"/>
          </a:xfrm>
          <a:prstGeom prst="roundRect">
            <a:avLst>
              <a:gd name="adj" fmla="val 8182"/>
            </a:avLst>
          </a:prstGeom>
          <a:solidFill>
            <a:srgbClr val="FCE7D8"/>
          </a:solidFill>
          <a:ln/>
        </p:spPr>
      </p:sp>
      <p:sp>
        <p:nvSpPr>
          <p:cNvPr id="12" name="Nhãn 2"/>
          <p:cNvSpPr/>
          <p:nvPr/>
        </p:nvSpPr>
        <p:spPr>
          <a:xfrm>
            <a:off x="6382512" y="1947672"/>
            <a:ext cx="548640" cy="548640"/>
          </a:xfrm>
          <a:prstGeom prst="ellipse">
            <a:avLst/>
          </a:prstGeom>
          <a:solidFill>
            <a:srgbClr val="FF9259"/>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Thời gian</a:t>
            </a:r>
            <a:endParaRPr lang="en-US" sz="2800" dirty="0"/>
          </a:p>
        </p:txBody>
      </p:sp>
      <p:sp>
        <p:nvSpPr>
          <p:cNvPr id="15" name="Text 13"/>
          <p:cNvSpPr txBox="1"/>
          <p:nvPr/>
        </p:nvSpPr>
        <p:spPr>
          <a:xfrm>
            <a:off x="6355080" y="2580640"/>
            <a:ext cx="512064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Quyết định marketing cần thông tin kịp thời</a:t>
            </a:r>
            <a:endParaRPr lang="en-US" sz="2600" dirty="0"/>
          </a:p>
        </p:txBody>
      </p:sp>
      <p:sp>
        <p:nvSpPr>
          <p:cNvPr id="16" name="Thẻ Độ chính xác"/>
          <p:cNvSpPr/>
          <p:nvPr/>
        </p:nvSpPr>
        <p:spPr>
          <a:xfrm>
            <a:off x="548640" y="4069080"/>
            <a:ext cx="5394960" cy="2011680"/>
          </a:xfrm>
          <a:prstGeom prst="roundRect">
            <a:avLst>
              <a:gd name="adj" fmla="val 8182"/>
            </a:avLst>
          </a:prstGeom>
          <a:solidFill>
            <a:srgbClr val="E9D5DE"/>
          </a:solidFill>
          <a:ln/>
        </p:spPr>
      </p:sp>
      <p:sp>
        <p:nvSpPr>
          <p:cNvPr id="17" name="Nhãn 3"/>
          <p:cNvSpPr/>
          <p:nvPr/>
        </p:nvSpPr>
        <p:spPr>
          <a:xfrm>
            <a:off x="713232" y="4233672"/>
            <a:ext cx="548640" cy="548640"/>
          </a:xfrm>
          <a:prstGeom prst="ellipse">
            <a:avLst/>
          </a:prstGeom>
          <a:solidFill>
            <a:srgbClr val="962B7C"/>
          </a:solidFill>
          <a:ln/>
        </p:spPr>
      </p:sp>
      <p:sp>
        <p:nvSpPr>
          <p:cNvPr id="18" name="Text 16"/>
          <p:cNvSpPr txBox="1"/>
          <p:nvPr/>
        </p:nvSpPr>
        <p:spPr>
          <a:xfrm>
            <a:off x="713232" y="4233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1371600" y="4206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Độ chính xác</a:t>
            </a:r>
            <a:endParaRPr lang="en-US" sz="2800" dirty="0"/>
          </a:p>
        </p:txBody>
      </p:sp>
      <p:sp>
        <p:nvSpPr>
          <p:cNvPr id="20" name="Text 18"/>
          <p:cNvSpPr txBox="1"/>
          <p:nvPr/>
        </p:nvSpPr>
        <p:spPr>
          <a:xfrm>
            <a:off x="685800" y="4866640"/>
            <a:ext cx="512064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Mẫu làm cẩn thận có thể chính xác hơn</a:t>
            </a:r>
            <a:endParaRPr lang="en-US" sz="2600" dirty="0"/>
          </a:p>
        </p:txBody>
      </p:sp>
      <p:sp>
        <p:nvSpPr>
          <p:cNvPr id="21" name="Thẻ Tính phá hủy"/>
          <p:cNvSpPr/>
          <p:nvPr/>
        </p:nvSpPr>
        <p:spPr>
          <a:xfrm>
            <a:off x="6217920" y="4069080"/>
            <a:ext cx="5394960" cy="2011680"/>
          </a:xfrm>
          <a:prstGeom prst="roundRect">
            <a:avLst>
              <a:gd name="adj" fmla="val 8182"/>
            </a:avLst>
          </a:prstGeom>
          <a:solidFill>
            <a:srgbClr val="FCF3D3"/>
          </a:solidFill>
          <a:ln/>
        </p:spPr>
      </p:sp>
      <p:sp>
        <p:nvSpPr>
          <p:cNvPr id="22" name="Nhãn 4"/>
          <p:cNvSpPr/>
          <p:nvPr/>
        </p:nvSpPr>
        <p:spPr>
          <a:xfrm>
            <a:off x="6382512" y="4233672"/>
            <a:ext cx="548640" cy="548640"/>
          </a:xfrm>
          <a:prstGeom prst="ellipse">
            <a:avLst/>
          </a:prstGeom>
          <a:solidFill>
            <a:srgbClr val="FFD23B"/>
          </a:solidFill>
          <a:ln/>
        </p:spPr>
      </p:sp>
      <p:sp>
        <p:nvSpPr>
          <p:cNvPr id="23" name="Text 21"/>
          <p:cNvSpPr txBox="1"/>
          <p:nvPr/>
        </p:nvSpPr>
        <p:spPr>
          <a:xfrm>
            <a:off x="638251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4" name="Text 22"/>
          <p:cNvSpPr txBox="1"/>
          <p:nvPr/>
        </p:nvSpPr>
        <p:spPr>
          <a:xfrm>
            <a:off x="7040880" y="4206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Tính phá hủy</a:t>
            </a:r>
            <a:endParaRPr lang="en-US" sz="2800" dirty="0"/>
          </a:p>
        </p:txBody>
      </p:sp>
      <p:sp>
        <p:nvSpPr>
          <p:cNvPr id="25" name="Text 23"/>
          <p:cNvSpPr txBox="1"/>
          <p:nvPr/>
        </p:nvSpPr>
        <p:spPr>
          <a:xfrm>
            <a:off x="6355080" y="4866640"/>
            <a:ext cx="512064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Có kiểm tra làm hỏng sản phẩm: nếm thử, thử độ bền</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Mẫu làm cẩn thận có thể chính xác hơn tổng điều tra làm vội</a:t>
            </a:r>
            <a:endParaRPr lang="en-US" sz="3400" dirty="0"/>
          </a:p>
        </p:txBody>
      </p:sp>
      <p:sp>
        <p:nvSpPr>
          <p:cNvPr id="6" name="Ghi chú nổi bật"/>
          <p:cNvSpPr/>
          <p:nvPr/>
        </p:nvSpPr>
        <p:spPr>
          <a:xfrm>
            <a:off x="548640" y="4978400"/>
            <a:ext cx="11064240" cy="1102360"/>
          </a:xfrm>
          <a:prstGeom prst="roundRect">
            <a:avLst>
              <a:gd name="adj" fmla="val 14931"/>
            </a:avLst>
          </a:prstGeom>
          <a:solidFill>
            <a:srgbClr val="FCEEBC"/>
          </a:solidFill>
          <a:ln/>
        </p:spPr>
      </p:sp>
      <p:sp>
        <p:nvSpPr>
          <p:cNvPr id="7" name="Nhãn !"/>
          <p:cNvSpPr/>
          <p:nvPr/>
        </p:nvSpPr>
        <p:spPr>
          <a:xfrm>
            <a:off x="731520" y="5300980"/>
            <a:ext cx="457200" cy="457200"/>
          </a:xfrm>
          <a:prstGeom prst="ellipse">
            <a:avLst/>
          </a:prstGeom>
          <a:solidFill>
            <a:srgbClr val="FFD23B"/>
          </a:solidFill>
          <a:ln/>
        </p:spPr>
      </p:sp>
      <p:sp>
        <p:nvSpPr>
          <p:cNvPr id="8" name="Text 6"/>
          <p:cNvSpPr txBox="1"/>
          <p:nvPr/>
        </p:nvSpPr>
        <p:spPr>
          <a:xfrm>
            <a:off x="731520" y="530098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4978400"/>
            <a:ext cx="10149840" cy="110236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Chọn mẫu chính xác hơn khi phần NE giảm được lớn hơn phần SE phát sinh</a:t>
            </a:r>
            <a:endParaRPr lang="en-US" sz="2600" dirty="0"/>
          </a:p>
        </p:txBody>
      </p:sp>
      <p:sp>
        <p:nvSpPr>
          <p:cNvPr id="10" name="Tiêu đề cột"/>
          <p:cNvSpPr/>
          <p:nvPr/>
        </p:nvSpPr>
        <p:spPr>
          <a:xfrm>
            <a:off x="548640" y="1783080"/>
            <a:ext cx="5394960" cy="706120"/>
          </a:xfrm>
          <a:prstGeom prst="roundRect">
            <a:avLst>
              <a:gd name="adj" fmla="val 23309"/>
            </a:avLst>
          </a:prstGeom>
          <a:solidFill>
            <a:srgbClr val="FF9259"/>
          </a:solidFill>
          <a:ln/>
        </p:spPr>
      </p:sp>
      <p:sp>
        <p:nvSpPr>
          <p:cNvPr id="11" name="Text 9"/>
          <p:cNvSpPr txBox="1"/>
          <p:nvPr/>
        </p:nvSpPr>
        <p:spPr>
          <a:xfrm>
            <a:off x="68580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SE: sai số do chọn mẫu</a:t>
            </a:r>
            <a:endParaRPr lang="en-US" sz="2800" dirty="0"/>
          </a:p>
        </p:txBody>
      </p:sp>
      <p:sp>
        <p:nvSpPr>
          <p:cNvPr id="12" name="Nội dung cột"/>
          <p:cNvSpPr/>
          <p:nvPr/>
        </p:nvSpPr>
        <p:spPr>
          <a:xfrm>
            <a:off x="548640" y="2626360"/>
            <a:ext cx="5394960" cy="2077720"/>
          </a:xfrm>
          <a:prstGeom prst="roundRect">
            <a:avLst>
              <a:gd name="adj" fmla="val 7922"/>
            </a:avLst>
          </a:prstGeom>
          <a:solidFill>
            <a:srgbClr val="FCE9DB"/>
          </a:solidFill>
          <a:ln/>
        </p:spPr>
      </p:sp>
      <p:sp>
        <p:nvSpPr>
          <p:cNvPr id="13" name="Dấu đầu dòng"/>
          <p:cNvSpPr/>
          <p:nvPr/>
        </p:nvSpPr>
        <p:spPr>
          <a:xfrm>
            <a:off x="822960" y="2962910"/>
            <a:ext cx="182880" cy="182880"/>
          </a:xfrm>
          <a:prstGeom prst="ellipse">
            <a:avLst/>
          </a:prstGeom>
          <a:solidFill>
            <a:srgbClr val="FF9259"/>
          </a:solidFill>
          <a:ln/>
        </p:spPr>
      </p:sp>
      <p:sp>
        <p:nvSpPr>
          <p:cNvPr id="14" name="Text 12"/>
          <p:cNvSpPr txBox="1"/>
          <p:nvPr/>
        </p:nvSpPr>
        <p:spPr>
          <a:xfrm>
            <a:off x="1097280" y="276352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Giảm khi cỡ mẫu tăng</a:t>
            </a:r>
            <a:endParaRPr lang="en-US" sz="2600" dirty="0"/>
          </a:p>
        </p:txBody>
      </p:sp>
      <p:sp>
        <p:nvSpPr>
          <p:cNvPr id="15" name="Dấu đầu dòng"/>
          <p:cNvSpPr/>
          <p:nvPr/>
        </p:nvSpPr>
        <p:spPr>
          <a:xfrm>
            <a:off x="822960" y="3681730"/>
            <a:ext cx="182880" cy="182880"/>
          </a:xfrm>
          <a:prstGeom prst="ellipse">
            <a:avLst/>
          </a:prstGeom>
          <a:solidFill>
            <a:srgbClr val="FF9259"/>
          </a:solidFill>
          <a:ln/>
        </p:spPr>
      </p:sp>
      <p:sp>
        <p:nvSpPr>
          <p:cNvPr id="16" name="Text 14"/>
          <p:cNvSpPr txBox="1"/>
          <p:nvPr/>
        </p:nvSpPr>
        <p:spPr>
          <a:xfrm>
            <a:off x="1097280" y="348234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Tổng điều tra: SE = 0</a:t>
            </a:r>
            <a:endParaRPr lang="en-US" sz="2600" dirty="0"/>
          </a:p>
        </p:txBody>
      </p:sp>
      <p:sp>
        <p:nvSpPr>
          <p:cNvPr id="17" name="Tiêu đề cột"/>
          <p:cNvSpPr/>
          <p:nvPr/>
        </p:nvSpPr>
        <p:spPr>
          <a:xfrm>
            <a:off x="6217920" y="1783080"/>
            <a:ext cx="5394960" cy="706120"/>
          </a:xfrm>
          <a:prstGeom prst="roundRect">
            <a:avLst>
              <a:gd name="adj" fmla="val 23309"/>
            </a:avLst>
          </a:prstGeom>
          <a:solidFill>
            <a:srgbClr val="FF5178"/>
          </a:solidFill>
          <a:ln/>
        </p:spPr>
      </p:sp>
      <p:sp>
        <p:nvSpPr>
          <p:cNvPr id="18" name="Text 16"/>
          <p:cNvSpPr txBox="1"/>
          <p:nvPr/>
        </p:nvSpPr>
        <p:spPr>
          <a:xfrm>
            <a:off x="635508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NE: không do chọn mẫu</a:t>
            </a:r>
            <a:endParaRPr lang="en-US" sz="2800" dirty="0"/>
          </a:p>
        </p:txBody>
      </p:sp>
      <p:sp>
        <p:nvSpPr>
          <p:cNvPr id="19" name="Nội dung cột"/>
          <p:cNvSpPr/>
          <p:nvPr/>
        </p:nvSpPr>
        <p:spPr>
          <a:xfrm>
            <a:off x="6217920" y="2626360"/>
            <a:ext cx="5394960" cy="2077720"/>
          </a:xfrm>
          <a:prstGeom prst="roundRect">
            <a:avLst>
              <a:gd name="adj" fmla="val 7922"/>
            </a:avLst>
          </a:prstGeom>
          <a:solidFill>
            <a:srgbClr val="FCDFE0"/>
          </a:solidFill>
          <a:ln/>
        </p:spPr>
      </p:sp>
      <p:sp>
        <p:nvSpPr>
          <p:cNvPr id="20" name="Dấu đầu dòng"/>
          <p:cNvSpPr/>
          <p:nvPr/>
        </p:nvSpPr>
        <p:spPr>
          <a:xfrm>
            <a:off x="6492240" y="2962910"/>
            <a:ext cx="182880" cy="182880"/>
          </a:xfrm>
          <a:prstGeom prst="ellipse">
            <a:avLst/>
          </a:prstGeom>
          <a:solidFill>
            <a:srgbClr val="FF5178"/>
          </a:solidFill>
          <a:ln/>
        </p:spPr>
      </p:sp>
      <p:sp>
        <p:nvSpPr>
          <p:cNvPr id="21" name="Text 19"/>
          <p:cNvSpPr txBox="1"/>
          <p:nvPr/>
        </p:nvSpPr>
        <p:spPr>
          <a:xfrm>
            <a:off x="6766560" y="2763520"/>
            <a:ext cx="4709160" cy="10109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Ghi sai, hỏi gợi ý, nhập nhầm</a:t>
            </a:r>
            <a:endParaRPr lang="en-US" sz="2600" dirty="0"/>
          </a:p>
        </p:txBody>
      </p:sp>
      <p:sp>
        <p:nvSpPr>
          <p:cNvPr id="22" name="Dấu đầu dòng"/>
          <p:cNvSpPr/>
          <p:nvPr/>
        </p:nvSpPr>
        <p:spPr>
          <a:xfrm>
            <a:off x="6492240" y="4110990"/>
            <a:ext cx="182880" cy="182880"/>
          </a:xfrm>
          <a:prstGeom prst="ellipse">
            <a:avLst/>
          </a:prstGeom>
          <a:solidFill>
            <a:srgbClr val="FF5178"/>
          </a:solidFill>
          <a:ln/>
        </p:spPr>
      </p:sp>
      <p:sp>
        <p:nvSpPr>
          <p:cNvPr id="23" name="Text 21"/>
          <p:cNvSpPr txBox="1"/>
          <p:nvPr/>
        </p:nvSpPr>
        <p:spPr>
          <a:xfrm>
            <a:off x="6766560" y="391160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Tăng theo quy mô thu thập</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“Sinh viên Việt Nam” là đám đông; đám đông nghiên cứu phải cụ thể đến 4 yếu tố</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FCEEBC"/>
          </a:solidFill>
          <a:ln/>
        </p:spPr>
      </p:sp>
      <p:sp>
        <p:nvSpPr>
          <p:cNvPr id="7" name="Nhãn !"/>
          <p:cNvSpPr/>
          <p:nvPr/>
        </p:nvSpPr>
        <p:spPr>
          <a:xfrm>
            <a:off x="731520" y="5509260"/>
            <a:ext cx="457200" cy="457200"/>
          </a:xfrm>
          <a:prstGeom prst="ellipse">
            <a:avLst/>
          </a:prstGeom>
          <a:solidFill>
            <a:srgbClr val="FFD23B"/>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Ví dụ trà sữa (giả định) — đây là câu nhóm viết ở mục 4.3.3</a:t>
            </a:r>
            <a:endParaRPr lang="en-US" sz="2600" dirty="0"/>
          </a:p>
        </p:txBody>
      </p:sp>
      <p:sp>
        <p:nvSpPr>
          <p:cNvPr id="10" name="Text 8"/>
          <p:cNvSpPr txBox="1"/>
          <p:nvPr/>
        </p:nvSpPr>
        <p:spPr>
          <a:xfrm>
            <a:off x="548640" y="1737360"/>
            <a:ext cx="457200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5B5668"/>
                </a:solidFill>
                <a:latin typeface="Alexandria" pitchFamily="34" charset="0"/>
                <a:ea typeface="Alexandria" pitchFamily="34" charset="-122"/>
                <a:cs typeface="Alexandria" pitchFamily="34" charset="-120"/>
              </a:rPr>
              <a:t>Thu hẹp dần</a:t>
            </a:r>
            <a:endParaRPr lang="en-US" sz="2400" dirty="0"/>
          </a:p>
        </p:txBody>
      </p:sp>
      <p:sp>
        <p:nvSpPr>
          <p:cNvPr id="11" name="Text 9"/>
          <p:cNvSpPr txBox="1"/>
          <p:nvPr/>
        </p:nvSpPr>
        <p:spPr>
          <a:xfrm>
            <a:off x="7772400" y="1737360"/>
            <a:ext cx="384048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5B5668"/>
                </a:solidFill>
                <a:latin typeface="Alexandria" pitchFamily="34" charset="0"/>
                <a:ea typeface="Alexandria" pitchFamily="34" charset="-122"/>
                <a:cs typeface="Alexandria" pitchFamily="34" charset="-120"/>
              </a:rPr>
              <a:t>Kết quả</a:t>
            </a:r>
            <a:endParaRPr lang="en-US" sz="2400" dirty="0"/>
          </a:p>
        </p:txBody>
      </p:sp>
      <p:sp>
        <p:nvSpPr>
          <p:cNvPr id="12" name="Biến Phần tử: sinh viên"/>
          <p:cNvSpPr/>
          <p:nvPr/>
        </p:nvSpPr>
        <p:spPr>
          <a:xfrm>
            <a:off x="548640" y="2331720"/>
            <a:ext cx="4572000" cy="573786"/>
          </a:xfrm>
          <a:prstGeom prst="roundRect">
            <a:avLst>
              <a:gd name="adj" fmla="val 28685"/>
            </a:avLst>
          </a:prstGeom>
          <a:solidFill>
            <a:srgbClr val="FFD23B"/>
          </a:solidFill>
          <a:ln/>
        </p:spPr>
      </p:sp>
      <p:sp>
        <p:nvSpPr>
          <p:cNvPr id="13" name="Text 11"/>
          <p:cNvSpPr txBox="1"/>
          <p:nvPr/>
        </p:nvSpPr>
        <p:spPr>
          <a:xfrm>
            <a:off x="685800" y="2331720"/>
            <a:ext cx="4297680" cy="573786"/>
          </a:xfrm>
          <a:prstGeom prst="rect">
            <a:avLst/>
          </a:prstGeom>
          <a:noFill/>
          <a:ln/>
        </p:spPr>
        <p:txBody>
          <a:bodyPr wrap="square" lIns="76200" tIns="76200" rIns="76200" bIns="76200" rtlCol="0" anchor="ctr"/>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Phần tử: sinh viên</a:t>
            </a:r>
            <a:endParaRPr lang="en-US" sz="2500" dirty="0"/>
          </a:p>
        </p:txBody>
      </p:sp>
      <p:sp>
        <p:nvSpPr>
          <p:cNvPr id="14" name="Mũi tên"/>
          <p:cNvSpPr/>
          <p:nvPr/>
        </p:nvSpPr>
        <p:spPr>
          <a:xfrm>
            <a:off x="5166360" y="2618613"/>
            <a:ext cx="2532888" cy="830675"/>
          </a:xfrm>
          <a:prstGeom prst="line">
            <a:avLst/>
          </a:prstGeom>
          <a:noFill/>
          <a:ln w="31750">
            <a:solidFill>
              <a:srgbClr val="5B5668"/>
            </a:solidFill>
            <a:prstDash val="solid"/>
            <a:tailEnd type="triangle"/>
          </a:ln>
        </p:spPr>
      </p:sp>
      <p:sp>
        <p:nvSpPr>
          <p:cNvPr id="15" name="Biến Đơn vị: từng người"/>
          <p:cNvSpPr/>
          <p:nvPr/>
        </p:nvSpPr>
        <p:spPr>
          <a:xfrm>
            <a:off x="548640" y="3070098"/>
            <a:ext cx="4572000" cy="573786"/>
          </a:xfrm>
          <a:prstGeom prst="roundRect">
            <a:avLst>
              <a:gd name="adj" fmla="val 28685"/>
            </a:avLst>
          </a:prstGeom>
          <a:solidFill>
            <a:srgbClr val="FFD23B"/>
          </a:solidFill>
          <a:ln/>
        </p:spPr>
      </p:sp>
      <p:sp>
        <p:nvSpPr>
          <p:cNvPr id="16" name="Text 14"/>
          <p:cNvSpPr txBox="1"/>
          <p:nvPr/>
        </p:nvSpPr>
        <p:spPr>
          <a:xfrm>
            <a:off x="685800" y="3070098"/>
            <a:ext cx="4297680" cy="573786"/>
          </a:xfrm>
          <a:prstGeom prst="rect">
            <a:avLst/>
          </a:prstGeom>
          <a:noFill/>
          <a:ln/>
        </p:spPr>
        <p:txBody>
          <a:bodyPr wrap="square" lIns="76200" tIns="76200" rIns="76200" bIns="76200" rtlCol="0" anchor="ctr"/>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Đơn vị: từng người</a:t>
            </a:r>
            <a:endParaRPr lang="en-US" sz="2500" dirty="0"/>
          </a:p>
        </p:txBody>
      </p:sp>
      <p:sp>
        <p:nvSpPr>
          <p:cNvPr id="17" name="Mũi tên"/>
          <p:cNvSpPr/>
          <p:nvPr/>
        </p:nvSpPr>
        <p:spPr>
          <a:xfrm>
            <a:off x="5166360" y="3356991"/>
            <a:ext cx="2532888" cy="276892"/>
          </a:xfrm>
          <a:prstGeom prst="line">
            <a:avLst/>
          </a:prstGeom>
          <a:noFill/>
          <a:ln w="31750">
            <a:solidFill>
              <a:srgbClr val="5B5668"/>
            </a:solidFill>
            <a:prstDash val="solid"/>
            <a:tailEnd type="triangle"/>
          </a:ln>
        </p:spPr>
      </p:sp>
      <p:sp>
        <p:nvSpPr>
          <p:cNvPr id="18" name="Biến Không gian: TP.HCM"/>
          <p:cNvSpPr/>
          <p:nvPr/>
        </p:nvSpPr>
        <p:spPr>
          <a:xfrm>
            <a:off x="548640" y="3808476"/>
            <a:ext cx="4572000" cy="573786"/>
          </a:xfrm>
          <a:prstGeom prst="roundRect">
            <a:avLst>
              <a:gd name="adj" fmla="val 28685"/>
            </a:avLst>
          </a:prstGeom>
          <a:solidFill>
            <a:srgbClr val="49B296"/>
          </a:solidFill>
          <a:ln/>
        </p:spPr>
      </p:sp>
      <p:sp>
        <p:nvSpPr>
          <p:cNvPr id="19" name="Text 17"/>
          <p:cNvSpPr txBox="1"/>
          <p:nvPr/>
        </p:nvSpPr>
        <p:spPr>
          <a:xfrm>
            <a:off x="685800" y="3808476"/>
            <a:ext cx="4297680" cy="573786"/>
          </a:xfrm>
          <a:prstGeom prst="rect">
            <a:avLst/>
          </a:prstGeom>
          <a:noFill/>
          <a:ln/>
        </p:spPr>
        <p:txBody>
          <a:bodyPr wrap="square" lIns="76200" tIns="76200" rIns="76200" bIns="76200" rtlCol="0" anchor="ctr"/>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Không gian: TP.HCM</a:t>
            </a:r>
            <a:endParaRPr lang="en-US" sz="2500" dirty="0"/>
          </a:p>
        </p:txBody>
      </p:sp>
      <p:sp>
        <p:nvSpPr>
          <p:cNvPr id="20" name="Mũi tên"/>
          <p:cNvSpPr/>
          <p:nvPr/>
        </p:nvSpPr>
        <p:spPr>
          <a:xfrm flipV="1">
            <a:off x="5166360" y="3818477"/>
            <a:ext cx="2532888" cy="276892"/>
          </a:xfrm>
          <a:prstGeom prst="line">
            <a:avLst/>
          </a:prstGeom>
          <a:noFill/>
          <a:ln w="31750">
            <a:solidFill>
              <a:srgbClr val="5B5668"/>
            </a:solidFill>
            <a:prstDash val="solid"/>
            <a:tailEnd type="triangle"/>
          </a:ln>
        </p:spPr>
      </p:sp>
      <p:sp>
        <p:nvSpPr>
          <p:cNvPr id="21" name="Biến Thời gian: 3 tháng qua"/>
          <p:cNvSpPr/>
          <p:nvPr/>
        </p:nvSpPr>
        <p:spPr>
          <a:xfrm>
            <a:off x="548640" y="4546854"/>
            <a:ext cx="4572000" cy="573786"/>
          </a:xfrm>
          <a:prstGeom prst="roundRect">
            <a:avLst>
              <a:gd name="adj" fmla="val 28685"/>
            </a:avLst>
          </a:prstGeom>
          <a:solidFill>
            <a:srgbClr val="FF5178"/>
          </a:solidFill>
          <a:ln/>
        </p:spPr>
      </p:sp>
      <p:sp>
        <p:nvSpPr>
          <p:cNvPr id="22" name="Text 20"/>
          <p:cNvSpPr txBox="1"/>
          <p:nvPr/>
        </p:nvSpPr>
        <p:spPr>
          <a:xfrm>
            <a:off x="685800" y="4546854"/>
            <a:ext cx="4297680" cy="573786"/>
          </a:xfrm>
          <a:prstGeom prst="rect">
            <a:avLst/>
          </a:prstGeom>
          <a:noFill/>
          <a:ln/>
        </p:spPr>
        <p:txBody>
          <a:bodyPr wrap="square" lIns="76200" tIns="76200" rIns="76200" bIns="76200" rtlCol="0" anchor="ctr"/>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Thời gian: 3 tháng qua</a:t>
            </a:r>
            <a:endParaRPr lang="en-US" sz="2500" dirty="0"/>
          </a:p>
        </p:txBody>
      </p:sp>
      <p:sp>
        <p:nvSpPr>
          <p:cNvPr id="23" name="Mũi tên"/>
          <p:cNvSpPr/>
          <p:nvPr/>
        </p:nvSpPr>
        <p:spPr>
          <a:xfrm flipV="1">
            <a:off x="5166360" y="4003072"/>
            <a:ext cx="2532888" cy="830675"/>
          </a:xfrm>
          <a:prstGeom prst="line">
            <a:avLst/>
          </a:prstGeom>
          <a:noFill/>
          <a:ln w="31750">
            <a:solidFill>
              <a:srgbClr val="5B5668"/>
            </a:solidFill>
            <a:prstDash val="solid"/>
            <a:tailEnd type="triangle"/>
          </a:ln>
        </p:spPr>
      </p:sp>
      <p:sp>
        <p:nvSpPr>
          <p:cNvPr id="24" name="Biến kết quả"/>
          <p:cNvSpPr/>
          <p:nvPr/>
        </p:nvSpPr>
        <p:spPr>
          <a:xfrm>
            <a:off x="7772400" y="2537460"/>
            <a:ext cx="3840480" cy="2377440"/>
          </a:xfrm>
          <a:prstGeom prst="roundRect">
            <a:avLst>
              <a:gd name="adj" fmla="val 6923"/>
            </a:avLst>
          </a:prstGeom>
          <a:solidFill>
            <a:srgbClr val="962B7C"/>
          </a:solidFill>
          <a:ln/>
        </p:spPr>
      </p:sp>
      <p:sp>
        <p:nvSpPr>
          <p:cNvPr id="25" name="Text 23"/>
          <p:cNvSpPr txBox="1"/>
          <p:nvPr/>
        </p:nvSpPr>
        <p:spPr>
          <a:xfrm>
            <a:off x="7955280" y="2537460"/>
            <a:ext cx="3474720" cy="2377440"/>
          </a:xfrm>
          <a:prstGeom prst="rect">
            <a:avLst/>
          </a:prstGeom>
          <a:noFill/>
          <a:ln/>
        </p:spPr>
        <p:txBody>
          <a:bodyPr wrap="square" lIns="76200" tIns="76200" rIns="76200" bIns="76200" rtlCol="0" anchor="ctr"/>
          <a:lstStyle/>
          <a:p>
            <a:pPr algn="l" indent="0" marL="0">
              <a:lnSpc>
                <a:spcPts val="4200"/>
              </a:lnSpc>
              <a:buNone/>
            </a:pPr>
            <a:r>
              <a:rPr lang="en-US" sz="3200" b="1" dirty="0">
                <a:solidFill>
                  <a:srgbClr val="FFFFFF"/>
                </a:solidFill>
                <a:latin typeface="Alexandria" pitchFamily="34" charset="0"/>
                <a:ea typeface="Alexandria" pitchFamily="34" charset="-122"/>
                <a:cs typeface="Alexandria" pitchFamily="34" charset="-120"/>
              </a:rPr>
              <a:t>Đám đông nghiên cứu</a:t>
            </a:r>
            <a:endParaRPr lang="en-US" sz="32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Phần tử là người trả lời; đơn vị là thứ được bốc ra khi chọn</a:t>
            </a:r>
            <a:endParaRPr lang="en-US" sz="3400" dirty="0"/>
          </a:p>
        </p:txBody>
      </p:sp>
      <p:sp>
        <p:nvSpPr>
          <p:cNvPr id="6" name="Mũi tên"/>
          <p:cNvSpPr/>
          <p:nvPr/>
        </p:nvSpPr>
        <p:spPr>
          <a:xfrm>
            <a:off x="1371600" y="2240280"/>
            <a:ext cx="2865120" cy="914"/>
          </a:xfrm>
          <a:prstGeom prst="line">
            <a:avLst/>
          </a:prstGeom>
          <a:noFill/>
          <a:ln w="31750">
            <a:solidFill>
              <a:srgbClr val="5B5668"/>
            </a:solidFill>
            <a:prstDash val="solid"/>
            <a:tailEnd type="triangle"/>
          </a:ln>
        </p:spPr>
      </p:sp>
      <p:sp>
        <p:nvSpPr>
          <p:cNvPr id="7" name="Mũi tên"/>
          <p:cNvSpPr/>
          <p:nvPr/>
        </p:nvSpPr>
        <p:spPr>
          <a:xfrm>
            <a:off x="5151120" y="2240280"/>
            <a:ext cx="2865120" cy="914"/>
          </a:xfrm>
          <a:prstGeom prst="line">
            <a:avLst/>
          </a:prstGeom>
          <a:noFill/>
          <a:ln w="31750">
            <a:solidFill>
              <a:srgbClr val="5B5668"/>
            </a:solidFill>
            <a:prstDash val="solid"/>
            <a:tailEnd type="triangle"/>
          </a:ln>
        </p:spPr>
      </p:sp>
      <p:sp>
        <p:nvSpPr>
          <p:cNvPr id="8" name="Bước 1"/>
          <p:cNvSpPr/>
          <p:nvPr/>
        </p:nvSpPr>
        <p:spPr>
          <a:xfrm>
            <a:off x="502920" y="2697480"/>
            <a:ext cx="3596640" cy="2037080"/>
          </a:xfrm>
          <a:prstGeom prst="roundRect">
            <a:avLst>
              <a:gd name="adj" fmla="val 8080"/>
            </a:avLst>
          </a:prstGeom>
          <a:solidFill>
            <a:srgbClr val="FCF4DA"/>
          </a:solidFill>
          <a:ln/>
        </p:spPr>
      </p:sp>
      <p:sp>
        <p:nvSpPr>
          <p:cNvPr id="9" name="Nhãn 1"/>
          <p:cNvSpPr/>
          <p:nvPr/>
        </p:nvSpPr>
        <p:spPr>
          <a:xfrm>
            <a:off x="548640" y="1874520"/>
            <a:ext cx="731520" cy="731520"/>
          </a:xfrm>
          <a:prstGeom prst="ellipse">
            <a:avLst/>
          </a:prstGeom>
          <a:solidFill>
            <a:srgbClr val="FFD23B"/>
          </a:solidFill>
          <a:ln/>
        </p:spPr>
      </p:sp>
      <p:sp>
        <p:nvSpPr>
          <p:cNvPr id="10" name="Text 8"/>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1</a:t>
            </a:r>
            <a:endParaRPr lang="en-US" sz="2800" dirty="0"/>
          </a:p>
        </p:txBody>
      </p:sp>
      <p:sp>
        <p:nvSpPr>
          <p:cNvPr id="11" name="Text 9"/>
          <p:cNvSpPr txBox="1"/>
          <p:nvPr/>
        </p:nvSpPr>
        <p:spPr>
          <a:xfrm>
            <a:off x="54864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Quận</a:t>
            </a:r>
            <a:endParaRPr lang="en-US" sz="2800" dirty="0"/>
          </a:p>
        </p:txBody>
      </p:sp>
      <p:sp>
        <p:nvSpPr>
          <p:cNvPr id="12" name="Text 10"/>
          <p:cNvSpPr txBox="1"/>
          <p:nvPr/>
        </p:nvSpPr>
        <p:spPr>
          <a:xfrm>
            <a:off x="548640" y="3357880"/>
            <a:ext cx="350520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Đơn vị ở bước 1</a:t>
            </a:r>
            <a:endParaRPr lang="en-US" sz="2600" dirty="0"/>
          </a:p>
        </p:txBody>
      </p:sp>
      <p:sp>
        <p:nvSpPr>
          <p:cNvPr id="13" name="Bước 2"/>
          <p:cNvSpPr/>
          <p:nvPr/>
        </p:nvSpPr>
        <p:spPr>
          <a:xfrm>
            <a:off x="4282440" y="2697480"/>
            <a:ext cx="3596640" cy="2037080"/>
          </a:xfrm>
          <a:prstGeom prst="roundRect">
            <a:avLst>
              <a:gd name="adj" fmla="val 8080"/>
            </a:avLst>
          </a:prstGeom>
          <a:solidFill>
            <a:srgbClr val="E2F0E7"/>
          </a:solidFill>
          <a:ln/>
        </p:spPr>
      </p:sp>
      <p:sp>
        <p:nvSpPr>
          <p:cNvPr id="14" name="Nhãn 2"/>
          <p:cNvSpPr/>
          <p:nvPr/>
        </p:nvSpPr>
        <p:spPr>
          <a:xfrm>
            <a:off x="4328160" y="1874520"/>
            <a:ext cx="731520" cy="731520"/>
          </a:xfrm>
          <a:prstGeom prst="ellipse">
            <a:avLst/>
          </a:prstGeom>
          <a:solidFill>
            <a:srgbClr val="49B296"/>
          </a:solidFill>
          <a:ln/>
        </p:spPr>
      </p:sp>
      <p:sp>
        <p:nvSpPr>
          <p:cNvPr id="15" name="Text 13"/>
          <p:cNvSpPr txBox="1"/>
          <p:nvPr/>
        </p:nvSpPr>
        <p:spPr>
          <a:xfrm>
            <a:off x="432816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2</a:t>
            </a:r>
            <a:endParaRPr lang="en-US" sz="2800" dirty="0"/>
          </a:p>
        </p:txBody>
      </p:sp>
      <p:sp>
        <p:nvSpPr>
          <p:cNvPr id="16" name="Text 14"/>
          <p:cNvSpPr txBox="1"/>
          <p:nvPr/>
        </p:nvSpPr>
        <p:spPr>
          <a:xfrm>
            <a:off x="432816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Phường</a:t>
            </a:r>
            <a:endParaRPr lang="en-US" sz="2800" dirty="0"/>
          </a:p>
        </p:txBody>
      </p:sp>
      <p:sp>
        <p:nvSpPr>
          <p:cNvPr id="17" name="Text 15"/>
          <p:cNvSpPr txBox="1"/>
          <p:nvPr/>
        </p:nvSpPr>
        <p:spPr>
          <a:xfrm>
            <a:off x="4328160" y="3357880"/>
            <a:ext cx="350520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Đơn vị ở bước 2</a:t>
            </a:r>
            <a:endParaRPr lang="en-US" sz="2600" dirty="0"/>
          </a:p>
        </p:txBody>
      </p:sp>
      <p:sp>
        <p:nvSpPr>
          <p:cNvPr id="18" name="Bước 3"/>
          <p:cNvSpPr/>
          <p:nvPr/>
        </p:nvSpPr>
        <p:spPr>
          <a:xfrm>
            <a:off x="8061960" y="2697480"/>
            <a:ext cx="3596640" cy="2037080"/>
          </a:xfrm>
          <a:prstGeom prst="roundRect">
            <a:avLst>
              <a:gd name="adj" fmla="val 8080"/>
            </a:avLst>
          </a:prstGeom>
          <a:solidFill>
            <a:srgbClr val="FCE2E3"/>
          </a:solidFill>
          <a:ln/>
        </p:spPr>
      </p:sp>
      <p:sp>
        <p:nvSpPr>
          <p:cNvPr id="19" name="Nhãn 3"/>
          <p:cNvSpPr/>
          <p:nvPr/>
        </p:nvSpPr>
        <p:spPr>
          <a:xfrm>
            <a:off x="8107680" y="1874520"/>
            <a:ext cx="731520" cy="731520"/>
          </a:xfrm>
          <a:prstGeom prst="ellipse">
            <a:avLst/>
          </a:prstGeom>
          <a:solidFill>
            <a:srgbClr val="FF5178"/>
          </a:solidFill>
          <a:ln/>
        </p:spPr>
      </p:sp>
      <p:sp>
        <p:nvSpPr>
          <p:cNvPr id="20" name="Text 18"/>
          <p:cNvSpPr txBox="1"/>
          <p:nvPr/>
        </p:nvSpPr>
        <p:spPr>
          <a:xfrm>
            <a:off x="810768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3</a:t>
            </a:r>
            <a:endParaRPr lang="en-US" sz="2800" dirty="0"/>
          </a:p>
        </p:txBody>
      </p:sp>
      <p:sp>
        <p:nvSpPr>
          <p:cNvPr id="21" name="Text 19"/>
          <p:cNvSpPr txBox="1"/>
          <p:nvPr/>
        </p:nvSpPr>
        <p:spPr>
          <a:xfrm>
            <a:off x="810768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Hộ gia đình</a:t>
            </a:r>
            <a:endParaRPr lang="en-US" sz="2800" dirty="0"/>
          </a:p>
        </p:txBody>
      </p:sp>
      <p:sp>
        <p:nvSpPr>
          <p:cNvPr id="22" name="Text 20"/>
          <p:cNvSpPr txBox="1"/>
          <p:nvPr/>
        </p:nvSpPr>
        <p:spPr>
          <a:xfrm>
            <a:off x="8107680" y="3357880"/>
            <a:ext cx="350520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Người trả lời trong hộ là phần tử</a:t>
            </a:r>
            <a:endParaRPr lang="en-US" sz="2600" dirty="0"/>
          </a:p>
        </p:txBody>
      </p:sp>
      <p:sp>
        <p:nvSpPr>
          <p:cNvPr id="23" name="Ghi chú nổi bật"/>
          <p:cNvSpPr/>
          <p:nvPr/>
        </p:nvSpPr>
        <p:spPr>
          <a:xfrm>
            <a:off x="548640" y="5100320"/>
            <a:ext cx="11064240" cy="685800"/>
          </a:xfrm>
          <a:prstGeom prst="roundRect">
            <a:avLst>
              <a:gd name="adj" fmla="val 24000"/>
            </a:avLst>
          </a:prstGeom>
          <a:solidFill>
            <a:srgbClr val="C6E4D8"/>
          </a:solidFill>
          <a:ln/>
        </p:spPr>
      </p:sp>
      <p:sp>
        <p:nvSpPr>
          <p:cNvPr id="24" name="Nhãn !"/>
          <p:cNvSpPr/>
          <p:nvPr/>
        </p:nvSpPr>
        <p:spPr>
          <a:xfrm>
            <a:off x="731520" y="5214620"/>
            <a:ext cx="457200" cy="457200"/>
          </a:xfrm>
          <a:prstGeom prst="ellipse">
            <a:avLst/>
          </a:prstGeom>
          <a:solidFill>
            <a:srgbClr val="49B296"/>
          </a:solidFill>
          <a:ln/>
        </p:spPr>
      </p:sp>
      <p:sp>
        <p:nvSpPr>
          <p:cNvPr id="25" name="Text 23"/>
          <p:cNvSpPr txBox="1"/>
          <p:nvPr/>
        </p:nvSpPr>
        <p:spPr>
          <a:xfrm>
            <a:off x="731520" y="521462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6" name="Text 24"/>
          <p:cNvSpPr txBox="1"/>
          <p:nvPr/>
        </p:nvSpPr>
        <p:spPr>
          <a:xfrm>
            <a:off x="1325880" y="510032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Bốc thẳng từng sinh viên: đơn vị trùng phần tử</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Khung mẫu lệch đám đông thì mẫu lệch ngay từ đầu</a:t>
            </a:r>
            <a:endParaRPr lang="en-US" sz="3400" dirty="0"/>
          </a:p>
        </p:txBody>
      </p:sp>
      <p:sp>
        <p:nvSpPr>
          <p:cNvPr id="6" name="Thẻ Thiếu"/>
          <p:cNvSpPr/>
          <p:nvPr/>
        </p:nvSpPr>
        <p:spPr>
          <a:xfrm>
            <a:off x="548640" y="1783080"/>
            <a:ext cx="3505200" cy="2740660"/>
          </a:xfrm>
          <a:prstGeom prst="roundRect">
            <a:avLst>
              <a:gd name="adj" fmla="val 6006"/>
            </a:avLst>
          </a:prstGeom>
          <a:solidFill>
            <a:srgbClr val="DBEDE3"/>
          </a:solidFill>
          <a:ln/>
        </p:spPr>
      </p:sp>
      <p:sp>
        <p:nvSpPr>
          <p:cNvPr id="7" name="Nhãn 1"/>
          <p:cNvSpPr/>
          <p:nvPr/>
        </p:nvSpPr>
        <p:spPr>
          <a:xfrm>
            <a:off x="713232" y="1947672"/>
            <a:ext cx="548640" cy="548640"/>
          </a:xfrm>
          <a:prstGeom prst="ellipse">
            <a:avLst/>
          </a:prstGeom>
          <a:solidFill>
            <a:srgbClr val="49B296"/>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Thiếu</a:t>
            </a:r>
            <a:endParaRPr lang="en-US" sz="2800" dirty="0"/>
          </a:p>
        </p:txBody>
      </p:sp>
      <p:sp>
        <p:nvSpPr>
          <p:cNvPr id="10" name="Text 8"/>
          <p:cNvSpPr txBox="1"/>
          <p:nvPr/>
        </p:nvSpPr>
        <p:spPr>
          <a:xfrm>
            <a:off x="685800" y="258064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Bỏ sót sinh viên không tham gia nhóm</a:t>
            </a:r>
            <a:endParaRPr lang="en-US" sz="2600" dirty="0"/>
          </a:p>
        </p:txBody>
      </p:sp>
      <p:sp>
        <p:nvSpPr>
          <p:cNvPr id="11" name="Thẻ Thừa"/>
          <p:cNvSpPr/>
          <p:nvPr/>
        </p:nvSpPr>
        <p:spPr>
          <a:xfrm>
            <a:off x="4328160" y="1783080"/>
            <a:ext cx="3505200" cy="2740660"/>
          </a:xfrm>
          <a:prstGeom prst="roundRect">
            <a:avLst>
              <a:gd name="adj" fmla="val 6006"/>
            </a:avLst>
          </a:prstGeom>
          <a:solidFill>
            <a:srgbClr val="FCDCDE"/>
          </a:solidFill>
          <a:ln/>
        </p:spPr>
      </p:sp>
      <p:sp>
        <p:nvSpPr>
          <p:cNvPr id="12" name="Nhãn 2"/>
          <p:cNvSpPr/>
          <p:nvPr/>
        </p:nvSpPr>
        <p:spPr>
          <a:xfrm>
            <a:off x="4492752" y="1947672"/>
            <a:ext cx="548640" cy="548640"/>
          </a:xfrm>
          <a:prstGeom prst="ellipse">
            <a:avLst/>
          </a:prstGeom>
          <a:solidFill>
            <a:srgbClr val="FF5178"/>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Thừa</a:t>
            </a:r>
            <a:endParaRPr lang="en-US" sz="2800" dirty="0"/>
          </a:p>
        </p:txBody>
      </p:sp>
      <p:sp>
        <p:nvSpPr>
          <p:cNvPr id="15" name="Text 13"/>
          <p:cNvSpPr txBox="1"/>
          <p:nvPr/>
        </p:nvSpPr>
        <p:spPr>
          <a:xfrm>
            <a:off x="4465320" y="258064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Lẫn người đã tốt nghiệp, không phải sinh viên</a:t>
            </a:r>
            <a:endParaRPr lang="en-US" sz="2600" dirty="0"/>
          </a:p>
        </p:txBody>
      </p:sp>
      <p:sp>
        <p:nvSpPr>
          <p:cNvPr id="16" name="Thẻ Trùng"/>
          <p:cNvSpPr/>
          <p:nvPr/>
        </p:nvSpPr>
        <p:spPr>
          <a:xfrm>
            <a:off x="8107680" y="1783080"/>
            <a:ext cx="3505200" cy="2740660"/>
          </a:xfrm>
          <a:prstGeom prst="roundRect">
            <a:avLst>
              <a:gd name="adj" fmla="val 6006"/>
            </a:avLst>
          </a:prstGeom>
          <a:solidFill>
            <a:srgbClr val="CFEAF1"/>
          </a:solidFill>
          <a:ln/>
        </p:spPr>
      </p:sp>
      <p:sp>
        <p:nvSpPr>
          <p:cNvPr id="17" name="Nhãn 3"/>
          <p:cNvSpPr/>
          <p:nvPr/>
        </p:nvSpPr>
        <p:spPr>
          <a:xfrm>
            <a:off x="8272272" y="1947672"/>
            <a:ext cx="548640" cy="548640"/>
          </a:xfrm>
          <a:prstGeom prst="ellipse">
            <a:avLst/>
          </a:prstGeom>
          <a:solidFill>
            <a:srgbClr val="09A1E5"/>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Trùng</a:t>
            </a:r>
            <a:endParaRPr lang="en-US" sz="2800" dirty="0"/>
          </a:p>
        </p:txBody>
      </p:sp>
      <p:sp>
        <p:nvSpPr>
          <p:cNvPr id="20" name="Text 18"/>
          <p:cNvSpPr txBox="1"/>
          <p:nvPr/>
        </p:nvSpPr>
        <p:spPr>
          <a:xfrm>
            <a:off x="8244840" y="258064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Một người có hai tài khoản</a:t>
            </a:r>
            <a:endParaRPr lang="en-US" sz="2600" dirty="0"/>
          </a:p>
        </p:txBody>
      </p:sp>
      <p:sp>
        <p:nvSpPr>
          <p:cNvPr id="21" name="Ghi chú nổi bật"/>
          <p:cNvSpPr/>
          <p:nvPr/>
        </p:nvSpPr>
        <p:spPr>
          <a:xfrm>
            <a:off x="548640" y="4889500"/>
            <a:ext cx="11064240" cy="685800"/>
          </a:xfrm>
          <a:prstGeom prst="roundRect">
            <a:avLst>
              <a:gd name="adj" fmla="val 24000"/>
            </a:avLst>
          </a:prstGeom>
          <a:solidFill>
            <a:srgbClr val="FCDBC5"/>
          </a:solidFill>
          <a:ln/>
        </p:spPr>
      </p:sp>
      <p:sp>
        <p:nvSpPr>
          <p:cNvPr id="22" name="Nhãn !"/>
          <p:cNvSpPr/>
          <p:nvPr/>
        </p:nvSpPr>
        <p:spPr>
          <a:xfrm>
            <a:off x="731520" y="5003800"/>
            <a:ext cx="457200" cy="457200"/>
          </a:xfrm>
          <a:prstGeom prst="ellipse">
            <a:avLst/>
          </a:prstGeom>
          <a:solidFill>
            <a:srgbClr val="FF9259"/>
          </a:solidFill>
          <a:ln/>
        </p:spPr>
      </p:sp>
      <p:sp>
        <p:nvSpPr>
          <p:cNvPr id="23" name="Text 21"/>
          <p:cNvSpPr txBox="1"/>
          <p:nvPr/>
        </p:nvSpPr>
        <p:spPr>
          <a:xfrm>
            <a:off x="731520" y="500380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4" name="Text 22"/>
          <p:cNvSpPr txBox="1"/>
          <p:nvPr/>
        </p:nvSpPr>
        <p:spPr>
          <a:xfrm>
            <a:off x="1325880" y="488950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Ví dụ: một nhóm Facebook được dùng làm khung mẫu</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Hiệu quả chọn mẫu: chính xác hơn với cùng cỡ mẫu, hoặc rẻ hơn với cùng độ chính xác</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FCDBC5"/>
          </a:solidFill>
          <a:ln/>
        </p:spPr>
      </p:sp>
      <p:sp>
        <p:nvSpPr>
          <p:cNvPr id="7" name="Nhãn !"/>
          <p:cNvSpPr/>
          <p:nvPr/>
        </p:nvSpPr>
        <p:spPr>
          <a:xfrm>
            <a:off x="731520" y="5509260"/>
            <a:ext cx="457200" cy="457200"/>
          </a:xfrm>
          <a:prstGeom prst="ellipse">
            <a:avLst/>
          </a:prstGeom>
          <a:solidFill>
            <a:srgbClr val="FF9259"/>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Ví dụ: chọn theo nhóm giúp giảm chi phí đi lại</a:t>
            </a:r>
            <a:endParaRPr lang="en-US" sz="2600" dirty="0"/>
          </a:p>
        </p:txBody>
      </p:sp>
      <p:sp>
        <p:nvSpPr>
          <p:cNvPr id="10" name="Tiêu đề cột"/>
          <p:cNvSpPr/>
          <p:nvPr/>
        </p:nvSpPr>
        <p:spPr>
          <a:xfrm>
            <a:off x="548640" y="1783080"/>
            <a:ext cx="5120640" cy="706120"/>
          </a:xfrm>
          <a:prstGeom prst="roundRect">
            <a:avLst>
              <a:gd name="adj" fmla="val 23309"/>
            </a:avLst>
          </a:prstGeom>
          <a:solidFill>
            <a:srgbClr val="FF9259"/>
          </a:solidFill>
          <a:ln/>
        </p:spPr>
      </p:sp>
      <p:sp>
        <p:nvSpPr>
          <p:cNvPr id="11" name="Text 9"/>
          <p:cNvSpPr txBox="1"/>
          <p:nvPr/>
        </p:nvSpPr>
        <p:spPr>
          <a:xfrm>
            <a:off x="6858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Hiệu quả thống kê</a:t>
            </a:r>
            <a:endParaRPr lang="en-US" sz="2800" dirty="0"/>
          </a:p>
        </p:txBody>
      </p:sp>
      <p:sp>
        <p:nvSpPr>
          <p:cNvPr id="12" name="Nội dung cột"/>
          <p:cNvSpPr/>
          <p:nvPr/>
        </p:nvSpPr>
        <p:spPr>
          <a:xfrm>
            <a:off x="548640" y="2626360"/>
            <a:ext cx="5120640" cy="2494280"/>
          </a:xfrm>
          <a:prstGeom prst="roundRect">
            <a:avLst>
              <a:gd name="adj" fmla="val 6599"/>
            </a:avLst>
          </a:prstGeom>
          <a:solidFill>
            <a:srgbClr val="FCE9DB"/>
          </a:solidFill>
          <a:ln/>
        </p:spPr>
      </p:sp>
      <p:sp>
        <p:nvSpPr>
          <p:cNvPr id="13" name="Dấu đầu dòng"/>
          <p:cNvSpPr/>
          <p:nvPr/>
        </p:nvSpPr>
        <p:spPr>
          <a:xfrm>
            <a:off x="822960" y="2979420"/>
            <a:ext cx="182880" cy="182880"/>
          </a:xfrm>
          <a:prstGeom prst="ellipse">
            <a:avLst/>
          </a:prstGeom>
          <a:solidFill>
            <a:srgbClr val="FF9259"/>
          </a:solidFill>
          <a:ln/>
        </p:spPr>
      </p:sp>
      <p:sp>
        <p:nvSpPr>
          <p:cNvPr id="14" name="Text 12"/>
          <p:cNvSpPr txBox="1"/>
          <p:nvPr/>
        </p:nvSpPr>
        <p:spPr>
          <a:xfrm>
            <a:off x="1097280" y="276352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Cùng cỡ mẫu</a:t>
            </a:r>
            <a:endParaRPr lang="en-US" sz="2800" dirty="0"/>
          </a:p>
        </p:txBody>
      </p:sp>
      <p:sp>
        <p:nvSpPr>
          <p:cNvPr id="15" name="Dấu đầu dòng"/>
          <p:cNvSpPr/>
          <p:nvPr/>
        </p:nvSpPr>
        <p:spPr>
          <a:xfrm>
            <a:off x="822960" y="3731260"/>
            <a:ext cx="182880" cy="182880"/>
          </a:xfrm>
          <a:prstGeom prst="ellipse">
            <a:avLst/>
          </a:prstGeom>
          <a:solidFill>
            <a:srgbClr val="FF9259"/>
          </a:solidFill>
          <a:ln/>
        </p:spPr>
      </p:sp>
      <p:sp>
        <p:nvSpPr>
          <p:cNvPr id="16" name="Text 14"/>
          <p:cNvSpPr txBox="1"/>
          <p:nvPr/>
        </p:nvSpPr>
        <p:spPr>
          <a:xfrm>
            <a:off x="1097280" y="351536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Sai số nhỏ hơn</a:t>
            </a:r>
            <a:endParaRPr lang="en-US" sz="2800" dirty="0"/>
          </a:p>
        </p:txBody>
      </p:sp>
      <p:sp>
        <p:nvSpPr>
          <p:cNvPr id="17" name="Tiêu đề cột"/>
          <p:cNvSpPr/>
          <p:nvPr/>
        </p:nvSpPr>
        <p:spPr>
          <a:xfrm>
            <a:off x="6492240" y="1783080"/>
            <a:ext cx="5120640" cy="706120"/>
          </a:xfrm>
          <a:prstGeom prst="roundRect">
            <a:avLst>
              <a:gd name="adj" fmla="val 23309"/>
            </a:avLst>
          </a:prstGeom>
          <a:solidFill>
            <a:srgbClr val="FF9259"/>
          </a:solidFill>
          <a:ln/>
        </p:spPr>
      </p:sp>
      <p:sp>
        <p:nvSpPr>
          <p:cNvPr id="18" name="Text 16"/>
          <p:cNvSpPr txBox="1"/>
          <p:nvPr/>
        </p:nvSpPr>
        <p:spPr>
          <a:xfrm>
            <a:off x="66294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Hiệu quả kinh tế</a:t>
            </a:r>
            <a:endParaRPr lang="en-US" sz="2800" dirty="0"/>
          </a:p>
        </p:txBody>
      </p:sp>
      <p:sp>
        <p:nvSpPr>
          <p:cNvPr id="19" name="Nội dung cột"/>
          <p:cNvSpPr/>
          <p:nvPr/>
        </p:nvSpPr>
        <p:spPr>
          <a:xfrm>
            <a:off x="6492240" y="2626360"/>
            <a:ext cx="5120640" cy="2494280"/>
          </a:xfrm>
          <a:prstGeom prst="roundRect">
            <a:avLst>
              <a:gd name="adj" fmla="val 6599"/>
            </a:avLst>
          </a:prstGeom>
          <a:solidFill>
            <a:srgbClr val="FCE9DB"/>
          </a:solidFill>
          <a:ln/>
        </p:spPr>
      </p:sp>
      <p:sp>
        <p:nvSpPr>
          <p:cNvPr id="20" name="Dấu đầu dòng"/>
          <p:cNvSpPr/>
          <p:nvPr/>
        </p:nvSpPr>
        <p:spPr>
          <a:xfrm>
            <a:off x="6766560" y="2979420"/>
            <a:ext cx="182880" cy="182880"/>
          </a:xfrm>
          <a:prstGeom prst="ellipse">
            <a:avLst/>
          </a:prstGeom>
          <a:solidFill>
            <a:srgbClr val="FF9259"/>
          </a:solidFill>
          <a:ln/>
        </p:spPr>
      </p:sp>
      <p:sp>
        <p:nvSpPr>
          <p:cNvPr id="21" name="Text 19"/>
          <p:cNvSpPr txBox="1"/>
          <p:nvPr/>
        </p:nvSpPr>
        <p:spPr>
          <a:xfrm>
            <a:off x="7040880" y="276352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Cùng độ chính xác</a:t>
            </a:r>
            <a:endParaRPr lang="en-US" sz="2800" dirty="0"/>
          </a:p>
        </p:txBody>
      </p:sp>
      <p:sp>
        <p:nvSpPr>
          <p:cNvPr id="22" name="Dấu đầu dòng"/>
          <p:cNvSpPr/>
          <p:nvPr/>
        </p:nvSpPr>
        <p:spPr>
          <a:xfrm>
            <a:off x="6766560" y="3731260"/>
            <a:ext cx="182880" cy="182880"/>
          </a:xfrm>
          <a:prstGeom prst="ellipse">
            <a:avLst/>
          </a:prstGeom>
          <a:solidFill>
            <a:srgbClr val="FF9259"/>
          </a:solidFill>
          <a:ln/>
        </p:spPr>
      </p:sp>
      <p:sp>
        <p:nvSpPr>
          <p:cNvPr id="23" name="Text 21"/>
          <p:cNvSpPr txBox="1"/>
          <p:nvPr/>
        </p:nvSpPr>
        <p:spPr>
          <a:xfrm>
            <a:off x="7040880" y="351536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Chi phí thấp hơn</a:t>
            </a:r>
            <a:endParaRPr lang="en-US" sz="2800" dirty="0"/>
          </a:p>
        </p:txBody>
      </p:sp>
      <p:sp>
        <p:nvSpPr>
          <p:cNvPr id="24" name="Nhãn vs"/>
          <p:cNvSpPr/>
          <p:nvPr/>
        </p:nvSpPr>
        <p:spPr>
          <a:xfrm>
            <a:off x="5760720" y="3416300"/>
            <a:ext cx="640080" cy="640080"/>
          </a:xfrm>
          <a:prstGeom prst="ellipse">
            <a:avLst/>
          </a:prstGeom>
          <a:solidFill>
            <a:srgbClr val="FFD23B"/>
          </a:solidFill>
          <a:ln/>
        </p:spPr>
      </p:sp>
      <p:sp>
        <p:nvSpPr>
          <p:cNvPr id="25" name="Text 23"/>
          <p:cNvSpPr txBox="1"/>
          <p:nvPr/>
        </p:nvSpPr>
        <p:spPr>
          <a:xfrm>
            <a:off x="5760720" y="3416300"/>
            <a:ext cx="640080" cy="64008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vs</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Kiểm tra nhanh: phần tử, đơn vị, khung mẫu — hay đám đông nghiên cứu?</a:t>
            </a:r>
            <a:endParaRPr lang="en-US" sz="3400" dirty="0"/>
          </a:p>
        </p:txBody>
      </p:sp>
      <p:sp>
        <p:nvSpPr>
          <p:cNvPr id="6" name="Dấu đầu dòng"/>
          <p:cNvSpPr/>
          <p:nvPr/>
        </p:nvSpPr>
        <p:spPr>
          <a:xfrm>
            <a:off x="585216" y="1965071"/>
            <a:ext cx="201168" cy="201168"/>
          </a:xfrm>
          <a:prstGeom prst="ellipse">
            <a:avLst/>
          </a:prstGeom>
          <a:solidFill>
            <a:srgbClr val="09A1E5"/>
          </a:solidFill>
          <a:ln/>
        </p:spPr>
      </p:sp>
      <p:sp>
        <p:nvSpPr>
          <p:cNvPr id="7" name="Text 5"/>
          <p:cNvSpPr txBox="1"/>
          <p:nvPr/>
        </p:nvSpPr>
        <p:spPr>
          <a:xfrm>
            <a:off x="1005840" y="1783080"/>
            <a:ext cx="1056132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a:</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Danh sách 120 cửa hàng của chuỗi</a:t>
            </a:r>
            <a:endParaRPr lang="en-US" sz="2500" dirty="0"/>
          </a:p>
        </p:txBody>
      </p:sp>
      <p:sp>
        <p:nvSpPr>
          <p:cNvPr id="8" name="Dấu đầu dòng"/>
          <p:cNvSpPr/>
          <p:nvPr/>
        </p:nvSpPr>
        <p:spPr>
          <a:xfrm>
            <a:off x="585216" y="2731389"/>
            <a:ext cx="201168" cy="201168"/>
          </a:xfrm>
          <a:prstGeom prst="ellipse">
            <a:avLst/>
          </a:prstGeom>
          <a:solidFill>
            <a:srgbClr val="FF9259"/>
          </a:solidFill>
          <a:ln/>
        </p:spPr>
      </p:sp>
      <p:sp>
        <p:nvSpPr>
          <p:cNvPr id="9" name="Text 7"/>
          <p:cNvSpPr txBox="1"/>
          <p:nvPr/>
        </p:nvSpPr>
        <p:spPr>
          <a:xfrm>
            <a:off x="1005840" y="2549398"/>
            <a:ext cx="1056132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b:</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Một cửa hàng được bốc thăm</a:t>
            </a:r>
            <a:endParaRPr lang="en-US" sz="2500" dirty="0"/>
          </a:p>
        </p:txBody>
      </p:sp>
      <p:sp>
        <p:nvSpPr>
          <p:cNvPr id="10" name="Dấu đầu dòng"/>
          <p:cNvSpPr/>
          <p:nvPr/>
        </p:nvSpPr>
        <p:spPr>
          <a:xfrm>
            <a:off x="585216" y="3497707"/>
            <a:ext cx="201168" cy="201168"/>
          </a:xfrm>
          <a:prstGeom prst="ellipse">
            <a:avLst/>
          </a:prstGeom>
          <a:solidFill>
            <a:srgbClr val="962B7C"/>
          </a:solidFill>
          <a:ln/>
        </p:spPr>
      </p:sp>
      <p:sp>
        <p:nvSpPr>
          <p:cNvPr id="11" name="Text 9"/>
          <p:cNvSpPr txBox="1"/>
          <p:nvPr/>
        </p:nvSpPr>
        <p:spPr>
          <a:xfrm>
            <a:off x="1005840" y="3315716"/>
            <a:ext cx="1056132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c:</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Chị Lan, khách hàng thành viên, trả lời phiếu</a:t>
            </a:r>
            <a:endParaRPr lang="en-US" sz="2500" dirty="0"/>
          </a:p>
        </p:txBody>
      </p:sp>
      <p:sp>
        <p:nvSpPr>
          <p:cNvPr id="12" name="Dấu đầu dòng"/>
          <p:cNvSpPr/>
          <p:nvPr/>
        </p:nvSpPr>
        <p:spPr>
          <a:xfrm>
            <a:off x="585216" y="4264025"/>
            <a:ext cx="201168" cy="201168"/>
          </a:xfrm>
          <a:prstGeom prst="ellipse">
            <a:avLst/>
          </a:prstGeom>
          <a:solidFill>
            <a:srgbClr val="FFD23B"/>
          </a:solidFill>
          <a:ln/>
        </p:spPr>
      </p:sp>
      <p:sp>
        <p:nvSpPr>
          <p:cNvPr id="13" name="Text 11"/>
          <p:cNvSpPr txBox="1"/>
          <p:nvPr/>
        </p:nvSpPr>
        <p:spPr>
          <a:xfrm>
            <a:off x="1005840" y="4082034"/>
            <a:ext cx="10561320" cy="97790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d:</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“Khách hàng thành viên đã mua ≥ 1 lần trong tháng 9, tại các cửa hàng ở TP.HCM”</a:t>
            </a:r>
            <a:endParaRPr lang="en-US" sz="2500" dirty="0"/>
          </a:p>
        </p:txBody>
      </p:sp>
      <p:sp>
        <p:nvSpPr>
          <p:cNvPr id="14" name="Ghi chú nổi bật"/>
          <p:cNvSpPr/>
          <p:nvPr/>
        </p:nvSpPr>
        <p:spPr>
          <a:xfrm>
            <a:off x="548640" y="5394960"/>
            <a:ext cx="11064240" cy="685800"/>
          </a:xfrm>
          <a:prstGeom prst="roundRect">
            <a:avLst>
              <a:gd name="adj" fmla="val 24000"/>
            </a:avLst>
          </a:prstGeom>
          <a:solidFill>
            <a:srgbClr val="FCDBC5"/>
          </a:solidFill>
          <a:ln/>
        </p:spPr>
      </p:sp>
      <p:sp>
        <p:nvSpPr>
          <p:cNvPr id="15" name="Nhãn !"/>
          <p:cNvSpPr/>
          <p:nvPr/>
        </p:nvSpPr>
        <p:spPr>
          <a:xfrm>
            <a:off x="731520" y="5509260"/>
            <a:ext cx="457200" cy="457200"/>
          </a:xfrm>
          <a:prstGeom prst="ellipse">
            <a:avLst/>
          </a:prstGeom>
          <a:solidFill>
            <a:srgbClr val="FF9259"/>
          </a:solidFill>
          <a:ln/>
        </p:spPr>
      </p:sp>
      <p:sp>
        <p:nvSpPr>
          <p:cNvPr id="16" name="Text 14"/>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7" name="Text 15"/>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Chuỗi siêu thị mini (giả định), chọn mẫu theo cửa hàng</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E0CD"/>
          </a:solidFill>
          <a:ln/>
        </p:spPr>
      </p:sp>
      <p:sp>
        <p:nvSpPr>
          <p:cNvPr id="3" name="Nhãn S4"/>
          <p:cNvSpPr/>
          <p:nvPr/>
        </p:nvSpPr>
        <p:spPr>
          <a:xfrm>
            <a:off x="822960" y="2240280"/>
            <a:ext cx="2377440" cy="2377440"/>
          </a:xfrm>
          <a:prstGeom prst="ellipse">
            <a:avLst/>
          </a:prstGeom>
          <a:solidFill>
            <a:srgbClr val="FF9259"/>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S4</a:t>
            </a:r>
            <a:endParaRPr lang="en-US" sz="6000" dirty="0"/>
          </a:p>
        </p:txBody>
      </p:sp>
      <p:sp>
        <p:nvSpPr>
          <p:cNvPr id="5" name="Trang trí"/>
          <p:cNvSpPr/>
          <p:nvPr/>
        </p:nvSpPr>
        <p:spPr>
          <a:xfrm>
            <a:off x="10881360" y="457200"/>
            <a:ext cx="822960" cy="822960"/>
          </a:xfrm>
          <a:prstGeom prst="ellipse">
            <a:avLst/>
          </a:prstGeom>
          <a:solidFill>
            <a:srgbClr val="FFD23B"/>
          </a:solidFill>
          <a:ln/>
        </p:spPr>
      </p:sp>
      <p:sp>
        <p:nvSpPr>
          <p:cNvPr id="6" name="Trang trí"/>
          <p:cNvSpPr/>
          <p:nvPr/>
        </p:nvSpPr>
        <p:spPr>
          <a:xfrm>
            <a:off x="10241280" y="4480560"/>
            <a:ext cx="1188720" cy="1188720"/>
          </a:xfrm>
          <a:prstGeom prst="ellipse">
            <a:avLst/>
          </a:prstGeom>
          <a:solidFill>
            <a:srgbClr val="49B296"/>
          </a:solidFill>
          <a:ln/>
        </p:spPr>
      </p:sp>
      <p:sp>
        <p:nvSpPr>
          <p:cNvPr id="7" name="Trang trí"/>
          <p:cNvSpPr/>
          <p:nvPr/>
        </p:nvSpPr>
        <p:spPr>
          <a:xfrm>
            <a:off x="9784080" y="5760720"/>
            <a:ext cx="365760" cy="365760"/>
          </a:xfrm>
          <a:prstGeom prst="ellipse">
            <a:avLst/>
          </a:prstGeom>
          <a:solidFill>
            <a:srgbClr val="FF5178"/>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30–48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Quy trình và kích thước mẫu</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Chọn mẫu đi qua 5 bước theo đúng thứ tự</a:t>
            </a:r>
            <a:endParaRPr lang="en-US" sz="3600" dirty="0"/>
          </a:p>
        </p:txBody>
      </p:sp>
      <p:sp>
        <p:nvSpPr>
          <p:cNvPr id="6" name="Đường nối"/>
          <p:cNvSpPr/>
          <p:nvPr/>
        </p:nvSpPr>
        <p:spPr>
          <a:xfrm>
            <a:off x="822960" y="2331720"/>
            <a:ext cx="0" cy="126238"/>
          </a:xfrm>
          <a:prstGeom prst="line">
            <a:avLst/>
          </a:prstGeom>
          <a:noFill/>
          <a:ln w="25400">
            <a:solidFill>
              <a:srgbClr val="5B5668"/>
            </a:solidFill>
            <a:prstDash val="solid"/>
          </a:ln>
        </p:spPr>
      </p:sp>
      <p:sp>
        <p:nvSpPr>
          <p:cNvPr id="7" name="Đường nối"/>
          <p:cNvSpPr/>
          <p:nvPr/>
        </p:nvSpPr>
        <p:spPr>
          <a:xfrm>
            <a:off x="822960" y="3006598"/>
            <a:ext cx="0" cy="126238"/>
          </a:xfrm>
          <a:prstGeom prst="line">
            <a:avLst/>
          </a:prstGeom>
          <a:noFill/>
          <a:ln w="25400">
            <a:solidFill>
              <a:srgbClr val="5B5668"/>
            </a:solidFill>
            <a:prstDash val="solid"/>
          </a:ln>
        </p:spPr>
      </p:sp>
      <p:sp>
        <p:nvSpPr>
          <p:cNvPr id="8" name="Đường nối"/>
          <p:cNvSpPr/>
          <p:nvPr/>
        </p:nvSpPr>
        <p:spPr>
          <a:xfrm>
            <a:off x="822960" y="3681476"/>
            <a:ext cx="0" cy="126238"/>
          </a:xfrm>
          <a:prstGeom prst="line">
            <a:avLst/>
          </a:prstGeom>
          <a:noFill/>
          <a:ln w="25400">
            <a:solidFill>
              <a:srgbClr val="5B5668"/>
            </a:solidFill>
            <a:prstDash val="solid"/>
          </a:ln>
        </p:spPr>
      </p:sp>
      <p:sp>
        <p:nvSpPr>
          <p:cNvPr id="9" name="Đường nối"/>
          <p:cNvSpPr/>
          <p:nvPr/>
        </p:nvSpPr>
        <p:spPr>
          <a:xfrm>
            <a:off x="822960" y="4356354"/>
            <a:ext cx="0" cy="126238"/>
          </a:xfrm>
          <a:prstGeom prst="line">
            <a:avLst/>
          </a:prstGeom>
          <a:noFill/>
          <a:ln w="25400">
            <a:solidFill>
              <a:srgbClr val="5B5668"/>
            </a:solidFill>
            <a:prstDash val="solid"/>
          </a:ln>
        </p:spPr>
      </p:sp>
      <p:sp>
        <p:nvSpPr>
          <p:cNvPr id="10" name="Nhãn 1"/>
          <p:cNvSpPr/>
          <p:nvPr/>
        </p:nvSpPr>
        <p:spPr>
          <a:xfrm>
            <a:off x="548640" y="1783080"/>
            <a:ext cx="548640" cy="548640"/>
          </a:xfrm>
          <a:prstGeom prst="ellipse">
            <a:avLst/>
          </a:prstGeom>
          <a:solidFill>
            <a:srgbClr val="962B7C"/>
          </a:solidFill>
          <a:ln/>
        </p:spPr>
      </p:sp>
      <p:sp>
        <p:nvSpPr>
          <p:cNvPr id="11" name="Text 9"/>
          <p:cNvSpPr txBox="1"/>
          <p:nvPr/>
        </p:nvSpPr>
        <p:spPr>
          <a:xfrm>
            <a:off x="548640" y="1783080"/>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1</a:t>
            </a:r>
            <a:endParaRPr lang="en-US" sz="2400" dirty="0"/>
          </a:p>
        </p:txBody>
      </p:sp>
      <p:sp>
        <p:nvSpPr>
          <p:cNvPr id="12" name="Text 10"/>
          <p:cNvSpPr txBox="1"/>
          <p:nvPr/>
        </p:nvSpPr>
        <p:spPr>
          <a:xfrm>
            <a:off x="1371600" y="1774825"/>
            <a:ext cx="1024128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Đám đông nghiên cứu</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 hỏi ai? đủ 4 yếu tố</a:t>
            </a:r>
            <a:endParaRPr lang="en-US" sz="2500" dirty="0"/>
          </a:p>
        </p:txBody>
      </p:sp>
      <p:sp>
        <p:nvSpPr>
          <p:cNvPr id="13" name="Nhãn 2"/>
          <p:cNvSpPr/>
          <p:nvPr/>
        </p:nvSpPr>
        <p:spPr>
          <a:xfrm>
            <a:off x="548640" y="2457958"/>
            <a:ext cx="548640" cy="548640"/>
          </a:xfrm>
          <a:prstGeom prst="ellipse">
            <a:avLst/>
          </a:prstGeom>
          <a:solidFill>
            <a:srgbClr val="FFD23B"/>
          </a:solidFill>
          <a:ln/>
        </p:spPr>
      </p:sp>
      <p:sp>
        <p:nvSpPr>
          <p:cNvPr id="14" name="Text 12"/>
          <p:cNvSpPr txBox="1"/>
          <p:nvPr/>
        </p:nvSpPr>
        <p:spPr>
          <a:xfrm>
            <a:off x="548640" y="2457958"/>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5" name="Text 13"/>
          <p:cNvSpPr txBox="1"/>
          <p:nvPr/>
        </p:nvSpPr>
        <p:spPr>
          <a:xfrm>
            <a:off x="1371600" y="2449703"/>
            <a:ext cx="1024128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Khung mẫu</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 danh sách để bốc</a:t>
            </a:r>
            <a:endParaRPr lang="en-US" sz="2500" dirty="0"/>
          </a:p>
        </p:txBody>
      </p:sp>
      <p:sp>
        <p:nvSpPr>
          <p:cNvPr id="16" name="Nhãn 3"/>
          <p:cNvSpPr/>
          <p:nvPr/>
        </p:nvSpPr>
        <p:spPr>
          <a:xfrm>
            <a:off x="548640" y="3132836"/>
            <a:ext cx="548640" cy="548640"/>
          </a:xfrm>
          <a:prstGeom prst="ellipse">
            <a:avLst/>
          </a:prstGeom>
          <a:solidFill>
            <a:srgbClr val="49B296"/>
          </a:solidFill>
          <a:ln/>
        </p:spPr>
      </p:sp>
      <p:sp>
        <p:nvSpPr>
          <p:cNvPr id="17" name="Text 15"/>
          <p:cNvSpPr txBox="1"/>
          <p:nvPr/>
        </p:nvSpPr>
        <p:spPr>
          <a:xfrm>
            <a:off x="548640" y="3132836"/>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8" name="Text 16"/>
          <p:cNvSpPr txBox="1"/>
          <p:nvPr/>
        </p:nvSpPr>
        <p:spPr>
          <a:xfrm>
            <a:off x="1371600" y="3124581"/>
            <a:ext cx="1024128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Kích thước mẫu</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 hỏi bao nhiêu người</a:t>
            </a:r>
            <a:endParaRPr lang="en-US" sz="2500" dirty="0"/>
          </a:p>
        </p:txBody>
      </p:sp>
      <p:sp>
        <p:nvSpPr>
          <p:cNvPr id="19" name="Nhãn 4"/>
          <p:cNvSpPr/>
          <p:nvPr/>
        </p:nvSpPr>
        <p:spPr>
          <a:xfrm>
            <a:off x="548640" y="3807714"/>
            <a:ext cx="548640" cy="548640"/>
          </a:xfrm>
          <a:prstGeom prst="ellipse">
            <a:avLst/>
          </a:prstGeom>
          <a:solidFill>
            <a:srgbClr val="FF5178"/>
          </a:solidFill>
          <a:ln/>
        </p:spPr>
      </p:sp>
      <p:sp>
        <p:nvSpPr>
          <p:cNvPr id="20" name="Text 18"/>
          <p:cNvSpPr txBox="1"/>
          <p:nvPr/>
        </p:nvSpPr>
        <p:spPr>
          <a:xfrm>
            <a:off x="548640" y="3807714"/>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1" name="Text 19"/>
          <p:cNvSpPr txBox="1"/>
          <p:nvPr/>
        </p:nvSpPr>
        <p:spPr>
          <a:xfrm>
            <a:off x="1371600" y="3799459"/>
            <a:ext cx="1024128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Phương pháp chọn mẫu</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 xác suất hay phi xác suất</a:t>
            </a:r>
            <a:endParaRPr lang="en-US" sz="2500" dirty="0"/>
          </a:p>
        </p:txBody>
      </p:sp>
      <p:sp>
        <p:nvSpPr>
          <p:cNvPr id="22" name="Nhãn 5"/>
          <p:cNvSpPr/>
          <p:nvPr/>
        </p:nvSpPr>
        <p:spPr>
          <a:xfrm>
            <a:off x="548640" y="4482592"/>
            <a:ext cx="548640" cy="548640"/>
          </a:xfrm>
          <a:prstGeom prst="ellipse">
            <a:avLst/>
          </a:prstGeom>
          <a:solidFill>
            <a:srgbClr val="09A1E5"/>
          </a:solidFill>
          <a:ln/>
        </p:spPr>
      </p:sp>
      <p:sp>
        <p:nvSpPr>
          <p:cNvPr id="23" name="Text 21"/>
          <p:cNvSpPr txBox="1"/>
          <p:nvPr/>
        </p:nvSpPr>
        <p:spPr>
          <a:xfrm>
            <a:off x="548640" y="448259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5</a:t>
            </a:r>
            <a:endParaRPr lang="en-US" sz="2400" dirty="0"/>
          </a:p>
        </p:txBody>
      </p:sp>
      <p:sp>
        <p:nvSpPr>
          <p:cNvPr id="24" name="Text 22"/>
          <p:cNvSpPr txBox="1"/>
          <p:nvPr/>
        </p:nvSpPr>
        <p:spPr>
          <a:xfrm>
            <a:off x="1371600" y="4474337"/>
            <a:ext cx="1024128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Tiến hành chọn mẫu</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 tiếp cận, gạn lọc người trả lời</a:t>
            </a:r>
            <a:endParaRPr lang="en-US" sz="2500" dirty="0"/>
          </a:p>
        </p:txBody>
      </p:sp>
      <p:sp>
        <p:nvSpPr>
          <p:cNvPr id="25" name="Ghi chú nổi bật"/>
          <p:cNvSpPr/>
          <p:nvPr/>
        </p:nvSpPr>
        <p:spPr>
          <a:xfrm>
            <a:off x="548640" y="5394960"/>
            <a:ext cx="11064240" cy="685800"/>
          </a:xfrm>
          <a:prstGeom prst="roundRect">
            <a:avLst>
              <a:gd name="adj" fmla="val 24000"/>
            </a:avLst>
          </a:prstGeom>
          <a:solidFill>
            <a:srgbClr val="FCEEBC"/>
          </a:solidFill>
          <a:ln/>
        </p:spPr>
      </p:sp>
      <p:sp>
        <p:nvSpPr>
          <p:cNvPr id="26" name="Nhãn !"/>
          <p:cNvSpPr/>
          <p:nvPr/>
        </p:nvSpPr>
        <p:spPr>
          <a:xfrm>
            <a:off x="731520" y="5509260"/>
            <a:ext cx="457200" cy="457200"/>
          </a:xfrm>
          <a:prstGeom prst="ellipse">
            <a:avLst/>
          </a:prstGeom>
          <a:solidFill>
            <a:srgbClr val="FFD23B"/>
          </a:solidFill>
          <a:ln/>
        </p:spPr>
      </p:sp>
      <p:sp>
        <p:nvSpPr>
          <p:cNvPr id="27" name="Text 25"/>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8" name="Text 26"/>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Có danh sách hay không quyết định phương pháp</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Cỡ mẫu không phải “càng nhiều càng tốt”: nó phụ thuộc năm yếu tố</a:t>
            </a:r>
            <a:endParaRPr lang="en-US" sz="3400" dirty="0"/>
          </a:p>
        </p:txBody>
      </p:sp>
      <p:sp>
        <p:nvSpPr>
          <p:cNvPr id="6" name="Thẻ Độ tin cậy"/>
          <p:cNvSpPr/>
          <p:nvPr/>
        </p:nvSpPr>
        <p:spPr>
          <a:xfrm>
            <a:off x="548640" y="1783080"/>
            <a:ext cx="3505200" cy="2011680"/>
          </a:xfrm>
          <a:prstGeom prst="roundRect">
            <a:avLst>
              <a:gd name="adj" fmla="val 8182"/>
            </a:avLst>
          </a:prstGeom>
          <a:solidFill>
            <a:srgbClr val="FCF3D3"/>
          </a:solidFill>
          <a:ln/>
        </p:spPr>
      </p:sp>
      <p:sp>
        <p:nvSpPr>
          <p:cNvPr id="7" name="Nhãn 1"/>
          <p:cNvSpPr/>
          <p:nvPr/>
        </p:nvSpPr>
        <p:spPr>
          <a:xfrm>
            <a:off x="713232" y="1947672"/>
            <a:ext cx="548640" cy="548640"/>
          </a:xfrm>
          <a:prstGeom prst="ellipse">
            <a:avLst/>
          </a:prstGeom>
          <a:solidFill>
            <a:srgbClr val="FFD23B"/>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Độ tin cậy</a:t>
            </a:r>
            <a:endParaRPr lang="en-US" sz="2800" dirty="0"/>
          </a:p>
        </p:txBody>
      </p:sp>
      <p:sp>
        <p:nvSpPr>
          <p:cNvPr id="10" name="Text 8"/>
          <p:cNvSpPr txBox="1"/>
          <p:nvPr/>
        </p:nvSpPr>
        <p:spPr>
          <a:xfrm>
            <a:off x="685800" y="2580640"/>
            <a:ext cx="3230880" cy="116840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Z, thường dùng 95%</a:t>
            </a:r>
            <a:endParaRPr lang="en-US" sz="2400" dirty="0"/>
          </a:p>
        </p:txBody>
      </p:sp>
      <p:sp>
        <p:nvSpPr>
          <p:cNvPr id="11" name="Thẻ Sai số"/>
          <p:cNvSpPr/>
          <p:nvPr/>
        </p:nvSpPr>
        <p:spPr>
          <a:xfrm>
            <a:off x="4328160" y="1783080"/>
            <a:ext cx="3505200" cy="2011680"/>
          </a:xfrm>
          <a:prstGeom prst="roundRect">
            <a:avLst>
              <a:gd name="adj" fmla="val 8182"/>
            </a:avLst>
          </a:prstGeom>
          <a:solidFill>
            <a:srgbClr val="DBEDE3"/>
          </a:solidFill>
          <a:ln/>
        </p:spPr>
      </p:sp>
      <p:sp>
        <p:nvSpPr>
          <p:cNvPr id="12" name="Nhãn 2"/>
          <p:cNvSpPr/>
          <p:nvPr/>
        </p:nvSpPr>
        <p:spPr>
          <a:xfrm>
            <a:off x="4492752" y="1947672"/>
            <a:ext cx="548640" cy="548640"/>
          </a:xfrm>
          <a:prstGeom prst="ellipse">
            <a:avLst/>
          </a:prstGeom>
          <a:solidFill>
            <a:srgbClr val="49B296"/>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Sai số</a:t>
            </a:r>
            <a:endParaRPr lang="en-US" sz="2800" dirty="0"/>
          </a:p>
        </p:txBody>
      </p:sp>
      <p:sp>
        <p:nvSpPr>
          <p:cNvPr id="15" name="Text 13"/>
          <p:cNvSpPr txBox="1"/>
          <p:nvPr/>
        </p:nvSpPr>
        <p:spPr>
          <a:xfrm>
            <a:off x="4465320" y="2580640"/>
            <a:ext cx="3230880" cy="116840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e cho phép càng nhỏ, mẫu càng lớn</a:t>
            </a:r>
            <a:endParaRPr lang="en-US" sz="2400" dirty="0"/>
          </a:p>
        </p:txBody>
      </p:sp>
      <p:sp>
        <p:nvSpPr>
          <p:cNvPr id="16" name="Thẻ Biến thiên"/>
          <p:cNvSpPr/>
          <p:nvPr/>
        </p:nvSpPr>
        <p:spPr>
          <a:xfrm>
            <a:off x="8107680" y="1783080"/>
            <a:ext cx="3505200" cy="2011680"/>
          </a:xfrm>
          <a:prstGeom prst="roundRect">
            <a:avLst>
              <a:gd name="adj" fmla="val 8182"/>
            </a:avLst>
          </a:prstGeom>
          <a:solidFill>
            <a:srgbClr val="FCDCDE"/>
          </a:solidFill>
          <a:ln/>
        </p:spPr>
      </p:sp>
      <p:sp>
        <p:nvSpPr>
          <p:cNvPr id="17" name="Nhãn 3"/>
          <p:cNvSpPr/>
          <p:nvPr/>
        </p:nvSpPr>
        <p:spPr>
          <a:xfrm>
            <a:off x="8272272" y="1947672"/>
            <a:ext cx="548640" cy="548640"/>
          </a:xfrm>
          <a:prstGeom prst="ellipse">
            <a:avLst/>
          </a:prstGeom>
          <a:solidFill>
            <a:srgbClr val="FF5178"/>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Biến thiên</a:t>
            </a:r>
            <a:endParaRPr lang="en-US" sz="2800" dirty="0"/>
          </a:p>
        </p:txBody>
      </p:sp>
      <p:sp>
        <p:nvSpPr>
          <p:cNvPr id="20" name="Text 18"/>
          <p:cNvSpPr txBox="1"/>
          <p:nvPr/>
        </p:nvSpPr>
        <p:spPr>
          <a:xfrm>
            <a:off x="8244840" y="2580640"/>
            <a:ext cx="3230880" cy="116840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Đám đông càng đa dạng, mẫu càng lớn</a:t>
            </a:r>
            <a:endParaRPr lang="en-US" sz="2400" dirty="0"/>
          </a:p>
        </p:txBody>
      </p:sp>
      <p:sp>
        <p:nvSpPr>
          <p:cNvPr id="21" name="Thẻ Phân tích"/>
          <p:cNvSpPr/>
          <p:nvPr/>
        </p:nvSpPr>
        <p:spPr>
          <a:xfrm>
            <a:off x="548640" y="4069080"/>
            <a:ext cx="3505200" cy="2011680"/>
          </a:xfrm>
          <a:prstGeom prst="roundRect">
            <a:avLst>
              <a:gd name="adj" fmla="val 8182"/>
            </a:avLst>
          </a:prstGeom>
          <a:solidFill>
            <a:srgbClr val="CFEAF1"/>
          </a:solidFill>
          <a:ln/>
        </p:spPr>
      </p:sp>
      <p:sp>
        <p:nvSpPr>
          <p:cNvPr id="22" name="Nhãn 4"/>
          <p:cNvSpPr/>
          <p:nvPr/>
        </p:nvSpPr>
        <p:spPr>
          <a:xfrm>
            <a:off x="713232" y="4233672"/>
            <a:ext cx="548640" cy="548640"/>
          </a:xfrm>
          <a:prstGeom prst="ellipse">
            <a:avLst/>
          </a:prstGeom>
          <a:solidFill>
            <a:srgbClr val="09A1E5"/>
          </a:solidFill>
          <a:ln/>
        </p:spPr>
      </p:sp>
      <p:sp>
        <p:nvSpPr>
          <p:cNvPr id="23" name="Text 21"/>
          <p:cNvSpPr txBox="1"/>
          <p:nvPr/>
        </p:nvSpPr>
        <p:spPr>
          <a:xfrm>
            <a:off x="71323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4" name="Text 22"/>
          <p:cNvSpPr txBox="1"/>
          <p:nvPr/>
        </p:nvSpPr>
        <p:spPr>
          <a:xfrm>
            <a:off x="1371600" y="4206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Phân tích</a:t>
            </a:r>
            <a:endParaRPr lang="en-US" sz="2800" dirty="0"/>
          </a:p>
        </p:txBody>
      </p:sp>
      <p:sp>
        <p:nvSpPr>
          <p:cNvPr id="25" name="Text 23"/>
          <p:cNvSpPr txBox="1"/>
          <p:nvPr/>
        </p:nvSpPr>
        <p:spPr>
          <a:xfrm>
            <a:off x="685800" y="4866640"/>
            <a:ext cx="3230880" cy="116840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Mỗi kỹ thuật cần số quan sát tối thiểu</a:t>
            </a:r>
            <a:endParaRPr lang="en-US" sz="2400" dirty="0"/>
          </a:p>
        </p:txBody>
      </p:sp>
      <p:sp>
        <p:nvSpPr>
          <p:cNvPr id="26" name="Thẻ Nguồn lực"/>
          <p:cNvSpPr/>
          <p:nvPr/>
        </p:nvSpPr>
        <p:spPr>
          <a:xfrm>
            <a:off x="4328160" y="4069080"/>
            <a:ext cx="3505200" cy="2011680"/>
          </a:xfrm>
          <a:prstGeom prst="roundRect">
            <a:avLst>
              <a:gd name="adj" fmla="val 8182"/>
            </a:avLst>
          </a:prstGeom>
          <a:solidFill>
            <a:srgbClr val="FCE7D8"/>
          </a:solidFill>
          <a:ln/>
        </p:spPr>
      </p:sp>
      <p:sp>
        <p:nvSpPr>
          <p:cNvPr id="27" name="Nhãn 5"/>
          <p:cNvSpPr/>
          <p:nvPr/>
        </p:nvSpPr>
        <p:spPr>
          <a:xfrm>
            <a:off x="4492752" y="4233672"/>
            <a:ext cx="548640" cy="548640"/>
          </a:xfrm>
          <a:prstGeom prst="ellipse">
            <a:avLst/>
          </a:prstGeom>
          <a:solidFill>
            <a:srgbClr val="FF9259"/>
          </a:solidFill>
          <a:ln/>
        </p:spPr>
      </p:sp>
      <p:sp>
        <p:nvSpPr>
          <p:cNvPr id="28" name="Text 26"/>
          <p:cNvSpPr txBox="1"/>
          <p:nvPr/>
        </p:nvSpPr>
        <p:spPr>
          <a:xfrm>
            <a:off x="449275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5</a:t>
            </a:r>
            <a:endParaRPr lang="en-US" sz="2400" dirty="0"/>
          </a:p>
        </p:txBody>
      </p:sp>
      <p:sp>
        <p:nvSpPr>
          <p:cNvPr id="29" name="Text 27"/>
          <p:cNvSpPr txBox="1"/>
          <p:nvPr/>
        </p:nvSpPr>
        <p:spPr>
          <a:xfrm>
            <a:off x="5151120" y="4206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Nguồn lực</a:t>
            </a:r>
            <a:endParaRPr lang="en-US" sz="2800" dirty="0"/>
          </a:p>
        </p:txBody>
      </p:sp>
      <p:sp>
        <p:nvSpPr>
          <p:cNvPr id="30" name="Text 28"/>
          <p:cNvSpPr txBox="1"/>
          <p:nvPr/>
        </p:nvSpPr>
        <p:spPr>
          <a:xfrm>
            <a:off x="4465320" y="4866640"/>
            <a:ext cx="3230880" cy="116840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Ngân sách, thời gian, nhân lực</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Ước lượng trung bình: n = Z²σ²/e² — nhưng phải biết trước σ</a:t>
            </a:r>
            <a:endParaRPr lang="en-US" sz="3400" dirty="0"/>
          </a:p>
        </p:txBody>
      </p:sp>
      <p:sp>
        <p:nvSpPr>
          <p:cNvPr id="6" name="Khung nhận định"/>
          <p:cNvSpPr/>
          <p:nvPr/>
        </p:nvSpPr>
        <p:spPr>
          <a:xfrm>
            <a:off x="548640" y="1783080"/>
            <a:ext cx="11064240" cy="4297680"/>
          </a:xfrm>
          <a:prstGeom prst="roundRect">
            <a:avLst>
              <a:gd name="adj" fmla="val 6383"/>
            </a:avLst>
          </a:prstGeom>
          <a:solidFill>
            <a:srgbClr val="FCD8DB"/>
          </a:solidFill>
          <a:ln/>
        </p:spPr>
      </p:sp>
      <p:sp>
        <p:nvSpPr>
          <p:cNvPr id="7" name="Nhãn !"/>
          <p:cNvSpPr/>
          <p:nvPr/>
        </p:nvSpPr>
        <p:spPr>
          <a:xfrm>
            <a:off x="960120" y="3200400"/>
            <a:ext cx="1463040" cy="1463040"/>
          </a:xfrm>
          <a:prstGeom prst="ellipse">
            <a:avLst/>
          </a:prstGeom>
          <a:solidFill>
            <a:srgbClr val="FF5178"/>
          </a:solidFill>
          <a:ln/>
        </p:spPr>
      </p:sp>
      <p:sp>
        <p:nvSpPr>
          <p:cNvPr id="8" name="Text 6"/>
          <p:cNvSpPr txBox="1"/>
          <p:nvPr/>
        </p:nvSpPr>
        <p:spPr>
          <a:xfrm>
            <a:off x="960120" y="3200400"/>
            <a:ext cx="1463040" cy="1463040"/>
          </a:xfrm>
          <a:prstGeom prst="rect">
            <a:avLst/>
          </a:prstGeom>
          <a:noFill/>
          <a:ln/>
        </p:spPr>
        <p:txBody>
          <a:bodyPr wrap="square" lIns="0" tIns="0" rIns="0" bIns="0" rtlCol="0" anchor="ctr"/>
          <a:lstStyle/>
          <a:p>
            <a:pPr algn="ctr" indent="0" marL="0">
              <a:buNone/>
            </a:pPr>
            <a:r>
              <a:rPr lang="en-US" sz="6600" b="1" dirty="0">
                <a:solidFill>
                  <a:srgbClr val="2E2A3A"/>
                </a:solidFill>
                <a:latin typeface="Alexandria" pitchFamily="34" charset="0"/>
                <a:ea typeface="Alexandria" pitchFamily="34" charset="-122"/>
                <a:cs typeface="Alexandria" pitchFamily="34" charset="-120"/>
              </a:rPr>
              <a:t>!</a:t>
            </a:r>
            <a:endParaRPr lang="en-US" sz="6600" dirty="0"/>
          </a:p>
        </p:txBody>
      </p:sp>
      <p:sp>
        <p:nvSpPr>
          <p:cNvPr id="9" name="Text 7"/>
          <p:cNvSpPr txBox="1"/>
          <p:nvPr/>
        </p:nvSpPr>
        <p:spPr>
          <a:xfrm>
            <a:off x="2834640" y="2667000"/>
            <a:ext cx="8412480" cy="1473200"/>
          </a:xfrm>
          <a:prstGeom prst="rect">
            <a:avLst/>
          </a:prstGeom>
          <a:noFill/>
          <a:ln/>
        </p:spPr>
        <p:txBody>
          <a:bodyPr wrap="square" lIns="76200" tIns="76200" rIns="76200" bIns="76200" rtlCol="0" anchor="t"/>
          <a:lstStyle/>
          <a:p>
            <a:pPr algn="l" indent="0" marL="0">
              <a:lnSpc>
                <a:spcPts val="5200"/>
              </a:lnSpc>
              <a:buNone/>
            </a:pPr>
            <a:r>
              <a:rPr lang="en-US" sz="4000" b="1" dirty="0">
                <a:solidFill>
                  <a:srgbClr val="2E2A3A"/>
                </a:solidFill>
                <a:latin typeface="Alexandria" pitchFamily="34" charset="0"/>
                <a:ea typeface="Alexandria" pitchFamily="34" charset="-122"/>
                <a:cs typeface="Alexandria" pitchFamily="34" charset="-120"/>
              </a:rPr>
              <a:t>n = Z² × σ² / e² = 3,8416 × 64 ≈ 245,9 → </a:t>
            </a:r>
            <a:pPr algn="l" indent="0" marL="0">
              <a:lnSpc>
                <a:spcPts val="5200"/>
              </a:lnSpc>
              <a:buNone/>
            </a:pPr>
            <a:r>
              <a:rPr lang="en-US" sz="4000" b="1" dirty="0">
                <a:solidFill>
                  <a:srgbClr val="2E2A3A"/>
                </a:solidFill>
                <a:latin typeface="Alexandria" pitchFamily="34" charset="0"/>
                <a:ea typeface="Alexandria" pitchFamily="34" charset="-122"/>
                <a:cs typeface="Alexandria" pitchFamily="34" charset="-120"/>
              </a:rPr>
              <a:t>246</a:t>
            </a:r>
            <a:endParaRPr lang="en-US" sz="4000" dirty="0"/>
          </a:p>
        </p:txBody>
      </p:sp>
      <p:sp>
        <p:nvSpPr>
          <p:cNvPr id="10" name="Text 8"/>
          <p:cNvSpPr txBox="1"/>
          <p:nvPr/>
        </p:nvSpPr>
        <p:spPr>
          <a:xfrm>
            <a:off x="2834640" y="4140200"/>
            <a:ext cx="8412480" cy="105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5B5668"/>
                </a:solidFill>
                <a:latin typeface="Alexandria" pitchFamily="34" charset="0"/>
                <a:ea typeface="Alexandria" pitchFamily="34" charset="-122"/>
                <a:cs typeface="Alexandria" pitchFamily="34" charset="-120"/>
              </a:rPr>
              <a:t>Ví dụ (giả định): σ ≈ 40.000 đ, e = 5.000 đ, độ tin cậy 95% (Z = 1,96). Luôn làm tròn lên.</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Ước lượng tỷ lệ: chưa biết p thì dùng 0,5 — và ra con số 385 quen thuộc</a:t>
            </a:r>
            <a:endParaRPr lang="en-US" sz="3400" dirty="0"/>
          </a:p>
        </p:txBody>
      </p:sp>
      <p:sp>
        <p:nvSpPr>
          <p:cNvPr id="6" name="Khung nhận định"/>
          <p:cNvSpPr/>
          <p:nvPr/>
        </p:nvSpPr>
        <p:spPr>
          <a:xfrm>
            <a:off x="548640" y="1783080"/>
            <a:ext cx="11064240" cy="4297680"/>
          </a:xfrm>
          <a:prstGeom prst="roundRect">
            <a:avLst>
              <a:gd name="adj" fmla="val 6383"/>
            </a:avLst>
          </a:prstGeom>
          <a:solidFill>
            <a:srgbClr val="CBE8F1"/>
          </a:solidFill>
          <a:ln/>
        </p:spPr>
      </p:sp>
      <p:sp>
        <p:nvSpPr>
          <p:cNvPr id="7" name="Nhãn !"/>
          <p:cNvSpPr/>
          <p:nvPr/>
        </p:nvSpPr>
        <p:spPr>
          <a:xfrm>
            <a:off x="960120" y="3200400"/>
            <a:ext cx="1463040" cy="1463040"/>
          </a:xfrm>
          <a:prstGeom prst="ellipse">
            <a:avLst/>
          </a:prstGeom>
          <a:solidFill>
            <a:srgbClr val="09A1E5"/>
          </a:solidFill>
          <a:ln/>
        </p:spPr>
      </p:sp>
      <p:sp>
        <p:nvSpPr>
          <p:cNvPr id="8" name="Text 6"/>
          <p:cNvSpPr txBox="1"/>
          <p:nvPr/>
        </p:nvSpPr>
        <p:spPr>
          <a:xfrm>
            <a:off x="960120" y="3200400"/>
            <a:ext cx="1463040" cy="1463040"/>
          </a:xfrm>
          <a:prstGeom prst="rect">
            <a:avLst/>
          </a:prstGeom>
          <a:noFill/>
          <a:ln/>
        </p:spPr>
        <p:txBody>
          <a:bodyPr wrap="square" lIns="0" tIns="0" rIns="0" bIns="0" rtlCol="0" anchor="ctr"/>
          <a:lstStyle/>
          <a:p>
            <a:pPr algn="ctr" indent="0" marL="0">
              <a:buNone/>
            </a:pPr>
            <a:r>
              <a:rPr lang="en-US" sz="6600" b="1" dirty="0">
                <a:solidFill>
                  <a:srgbClr val="2E2A3A"/>
                </a:solidFill>
                <a:latin typeface="Alexandria" pitchFamily="34" charset="0"/>
                <a:ea typeface="Alexandria" pitchFamily="34" charset="-122"/>
                <a:cs typeface="Alexandria" pitchFamily="34" charset="-120"/>
              </a:rPr>
              <a:t>!</a:t>
            </a:r>
            <a:endParaRPr lang="en-US" sz="6600" dirty="0"/>
          </a:p>
        </p:txBody>
      </p:sp>
      <p:sp>
        <p:nvSpPr>
          <p:cNvPr id="9" name="Text 7"/>
          <p:cNvSpPr txBox="1"/>
          <p:nvPr/>
        </p:nvSpPr>
        <p:spPr>
          <a:xfrm>
            <a:off x="2834640" y="2667000"/>
            <a:ext cx="8412480" cy="1473200"/>
          </a:xfrm>
          <a:prstGeom prst="rect">
            <a:avLst/>
          </a:prstGeom>
          <a:noFill/>
          <a:ln/>
        </p:spPr>
        <p:txBody>
          <a:bodyPr wrap="square" lIns="76200" tIns="76200" rIns="76200" bIns="76200" rtlCol="0" anchor="t"/>
          <a:lstStyle/>
          <a:p>
            <a:pPr algn="l" indent="0" marL="0">
              <a:lnSpc>
                <a:spcPts val="5200"/>
              </a:lnSpc>
              <a:buNone/>
            </a:pPr>
            <a:r>
              <a:rPr lang="en-US" sz="4000" b="1" dirty="0">
                <a:solidFill>
                  <a:srgbClr val="2E2A3A"/>
                </a:solidFill>
                <a:latin typeface="Alexandria" pitchFamily="34" charset="0"/>
                <a:ea typeface="Alexandria" pitchFamily="34" charset="-122"/>
                <a:cs typeface="Alexandria" pitchFamily="34" charset="-120"/>
              </a:rPr>
              <a:t>n = Z² × p(1 − p) / e² = 3,8416 × 0,25 / 0,0025 ≈ 384,2 → </a:t>
            </a:r>
            <a:pPr algn="l" indent="0" marL="0">
              <a:lnSpc>
                <a:spcPts val="5200"/>
              </a:lnSpc>
              <a:buNone/>
            </a:pPr>
            <a:r>
              <a:rPr lang="en-US" sz="4000" b="1" dirty="0">
                <a:solidFill>
                  <a:srgbClr val="2E2A3A"/>
                </a:solidFill>
                <a:latin typeface="Alexandria" pitchFamily="34" charset="0"/>
                <a:ea typeface="Alexandria" pitchFamily="34" charset="-122"/>
                <a:cs typeface="Alexandria" pitchFamily="34" charset="-120"/>
              </a:rPr>
              <a:t>385</a:t>
            </a:r>
            <a:endParaRPr lang="en-US" sz="4000" dirty="0"/>
          </a:p>
        </p:txBody>
      </p:sp>
      <p:sp>
        <p:nvSpPr>
          <p:cNvPr id="10" name="Text 8"/>
          <p:cNvSpPr txBox="1"/>
          <p:nvPr/>
        </p:nvSpPr>
        <p:spPr>
          <a:xfrm>
            <a:off x="2834640" y="4140200"/>
            <a:ext cx="8412480" cy="105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5B5668"/>
                </a:solidFill>
                <a:latin typeface="Alexandria" pitchFamily="34" charset="0"/>
                <a:ea typeface="Alexandria" pitchFamily="34" charset="-122"/>
                <a:cs typeface="Alexandria" pitchFamily="34" charset="-120"/>
              </a:rPr>
              <a:t>Độ tin cậy 95%, sai số ±5%, p = 0,5. Excel: =ROUNDUP(1.96^2*0.5*0.5/0.05^2; 0)</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Thử tay: sai số ±10% và ±3% cần bao nhiêu người?</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FCDBC5"/>
          </a:solidFill>
          <a:ln/>
        </p:spPr>
      </p:sp>
      <p:sp>
        <p:nvSpPr>
          <p:cNvPr id="7" name="Nhãn !"/>
          <p:cNvSpPr/>
          <p:nvPr/>
        </p:nvSpPr>
        <p:spPr>
          <a:xfrm>
            <a:off x="731520" y="5509260"/>
            <a:ext cx="457200" cy="457200"/>
          </a:xfrm>
          <a:prstGeom prst="ellipse">
            <a:avLst/>
          </a:prstGeom>
          <a:solidFill>
            <a:srgbClr val="FF9259"/>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Tin cậy 95%, p = 0,5 — 1 phút tự tính</a:t>
            </a:r>
            <a:endParaRPr lang="en-US" sz="2600" dirty="0"/>
          </a:p>
        </p:txBody>
      </p:sp>
      <p:sp>
        <p:nvSpPr>
          <p:cNvPr id="10" name="Số liệu"/>
          <p:cNvSpPr/>
          <p:nvPr/>
        </p:nvSpPr>
        <p:spPr>
          <a:xfrm>
            <a:off x="548640" y="1783080"/>
            <a:ext cx="5394960" cy="3337560"/>
          </a:xfrm>
          <a:prstGeom prst="roundRect">
            <a:avLst>
              <a:gd name="adj" fmla="val 4932"/>
            </a:avLst>
          </a:prstGeom>
          <a:solidFill>
            <a:srgbClr val="D7EDF2"/>
          </a:solidFill>
          <a:ln/>
        </p:spPr>
      </p:sp>
      <p:sp>
        <p:nvSpPr>
          <p:cNvPr id="11" name="Nhãn ?"/>
          <p:cNvSpPr/>
          <p:nvPr/>
        </p:nvSpPr>
        <p:spPr>
          <a:xfrm>
            <a:off x="2286000" y="1965960"/>
            <a:ext cx="1920240" cy="1920240"/>
          </a:xfrm>
          <a:prstGeom prst="ellipse">
            <a:avLst/>
          </a:prstGeom>
          <a:solidFill>
            <a:srgbClr val="09A1E5"/>
          </a:solidFill>
          <a:ln/>
        </p:spPr>
      </p:sp>
      <p:sp>
        <p:nvSpPr>
          <p:cNvPr id="12" name="Text 10"/>
          <p:cNvSpPr txBox="1"/>
          <p:nvPr/>
        </p:nvSpPr>
        <p:spPr>
          <a:xfrm>
            <a:off x="2286000" y="1965960"/>
            <a:ext cx="1920240" cy="1920240"/>
          </a:xfrm>
          <a:prstGeom prst="rect">
            <a:avLst/>
          </a:prstGeom>
          <a:noFill/>
          <a:ln/>
        </p:spPr>
        <p:txBody>
          <a:bodyPr wrap="square" lIns="0" tIns="0" rIns="0" bIns="0" rtlCol="0" anchor="ctr"/>
          <a:lstStyle/>
          <a:p>
            <a:pPr algn="ctr" indent="0" marL="0">
              <a:buNone/>
            </a:pPr>
            <a:r>
              <a:rPr lang="en-US" sz="4800" b="1" dirty="0">
                <a:solidFill>
                  <a:srgbClr val="2E2A3A"/>
                </a:solidFill>
                <a:latin typeface="Alexandria" pitchFamily="34" charset="0"/>
                <a:ea typeface="Alexandria" pitchFamily="34" charset="-122"/>
                <a:cs typeface="Alexandria" pitchFamily="34" charset="-120"/>
              </a:rPr>
              <a:t>?</a:t>
            </a:r>
            <a:endParaRPr lang="en-US" sz="4800" dirty="0"/>
          </a:p>
        </p:txBody>
      </p:sp>
      <p:sp>
        <p:nvSpPr>
          <p:cNvPr id="13" name="Text 11"/>
          <p:cNvSpPr txBox="1"/>
          <p:nvPr/>
        </p:nvSpPr>
        <p:spPr>
          <a:xfrm>
            <a:off x="685800" y="3977640"/>
            <a:ext cx="5120640" cy="10972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Sai số ±10%</a:t>
            </a:r>
            <a:endParaRPr lang="en-US" sz="2600" dirty="0"/>
          </a:p>
        </p:txBody>
      </p:sp>
      <p:sp>
        <p:nvSpPr>
          <p:cNvPr id="14" name="Số liệu"/>
          <p:cNvSpPr/>
          <p:nvPr/>
        </p:nvSpPr>
        <p:spPr>
          <a:xfrm>
            <a:off x="6217920" y="1783080"/>
            <a:ext cx="5394960" cy="3337560"/>
          </a:xfrm>
          <a:prstGeom prst="roundRect">
            <a:avLst>
              <a:gd name="adj" fmla="val 4932"/>
            </a:avLst>
          </a:prstGeom>
          <a:solidFill>
            <a:srgbClr val="FCEADD"/>
          </a:solidFill>
          <a:ln/>
        </p:spPr>
      </p:sp>
      <p:sp>
        <p:nvSpPr>
          <p:cNvPr id="15" name="Nhãn ?"/>
          <p:cNvSpPr/>
          <p:nvPr/>
        </p:nvSpPr>
        <p:spPr>
          <a:xfrm>
            <a:off x="7955280" y="1965960"/>
            <a:ext cx="1920240" cy="1920240"/>
          </a:xfrm>
          <a:prstGeom prst="ellipse">
            <a:avLst/>
          </a:prstGeom>
          <a:solidFill>
            <a:srgbClr val="FF9259"/>
          </a:solidFill>
          <a:ln/>
        </p:spPr>
      </p:sp>
      <p:sp>
        <p:nvSpPr>
          <p:cNvPr id="16" name="Text 14"/>
          <p:cNvSpPr txBox="1"/>
          <p:nvPr/>
        </p:nvSpPr>
        <p:spPr>
          <a:xfrm>
            <a:off x="7955280" y="1965960"/>
            <a:ext cx="1920240" cy="1920240"/>
          </a:xfrm>
          <a:prstGeom prst="rect">
            <a:avLst/>
          </a:prstGeom>
          <a:noFill/>
          <a:ln/>
        </p:spPr>
        <p:txBody>
          <a:bodyPr wrap="square" lIns="0" tIns="0" rIns="0" bIns="0" rtlCol="0" anchor="ctr"/>
          <a:lstStyle/>
          <a:p>
            <a:pPr algn="ctr" indent="0" marL="0">
              <a:buNone/>
            </a:pPr>
            <a:r>
              <a:rPr lang="en-US" sz="4800" b="1" dirty="0">
                <a:solidFill>
                  <a:srgbClr val="2E2A3A"/>
                </a:solidFill>
                <a:latin typeface="Alexandria" pitchFamily="34" charset="0"/>
                <a:ea typeface="Alexandria" pitchFamily="34" charset="-122"/>
                <a:cs typeface="Alexandria" pitchFamily="34" charset="-120"/>
              </a:rPr>
              <a:t>?</a:t>
            </a:r>
            <a:endParaRPr lang="en-US" sz="4800" dirty="0"/>
          </a:p>
        </p:txBody>
      </p:sp>
      <p:sp>
        <p:nvSpPr>
          <p:cNvPr id="17" name="Text 15"/>
          <p:cNvSpPr txBox="1"/>
          <p:nvPr/>
        </p:nvSpPr>
        <p:spPr>
          <a:xfrm>
            <a:off x="6355080" y="3977640"/>
            <a:ext cx="5120640" cy="10972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Sai số ±3%</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500" b="1" dirty="0">
                <a:solidFill>
                  <a:srgbClr val="2E2A3A"/>
                </a:solidFill>
                <a:latin typeface="Alexandria" pitchFamily="34" charset="0"/>
                <a:ea typeface="Alexandria" pitchFamily="34" charset="-122"/>
                <a:cs typeface="Alexandria" pitchFamily="34" charset="-120"/>
              </a:rPr>
              <a:t>Sai số nhỏ đi một chút, cỡ mẫu tăng rất nhiều</a:t>
            </a:r>
            <a:endParaRPr lang="en-US" sz="3500" dirty="0"/>
          </a:p>
        </p:txBody>
      </p:sp>
      <p:sp>
        <p:nvSpPr>
          <p:cNvPr id="6" name="Ghi chú nổi bật"/>
          <p:cNvSpPr/>
          <p:nvPr/>
        </p:nvSpPr>
        <p:spPr>
          <a:xfrm>
            <a:off x="548640" y="4978400"/>
            <a:ext cx="11064240" cy="1102360"/>
          </a:xfrm>
          <a:prstGeom prst="roundRect">
            <a:avLst>
              <a:gd name="adj" fmla="val 14931"/>
            </a:avLst>
          </a:prstGeom>
          <a:solidFill>
            <a:srgbClr val="DDBCD0"/>
          </a:solidFill>
          <a:ln/>
        </p:spPr>
      </p:sp>
      <p:sp>
        <p:nvSpPr>
          <p:cNvPr id="7" name="Nhãn !"/>
          <p:cNvSpPr/>
          <p:nvPr/>
        </p:nvSpPr>
        <p:spPr>
          <a:xfrm>
            <a:off x="731520" y="5300980"/>
            <a:ext cx="457200" cy="457200"/>
          </a:xfrm>
          <a:prstGeom prst="ellipse">
            <a:avLst/>
          </a:prstGeom>
          <a:solidFill>
            <a:srgbClr val="962B7C"/>
          </a:solidFill>
          <a:ln/>
        </p:spPr>
      </p:sp>
      <p:sp>
        <p:nvSpPr>
          <p:cNvPr id="8" name="Text 6"/>
          <p:cNvSpPr txBox="1"/>
          <p:nvPr/>
        </p:nvSpPr>
        <p:spPr>
          <a:xfrm>
            <a:off x="731520" y="5300980"/>
            <a:ext cx="457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4978400"/>
            <a:ext cx="10149840" cy="110236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e bình phương ở mẫu số: chính xác thêm một chút, trả giá rất đắt</a:t>
            </a:r>
            <a:endParaRPr lang="en-US" sz="2600" dirty="0"/>
          </a:p>
        </p:txBody>
      </p:sp>
      <p:sp>
        <p:nvSpPr>
          <p:cNvPr id="10" name="Số liệu"/>
          <p:cNvSpPr/>
          <p:nvPr/>
        </p:nvSpPr>
        <p:spPr>
          <a:xfrm>
            <a:off x="548640" y="1783080"/>
            <a:ext cx="5394960" cy="2921000"/>
          </a:xfrm>
          <a:prstGeom prst="roundRect">
            <a:avLst>
              <a:gd name="adj" fmla="val 5635"/>
            </a:avLst>
          </a:prstGeom>
          <a:solidFill>
            <a:srgbClr val="FCEADD"/>
          </a:solidFill>
          <a:ln/>
        </p:spPr>
      </p:sp>
      <p:sp>
        <p:nvSpPr>
          <p:cNvPr id="11" name="Nhãn 97"/>
          <p:cNvSpPr/>
          <p:nvPr/>
        </p:nvSpPr>
        <p:spPr>
          <a:xfrm>
            <a:off x="2379980" y="1965960"/>
            <a:ext cx="1732280" cy="1732280"/>
          </a:xfrm>
          <a:prstGeom prst="ellipse">
            <a:avLst/>
          </a:prstGeom>
          <a:solidFill>
            <a:srgbClr val="FF9259"/>
          </a:solidFill>
          <a:ln/>
        </p:spPr>
      </p:sp>
      <p:sp>
        <p:nvSpPr>
          <p:cNvPr id="12" name="Text 10"/>
          <p:cNvSpPr txBox="1"/>
          <p:nvPr/>
        </p:nvSpPr>
        <p:spPr>
          <a:xfrm>
            <a:off x="2379980" y="1965960"/>
            <a:ext cx="1732280" cy="1732280"/>
          </a:xfrm>
          <a:prstGeom prst="rect">
            <a:avLst/>
          </a:prstGeom>
          <a:noFill/>
          <a:ln/>
        </p:spPr>
        <p:txBody>
          <a:bodyPr wrap="square" lIns="0" tIns="0" rIns="0" bIns="0" rtlCol="0" anchor="ctr"/>
          <a:lstStyle/>
          <a:p>
            <a:pPr algn="ctr" indent="0" marL="0">
              <a:buNone/>
            </a:pPr>
            <a:r>
              <a:rPr lang="en-US" sz="4800" b="1" dirty="0">
                <a:solidFill>
                  <a:srgbClr val="2E2A3A"/>
                </a:solidFill>
                <a:latin typeface="Alexandria" pitchFamily="34" charset="0"/>
                <a:ea typeface="Alexandria" pitchFamily="34" charset="-122"/>
                <a:cs typeface="Alexandria" pitchFamily="34" charset="-120"/>
              </a:rPr>
              <a:t>97</a:t>
            </a:r>
            <a:endParaRPr lang="en-US" sz="4800" dirty="0"/>
          </a:p>
        </p:txBody>
      </p:sp>
      <p:sp>
        <p:nvSpPr>
          <p:cNvPr id="13" name="Text 11"/>
          <p:cNvSpPr txBox="1"/>
          <p:nvPr/>
        </p:nvSpPr>
        <p:spPr>
          <a:xfrm>
            <a:off x="685800" y="3789680"/>
            <a:ext cx="5120640" cy="868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Sai số ±10%: 96,04 → 97</a:t>
            </a:r>
            <a:endParaRPr lang="en-US" sz="2600" dirty="0"/>
          </a:p>
        </p:txBody>
      </p:sp>
      <p:sp>
        <p:nvSpPr>
          <p:cNvPr id="14" name="Số liệu"/>
          <p:cNvSpPr/>
          <p:nvPr/>
        </p:nvSpPr>
        <p:spPr>
          <a:xfrm>
            <a:off x="6217920" y="1783080"/>
            <a:ext cx="5394960" cy="2921000"/>
          </a:xfrm>
          <a:prstGeom prst="roundRect">
            <a:avLst>
              <a:gd name="adj" fmla="val 5635"/>
            </a:avLst>
          </a:prstGeom>
          <a:solidFill>
            <a:srgbClr val="ECDBE2"/>
          </a:solidFill>
          <a:ln/>
        </p:spPr>
      </p:sp>
      <p:sp>
        <p:nvSpPr>
          <p:cNvPr id="15" name="Nhãn 1.068"/>
          <p:cNvSpPr/>
          <p:nvPr/>
        </p:nvSpPr>
        <p:spPr>
          <a:xfrm>
            <a:off x="8049260" y="1965960"/>
            <a:ext cx="1732280" cy="1732280"/>
          </a:xfrm>
          <a:prstGeom prst="ellipse">
            <a:avLst/>
          </a:prstGeom>
          <a:solidFill>
            <a:srgbClr val="962B7C"/>
          </a:solidFill>
          <a:ln/>
        </p:spPr>
      </p:sp>
      <p:sp>
        <p:nvSpPr>
          <p:cNvPr id="16" name="Text 14"/>
          <p:cNvSpPr txBox="1"/>
          <p:nvPr/>
        </p:nvSpPr>
        <p:spPr>
          <a:xfrm>
            <a:off x="8049260" y="1965960"/>
            <a:ext cx="1732280" cy="1732280"/>
          </a:xfrm>
          <a:prstGeom prst="rect">
            <a:avLst/>
          </a:prstGeom>
          <a:noFill/>
          <a:ln/>
        </p:spPr>
        <p:txBody>
          <a:bodyPr wrap="square" lIns="0" tIns="0" rIns="0" bIns="0" rtlCol="0" anchor="ctr"/>
          <a:lstStyle/>
          <a:p>
            <a:pPr algn="ctr" indent="0" marL="0">
              <a:buNone/>
            </a:pPr>
            <a:r>
              <a:rPr lang="en-US" sz="4700" b="1" dirty="0">
                <a:solidFill>
                  <a:srgbClr val="FFFFFF"/>
                </a:solidFill>
                <a:latin typeface="Alexandria" pitchFamily="34" charset="0"/>
                <a:ea typeface="Alexandria" pitchFamily="34" charset="-122"/>
                <a:cs typeface="Alexandria" pitchFamily="34" charset="-120"/>
              </a:rPr>
              <a:t>1.068</a:t>
            </a:r>
            <a:endParaRPr lang="en-US" sz="4700" dirty="0"/>
          </a:p>
        </p:txBody>
      </p:sp>
      <p:sp>
        <p:nvSpPr>
          <p:cNvPr id="17" name="Text 15"/>
          <p:cNvSpPr txBox="1"/>
          <p:nvPr/>
        </p:nvSpPr>
        <p:spPr>
          <a:xfrm>
            <a:off x="6355080" y="3789680"/>
            <a:ext cx="5120640" cy="868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Sai số ±3%: ≈ 1.067,1 → 1.068</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Định chạy EFA hay hồi quy? Dùng quy tắc kinh nghiệm — và trích nguồn</a:t>
            </a:r>
            <a:endParaRPr lang="en-US" sz="3400" dirty="0"/>
          </a:p>
        </p:txBody>
      </p:sp>
      <p:graphicFrame>
        <p:nvGraphicFramePr>
          <p:cNvPr id="23"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006076"/>
                <a:gridCol w="5575480"/>
                <a:gridCol w="3482684"/>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Kỹ thuật</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09A1E5"/>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Quy tắc</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09A1E5"/>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Nguồn</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09A1E5"/>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EFA</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5 quan sát/biến (tốt: 10); n ≥ 50, nên ≥ 100</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Hair và cộng sự (2019)</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Hồi quy bội</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 ≥ 50 + 8m (m: số biến độc lập)</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Tabachnick và Fidell (2019)</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r>
            </a:tbl>
          </a:graphicData>
        </a:graphic>
      </p:graphicFrame>
      <p:sp>
        <p:nvSpPr>
          <p:cNvPr id="7" name="Ghi chú nổi bật"/>
          <p:cNvSpPr/>
          <p:nvPr/>
        </p:nvSpPr>
        <p:spPr>
          <a:xfrm>
            <a:off x="548640" y="4651248"/>
            <a:ext cx="11064240" cy="685800"/>
          </a:xfrm>
          <a:prstGeom prst="roundRect">
            <a:avLst>
              <a:gd name="adj" fmla="val 24000"/>
            </a:avLst>
          </a:prstGeom>
          <a:solidFill>
            <a:srgbClr val="C6E4D8"/>
          </a:solidFill>
          <a:ln/>
        </p:spPr>
      </p:sp>
      <p:sp>
        <p:nvSpPr>
          <p:cNvPr id="8" name="Nhãn !"/>
          <p:cNvSpPr/>
          <p:nvPr/>
        </p:nvSpPr>
        <p:spPr>
          <a:xfrm>
            <a:off x="731520" y="4765548"/>
            <a:ext cx="457200" cy="457200"/>
          </a:xfrm>
          <a:prstGeom prst="ellipse">
            <a:avLst/>
          </a:prstGeom>
          <a:solidFill>
            <a:srgbClr val="49B296"/>
          </a:solidFill>
          <a:ln/>
        </p:spPr>
      </p:sp>
      <p:sp>
        <p:nvSpPr>
          <p:cNvPr id="9" name="Text 6"/>
          <p:cNvSpPr txBox="1"/>
          <p:nvPr/>
        </p:nvSpPr>
        <p:spPr>
          <a:xfrm>
            <a:off x="731520" y="4765548"/>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4651248"/>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Ví dụ: 24 biến quan sát × 5 → cần ≥ 120 phiếu hợp lệ</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Công thức chỉ đúng với mẫu xác suất: mẫu thuận tiện thêm người không thêm đại diện</a:t>
            </a:r>
            <a:endParaRPr lang="en-US" sz="3400" dirty="0"/>
          </a:p>
        </p:txBody>
      </p:sp>
      <p:sp>
        <p:nvSpPr>
          <p:cNvPr id="6" name="Khung nhận định"/>
          <p:cNvSpPr/>
          <p:nvPr/>
        </p:nvSpPr>
        <p:spPr>
          <a:xfrm>
            <a:off x="548640" y="1783080"/>
            <a:ext cx="11064240" cy="4297680"/>
          </a:xfrm>
          <a:prstGeom prst="roundRect">
            <a:avLst>
              <a:gd name="adj" fmla="val 6383"/>
            </a:avLst>
          </a:prstGeom>
          <a:solidFill>
            <a:srgbClr val="D7ECE1"/>
          </a:solidFill>
          <a:ln/>
        </p:spPr>
      </p:sp>
      <p:sp>
        <p:nvSpPr>
          <p:cNvPr id="7" name="Nhãn !"/>
          <p:cNvSpPr/>
          <p:nvPr/>
        </p:nvSpPr>
        <p:spPr>
          <a:xfrm>
            <a:off x="960120" y="3200400"/>
            <a:ext cx="1463040" cy="1463040"/>
          </a:xfrm>
          <a:prstGeom prst="ellipse">
            <a:avLst/>
          </a:prstGeom>
          <a:solidFill>
            <a:srgbClr val="49B296"/>
          </a:solidFill>
          <a:ln/>
        </p:spPr>
      </p:sp>
      <p:sp>
        <p:nvSpPr>
          <p:cNvPr id="8" name="Text 6"/>
          <p:cNvSpPr txBox="1"/>
          <p:nvPr/>
        </p:nvSpPr>
        <p:spPr>
          <a:xfrm>
            <a:off x="960120" y="3200400"/>
            <a:ext cx="1463040" cy="1463040"/>
          </a:xfrm>
          <a:prstGeom prst="rect">
            <a:avLst/>
          </a:prstGeom>
          <a:noFill/>
          <a:ln/>
        </p:spPr>
        <p:txBody>
          <a:bodyPr wrap="square" lIns="0" tIns="0" rIns="0" bIns="0" rtlCol="0" anchor="ctr"/>
          <a:lstStyle/>
          <a:p>
            <a:pPr algn="ctr" indent="0" marL="0">
              <a:buNone/>
            </a:pPr>
            <a:r>
              <a:rPr lang="en-US" sz="6600" b="1" dirty="0">
                <a:solidFill>
                  <a:srgbClr val="2E2A3A"/>
                </a:solidFill>
                <a:latin typeface="Alexandria" pitchFamily="34" charset="0"/>
                <a:ea typeface="Alexandria" pitchFamily="34" charset="-122"/>
                <a:cs typeface="Alexandria" pitchFamily="34" charset="-120"/>
              </a:rPr>
              <a:t>!</a:t>
            </a:r>
            <a:endParaRPr lang="en-US" sz="6600" dirty="0"/>
          </a:p>
        </p:txBody>
      </p:sp>
      <p:sp>
        <p:nvSpPr>
          <p:cNvPr id="9" name="Text 7"/>
          <p:cNvSpPr txBox="1"/>
          <p:nvPr/>
        </p:nvSpPr>
        <p:spPr>
          <a:xfrm>
            <a:off x="2834640" y="2667000"/>
            <a:ext cx="8412480" cy="1473200"/>
          </a:xfrm>
          <a:prstGeom prst="rect">
            <a:avLst/>
          </a:prstGeom>
          <a:noFill/>
          <a:ln/>
        </p:spPr>
        <p:txBody>
          <a:bodyPr wrap="square" lIns="76200" tIns="76200" rIns="76200" bIns="76200" rtlCol="0" anchor="t"/>
          <a:lstStyle/>
          <a:p>
            <a:pPr algn="l" indent="0" marL="0">
              <a:lnSpc>
                <a:spcPts val="5200"/>
              </a:lnSpc>
              <a:buNone/>
            </a:pPr>
            <a:r>
              <a:rPr lang="en-US" sz="4000" b="1" dirty="0">
                <a:solidFill>
                  <a:srgbClr val="2E2A3A"/>
                </a:solidFill>
                <a:latin typeface="Alexandria" pitchFamily="34" charset="0"/>
                <a:ea typeface="Alexandria" pitchFamily="34" charset="-122"/>
                <a:cs typeface="Alexandria" pitchFamily="34" charset="-120"/>
              </a:rPr>
              <a:t>Mẫu thuận tiện: cỡ mẫu chủ yếu để đủ cho phân tích</a:t>
            </a:r>
            <a:endParaRPr lang="en-US" sz="4000" dirty="0"/>
          </a:p>
        </p:txBody>
      </p:sp>
      <p:sp>
        <p:nvSpPr>
          <p:cNvPr id="10" name="Text 8"/>
          <p:cNvSpPr txBox="1"/>
          <p:nvPr/>
        </p:nvSpPr>
        <p:spPr>
          <a:xfrm>
            <a:off x="2834640" y="4140200"/>
            <a:ext cx="8412480" cy="105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5B5668"/>
                </a:solidFill>
                <a:latin typeface="Alexandria" pitchFamily="34" charset="0"/>
                <a:ea typeface="Alexandria" pitchFamily="34" charset="-122"/>
                <a:cs typeface="Alexandria" pitchFamily="34" charset="-120"/>
              </a:rPr>
              <a:t>Dự trù 10–20% phiếu hỏng. Cần 385 hợp lệ, dự kiến hỏng 15% → phát 385 / 0,85 ≈ 453 phiếu</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rang trí"/>
          <p:cNvSpPr/>
          <p:nvPr/>
        </p:nvSpPr>
        <p:spPr>
          <a:xfrm>
            <a:off x="1097280" y="1188720"/>
            <a:ext cx="4206240" cy="4206240"/>
          </a:xfrm>
          <a:prstGeom prst="ellipse">
            <a:avLst/>
          </a:prstGeom>
          <a:solidFill>
            <a:srgbClr val="FFD23B"/>
          </a:solidFill>
          <a:ln/>
        </p:spPr>
      </p:sp>
      <p:sp>
        <p:nvSpPr>
          <p:cNvPr id="3" name="Trang trí"/>
          <p:cNvSpPr/>
          <p:nvPr/>
        </p:nvSpPr>
        <p:spPr>
          <a:xfrm>
            <a:off x="4480560" y="731520"/>
            <a:ext cx="1097280" cy="1097280"/>
          </a:xfrm>
          <a:prstGeom prst="ellipse">
            <a:avLst/>
          </a:prstGeom>
          <a:solidFill>
            <a:srgbClr val="FF5178"/>
          </a:solidFill>
          <a:ln/>
        </p:spPr>
      </p:sp>
      <p:sp>
        <p:nvSpPr>
          <p:cNvPr id="4" name="Trang trí"/>
          <p:cNvSpPr/>
          <p:nvPr/>
        </p:nvSpPr>
        <p:spPr>
          <a:xfrm>
            <a:off x="548640" y="4846320"/>
            <a:ext cx="914400" cy="914400"/>
          </a:xfrm>
          <a:prstGeom prst="ellipse">
            <a:avLst/>
          </a:prstGeom>
          <a:solidFill>
            <a:srgbClr val="49B296"/>
          </a:solidFill>
          <a:ln/>
        </p:spPr>
      </p:sp>
      <p:sp>
        <p:nvSpPr>
          <p:cNvPr id="5" name="Trang trí"/>
          <p:cNvSpPr/>
          <p:nvPr/>
        </p:nvSpPr>
        <p:spPr>
          <a:xfrm>
            <a:off x="10424160" y="3931920"/>
            <a:ext cx="1645920" cy="1645920"/>
          </a:xfrm>
          <a:prstGeom prst="ellipse">
            <a:avLst/>
          </a:prstGeom>
          <a:solidFill>
            <a:srgbClr val="09A1E5"/>
          </a:solidFill>
          <a:ln/>
        </p:spPr>
      </p:sp>
      <p:sp>
        <p:nvSpPr>
          <p:cNvPr id="6" name="Trang trí"/>
          <p:cNvSpPr/>
          <p:nvPr/>
        </p:nvSpPr>
        <p:spPr>
          <a:xfrm>
            <a:off x="11155680" y="365760"/>
            <a:ext cx="731520" cy="731520"/>
          </a:xfrm>
          <a:prstGeom prst="ellipse">
            <a:avLst/>
          </a:prstGeom>
          <a:solidFill>
            <a:srgbClr val="FF9259"/>
          </a:solidFill>
          <a:ln/>
        </p:spPr>
      </p:sp>
      <p:sp>
        <p:nvSpPr>
          <p:cNvPr id="7" name="Text 5"/>
          <p:cNvSpPr txBox="1"/>
          <p:nvPr/>
        </p:nvSpPr>
        <p:spPr>
          <a:xfrm>
            <a:off x="1097280" y="1188720"/>
            <a:ext cx="4206240" cy="4206240"/>
          </a:xfrm>
          <a:prstGeom prst="rect">
            <a:avLst/>
          </a:prstGeom>
          <a:noFill/>
          <a:ln/>
        </p:spPr>
        <p:txBody>
          <a:bodyPr wrap="square" lIns="0" tIns="0" rIns="0" bIns="0" rtlCol="0" anchor="ctr"/>
          <a:lstStyle/>
          <a:p>
            <a:pPr algn="ctr" indent="0" marL="0">
              <a:buNone/>
            </a:pPr>
            <a:r>
              <a:rPr lang="en-US" sz="9600" b="1" dirty="0">
                <a:solidFill>
                  <a:srgbClr val="2E2A3A"/>
                </a:solidFill>
                <a:latin typeface="Alexandria" pitchFamily="34" charset="0"/>
                <a:ea typeface="Alexandria" pitchFamily="34" charset="-122"/>
                <a:cs typeface="Alexandria" pitchFamily="34" charset="-120"/>
              </a:rPr>
              <a:t>15'</a:t>
            </a:r>
            <a:endParaRPr lang="en-US" sz="9600" dirty="0"/>
          </a:p>
        </p:txBody>
      </p:sp>
      <p:sp>
        <p:nvSpPr>
          <p:cNvPr id="8" name="Text 6"/>
          <p:cNvSpPr txBox="1"/>
          <p:nvPr/>
        </p:nvSpPr>
        <p:spPr>
          <a:xfrm>
            <a:off x="5943600" y="2011680"/>
            <a:ext cx="5303520" cy="1463040"/>
          </a:xfrm>
          <a:prstGeom prst="rect">
            <a:avLst/>
          </a:prstGeom>
          <a:noFill/>
          <a:ln/>
        </p:spPr>
        <p:txBody>
          <a:bodyPr wrap="square" lIns="76200" tIns="76200" rIns="76200" bIns="76200" rtlCol="0" anchor="t"/>
          <a:lstStyle/>
          <a:p>
            <a:pPr algn="l" indent="0" marL="0">
              <a:lnSpc>
                <a:spcPts val="6200"/>
              </a:lnSpc>
              <a:buNone/>
            </a:pPr>
            <a:r>
              <a:rPr lang="en-US" sz="4800" b="1" dirty="0">
                <a:solidFill>
                  <a:srgbClr val="2E2A3A"/>
                </a:solidFill>
                <a:latin typeface="Alexandria" pitchFamily="34" charset="0"/>
                <a:ea typeface="Alexandria" pitchFamily="34" charset="-122"/>
                <a:cs typeface="Alexandria" pitchFamily="34" charset="-120"/>
              </a:rPr>
              <a:t>Giải lao 15 phút</a:t>
            </a:r>
            <a:endParaRPr lang="en-US" sz="4800" dirty="0"/>
          </a:p>
        </p:txBody>
      </p:sp>
      <p:sp>
        <p:nvSpPr>
          <p:cNvPr id="9" name="Text 7"/>
          <p:cNvSpPr txBox="1"/>
          <p:nvPr/>
        </p:nvSpPr>
        <p:spPr>
          <a:xfrm>
            <a:off x="5943600" y="3566160"/>
            <a:ext cx="4297680" cy="2011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5B5668"/>
                </a:solidFill>
                <a:latin typeface="Alexandria" pitchFamily="34" charset="0"/>
                <a:ea typeface="Alexandria" pitchFamily="34" charset="-122"/>
                <a:cs typeface="Alexandria" pitchFamily="34" charset="-120"/>
              </a:rPr>
              <a:t>Quay lại lúc … · Nghĩ: nhóm mình có danh sách người trả lời không?</a:t>
            </a:r>
            <a:endParaRPr lang="en-US" sz="28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D0D5"/>
          </a:solidFill>
          <a:ln/>
        </p:spPr>
      </p:sp>
      <p:sp>
        <p:nvSpPr>
          <p:cNvPr id="3" name="Nhãn S5"/>
          <p:cNvSpPr/>
          <p:nvPr/>
        </p:nvSpPr>
        <p:spPr>
          <a:xfrm>
            <a:off x="822960" y="2240280"/>
            <a:ext cx="2377440" cy="2377440"/>
          </a:xfrm>
          <a:prstGeom prst="ellipse">
            <a:avLst/>
          </a:prstGeom>
          <a:solidFill>
            <a:srgbClr val="FF5178"/>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S5</a:t>
            </a:r>
            <a:endParaRPr lang="en-US" sz="6000" dirty="0"/>
          </a:p>
        </p:txBody>
      </p:sp>
      <p:sp>
        <p:nvSpPr>
          <p:cNvPr id="5" name="Trang trí"/>
          <p:cNvSpPr/>
          <p:nvPr/>
        </p:nvSpPr>
        <p:spPr>
          <a:xfrm>
            <a:off x="10881360" y="457200"/>
            <a:ext cx="822960" cy="822960"/>
          </a:xfrm>
          <a:prstGeom prst="ellipse">
            <a:avLst/>
          </a:prstGeom>
          <a:solidFill>
            <a:srgbClr val="FF9259"/>
          </a:solidFill>
          <a:ln/>
        </p:spPr>
      </p:sp>
      <p:sp>
        <p:nvSpPr>
          <p:cNvPr id="6" name="Trang trí"/>
          <p:cNvSpPr/>
          <p:nvPr/>
        </p:nvSpPr>
        <p:spPr>
          <a:xfrm>
            <a:off x="10241280" y="4480560"/>
            <a:ext cx="1188720" cy="1188720"/>
          </a:xfrm>
          <a:prstGeom prst="ellipse">
            <a:avLst/>
          </a:prstGeom>
          <a:solidFill>
            <a:srgbClr val="962B7C"/>
          </a:solidFill>
          <a:ln/>
        </p:spPr>
      </p:sp>
      <p:sp>
        <p:nvSpPr>
          <p:cNvPr id="7" name="Trang trí"/>
          <p:cNvSpPr/>
          <p:nvPr/>
        </p:nvSpPr>
        <p:spPr>
          <a:xfrm>
            <a:off x="9784080" y="5760720"/>
            <a:ext cx="365760" cy="365760"/>
          </a:xfrm>
          <a:prstGeom prst="ellipse">
            <a:avLst/>
          </a:prstGeom>
          <a:solidFill>
            <a:srgbClr val="FFD23B"/>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63–80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100" b="1" dirty="0">
                <a:solidFill>
                  <a:srgbClr val="2E2A3A"/>
                </a:solidFill>
                <a:latin typeface="Alexandria" pitchFamily="34" charset="0"/>
                <a:ea typeface="Alexandria" pitchFamily="34" charset="-122"/>
                <a:cs typeface="Alexandria" pitchFamily="34" charset="-120"/>
              </a:rPr>
              <a:t>Xác suất và phi xác suất; bốn phương pháp xác suất</a:t>
            </a:r>
            <a:endParaRPr lang="en-US" sz="41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Xác suất hay phi xác suất: khác nhau ở chỗ có tính được sai số hay không</a:t>
            </a:r>
            <a:endParaRPr lang="en-US" sz="3400" dirty="0"/>
          </a:p>
        </p:txBody>
      </p:sp>
      <p:graphicFrame>
        <p:nvGraphicFramePr>
          <p:cNvPr id="27"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996557"/>
                <a:gridCol w="3670782"/>
                <a:gridCol w="4396901"/>
              </a:tblGrid>
              <a:tr h="524256">
                <a:tc>
                  <a:txBody>
                    <a:bodyPr/>
                    <a:lstStyle/>
                    <a:p>
                      <a:pPr indent="0" marL="0">
                        <a:lnSpc>
                          <a:spcPts val="3100"/>
                        </a:lnSpc>
                        <a:buNone/>
                      </a:pP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Xác suất</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Phi xác suất</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Cách chọn</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Xác suất biết trước</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Thuận tiện, phán đoán</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Khung mẫu</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Cần</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Không bắt buộc</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Tính sai số</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Có</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Không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Khái quát hóa</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Có cơ sở thống kê</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Không có cơ sở</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Chi phí</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Cao hơn</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Thấp hơn</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r>
            </a:tbl>
          </a:graphicData>
        </a:graphic>
      </p:graphicFrame>
      <p:sp>
        <p:nvSpPr>
          <p:cNvPr id="7" name="Ghi chú nổi bật"/>
          <p:cNvSpPr/>
          <p:nvPr/>
        </p:nvSpPr>
        <p:spPr>
          <a:xfrm>
            <a:off x="548640" y="5394960"/>
            <a:ext cx="11064240" cy="685800"/>
          </a:xfrm>
          <a:prstGeom prst="roundRect">
            <a:avLst>
              <a:gd name="adj" fmla="val 24000"/>
            </a:avLst>
          </a:prstGeom>
          <a:solidFill>
            <a:srgbClr val="DDBCD0"/>
          </a:solidFill>
          <a:ln/>
        </p:spPr>
      </p:sp>
      <p:sp>
        <p:nvSpPr>
          <p:cNvPr id="8" name="Nhãn !"/>
          <p:cNvSpPr/>
          <p:nvPr/>
        </p:nvSpPr>
        <p:spPr>
          <a:xfrm>
            <a:off x="731520" y="5509260"/>
            <a:ext cx="457200" cy="457200"/>
          </a:xfrm>
          <a:prstGeom prst="ellipse">
            <a:avLst/>
          </a:prstGeom>
          <a:solidFill>
            <a:srgbClr val="962B7C"/>
          </a:solidFill>
          <a:ln/>
        </p:spPr>
      </p:sp>
      <p:sp>
        <p:nvSpPr>
          <p:cNvPr id="9"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Phi xác suất hợp với khám phá, định tính, thử bảng hỏi</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Tám phương pháp, hai họ</a:t>
            </a:r>
            <a:endParaRPr lang="en-US" sz="3600" dirty="0"/>
          </a:p>
        </p:txBody>
      </p:sp>
      <p:sp>
        <p:nvSpPr>
          <p:cNvPr id="6" name="Tiêu đề cột"/>
          <p:cNvSpPr/>
          <p:nvPr/>
        </p:nvSpPr>
        <p:spPr>
          <a:xfrm>
            <a:off x="548640" y="1783080"/>
            <a:ext cx="5120640" cy="706120"/>
          </a:xfrm>
          <a:prstGeom prst="roundRect">
            <a:avLst>
              <a:gd name="adj" fmla="val 23309"/>
            </a:avLst>
          </a:prstGeom>
          <a:solidFill>
            <a:srgbClr val="FF9259"/>
          </a:solidFill>
          <a:ln/>
        </p:spPr>
      </p:sp>
      <p:sp>
        <p:nvSpPr>
          <p:cNvPr id="7" name="Text 5"/>
          <p:cNvSpPr txBox="1"/>
          <p:nvPr/>
        </p:nvSpPr>
        <p:spPr>
          <a:xfrm>
            <a:off x="6858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Xác suất</a:t>
            </a:r>
            <a:endParaRPr lang="en-US" sz="2800" dirty="0"/>
          </a:p>
        </p:txBody>
      </p:sp>
      <p:sp>
        <p:nvSpPr>
          <p:cNvPr id="8" name="Nội dung cột"/>
          <p:cNvSpPr/>
          <p:nvPr/>
        </p:nvSpPr>
        <p:spPr>
          <a:xfrm>
            <a:off x="548640" y="2626360"/>
            <a:ext cx="5120640" cy="3454400"/>
          </a:xfrm>
          <a:prstGeom prst="roundRect">
            <a:avLst>
              <a:gd name="adj" fmla="val 4765"/>
            </a:avLst>
          </a:prstGeom>
          <a:solidFill>
            <a:srgbClr val="FCE9DB"/>
          </a:solidFill>
          <a:ln/>
        </p:spPr>
      </p:sp>
      <p:sp>
        <p:nvSpPr>
          <p:cNvPr id="9" name="Dấu đầu dòng"/>
          <p:cNvSpPr/>
          <p:nvPr/>
        </p:nvSpPr>
        <p:spPr>
          <a:xfrm>
            <a:off x="822960" y="2979420"/>
            <a:ext cx="182880" cy="182880"/>
          </a:xfrm>
          <a:prstGeom prst="ellipse">
            <a:avLst/>
          </a:prstGeom>
          <a:solidFill>
            <a:srgbClr val="FF9259"/>
          </a:solidFill>
          <a:ln/>
        </p:spPr>
      </p:sp>
      <p:sp>
        <p:nvSpPr>
          <p:cNvPr id="10" name="Text 8"/>
          <p:cNvSpPr txBox="1"/>
          <p:nvPr/>
        </p:nvSpPr>
        <p:spPr>
          <a:xfrm>
            <a:off x="1097280" y="276352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Ngẫu nhiên đơn giản</a:t>
            </a:r>
            <a:endParaRPr lang="en-US" sz="2800" dirty="0"/>
          </a:p>
        </p:txBody>
      </p:sp>
      <p:sp>
        <p:nvSpPr>
          <p:cNvPr id="11" name="Dấu đầu dòng"/>
          <p:cNvSpPr/>
          <p:nvPr/>
        </p:nvSpPr>
        <p:spPr>
          <a:xfrm>
            <a:off x="822960" y="3731260"/>
            <a:ext cx="182880" cy="182880"/>
          </a:xfrm>
          <a:prstGeom prst="ellipse">
            <a:avLst/>
          </a:prstGeom>
          <a:solidFill>
            <a:srgbClr val="FF9259"/>
          </a:solidFill>
          <a:ln/>
        </p:spPr>
      </p:sp>
      <p:sp>
        <p:nvSpPr>
          <p:cNvPr id="12" name="Text 10"/>
          <p:cNvSpPr txBox="1"/>
          <p:nvPr/>
        </p:nvSpPr>
        <p:spPr>
          <a:xfrm>
            <a:off x="1097280" y="351536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Hệ thống</a:t>
            </a:r>
            <a:endParaRPr lang="en-US" sz="2800" dirty="0"/>
          </a:p>
        </p:txBody>
      </p:sp>
      <p:sp>
        <p:nvSpPr>
          <p:cNvPr id="13" name="Dấu đầu dòng"/>
          <p:cNvSpPr/>
          <p:nvPr/>
        </p:nvSpPr>
        <p:spPr>
          <a:xfrm>
            <a:off x="822960" y="4483100"/>
            <a:ext cx="182880" cy="182880"/>
          </a:xfrm>
          <a:prstGeom prst="ellipse">
            <a:avLst/>
          </a:prstGeom>
          <a:solidFill>
            <a:srgbClr val="FF9259"/>
          </a:solidFill>
          <a:ln/>
        </p:spPr>
      </p:sp>
      <p:sp>
        <p:nvSpPr>
          <p:cNvPr id="14" name="Text 12"/>
          <p:cNvSpPr txBox="1"/>
          <p:nvPr/>
        </p:nvSpPr>
        <p:spPr>
          <a:xfrm>
            <a:off x="1097280" y="426720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Phân tầng</a:t>
            </a:r>
            <a:endParaRPr lang="en-US" sz="2800" dirty="0"/>
          </a:p>
        </p:txBody>
      </p:sp>
      <p:sp>
        <p:nvSpPr>
          <p:cNvPr id="15" name="Dấu đầu dòng"/>
          <p:cNvSpPr/>
          <p:nvPr/>
        </p:nvSpPr>
        <p:spPr>
          <a:xfrm>
            <a:off x="822960" y="5234940"/>
            <a:ext cx="182880" cy="182880"/>
          </a:xfrm>
          <a:prstGeom prst="ellipse">
            <a:avLst/>
          </a:prstGeom>
          <a:solidFill>
            <a:srgbClr val="FF9259"/>
          </a:solidFill>
          <a:ln/>
        </p:spPr>
      </p:sp>
      <p:sp>
        <p:nvSpPr>
          <p:cNvPr id="16" name="Text 14"/>
          <p:cNvSpPr txBox="1"/>
          <p:nvPr/>
        </p:nvSpPr>
        <p:spPr>
          <a:xfrm>
            <a:off x="1097280" y="501904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Theo nhóm</a:t>
            </a:r>
            <a:endParaRPr lang="en-US" sz="2800" dirty="0"/>
          </a:p>
        </p:txBody>
      </p:sp>
      <p:sp>
        <p:nvSpPr>
          <p:cNvPr id="17" name="Tiêu đề cột"/>
          <p:cNvSpPr/>
          <p:nvPr/>
        </p:nvSpPr>
        <p:spPr>
          <a:xfrm>
            <a:off x="6492240" y="1783080"/>
            <a:ext cx="5120640" cy="706120"/>
          </a:xfrm>
          <a:prstGeom prst="roundRect">
            <a:avLst>
              <a:gd name="adj" fmla="val 23309"/>
            </a:avLst>
          </a:prstGeom>
          <a:solidFill>
            <a:srgbClr val="FF5178"/>
          </a:solidFill>
          <a:ln/>
        </p:spPr>
      </p:sp>
      <p:sp>
        <p:nvSpPr>
          <p:cNvPr id="18" name="Text 16"/>
          <p:cNvSpPr txBox="1"/>
          <p:nvPr/>
        </p:nvSpPr>
        <p:spPr>
          <a:xfrm>
            <a:off x="66294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Phi xác suất</a:t>
            </a:r>
            <a:endParaRPr lang="en-US" sz="2800" dirty="0"/>
          </a:p>
        </p:txBody>
      </p:sp>
      <p:sp>
        <p:nvSpPr>
          <p:cNvPr id="19" name="Nội dung cột"/>
          <p:cNvSpPr/>
          <p:nvPr/>
        </p:nvSpPr>
        <p:spPr>
          <a:xfrm>
            <a:off x="6492240" y="2626360"/>
            <a:ext cx="5120640" cy="3454400"/>
          </a:xfrm>
          <a:prstGeom prst="roundRect">
            <a:avLst>
              <a:gd name="adj" fmla="val 4765"/>
            </a:avLst>
          </a:prstGeom>
          <a:solidFill>
            <a:srgbClr val="FCDFE0"/>
          </a:solidFill>
          <a:ln/>
        </p:spPr>
      </p:sp>
      <p:sp>
        <p:nvSpPr>
          <p:cNvPr id="20" name="Dấu đầu dòng"/>
          <p:cNvSpPr/>
          <p:nvPr/>
        </p:nvSpPr>
        <p:spPr>
          <a:xfrm>
            <a:off x="6766560" y="2979420"/>
            <a:ext cx="182880" cy="182880"/>
          </a:xfrm>
          <a:prstGeom prst="ellipse">
            <a:avLst/>
          </a:prstGeom>
          <a:solidFill>
            <a:srgbClr val="FF5178"/>
          </a:solidFill>
          <a:ln/>
        </p:spPr>
      </p:sp>
      <p:sp>
        <p:nvSpPr>
          <p:cNvPr id="21" name="Text 19"/>
          <p:cNvSpPr txBox="1"/>
          <p:nvPr/>
        </p:nvSpPr>
        <p:spPr>
          <a:xfrm>
            <a:off x="7040880" y="276352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Thuận tiện</a:t>
            </a:r>
            <a:endParaRPr lang="en-US" sz="2800" dirty="0"/>
          </a:p>
        </p:txBody>
      </p:sp>
      <p:sp>
        <p:nvSpPr>
          <p:cNvPr id="22" name="Dấu đầu dòng"/>
          <p:cNvSpPr/>
          <p:nvPr/>
        </p:nvSpPr>
        <p:spPr>
          <a:xfrm>
            <a:off x="6766560" y="3731260"/>
            <a:ext cx="182880" cy="182880"/>
          </a:xfrm>
          <a:prstGeom prst="ellipse">
            <a:avLst/>
          </a:prstGeom>
          <a:solidFill>
            <a:srgbClr val="FF5178"/>
          </a:solidFill>
          <a:ln/>
        </p:spPr>
      </p:sp>
      <p:sp>
        <p:nvSpPr>
          <p:cNvPr id="23" name="Text 21"/>
          <p:cNvSpPr txBox="1"/>
          <p:nvPr/>
        </p:nvSpPr>
        <p:spPr>
          <a:xfrm>
            <a:off x="7040880" y="351536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Phán đoán</a:t>
            </a:r>
            <a:endParaRPr lang="en-US" sz="2800" dirty="0"/>
          </a:p>
        </p:txBody>
      </p:sp>
      <p:sp>
        <p:nvSpPr>
          <p:cNvPr id="24" name="Dấu đầu dòng"/>
          <p:cNvSpPr/>
          <p:nvPr/>
        </p:nvSpPr>
        <p:spPr>
          <a:xfrm>
            <a:off x="6766560" y="4483100"/>
            <a:ext cx="182880" cy="182880"/>
          </a:xfrm>
          <a:prstGeom prst="ellipse">
            <a:avLst/>
          </a:prstGeom>
          <a:solidFill>
            <a:srgbClr val="FF5178"/>
          </a:solidFill>
          <a:ln/>
        </p:spPr>
      </p:sp>
      <p:sp>
        <p:nvSpPr>
          <p:cNvPr id="25" name="Text 23"/>
          <p:cNvSpPr txBox="1"/>
          <p:nvPr/>
        </p:nvSpPr>
        <p:spPr>
          <a:xfrm>
            <a:off x="7040880" y="426720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Phát triển mầm</a:t>
            </a:r>
            <a:endParaRPr lang="en-US" sz="2800" dirty="0"/>
          </a:p>
        </p:txBody>
      </p:sp>
      <p:sp>
        <p:nvSpPr>
          <p:cNvPr id="26" name="Dấu đầu dòng"/>
          <p:cNvSpPr/>
          <p:nvPr/>
        </p:nvSpPr>
        <p:spPr>
          <a:xfrm>
            <a:off x="6766560" y="5234940"/>
            <a:ext cx="182880" cy="182880"/>
          </a:xfrm>
          <a:prstGeom prst="ellipse">
            <a:avLst/>
          </a:prstGeom>
          <a:solidFill>
            <a:srgbClr val="FF5178"/>
          </a:solidFill>
          <a:ln/>
        </p:spPr>
      </p:sp>
      <p:sp>
        <p:nvSpPr>
          <p:cNvPr id="27" name="Text 25"/>
          <p:cNvSpPr txBox="1"/>
          <p:nvPr/>
        </p:nvSpPr>
        <p:spPr>
          <a:xfrm>
            <a:off x="7040880" y="501904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Định mức</a:t>
            </a:r>
            <a:endParaRPr lang="en-US" sz="2800" dirty="0"/>
          </a:p>
        </p:txBody>
      </p:sp>
      <p:sp>
        <p:nvSpPr>
          <p:cNvPr id="28" name="Nhãn vs"/>
          <p:cNvSpPr/>
          <p:nvPr/>
        </p:nvSpPr>
        <p:spPr>
          <a:xfrm>
            <a:off x="5760720" y="3896360"/>
            <a:ext cx="640080" cy="640080"/>
          </a:xfrm>
          <a:prstGeom prst="ellipse">
            <a:avLst/>
          </a:prstGeom>
          <a:solidFill>
            <a:srgbClr val="FFD23B"/>
          </a:solidFill>
          <a:ln/>
        </p:spPr>
      </p:sp>
      <p:sp>
        <p:nvSpPr>
          <p:cNvPr id="29" name="Text 27"/>
          <p:cNvSpPr txBox="1"/>
          <p:nvPr/>
        </p:nvSpPr>
        <p:spPr>
          <a:xfrm>
            <a:off x="5760720" y="3896360"/>
            <a:ext cx="640080" cy="64008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vs</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Ngẫu nhiên đơn giản: bốc thăm trong một chiếc mũ</a:t>
            </a:r>
            <a:endParaRPr lang="en-US" sz="3400" dirty="0"/>
          </a:p>
        </p:txBody>
      </p:sp>
      <p:sp>
        <p:nvSpPr>
          <p:cNvPr id="6" name="Thẻ Như nhau"/>
          <p:cNvSpPr/>
          <p:nvPr/>
        </p:nvSpPr>
        <p:spPr>
          <a:xfrm>
            <a:off x="548640" y="1783080"/>
            <a:ext cx="3505200" cy="2740660"/>
          </a:xfrm>
          <a:prstGeom prst="roundRect">
            <a:avLst>
              <a:gd name="adj" fmla="val 6006"/>
            </a:avLst>
          </a:prstGeom>
          <a:solidFill>
            <a:srgbClr val="E9D5DE"/>
          </a:solidFill>
          <a:ln/>
        </p:spPr>
      </p:sp>
      <p:sp>
        <p:nvSpPr>
          <p:cNvPr id="7" name="Nhãn 1"/>
          <p:cNvSpPr/>
          <p:nvPr/>
        </p:nvSpPr>
        <p:spPr>
          <a:xfrm>
            <a:off x="713232" y="1947672"/>
            <a:ext cx="548640" cy="548640"/>
          </a:xfrm>
          <a:prstGeom prst="ellipse">
            <a:avLst/>
          </a:prstGeom>
          <a:solidFill>
            <a:srgbClr val="962B7C"/>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Như nhau</a:t>
            </a:r>
            <a:endParaRPr lang="en-US" sz="2800" dirty="0"/>
          </a:p>
        </p:txBody>
      </p:sp>
      <p:sp>
        <p:nvSpPr>
          <p:cNvPr id="10" name="Text 8"/>
          <p:cNvSpPr txBox="1"/>
          <p:nvPr/>
        </p:nvSpPr>
        <p:spPr>
          <a:xfrm>
            <a:off x="685800" y="258064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Mọi phần tử có cơ hội được chọn ngang nhau</a:t>
            </a:r>
            <a:endParaRPr lang="en-US" sz="2600" dirty="0"/>
          </a:p>
        </p:txBody>
      </p:sp>
      <p:sp>
        <p:nvSpPr>
          <p:cNvPr id="11" name="Thẻ Excel"/>
          <p:cNvSpPr/>
          <p:nvPr/>
        </p:nvSpPr>
        <p:spPr>
          <a:xfrm>
            <a:off x="4328160" y="1783080"/>
            <a:ext cx="3505200" cy="2740660"/>
          </a:xfrm>
          <a:prstGeom prst="roundRect">
            <a:avLst>
              <a:gd name="adj" fmla="val 6006"/>
            </a:avLst>
          </a:prstGeom>
          <a:solidFill>
            <a:srgbClr val="FCF3D3"/>
          </a:solidFill>
          <a:ln/>
        </p:spPr>
      </p:sp>
      <p:sp>
        <p:nvSpPr>
          <p:cNvPr id="12" name="Nhãn 2"/>
          <p:cNvSpPr/>
          <p:nvPr/>
        </p:nvSpPr>
        <p:spPr>
          <a:xfrm>
            <a:off x="4492752" y="1947672"/>
            <a:ext cx="548640" cy="548640"/>
          </a:xfrm>
          <a:prstGeom prst="ellipse">
            <a:avLst/>
          </a:prstGeom>
          <a:solidFill>
            <a:srgbClr val="FFD23B"/>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Excel</a:t>
            </a:r>
            <a:endParaRPr lang="en-US" sz="2800" dirty="0"/>
          </a:p>
        </p:txBody>
      </p:sp>
      <p:sp>
        <p:nvSpPr>
          <p:cNvPr id="15" name="Text 13"/>
          <p:cNvSpPr txBox="1"/>
          <p:nvPr/>
        </p:nvSpPr>
        <p:spPr>
          <a:xfrm>
            <a:off x="4465320" y="258064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Cột =RAND(), sắp xếp, lấy n dòng đầu</a:t>
            </a:r>
            <a:endParaRPr lang="en-US" sz="2600" dirty="0"/>
          </a:p>
        </p:txBody>
      </p:sp>
      <p:sp>
        <p:nvSpPr>
          <p:cNvPr id="16" name="Thẻ Nhược điểm"/>
          <p:cNvSpPr/>
          <p:nvPr/>
        </p:nvSpPr>
        <p:spPr>
          <a:xfrm>
            <a:off x="8107680" y="1783080"/>
            <a:ext cx="3505200" cy="2740660"/>
          </a:xfrm>
          <a:prstGeom prst="roundRect">
            <a:avLst>
              <a:gd name="adj" fmla="val 6006"/>
            </a:avLst>
          </a:prstGeom>
          <a:solidFill>
            <a:srgbClr val="DBEDE3"/>
          </a:solidFill>
          <a:ln/>
        </p:spPr>
      </p:sp>
      <p:sp>
        <p:nvSpPr>
          <p:cNvPr id="17" name="Nhãn 3"/>
          <p:cNvSpPr/>
          <p:nvPr/>
        </p:nvSpPr>
        <p:spPr>
          <a:xfrm>
            <a:off x="8272272" y="1947672"/>
            <a:ext cx="548640" cy="548640"/>
          </a:xfrm>
          <a:prstGeom prst="ellipse">
            <a:avLst/>
          </a:prstGeom>
          <a:solidFill>
            <a:srgbClr val="49B296"/>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Nhược điểm</a:t>
            </a:r>
            <a:endParaRPr lang="en-US" sz="2800" dirty="0"/>
          </a:p>
        </p:txBody>
      </p:sp>
      <p:sp>
        <p:nvSpPr>
          <p:cNvPr id="20" name="Text 18"/>
          <p:cNvSpPr txBox="1"/>
          <p:nvPr/>
        </p:nvSpPr>
        <p:spPr>
          <a:xfrm>
            <a:off x="8244840" y="258064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Cần khung mẫu đầy đủ; mẫu có thể phân tán</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Hệ thống: tính bước nhảy k = N/n rồi cứ k người chọn một</a:t>
            </a:r>
            <a:endParaRPr lang="en-US" sz="3400" dirty="0"/>
          </a:p>
        </p:txBody>
      </p:sp>
      <p:sp>
        <p:nvSpPr>
          <p:cNvPr id="6" name="Ghi chú nổi bật"/>
          <p:cNvSpPr/>
          <p:nvPr/>
        </p:nvSpPr>
        <p:spPr>
          <a:xfrm>
            <a:off x="548640" y="4978400"/>
            <a:ext cx="11064240" cy="1102360"/>
          </a:xfrm>
          <a:prstGeom prst="roundRect">
            <a:avLst>
              <a:gd name="adj" fmla="val 14931"/>
            </a:avLst>
          </a:prstGeom>
          <a:solidFill>
            <a:srgbClr val="C6E4D8"/>
          </a:solidFill>
          <a:ln/>
        </p:spPr>
      </p:sp>
      <p:sp>
        <p:nvSpPr>
          <p:cNvPr id="7" name="Nhãn !"/>
          <p:cNvSpPr/>
          <p:nvPr/>
        </p:nvSpPr>
        <p:spPr>
          <a:xfrm>
            <a:off x="731520" y="5300980"/>
            <a:ext cx="457200" cy="457200"/>
          </a:xfrm>
          <a:prstGeom prst="ellipse">
            <a:avLst/>
          </a:prstGeom>
          <a:solidFill>
            <a:srgbClr val="49B296"/>
          </a:solidFill>
          <a:ln/>
        </p:spPr>
      </p:sp>
      <p:sp>
        <p:nvSpPr>
          <p:cNvPr id="8" name="Text 6"/>
          <p:cNvSpPr txBox="1"/>
          <p:nvPr/>
        </p:nvSpPr>
        <p:spPr>
          <a:xfrm>
            <a:off x="731520" y="530098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4978400"/>
            <a:ext cx="10149840" cy="110236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N = 1.000, n = 100 → k = 10. Nhược: danh sách có chu kỳ trùng k</a:t>
            </a:r>
            <a:endParaRPr lang="en-US" sz="2600" dirty="0"/>
          </a:p>
        </p:txBody>
      </p:sp>
      <p:sp>
        <p:nvSpPr>
          <p:cNvPr id="10" name="Trục thời gian"/>
          <p:cNvSpPr/>
          <p:nvPr/>
        </p:nvSpPr>
        <p:spPr>
          <a:xfrm>
            <a:off x="548640" y="3243580"/>
            <a:ext cx="11064240" cy="0"/>
          </a:xfrm>
          <a:prstGeom prst="line">
            <a:avLst/>
          </a:prstGeom>
          <a:noFill/>
          <a:ln w="38100">
            <a:solidFill>
              <a:srgbClr val="5B5668"/>
            </a:solidFill>
            <a:prstDash val="solid"/>
          </a:ln>
        </p:spPr>
      </p:sp>
      <p:sp>
        <p:nvSpPr>
          <p:cNvPr id="11" name="Nhãn 7"/>
          <p:cNvSpPr/>
          <p:nvPr/>
        </p:nvSpPr>
        <p:spPr>
          <a:xfrm>
            <a:off x="1289304" y="2877820"/>
            <a:ext cx="731520" cy="731520"/>
          </a:xfrm>
          <a:prstGeom prst="ellipse">
            <a:avLst/>
          </a:prstGeom>
          <a:solidFill>
            <a:srgbClr val="FFD23B"/>
          </a:solidFill>
          <a:ln/>
        </p:spPr>
      </p:sp>
      <p:sp>
        <p:nvSpPr>
          <p:cNvPr id="12" name="Text 10"/>
          <p:cNvSpPr txBox="1"/>
          <p:nvPr/>
        </p:nvSpPr>
        <p:spPr>
          <a:xfrm>
            <a:off x="1289304" y="2877820"/>
            <a:ext cx="731520" cy="7315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7</a:t>
            </a:r>
            <a:endParaRPr lang="en-US" sz="2400" dirty="0"/>
          </a:p>
        </p:txBody>
      </p:sp>
      <p:sp>
        <p:nvSpPr>
          <p:cNvPr id="13" name="Text 11"/>
          <p:cNvSpPr txBox="1"/>
          <p:nvPr/>
        </p:nvSpPr>
        <p:spPr>
          <a:xfrm>
            <a:off x="548640" y="1808480"/>
            <a:ext cx="2926080" cy="977900"/>
          </a:xfrm>
          <a:prstGeom prst="rect">
            <a:avLst/>
          </a:prstGeom>
          <a:noFill/>
          <a:ln/>
        </p:spPr>
        <p:txBody>
          <a:bodyPr wrap="square" lIns="76200" tIns="76200" rIns="76200" bIns="76200" rtlCol="0" anchor="t"/>
          <a:lstStyle/>
          <a:p>
            <a:pPr algn="ctr" indent="0" marL="0">
              <a:lnSpc>
                <a:spcPts val="3300"/>
              </a:lnSpc>
              <a:buNone/>
            </a:pPr>
            <a:r>
              <a:rPr lang="en-US" sz="2500" b="1" dirty="0">
                <a:solidFill>
                  <a:srgbClr val="962B7C"/>
                </a:solidFill>
                <a:latin typeface="Alexandria" pitchFamily="34" charset="0"/>
                <a:ea typeface="Alexandria" pitchFamily="34" charset="-122"/>
                <a:cs typeface="Alexandria" pitchFamily="34" charset="-120"/>
              </a:rPr>
              <a:t>Bốc ngẫu nhiên từ 1 đến 10</a:t>
            </a:r>
            <a:endParaRPr lang="en-US" sz="2500" dirty="0"/>
          </a:p>
        </p:txBody>
      </p:sp>
      <p:sp>
        <p:nvSpPr>
          <p:cNvPr id="14" name="Nhãn 17"/>
          <p:cNvSpPr/>
          <p:nvPr/>
        </p:nvSpPr>
        <p:spPr>
          <a:xfrm>
            <a:off x="3502152" y="2877820"/>
            <a:ext cx="731520" cy="731520"/>
          </a:xfrm>
          <a:prstGeom prst="ellipse">
            <a:avLst/>
          </a:prstGeom>
          <a:solidFill>
            <a:srgbClr val="49B296"/>
          </a:solidFill>
          <a:ln/>
        </p:spPr>
      </p:sp>
      <p:sp>
        <p:nvSpPr>
          <p:cNvPr id="15" name="Text 13"/>
          <p:cNvSpPr txBox="1"/>
          <p:nvPr/>
        </p:nvSpPr>
        <p:spPr>
          <a:xfrm>
            <a:off x="3502152" y="2877820"/>
            <a:ext cx="731520" cy="7315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17</a:t>
            </a:r>
            <a:endParaRPr lang="en-US" sz="2400" dirty="0"/>
          </a:p>
        </p:txBody>
      </p:sp>
      <p:sp>
        <p:nvSpPr>
          <p:cNvPr id="16" name="Text 14"/>
          <p:cNvSpPr txBox="1"/>
          <p:nvPr/>
        </p:nvSpPr>
        <p:spPr>
          <a:xfrm>
            <a:off x="2404872" y="3700780"/>
            <a:ext cx="2926080" cy="581660"/>
          </a:xfrm>
          <a:prstGeom prst="rect">
            <a:avLst/>
          </a:prstGeom>
          <a:noFill/>
          <a:ln/>
        </p:spPr>
        <p:txBody>
          <a:bodyPr wrap="square" lIns="76200" tIns="76200" rIns="76200" bIns="76200" rtlCol="0" anchor="t"/>
          <a:lstStyle/>
          <a:p>
            <a:pPr algn="ctr"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+10</a:t>
            </a:r>
            <a:endParaRPr lang="en-US" sz="2600" dirty="0"/>
          </a:p>
        </p:txBody>
      </p:sp>
      <p:sp>
        <p:nvSpPr>
          <p:cNvPr id="17" name="Nhãn 27"/>
          <p:cNvSpPr/>
          <p:nvPr/>
        </p:nvSpPr>
        <p:spPr>
          <a:xfrm>
            <a:off x="5715000" y="2877820"/>
            <a:ext cx="731520" cy="731520"/>
          </a:xfrm>
          <a:prstGeom prst="ellipse">
            <a:avLst/>
          </a:prstGeom>
          <a:solidFill>
            <a:srgbClr val="FF5178"/>
          </a:solidFill>
          <a:ln/>
        </p:spPr>
      </p:sp>
      <p:sp>
        <p:nvSpPr>
          <p:cNvPr id="18" name="Text 16"/>
          <p:cNvSpPr txBox="1"/>
          <p:nvPr/>
        </p:nvSpPr>
        <p:spPr>
          <a:xfrm>
            <a:off x="5715000" y="2877820"/>
            <a:ext cx="731520" cy="7315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27</a:t>
            </a:r>
            <a:endParaRPr lang="en-US" sz="2400" dirty="0"/>
          </a:p>
        </p:txBody>
      </p:sp>
      <p:sp>
        <p:nvSpPr>
          <p:cNvPr id="19" name="Text 17"/>
          <p:cNvSpPr txBox="1"/>
          <p:nvPr/>
        </p:nvSpPr>
        <p:spPr>
          <a:xfrm>
            <a:off x="4617720" y="2204720"/>
            <a:ext cx="2926080" cy="581660"/>
          </a:xfrm>
          <a:prstGeom prst="rect">
            <a:avLst/>
          </a:prstGeom>
          <a:noFill/>
          <a:ln/>
        </p:spPr>
        <p:txBody>
          <a:bodyPr wrap="square" lIns="76200" tIns="76200" rIns="76200" bIns="76200" rtlCol="0" anchor="t"/>
          <a:lstStyle/>
          <a:p>
            <a:pPr algn="ctr"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+10</a:t>
            </a:r>
            <a:endParaRPr lang="en-US" sz="2600" dirty="0"/>
          </a:p>
        </p:txBody>
      </p:sp>
      <p:sp>
        <p:nvSpPr>
          <p:cNvPr id="20" name="Nhãn …"/>
          <p:cNvSpPr/>
          <p:nvPr/>
        </p:nvSpPr>
        <p:spPr>
          <a:xfrm>
            <a:off x="7927848" y="2877820"/>
            <a:ext cx="731520" cy="731520"/>
          </a:xfrm>
          <a:prstGeom prst="ellipse">
            <a:avLst/>
          </a:prstGeom>
          <a:solidFill>
            <a:srgbClr val="09A1E5"/>
          </a:solidFill>
          <a:ln/>
        </p:spPr>
      </p:sp>
      <p:sp>
        <p:nvSpPr>
          <p:cNvPr id="21" name="Text 19"/>
          <p:cNvSpPr txBox="1"/>
          <p:nvPr/>
        </p:nvSpPr>
        <p:spPr>
          <a:xfrm>
            <a:off x="7927848" y="2877820"/>
            <a:ext cx="731520" cy="7315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a:t>
            </a:r>
            <a:endParaRPr lang="en-US" sz="2400" dirty="0"/>
          </a:p>
        </p:txBody>
      </p:sp>
      <p:sp>
        <p:nvSpPr>
          <p:cNvPr id="22" name="Text 20"/>
          <p:cNvSpPr txBox="1"/>
          <p:nvPr/>
        </p:nvSpPr>
        <p:spPr>
          <a:xfrm>
            <a:off x="6830568" y="3700780"/>
            <a:ext cx="2926080" cy="581660"/>
          </a:xfrm>
          <a:prstGeom prst="rect">
            <a:avLst/>
          </a:prstGeom>
          <a:noFill/>
          <a:ln/>
        </p:spPr>
        <p:txBody>
          <a:bodyPr wrap="square" lIns="76200" tIns="76200" rIns="76200" bIns="76200" rtlCol="0" anchor="t"/>
          <a:lstStyle/>
          <a:p>
            <a:pPr algn="ctr"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a:t>
            </a:r>
            <a:endParaRPr lang="en-US" sz="2600" dirty="0"/>
          </a:p>
        </p:txBody>
      </p:sp>
      <p:sp>
        <p:nvSpPr>
          <p:cNvPr id="23" name="Nhãn 997"/>
          <p:cNvSpPr/>
          <p:nvPr/>
        </p:nvSpPr>
        <p:spPr>
          <a:xfrm>
            <a:off x="10140696" y="2877820"/>
            <a:ext cx="731520" cy="731520"/>
          </a:xfrm>
          <a:prstGeom prst="ellipse">
            <a:avLst/>
          </a:prstGeom>
          <a:solidFill>
            <a:srgbClr val="FF9259"/>
          </a:solidFill>
          <a:ln/>
        </p:spPr>
      </p:sp>
      <p:sp>
        <p:nvSpPr>
          <p:cNvPr id="24" name="Text 22"/>
          <p:cNvSpPr txBox="1"/>
          <p:nvPr/>
        </p:nvSpPr>
        <p:spPr>
          <a:xfrm>
            <a:off x="10140696" y="2877820"/>
            <a:ext cx="731520" cy="7315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997</a:t>
            </a:r>
            <a:endParaRPr lang="en-US" sz="2400" dirty="0"/>
          </a:p>
        </p:txBody>
      </p:sp>
      <p:sp>
        <p:nvSpPr>
          <p:cNvPr id="25" name="Text 23"/>
          <p:cNvSpPr txBox="1"/>
          <p:nvPr/>
        </p:nvSpPr>
        <p:spPr>
          <a:xfrm>
            <a:off x="8686800" y="2204720"/>
            <a:ext cx="2926080" cy="581660"/>
          </a:xfrm>
          <a:prstGeom prst="rect">
            <a:avLst/>
          </a:prstGeom>
          <a:noFill/>
          <a:ln/>
        </p:spPr>
        <p:txBody>
          <a:bodyPr wrap="square" lIns="76200" tIns="76200" rIns="76200" bIns="76200" rtlCol="0" anchor="t"/>
          <a:lstStyle/>
          <a:p>
            <a:pPr algn="ctr"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Người thứ 100</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Phân tầng: đồng nhất trong tầng, khác biệt giữa tầng</a:t>
            </a:r>
            <a:endParaRPr lang="en-US" sz="3400" dirty="0"/>
          </a:p>
        </p:txBody>
      </p:sp>
      <p:sp>
        <p:nvSpPr>
          <p:cNvPr id="6" name="Mũi tên"/>
          <p:cNvSpPr/>
          <p:nvPr/>
        </p:nvSpPr>
        <p:spPr>
          <a:xfrm>
            <a:off x="1371600" y="2240280"/>
            <a:ext cx="2865120" cy="914"/>
          </a:xfrm>
          <a:prstGeom prst="line">
            <a:avLst/>
          </a:prstGeom>
          <a:noFill/>
          <a:ln w="31750">
            <a:solidFill>
              <a:srgbClr val="5B5668"/>
            </a:solidFill>
            <a:prstDash val="solid"/>
            <a:tailEnd type="triangle"/>
          </a:ln>
        </p:spPr>
      </p:sp>
      <p:sp>
        <p:nvSpPr>
          <p:cNvPr id="7" name="Mũi tên"/>
          <p:cNvSpPr/>
          <p:nvPr/>
        </p:nvSpPr>
        <p:spPr>
          <a:xfrm>
            <a:off x="5151120" y="2240280"/>
            <a:ext cx="2865120" cy="914"/>
          </a:xfrm>
          <a:prstGeom prst="line">
            <a:avLst/>
          </a:prstGeom>
          <a:noFill/>
          <a:ln w="31750">
            <a:solidFill>
              <a:srgbClr val="5B5668"/>
            </a:solidFill>
            <a:prstDash val="solid"/>
            <a:tailEnd type="triangle"/>
          </a:ln>
        </p:spPr>
      </p:sp>
      <p:sp>
        <p:nvSpPr>
          <p:cNvPr id="8" name="Bước 1"/>
          <p:cNvSpPr/>
          <p:nvPr/>
        </p:nvSpPr>
        <p:spPr>
          <a:xfrm>
            <a:off x="502920" y="2697480"/>
            <a:ext cx="3596640" cy="2037080"/>
          </a:xfrm>
          <a:prstGeom prst="roundRect">
            <a:avLst>
              <a:gd name="adj" fmla="val 8080"/>
            </a:avLst>
          </a:prstGeom>
          <a:solidFill>
            <a:srgbClr val="E2F0E7"/>
          </a:solidFill>
          <a:ln/>
        </p:spPr>
      </p:sp>
      <p:sp>
        <p:nvSpPr>
          <p:cNvPr id="9" name="Nhãn 1"/>
          <p:cNvSpPr/>
          <p:nvPr/>
        </p:nvSpPr>
        <p:spPr>
          <a:xfrm>
            <a:off x="548640" y="1874520"/>
            <a:ext cx="731520" cy="731520"/>
          </a:xfrm>
          <a:prstGeom prst="ellipse">
            <a:avLst/>
          </a:prstGeom>
          <a:solidFill>
            <a:srgbClr val="49B296"/>
          </a:solidFill>
          <a:ln/>
        </p:spPr>
      </p:sp>
      <p:sp>
        <p:nvSpPr>
          <p:cNvPr id="10" name="Text 8"/>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1</a:t>
            </a:r>
            <a:endParaRPr lang="en-US" sz="2800" dirty="0"/>
          </a:p>
        </p:txBody>
      </p:sp>
      <p:sp>
        <p:nvSpPr>
          <p:cNvPr id="11" name="Text 9"/>
          <p:cNvSpPr txBox="1"/>
          <p:nvPr/>
        </p:nvSpPr>
        <p:spPr>
          <a:xfrm>
            <a:off x="54864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Chia tầng</a:t>
            </a:r>
            <a:endParaRPr lang="en-US" sz="2800" dirty="0"/>
          </a:p>
        </p:txBody>
      </p:sp>
      <p:sp>
        <p:nvSpPr>
          <p:cNvPr id="12" name="Text 10"/>
          <p:cNvSpPr txBox="1"/>
          <p:nvPr/>
        </p:nvSpPr>
        <p:spPr>
          <a:xfrm>
            <a:off x="548640" y="3357880"/>
            <a:ext cx="350520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Theo đặc điểm liên quan đến vấn đề</a:t>
            </a:r>
            <a:endParaRPr lang="en-US" sz="2600" dirty="0"/>
          </a:p>
        </p:txBody>
      </p:sp>
      <p:sp>
        <p:nvSpPr>
          <p:cNvPr id="13" name="Bước 2"/>
          <p:cNvSpPr/>
          <p:nvPr/>
        </p:nvSpPr>
        <p:spPr>
          <a:xfrm>
            <a:off x="4282440" y="2697480"/>
            <a:ext cx="3596640" cy="2037080"/>
          </a:xfrm>
          <a:prstGeom prst="roundRect">
            <a:avLst>
              <a:gd name="adj" fmla="val 8080"/>
            </a:avLst>
          </a:prstGeom>
          <a:solidFill>
            <a:srgbClr val="FCE2E3"/>
          </a:solidFill>
          <a:ln/>
        </p:spPr>
      </p:sp>
      <p:sp>
        <p:nvSpPr>
          <p:cNvPr id="14" name="Nhãn 2"/>
          <p:cNvSpPr/>
          <p:nvPr/>
        </p:nvSpPr>
        <p:spPr>
          <a:xfrm>
            <a:off x="4328160" y="1874520"/>
            <a:ext cx="731520" cy="731520"/>
          </a:xfrm>
          <a:prstGeom prst="ellipse">
            <a:avLst/>
          </a:prstGeom>
          <a:solidFill>
            <a:srgbClr val="FF5178"/>
          </a:solidFill>
          <a:ln/>
        </p:spPr>
      </p:sp>
      <p:sp>
        <p:nvSpPr>
          <p:cNvPr id="15" name="Text 13"/>
          <p:cNvSpPr txBox="1"/>
          <p:nvPr/>
        </p:nvSpPr>
        <p:spPr>
          <a:xfrm>
            <a:off x="432816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2</a:t>
            </a:r>
            <a:endParaRPr lang="en-US" sz="2800" dirty="0"/>
          </a:p>
        </p:txBody>
      </p:sp>
      <p:sp>
        <p:nvSpPr>
          <p:cNvPr id="16" name="Text 14"/>
          <p:cNvSpPr txBox="1"/>
          <p:nvPr/>
        </p:nvSpPr>
        <p:spPr>
          <a:xfrm>
            <a:off x="432816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Kiểm tra</a:t>
            </a:r>
            <a:endParaRPr lang="en-US" sz="2800" dirty="0"/>
          </a:p>
        </p:txBody>
      </p:sp>
      <p:sp>
        <p:nvSpPr>
          <p:cNvPr id="17" name="Text 15"/>
          <p:cNvSpPr txBox="1"/>
          <p:nvPr/>
        </p:nvSpPr>
        <p:spPr>
          <a:xfrm>
            <a:off x="4328160" y="3357880"/>
            <a:ext cx="350520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Trong tầng giống, giữa tầng khác</a:t>
            </a:r>
            <a:endParaRPr lang="en-US" sz="2600" dirty="0"/>
          </a:p>
        </p:txBody>
      </p:sp>
      <p:sp>
        <p:nvSpPr>
          <p:cNvPr id="18" name="Bước 3"/>
          <p:cNvSpPr/>
          <p:nvPr/>
        </p:nvSpPr>
        <p:spPr>
          <a:xfrm>
            <a:off x="8061960" y="2697480"/>
            <a:ext cx="3596640" cy="2037080"/>
          </a:xfrm>
          <a:prstGeom prst="roundRect">
            <a:avLst>
              <a:gd name="adj" fmla="val 8080"/>
            </a:avLst>
          </a:prstGeom>
          <a:solidFill>
            <a:srgbClr val="D9EEF2"/>
          </a:solidFill>
          <a:ln/>
        </p:spPr>
      </p:sp>
      <p:sp>
        <p:nvSpPr>
          <p:cNvPr id="19" name="Nhãn 3"/>
          <p:cNvSpPr/>
          <p:nvPr/>
        </p:nvSpPr>
        <p:spPr>
          <a:xfrm>
            <a:off x="8107680" y="1874520"/>
            <a:ext cx="731520" cy="731520"/>
          </a:xfrm>
          <a:prstGeom prst="ellipse">
            <a:avLst/>
          </a:prstGeom>
          <a:solidFill>
            <a:srgbClr val="09A1E5"/>
          </a:solidFill>
          <a:ln/>
        </p:spPr>
      </p:sp>
      <p:sp>
        <p:nvSpPr>
          <p:cNvPr id="20" name="Text 18"/>
          <p:cNvSpPr txBox="1"/>
          <p:nvPr/>
        </p:nvSpPr>
        <p:spPr>
          <a:xfrm>
            <a:off x="810768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3</a:t>
            </a:r>
            <a:endParaRPr lang="en-US" sz="2800" dirty="0"/>
          </a:p>
        </p:txBody>
      </p:sp>
      <p:sp>
        <p:nvSpPr>
          <p:cNvPr id="21" name="Text 19"/>
          <p:cNvSpPr txBox="1"/>
          <p:nvPr/>
        </p:nvSpPr>
        <p:spPr>
          <a:xfrm>
            <a:off x="810768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Chọn</a:t>
            </a:r>
            <a:endParaRPr lang="en-US" sz="2800" dirty="0"/>
          </a:p>
        </p:txBody>
      </p:sp>
      <p:sp>
        <p:nvSpPr>
          <p:cNvPr id="22" name="Text 20"/>
          <p:cNvSpPr txBox="1"/>
          <p:nvPr/>
        </p:nvSpPr>
        <p:spPr>
          <a:xfrm>
            <a:off x="8107680" y="3357880"/>
            <a:ext cx="350520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Ngẫu nhiên trong từng tầng</a:t>
            </a:r>
            <a:endParaRPr lang="en-US" sz="2600" dirty="0"/>
          </a:p>
        </p:txBody>
      </p:sp>
      <p:sp>
        <p:nvSpPr>
          <p:cNvPr id="23" name="Ghi chú nổi bật"/>
          <p:cNvSpPr/>
          <p:nvPr/>
        </p:nvSpPr>
        <p:spPr>
          <a:xfrm>
            <a:off x="548640" y="5100320"/>
            <a:ext cx="11064240" cy="685800"/>
          </a:xfrm>
          <a:prstGeom prst="roundRect">
            <a:avLst>
              <a:gd name="adj" fmla="val 24000"/>
            </a:avLst>
          </a:prstGeom>
          <a:solidFill>
            <a:srgbClr val="FCC7CF"/>
          </a:solidFill>
          <a:ln/>
        </p:spPr>
      </p:sp>
      <p:sp>
        <p:nvSpPr>
          <p:cNvPr id="24" name="Nhãn !"/>
          <p:cNvSpPr/>
          <p:nvPr/>
        </p:nvSpPr>
        <p:spPr>
          <a:xfrm>
            <a:off x="731520" y="5214620"/>
            <a:ext cx="457200" cy="457200"/>
          </a:xfrm>
          <a:prstGeom prst="ellipse">
            <a:avLst/>
          </a:prstGeom>
          <a:solidFill>
            <a:srgbClr val="FF5178"/>
          </a:solidFill>
          <a:ln/>
        </p:spPr>
      </p:sp>
      <p:sp>
        <p:nvSpPr>
          <p:cNvPr id="25" name="Text 23"/>
          <p:cNvSpPr txBox="1"/>
          <p:nvPr/>
        </p:nvSpPr>
        <p:spPr>
          <a:xfrm>
            <a:off x="731520" y="521462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6" name="Text 24"/>
          <p:cNvSpPr txBox="1"/>
          <p:nvPr/>
        </p:nvSpPr>
        <p:spPr>
          <a:xfrm>
            <a:off x="1325880" y="510032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Thường chính xác hơn ngẫu nhiên đơn giản cùng cỡ mẫu</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Phân bổ tỷ lệ giữ cơ cấu; phân bổ không tỷ lệ để đủ người so sánh</a:t>
            </a:r>
            <a:endParaRPr lang="en-US" sz="3400" dirty="0"/>
          </a:p>
        </p:txBody>
      </p:sp>
      <p:graphicFrame>
        <p:nvGraphicFramePr>
          <p:cNvPr id="32"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766060"/>
                <a:gridCol w="2766060"/>
                <a:gridCol w="2766060"/>
                <a:gridCol w="2766060"/>
              </a:tblGrid>
              <a:tr h="524256">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Tầng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Số SV</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Tỷ lệ</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Chia đều</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Năm 1</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800 (40%)</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80</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50</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Năm 2</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600 (30%)</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60</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50</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Năm 3</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400 (20%)</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40</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50</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Năm 4</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200 (10%)</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20</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50</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Tổng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2.000</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200</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200</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bl>
          </a:graphicData>
        </a:graphic>
      </p:graphicFrame>
      <p:sp>
        <p:nvSpPr>
          <p:cNvPr id="7" name="Ghi chú nổi bật"/>
          <p:cNvSpPr/>
          <p:nvPr/>
        </p:nvSpPr>
        <p:spPr>
          <a:xfrm>
            <a:off x="548640" y="5394960"/>
            <a:ext cx="11064240" cy="685800"/>
          </a:xfrm>
          <a:prstGeom prst="roundRect">
            <a:avLst>
              <a:gd name="adj" fmla="val 24000"/>
            </a:avLst>
          </a:prstGeom>
          <a:solidFill>
            <a:srgbClr val="FCDBC5"/>
          </a:solidFill>
          <a:ln/>
        </p:spPr>
      </p:sp>
      <p:sp>
        <p:nvSpPr>
          <p:cNvPr id="8" name="Nhãn !"/>
          <p:cNvSpPr/>
          <p:nvPr/>
        </p:nvSpPr>
        <p:spPr>
          <a:xfrm>
            <a:off x="731520" y="5509260"/>
            <a:ext cx="457200" cy="457200"/>
          </a:xfrm>
          <a:prstGeom prst="ellipse">
            <a:avLst/>
          </a:prstGeom>
          <a:solidFill>
            <a:srgbClr val="FF9259"/>
          </a:solidFill>
          <a:ln/>
        </p:spPr>
      </p:sp>
      <p:sp>
        <p:nvSpPr>
          <p:cNvPr id="9"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Sinh viên một khoa ở UEF (giả định): N = 2.000, n = 200</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Theo nhóm: chọn vài nhóm có sẵn thay vì đi khắp nơi</a:t>
            </a:r>
            <a:endParaRPr lang="en-US" sz="3400" dirty="0"/>
          </a:p>
        </p:txBody>
      </p:sp>
      <p:sp>
        <p:nvSpPr>
          <p:cNvPr id="6" name="Thẻ Có sẵn"/>
          <p:cNvSpPr/>
          <p:nvPr/>
        </p:nvSpPr>
        <p:spPr>
          <a:xfrm>
            <a:off x="548640" y="1783080"/>
            <a:ext cx="3505200" cy="2311400"/>
          </a:xfrm>
          <a:prstGeom prst="roundRect">
            <a:avLst>
              <a:gd name="adj" fmla="val 7121"/>
            </a:avLst>
          </a:prstGeom>
          <a:solidFill>
            <a:srgbClr val="CFEAF1"/>
          </a:solidFill>
          <a:ln/>
        </p:spPr>
      </p:sp>
      <p:sp>
        <p:nvSpPr>
          <p:cNvPr id="7" name="Nhãn 1"/>
          <p:cNvSpPr/>
          <p:nvPr/>
        </p:nvSpPr>
        <p:spPr>
          <a:xfrm>
            <a:off x="713232" y="1947672"/>
            <a:ext cx="548640" cy="548640"/>
          </a:xfrm>
          <a:prstGeom prst="ellipse">
            <a:avLst/>
          </a:prstGeom>
          <a:solidFill>
            <a:srgbClr val="09A1E5"/>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Có sẵn</a:t>
            </a:r>
            <a:endParaRPr lang="en-US" sz="2800" dirty="0"/>
          </a:p>
        </p:txBody>
      </p:sp>
      <p:sp>
        <p:nvSpPr>
          <p:cNvPr id="10" name="Text 8"/>
          <p:cNvSpPr txBox="1"/>
          <p:nvPr/>
        </p:nvSpPr>
        <p:spPr>
          <a:xfrm>
            <a:off x="685800" y="2580640"/>
            <a:ext cx="3230880" cy="14681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Lớp học, khu phố, cửa hàng</a:t>
            </a:r>
            <a:endParaRPr lang="en-US" sz="2600" dirty="0"/>
          </a:p>
        </p:txBody>
      </p:sp>
      <p:sp>
        <p:nvSpPr>
          <p:cNvPr id="11" name="Thẻ Một bước"/>
          <p:cNvSpPr/>
          <p:nvPr/>
        </p:nvSpPr>
        <p:spPr>
          <a:xfrm>
            <a:off x="4328160" y="1783080"/>
            <a:ext cx="3505200" cy="2311400"/>
          </a:xfrm>
          <a:prstGeom prst="roundRect">
            <a:avLst>
              <a:gd name="adj" fmla="val 7121"/>
            </a:avLst>
          </a:prstGeom>
          <a:solidFill>
            <a:srgbClr val="FCE7D8"/>
          </a:solidFill>
          <a:ln/>
        </p:spPr>
      </p:sp>
      <p:sp>
        <p:nvSpPr>
          <p:cNvPr id="12" name="Nhãn 2"/>
          <p:cNvSpPr/>
          <p:nvPr/>
        </p:nvSpPr>
        <p:spPr>
          <a:xfrm>
            <a:off x="4492752" y="1947672"/>
            <a:ext cx="548640" cy="548640"/>
          </a:xfrm>
          <a:prstGeom prst="ellipse">
            <a:avLst/>
          </a:prstGeom>
          <a:solidFill>
            <a:srgbClr val="FF9259"/>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Một bước</a:t>
            </a:r>
            <a:endParaRPr lang="en-US" sz="2800" dirty="0"/>
          </a:p>
        </p:txBody>
      </p:sp>
      <p:sp>
        <p:nvSpPr>
          <p:cNvPr id="15" name="Text 13"/>
          <p:cNvSpPr txBox="1"/>
          <p:nvPr/>
        </p:nvSpPr>
        <p:spPr>
          <a:xfrm>
            <a:off x="4465320" y="2580640"/>
            <a:ext cx="3230880" cy="14681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Hỏi tất cả trong nhóm được chọn</a:t>
            </a:r>
            <a:endParaRPr lang="en-US" sz="2600" dirty="0"/>
          </a:p>
        </p:txBody>
      </p:sp>
      <p:sp>
        <p:nvSpPr>
          <p:cNvPr id="16" name="Thẻ Hai bước"/>
          <p:cNvSpPr/>
          <p:nvPr/>
        </p:nvSpPr>
        <p:spPr>
          <a:xfrm>
            <a:off x="8107680" y="1783080"/>
            <a:ext cx="3505200" cy="2311400"/>
          </a:xfrm>
          <a:prstGeom prst="roundRect">
            <a:avLst>
              <a:gd name="adj" fmla="val 7121"/>
            </a:avLst>
          </a:prstGeom>
          <a:solidFill>
            <a:srgbClr val="E9D5DE"/>
          </a:solidFill>
          <a:ln/>
        </p:spPr>
      </p:sp>
      <p:sp>
        <p:nvSpPr>
          <p:cNvPr id="17" name="Nhãn 3"/>
          <p:cNvSpPr/>
          <p:nvPr/>
        </p:nvSpPr>
        <p:spPr>
          <a:xfrm>
            <a:off x="8272272" y="1947672"/>
            <a:ext cx="548640" cy="548640"/>
          </a:xfrm>
          <a:prstGeom prst="ellipse">
            <a:avLst/>
          </a:prstGeom>
          <a:solidFill>
            <a:srgbClr val="962B7C"/>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Hai bước</a:t>
            </a:r>
            <a:endParaRPr lang="en-US" sz="2800" dirty="0"/>
          </a:p>
        </p:txBody>
      </p:sp>
      <p:sp>
        <p:nvSpPr>
          <p:cNvPr id="20" name="Text 18"/>
          <p:cNvSpPr txBox="1"/>
          <p:nvPr/>
        </p:nvSpPr>
        <p:spPr>
          <a:xfrm>
            <a:off x="8244840" y="2580640"/>
            <a:ext cx="3230880" cy="14681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Chọn ngẫu nhiên tiếp trong nhóm</a:t>
            </a:r>
            <a:endParaRPr lang="en-US" sz="2600" dirty="0"/>
          </a:p>
        </p:txBody>
      </p:sp>
      <p:sp>
        <p:nvSpPr>
          <p:cNvPr id="21" name="Ghi chú nổi bật"/>
          <p:cNvSpPr/>
          <p:nvPr/>
        </p:nvSpPr>
        <p:spPr>
          <a:xfrm>
            <a:off x="548640" y="4460240"/>
            <a:ext cx="11064240" cy="685800"/>
          </a:xfrm>
          <a:prstGeom prst="roundRect">
            <a:avLst>
              <a:gd name="adj" fmla="val 24000"/>
            </a:avLst>
          </a:prstGeom>
          <a:solidFill>
            <a:srgbClr val="FCEEBC"/>
          </a:solidFill>
          <a:ln/>
        </p:spPr>
      </p:sp>
      <p:sp>
        <p:nvSpPr>
          <p:cNvPr id="22" name="Nhãn !"/>
          <p:cNvSpPr/>
          <p:nvPr/>
        </p:nvSpPr>
        <p:spPr>
          <a:xfrm>
            <a:off x="731520" y="4574540"/>
            <a:ext cx="457200" cy="457200"/>
          </a:xfrm>
          <a:prstGeom prst="ellipse">
            <a:avLst/>
          </a:prstGeom>
          <a:solidFill>
            <a:srgbClr val="FFD23B"/>
          </a:solidFill>
          <a:ln/>
        </p:spPr>
      </p:sp>
      <p:sp>
        <p:nvSpPr>
          <p:cNvPr id="23" name="Text 21"/>
          <p:cNvSpPr txBox="1"/>
          <p:nvPr/>
        </p:nvSpPr>
        <p:spPr>
          <a:xfrm>
            <a:off x="731520" y="457454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4" name="Text 22"/>
          <p:cNvSpPr txBox="1"/>
          <p:nvPr/>
        </p:nvSpPr>
        <p:spPr>
          <a:xfrm>
            <a:off x="1325880" y="446024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Mỗi nhóm là một đám đông thu nhỏ, đa dạng</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Phân tầng lấy một ít từ mọi tầng; theo nhóm lấy tất cả từ vài nhóm</a:t>
            </a:r>
            <a:endParaRPr lang="en-US" sz="3400" dirty="0"/>
          </a:p>
        </p:txBody>
      </p:sp>
      <p:graphicFrame>
        <p:nvGraphicFramePr>
          <p:cNvPr id="34"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3326549"/>
                <a:gridCol w="3999655"/>
                <a:gridCol w="3738036"/>
              </a:tblGrid>
              <a:tr h="524256">
                <a:tc>
                  <a:txBody>
                    <a:bodyPr/>
                    <a:lstStyle/>
                    <a:p>
                      <a:pPr indent="0" marL="0">
                        <a:lnSpc>
                          <a:spcPts val="3100"/>
                        </a:lnSpc>
                        <a:buNone/>
                      </a:pP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5178"/>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Phân tầng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5178"/>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Theo nhóm</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5178"/>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Bên trong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Đồng nhất</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Đa dạng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Giữa các nhóm</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Khác biệt</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Tương tự nhau</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Chọn</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Từ </a:t>
                      </a:r>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mọi</a:t>
                      </a:r>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tầng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Chỉ </a:t>
                      </a:r>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một số</a:t>
                      </a:r>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nhóm</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Mục tiêu</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Hiệu quả thống kê</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Hiệu quả kinh tế</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r>
            </a:tbl>
          </a:graphicData>
        </a:graphic>
      </p:graphicFrame>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E2C6D6"/>
          </a:solidFill>
          <a:ln/>
        </p:spPr>
      </p:sp>
      <p:sp>
        <p:nvSpPr>
          <p:cNvPr id="3" name="Nhãn S6"/>
          <p:cNvSpPr/>
          <p:nvPr/>
        </p:nvSpPr>
        <p:spPr>
          <a:xfrm>
            <a:off x="822960" y="2240280"/>
            <a:ext cx="2377440" cy="2377440"/>
          </a:xfrm>
          <a:prstGeom prst="ellipse">
            <a:avLst/>
          </a:prstGeom>
          <a:solidFill>
            <a:srgbClr val="962B7C"/>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FFFFFF"/>
                </a:solidFill>
                <a:latin typeface="Alexandria" pitchFamily="34" charset="0"/>
                <a:ea typeface="Alexandria" pitchFamily="34" charset="-122"/>
                <a:cs typeface="Alexandria" pitchFamily="34" charset="-120"/>
              </a:rPr>
              <a:t>S6</a:t>
            </a:r>
            <a:endParaRPr lang="en-US" sz="6000" dirty="0"/>
          </a:p>
        </p:txBody>
      </p:sp>
      <p:sp>
        <p:nvSpPr>
          <p:cNvPr id="5" name="Trang trí"/>
          <p:cNvSpPr/>
          <p:nvPr/>
        </p:nvSpPr>
        <p:spPr>
          <a:xfrm>
            <a:off x="10881360" y="457200"/>
            <a:ext cx="822960" cy="822960"/>
          </a:xfrm>
          <a:prstGeom prst="ellipse">
            <a:avLst/>
          </a:prstGeom>
          <a:solidFill>
            <a:srgbClr val="49B296"/>
          </a:solidFill>
          <a:ln/>
        </p:spPr>
      </p:sp>
      <p:sp>
        <p:nvSpPr>
          <p:cNvPr id="6" name="Trang trí"/>
          <p:cNvSpPr/>
          <p:nvPr/>
        </p:nvSpPr>
        <p:spPr>
          <a:xfrm>
            <a:off x="10241280" y="4480560"/>
            <a:ext cx="1188720" cy="1188720"/>
          </a:xfrm>
          <a:prstGeom prst="ellipse">
            <a:avLst/>
          </a:prstGeom>
          <a:solidFill>
            <a:srgbClr val="FF5178"/>
          </a:solidFill>
          <a:ln/>
        </p:spPr>
      </p:sp>
      <p:sp>
        <p:nvSpPr>
          <p:cNvPr id="7" name="Trang trí"/>
          <p:cNvSpPr/>
          <p:nvPr/>
        </p:nvSpPr>
        <p:spPr>
          <a:xfrm>
            <a:off x="9784080" y="5760720"/>
            <a:ext cx="365760" cy="365760"/>
          </a:xfrm>
          <a:prstGeom prst="ellipse">
            <a:avLst/>
          </a:prstGeom>
          <a:solidFill>
            <a:srgbClr val="09A1E5"/>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80–95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Phi xác suất; sai lệch; giới hạn khái quát hóa</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Phi xác suất: nhanh, rẻ — nhưng không có cơ sở thống kê để khái quát hóa</a:t>
            </a:r>
            <a:endParaRPr lang="en-US" sz="3400" dirty="0"/>
          </a:p>
        </p:txBody>
      </p:sp>
      <p:sp>
        <p:nvSpPr>
          <p:cNvPr id="6" name="Khung nhận định"/>
          <p:cNvSpPr/>
          <p:nvPr/>
        </p:nvSpPr>
        <p:spPr>
          <a:xfrm>
            <a:off x="548640" y="1783080"/>
            <a:ext cx="11064240" cy="4297680"/>
          </a:xfrm>
          <a:prstGeom prst="roundRect">
            <a:avLst>
              <a:gd name="adj" fmla="val 6383"/>
            </a:avLst>
          </a:prstGeom>
          <a:solidFill>
            <a:srgbClr val="D7ECE1"/>
          </a:solidFill>
          <a:ln/>
        </p:spPr>
      </p:sp>
      <p:sp>
        <p:nvSpPr>
          <p:cNvPr id="7" name="Nhãn !"/>
          <p:cNvSpPr/>
          <p:nvPr/>
        </p:nvSpPr>
        <p:spPr>
          <a:xfrm>
            <a:off x="960120" y="3200400"/>
            <a:ext cx="1463040" cy="1463040"/>
          </a:xfrm>
          <a:prstGeom prst="ellipse">
            <a:avLst/>
          </a:prstGeom>
          <a:solidFill>
            <a:srgbClr val="49B296"/>
          </a:solidFill>
          <a:ln/>
        </p:spPr>
      </p:sp>
      <p:sp>
        <p:nvSpPr>
          <p:cNvPr id="8" name="Text 6"/>
          <p:cNvSpPr txBox="1"/>
          <p:nvPr/>
        </p:nvSpPr>
        <p:spPr>
          <a:xfrm>
            <a:off x="960120" y="3200400"/>
            <a:ext cx="1463040" cy="1463040"/>
          </a:xfrm>
          <a:prstGeom prst="rect">
            <a:avLst/>
          </a:prstGeom>
          <a:noFill/>
          <a:ln/>
        </p:spPr>
        <p:txBody>
          <a:bodyPr wrap="square" lIns="0" tIns="0" rIns="0" bIns="0" rtlCol="0" anchor="ctr"/>
          <a:lstStyle/>
          <a:p>
            <a:pPr algn="ctr" indent="0" marL="0">
              <a:buNone/>
            </a:pPr>
            <a:r>
              <a:rPr lang="en-US" sz="6600" b="1" dirty="0">
                <a:solidFill>
                  <a:srgbClr val="2E2A3A"/>
                </a:solidFill>
                <a:latin typeface="Alexandria" pitchFamily="34" charset="0"/>
                <a:ea typeface="Alexandria" pitchFamily="34" charset="-122"/>
                <a:cs typeface="Alexandria" pitchFamily="34" charset="-120"/>
              </a:rPr>
              <a:t>!</a:t>
            </a:r>
            <a:endParaRPr lang="en-US" sz="6600" dirty="0"/>
          </a:p>
        </p:txBody>
      </p:sp>
      <p:sp>
        <p:nvSpPr>
          <p:cNvPr id="9" name="Text 7"/>
          <p:cNvSpPr txBox="1"/>
          <p:nvPr/>
        </p:nvSpPr>
        <p:spPr>
          <a:xfrm>
            <a:off x="2834640" y="2336800"/>
            <a:ext cx="8412480" cy="2133600"/>
          </a:xfrm>
          <a:prstGeom prst="rect">
            <a:avLst/>
          </a:prstGeom>
          <a:noFill/>
          <a:ln/>
        </p:spPr>
        <p:txBody>
          <a:bodyPr wrap="square" lIns="76200" tIns="76200" rIns="76200" bIns="76200" rtlCol="0" anchor="t"/>
          <a:lstStyle/>
          <a:p>
            <a:pPr algn="l" indent="0" marL="0">
              <a:lnSpc>
                <a:spcPts val="5200"/>
              </a:lnSpc>
              <a:buNone/>
            </a:pPr>
            <a:r>
              <a:rPr lang="en-US" sz="4000" b="1" dirty="0">
                <a:solidFill>
                  <a:srgbClr val="2E2A3A"/>
                </a:solidFill>
                <a:latin typeface="Alexandria" pitchFamily="34" charset="0"/>
                <a:ea typeface="Alexandria" pitchFamily="34" charset="-122"/>
                <a:cs typeface="Alexandria" pitchFamily="34" charset="-120"/>
              </a:rPr>
              <a:t>Không tính được sai số chọn mẫu; không khái quát hóa thống kê cho đám đông</a:t>
            </a:r>
            <a:endParaRPr lang="en-US" sz="4000" dirty="0"/>
          </a:p>
        </p:txBody>
      </p:sp>
      <p:sp>
        <p:nvSpPr>
          <p:cNvPr id="10" name="Text 8"/>
          <p:cNvSpPr txBox="1"/>
          <p:nvPr/>
        </p:nvSpPr>
        <p:spPr>
          <a:xfrm>
            <a:off x="2834640" y="4470400"/>
            <a:ext cx="8412480" cy="105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5B5668"/>
                </a:solidFill>
                <a:latin typeface="Alexandria" pitchFamily="34" charset="0"/>
                <a:ea typeface="Alexandria" pitchFamily="34" charset="-122"/>
                <a:cs typeface="Alexandria" pitchFamily="34" charset="-120"/>
              </a:rPr>
              <a:t>Dùng nhiều trong nghiên cứu ứng dụng vì nhanh, rẻ, khả thi</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Thuận tiện hỏi người dễ gặp; phán đoán hỏi người hiểu chuyện nhất</a:t>
            </a:r>
            <a:endParaRPr lang="en-US" sz="3400" dirty="0"/>
          </a:p>
        </p:txBody>
      </p:sp>
      <p:sp>
        <p:nvSpPr>
          <p:cNvPr id="6" name="Tiêu đề cột"/>
          <p:cNvSpPr/>
          <p:nvPr/>
        </p:nvSpPr>
        <p:spPr>
          <a:xfrm>
            <a:off x="548640" y="1783080"/>
            <a:ext cx="5394960" cy="706120"/>
          </a:xfrm>
          <a:prstGeom prst="roundRect">
            <a:avLst>
              <a:gd name="adj" fmla="val 23309"/>
            </a:avLst>
          </a:prstGeom>
          <a:solidFill>
            <a:srgbClr val="09A1E5"/>
          </a:solidFill>
          <a:ln/>
        </p:spPr>
      </p:sp>
      <p:sp>
        <p:nvSpPr>
          <p:cNvPr id="7" name="Text 5"/>
          <p:cNvSpPr txBox="1"/>
          <p:nvPr/>
        </p:nvSpPr>
        <p:spPr>
          <a:xfrm>
            <a:off x="68580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Thuận tiện</a:t>
            </a:r>
            <a:endParaRPr lang="en-US" sz="2800" dirty="0"/>
          </a:p>
        </p:txBody>
      </p:sp>
      <p:sp>
        <p:nvSpPr>
          <p:cNvPr id="8" name="Nội dung cột"/>
          <p:cNvSpPr/>
          <p:nvPr/>
        </p:nvSpPr>
        <p:spPr>
          <a:xfrm>
            <a:off x="548640" y="2626360"/>
            <a:ext cx="5394960" cy="3454400"/>
          </a:xfrm>
          <a:prstGeom prst="roundRect">
            <a:avLst>
              <a:gd name="adj" fmla="val 4765"/>
            </a:avLst>
          </a:prstGeom>
          <a:solidFill>
            <a:srgbClr val="D4ECF2"/>
          </a:solidFill>
          <a:ln/>
        </p:spPr>
      </p:sp>
      <p:sp>
        <p:nvSpPr>
          <p:cNvPr id="9" name="Dấu đầu dòng"/>
          <p:cNvSpPr/>
          <p:nvPr/>
        </p:nvSpPr>
        <p:spPr>
          <a:xfrm>
            <a:off x="822960" y="2946400"/>
            <a:ext cx="182880" cy="182880"/>
          </a:xfrm>
          <a:prstGeom prst="ellipse">
            <a:avLst/>
          </a:prstGeom>
          <a:solidFill>
            <a:srgbClr val="09A1E5"/>
          </a:solidFill>
          <a:ln/>
        </p:spPr>
      </p:sp>
      <p:sp>
        <p:nvSpPr>
          <p:cNvPr id="10" name="Text 8"/>
          <p:cNvSpPr txBox="1"/>
          <p:nvPr/>
        </p:nvSpPr>
        <p:spPr>
          <a:xfrm>
            <a:off x="1097280" y="2763520"/>
            <a:ext cx="4709160" cy="54864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Bạn bè, người qua đường</a:t>
            </a:r>
            <a:endParaRPr lang="en-US" sz="2400" dirty="0"/>
          </a:p>
        </p:txBody>
      </p:sp>
      <p:sp>
        <p:nvSpPr>
          <p:cNvPr id="11" name="Dấu đầu dòng"/>
          <p:cNvSpPr/>
          <p:nvPr/>
        </p:nvSpPr>
        <p:spPr>
          <a:xfrm>
            <a:off x="822960" y="3632200"/>
            <a:ext cx="182880" cy="182880"/>
          </a:xfrm>
          <a:prstGeom prst="ellipse">
            <a:avLst/>
          </a:prstGeom>
          <a:solidFill>
            <a:srgbClr val="09A1E5"/>
          </a:solidFill>
          <a:ln/>
        </p:spPr>
      </p:sp>
      <p:sp>
        <p:nvSpPr>
          <p:cNvPr id="12" name="Text 10"/>
          <p:cNvSpPr txBox="1"/>
          <p:nvPr/>
        </p:nvSpPr>
        <p:spPr>
          <a:xfrm>
            <a:off x="1097280" y="3449320"/>
            <a:ext cx="4709160" cy="54864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Nhóm mạng xã hội</a:t>
            </a:r>
            <a:endParaRPr lang="en-US" sz="2400" dirty="0"/>
          </a:p>
        </p:txBody>
      </p:sp>
      <p:sp>
        <p:nvSpPr>
          <p:cNvPr id="13" name="Dấu đầu dòng"/>
          <p:cNvSpPr/>
          <p:nvPr/>
        </p:nvSpPr>
        <p:spPr>
          <a:xfrm>
            <a:off x="822960" y="4318000"/>
            <a:ext cx="182880" cy="182880"/>
          </a:xfrm>
          <a:prstGeom prst="ellipse">
            <a:avLst/>
          </a:prstGeom>
          <a:solidFill>
            <a:srgbClr val="09A1E5"/>
          </a:solidFill>
          <a:ln/>
        </p:spPr>
      </p:sp>
      <p:sp>
        <p:nvSpPr>
          <p:cNvPr id="14" name="Text 12"/>
          <p:cNvSpPr txBox="1"/>
          <p:nvPr/>
        </p:nvSpPr>
        <p:spPr>
          <a:xfrm>
            <a:off x="1097280" y="4135120"/>
            <a:ext cx="470916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Dễ thiên lệch, giống người hỏi</a:t>
            </a:r>
            <a:endParaRPr lang="en-US" sz="2400" dirty="0"/>
          </a:p>
        </p:txBody>
      </p:sp>
      <p:sp>
        <p:nvSpPr>
          <p:cNvPr id="15" name="Tiêu đề cột"/>
          <p:cNvSpPr/>
          <p:nvPr/>
        </p:nvSpPr>
        <p:spPr>
          <a:xfrm>
            <a:off x="6217920" y="1783080"/>
            <a:ext cx="5394960" cy="706120"/>
          </a:xfrm>
          <a:prstGeom prst="roundRect">
            <a:avLst>
              <a:gd name="adj" fmla="val 23309"/>
            </a:avLst>
          </a:prstGeom>
          <a:solidFill>
            <a:srgbClr val="962B7C"/>
          </a:solidFill>
          <a:ln/>
        </p:spPr>
      </p:sp>
      <p:sp>
        <p:nvSpPr>
          <p:cNvPr id="16" name="Text 14"/>
          <p:cNvSpPr txBox="1"/>
          <p:nvPr/>
        </p:nvSpPr>
        <p:spPr>
          <a:xfrm>
            <a:off x="635508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FFFFFF"/>
                </a:solidFill>
                <a:latin typeface="Alexandria" pitchFamily="34" charset="0"/>
                <a:ea typeface="Alexandria" pitchFamily="34" charset="-122"/>
                <a:cs typeface="Alexandria" pitchFamily="34" charset="-120"/>
              </a:rPr>
              <a:t>Phán đoán</a:t>
            </a:r>
            <a:endParaRPr lang="en-US" sz="2800" dirty="0"/>
          </a:p>
        </p:txBody>
      </p:sp>
      <p:sp>
        <p:nvSpPr>
          <p:cNvPr id="17" name="Nội dung cột"/>
          <p:cNvSpPr/>
          <p:nvPr/>
        </p:nvSpPr>
        <p:spPr>
          <a:xfrm>
            <a:off x="6217920" y="2626360"/>
            <a:ext cx="5394960" cy="3454400"/>
          </a:xfrm>
          <a:prstGeom prst="roundRect">
            <a:avLst>
              <a:gd name="adj" fmla="val 4765"/>
            </a:avLst>
          </a:prstGeom>
          <a:solidFill>
            <a:srgbClr val="EBD9E1"/>
          </a:solidFill>
          <a:ln/>
        </p:spPr>
      </p:sp>
      <p:sp>
        <p:nvSpPr>
          <p:cNvPr id="18" name="Dấu đầu dòng"/>
          <p:cNvSpPr/>
          <p:nvPr/>
        </p:nvSpPr>
        <p:spPr>
          <a:xfrm>
            <a:off x="6492240" y="2946400"/>
            <a:ext cx="182880" cy="182880"/>
          </a:xfrm>
          <a:prstGeom prst="ellipse">
            <a:avLst/>
          </a:prstGeom>
          <a:solidFill>
            <a:srgbClr val="962B7C"/>
          </a:solidFill>
          <a:ln/>
        </p:spPr>
      </p:sp>
      <p:sp>
        <p:nvSpPr>
          <p:cNvPr id="19" name="Text 17"/>
          <p:cNvSpPr txBox="1"/>
          <p:nvPr/>
        </p:nvSpPr>
        <p:spPr>
          <a:xfrm>
            <a:off x="6766560" y="2763520"/>
            <a:ext cx="470916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Chuyên gia, khách trung thành</a:t>
            </a:r>
            <a:endParaRPr lang="en-US" sz="2400" dirty="0"/>
          </a:p>
        </p:txBody>
      </p:sp>
      <p:sp>
        <p:nvSpPr>
          <p:cNvPr id="20" name="Dấu đầu dòng"/>
          <p:cNvSpPr/>
          <p:nvPr/>
        </p:nvSpPr>
        <p:spPr>
          <a:xfrm>
            <a:off x="6492240" y="4028440"/>
            <a:ext cx="182880" cy="182880"/>
          </a:xfrm>
          <a:prstGeom prst="ellipse">
            <a:avLst/>
          </a:prstGeom>
          <a:solidFill>
            <a:srgbClr val="962B7C"/>
          </a:solidFill>
          <a:ln/>
        </p:spPr>
      </p:sp>
      <p:sp>
        <p:nvSpPr>
          <p:cNvPr id="21" name="Text 19"/>
          <p:cNvSpPr txBox="1"/>
          <p:nvPr/>
        </p:nvSpPr>
        <p:spPr>
          <a:xfrm>
            <a:off x="6766560" y="3845560"/>
            <a:ext cx="4709160" cy="54864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Người phù hợp nhất mục tiêu</a:t>
            </a:r>
            <a:endParaRPr lang="en-US" sz="2400" dirty="0"/>
          </a:p>
        </p:txBody>
      </p:sp>
      <p:sp>
        <p:nvSpPr>
          <p:cNvPr id="22" name="Dấu đầu dòng"/>
          <p:cNvSpPr/>
          <p:nvPr/>
        </p:nvSpPr>
        <p:spPr>
          <a:xfrm>
            <a:off x="6492240" y="4714240"/>
            <a:ext cx="182880" cy="182880"/>
          </a:xfrm>
          <a:prstGeom prst="ellipse">
            <a:avLst/>
          </a:prstGeom>
          <a:solidFill>
            <a:srgbClr val="962B7C"/>
          </a:solidFill>
          <a:ln/>
        </p:spPr>
      </p:sp>
      <p:sp>
        <p:nvSpPr>
          <p:cNvPr id="23" name="Text 21"/>
          <p:cNvSpPr txBox="1"/>
          <p:nvPr/>
        </p:nvSpPr>
        <p:spPr>
          <a:xfrm>
            <a:off x="6766560" y="4531360"/>
            <a:ext cx="4709160" cy="54864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Thường dùng trong định tính</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Phát triển mầm: nhờ người này giới thiệu người kia</a:t>
            </a:r>
            <a:endParaRPr lang="en-US" sz="3400" dirty="0"/>
          </a:p>
        </p:txBody>
      </p:sp>
      <p:sp>
        <p:nvSpPr>
          <p:cNvPr id="6" name="Mũi tên"/>
          <p:cNvSpPr/>
          <p:nvPr/>
        </p:nvSpPr>
        <p:spPr>
          <a:xfrm>
            <a:off x="1371600" y="2240280"/>
            <a:ext cx="2865120" cy="914"/>
          </a:xfrm>
          <a:prstGeom prst="line">
            <a:avLst/>
          </a:prstGeom>
          <a:noFill/>
          <a:ln w="31750">
            <a:solidFill>
              <a:srgbClr val="5B5668"/>
            </a:solidFill>
            <a:prstDash val="solid"/>
            <a:tailEnd type="triangle"/>
          </a:ln>
        </p:spPr>
      </p:sp>
      <p:sp>
        <p:nvSpPr>
          <p:cNvPr id="7" name="Mũi tên"/>
          <p:cNvSpPr/>
          <p:nvPr/>
        </p:nvSpPr>
        <p:spPr>
          <a:xfrm>
            <a:off x="5151120" y="2240280"/>
            <a:ext cx="2865120" cy="914"/>
          </a:xfrm>
          <a:prstGeom prst="line">
            <a:avLst/>
          </a:prstGeom>
          <a:noFill/>
          <a:ln w="31750">
            <a:solidFill>
              <a:srgbClr val="5B5668"/>
            </a:solidFill>
            <a:prstDash val="solid"/>
            <a:tailEnd type="triangle"/>
          </a:ln>
        </p:spPr>
      </p:sp>
      <p:sp>
        <p:nvSpPr>
          <p:cNvPr id="8" name="Bước 1"/>
          <p:cNvSpPr/>
          <p:nvPr/>
        </p:nvSpPr>
        <p:spPr>
          <a:xfrm>
            <a:off x="502920" y="2697480"/>
            <a:ext cx="3596640" cy="2037080"/>
          </a:xfrm>
          <a:prstGeom prst="roundRect">
            <a:avLst>
              <a:gd name="adj" fmla="val 8080"/>
            </a:avLst>
          </a:prstGeom>
          <a:solidFill>
            <a:srgbClr val="FCE2E3"/>
          </a:solidFill>
          <a:ln/>
        </p:spPr>
      </p:sp>
      <p:sp>
        <p:nvSpPr>
          <p:cNvPr id="9" name="Nhãn 1"/>
          <p:cNvSpPr/>
          <p:nvPr/>
        </p:nvSpPr>
        <p:spPr>
          <a:xfrm>
            <a:off x="548640" y="1874520"/>
            <a:ext cx="731520" cy="731520"/>
          </a:xfrm>
          <a:prstGeom prst="ellipse">
            <a:avLst/>
          </a:prstGeom>
          <a:solidFill>
            <a:srgbClr val="FF5178"/>
          </a:solidFill>
          <a:ln/>
        </p:spPr>
      </p:sp>
      <p:sp>
        <p:nvSpPr>
          <p:cNvPr id="10" name="Text 8"/>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1</a:t>
            </a:r>
            <a:endParaRPr lang="en-US" sz="2800" dirty="0"/>
          </a:p>
        </p:txBody>
      </p:sp>
      <p:sp>
        <p:nvSpPr>
          <p:cNvPr id="11" name="Text 9"/>
          <p:cNvSpPr txBox="1"/>
          <p:nvPr/>
        </p:nvSpPr>
        <p:spPr>
          <a:xfrm>
            <a:off x="54864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Người đầu tiên</a:t>
            </a:r>
            <a:endParaRPr lang="en-US" sz="2800" dirty="0"/>
          </a:p>
        </p:txBody>
      </p:sp>
      <p:sp>
        <p:nvSpPr>
          <p:cNvPr id="12" name="Text 10"/>
          <p:cNvSpPr txBox="1"/>
          <p:nvPr/>
        </p:nvSpPr>
        <p:spPr>
          <a:xfrm>
            <a:off x="548640" y="3357880"/>
            <a:ext cx="350520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Thường chọn có chủ đích</a:t>
            </a:r>
            <a:endParaRPr lang="en-US" sz="2600" dirty="0"/>
          </a:p>
        </p:txBody>
      </p:sp>
      <p:sp>
        <p:nvSpPr>
          <p:cNvPr id="13" name="Bước 2"/>
          <p:cNvSpPr/>
          <p:nvPr/>
        </p:nvSpPr>
        <p:spPr>
          <a:xfrm>
            <a:off x="4282440" y="2697480"/>
            <a:ext cx="3596640" cy="2037080"/>
          </a:xfrm>
          <a:prstGeom prst="roundRect">
            <a:avLst>
              <a:gd name="adj" fmla="val 8080"/>
            </a:avLst>
          </a:prstGeom>
          <a:solidFill>
            <a:srgbClr val="D9EEF2"/>
          </a:solidFill>
          <a:ln/>
        </p:spPr>
      </p:sp>
      <p:sp>
        <p:nvSpPr>
          <p:cNvPr id="14" name="Nhãn 2"/>
          <p:cNvSpPr/>
          <p:nvPr/>
        </p:nvSpPr>
        <p:spPr>
          <a:xfrm>
            <a:off x="4328160" y="1874520"/>
            <a:ext cx="731520" cy="731520"/>
          </a:xfrm>
          <a:prstGeom prst="ellipse">
            <a:avLst/>
          </a:prstGeom>
          <a:solidFill>
            <a:srgbClr val="09A1E5"/>
          </a:solidFill>
          <a:ln/>
        </p:spPr>
      </p:sp>
      <p:sp>
        <p:nvSpPr>
          <p:cNvPr id="15" name="Text 13"/>
          <p:cNvSpPr txBox="1"/>
          <p:nvPr/>
        </p:nvSpPr>
        <p:spPr>
          <a:xfrm>
            <a:off x="432816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2</a:t>
            </a:r>
            <a:endParaRPr lang="en-US" sz="2800" dirty="0"/>
          </a:p>
        </p:txBody>
      </p:sp>
      <p:sp>
        <p:nvSpPr>
          <p:cNvPr id="16" name="Text 14"/>
          <p:cNvSpPr txBox="1"/>
          <p:nvPr/>
        </p:nvSpPr>
        <p:spPr>
          <a:xfrm>
            <a:off x="432816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Giới thiệu</a:t>
            </a:r>
            <a:endParaRPr lang="en-US" sz="2800" dirty="0"/>
          </a:p>
        </p:txBody>
      </p:sp>
      <p:sp>
        <p:nvSpPr>
          <p:cNvPr id="17" name="Text 15"/>
          <p:cNvSpPr txBox="1"/>
          <p:nvPr/>
        </p:nvSpPr>
        <p:spPr>
          <a:xfrm>
            <a:off x="4328160" y="3357880"/>
            <a:ext cx="350520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Nhờ họ giới thiệu người tương tự</a:t>
            </a:r>
            <a:endParaRPr lang="en-US" sz="2600" dirty="0"/>
          </a:p>
        </p:txBody>
      </p:sp>
      <p:sp>
        <p:nvSpPr>
          <p:cNvPr id="18" name="Bước 3"/>
          <p:cNvSpPr/>
          <p:nvPr/>
        </p:nvSpPr>
        <p:spPr>
          <a:xfrm>
            <a:off x="8061960" y="2697480"/>
            <a:ext cx="3596640" cy="2037080"/>
          </a:xfrm>
          <a:prstGeom prst="roundRect">
            <a:avLst>
              <a:gd name="adj" fmla="val 8080"/>
            </a:avLst>
          </a:prstGeom>
          <a:solidFill>
            <a:srgbClr val="FCEBDE"/>
          </a:solidFill>
          <a:ln/>
        </p:spPr>
      </p:sp>
      <p:sp>
        <p:nvSpPr>
          <p:cNvPr id="19" name="Nhãn 3"/>
          <p:cNvSpPr/>
          <p:nvPr/>
        </p:nvSpPr>
        <p:spPr>
          <a:xfrm>
            <a:off x="8107680" y="1874520"/>
            <a:ext cx="731520" cy="731520"/>
          </a:xfrm>
          <a:prstGeom prst="ellipse">
            <a:avLst/>
          </a:prstGeom>
          <a:solidFill>
            <a:srgbClr val="FF9259"/>
          </a:solidFill>
          <a:ln/>
        </p:spPr>
      </p:sp>
      <p:sp>
        <p:nvSpPr>
          <p:cNvPr id="20" name="Text 18"/>
          <p:cNvSpPr txBox="1"/>
          <p:nvPr/>
        </p:nvSpPr>
        <p:spPr>
          <a:xfrm>
            <a:off x="810768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3</a:t>
            </a:r>
            <a:endParaRPr lang="en-US" sz="2800" dirty="0"/>
          </a:p>
        </p:txBody>
      </p:sp>
      <p:sp>
        <p:nvSpPr>
          <p:cNvPr id="21" name="Text 19"/>
          <p:cNvSpPr txBox="1"/>
          <p:nvPr/>
        </p:nvSpPr>
        <p:spPr>
          <a:xfrm>
            <a:off x="810768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Lan rộng</a:t>
            </a:r>
            <a:endParaRPr lang="en-US" sz="2800" dirty="0"/>
          </a:p>
        </p:txBody>
      </p:sp>
      <p:sp>
        <p:nvSpPr>
          <p:cNvPr id="22" name="Text 20"/>
          <p:cNvSpPr txBox="1"/>
          <p:nvPr/>
        </p:nvSpPr>
        <p:spPr>
          <a:xfrm>
            <a:off x="8107680" y="3357880"/>
            <a:ext cx="350520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Mẫu lớn dần qua từng lượt</a:t>
            </a:r>
            <a:endParaRPr lang="en-US" sz="2600" dirty="0"/>
          </a:p>
        </p:txBody>
      </p:sp>
      <p:sp>
        <p:nvSpPr>
          <p:cNvPr id="23" name="Ghi chú nổi bật"/>
          <p:cNvSpPr/>
          <p:nvPr/>
        </p:nvSpPr>
        <p:spPr>
          <a:xfrm>
            <a:off x="548640" y="5100320"/>
            <a:ext cx="11064240" cy="685800"/>
          </a:xfrm>
          <a:prstGeom prst="roundRect">
            <a:avLst>
              <a:gd name="adj" fmla="val 24000"/>
            </a:avLst>
          </a:prstGeom>
          <a:solidFill>
            <a:srgbClr val="B2DFF0"/>
          </a:solidFill>
          <a:ln/>
        </p:spPr>
      </p:sp>
      <p:sp>
        <p:nvSpPr>
          <p:cNvPr id="24" name="Nhãn !"/>
          <p:cNvSpPr/>
          <p:nvPr/>
        </p:nvSpPr>
        <p:spPr>
          <a:xfrm>
            <a:off x="731520" y="5214620"/>
            <a:ext cx="457200" cy="457200"/>
          </a:xfrm>
          <a:prstGeom prst="ellipse">
            <a:avLst/>
          </a:prstGeom>
          <a:solidFill>
            <a:srgbClr val="09A1E5"/>
          </a:solidFill>
          <a:ln/>
        </p:spPr>
      </p:sp>
      <p:sp>
        <p:nvSpPr>
          <p:cNvPr id="25" name="Text 23"/>
          <p:cNvSpPr txBox="1"/>
          <p:nvPr/>
        </p:nvSpPr>
        <p:spPr>
          <a:xfrm>
            <a:off x="731520" y="521462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6" name="Text 24"/>
          <p:cNvSpPr txBox="1"/>
          <p:nvPr/>
        </p:nvSpPr>
        <p:spPr>
          <a:xfrm>
            <a:off x="1325880" y="510032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Hợp đối tượng hiếm; nhược: cùng một mạng lưới</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Định mức: lấp đủ ghế cho từng nhóm trên chuyến xe buýt</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FCDBC5"/>
          </a:solidFill>
          <a:ln/>
        </p:spPr>
      </p:sp>
      <p:sp>
        <p:nvSpPr>
          <p:cNvPr id="7" name="Nhãn !"/>
          <p:cNvSpPr/>
          <p:nvPr/>
        </p:nvSpPr>
        <p:spPr>
          <a:xfrm>
            <a:off x="731520" y="5509260"/>
            <a:ext cx="457200" cy="457200"/>
          </a:xfrm>
          <a:prstGeom prst="ellipse">
            <a:avLst/>
          </a:prstGeom>
          <a:solidFill>
            <a:srgbClr val="FF9259"/>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Cơ cấu giống đám đông — nhưng vẫn là phi xác suất</a:t>
            </a:r>
            <a:endParaRPr lang="en-US" sz="2600" dirty="0"/>
          </a:p>
        </p:txBody>
      </p:sp>
      <p:sp>
        <p:nvSpPr>
          <p:cNvPr id="10" name="Số liệu"/>
          <p:cNvSpPr/>
          <p:nvPr/>
        </p:nvSpPr>
        <p:spPr>
          <a:xfrm>
            <a:off x="548640" y="1783080"/>
            <a:ext cx="3505200" cy="3337560"/>
          </a:xfrm>
          <a:prstGeom prst="roundRect">
            <a:avLst>
              <a:gd name="adj" fmla="val 4932"/>
            </a:avLst>
          </a:prstGeom>
          <a:solidFill>
            <a:srgbClr val="D7EDF2"/>
          </a:solidFill>
          <a:ln/>
        </p:spPr>
      </p:sp>
      <p:sp>
        <p:nvSpPr>
          <p:cNvPr id="11" name="Nhãn 10"/>
          <p:cNvSpPr/>
          <p:nvPr/>
        </p:nvSpPr>
        <p:spPr>
          <a:xfrm>
            <a:off x="1341120" y="1965960"/>
            <a:ext cx="1920240" cy="1920240"/>
          </a:xfrm>
          <a:prstGeom prst="ellipse">
            <a:avLst/>
          </a:prstGeom>
          <a:solidFill>
            <a:srgbClr val="09A1E5"/>
          </a:solidFill>
          <a:ln/>
        </p:spPr>
      </p:sp>
      <p:sp>
        <p:nvSpPr>
          <p:cNvPr id="12" name="Text 10"/>
          <p:cNvSpPr txBox="1"/>
          <p:nvPr/>
        </p:nvSpPr>
        <p:spPr>
          <a:xfrm>
            <a:off x="1341120" y="1965960"/>
            <a:ext cx="1920240" cy="1920240"/>
          </a:xfrm>
          <a:prstGeom prst="rect">
            <a:avLst/>
          </a:prstGeom>
          <a:noFill/>
          <a:ln/>
        </p:spPr>
        <p:txBody>
          <a:bodyPr wrap="square" lIns="0" tIns="0" rIns="0" bIns="0" rtlCol="0" anchor="ctr"/>
          <a:lstStyle/>
          <a:p>
            <a:pPr algn="ctr" indent="0" marL="0">
              <a:buNone/>
            </a:pPr>
            <a:r>
              <a:rPr lang="en-US" sz="4800" b="1" dirty="0">
                <a:solidFill>
                  <a:srgbClr val="2E2A3A"/>
                </a:solidFill>
                <a:latin typeface="Alexandria" pitchFamily="34" charset="0"/>
                <a:ea typeface="Alexandria" pitchFamily="34" charset="-122"/>
                <a:cs typeface="Alexandria" pitchFamily="34" charset="-120"/>
              </a:rPr>
              <a:t>10</a:t>
            </a:r>
            <a:endParaRPr lang="en-US" sz="4800" dirty="0"/>
          </a:p>
        </p:txBody>
      </p:sp>
      <p:sp>
        <p:nvSpPr>
          <p:cNvPr id="13" name="Text 11"/>
          <p:cNvSpPr txBox="1"/>
          <p:nvPr/>
        </p:nvSpPr>
        <p:spPr>
          <a:xfrm>
            <a:off x="685800" y="3977640"/>
            <a:ext cx="3230880" cy="10972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ghế cho sinh viên</a:t>
            </a:r>
            <a:endParaRPr lang="en-US" sz="2600" dirty="0"/>
          </a:p>
        </p:txBody>
      </p:sp>
      <p:sp>
        <p:nvSpPr>
          <p:cNvPr id="14" name="Số liệu"/>
          <p:cNvSpPr/>
          <p:nvPr/>
        </p:nvSpPr>
        <p:spPr>
          <a:xfrm>
            <a:off x="4328160" y="1783080"/>
            <a:ext cx="3505200" cy="3337560"/>
          </a:xfrm>
          <a:prstGeom prst="roundRect">
            <a:avLst>
              <a:gd name="adj" fmla="val 4932"/>
            </a:avLst>
          </a:prstGeom>
          <a:solidFill>
            <a:srgbClr val="FCEADD"/>
          </a:solidFill>
          <a:ln/>
        </p:spPr>
      </p:sp>
      <p:sp>
        <p:nvSpPr>
          <p:cNvPr id="15" name="Nhãn 10"/>
          <p:cNvSpPr/>
          <p:nvPr/>
        </p:nvSpPr>
        <p:spPr>
          <a:xfrm>
            <a:off x="5120640" y="1965960"/>
            <a:ext cx="1920240" cy="1920240"/>
          </a:xfrm>
          <a:prstGeom prst="ellipse">
            <a:avLst/>
          </a:prstGeom>
          <a:solidFill>
            <a:srgbClr val="FF9259"/>
          </a:solidFill>
          <a:ln/>
        </p:spPr>
      </p:sp>
      <p:sp>
        <p:nvSpPr>
          <p:cNvPr id="16" name="Text 14"/>
          <p:cNvSpPr txBox="1"/>
          <p:nvPr/>
        </p:nvSpPr>
        <p:spPr>
          <a:xfrm>
            <a:off x="5120640" y="1965960"/>
            <a:ext cx="1920240" cy="1920240"/>
          </a:xfrm>
          <a:prstGeom prst="rect">
            <a:avLst/>
          </a:prstGeom>
          <a:noFill/>
          <a:ln/>
        </p:spPr>
        <p:txBody>
          <a:bodyPr wrap="square" lIns="0" tIns="0" rIns="0" bIns="0" rtlCol="0" anchor="ctr"/>
          <a:lstStyle/>
          <a:p>
            <a:pPr algn="ctr" indent="0" marL="0">
              <a:buNone/>
            </a:pPr>
            <a:r>
              <a:rPr lang="en-US" sz="4800" b="1" dirty="0">
                <a:solidFill>
                  <a:srgbClr val="2E2A3A"/>
                </a:solidFill>
                <a:latin typeface="Alexandria" pitchFamily="34" charset="0"/>
                <a:ea typeface="Alexandria" pitchFamily="34" charset="-122"/>
                <a:cs typeface="Alexandria" pitchFamily="34" charset="-120"/>
              </a:rPr>
              <a:t>10</a:t>
            </a:r>
            <a:endParaRPr lang="en-US" sz="4800" dirty="0"/>
          </a:p>
        </p:txBody>
      </p:sp>
      <p:sp>
        <p:nvSpPr>
          <p:cNvPr id="17" name="Text 15"/>
          <p:cNvSpPr txBox="1"/>
          <p:nvPr/>
        </p:nvSpPr>
        <p:spPr>
          <a:xfrm>
            <a:off x="4465320" y="3977640"/>
            <a:ext cx="3230880" cy="10972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ghế cho giáo viên</a:t>
            </a:r>
            <a:endParaRPr lang="en-US" sz="2600" dirty="0"/>
          </a:p>
        </p:txBody>
      </p:sp>
      <p:sp>
        <p:nvSpPr>
          <p:cNvPr id="18" name="Số liệu"/>
          <p:cNvSpPr/>
          <p:nvPr/>
        </p:nvSpPr>
        <p:spPr>
          <a:xfrm>
            <a:off x="8107680" y="1783080"/>
            <a:ext cx="3505200" cy="3337560"/>
          </a:xfrm>
          <a:prstGeom prst="roundRect">
            <a:avLst>
              <a:gd name="adj" fmla="val 4932"/>
            </a:avLst>
          </a:prstGeom>
          <a:solidFill>
            <a:srgbClr val="ECDBE2"/>
          </a:solidFill>
          <a:ln/>
        </p:spPr>
      </p:sp>
      <p:sp>
        <p:nvSpPr>
          <p:cNvPr id="19" name="Nhãn 10"/>
          <p:cNvSpPr/>
          <p:nvPr/>
        </p:nvSpPr>
        <p:spPr>
          <a:xfrm>
            <a:off x="8900160" y="1965960"/>
            <a:ext cx="1920240" cy="1920240"/>
          </a:xfrm>
          <a:prstGeom prst="ellipse">
            <a:avLst/>
          </a:prstGeom>
          <a:solidFill>
            <a:srgbClr val="962B7C"/>
          </a:solidFill>
          <a:ln/>
        </p:spPr>
      </p:sp>
      <p:sp>
        <p:nvSpPr>
          <p:cNvPr id="20" name="Text 18"/>
          <p:cNvSpPr txBox="1"/>
          <p:nvPr/>
        </p:nvSpPr>
        <p:spPr>
          <a:xfrm>
            <a:off x="8900160" y="1965960"/>
            <a:ext cx="1920240" cy="1920240"/>
          </a:xfrm>
          <a:prstGeom prst="rect">
            <a:avLst/>
          </a:prstGeom>
          <a:noFill/>
          <a:ln/>
        </p:spPr>
        <p:txBody>
          <a:bodyPr wrap="square" lIns="0" tIns="0" rIns="0" bIns="0" rtlCol="0" anchor="ctr"/>
          <a:lstStyle/>
          <a:p>
            <a:pPr algn="ctr" indent="0" marL="0">
              <a:buNone/>
            </a:pPr>
            <a:r>
              <a:rPr lang="en-US" sz="4800" b="1" dirty="0">
                <a:solidFill>
                  <a:srgbClr val="FFFFFF"/>
                </a:solidFill>
                <a:latin typeface="Alexandria" pitchFamily="34" charset="0"/>
                <a:ea typeface="Alexandria" pitchFamily="34" charset="-122"/>
                <a:cs typeface="Alexandria" pitchFamily="34" charset="-120"/>
              </a:rPr>
              <a:t>10</a:t>
            </a:r>
            <a:endParaRPr lang="en-US" sz="4800" dirty="0"/>
          </a:p>
        </p:txBody>
      </p:sp>
      <p:sp>
        <p:nvSpPr>
          <p:cNvPr id="21" name="Text 19"/>
          <p:cNvSpPr txBox="1"/>
          <p:nvPr/>
        </p:nvSpPr>
        <p:spPr>
          <a:xfrm>
            <a:off x="8244840" y="3977640"/>
            <a:ext cx="3230880" cy="10972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ghế cho phụ huynh</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Định mức một thuộc tính: tỷ lệ nhân cỡ mẫu</a:t>
            </a:r>
            <a:endParaRPr lang="en-US" sz="3600" dirty="0"/>
          </a:p>
        </p:txBody>
      </p:sp>
      <p:graphicFrame>
        <p:nvGraphicFramePr>
          <p:cNvPr id="40"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3688080"/>
                <a:gridCol w="3688080"/>
                <a:gridCol w="3688080"/>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Nhóm tuổi</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5178"/>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Tỷ lệ</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5178"/>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Số người</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5178"/>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18–30</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30%</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30</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31–40</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40%</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40</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41–50</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30%</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30</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Tổng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100%</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100</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r>
            </a:tbl>
          </a:graphicData>
        </a:graphic>
      </p:graphicFrame>
      <p:sp>
        <p:nvSpPr>
          <p:cNvPr id="7" name="Ghi chú nổi bật"/>
          <p:cNvSpPr/>
          <p:nvPr/>
        </p:nvSpPr>
        <p:spPr>
          <a:xfrm>
            <a:off x="548640" y="4907280"/>
            <a:ext cx="11064240" cy="685800"/>
          </a:xfrm>
          <a:prstGeom prst="roundRect">
            <a:avLst>
              <a:gd name="adj" fmla="val 24000"/>
            </a:avLst>
          </a:prstGeom>
          <a:solidFill>
            <a:srgbClr val="FCEEBC"/>
          </a:solidFill>
          <a:ln/>
        </p:spPr>
      </p:sp>
      <p:sp>
        <p:nvSpPr>
          <p:cNvPr id="8" name="Nhãn !"/>
          <p:cNvSpPr/>
          <p:nvPr/>
        </p:nvSpPr>
        <p:spPr>
          <a:xfrm>
            <a:off x="731520" y="5021580"/>
            <a:ext cx="457200" cy="457200"/>
          </a:xfrm>
          <a:prstGeom prst="ellipse">
            <a:avLst/>
          </a:prstGeom>
          <a:solidFill>
            <a:srgbClr val="FFD23B"/>
          </a:solidFill>
          <a:ln/>
        </p:spPr>
      </p:sp>
      <p:sp>
        <p:nvSpPr>
          <p:cNvPr id="9" name="Text 6"/>
          <p:cNvSpPr txBox="1"/>
          <p:nvPr/>
        </p:nvSpPr>
        <p:spPr>
          <a:xfrm>
            <a:off x="731520" y="502158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490728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n = 100; người phỏng vấn tự chọn người đến khi đủ</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Bảng này sai ở đâu?</a:t>
            </a:r>
            <a:endParaRPr lang="en-US" sz="3600" dirty="0"/>
          </a:p>
        </p:txBody>
      </p:sp>
      <p:graphicFrame>
        <p:nvGraphicFramePr>
          <p:cNvPr id="41"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766060"/>
                <a:gridCol w="2766060"/>
                <a:gridCol w="2766060"/>
                <a:gridCol w="2766060"/>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Nhóm tuổi</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09A1E5"/>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Nam</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09A1E5"/>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Nữ</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09A1E5"/>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Tổng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09A1E5"/>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18–30 (30%)</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15</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15</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30</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31–40 (40%)</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15</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15</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30</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41–50 (30%)</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20</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20</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40</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Tổng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50</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50</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100</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r>
            </a:tbl>
          </a:graphicData>
        </a:graphic>
      </p:graphicFrame>
      <p:sp>
        <p:nvSpPr>
          <p:cNvPr id="7" name="Ghi chú nổi bật"/>
          <p:cNvSpPr/>
          <p:nvPr/>
        </p:nvSpPr>
        <p:spPr>
          <a:xfrm>
            <a:off x="548640" y="4907280"/>
            <a:ext cx="11064240" cy="685800"/>
          </a:xfrm>
          <a:prstGeom prst="roundRect">
            <a:avLst>
              <a:gd name="adj" fmla="val 24000"/>
            </a:avLst>
          </a:prstGeom>
          <a:solidFill>
            <a:srgbClr val="C6E4D8"/>
          </a:solidFill>
          <a:ln/>
        </p:spPr>
      </p:sp>
      <p:sp>
        <p:nvSpPr>
          <p:cNvPr id="8" name="Nhãn !"/>
          <p:cNvSpPr/>
          <p:nvPr/>
        </p:nvSpPr>
        <p:spPr>
          <a:xfrm>
            <a:off x="731520" y="5021580"/>
            <a:ext cx="457200" cy="457200"/>
          </a:xfrm>
          <a:prstGeom prst="ellipse">
            <a:avLst/>
          </a:prstGeom>
          <a:solidFill>
            <a:srgbClr val="49B296"/>
          </a:solidFill>
          <a:ln/>
        </p:spPr>
      </p:sp>
      <p:sp>
        <p:nvSpPr>
          <p:cNvPr id="9" name="Text 6"/>
          <p:cNvSpPr txBox="1"/>
          <p:nvPr/>
        </p:nvSpPr>
        <p:spPr>
          <a:xfrm>
            <a:off x="731520" y="502158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490728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Bảng có lỗi — tìm lỗi trong 1 phút</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Định mức hai thuộc tính: cộng kiểm tra cả dòng lẫn cột</a:t>
            </a:r>
            <a:endParaRPr lang="en-US" sz="3400" dirty="0"/>
          </a:p>
        </p:txBody>
      </p:sp>
      <p:graphicFrame>
        <p:nvGraphicFramePr>
          <p:cNvPr id="42"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766060"/>
                <a:gridCol w="2766060"/>
                <a:gridCol w="2766060"/>
                <a:gridCol w="2766060"/>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Nhóm tuổi</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9259"/>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Nam</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9259"/>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Nữ</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9259"/>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Tổng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9259"/>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18–30 (30%)</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15</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15</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30</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31–40 (40%)</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20</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20</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40</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41–50 (30%)</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15</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15</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30</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Tổng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50</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50</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100</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r>
            </a:tbl>
          </a:graphicData>
        </a:graphic>
      </p:graphicFrame>
      <p:sp>
        <p:nvSpPr>
          <p:cNvPr id="7" name="Ghi chú nổi bật"/>
          <p:cNvSpPr/>
          <p:nvPr/>
        </p:nvSpPr>
        <p:spPr>
          <a:xfrm>
            <a:off x="548640" y="4907280"/>
            <a:ext cx="11064240" cy="685800"/>
          </a:xfrm>
          <a:prstGeom prst="roundRect">
            <a:avLst>
              <a:gd name="adj" fmla="val 24000"/>
            </a:avLst>
          </a:prstGeom>
          <a:solidFill>
            <a:srgbClr val="FCC7CF"/>
          </a:solidFill>
          <a:ln/>
        </p:spPr>
      </p:sp>
      <p:sp>
        <p:nvSpPr>
          <p:cNvPr id="8" name="Nhãn !"/>
          <p:cNvSpPr/>
          <p:nvPr/>
        </p:nvSpPr>
        <p:spPr>
          <a:xfrm>
            <a:off x="731520" y="5021580"/>
            <a:ext cx="457200" cy="457200"/>
          </a:xfrm>
          <a:prstGeom prst="ellipse">
            <a:avLst/>
          </a:prstGeom>
          <a:solidFill>
            <a:srgbClr val="FF5178"/>
          </a:solidFill>
          <a:ln/>
        </p:spPr>
      </p:sp>
      <p:sp>
        <p:nvSpPr>
          <p:cNvPr id="9" name="Text 6"/>
          <p:cNvSpPr txBox="1"/>
          <p:nvPr/>
        </p:nvSpPr>
        <p:spPr>
          <a:xfrm>
            <a:off x="731520" y="502158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490728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So tổng từng dòng với tỷ lệ của nhóm</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Hỏi lệch người và người không trả lời: hai sai lệch dự án hay gặp</a:t>
            </a:r>
            <a:endParaRPr lang="en-US" sz="3400" dirty="0"/>
          </a:p>
        </p:txBody>
      </p:sp>
      <p:sp>
        <p:nvSpPr>
          <p:cNvPr id="6" name="Ghi chú nổi bật"/>
          <p:cNvSpPr/>
          <p:nvPr/>
        </p:nvSpPr>
        <p:spPr>
          <a:xfrm>
            <a:off x="548640" y="4978400"/>
            <a:ext cx="11064240" cy="1102360"/>
          </a:xfrm>
          <a:prstGeom prst="roundRect">
            <a:avLst>
              <a:gd name="adj" fmla="val 14931"/>
            </a:avLst>
          </a:prstGeom>
          <a:solidFill>
            <a:srgbClr val="B2DFF0"/>
          </a:solidFill>
          <a:ln/>
        </p:spPr>
      </p:sp>
      <p:sp>
        <p:nvSpPr>
          <p:cNvPr id="7" name="Nhãn !"/>
          <p:cNvSpPr/>
          <p:nvPr/>
        </p:nvSpPr>
        <p:spPr>
          <a:xfrm>
            <a:off x="731520" y="5300980"/>
            <a:ext cx="457200" cy="457200"/>
          </a:xfrm>
          <a:prstGeom prst="ellipse">
            <a:avLst/>
          </a:prstGeom>
          <a:solidFill>
            <a:srgbClr val="09A1E5"/>
          </a:solidFill>
          <a:ln/>
        </p:spPr>
      </p:sp>
      <p:sp>
        <p:nvSpPr>
          <p:cNvPr id="8" name="Text 6"/>
          <p:cNvSpPr txBox="1"/>
          <p:nvPr/>
        </p:nvSpPr>
        <p:spPr>
          <a:xfrm>
            <a:off x="731520" y="530098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4978400"/>
            <a:ext cx="10149840" cy="110236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Giảm: đa dạng kênh, định mức, bảng hỏi ngắn, nhắc lại, ẩn danh, báo cáo số phản hồi</a:t>
            </a:r>
            <a:endParaRPr lang="en-US" sz="2600" dirty="0"/>
          </a:p>
        </p:txBody>
      </p:sp>
      <p:sp>
        <p:nvSpPr>
          <p:cNvPr id="10" name="Tiêu đề cột"/>
          <p:cNvSpPr/>
          <p:nvPr/>
        </p:nvSpPr>
        <p:spPr>
          <a:xfrm>
            <a:off x="548640" y="1783080"/>
            <a:ext cx="5394960" cy="706120"/>
          </a:xfrm>
          <a:prstGeom prst="roundRect">
            <a:avLst>
              <a:gd name="adj" fmla="val 23309"/>
            </a:avLst>
          </a:prstGeom>
          <a:solidFill>
            <a:srgbClr val="09A1E5"/>
          </a:solidFill>
          <a:ln/>
        </p:spPr>
      </p:sp>
      <p:sp>
        <p:nvSpPr>
          <p:cNvPr id="11" name="Text 9"/>
          <p:cNvSpPr txBox="1"/>
          <p:nvPr/>
        </p:nvSpPr>
        <p:spPr>
          <a:xfrm>
            <a:off x="68580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Sai lệch chọn mẫu</a:t>
            </a:r>
            <a:endParaRPr lang="en-US" sz="2800" dirty="0"/>
          </a:p>
        </p:txBody>
      </p:sp>
      <p:sp>
        <p:nvSpPr>
          <p:cNvPr id="12" name="Nội dung cột"/>
          <p:cNvSpPr/>
          <p:nvPr/>
        </p:nvSpPr>
        <p:spPr>
          <a:xfrm>
            <a:off x="548640" y="2626360"/>
            <a:ext cx="5394960" cy="2077720"/>
          </a:xfrm>
          <a:prstGeom prst="roundRect">
            <a:avLst>
              <a:gd name="adj" fmla="val 7922"/>
            </a:avLst>
          </a:prstGeom>
          <a:solidFill>
            <a:srgbClr val="D4ECF2"/>
          </a:solidFill>
          <a:ln/>
        </p:spPr>
      </p:sp>
      <p:sp>
        <p:nvSpPr>
          <p:cNvPr id="13" name="Dấu đầu dòng"/>
          <p:cNvSpPr/>
          <p:nvPr/>
        </p:nvSpPr>
        <p:spPr>
          <a:xfrm>
            <a:off x="822960" y="2946400"/>
            <a:ext cx="182880" cy="182880"/>
          </a:xfrm>
          <a:prstGeom prst="ellipse">
            <a:avLst/>
          </a:prstGeom>
          <a:solidFill>
            <a:srgbClr val="09A1E5"/>
          </a:solidFill>
          <a:ln/>
        </p:spPr>
      </p:sp>
      <p:sp>
        <p:nvSpPr>
          <p:cNvPr id="14" name="Text 12"/>
          <p:cNvSpPr txBox="1"/>
          <p:nvPr/>
        </p:nvSpPr>
        <p:spPr>
          <a:xfrm>
            <a:off x="1097280" y="2763520"/>
            <a:ext cx="4709160" cy="54864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Nhóm bị hỏi quá nhiều, quá ít</a:t>
            </a:r>
            <a:endParaRPr lang="en-US" sz="2400" dirty="0"/>
          </a:p>
        </p:txBody>
      </p:sp>
      <p:sp>
        <p:nvSpPr>
          <p:cNvPr id="15" name="Dấu đầu dòng"/>
          <p:cNvSpPr/>
          <p:nvPr/>
        </p:nvSpPr>
        <p:spPr>
          <a:xfrm>
            <a:off x="822960" y="3632200"/>
            <a:ext cx="182880" cy="182880"/>
          </a:xfrm>
          <a:prstGeom prst="ellipse">
            <a:avLst/>
          </a:prstGeom>
          <a:solidFill>
            <a:srgbClr val="09A1E5"/>
          </a:solidFill>
          <a:ln/>
        </p:spPr>
      </p:sp>
      <p:sp>
        <p:nvSpPr>
          <p:cNvPr id="16" name="Text 14"/>
          <p:cNvSpPr txBox="1"/>
          <p:nvPr/>
        </p:nvSpPr>
        <p:spPr>
          <a:xfrm>
            <a:off x="1097280" y="3449320"/>
            <a:ext cx="4709160" cy="54864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Chỉ hỏi người dùng iPhone</a:t>
            </a:r>
            <a:endParaRPr lang="en-US" sz="2400" dirty="0"/>
          </a:p>
        </p:txBody>
      </p:sp>
      <p:sp>
        <p:nvSpPr>
          <p:cNvPr id="17" name="Tiêu đề cột"/>
          <p:cNvSpPr/>
          <p:nvPr/>
        </p:nvSpPr>
        <p:spPr>
          <a:xfrm>
            <a:off x="6217920" y="1783080"/>
            <a:ext cx="5394960" cy="706120"/>
          </a:xfrm>
          <a:prstGeom prst="roundRect">
            <a:avLst>
              <a:gd name="adj" fmla="val 23309"/>
            </a:avLst>
          </a:prstGeom>
          <a:solidFill>
            <a:srgbClr val="962B7C"/>
          </a:solidFill>
          <a:ln/>
        </p:spPr>
      </p:sp>
      <p:sp>
        <p:nvSpPr>
          <p:cNvPr id="18" name="Text 16"/>
          <p:cNvSpPr txBox="1"/>
          <p:nvPr/>
        </p:nvSpPr>
        <p:spPr>
          <a:xfrm>
            <a:off x="635508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FFFFFF"/>
                </a:solidFill>
                <a:latin typeface="Alexandria" pitchFamily="34" charset="0"/>
                <a:ea typeface="Alexandria" pitchFamily="34" charset="-122"/>
                <a:cs typeface="Alexandria" pitchFamily="34" charset="-120"/>
              </a:rPr>
              <a:t>Sai lệch không phản hồi</a:t>
            </a:r>
            <a:endParaRPr lang="en-US" sz="2800" dirty="0"/>
          </a:p>
        </p:txBody>
      </p:sp>
      <p:sp>
        <p:nvSpPr>
          <p:cNvPr id="19" name="Nội dung cột"/>
          <p:cNvSpPr/>
          <p:nvPr/>
        </p:nvSpPr>
        <p:spPr>
          <a:xfrm>
            <a:off x="6217920" y="2626360"/>
            <a:ext cx="5394960" cy="2077720"/>
          </a:xfrm>
          <a:prstGeom prst="roundRect">
            <a:avLst>
              <a:gd name="adj" fmla="val 7922"/>
            </a:avLst>
          </a:prstGeom>
          <a:solidFill>
            <a:srgbClr val="EBD9E1"/>
          </a:solidFill>
          <a:ln/>
        </p:spPr>
      </p:sp>
      <p:sp>
        <p:nvSpPr>
          <p:cNvPr id="20" name="Dấu đầu dòng"/>
          <p:cNvSpPr/>
          <p:nvPr/>
        </p:nvSpPr>
        <p:spPr>
          <a:xfrm>
            <a:off x="6492240" y="2946400"/>
            <a:ext cx="182880" cy="182880"/>
          </a:xfrm>
          <a:prstGeom prst="ellipse">
            <a:avLst/>
          </a:prstGeom>
          <a:solidFill>
            <a:srgbClr val="962B7C"/>
          </a:solidFill>
          <a:ln/>
        </p:spPr>
      </p:sp>
      <p:sp>
        <p:nvSpPr>
          <p:cNvPr id="21" name="Text 19"/>
          <p:cNvSpPr txBox="1"/>
          <p:nvPr/>
        </p:nvSpPr>
        <p:spPr>
          <a:xfrm>
            <a:off x="6766560" y="2763520"/>
            <a:ext cx="4709160" cy="54864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Người không trả lời khác hẳn</a:t>
            </a:r>
            <a:endParaRPr lang="en-US" sz="2400" dirty="0"/>
          </a:p>
        </p:txBody>
      </p:sp>
      <p:sp>
        <p:nvSpPr>
          <p:cNvPr id="22" name="Dấu đầu dòng"/>
          <p:cNvSpPr/>
          <p:nvPr/>
        </p:nvSpPr>
        <p:spPr>
          <a:xfrm>
            <a:off x="6492240" y="3632200"/>
            <a:ext cx="182880" cy="182880"/>
          </a:xfrm>
          <a:prstGeom prst="ellipse">
            <a:avLst/>
          </a:prstGeom>
          <a:solidFill>
            <a:srgbClr val="962B7C"/>
          </a:solidFill>
          <a:ln/>
        </p:spPr>
      </p:sp>
      <p:sp>
        <p:nvSpPr>
          <p:cNvPr id="23" name="Text 21"/>
          <p:cNvSpPr txBox="1"/>
          <p:nvPr/>
        </p:nvSpPr>
        <p:spPr>
          <a:xfrm>
            <a:off x="6766560" y="3449320"/>
            <a:ext cx="470916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Chỉ người rất vui, rất bực trả lời</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Mẫu của nhóm bạn gần như chắc là thuận tiện hoặc định mức — điều đó ổn, nếu nói thật</a:t>
            </a:r>
            <a:endParaRPr lang="en-US" sz="3400" dirty="0"/>
          </a:p>
        </p:txBody>
      </p:sp>
      <p:sp>
        <p:nvSpPr>
          <p:cNvPr id="6" name="Mũi tên"/>
          <p:cNvSpPr/>
          <p:nvPr/>
        </p:nvSpPr>
        <p:spPr>
          <a:xfrm>
            <a:off x="1371600" y="2240280"/>
            <a:ext cx="2865120" cy="914"/>
          </a:xfrm>
          <a:prstGeom prst="line">
            <a:avLst/>
          </a:prstGeom>
          <a:noFill/>
          <a:ln w="31750">
            <a:solidFill>
              <a:srgbClr val="5B5668"/>
            </a:solidFill>
            <a:prstDash val="solid"/>
            <a:tailEnd type="triangle"/>
          </a:ln>
        </p:spPr>
      </p:sp>
      <p:sp>
        <p:nvSpPr>
          <p:cNvPr id="7" name="Mũi tên"/>
          <p:cNvSpPr/>
          <p:nvPr/>
        </p:nvSpPr>
        <p:spPr>
          <a:xfrm>
            <a:off x="5151120" y="2240280"/>
            <a:ext cx="2865120" cy="914"/>
          </a:xfrm>
          <a:prstGeom prst="line">
            <a:avLst/>
          </a:prstGeom>
          <a:noFill/>
          <a:ln w="31750">
            <a:solidFill>
              <a:srgbClr val="5B5668"/>
            </a:solidFill>
            <a:prstDash val="solid"/>
            <a:tailEnd type="triangle"/>
          </a:ln>
        </p:spPr>
      </p:sp>
      <p:sp>
        <p:nvSpPr>
          <p:cNvPr id="8" name="Bước 1"/>
          <p:cNvSpPr/>
          <p:nvPr/>
        </p:nvSpPr>
        <p:spPr>
          <a:xfrm>
            <a:off x="502920" y="2697480"/>
            <a:ext cx="3596640" cy="2037080"/>
          </a:xfrm>
          <a:prstGeom prst="roundRect">
            <a:avLst>
              <a:gd name="adj" fmla="val 8080"/>
            </a:avLst>
          </a:prstGeom>
          <a:solidFill>
            <a:srgbClr val="FCE2E3"/>
          </a:solidFill>
          <a:ln/>
        </p:spPr>
      </p:sp>
      <p:sp>
        <p:nvSpPr>
          <p:cNvPr id="9" name="Nhãn 1"/>
          <p:cNvSpPr/>
          <p:nvPr/>
        </p:nvSpPr>
        <p:spPr>
          <a:xfrm>
            <a:off x="548640" y="1874520"/>
            <a:ext cx="731520" cy="731520"/>
          </a:xfrm>
          <a:prstGeom prst="ellipse">
            <a:avLst/>
          </a:prstGeom>
          <a:solidFill>
            <a:srgbClr val="FF5178"/>
          </a:solidFill>
          <a:ln/>
        </p:spPr>
      </p:sp>
      <p:sp>
        <p:nvSpPr>
          <p:cNvPr id="10" name="Text 8"/>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1</a:t>
            </a:r>
            <a:endParaRPr lang="en-US" sz="2800" dirty="0"/>
          </a:p>
        </p:txBody>
      </p:sp>
      <p:sp>
        <p:nvSpPr>
          <p:cNvPr id="11" name="Text 9"/>
          <p:cNvSpPr txBox="1"/>
          <p:nvPr/>
        </p:nvSpPr>
        <p:spPr>
          <a:xfrm>
            <a:off x="54864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Nói đúng tên</a:t>
            </a:r>
            <a:endParaRPr lang="en-US" sz="2800" dirty="0"/>
          </a:p>
        </p:txBody>
      </p:sp>
      <p:sp>
        <p:nvSpPr>
          <p:cNvPr id="12" name="Text 10"/>
          <p:cNvSpPr txBox="1"/>
          <p:nvPr/>
        </p:nvSpPr>
        <p:spPr>
          <a:xfrm>
            <a:off x="548640" y="3357880"/>
            <a:ext cx="350520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Thuận tiện không phải “ngẫu nhiên”</a:t>
            </a:r>
            <a:endParaRPr lang="en-US" sz="2600" dirty="0"/>
          </a:p>
        </p:txBody>
      </p:sp>
      <p:sp>
        <p:nvSpPr>
          <p:cNvPr id="13" name="Bước 2"/>
          <p:cNvSpPr/>
          <p:nvPr/>
        </p:nvSpPr>
        <p:spPr>
          <a:xfrm>
            <a:off x="4282440" y="2697480"/>
            <a:ext cx="3596640" cy="2037080"/>
          </a:xfrm>
          <a:prstGeom prst="roundRect">
            <a:avLst>
              <a:gd name="adj" fmla="val 8080"/>
            </a:avLst>
          </a:prstGeom>
          <a:solidFill>
            <a:srgbClr val="D9EEF2"/>
          </a:solidFill>
          <a:ln/>
        </p:spPr>
      </p:sp>
      <p:sp>
        <p:nvSpPr>
          <p:cNvPr id="14" name="Nhãn 2"/>
          <p:cNvSpPr/>
          <p:nvPr/>
        </p:nvSpPr>
        <p:spPr>
          <a:xfrm>
            <a:off x="4328160" y="1874520"/>
            <a:ext cx="731520" cy="731520"/>
          </a:xfrm>
          <a:prstGeom prst="ellipse">
            <a:avLst/>
          </a:prstGeom>
          <a:solidFill>
            <a:srgbClr val="09A1E5"/>
          </a:solidFill>
          <a:ln/>
        </p:spPr>
      </p:sp>
      <p:sp>
        <p:nvSpPr>
          <p:cNvPr id="15" name="Text 13"/>
          <p:cNvSpPr txBox="1"/>
          <p:nvPr/>
        </p:nvSpPr>
        <p:spPr>
          <a:xfrm>
            <a:off x="432816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2</a:t>
            </a:r>
            <a:endParaRPr lang="en-US" sz="2800" dirty="0"/>
          </a:p>
        </p:txBody>
      </p:sp>
      <p:sp>
        <p:nvSpPr>
          <p:cNvPr id="16" name="Text 14"/>
          <p:cNvSpPr txBox="1"/>
          <p:nvPr/>
        </p:nvSpPr>
        <p:spPr>
          <a:xfrm>
            <a:off x="432816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Mô tả rõ</a:t>
            </a:r>
            <a:endParaRPr lang="en-US" sz="2800" dirty="0"/>
          </a:p>
        </p:txBody>
      </p:sp>
      <p:sp>
        <p:nvSpPr>
          <p:cNvPr id="17" name="Text 15"/>
          <p:cNvSpPr txBox="1"/>
          <p:nvPr/>
        </p:nvSpPr>
        <p:spPr>
          <a:xfrm>
            <a:off x="4328160" y="3357880"/>
            <a:ext cx="350520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Kênh, thời gian, câu gạn lọc</a:t>
            </a:r>
            <a:endParaRPr lang="en-US" sz="2600" dirty="0"/>
          </a:p>
        </p:txBody>
      </p:sp>
      <p:sp>
        <p:nvSpPr>
          <p:cNvPr id="18" name="Bước 3"/>
          <p:cNvSpPr/>
          <p:nvPr/>
        </p:nvSpPr>
        <p:spPr>
          <a:xfrm>
            <a:off x="8061960" y="2697480"/>
            <a:ext cx="3596640" cy="2037080"/>
          </a:xfrm>
          <a:prstGeom prst="roundRect">
            <a:avLst>
              <a:gd name="adj" fmla="val 8080"/>
            </a:avLst>
          </a:prstGeom>
          <a:solidFill>
            <a:srgbClr val="FCEBDE"/>
          </a:solidFill>
          <a:ln/>
        </p:spPr>
      </p:sp>
      <p:sp>
        <p:nvSpPr>
          <p:cNvPr id="19" name="Nhãn 3"/>
          <p:cNvSpPr/>
          <p:nvPr/>
        </p:nvSpPr>
        <p:spPr>
          <a:xfrm>
            <a:off x="8107680" y="1874520"/>
            <a:ext cx="731520" cy="731520"/>
          </a:xfrm>
          <a:prstGeom prst="ellipse">
            <a:avLst/>
          </a:prstGeom>
          <a:solidFill>
            <a:srgbClr val="FF9259"/>
          </a:solidFill>
          <a:ln/>
        </p:spPr>
      </p:sp>
      <p:sp>
        <p:nvSpPr>
          <p:cNvPr id="20" name="Text 18"/>
          <p:cNvSpPr txBox="1"/>
          <p:nvPr/>
        </p:nvSpPr>
        <p:spPr>
          <a:xfrm>
            <a:off x="810768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3</a:t>
            </a:r>
            <a:endParaRPr lang="en-US" sz="2800" dirty="0"/>
          </a:p>
        </p:txBody>
      </p:sp>
      <p:sp>
        <p:nvSpPr>
          <p:cNvPr id="21" name="Text 19"/>
          <p:cNvSpPr txBox="1"/>
          <p:nvPr/>
        </p:nvSpPr>
        <p:spPr>
          <a:xfrm>
            <a:off x="810768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Ghi hạn chế</a:t>
            </a:r>
            <a:endParaRPr lang="en-US" sz="2800" dirty="0"/>
          </a:p>
        </p:txBody>
      </p:sp>
      <p:sp>
        <p:nvSpPr>
          <p:cNvPr id="22" name="Text 20"/>
          <p:cNvSpPr txBox="1"/>
          <p:nvPr/>
        </p:nvSpPr>
        <p:spPr>
          <a:xfrm>
            <a:off x="8107680" y="3357880"/>
            <a:ext cx="350520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Không khái quát hóa thống kê</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Câu mẫu cho phần hạn chế của nhóm</a:t>
            </a:r>
            <a:endParaRPr lang="en-US" sz="3600" dirty="0"/>
          </a:p>
        </p:txBody>
      </p:sp>
      <p:sp>
        <p:nvSpPr>
          <p:cNvPr id="6" name="Khung nhận định"/>
          <p:cNvSpPr/>
          <p:nvPr/>
        </p:nvSpPr>
        <p:spPr>
          <a:xfrm>
            <a:off x="548640" y="1783080"/>
            <a:ext cx="11064240" cy="4297680"/>
          </a:xfrm>
          <a:prstGeom prst="roundRect">
            <a:avLst>
              <a:gd name="adj" fmla="val 6383"/>
            </a:avLst>
          </a:prstGeom>
          <a:solidFill>
            <a:srgbClr val="FCE5D5"/>
          </a:solidFill>
          <a:ln/>
        </p:spPr>
      </p:sp>
      <p:sp>
        <p:nvSpPr>
          <p:cNvPr id="7" name="Nhãn “"/>
          <p:cNvSpPr/>
          <p:nvPr/>
        </p:nvSpPr>
        <p:spPr>
          <a:xfrm>
            <a:off x="960120" y="3200400"/>
            <a:ext cx="1463040" cy="1463040"/>
          </a:xfrm>
          <a:prstGeom prst="ellipse">
            <a:avLst/>
          </a:prstGeom>
          <a:solidFill>
            <a:srgbClr val="FF9259"/>
          </a:solidFill>
          <a:ln/>
        </p:spPr>
      </p:sp>
      <p:sp>
        <p:nvSpPr>
          <p:cNvPr id="8" name="Text 6"/>
          <p:cNvSpPr txBox="1"/>
          <p:nvPr/>
        </p:nvSpPr>
        <p:spPr>
          <a:xfrm>
            <a:off x="960120" y="3200400"/>
            <a:ext cx="1463040" cy="1463040"/>
          </a:xfrm>
          <a:prstGeom prst="rect">
            <a:avLst/>
          </a:prstGeom>
          <a:noFill/>
          <a:ln/>
        </p:spPr>
        <p:txBody>
          <a:bodyPr wrap="square" lIns="0" tIns="0" rIns="0" bIns="0" rtlCol="0" anchor="ctr"/>
          <a:lstStyle/>
          <a:p>
            <a:pPr algn="ctr" indent="0" marL="0">
              <a:buNone/>
            </a:pPr>
            <a:r>
              <a:rPr lang="en-US" sz="6600" b="1" dirty="0">
                <a:solidFill>
                  <a:srgbClr val="2E2A3A"/>
                </a:solidFill>
                <a:latin typeface="Alexandria" pitchFamily="34" charset="0"/>
                <a:ea typeface="Alexandria" pitchFamily="34" charset="-122"/>
                <a:cs typeface="Alexandria" pitchFamily="34" charset="-120"/>
              </a:rPr>
              <a:t>“</a:t>
            </a:r>
            <a:endParaRPr lang="en-US" sz="6600" dirty="0"/>
          </a:p>
        </p:txBody>
      </p:sp>
      <p:sp>
        <p:nvSpPr>
          <p:cNvPr id="9" name="Text 7"/>
          <p:cNvSpPr txBox="1"/>
          <p:nvPr/>
        </p:nvSpPr>
        <p:spPr>
          <a:xfrm>
            <a:off x="2834640" y="2072640"/>
            <a:ext cx="8412480" cy="2661920"/>
          </a:xfrm>
          <a:prstGeom prst="rect">
            <a:avLst/>
          </a:prstGeom>
          <a:noFill/>
          <a:ln/>
        </p:spPr>
        <p:txBody>
          <a:bodyPr wrap="square" lIns="76200" tIns="76200" rIns="76200" bIns="76200" rtlCol="0" anchor="t"/>
          <a:lstStyle/>
          <a:p>
            <a:pPr algn="l" indent="0" marL="0">
              <a:lnSpc>
                <a:spcPts val="4900"/>
              </a:lnSpc>
              <a:buNone/>
            </a:pPr>
            <a:r>
              <a:rPr lang="en-US" sz="3800" b="1" dirty="0">
                <a:solidFill>
                  <a:srgbClr val="2E2A3A"/>
                </a:solidFill>
                <a:latin typeface="Alexandria" pitchFamily="34" charset="0"/>
                <a:ea typeface="Alexandria" pitchFamily="34" charset="-122"/>
                <a:cs typeface="Alexandria" pitchFamily="34" charset="-120"/>
              </a:rPr>
              <a:t>“Mẫu được chọn theo phương pháp thuận tiện nên kết quả không thể khái quát hóa cho toàn bộ sinh viên TP.HCM”</a:t>
            </a:r>
            <a:endParaRPr lang="en-US" sz="3800" dirty="0"/>
          </a:p>
        </p:txBody>
      </p:sp>
      <p:sp>
        <p:nvSpPr>
          <p:cNvPr id="10" name="Text 8"/>
          <p:cNvSpPr txBox="1"/>
          <p:nvPr/>
        </p:nvSpPr>
        <p:spPr>
          <a:xfrm>
            <a:off x="2834640" y="4734560"/>
            <a:ext cx="8412480" cy="105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5B5668"/>
                </a:solidFill>
                <a:latin typeface="Alexandria" pitchFamily="34" charset="0"/>
                <a:ea typeface="Alexandria" pitchFamily="34" charset="-122"/>
                <a:cs typeface="Alexandria" pitchFamily="34" charset="-120"/>
              </a:rPr>
              <a:t>Thêm hướng tiếp: nghiên cứu sau nên dùng mẫu xác suất hoặc mở rộng phạm vi khảo sát</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Bốn phương pháp xác suất: dùng khi nào</a:t>
            </a:r>
            <a:endParaRPr lang="en-US" sz="3600" dirty="0"/>
          </a:p>
        </p:txBody>
      </p:sp>
      <p:graphicFrame>
        <p:nvGraphicFramePr>
          <p:cNvPr id="46"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664995"/>
                <a:gridCol w="8399245"/>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Phương pháp</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5178"/>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Dùng khi</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5178"/>
                    </a:solidFill>
                  </a:tcPr>
                </a:tc>
              </a:tr>
              <a:tr h="92049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Ngẫu nhiên</a:t>
                      </a:r>
                      <a:endParaRPr lang="en-US" sz="2400" dirty="0">
                        <a:latin typeface="Alexandria" charset="0"/>
                        <a:ea typeface="Alexandria" charset="0"/>
                        <a:cs typeface="Alexandria" charset="0"/>
                      </a:endParaRPr>
                    </a:p>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đơn giản</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Có khung mẫu đầy đủ, không quá phân tán</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Hệ thống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Có danh sách hoặc dòng người, không có chu kỳ</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Phân tầng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Đám đông gồm các nhóm khác biệt rõ</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Theo nhóm</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Đám đông phân tán, có sẵn nhóm, cần tiết kiệm</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r>
            </a:tbl>
          </a:graphicData>
        </a:graphic>
      </p:graphicFrame>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Bốn phương pháp phi xác suất: dùng khi nào</a:t>
            </a:r>
            <a:endParaRPr lang="en-US" sz="3600" dirty="0"/>
          </a:p>
        </p:txBody>
      </p:sp>
      <p:graphicFrame>
        <p:nvGraphicFramePr>
          <p:cNvPr id="47"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934245"/>
                <a:gridCol w="8129995"/>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Phương pháp</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09A1E5"/>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Dùng khi</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09A1E5"/>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Thuận tiện</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Khám phá, thử bảng hỏi, ít ngân sách</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Phán đoán</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Định tính, cần người am hiểu, trải nghiệm</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Phát triển mầm</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Đối tượng hiếm, khó tìm</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Định mức</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Cần cơ cấu như đám đông, thiếu khung mẫu</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r>
            </a:tbl>
          </a:graphicData>
        </a:graphic>
      </p:graphicFrame>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F0C6"/>
          </a:solidFill>
          <a:ln/>
        </p:spPr>
      </p:sp>
      <p:sp>
        <p:nvSpPr>
          <p:cNvPr id="3" name="Nhãn S7"/>
          <p:cNvSpPr/>
          <p:nvPr/>
        </p:nvSpPr>
        <p:spPr>
          <a:xfrm>
            <a:off x="822960" y="2240280"/>
            <a:ext cx="2377440" cy="2377440"/>
          </a:xfrm>
          <a:prstGeom prst="ellipse">
            <a:avLst/>
          </a:prstGeom>
          <a:solidFill>
            <a:srgbClr val="FFD23B"/>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S7</a:t>
            </a:r>
            <a:endParaRPr lang="en-US" sz="6000" dirty="0"/>
          </a:p>
        </p:txBody>
      </p:sp>
      <p:sp>
        <p:nvSpPr>
          <p:cNvPr id="5" name="Trang trí"/>
          <p:cNvSpPr/>
          <p:nvPr/>
        </p:nvSpPr>
        <p:spPr>
          <a:xfrm>
            <a:off x="10881360" y="457200"/>
            <a:ext cx="822960" cy="822960"/>
          </a:xfrm>
          <a:prstGeom prst="ellipse">
            <a:avLst/>
          </a:prstGeom>
          <a:solidFill>
            <a:srgbClr val="FF5178"/>
          </a:solidFill>
          <a:ln/>
        </p:spPr>
      </p:sp>
      <p:sp>
        <p:nvSpPr>
          <p:cNvPr id="6" name="Trang trí"/>
          <p:cNvSpPr/>
          <p:nvPr/>
        </p:nvSpPr>
        <p:spPr>
          <a:xfrm>
            <a:off x="10241280" y="4480560"/>
            <a:ext cx="1188720" cy="1188720"/>
          </a:xfrm>
          <a:prstGeom prst="ellipse">
            <a:avLst/>
          </a:prstGeom>
          <a:solidFill>
            <a:srgbClr val="09A1E5"/>
          </a:solidFill>
          <a:ln/>
        </p:spPr>
      </p:sp>
      <p:sp>
        <p:nvSpPr>
          <p:cNvPr id="7" name="Trang trí"/>
          <p:cNvSpPr/>
          <p:nvPr/>
        </p:nvSpPr>
        <p:spPr>
          <a:xfrm>
            <a:off x="9784080" y="5760720"/>
            <a:ext cx="365760" cy="365760"/>
          </a:xfrm>
          <a:prstGeom prst="ellipse">
            <a:avLst/>
          </a:prstGeom>
          <a:solidFill>
            <a:srgbClr val="FF9259"/>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95–100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Kiểm tra nhanh</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Ba câu hỏi kiểm tra nhanh</a:t>
            </a:r>
            <a:endParaRPr lang="en-US" sz="3600" dirty="0"/>
          </a:p>
        </p:txBody>
      </p:sp>
      <p:sp>
        <p:nvSpPr>
          <p:cNvPr id="6" name="Nhãn 1"/>
          <p:cNvSpPr/>
          <p:nvPr/>
        </p:nvSpPr>
        <p:spPr>
          <a:xfrm>
            <a:off x="548640" y="1855470"/>
            <a:ext cx="502920" cy="502920"/>
          </a:xfrm>
          <a:prstGeom prst="ellipse">
            <a:avLst/>
          </a:prstGeom>
          <a:solidFill>
            <a:srgbClr val="49B296"/>
          </a:solidFill>
          <a:ln/>
        </p:spPr>
      </p:sp>
      <p:sp>
        <p:nvSpPr>
          <p:cNvPr id="7" name="Text 5"/>
          <p:cNvSpPr txBox="1"/>
          <p:nvPr/>
        </p:nvSpPr>
        <p:spPr>
          <a:xfrm>
            <a:off x="548640" y="1855470"/>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8" name="Text 6"/>
          <p:cNvSpPr txBox="1"/>
          <p:nvPr/>
        </p:nvSpPr>
        <p:spPr>
          <a:xfrm>
            <a:off x="1234440" y="1783080"/>
            <a:ext cx="10332720" cy="114300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Gửi link vào 5 group Facebook, thu 600 phiếu, ghi “mẫu ngẫu nhiên, đại diện” — sai ở đâu?</a:t>
            </a:r>
            <a:endParaRPr lang="en-US" sz="3000" dirty="0"/>
          </a:p>
        </p:txBody>
      </p:sp>
      <p:sp>
        <p:nvSpPr>
          <p:cNvPr id="9" name="Nhãn 2"/>
          <p:cNvSpPr/>
          <p:nvPr/>
        </p:nvSpPr>
        <p:spPr>
          <a:xfrm>
            <a:off x="548640" y="3199638"/>
            <a:ext cx="502920" cy="502920"/>
          </a:xfrm>
          <a:prstGeom prst="ellipse">
            <a:avLst/>
          </a:prstGeom>
          <a:solidFill>
            <a:srgbClr val="FF5178"/>
          </a:solidFill>
          <a:ln/>
        </p:spPr>
      </p:sp>
      <p:sp>
        <p:nvSpPr>
          <p:cNvPr id="10" name="Text 8"/>
          <p:cNvSpPr txBox="1"/>
          <p:nvPr/>
        </p:nvSpPr>
        <p:spPr>
          <a:xfrm>
            <a:off x="548640" y="3199638"/>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1" name="Text 9"/>
          <p:cNvSpPr txBox="1"/>
          <p:nvPr/>
        </p:nvSpPr>
        <p:spPr>
          <a:xfrm>
            <a:off x="1234440" y="3127248"/>
            <a:ext cx="10332720" cy="64770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Phân tầng và định mức giống và khác nhau ở đâu?</a:t>
            </a:r>
            <a:endParaRPr lang="en-US" sz="3000" dirty="0"/>
          </a:p>
        </p:txBody>
      </p:sp>
      <p:sp>
        <p:nvSpPr>
          <p:cNvPr id="12" name="Nhãn 3"/>
          <p:cNvSpPr/>
          <p:nvPr/>
        </p:nvSpPr>
        <p:spPr>
          <a:xfrm>
            <a:off x="548640" y="4048506"/>
            <a:ext cx="502920" cy="502920"/>
          </a:xfrm>
          <a:prstGeom prst="ellipse">
            <a:avLst/>
          </a:prstGeom>
          <a:solidFill>
            <a:srgbClr val="09A1E5"/>
          </a:solidFill>
          <a:ln/>
        </p:spPr>
      </p:sp>
      <p:sp>
        <p:nvSpPr>
          <p:cNvPr id="13" name="Text 11"/>
          <p:cNvSpPr txBox="1"/>
          <p:nvPr/>
        </p:nvSpPr>
        <p:spPr>
          <a:xfrm>
            <a:off x="548640" y="4048506"/>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4" name="Text 12"/>
          <p:cNvSpPr txBox="1"/>
          <p:nvPr/>
        </p:nvSpPr>
        <p:spPr>
          <a:xfrm>
            <a:off x="1234440" y="3976116"/>
            <a:ext cx="10332720" cy="114300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Sai số giảm từ ±5% xuống ±2,5% thì cỡ mẫu tăng mấy lần?</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D0D5"/>
          </a:solidFill>
          <a:ln/>
        </p:spPr>
      </p:sp>
      <p:sp>
        <p:nvSpPr>
          <p:cNvPr id="3" name="Nhãn S8"/>
          <p:cNvSpPr/>
          <p:nvPr/>
        </p:nvSpPr>
        <p:spPr>
          <a:xfrm>
            <a:off x="822960" y="2240280"/>
            <a:ext cx="2377440" cy="2377440"/>
          </a:xfrm>
          <a:prstGeom prst="ellipse">
            <a:avLst/>
          </a:prstGeom>
          <a:solidFill>
            <a:srgbClr val="FF5178"/>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S8</a:t>
            </a:r>
            <a:endParaRPr lang="en-US" sz="6000" dirty="0"/>
          </a:p>
        </p:txBody>
      </p:sp>
      <p:sp>
        <p:nvSpPr>
          <p:cNvPr id="5" name="Trang trí"/>
          <p:cNvSpPr/>
          <p:nvPr/>
        </p:nvSpPr>
        <p:spPr>
          <a:xfrm>
            <a:off x="10881360" y="457200"/>
            <a:ext cx="822960" cy="822960"/>
          </a:xfrm>
          <a:prstGeom prst="ellipse">
            <a:avLst/>
          </a:prstGeom>
          <a:solidFill>
            <a:srgbClr val="FF9259"/>
          </a:solidFill>
          <a:ln/>
        </p:spPr>
      </p:sp>
      <p:sp>
        <p:nvSpPr>
          <p:cNvPr id="6" name="Trang trí"/>
          <p:cNvSpPr/>
          <p:nvPr/>
        </p:nvSpPr>
        <p:spPr>
          <a:xfrm>
            <a:off x="10241280" y="4480560"/>
            <a:ext cx="1188720" cy="1188720"/>
          </a:xfrm>
          <a:prstGeom prst="ellipse">
            <a:avLst/>
          </a:prstGeom>
          <a:solidFill>
            <a:srgbClr val="962B7C"/>
          </a:solidFill>
          <a:ln/>
        </p:spPr>
      </p:sp>
      <p:sp>
        <p:nvSpPr>
          <p:cNvPr id="7" name="Trang trí"/>
          <p:cNvSpPr/>
          <p:nvPr/>
        </p:nvSpPr>
        <p:spPr>
          <a:xfrm>
            <a:off x="9784080" y="5760720"/>
            <a:ext cx="365760" cy="365760"/>
          </a:xfrm>
          <a:prstGeom prst="ellipse">
            <a:avLst/>
          </a:prstGeom>
          <a:solidFill>
            <a:srgbClr val="FFD23B"/>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100–145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100" b="1" dirty="0">
                <a:solidFill>
                  <a:srgbClr val="2E2A3A"/>
                </a:solidFill>
                <a:latin typeface="Alexandria" pitchFamily="34" charset="0"/>
                <a:ea typeface="Alexandria" pitchFamily="34" charset="-122"/>
                <a:cs typeface="Alexandria" pitchFamily="34" charset="-120"/>
              </a:rPr>
              <a:t>Thực hành nhóm: tính toán và kế hoạch chọn mẫu</a:t>
            </a:r>
            <a:endParaRPr lang="en-US" sz="41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Thực hành Phần A (20'): phiếu bài tập tính toán</a:t>
            </a:r>
            <a:endParaRPr lang="en-US" sz="3400" dirty="0"/>
          </a:p>
        </p:txBody>
      </p:sp>
      <p:sp>
        <p:nvSpPr>
          <p:cNvPr id="6" name="Thẻ Cỡ mẫu"/>
          <p:cNvSpPr/>
          <p:nvPr/>
        </p:nvSpPr>
        <p:spPr>
          <a:xfrm>
            <a:off x="548640" y="1783080"/>
            <a:ext cx="3505200" cy="2011680"/>
          </a:xfrm>
          <a:prstGeom prst="roundRect">
            <a:avLst>
              <a:gd name="adj" fmla="val 8182"/>
            </a:avLst>
          </a:prstGeom>
          <a:solidFill>
            <a:srgbClr val="CFEAF1"/>
          </a:solidFill>
          <a:ln/>
        </p:spPr>
      </p:sp>
      <p:sp>
        <p:nvSpPr>
          <p:cNvPr id="7" name="Nhãn A1"/>
          <p:cNvSpPr/>
          <p:nvPr/>
        </p:nvSpPr>
        <p:spPr>
          <a:xfrm>
            <a:off x="713232" y="1947672"/>
            <a:ext cx="548640" cy="548640"/>
          </a:xfrm>
          <a:prstGeom prst="ellipse">
            <a:avLst/>
          </a:prstGeom>
          <a:solidFill>
            <a:srgbClr val="09A1E5"/>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A1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Cỡ mẫu</a:t>
            </a:r>
            <a:endParaRPr lang="en-US" sz="2800" dirty="0"/>
          </a:p>
        </p:txBody>
      </p:sp>
      <p:sp>
        <p:nvSpPr>
          <p:cNvPr id="10" name="Text 8"/>
          <p:cNvSpPr txBox="1"/>
          <p:nvPr/>
        </p:nvSpPr>
        <p:spPr>
          <a:xfrm>
            <a:off x="685800" y="2580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Tỷ lệ, e = 5% và 4%</a:t>
            </a:r>
            <a:endParaRPr lang="en-US" sz="2600" dirty="0"/>
          </a:p>
        </p:txBody>
      </p:sp>
      <p:sp>
        <p:nvSpPr>
          <p:cNvPr id="11" name="Thẻ Bước nhảy"/>
          <p:cNvSpPr/>
          <p:nvPr/>
        </p:nvSpPr>
        <p:spPr>
          <a:xfrm>
            <a:off x="4328160" y="1783080"/>
            <a:ext cx="3505200" cy="2011680"/>
          </a:xfrm>
          <a:prstGeom prst="roundRect">
            <a:avLst>
              <a:gd name="adj" fmla="val 8182"/>
            </a:avLst>
          </a:prstGeom>
          <a:solidFill>
            <a:srgbClr val="FCE7D8"/>
          </a:solidFill>
          <a:ln/>
        </p:spPr>
      </p:sp>
      <p:sp>
        <p:nvSpPr>
          <p:cNvPr id="12" name="Nhãn A2"/>
          <p:cNvSpPr/>
          <p:nvPr/>
        </p:nvSpPr>
        <p:spPr>
          <a:xfrm>
            <a:off x="4492752" y="1947672"/>
            <a:ext cx="548640" cy="548640"/>
          </a:xfrm>
          <a:prstGeom prst="ellipse">
            <a:avLst/>
          </a:prstGeom>
          <a:solidFill>
            <a:srgbClr val="FF9259"/>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A2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Bước nhảy</a:t>
            </a:r>
            <a:endParaRPr lang="en-US" sz="2800" dirty="0"/>
          </a:p>
        </p:txBody>
      </p:sp>
      <p:sp>
        <p:nvSpPr>
          <p:cNvPr id="15" name="Text 13"/>
          <p:cNvSpPr txBox="1"/>
          <p:nvPr/>
        </p:nvSpPr>
        <p:spPr>
          <a:xfrm>
            <a:off x="4465320" y="2580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Mẫu hệ thống</a:t>
            </a:r>
            <a:endParaRPr lang="en-US" sz="2600" dirty="0"/>
          </a:p>
        </p:txBody>
      </p:sp>
      <p:sp>
        <p:nvSpPr>
          <p:cNvPr id="16" name="Thẻ Phân bổ"/>
          <p:cNvSpPr/>
          <p:nvPr/>
        </p:nvSpPr>
        <p:spPr>
          <a:xfrm>
            <a:off x="8107680" y="1783080"/>
            <a:ext cx="3505200" cy="2011680"/>
          </a:xfrm>
          <a:prstGeom prst="roundRect">
            <a:avLst>
              <a:gd name="adj" fmla="val 8182"/>
            </a:avLst>
          </a:prstGeom>
          <a:solidFill>
            <a:srgbClr val="E9D5DE"/>
          </a:solidFill>
          <a:ln/>
        </p:spPr>
      </p:sp>
      <p:sp>
        <p:nvSpPr>
          <p:cNvPr id="17" name="Nhãn A3"/>
          <p:cNvSpPr/>
          <p:nvPr/>
        </p:nvSpPr>
        <p:spPr>
          <a:xfrm>
            <a:off x="8272272" y="1947672"/>
            <a:ext cx="548640" cy="548640"/>
          </a:xfrm>
          <a:prstGeom prst="ellipse">
            <a:avLst/>
          </a:prstGeom>
          <a:solidFill>
            <a:srgbClr val="962B7C"/>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A3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Phân bổ</a:t>
            </a:r>
            <a:endParaRPr lang="en-US" sz="2800" dirty="0"/>
          </a:p>
        </p:txBody>
      </p:sp>
      <p:sp>
        <p:nvSpPr>
          <p:cNvPr id="20" name="Text 18"/>
          <p:cNvSpPr txBox="1"/>
          <p:nvPr/>
        </p:nvSpPr>
        <p:spPr>
          <a:xfrm>
            <a:off x="8244840" y="2580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Tỷ lệ và chia đều</a:t>
            </a:r>
            <a:endParaRPr lang="en-US" sz="2600" dirty="0"/>
          </a:p>
        </p:txBody>
      </p:sp>
      <p:sp>
        <p:nvSpPr>
          <p:cNvPr id="21" name="Thẻ Định mức"/>
          <p:cNvSpPr/>
          <p:nvPr/>
        </p:nvSpPr>
        <p:spPr>
          <a:xfrm>
            <a:off x="548640" y="4069080"/>
            <a:ext cx="3505200" cy="2011680"/>
          </a:xfrm>
          <a:prstGeom prst="roundRect">
            <a:avLst>
              <a:gd name="adj" fmla="val 8182"/>
            </a:avLst>
          </a:prstGeom>
          <a:solidFill>
            <a:srgbClr val="FCF3D3"/>
          </a:solidFill>
          <a:ln/>
        </p:spPr>
      </p:sp>
      <p:sp>
        <p:nvSpPr>
          <p:cNvPr id="22" name="Nhãn A4"/>
          <p:cNvSpPr/>
          <p:nvPr/>
        </p:nvSpPr>
        <p:spPr>
          <a:xfrm>
            <a:off x="713232" y="4233672"/>
            <a:ext cx="548640" cy="548640"/>
          </a:xfrm>
          <a:prstGeom prst="ellipse">
            <a:avLst/>
          </a:prstGeom>
          <a:solidFill>
            <a:srgbClr val="FFD23B"/>
          </a:solidFill>
          <a:ln/>
        </p:spPr>
      </p:sp>
      <p:sp>
        <p:nvSpPr>
          <p:cNvPr id="23" name="Text 21"/>
          <p:cNvSpPr txBox="1"/>
          <p:nvPr/>
        </p:nvSpPr>
        <p:spPr>
          <a:xfrm>
            <a:off x="71323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A4</a:t>
            </a:r>
            <a:endParaRPr lang="en-US" sz="2400" dirty="0"/>
          </a:p>
        </p:txBody>
      </p:sp>
      <p:sp>
        <p:nvSpPr>
          <p:cNvPr id="24" name="Text 22"/>
          <p:cNvSpPr txBox="1"/>
          <p:nvPr/>
        </p:nvSpPr>
        <p:spPr>
          <a:xfrm>
            <a:off x="1371600" y="4206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Định mức</a:t>
            </a:r>
            <a:endParaRPr lang="en-US" sz="2800" dirty="0"/>
          </a:p>
        </p:txBody>
      </p:sp>
      <p:sp>
        <p:nvSpPr>
          <p:cNvPr id="25" name="Text 23"/>
          <p:cNvSpPr txBox="1"/>
          <p:nvPr/>
        </p:nvSpPr>
        <p:spPr>
          <a:xfrm>
            <a:off x="685800" y="4866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Bảng 2 thuộc tính</a:t>
            </a:r>
            <a:endParaRPr lang="en-US" sz="2600" dirty="0"/>
          </a:p>
        </p:txBody>
      </p:sp>
      <p:sp>
        <p:nvSpPr>
          <p:cNvPr id="26" name="Thẻ Tìm lỗi"/>
          <p:cNvSpPr/>
          <p:nvPr/>
        </p:nvSpPr>
        <p:spPr>
          <a:xfrm>
            <a:off x="4328160" y="4069080"/>
            <a:ext cx="3505200" cy="2011680"/>
          </a:xfrm>
          <a:prstGeom prst="roundRect">
            <a:avLst>
              <a:gd name="adj" fmla="val 8182"/>
            </a:avLst>
          </a:prstGeom>
          <a:solidFill>
            <a:srgbClr val="DBEDE3"/>
          </a:solidFill>
          <a:ln/>
        </p:spPr>
      </p:sp>
      <p:sp>
        <p:nvSpPr>
          <p:cNvPr id="27" name="Nhãn A5"/>
          <p:cNvSpPr/>
          <p:nvPr/>
        </p:nvSpPr>
        <p:spPr>
          <a:xfrm>
            <a:off x="4492752" y="4233672"/>
            <a:ext cx="548640" cy="548640"/>
          </a:xfrm>
          <a:prstGeom prst="ellipse">
            <a:avLst/>
          </a:prstGeom>
          <a:solidFill>
            <a:srgbClr val="49B296"/>
          </a:solidFill>
          <a:ln/>
        </p:spPr>
      </p:sp>
      <p:sp>
        <p:nvSpPr>
          <p:cNvPr id="28" name="Text 26"/>
          <p:cNvSpPr txBox="1"/>
          <p:nvPr/>
        </p:nvSpPr>
        <p:spPr>
          <a:xfrm>
            <a:off x="449275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A5</a:t>
            </a:r>
            <a:endParaRPr lang="en-US" sz="2400" dirty="0"/>
          </a:p>
        </p:txBody>
      </p:sp>
      <p:sp>
        <p:nvSpPr>
          <p:cNvPr id="29" name="Text 27"/>
          <p:cNvSpPr txBox="1"/>
          <p:nvPr/>
        </p:nvSpPr>
        <p:spPr>
          <a:xfrm>
            <a:off x="5151120" y="4206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Tìm lỗi</a:t>
            </a:r>
            <a:endParaRPr lang="en-US" sz="2800" dirty="0"/>
          </a:p>
        </p:txBody>
      </p:sp>
      <p:sp>
        <p:nvSpPr>
          <p:cNvPr id="30" name="Text 28"/>
          <p:cNvSpPr txBox="1"/>
          <p:nvPr/>
        </p:nvSpPr>
        <p:spPr>
          <a:xfrm>
            <a:off x="4465320" y="4866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Bảng định mức sai</a:t>
            </a:r>
            <a:endParaRPr lang="en-US" sz="2600" dirty="0"/>
          </a:p>
        </p:txBody>
      </p:sp>
      <p:sp>
        <p:nvSpPr>
          <p:cNvPr id="31" name="Thẻ Ưu tiên"/>
          <p:cNvSpPr/>
          <p:nvPr/>
        </p:nvSpPr>
        <p:spPr>
          <a:xfrm>
            <a:off x="8107680" y="4069080"/>
            <a:ext cx="3505200" cy="2011680"/>
          </a:xfrm>
          <a:prstGeom prst="roundRect">
            <a:avLst>
              <a:gd name="adj" fmla="val 8182"/>
            </a:avLst>
          </a:prstGeom>
          <a:solidFill>
            <a:srgbClr val="FCDCDE"/>
          </a:solidFill>
          <a:ln/>
        </p:spPr>
      </p:sp>
      <p:sp>
        <p:nvSpPr>
          <p:cNvPr id="32" name="Nhãn !"/>
          <p:cNvSpPr/>
          <p:nvPr/>
        </p:nvSpPr>
        <p:spPr>
          <a:xfrm>
            <a:off x="8272272" y="4233672"/>
            <a:ext cx="548640" cy="548640"/>
          </a:xfrm>
          <a:prstGeom prst="ellipse">
            <a:avLst/>
          </a:prstGeom>
          <a:solidFill>
            <a:srgbClr val="FF5178"/>
          </a:solidFill>
          <a:ln/>
        </p:spPr>
      </p:sp>
      <p:sp>
        <p:nvSpPr>
          <p:cNvPr id="33" name="Text 31"/>
          <p:cNvSpPr txBox="1"/>
          <p:nvPr/>
        </p:nvSpPr>
        <p:spPr>
          <a:xfrm>
            <a:off x="827227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a:t>
            </a:r>
            <a:endParaRPr lang="en-US" sz="2400" dirty="0"/>
          </a:p>
        </p:txBody>
      </p:sp>
      <p:sp>
        <p:nvSpPr>
          <p:cNvPr id="34" name="Text 32"/>
          <p:cNvSpPr txBox="1"/>
          <p:nvPr/>
        </p:nvSpPr>
        <p:spPr>
          <a:xfrm>
            <a:off x="8930640" y="4206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Ưu tiên</a:t>
            </a:r>
            <a:endParaRPr lang="en-US" sz="2800" dirty="0"/>
          </a:p>
        </p:txBody>
      </p:sp>
      <p:sp>
        <p:nvSpPr>
          <p:cNvPr id="35" name="Text 33"/>
          <p:cNvSpPr txBox="1"/>
          <p:nvPr/>
        </p:nvSpPr>
        <p:spPr>
          <a:xfrm>
            <a:off x="8244840" y="4866640"/>
            <a:ext cx="323088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A1, A4, A5 · 15' làm + 5' chữa</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Đáp án Phần A</a:t>
            </a:r>
            <a:endParaRPr lang="en-US" sz="3600" dirty="0"/>
          </a:p>
        </p:txBody>
      </p:sp>
      <p:sp>
        <p:nvSpPr>
          <p:cNvPr id="6" name="Dấu đầu dòng"/>
          <p:cNvSpPr/>
          <p:nvPr/>
        </p:nvSpPr>
        <p:spPr>
          <a:xfrm>
            <a:off x="585216" y="2006346"/>
            <a:ext cx="201168" cy="201168"/>
          </a:xfrm>
          <a:prstGeom prst="ellipse">
            <a:avLst/>
          </a:prstGeom>
          <a:solidFill>
            <a:srgbClr val="FF9259"/>
          </a:solidFill>
          <a:ln/>
        </p:spPr>
      </p:sp>
      <p:sp>
        <p:nvSpPr>
          <p:cNvPr id="7" name="Text 5"/>
          <p:cNvSpPr txBox="1"/>
          <p:nvPr/>
        </p:nvSpPr>
        <p:spPr>
          <a:xfrm>
            <a:off x="1005840" y="1783080"/>
            <a:ext cx="10561320" cy="64770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2E2A3A"/>
                </a:solidFill>
                <a:latin typeface="Alexandria" pitchFamily="34" charset="0"/>
                <a:ea typeface="Alexandria" pitchFamily="34" charset="-122"/>
                <a:cs typeface="Alexandria" pitchFamily="34" charset="-120"/>
              </a:rPr>
              <a:t>A1:</a:t>
            </a:r>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 385 · 601 · tăng ≈ 56% · 246 · phát 453 / 708</a:t>
            </a:r>
            <a:endParaRPr lang="en-US" sz="3000" dirty="0"/>
          </a:p>
        </p:txBody>
      </p:sp>
      <p:sp>
        <p:nvSpPr>
          <p:cNvPr id="8" name="Dấu đầu dòng"/>
          <p:cNvSpPr/>
          <p:nvPr/>
        </p:nvSpPr>
        <p:spPr>
          <a:xfrm>
            <a:off x="585216" y="2855214"/>
            <a:ext cx="201168" cy="201168"/>
          </a:xfrm>
          <a:prstGeom prst="ellipse">
            <a:avLst/>
          </a:prstGeom>
          <a:solidFill>
            <a:srgbClr val="962B7C"/>
          </a:solidFill>
          <a:ln/>
        </p:spPr>
      </p:sp>
      <p:sp>
        <p:nvSpPr>
          <p:cNvPr id="9" name="Text 7"/>
          <p:cNvSpPr txBox="1"/>
          <p:nvPr/>
        </p:nvSpPr>
        <p:spPr>
          <a:xfrm>
            <a:off x="1005840" y="2631948"/>
            <a:ext cx="10561320" cy="64770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2E2A3A"/>
                </a:solidFill>
                <a:latin typeface="Alexandria" pitchFamily="34" charset="0"/>
                <a:ea typeface="Alexandria" pitchFamily="34" charset="-122"/>
                <a:cs typeface="Alexandria" pitchFamily="34" charset="-120"/>
              </a:rPr>
              <a:t>A2:</a:t>
            </a:r>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 k = 20; 13, 33, 53, 73 … 2.393; tại cửa hàng k = 12</a:t>
            </a:r>
            <a:endParaRPr lang="en-US" sz="3000" dirty="0"/>
          </a:p>
        </p:txBody>
      </p:sp>
      <p:sp>
        <p:nvSpPr>
          <p:cNvPr id="10" name="Dấu đầu dòng"/>
          <p:cNvSpPr/>
          <p:nvPr/>
        </p:nvSpPr>
        <p:spPr>
          <a:xfrm>
            <a:off x="585216" y="3704082"/>
            <a:ext cx="201168" cy="201168"/>
          </a:xfrm>
          <a:prstGeom prst="ellipse">
            <a:avLst/>
          </a:prstGeom>
          <a:solidFill>
            <a:srgbClr val="FFD23B"/>
          </a:solidFill>
          <a:ln/>
        </p:spPr>
      </p:sp>
      <p:sp>
        <p:nvSpPr>
          <p:cNvPr id="11" name="Text 9"/>
          <p:cNvSpPr txBox="1"/>
          <p:nvPr/>
        </p:nvSpPr>
        <p:spPr>
          <a:xfrm>
            <a:off x="1005840" y="3480816"/>
            <a:ext cx="10561320" cy="64770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2E2A3A"/>
                </a:solidFill>
                <a:latin typeface="Alexandria" pitchFamily="34" charset="0"/>
                <a:ea typeface="Alexandria" pitchFamily="34" charset="-122"/>
                <a:cs typeface="Alexandria" pitchFamily="34" charset="-120"/>
              </a:rPr>
              <a:t>A3:</a:t>
            </a:r>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 90 / 75 / 45 / 30 và 60 × 4</a:t>
            </a:r>
            <a:endParaRPr lang="en-US" sz="3000" dirty="0"/>
          </a:p>
        </p:txBody>
      </p:sp>
      <p:sp>
        <p:nvSpPr>
          <p:cNvPr id="12" name="Dấu đầu dòng"/>
          <p:cNvSpPr/>
          <p:nvPr/>
        </p:nvSpPr>
        <p:spPr>
          <a:xfrm>
            <a:off x="585216" y="4552950"/>
            <a:ext cx="201168" cy="201168"/>
          </a:xfrm>
          <a:prstGeom prst="ellipse">
            <a:avLst/>
          </a:prstGeom>
          <a:solidFill>
            <a:srgbClr val="49B296"/>
          </a:solidFill>
          <a:ln/>
        </p:spPr>
      </p:sp>
      <p:sp>
        <p:nvSpPr>
          <p:cNvPr id="13" name="Text 11"/>
          <p:cNvSpPr txBox="1"/>
          <p:nvPr/>
        </p:nvSpPr>
        <p:spPr>
          <a:xfrm>
            <a:off x="1005840" y="4329684"/>
            <a:ext cx="10561320" cy="64770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2E2A3A"/>
                </a:solidFill>
                <a:latin typeface="Alexandria" pitchFamily="34" charset="0"/>
                <a:ea typeface="Alexandria" pitchFamily="34" charset="-122"/>
                <a:cs typeface="Alexandria" pitchFamily="34" charset="-120"/>
              </a:rPr>
              <a:t>A4:</a:t>
            </a:r>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 105 / 45 · 63 / 27 · 42 / 18 (tổng 210 / 90)</a:t>
            </a:r>
            <a:endParaRPr lang="en-US" sz="3000" dirty="0"/>
          </a:p>
        </p:txBody>
      </p:sp>
      <p:sp>
        <p:nvSpPr>
          <p:cNvPr id="14" name="Dấu đầu dòng"/>
          <p:cNvSpPr/>
          <p:nvPr/>
        </p:nvSpPr>
        <p:spPr>
          <a:xfrm>
            <a:off x="585216" y="5401818"/>
            <a:ext cx="201168" cy="201168"/>
          </a:xfrm>
          <a:prstGeom prst="ellipse">
            <a:avLst/>
          </a:prstGeom>
          <a:solidFill>
            <a:srgbClr val="FF5178"/>
          </a:solidFill>
          <a:ln/>
        </p:spPr>
      </p:sp>
      <p:sp>
        <p:nvSpPr>
          <p:cNvPr id="15" name="Text 13"/>
          <p:cNvSpPr txBox="1"/>
          <p:nvPr/>
        </p:nvSpPr>
        <p:spPr>
          <a:xfrm>
            <a:off x="1005840" y="5178552"/>
            <a:ext cx="10561320" cy="64770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2E2A3A"/>
                </a:solidFill>
                <a:latin typeface="Alexandria" pitchFamily="34" charset="0"/>
                <a:ea typeface="Alexandria" pitchFamily="34" charset="-122"/>
                <a:cs typeface="Alexandria" pitchFamily="34" charset="-120"/>
              </a:rPr>
              <a:t>A5:</a:t>
            </a:r>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 31–40 = 20 / 20; 41–50 = 15 / 15</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Thực hành Phần B (25'): kế hoạch chọn mẫu cho dự án của nhóm</a:t>
            </a:r>
            <a:endParaRPr lang="en-US" sz="3400" dirty="0"/>
          </a:p>
        </p:txBody>
      </p:sp>
      <p:sp>
        <p:nvSpPr>
          <p:cNvPr id="6" name="Chặng 1"/>
          <p:cNvSpPr/>
          <p:nvPr/>
        </p:nvSpPr>
        <p:spPr>
          <a:xfrm>
            <a:off x="548640" y="1783080"/>
            <a:ext cx="11064240" cy="640080"/>
          </a:xfrm>
          <a:prstGeom prst="roundRect">
            <a:avLst>
              <a:gd name="adj" fmla="val 25714"/>
            </a:avLst>
          </a:prstGeom>
          <a:solidFill>
            <a:srgbClr val="EBD9E1"/>
          </a:solidFill>
          <a:ln/>
        </p:spPr>
      </p:sp>
      <p:sp>
        <p:nvSpPr>
          <p:cNvPr id="7" name="Thời gian"/>
          <p:cNvSpPr/>
          <p:nvPr/>
        </p:nvSpPr>
        <p:spPr>
          <a:xfrm>
            <a:off x="640080" y="1828800"/>
            <a:ext cx="1280160" cy="548640"/>
          </a:xfrm>
          <a:prstGeom prst="roundRect">
            <a:avLst>
              <a:gd name="adj" fmla="val 50000"/>
            </a:avLst>
          </a:prstGeom>
          <a:solidFill>
            <a:srgbClr val="962B7C"/>
          </a:solidFill>
          <a:ln/>
        </p:spPr>
      </p:sp>
      <p:sp>
        <p:nvSpPr>
          <p:cNvPr id="8" name="Text 6"/>
          <p:cNvSpPr txBox="1"/>
          <p:nvPr/>
        </p:nvSpPr>
        <p:spPr>
          <a:xfrm>
            <a:off x="640080" y="182880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5'</a:t>
            </a:r>
            <a:endParaRPr lang="en-US" sz="2400" dirty="0"/>
          </a:p>
        </p:txBody>
      </p:sp>
      <p:sp>
        <p:nvSpPr>
          <p:cNvPr id="9" name="Text 7"/>
          <p:cNvSpPr txBox="1"/>
          <p:nvPr/>
        </p:nvSpPr>
        <p:spPr>
          <a:xfrm>
            <a:off x="2103120" y="1783080"/>
            <a:ext cx="9372600" cy="640080"/>
          </a:xfrm>
          <a:prstGeom prst="rect">
            <a:avLst/>
          </a:prstGeom>
          <a:noFill/>
          <a:ln/>
        </p:spPr>
        <p:txBody>
          <a:bodyPr wrap="square" lIns="76200" tIns="76200" rIns="76200" bIns="76200" rtlCol="0" anchor="ctr"/>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Đám đông nghiên cứu đủ 4 yếu tố</a:t>
            </a:r>
            <a:endParaRPr lang="en-US" sz="2800" dirty="0"/>
          </a:p>
        </p:txBody>
      </p:sp>
      <p:sp>
        <p:nvSpPr>
          <p:cNvPr id="10" name="Chặng 2"/>
          <p:cNvSpPr/>
          <p:nvPr/>
        </p:nvSpPr>
        <p:spPr>
          <a:xfrm>
            <a:off x="548640" y="2560320"/>
            <a:ext cx="11064240" cy="640080"/>
          </a:xfrm>
          <a:prstGeom prst="roundRect">
            <a:avLst>
              <a:gd name="adj" fmla="val 25714"/>
            </a:avLst>
          </a:prstGeom>
          <a:solidFill>
            <a:srgbClr val="FCF4D6"/>
          </a:solidFill>
          <a:ln/>
        </p:spPr>
      </p:sp>
      <p:sp>
        <p:nvSpPr>
          <p:cNvPr id="11" name="Thời gian"/>
          <p:cNvSpPr/>
          <p:nvPr/>
        </p:nvSpPr>
        <p:spPr>
          <a:xfrm>
            <a:off x="640080" y="2606040"/>
            <a:ext cx="1280160" cy="548640"/>
          </a:xfrm>
          <a:prstGeom prst="roundRect">
            <a:avLst>
              <a:gd name="adj" fmla="val 50000"/>
            </a:avLst>
          </a:prstGeom>
          <a:solidFill>
            <a:srgbClr val="FFD23B"/>
          </a:solidFill>
          <a:ln/>
        </p:spPr>
      </p:sp>
      <p:sp>
        <p:nvSpPr>
          <p:cNvPr id="12" name="Text 10"/>
          <p:cNvSpPr txBox="1"/>
          <p:nvPr/>
        </p:nvSpPr>
        <p:spPr>
          <a:xfrm>
            <a:off x="640080" y="260604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3" name="Text 11"/>
          <p:cNvSpPr txBox="1"/>
          <p:nvPr/>
        </p:nvSpPr>
        <p:spPr>
          <a:xfrm>
            <a:off x="2103120" y="2560320"/>
            <a:ext cx="9372600" cy="640080"/>
          </a:xfrm>
          <a:prstGeom prst="rect">
            <a:avLst/>
          </a:prstGeom>
          <a:noFill/>
          <a:ln/>
        </p:spPr>
        <p:txBody>
          <a:bodyPr wrap="square" lIns="76200" tIns="76200" rIns="76200" bIns="76200" rtlCol="0" anchor="ctr"/>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Khung mẫu: có danh sách không? Thiếu ai, thừa ai?</a:t>
            </a:r>
            <a:endParaRPr lang="en-US" sz="2800" dirty="0"/>
          </a:p>
        </p:txBody>
      </p:sp>
      <p:sp>
        <p:nvSpPr>
          <p:cNvPr id="14" name="Chặng 3"/>
          <p:cNvSpPr/>
          <p:nvPr/>
        </p:nvSpPr>
        <p:spPr>
          <a:xfrm>
            <a:off x="548640" y="3337560"/>
            <a:ext cx="11064240" cy="640080"/>
          </a:xfrm>
          <a:prstGeom prst="roundRect">
            <a:avLst>
              <a:gd name="adj" fmla="val 25714"/>
            </a:avLst>
          </a:prstGeom>
          <a:solidFill>
            <a:srgbClr val="DFEEE5"/>
          </a:solidFill>
          <a:ln/>
        </p:spPr>
      </p:sp>
      <p:sp>
        <p:nvSpPr>
          <p:cNvPr id="15" name="Thời gian"/>
          <p:cNvSpPr/>
          <p:nvPr/>
        </p:nvSpPr>
        <p:spPr>
          <a:xfrm>
            <a:off x="640080" y="3383280"/>
            <a:ext cx="1280160" cy="548640"/>
          </a:xfrm>
          <a:prstGeom prst="roundRect">
            <a:avLst>
              <a:gd name="adj" fmla="val 50000"/>
            </a:avLst>
          </a:prstGeom>
          <a:solidFill>
            <a:srgbClr val="49B296"/>
          </a:solidFill>
          <a:ln/>
        </p:spPr>
      </p:sp>
      <p:sp>
        <p:nvSpPr>
          <p:cNvPr id="16" name="Text 14"/>
          <p:cNvSpPr txBox="1"/>
          <p:nvPr/>
        </p:nvSpPr>
        <p:spPr>
          <a:xfrm>
            <a:off x="640080" y="338328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5'</a:t>
            </a:r>
            <a:endParaRPr lang="en-US" sz="2400" dirty="0"/>
          </a:p>
        </p:txBody>
      </p:sp>
      <p:sp>
        <p:nvSpPr>
          <p:cNvPr id="17" name="Text 15"/>
          <p:cNvSpPr txBox="1"/>
          <p:nvPr/>
        </p:nvSpPr>
        <p:spPr>
          <a:xfrm>
            <a:off x="2103120" y="3337560"/>
            <a:ext cx="9372600" cy="640080"/>
          </a:xfrm>
          <a:prstGeom prst="rect">
            <a:avLst/>
          </a:prstGeom>
          <a:noFill/>
          <a:ln/>
        </p:spPr>
        <p:txBody>
          <a:bodyPr wrap="square" lIns="76200" tIns="76200" rIns="76200" bIns="76200" rtlCol="0" anchor="ctr"/>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Cỡ mẫu có căn cứ + dự trù phiếu hỏng</a:t>
            </a:r>
            <a:endParaRPr lang="en-US" sz="2800" dirty="0"/>
          </a:p>
        </p:txBody>
      </p:sp>
      <p:sp>
        <p:nvSpPr>
          <p:cNvPr id="18" name="Chặng 4"/>
          <p:cNvSpPr/>
          <p:nvPr/>
        </p:nvSpPr>
        <p:spPr>
          <a:xfrm>
            <a:off x="548640" y="4114800"/>
            <a:ext cx="11064240" cy="1076960"/>
          </a:xfrm>
          <a:prstGeom prst="roundRect">
            <a:avLst>
              <a:gd name="adj" fmla="val 15283"/>
            </a:avLst>
          </a:prstGeom>
          <a:solidFill>
            <a:srgbClr val="FCDFE0"/>
          </a:solidFill>
          <a:ln/>
        </p:spPr>
      </p:sp>
      <p:sp>
        <p:nvSpPr>
          <p:cNvPr id="19" name="Thời gian"/>
          <p:cNvSpPr/>
          <p:nvPr/>
        </p:nvSpPr>
        <p:spPr>
          <a:xfrm>
            <a:off x="640080" y="4378960"/>
            <a:ext cx="1280160" cy="548640"/>
          </a:xfrm>
          <a:prstGeom prst="roundRect">
            <a:avLst>
              <a:gd name="adj" fmla="val 50000"/>
            </a:avLst>
          </a:prstGeom>
          <a:solidFill>
            <a:srgbClr val="FF5178"/>
          </a:solidFill>
          <a:ln/>
        </p:spPr>
      </p:sp>
      <p:sp>
        <p:nvSpPr>
          <p:cNvPr id="20" name="Text 18"/>
          <p:cNvSpPr txBox="1"/>
          <p:nvPr/>
        </p:nvSpPr>
        <p:spPr>
          <a:xfrm>
            <a:off x="640080" y="437896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5'</a:t>
            </a:r>
            <a:endParaRPr lang="en-US" sz="2400" dirty="0"/>
          </a:p>
        </p:txBody>
      </p:sp>
      <p:sp>
        <p:nvSpPr>
          <p:cNvPr id="21" name="Text 19"/>
          <p:cNvSpPr txBox="1"/>
          <p:nvPr/>
        </p:nvSpPr>
        <p:spPr>
          <a:xfrm>
            <a:off x="2103120" y="4114800"/>
            <a:ext cx="9372600" cy="1076960"/>
          </a:xfrm>
          <a:prstGeom prst="rect">
            <a:avLst/>
          </a:prstGeom>
          <a:noFill/>
          <a:ln/>
        </p:spPr>
        <p:txBody>
          <a:bodyPr wrap="square" lIns="76200" tIns="76200" rIns="76200" bIns="76200" rtlCol="0" anchor="ctr"/>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Phương pháp đúng tên, cách tiếp cận, bảng định mức</a:t>
            </a:r>
            <a:endParaRPr lang="en-US" sz="2800" dirty="0"/>
          </a:p>
        </p:txBody>
      </p:sp>
      <p:sp>
        <p:nvSpPr>
          <p:cNvPr id="22" name="Chặng 5"/>
          <p:cNvSpPr/>
          <p:nvPr/>
        </p:nvSpPr>
        <p:spPr>
          <a:xfrm>
            <a:off x="548640" y="5328920"/>
            <a:ext cx="11064240" cy="640080"/>
          </a:xfrm>
          <a:prstGeom prst="roundRect">
            <a:avLst>
              <a:gd name="adj" fmla="val 25714"/>
            </a:avLst>
          </a:prstGeom>
          <a:solidFill>
            <a:srgbClr val="D4ECF2"/>
          </a:solidFill>
          <a:ln/>
        </p:spPr>
      </p:sp>
      <p:sp>
        <p:nvSpPr>
          <p:cNvPr id="23" name="Thời gian"/>
          <p:cNvSpPr/>
          <p:nvPr/>
        </p:nvSpPr>
        <p:spPr>
          <a:xfrm>
            <a:off x="640080" y="5374640"/>
            <a:ext cx="1280160" cy="548640"/>
          </a:xfrm>
          <a:prstGeom prst="roundRect">
            <a:avLst>
              <a:gd name="adj" fmla="val 50000"/>
            </a:avLst>
          </a:prstGeom>
          <a:solidFill>
            <a:srgbClr val="09A1E5"/>
          </a:solidFill>
          <a:ln/>
        </p:spPr>
      </p:sp>
      <p:sp>
        <p:nvSpPr>
          <p:cNvPr id="24" name="Text 22"/>
          <p:cNvSpPr txBox="1"/>
          <p:nvPr/>
        </p:nvSpPr>
        <p:spPr>
          <a:xfrm>
            <a:off x="640080" y="537464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5'</a:t>
            </a:r>
            <a:endParaRPr lang="en-US" sz="2400" dirty="0"/>
          </a:p>
        </p:txBody>
      </p:sp>
      <p:sp>
        <p:nvSpPr>
          <p:cNvPr id="25" name="Text 23"/>
          <p:cNvSpPr txBox="1"/>
          <p:nvPr/>
        </p:nvSpPr>
        <p:spPr>
          <a:xfrm>
            <a:off x="2103120" y="5328920"/>
            <a:ext cx="9372600" cy="640080"/>
          </a:xfrm>
          <a:prstGeom prst="rect">
            <a:avLst/>
          </a:prstGeom>
          <a:noFill/>
          <a:ln/>
        </p:spPr>
        <p:txBody>
          <a:bodyPr wrap="square" lIns="76200" tIns="76200" rIns="76200" bIns="76200" rtlCol="0" anchor="ctr"/>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Câu gạn lọc, rủi ro sai lệch, câu hạn chế</a:t>
            </a:r>
            <a:endParaRPr lang="en-US" sz="28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F0C6"/>
          </a:solidFill>
          <a:ln/>
        </p:spPr>
      </p:sp>
      <p:sp>
        <p:nvSpPr>
          <p:cNvPr id="3" name="Nhãn S9"/>
          <p:cNvSpPr/>
          <p:nvPr/>
        </p:nvSpPr>
        <p:spPr>
          <a:xfrm>
            <a:off x="822960" y="2240280"/>
            <a:ext cx="2377440" cy="2377440"/>
          </a:xfrm>
          <a:prstGeom prst="ellipse">
            <a:avLst/>
          </a:prstGeom>
          <a:solidFill>
            <a:srgbClr val="FFD23B"/>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S9</a:t>
            </a:r>
            <a:endParaRPr lang="en-US" sz="6000" dirty="0"/>
          </a:p>
        </p:txBody>
      </p:sp>
      <p:sp>
        <p:nvSpPr>
          <p:cNvPr id="5" name="Trang trí"/>
          <p:cNvSpPr/>
          <p:nvPr/>
        </p:nvSpPr>
        <p:spPr>
          <a:xfrm>
            <a:off x="10881360" y="457200"/>
            <a:ext cx="822960" cy="822960"/>
          </a:xfrm>
          <a:prstGeom prst="ellipse">
            <a:avLst/>
          </a:prstGeom>
          <a:solidFill>
            <a:srgbClr val="FF5178"/>
          </a:solidFill>
          <a:ln/>
        </p:spPr>
      </p:sp>
      <p:sp>
        <p:nvSpPr>
          <p:cNvPr id="6" name="Trang trí"/>
          <p:cNvSpPr/>
          <p:nvPr/>
        </p:nvSpPr>
        <p:spPr>
          <a:xfrm>
            <a:off x="10241280" y="4480560"/>
            <a:ext cx="1188720" cy="1188720"/>
          </a:xfrm>
          <a:prstGeom prst="ellipse">
            <a:avLst/>
          </a:prstGeom>
          <a:solidFill>
            <a:srgbClr val="09A1E5"/>
          </a:solidFill>
          <a:ln/>
        </p:spPr>
      </p:sp>
      <p:sp>
        <p:nvSpPr>
          <p:cNvPr id="7" name="Trang trí"/>
          <p:cNvSpPr/>
          <p:nvPr/>
        </p:nvSpPr>
        <p:spPr>
          <a:xfrm>
            <a:off x="9784080" y="5760720"/>
            <a:ext cx="365760" cy="365760"/>
          </a:xfrm>
          <a:prstGeom prst="ellipse">
            <a:avLst/>
          </a:prstGeom>
          <a:solidFill>
            <a:srgbClr val="FF9259"/>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145–149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Kết buổi</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Trước khi về: phương pháp của nhóm mình, và một điều còn mơ hồ</a:t>
            </a:r>
            <a:endParaRPr lang="en-US" sz="3400" dirty="0"/>
          </a:p>
        </p:txBody>
      </p:sp>
      <p:sp>
        <p:nvSpPr>
          <p:cNvPr id="6" name="Nhãn 1"/>
          <p:cNvSpPr/>
          <p:nvPr/>
        </p:nvSpPr>
        <p:spPr>
          <a:xfrm>
            <a:off x="548640" y="1855470"/>
            <a:ext cx="502920" cy="502920"/>
          </a:xfrm>
          <a:prstGeom prst="ellipse">
            <a:avLst/>
          </a:prstGeom>
          <a:solidFill>
            <a:srgbClr val="49B296"/>
          </a:solidFill>
          <a:ln/>
        </p:spPr>
      </p:sp>
      <p:sp>
        <p:nvSpPr>
          <p:cNvPr id="7" name="Text 5"/>
          <p:cNvSpPr txBox="1"/>
          <p:nvPr/>
        </p:nvSpPr>
        <p:spPr>
          <a:xfrm>
            <a:off x="548640" y="1855470"/>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8" name="Text 6"/>
          <p:cNvSpPr txBox="1"/>
          <p:nvPr/>
        </p:nvSpPr>
        <p:spPr>
          <a:xfrm>
            <a:off x="1234440" y="1783080"/>
            <a:ext cx="10332720" cy="64770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Nhóm mình dùng phương pháp chọn mẫu …, vì …</a:t>
            </a:r>
            <a:endParaRPr lang="en-US" sz="3000" dirty="0"/>
          </a:p>
        </p:txBody>
      </p:sp>
      <p:sp>
        <p:nvSpPr>
          <p:cNvPr id="9" name="Nhãn 2"/>
          <p:cNvSpPr/>
          <p:nvPr/>
        </p:nvSpPr>
        <p:spPr>
          <a:xfrm>
            <a:off x="548640" y="2704338"/>
            <a:ext cx="502920" cy="502920"/>
          </a:xfrm>
          <a:prstGeom prst="ellipse">
            <a:avLst/>
          </a:prstGeom>
          <a:solidFill>
            <a:srgbClr val="FF5178"/>
          </a:solidFill>
          <a:ln/>
        </p:spPr>
      </p:sp>
      <p:sp>
        <p:nvSpPr>
          <p:cNvPr id="10" name="Text 8"/>
          <p:cNvSpPr txBox="1"/>
          <p:nvPr/>
        </p:nvSpPr>
        <p:spPr>
          <a:xfrm>
            <a:off x="548640" y="2704338"/>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1" name="Text 9"/>
          <p:cNvSpPr txBox="1"/>
          <p:nvPr/>
        </p:nvSpPr>
        <p:spPr>
          <a:xfrm>
            <a:off x="1234440" y="2631948"/>
            <a:ext cx="10332720" cy="64770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Một điều mình còn mơ hồ về chọn mẫu</a:t>
            </a:r>
            <a:endParaRPr lang="en-US" sz="3000" dirty="0"/>
          </a:p>
        </p:txBody>
      </p:sp>
      <p:sp>
        <p:nvSpPr>
          <p:cNvPr id="12" name="Ghi chú nổi bật"/>
          <p:cNvSpPr/>
          <p:nvPr/>
        </p:nvSpPr>
        <p:spPr>
          <a:xfrm>
            <a:off x="548640" y="3645408"/>
            <a:ext cx="11064240" cy="685800"/>
          </a:xfrm>
          <a:prstGeom prst="roundRect">
            <a:avLst>
              <a:gd name="adj" fmla="val 24000"/>
            </a:avLst>
          </a:prstGeom>
          <a:solidFill>
            <a:srgbClr val="FCC7CF"/>
          </a:solidFill>
          <a:ln/>
        </p:spPr>
      </p:sp>
      <p:sp>
        <p:nvSpPr>
          <p:cNvPr id="13" name="Nhãn !"/>
          <p:cNvSpPr/>
          <p:nvPr/>
        </p:nvSpPr>
        <p:spPr>
          <a:xfrm>
            <a:off x="731520" y="3759708"/>
            <a:ext cx="457200" cy="457200"/>
          </a:xfrm>
          <a:prstGeom prst="ellipse">
            <a:avLst/>
          </a:prstGeom>
          <a:solidFill>
            <a:srgbClr val="FF5178"/>
          </a:solidFill>
          <a:ln/>
        </p:spPr>
      </p:sp>
      <p:sp>
        <p:nvSpPr>
          <p:cNvPr id="14" name="Text 12"/>
          <p:cNvSpPr txBox="1"/>
          <p:nvPr/>
        </p:nvSpPr>
        <p:spPr>
          <a:xfrm>
            <a:off x="731520" y="3759708"/>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5" name="Text 13"/>
          <p:cNvSpPr txBox="1"/>
          <p:nvPr/>
        </p:nvSpPr>
        <p:spPr>
          <a:xfrm>
            <a:off x="1325880" y="3645408"/>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Viết ra giấy, nộp lại trước khi rời lớp</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Bài tập về nhà, mốc giữa kỳ và buổi sau</a:t>
            </a:r>
            <a:endParaRPr lang="en-US" sz="3600" dirty="0"/>
          </a:p>
        </p:txBody>
      </p:sp>
      <p:sp>
        <p:nvSpPr>
          <p:cNvPr id="6" name="Thẻ Kế hoạch"/>
          <p:cNvSpPr/>
          <p:nvPr/>
        </p:nvSpPr>
        <p:spPr>
          <a:xfrm>
            <a:off x="548640" y="1783080"/>
            <a:ext cx="3505200" cy="3169920"/>
          </a:xfrm>
          <a:prstGeom prst="roundRect">
            <a:avLst>
              <a:gd name="adj" fmla="val 5192"/>
            </a:avLst>
          </a:prstGeom>
          <a:solidFill>
            <a:srgbClr val="FCDCDE"/>
          </a:solidFill>
          <a:ln/>
        </p:spPr>
      </p:sp>
      <p:sp>
        <p:nvSpPr>
          <p:cNvPr id="7" name="Nhãn 1"/>
          <p:cNvSpPr/>
          <p:nvPr/>
        </p:nvSpPr>
        <p:spPr>
          <a:xfrm>
            <a:off x="713232" y="1947672"/>
            <a:ext cx="548640" cy="548640"/>
          </a:xfrm>
          <a:prstGeom prst="ellipse">
            <a:avLst/>
          </a:prstGeom>
          <a:solidFill>
            <a:srgbClr val="FF5178"/>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Kế hoạch</a:t>
            </a:r>
            <a:endParaRPr lang="en-US" sz="2800" dirty="0"/>
          </a:p>
        </p:txBody>
      </p:sp>
      <p:sp>
        <p:nvSpPr>
          <p:cNvPr id="10" name="Text 8"/>
          <p:cNvSpPr txBox="1"/>
          <p:nvPr/>
        </p:nvSpPr>
        <p:spPr>
          <a:xfrm>
            <a:off x="685800" y="2580640"/>
            <a:ext cx="3230880" cy="232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Cập nhật mục 4.3.3 và chương phương pháp, trước Buổi 9</a:t>
            </a:r>
            <a:endParaRPr lang="en-US" sz="2600" dirty="0"/>
          </a:p>
        </p:txBody>
      </p:sp>
      <p:sp>
        <p:nvSpPr>
          <p:cNvPr id="11" name="Thẻ Giữa kỳ"/>
          <p:cNvSpPr/>
          <p:nvPr/>
        </p:nvSpPr>
        <p:spPr>
          <a:xfrm>
            <a:off x="4328160" y="1783080"/>
            <a:ext cx="3505200" cy="3169920"/>
          </a:xfrm>
          <a:prstGeom prst="roundRect">
            <a:avLst>
              <a:gd name="adj" fmla="val 5192"/>
            </a:avLst>
          </a:prstGeom>
          <a:solidFill>
            <a:srgbClr val="CFEAF1"/>
          </a:solidFill>
          <a:ln/>
        </p:spPr>
      </p:sp>
      <p:sp>
        <p:nvSpPr>
          <p:cNvPr id="12" name="Nhãn 2"/>
          <p:cNvSpPr/>
          <p:nvPr/>
        </p:nvSpPr>
        <p:spPr>
          <a:xfrm>
            <a:off x="4492752" y="1947672"/>
            <a:ext cx="548640" cy="548640"/>
          </a:xfrm>
          <a:prstGeom prst="ellipse">
            <a:avLst/>
          </a:prstGeom>
          <a:solidFill>
            <a:srgbClr val="09A1E5"/>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Giữa kỳ</a:t>
            </a:r>
            <a:endParaRPr lang="en-US" sz="2800" dirty="0"/>
          </a:p>
        </p:txBody>
      </p:sp>
      <p:sp>
        <p:nvSpPr>
          <p:cNvPr id="15" name="Text 13"/>
          <p:cNvSpPr txBox="1"/>
          <p:nvPr/>
        </p:nvSpPr>
        <p:spPr>
          <a:xfrm>
            <a:off x="4465320" y="2580640"/>
            <a:ext cx="3230880" cy="232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Nộp trên LMS trước Buổi 11 — ngày, mục nộp: …</a:t>
            </a:r>
            <a:endParaRPr lang="en-US" sz="2600" dirty="0"/>
          </a:p>
        </p:txBody>
      </p:sp>
      <p:sp>
        <p:nvSpPr>
          <p:cNvPr id="16" name="Thẻ Buổi 9"/>
          <p:cNvSpPr/>
          <p:nvPr/>
        </p:nvSpPr>
        <p:spPr>
          <a:xfrm>
            <a:off x="8107680" y="1783080"/>
            <a:ext cx="3505200" cy="3169920"/>
          </a:xfrm>
          <a:prstGeom prst="roundRect">
            <a:avLst>
              <a:gd name="adj" fmla="val 5192"/>
            </a:avLst>
          </a:prstGeom>
          <a:solidFill>
            <a:srgbClr val="FCE7D8"/>
          </a:solidFill>
          <a:ln/>
        </p:spPr>
      </p:sp>
      <p:sp>
        <p:nvSpPr>
          <p:cNvPr id="17" name="Nhãn 3"/>
          <p:cNvSpPr/>
          <p:nvPr/>
        </p:nvSpPr>
        <p:spPr>
          <a:xfrm>
            <a:off x="8272272" y="1947672"/>
            <a:ext cx="548640" cy="548640"/>
          </a:xfrm>
          <a:prstGeom prst="ellipse">
            <a:avLst/>
          </a:prstGeom>
          <a:solidFill>
            <a:srgbClr val="FF9259"/>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Buổi 9</a:t>
            </a:r>
            <a:endParaRPr lang="en-US" sz="2800" dirty="0"/>
          </a:p>
        </p:txBody>
      </p:sp>
      <p:sp>
        <p:nvSpPr>
          <p:cNvPr id="20" name="Text 18"/>
          <p:cNvSpPr txBox="1"/>
          <p:nvPr/>
        </p:nvSpPr>
        <p:spPr>
          <a:xfrm>
            <a:off x="8244840" y="2580640"/>
            <a:ext cx="3230880" cy="232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Đo lường — mang theo mô hình nghiên cứu</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Tài liệu tham khảo</a:t>
            </a:r>
            <a:endParaRPr lang="en-US" sz="3600" dirty="0"/>
          </a:p>
        </p:txBody>
      </p:sp>
      <p:sp>
        <p:nvSpPr>
          <p:cNvPr id="6" name="Dấu đầu dòng"/>
          <p:cNvSpPr/>
          <p:nvPr/>
        </p:nvSpPr>
        <p:spPr>
          <a:xfrm>
            <a:off x="585216" y="1975104"/>
            <a:ext cx="164592" cy="164592"/>
          </a:xfrm>
          <a:prstGeom prst="ellipse">
            <a:avLst/>
          </a:prstGeom>
          <a:solidFill>
            <a:srgbClr val="09A1E5"/>
          </a:solidFill>
          <a:ln/>
        </p:spPr>
      </p:sp>
      <p:sp>
        <p:nvSpPr>
          <p:cNvPr id="7" name="Text 5"/>
          <p:cNvSpPr txBox="1"/>
          <p:nvPr/>
        </p:nvSpPr>
        <p:spPr>
          <a:xfrm>
            <a:off x="914400" y="1783080"/>
            <a:ext cx="10607040" cy="134112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Brown, T. J., Suter, T. A., &amp; Churchill, G. A. (2014).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Basic marketing research: Customer insights and managerial action</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(8th ed.). Cengage Learning.</a:t>
            </a:r>
            <a:endParaRPr lang="en-US" sz="2400" dirty="0"/>
          </a:p>
        </p:txBody>
      </p:sp>
      <p:sp>
        <p:nvSpPr>
          <p:cNvPr id="8" name="Dấu đầu dòng"/>
          <p:cNvSpPr/>
          <p:nvPr/>
        </p:nvSpPr>
        <p:spPr>
          <a:xfrm>
            <a:off x="585216" y="3389376"/>
            <a:ext cx="164592" cy="164592"/>
          </a:xfrm>
          <a:prstGeom prst="ellipse">
            <a:avLst/>
          </a:prstGeom>
          <a:solidFill>
            <a:srgbClr val="FF9259"/>
          </a:solidFill>
          <a:ln/>
        </p:spPr>
      </p:sp>
      <p:sp>
        <p:nvSpPr>
          <p:cNvPr id="9" name="Text 7"/>
          <p:cNvSpPr txBox="1"/>
          <p:nvPr/>
        </p:nvSpPr>
        <p:spPr>
          <a:xfrm>
            <a:off x="914400" y="3197352"/>
            <a:ext cx="1060704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Hair, J. F., Black, W. C., Babin, B. J., &amp; Anderson, R. E. (2019).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Multivariate data analysis</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(8th ed.). Cengage Learning.</a:t>
            </a:r>
            <a:endParaRPr lang="en-US" sz="2400" dirty="0"/>
          </a:p>
        </p:txBody>
      </p:sp>
      <p:sp>
        <p:nvSpPr>
          <p:cNvPr id="10" name="Dấu đầu dòng"/>
          <p:cNvSpPr/>
          <p:nvPr/>
        </p:nvSpPr>
        <p:spPr>
          <a:xfrm>
            <a:off x="585216" y="4407408"/>
            <a:ext cx="164592" cy="164592"/>
          </a:xfrm>
          <a:prstGeom prst="ellipse">
            <a:avLst/>
          </a:prstGeom>
          <a:solidFill>
            <a:srgbClr val="962B7C"/>
          </a:solidFill>
          <a:ln/>
        </p:spPr>
      </p:sp>
      <p:sp>
        <p:nvSpPr>
          <p:cNvPr id="11" name="Text 9"/>
          <p:cNvSpPr txBox="1"/>
          <p:nvPr/>
        </p:nvSpPr>
        <p:spPr>
          <a:xfrm>
            <a:off x="914400" y="4215384"/>
            <a:ext cx="1060704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Malhotra, N. K. (2019).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Marketing research: An applied orientation</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(7th ed.). Pearson.</a:t>
            </a:r>
            <a:endParaRPr lang="en-US" sz="2400" dirty="0"/>
          </a:p>
        </p:txBody>
      </p:sp>
      <p:sp>
        <p:nvSpPr>
          <p:cNvPr id="12" name="Dấu đầu dòng"/>
          <p:cNvSpPr/>
          <p:nvPr/>
        </p:nvSpPr>
        <p:spPr>
          <a:xfrm>
            <a:off x="585216" y="5425440"/>
            <a:ext cx="164592" cy="164592"/>
          </a:xfrm>
          <a:prstGeom prst="ellipse">
            <a:avLst/>
          </a:prstGeom>
          <a:solidFill>
            <a:srgbClr val="FFD23B"/>
          </a:solidFill>
          <a:ln/>
        </p:spPr>
      </p:sp>
      <p:sp>
        <p:nvSpPr>
          <p:cNvPr id="13" name="Text 11"/>
          <p:cNvSpPr txBox="1"/>
          <p:nvPr/>
        </p:nvSpPr>
        <p:spPr>
          <a:xfrm>
            <a:off x="914400" y="5233416"/>
            <a:ext cx="1060704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Tabachnick, B. G., &amp; Fidell, L. S. (2019).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Using multivariate statistics</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(7th ed.). Pearson.</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56</a:t>
            </a:fld>
            <a:endParaRPr lang="en-US"/>
          </a:p>
        </p:txBody>
      </p:sp>
    </p:spTree>
  </p:cSld>
  <p:clrMapOvr>
    <a:masterClrMapping/>
  </p:clrMapOvr>
</p:sld>
</file>

<file path=ppt/theme/theme1.xml><?xml version="1.0" encoding="utf-8"?>
<a:theme xmlns:a="http://schemas.openxmlformats.org/drawingml/2006/main" name="MKT1107">
  <a:themeElements>
    <a:clrScheme name="MKT1107">
      <a:dk1>
        <a:srgbClr val="2E2A3A"/>
      </a:dk1>
      <a:lt1>
        <a:srgbClr val="FFFFFF"/>
      </a:lt1>
      <a:dk2>
        <a:srgbClr val="962B7C"/>
      </a:dk2>
      <a:lt2>
        <a:srgbClr val="FBFAF4"/>
      </a:lt2>
      <a:accent1>
        <a:srgbClr val="49B296"/>
      </a:accent1>
      <a:accent2>
        <a:srgbClr val="FFD23B"/>
      </a:accent2>
      <a:accent3>
        <a:srgbClr val="FF5178"/>
      </a:accent3>
      <a:accent4>
        <a:srgbClr val="962B7C"/>
      </a:accent4>
      <a:accent5>
        <a:srgbClr val="09A1E5"/>
      </a:accent5>
      <a:accent6>
        <a:srgbClr val="FF9259"/>
      </a:accent6>
      <a:hlink>
        <a:srgbClr val="09A1E5"/>
      </a:hlink>
      <a:folHlink>
        <a:srgbClr val="962B7C"/>
      </a:folHlink>
    </a:clrScheme>
    <a:fontScheme name="Office">
      <a:majorFont>
        <a:latin typeface="Alexand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lexand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MKT1107 · Buổi 8 · Bài 6 Chọn mẫu để nghiên cứu</dc:title>
  <dc:subject>MKT1107 Nghiên cứu Marketing</dc:subject>
  <dc:creator>Đoàn Nguyễn Bảo Quyên</dc:creator>
  <cp:lastModifiedBy>Đoàn Nguyễn Bảo Quyên</cp:lastModifiedBy>
  <cp:revision>1</cp:revision>
  <dcterms:created xsi:type="dcterms:W3CDTF">2026-10-05T10:49:22Z</dcterms:created>
  <dcterms:modified xsi:type="dcterms:W3CDTF">2026-10-05T10:49:22Z</dcterms:modified>
</cp:coreProperties>
</file>