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6ffc8bf-0962-e3c4-9ff6-0ab4bfaf20cc}">
          <p14:sldIdLst>
            <p14:sldId id="256"/>
            <p14:sldId id="257"/>
            <p14:sldId id="258"/>
            <p14:sldId id="259"/>
          </p14:sldIdLst>
        </p14:section>
        <p14:section name="S2 · Vì sao trích dẫn; trích dẫn trong bài và trong danh mục" id="{59d14468-c3a3-d1d2-e35e-ba4dd254daee}">
          <p14:sldIdLst>
            <p14:sldId id="260"/>
            <p14:sldId id="261"/>
            <p14:sldId id="262"/>
            <p14:sldId id="263"/>
            <p14:sldId id="264"/>
            <p14:sldId id="265"/>
          </p14:sldIdLst>
        </p14:section>
        <p14:section name="S3 · Tìm tài liệu học thuật" id="{0c02bdc2-5433-8500-5d98-68558317cf9f}">
          <p14:sldIdLst>
            <p14:sldId id="266"/>
            <p14:sldId id="267"/>
            <p14:sldId id="268"/>
            <p14:sldId id="269"/>
            <p14:sldId id="270"/>
            <p14:sldId id="271"/>
            <p14:sldId id="272"/>
            <p14:sldId id="273"/>
            <p14:sldId id="274"/>
          </p14:sldIdLst>
        </p14:section>
        <p14:section name="S4 · Kiểm tra nhanh: chuỗi tìm kiếm nào tốt hơn?" id="{fc8d5b87-247b-492d-475d-a84915345ce5}">
          <p14:sldIdLst>
            <p14:sldId id="275"/>
            <p14:sldId id="276"/>
            <p14:sldId id="277"/>
            <p14:sldId id="278"/>
            <p14:sldId id="279"/>
          </p14:sldIdLst>
        </p14:section>
        <p14:section name="S5 · Đánh giá độ tin cậy của nguồn" id="{503c2b0d-3616-4385-86db-e602a4462cbf}">
          <p14:sldIdLst>
            <p14:sldId id="280"/>
            <p14:sldId id="281"/>
            <p14:sldId id="282"/>
            <p14:sldId id="283"/>
            <p14:sldId id="284"/>
            <p14:sldId id="285"/>
            <p14:sldId id="286"/>
            <p14:sldId id="287"/>
            <p14:sldId id="288"/>
            <p14:sldId id="289"/>
            <p14:sldId id="290"/>
            <p14:sldId id="291"/>
            <p14:sldId id="292"/>
          </p14:sldIdLst>
        </p14:section>
        <p14:section name="S7 · Đạo văn và cách tránh" id="{b3407d22-1764-dd05-bd29-bb5d6652a639}">
          <p14:sldIdLst>
            <p14:sldId id="293"/>
            <p14:sldId id="294"/>
            <p14:sldId id="295"/>
            <p14:sldId id="296"/>
            <p14:sldId id="297"/>
            <p14:sldId id="298"/>
            <p14:sldId id="299"/>
          </p14:sldIdLst>
        </p14:section>
        <p14:section name="S8 · Tóm tắt và tổng hợp tài liệu" id="{9534bba6-6a15-1820-6e50-89da5fb6f7e8}">
          <p14:sldIdLst>
            <p14:sldId id="300"/>
            <p14:sldId id="301"/>
            <p14:sldId id="302"/>
            <p14:sldId id="303"/>
          </p14:sldIdLst>
        </p14:section>
        <p14:section name="S9 · Thực hành nhóm" id="{35761c5c-2dde-a8d1-ab7b-05fd15ef49e4}">
          <p14:sldIdLst>
            <p14:sldId id="304"/>
            <p14:sldId id="305"/>
            <p14:sldId id="306"/>
          </p14:sldIdLst>
        </p14:section>
        <p14:section name="S10 · Kết buổi" id="{bad0f0e7-57e6-bbed-efbf-f407f59217cf}">
          <p14:sldIdLst>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màn, không giảng. Buổi 2 thuộc mục 2.1 của Bài 2: trích dẫn, tìm nguồn và tránh đạo văn. APA 7 chi tiết (từng trường hợp tác giả, từng loại nguồn) để sang Buổi 3 — hôm nay chỉ giới thiệu khái niệm trích dẫn trong bài và danh mục.
Chuyển ngay sang slide tiếp theo: buổi học mở đầu bằng việc kiểm tra M1 — các nhóm đã nộp phiếu đăng ký đề tài trước buổi này.
Lưu ý thời gian: phần khởi động S1 có 8 phút (0–8'), gồm khoảng 5 phút kiểm tra M1 và 3 phút câu hỏi mở bài.
Lưu ý cho giảng viên: dựa trên slide UEF Bài 2 #1; đã thay phụ đề “theo chuẩn APA 7th” và xóa nhãn “NotebookLM” ở góc slide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“Tuần trước các bạn đã đăng ký đề tài. Hôm nay, đề tài đó là nguyên liệu cho cả buổi: 45 phút cuối, mỗi nhóm sẽ đi tìm tài liệu cho chính đề tài của mình.”
Mời 1–2 nhóm — ưu tiên một nhóm có đề tài tốt và một nhóm có lỗi điển hình giảng viên đã thấy khi đọc M1 — nói trong 1 phút theo khung trên slide: nhóm muốn hỗ trợ quyết định gì, cần biết điều gì, sẽ hỏi ai?
Phản hồi mỗi nhóm đúng một câu, theo một trong ba hướng: “Đây là chủ đề, chưa phải quyết định — giám đốc sẽ làm gì khác đi sau khi biết kết quả?”; “Vấn đề nghiên cứu đang là giải pháp — viết lại thành điều cần biết”; “Đối tượng này nhóm có tiếp cận được không?”
Nhắc 1–2 lỗi chung của M1 (viết chủ đề thay cho quyết định; vấn đề quá rộng; đối tượng khó tiếp cận). Nhắc: được điều chỉnh đề tài đến hết Buổi 3, khi nộp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chậm: “Giả sử nhóm bạn làm đề tài về trà sữa. Lướt mạng, bạn gặp một bài đăng trên fanpage có câu: 8/10 sinh viên uống trà sữa ít nhất một lần mỗi tuần. Câu này nghe rất hợp với phần bối cảnh của nhóm. Bạn có dám đưa câu này vào tiểu luận không?”
Cả lớp giơ tay: ai dám, ai không dám. Đếm nhanh. Chỉ định 1 bạn “dám” và 1 bạn “không dám” giải thích.
Câu trả lời mong đợi: không dám — không biết ai khảo sát, hỏi bao nhiêu người, hỏi ở đâu, khi nào; fanpage có thể có mục đích bán hàng.
Nói rõ với lớp: đây là câu giả định để khởi động, không phải số liệu thật.
Chuyển ý: “Câu hỏi ‘có dám trích không?’ chính là nội dung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bốn câu hỏi của buổi: vì sao phải trích dẫn, tìm tài liệu đáng tin ở đâu, làm sao biết một nguồn có đáng tin không, và thế nào là đạo văn.
Nói rõ phạm vi: “APA 7 chi tiết — cách ghi từng loại tài liệu, từng trường hợp tác giả — để tuần sau. Hôm nay học cách có được nguồn đáng để trích.”
Nêu sản phẩm cuối buổi: sau 45 phút thực hành, mỗi nhóm sẽ có 5 tài liệu đầu tiên cho đề tài của mình, đã được đánh giá độ tin cậy, và bắt đầu bảng tóm tắt — nguyên liệu cho bài tập về nhà và cho M2.
Chuyển ý sang S2: “Bắt đầu bằng câu hỏi thứ nhất: vì sao phải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S2, khoảng 12 phút (phút 8–20): nguyên tắc ghi nguồn, bốn lý do phải trích dẫn, các chuẩn trích dẫn (học phần dùng APA 7), khái niệm trích dẫn trong bài và danh mục tài liệu tham khảo, quy tắc khớp 1–1, và cách trích tác giả Việt.
Giữ đúng phạm vi: chỉ giới thiệu khái niệm; không giảng cấu trúc từng thành phần của một mục danh mục — phần đó để Buổi 3, khi các nhóm mang danh mục của mình đến sửa trên lớp.
Chuẩn bị sẵn bảng để viết câu nguyên tắc ở slide tiếp theo và giữ suốt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Viết câu này lên bảng và giữ suốt buổi: mỗi ý tưởng, số liệu, bảng biểu không phải của bạn đều phải ghi nguồn — cả ở trong bài lẫn ở danh mục cuối bài.
Hỏi nhanh: “Nếu nhóm tự khảo sát và có kết quả riêng, có cần trích dẫn kết quả đó không?” Chờ vài câu trả lời.
Câu trả lời mong đợi: không cần trích dẫn kết quả của chính mình, nhưng phải trích nguồn của thang đo, mô hình, lý thuyết mượn từ người khác. Ví dụ: nhóm dùng thang đo ý định mua lại của một tác giả khác thì phải ghi nguồn thang đo đó, dù số liệu là của nhóm.
Chuyển ý: “Vì sao phải khắt khe như vậy? Có bốn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bốn lý do. Trung thực: thừa nhận nguồn gốc ý tưởng của người khác; người đọc phân biệt được đâu là đóng góp của bạn. Pháp lý và liêm chính học thuật: tránh đạo văn và vi phạm quyền tác giả. Có hệ thống: người đọc tra lại được nguồn, kiểm tra được lập luận của bạn. Thuyết phục: lập luận dựa trên bằng chứng có nguồn đáng tin hơn ý kiến cá nhân.
Nhấn ô thứ tư — lý do hay bị quên nhất. Trích dẫn không chỉ là nghĩa vụ, nó là vũ khí. Đọc hai câu: “Em nghĩ giá là yếu tố quan trọng nhất khi sinh viên chọn quán trà sữa.” và “Nhiều nghiên cứu về đồ uống cho thấy giá là một trong những yếu tố ảnh hưởng mạnh đến quyết định của người mua trẻ (kèm nguồn).”
Hỏi: “Giám đốc marketing tin câu nào hơn?” → câu thứ hai, vì nó cho người đọc một con đường để kiểm tra.
Lưu ý cho giảng viên: dựa trên slide UEF #2 (3 ô), thêm ô thứ tư “Thuyết phục”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nhiều chuẩn trích dẫn, mỗi chuẩn phổ biến trong một nhóm ngành: APA 7 trong kinh doanh, giáo dục, tâm lý học, khoa học xã hội; IEEE trong kỹ thuật, công nghệ thông tin; MLA trong ngôn ngữ học, nhân văn; Chicago trong lịch sử, nghệ thuật.
Học phần này — và phần lớn tiểu luận, khóa luận ngành kinh tế — dùng APA 7 (American Psychological Association, 2020).
Nói: “Không cần thuộc chuẩn khác. Điều quan trọng không phải là thuộc lòng chuẩn nào, mà là dùng một chuẩn, nhất quán từ đầu đến cuối bài.”
Lưu ý cho giảng viên: slide UEF #7 ghi “MLA 8th” và “Chicago 17th” — đã cũ; bản hiện hành là MLA 9th (2021) và Chicago 18th (2024), cần xác minh. Slide này đã bỏ số phiên bản của MLA và Chicago, chỉ giữ APA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 trích dẫn theo kiểu tác giả – năm. Mỗi nguồn xuất hiện hai lần: trích dẫn trong bài (in-text citation) — ngắn gọn, ngay chỗ bạn dùng ý; và danh mục tài liệu tham khảo (reference list) — đầy đủ, ở cuối bài, để người đọc tìm được tài liệu.
Hai cách đặt trích dẫn trong bài — đọc hai câu ví dụ. Trong ngoặc, cuối câu: “Nghiên cứu marketing giúp giảm rủi ro khi ra quyết định (Malhotra, 2019).” Dẫn dắt, tên tác giả là một phần của câu: “Malhotra (2019) cho rằng nghiên cứu marketing giúp giảm rủi ro.”
Nhấn quy tắc khớp 1–1: mỗi trích dẫn trong bài phải có đúng một mục trong danh mục, và mỗi mục trong danh mục phải được trích ít nhất một lần trong bài. Danh mục không phải “danh sách những gì tôi đã lướt qua”.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quy ước của học phần cho tác giả Việt: ghi họ trước, viết tắt tên đệm và tên. Lê Quang Hùng → trong danh mục “Lê, Q. H. (2017)”, trong bài “(Lê, 2017)”.
Slide này chỉ để thấy cặp “trong bài – danh mục” với tên Việt. Nói: “Công thức từng thành phần của một mục danh mục học tuần sau.”
Lỗi hiểu thường gặp: “Ghi link ở cuối bài là đủ.” Không đủ. Một đường link không cho biết ai viết, năm nào, tên tài liệu là gì; link có thể chết. Và nếu không có trích dẫn trong bài, người đọc không biết câu nào lấy từ nguồn nào.
Chuyển ý: “Trích dẫn đúng chỉ có giá trị khi nguồn đáng tin. Vậy tìm nguồn đáng tin ở đâu?”
Lưu ý cho giảng viên: slide UEF #3 gốc có hai lựa chọn sai “(Lê Quang Hùng, 2017)” và “(Hùng, 2017)”, dòng danh mục “Lê Quang Hùng (2017)” —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S3, khoảng 22 phút (phút 20–42): nguồn học thuật và không học thuật (khoảng 6 phút); tìm ở đâu (khoảng 4 phút); từ khóa Việt – Anh (khoảng 4 phút); toán tử tìm kiếm (khoảng 3 phút); mở rộng từ một bài tốt và ghi lại ngay (khoảng 2 phút); demo trực tiếp trên Google Scholar (khoảng 6 phút).
Trước khi vào phần này, mở sẵn Google Scholar trên máy chiếu và chuẩn bị ảnh chụp màn hình dự phòng phòng khi Google Scholar hiện captcha do nhiều máy cùng truy cập.
Nhắc sinh viên mở máy tính để thử chuỗi tìm kiếm cùng lúc với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nguồn học thuật (academic sources) là tài liệu do người có chuyên môn viết, công bố qua một quy trình kiểm định chất lượng.
Quan trọng nhất là bài báo trên tạp chí có phản biện (peer-reviewed journal): trước khi đăng, bài được các chuyên gia độc lập trong cùng lĩnh vực đọc, góp ý và quyết định có cho đăng hay không — đăng, yêu cầu sửa, hoặc từ chối. Đi theo sơ đồ ba bước trên slide.
Hỏi lớp: “Bài trên báo điện tử có qua phản biện không?” Chờ vài câu trả lời.
Câu trả lời mong đợi: có biên tập, nhưng không phải phản biện chuyên môn — biên tập viên kiểm tra tin tức và câu chữ, không có chuyên gia độc lập kiểm tra phương pháp.
Chuyển ý: “Vậy các bạn sẽ gặp những nhóm nguồn nào, và dùng mỗi nhóm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nguồn. Học thuật: bài báo tạp chí có phản biện, sách chuyên khảo, giáo trình, kỷ yếu hội thảo khoa học, luận văn, luận án — dùng cho cơ sở lý thuyết, mô hình, thang đo, kết quả nghiên cứu trước. Không học thuật nhưng dùng có điều kiện: số liệu cơ quan thống kê quốc gia, báo cáo ngành của công ty nghiên cứu thị trường, báo chí chính thống, website chính thức của doanh nghiệp — dùng cho bối cảnh, số liệu thị trường ở Chương 1, phải kiểm tra nguồn gốc số liệu. Không dùng làm nguồn: blog, fanpage, diễn đàn, trang tổng hợp không rõ tác giả, nội dung chatbot AI chưa kiểm chứng — chỉ để gợi ý hướng tìm.
Luận văn thạc sĩ là học thuật nhưng chất lượng không đều — ưu tiên bài báo tạp chí; dùng luận văn để tham khảo mô hình, thang đo, danh mục tài liệu.
Một câu: dữ liệu sơ cấp là dữ liệu bạn tự thu thập, thứ cấp là người khác đã thu thập — học kỹ Buổi 7. Hôm nay làm việc với nguồn thứ cấp.
Lỗi hiểu: Google Scholar tìm cả luận văn, bản thảo chưa phản biện — phải mở ra xem công bố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học thuật (scholarly databases) là kho trực tuyến tập hợp tài liệu đã qua thẩm định chuyên môn.
Google Scholar — miễn phí, rộng nhất, điểm bắt đầu cho sinh viên. Nói: “Hôm nay dùng Google Scholar.”
ScienceDirect, JSTOR, Scopus — cơ sở dữ liệu lớn; nhiều bài cần quyền truy cập qua thư viện. PubMed cũng là cơ sở dữ liệu lớn nhưng thuộc lĩnh vực y sinh, ít dùng cho marketing.
Thư viện số của trường — giới thiệu tên cơ sở dữ liệu trường đang đăng ký và cách truy cập từ ngoài trường.
Tạp chí khoa học trong nước — nhiều tạp chí kinh tế, quản trị kinh doanh có bài về hành vi người tiêu dùng Việt Nam, đăng toàn văn miễn phí trên trang của tạp chí.
Lưu ý cho giảng viên: cần bổ sung tên cơ sở dữ liệu thư viện UEF và cách truy cập (ô thứ ba đang để “…”); nếu nêu tên tạp chí trong nước cụ thể, đối chiếu danh mục tạp chí được Hội đồng Giáo sư Nhà nước tính điểm năm hiện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sai phổ biến nhất: gõ cả câu đề tài vào ô tìm kiếm. Hãy tách đề tài thành các khái niệm, mỗi khái niệm tìm từ khóa tiếng Việt và tiếng Anh.
Ví dụ giả định — đề tài “Các yếu tố ảnh hưởng đến ý định mua lại trà sữa của sinh viên”. Hành vi cần giải thích: ý định mua lại — repurchase intention, purchase intention, customer loyalty. Sản phẩm, ngành: trà sữa — bubble tea, milk tea, beverage. Đối tượng: sinh viên — students, young consumers, Gen Z.
Mẹo: khái niệm hành vi (ý định mua lại) thường cho nhiều kết quả học thuật hơn khái niệm sản phẩm (trà sữa). Nếu không có bài nào về đúng trà sữa, tài liệu về ý định mua lại trong ngành đồ uống, thức ăn nhanh vẫn là tài liệu tốt.
Hỏi nhanh một nhóm: “Đề tài của nhóm bạn tách thành mấy khái niệm?”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toán tử một ví dụ. Ngoặc kép: tìm đúng cụm từ, không tách rời — "repurchase intention". OR (viết hoa): một trong các từ — "bubble tea" OR "milk tea". Dấu trừ trước từ: loại bỏ kết quả có từ đó — "milk tea" -chemistry. intitle: từ khóa phải nằm trong tên bài — intitle:"repurchase intention". Bộ lọc năm ở cột bên trái: giới hạn thời gian, ví dụ từ 2020 đến nay. Ngoài ra có author: để tìm theo tác giả, ví dụ author:"ajzen".
Nhấn: Google Scholar tự hiểu các từ cách nhau là AND — phải có tất cả. Trong ScienceDirect, Scopus… các bạn gõ AND, OR, NOT rõ ràng.
Hỏi: “Muốn loại các bài hóa học về trà sữa thì dùng toán tử nào?” → dấu trừ.
Lưu ý cho giảng viên: thử lại cú pháp và vị trí bộ lọc trên giao diện Google Scholar hiện hành trước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đã tìm được một bài thật sát đề tài, mở rộng theo ba hướng.
Đi lùi: đọc danh mục tài liệu của bài đó — tìm những tài liệu nền mà bài dựa vào.
Đi tới: bấm “Được trích dẫn bởi” (Cited by) — tìm những bài mới hơn đã dùng bài đó.
Bên cạnh: bấm “Bài viết có liên quan” (Related articles).
Nói: “Đây là cách nhanh nhất khi đã có một bài sát đề tài — thay vì gõ hàng chục chuỗi tìm kiếm, các bạn đi theo dấu vết của chính các nhà nghiên cứu.”
Gợi ý cho phần thực hành: nhóm nào tìm được một bài thật sát đề tài thì làm ngay bước đi lùi và đi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lại ngay thông tin để lập danh mục: tác giả, năm, tên bài, nơi công bố (tạp chí, tập, số, trang), DOI hoặc đường dẫn.
Nói câu dễ nhớ: “Ghi sau là quên, quên là phải tìm lại.” Nhiều nhóm mất cả buổi cuối kỳ chỉ để tìm lại nguồn của một câu đã chép vào bài.
Lưu ý ô cuối: nút “Trích dẫn” (Cite) của Google Scholar cho sẵn một dòng APA — tiện, nhưng thường sai với tên tác giả Việt, thiếu DOI, sai chữ hoa. Buổi 3 sẽ học cách sửa. Hôm nay chỉ dùng nút đó để lưu thông tin, không chép thẳng vào danh mục.
Chuyển sang demo: “Bây giờ xem tất cả những điều này trên Google Scholar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Google Scholar trực tiếp trên máy chiếu. Làm từng bước, nói to suy nghĩ của mình.
Bước 1: gõ trà sữa sinh viên → chỉ ra kết quả lẫn lộn, nhiều luận văn, nhiều tài liệu không liên quan. Bước 2: gõ "repurchase intention" "bubble tea" OR "milk tea" → so sánh kết quả. Bước 3: lọc năm từ 2020 → số kết quả giảm, bài mới hơn.
Bước 4: mở một kết quả, chỉ cho lớp tên tạp chí, năm, tác giả và đơn vị, phần tóm tắt (abstract), có mô tả phương pháp không. Hỏi: “Bài này là nguồn học thuật không? Dựa vào đâu?” Bước 5: bấm “Được trích dẫn bởi” để cho thấy cách đi tới bài mới hơn.
Không chọn sẵn một bài để giới thiệu — tránh cả lớp chép cùng một bài. Nếu Google Scholar hiện captcha, chuyển sang ảnh chụp màn hình đã chuẩn bị.
Chuyển ý: “Kiểm tra xem các bạn đã chọn được từ khóa tốt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S4, 6 phút (phút 42–48): ba câu hỏi nhanh về từ khóa, mỗi câu có hai phương án A và B.
Cách làm: chiếu lần lượt từng câu; cặp bàn bàn 20 giây; giảng viên đếm 3–2–1, cả lớp giơ 1 ngón cho A hoặc 2 ngón cho B cùng lúc; giảng viên nói đáp án và giải thích trong một câu.
Không chấm điểm; ai không muốn giơ tay có thể ghi đáp án ra giấy. Mục đích là kiểm tra lớp đã nắm cách tách khái niệm, tìm hai thứ tiếng và dùng toán tử trước khi vào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1: đề tài là ý định mua lại trà sữa của sinh viên. A là trà sữa sinh viên; B là "repurchase intention" "bubble tea" OR "milk tea".
Cặp bàn 20 giây, đếm 3–2–1, cả lớp giơ 1 ngón (A) hoặc 2 ngón (B).
Đáp án: B — tách khái niệm, dùng thuật ngữ học thuật tiếng Anh, cụm từ chính xác trong ngoặc kép, và OR cho hai cách gọi của cùng một sản phẩm.
Nếu nhiều bạn chọn A, hỏi lại: “Chuỗi A tìm khái niệm hành vi nào?” → không có; đây chính là lỗi gõ cả câu đề tài vào ô tìm kiếm.
Chuyển sang câu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2: nhóm muốn có cả nghiên cứu ở Việt Nam và nghiên cứu quốc tế. A: chỉ tìm bằng tiếng Việt. B: tìm cả tiếng Việt và tiếng Anh.
Cặp bàn 20 giây, đếm 3–2–1, giơ tay.
Đáp án: B — phần lớn tài liệu học thuật về marketing viết bằng tiếng Anh; tài liệu tiếng Việt cho bối cảnh trong nước. Hai nguồn bổ sung cho nhau: quốc tế cho lý thuyết, mô hình, thang đo; trong nước cho bối cảnh và kết quả ở thị trường Việt Nam.
Câu này thường gần như cả lớp đúng — đi nhanh, chuyển sang câu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3: kết quả quá nhiều (hàng chục nghìn), phần lớn không liên quan. A: thêm ngoặc kép, intitle:, lọc năm. B: đổi sang từ khóa chung hơn.
Cặp bàn 20 giây, đếm 3–2–1, giơ tay.
Đáp án: A — thu hẹp. Ngược lại, khi có quá ít kết quả thì mới nới sang từ chung hơn, ví dụ từ “trà sữa” sang “đồ uống”.
Kết phần kiểm tra: nhắc ba ý — tách khái niệm, tìm hai thứ tiếng, dùng toán tử để thu hẹp hoặc nới rộng. Chuyển sang giải lao, báo trước nội dung sau giải lao: làm sao biết một nguồn có đáng tin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(phút 48–63). Điền giờ quay lại lên slide hoặc nói to trước khi lớp ra ngoài.
Báo trước: “Sau giải lao: làm sao biết một nguồn có đáng tin không.”
Trong giờ giải lao: kiểm tra mạng và truy cập Google Scholar cho phần thực hành 45 phút cuối buổi; nếu nhiều máy cùng truy cập dễ bị captcha, chuẩn bị phương án cho các nhóm dùng thêm thư viện số hoặc trang của tạp chí trong nước.
Lưu ý cho giảng viên: giờ quay lại trên slide đang để “…” — điền trước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S5, khoảng 12 phút (phút 63–75): bốn tiêu chí đánh giá nguồn (tác giả, ấn phẩm, phương pháp, tính cập nhật) cộng câu hỏi “viết để làm gì?”; ba dấu hiệu thiên lệch; một tình huống nghiên cứu do bên hưởng lợi tài trợ (giả định).
Chào lớp trở lại, kiểm tra nhanh mọi người đã vào chỗ.
Nối lại tình huống đầu buổi: câu “8/10 sinh viên…” trên fanpage — phần này cho các bạn công cụ để giải thích vì sao không dám trích câu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câu trên slide: “Không phải mọi nguồn thông tin đều có giá trị như nhau.”
Nối lại tình huống fanpage đầu buổi: “Đầu buổi, phần lớn các bạn không dám trích câu ‘8/10 sinh viên uống trà sữa mỗi tuần’. Lý do các bạn đưa ra — không biết ai khảo sát, hỏi bao nhiêu người, hỏi ở đâu, khi nào — chính là các tiêu chí đánh giá nguồn. Bây giờ mình sắp xếp chúng lại thành bốn câu hỏi để dùng cho mọi nguồn.”
Dừng 2–3 giây, rồi chuyển sang bảng bốn tiêu chí.
Nhấn: bốn câu hỏi này là công cụ chính của phần thực hành cuối buổi — mỗi tài liệu nhóm tìm được đều phải đi qua bốn câu hỏi trước khi được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tiêu chí: một câu hỏi và một ví dụ.
Tác giả (author's credentials): ai viết, có chuyên môn không? Đáng tin: tác giả hoặc tổ chức có chuyên môn, ghi rõ tên và đơn vị; cần thận trọng: không rõ tác giả, trang tổng hợp nội dung.
Ấn phẩm (publication's reputation): công bố ở đâu? Đáng tin: tạp chí có phản biện, nhà xuất bản, cơ quan thống kê; thận trọng: blog, diễn đàn, mạng xã hội.
Phương pháp (methodology): dựa trên gì? Đáng tin: nêu rõ phương pháp, mẫu, dữ liệu, nguồn; thận trọng: khẳng định không có bằng chứng.
Tính cập nhật (currency): khi nào? “Cũ” không có nghĩa là “sai” — thuyết hành vi có hoạch định (Ajzen, 1991) vẫn được trích dẫn rộng rãi đến nay. Cái lỗi thời nhanh là số liệu hiện trạng: thị phần, tỷ lệ người dùng một ứng dụng, mức chi tiêu.
Câu hỏi xuyên suốt: viết để làm gì — cung cấp thông tin, nghiên cứu, hay quảng cáo, bán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Ngay cả nguồn có tác giả, có nơi công bố vẫn có thể thiên lệch (bias). Ba dấu hiệu cảnh báo.
Một — lập luận một chiều: chỉ nêu mặt có lợi, không nhắc đến bằng chứng ngược lại. Ví dụ đời thường: bài giới thiệu một sản phẩm chỉ nêu ưu điểm, không nói một nhược điểm nào.
Hai — khẳng định không có bằng chứng: “ai cũng biết…”, “chắc chắn…”, không có dữ liệu đi kèm.
Ba — xung đột lợi ích (conflict of interest): người viết hoặc đơn vị tài trợ có lợi ích từ kết quả.
Hỏi lớp: “Bài ‘7 lý do Gen Z mê trà sữa’ trên website một chuỗi trà sữa có dấu hiệu nào?” — mong đợi: một chiều và xung đột lợi ích.
Chuyển ý: dấu hiệu thứ ba khó nhất — xem một tình huống.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(giả định): một nghiên cứu kết luận đồ uống có đường không ảnh hưởng đến cân nặng của người trẻ, được tài trợ bởi một hiệp hội các nhà sản xuất đồ uống. Hỏi: “Có nên tin không?”
Chỉ định 2 bạn trả lời.
Chốt: chưa vội tin, cũng chưa vội loại — xung đột lợi ích là dấu hiệu cảnh báo, không phải bằng chứng là kết quả sai. Việc cần làm: đọc kỹ phương pháp, tìm nghiên cứu độc lập về cùng câu hỏi để đối chiếu.
Lỗi hiểu thường gặp: “Nguồn có số liệu cụ thể là nguồn đáng tin.” Con số cụ thể như “8/10 sinh viên” tạo cảm giác chính xác, nhưng nếu không biết ai khảo sát, hỏi ai, hỏi bao nhiêu người thì không kiểm chứng được. Nguyên tắc: truy về nguồn gốc của con số; không tìm được thì không dùng.
Lưu ý cho giảng viên: video gốc dùng ví dụ thuốc do chính hãng thuốc tài trợ; đã chuyển sang bối cảnh đồ uống, không nêu thương hiệu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S6 “Soi nguồn” (phút 75–83), làm theo cặp, không nộp, không chấm điểm.
Kịch bản mở đầu: “Mình vừa có bốn tiêu chí: tác giả, ấn phẩm, phương pháp, tính cập nhật — cộng thêm câu hỏi ‘viết để làm gì’. Bây giờ thử soi sáu nguồn. Mỗi nguồn, các bạn có 30 giây bàn với bạn bên cạnh, rồi khi tôi đếm 3–2–1 thì giơ tay: 1 ngón là dùng được, 2 ngón là dùng có điều kiện, 3 ngón là không dùng. Cả lớp giơ cùng lúc.”
Mỗi nguồn khoảng 50 giây: đọc → 30 giây thảo luận → 3–2–1 giơ tay → nói đáp án và tiêu chí quyết định trong một câu. Cả 6 nguồn là mô tả giả định.
Nếu ít bạn giơ tay: nhắc “sai không sao — đây là luyện tập”, giảng viên giơ tay làm mẫu. Ai không muốn giơ tay có thể ghi ra giấy.
Lưu ý cho giảng viên: kịch bản đầy đủ trong phiếu hoạt động Soi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1, 30 giây bàn, đếm 3–2–1.
Đáp án: 1 ngón — dùng được. Tiêu chí quyết định: đạt cả bốn tiêu chí — tác giả có chuyên môn (giảng viên đại học), ấn phẩm là tạp chí có phản biện, phương pháp mô tả rõ cách chọn mẫu và thang đo, cập nhật (2022).
Câu chốt: đây là loại nguồn chính cho phần tổng quan tài liệu của các nhóm.
Nếu lớp đúng gần hết ở nguồn 1–2: đi nhanh, dành thời gian cho nguồn 4–6. Ghi nhớ nguồn 1 để so sánh với nguồn 5 ở cuối hoạt động — cả hai đều đăng trên tạp chí có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2, 30 giây bàn, đếm 3–2–1.
Đáp án: 3 ngón — không dùng. Tiêu chí quyết định: tác giả không rõ; mục đích là quảng cáo (website của chính chuỗi trà sữa — xung đột lợi ích); không có phương pháp, không có dữ liệu.
Câu chốt: có thể đọc để lấy ý tưởng — ví dụ gợi ý những yếu tố nên tìm trong tài liệu học thuật — nhưng không trích.
Đây là nguồn dễ nhất; nếu chạy quá giờ, có thể bỏ nguồn này và giữ nguồn 5 và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3, 30 giây bàn, đếm 3–2–1.
Đáp án: 2 ngón — dùng có điều kiện. Tiêu chí quyết định: không phải nguồn học thuật (không qua phản biện), nhưng có phương pháp (mô tả mẫu, thời gian khảo sát) và cập nhật.
Điều kiện: dùng cho bối cảnh, số liệu thị trường ở Chương 1; không dùng làm cơ sở lý thuyết; ghi rõ tổ chức công bố; xem mẫu khảo sát có đại diện cho đối tượng của nhóm không — ví dụ báo cáo khảo sát người đi làm thì không dùng để mô tả sinh viên.
Đây là một trong các nguồn lớp hay chia rẽ; nếu vậy, chữa kỹ ở slide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4, 30 giây bàn, đếm 3–2–1.
Đáp án: 2 hoặc 3 ngón — chấp nhận cả hai nếu lý do đúng. Tiêu chí quyết định: phương pháp — không truy được nguồn gốc con số.
Nhiều bạn chọn 1 ngón vì “báo chính thống”. Câu chốt: báo chính thống đáng tin về tin tức, nhưng con số trong bài vẫn phải có nguồn gốc. “Theo một khảo sát” không phải là nguồn.
Việc phải làm: truy về khảo sát gốc — tìm được thì trích nguồn gốc, không tìm được thì không dùng con số.
Nói rõ: con số 72% là con số giả định trong mô tả nguồn, không phải số liệu thật.
Nếu lớp tranh luận lâu: chốt “Truy nguồn gốc — đó là việc phải làm, dù chọn 2 hay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5, 30 giây bàn, đếm 3–2–1.
Đáp án: 2 ngón — dùng có điều kiện. Tiêu chí quyết định: xung đột lợi ích — đơn vị tài trợ hưởng lợi từ kết quả.
Câu chốt: xung đột lợi ích là dấu hiệu cảnh báo, không tự động là sai. Điều kiện: đọc kỹ phương pháp, đối chiếu với nghiên cứu độc lập về cùng câu hỏi trước khi dùng.
Đây là tình huống vừa thảo luận ở S5, nên nhiều bạn sẽ đúng; dùng nó để chuẩn bị câu thảo luận nguồn 1 và nguồn 5 ở slide đáp án.
Giữ nguồn này kể cả khi chạy quá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nguồn 6, 30 giây bàn, đếm 3–2–1.
Đáp án: 2 ngón — dùng có điều kiện. Tiêu chí quyết định: tính cập nhật — 2012, trong khi mua sắm trực tuyến thay đổi rất nhanh.
Nhiều bạn chọn 1 ngón vì “luận văn là học thuật”. Nhấn: học thuật, nhưng lỗi thời cho mục đích này. Không dùng để mô tả hiện trạng; vẫn có thể tham khảo khung lý thuyết, thang đo, danh mục tài liệu của luận văn.
Câu chốt: cùng một nguồn có thể dùng được cho mục đích này, không dùng được cho mục đích khác.
Giữ nguồn này kể cả khi chạy quá giờ. Sau nguồn 6 chuyển sang slide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slide này sau khi lớp đã trả lời đủ 6 nguồn (phút 81–83).
Chữa kỹ 2 nguồn lớp chia rẽ nhiều nhất — thường là nguồn 3, 4 hoặc 5.
Chốt câu thảo luận: “Nguồn 1 và nguồn 5 đều đăng trên tạp chí có phản biện. Vì sao chúng ta đánh giá khác nhau?” Câu trả lời: tiêu chí ấn phẩm không phải là tất cả — phải xét thêm xung đột lợi ích và phương pháp.
Hỏi thêm: “Với nguồn 4, nếu nhóm rất muốn dùng con số đó thì phải làm gì?” → truy về khảo sát gốc.
Nếu còn thời gian (dư giờ), thêm nguồn 7: một đoạn tổng quan do chatbot AI viết, kèm 3 tài liệu tham khảo → không dùng như nguồn; phải kiểm tra từng tài liệu có tồn tại không, đọc bản gốc rồi trích bản gốc.
Chuyển ý sang đạo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S7, khoảng 10 phút (phút 83–93): định nghĩa và năm dạng đạo văn (khoảng 4 phút); demo ba phiên bản diễn đạt lại một định nghĩa (khoảng 4 phút); cách tránh và chuyện dùng AI (khoảng 2 phút).
Chuyển ý từ phần trước: các bạn đã biết tìm nguồn và đánh giá nguồn — bây giờ là cách dùng nguồn cho đúng, để không vô tình biến ý của người khác thành của mình.
Lưu ý cho giảng viên: nếu muốn nêu quy định liêm chính học thuật của trường hoặc của khoa, chuẩn bị trước nội dung quy định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đạo văn (plagiarism) là dùng ý tưởng, câu chữ, số liệu của người khác mà không ghi nguồn, khiến người đọc tưởng đó là của bạn.
Năm dạng thường gặp — đọc từng dạng, hỏi lớp “đã từng thấy chưa?”: chép nguyên văn mà không đặt trong ngoặc kép và không ghi nguồn; diễn đạt lại ý của người khác nhưng không ghi nguồn — viết lại bằng lời của mình vẫn phải ghi nguồn, vì ý tưởng vẫn là của người khác; trích dẫn một tài liệu mình chưa đọc như thể đã đọc trực tiếp — Buổi 3 học cách trích qua tác giả trung gian; nộp lại bài cũ của mình cho một môn khác mà không nói rõ; dùng nội dung do AI tạo ra mà không khai báo.
Thêm một dạng ít ai nghĩ đến (ô thứ sáu): dịch một đoạn tiếng Anh sang tiếng Việt rồi dùng mà không ghi nguồn cũng là đạo văn — dịch không làm ý tưởng trở thành của bạn.
Lưu ý cho giảng viên: bổ sung quy định cụ thể của trường về xử lý đạo văn nếu muốn nêu.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nguyên văn trước. Đây là định nghĩa nghiên cứu marketing của American Marketing Association (2017) — lớp đã gặp ở Buổi 1.
Giải thích luật chơi: “Mình sẽ chiếu lần lượt ba phiên bản diễn đạt lại câu này bằng tiếng Việt. Mỗi phiên bản, các bạn bàn với bạn bên cạnh 15 giây, rồi giơ tay: đạt hay chưa đạt.”
Nhắc tiêu chí để lớp dùng: một bản diễn đạt lại đạt yêu cầu phải (1) có nguồn, và (2) thật sự dùng cấu trúc và từ ngữ của người viết; nếu muốn giữ nguyên câu chữ thì phải đặt trong ngoặc kép.
Không giải thích thêm ở slide này; chuyển ngay sang bản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bản 1. Cặp bàn 15 giây, giơ tay đạt hoặc chưa đạt.
Đáp án: đạo văn — đây là bản dịch sát nguyên văn, không có nguồn.
Giải thích: người đọc sẽ tưởng câu định nghĩa này là của người viết. Dịch từ tiếng Anh sang tiếng Việt không làm ý tưởng trở thành của mình — đúng dạng “dịch không nguồn” vừa nói ở slide trước.
Hỏi nhanh: “Sửa thế nào cho đúng?” → hoặc đặt trong ngoặc kép như trích nguyên văn và ghi nguồn, hoặc diễn đạt lại thật sự và ghi nguồn.
Chuyển sang bản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bản 2. Cặp bàn 15 giây, giơ tay.
Đáp án: chưa đạt — có nguồn, nhưng câu chữ gần như nguyên văn (chỉ thay vài từ: “kết nối” thành “nối”, “nhà marketing” thành “người làm marketing”) mà không đặt trong ngoặc kép.
Giải thích: có nguồn chưa đủ. Nếu giữ gần nguyên câu chữ thì phải trích nguyên văn trong ngoặc kép, kèm số trang khi có; còn nếu diễn đạt lại thì phải diễn đạt thật sự, bằng cấu trúc và từ ngữ của mình.
Đây là bản lớp hay chia rẽ nhất — dành thêm 20–30 giây nếu cần. Chuyển sang bản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bản 3. Cặp bàn 15 giây, giơ tay.
Đáp án: đạt — diễn đạt bằng cấu trúc và từ ngữ của người viết, giữ đúng ý của định nghĩa gốc, và có nguồn theo kiểu dẫn dắt.
Nhấn câu chốt của cả phần demo: diễn đạt lại vẫn phải ghi nguồn — vì ý tưởng vẫn là của người khác. Bản 3 cũng là ví dụ cho cách trích dẫn dẫn dắt đã học ở S2: tên tác giả là một phần của câu, năm trong ngoặc.
Tóm tắt ba bản: bản 1 đạo văn, bản 2 chưa đạt, bản 3 đạt.
Chuyển ý: “Vậy làm sao để không bao giờ rơi vào bản 1 và bản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thói quen. Ghi nguồn ngay khi ghi chép — mỗi ý chép vào sổ tay hoặc file nháp đều kèm tác giả, năm, trang. Diễn đạt lại bằng lời của mình và vẫn ghi nguồn; mẹo: đọc xong, gập tài liệu lại, viết lại ý theo trí nhớ, rồi mở ra đối chiếu. Chỉ trích nguyên văn khi câu chữ thật sự quan trọng — một định nghĩa, một phát biểu nổi tiếng — đặt trong ngoặc kép, ghi số trang. Kiểm tra mọi trích dẫn AI gợi ý — AI có thể bịa ra tài liệu không tồn tại: tên bài nghe rất thật, tác giả có thật, nhưng bài báo không có. Cách kiểm tra: tìm đúng tên bài trên Google Scholar, mở DOI. Tìm không ra thì không dùng.
Nhắc quy định của học phần: được dùng AI, phải khai báo và nộp nhật ký sử dụng AI; nhóm chịu trách nhiệm về mọi trích dẫn trong bài. Trích một tài liệu không tồn tại là lỗi của người nộp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S8, khoảng 7 phút (phút 93–100): giới thiệu tổng quan tài liệu là gì, nằm ở đâu trong tiểu luận; phân biệt tóm tắt và tổng hợp; bảng tóm tắt 5 cột làm ví dụ với Ajzen (1991).
Nói rõ với lớp: hôm nay chỉ giới thiệu — tuần sau các bạn sẽ viết đoạn tổng quan đầu tiên ngay trên lớp. Phần này chuẩn bị trực tiếp cho chặng 4 của thực hành (bắt đầu bảng tóm tắt) và cho M2 (một trang tổng quan).
Giữ nhịp nhanh để phần thực hành có đủ 45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quan tài liệu (literature review) là sự đánh giá có phê phán các nghiên cứu đã có về một chủ đề, nhằm cung cấp bối cảnh, chỉ ra khoảng trống và cho thấy vì sao nghiên cứu của bạn cần thiết.
Vị trí trong tiểu luận: với hướng định lượng, đây là phần chính của Chương 2; với hướng định tính, nằm trong Chương 1.
Lộ trình: M2 (nộp sau Buổi 3) yêu cầu một trang tổng quan đầu tiên; M3 (sau Buổi 5) mở rộng thành 2–3 trang.
Nói: “Hôm nay chỉ giới thiệu — tuần sau viết đoạn đầu tiên trên lớp.”
Chuyển ý: “Viết tổng quan khó nhất ở chỗ phân biệt tóm tắt với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hai đoạn. Đoạn tóm tắt (summarizing) — liệt kê từng nguồn: “Nghiên cứu A (giả định) cho thấy giá ảnh hưởng mạnh nhất đến ý định mua lại trà sữa. Nghiên cứu B cho thấy chất lượng sản phẩm ảnh hưởng mạnh nhất. Nghiên cứu C cho thấy không gian quán có ảnh hưởng.”
Đoạn tổng hợp (synthesizing) — kết nối các nguồn: “Các nghiên cứu trước thống nhất rằng giá và chất lượng sản phẩm đều ảnh hưởng đến ý định mua lại (A; B), nhưng khác nhau về yếu tố mạnh nhất: A khảo sát sinh viên — nhóm nhạy cảm về giá — còn B khảo sát người đi làm. Chưa nghiên cứu nào xét riêng sinh viên mua qua ứng dụng giao đồ ăn — đây là khoảng trống.”
Hỏi: “Đoạn nào cho bạn biết nhiều hơn?” Chốt: tóm tắt trả lời “mỗi bài nói gì”; tổng hợp trả lời “các bài cùng nói gì, khác nhau ở đâu, có nghĩa gì với nghiên cứu của mình”. Khi kết quả trái ngược, giải thích vì sao — đó thường là chỗ sinh ra câu hỏi nghiên cứu.
Nhấn: A, B, C là giả định. Văn phong khách quan: không viết “em nghĩ…”, viết “các nghiên cứu cho thấy…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Muốn tổng hợp được, trước hết phải tóm tắt có hệ thống. Mỗi tài liệu đọc xong, ghi một dòng vào bảng 5 cột: tác giả, năm, mục tiêu, phương pháp, kết quả chính.
Đọc dòng ví dụ: Ajzen (1991) — mục tiêu: trình bày thuyết hành vi có hoạch định (TPB) và tổng hợp bằng chứng thực nghiệm; phương pháp: tổng quan lý thuyết và các nghiên cứu thực nghiệm trước đó; kết quả: ý định hành vi được dự báo bởi thái độ, chuẩn chủ quan và nhận thức kiểm soát hành vi; ý định cùng nhận thức kiểm soát hành vi dự báo hành vi.
Nói: “Khi bảng có 8–10 dòng, nhóm đọc dọc theo từng cột: các nghiên cứu dùng phương pháp gì giống nhau? Kết quả nào lặp lại? Kết quả nào mâu thuẫn? Đó là nguyên liệu cho đoạn tổng hợp.”
Chuyển sang thực hành: “Bây giờ đến lượt các nhóm — 45 phút săn tài liệu cho chính đề tài của mình.”
Lưu ý cho giảng viên: đối chiếu DOI của Ajzen (1991) trước khi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S9 — thực hành nhóm 45 phút (phút 100–145), hoạt động Săn tài liệu cho đề tài. Các nhóm làm việc theo nhóm dự án 2–3 bạn đã lập ở Buổi 1, với đề tài M1 của mình.
Nhắc các nhóm mở máy tính có mạng, mở đề tài M1 và phiếu nhóm (có thể chép phiếu vào một file chung của nhóm).
Lưu ý cho giảng viên: kịch bản, năm chặng, phiếu nhóm và cách phản hồi nằm trong phiếu hoạt động Săn tài liệu. Giảng viên đi từng nhóm suốt 45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45 phút.
Chặng 1: viết lại vấn đề nghiên cứu trong một câu, tách thành 2–3 khái niệm, mỗi khái niệm có từ khóa tiếng Việt và tiếng Anh, viết 2 chuỗi tìm kiếm có ít nhất một toán tử. Chặng 2: tìm trên Google Scholar 5 tài liệu liên quan nhất, ít nhất 3 là nguồn học thuật; mở từng tài liệu ra xem; ghi ngay tác giả, năm, tên bài, nơi công bố, DOI. Chặng 3: mỗi tài liệu học thuật hay không, đánh giá 4 tiêu chí (Đạt / Chưa đạt / Chưa rõ), xem dấu hiệu thiên lệch, kết luận giữ, giữ có điều kiện hay loại. Chặng 4: chọn ít nhất 2 tài liệu học thuật, đọc abstract, phương pháp, kết luận, điền bảng 5 cột bằng lời của nhóm. Chặng 5: 2 nhóm nói 1 phút về một tài liệu tốt nhất hoặc một nguồn đã loại.
Sản phẩm: phiếu nhóm với 5 tài liệu và bảng tóm tắt — làm tiếp ở nhà thành danh mục 8 tài liệu, rồi thành M2.
Câu hỏi thảo luận chung: từ khóa nào cho kết quả tốt nhất? Không có bài đúng sản phẩm thì mở rộng sang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xen kẽ slide này với slide nhiệm vụ khi đi các bàn, nếu thấy nhiều nhóm chọn tài liệu chỉ dựa vào tên bài.
Điều thứ nhất: mở từng tài liệu ra xem — đọc tên tạp chí, abstract, phần phương pháp — không chọn chỉ dựa vào tên bài. Một bài có tên rất sát đề tài vẫn có thể là bản thảo chưa phản biện hoặc khảo sát một đối tượng hoàn toàn khác.
Điều thứ hai: được dùng AI nếu nhóm ghi lại đã dùng công cụ nào, để làm gì. Nhưng mọi tài liệu AI gợi ý phải được tìm thấy trên Google Scholar hoặc mở được bằng DOI, và nhóm đã tự đọc trước khi đưa vào danh mục. Tóm tắt trong bảng là lời của nhóm, không chép nguyên văn abstract.
Nhắc sản phẩm cuối giờ: phiếu nhóm có 5 tài liệu đã đánh giá và bảng tóm tắt ít nhất 2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S10 — kết buổi, 5 phút (phút 145–150).
Yêu cầu các nhóm dừng làm và lưu phiếu nhóm (5 tài liệu, đánh giá, bảng tóm tắt) để làm tiếp bài tập về nhà.
Phát phiếu ra về (giấy nhỏ). Phần này không được cắt kể cả khi thực hành kéo dài — phiếu ra về cho giảng viên biết lớp đã nắm được các tiêu chí đánh giá nguồn hay chưa, và quyết định có cần nhắc lại ở đầu Buổi 3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ra về một câu: “Một tiêu chí cụ thể bạn sẽ dùng để loại một nguồn khỏi tiểu luận là gì?” Không ghi tên cũng được.
Cho khoảng 1–2 phút để viết, rồi thu lại.
Mong đợi một tiêu chí cụ thể — ví dụ “không rõ tác giả”, “không nêu phương pháp hay mẫu”, “số liệu không truy được nguồn gốc”, “số liệu hiện trạng đã quá cũ”, “nhà tài trợ hưởng lợi từ kết quả” — chứ không chỉ chung chung “nguồn không uy tín”.
Đọc phiếu trước Buổi 3: nếu nhiều phiếu chỉ ghi chung chung, mở đầu Buổi 3 bằng 2 phút nhắc lại bốn tiêu chí.
Chuyển sang slide bài tập trong khi sinh viên đang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(không chấm riêng, chuẩn bị cho M2): hoàn thiện danh mục ít nhất 8 tài liệu liên quan đề tài, phần lớn là nguồn học thuật, và bảng tóm tắt 5 cột (tác giả, năm, mục tiêu, phương pháp, kết quả) cho các tài liệu đó. Mang file đến Buổi 3 — phần thực hành Buổi 3 sẽ sửa danh mục này theo APA 7.
Giao M2 — Danh mục tài liệu chuẩn APA 7 và một trang tổng quan tài liệu (nhóm, 5%), nộp sau Buổi 3. Chỉ cho lớp phần “Tự kiểm tra trước khi nộp” trong đề M2.
Câu nối: “Tuần sau chúng ta học APA 7 chi tiết — cách ghi từng loại tài liệu. Mang theo danh mục 8 tài liệu của nhóm: các bạn sẽ sửa ngay trên lớp.”
Lưu ý cho giảng viên: điền hạn nộp M2 cụ thể trước buổi học (trên slide đang để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danh mục tài liệu tham khảo, đặt sau slide cuối, không giảng trong mạch bài.
Nói một câu: “Đây là một danh mục APA 7 mẫu — để ý ba điều: sắp xếp theo thứ tự A–Z theo họ tác giả; tên tổ chức (American Marketing Association, American Psychological Association) viết đầy đủ, không viết tắt; DOI viết dạng đường dẫn https.” Tuần sau sẽ phân tích kỹ từng thành phần.
Có thể chỉ thêm: tên tạp chí và số tập in nghiêng (Organizational Behavior and Human Decision Processes, 50), số kỳ trong ngoặc không in nghiêng.
Lưu ý cho giảng viên: đối chiếu thông tin xuất bản và DOI của Ajzen (1991) trước khi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Tìm, đánh giá và trích dẫn nguồn</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2: Tham khảo và trích dẫn tài liệu</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Đề tài của nhóm bạn là nguyên liệu cho cả buổi hôm nay</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D9EEF2"/>
          </a:solidFill>
          <a:ln/>
        </p:spPr>
      </p:sp>
      <p:sp>
        <p:nvSpPr>
          <p:cNvPr id="9" name="Nhãn 1"/>
          <p:cNvSpPr/>
          <p:nvPr/>
        </p:nvSpPr>
        <p:spPr>
          <a:xfrm>
            <a:off x="548640" y="1874520"/>
            <a:ext cx="731520" cy="731520"/>
          </a:xfrm>
          <a:prstGeom prst="ellipse">
            <a:avLst/>
          </a:prstGeom>
          <a:solidFill>
            <a:srgbClr val="09A1E5"/>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Quyết định</a:t>
            </a:r>
            <a:endParaRPr lang="en-US" sz="2800" dirty="0"/>
          </a:p>
        </p:txBody>
      </p:sp>
      <p:sp>
        <p:nvSpPr>
          <p:cNvPr id="12" name="Text 10"/>
          <p:cNvSpPr txBox="1"/>
          <p:nvPr/>
        </p:nvSpPr>
        <p:spPr>
          <a:xfrm>
            <a:off x="54864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Giám đốc cần quyết định gì?</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EBDE"/>
          </a:solidFill>
          <a:ln/>
        </p:spPr>
      </p:sp>
      <p:sp>
        <p:nvSpPr>
          <p:cNvPr id="14" name="Nhãn 2"/>
          <p:cNvSpPr/>
          <p:nvPr/>
        </p:nvSpPr>
        <p:spPr>
          <a:xfrm>
            <a:off x="4328160" y="1874520"/>
            <a:ext cx="731520" cy="731520"/>
          </a:xfrm>
          <a:prstGeom prst="ellipse">
            <a:avLst/>
          </a:prstGeom>
          <a:solidFill>
            <a:srgbClr val="FF9259"/>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Vấn đề nghiên cứu</a:t>
            </a:r>
            <a:endParaRPr lang="en-US" sz="2800" dirty="0"/>
          </a:p>
        </p:txBody>
      </p:sp>
      <p:sp>
        <p:nvSpPr>
          <p:cNvPr id="17" name="Text 15"/>
          <p:cNvSpPr txBox="1"/>
          <p:nvPr/>
        </p:nvSpPr>
        <p:spPr>
          <a:xfrm>
            <a:off x="432816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Cần biết gì?</a:t>
            </a:r>
            <a:endParaRPr lang="en-US" sz="2600" dirty="0"/>
          </a:p>
        </p:txBody>
      </p:sp>
      <p:sp>
        <p:nvSpPr>
          <p:cNvPr id="18" name="Bước 3"/>
          <p:cNvSpPr/>
          <p:nvPr/>
        </p:nvSpPr>
        <p:spPr>
          <a:xfrm>
            <a:off x="8061960" y="2697480"/>
            <a:ext cx="3596640" cy="2423160"/>
          </a:xfrm>
          <a:prstGeom prst="roundRect">
            <a:avLst>
              <a:gd name="adj" fmla="val 6792"/>
            </a:avLst>
          </a:prstGeom>
          <a:solidFill>
            <a:srgbClr val="EDDDE3"/>
          </a:solidFill>
          <a:ln/>
        </p:spPr>
      </p:sp>
      <p:sp>
        <p:nvSpPr>
          <p:cNvPr id="19" name="Nhãn 3"/>
          <p:cNvSpPr/>
          <p:nvPr/>
        </p:nvSpPr>
        <p:spPr>
          <a:xfrm>
            <a:off x="8107680" y="1874520"/>
            <a:ext cx="731520" cy="731520"/>
          </a:xfrm>
          <a:prstGeom prst="ellipse">
            <a:avLst/>
          </a:prstGeom>
          <a:solidFill>
            <a:srgbClr val="962B7C"/>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Đối tượng</a:t>
            </a:r>
            <a:endParaRPr lang="en-US" sz="2800" dirty="0"/>
          </a:p>
        </p:txBody>
      </p:sp>
      <p:sp>
        <p:nvSpPr>
          <p:cNvPr id="22" name="Text 20"/>
          <p:cNvSpPr txBox="1"/>
          <p:nvPr/>
        </p:nvSpPr>
        <p:spPr>
          <a:xfrm>
            <a:off x="810768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Hỏi ai? Tiếp cận được không?</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DBC5"/>
          </a:solidFill>
          <a:ln/>
        </p:spPr>
      </p:sp>
      <p:sp>
        <p:nvSpPr>
          <p:cNvPr id="24" name="Nhãn !"/>
          <p:cNvSpPr/>
          <p:nvPr/>
        </p:nvSpPr>
        <p:spPr>
          <a:xfrm>
            <a:off x="731520" y="5509260"/>
            <a:ext cx="457200" cy="457200"/>
          </a:xfrm>
          <a:prstGeom prst="ellipse">
            <a:avLst/>
          </a:prstGeom>
          <a:solidFill>
            <a:srgbClr val="FF9259"/>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Được điều chỉnh đề tài đến hết Buổi 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“8/10 sinh viên uống trà sữa mỗi tuần”: bạn có dám đưa câu này vào tiểu luận?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Fanpage</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bài đăng trên fanpage (giả định) viết:</a:t>
            </a:r>
            <a:endParaRPr lang="en-US" sz="2800" dirty="0"/>
          </a:p>
          <a:p>
            <a:pPr algn="l" indent="0" marL="0">
              <a:lnSpc>
                <a:spcPts val="3600"/>
              </a:lnSpc>
              <a:spcAft>
                <a:spcPts val="800"/>
              </a:spcAft>
              <a:buNone/>
            </a:pPr>
            <a:r>
              <a:rPr lang="en-US" sz="2800" b="1" dirty="0">
                <a:solidFill>
                  <a:srgbClr val="2E2A3A"/>
                </a:solidFill>
                <a:latin typeface="Alexandria" pitchFamily="34" charset="0"/>
                <a:ea typeface="Alexandria" pitchFamily="34" charset="-122"/>
                <a:cs typeface="Alexandria" pitchFamily="34" charset="-120"/>
              </a:rPr>
              <a:t>“8/10 sinh viên uống trà sữa ít nhất một lần mỗi tuần.”</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Câu này rất hợp với phần bối cảnh của nhóm.</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Dám hay không dám? Giơ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Hôm nay trả lời bốn câu hỏi trước khi đặt bút trích dẫn</a:t>
            </a:r>
            <a:endParaRPr lang="en-US" sz="3400" dirty="0"/>
          </a:p>
        </p:txBody>
      </p:sp>
      <p:sp>
        <p:nvSpPr>
          <p:cNvPr id="6" name="Thẻ Vì sao trích dẫn?"/>
          <p:cNvSpPr/>
          <p:nvPr/>
        </p:nvSpPr>
        <p:spPr>
          <a:xfrm>
            <a:off x="548640" y="1783080"/>
            <a:ext cx="5394960" cy="1531620"/>
          </a:xfrm>
          <a:prstGeom prst="roundRect">
            <a:avLst>
              <a:gd name="adj" fmla="val 10746"/>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Vì sao trích dẫn?</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Bốn lý do; chuẩn APA 7</a:t>
            </a:r>
            <a:endParaRPr lang="en-US" sz="2600" dirty="0"/>
          </a:p>
        </p:txBody>
      </p:sp>
      <p:sp>
        <p:nvSpPr>
          <p:cNvPr id="11" name="Thẻ Tìm ở đâu?"/>
          <p:cNvSpPr/>
          <p:nvPr/>
        </p:nvSpPr>
        <p:spPr>
          <a:xfrm>
            <a:off x="6217920" y="1783080"/>
            <a:ext cx="5394960" cy="1531620"/>
          </a:xfrm>
          <a:prstGeom prst="roundRect">
            <a:avLst>
              <a:gd name="adj" fmla="val 10746"/>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Tìm ở đâu?</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Google Scholar, từ khóa</a:t>
            </a:r>
            <a:endParaRPr lang="en-US" sz="2600" dirty="0"/>
          </a:p>
        </p:txBody>
      </p:sp>
      <p:sp>
        <p:nvSpPr>
          <p:cNvPr id="16" name="Thẻ Có đáng tin không?"/>
          <p:cNvSpPr/>
          <p:nvPr/>
        </p:nvSpPr>
        <p:spPr>
          <a:xfrm>
            <a:off x="548640" y="3589020"/>
            <a:ext cx="5394960" cy="1531620"/>
          </a:xfrm>
          <a:prstGeom prst="roundRect">
            <a:avLst>
              <a:gd name="adj" fmla="val 10746"/>
            </a:avLst>
          </a:prstGeom>
          <a:solidFill>
            <a:srgbClr val="DBEDE3"/>
          </a:solidFill>
          <a:ln/>
        </p:spPr>
      </p:sp>
      <p:sp>
        <p:nvSpPr>
          <p:cNvPr id="17" name="Nhãn 3"/>
          <p:cNvSpPr/>
          <p:nvPr/>
        </p:nvSpPr>
        <p:spPr>
          <a:xfrm>
            <a:off x="713232" y="3753612"/>
            <a:ext cx="548640" cy="548640"/>
          </a:xfrm>
          <a:prstGeom prst="ellipse">
            <a:avLst/>
          </a:prstGeom>
          <a:solidFill>
            <a:srgbClr val="49B296"/>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đáng tin không?</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Bốn tiêu chí đánh giá</a:t>
            </a:r>
            <a:endParaRPr lang="en-US" sz="2600" dirty="0"/>
          </a:p>
        </p:txBody>
      </p:sp>
      <p:sp>
        <p:nvSpPr>
          <p:cNvPr id="21" name="Thẻ Thế nào là đạo văn?"/>
          <p:cNvSpPr/>
          <p:nvPr/>
        </p:nvSpPr>
        <p:spPr>
          <a:xfrm>
            <a:off x="6217920" y="3589020"/>
            <a:ext cx="5394960" cy="1531620"/>
          </a:xfrm>
          <a:prstGeom prst="roundRect">
            <a:avLst>
              <a:gd name="adj" fmla="val 10746"/>
            </a:avLst>
          </a:prstGeom>
          <a:solidFill>
            <a:srgbClr val="FCDCDE"/>
          </a:solidFill>
          <a:ln/>
        </p:spPr>
      </p:sp>
      <p:sp>
        <p:nvSpPr>
          <p:cNvPr id="22" name="Nhãn 4"/>
          <p:cNvSpPr/>
          <p:nvPr/>
        </p:nvSpPr>
        <p:spPr>
          <a:xfrm>
            <a:off x="6382512" y="3753612"/>
            <a:ext cx="548640" cy="548640"/>
          </a:xfrm>
          <a:prstGeom prst="ellipse">
            <a:avLst/>
          </a:prstGeom>
          <a:solidFill>
            <a:srgbClr val="FF5178"/>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Thế nào là đạo văn?</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Năm dạng và cách tránh</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C7CF"/>
          </a:solidFill>
          <a:ln/>
        </p:spPr>
      </p:sp>
      <p:sp>
        <p:nvSpPr>
          <p:cNvPr id="27" name="Nhãn !"/>
          <p:cNvSpPr/>
          <p:nvPr/>
        </p:nvSpPr>
        <p:spPr>
          <a:xfrm>
            <a:off x="731520" y="5509260"/>
            <a:ext cx="457200" cy="457200"/>
          </a:xfrm>
          <a:prstGeom prst="ellipse">
            <a:avLst/>
          </a:prstGeom>
          <a:solidFill>
            <a:srgbClr val="FF5178"/>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Cuối buổi: mỗi nhóm có 5 tài liệu đầu tiên.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8–20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100" b="1" dirty="0">
                <a:solidFill>
                  <a:srgbClr val="2E2A3A"/>
                </a:solidFill>
                <a:latin typeface="Alexandria" pitchFamily="34" charset="0"/>
                <a:ea typeface="Alexandria" pitchFamily="34" charset="-122"/>
                <a:cs typeface="Alexandria" pitchFamily="34" charset="-120"/>
              </a:rPr>
              <a:t>Vì sao trích dẫn; trích dẫn trong bài và trong danh mục</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Khung nhận định"/>
          <p:cNvSpPr/>
          <p:nvPr/>
        </p:nvSpPr>
        <p:spPr>
          <a:xfrm>
            <a:off x="548640" y="914400"/>
            <a:ext cx="11064240" cy="5029200"/>
          </a:xfrm>
          <a:prstGeom prst="roundRect">
            <a:avLst>
              <a:gd name="adj" fmla="val 5455"/>
            </a:avLst>
          </a:prstGeom>
          <a:solidFill>
            <a:srgbClr val="FCD8DB"/>
          </a:solidFill>
          <a:ln/>
        </p:spPr>
      </p:sp>
      <p:sp>
        <p:nvSpPr>
          <p:cNvPr id="6" name="Nhãn !"/>
          <p:cNvSpPr/>
          <p:nvPr/>
        </p:nvSpPr>
        <p:spPr>
          <a:xfrm>
            <a:off x="960120" y="2697480"/>
            <a:ext cx="1463040" cy="1463040"/>
          </a:xfrm>
          <a:prstGeom prst="ellipse">
            <a:avLst/>
          </a:prstGeom>
          <a:solidFill>
            <a:srgbClr val="FF5178"/>
          </a:solidFill>
          <a:ln/>
        </p:spPr>
      </p:sp>
      <p:sp>
        <p:nvSpPr>
          <p:cNvPr id="7" name="Text 5"/>
          <p:cNvSpPr txBox="1"/>
          <p:nvPr/>
        </p:nvSpPr>
        <p:spPr>
          <a:xfrm>
            <a:off x="960120" y="269748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8" name="Text 6"/>
          <p:cNvSpPr txBox="1"/>
          <p:nvPr/>
        </p:nvSpPr>
        <p:spPr>
          <a:xfrm>
            <a:off x="2834640" y="204851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Mọi ý tưởng, số liệu, bảng biểu không phải của bạn đều phải ghi nguồn</a:t>
            </a:r>
            <a:endParaRPr lang="en-US" sz="4000" dirty="0"/>
          </a:p>
        </p:txBody>
      </p:sp>
      <p:sp>
        <p:nvSpPr>
          <p:cNvPr id="9" name="Text 7"/>
          <p:cNvSpPr txBox="1"/>
          <p:nvPr/>
        </p:nvSpPr>
        <p:spPr>
          <a:xfrm>
            <a:off x="2834640" y="418211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Ở trong bài và ở danh mục cuối bài.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Trích dẫn để trung thực, đúng luật, có hệ thống — và để thuyết phục</a:t>
            </a:r>
            <a:endParaRPr lang="en-US" sz="3400" dirty="0"/>
          </a:p>
        </p:txBody>
      </p:sp>
      <p:sp>
        <p:nvSpPr>
          <p:cNvPr id="6" name="Thẻ Trung thực"/>
          <p:cNvSpPr/>
          <p:nvPr/>
        </p:nvSpPr>
        <p:spPr>
          <a:xfrm>
            <a:off x="548640" y="1783080"/>
            <a:ext cx="5394960" cy="2011680"/>
          </a:xfrm>
          <a:prstGeom prst="roundRect">
            <a:avLst>
              <a:gd name="adj" fmla="val 818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Trung thực</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đọc phân biệt được đâu là đóng góp của bạn</a:t>
            </a:r>
            <a:endParaRPr lang="en-US" sz="2600" dirty="0"/>
          </a:p>
        </p:txBody>
      </p:sp>
      <p:sp>
        <p:nvSpPr>
          <p:cNvPr id="11" name="Thẻ Pháp lý &amp; liêm chính"/>
          <p:cNvSpPr/>
          <p:nvPr/>
        </p:nvSpPr>
        <p:spPr>
          <a:xfrm>
            <a:off x="6217920" y="1783080"/>
            <a:ext cx="5394960" cy="2011680"/>
          </a:xfrm>
          <a:prstGeom prst="roundRect">
            <a:avLst>
              <a:gd name="adj" fmla="val 8182"/>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Pháp lý &amp; liêm chính</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Tránh đạo văn và vi phạm quyền tác giả</a:t>
            </a:r>
            <a:endParaRPr lang="en-US" sz="2600" dirty="0"/>
          </a:p>
        </p:txBody>
      </p:sp>
      <p:sp>
        <p:nvSpPr>
          <p:cNvPr id="16" name="Thẻ Có hệ thống"/>
          <p:cNvSpPr/>
          <p:nvPr/>
        </p:nvSpPr>
        <p:spPr>
          <a:xfrm>
            <a:off x="548640" y="4069080"/>
            <a:ext cx="5394960" cy="2011680"/>
          </a:xfrm>
          <a:prstGeom prst="roundRect">
            <a:avLst>
              <a:gd name="adj" fmla="val 8182"/>
            </a:avLst>
          </a:prstGeom>
          <a:solidFill>
            <a:srgbClr val="FCE7D8"/>
          </a:solidFill>
          <a:ln/>
        </p:spPr>
      </p:sp>
      <p:sp>
        <p:nvSpPr>
          <p:cNvPr id="17" name="Nhãn 3"/>
          <p:cNvSpPr/>
          <p:nvPr/>
        </p:nvSpPr>
        <p:spPr>
          <a:xfrm>
            <a:off x="713232" y="4233672"/>
            <a:ext cx="548640" cy="548640"/>
          </a:xfrm>
          <a:prstGeom prst="ellipse">
            <a:avLst/>
          </a:prstGeom>
          <a:solidFill>
            <a:srgbClr val="FF9259"/>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hệ thống</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đọc tra lại được nguồn, kiểm tra lập luận</a:t>
            </a:r>
            <a:endParaRPr lang="en-US" sz="2600" dirty="0"/>
          </a:p>
        </p:txBody>
      </p:sp>
      <p:sp>
        <p:nvSpPr>
          <p:cNvPr id="21" name="Thẻ Thuyết phục"/>
          <p:cNvSpPr/>
          <p:nvPr/>
        </p:nvSpPr>
        <p:spPr>
          <a:xfrm>
            <a:off x="6217920" y="4069080"/>
            <a:ext cx="5394960" cy="2011680"/>
          </a:xfrm>
          <a:prstGeom prst="roundRect">
            <a:avLst>
              <a:gd name="adj" fmla="val 8182"/>
            </a:avLst>
          </a:prstGeom>
          <a:solidFill>
            <a:srgbClr val="E9D5DE"/>
          </a:solidFill>
          <a:ln/>
        </p:spPr>
      </p:sp>
      <p:sp>
        <p:nvSpPr>
          <p:cNvPr id="22" name="Nhãn 4"/>
          <p:cNvSpPr/>
          <p:nvPr/>
        </p:nvSpPr>
        <p:spPr>
          <a:xfrm>
            <a:off x="6382512" y="4233672"/>
            <a:ext cx="548640" cy="548640"/>
          </a:xfrm>
          <a:prstGeom prst="ellipse">
            <a:avLst/>
          </a:prstGeom>
          <a:solidFill>
            <a:srgbClr val="962B7C"/>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Thuyết phục</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nguồn đáng tin hơn ý kiến cá nhân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Có nhiều chuẩn trích dẫn; học phần này dùng APA 7 từ đầu đến cuối</a:t>
            </a:r>
            <a:endParaRPr lang="en-US" sz="3400" dirty="0"/>
          </a:p>
        </p:txBody>
      </p:sp>
      <p:sp>
        <p:nvSpPr>
          <p:cNvPr id="6" name="Thẻ APA 7"/>
          <p:cNvSpPr/>
          <p:nvPr/>
        </p:nvSpPr>
        <p:spPr>
          <a:xfrm>
            <a:off x="548640" y="1783080"/>
            <a:ext cx="5394960" cy="1531620"/>
          </a:xfrm>
          <a:prstGeom prst="roundRect">
            <a:avLst>
              <a:gd name="adj" fmla="val 1074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APA 7</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Kinh doanh, giáo dục, KHXH</a:t>
            </a:r>
            <a:endParaRPr lang="en-US" sz="2600" dirty="0"/>
          </a:p>
        </p:txBody>
      </p:sp>
      <p:sp>
        <p:nvSpPr>
          <p:cNvPr id="11" name="Thẻ IEEE"/>
          <p:cNvSpPr/>
          <p:nvPr/>
        </p:nvSpPr>
        <p:spPr>
          <a:xfrm>
            <a:off x="6217920" y="1783080"/>
            <a:ext cx="5394960" cy="1531620"/>
          </a:xfrm>
          <a:prstGeom prst="roundRect">
            <a:avLst>
              <a:gd name="adj" fmla="val 1074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IEEE</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Kỹ thuật, công nghệ thông tin</a:t>
            </a:r>
            <a:endParaRPr lang="en-US" sz="2600" dirty="0"/>
          </a:p>
        </p:txBody>
      </p:sp>
      <p:sp>
        <p:nvSpPr>
          <p:cNvPr id="16" name="Thẻ MLA"/>
          <p:cNvSpPr/>
          <p:nvPr/>
        </p:nvSpPr>
        <p:spPr>
          <a:xfrm>
            <a:off x="548640" y="3589020"/>
            <a:ext cx="5394960" cy="1531620"/>
          </a:xfrm>
          <a:prstGeom prst="roundRect">
            <a:avLst>
              <a:gd name="adj" fmla="val 10746"/>
            </a:avLst>
          </a:prstGeom>
          <a:solidFill>
            <a:srgbClr val="E9D5DE"/>
          </a:solidFill>
          <a:ln/>
        </p:spPr>
      </p:sp>
      <p:sp>
        <p:nvSpPr>
          <p:cNvPr id="17" name="Nhãn 3"/>
          <p:cNvSpPr/>
          <p:nvPr/>
        </p:nvSpPr>
        <p:spPr>
          <a:xfrm>
            <a:off x="713232" y="3753612"/>
            <a:ext cx="548640" cy="548640"/>
          </a:xfrm>
          <a:prstGeom prst="ellipse">
            <a:avLst/>
          </a:prstGeom>
          <a:solidFill>
            <a:srgbClr val="962B7C"/>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MLA</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Ngôn ngữ học, nhân văn</a:t>
            </a:r>
            <a:endParaRPr lang="en-US" sz="2600" dirty="0"/>
          </a:p>
        </p:txBody>
      </p:sp>
      <p:sp>
        <p:nvSpPr>
          <p:cNvPr id="21" name="Thẻ Chicago"/>
          <p:cNvSpPr/>
          <p:nvPr/>
        </p:nvSpPr>
        <p:spPr>
          <a:xfrm>
            <a:off x="6217920" y="3589020"/>
            <a:ext cx="5394960" cy="1531620"/>
          </a:xfrm>
          <a:prstGeom prst="roundRect">
            <a:avLst>
              <a:gd name="adj" fmla="val 10746"/>
            </a:avLst>
          </a:prstGeom>
          <a:solidFill>
            <a:srgbClr val="FCF3D3"/>
          </a:solidFill>
          <a:ln/>
        </p:spPr>
      </p:sp>
      <p:sp>
        <p:nvSpPr>
          <p:cNvPr id="22" name="Nhãn 4"/>
          <p:cNvSpPr/>
          <p:nvPr/>
        </p:nvSpPr>
        <p:spPr>
          <a:xfrm>
            <a:off x="6382512" y="3753612"/>
            <a:ext cx="548640" cy="548640"/>
          </a:xfrm>
          <a:prstGeom prst="ellipse">
            <a:avLst/>
          </a:prstGeom>
          <a:solidFill>
            <a:srgbClr val="FFD23B"/>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Chicago</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Lịch sử, nghệ thuật</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EEBC"/>
          </a:solidFill>
          <a:ln/>
        </p:spPr>
      </p:sp>
      <p:sp>
        <p:nvSpPr>
          <p:cNvPr id="27" name="Nhãn !"/>
          <p:cNvSpPr/>
          <p:nvPr/>
        </p:nvSpPr>
        <p:spPr>
          <a:xfrm>
            <a:off x="731520" y="5509260"/>
            <a:ext cx="457200" cy="457200"/>
          </a:xfrm>
          <a:prstGeom prst="ellipse">
            <a:avLst/>
          </a:prstGeom>
          <a:solidFill>
            <a:srgbClr val="FFD23B"/>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một chuẩn, nhất quán từ đầu đến cuối.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nguồn xuất hiện hai lần: ngắn trong bài, đầy đủ ở danh mục</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Khớp 1–1 giữa trong bài và danh mục.</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Trong bài: ngắn</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E9DB"/>
          </a:solidFill>
          <a:ln/>
        </p:spPr>
      </p:sp>
      <p:sp>
        <p:nvSpPr>
          <p:cNvPr id="13" name="Dấu đầu dòng"/>
          <p:cNvSpPr/>
          <p:nvPr/>
        </p:nvSpPr>
        <p:spPr>
          <a:xfrm>
            <a:off x="822960" y="2971165"/>
            <a:ext cx="182880" cy="182880"/>
          </a:xfrm>
          <a:prstGeom prst="ellipse">
            <a:avLst/>
          </a:prstGeom>
          <a:solidFill>
            <a:srgbClr val="FF9259"/>
          </a:solidFill>
          <a:ln/>
        </p:spPr>
      </p:sp>
      <p:sp>
        <p:nvSpPr>
          <p:cNvPr id="14" name="Text 12"/>
          <p:cNvSpPr txBox="1"/>
          <p:nvPr/>
        </p:nvSpPr>
        <p:spPr>
          <a:xfrm>
            <a:off x="1097280" y="276352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giảm rủi ro (Malhotra, 2019).</a:t>
            </a:r>
            <a:endParaRPr lang="en-US" sz="2700" dirty="0"/>
          </a:p>
        </p:txBody>
      </p:sp>
      <p:sp>
        <p:nvSpPr>
          <p:cNvPr id="15" name="Dấu đầu dòng"/>
          <p:cNvSpPr/>
          <p:nvPr/>
        </p:nvSpPr>
        <p:spPr>
          <a:xfrm>
            <a:off x="822960" y="4152265"/>
            <a:ext cx="182880" cy="182880"/>
          </a:xfrm>
          <a:prstGeom prst="ellipse">
            <a:avLst/>
          </a:prstGeom>
          <a:solidFill>
            <a:srgbClr val="FF9259"/>
          </a:solidFill>
          <a:ln/>
        </p:spPr>
      </p:sp>
      <p:sp>
        <p:nvSpPr>
          <p:cNvPr id="16" name="Text 14"/>
          <p:cNvSpPr txBox="1"/>
          <p:nvPr/>
        </p:nvSpPr>
        <p:spPr>
          <a:xfrm>
            <a:off x="1097280" y="39446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Malhotra (2019) cho rằng…</a:t>
            </a:r>
            <a:endParaRPr lang="en-US" sz="2700" dirty="0"/>
          </a:p>
        </p:txBody>
      </p:sp>
      <p:sp>
        <p:nvSpPr>
          <p:cNvPr id="17" name="Tiêu đề cột"/>
          <p:cNvSpPr/>
          <p:nvPr/>
        </p:nvSpPr>
        <p:spPr>
          <a:xfrm>
            <a:off x="6217920" y="1783080"/>
            <a:ext cx="5394960" cy="706120"/>
          </a:xfrm>
          <a:prstGeom prst="roundRect">
            <a:avLst>
              <a:gd name="adj" fmla="val 23309"/>
            </a:avLst>
          </a:prstGeom>
          <a:solidFill>
            <a:srgbClr val="FF5178"/>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Danh mục: đầy đủ</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FCDFE0"/>
          </a:solidFill>
          <a:ln/>
        </p:spPr>
      </p:sp>
      <p:sp>
        <p:nvSpPr>
          <p:cNvPr id="20" name="Dấu đầu dòng"/>
          <p:cNvSpPr/>
          <p:nvPr/>
        </p:nvSpPr>
        <p:spPr>
          <a:xfrm>
            <a:off x="6492240" y="2971165"/>
            <a:ext cx="182880" cy="182880"/>
          </a:xfrm>
          <a:prstGeom prst="ellipse">
            <a:avLst/>
          </a:prstGeom>
          <a:solidFill>
            <a:srgbClr val="FF5178"/>
          </a:solidFill>
          <a:ln/>
        </p:spPr>
      </p:sp>
      <p:sp>
        <p:nvSpPr>
          <p:cNvPr id="21" name="Text 19"/>
          <p:cNvSpPr txBox="1"/>
          <p:nvPr/>
        </p:nvSpPr>
        <p:spPr>
          <a:xfrm>
            <a:off x="6766560" y="2763520"/>
            <a:ext cx="4709160" cy="193548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Malhotra, N. K. (2019). </a:t>
            </a:r>
            <a:pPr algn="l" indent="0" marL="0">
              <a:lnSpc>
                <a:spcPts val="3500"/>
              </a:lnSpc>
              <a:buNone/>
            </a:pPr>
            <a:r>
              <a:rPr lang="en-US" sz="27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(7th ed.). Pearson.</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Tác giả Việt: trích bằng họ, không bằng tên</a:t>
            </a:r>
            <a:endParaRPr lang="en-US" sz="3600" dirty="0"/>
          </a:p>
        </p:txBody>
      </p:sp>
      <p:sp>
        <p:nvSpPr>
          <p:cNvPr id="6" name="Thẻ Trong bài"/>
          <p:cNvSpPr/>
          <p:nvPr/>
        </p:nvSpPr>
        <p:spPr>
          <a:xfrm>
            <a:off x="548640" y="1783080"/>
            <a:ext cx="5394960" cy="3169920"/>
          </a:xfrm>
          <a:prstGeom prst="roundRect">
            <a:avLst>
              <a:gd name="adj" fmla="val 519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Trong bài</a:t>
            </a:r>
            <a:endParaRPr lang="en-US" sz="2800" dirty="0"/>
          </a:p>
        </p:txBody>
      </p:sp>
      <p:sp>
        <p:nvSpPr>
          <p:cNvPr id="10" name="Text 8"/>
          <p:cNvSpPr txBox="1"/>
          <p:nvPr/>
        </p:nvSpPr>
        <p:spPr>
          <a:xfrm>
            <a:off x="68580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(Lê, 2017)</a:t>
            </a:r>
            <a:endParaRPr lang="en-US" sz="2600" dirty="0"/>
          </a:p>
        </p:txBody>
      </p:sp>
      <p:sp>
        <p:nvSpPr>
          <p:cNvPr id="11" name="Thẻ Danh mục"/>
          <p:cNvSpPr/>
          <p:nvPr/>
        </p:nvSpPr>
        <p:spPr>
          <a:xfrm>
            <a:off x="6217920" y="1783080"/>
            <a:ext cx="5394960" cy="3169920"/>
          </a:xfrm>
          <a:prstGeom prst="roundRect">
            <a:avLst>
              <a:gd name="adj" fmla="val 5192"/>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Danh mục</a:t>
            </a:r>
            <a:endParaRPr lang="en-US" sz="2800" dirty="0"/>
          </a:p>
        </p:txBody>
      </p:sp>
      <p:sp>
        <p:nvSpPr>
          <p:cNvPr id="15" name="Text 13"/>
          <p:cNvSpPr txBox="1"/>
          <p:nvPr/>
        </p:nvSpPr>
        <p:spPr>
          <a:xfrm>
            <a:off x="635508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Lê, Q. H. (2017). </a:t>
            </a:r>
            <a:pPr algn="l" indent="0" marL="0">
              <a:lnSpc>
                <a:spcPts val="3400"/>
              </a:lnSpc>
              <a:buNone/>
            </a:pPr>
            <a:r>
              <a:rPr lang="en-US" sz="2600" i="1" dirty="0">
                <a:solidFill>
                  <a:srgbClr val="2E2A3A"/>
                </a:solidFill>
                <a:latin typeface="Alexandria" pitchFamily="34" charset="0"/>
                <a:ea typeface="Alexandria" pitchFamily="34" charset="-122"/>
                <a:cs typeface="Alexandria" pitchFamily="34" charset="-120"/>
              </a:rPr>
              <a:t>Phân tích dữ liệu trong kinh doanh</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Nhà xuất bản Kinh tế TP. Hồ Chí Minh.</a:t>
            </a:r>
            <a:endParaRPr lang="en-US" sz="2600" dirty="0"/>
          </a:p>
        </p:txBody>
      </p:sp>
      <p:sp>
        <p:nvSpPr>
          <p:cNvPr id="16" name="Ghi chú nổi bật"/>
          <p:cNvSpPr/>
          <p:nvPr/>
        </p:nvSpPr>
        <p:spPr>
          <a:xfrm>
            <a:off x="548640" y="5318760"/>
            <a:ext cx="11064240" cy="685800"/>
          </a:xfrm>
          <a:prstGeom prst="roundRect">
            <a:avLst>
              <a:gd name="adj" fmla="val 24000"/>
            </a:avLst>
          </a:prstGeom>
          <a:solidFill>
            <a:srgbClr val="FCC7CF"/>
          </a:solidFill>
          <a:ln/>
        </p:spPr>
      </p:sp>
      <p:sp>
        <p:nvSpPr>
          <p:cNvPr id="17" name="Nhãn !"/>
          <p:cNvSpPr/>
          <p:nvPr/>
        </p:nvSpPr>
        <p:spPr>
          <a:xfrm>
            <a:off x="731520" y="5433060"/>
            <a:ext cx="457200" cy="457200"/>
          </a:xfrm>
          <a:prstGeom prst="ellipse">
            <a:avLst/>
          </a:prstGeom>
          <a:solidFill>
            <a:srgbClr val="FF5178"/>
          </a:solidFill>
          <a:ln/>
        </p:spPr>
      </p:sp>
      <p:sp>
        <p:nvSpPr>
          <p:cNvPr id="18" name="Text 16"/>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Ghi link ở cuối bài là chưa đủ.</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3"/>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20–42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Tìm tài liệu học thuật</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học thuật là nguồn đã qua kiểm định của chuyên gia</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Tác giả gửi bài</a:t>
            </a:r>
            <a:endParaRPr lang="en-US" sz="2800" dirty="0"/>
          </a:p>
        </p:txBody>
      </p:sp>
      <p:sp>
        <p:nvSpPr>
          <p:cNvPr id="12" name="Text 10"/>
          <p:cNvSpPr txBox="1"/>
          <p:nvPr/>
        </p:nvSpPr>
        <p:spPr>
          <a:xfrm>
            <a:off x="54864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báo gửi tạp chí</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Chuyên gia phản biện</a:t>
            </a:r>
            <a:endParaRPr lang="en-US" sz="2800" dirty="0"/>
          </a:p>
        </p:txBody>
      </p:sp>
      <p:sp>
        <p:nvSpPr>
          <p:cNvPr id="17" name="Text 15"/>
          <p:cNvSpPr txBox="1"/>
          <p:nvPr/>
        </p:nvSpPr>
        <p:spPr>
          <a:xfrm>
            <a:off x="432816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Độc lập, cùng lĩnh vực, đọc và góp ý</a:t>
            </a:r>
            <a:endParaRPr lang="en-US" sz="2600" dirty="0"/>
          </a:p>
        </p:txBody>
      </p:sp>
      <p:sp>
        <p:nvSpPr>
          <p:cNvPr id="18" name="Bước 3"/>
          <p:cNvSpPr/>
          <p:nvPr/>
        </p:nvSpPr>
        <p:spPr>
          <a:xfrm>
            <a:off x="8061960" y="2697480"/>
            <a:ext cx="3596640" cy="2423160"/>
          </a:xfrm>
          <a:prstGeom prst="roundRect">
            <a:avLst>
              <a:gd name="adj" fmla="val 6792"/>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Quyết định</a:t>
            </a:r>
            <a:endParaRPr lang="en-US" sz="2800" dirty="0"/>
          </a:p>
        </p:txBody>
      </p:sp>
      <p:sp>
        <p:nvSpPr>
          <p:cNvPr id="22" name="Text 20"/>
          <p:cNvSpPr txBox="1"/>
          <p:nvPr/>
        </p:nvSpPr>
        <p:spPr>
          <a:xfrm>
            <a:off x="810768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Đăng, yêu cầu sửa hoặc từ chối</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C7CF"/>
          </a:solidFill>
          <a:ln/>
        </p:spPr>
      </p:sp>
      <p:sp>
        <p:nvSpPr>
          <p:cNvPr id="24" name="Nhãn !"/>
          <p:cNvSpPr/>
          <p:nvPr/>
        </p:nvSpPr>
        <p:spPr>
          <a:xfrm>
            <a:off x="731520" y="5509260"/>
            <a:ext cx="457200" cy="457200"/>
          </a:xfrm>
          <a:prstGeom prst="ellipse">
            <a:avLst/>
          </a:prstGeom>
          <a:solidFill>
            <a:srgbClr val="FF5178"/>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Tạp chí có phản biện = peer-reviewed.</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Ba nhóm nguồn, ba cách dùng khác nhau</a:t>
            </a:r>
            <a:endParaRPr lang="en-US" sz="3600" dirty="0"/>
          </a:p>
        </p:txBody>
      </p:sp>
      <p:graphicFrame>
        <p:nvGraphicFramePr>
          <p:cNvPr id="1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073157"/>
                <a:gridCol w="4302059"/>
                <a:gridCol w="3689024"/>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Nhóm nguồn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Dùng để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Học thuật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Tạp chí phản biện, sách, luận văn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Lý thuyết, mô hình, thang đo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Có điều kiện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Thống kê, báo cáo ngành, báo chí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Bối cảnh, số liệu thị trường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dùng làm nguồn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Blog, fanpage, diễn đàn, 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gợi ý hướng tìm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DBC5"/>
          </a:solidFill>
          <a:ln/>
        </p:spPr>
      </p:sp>
      <p:sp>
        <p:nvSpPr>
          <p:cNvPr id="8" name="Nhãn !"/>
          <p:cNvSpPr/>
          <p:nvPr/>
        </p:nvSpPr>
        <p:spPr>
          <a:xfrm>
            <a:off x="731520" y="5509260"/>
            <a:ext cx="457200" cy="457200"/>
          </a:xfrm>
          <a:prstGeom prst="ellipse">
            <a:avLst/>
          </a:prstGeom>
          <a:solidFill>
            <a:srgbClr val="FF9259"/>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Có trên Google Scholar chưa chắc là học thuật.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Bắt đầu từ Google Scholar, đi tiếp vào thư viện số và tạp chí</a:t>
            </a:r>
            <a:endParaRPr lang="en-US" sz="3400" dirty="0"/>
          </a:p>
        </p:txBody>
      </p:sp>
      <p:sp>
        <p:nvSpPr>
          <p:cNvPr id="6" name="Thẻ Google Scholar"/>
          <p:cNvSpPr/>
          <p:nvPr/>
        </p:nvSpPr>
        <p:spPr>
          <a:xfrm>
            <a:off x="548640" y="1783080"/>
            <a:ext cx="539496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Google Scholar</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Miễn phí, rộng nhất — dùng hôm nay</a:t>
            </a:r>
            <a:endParaRPr lang="en-US" sz="2600" dirty="0"/>
          </a:p>
        </p:txBody>
      </p:sp>
      <p:sp>
        <p:nvSpPr>
          <p:cNvPr id="11" name="Thẻ Cơ sở dữ liệu lớn"/>
          <p:cNvSpPr/>
          <p:nvPr/>
        </p:nvSpPr>
        <p:spPr>
          <a:xfrm>
            <a:off x="6217920" y="1783080"/>
            <a:ext cx="5394960" cy="2011680"/>
          </a:xfrm>
          <a:prstGeom prst="roundRect">
            <a:avLst>
              <a:gd name="adj" fmla="val 8182"/>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Cơ sở dữ liệu lớn</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ScienceDirect, JSTOR, Scopus (qua thư viện)</a:t>
            </a:r>
            <a:endParaRPr lang="en-US" sz="2600" dirty="0"/>
          </a:p>
        </p:txBody>
      </p:sp>
      <p:sp>
        <p:nvSpPr>
          <p:cNvPr id="16" name="Thẻ Thư viện số của trường"/>
          <p:cNvSpPr/>
          <p:nvPr/>
        </p:nvSpPr>
        <p:spPr>
          <a:xfrm>
            <a:off x="548640" y="4069080"/>
            <a:ext cx="5394960" cy="2011680"/>
          </a:xfrm>
          <a:prstGeom prst="roundRect">
            <a:avLst>
              <a:gd name="adj" fmla="val 8182"/>
            </a:avLst>
          </a:prstGeom>
          <a:solidFill>
            <a:srgbClr val="E9D5DE"/>
          </a:solidFill>
          <a:ln/>
        </p:spPr>
      </p:sp>
      <p:sp>
        <p:nvSpPr>
          <p:cNvPr id="17" name="Nhãn 3"/>
          <p:cNvSpPr/>
          <p:nvPr/>
        </p:nvSpPr>
        <p:spPr>
          <a:xfrm>
            <a:off x="713232" y="4233672"/>
            <a:ext cx="548640" cy="548640"/>
          </a:xfrm>
          <a:prstGeom prst="ellipse">
            <a:avLst/>
          </a:prstGeom>
          <a:solidFill>
            <a:srgbClr val="962B7C"/>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Thư viện số của trường</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Cách truy cập: …</a:t>
            </a:r>
            <a:endParaRPr lang="en-US" sz="2600" dirty="0"/>
          </a:p>
        </p:txBody>
      </p:sp>
      <p:sp>
        <p:nvSpPr>
          <p:cNvPr id="21" name="Thẻ Tạp chí trong nước"/>
          <p:cNvSpPr/>
          <p:nvPr/>
        </p:nvSpPr>
        <p:spPr>
          <a:xfrm>
            <a:off x="6217920" y="4069080"/>
            <a:ext cx="5394960" cy="2011680"/>
          </a:xfrm>
          <a:prstGeom prst="roundRect">
            <a:avLst>
              <a:gd name="adj" fmla="val 8182"/>
            </a:avLst>
          </a:prstGeom>
          <a:solidFill>
            <a:srgbClr val="FCF3D3"/>
          </a:solidFill>
          <a:ln/>
        </p:spPr>
      </p:sp>
      <p:sp>
        <p:nvSpPr>
          <p:cNvPr id="22" name="Nhãn 4"/>
          <p:cNvSpPr/>
          <p:nvPr/>
        </p:nvSpPr>
        <p:spPr>
          <a:xfrm>
            <a:off x="6382512" y="4233672"/>
            <a:ext cx="548640" cy="548640"/>
          </a:xfrm>
          <a:prstGeom prst="ellipse">
            <a:avLst/>
          </a:prstGeom>
          <a:solidFill>
            <a:srgbClr val="FFD23B"/>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Tạp chí trong nước</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Bối cảnh Việt Nam, toàn văn miễn phí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Đừng gõ cả câu đề tài: tách thành khái niệm, tìm bằng hai thứ tiếng</a:t>
            </a:r>
            <a:endParaRPr lang="en-US" sz="3400" dirty="0"/>
          </a:p>
        </p:txBody>
      </p:sp>
      <p:graphicFrame>
        <p:nvGraphicFramePr>
          <p:cNvPr id="16"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26483"/>
                <a:gridCol w="2926483"/>
                <a:gridCol w="5211274"/>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Khái niệm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Tiếng Việt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Tiếng 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Hành vi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ý định mua lại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repurchase intention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Sản phẩm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trà sữa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bubble tea, milk tea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Đối tượng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sinh viên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students, young consumers</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FCEEBC"/>
          </a:solidFill>
          <a:ln/>
        </p:spPr>
      </p:sp>
      <p:sp>
        <p:nvSpPr>
          <p:cNvPr id="8" name="Nhãn !"/>
          <p:cNvSpPr/>
          <p:nvPr/>
        </p:nvSpPr>
        <p:spPr>
          <a:xfrm>
            <a:off x="731520" y="4497324"/>
            <a:ext cx="457200" cy="457200"/>
          </a:xfrm>
          <a:prstGeom prst="ellipse">
            <a:avLst/>
          </a:prstGeom>
          <a:solidFill>
            <a:srgbClr val="FFD23B"/>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có bài về trà sữa? Mở rộng sang đồ uống.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Năm toán tử giúp kết quả sát đề tài hơn</a:t>
            </a:r>
            <a:endParaRPr lang="en-US" sz="3600" dirty="0"/>
          </a:p>
        </p:txBody>
      </p:sp>
      <p:graphicFrame>
        <p:nvGraphicFramePr>
          <p:cNvPr id="1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863949"/>
                <a:gridCol w="2863949"/>
                <a:gridCol w="5336342"/>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Cách gõ</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Tác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"cụm từ"</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Đúng cụm từ</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"repurchase intention"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OR</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Một trong hai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"bubble tea" OR "milk tea"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-từ</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Loại bỏ từ</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"milk tea" -chemistry</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intitle:</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Trong tên bài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intitle:"repurchase intention"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Lọc năm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Giới hạn năm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Từ 2020 đến nay</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Một bài tốt dẫn đến mười bài tốt khác</a:t>
            </a:r>
            <a:endParaRPr lang="en-US" sz="3600" dirty="0"/>
          </a:p>
        </p:txBody>
      </p:sp>
      <p:sp>
        <p:nvSpPr>
          <p:cNvPr id="6" name="Thẻ Đi lùi"/>
          <p:cNvSpPr/>
          <p:nvPr/>
        </p:nvSpPr>
        <p:spPr>
          <a:xfrm>
            <a:off x="548640" y="1783080"/>
            <a:ext cx="3505200" cy="2740660"/>
          </a:xfrm>
          <a:prstGeom prst="roundRect">
            <a:avLst>
              <a:gd name="adj" fmla="val 6006"/>
            </a:avLst>
          </a:prstGeom>
          <a:solidFill>
            <a:srgbClr val="FCF3D3"/>
          </a:solidFill>
          <a:ln/>
        </p:spPr>
      </p:sp>
      <p:sp>
        <p:nvSpPr>
          <p:cNvPr id="7" name="Nhãn ←"/>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 lùi</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tài liệu của bài: các bài cũ hơn</a:t>
            </a:r>
            <a:endParaRPr lang="en-US" sz="2600" dirty="0"/>
          </a:p>
        </p:txBody>
      </p:sp>
      <p:sp>
        <p:nvSpPr>
          <p:cNvPr id="11" name="Thẻ Đi tới"/>
          <p:cNvSpPr/>
          <p:nvPr/>
        </p:nvSpPr>
        <p:spPr>
          <a:xfrm>
            <a:off x="4328160" y="1783080"/>
            <a:ext cx="3505200" cy="2740660"/>
          </a:xfrm>
          <a:prstGeom prst="roundRect">
            <a:avLst>
              <a:gd name="adj" fmla="val 6006"/>
            </a:avLst>
          </a:prstGeom>
          <a:solidFill>
            <a:srgbClr val="DBEDE3"/>
          </a:solidFill>
          <a:ln/>
        </p:spPr>
      </p:sp>
      <p:sp>
        <p:nvSpPr>
          <p:cNvPr id="12" name="Nhãn →"/>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 tới</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“Được trích dẫn bởi”: các bài mới hơn</a:t>
            </a:r>
            <a:endParaRPr lang="en-US" sz="2600" dirty="0"/>
          </a:p>
        </p:txBody>
      </p:sp>
      <p:sp>
        <p:nvSpPr>
          <p:cNvPr id="16" name="Thẻ Bên cạnh"/>
          <p:cNvSpPr/>
          <p:nvPr/>
        </p:nvSpPr>
        <p:spPr>
          <a:xfrm>
            <a:off x="8107680" y="1783080"/>
            <a:ext cx="3505200" cy="2740660"/>
          </a:xfrm>
          <a:prstGeom prst="roundRect">
            <a:avLst>
              <a:gd name="adj" fmla="val 6006"/>
            </a:avLst>
          </a:prstGeom>
          <a:solidFill>
            <a:srgbClr val="FCDCDE"/>
          </a:solidFill>
          <a:ln/>
        </p:spPr>
      </p:sp>
      <p:sp>
        <p:nvSpPr>
          <p:cNvPr id="17" name="Nhãn ↔"/>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Bên cạnh</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viết có liên quan”</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B2DFF0"/>
          </a:solidFill>
          <a:ln/>
        </p:spPr>
      </p:sp>
      <p:sp>
        <p:nvSpPr>
          <p:cNvPr id="22" name="Nhãn !"/>
          <p:cNvSpPr/>
          <p:nvPr/>
        </p:nvSpPr>
        <p:spPr>
          <a:xfrm>
            <a:off x="731520" y="5003800"/>
            <a:ext cx="457200" cy="457200"/>
          </a:xfrm>
          <a:prstGeom prst="ellipse">
            <a:avLst/>
          </a:prstGeom>
          <a:solidFill>
            <a:srgbClr val="09A1E5"/>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Nhanh nhất khi đã có một bài sát đề tài.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Ghi lại thông tin ngay khi tìm thấy, đừng để mai</a:t>
            </a:r>
            <a:endParaRPr lang="en-US" sz="3400" dirty="0"/>
          </a:p>
        </p:txBody>
      </p:sp>
      <p:sp>
        <p:nvSpPr>
          <p:cNvPr id="6" name="Thẻ Tác giả"/>
          <p:cNvSpPr/>
          <p:nvPr/>
        </p:nvSpPr>
        <p:spPr>
          <a:xfrm>
            <a:off x="548640" y="1783080"/>
            <a:ext cx="3505200" cy="2011680"/>
          </a:xfrm>
          <a:prstGeom prst="roundRect">
            <a:avLst>
              <a:gd name="adj" fmla="val 8182"/>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Tác giả</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Họ, tên viết tắt</a:t>
            </a:r>
            <a:endParaRPr lang="en-US" sz="2600" dirty="0"/>
          </a:p>
        </p:txBody>
      </p:sp>
      <p:sp>
        <p:nvSpPr>
          <p:cNvPr id="11" name="Thẻ Năm"/>
          <p:cNvSpPr/>
          <p:nvPr/>
        </p:nvSpPr>
        <p:spPr>
          <a:xfrm>
            <a:off x="4328160" y="1783080"/>
            <a:ext cx="3505200" cy="2011680"/>
          </a:xfrm>
          <a:prstGeom prst="roundRect">
            <a:avLst>
              <a:gd name="adj" fmla="val 8182"/>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Năm</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Năm công bố</a:t>
            </a:r>
            <a:endParaRPr lang="en-US" sz="2600" dirty="0"/>
          </a:p>
        </p:txBody>
      </p:sp>
      <p:sp>
        <p:nvSpPr>
          <p:cNvPr id="16" name="Thẻ Tên bài"/>
          <p:cNvSpPr/>
          <p:nvPr/>
        </p:nvSpPr>
        <p:spPr>
          <a:xfrm>
            <a:off x="8107680" y="1783080"/>
            <a:ext cx="3505200" cy="2011680"/>
          </a:xfrm>
          <a:prstGeom prst="roundRect">
            <a:avLst>
              <a:gd name="adj" fmla="val 8182"/>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Tên bài</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Đúng như bản gốc</a:t>
            </a:r>
            <a:endParaRPr lang="en-US" sz="2600" dirty="0"/>
          </a:p>
        </p:txBody>
      </p:sp>
      <p:sp>
        <p:nvSpPr>
          <p:cNvPr id="21" name="Thẻ Nơi công bố"/>
          <p:cNvSpPr/>
          <p:nvPr/>
        </p:nvSpPr>
        <p:spPr>
          <a:xfrm>
            <a:off x="548640" y="4069080"/>
            <a:ext cx="3505200" cy="2011680"/>
          </a:xfrm>
          <a:prstGeom prst="roundRect">
            <a:avLst>
              <a:gd name="adj" fmla="val 8182"/>
            </a:avLst>
          </a:prstGeom>
          <a:solidFill>
            <a:srgbClr val="FCE7D8"/>
          </a:solidFill>
          <a:ln/>
        </p:spPr>
      </p:sp>
      <p:sp>
        <p:nvSpPr>
          <p:cNvPr id="22" name="Nhãn 4"/>
          <p:cNvSpPr/>
          <p:nvPr/>
        </p:nvSpPr>
        <p:spPr>
          <a:xfrm>
            <a:off x="713232" y="4233672"/>
            <a:ext cx="548640" cy="548640"/>
          </a:xfrm>
          <a:prstGeom prst="ellipse">
            <a:avLst/>
          </a:prstGeom>
          <a:solidFill>
            <a:srgbClr val="FF9259"/>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Nơi công bố</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Tạp chí, tập, số, trang</a:t>
            </a:r>
            <a:endParaRPr lang="en-US" sz="2600" dirty="0"/>
          </a:p>
        </p:txBody>
      </p:sp>
      <p:sp>
        <p:nvSpPr>
          <p:cNvPr id="26" name="Thẻ DOI / link"/>
          <p:cNvSpPr/>
          <p:nvPr/>
        </p:nvSpPr>
        <p:spPr>
          <a:xfrm>
            <a:off x="4328160" y="4069080"/>
            <a:ext cx="3505200" cy="2011680"/>
          </a:xfrm>
          <a:prstGeom prst="roundRect">
            <a:avLst>
              <a:gd name="adj" fmla="val 8182"/>
            </a:avLst>
          </a:prstGeom>
          <a:solidFill>
            <a:srgbClr val="E9D5DE"/>
          </a:solidFill>
          <a:ln/>
        </p:spPr>
      </p:sp>
      <p:sp>
        <p:nvSpPr>
          <p:cNvPr id="27" name="Nhãn 5"/>
          <p:cNvSpPr/>
          <p:nvPr/>
        </p:nvSpPr>
        <p:spPr>
          <a:xfrm>
            <a:off x="4492752" y="4233672"/>
            <a:ext cx="548640" cy="548640"/>
          </a:xfrm>
          <a:prstGeom prst="ellipse">
            <a:avLst/>
          </a:prstGeom>
          <a:solidFill>
            <a:srgbClr val="962B7C"/>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DOI / link</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Để mở lại được</a:t>
            </a:r>
            <a:endParaRPr lang="en-US" sz="2600" dirty="0"/>
          </a:p>
        </p:txBody>
      </p:sp>
      <p:sp>
        <p:nvSpPr>
          <p:cNvPr id="31" name="Thẻ Nút Cite"/>
          <p:cNvSpPr/>
          <p:nvPr/>
        </p:nvSpPr>
        <p:spPr>
          <a:xfrm>
            <a:off x="8107680" y="4069080"/>
            <a:ext cx="3505200" cy="2011680"/>
          </a:xfrm>
          <a:prstGeom prst="roundRect">
            <a:avLst>
              <a:gd name="adj" fmla="val 8182"/>
            </a:avLst>
          </a:prstGeom>
          <a:solidFill>
            <a:srgbClr val="FCF3D3"/>
          </a:solidFill>
          <a:ln/>
        </p:spPr>
      </p:sp>
      <p:sp>
        <p:nvSpPr>
          <p:cNvPr id="32" name="Nhãn 6"/>
          <p:cNvSpPr/>
          <p:nvPr/>
        </p:nvSpPr>
        <p:spPr>
          <a:xfrm>
            <a:off x="8272272" y="4233672"/>
            <a:ext cx="548640" cy="548640"/>
          </a:xfrm>
          <a:prstGeom prst="ellipse">
            <a:avLst/>
          </a:prstGeom>
          <a:solidFill>
            <a:srgbClr val="FFD23B"/>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Nút Cite</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“Trích dẫn” tiện nhưng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thường sai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Demo: cùng một đề tài, hai cách tìm, hai kết quả rất khác</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Mở một bài: tạp chí, năm, tác giả, abstract.</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1</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trà sữa sinh viên</a:t>
            </a:r>
            <a:endParaRPr lang="en-US" sz="2600" dirty="0"/>
          </a:p>
        </p:txBody>
      </p:sp>
      <p:sp>
        <p:nvSpPr>
          <p:cNvPr id="15" name="Dấu đầu dòng"/>
          <p:cNvSpPr/>
          <p:nvPr/>
        </p:nvSpPr>
        <p:spPr>
          <a:xfrm>
            <a:off x="822960" y="3681730"/>
            <a:ext cx="182880" cy="182880"/>
          </a:xfrm>
          <a:prstGeom prst="ellipse">
            <a:avLst/>
          </a:prstGeom>
          <a:solidFill>
            <a:srgbClr val="FF9259"/>
          </a:solidFill>
          <a:ln/>
        </p:spPr>
      </p:sp>
      <p:sp>
        <p:nvSpPr>
          <p:cNvPr id="16" name="Text 14"/>
          <p:cNvSpPr txBox="1"/>
          <p:nvPr/>
        </p:nvSpPr>
        <p:spPr>
          <a:xfrm>
            <a:off x="10972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Kết quả lẫn lộn</a:t>
            </a:r>
            <a:endParaRPr lang="en-US" sz="2600" dirty="0"/>
          </a:p>
        </p:txBody>
      </p:sp>
      <p:sp>
        <p:nvSpPr>
          <p:cNvPr id="17" name="Dấu đầu dòng"/>
          <p:cNvSpPr/>
          <p:nvPr/>
        </p:nvSpPr>
        <p:spPr>
          <a:xfrm>
            <a:off x="822960" y="4400550"/>
            <a:ext cx="182880" cy="182880"/>
          </a:xfrm>
          <a:prstGeom prst="ellipse">
            <a:avLst/>
          </a:prstGeom>
          <a:solidFill>
            <a:srgbClr val="FF9259"/>
          </a:solidFill>
          <a:ln/>
        </p:spPr>
      </p:sp>
      <p:sp>
        <p:nvSpPr>
          <p:cNvPr id="18" name="Text 16"/>
          <p:cNvSpPr txBox="1"/>
          <p:nvPr/>
        </p:nvSpPr>
        <p:spPr>
          <a:xfrm>
            <a:off x="10972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Nhiều luận văn</a:t>
            </a:r>
            <a:endParaRPr lang="en-US" sz="2600" dirty="0"/>
          </a:p>
        </p:txBody>
      </p:sp>
      <p:sp>
        <p:nvSpPr>
          <p:cNvPr id="19" name="Tiêu đề cột"/>
          <p:cNvSpPr/>
          <p:nvPr/>
        </p:nvSpPr>
        <p:spPr>
          <a:xfrm>
            <a:off x="6492240" y="1783080"/>
            <a:ext cx="5120640" cy="706120"/>
          </a:xfrm>
          <a:prstGeom prst="roundRect">
            <a:avLst>
              <a:gd name="adj" fmla="val 23309"/>
            </a:avLst>
          </a:prstGeom>
          <a:solidFill>
            <a:srgbClr val="FF9259"/>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2</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FCE9DB"/>
          </a:solidFill>
          <a:ln/>
        </p:spPr>
      </p:sp>
      <p:sp>
        <p:nvSpPr>
          <p:cNvPr id="22" name="Dấu đầu dòng"/>
          <p:cNvSpPr/>
          <p:nvPr/>
        </p:nvSpPr>
        <p:spPr>
          <a:xfrm>
            <a:off x="6766560" y="2962910"/>
            <a:ext cx="182880" cy="182880"/>
          </a:xfrm>
          <a:prstGeom prst="ellipse">
            <a:avLst/>
          </a:prstGeom>
          <a:solidFill>
            <a:srgbClr val="FF9259"/>
          </a:solidFill>
          <a:ln/>
        </p:spPr>
      </p:sp>
      <p:sp>
        <p:nvSpPr>
          <p:cNvPr id="23" name="Text 21"/>
          <p:cNvSpPr txBox="1"/>
          <p:nvPr/>
        </p:nvSpPr>
        <p:spPr>
          <a:xfrm>
            <a:off x="7040880" y="2763520"/>
            <a:ext cx="4434840" cy="14401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"repurchase intention" "bubble tea" OR "milk tea"</a:t>
            </a:r>
            <a:endParaRPr lang="en-US" sz="2600" dirty="0"/>
          </a:p>
        </p:txBody>
      </p:sp>
      <p:sp>
        <p:nvSpPr>
          <p:cNvPr id="24" name="Dấu đầu dòng"/>
          <p:cNvSpPr/>
          <p:nvPr/>
        </p:nvSpPr>
        <p:spPr>
          <a:xfrm>
            <a:off x="6766560" y="4540250"/>
            <a:ext cx="182880" cy="182880"/>
          </a:xfrm>
          <a:prstGeom prst="ellipse">
            <a:avLst/>
          </a:prstGeom>
          <a:solidFill>
            <a:srgbClr val="FF9259"/>
          </a:solidFill>
          <a:ln/>
        </p:spPr>
      </p:sp>
      <p:sp>
        <p:nvSpPr>
          <p:cNvPr id="25" name="Text 23"/>
          <p:cNvSpPr txBox="1"/>
          <p:nvPr/>
        </p:nvSpPr>
        <p:spPr>
          <a:xfrm>
            <a:off x="7040880" y="43408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Lọc năm: từ 2020</a:t>
            </a:r>
            <a:endParaRPr lang="en-US" sz="2600" dirty="0"/>
          </a:p>
        </p:txBody>
      </p:sp>
      <p:sp>
        <p:nvSpPr>
          <p:cNvPr id="26" name="Nhãn vs"/>
          <p:cNvSpPr/>
          <p:nvPr/>
        </p:nvSpPr>
        <p:spPr>
          <a:xfrm>
            <a:off x="5760720" y="3416300"/>
            <a:ext cx="640080" cy="640080"/>
          </a:xfrm>
          <a:prstGeom prst="ellipse">
            <a:avLst/>
          </a:prstGeom>
          <a:solidFill>
            <a:srgbClr val="FFD23B"/>
          </a:solidFill>
          <a:ln/>
        </p:spPr>
      </p:sp>
      <p:sp>
        <p:nvSpPr>
          <p:cNvPr id="27" name="Text 25"/>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4"/>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42–48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Kiểm tra nhanh: chuỗi tìm kiếm nào tốt hơn?</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1: đề tài “ý định mua lại trà sữa của sinh viên” — chuỗi nào tốt hơn?</a:t>
            </a:r>
            <a:endParaRPr lang="en-US" sz="3400" dirty="0"/>
          </a:p>
        </p:txBody>
      </p:sp>
      <p:sp>
        <p:nvSpPr>
          <p:cNvPr id="6" name="Thẻ Giơ 1 ngón"/>
          <p:cNvSpPr/>
          <p:nvPr/>
        </p:nvSpPr>
        <p:spPr>
          <a:xfrm>
            <a:off x="548640" y="1783080"/>
            <a:ext cx="5394960" cy="2311400"/>
          </a:xfrm>
          <a:prstGeom prst="roundRect">
            <a:avLst>
              <a:gd name="adj" fmla="val 7121"/>
            </a:avLst>
          </a:prstGeom>
          <a:solidFill>
            <a:srgbClr val="FCE7D8"/>
          </a:solidFill>
          <a:ln/>
        </p:spPr>
      </p:sp>
      <p:sp>
        <p:nvSpPr>
          <p:cNvPr id="7" name="Nhãn A"/>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1 ngón</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trà sữa sinh viên</a:t>
            </a:r>
            <a:endParaRPr lang="en-US" sz="2600" dirty="0"/>
          </a:p>
        </p:txBody>
      </p:sp>
      <p:sp>
        <p:nvSpPr>
          <p:cNvPr id="11" name="Thẻ Giơ 2 ngón"/>
          <p:cNvSpPr/>
          <p:nvPr/>
        </p:nvSpPr>
        <p:spPr>
          <a:xfrm>
            <a:off x="6217920" y="1783080"/>
            <a:ext cx="5394960" cy="2311400"/>
          </a:xfrm>
          <a:prstGeom prst="roundRect">
            <a:avLst>
              <a:gd name="adj" fmla="val 7121"/>
            </a:avLst>
          </a:prstGeom>
          <a:solidFill>
            <a:srgbClr val="E9D5DE"/>
          </a:solidFill>
          <a:ln/>
        </p:spPr>
      </p:sp>
      <p:sp>
        <p:nvSpPr>
          <p:cNvPr id="12" name="Nhãn B"/>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B</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2 ngón</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"repurchase intention" "bubble tea" OR "milk tea"</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C6E4D8"/>
          </a:solidFill>
          <a:ln/>
        </p:spPr>
      </p:sp>
      <p:sp>
        <p:nvSpPr>
          <p:cNvPr id="17" name="Nhãn !"/>
          <p:cNvSpPr/>
          <p:nvPr/>
        </p:nvSpPr>
        <p:spPr>
          <a:xfrm>
            <a:off x="731520" y="4574540"/>
            <a:ext cx="457200" cy="457200"/>
          </a:xfrm>
          <a:prstGeom prst="ellipse">
            <a:avLst/>
          </a:prstGeom>
          <a:solidFill>
            <a:srgbClr val="49B296"/>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20 giây bàn với bạn, đếm 3–2–1, giơ tay.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2: muốn có cả nghiên cứu ở Việt Nam và nghiên cứu quốc tế</a:t>
            </a:r>
            <a:endParaRPr lang="en-US" sz="3400" dirty="0"/>
          </a:p>
        </p:txBody>
      </p:sp>
      <p:sp>
        <p:nvSpPr>
          <p:cNvPr id="6" name="Thẻ Giơ 1 ngón"/>
          <p:cNvSpPr/>
          <p:nvPr/>
        </p:nvSpPr>
        <p:spPr>
          <a:xfrm>
            <a:off x="548640" y="1783080"/>
            <a:ext cx="5394960" cy="1882140"/>
          </a:xfrm>
          <a:prstGeom prst="roundRect">
            <a:avLst>
              <a:gd name="adj" fmla="val 8745"/>
            </a:avLst>
          </a:prstGeom>
          <a:solidFill>
            <a:srgbClr val="E9D5DE"/>
          </a:solidFill>
          <a:ln/>
        </p:spPr>
      </p:sp>
      <p:sp>
        <p:nvSpPr>
          <p:cNvPr id="7" name="Nhãn A"/>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A</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1 ngón</a:t>
            </a:r>
            <a:endParaRPr lang="en-US" sz="2800" dirty="0"/>
          </a:p>
        </p:txBody>
      </p:sp>
      <p:sp>
        <p:nvSpPr>
          <p:cNvPr id="10" name="Text 8"/>
          <p:cNvSpPr txBox="1"/>
          <p:nvPr/>
        </p:nvSpPr>
        <p:spPr>
          <a:xfrm>
            <a:off x="68580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tìm bằng tiếng Việt</a:t>
            </a:r>
            <a:endParaRPr lang="en-US" sz="2600" dirty="0"/>
          </a:p>
        </p:txBody>
      </p:sp>
      <p:sp>
        <p:nvSpPr>
          <p:cNvPr id="11" name="Thẻ Giơ 2 ngón"/>
          <p:cNvSpPr/>
          <p:nvPr/>
        </p:nvSpPr>
        <p:spPr>
          <a:xfrm>
            <a:off x="6217920" y="1783080"/>
            <a:ext cx="5394960" cy="1882140"/>
          </a:xfrm>
          <a:prstGeom prst="roundRect">
            <a:avLst>
              <a:gd name="adj" fmla="val 8745"/>
            </a:avLst>
          </a:prstGeom>
          <a:solidFill>
            <a:srgbClr val="FCF3D3"/>
          </a:solidFill>
          <a:ln/>
        </p:spPr>
      </p:sp>
      <p:sp>
        <p:nvSpPr>
          <p:cNvPr id="12" name="Nhãn B"/>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2 ngón</a:t>
            </a:r>
            <a:endParaRPr lang="en-US" sz="2800" dirty="0"/>
          </a:p>
        </p:txBody>
      </p:sp>
      <p:sp>
        <p:nvSpPr>
          <p:cNvPr id="15" name="Text 13"/>
          <p:cNvSpPr txBox="1"/>
          <p:nvPr/>
        </p:nvSpPr>
        <p:spPr>
          <a:xfrm>
            <a:off x="635508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Tìm cả tiếng Việt và tiếng Anh</a:t>
            </a:r>
            <a:endParaRPr lang="en-US" sz="2600" dirty="0"/>
          </a:p>
        </p:txBody>
      </p:sp>
      <p:sp>
        <p:nvSpPr>
          <p:cNvPr id="16" name="Ghi chú nổi bật"/>
          <p:cNvSpPr/>
          <p:nvPr/>
        </p:nvSpPr>
        <p:spPr>
          <a:xfrm>
            <a:off x="548640" y="4030980"/>
            <a:ext cx="11064240" cy="685800"/>
          </a:xfrm>
          <a:prstGeom prst="roundRect">
            <a:avLst>
              <a:gd name="adj" fmla="val 24000"/>
            </a:avLst>
          </a:prstGeom>
          <a:solidFill>
            <a:srgbClr val="FCC7CF"/>
          </a:solidFill>
          <a:ln/>
        </p:spPr>
      </p:sp>
      <p:sp>
        <p:nvSpPr>
          <p:cNvPr id="17" name="Nhãn !"/>
          <p:cNvSpPr/>
          <p:nvPr/>
        </p:nvSpPr>
        <p:spPr>
          <a:xfrm>
            <a:off x="731520" y="4145280"/>
            <a:ext cx="457200" cy="457200"/>
          </a:xfrm>
          <a:prstGeom prst="ellipse">
            <a:avLst/>
          </a:prstGeom>
          <a:solidFill>
            <a:srgbClr val="FF5178"/>
          </a:solidFill>
          <a:ln/>
        </p:spPr>
      </p:sp>
      <p:sp>
        <p:nvSpPr>
          <p:cNvPr id="18" name="Text 16"/>
          <p:cNvSpPr txBox="1"/>
          <p:nvPr/>
        </p:nvSpPr>
        <p:spPr>
          <a:xfrm>
            <a:off x="731520" y="41452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0309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20 giây bàn với bạn, đếm 3–2–1, giơ tay.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3: kết quả quá nhiều, phần lớn không liên quan — làm gì?</a:t>
            </a:r>
            <a:endParaRPr lang="en-US" sz="3400" dirty="0"/>
          </a:p>
        </p:txBody>
      </p:sp>
      <p:sp>
        <p:nvSpPr>
          <p:cNvPr id="6" name="Thẻ Giơ 1 ngón"/>
          <p:cNvSpPr/>
          <p:nvPr/>
        </p:nvSpPr>
        <p:spPr>
          <a:xfrm>
            <a:off x="548640" y="1783080"/>
            <a:ext cx="5394960" cy="2311400"/>
          </a:xfrm>
          <a:prstGeom prst="roundRect">
            <a:avLst>
              <a:gd name="adj" fmla="val 7121"/>
            </a:avLst>
          </a:prstGeom>
          <a:solidFill>
            <a:srgbClr val="FCF3D3"/>
          </a:solidFill>
          <a:ln/>
        </p:spPr>
      </p:sp>
      <p:sp>
        <p:nvSpPr>
          <p:cNvPr id="7" name="Nhãn A"/>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1 ngón</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Thêm ngoặc kép, intitle:, lọc năm</a:t>
            </a:r>
            <a:endParaRPr lang="en-US" sz="2600" dirty="0"/>
          </a:p>
        </p:txBody>
      </p:sp>
      <p:sp>
        <p:nvSpPr>
          <p:cNvPr id="11" name="Thẻ Giơ 2 ngón"/>
          <p:cNvSpPr/>
          <p:nvPr/>
        </p:nvSpPr>
        <p:spPr>
          <a:xfrm>
            <a:off x="6217920" y="1783080"/>
            <a:ext cx="5394960" cy="2311400"/>
          </a:xfrm>
          <a:prstGeom prst="roundRect">
            <a:avLst>
              <a:gd name="adj" fmla="val 7121"/>
            </a:avLst>
          </a:prstGeom>
          <a:solidFill>
            <a:srgbClr val="DBEDE3"/>
          </a:solidFill>
          <a:ln/>
        </p:spPr>
      </p:sp>
      <p:sp>
        <p:nvSpPr>
          <p:cNvPr id="12" name="Nhãn B"/>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Giơ 2 ngón</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Đổi sang từ khóa chung hơn</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B2DFF0"/>
          </a:solidFill>
          <a:ln/>
        </p:spPr>
      </p:sp>
      <p:sp>
        <p:nvSpPr>
          <p:cNvPr id="17" name="Nhãn !"/>
          <p:cNvSpPr/>
          <p:nvPr/>
        </p:nvSpPr>
        <p:spPr>
          <a:xfrm>
            <a:off x="731520" y="4574540"/>
            <a:ext cx="457200" cy="457200"/>
          </a:xfrm>
          <a:prstGeom prst="ellipse">
            <a:avLst/>
          </a:prstGeom>
          <a:solidFill>
            <a:srgbClr val="09A1E5"/>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20 giây bàn với bạn, đếm 3–2–1, giơ tay.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5"/>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63–75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Đánh giá độ tin cậy của nguồn</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Khung nhận định"/>
          <p:cNvSpPr/>
          <p:nvPr/>
        </p:nvSpPr>
        <p:spPr>
          <a:xfrm>
            <a:off x="548640" y="914400"/>
            <a:ext cx="11064240" cy="5029200"/>
          </a:xfrm>
          <a:prstGeom prst="roundRect">
            <a:avLst>
              <a:gd name="adj" fmla="val 5455"/>
            </a:avLst>
          </a:prstGeom>
          <a:solidFill>
            <a:srgbClr val="FCE5D5"/>
          </a:solidFill>
          <a:ln/>
        </p:spPr>
      </p:sp>
      <p:sp>
        <p:nvSpPr>
          <p:cNvPr id="6" name="Nhãn !"/>
          <p:cNvSpPr/>
          <p:nvPr/>
        </p:nvSpPr>
        <p:spPr>
          <a:xfrm>
            <a:off x="960120" y="2697480"/>
            <a:ext cx="1463040" cy="1463040"/>
          </a:xfrm>
          <a:prstGeom prst="ellipse">
            <a:avLst/>
          </a:prstGeom>
          <a:solidFill>
            <a:srgbClr val="FF9259"/>
          </a:solidFill>
          <a:ln/>
        </p:spPr>
      </p:sp>
      <p:sp>
        <p:nvSpPr>
          <p:cNvPr id="7" name="Text 5"/>
          <p:cNvSpPr txBox="1"/>
          <p:nvPr/>
        </p:nvSpPr>
        <p:spPr>
          <a:xfrm>
            <a:off x="960120" y="269748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8" name="Text 6"/>
          <p:cNvSpPr txBox="1"/>
          <p:nvPr/>
        </p:nvSpPr>
        <p:spPr>
          <a:xfrm>
            <a:off x="2834640" y="237871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Không phải mọi nguồn thông tin đều có giá trị như nhau</a:t>
            </a:r>
            <a:endParaRPr lang="en-US" sz="4000" dirty="0"/>
          </a:p>
        </p:txBody>
      </p:sp>
      <p:sp>
        <p:nvSpPr>
          <p:cNvPr id="9" name="Text 7"/>
          <p:cNvSpPr txBox="1"/>
          <p:nvPr/>
        </p:nvSpPr>
        <p:spPr>
          <a:xfrm>
            <a:off x="2834640" y="385191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Trước khi trích, hỏi bốn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câu hỏi trước khi tin một nguồn: ai viết, đăng ở đâu, dựa trên gì, khi nào</a:t>
            </a:r>
            <a:endParaRPr lang="en-US" sz="3400" dirty="0"/>
          </a:p>
        </p:txBody>
      </p:sp>
      <p:graphicFrame>
        <p:nvGraphicFramePr>
          <p:cNvPr id="2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239934"/>
                <a:gridCol w="3739288"/>
                <a:gridCol w="3085017"/>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Tiêu chí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Đáng tin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Cần thận trọng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Tác giả: ai viết?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chuyên môn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rõ tác giả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Ấn phẩm: ở đâu?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Tạp chí phản biện, NXB</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Blog, mạng xã hội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Phương pháp: dựa trên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Nêu rõ mẫu, 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bằng chứng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Cập nhật: khi nào?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Còn hợp bối cảnh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Số liệu cũ</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đích: để làm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Thông tin, nghiên cứu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Quảng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Ba dấu hiệu một nguồn có thể thiên lệch</a:t>
            </a:r>
            <a:endParaRPr lang="en-US" sz="3600" dirty="0"/>
          </a:p>
        </p:txBody>
      </p:sp>
      <p:sp>
        <p:nvSpPr>
          <p:cNvPr id="6" name="Thẻ Một chiều"/>
          <p:cNvSpPr/>
          <p:nvPr/>
        </p:nvSpPr>
        <p:spPr>
          <a:xfrm>
            <a:off x="548640" y="1783080"/>
            <a:ext cx="3505200" cy="3202940"/>
          </a:xfrm>
          <a:prstGeom prst="roundRect">
            <a:avLst>
              <a:gd name="adj" fmla="val 5139"/>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Một chiều</a:t>
            </a:r>
            <a:endParaRPr lang="en-US" sz="2800" dirty="0"/>
          </a:p>
        </p:txBody>
      </p:sp>
      <p:sp>
        <p:nvSpPr>
          <p:cNvPr id="10" name="Text 8"/>
          <p:cNvSpPr txBox="1"/>
          <p:nvPr/>
        </p:nvSpPr>
        <p:spPr>
          <a:xfrm>
            <a:off x="685800" y="2580640"/>
            <a:ext cx="3230880" cy="2359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nêu mặt có lợi, bỏ qua bằng chứng ngược lại</a:t>
            </a:r>
            <a:endParaRPr lang="en-US" sz="2600" dirty="0"/>
          </a:p>
        </p:txBody>
      </p:sp>
      <p:sp>
        <p:nvSpPr>
          <p:cNvPr id="11" name="Thẻ Thiếu bằng chứng"/>
          <p:cNvSpPr/>
          <p:nvPr/>
        </p:nvSpPr>
        <p:spPr>
          <a:xfrm>
            <a:off x="4328160" y="1783080"/>
            <a:ext cx="3505200" cy="3202940"/>
          </a:xfrm>
          <a:prstGeom prst="roundRect">
            <a:avLst>
              <a:gd name="adj" fmla="val 5139"/>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Thiếu bằng chứng</a:t>
            </a:r>
            <a:endParaRPr lang="en-US" sz="2800" dirty="0"/>
          </a:p>
        </p:txBody>
      </p:sp>
      <p:sp>
        <p:nvSpPr>
          <p:cNvPr id="15" name="Text 13"/>
          <p:cNvSpPr txBox="1"/>
          <p:nvPr/>
        </p:nvSpPr>
        <p:spPr>
          <a:xfrm>
            <a:off x="446532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cũng biết…”, “chắc chắn…”, không dữ liệu</a:t>
            </a:r>
            <a:endParaRPr lang="en-US" sz="2600" dirty="0"/>
          </a:p>
        </p:txBody>
      </p:sp>
      <p:sp>
        <p:nvSpPr>
          <p:cNvPr id="16" name="Thẻ Xung đột lợi ích"/>
          <p:cNvSpPr/>
          <p:nvPr/>
        </p:nvSpPr>
        <p:spPr>
          <a:xfrm>
            <a:off x="8107680" y="1783080"/>
            <a:ext cx="3505200" cy="3202940"/>
          </a:xfrm>
          <a:prstGeom prst="roundRect">
            <a:avLst>
              <a:gd name="adj" fmla="val 5139"/>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Xung đột lợi ích</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viết hoặc nhà tài trợ hưởng lợi từ kết quả</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Nghiên cứu do bên hưởng lợi tài trợ: chưa vội tin, cũng chưa vội loại</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nghiên cứu kết luận: “Đồ uống có đường không ảnh hưởng đến cân nặng của người trẻ.”</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Nhà tài trợ: một hiệp hội các nhà sản xuất đồ uống.</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Có nên tin kết quả này không?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Soi nguồn: 1 ngón dùng được · 2 ngón có điều kiện · 3 ngón không dùng</a:t>
            </a:r>
            <a:endParaRPr lang="en-US" sz="3400" dirty="0"/>
          </a:p>
        </p:txBody>
      </p:sp>
      <p:sp>
        <p:nvSpPr>
          <p:cNvPr id="6" name="Thẻ Dùng được"/>
          <p:cNvSpPr/>
          <p:nvPr/>
        </p:nvSpPr>
        <p:spPr>
          <a:xfrm>
            <a:off x="548640" y="1783080"/>
            <a:ext cx="3505200" cy="2311400"/>
          </a:xfrm>
          <a:prstGeom prst="roundRect">
            <a:avLst>
              <a:gd name="adj" fmla="val 7121"/>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Dùng được</a:t>
            </a:r>
            <a:endParaRPr lang="en-US" sz="2800" dirty="0"/>
          </a:p>
        </p:txBody>
      </p:sp>
      <p:sp>
        <p:nvSpPr>
          <p:cNvPr id="10" name="Text 8"/>
          <p:cNvSpPr txBox="1"/>
          <p:nvPr/>
        </p:nvSpPr>
        <p:spPr>
          <a:xfrm>
            <a:off x="68580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nguồn học thuật</a:t>
            </a:r>
            <a:endParaRPr lang="en-US" sz="2600" dirty="0"/>
          </a:p>
        </p:txBody>
      </p:sp>
      <p:sp>
        <p:nvSpPr>
          <p:cNvPr id="11" name="Thẻ Có điều kiện"/>
          <p:cNvSpPr/>
          <p:nvPr/>
        </p:nvSpPr>
        <p:spPr>
          <a:xfrm>
            <a:off x="4328160" y="1783080"/>
            <a:ext cx="3505200" cy="2311400"/>
          </a:xfrm>
          <a:prstGeom prst="roundRect">
            <a:avLst>
              <a:gd name="adj" fmla="val 7121"/>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điều kiện</a:t>
            </a:r>
            <a:endParaRPr lang="en-US" sz="2800" dirty="0"/>
          </a:p>
        </p:txBody>
      </p:sp>
      <p:sp>
        <p:nvSpPr>
          <p:cNvPr id="15" name="Text 13"/>
          <p:cNvSpPr txBox="1"/>
          <p:nvPr/>
        </p:nvSpPr>
        <p:spPr>
          <a:xfrm>
            <a:off x="446532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Nói rõ điều kiện gì</a:t>
            </a:r>
            <a:endParaRPr lang="en-US" sz="2600" dirty="0"/>
          </a:p>
        </p:txBody>
      </p:sp>
      <p:sp>
        <p:nvSpPr>
          <p:cNvPr id="16" name="Thẻ Không dùng"/>
          <p:cNvSpPr/>
          <p:nvPr/>
        </p:nvSpPr>
        <p:spPr>
          <a:xfrm>
            <a:off x="8107680" y="1783080"/>
            <a:ext cx="3505200" cy="2311400"/>
          </a:xfrm>
          <a:prstGeom prst="roundRect">
            <a:avLst>
              <a:gd name="adj" fmla="val 7121"/>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dùng</a:t>
            </a:r>
            <a:endParaRPr lang="en-US" sz="2800" dirty="0"/>
          </a:p>
        </p:txBody>
      </p:sp>
      <p:sp>
        <p:nvSpPr>
          <p:cNvPr id="20" name="Text 18"/>
          <p:cNvSpPr txBox="1"/>
          <p:nvPr/>
        </p:nvSpPr>
        <p:spPr>
          <a:xfrm>
            <a:off x="824484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dùng làm nguồn</a:t>
            </a:r>
            <a:endParaRPr lang="en-US" sz="2600" dirty="0"/>
          </a:p>
        </p:txBody>
      </p:sp>
      <p:sp>
        <p:nvSpPr>
          <p:cNvPr id="21" name="Ghi chú nổi bật"/>
          <p:cNvSpPr/>
          <p:nvPr/>
        </p:nvSpPr>
        <p:spPr>
          <a:xfrm>
            <a:off x="548640" y="4460240"/>
            <a:ext cx="11064240" cy="685800"/>
          </a:xfrm>
          <a:prstGeom prst="roundRect">
            <a:avLst>
              <a:gd name="adj" fmla="val 24000"/>
            </a:avLst>
          </a:prstGeom>
          <a:solidFill>
            <a:srgbClr val="FCDBC5"/>
          </a:solidFill>
          <a:ln/>
        </p:spPr>
      </p:sp>
      <p:sp>
        <p:nvSpPr>
          <p:cNvPr id="22" name="Nhãn !"/>
          <p:cNvSpPr/>
          <p:nvPr/>
        </p:nvSpPr>
        <p:spPr>
          <a:xfrm>
            <a:off x="731520" y="4574540"/>
            <a:ext cx="457200" cy="457200"/>
          </a:xfrm>
          <a:prstGeom prst="ellipse">
            <a:avLst/>
          </a:prstGeom>
          <a:solidFill>
            <a:srgbClr val="FF9259"/>
          </a:solidFill>
          <a:ln/>
        </p:spPr>
      </p:sp>
      <p:sp>
        <p:nvSpPr>
          <p:cNvPr id="23" name="Text 21"/>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30 giây bàn, đếm 3–2–1, cả lớp giơ cùng lúc.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1: bài báo 2022 trên tạp chí có phản biện, khảo sát 350 sinh viên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E7D8"/>
          </a:solidFill>
          <a:ln/>
        </p:spPr>
      </p:sp>
      <p:sp>
        <p:nvSpPr>
          <p:cNvPr id="7" name="Nhãn tình huống"/>
          <p:cNvSpPr/>
          <p:nvPr/>
        </p:nvSpPr>
        <p:spPr>
          <a:xfrm>
            <a:off x="777240" y="2011680"/>
            <a:ext cx="2377440" cy="566928"/>
          </a:xfrm>
          <a:prstGeom prst="roundRect">
            <a:avLst>
              <a:gd name="adj" fmla="val 48387"/>
            </a:avLst>
          </a:prstGeom>
          <a:solidFill>
            <a:srgbClr val="FF9259"/>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bài báo năm 2022 trên tạp chí khoa học có phản biện. Tác giả là giảng viên đại học. Bài khảo sát 350 sinh viên tại TP. Hồ Chí Minh, mô tả rõ cách chọn mẫu và thang đo.</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2: “7 lý do Gen Z mê trà sữa” trên website một chuỗi trà sữa</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Nguồn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Bài viết “7 lý do Gen Z mê trà sữa” trên website của một chuỗi trà sữa, không ghi tên người viết.</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3: báo cáo thị trường đồ uống 2024 của một công ty nghiên cứu</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Báo cáo về thị trường đồ uống năm 2024 do một công ty nghiên cứu thị trường công bố miễn phí, có mô tả mẫu khảo sát và thời gian khảo sát.</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4: báo điện tử viết “theo một khảo sát gần đây, 72%…”</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377440" cy="566928"/>
          </a:xfrm>
          <a:prstGeom prst="roundRect">
            <a:avLst>
              <a:gd name="adj" fmla="val 48387"/>
            </a:avLst>
          </a:prstGeom>
          <a:solidFill>
            <a:srgbClr val="49B296"/>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4</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bài trên báo điện tử chính thống viết “theo một khảo sát gần đây, 72% người trẻ thích giao hàng nhanh hơn giảm giá” nhưng không nói khảo sát nào.</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5: tạp chí có phản biện, nhưng nhà tài trợ hưởng lợi từ kết quả</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5</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nghiên cứu đăng trên tạp chí có phản biện, kết luận rằng đồ uống có đường không ảnh hưởng đến cân nặng của người trẻ. Nghiên cứu được tài trợ bởi một hiệp hội các nhà sản xuất đồ uống.</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Nguồn 6: luận văn thạc sĩ 2012 dùng để mô tả sinh viên hiện nay</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377440" cy="566928"/>
          </a:xfrm>
          <a:prstGeom prst="roundRect">
            <a:avLst>
              <a:gd name="adj" fmla="val 48387"/>
            </a:avLst>
          </a:prstGeom>
          <a:solidFill>
            <a:srgbClr val="09A1E5"/>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6</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luận văn thạc sĩ năm 2012 về hành vi mua sắm trực tuyến của sinh viên, nhóm định dùng để mô tả thói quen mua sắm trực tuyến của sinh viên hiện nay.</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1, 2 hay 3 ngón?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tiêu chí nào quyết định từng nguồn</a:t>
            </a:r>
            <a:endParaRPr lang="en-US" sz="3600" dirty="0"/>
          </a:p>
        </p:txBody>
      </p:sp>
      <p:graphicFrame>
        <p:nvGraphicFramePr>
          <p:cNvPr id="3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95212"/>
                <a:gridCol w="3221983"/>
                <a:gridCol w="4147045"/>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Nguồn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Đáp 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Tiêu chí quyết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Tạp chí 2022</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Dùng được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Đạt cả 4 tiêu chí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 Web chuỗi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dùng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Tác giả, mục đích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 Báo cáo ngành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điều kiện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cho bối cảnh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 “72%” trên báo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hoặc 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Truy nguồn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 Có tài trợ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điều kiện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Xung đột lợi 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 · Luận văn 2012</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điều kiện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Tính cập nhật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7"/>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83–93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Đạo văn và cách tránh</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Đạo văn là để người đọc tưởng ý của người khác là của bạn</a:t>
            </a:r>
            <a:endParaRPr lang="en-US" sz="3400" dirty="0"/>
          </a:p>
        </p:txBody>
      </p:sp>
      <p:sp>
        <p:nvSpPr>
          <p:cNvPr id="6" name="Thẻ Sao chép"/>
          <p:cNvSpPr/>
          <p:nvPr/>
        </p:nvSpPr>
        <p:spPr>
          <a:xfrm>
            <a:off x="548640" y="1783080"/>
            <a:ext cx="3505200" cy="2011680"/>
          </a:xfrm>
          <a:prstGeom prst="roundRect">
            <a:avLst>
              <a:gd name="adj" fmla="val 818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Sao chép</a:t>
            </a:r>
            <a:endParaRPr lang="en-US" sz="2400" dirty="0"/>
          </a:p>
        </p:txBody>
      </p:sp>
      <p:sp>
        <p:nvSpPr>
          <p:cNvPr id="10" name="Text 8"/>
          <p:cNvSpPr txBox="1"/>
          <p:nvPr/>
        </p:nvSpPr>
        <p:spPr>
          <a:xfrm>
            <a:off x="685800" y="2514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Nguyên văn, không nguồn</a:t>
            </a:r>
            <a:endParaRPr lang="en-US" sz="2400" dirty="0"/>
          </a:p>
        </p:txBody>
      </p:sp>
      <p:sp>
        <p:nvSpPr>
          <p:cNvPr id="11" name="Thẻ Diễn đạt lại"/>
          <p:cNvSpPr/>
          <p:nvPr/>
        </p:nvSpPr>
        <p:spPr>
          <a:xfrm>
            <a:off x="4328160" y="1783080"/>
            <a:ext cx="3505200" cy="2011680"/>
          </a:xfrm>
          <a:prstGeom prst="roundRect">
            <a:avLst>
              <a:gd name="adj" fmla="val 818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Diễn đạt lại</a:t>
            </a:r>
            <a:endParaRPr lang="en-US" sz="2400" dirty="0"/>
          </a:p>
        </p:txBody>
      </p:sp>
      <p:sp>
        <p:nvSpPr>
          <p:cNvPr id="15" name="Text 13"/>
          <p:cNvSpPr txBox="1"/>
          <p:nvPr/>
        </p:nvSpPr>
        <p:spPr>
          <a:xfrm>
            <a:off x="4465320" y="2514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Viết lại, không ghi nguồn</a:t>
            </a:r>
            <a:endParaRPr lang="en-US" sz="2400" dirty="0"/>
          </a:p>
        </p:txBody>
      </p:sp>
      <p:sp>
        <p:nvSpPr>
          <p:cNvPr id="16" name="Thẻ Trích chưa đọc"/>
          <p:cNvSpPr/>
          <p:nvPr/>
        </p:nvSpPr>
        <p:spPr>
          <a:xfrm>
            <a:off x="8107680" y="1783080"/>
            <a:ext cx="3505200" cy="2011680"/>
          </a:xfrm>
          <a:prstGeom prst="roundRect">
            <a:avLst>
              <a:gd name="adj" fmla="val 818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Trích chưa đọc</a:t>
            </a:r>
            <a:endParaRPr lang="en-US" sz="2400" dirty="0"/>
          </a:p>
        </p:txBody>
      </p:sp>
      <p:sp>
        <p:nvSpPr>
          <p:cNvPr id="20" name="Text 18"/>
          <p:cNvSpPr txBox="1"/>
          <p:nvPr/>
        </p:nvSpPr>
        <p:spPr>
          <a:xfrm>
            <a:off x="8244840" y="2514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Như thể đã đọc bản gốc</a:t>
            </a:r>
            <a:endParaRPr lang="en-US" sz="2400" dirty="0"/>
          </a:p>
        </p:txBody>
      </p:sp>
      <p:sp>
        <p:nvSpPr>
          <p:cNvPr id="21" name="Thẻ Nộp bài cũ"/>
          <p:cNvSpPr/>
          <p:nvPr/>
        </p:nvSpPr>
        <p:spPr>
          <a:xfrm>
            <a:off x="548640" y="4069080"/>
            <a:ext cx="3505200" cy="2011680"/>
          </a:xfrm>
          <a:prstGeom prst="roundRect">
            <a:avLst>
              <a:gd name="adj" fmla="val 8182"/>
            </a:avLst>
          </a:prstGeom>
          <a:solidFill>
            <a:srgbClr val="DBEDE3"/>
          </a:solidFill>
          <a:ln/>
        </p:spPr>
      </p:sp>
      <p:sp>
        <p:nvSpPr>
          <p:cNvPr id="22" name="Nhãn 4"/>
          <p:cNvSpPr/>
          <p:nvPr/>
        </p:nvSpPr>
        <p:spPr>
          <a:xfrm>
            <a:off x="713232" y="4233672"/>
            <a:ext cx="548640" cy="548640"/>
          </a:xfrm>
          <a:prstGeom prst="ellipse">
            <a:avLst/>
          </a:prstGeom>
          <a:solidFill>
            <a:srgbClr val="49B296"/>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Nộp bài cũ</a:t>
            </a:r>
            <a:endParaRPr lang="en-US" sz="2400" dirty="0"/>
          </a:p>
        </p:txBody>
      </p:sp>
      <p:sp>
        <p:nvSpPr>
          <p:cNvPr id="25" name="Text 23"/>
          <p:cNvSpPr txBox="1"/>
          <p:nvPr/>
        </p:nvSpPr>
        <p:spPr>
          <a:xfrm>
            <a:off x="685800" y="4800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Cho môn khác, không nói rõ</a:t>
            </a:r>
            <a:endParaRPr lang="en-US" sz="2400" dirty="0"/>
          </a:p>
        </p:txBody>
      </p:sp>
      <p:sp>
        <p:nvSpPr>
          <p:cNvPr id="26" name="Thẻ Dùng AI"/>
          <p:cNvSpPr/>
          <p:nvPr/>
        </p:nvSpPr>
        <p:spPr>
          <a:xfrm>
            <a:off x="4328160" y="4069080"/>
            <a:ext cx="3505200" cy="2011680"/>
          </a:xfrm>
          <a:prstGeom prst="roundRect">
            <a:avLst>
              <a:gd name="adj" fmla="val 8182"/>
            </a:avLst>
          </a:prstGeom>
          <a:solidFill>
            <a:srgbClr val="FCDCDE"/>
          </a:solidFill>
          <a:ln/>
        </p:spPr>
      </p:sp>
      <p:sp>
        <p:nvSpPr>
          <p:cNvPr id="27" name="Nhãn 5"/>
          <p:cNvSpPr/>
          <p:nvPr/>
        </p:nvSpPr>
        <p:spPr>
          <a:xfrm>
            <a:off x="4492752" y="4233672"/>
            <a:ext cx="548640" cy="548640"/>
          </a:xfrm>
          <a:prstGeom prst="ellipse">
            <a:avLst/>
          </a:prstGeom>
          <a:solidFill>
            <a:srgbClr val="FF5178"/>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Dùng AI</a:t>
            </a:r>
            <a:endParaRPr lang="en-US" sz="2400" dirty="0"/>
          </a:p>
        </p:txBody>
      </p:sp>
      <p:sp>
        <p:nvSpPr>
          <p:cNvPr id="30" name="Text 28"/>
          <p:cNvSpPr txBox="1"/>
          <p:nvPr/>
        </p:nvSpPr>
        <p:spPr>
          <a:xfrm>
            <a:off x="4465320" y="4800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khai báo</a:t>
            </a:r>
            <a:endParaRPr lang="en-US" sz="2400" dirty="0"/>
          </a:p>
        </p:txBody>
      </p:sp>
      <p:sp>
        <p:nvSpPr>
          <p:cNvPr id="31" name="Thẻ Dịch"/>
          <p:cNvSpPr/>
          <p:nvPr/>
        </p:nvSpPr>
        <p:spPr>
          <a:xfrm>
            <a:off x="8107680" y="4069080"/>
            <a:ext cx="3505200" cy="2011680"/>
          </a:xfrm>
          <a:prstGeom prst="roundRect">
            <a:avLst>
              <a:gd name="adj" fmla="val 8182"/>
            </a:avLst>
          </a:prstGeom>
          <a:solidFill>
            <a:srgbClr val="CFEAF1"/>
          </a:solidFill>
          <a:ln/>
        </p:spPr>
      </p:sp>
      <p:sp>
        <p:nvSpPr>
          <p:cNvPr id="32" name="Nhãn 6"/>
          <p:cNvSpPr/>
          <p:nvPr/>
        </p:nvSpPr>
        <p:spPr>
          <a:xfrm>
            <a:off x="8272272" y="4233672"/>
            <a:ext cx="548640" cy="548640"/>
          </a:xfrm>
          <a:prstGeom prst="ellipse">
            <a:avLst/>
          </a:prstGeom>
          <a:solidFill>
            <a:srgbClr val="09A1E5"/>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548640"/>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Dịch</a:t>
            </a:r>
            <a:endParaRPr lang="en-US" sz="2400" dirty="0"/>
          </a:p>
        </p:txBody>
      </p:sp>
      <p:sp>
        <p:nvSpPr>
          <p:cNvPr id="35" name="Text 33"/>
          <p:cNvSpPr txBox="1"/>
          <p:nvPr/>
        </p:nvSpPr>
        <p:spPr>
          <a:xfrm>
            <a:off x="8244840" y="4800600"/>
            <a:ext cx="3230880" cy="1234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Dịch Anh–Việt, không nguồn</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Ba bản diễn đạt lại: bản nào đạt?</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FCF2CF"/>
          </a:solidFill>
          <a:ln/>
        </p:spPr>
      </p:sp>
      <p:sp>
        <p:nvSpPr>
          <p:cNvPr id="7" name="Nhãn “"/>
          <p:cNvSpPr/>
          <p:nvPr/>
        </p:nvSpPr>
        <p:spPr>
          <a:xfrm>
            <a:off x="960120" y="3200400"/>
            <a:ext cx="1463040" cy="1463040"/>
          </a:xfrm>
          <a:prstGeom prst="ellipse">
            <a:avLst/>
          </a:prstGeom>
          <a:solidFill>
            <a:srgbClr val="FFD23B"/>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105660"/>
            <a:ext cx="8412480" cy="2595880"/>
          </a:xfrm>
          <a:prstGeom prst="rect">
            <a:avLst/>
          </a:prstGeom>
          <a:noFill/>
          <a:ln/>
        </p:spPr>
        <p:txBody>
          <a:bodyPr wrap="square" lIns="76200" tIns="76200" rIns="76200" bIns="76200" rtlCol="0" anchor="t"/>
          <a:lstStyle/>
          <a:p>
            <a:pPr algn="l" indent="0" marL="0">
              <a:lnSpc>
                <a:spcPts val="4800"/>
              </a:lnSpc>
              <a:buNone/>
            </a:pPr>
            <a:r>
              <a:rPr lang="en-US" sz="3700" b="1" i="1" dirty="0">
                <a:solidFill>
                  <a:srgbClr val="2E2A3A"/>
                </a:solidFill>
                <a:latin typeface="Alexandria" pitchFamily="34" charset="0"/>
                <a:ea typeface="Alexandria" pitchFamily="34" charset="-122"/>
                <a:cs typeface="Alexandria" pitchFamily="34" charset="-120"/>
              </a:rPr>
              <a:t>“Marketing research is the function that links the consumer, customer, and public to the marketer through information…”</a:t>
            </a:r>
            <a:endParaRPr lang="en-US" sz="3700" dirty="0"/>
          </a:p>
        </p:txBody>
      </p:sp>
      <p:sp>
        <p:nvSpPr>
          <p:cNvPr id="10" name="Text 8"/>
          <p:cNvSpPr txBox="1"/>
          <p:nvPr/>
        </p:nvSpPr>
        <p:spPr>
          <a:xfrm>
            <a:off x="2834640" y="470154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Nguyên văn — American Marketing Association (2017)</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Bản 1: dịch sát nguyên văn, không ghi nguồn</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Bản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Nghiên cứu marketing là chức năng kết nối người tiêu dùng, khách hàng và công chúng với nhà marketing thông qua thông tin.</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Đạt hay chưa đạt? Giơ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Bản 2: gần nguyên văn, có ghi nguồn</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377440" cy="566928"/>
          </a:xfrm>
          <a:prstGeom prst="roundRect">
            <a:avLst>
              <a:gd name="adj" fmla="val 48387"/>
            </a:avLst>
          </a:prstGeom>
          <a:solidFill>
            <a:srgbClr val="09A1E5"/>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Bản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Nghiên cứu marketing là chức năng nối người tiêu dùng, khách hàng và công chúng với người làm marketing bằng thông tin (American Marketing Association, 2017).</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Đạt hay chưa đạt? Giơ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Bản 3: lời của người viết, có ghi nguồn</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FCE7D8"/>
          </a:solidFill>
          <a:ln/>
        </p:spPr>
      </p:sp>
      <p:sp>
        <p:nvSpPr>
          <p:cNvPr id="7" name="Nhãn tình huống"/>
          <p:cNvSpPr/>
          <p:nvPr/>
        </p:nvSpPr>
        <p:spPr>
          <a:xfrm>
            <a:off x="777240" y="2011680"/>
            <a:ext cx="2377440" cy="566928"/>
          </a:xfrm>
          <a:prstGeom prst="roundRect">
            <a:avLst>
              <a:gd name="adj" fmla="val 48387"/>
            </a:avLst>
          </a:prstGeom>
          <a:solidFill>
            <a:srgbClr val="FF9259"/>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Bản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400"/>
              </a:lnSpc>
              <a:spcAft>
                <a:spcPts val="800"/>
              </a:spcAft>
              <a:buNone/>
            </a:pPr>
            <a:r>
              <a:rPr lang="en-US" sz="2600" dirty="0">
                <a:solidFill>
                  <a:srgbClr val="2E2A3A"/>
                </a:solidFill>
                <a:latin typeface="Alexandria" pitchFamily="34" charset="0"/>
                <a:ea typeface="Alexandria" pitchFamily="34" charset="-122"/>
                <a:cs typeface="Alexandria" pitchFamily="34" charset="-120"/>
              </a:rPr>
              <a:t>Theo American Marketing Association (2017), vai trò cốt lõi của nghiên cứu marketing là cung cấp thông tin giúp nhà marketing hiểu khách hàng và thị trường, từ đó nhận diện cơ hội, đánh giá hành động và theo dõi kết quả.</a:t>
            </a:r>
            <a:endParaRPr lang="en-US" sz="26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Đạt hay chưa đạt? Giơ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thói quen để không bao giờ đạo văn — kể cả khi dùng AI</a:t>
            </a:r>
            <a:endParaRPr lang="en-US" sz="3400" dirty="0"/>
          </a:p>
        </p:txBody>
      </p:sp>
      <p:sp>
        <p:nvSpPr>
          <p:cNvPr id="6" name="Đường nối"/>
          <p:cNvSpPr/>
          <p:nvPr/>
        </p:nvSpPr>
        <p:spPr>
          <a:xfrm>
            <a:off x="822960" y="2331720"/>
            <a:ext cx="0" cy="605028"/>
          </a:xfrm>
          <a:prstGeom prst="line">
            <a:avLst/>
          </a:prstGeom>
          <a:noFill/>
          <a:ln w="25400">
            <a:solidFill>
              <a:srgbClr val="5B5668"/>
            </a:solidFill>
            <a:prstDash val="solid"/>
          </a:ln>
        </p:spPr>
      </p:sp>
      <p:sp>
        <p:nvSpPr>
          <p:cNvPr id="7" name="Đường nối"/>
          <p:cNvSpPr/>
          <p:nvPr/>
        </p:nvSpPr>
        <p:spPr>
          <a:xfrm>
            <a:off x="822960" y="3485388"/>
            <a:ext cx="0" cy="159258"/>
          </a:xfrm>
          <a:prstGeom prst="line">
            <a:avLst/>
          </a:prstGeom>
          <a:noFill/>
          <a:ln w="25400">
            <a:solidFill>
              <a:srgbClr val="5B5668"/>
            </a:solidFill>
            <a:prstDash val="solid"/>
          </a:ln>
        </p:spPr>
      </p:sp>
      <p:sp>
        <p:nvSpPr>
          <p:cNvPr id="8" name="Đường nối"/>
          <p:cNvSpPr/>
          <p:nvPr/>
        </p:nvSpPr>
        <p:spPr>
          <a:xfrm>
            <a:off x="822960" y="4193286"/>
            <a:ext cx="0" cy="159258"/>
          </a:xfrm>
          <a:prstGeom prst="line">
            <a:avLst/>
          </a:prstGeom>
          <a:noFill/>
          <a:ln w="25400">
            <a:solidFill>
              <a:srgbClr val="5B5668"/>
            </a:solidFill>
            <a:prstDash val="solid"/>
          </a:ln>
        </p:spPr>
      </p:sp>
      <p:sp>
        <p:nvSpPr>
          <p:cNvPr id="9" name="Nhãn 1"/>
          <p:cNvSpPr/>
          <p:nvPr/>
        </p:nvSpPr>
        <p:spPr>
          <a:xfrm>
            <a:off x="548640" y="1783080"/>
            <a:ext cx="548640" cy="548640"/>
          </a:xfrm>
          <a:prstGeom prst="ellipse">
            <a:avLst/>
          </a:prstGeom>
          <a:solidFill>
            <a:srgbClr val="09A1E5"/>
          </a:solidFill>
          <a:ln/>
        </p:spPr>
      </p:sp>
      <p:sp>
        <p:nvSpPr>
          <p:cNvPr id="10" name="Text 8"/>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1" name="Text 9"/>
          <p:cNvSpPr txBox="1"/>
          <p:nvPr/>
        </p:nvSpPr>
        <p:spPr>
          <a:xfrm>
            <a:off x="1371600" y="1758315"/>
            <a:ext cx="10241280" cy="104394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Ghi nguồn ngay</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mỗi ý ghi chép đều kèm tác giả, năm, trang</a:t>
            </a:r>
            <a:endParaRPr lang="en-US" sz="2700" dirty="0"/>
          </a:p>
        </p:txBody>
      </p:sp>
      <p:sp>
        <p:nvSpPr>
          <p:cNvPr id="12" name="Nhãn 2"/>
          <p:cNvSpPr/>
          <p:nvPr/>
        </p:nvSpPr>
        <p:spPr>
          <a:xfrm>
            <a:off x="548640" y="2936748"/>
            <a:ext cx="548640" cy="548640"/>
          </a:xfrm>
          <a:prstGeom prst="ellipse">
            <a:avLst/>
          </a:prstGeom>
          <a:solidFill>
            <a:srgbClr val="FF9259"/>
          </a:solidFill>
          <a:ln/>
        </p:spPr>
      </p:sp>
      <p:sp>
        <p:nvSpPr>
          <p:cNvPr id="13" name="Text 11"/>
          <p:cNvSpPr txBox="1"/>
          <p:nvPr/>
        </p:nvSpPr>
        <p:spPr>
          <a:xfrm>
            <a:off x="548640" y="293674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1371600" y="2911983"/>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Gập tài liệu lại</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viết theo ý mình, rồi mở ra đối chiếu</a:t>
            </a:r>
            <a:endParaRPr lang="en-US" sz="2700" dirty="0"/>
          </a:p>
        </p:txBody>
      </p:sp>
      <p:sp>
        <p:nvSpPr>
          <p:cNvPr id="15" name="Nhãn 3"/>
          <p:cNvSpPr/>
          <p:nvPr/>
        </p:nvSpPr>
        <p:spPr>
          <a:xfrm>
            <a:off x="548640" y="3644646"/>
            <a:ext cx="548640" cy="548640"/>
          </a:xfrm>
          <a:prstGeom prst="ellipse">
            <a:avLst/>
          </a:prstGeom>
          <a:solidFill>
            <a:srgbClr val="962B7C"/>
          </a:solidFill>
          <a:ln/>
        </p:spPr>
      </p:sp>
      <p:sp>
        <p:nvSpPr>
          <p:cNvPr id="16" name="Text 14"/>
          <p:cNvSpPr txBox="1"/>
          <p:nvPr/>
        </p:nvSpPr>
        <p:spPr>
          <a:xfrm>
            <a:off x="548640" y="3644646"/>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371600" y="3619881"/>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Trích nguyên văn</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chỉ khi cần, có ngoặc kép và số trang</a:t>
            </a:r>
            <a:endParaRPr lang="en-US" sz="2700" dirty="0"/>
          </a:p>
        </p:txBody>
      </p:sp>
      <p:sp>
        <p:nvSpPr>
          <p:cNvPr id="18" name="Nhãn 4"/>
          <p:cNvSpPr/>
          <p:nvPr/>
        </p:nvSpPr>
        <p:spPr>
          <a:xfrm>
            <a:off x="548640" y="4352544"/>
            <a:ext cx="548640" cy="548640"/>
          </a:xfrm>
          <a:prstGeom prst="ellipse">
            <a:avLst/>
          </a:prstGeom>
          <a:solidFill>
            <a:srgbClr val="FFD23B"/>
          </a:solidFill>
          <a:ln/>
        </p:spPr>
      </p:sp>
      <p:sp>
        <p:nvSpPr>
          <p:cNvPr id="19" name="Text 17"/>
          <p:cNvSpPr txBox="1"/>
          <p:nvPr/>
        </p:nvSpPr>
        <p:spPr>
          <a:xfrm>
            <a:off x="548640" y="435254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0" name="Text 18"/>
          <p:cNvSpPr txBox="1"/>
          <p:nvPr/>
        </p:nvSpPr>
        <p:spPr>
          <a:xfrm>
            <a:off x="1371600" y="4327779"/>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Kiểm tra tài liệu AI gợi ý</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không tìm thấy thì không dùng</a:t>
            </a:r>
            <a:endParaRPr lang="en-US" sz="2700" dirty="0"/>
          </a:p>
        </p:txBody>
      </p:sp>
      <p:sp>
        <p:nvSpPr>
          <p:cNvPr id="21" name="Ghi chú nổi bật"/>
          <p:cNvSpPr/>
          <p:nvPr/>
        </p:nvSpPr>
        <p:spPr>
          <a:xfrm>
            <a:off x="548640" y="5316474"/>
            <a:ext cx="11064240" cy="685800"/>
          </a:xfrm>
          <a:prstGeom prst="roundRect">
            <a:avLst>
              <a:gd name="adj" fmla="val 24000"/>
            </a:avLst>
          </a:prstGeom>
          <a:solidFill>
            <a:srgbClr val="FCDBC5"/>
          </a:solidFill>
          <a:ln/>
        </p:spPr>
      </p:sp>
      <p:sp>
        <p:nvSpPr>
          <p:cNvPr id="22" name="Nhãn !"/>
          <p:cNvSpPr/>
          <p:nvPr/>
        </p:nvSpPr>
        <p:spPr>
          <a:xfrm>
            <a:off x="731520" y="5430774"/>
            <a:ext cx="457200" cy="457200"/>
          </a:xfrm>
          <a:prstGeom prst="ellipse">
            <a:avLst/>
          </a:prstGeom>
          <a:solidFill>
            <a:srgbClr val="FF9259"/>
          </a:solidFill>
          <a:ln/>
        </p:spPr>
      </p:sp>
      <p:sp>
        <p:nvSpPr>
          <p:cNvPr id="23" name="Text 21"/>
          <p:cNvSpPr txBox="1"/>
          <p:nvPr/>
        </p:nvSpPr>
        <p:spPr>
          <a:xfrm>
            <a:off x="731520" y="543077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647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Trích tài liệu không tồn tại là lỗi của người nộp.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8"/>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93–100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Tóm tắt và tổng hợp tài liệu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Tổng quan tài liệu cho thấy người khác đã biết gì — và còn thiếu gì</a:t>
            </a:r>
            <a:endParaRPr lang="en-US" sz="3400" dirty="0"/>
          </a:p>
        </p:txBody>
      </p:sp>
      <p:sp>
        <p:nvSpPr>
          <p:cNvPr id="6" name="Thẻ Là gì"/>
          <p:cNvSpPr/>
          <p:nvPr/>
        </p:nvSpPr>
        <p:spPr>
          <a:xfrm>
            <a:off x="548640" y="1783080"/>
            <a:ext cx="3505200" cy="2740660"/>
          </a:xfrm>
          <a:prstGeom prst="roundRect">
            <a:avLst>
              <a:gd name="adj" fmla="val 6006"/>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Là gì</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Đánh giá có phê phán các nghiên cứu đã có</a:t>
            </a:r>
            <a:endParaRPr lang="en-US" sz="2600" dirty="0"/>
          </a:p>
        </p:txBody>
      </p:sp>
      <p:sp>
        <p:nvSpPr>
          <p:cNvPr id="11" name="Thẻ Ở đâu"/>
          <p:cNvSpPr/>
          <p:nvPr/>
        </p:nvSpPr>
        <p:spPr>
          <a:xfrm>
            <a:off x="4328160" y="1783080"/>
            <a:ext cx="3505200" cy="2740660"/>
          </a:xfrm>
          <a:prstGeom prst="roundRect">
            <a:avLst>
              <a:gd name="adj" fmla="val 6006"/>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Ở đâu</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Chương 2 (định lượng) · Chương 1 (định tính)</a:t>
            </a:r>
            <a:endParaRPr lang="en-US" sz="2600" dirty="0"/>
          </a:p>
        </p:txBody>
      </p:sp>
      <p:sp>
        <p:nvSpPr>
          <p:cNvPr id="16" name="Thẻ Lộ trình"/>
          <p:cNvSpPr/>
          <p:nvPr/>
        </p:nvSpPr>
        <p:spPr>
          <a:xfrm>
            <a:off x="8107680" y="1783080"/>
            <a:ext cx="3505200" cy="2740660"/>
          </a:xfrm>
          <a:prstGeom prst="roundRect">
            <a:avLst>
              <a:gd name="adj" fmla="val 6006"/>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Lộ trình</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M2: 1 trang → M3: 2–3 trang</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FCC7CF"/>
          </a:solidFill>
          <a:ln/>
        </p:spPr>
      </p:sp>
      <p:sp>
        <p:nvSpPr>
          <p:cNvPr id="22" name="Nhãn !"/>
          <p:cNvSpPr/>
          <p:nvPr/>
        </p:nvSpPr>
        <p:spPr>
          <a:xfrm>
            <a:off x="731520" y="5003800"/>
            <a:ext cx="457200" cy="457200"/>
          </a:xfrm>
          <a:prstGeom prst="ellipse">
            <a:avLst/>
          </a:prstGeom>
          <a:solidFill>
            <a:srgbClr val="FF5178"/>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Hôm nay giới thiệu; tuần sau viết trên lớp.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Tóm tắt kể từng bài nói gì; tổng hợp nói các bài cùng cho thấy điều gì</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 B, C là nghiên cứu giả định.</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5178"/>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Tóm tắt</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DFE0"/>
          </a:solidFill>
          <a:ln/>
        </p:spPr>
      </p:sp>
      <p:sp>
        <p:nvSpPr>
          <p:cNvPr id="13" name="Dấu đầu dòng"/>
          <p:cNvSpPr/>
          <p:nvPr/>
        </p:nvSpPr>
        <p:spPr>
          <a:xfrm>
            <a:off x="822960" y="2946400"/>
            <a:ext cx="182880" cy="182880"/>
          </a:xfrm>
          <a:prstGeom prst="ellipse">
            <a:avLst/>
          </a:prstGeom>
          <a:solidFill>
            <a:srgbClr val="FF5178"/>
          </a:solidFill>
          <a:ln/>
        </p:spPr>
      </p:sp>
      <p:sp>
        <p:nvSpPr>
          <p:cNvPr id="14" name="Text 12"/>
          <p:cNvSpPr txBox="1"/>
          <p:nvPr/>
        </p:nvSpPr>
        <p:spPr>
          <a:xfrm>
            <a:off x="1097280" y="27635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 giá mạnh nhất</a:t>
            </a:r>
            <a:endParaRPr lang="en-US" sz="2400" dirty="0"/>
          </a:p>
        </p:txBody>
      </p:sp>
      <p:sp>
        <p:nvSpPr>
          <p:cNvPr id="15" name="Dấu đầu dòng"/>
          <p:cNvSpPr/>
          <p:nvPr/>
        </p:nvSpPr>
        <p:spPr>
          <a:xfrm>
            <a:off x="822960" y="3632200"/>
            <a:ext cx="182880" cy="182880"/>
          </a:xfrm>
          <a:prstGeom prst="ellipse">
            <a:avLst/>
          </a:prstGeom>
          <a:solidFill>
            <a:srgbClr val="FF5178"/>
          </a:solidFill>
          <a:ln/>
        </p:spPr>
      </p:sp>
      <p:sp>
        <p:nvSpPr>
          <p:cNvPr id="16" name="Text 14"/>
          <p:cNvSpPr txBox="1"/>
          <p:nvPr/>
        </p:nvSpPr>
        <p:spPr>
          <a:xfrm>
            <a:off x="1097280" y="34493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 chất lượng mạnh nhất</a:t>
            </a:r>
            <a:endParaRPr lang="en-US" sz="2400" dirty="0"/>
          </a:p>
        </p:txBody>
      </p:sp>
      <p:sp>
        <p:nvSpPr>
          <p:cNvPr id="17" name="Dấu đầu dòng"/>
          <p:cNvSpPr/>
          <p:nvPr/>
        </p:nvSpPr>
        <p:spPr>
          <a:xfrm>
            <a:off x="822960" y="4318000"/>
            <a:ext cx="182880" cy="182880"/>
          </a:xfrm>
          <a:prstGeom prst="ellipse">
            <a:avLst/>
          </a:prstGeom>
          <a:solidFill>
            <a:srgbClr val="FF5178"/>
          </a:solidFill>
          <a:ln/>
        </p:spPr>
      </p:sp>
      <p:sp>
        <p:nvSpPr>
          <p:cNvPr id="18" name="Text 16"/>
          <p:cNvSpPr txBox="1"/>
          <p:nvPr/>
        </p:nvSpPr>
        <p:spPr>
          <a:xfrm>
            <a:off x="1097280" y="41351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 không gian có ảnh hưởng</a:t>
            </a:r>
            <a:endParaRPr lang="en-US" sz="2400" dirty="0"/>
          </a:p>
        </p:txBody>
      </p:sp>
      <p:sp>
        <p:nvSpPr>
          <p:cNvPr id="19" name="Tiêu đề cột"/>
          <p:cNvSpPr/>
          <p:nvPr/>
        </p:nvSpPr>
        <p:spPr>
          <a:xfrm>
            <a:off x="6492240" y="1783080"/>
            <a:ext cx="5120640" cy="706120"/>
          </a:xfrm>
          <a:prstGeom prst="roundRect">
            <a:avLst>
              <a:gd name="adj" fmla="val 23309"/>
            </a:avLst>
          </a:prstGeom>
          <a:solidFill>
            <a:srgbClr val="FF9259"/>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Tổng hợp</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FCE9DB"/>
          </a:solidFill>
          <a:ln/>
        </p:spPr>
      </p:sp>
      <p:sp>
        <p:nvSpPr>
          <p:cNvPr id="22" name="Dấu đầu dòng"/>
          <p:cNvSpPr/>
          <p:nvPr/>
        </p:nvSpPr>
        <p:spPr>
          <a:xfrm>
            <a:off x="6766560" y="2946400"/>
            <a:ext cx="182880" cy="182880"/>
          </a:xfrm>
          <a:prstGeom prst="ellipse">
            <a:avLst/>
          </a:prstGeom>
          <a:solidFill>
            <a:srgbClr val="FF9259"/>
          </a:solidFill>
          <a:ln/>
        </p:spPr>
      </p:sp>
      <p:sp>
        <p:nvSpPr>
          <p:cNvPr id="23" name="Text 21"/>
          <p:cNvSpPr txBox="1"/>
          <p:nvPr/>
        </p:nvSpPr>
        <p:spPr>
          <a:xfrm>
            <a:off x="7040880" y="27635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Chung: giá, chất lượng</a:t>
            </a:r>
            <a:endParaRPr lang="en-US" sz="2400" dirty="0"/>
          </a:p>
        </p:txBody>
      </p:sp>
      <p:sp>
        <p:nvSpPr>
          <p:cNvPr id="24" name="Dấu đầu dòng"/>
          <p:cNvSpPr/>
          <p:nvPr/>
        </p:nvSpPr>
        <p:spPr>
          <a:xfrm>
            <a:off x="6766560" y="3632200"/>
            <a:ext cx="182880" cy="182880"/>
          </a:xfrm>
          <a:prstGeom prst="ellipse">
            <a:avLst/>
          </a:prstGeom>
          <a:solidFill>
            <a:srgbClr val="FF9259"/>
          </a:solidFill>
          <a:ln/>
        </p:spPr>
      </p:sp>
      <p:sp>
        <p:nvSpPr>
          <p:cNvPr id="25" name="Text 23"/>
          <p:cNvSpPr txBox="1"/>
          <p:nvPr/>
        </p:nvSpPr>
        <p:spPr>
          <a:xfrm>
            <a:off x="7040880" y="34493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Khác: mẫu SV và đi làm</a:t>
            </a:r>
            <a:endParaRPr lang="en-US" sz="2400" dirty="0"/>
          </a:p>
        </p:txBody>
      </p:sp>
      <p:sp>
        <p:nvSpPr>
          <p:cNvPr id="26" name="Dấu đầu dòng"/>
          <p:cNvSpPr/>
          <p:nvPr/>
        </p:nvSpPr>
        <p:spPr>
          <a:xfrm>
            <a:off x="6766560" y="4318000"/>
            <a:ext cx="182880" cy="182880"/>
          </a:xfrm>
          <a:prstGeom prst="ellipse">
            <a:avLst/>
          </a:prstGeom>
          <a:solidFill>
            <a:srgbClr val="FF9259"/>
          </a:solidFill>
          <a:ln/>
        </p:spPr>
      </p:sp>
      <p:sp>
        <p:nvSpPr>
          <p:cNvPr id="27" name="Text 25"/>
          <p:cNvSpPr txBox="1"/>
          <p:nvPr/>
        </p:nvSpPr>
        <p:spPr>
          <a:xfrm>
            <a:off x="7040880" y="4135120"/>
            <a:ext cx="443484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Thiếu: SV mua qua app</a:t>
            </a:r>
            <a:endParaRPr lang="en-US" sz="2400" dirty="0"/>
          </a:p>
        </p:txBody>
      </p:sp>
      <p:sp>
        <p:nvSpPr>
          <p:cNvPr id="28" name="Nhãn vs"/>
          <p:cNvSpPr/>
          <p:nvPr/>
        </p:nvSpPr>
        <p:spPr>
          <a:xfrm>
            <a:off x="5760720" y="3416300"/>
            <a:ext cx="640080" cy="640080"/>
          </a:xfrm>
          <a:prstGeom prst="ellipse">
            <a:avLst/>
          </a:prstGeom>
          <a:solidFill>
            <a:srgbClr val="FFD23B"/>
          </a:solidFill>
          <a:ln/>
        </p:spPr>
      </p:sp>
      <p:sp>
        <p:nvSpPr>
          <p:cNvPr id="29" name="Text 27"/>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Bảng tóm tắt 5 cột là bước đầu để tổng hợp</a:t>
            </a:r>
            <a:endParaRPr lang="en-US" sz="3600" dirty="0"/>
          </a:p>
        </p:txBody>
      </p:sp>
      <p:graphicFrame>
        <p:nvGraphicFramePr>
          <p:cNvPr id="49"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473595"/>
                <a:gridCol w="1473595"/>
                <a:gridCol w="1997220"/>
                <a:gridCol w="1915289"/>
                <a:gridCol w="4204542"/>
              </a:tblGrid>
              <a:tr h="92049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Tác giả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Kết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Ajzen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1991</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Trình bày thuyết TPB</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Tổng quan 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Thái độ, chuẩn chủ quan, kiểm soát → ý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126992"/>
            <a:ext cx="11064240" cy="685800"/>
          </a:xfrm>
          <a:prstGeom prst="roundRect">
            <a:avLst>
              <a:gd name="adj" fmla="val 24000"/>
            </a:avLst>
          </a:prstGeom>
          <a:solidFill>
            <a:srgbClr val="B2DFF0"/>
          </a:solidFill>
          <a:ln/>
        </p:spPr>
      </p:sp>
      <p:sp>
        <p:nvSpPr>
          <p:cNvPr id="8" name="Nhãn !"/>
          <p:cNvSpPr/>
          <p:nvPr/>
        </p:nvSpPr>
        <p:spPr>
          <a:xfrm>
            <a:off x="731520" y="4241292"/>
            <a:ext cx="457200" cy="457200"/>
          </a:xfrm>
          <a:prstGeom prst="ellipse">
            <a:avLst/>
          </a:prstGeom>
          <a:solidFill>
            <a:srgbClr val="09A1E5"/>
          </a:solidFill>
          <a:ln/>
        </p:spPr>
      </p:sp>
      <p:sp>
        <p:nvSpPr>
          <p:cNvPr id="9" name="Text 6"/>
          <p:cNvSpPr txBox="1"/>
          <p:nvPr/>
        </p:nvSpPr>
        <p:spPr>
          <a:xfrm>
            <a:off x="731520" y="4241292"/>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126992"/>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Đủ 8–10 dòng: đọc dọc từng cột.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9"/>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S9</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100–145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Săn tài liệu (45'): 5 tài liệu đầu tiên cho đề tài của nhóm</a:t>
            </a:r>
            <a:endParaRPr lang="en-US" sz="3400" dirty="0"/>
          </a:p>
        </p:txBody>
      </p:sp>
      <p:sp>
        <p:nvSpPr>
          <p:cNvPr id="6" name="Chặng 1"/>
          <p:cNvSpPr/>
          <p:nvPr/>
        </p:nvSpPr>
        <p:spPr>
          <a:xfrm>
            <a:off x="548640" y="1783080"/>
            <a:ext cx="11064240" cy="640080"/>
          </a:xfrm>
          <a:prstGeom prst="roundRect">
            <a:avLst>
              <a:gd name="adj" fmla="val 25714"/>
            </a:avLst>
          </a:prstGeom>
          <a:solidFill>
            <a:srgbClr val="D4ECF2"/>
          </a:solidFill>
          <a:ln/>
        </p:spPr>
      </p:sp>
      <p:sp>
        <p:nvSpPr>
          <p:cNvPr id="7" name="Thời gian"/>
          <p:cNvSpPr/>
          <p:nvPr/>
        </p:nvSpPr>
        <p:spPr>
          <a:xfrm>
            <a:off x="640080" y="1828800"/>
            <a:ext cx="1280160" cy="548640"/>
          </a:xfrm>
          <a:prstGeom prst="roundRect">
            <a:avLst>
              <a:gd name="adj" fmla="val 50000"/>
            </a:avLst>
          </a:prstGeom>
          <a:solidFill>
            <a:srgbClr val="09A1E5"/>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Từ khóa Việt – Anh, 2 chuỗi tìm kiếm có toán tử</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E9DB"/>
          </a:solidFill>
          <a:ln/>
        </p:spPr>
      </p:sp>
      <p:sp>
        <p:nvSpPr>
          <p:cNvPr id="11" name="Thời gian"/>
          <p:cNvSpPr/>
          <p:nvPr/>
        </p:nvSpPr>
        <p:spPr>
          <a:xfrm>
            <a:off x="640080" y="2606040"/>
            <a:ext cx="1280160" cy="548640"/>
          </a:xfrm>
          <a:prstGeom prst="roundRect">
            <a:avLst>
              <a:gd name="adj" fmla="val 50000"/>
            </a:avLst>
          </a:prstGeom>
          <a:solidFill>
            <a:srgbClr val="FF9259"/>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15'</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Tìm 5 tài liệu, ít nhất 3 nguồn học thuật</a:t>
            </a:r>
            <a:endParaRPr lang="en-US" sz="2800" dirty="0"/>
          </a:p>
        </p:txBody>
      </p:sp>
      <p:sp>
        <p:nvSpPr>
          <p:cNvPr id="14" name="Chặng 3"/>
          <p:cNvSpPr/>
          <p:nvPr/>
        </p:nvSpPr>
        <p:spPr>
          <a:xfrm>
            <a:off x="548640" y="3337560"/>
            <a:ext cx="11064240" cy="640080"/>
          </a:xfrm>
          <a:prstGeom prst="roundRect">
            <a:avLst>
              <a:gd name="adj" fmla="val 25714"/>
            </a:avLst>
          </a:prstGeom>
          <a:solidFill>
            <a:srgbClr val="EBD9E1"/>
          </a:solidFill>
          <a:ln/>
        </p:spPr>
      </p:sp>
      <p:sp>
        <p:nvSpPr>
          <p:cNvPr id="15" name="Thời gian"/>
          <p:cNvSpPr/>
          <p:nvPr/>
        </p:nvSpPr>
        <p:spPr>
          <a:xfrm>
            <a:off x="640080" y="3383280"/>
            <a:ext cx="1280160" cy="548640"/>
          </a:xfrm>
          <a:prstGeom prst="roundRect">
            <a:avLst>
              <a:gd name="adj" fmla="val 50000"/>
            </a:avLst>
          </a:prstGeom>
          <a:solidFill>
            <a:srgbClr val="962B7C"/>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10'</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Phân loại, đánh giá 4 tiêu chí: giữ / có ĐK / loại</a:t>
            </a:r>
            <a:endParaRPr lang="en-US" sz="2800" dirty="0"/>
          </a:p>
        </p:txBody>
      </p:sp>
      <p:sp>
        <p:nvSpPr>
          <p:cNvPr id="18" name="Chặng 4"/>
          <p:cNvSpPr/>
          <p:nvPr/>
        </p:nvSpPr>
        <p:spPr>
          <a:xfrm>
            <a:off x="548640" y="4114800"/>
            <a:ext cx="11064240" cy="640080"/>
          </a:xfrm>
          <a:prstGeom prst="roundRect">
            <a:avLst>
              <a:gd name="adj" fmla="val 25714"/>
            </a:avLst>
          </a:prstGeom>
          <a:solidFill>
            <a:srgbClr val="FCF4D6"/>
          </a:solidFill>
          <a:ln/>
        </p:spPr>
      </p:sp>
      <p:sp>
        <p:nvSpPr>
          <p:cNvPr id="19" name="Thời gian"/>
          <p:cNvSpPr/>
          <p:nvPr/>
        </p:nvSpPr>
        <p:spPr>
          <a:xfrm>
            <a:off x="640080" y="4160520"/>
            <a:ext cx="1280160" cy="548640"/>
          </a:xfrm>
          <a:prstGeom prst="roundRect">
            <a:avLst>
              <a:gd name="adj" fmla="val 50000"/>
            </a:avLst>
          </a:prstGeom>
          <a:solidFill>
            <a:srgbClr val="FFD23B"/>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Bảng tóm tắt ít nhất 2 tài liệu, bằng lời nhóm</a:t>
            </a:r>
            <a:endParaRPr lang="en-US" sz="2800" dirty="0"/>
          </a:p>
        </p:txBody>
      </p:sp>
      <p:sp>
        <p:nvSpPr>
          <p:cNvPr id="22" name="Chặng 5"/>
          <p:cNvSpPr/>
          <p:nvPr/>
        </p:nvSpPr>
        <p:spPr>
          <a:xfrm>
            <a:off x="548640" y="4892040"/>
            <a:ext cx="11064240" cy="640080"/>
          </a:xfrm>
          <a:prstGeom prst="roundRect">
            <a:avLst>
              <a:gd name="adj" fmla="val 25714"/>
            </a:avLst>
          </a:prstGeom>
          <a:solidFill>
            <a:srgbClr val="DFEEE5"/>
          </a:solidFill>
          <a:ln/>
        </p:spPr>
      </p:sp>
      <p:sp>
        <p:nvSpPr>
          <p:cNvPr id="23" name="Thời gian"/>
          <p:cNvSpPr/>
          <p:nvPr/>
        </p:nvSpPr>
        <p:spPr>
          <a:xfrm>
            <a:off x="640080" y="4937760"/>
            <a:ext cx="1280160" cy="548640"/>
          </a:xfrm>
          <a:prstGeom prst="roundRect">
            <a:avLst>
              <a:gd name="adj" fmla="val 50000"/>
            </a:avLst>
          </a:prstGeom>
          <a:solidFill>
            <a:srgbClr val="49B296"/>
          </a:solidFill>
          <a:ln/>
        </p:spPr>
      </p:sp>
      <p:sp>
        <p:nvSpPr>
          <p:cNvPr id="24" name="Text 22"/>
          <p:cNvSpPr txBox="1"/>
          <p:nvPr/>
        </p:nvSpPr>
        <p:spPr>
          <a:xfrm>
            <a:off x="640080" y="493776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5" name="Text 23"/>
          <p:cNvSpPr txBox="1"/>
          <p:nvPr/>
        </p:nvSpPr>
        <p:spPr>
          <a:xfrm>
            <a:off x="2103120" y="489204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2 nhóm chia sẻ, mỗi nhóm 1 phút</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Hai điều bắt buộc khi săn tài liệu</a:t>
            </a:r>
            <a:endParaRPr lang="en-US" sz="3600" dirty="0"/>
          </a:p>
        </p:txBody>
      </p:sp>
      <p:sp>
        <p:nvSpPr>
          <p:cNvPr id="6" name="Thẻ Mở tài liệu ra đọc"/>
          <p:cNvSpPr/>
          <p:nvPr/>
        </p:nvSpPr>
        <p:spPr>
          <a:xfrm>
            <a:off x="548640" y="1783080"/>
            <a:ext cx="539496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tài liệu ra đọc</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chọn chỉ dựa vào tên bài</a:t>
            </a:r>
            <a:endParaRPr lang="en-US" sz="2600" dirty="0"/>
          </a:p>
        </p:txBody>
      </p:sp>
      <p:sp>
        <p:nvSpPr>
          <p:cNvPr id="11" name="Thẻ Tài liệu AI gợi ý"/>
          <p:cNvSpPr/>
          <p:nvPr/>
        </p:nvSpPr>
        <p:spPr>
          <a:xfrm>
            <a:off x="6217920" y="1783080"/>
            <a:ext cx="5394960" cy="2740660"/>
          </a:xfrm>
          <a:prstGeom prst="roundRect">
            <a:avLst>
              <a:gd name="adj" fmla="val 6006"/>
            </a:avLst>
          </a:prstGeom>
          <a:solidFill>
            <a:srgbClr val="E9D5DE"/>
          </a:solidFill>
          <a:ln/>
        </p:spPr>
      </p:sp>
      <p:sp>
        <p:nvSpPr>
          <p:cNvPr id="12" name="Nhãn 2"/>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Tài liệu AI gợi ý</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Phải tìm thấy trên Google Scholar hoặc mở được bằng DOI</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C6E4D8"/>
          </a:solidFill>
          <a:ln/>
        </p:spPr>
      </p:sp>
      <p:sp>
        <p:nvSpPr>
          <p:cNvPr id="17" name="Nhãn !"/>
          <p:cNvSpPr/>
          <p:nvPr/>
        </p:nvSpPr>
        <p:spPr>
          <a:xfrm>
            <a:off x="731520" y="5003800"/>
            <a:ext cx="457200" cy="457200"/>
          </a:xfrm>
          <a:prstGeom prst="ellipse">
            <a:avLst/>
          </a:prstGeom>
          <a:solidFill>
            <a:srgbClr val="49B296"/>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 5 tài liệu + bảng tóm tắt.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10"/>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S10</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145–150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một tiêu chí bạn sẽ dùng để loại một nguồn</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D7ECE1"/>
          </a:solidFill>
          <a:ln/>
        </p:spPr>
      </p:sp>
      <p:sp>
        <p:nvSpPr>
          <p:cNvPr id="7" name="Nhãn ?"/>
          <p:cNvSpPr/>
          <p:nvPr/>
        </p:nvSpPr>
        <p:spPr>
          <a:xfrm>
            <a:off x="960120" y="3200400"/>
            <a:ext cx="1463040" cy="1463040"/>
          </a:xfrm>
          <a:prstGeom prst="ellipse">
            <a:avLst/>
          </a:prstGeom>
          <a:solidFill>
            <a:srgbClr val="49B296"/>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55143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Một tiêu chí cụ thể bạn sẽ dùng để loại một nguồn khỏi tiểu luận là gì?</a:t>
            </a:r>
            <a:endParaRPr lang="en-US" sz="4000" dirty="0"/>
          </a:p>
        </p:txBody>
      </p:sp>
      <p:sp>
        <p:nvSpPr>
          <p:cNvPr id="10" name="Text 8"/>
          <p:cNvSpPr txBox="1"/>
          <p:nvPr/>
        </p:nvSpPr>
        <p:spPr>
          <a:xfrm>
            <a:off x="2834640" y="468503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Không cần ghi tên.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về nhà và M2</a:t>
            </a:r>
            <a:endParaRPr lang="en-US" sz="3600" dirty="0"/>
          </a:p>
        </p:txBody>
      </p:sp>
      <p:sp>
        <p:nvSpPr>
          <p:cNvPr id="6" name="Thẻ Về nhà"/>
          <p:cNvSpPr/>
          <p:nvPr/>
        </p:nvSpPr>
        <p:spPr>
          <a:xfrm>
            <a:off x="548640" y="1783080"/>
            <a:ext cx="3505200" cy="3169920"/>
          </a:xfrm>
          <a:prstGeom prst="roundRect">
            <a:avLst>
              <a:gd name="adj" fmla="val 5192"/>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Về nhà</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ít nhất 8 tài liệu + bảng tóm tắt → mang đến Buổi 3</a:t>
            </a:r>
            <a:endParaRPr lang="en-US" sz="2600" dirty="0"/>
          </a:p>
        </p:txBody>
      </p:sp>
      <p:sp>
        <p:nvSpPr>
          <p:cNvPr id="11" name="Thẻ M2"/>
          <p:cNvSpPr/>
          <p:nvPr/>
        </p:nvSpPr>
        <p:spPr>
          <a:xfrm>
            <a:off x="4328160" y="1783080"/>
            <a:ext cx="3505200" cy="3169920"/>
          </a:xfrm>
          <a:prstGeom prst="roundRect">
            <a:avLst>
              <a:gd name="adj" fmla="val 5192"/>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M2</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APA 7 + 1 trang tổng quan · nhóm · 5% · nộp sau Buổi 3 (hạn: …)</a:t>
            </a:r>
            <a:endParaRPr lang="en-US" sz="2600" dirty="0"/>
          </a:p>
        </p:txBody>
      </p:sp>
      <p:sp>
        <p:nvSpPr>
          <p:cNvPr id="16" name="Thẻ Buổi 3"/>
          <p:cNvSpPr/>
          <p:nvPr/>
        </p:nvSpPr>
        <p:spPr>
          <a:xfrm>
            <a:off x="8107680" y="1783080"/>
            <a:ext cx="3505200" cy="3169920"/>
          </a:xfrm>
          <a:prstGeom prst="roundRect">
            <a:avLst>
              <a:gd name="adj" fmla="val 5192"/>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3</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APA 7 chi tiết, sửa danh mục ngay trên lớp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FF5178"/>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Ajzen, I. (1991). The theory of planned behavior.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Organizational Behavior and Human Decision Processes, 50</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179–211. https://doi.org/10.1016/0749-5978(91)90020-T</a:t>
            </a:r>
            <a:endParaRPr lang="en-US" sz="2400" dirty="0"/>
          </a:p>
        </p:txBody>
      </p:sp>
      <p:sp>
        <p:nvSpPr>
          <p:cNvPr id="8" name="Dấu đầu dòng"/>
          <p:cNvSpPr/>
          <p:nvPr/>
        </p:nvSpPr>
        <p:spPr>
          <a:xfrm>
            <a:off x="585216" y="3389376"/>
            <a:ext cx="164592" cy="164592"/>
          </a:xfrm>
          <a:prstGeom prst="ellipse">
            <a:avLst/>
          </a:prstGeom>
          <a:solidFill>
            <a:srgbClr val="09A1E5"/>
          </a:solidFill>
          <a:ln/>
        </p:spPr>
      </p:sp>
      <p:sp>
        <p:nvSpPr>
          <p:cNvPr id="9" name="Text 7"/>
          <p:cNvSpPr txBox="1"/>
          <p:nvPr/>
        </p:nvSpPr>
        <p:spPr>
          <a:xfrm>
            <a:off x="914400" y="319735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Marketing Association. (2017).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Definitions of marketing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https://www.ama.org/the-definition-of-marketing-what-is-marketing/</a:t>
            </a:r>
            <a:endParaRPr lang="en-US" sz="2400" dirty="0"/>
          </a:p>
        </p:txBody>
      </p:sp>
      <p:sp>
        <p:nvSpPr>
          <p:cNvPr id="10" name="Dấu đầu dòng"/>
          <p:cNvSpPr/>
          <p:nvPr/>
        </p:nvSpPr>
        <p:spPr>
          <a:xfrm>
            <a:off x="585216" y="4803648"/>
            <a:ext cx="164592" cy="164592"/>
          </a:xfrm>
          <a:prstGeom prst="ellipse">
            <a:avLst/>
          </a:prstGeom>
          <a:solidFill>
            <a:srgbClr val="FF9259"/>
          </a:solidFill>
          <a:ln/>
        </p:spPr>
      </p:sp>
      <p:sp>
        <p:nvSpPr>
          <p:cNvPr id="11" name="Text 9"/>
          <p:cNvSpPr txBox="1"/>
          <p:nvPr/>
        </p:nvSpPr>
        <p:spPr>
          <a:xfrm>
            <a:off x="914400" y="4611624"/>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Psychological Association. (2020).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Publication manual of the American Psychological Association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https://doi.org/10.1037/0000165-000</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09A1E5"/>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2 · Tham khảo và trích dẫn tài liệu</dc:title>
  <dc:subject>MKT1107 Nghiên cứu Marketing</dc:subject>
  <dc:creator>Đoàn Nguyễn Bảo Quyên</dc:creator>
  <cp:lastModifiedBy>Đoàn Nguyễn Bảo Quyên</cp:lastModifiedBy>
  <cp:revision>1</cp:revision>
  <dcterms:created xsi:type="dcterms:W3CDTF">2026-10-05T10:45:39Z</dcterms:created>
  <dcterms:modified xsi:type="dcterms:W3CDTF">2026-10-05T10:45:39Z</dcterms:modified>
</cp:coreProperties>
</file>