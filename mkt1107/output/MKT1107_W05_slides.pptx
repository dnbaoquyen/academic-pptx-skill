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da79634a-37a9-89b5-fd1e-6bb145221216}">
          <p14:sldIdLst>
            <p14:sldId id="256"/>
          </p14:sldIdLst>
        </p14:section>
        <p14:section name="S1 · Khởi động: AI đã bịa bao nhiêu trích dẫn?" id="{b32d2fa8-e209-e1df-c575-b6433708ed3f}">
          <p14:sldIdLst>
            <p14:sldId id="257"/>
            <p14:sldId id="258"/>
            <p14:sldId id="259"/>
          </p14:sldIdLst>
        </p14:section>
        <p14:section name="S2 · 3.5 Ưu điểm và hạn chế của AI" id="{e2a6f38b-5159-d63c-17a1-78eb2ad610fb}">
          <p14:sldIdLst>
            <p14:sldId id="260"/>
            <p14:sldId id="261"/>
            <p14:sldId id="262"/>
            <p14:sldId id="263"/>
            <p14:sldId id="264"/>
            <p14:sldId id="265"/>
            <p14:sldId id="266"/>
            <p14:sldId id="267"/>
            <p14:sldId id="268"/>
          </p14:sldIdLst>
        </p14:section>
        <p14:section name="S3 · 3.6 Ứng dụng của AI" id="{b79f6d72-0ab3-20d0-5e0a-426059529d50}">
          <p14:sldIdLst>
            <p14:sldId id="269"/>
            <p14:sldId id="270"/>
            <p14:sldId id="271"/>
            <p14:sldId id="272"/>
            <p14:sldId id="273"/>
            <p14:sldId id="274"/>
            <p14:sldId id="275"/>
            <p14:sldId id="276"/>
          </p14:sldIdLst>
        </p14:section>
        <p14:section name="S4 · 3.7 Công cụ AI hỗ trợ nghiên cứu" id="{6442d7ba-853c-4f56-7904-c30a89ef799c}">
          <p14:sldIdLst>
            <p14:sldId id="277"/>
            <p14:sldId id="278"/>
            <p14:sldId id="279"/>
            <p14:sldId id="280"/>
            <p14:sldId id="281"/>
          </p14:sldIdLst>
        </p14:section>
        <p14:section name="S5 · 3.8 Cách đặt câu lệnh (prompt) hỗ trợ nghiên cứu" id="{dde27072-0808-a62d-210d-4a84e50f8dd2}">
          <p14:sldIdLst>
            <p14:sldId id="282"/>
            <p14:sldId id="283"/>
            <p14:sldId id="284"/>
            <p14:sldId id="285"/>
            <p14:sldId id="286"/>
            <p14:sldId id="287"/>
            <p14:sldId id="288"/>
            <p14:sldId id="289"/>
            <p14:sldId id="290"/>
          </p14:sldIdLst>
        </p14:section>
        <p14:section name="S6 · Đạo đức, quy định dùng AI và trích dẫn AI" id="{fd7da87d-704c-beca-1641-b55ee944fcfa}">
          <p14:sldIdLst>
            <p14:sldId id="291"/>
            <p14:sldId id="292"/>
            <p14:sldId id="293"/>
            <p14:sldId id="294"/>
            <p14:sldId id="295"/>
          </p14:sldIdLst>
        </p14:section>
        <p14:section name="S7 · Thực hành nhóm: Xưởng câu lệnh" id="{83465d97-926a-d815-8cdc-3e2a43116a80}">
          <p14:sldIdLst>
            <p14:sldId id="296"/>
            <p14:sldId id="297"/>
          </p14:sldIdLst>
        </p14:section>
        <p14:section name="S8 · Kết buổi" id="{648f922a-1a51-c647-fc25-bcd2ace0dfec}">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phút 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 mẫu</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bình luận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5303520" cy="146304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60–70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245864"/>
            <a:ext cx="11064240" cy="685800"/>
          </a:xfrm>
          <a:prstGeom prst="roundRect">
            <a:avLst>
              <a:gd name="adj" fmla="val 24000"/>
            </a:avLst>
          </a:prstGeom>
          <a:solidFill>
            <a:srgbClr val="B2DFF0"/>
          </a:solidFill>
          <a:ln/>
        </p:spPr>
      </p:sp>
      <p:sp>
        <p:nvSpPr>
          <p:cNvPr id="8" name="Nhãn !"/>
          <p:cNvSpPr/>
          <p:nvPr/>
        </p:nvSpPr>
        <p:spPr>
          <a:xfrm>
            <a:off x="731520" y="4360164"/>
            <a:ext cx="457200" cy="457200"/>
          </a:xfrm>
          <a:prstGeom prst="ellipse">
            <a:avLst/>
          </a:prstGeom>
          <a:solidFill>
            <a:srgbClr val="09A1E5"/>
          </a:solidFill>
          <a:ln/>
        </p:spPr>
      </p:sp>
      <p:sp>
        <p:nvSpPr>
          <p:cNvPr id="9" name="Text 6"/>
          <p:cNvSpPr txBox="1"/>
          <p:nvPr/>
        </p:nvSpPr>
        <p:spPr>
          <a:xfrm>
            <a:off x="731520" y="43601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2458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70–88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166360"/>
            <a:ext cx="11064240" cy="685800"/>
          </a:xfrm>
          <a:prstGeom prst="roundRect">
            <a:avLst>
              <a:gd name="adj" fmla="val 24000"/>
            </a:avLst>
          </a:prstGeom>
          <a:solidFill>
            <a:srgbClr val="B2DFF0"/>
          </a:solidFill>
          <a:ln/>
        </p:spPr>
      </p:sp>
      <p:sp>
        <p:nvSpPr>
          <p:cNvPr id="8" name="Nhãn !"/>
          <p:cNvSpPr/>
          <p:nvPr/>
        </p:nvSpPr>
        <p:spPr>
          <a:xfrm>
            <a:off x="731520" y="5280660"/>
            <a:ext cx="457200" cy="457200"/>
          </a:xfrm>
          <a:prstGeom prst="ellipse">
            <a:avLst/>
          </a:prstGeom>
          <a:solidFill>
            <a:srgbClr val="09A1E5"/>
          </a:solidFill>
          <a:ln/>
        </p:spPr>
      </p:sp>
      <p:sp>
        <p:nvSpPr>
          <p:cNvPr id="9" name="Text 6"/>
          <p:cNvSpPr txBox="1"/>
          <p:nvPr/>
        </p:nvSpPr>
        <p:spPr>
          <a:xfrm>
            <a:off x="731520" y="52806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663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1280160" cy="548640"/>
          </a:xfrm>
          <a:prstGeom prst="roundRect">
            <a:avLst>
              <a:gd name="adj" fmla="val 50000"/>
            </a:avLst>
          </a:prstGeom>
          <a:solidFill>
            <a:srgbClr val="FFD23B"/>
          </a:solidFill>
          <a:ln/>
        </p:spPr>
      </p:sp>
      <p:sp>
        <p:nvSpPr>
          <p:cNvPr id="8" name="Text 6"/>
          <p:cNvSpPr txBox="1"/>
          <p:nvPr/>
        </p:nvSpPr>
        <p:spPr>
          <a:xfrm>
            <a:off x="640080" y="199771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p>
        </p:txBody>
      </p:sp>
      <p:sp>
        <p:nvSpPr>
          <p:cNvPr id="9" name="Text 7"/>
          <p:cNvSpPr txBox="1"/>
          <p:nvPr/>
        </p:nvSpPr>
        <p:spPr>
          <a:xfrm>
            <a:off x="2103120" y="1783080"/>
            <a:ext cx="937260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1280160" cy="548640"/>
          </a:xfrm>
          <a:prstGeom prst="roundRect">
            <a:avLst>
              <a:gd name="adj" fmla="val 50000"/>
            </a:avLst>
          </a:prstGeom>
          <a:solidFill>
            <a:srgbClr val="49B296"/>
          </a:solidFill>
          <a:ln/>
        </p:spPr>
      </p:sp>
      <p:sp>
        <p:nvSpPr>
          <p:cNvPr id="12" name="Text 10"/>
          <p:cNvSpPr txBox="1"/>
          <p:nvPr/>
        </p:nvSpPr>
        <p:spPr>
          <a:xfrm>
            <a:off x="640080" y="29438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2103120" y="289814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1280160" cy="548640"/>
          </a:xfrm>
          <a:prstGeom prst="roundRect">
            <a:avLst>
              <a:gd name="adj" fmla="val 50000"/>
            </a:avLst>
          </a:prstGeom>
          <a:solidFill>
            <a:srgbClr val="FF5178"/>
          </a:solidFill>
          <a:ln/>
        </p:spPr>
      </p:sp>
      <p:sp>
        <p:nvSpPr>
          <p:cNvPr id="16" name="Text 14"/>
          <p:cNvSpPr txBox="1"/>
          <p:nvPr/>
        </p:nvSpPr>
        <p:spPr>
          <a:xfrm>
            <a:off x="640080" y="37211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7" name="Text 15"/>
          <p:cNvSpPr txBox="1"/>
          <p:nvPr/>
        </p:nvSpPr>
        <p:spPr>
          <a:xfrm>
            <a:off x="2103120" y="367538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1280160" cy="548640"/>
          </a:xfrm>
          <a:prstGeom prst="roundRect">
            <a:avLst>
              <a:gd name="adj" fmla="val 50000"/>
            </a:avLst>
          </a:prstGeom>
          <a:solidFill>
            <a:srgbClr val="09A1E5"/>
          </a:solidFill>
          <a:ln/>
        </p:spPr>
      </p:sp>
      <p:sp>
        <p:nvSpPr>
          <p:cNvPr id="20" name="Text 18"/>
          <p:cNvSpPr txBox="1"/>
          <p:nvPr/>
        </p:nvSpPr>
        <p:spPr>
          <a:xfrm>
            <a:off x="640080" y="44983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1'30"</a:t>
            </a:r>
            <a:endParaRPr lang="en-US" sz="2400" dirty="0"/>
          </a:p>
        </p:txBody>
      </p:sp>
      <p:sp>
        <p:nvSpPr>
          <p:cNvPr id="21" name="Text 19"/>
          <p:cNvSpPr txBox="1"/>
          <p:nvPr/>
        </p:nvSpPr>
        <p:spPr>
          <a:xfrm>
            <a:off x="2103120" y="445262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88–98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(45'):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1280160" cy="548640"/>
          </a:xfrm>
          <a:prstGeom prst="roundRect">
            <a:avLst>
              <a:gd name="adj" fmla="val 50000"/>
            </a:avLst>
          </a:prstGeom>
          <a:solidFill>
            <a:srgbClr val="962B7C"/>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425952"/>
            <a:ext cx="164592" cy="164592"/>
          </a:xfrm>
          <a:prstGeom prst="ellipse">
            <a:avLst/>
          </a:prstGeom>
          <a:solidFill>
            <a:srgbClr val="FFD23B"/>
          </a:solidFill>
          <a:ln/>
        </p:spPr>
      </p:sp>
      <p:sp>
        <p:nvSpPr>
          <p:cNvPr id="9" name="Text 7"/>
          <p:cNvSpPr txBox="1"/>
          <p:nvPr/>
        </p:nvSpPr>
        <p:spPr>
          <a:xfrm>
            <a:off x="914400" y="3233928"/>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10" name="Dấu đầu dòng"/>
          <p:cNvSpPr/>
          <p:nvPr/>
        </p:nvSpPr>
        <p:spPr>
          <a:xfrm>
            <a:off x="585216" y="4876800"/>
            <a:ext cx="164592" cy="164592"/>
          </a:xfrm>
          <a:prstGeom prst="ellipse">
            <a:avLst/>
          </a:prstGeom>
          <a:solidFill>
            <a:srgbClr val="49B296"/>
          </a:solidFill>
          <a:ln/>
        </p:spPr>
      </p:sp>
      <p:sp>
        <p:nvSpPr>
          <p:cNvPr id="11" name="Text 9"/>
          <p:cNvSpPr txBox="1"/>
          <p:nvPr/>
        </p:nvSpPr>
        <p:spPr>
          <a:xfrm>
            <a:off x="914400" y="468477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2026-10-05T10:36:13Z</dcterms:created>
  <dcterms:modified xsi:type="dcterms:W3CDTF">2026-10-05T10:36:13Z</dcterms:modified>
</cp:coreProperties>
</file>