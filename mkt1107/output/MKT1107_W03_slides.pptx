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57e6228f-5845-20da-873c-552afcbe3447}">
          <p14:sldIdLst>
            <p14:sldId id="256"/>
          </p14:sldIdLst>
        </p14:section>
        <p14:section name="S1 · Khởi động — kiểm tra bài tập Buổi 2" id="{9fbcc5f0-38b9-af36-57b5-f54a70ab677b}">
          <p14:sldIdLst>
            <p14:sldId id="257"/>
            <p14:sldId id="258"/>
            <p14:sldId id="259"/>
            <p14:sldId id="260"/>
          </p14:sldIdLst>
        </p14:section>
        <p14:section name="S2 · 2.2 Trích dẫn trong bài" id="{c583816f-5ce4-e6b4-34b3-ed7ab6df4763}">
          <p14:sldIdLst>
            <p14:sldId id="261"/>
            <p14:sldId id="262"/>
            <p14:sldId id="263"/>
            <p14:sldId id="264"/>
            <p14:sldId id="265"/>
            <p14:sldId id="266"/>
            <p14:sldId id="267"/>
            <p14:sldId id="268"/>
            <p14:sldId id="269"/>
            <p14:sldId id="270"/>
            <p14:sldId id="271"/>
            <p14:sldId id="272"/>
            <p14:sldId id="273"/>
          </p14:sldIdLst>
        </p14:section>
        <p14:section name="S3 · 2.3 Danh mục (1)" id="{0d057970-3566-4e5b-a417-e5d6fc230143}">
          <p14:sldIdLst>
            <p14:sldId id="274"/>
            <p14:sldId id="275"/>
            <p14:sldId id="276"/>
            <p14:sldId id="277"/>
            <p14:sldId id="278"/>
            <p14:sldId id="279"/>
            <p14:sldId id="280"/>
            <p14:sldId id="281"/>
          </p14:sldIdLst>
        </p14:section>
        <p14:section name="S4 · 2.3 Danh mục (2)" id="{0b690570-843f-c25d-be87-a63a0ccc3444}">
          <p14:sldIdLst>
            <p14:sldId id="282"/>
            <p14:sldId id="283"/>
            <p14:sldId id="284"/>
            <p14:sldId id="285"/>
            <p14:sldId id="286"/>
            <p14:sldId id="287"/>
            <p14:sldId id="288"/>
          </p14:sldIdLst>
        </p14:section>
        <p14:section name="S5 · Từ danh mục đến tổng quan tài liệu" id="{16195caa-e0cf-caba-d174-95107a6e4dce}">
          <p14:sldIdLst>
            <p14:sldId id="289"/>
            <p14:sldId id="290"/>
            <p14:sldId id="291"/>
            <p14:sldId id="292"/>
            <p14:sldId id="293"/>
            <p14:sldId id="294"/>
            <p14:sldId id="295"/>
            <p14:sldId id="296"/>
            <p14:sldId id="297"/>
            <p14:sldId id="298"/>
          </p14:sldIdLst>
        </p14:section>
        <p14:section name="S6 · Thực hành nhóm" id="{1e07452b-0799-f09a-4c1f-7e048405d5ce}">
          <p14:sldIdLst>
            <p14:sldId id="299"/>
            <p14:sldId id="300"/>
            <p14:sldId id="301"/>
          </p14:sldIdLst>
        </p14:section>
        <p14:section name="S7 · Kết buổi" id="{85d85a9a-a336-9786-3f5b-6e1379ed36e3}">
          <p14:sldIdLst>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slide này trong lúc sinh viên vào lớp. Chưa giảng; chỉ nhắc to: “Các nhóm mở sẵn danh mục tài liệu và bảng tóm tắt đã làm sau Buổi 2 — mình dùng ngay trong mười phút đầu.”
Giới thiệu ngắn nội dung hôm nay: phần 2.2 Trích dẫn trong bài, phần 2.3 Danh mục tài liệu tham khảo theo APA 7, và phần cuối là viết tổng quan tài liệu — đúng hai thành phần của bài tập M2 (danh mục chuẩn APA 7 và một trang tổng quan có trích dẫn).
Trong lúc chờ, đi một vòng xem các nhóm đã mở máy chưa; nhóm nào không mang máy thì nhắc ngồi cạnh thành viên có máy.
Lưu ý cho giảng viên: slide bìa này thay cho slide UEF Bài 2 #1. Nguồn chuẩn cho mọi quy tắc APA hôm nay là tài liệu học tập Bài 2 (mục 2.2, 2.3 và bảng “Lỗi thường gặp”) và American Psychological Association (2020); một số slide UEF Bài 2 có cách ghi lỗi thời nên đã được tạo lại trong bộ slide này. Thời lượng buổi: 150 phút, gồm 15 phút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Mười phút đầu là kiểm tra bài tập Buổi 2: danh mục từ 8 tài liệu trở lên và bảng tóm tắt (tác giả, năm, mục tiêu, phương pháp, kết quả). Bài tập này không chấm điểm riêng, nhưng là nguyên liệu trực tiếp cho M2 và cho phần thực hành 45 phút cuối buổi.
Cấu trúc phần khởi động: ba câu hỏi giơ tay (khoảng 3 phút), hai nhóm báo cáo mỗi nhóm một phút (khoảng 5 phút), rồi nối vào bài bằng một danh mục giả định (khoảng 2 phút).
Nói với lớp: “Mình bắt đầu bằng việc nhìn lại xem các nhóm đang ở đâu. Không ai bị trừ điểm vì câu trả lời — mình cần số liệu thật để biết hôm nay nên nhấn vào chỗ nào.”
Chuẩn bị: góc bảng để ghi số nhóm trả lời “có” cho từng câu hỏi; danh sách nhóm để chỉ định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lần lượt ba câu; nhóm nào “có” thì một bạn đại diện giơ tay. Đếm nhanh từng câu và ghi số nhóm lên góc bảng.
Câu 1: “Nhóm nào đã có đủ 8 tài liệu trở lên?”
Câu 2: “Trong 8 tài liệu đó, nhóm nào có từ 3 bài báo khoa học trở lên — bài trên tạp chí có phản biện, không phải bài báo điện tử hay blog?” Thường số nhóm ở câu này ít hơn câu 1 khá nhiều — đó là dấu hiệu cần nhắc. Nếu dưới một nửa số nhóm giơ tay, nói ngắn: “Trước khi nộp M2, mỗi nhóm cần ít nhất 3 bài báo khoa học — tổng quan dựa trên báo điện tử thì chưa phải tổng quan tài liệu học thuật.” Không giảng lại Buổi 2.
Câu 3: “Nhóm nào có ít nhất một tài liệu trong danh mục mà chưa ai trong nhóm mở ra đọc?” Nhấn: “Giơ tay trung thực, không trừ điểm — lát nữa các bạn sẽ biết vì sao câu này quan trọng.” Câu này mở đường cho quy tắc “chỉ liệt kê tài liệu đã đọc” ở phần trích dẫn qua tác giả trung gian.
Thời gian: khoảng 3 phút cho cả ba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định hai nhóm báo cáo, ưu tiên một nhóm đang làm tốt và một nhóm đang gặp khó, để lớp thấy cả hai phía. Mỗi nhóm một phút, nói theo đúng khung ba ý trên slide: đề tài là gì; một tài liệu tốt nhất nhóm đã tìm được và vì sao nhóm tin tài liệu đó; một khó khăn khi tìm tài liệu.
Sau mỗi nhóm, giảng viên phản hồi đúng một câu — ví dụ khen tiêu chí đánh giá nguồn mà nhóm dùng, hoặc gợi ý một từ khóa tiếng Anh để tìm trên Google Scholar. Không giảng lại nội dung Buổi 2; nếu khó khăn của nhóm là “không tìm được bài báo khoa học”, chỉ nói: “Lát nữa ở phần thực hành, tôi sẽ đến bàn nhóm để tìm cùng.”
Giữ đồng hồ chặt: tổng phần này khoảng 5 phút. Chuyển ý sang slide tiếp theo: “Giả sử một nhóm đã tìm đủ tài liệu. Bây giờ nhìn thử danh mục của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ngay: đây là một danh mục giả định — nhưng gần giống những gì tôi thấy trong bài nộp của sinh viên.
Để lớp nhìn khoảng 20 giây rồi chỉ vào từng dòng: cùng một tác giả Lê Quang Hùng mà được ghi theo bốn kiểu — “Lê Quang Hùng (2017)”, “Quang Hung Le (2019)”, “Hùng, L. Q.”, “TS. Lê Quang Hùng”. Một bài báo ghi DOI kiểu cũ “doi:10.13106/…”. Có dòng đánh số, có dòng không.
Hỏi: “Người đọc nhìn danh mục này sẽ nghĩ gì về độ cẩn thận của cả bài nghiên cứu?” Chờ 2–3 câu trả lời; câu mong đợi: thiếu cẩn thận, khó tin phần nội dung, khó tìm lại tài liệu.
Chốt: “Hôm nay có hai việc. Một, làm cho danh mục của nhóm các bạn đúng chuẩn APA 7. Hai, biến danh mục và bảng tóm tắt đó thành một đoạn văn tổng quan — đúng hai phần mà M2 yêu cầu.”
Chuyển sang S2: “Bắt đầu từ thứ nhỏ nhất: trích dẫn trong câu văn.”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2.2 kéo dài khoảng 25 phút: nguyên tắc tác giả – năm; số lượng tác giả; tên người Việt; tác giả là tổ chức; trích nguyên văn và diễn giải; trích qua tác giả trung gian; các trường hợp đặc biệt; và một vòng kiểm tra nhanh 3 phút ở cuối.
Nói với lớp: “Phần này các bạn nên ghi chép theo bảng — các quy tắc sẽ dùng ngay trong 45 phút thực hành cuối buổi.”
Lưu ý cho giảng viên: phần này dựa trên slide UEF Bài 2 #3, #6, #8, #9 nhưng các slide #3, #6, #8 đã được tạo lại theo tài liệu học tập vì có lỗi (đưa ba lựa chọn trích tên người Việt, thiếu năm của tài liệu gốc khi trích qua trung gian, dùng “nnk.” thay cho “và cộng sự”). Nếu bị thiếu giờ, các trường hợp “cùng tác giả cùng năm”, “trùng họ”, “công cụ AI” chỉ chiếu bảng và chuyển sang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 trích dẫn theo kiểu tác giả – năm: trong bài chỉ ghi họ tác giả và năm; thông tin đầy đủ nằm ở danh mục cuối bài. Mỗi trích dẫn trong bài phải có đúng một mục trong danh mục, và ngược lại.
Có hai cách đặt trích dẫn. Trong ngoặc, thường ở cuối câu: “Nghiên cứu marketing giúp giảm rủi ro khi ra quyết định (Malhotra, 2019).” Dẫn dắt, khi tên tác giả là một phần của câu: “Malhotra (2019) cho rằng nghiên cứu marketing giúp giảm rủi ro khi ra quyết định.”
Hỏi nhanh: “Khi nào dùng dẫn dắt?” Chờ vài giây. Đáp án mong đợi: khi muốn nhấn mạnh ai nói — ví dụ để so sánh hai tác giả với nhau. Khi muốn nhấn mạnh ý, đặt trong ngoặc.
Câu chốt: APA 7 dùng kiểu tác giả – năm, thông tin đầy đủ nằm ở danh mục cuối bài.
Lưu ý dấu câu: trong ngoặc dùng “&amp;” giữa hai tác giả; trong câu dẫn dắt viết bằng chữ “và” (tiếng Anh là “and”).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từng dòng của bảng. Một tác giả: (Lê, 2017). Hai tác giả: luôn ghi cả hai — (Kotler &amp; Keller, 2012) trong ngoặc, “Kotler và Keller (2012)” khi dẫn dắt.
Từ ba tác giả trở lên, ngay từ lần trích đầu tiên chỉ ghi tác giả đầu kèm “et al.” với tài liệu tiếng Anh, hoặc “và cộng sự” với tài liệu tiếng Việt. Đây là điểm mới của APA 7 so với APA 6 — APA 6 yêu cầu ghi đủ ở lần đầu.
Ví dụ: Lê và cộng sự (2023) là cuốn sách chuyên khảo trong danh mục tài liệu tham khảo của đề cương, có sáu tác giả — trong bài chỉ ghi người đầu tiên.
Nhấn mạnh lỗi ngược: dùng “et al.” cho bài chỉ có hai tác giả, ví dụ “(Kotler et al., 2012)”, là một dòng trong bảng lỗi thường gặp mà các bạn sẽ gặp lại sau giải lao.
Lưu ý cho giảng viên: slide UEF #8 dùng “nnk.” cho tài liệu tiếng Việt; tài liệu học tập dùng “và cộng sự” — trên lớp thống nhất dùng “và cộng sự”.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tắc quan trọng nhất của hôm nay: tên người Việt được trích bằng họ, không bằng tên. Lê Quang Hùng thì trích là (Lê, 2017) — không phải (Hùng, 2017), cũng không phải (Lê Quang Hùng, 2017).
Hỏi lớp: “Vì sao trích bằng tên lại là lỗi nghiêm trọng?” Chờ câu trả lời. Đáp án: người đọc tra danh mục theo họ; danh mục xếp theo chữ L (Lê), nếu trích (Hùng) thì người đọc sẽ tìm ở chữ H — và không thấy gì.
Nếu sinh viên hỏi vì sao một số luận văn trong nước ghi đủ họ tên trong ngoặc: đó là quy ước riêng của một số trường, không phải APA 7; học phần này dùng APA 7 chuẩn theo tài liệu học tập.
Lưu ý cho giảng viên: không chiếu slide UEF #3 gốc — slide đó đưa cả ba lựa chọn “(Lê, 2017) / (Lê Quang Hùng, 2017) / (Hùng, 2017)” như nhau và ghi danh mục là “Lê Quang Hùng (2017)”, trái với quy ước của học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nhanh, khoảng một phút. “Họ Nguyễn chiếm một phần lớn dân số — trong danh mục của các bạn chắc chắn sẽ gặp hai tác giả khác nhau cùng họ Nguyễn.”
Trường hợp thứ nhất: hai tác giả khác nhau nhưng trùng họ. Thêm chữ cái đầu của tên đệm và tên trước họ để phân biệt, ví dụ (C. H. Nguyễn, 2021; K. D. Nguyễn, 2017). Nếu không thêm, người đọc không biết đang nói đến Nguyễn nào.
Trường hợp thứ hai: hai tài liệu của cùng một tác giả, cùng một năm. Thêm a, b sau năm, theo thứ tự tên tài liệu trong danh mục: (Nguyễn, 2020a, 2020b). Chữ a, b này cũng phải xuất hiện y hệt ở danh mục cuối bài.
Nếu bị thiếu giờ: chỉ chiếu slide, không giải thích thêm và nhắc sinh viên xem lại trong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Tác giả có thể là một cơ quan, tổ chức — rất hay gặp với báo cáo, trang web doanh nghiệp, văn bản của bộ ngành.
Có hai trường hợp. Tổ chức có tên viết tắt quen thuộc: lần trích đầu tiên ghi đủ tên kèm viết tắt trong ngoặc vuông — (Bộ Giáo dục và Đào tạo [BGDĐT], 2021); từ lần thứ hai chỉ dùng viết tắt — (BGDĐT, 2021). Khi dẫn dắt: “Bộ Giáo dục và Đào tạo (BGDĐT, 2021)” rồi “BGDĐT (2021)”.
Tổ chức không có tên viết tắt quen thuộc: ghi đủ tên mọi lần, ví dụ (American Marketing Association, 2017) — định nghĩa marketing đã học ở Buổi 1.
Trong danh mục cuối bài, tên tổ chức luôn viết đầy đủ, không viết tắt.
Lưu ý cho giảng viên: có thể chiếu slide UEF #9 (ví dụ “Ministry of Education and Training [MOET]” — đúng quy tắc), rồi đưa ví dụ tiếng Việt của tài liệu học tập cho thống nhất. Thời gian: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Trích nguyên văn là chép đúng từng chữ của tác giả: đặt trong ngoặc kép và ghi số trang — “tr.” với tài liệu tiếng Việt, “p.” với tài liệu tiếng Anh; nhiều trang thì “tr. 25–26” hoặc “pp. 98–99”. Đoạn trích từ 40 từ trở lên trình bày thành khối trích dẫn: xuống dòng, thụt lề cả khối, không dùng ngoặc kép, số trang đặt sau dấu chấm cuối đoạn (American Psychological Association, 2020). Chỉ trích nguyên văn khi câu chữ thật sự quan trọng, như một định nghĩa; tổng quan mà toàn ngoặc kép là tổng quan chưa được “tiêu hóa”.
Diễn giải là viết lại ý của tác giả bằng lời của mình — và vẫn phải ghi nguồn. Đây là điểm sinh viên hay quên nhất. Số trang không bắt buộc nhưng được khuyến khích khi ý lấy từ một đoạn cụ thể trong tài liệu dài.
Ví dụ nói miệng: định nghĩa của AMA ở Buổi 1. Diễn giải: “Theo American Marketing Association (2017), thông tin do nghiên cứu marketing tạo ra là cầu nối giữa doanh nghiệp và thị trường.” Hỏi lớp: “Câu này có cần trích dẫn không?” Đáp án: có — diễn giải không ghi nguồn là đạo văn. Thời gian: khoảng 4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bạn đọc bài của Berlian et al. (2023); trong bài đó có nhắc một ý của Malter (2020). Bạn không đọc bài của Malter.
Trong bài, ghi cả hai, có năm của tài liệu gốc: (Malter, 2020, trích trong Berlian et al., 2023). Tiếng Anh: “as cited in”. Trong danh mục, chỉ ghi Berlian et al. (2023) — tài liệu bạn thật sự đã đọc.
Cách này chỉ dùng khi thật sự không tìm được tài liệu gốc. Tìm được thì đọc bản gốc và trích trực tiếp.
Nối lại câu hỏi số 3 đầu giờ: “Nhóm nào có tài liệu chưa đọc trong danh mục? Đó chính là lỗi ‘liệt kê tài liệu gốc chưa đọc’. Hoặc đọc nó, hoặc bỏ khỏi danh mục.”
Lưu ý cho giảng viên: slide UEF #6 ghi “(Malter et al., trích từ Berlian et al. 2023)” — thiếu năm của tài liệu gốc và thêm “et al.” không có căn cứ; slide này đã tạo lại theo tài liệu học tập. Thời gian: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trường hợp, mỗi trường hợp một quy tắc.
Nhiều nguồn cùng ủng hộ một ý: xếp theo thứ tự chữ cái, cách nhau bằng dấu chấm phẩy — (Lê, 2017; Malhotra, 2019). Nói: “Nhiều nguồn trong một ngoặc là chữ ký của một đoạn tổng hợp tốt — sẽ gặp lại ở phần tổng quan.”
Không có năm: ghi n.d. — (Vinamilk, n.d.).
Không có tác giả cá nhân: trước hết xem có tổ chức đứng tên không (trang web doanh nghiệp, báo cáo hiệp hội) — có thì tổ chức là tác giả. Chỉ khi không có cả tổ chức mới đưa tên tài liệu lên: bài báo, chương, trang web thì tên bài trong ngoặc kép; sách, báo cáo thì tên in nghiêng.
Công cụ AI: ghi tên công ty và năm của phiên bản đã dùng, ví dụ (OpenAI, 2025) — chỉ trích khi bạn dùng nội dung do AI tạo ra và phải khai báo trong nhật ký AI. AI không phải nguồn cho khẳng định khoa học: AI gợi ý tài liệu nào thì mở tài liệu đó ra đọc và trích tài liệu đó. Buổi 4–5 học kỹ.
Lưu ý cho giảng viên: slide UEF #6 ghi “báo chí không có tên tác giả: đưa tên tạp chí và năm lên đầu” — không đúng APA 7; đưa tên bài viết lên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ảnh trên slide: hai trích dẫn trong bài bên trái, ba mục trong danh mục bên phải. Hai mục đầu khớp với hai trích dẫn; mục thứ ba — Nguyễn (2011) — không được trích ở đâu trong bài, nên là mục thừa.
Quy tắc: mỗi trích dẫn trong bài phải có đúng một mục trong danh mục, và ngược lại — không thừa, không thiếu. Trích dẫn có trong bài mà không có trong danh mục là thiếu; mục có trong danh mục mà không được trích là thừa.
Mẹo trước khi nộp: đọc lượt qua bài, mỗi lần gặp một trích dẫn thì đánh dấu mục tương ứng trên danh mục. Mục nào không được đánh dấu là thừa; trích dẫn nào không tìm thấy mục là thiếu. Mẹo này sẽ được nhắc lại ở phần lỗi thường gặp sau giải lao và trong danh sách tự kiểm tra M2.
Hỏi nhanh: “Nhóm nào đã thử làm việc này với bài của mình chưa?” Không cần chờ trả lời lâu.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câu kiểm tra nhanh, tổng khoảng 3 phút. Mỗi câu: đọc to câu hỏi, cho 20 giây suy nghĩ, rồi đếm 3–2–1 để cả lớp cùng giơ 1, 2 hoặc 3 ngón theo phương án đúng. Giơ cùng lúc để không ai nhìn bạn bên cạnh.
Câu 1: một bài báo tiếng Việt của ba tác giả Trần Thị Mai, Lê Văn Nam, Phạm Minh Tuấn, năm 2022. Trích trong ngoặc thế nào?
Đáp án: 2 — (Trần và cộng sự, 2022). Ba lý do: trích bằng họ, không bằng tên (loại phương án 1); từ ba tác giả trở lên thì ngay từ lần đầu chỉ ghi tác giả đầu (loại phương án 3); tài liệu tiếng Việt dùng “và cộng sự”.
Đây là câu ôn tập số 1 trong tài liệu học tập. Nếu nhiều bạn chọn sai, quay lại slide “Người Việt được trích bằng họ, không bằng tên” và nhắc quy tắc thêm một lần: danh mục xếp theo họ, nên người đọc tìm theo họ.
Lưu ý cho giảng viên: outline gốc gộp ba câu vào một slide; ở đây tách thành ba slide để chữ đủ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2: bạn đọc bài của Hair et al. (2019); trong đó có nhắc ý của một tác giả năm 2010 mà bạn không đọc. Trong danh mục tài liệu tham khảo, bạn ghi gì?
Cho 20 giây, đếm 3–2–1, cả lớp giơ tay cùng lúc.
Đáp án: 3 — chỉ ghi Hair et al. (2019), tài liệu bạn thật sự đã đọc. Trong bài thì ghi cả hai, có năm của tài liệu gốc, theo mẫu “(Tác giả, 2010, trích trong Hair et al., 2019)”.
Nếu nhiều bạn chọn phương án 1: nhắc lại rằng liệt kê tài liệu gốc chưa đọc là một lỗi trong bảng lỗi thường gặp — và đó là vấn đề liêm chính, không chỉ là định dạng. Nối lại câu hỏi số 3 đầu giờ về tài liệu chưa ai trong nhóm mở ra đọc.
Giữ nhịp nhanh: mỗi câu khoảng một phút kể cả chữa.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3: bạn trích nguyên văn một câu trong sách Malhotra (2019), ở trang 5. Trích trong ngoặc thế nào?
Cho 20 giây, đếm 3–2–1, cả lớp giơ tay cùng lúc.
Đáp án: 2 — (Malhotra, 2019, p. 5). Trích nguyên văn bắt buộc có số trang; tài liệu tiếng Anh dùng “p.”, tài liệu tiếng Việt dùng “tr.”. Phương án 1 thiếu số trang — chỉ chấp nhận được nếu là diễn giải. Phương án 3 thiếu năm — trong bài luôn có họ và năm.
Nhắc thêm: câu trích nguyên văn đặt trong ngoặc kép; từ 40 từ trở lên thì trình bày thành khối trích dẫn.
Chuyển ý sang phần danh mục: “Trong bài chỉ có họ và năm. Vậy toàn bộ thông tin còn lại nằm ở đâu, theo thứ tự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2.3 Danh mục tài liệu tham khảo, phần 1, khoảng 13 phút trước giải lao: một cấu trúc chung cho mọi loại tài liệu, chín nguyên tắc chung, rồi công thức và ví dụ cho sách, chương sách và bài báo khoa học có DOI.
Gợi ý cho sinh viên: mở danh mục của nhóm bên cạnh slide, vừa nghe vừa đánh dấu chỗ nghi sai — không cần sửa ngay, phần sửa có 12 phút riêng trong thực hành.
Lưu ý cho giảng viên: phần này dựa trên slide UEF #7 (chỉ ô cuối), #10, #11, #12 — các slide #10, #11 đã sửa gạch nối số trang và in nghiêng số tập; slide #12 đánh số mục là “2.4” trong khi tài liệu học tập đánh số 2.3.1. Không chiếu slide UEF #4 (bài báo khoa học) vì ghi sai tên tác giả và DOI kiểu cũ.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cấu trúc cho mọi loại tài liệu: Tác giả. (Năm). Tên tác phẩm. Nơi công bố. DOI hoặc URL.
Bốn khối trả lời bốn câu hỏi: Ai viết? Khi nào? Tên gì? Tìm ở đâu? Mỗi loại tài liệu — sách, chương sách, bài báo, trang web, luận văn — chỉ khác nhau ở phần “tên” và phần “nơi công bố”. Nắm được bốn khối này thì gặp loại tài liệu lạ, các bạn cũng tự suy ra được cách ghi.
Nói: “Gặp loại tài liệu lạ, cứ trả lời bốn câu này.”
Lưu ý cho giảng viên: nếu dùng slide UEF #7, chỉ chiếu ô cuối (cấu trúc chung). Phần bảng so sánh các chuẩn APA/IEEE/MLA/Chicago đã học ở Buổi 2; phiên bản MLA và Chicago ghi trên slide UEF đã cũ (cần kiểm tra: MLA 9, Chicago 18).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 nguyên tắc chung, gom thành ba nhóm.
Sắp xếp: A–Z theo họ của tác giả đầu tiên, chung cho cả tài liệu tiếng Việt và tiếng Anh — không đánh số, không tách hai danh mục.
Tác giả: họ, rồi chữ cái đầu của tên đệm và tên — Lê Quang Hùng thành Lê, Q. H. Không ghi học hàm, học vị như ThS., TS., PGS. Nhiều tác giả cách nhau bằng dấu phẩy, trước tác giả cuối dùng “&amp;”; ghi đủ đến 20 tác giả, từ 21 trở lên ghi 19 người đầu, dấu ba chấm, rồi tác giả cuối.
Trình bày: in nghiêng tên sách, tên báo cáo, tên tạp chí và số tập; không in nghiêng tên bài báo hay tên chương. DOI ghi dạng https://doi.org/…, không ghi “doi:”. Sách bỏ địa điểm xuất bản. Không có năm ghi (n.d.). Ngày truy cập chỉ ghi khi trang được thiết kế để thay đổi thường xuyên. Thụt lề treo 1,27 cm.
Chỉ cách đặt thụt lề treo: Word → Paragraph → Special: Hanging; Google Docs → Format → Align &amp; indent → Indentation options → Special: Hanging. Nhấn: “Không dùng phím cách.”
Lưu ý cho giảng viên: nguyên tắc 1–3 và 7 khớp slide UEF #12; tài liệu học tập đánh số mục này là 2.3.1. Thời gian: khoảng 4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sách: Tác giả, A. A. (Năm). Tên sách in nghiêng (lần xuất bản nếu có). Nhà xuất bản. Không ghi địa điểm xuất bản — điểm mới so với APA 6.
Ví dụ thứ nhất: Lê, Q. H. (2017). Phân tích dữ liệu trong kinh doanh. Nhà xuất bản Kinh tế TP. Hồ Chí Minh. Một ví dụ tiếng Anh có lần xuất bản: Kotler, P., &amp; Keller, K. L. (2012). Marketing management (14th ed.). Pearson Education.
Chỉ vào ví dụ thứ hai: sáu tác giả — trong danh mục ghi đủ cả sáu, trong bài chỉ ghi (Lê và cộng sự, 2023).
Hỏi lớp: “Nguyễn Thị Ngọc Ánh viết tắt thế nào?” Chờ một bạn trả lời. Đáp án: Nguyễn, T. N. Á. — giữ dấu.
Ghi chú nhanh một câu: tên sách và tên bài báo tiếng Anh viết hoa chữ đầu và danh từ riêng (sentence case); tên tạp chí thì viết hoa mọi từ chính. Không đi sâu.
Lưu ý cho giảng viên: ví dụ lấy từ tài liệu học tập và slide UEF #10 (phần sách — slide gốc ghi “Lê Quang Hùng (2017)”, đã sửa). Cần đối chiếu thông tin xuất bản trước khi dùng làm mẫu.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chương trong sách có chủ biên — chiếu ở dòng nổi bật dưới cùng: Tác giả, A. A. (Năm). Tên chương. In B. B. Chủ biên (Ed.), Tên sách (pp. x–y). Nhà xuất bản.
Ba điểm cần nhấn. Một, tên chương không in nghiêng; tên sách in nghiêng. Hai, tên chủ biên viết chữ cái đầu trước, họ sau — “B. B. Chủ biên” — tức là đảo ngược so với vị trí tác giả. Hai chủ biên trở lên thì ghi (Eds.). Ba, với tài liệu tiếng Việt, thay “In” bằng “Trong”, “(Ed.)” bằng “(Chủ biên)”, “pp.” bằng “tr.”.
Có thể chiếu slide UEF #11 phần “Chương trong sách”: Nguyen, C. H. (2019). … In C. H. Nguyen &amp; M. Shah (Eds.), Quality assurance in Vietnamese higher education (pp. 161–185). Palgrave Macmillan. Ví dụ đúng cấu trúc; chỉ cần sửa dấu gạch nối “161-185” thành gạch ngang “161–185”.
Lưu ý cho giảng viên: cần kiểm tra tên chương đầy đủ của ví dụ Nguyen (2019) — trên slide UEF bị cắt.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bài báo khoa học: Tác giả, A. A., &amp; Tác giả, B. B. (Năm). Tên bài báo. Tên tạp chí, Tập(Số), trang–trang. https://doi.org/…
Chiếu ví dụ từ tài liệu học tập và để lớp đọc khoảng 15 giây. Hỏi: “Các bạn thấy những chỗ nào in nghiêng?” Chờ câu trả lời: tên tạp chí và số tập 6; số kỳ (1) không in nghiêng; tên bài báo không in nghiêng.
Sau đó chuyển sang slide tiếp theo để đi từng khối.
Nhấn ngay một quy tắc liêm chính: “Không tìm thấy DOI thì không ghi — không bao giờ tự đoán hay tự tạo DOI.” DOI thường nằm ở trang đầu bài báo hoặc trang giới thiệu bài trên website tạp chí.
Lưu ý cho giảng viên: không chiếu slide UEF #4 — slide đó ghi cùng bài này thành “Quang Hung Le (2019) … 6(1), 159-167. doi:10.13106/…”, ba lỗi: thứ tự tên, DOI kiểu APA 6, viết đủ tên. Slide UEF #10 ghi đúng nhưng cần sửa gạch ngang và in nghiêng số tập. Cần đối chiếu thông tin xuất bản của ví dụ trước khi dùng làm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từng khối, chỉ vào slide. Khối 1 và 2, “Le, Q. H. (2019).” (trên slide gộp thành một dòng): họ, rồi chữ cái đầu tên đệm và tên. Tác giả Việt viết bằng tiếng Anh và bài in không dấu thì ghi đúng như bài báo in — Le, không phải Lê.
Năm xuất bản đặt trong ngoặc, có dấu chấm.
Khối 3, tên bài báo: không in nghiêng.
Khối 4, tên tạp chí: in nghiêng, viết hoa các từ chính.
Khối 5, “6(1)”: số tập in nghiêng, số kỳ trong ngoặc không in nghiêng.
Khối 6, số trang: dùng gạch ngang (–), không phải gạch nối (-).
Khối 7, DOI: dạng đường dẫn https://doi.org/…, không có dấu chấm sau DOI.
Không có DOI: kết thúc sau số trang, hoặc ghi URL nếu bài đăng trực tuyến.
Chuyển ý trước giải lao: “Sau giải lao: trang web, báo cáo, luận văn — và những lỗi tôi gặp nhiều nhất trong bài nộp của sinh viên.” Thời gian slide 19 cả hai phần: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(phút 48–63). Điền giờ quay lại trước khi chiếu.
Báo trước nội dung sau giải lao: trang web, báo cáo, luận văn — và 10 lỗi APA hay gặp nhất.
Nói trước khi nghỉ: “Trong giờ giải lao, nhóm nào muốn thì soát trước tên tác giả trong danh mục của mình — sau giải lao sẽ có bảng lỗi để đối chiếu.”
Trong giờ nghỉ, giảng viên có thể đi qua vài bàn để xem nhanh danh mục, ghi chú các lỗi gặp nhiều để nêu ở phần bảng lỗi (không nêu tên nhóm).
Lưu ý cho giảng viên: giờ quay lại để trống “…” — điền theo giờ thực tế của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2.3 Danh mục, phần 2, khoảng 15 phút: nguồn trực tuyến (trang web, báo điện tử), báo cáo tổ chức, luận văn, bài kỷ yếu, công cụ AI; tổng kết tên tác giả Việt Nam; bảng mười lỗi thường gặp; và một câu chốt về việc slide Bài 2 có một số cách ghi đã lỗi thời.
Nói với lớp: “Nửa này là phần các bạn sai nhiều nhất trong bài nộp — đặc biệt là tên tác giả Việt. Mình đi chậm hơn.”
Nếu bị thiếu giờ: bài kỷ yếu và công cụ AI chỉ nêu công thức (đã có trong tài liệu học tập 2.3.2), dành thời gian cho tên tác giả Việt và bảng lỗi.
Lưu ý cho giảng viên: phần này dựa trên slide UEF #5 (đã sửa: luận văn không ghi khoa và địa điểm; trang web không bắt buộc ngày truy cập).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web: Tác giả hoặc Tổ chức. (Năm, Ngày Tháng). Tên trang in nghiêng. Tên website. URL. In nghiêng tên trang, không in nghiêng tên website.
Ví dụ AMA: khi tác giả trùng với tên website, như American Marketing Association ở đây, bỏ tên website.
Ngày truy cập chỉ ghi khi trang được thiết kế để thay đổi thường xuyên và không lưu bản cũ — ví dụ một trang thống kê cập nhật liên tục. Không bắt buộc cho mọi trang web. Nhắc: slide UEF #5 ghi “bắt buộc ngày truy cập” và “Trích ngày… từ [URL]” — đó là quy tắc APA 6.
Bài trên báo điện tử: tên báo in nghiêng, tên bài không in nghiêng — ngược với trang web thường. Hỏi nhanh: “Bài trên báo điện tử thì in nghiêng cái gì?” Đáp án: tên báo.
Lưu ý cho giảng viên: cần chốt một quy ước ghi ngày tháng cho trang web tiếng Việt (tháng bằng chữ tiếng Việt hay tiếng Anh) — tài liệu học tập chỉ ghi “(Năm, Ngày Tháng)”. Không chiếu nửa dưới slide UEF #5. Thời gian: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loại nguồn, cùng cấu trúc bốn khối.
Báo cáo của tổ chức: tổ chức là tác giả, viết đầy đủ tên. Có số hiệu thì ghi trong ngoặc đơn ngay sau tên báo cáo. Đây là loại nguồn rất hay dùng cho bối cảnh đề tài marketing. Ví dụ nói miệng — nói rõ là giả định, không có thật: Công ty Nghiên cứu Thị trường X. (2024). Báo cáo thị trường đồ uống pha chế tại TP. Hồ Chí Minh. Nhắc: báo cáo của công ty nghiên cứu thị trường đăng trên mạng thường là bản tóm tắt để quảng bá — xem lại tiêu chí đánh giá nguồn của Buổi 2: ai viết, dựa trên gì, viết để làm gì.
Luận văn — nhấn: không ghi khoa, không ghi địa điểm. Bậc và tên trường trong ngoặc vuông ngay sau tên luận văn; không ghi khoa và địa điểm. Tên Nguyễn Như Quỳnh Đoan thành Nguyễn, N. Q. Đ.
Kỷ yếu hội thảo đã xuất bản: giống chương sách, dùng “Trong … (Chủ biên)” và “tr.”.
Công cụ AI: ghi đúng tên, năm, phiên bản đã dùng và khai báo trong nhật ký AI. AI gợi ý tài liệu thì trích tài liệu đó, sau khi mở ra đọc.
Lưu ý cho giảng viên: tên đầy đủ luận văn trên slide UEF #5 bị cắt — cần kiểm tra. Thời gian: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sinh viên sai nhiều nhất — đi chậm, từng dòng.
Tác giả Việt, tài liệu tiếng Việt: trong bài (Nguyễn, 2011); trong danh mục Nguyễn, Đ. T. (2011) — giữ dấu.
Hai tác giả Việt: (Nguyễn &amp; Nguyễn, 2015) trong bài; danh mục Nguyễn, Đ. T., &amp; Nguyễn, T. M. T. (2015).
Tác giả Việt viết bằng tiếng Anh, bài in không dấu: ghi đúng như bài báo in — Le, Q. H. (2019). Từ ba tác giả trở lên với bài tiếng Anh thì trong bài ghi kiểu (Nguyen et al., 2021).
Tên có tên đệm nhiều chữ: Nguyễn Như Quỳnh Đoan thành Nguyễn, N. Q. Đ.
Hỏi lớp: “Trên đầu một bài báo tiếng Anh, tên tác giả in là ‘Quang Hung Le’ — ghi danh mục thế nào?” Chờ câu trả lời. Đáp án: xác định họ trước — họ là Le — nên ghi Le, Q. H., không ghi “Quang Hung Le (2019)”. Nếu không chắc đâu là họ, xem mục “How to cite” hoặc “Cite this article” của chính tạp chí. Đây là lỗi “đảo tên theo kiểu phương Tây” trong bảng lỗi. Thời gian: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lỗi thường gặp theo tài liệu học tập, chia làm hai phần. Cho lớp 30 giây đọc phần 1.
Sau đó đọc từng dòng; nhóm nào đã mắc lỗi đó trong danh mục của mình thì giơ tay — không phải để phạt, mà để biết cần sửa gì trong 12 phút thực hành.
Dòng 1: trích bằng tên thay vì họ — (Hùng, 2017) phải là (Lê, 2017).
Dòng 2: ghi đủ họ tên trong danh mục — Lê Quang Hùng (2017) phải là Lê, Q. H. (2017).
Dòng 3: đảo tên theo kiểu phương Tây — Quang Hung Le (2019) phải là Le, Q. H. (2019).
Dòng 4: DOI kiểu cũ “doi:” — phải ghi dạng đường dẫn https://doi.org/….
Dòng 5: trích qua trung gian thiếu năm gốc — phải ghi (Malter, 2020, trích trong Berlian et al., 2023).
Ghi nhận nhanh dòng nào nhiều nhóm giơ tay nhất để nhắc lại khi đi các bàn ở chặng sửa danh mục.
Chuyển sang phần 2 của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2 của bảng lỗi. Tiếp tục cách làm: đọc từng dòng, nhóm nào đã mắc thì giơ tay.
Dòng 6: ghi học vị — “TS. Nguyễn Văn A (2020)” phải là Nguyễn, V. A. (2020); trên slide rút gọn bỏ năm.
Dòng 7: dùng “et al.” cho bài chỉ có hai tác giả — phải ghi đủ (Kotler &amp; Keller, 2012).
Dòng 8 (“Thiếu mục”): trích trong bài nhưng thiếu trong danh mục — mỗi trích dẫn phải có một mục, và ngược lại; dùng mẹo đánh dấu.
Dòng 9 và 10 — nói chậm: liệt kê tài liệu gốc chưa đọc, và (dòng “Trích AI gợi ý”) đưa trích dẫn do AI gợi ý vào bài mà không kiểm tra. Nhấn: “Hai dòng cuối không chỉ là lỗi định dạng — đây là vấn đề liêm chính học thuật. Trích một tài liệu không tồn tại là lỗi của người nộp bài, không phải của AI.”
Nối sang Buổi 4: tuần sau các bạn sẽ tự kiểm chứng xem AI có bịa tài liệu không.
Thời gian cho cả hai phần bảng lỗi: khoảng 4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lỗi trình bày hay gặp thêm — không nằm trong bảng của tài liệu học tập nhưng đều theo nguyên tắc chung 2.3.1: đánh số danh mục; tách danh mục tiếng Việt và tiếng Anh; dùng gạch nối thay gạch ngang ở số trang.
Nhắc lại mẹo khớp trích dẫn – danh mục: trước khi nộp, đọc lượt qua bài, mỗi gặp một trích dẫn thì đánh dấu mục tương ứng trên danh mục. Mục không được đánh dấu là thừa; trích dẫn không tìm thấy mục là thiếu.
Câu chốt cho phần APA — nói rõ ràng, thẳng thắn: “Các bạn có thể thấy slide của Bài 2 có một số cách ghi khác với tài liệu học tập. Tài liệu học tập là chuẩn của lớp mình — khi có khác biệt, theo tài liệu học tập.”
Chuyển ý sang S5: “Danh mục đúng mới chỉ là phần ‘hành chính’. Câu hỏi khó hơn: tám tài liệu đó nói gì với nhau, và chúng dẫn đến câu hỏi nghiên cứu của nhóm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khoảng 15 phút và là phần quyết định chất lượng M2 — không cắt phần này dù bị thiếu giờ.
Nội dung: tổng quan tài liệu là gì; tóm tắt khác tổng hợp (cùng ba nguồn, hai cách viết); ma trận tổng hợp từ bảng tóm tắt Buổi 2; cấu trúc ba phần của một bài tổng quan; văn phong học thuật; và từ mâu thuẫn, khoảng trống đến câu hỏi nghiên cứu.
Nói với lớp: “Đến đây các bạn đã có danh mục đúng. Bây giờ mình biến danh mục và bảng tóm tắt đó thành một đoạn văn.”
Lưu ý cho giảng viên: định nghĩa và quy trình trong phần này diễn giải từ video “Academic Writing for 2026: How to Link Literature to Research Questions” (qua NotebookLM); các nguồn “Nguồn A/B/C” và tình huống chuỗi trà sữa là giả định để minh họa, cần nói rõ với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tổng quan tài liệu (literature review) là sự đánh giá có phê phán các nghiên cứu đã có về một chủ đề, nhằm cung cấp bối cảnh đầy đủ, chỉ ra khoảng trống, và xác lập tầm quan trọng của nghiên cứu của bạn.
Đọc chậm định nghĩa, nhấn chữ “có phê phán”: không chỉ kể lại, mà đánh giá — chỗ nào thống nhất, chỗ nào mâu thuẫn, chỗ nào còn trống.
Trong dự án của các bạn: tổng quan là phần lõi của Chương 2 với hướng định lượng, hoặc một phần của Chương 1 với hướng định tính. M2 yêu cầu 1 trang; M3, sau Buổi 5, mở rộng thành 2–3 trang.
Câu chốt: “Tổng quan không phải phần ‘cho đủ chương’ — nó là lý do nghiên cứu của nhóm tồn tại.”
Lưu ý cho giảng viên: định nghĩa diễn giải từ video bài giảng nêu trên; không đưa video vào danh mục tài liệu tham khảo của slide — sinh viên xem theo tên video trong tài liệu đọc thêm.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“Ba nguồn dưới đây là nguồn giả định — Nguồn A, B, C — chỉ để thấy cách viết; tình huống chuỗi trà sữa đã dùng ở Buổi 1.”
Đọc to đoạn 1. Đầy đủ: Nguồn A (2021) nghiên cứu sinh viên ở Hà Nội và thấy giá và không gian quán ảnh hưởng đến việc chọn quán trà sữa. Nguồn B (2022) khảo sát người đi làm ở TP. Hồ Chí Minh và thấy chất lượng đồ uống và giá là quan trọng nhất. Nguồn C (2023) nghiên cứu sinh viên đặt trà sữa qua ứng dụng giao đồ ăn và thấy khuyến mãi và giá ảnh hưởng nhiều nhất.
Hỏi: “Đoạn này sai ở đâu?” Để lớp nói, chờ 3–4 câu trả lời. Dẫn đến kết luận: đoạn này không sai thông tin, nhưng chưa nói được gì mới. Mỗi câu một tác giả; người đọc phải tự nối — tự nhận ra cả ba đều nhắc đến giá, tự nhận ra không gian quán chỉ có ở một nguồn.
Đây là tóm tắt (summary). Nhiều sinh viên nghĩ tổng quan là tóm tắt lần lượt từng bài đã đọc — slide tiếp theo cho thấy cách viết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Đoạn 2 — tổng hợp (synthesis): kết hợp thông tin từ nhiều nguồn để tạo ra một hiểu biết mới, nối các điểm lại với nhau thay vì liệt kê từng nguồn nói gì.
Slide hiện bản rút gọn; đoạn đầy đủ trong bài giảng: “Giá cả là yếu tố được ghi nhận có ảnh hưởng đến lựa chọn cửa hàng trà sữa trong cả ba nghiên cứu, ở cả nhóm sinh viên lẫn người đi làm (Nguồn A, 2021; Nguồn B, 2022; Nguồn C, 2023). Ngược lại, vai trò của không gian quán chưa thống nhất: Nguồn A (2021) ghi nhận ảnh hưởng rõ ở sinh viên mua tại quán, trong khi Nguồn C (2023) không đề cập yếu tố này khi nghiên cứu sinh viên đặt hàng qua ứng dụng. Khác biệt này gợi ý rằng hình thức mua (tại quán hay qua ứng dụng) có thể làm thay đổi tầm quan trọng của các yếu tố. Tuy vậy, chưa nghiên cứu nào trong số này so sánh trực tiếp hai hình thức mua trên cùng một nhóm sinh viên tại TP. Hồ Chí Minh.”
Hỏi lớp trước khi chiếu slide sau: “Đoạn 2 khác đoạn 1 ở những điểm nào?” Chờ 3–4 câu trả lời. Các chữ in đậm trên slide chính là gợi ý. Thời gian cho tóm tắt và tổng hợp: khoảng 4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lớp đã trả lời câu hỏi “Đoạn 2 khác đoạn 1 ở đâu?”, chốt bốn dấu hiệu.
Một, câu chủ đề là một ý, không phải một tác giả: “Giá cả là yếu tố…”, không phải “Nguồn A…”.
Hai, nhiều nguồn trong một ngoặc khi các nguồn cùng ủng hộ một ý — chữ ký của đoạn tổng hợp.
Ba, từ nối so sánh: tương tự, ngược lại, trong khi, tuy nhiên, khác với.
Bốn, giải thích vì sao các nguồn khác nhau, và kết bằng điều chưa biết — tức là khoảng trống.
Lỗi hiểu thường gặp: “Tổng quan là tóm tắt lần lượt từng bài đã đọc.” Không. Bảng tóm tắt ở Buổi 2 là nguyên liệu; tổng quan là món ăn — được tổ chức theo chủ đề (yếu tố, khái niệm), không theo tác giả.
Lưu ý cho giảng viên: slide này sẽ được chiếu lại 30 giây ở đầu chặng 3 của phần thực hành (viết đoạn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ma trận tổng hợp. Từ bảng tóm tắt Buổi 2 — mỗi dòng một tài liệu — lập ma trận: mỗi dòng một tài liệu, mỗi cột một chủ đề hoặc yếu tố của đề tài. Đánh dấu tài liệu nào nói gì về yếu tố nào, kết quả cùng chiều hay trái chiều.
Bối cảnh từng nguồn: A là sinh viên ở Hà Nội, mua tại quán; B là người đi làm ở TP. Hồ Chí Minh; C là sinh viên đặt qua ứng dụng. Trên slide là ma trận của ba nguồn giả định; ma trận đầy đủ trong bài giảng còn có cột “chất lượng” — chỉ Nguồn B ghi nhận có ảnh hưởng. Ô ghi bằng chữ (“có ảnh hưởng”, “không đề cập”, dấu gạch là không nghiên cứu), không chỉ dùng màu.
Cách đọc: đọc theo cột — mỗi cột là một đoạn văn tổng hợp. Cột “Giá”: cả ba nguồn cùng ghi nhận — một câu, một ngoặc ba nguồn. Cột “Không gian”: A có, C không đề cập — đó là chỗ mâu thuẫn, cũng là chỗ khoảng trống.
Nói: “Đọc theo cột thì mỗi cột thành một đoạn văn. Ô trống, ô trái chiều chính là khoảng trống.” Nhắc: phiếu nhóm ở phần thực hành có sẵn khung ma trận này.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trúc một bài tổng quan có ba phần.
Một, mở đầu — đặt bối cảnh: chủ đề là gì, vì sao quan trọng.
Hai, thảo luận các nguồn — nhóm theo chủ đề, hoặc theo phương pháp, không theo từng tác giả. Ví dụ trong video: một bài tổng quan về mạng xã hội và sức khỏe tinh thần có thể nhóm các nghiên cứu theo độ tuổi, hoặc theo dạng vấn đề như lo âu, trầm cảm.
Ba, kết luận — tóm tắt điều đã biết, chỉ ra điều chưa biết và liên hệ với nghiên cứu của nhóm.
Với 1 trang của M2: một đoạn mở đầu ngắn, 2–3 đoạn tổng hợp theo chủ đề, một đoạn kết nêu khoảng trống và câu hỏi nghiên cứu. Nói: “Với M2: đúng khung này, gói trong 1 trang.”
Hỏi nhanh: “Nếu đề tài của nhóm có ba yếu tố, phần thảo luận nên có mấy đoạn?” Đáp án gợi ý: mỗi yếu tố được nhiều nguồn nói đến là một đoạn.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Văn phong học thuật trang trọng, rõ ràng, súc tích, có cấu trúc lô-gích, trích dẫn phù hợp, giọng khách quan — mỗi khẳng định đều có bằng chứng; tránh từ ngữ đời thường và ý kiến cá nhân không có căn cứ.
So sánh hai câu trên slide (nguồn giả định). Hỏi lớp: “Câu bên phải khác câu bên trái ở những chỗ nào?” Chờ 2–3 câu trả lời: không còn “mình nghĩ”; có chủ thể là “một số nghiên cứu”; dùng “mối liên hệ” thay vì khẳng định “làm cho”; có trích dẫn nhiều nguồn trong một ngoặc.
Ví dụ thêm nếu cần: “Ai cũng biết giá là quan trọng nhất” thành “Giá được xác định là yếu tố có ảnh hưởng trong cả ba nghiên cứu được tổng quan (Nguồn A, 2021; Nguồn B, 2022; Nguồn C, 2023).” Còn câu cảm tính kiểu “Trà sữa X bị tẩy chay rất dữ dội” không có nguồn thì bỏ, hoặc thay bằng dữ kiện có nguồn.
Lưu ý cho giảng viên: video gốc dùng ví dụ tiếng Anh với nguồn “Smith (2020)” là nguồn minh họa, không có thật — trên lớp dùng ví dụ tiếng Việt với nguồn giả định Nguồn A/B/C.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cá nhân 1 phút. Mỗi bạn viết lại câu trên slide thành một câu học thuật — chưa cần nguồn thật, ghi “(Nguồn ?, năm)” vào chỗ cần trích dẫn.
Hết 1 phút, chỉ định 2 bạn đọc to câu của mình. Điểm cần khen: bỏ “mình nghĩ”; bỏ “bây giờ” mơ hồ, thay bằng mốc thời gian hoặc bối cảnh cụ thể; có chỗ trích dẫn; dùng từ thận trọng như “ghi nhận”, “cho thấy” thay vì “chứng minh”. Một câu mẫu có thể gợi ý: “Một số nghiên cứu ghi nhận xu hướng ưa chuộng mỹ phẩm nội địa ở người tiêu dùng trẻ (Nguồn ?, năm).”
Lỗi hiểu thường gặp cần nói sau khi nghe hai bạn: “Trích dẫn càng nhiều thì càng học thuật.” Không — trích dẫn cho mỗi khẳng định, không phải cho mỗi câu. Và tương quan không phải nhân quả: nghiên cứu khảo sát thường chỉ cho thấy hai yếu tố có liên hệ; không viết “TikTok làm sinh viên mua bốc đồng” nếu nguồn chỉ đo mối liên hệ.
Thời gian cho văn phong học thuật cả hai slide: khoảng 3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trống nghiên cứu (research gap) là những mâu thuẫn giữa các kết quả, hoặc những điểm chưa được nghiên cứu, chưa được giải đáp trong hiểu biết hiện có.
Quy trình ba bước theo video: đánh giá có phê phán các nghiên cứu trước để tìm kết quả mâu thuẫn hoặc điểm còn thiếu; dùng chính mâu thuẫn, khoảng trống đó để định hình câu hỏi nghiên cứu; bảo đảm nghiên cứu của mình vừa dựa trên hiểu biết hiện có, vừa đẩy nó đi xa thêm một bước.
Ví dụ nối tiếp (giả định): mâu thuẫn về vai trò không gian quán dẫn đến khoảng trống “chưa so sánh hai hình thức mua”, rồi đến câu hỏi: “Các yếu tố ảnh hưởng đến lựa chọn cửa hàng trà sữa của sinh viên TP. Hồ Chí Minh khác nhau như thế nào giữa mua tại quán và đặt qua ứng dụng?”
Bốn kiểu khoảng trống sinh viên làm được: đối tượng khác, bối cảnh khác, thời điểm khác, kết quả mâu thuẫn cần làm rõ. Đây là cách phân nhóm gợi ý của bài giảng, không phải phân loại chuẩn.
Hỏi: “Câu hỏi nghiên cứu ở M1 của nhóm trả lời khoảng trống nào trong 8 tài liệu các bạn đã tìm?” Buổi 6 sẽ viết thành mục tiêu và câu hỏi chính thức. Chuyển ý: “Lý thuyết đủ rồi — 45 phút tới mỗi nhóm làm đúng ba việc của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Thực hành nhóm “Xưởng tổng quan”, 45 phút. Sinh viên làm bản nháp của cả hai phần M2 — có giảng viên đi kèm và có một nhóm bạn kiểm tra giúp.
Kịch bản mở đầu: “45 phút cuối các bạn làm đúng bài M2 — có tôi đi kèm. Bốn chặng trên màn hình: săn lỗi APA, sửa danh mục của nhóm, viết một đoạn tổng hợp từ ít nhất ba nguồn, rồi đổi bài cho nhóm bên cạnh kiểm tra. Mỗi chặng tôi sẽ báo giờ. Đoạn tổng hợp hôm nay chỉ cần một đoạn — nhưng là một đoạn tổng hợp, không phải ba câu tóm tắt nối nhau. Bắt đầu với phiếu săn lỗi.”
Chuẩn bị: phiếu “Săn lỗi APA” (1 tờ/nhóm), phiếu nhóm và phiếu kiểm tra chéo đã in sẵn.
Lưu ý cho giảng viên: kịch bản chi tiết trong phiếu hoạt động “Săn lỗi APA” và “Xưởng tổng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suốt 45 phút; báo giờ ở cuối mỗi chặng.
Chặng 1 (phút 93–103): săn lỗi APA theo phiếu 10 mục, chữa nhanh 3 mục sai nhiều nhất.
Chặng 2 (103–115): báo chuyển, nhắc “soát tên tác giả trước tiên”. Đi các bàn, ưu tiên tên tác giả Việt và DOI; hỏi “tài liệu nào chưa đọc?”. Mục thiếu thông tin thì đánh dấu “cần tra lại”, không tự đoán.
Chặng 3 (115–130): chiếu lại slide bốn dấu hiệu tổng hợp trong 30 giây. Đi các bàn đọc câu đầu của từng nhóm — câu bắt đầu bằng tên tác giả thì gợi ý viết lại; ghi chú 2 đoạn tốt để khen cuối giờ. Nhóm không tìm ra khoảng trống: gợi ý bốn kiểu (đối tượng, bối cảnh, thời điểm, kết quả mâu thuẫn).
Phút 129: báo còn 1 phút, công bố cặp nhóm kiểm tra chéo (nhóm 1–2, 3–4…; số lẻ thì 3 nhóm xoay vòng).
Chặng 4 (130–138): đổi bài 1 phút, chấm 5 phút, trả bài và đọc góp ý 2 phút. Giảng viên đọc to một câu chủ đề tốt, không nêu tên nhóm nếu nhóm không muốn.
Câu chốt: “Danh mục đúng cho thấy các bạn cẩn thận; đoạn tổng hợp tốt cho thấy các bạn hiểu tài liệu. M2 chấm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slide này khi bắt đầu chặng 4. Mỗi cặp nhóm đổi danh mục và đoạn tổng hợp cho nhau, chấm theo 8 câu có/không: bốn câu về danh mục, bốn câu về đoạn tổng hợp. Mỗi câu “Chưa” phải ghi rõ chỗ cần sửa ở cột “Chỉ chỗ cần sửa”.
Mỗi nhóm kiểm tra cũng ghi một góp ý quan trọng nhất, chỉ rõ câu cần sửa.
Nói: “Chấm bài của nhóm bạn như các bạn muốn bài mình được chấm: cụ thể, có chỉ chỗ.”
Nếu kiểm tra chéo chỉ ghi “tốt”, “ổn”: yêu cầu góp ý phải chỉ ra một câu cụ thể.
Cuối chặng, nêu các lỗi điển hình đã thấy khi đi các bàn: câu đầu là tên tác giả; chỉ có tóm tắt, không có so sánh; trích dẫn trong đoạn không có trong danh mục; khoảng trống quá chung kiểu “chưa có nhiều nghiên cứu về vấn đề này” — cần nói rõ chưa nghiên cứu ai, ở đâu, khía cạnh nào; viết khẳng định nhân quả khi nguồn chỉ đo mối liên hệ.
Lưu ý cho giảng viên: phiếu kiểm tra chéo ở lại với nhóm được kiểm tra; giảng viên không thu, không ghi điểm. Phần đọc to là tự nguyện.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buổi khoảng 8 phút: phiếu ra về 3 phút, nhắc M2 và danh sách tự kiểm tra 4 phút, nối sang Buổi 4 một phút.
Nói: “Các nhóm lưu lại danh mục đã sửa, đoạn tổng hợp và phiếu kiểm tra chéo nhóm bạn đã chấm cho mình — đó là bản nháp của M2.”
Phát giấy nhỏ cho phiếu ra về trong lúc chuyển slide. Còn khoảng 4 phút dự phòng cuối buổi (146–150).
Nếu phần thực hành kéo dài, giữ nguyên phiếu ra về và lời nhắc M2 — đây là phần không cắt; có thể rút ngắn phần đọc danh sách tự kiểm tra vì danh sách đã có trong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giấy nhỏ. Mỗi bạn viết hai dòng: một lỗi APA nhóm mình đã sửa hôm nay; một điều mình còn chưa chắc khi viết tổng quan. Không bắt buộc ghi tên.
Cho khoảng 2 phút viết, rồi thu lại.
Nói: “Tôi sẽ đọc hết trước Buổi 4. Buổi sau mình mở đầu bằng những điều chưa chắc mà nhiều bạn viết nhất.”
Điều giảng viên kiểm tra qua phiếu: sinh viên có ghi đúng tên tác giả Việt (trích bằng họ; danh mục “Họ, T. Đ.”) và DOI dạng https://doi.org/… hay không; có hiểu mỗi trích dẫn khớp một mục; có phân biệt tổng hợp với tóm tắt.
Lưu ý cho giảng viên: đọc phiếu trước Buổi 4 và chọn 2–3 điều chưa chắc nhiều nhất để mở đầu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M2: danh mục tài liệu chuẩn APA 7 cộng một trang tổng quan tài liệu có trích dẫn trong bài; làm theo nhóm, 5%, đã giao ở Buổi 2; đề bài và tiêu chí chấm theo đề M2 đã phát. Nộp trên LMS trước Buổi 4. Hôm nay không giao đề mới — chỉ nhắc danh sách tự kiểm tra trước khi nộp, ở slide tiếp theo (cũng có trong tài liệu đọc thêm).
Câu nối sang Buổi 4: “Tuần sau chúng ta học dùng AI để tìm và tóm tắt tài liệu. AI làm rất nhanh — và cũng bịa tài liệu rất nhanh. Quy tắc APA hôm nay chính là công cụ để các bạn kiểm tra: tác giả có thật không, năm đúng không, DOI mở ra có đúng bài đó không. Mang máy tính.”
Lưu ý cho giảng viên: cần điền ngày giờ hạn nộp M2, tên mục nộp trên LMS và quy định nộp trễ theo đề M2 đã giao ở Buổi 2 (chỗ “…” trên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tám dòng tự kiểm tra; không giải thích lại từng quy tắc — các bạn đã có trong buổi hôm nay.
Cột danh mục: ít nhất 8 tài liệu, trong đó có bài báo khoa học; xếp A–Z theo họ, không đánh số, không tách tiếng Việt và tiếng Anh, thụt lề treo; tên tác giả họ trước, viết tắt tên đệm và tên, giữ dấu với tài liệu tiếng Việt, không học vị; tên tạp chí và số tập in nghiêng, trang có gạch ngang, DOI dạng https://doi.org/….
Cột tổng quan và liêm chính: mỗi trích dẫn trong bài có đúng một mục trong danh mục và ngược lại (đã làm mẹo đánh dấu); chỉ liệt kê tài liệu nhóm đã mở ra đọc, trích qua trung gian ghi đúng cách; tổng quan tổ chức theo chủ đề, có ít nhất một chỗ nhiều nguồn trong một ngoặc, có so sánh đối chiếu, không có câu “mình nghĩ” không nguồn; đoạn kết nêu khoảng trống và nối với câu hỏi nghiên cứu của nhóm; mọi tài liệu do AI gợi ý đều đã được kiểm tra là có thật, và khai báo AI theo quy định học phần.
Nói: “Chụp lại slide này, hoặc mở tài liệu đọc thêm — dò từng dòng trước khi bấm nộp.”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Chính slide này là ví dụ mẫu một danh mục đúng APA 7: xếp A–Z theo họ tác giả đầu, một danh mục chung cho tài liệu tiếng Việt và tiếng Anh, không đánh số; tên sách, tên tạp chí và số tập in nghiêng; DOI dạng https://doi.org/…; tên tác giả Việt giữ dấu, viết tắt tên đệm và tên.
Nói: “Các bạn có thể chụp lại slide này để đối chiếu khi làm M2 — chú ý cách ghi đủ sáu tác giả của Lê và cộng sự (2023).”
Lưu ý cho giảng viên: cần kiểm tra thứ tự chữ cái của “Đ” khi trộn tài liệu tiếng Việt và tiếng Anh, và đối chiếu thông tin xuất bản của các ví dụ lấy từ tài liệu học tập (Lê, 2017; Le, 2019) trước khi dùng làm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2 (tiếp): Tham khảo và trích dẫn tài liệu</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0–10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Khởi động — kiểm tra bài tập Buổi 2</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Buổi 2: nhóm bạn đang ở đâu?</a:t>
            </a:r>
            <a:endParaRPr lang="en-US" sz="3600" dirty="0"/>
          </a:p>
        </p:txBody>
      </p:sp>
      <p:sp>
        <p:nvSpPr>
          <p:cNvPr id="6" name="Thẻ Đủ 8 tài liệu?"/>
          <p:cNvSpPr/>
          <p:nvPr/>
        </p:nvSpPr>
        <p:spPr>
          <a:xfrm>
            <a:off x="548640" y="1783080"/>
            <a:ext cx="3505200" cy="3202940"/>
          </a:xfrm>
          <a:prstGeom prst="roundRect">
            <a:avLst>
              <a:gd name="adj" fmla="val 5139"/>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Đủ 8 tài liệu?</a:t>
            </a:r>
            <a:endParaRPr lang="en-US" sz="2800" dirty="0"/>
          </a:p>
        </p:txBody>
      </p:sp>
      <p:sp>
        <p:nvSpPr>
          <p:cNvPr id="10" name="Text 8"/>
          <p:cNvSpPr txBox="1"/>
          <p:nvPr/>
        </p:nvSpPr>
        <p:spPr>
          <a:xfrm>
            <a:off x="685800" y="2580640"/>
            <a:ext cx="3230880" cy="2359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mục có từ 8 tài liệu trở lên</a:t>
            </a:r>
            <a:endParaRPr lang="en-US" sz="2600" dirty="0"/>
          </a:p>
        </p:txBody>
      </p:sp>
      <p:sp>
        <p:nvSpPr>
          <p:cNvPr id="11" name="Thẻ ≥ 3 bài báo khoa học?"/>
          <p:cNvSpPr/>
          <p:nvPr/>
        </p:nvSpPr>
        <p:spPr>
          <a:xfrm>
            <a:off x="4328160" y="1783080"/>
            <a:ext cx="3505200" cy="3202940"/>
          </a:xfrm>
          <a:prstGeom prst="roundRect">
            <a:avLst>
              <a:gd name="adj" fmla="val 5139"/>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 3 bài báo khoa học?</a:t>
            </a:r>
            <a:endParaRPr lang="en-US" sz="2800" dirty="0"/>
          </a:p>
        </p:txBody>
      </p:sp>
      <p:sp>
        <p:nvSpPr>
          <p:cNvPr id="15" name="Text 13"/>
          <p:cNvSpPr txBox="1"/>
          <p:nvPr/>
        </p:nvSpPr>
        <p:spPr>
          <a:xfrm>
            <a:off x="446532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Tạp chí có phản biện — không tính báo điện tử, blog</a:t>
            </a:r>
            <a:endParaRPr lang="en-US" sz="2600" dirty="0"/>
          </a:p>
        </p:txBody>
      </p:sp>
      <p:sp>
        <p:nvSpPr>
          <p:cNvPr id="16" name="Thẻ Có tài liệu chưa đọc?"/>
          <p:cNvSpPr/>
          <p:nvPr/>
        </p:nvSpPr>
        <p:spPr>
          <a:xfrm>
            <a:off x="8107680" y="1783080"/>
            <a:ext cx="3505200" cy="3202940"/>
          </a:xfrm>
          <a:prstGeom prst="roundRect">
            <a:avLst>
              <a:gd name="adj" fmla="val 5139"/>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tài liệu chưa đọc?</a:t>
            </a:r>
            <a:endParaRPr lang="en-US" sz="2800" dirty="0"/>
          </a:p>
        </p:txBody>
      </p:sp>
      <p:sp>
        <p:nvSpPr>
          <p:cNvPr id="20" name="Text 18"/>
          <p:cNvSpPr txBox="1"/>
          <p:nvPr/>
        </p:nvSpPr>
        <p:spPr>
          <a:xfrm>
            <a:off x="824484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Mục chưa ai trong nhóm mở ra đọc</a:t>
            </a:r>
            <a:endParaRPr lang="en-US" sz="2600" dirty="0"/>
          </a:p>
        </p:txBody>
      </p:sp>
      <p:sp>
        <p:nvSpPr>
          <p:cNvPr id="21" name="Ghi chú nổi bật"/>
          <p:cNvSpPr/>
          <p:nvPr/>
        </p:nvSpPr>
        <p:spPr>
          <a:xfrm>
            <a:off x="548640" y="5351780"/>
            <a:ext cx="11064240" cy="685800"/>
          </a:xfrm>
          <a:prstGeom prst="roundRect">
            <a:avLst>
              <a:gd name="adj" fmla="val 24000"/>
            </a:avLst>
          </a:prstGeom>
          <a:solidFill>
            <a:srgbClr val="C6E4D8"/>
          </a:solidFill>
          <a:ln/>
        </p:spPr>
      </p:sp>
      <p:sp>
        <p:nvSpPr>
          <p:cNvPr id="22" name="Nhãn !"/>
          <p:cNvSpPr/>
          <p:nvPr/>
        </p:nvSpPr>
        <p:spPr>
          <a:xfrm>
            <a:off x="731520" y="5466080"/>
            <a:ext cx="457200" cy="457200"/>
          </a:xfrm>
          <a:prstGeom prst="ellipse">
            <a:avLst/>
          </a:prstGeom>
          <a:solidFill>
            <a:srgbClr val="49B296"/>
          </a:solidFill>
          <a:ln/>
        </p:spPr>
      </p:sp>
      <p:sp>
        <p:nvSpPr>
          <p:cNvPr id="23" name="Text 21"/>
          <p:cNvSpPr txBox="1"/>
          <p:nvPr/>
        </p:nvSpPr>
        <p:spPr>
          <a:xfrm>
            <a:off x="731520" y="54660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517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Nhóm nào “có” thì đại diện giơ tay — không trừ điểm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Hai nhóm, mỗi nhóm một phút</a:t>
            </a:r>
            <a:endParaRPr lang="en-US" sz="36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EDDDE3"/>
          </a:solidFill>
          <a:ln/>
        </p:spPr>
      </p:sp>
      <p:sp>
        <p:nvSpPr>
          <p:cNvPr id="9" name="Nhãn 1"/>
          <p:cNvSpPr/>
          <p:nvPr/>
        </p:nvSpPr>
        <p:spPr>
          <a:xfrm>
            <a:off x="548640" y="1874520"/>
            <a:ext cx="731520" cy="731520"/>
          </a:xfrm>
          <a:prstGeom prst="ellipse">
            <a:avLst/>
          </a:prstGeom>
          <a:solidFill>
            <a:srgbClr val="962B7C"/>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Đề tài</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đang nghiên cứu vấn đề gì?</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F4DA"/>
          </a:solidFill>
          <a:ln/>
        </p:spPr>
      </p:sp>
      <p:sp>
        <p:nvSpPr>
          <p:cNvPr id="14" name="Nhãn 2"/>
          <p:cNvSpPr/>
          <p:nvPr/>
        </p:nvSpPr>
        <p:spPr>
          <a:xfrm>
            <a:off x="4328160" y="1874520"/>
            <a:ext cx="731520" cy="731520"/>
          </a:xfrm>
          <a:prstGeom prst="ellipse">
            <a:avLst/>
          </a:prstGeom>
          <a:solidFill>
            <a:srgbClr val="FFD23B"/>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Tài liệu tốt nhất</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tài liệu tốt nhất — vì sao tin được?</a:t>
            </a:r>
            <a:endParaRPr lang="en-US" sz="2600" dirty="0"/>
          </a:p>
        </p:txBody>
      </p:sp>
      <p:sp>
        <p:nvSpPr>
          <p:cNvPr id="18" name="Bước 3"/>
          <p:cNvSpPr/>
          <p:nvPr/>
        </p:nvSpPr>
        <p:spPr>
          <a:xfrm>
            <a:off x="8061960" y="2697480"/>
            <a:ext cx="3596640" cy="2037080"/>
          </a:xfrm>
          <a:prstGeom prst="roundRect">
            <a:avLst>
              <a:gd name="adj" fmla="val 8080"/>
            </a:avLst>
          </a:prstGeom>
          <a:solidFill>
            <a:srgbClr val="E2F0E7"/>
          </a:solidFill>
          <a:ln/>
        </p:spPr>
      </p:sp>
      <p:sp>
        <p:nvSpPr>
          <p:cNvPr id="19" name="Nhãn 3"/>
          <p:cNvSpPr/>
          <p:nvPr/>
        </p:nvSpPr>
        <p:spPr>
          <a:xfrm>
            <a:off x="8107680" y="1874520"/>
            <a:ext cx="731520" cy="731520"/>
          </a:xfrm>
          <a:prstGeom prst="ellipse">
            <a:avLst/>
          </a:prstGeom>
          <a:solidFill>
            <a:srgbClr val="49B296"/>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Một khó khăn</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Khó khăn lớn nhất khi tìm tài liệu</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EEBC"/>
          </a:solidFill>
          <a:ln/>
        </p:spPr>
      </p:sp>
      <p:sp>
        <p:nvSpPr>
          <p:cNvPr id="24" name="Nhãn !"/>
          <p:cNvSpPr/>
          <p:nvPr/>
        </p:nvSpPr>
        <p:spPr>
          <a:xfrm>
            <a:off x="731520" y="5214620"/>
            <a:ext cx="457200" cy="457200"/>
          </a:xfrm>
          <a:prstGeom prst="ellipse">
            <a:avLst/>
          </a:prstGeom>
          <a:solidFill>
            <a:srgbClr val="FFD23B"/>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Mỗi nhóm đúng một phút — giảng viên phản hồi một câu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Một tác giả, bốn cách ghi: người đọc sẽ nghĩ gì về cả bài nghiên cứu?</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Giả định</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500"/>
              </a:lnSpc>
              <a:spcAft>
                <a:spcPts val="800"/>
              </a:spcAft>
              <a:buNone/>
            </a:pPr>
            <a:r>
              <a:rPr lang="en-US" sz="2700" dirty="0">
                <a:solidFill>
                  <a:srgbClr val="2E2A3A"/>
                </a:solidFill>
                <a:latin typeface="Alexandria" pitchFamily="34" charset="0"/>
                <a:ea typeface="Alexandria" pitchFamily="34" charset="-122"/>
                <a:cs typeface="Alexandria" pitchFamily="34" charset="-120"/>
              </a:rPr>
              <a:t>1. Lê Quang Hùng (2017). Phân tích dữ liệu…</a:t>
            </a:r>
            <a:endParaRPr lang="en-US" sz="2700" dirty="0"/>
          </a:p>
          <a:p>
            <a:pPr algn="l" indent="0" marL="0">
              <a:lnSpc>
                <a:spcPts val="3500"/>
              </a:lnSpc>
              <a:spcAft>
                <a:spcPts val="800"/>
              </a:spcAft>
              <a:buNone/>
            </a:pPr>
            <a:r>
              <a:rPr lang="en-US" sz="2700" dirty="0">
                <a:solidFill>
                  <a:srgbClr val="2E2A3A"/>
                </a:solidFill>
                <a:latin typeface="Alexandria" pitchFamily="34" charset="0"/>
                <a:ea typeface="Alexandria" pitchFamily="34" charset="-122"/>
                <a:cs typeface="Alexandria" pitchFamily="34" charset="-120"/>
              </a:rPr>
              <a:t>Quang Hung Le (2019). Factors affecting… doi:10.13106/…</a:t>
            </a:r>
            <a:endParaRPr lang="en-US" sz="2700" dirty="0"/>
          </a:p>
          <a:p>
            <a:pPr algn="l" indent="0" marL="0">
              <a:lnSpc>
                <a:spcPts val="3500"/>
              </a:lnSpc>
              <a:spcAft>
                <a:spcPts val="800"/>
              </a:spcAft>
              <a:buNone/>
            </a:pPr>
            <a:r>
              <a:rPr lang="en-US" sz="2700" dirty="0">
                <a:solidFill>
                  <a:srgbClr val="2E2A3A"/>
                </a:solidFill>
                <a:latin typeface="Alexandria" pitchFamily="34" charset="0"/>
                <a:ea typeface="Alexandria" pitchFamily="34" charset="-122"/>
                <a:cs typeface="Alexandria" pitchFamily="34" charset="-120"/>
              </a:rPr>
              <a:t>Hùng, L. Q. (2017). Phân tích dữ liệu…</a:t>
            </a:r>
            <a:endParaRPr lang="en-US" sz="2700" dirty="0"/>
          </a:p>
          <a:p>
            <a:pPr algn="l" indent="0" marL="0">
              <a:lnSpc>
                <a:spcPts val="3500"/>
              </a:lnSpc>
              <a:spcAft>
                <a:spcPts val="800"/>
              </a:spcAft>
              <a:buNone/>
            </a:pPr>
            <a:r>
              <a:rPr lang="en-US" sz="2700" dirty="0">
                <a:solidFill>
                  <a:srgbClr val="2E2A3A"/>
                </a:solidFill>
                <a:latin typeface="Alexandria" pitchFamily="34" charset="0"/>
                <a:ea typeface="Alexandria" pitchFamily="34" charset="-122"/>
                <a:cs typeface="Alexandria" pitchFamily="34" charset="-120"/>
              </a:rPr>
              <a:t>TS. Lê Quang Hùng (2017). …</a:t>
            </a:r>
            <a:endParaRPr lang="en-US" sz="27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Người đọc nghĩ gì về độ cẩn thận của cả bài?</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2"/>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10–35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2.2 Trích dẫn trong bài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Trong bài chỉ cần họ và năm; mọi thứ khác nằm ở danh mục</a:t>
            </a:r>
            <a:endParaRPr lang="en-US" sz="3400" dirty="0"/>
          </a:p>
        </p:txBody>
      </p:sp>
      <p:sp>
        <p:nvSpPr>
          <p:cNvPr id="6" name="Tiêu đề cột"/>
          <p:cNvSpPr/>
          <p:nvPr/>
        </p:nvSpPr>
        <p:spPr>
          <a:xfrm>
            <a:off x="548640" y="1783080"/>
            <a:ext cx="5120640" cy="706120"/>
          </a:xfrm>
          <a:prstGeom prst="roundRect">
            <a:avLst>
              <a:gd name="adj" fmla="val 23309"/>
            </a:avLst>
          </a:prstGeom>
          <a:solidFill>
            <a:srgbClr val="FF9259"/>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Trong ngoặc</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FCE9DB"/>
          </a:solidFill>
          <a:ln/>
        </p:spPr>
      </p:sp>
      <p:sp>
        <p:nvSpPr>
          <p:cNvPr id="9" name="Dấu đầu dòng"/>
          <p:cNvSpPr/>
          <p:nvPr/>
        </p:nvSpPr>
        <p:spPr>
          <a:xfrm>
            <a:off x="822960" y="2979420"/>
            <a:ext cx="182880" cy="182880"/>
          </a:xfrm>
          <a:prstGeom prst="ellipse">
            <a:avLst/>
          </a:prstGeom>
          <a:solidFill>
            <a:srgbClr val="FF9259"/>
          </a:solidFill>
          <a:ln/>
        </p:spPr>
      </p:sp>
      <p:sp>
        <p:nvSpPr>
          <p:cNvPr id="10" name="Text 8"/>
          <p:cNvSpPr txBox="1"/>
          <p:nvPr/>
        </p:nvSpPr>
        <p:spPr>
          <a:xfrm>
            <a:off x="1097280" y="2763520"/>
            <a:ext cx="4434840" cy="1539240"/>
          </a:xfrm>
          <a:prstGeom prst="rect">
            <a:avLst/>
          </a:prstGeom>
          <a:noFill/>
          <a:ln/>
        </p:spPr>
        <p:txBody>
          <a:bodyPr wrap="square" lIns="76200" tIns="76200" rIns="76200" bIns="76200" rtlCol="0" anchor="t"/>
          <a:lstStyle/>
          <a:p>
            <a:pPr algn="l" indent="0" marL="0">
              <a:lnSpc>
                <a:spcPts val="3600"/>
              </a:lnSpc>
              <a:buNone/>
            </a:pPr>
            <a:r>
              <a:rPr lang="en-US" sz="2800" i="1" dirty="0">
                <a:solidFill>
                  <a:srgbClr val="2E2A3A"/>
                </a:solidFill>
                <a:latin typeface="Alexandria" pitchFamily="34" charset="0"/>
                <a:ea typeface="Alexandria" pitchFamily="34" charset="-122"/>
                <a:cs typeface="Alexandria" pitchFamily="34" charset="-120"/>
              </a:rPr>
              <a:t>… giảm rủi ro khi ra quyết định (Malhotra, 2019).</a:t>
            </a:r>
            <a:endParaRPr lang="en-US" sz="2800" dirty="0"/>
          </a:p>
        </p:txBody>
      </p:sp>
      <p:sp>
        <p:nvSpPr>
          <p:cNvPr id="11" name="Dấu đầu dòng"/>
          <p:cNvSpPr/>
          <p:nvPr/>
        </p:nvSpPr>
        <p:spPr>
          <a:xfrm>
            <a:off x="822960" y="4655820"/>
            <a:ext cx="182880" cy="182880"/>
          </a:xfrm>
          <a:prstGeom prst="ellipse">
            <a:avLst/>
          </a:prstGeom>
          <a:solidFill>
            <a:srgbClr val="FF9259"/>
          </a:solidFill>
          <a:ln/>
        </p:spPr>
      </p:sp>
      <p:sp>
        <p:nvSpPr>
          <p:cNvPr id="12" name="Text 10"/>
          <p:cNvSpPr txBox="1"/>
          <p:nvPr/>
        </p:nvSpPr>
        <p:spPr>
          <a:xfrm>
            <a:off x="1097280" y="44399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Nhấn mạnh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ý</a:t>
            </a:r>
            <a:endParaRPr lang="en-US" sz="2800" dirty="0"/>
          </a:p>
        </p:txBody>
      </p:sp>
      <p:sp>
        <p:nvSpPr>
          <p:cNvPr id="13" name="Dấu đầu dòng"/>
          <p:cNvSpPr/>
          <p:nvPr/>
        </p:nvSpPr>
        <p:spPr>
          <a:xfrm>
            <a:off x="822960" y="5407660"/>
            <a:ext cx="182880" cy="182880"/>
          </a:xfrm>
          <a:prstGeom prst="ellipse">
            <a:avLst/>
          </a:prstGeom>
          <a:solidFill>
            <a:srgbClr val="FF9259"/>
          </a:solidFill>
          <a:ln/>
        </p:spPr>
      </p:sp>
      <p:sp>
        <p:nvSpPr>
          <p:cNvPr id="14" name="Text 12"/>
          <p:cNvSpPr txBox="1"/>
          <p:nvPr/>
        </p:nvSpPr>
        <p:spPr>
          <a:xfrm>
            <a:off x="1097280" y="51917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Hai tác giả: dùng “&amp;”</a:t>
            </a:r>
            <a:endParaRPr lang="en-US" sz="2800" dirty="0"/>
          </a:p>
        </p:txBody>
      </p:sp>
      <p:sp>
        <p:nvSpPr>
          <p:cNvPr id="15" name="Tiêu đề cột"/>
          <p:cNvSpPr/>
          <p:nvPr/>
        </p:nvSpPr>
        <p:spPr>
          <a:xfrm>
            <a:off x="6492240" y="1783080"/>
            <a:ext cx="5120640" cy="706120"/>
          </a:xfrm>
          <a:prstGeom prst="roundRect">
            <a:avLst>
              <a:gd name="adj" fmla="val 23309"/>
            </a:avLst>
          </a:prstGeom>
          <a:solidFill>
            <a:srgbClr val="FF9259"/>
          </a:solidFill>
          <a:ln/>
        </p:spPr>
      </p:sp>
      <p:sp>
        <p:nvSpPr>
          <p:cNvPr id="16" name="Text 14"/>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Dẫn dắt</a:t>
            </a:r>
            <a:endParaRPr lang="en-US" sz="2800" dirty="0"/>
          </a:p>
        </p:txBody>
      </p:sp>
      <p:sp>
        <p:nvSpPr>
          <p:cNvPr id="17" name="Nội dung cột"/>
          <p:cNvSpPr/>
          <p:nvPr/>
        </p:nvSpPr>
        <p:spPr>
          <a:xfrm>
            <a:off x="6492240" y="2626360"/>
            <a:ext cx="5120640" cy="3454400"/>
          </a:xfrm>
          <a:prstGeom prst="roundRect">
            <a:avLst>
              <a:gd name="adj" fmla="val 4765"/>
            </a:avLst>
          </a:prstGeom>
          <a:solidFill>
            <a:srgbClr val="FCE9DB"/>
          </a:solidFill>
          <a:ln/>
        </p:spPr>
      </p:sp>
      <p:sp>
        <p:nvSpPr>
          <p:cNvPr id="18" name="Dấu đầu dòng"/>
          <p:cNvSpPr/>
          <p:nvPr/>
        </p:nvSpPr>
        <p:spPr>
          <a:xfrm>
            <a:off x="6766560" y="2979420"/>
            <a:ext cx="182880" cy="182880"/>
          </a:xfrm>
          <a:prstGeom prst="ellipse">
            <a:avLst/>
          </a:prstGeom>
          <a:solidFill>
            <a:srgbClr val="FF9259"/>
          </a:solidFill>
          <a:ln/>
        </p:spPr>
      </p:sp>
      <p:sp>
        <p:nvSpPr>
          <p:cNvPr id="19" name="Text 17"/>
          <p:cNvSpPr txBox="1"/>
          <p:nvPr/>
        </p:nvSpPr>
        <p:spPr>
          <a:xfrm>
            <a:off x="7040880" y="2763520"/>
            <a:ext cx="4434840" cy="1076960"/>
          </a:xfrm>
          <a:prstGeom prst="rect">
            <a:avLst/>
          </a:prstGeom>
          <a:noFill/>
          <a:ln/>
        </p:spPr>
        <p:txBody>
          <a:bodyPr wrap="square" lIns="76200" tIns="76200" rIns="76200" bIns="76200" rtlCol="0" anchor="t"/>
          <a:lstStyle/>
          <a:p>
            <a:pPr algn="l" indent="0" marL="0">
              <a:lnSpc>
                <a:spcPts val="3600"/>
              </a:lnSpc>
              <a:buNone/>
            </a:pPr>
            <a:r>
              <a:rPr lang="en-US" sz="2800" i="1" dirty="0">
                <a:solidFill>
                  <a:srgbClr val="2E2A3A"/>
                </a:solidFill>
                <a:latin typeface="Alexandria" pitchFamily="34" charset="0"/>
                <a:ea typeface="Alexandria" pitchFamily="34" charset="-122"/>
                <a:cs typeface="Alexandria" pitchFamily="34" charset="-120"/>
              </a:rPr>
              <a:t>Malhotra (2019) cho rằng …</a:t>
            </a:r>
            <a:endParaRPr lang="en-US" sz="2800" dirty="0"/>
          </a:p>
        </p:txBody>
      </p:sp>
      <p:sp>
        <p:nvSpPr>
          <p:cNvPr id="20" name="Dấu đầu dòng"/>
          <p:cNvSpPr/>
          <p:nvPr/>
        </p:nvSpPr>
        <p:spPr>
          <a:xfrm>
            <a:off x="6766560" y="4193540"/>
            <a:ext cx="182880" cy="182880"/>
          </a:xfrm>
          <a:prstGeom prst="ellipse">
            <a:avLst/>
          </a:prstGeom>
          <a:solidFill>
            <a:srgbClr val="FF9259"/>
          </a:solidFill>
          <a:ln/>
        </p:spPr>
      </p:sp>
      <p:sp>
        <p:nvSpPr>
          <p:cNvPr id="21" name="Text 19"/>
          <p:cNvSpPr txBox="1"/>
          <p:nvPr/>
        </p:nvSpPr>
        <p:spPr>
          <a:xfrm>
            <a:off x="7040880" y="397764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Nhấn mạnh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ai</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nói</a:t>
            </a:r>
            <a:endParaRPr lang="en-US" sz="2800" dirty="0"/>
          </a:p>
        </p:txBody>
      </p:sp>
      <p:sp>
        <p:nvSpPr>
          <p:cNvPr id="22" name="Dấu đầu dòng"/>
          <p:cNvSpPr/>
          <p:nvPr/>
        </p:nvSpPr>
        <p:spPr>
          <a:xfrm>
            <a:off x="6766560" y="4945380"/>
            <a:ext cx="182880" cy="182880"/>
          </a:xfrm>
          <a:prstGeom prst="ellipse">
            <a:avLst/>
          </a:prstGeom>
          <a:solidFill>
            <a:srgbClr val="FF9259"/>
          </a:solidFill>
          <a:ln/>
        </p:spPr>
      </p:sp>
      <p:sp>
        <p:nvSpPr>
          <p:cNvPr id="23" name="Text 21"/>
          <p:cNvSpPr txBox="1"/>
          <p:nvPr/>
        </p:nvSpPr>
        <p:spPr>
          <a:xfrm>
            <a:off x="7040880" y="472948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Hai tác giả: viết “và”</a:t>
            </a:r>
            <a:endParaRPr lang="en-US" sz="2800" dirty="0"/>
          </a:p>
        </p:txBody>
      </p:sp>
      <p:sp>
        <p:nvSpPr>
          <p:cNvPr id="24" name="Nhãn vs"/>
          <p:cNvSpPr/>
          <p:nvPr/>
        </p:nvSpPr>
        <p:spPr>
          <a:xfrm>
            <a:off x="5760720" y="3896360"/>
            <a:ext cx="640080" cy="640080"/>
          </a:xfrm>
          <a:prstGeom prst="ellipse">
            <a:avLst/>
          </a:prstGeom>
          <a:solidFill>
            <a:srgbClr val="FFD23B"/>
          </a:solidFill>
          <a:ln/>
        </p:spPr>
      </p:sp>
      <p:sp>
        <p:nvSpPr>
          <p:cNvPr id="25" name="Text 23"/>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Từ ba tác giả trở lên, chỉ ghi người đầu tiên ngay từ lần đầu</a:t>
            </a:r>
            <a:endParaRPr lang="en-US" sz="3400" dirty="0"/>
          </a:p>
        </p:txBody>
      </p:sp>
      <p:graphicFrame>
        <p:nvGraphicFramePr>
          <p:cNvPr id="9"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45351"/>
                <a:gridCol w="4014574"/>
                <a:gridCol w="4104315"/>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Số tác giả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Trong ngoặc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Dẫn dắt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&amp; Keller, 2012)</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và Keller (2012)</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 tiếng 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(Hair et al.,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Hair et al.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 tiếng Việt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và cộng sự,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và cộng sự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bl>
          </a:graphicData>
        </a:graphic>
      </p:graphicFrame>
      <p:sp>
        <p:nvSpPr>
          <p:cNvPr id="7" name="Ghi chú nổi bật"/>
          <p:cNvSpPr/>
          <p:nvPr/>
        </p:nvSpPr>
        <p:spPr>
          <a:xfrm>
            <a:off x="548640" y="4907280"/>
            <a:ext cx="11064240" cy="1102360"/>
          </a:xfrm>
          <a:prstGeom prst="roundRect">
            <a:avLst>
              <a:gd name="adj" fmla="val 14931"/>
            </a:avLst>
          </a:prstGeom>
          <a:solidFill>
            <a:srgbClr val="DDBCD0"/>
          </a:solidFill>
          <a:ln/>
        </p:spPr>
      </p:sp>
      <p:sp>
        <p:nvSpPr>
          <p:cNvPr id="8" name="Nhãn !"/>
          <p:cNvSpPr/>
          <p:nvPr/>
        </p:nvSpPr>
        <p:spPr>
          <a:xfrm>
            <a:off x="731520" y="5229860"/>
            <a:ext cx="457200" cy="457200"/>
          </a:xfrm>
          <a:prstGeom prst="ellipse">
            <a:avLst/>
          </a:prstGeom>
          <a:solidFill>
            <a:srgbClr val="962B7C"/>
          </a:solidFill>
          <a:ln/>
        </p:spPr>
      </p:sp>
      <p:sp>
        <p:nvSpPr>
          <p:cNvPr id="9" name="Text 6"/>
          <p:cNvSpPr txBox="1"/>
          <p:nvPr/>
        </p:nvSpPr>
        <p:spPr>
          <a:xfrm>
            <a:off x="731520" y="52298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Từ 3 tác giả: tác giả đầu + et al. / và cộng sự — điểm mới của APA 7</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Người Việt được trích bằng họ, không bằng tên</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FCEEBC"/>
          </a:solidFill>
          <a:ln/>
        </p:spPr>
      </p:sp>
      <p:sp>
        <p:nvSpPr>
          <p:cNvPr id="7" name="Nhãn !"/>
          <p:cNvSpPr/>
          <p:nvPr/>
        </p:nvSpPr>
        <p:spPr>
          <a:xfrm>
            <a:off x="731520" y="5300980"/>
            <a:ext cx="457200" cy="457200"/>
          </a:xfrm>
          <a:prstGeom prst="ellipse">
            <a:avLst/>
          </a:prstGeom>
          <a:solidFill>
            <a:srgbClr val="FFD23B"/>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Danh mục xếp theo họ: trích (Hùng) thì người đọc tìm ở chữ H — không thấy</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a:t>
            </a:r>
            <a:endParaRPr lang="en-US" sz="2800" dirty="0"/>
          </a:p>
        </p:txBody>
      </p:sp>
      <p:sp>
        <p:nvSpPr>
          <p:cNvPr id="12" name="Nội dung cột"/>
          <p:cNvSpPr/>
          <p:nvPr/>
        </p:nvSpPr>
        <p:spPr>
          <a:xfrm>
            <a:off x="548640" y="2626360"/>
            <a:ext cx="5394960" cy="2077720"/>
          </a:xfrm>
          <a:prstGeom prst="roundRect">
            <a:avLst>
              <a:gd name="adj" fmla="val 7922"/>
            </a:avLst>
          </a:prstGeom>
          <a:solidFill>
            <a:srgbClr val="FCE9DB"/>
          </a:solidFill>
          <a:ln/>
        </p:spPr>
      </p:sp>
      <p:sp>
        <p:nvSpPr>
          <p:cNvPr id="13" name="Dấu đầu dòng"/>
          <p:cNvSpPr/>
          <p:nvPr/>
        </p:nvSpPr>
        <p:spPr>
          <a:xfrm>
            <a:off x="822960" y="2971165"/>
            <a:ext cx="182880" cy="182880"/>
          </a:xfrm>
          <a:prstGeom prst="ellipse">
            <a:avLst/>
          </a:prstGeom>
          <a:solidFill>
            <a:srgbClr val="FF9259"/>
          </a:solidFill>
          <a:ln/>
        </p:spPr>
      </p:sp>
      <p:sp>
        <p:nvSpPr>
          <p:cNvPr id="14" name="Text 12"/>
          <p:cNvSpPr txBox="1"/>
          <p:nvPr/>
        </p:nvSpPr>
        <p:spPr>
          <a:xfrm>
            <a:off x="109728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(Hùng, 2017)</a:t>
            </a:r>
            <a:endParaRPr lang="en-US" sz="2700" dirty="0"/>
          </a:p>
        </p:txBody>
      </p:sp>
      <p:sp>
        <p:nvSpPr>
          <p:cNvPr id="15" name="Dấu đầu dòng"/>
          <p:cNvSpPr/>
          <p:nvPr/>
        </p:nvSpPr>
        <p:spPr>
          <a:xfrm>
            <a:off x="822960" y="3706495"/>
            <a:ext cx="182880" cy="182880"/>
          </a:xfrm>
          <a:prstGeom prst="ellipse">
            <a:avLst/>
          </a:prstGeom>
          <a:solidFill>
            <a:srgbClr val="FF9259"/>
          </a:solidFill>
          <a:ln/>
        </p:spPr>
      </p:sp>
      <p:sp>
        <p:nvSpPr>
          <p:cNvPr id="16" name="Text 14"/>
          <p:cNvSpPr txBox="1"/>
          <p:nvPr/>
        </p:nvSpPr>
        <p:spPr>
          <a:xfrm>
            <a:off x="1097280" y="34988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(Lê Quang Hùng, 2017)</a:t>
            </a:r>
            <a:endParaRPr lang="en-US" sz="2700" dirty="0"/>
          </a:p>
        </p:txBody>
      </p:sp>
      <p:sp>
        <p:nvSpPr>
          <p:cNvPr id="17" name="Tiêu đề cột"/>
          <p:cNvSpPr/>
          <p:nvPr/>
        </p:nvSpPr>
        <p:spPr>
          <a:xfrm>
            <a:off x="6217920" y="1783080"/>
            <a:ext cx="5394960" cy="706120"/>
          </a:xfrm>
          <a:prstGeom prst="roundRect">
            <a:avLst>
              <a:gd name="adj" fmla="val 23309"/>
            </a:avLst>
          </a:prstGeom>
          <a:solidFill>
            <a:srgbClr val="FF5178"/>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Đúng</a:t>
            </a:r>
            <a:endParaRPr lang="en-US" sz="2800" dirty="0"/>
          </a:p>
        </p:txBody>
      </p:sp>
      <p:sp>
        <p:nvSpPr>
          <p:cNvPr id="19" name="Nội dung cột"/>
          <p:cNvSpPr/>
          <p:nvPr/>
        </p:nvSpPr>
        <p:spPr>
          <a:xfrm>
            <a:off x="6217920" y="2626360"/>
            <a:ext cx="5394960" cy="2077720"/>
          </a:xfrm>
          <a:prstGeom prst="roundRect">
            <a:avLst>
              <a:gd name="adj" fmla="val 7922"/>
            </a:avLst>
          </a:prstGeom>
          <a:solidFill>
            <a:srgbClr val="FCDFE0"/>
          </a:solidFill>
          <a:ln/>
        </p:spPr>
      </p:sp>
      <p:sp>
        <p:nvSpPr>
          <p:cNvPr id="20" name="Dấu đầu dòng"/>
          <p:cNvSpPr/>
          <p:nvPr/>
        </p:nvSpPr>
        <p:spPr>
          <a:xfrm>
            <a:off x="6492240" y="2971165"/>
            <a:ext cx="182880" cy="182880"/>
          </a:xfrm>
          <a:prstGeom prst="ellipse">
            <a:avLst/>
          </a:prstGeom>
          <a:solidFill>
            <a:srgbClr val="FF5178"/>
          </a:solidFill>
          <a:ln/>
        </p:spPr>
      </p:sp>
      <p:sp>
        <p:nvSpPr>
          <p:cNvPr id="21" name="Text 19"/>
          <p:cNvSpPr txBox="1"/>
          <p:nvPr/>
        </p:nvSpPr>
        <p:spPr>
          <a:xfrm>
            <a:off x="676656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(Lê, 2017)</a:t>
            </a:r>
            <a:endParaRPr lang="en-US" sz="2700" dirty="0"/>
          </a:p>
        </p:txBody>
      </p:sp>
      <p:sp>
        <p:nvSpPr>
          <p:cNvPr id="22" name="Dấu đầu dòng"/>
          <p:cNvSpPr/>
          <p:nvPr/>
        </p:nvSpPr>
        <p:spPr>
          <a:xfrm>
            <a:off x="6492240" y="3706495"/>
            <a:ext cx="182880" cy="182880"/>
          </a:xfrm>
          <a:prstGeom prst="ellipse">
            <a:avLst/>
          </a:prstGeom>
          <a:solidFill>
            <a:srgbClr val="FF5178"/>
          </a:solidFill>
          <a:ln/>
        </p:spPr>
      </p:sp>
      <p:sp>
        <p:nvSpPr>
          <p:cNvPr id="23" name="Text 21"/>
          <p:cNvSpPr txBox="1"/>
          <p:nvPr/>
        </p:nvSpPr>
        <p:spPr>
          <a:xfrm>
            <a:off x="6766560" y="3498850"/>
            <a:ext cx="4709160" cy="104394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Lê</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Quang Hùng: </a:t>
            </a:r>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Lê</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là họ — dùng để trích</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Trùng họ thì thêm chữ cái đầu tên; trùng năm thì thêm a, b</a:t>
            </a:r>
            <a:endParaRPr lang="en-US" sz="3400" dirty="0"/>
          </a:p>
        </p:txBody>
      </p:sp>
      <p:sp>
        <p:nvSpPr>
          <p:cNvPr id="6" name="Thẻ Hai tác giả trùng họ"/>
          <p:cNvSpPr/>
          <p:nvPr/>
        </p:nvSpPr>
        <p:spPr>
          <a:xfrm>
            <a:off x="548640" y="1783080"/>
            <a:ext cx="5394960" cy="3202940"/>
          </a:xfrm>
          <a:prstGeom prst="roundRect">
            <a:avLst>
              <a:gd name="adj" fmla="val 5139"/>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Hai tác giả trùng họ</a:t>
            </a:r>
            <a:endParaRPr lang="en-US" sz="2800" dirty="0"/>
          </a:p>
        </p:txBody>
      </p:sp>
      <p:sp>
        <p:nvSpPr>
          <p:cNvPr id="10" name="Text 8"/>
          <p:cNvSpPr txBox="1"/>
          <p:nvPr/>
        </p:nvSpPr>
        <p:spPr>
          <a:xfrm>
            <a:off x="685800" y="2580640"/>
            <a:ext cx="5120640" cy="2359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 H. Nguyễn, 2021; K. D. Nguyễn, 2017)</a:t>
            </a:r>
            <a:endParaRPr lang="en-US" sz="2600" dirty="0"/>
          </a:p>
        </p:txBody>
      </p:sp>
      <p:sp>
        <p:nvSpPr>
          <p:cNvPr id="11" name="Thẻ Cùng tác giả, cùng năm"/>
          <p:cNvSpPr/>
          <p:nvPr/>
        </p:nvSpPr>
        <p:spPr>
          <a:xfrm>
            <a:off x="6217920" y="1783080"/>
            <a:ext cx="5394960" cy="3202940"/>
          </a:xfrm>
          <a:prstGeom prst="roundRect">
            <a:avLst>
              <a:gd name="adj" fmla="val 5139"/>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Cùng tác giả, cùng năm</a:t>
            </a:r>
            <a:endParaRPr lang="en-US" sz="2800" dirty="0"/>
          </a:p>
        </p:txBody>
      </p:sp>
      <p:sp>
        <p:nvSpPr>
          <p:cNvPr id="15" name="Text 13"/>
          <p:cNvSpPr txBox="1"/>
          <p:nvPr/>
        </p:nvSpPr>
        <p:spPr>
          <a:xfrm>
            <a:off x="6355080" y="304292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(Nguyễn, 2020a, 2020b) — a, b theo thứ tự tên tài liệu trong danh mục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Tổ chức là tác giả: lần đầu ghi đủ tên, lần sau dùng viết tắt</a:t>
            </a:r>
            <a:endParaRPr lang="en-US" sz="3400" dirty="0"/>
          </a:p>
        </p:txBody>
      </p:sp>
      <p:graphicFrame>
        <p:nvGraphicFramePr>
          <p:cNvPr id="1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047196"/>
                <a:gridCol w="4092852"/>
                <a:gridCol w="3924191"/>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Lần trích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Trong ngoặc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Dẫn dắt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Lần đầu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(Bộ Giáo dục và Đào tạo [BGDĐT], 2021)</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Bộ Giáo dục và Đào tạo (BGDĐT, 2021)</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Từ lần thứ hai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(BGDĐT, 2021)</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BGDĐT (2021)</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có viết tắt quen thuộc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Marketing Association,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Ghi đủ tên mọi lần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175504"/>
            <a:ext cx="11064240" cy="685800"/>
          </a:xfrm>
          <a:prstGeom prst="roundRect">
            <a:avLst>
              <a:gd name="adj" fmla="val 24000"/>
            </a:avLst>
          </a:prstGeom>
          <a:solidFill>
            <a:srgbClr val="FCC7CF"/>
          </a:solidFill>
          <a:ln/>
        </p:spPr>
      </p:sp>
      <p:sp>
        <p:nvSpPr>
          <p:cNvPr id="8" name="Nhãn !"/>
          <p:cNvSpPr/>
          <p:nvPr/>
        </p:nvSpPr>
        <p:spPr>
          <a:xfrm>
            <a:off x="731520" y="5289804"/>
            <a:ext cx="457200" cy="457200"/>
          </a:xfrm>
          <a:prstGeom prst="ellipse">
            <a:avLst/>
          </a:prstGeom>
          <a:solidFill>
            <a:srgbClr val="FF5178"/>
          </a:solidFill>
          <a:ln/>
        </p:spPr>
      </p:sp>
      <p:sp>
        <p:nvSpPr>
          <p:cNvPr id="9" name="Text 6"/>
          <p:cNvSpPr txBox="1"/>
          <p:nvPr/>
        </p:nvSpPr>
        <p:spPr>
          <a:xfrm>
            <a:off x="731520" y="528980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17550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Trong danh mục: luôn viết đủ tên tổ chức, không viết tắt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Trích nguyên văn cần số trang; diễn giải vẫn phải ghi nguồn</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Diễn giải mà không ghi nguồn vẫn là đạo văn</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09A1E5"/>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Trích nguyên văn</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4ECF2"/>
          </a:solidFill>
          <a:ln/>
        </p:spPr>
      </p:sp>
      <p:sp>
        <p:nvSpPr>
          <p:cNvPr id="13" name="Dấu đầu dòng"/>
          <p:cNvSpPr/>
          <p:nvPr/>
        </p:nvSpPr>
        <p:spPr>
          <a:xfrm>
            <a:off x="822960" y="2962910"/>
            <a:ext cx="182880" cy="182880"/>
          </a:xfrm>
          <a:prstGeom prst="ellipse">
            <a:avLst/>
          </a:prstGeom>
          <a:solidFill>
            <a:srgbClr val="09A1E5"/>
          </a:solidFill>
          <a:ln/>
        </p:spPr>
      </p:sp>
      <p:sp>
        <p:nvSpPr>
          <p:cNvPr id="14" name="Text 12"/>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(Lê, 2017, tr. 25)</a:t>
            </a:r>
            <a:endParaRPr lang="en-US" sz="2600" dirty="0"/>
          </a:p>
        </p:txBody>
      </p:sp>
      <p:sp>
        <p:nvSpPr>
          <p:cNvPr id="15" name="Dấu đầu dòng"/>
          <p:cNvSpPr/>
          <p:nvPr/>
        </p:nvSpPr>
        <p:spPr>
          <a:xfrm>
            <a:off x="822960" y="3681730"/>
            <a:ext cx="182880" cy="182880"/>
          </a:xfrm>
          <a:prstGeom prst="ellipse">
            <a:avLst/>
          </a:prstGeom>
          <a:solidFill>
            <a:srgbClr val="09A1E5"/>
          </a:solidFill>
          <a:ln/>
        </p:spPr>
      </p:sp>
      <p:sp>
        <p:nvSpPr>
          <p:cNvPr id="16" name="Text 14"/>
          <p:cNvSpPr txBox="1"/>
          <p:nvPr/>
        </p:nvSpPr>
        <p:spPr>
          <a:xfrm>
            <a:off x="109728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(Kotler &amp; Keller, 2012, p. 98)</a:t>
            </a:r>
            <a:endParaRPr lang="en-US" sz="2600" dirty="0"/>
          </a:p>
        </p:txBody>
      </p:sp>
      <p:sp>
        <p:nvSpPr>
          <p:cNvPr id="17" name="Dấu đầu dòng"/>
          <p:cNvSpPr/>
          <p:nvPr/>
        </p:nvSpPr>
        <p:spPr>
          <a:xfrm>
            <a:off x="822960" y="4400550"/>
            <a:ext cx="182880" cy="182880"/>
          </a:xfrm>
          <a:prstGeom prst="ellipse">
            <a:avLst/>
          </a:prstGeom>
          <a:solidFill>
            <a:srgbClr val="09A1E5"/>
          </a:solidFill>
          <a:ln/>
        </p:spPr>
      </p:sp>
      <p:sp>
        <p:nvSpPr>
          <p:cNvPr id="18" name="Text 16"/>
          <p:cNvSpPr txBox="1"/>
          <p:nvPr/>
        </p:nvSpPr>
        <p:spPr>
          <a:xfrm>
            <a:off x="109728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40 từ → khối trích dẫn</a:t>
            </a:r>
            <a:endParaRPr lang="en-US" sz="2600" dirty="0"/>
          </a:p>
        </p:txBody>
      </p:sp>
      <p:sp>
        <p:nvSpPr>
          <p:cNvPr id="19" name="Tiêu đề cột"/>
          <p:cNvSpPr/>
          <p:nvPr/>
        </p:nvSpPr>
        <p:spPr>
          <a:xfrm>
            <a:off x="6217920" y="1783080"/>
            <a:ext cx="5394960" cy="706120"/>
          </a:xfrm>
          <a:prstGeom prst="roundRect">
            <a:avLst>
              <a:gd name="adj" fmla="val 23309"/>
            </a:avLst>
          </a:prstGeom>
          <a:solidFill>
            <a:srgbClr val="962B7C"/>
          </a:solidFill>
          <a:ln/>
        </p:spPr>
      </p:sp>
      <p:sp>
        <p:nvSpPr>
          <p:cNvPr id="20" name="Text 18"/>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Diễn giải</a:t>
            </a:r>
            <a:endParaRPr lang="en-US" sz="2800" dirty="0"/>
          </a:p>
        </p:txBody>
      </p:sp>
      <p:sp>
        <p:nvSpPr>
          <p:cNvPr id="21" name="Nội dung cột"/>
          <p:cNvSpPr/>
          <p:nvPr/>
        </p:nvSpPr>
        <p:spPr>
          <a:xfrm>
            <a:off x="6217920" y="2626360"/>
            <a:ext cx="5394960" cy="2494280"/>
          </a:xfrm>
          <a:prstGeom prst="roundRect">
            <a:avLst>
              <a:gd name="adj" fmla="val 6599"/>
            </a:avLst>
          </a:prstGeom>
          <a:solidFill>
            <a:srgbClr val="EBD9E1"/>
          </a:solidFill>
          <a:ln/>
        </p:spPr>
      </p:sp>
      <p:sp>
        <p:nvSpPr>
          <p:cNvPr id="22" name="Dấu đầu dòng"/>
          <p:cNvSpPr/>
          <p:nvPr/>
        </p:nvSpPr>
        <p:spPr>
          <a:xfrm>
            <a:off x="6492240" y="2962910"/>
            <a:ext cx="182880" cy="182880"/>
          </a:xfrm>
          <a:prstGeom prst="ellipse">
            <a:avLst/>
          </a:prstGeom>
          <a:solidFill>
            <a:srgbClr val="962B7C"/>
          </a:solidFill>
          <a:ln/>
        </p:spPr>
      </p:sp>
      <p:sp>
        <p:nvSpPr>
          <p:cNvPr id="23" name="Text 21"/>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Viết lại bằng lời của mình</a:t>
            </a:r>
            <a:endParaRPr lang="en-US" sz="2600" dirty="0"/>
          </a:p>
        </p:txBody>
      </p:sp>
      <p:sp>
        <p:nvSpPr>
          <p:cNvPr id="24" name="Dấu đầu dòng"/>
          <p:cNvSpPr/>
          <p:nvPr/>
        </p:nvSpPr>
        <p:spPr>
          <a:xfrm>
            <a:off x="6492240" y="3681730"/>
            <a:ext cx="182880" cy="182880"/>
          </a:xfrm>
          <a:prstGeom prst="ellipse">
            <a:avLst/>
          </a:prstGeom>
          <a:solidFill>
            <a:srgbClr val="962B7C"/>
          </a:solidFill>
          <a:ln/>
        </p:spPr>
      </p:sp>
      <p:sp>
        <p:nvSpPr>
          <p:cNvPr id="25" name="Text 23"/>
          <p:cNvSpPr txBox="1"/>
          <p:nvPr/>
        </p:nvSpPr>
        <p:spPr>
          <a:xfrm>
            <a:off x="676656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Vẫn phải</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trích dẫn</a:t>
            </a:r>
            <a:endParaRPr lang="en-US" sz="2600" dirty="0"/>
          </a:p>
        </p:txBody>
      </p:sp>
      <p:sp>
        <p:nvSpPr>
          <p:cNvPr id="26" name="Dấu đầu dòng"/>
          <p:cNvSpPr/>
          <p:nvPr/>
        </p:nvSpPr>
        <p:spPr>
          <a:xfrm>
            <a:off x="6492240" y="4400550"/>
            <a:ext cx="182880" cy="182880"/>
          </a:xfrm>
          <a:prstGeom prst="ellipse">
            <a:avLst/>
          </a:prstGeom>
          <a:solidFill>
            <a:srgbClr val="962B7C"/>
          </a:solidFill>
          <a:ln/>
        </p:spPr>
      </p:sp>
      <p:sp>
        <p:nvSpPr>
          <p:cNvPr id="27" name="Text 25"/>
          <p:cNvSpPr txBox="1"/>
          <p:nvPr/>
        </p:nvSpPr>
        <p:spPr>
          <a:xfrm>
            <a:off x="676656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Số trang: khuyến khích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Chưa đọc tài liệu gốc thì phải nói rõ, và không đưa nó vào danh mục</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FCE2E3"/>
          </a:solidFill>
          <a:ln/>
        </p:spPr>
      </p:sp>
      <p:sp>
        <p:nvSpPr>
          <p:cNvPr id="9" name="Nhãn 1"/>
          <p:cNvSpPr/>
          <p:nvPr/>
        </p:nvSpPr>
        <p:spPr>
          <a:xfrm>
            <a:off x="548640" y="1874520"/>
            <a:ext cx="731520" cy="731520"/>
          </a:xfrm>
          <a:prstGeom prst="ellipse">
            <a:avLst/>
          </a:prstGeom>
          <a:solidFill>
            <a:srgbClr val="FF5178"/>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Bạn</a:t>
            </a:r>
            <a:endParaRPr lang="en-US" sz="2800" dirty="0"/>
          </a:p>
        </p:txBody>
      </p:sp>
      <p:sp>
        <p:nvSpPr>
          <p:cNvPr id="12" name="Text 10"/>
          <p:cNvSpPr txBox="1"/>
          <p:nvPr/>
        </p:nvSpPr>
        <p:spPr>
          <a:xfrm>
            <a:off x="54864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chỉ đọc tài liệu trung gian</a:t>
            </a:r>
            <a:endParaRPr lang="en-US" sz="2600" dirty="0"/>
          </a:p>
        </p:txBody>
      </p:sp>
      <p:sp>
        <p:nvSpPr>
          <p:cNvPr id="13" name="Bước 2"/>
          <p:cNvSpPr/>
          <p:nvPr/>
        </p:nvSpPr>
        <p:spPr>
          <a:xfrm>
            <a:off x="4282440" y="2697480"/>
            <a:ext cx="3596640" cy="2423160"/>
          </a:xfrm>
          <a:prstGeom prst="roundRect">
            <a:avLst>
              <a:gd name="adj" fmla="val 6792"/>
            </a:avLst>
          </a:prstGeom>
          <a:solidFill>
            <a:srgbClr val="D9EEF2"/>
          </a:solidFill>
          <a:ln/>
        </p:spPr>
      </p:sp>
      <p:sp>
        <p:nvSpPr>
          <p:cNvPr id="14" name="Nhãn 2"/>
          <p:cNvSpPr/>
          <p:nvPr/>
        </p:nvSpPr>
        <p:spPr>
          <a:xfrm>
            <a:off x="4328160" y="1874520"/>
            <a:ext cx="731520" cy="731520"/>
          </a:xfrm>
          <a:prstGeom prst="ellipse">
            <a:avLst/>
          </a:prstGeom>
          <a:solidFill>
            <a:srgbClr val="09A1E5"/>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Berlian et al. (2023)</a:t>
            </a:r>
            <a:endParaRPr lang="en-US" sz="2800" dirty="0"/>
          </a:p>
        </p:txBody>
      </p:sp>
      <p:sp>
        <p:nvSpPr>
          <p:cNvPr id="17" name="Text 15"/>
          <p:cNvSpPr txBox="1"/>
          <p:nvPr/>
        </p:nvSpPr>
        <p:spPr>
          <a:xfrm>
            <a:off x="432816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đã đọc → có trong danh mục</a:t>
            </a:r>
            <a:endParaRPr lang="en-US" sz="2600" dirty="0"/>
          </a:p>
        </p:txBody>
      </p:sp>
      <p:sp>
        <p:nvSpPr>
          <p:cNvPr id="18" name="Bước 3"/>
          <p:cNvSpPr/>
          <p:nvPr/>
        </p:nvSpPr>
        <p:spPr>
          <a:xfrm>
            <a:off x="8061960" y="2697480"/>
            <a:ext cx="3596640" cy="2423160"/>
          </a:xfrm>
          <a:prstGeom prst="roundRect">
            <a:avLst>
              <a:gd name="adj" fmla="val 6792"/>
            </a:avLst>
          </a:prstGeom>
          <a:solidFill>
            <a:srgbClr val="FCEBDE"/>
          </a:solidFill>
          <a:ln/>
        </p:spPr>
      </p:sp>
      <p:sp>
        <p:nvSpPr>
          <p:cNvPr id="19" name="Nhãn 3"/>
          <p:cNvSpPr/>
          <p:nvPr/>
        </p:nvSpPr>
        <p:spPr>
          <a:xfrm>
            <a:off x="8107680" y="1874520"/>
            <a:ext cx="731520" cy="731520"/>
          </a:xfrm>
          <a:prstGeom prst="ellipse">
            <a:avLst/>
          </a:prstGeom>
          <a:solidFill>
            <a:srgbClr val="FF9259"/>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Malter (2020)</a:t>
            </a:r>
            <a:endParaRPr lang="en-US" sz="2800" dirty="0"/>
          </a:p>
        </p:txBody>
      </p:sp>
      <p:sp>
        <p:nvSpPr>
          <p:cNvPr id="22" name="Text 20"/>
          <p:cNvSpPr txBox="1"/>
          <p:nvPr/>
        </p:nvSpPr>
        <p:spPr>
          <a:xfrm>
            <a:off x="810768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chưa đọc</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 không vào danh mục</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B2DFF0"/>
          </a:solidFill>
          <a:ln/>
        </p:spPr>
      </p:sp>
      <p:sp>
        <p:nvSpPr>
          <p:cNvPr id="24" name="Nhãn !"/>
          <p:cNvSpPr/>
          <p:nvPr/>
        </p:nvSpPr>
        <p:spPr>
          <a:xfrm>
            <a:off x="731520" y="5509260"/>
            <a:ext cx="457200" cy="457200"/>
          </a:xfrm>
          <a:prstGeom prst="ellipse">
            <a:avLst/>
          </a:prstGeom>
          <a:solidFill>
            <a:srgbClr val="09A1E5"/>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Trong bài: (Malter, 2020, trích trong Berlian et al., 2023)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Nhiều nguồn, không năm, không tác giả, công cụ AI: mỗi trường hợp một quy tắc</a:t>
            </a:r>
            <a:endParaRPr lang="en-US" sz="3400" dirty="0"/>
          </a:p>
        </p:txBody>
      </p:sp>
      <p:graphicFrame>
        <p:nvGraphicFramePr>
          <p:cNvPr id="1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067552"/>
                <a:gridCol w="4996688"/>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Trường hợp</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Nhiều nguồn cùng một 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2017; Malhotra,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có năm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(Vinamilk, n.d.)</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tác giả — bài viết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(“Tên bài viết,”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tác giả — sách, báo cáo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pPr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Tên báo cáo</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Công cụ 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(OpenAI, 2025)</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Mỗi trích dẫn trong bài phải khớp đúng một mục trong danh mục</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Mẹo: gặp trích dẫn nào, đánh dấu mục đó trong danh mục</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Trích dẫn trong bài</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E9DB"/>
          </a:solidFill>
          <a:ln/>
        </p:spPr>
      </p:sp>
      <p:sp>
        <p:nvSpPr>
          <p:cNvPr id="13" name="Dấu đầu dòng"/>
          <p:cNvSpPr/>
          <p:nvPr/>
        </p:nvSpPr>
        <p:spPr>
          <a:xfrm>
            <a:off x="822960" y="2946400"/>
            <a:ext cx="182880" cy="182880"/>
          </a:xfrm>
          <a:prstGeom prst="ellipse">
            <a:avLst/>
          </a:prstGeom>
          <a:solidFill>
            <a:srgbClr val="FF9259"/>
          </a:solidFill>
          <a:ln/>
        </p:spPr>
      </p:sp>
      <p:sp>
        <p:nvSpPr>
          <p:cNvPr id="14" name="Text 12"/>
          <p:cNvSpPr txBox="1"/>
          <p:nvPr/>
        </p:nvSpPr>
        <p:spPr>
          <a:xfrm>
            <a:off x="1097280" y="27635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&amp; Keller, 2012)</a:t>
            </a:r>
            <a:endParaRPr lang="en-US" sz="2400" dirty="0"/>
          </a:p>
        </p:txBody>
      </p:sp>
      <p:sp>
        <p:nvSpPr>
          <p:cNvPr id="15" name="Dấu đầu dòng"/>
          <p:cNvSpPr/>
          <p:nvPr/>
        </p:nvSpPr>
        <p:spPr>
          <a:xfrm>
            <a:off x="822960" y="3632200"/>
            <a:ext cx="182880" cy="182880"/>
          </a:xfrm>
          <a:prstGeom prst="ellipse">
            <a:avLst/>
          </a:prstGeom>
          <a:solidFill>
            <a:srgbClr val="FF9259"/>
          </a:solidFill>
          <a:ln/>
        </p:spPr>
      </p:sp>
      <p:sp>
        <p:nvSpPr>
          <p:cNvPr id="16" name="Text 14"/>
          <p:cNvSpPr txBox="1"/>
          <p:nvPr/>
        </p:nvSpPr>
        <p:spPr>
          <a:xfrm>
            <a:off x="1097280" y="34493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2017)</a:t>
            </a:r>
            <a:endParaRPr lang="en-US" sz="2400" dirty="0"/>
          </a:p>
        </p:txBody>
      </p:sp>
      <p:sp>
        <p:nvSpPr>
          <p:cNvPr id="17" name="Tiêu đề cột"/>
          <p:cNvSpPr/>
          <p:nvPr/>
        </p:nvSpPr>
        <p:spPr>
          <a:xfrm>
            <a:off x="6217920" y="1783080"/>
            <a:ext cx="5394960" cy="706120"/>
          </a:xfrm>
          <a:prstGeom prst="roundRect">
            <a:avLst>
              <a:gd name="adj" fmla="val 23309"/>
            </a:avLst>
          </a:prstGeom>
          <a:solidFill>
            <a:srgbClr val="FF5178"/>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Danh mục</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FCDFE0"/>
          </a:solidFill>
          <a:ln/>
        </p:spPr>
      </p:sp>
      <p:sp>
        <p:nvSpPr>
          <p:cNvPr id="20" name="Dấu đầu dòng"/>
          <p:cNvSpPr/>
          <p:nvPr/>
        </p:nvSpPr>
        <p:spPr>
          <a:xfrm>
            <a:off x="6492240" y="2946400"/>
            <a:ext cx="182880" cy="182880"/>
          </a:xfrm>
          <a:prstGeom prst="ellipse">
            <a:avLst/>
          </a:prstGeom>
          <a:solidFill>
            <a:srgbClr val="FF5178"/>
          </a:solidFill>
          <a:ln/>
        </p:spPr>
      </p:sp>
      <p:sp>
        <p:nvSpPr>
          <p:cNvPr id="21" name="Text 19"/>
          <p:cNvSpPr txBox="1"/>
          <p:nvPr/>
        </p:nvSpPr>
        <p:spPr>
          <a:xfrm>
            <a:off x="6766560" y="27635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P., &amp; Keller, K. L. (2012).</a:t>
            </a:r>
            <a:endParaRPr lang="en-US" sz="2400" dirty="0"/>
          </a:p>
        </p:txBody>
      </p:sp>
      <p:sp>
        <p:nvSpPr>
          <p:cNvPr id="22" name="Dấu đầu dòng"/>
          <p:cNvSpPr/>
          <p:nvPr/>
        </p:nvSpPr>
        <p:spPr>
          <a:xfrm>
            <a:off x="6492240" y="3632200"/>
            <a:ext cx="182880" cy="182880"/>
          </a:xfrm>
          <a:prstGeom prst="ellipse">
            <a:avLst/>
          </a:prstGeom>
          <a:solidFill>
            <a:srgbClr val="FF5178"/>
          </a:solidFill>
          <a:ln/>
        </p:spPr>
      </p:sp>
      <p:sp>
        <p:nvSpPr>
          <p:cNvPr id="23" name="Text 21"/>
          <p:cNvSpPr txBox="1"/>
          <p:nvPr/>
        </p:nvSpPr>
        <p:spPr>
          <a:xfrm>
            <a:off x="6766560" y="34493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 H. (2017).</a:t>
            </a:r>
            <a:endParaRPr lang="en-US" sz="2400" dirty="0"/>
          </a:p>
        </p:txBody>
      </p:sp>
      <p:sp>
        <p:nvSpPr>
          <p:cNvPr id="24" name="Dấu đầu dòng"/>
          <p:cNvSpPr/>
          <p:nvPr/>
        </p:nvSpPr>
        <p:spPr>
          <a:xfrm>
            <a:off x="6492240" y="4318000"/>
            <a:ext cx="182880" cy="182880"/>
          </a:xfrm>
          <a:prstGeom prst="ellipse">
            <a:avLst/>
          </a:prstGeom>
          <a:solidFill>
            <a:srgbClr val="FF5178"/>
          </a:solidFill>
          <a:ln/>
        </p:spPr>
      </p:sp>
      <p:sp>
        <p:nvSpPr>
          <p:cNvPr id="25" name="Text 23"/>
          <p:cNvSpPr txBox="1"/>
          <p:nvPr/>
        </p:nvSpPr>
        <p:spPr>
          <a:xfrm>
            <a:off x="6766560" y="41351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(2011). — </a:t>
            </a:r>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thừa</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tra nhanh 1/3: bài tiếng Việt của Trần Thị Mai, Lê Văn Nam, Phạm Minh Tuấn (2022)</a:t>
            </a:r>
            <a:endParaRPr lang="en-US" sz="3400" dirty="0"/>
          </a:p>
        </p:txBody>
      </p:sp>
      <p:sp>
        <p:nvSpPr>
          <p:cNvPr id="6" name="Nhãn 1"/>
          <p:cNvSpPr/>
          <p:nvPr/>
        </p:nvSpPr>
        <p:spPr>
          <a:xfrm>
            <a:off x="548640" y="1855470"/>
            <a:ext cx="502920" cy="502920"/>
          </a:xfrm>
          <a:prstGeom prst="ellipse">
            <a:avLst/>
          </a:prstGeom>
          <a:solidFill>
            <a:srgbClr val="962B7C"/>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(Mai et al., 2022)</a:t>
            </a:r>
            <a:endParaRPr lang="en-US" sz="3000" dirty="0"/>
          </a:p>
        </p:txBody>
      </p:sp>
      <p:sp>
        <p:nvSpPr>
          <p:cNvPr id="9" name="Nhãn 2"/>
          <p:cNvSpPr/>
          <p:nvPr/>
        </p:nvSpPr>
        <p:spPr>
          <a:xfrm>
            <a:off x="548640" y="2704338"/>
            <a:ext cx="502920" cy="502920"/>
          </a:xfrm>
          <a:prstGeom prst="ellipse">
            <a:avLst/>
          </a:prstGeom>
          <a:solidFill>
            <a:srgbClr val="FFD23B"/>
          </a:solidFill>
          <a:ln/>
        </p:spPr>
      </p:sp>
      <p:sp>
        <p:nvSpPr>
          <p:cNvPr id="10" name="Text 8"/>
          <p:cNvSpPr txBox="1"/>
          <p:nvPr/>
        </p:nvSpPr>
        <p:spPr>
          <a:xfrm>
            <a:off x="548640" y="27043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6319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(Trần và cộng sự, 2022)</a:t>
            </a:r>
            <a:endParaRPr lang="en-US" sz="3000" dirty="0"/>
          </a:p>
        </p:txBody>
      </p:sp>
      <p:sp>
        <p:nvSpPr>
          <p:cNvPr id="12" name="Nhãn 3"/>
          <p:cNvSpPr/>
          <p:nvPr/>
        </p:nvSpPr>
        <p:spPr>
          <a:xfrm>
            <a:off x="548640" y="3553206"/>
            <a:ext cx="502920" cy="502920"/>
          </a:xfrm>
          <a:prstGeom prst="ellipse">
            <a:avLst/>
          </a:prstGeom>
          <a:solidFill>
            <a:srgbClr val="49B296"/>
          </a:solidFill>
          <a:ln/>
        </p:spPr>
      </p:sp>
      <p:sp>
        <p:nvSpPr>
          <p:cNvPr id="13" name="Text 11"/>
          <p:cNvSpPr txBox="1"/>
          <p:nvPr/>
        </p:nvSpPr>
        <p:spPr>
          <a:xfrm>
            <a:off x="548640" y="35532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480816"/>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(Trần, Lê &amp; Phạm, 2022)</a:t>
            </a:r>
            <a:endParaRPr lang="en-US" sz="3000" dirty="0"/>
          </a:p>
        </p:txBody>
      </p:sp>
      <p:sp>
        <p:nvSpPr>
          <p:cNvPr id="15" name="Ghi chú nổi bật"/>
          <p:cNvSpPr/>
          <p:nvPr/>
        </p:nvSpPr>
        <p:spPr>
          <a:xfrm>
            <a:off x="548640" y="4494276"/>
            <a:ext cx="11064240" cy="685800"/>
          </a:xfrm>
          <a:prstGeom prst="roundRect">
            <a:avLst>
              <a:gd name="adj" fmla="val 24000"/>
            </a:avLst>
          </a:prstGeom>
          <a:solidFill>
            <a:srgbClr val="FCEEBC"/>
          </a:solidFill>
          <a:ln/>
        </p:spPr>
      </p:sp>
      <p:sp>
        <p:nvSpPr>
          <p:cNvPr id="16" name="Nhãn !"/>
          <p:cNvSpPr/>
          <p:nvPr/>
        </p:nvSpPr>
        <p:spPr>
          <a:xfrm>
            <a:off x="731520" y="4608576"/>
            <a:ext cx="457200" cy="457200"/>
          </a:xfrm>
          <a:prstGeom prst="ellipse">
            <a:avLst/>
          </a:prstGeom>
          <a:solidFill>
            <a:srgbClr val="FFD23B"/>
          </a:solidFill>
          <a:ln/>
        </p:spPr>
      </p:sp>
      <p:sp>
        <p:nvSpPr>
          <p:cNvPr id="17" name="Text 15"/>
          <p:cNvSpPr txBox="1"/>
          <p:nvPr/>
        </p:nvSpPr>
        <p:spPr>
          <a:xfrm>
            <a:off x="731520" y="46085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8" name="Text 16"/>
          <p:cNvSpPr txBox="1"/>
          <p:nvPr/>
        </p:nvSpPr>
        <p:spPr>
          <a:xfrm>
            <a:off x="1325880" y="44942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20 giây suy nghĩ — đếm 3–2–1, cả lớp giơ 1, 2 hoặc 3 ngón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300" b="1" dirty="0">
                <a:solidFill>
                  <a:srgbClr val="2E2A3A"/>
                </a:solidFill>
                <a:latin typeface="Alexandria" pitchFamily="34" charset="0"/>
                <a:ea typeface="Alexandria" pitchFamily="34" charset="-122"/>
                <a:cs typeface="Alexandria" pitchFamily="34" charset="-120"/>
              </a:rPr>
              <a:t>Kiểm tra nhanh 2/3: đọc Hair et al. (2019), có nhắc ý của một tác giả năm 2010 mà bạn chưa đọc</a:t>
            </a:r>
            <a:endParaRPr lang="en-US" sz="3300" dirty="0"/>
          </a:p>
        </p:txBody>
      </p:sp>
      <p:sp>
        <p:nvSpPr>
          <p:cNvPr id="6" name="Nhãn 1"/>
          <p:cNvSpPr/>
          <p:nvPr/>
        </p:nvSpPr>
        <p:spPr>
          <a:xfrm>
            <a:off x="548640" y="1855470"/>
            <a:ext cx="502920" cy="502920"/>
          </a:xfrm>
          <a:prstGeom prst="ellipse">
            <a:avLst/>
          </a:prstGeom>
          <a:solidFill>
            <a:srgbClr val="FFD23B"/>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Danh mục ghi cả hai</a:t>
            </a:r>
            <a:endParaRPr lang="en-US" sz="3000" dirty="0"/>
          </a:p>
        </p:txBody>
      </p:sp>
      <p:sp>
        <p:nvSpPr>
          <p:cNvPr id="9" name="Nhãn 2"/>
          <p:cNvSpPr/>
          <p:nvPr/>
        </p:nvSpPr>
        <p:spPr>
          <a:xfrm>
            <a:off x="548640" y="2704338"/>
            <a:ext cx="502920" cy="502920"/>
          </a:xfrm>
          <a:prstGeom prst="ellipse">
            <a:avLst/>
          </a:prstGeom>
          <a:solidFill>
            <a:srgbClr val="49B296"/>
          </a:solidFill>
          <a:ln/>
        </p:spPr>
      </p:sp>
      <p:sp>
        <p:nvSpPr>
          <p:cNvPr id="10" name="Text 8"/>
          <p:cNvSpPr txBox="1"/>
          <p:nvPr/>
        </p:nvSpPr>
        <p:spPr>
          <a:xfrm>
            <a:off x="548640" y="27043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6319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Chỉ ghi tài liệu năm 2010</a:t>
            </a:r>
            <a:endParaRPr lang="en-US" sz="3000" dirty="0"/>
          </a:p>
        </p:txBody>
      </p:sp>
      <p:sp>
        <p:nvSpPr>
          <p:cNvPr id="12" name="Nhãn 3"/>
          <p:cNvSpPr/>
          <p:nvPr/>
        </p:nvSpPr>
        <p:spPr>
          <a:xfrm>
            <a:off x="548640" y="3553206"/>
            <a:ext cx="502920" cy="502920"/>
          </a:xfrm>
          <a:prstGeom prst="ellipse">
            <a:avLst/>
          </a:prstGeom>
          <a:solidFill>
            <a:srgbClr val="FF5178"/>
          </a:solidFill>
          <a:ln/>
        </p:spPr>
      </p:sp>
      <p:sp>
        <p:nvSpPr>
          <p:cNvPr id="13" name="Text 11"/>
          <p:cNvSpPr txBox="1"/>
          <p:nvPr/>
        </p:nvSpPr>
        <p:spPr>
          <a:xfrm>
            <a:off x="548640" y="35532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480816"/>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Chỉ ghi Hair et al. (2019)</a:t>
            </a:r>
            <a:endParaRPr lang="en-US" sz="3000" dirty="0"/>
          </a:p>
        </p:txBody>
      </p:sp>
      <p:sp>
        <p:nvSpPr>
          <p:cNvPr id="15" name="Ghi chú nổi bật"/>
          <p:cNvSpPr/>
          <p:nvPr/>
        </p:nvSpPr>
        <p:spPr>
          <a:xfrm>
            <a:off x="548640" y="4494276"/>
            <a:ext cx="11064240" cy="685800"/>
          </a:xfrm>
          <a:prstGeom prst="roundRect">
            <a:avLst>
              <a:gd name="adj" fmla="val 24000"/>
            </a:avLst>
          </a:prstGeom>
          <a:solidFill>
            <a:srgbClr val="C6E4D8"/>
          </a:solidFill>
          <a:ln/>
        </p:spPr>
      </p:sp>
      <p:sp>
        <p:nvSpPr>
          <p:cNvPr id="16" name="Nhãn !"/>
          <p:cNvSpPr/>
          <p:nvPr/>
        </p:nvSpPr>
        <p:spPr>
          <a:xfrm>
            <a:off x="731520" y="4608576"/>
            <a:ext cx="457200" cy="457200"/>
          </a:xfrm>
          <a:prstGeom prst="ellipse">
            <a:avLst/>
          </a:prstGeom>
          <a:solidFill>
            <a:srgbClr val="49B296"/>
          </a:solidFill>
          <a:ln/>
        </p:spPr>
      </p:sp>
      <p:sp>
        <p:nvSpPr>
          <p:cNvPr id="17" name="Text 15"/>
          <p:cNvSpPr txBox="1"/>
          <p:nvPr/>
        </p:nvSpPr>
        <p:spPr>
          <a:xfrm>
            <a:off x="731520" y="46085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8" name="Text 16"/>
          <p:cNvSpPr txBox="1"/>
          <p:nvPr/>
        </p:nvSpPr>
        <p:spPr>
          <a:xfrm>
            <a:off x="1325880" y="44942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Danh mục ghi gì? Giơ 1, 2 hoặc 3 ngón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tra nhanh 3/3: trích nguyên văn một câu trong sách Malhotra (2019), trang 5</a:t>
            </a:r>
            <a:endParaRPr lang="en-US" sz="3400" dirty="0"/>
          </a:p>
        </p:txBody>
      </p:sp>
      <p:sp>
        <p:nvSpPr>
          <p:cNvPr id="6" name="Nhãn 1"/>
          <p:cNvSpPr/>
          <p:nvPr/>
        </p:nvSpPr>
        <p:spPr>
          <a:xfrm>
            <a:off x="548640" y="1855470"/>
            <a:ext cx="502920" cy="502920"/>
          </a:xfrm>
          <a:prstGeom prst="ellipse">
            <a:avLst/>
          </a:prstGeom>
          <a:solidFill>
            <a:srgbClr val="49B296"/>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(Malhotra, 2019)</a:t>
            </a:r>
            <a:endParaRPr lang="en-US" sz="3000" dirty="0"/>
          </a:p>
        </p:txBody>
      </p:sp>
      <p:sp>
        <p:nvSpPr>
          <p:cNvPr id="9" name="Nhãn 2"/>
          <p:cNvSpPr/>
          <p:nvPr/>
        </p:nvSpPr>
        <p:spPr>
          <a:xfrm>
            <a:off x="548640" y="2704338"/>
            <a:ext cx="502920" cy="502920"/>
          </a:xfrm>
          <a:prstGeom prst="ellipse">
            <a:avLst/>
          </a:prstGeom>
          <a:solidFill>
            <a:srgbClr val="FF5178"/>
          </a:solidFill>
          <a:ln/>
        </p:spPr>
      </p:sp>
      <p:sp>
        <p:nvSpPr>
          <p:cNvPr id="10" name="Text 8"/>
          <p:cNvSpPr txBox="1"/>
          <p:nvPr/>
        </p:nvSpPr>
        <p:spPr>
          <a:xfrm>
            <a:off x="548640" y="27043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6319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(Malhotra, 2019, p. 5)</a:t>
            </a:r>
            <a:endParaRPr lang="en-US" sz="3000" dirty="0"/>
          </a:p>
        </p:txBody>
      </p:sp>
      <p:sp>
        <p:nvSpPr>
          <p:cNvPr id="12" name="Nhãn 3"/>
          <p:cNvSpPr/>
          <p:nvPr/>
        </p:nvSpPr>
        <p:spPr>
          <a:xfrm>
            <a:off x="548640" y="3553206"/>
            <a:ext cx="502920" cy="502920"/>
          </a:xfrm>
          <a:prstGeom prst="ellipse">
            <a:avLst/>
          </a:prstGeom>
          <a:solidFill>
            <a:srgbClr val="09A1E5"/>
          </a:solidFill>
          <a:ln/>
        </p:spPr>
      </p:sp>
      <p:sp>
        <p:nvSpPr>
          <p:cNvPr id="13" name="Text 11"/>
          <p:cNvSpPr txBox="1"/>
          <p:nvPr/>
        </p:nvSpPr>
        <p:spPr>
          <a:xfrm>
            <a:off x="548640" y="35532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480816"/>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(Malhotra, p. 5)</a:t>
            </a:r>
            <a:endParaRPr lang="en-US" sz="3000" dirty="0"/>
          </a:p>
        </p:txBody>
      </p:sp>
      <p:sp>
        <p:nvSpPr>
          <p:cNvPr id="15" name="Ghi chú nổi bật"/>
          <p:cNvSpPr/>
          <p:nvPr/>
        </p:nvSpPr>
        <p:spPr>
          <a:xfrm>
            <a:off x="548640" y="4494276"/>
            <a:ext cx="11064240" cy="685800"/>
          </a:xfrm>
          <a:prstGeom prst="roundRect">
            <a:avLst>
              <a:gd name="adj" fmla="val 24000"/>
            </a:avLst>
          </a:prstGeom>
          <a:solidFill>
            <a:srgbClr val="FCC7CF"/>
          </a:solidFill>
          <a:ln/>
        </p:spPr>
      </p:sp>
      <p:sp>
        <p:nvSpPr>
          <p:cNvPr id="16" name="Nhãn !"/>
          <p:cNvSpPr/>
          <p:nvPr/>
        </p:nvSpPr>
        <p:spPr>
          <a:xfrm>
            <a:off x="731520" y="4608576"/>
            <a:ext cx="457200" cy="457200"/>
          </a:xfrm>
          <a:prstGeom prst="ellipse">
            <a:avLst/>
          </a:prstGeom>
          <a:solidFill>
            <a:srgbClr val="FF5178"/>
          </a:solidFill>
          <a:ln/>
        </p:spPr>
      </p:sp>
      <p:sp>
        <p:nvSpPr>
          <p:cNvPr id="17" name="Text 15"/>
          <p:cNvSpPr txBox="1"/>
          <p:nvPr/>
        </p:nvSpPr>
        <p:spPr>
          <a:xfrm>
            <a:off x="731520" y="46085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8" name="Text 16"/>
          <p:cNvSpPr txBox="1"/>
          <p:nvPr/>
        </p:nvSpPr>
        <p:spPr>
          <a:xfrm>
            <a:off x="1325880" y="44942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Giơ 1, 2 hoặc 3 ngón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3"/>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35–48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2.3 Danh mục (1)</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Mọi mục trong danh mục trả lời bốn câu: ai, khi nào, tên gì, tìm ở đâu</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070100"/>
          </a:xfrm>
          <a:prstGeom prst="roundRect">
            <a:avLst>
              <a:gd name="adj" fmla="val 7951"/>
            </a:avLst>
          </a:prstGeom>
          <a:solidFill>
            <a:srgbClr val="D9EEF2"/>
          </a:solidFill>
          <a:ln/>
        </p:spPr>
      </p:sp>
      <p:sp>
        <p:nvSpPr>
          <p:cNvPr id="10" name="Nhãn 1"/>
          <p:cNvSpPr/>
          <p:nvPr/>
        </p:nvSpPr>
        <p:spPr>
          <a:xfrm>
            <a:off x="548640" y="1874520"/>
            <a:ext cx="731520" cy="731520"/>
          </a:xfrm>
          <a:prstGeom prst="ellipse">
            <a:avLst/>
          </a:prstGeom>
          <a:solidFill>
            <a:srgbClr val="09A1E5"/>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Tác giả.</a:t>
            </a:r>
            <a:endParaRPr lang="en-US" sz="2800" dirty="0"/>
          </a:p>
        </p:txBody>
      </p:sp>
      <p:sp>
        <p:nvSpPr>
          <p:cNvPr id="13" name="Text 11"/>
          <p:cNvSpPr txBox="1"/>
          <p:nvPr/>
        </p:nvSpPr>
        <p:spPr>
          <a:xfrm>
            <a:off x="548640" y="3820160"/>
            <a:ext cx="2560320" cy="9474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viết?</a:t>
            </a:r>
            <a:endParaRPr lang="en-US" sz="2600" dirty="0"/>
          </a:p>
        </p:txBody>
      </p:sp>
      <p:sp>
        <p:nvSpPr>
          <p:cNvPr id="14" name="Bước 2"/>
          <p:cNvSpPr/>
          <p:nvPr/>
        </p:nvSpPr>
        <p:spPr>
          <a:xfrm>
            <a:off x="3337560" y="2697480"/>
            <a:ext cx="2651760" cy="2070100"/>
          </a:xfrm>
          <a:prstGeom prst="roundRect">
            <a:avLst>
              <a:gd name="adj" fmla="val 7951"/>
            </a:avLst>
          </a:prstGeom>
          <a:solidFill>
            <a:srgbClr val="FCEBDE"/>
          </a:solidFill>
          <a:ln/>
        </p:spPr>
      </p:sp>
      <p:sp>
        <p:nvSpPr>
          <p:cNvPr id="15" name="Nhãn 2"/>
          <p:cNvSpPr/>
          <p:nvPr/>
        </p:nvSpPr>
        <p:spPr>
          <a:xfrm>
            <a:off x="3383280" y="1874520"/>
            <a:ext cx="731520" cy="731520"/>
          </a:xfrm>
          <a:prstGeom prst="ellipse">
            <a:avLst/>
          </a:prstGeom>
          <a:solidFill>
            <a:srgbClr val="FF9259"/>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(Năm).</a:t>
            </a:r>
            <a:endParaRPr lang="en-US" sz="2800" dirty="0"/>
          </a:p>
        </p:txBody>
      </p:sp>
      <p:sp>
        <p:nvSpPr>
          <p:cNvPr id="18" name="Text 16"/>
          <p:cNvSpPr txBox="1"/>
          <p:nvPr/>
        </p:nvSpPr>
        <p:spPr>
          <a:xfrm>
            <a:off x="3383280" y="3820160"/>
            <a:ext cx="2560320" cy="9474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Khi nào?</a:t>
            </a:r>
            <a:endParaRPr lang="en-US" sz="2600" dirty="0"/>
          </a:p>
        </p:txBody>
      </p:sp>
      <p:sp>
        <p:nvSpPr>
          <p:cNvPr id="19" name="Bước 3"/>
          <p:cNvSpPr/>
          <p:nvPr/>
        </p:nvSpPr>
        <p:spPr>
          <a:xfrm>
            <a:off x="6172200" y="2697480"/>
            <a:ext cx="2651760" cy="2070100"/>
          </a:xfrm>
          <a:prstGeom prst="roundRect">
            <a:avLst>
              <a:gd name="adj" fmla="val 7951"/>
            </a:avLst>
          </a:prstGeom>
          <a:solidFill>
            <a:srgbClr val="EDDDE3"/>
          </a:solidFill>
          <a:ln/>
        </p:spPr>
      </p:sp>
      <p:sp>
        <p:nvSpPr>
          <p:cNvPr id="20" name="Nhãn 3"/>
          <p:cNvSpPr/>
          <p:nvPr/>
        </p:nvSpPr>
        <p:spPr>
          <a:xfrm>
            <a:off x="6217920" y="1874520"/>
            <a:ext cx="731520" cy="731520"/>
          </a:xfrm>
          <a:prstGeom prst="ellipse">
            <a:avLst/>
          </a:prstGeom>
          <a:solidFill>
            <a:srgbClr val="962B7C"/>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Tên tác phẩm.</a:t>
            </a:r>
            <a:endParaRPr lang="en-US" sz="2800" dirty="0"/>
          </a:p>
        </p:txBody>
      </p:sp>
      <p:sp>
        <p:nvSpPr>
          <p:cNvPr id="23" name="Text 21"/>
          <p:cNvSpPr txBox="1"/>
          <p:nvPr/>
        </p:nvSpPr>
        <p:spPr>
          <a:xfrm>
            <a:off x="6217920" y="3820160"/>
            <a:ext cx="2560320" cy="9474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Tên gì?</a:t>
            </a:r>
            <a:endParaRPr lang="en-US" sz="2600" dirty="0"/>
          </a:p>
        </p:txBody>
      </p:sp>
      <p:sp>
        <p:nvSpPr>
          <p:cNvPr id="24" name="Bước 4"/>
          <p:cNvSpPr/>
          <p:nvPr/>
        </p:nvSpPr>
        <p:spPr>
          <a:xfrm>
            <a:off x="9006840" y="2697480"/>
            <a:ext cx="2651760" cy="2070100"/>
          </a:xfrm>
          <a:prstGeom prst="roundRect">
            <a:avLst>
              <a:gd name="adj" fmla="val 7951"/>
            </a:avLst>
          </a:prstGeom>
          <a:solidFill>
            <a:srgbClr val="FCF4DA"/>
          </a:solidFill>
          <a:ln/>
        </p:spPr>
      </p:sp>
      <p:sp>
        <p:nvSpPr>
          <p:cNvPr id="25" name="Nhãn 4"/>
          <p:cNvSpPr/>
          <p:nvPr/>
        </p:nvSpPr>
        <p:spPr>
          <a:xfrm>
            <a:off x="9052560" y="1874520"/>
            <a:ext cx="731520" cy="731520"/>
          </a:xfrm>
          <a:prstGeom prst="ellipse">
            <a:avLst/>
          </a:prstGeom>
          <a:solidFill>
            <a:srgbClr val="FFD23B"/>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Nơi công bố. DOI/URL</a:t>
            </a:r>
            <a:endParaRPr lang="en-US" sz="2800" dirty="0"/>
          </a:p>
        </p:txBody>
      </p:sp>
      <p:sp>
        <p:nvSpPr>
          <p:cNvPr id="28" name="Text 26"/>
          <p:cNvSpPr txBox="1"/>
          <p:nvPr/>
        </p:nvSpPr>
        <p:spPr>
          <a:xfrm>
            <a:off x="9052560" y="3820160"/>
            <a:ext cx="2560320" cy="9474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Tìm ở đâu?</a:t>
            </a:r>
            <a:endParaRPr lang="en-US" sz="2600" dirty="0"/>
          </a:p>
        </p:txBody>
      </p:sp>
      <p:sp>
        <p:nvSpPr>
          <p:cNvPr id="29" name="Ghi chú nổi bật"/>
          <p:cNvSpPr/>
          <p:nvPr/>
        </p:nvSpPr>
        <p:spPr>
          <a:xfrm>
            <a:off x="548640" y="5133340"/>
            <a:ext cx="11064240" cy="685800"/>
          </a:xfrm>
          <a:prstGeom prst="roundRect">
            <a:avLst>
              <a:gd name="adj" fmla="val 24000"/>
            </a:avLst>
          </a:prstGeom>
          <a:solidFill>
            <a:srgbClr val="FCDBC5"/>
          </a:solidFill>
          <a:ln/>
        </p:spPr>
      </p:sp>
      <p:sp>
        <p:nvSpPr>
          <p:cNvPr id="30" name="Nhãn !"/>
          <p:cNvSpPr/>
          <p:nvPr/>
        </p:nvSpPr>
        <p:spPr>
          <a:xfrm>
            <a:off x="731520" y="5247640"/>
            <a:ext cx="457200" cy="457200"/>
          </a:xfrm>
          <a:prstGeom prst="ellipse">
            <a:avLst/>
          </a:prstGeom>
          <a:solidFill>
            <a:srgbClr val="FF9259"/>
          </a:solidFill>
          <a:ln/>
        </p:spPr>
      </p:sp>
      <p:sp>
        <p:nvSpPr>
          <p:cNvPr id="31" name="Text 29"/>
          <p:cNvSpPr txBox="1"/>
          <p:nvPr/>
        </p:nvSpPr>
        <p:spPr>
          <a:xfrm>
            <a:off x="731520" y="52476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1333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Gặp loại tài liệu lạ, cứ trả lời bốn câu này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Danh mục xếp A–Z theo họ, không đánh số, không tách tiếng Việt – tiếng Anh</a:t>
            </a:r>
            <a:endParaRPr lang="en-US" sz="3400" dirty="0"/>
          </a:p>
        </p:txBody>
      </p:sp>
      <p:sp>
        <p:nvSpPr>
          <p:cNvPr id="6" name="Thẻ Sắp xếp"/>
          <p:cNvSpPr/>
          <p:nvPr/>
        </p:nvSpPr>
        <p:spPr>
          <a:xfrm>
            <a:off x="548640" y="1783080"/>
            <a:ext cx="3505200" cy="4028440"/>
          </a:xfrm>
          <a:prstGeom prst="roundRect">
            <a:avLst>
              <a:gd name="adj" fmla="val 469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Sắp xếp</a:t>
            </a:r>
            <a:endParaRPr lang="en-US" sz="2800" dirty="0"/>
          </a:p>
        </p:txBody>
      </p:sp>
      <p:sp>
        <p:nvSpPr>
          <p:cNvPr id="10" name="Text 8"/>
          <p:cNvSpPr txBox="1"/>
          <p:nvPr/>
        </p:nvSpPr>
        <p:spPr>
          <a:xfrm>
            <a:off x="685800" y="2580640"/>
            <a:ext cx="3230880" cy="31851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A–Z theo họ tác giả đầu; một danh mục chung Việt – Anh; không đánh số</a:t>
            </a:r>
            <a:endParaRPr lang="en-US" sz="2600" dirty="0"/>
          </a:p>
        </p:txBody>
      </p:sp>
      <p:sp>
        <p:nvSpPr>
          <p:cNvPr id="11" name="Thẻ Tác giả"/>
          <p:cNvSpPr/>
          <p:nvPr/>
        </p:nvSpPr>
        <p:spPr>
          <a:xfrm>
            <a:off x="4328160" y="1783080"/>
            <a:ext cx="3505200" cy="4028440"/>
          </a:xfrm>
          <a:prstGeom prst="roundRect">
            <a:avLst>
              <a:gd name="adj" fmla="val 4696"/>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Tác giả</a:t>
            </a:r>
            <a:endParaRPr lang="en-US" sz="2800" dirty="0"/>
          </a:p>
        </p:txBody>
      </p:sp>
      <p:sp>
        <p:nvSpPr>
          <p:cNvPr id="15" name="Text 13"/>
          <p:cNvSpPr txBox="1"/>
          <p:nvPr/>
        </p:nvSpPr>
        <p:spPr>
          <a:xfrm>
            <a:off x="4465320" y="2580640"/>
            <a:ext cx="3230880" cy="31851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Họ, T. Đ.; không học vị; “&amp;” trước người cuối; ghi đủ đến 20 tác giả</a:t>
            </a:r>
            <a:endParaRPr lang="en-US" sz="2600" dirty="0"/>
          </a:p>
        </p:txBody>
      </p:sp>
      <p:sp>
        <p:nvSpPr>
          <p:cNvPr id="16" name="Thẻ Trình bày"/>
          <p:cNvSpPr/>
          <p:nvPr/>
        </p:nvSpPr>
        <p:spPr>
          <a:xfrm>
            <a:off x="8107680" y="1783080"/>
            <a:ext cx="3505200" cy="4028440"/>
          </a:xfrm>
          <a:prstGeom prst="roundRect">
            <a:avLst>
              <a:gd name="adj" fmla="val 4696"/>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Trình bày</a:t>
            </a:r>
            <a:endParaRPr lang="en-US" sz="2800" dirty="0"/>
          </a:p>
        </p:txBody>
      </p:sp>
      <p:sp>
        <p:nvSpPr>
          <p:cNvPr id="20" name="Text 18"/>
          <p:cNvSpPr txBox="1"/>
          <p:nvPr/>
        </p:nvSpPr>
        <p:spPr>
          <a:xfrm>
            <a:off x="8244840" y="2580640"/>
            <a:ext cx="3230880" cy="31851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In nghiêng tên sách, tạp chí, số tập; DOI dạng https; bỏ nơi xuất bản; n.d.; thụt lề treo 1,27 cm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Sách: in nghiêng tên sách, bỏ nơi xuất bản</a:t>
            </a:r>
            <a:endParaRPr lang="en-US" sz="3600" dirty="0"/>
          </a:p>
        </p:txBody>
      </p:sp>
      <p:sp>
        <p:nvSpPr>
          <p:cNvPr id="6" name="Dấu đầu dòng"/>
          <p:cNvSpPr/>
          <p:nvPr/>
        </p:nvSpPr>
        <p:spPr>
          <a:xfrm>
            <a:off x="585216" y="1989836"/>
            <a:ext cx="201168" cy="201168"/>
          </a:xfrm>
          <a:prstGeom prst="ellipse">
            <a:avLst/>
          </a:prstGeom>
          <a:solidFill>
            <a:srgbClr val="962B7C"/>
          </a:solidFill>
          <a:ln/>
        </p:spPr>
      </p:sp>
      <p:sp>
        <p:nvSpPr>
          <p:cNvPr id="7" name="Text 5"/>
          <p:cNvSpPr txBox="1"/>
          <p:nvPr/>
        </p:nvSpPr>
        <p:spPr>
          <a:xfrm>
            <a:off x="1005840" y="1783080"/>
            <a:ext cx="1056132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Lê, Q. H. (2017). </a:t>
            </a:r>
            <a:pPr algn="l" indent="0" marL="0">
              <a:lnSpc>
                <a:spcPts val="3600"/>
              </a:lnSpc>
              <a:buNone/>
            </a:pPr>
            <a:r>
              <a:rPr lang="en-US" sz="2800" i="1" dirty="0">
                <a:solidFill>
                  <a:srgbClr val="2E2A3A"/>
                </a:solidFill>
                <a:latin typeface="Alexandria" pitchFamily="34" charset="0"/>
                <a:ea typeface="Alexandria" pitchFamily="34" charset="-122"/>
                <a:cs typeface="Alexandria" pitchFamily="34" charset="-120"/>
              </a:rPr>
              <a:t>Phân tích dữ liệu trong kinh doanh</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Nhà xuất bản Kinh tế TP. Hồ Chí Minh.</a:t>
            </a:r>
            <a:endParaRPr lang="en-US" sz="2800" dirty="0"/>
          </a:p>
        </p:txBody>
      </p:sp>
      <p:sp>
        <p:nvSpPr>
          <p:cNvPr id="8" name="Dấu đầu dòng"/>
          <p:cNvSpPr/>
          <p:nvPr/>
        </p:nvSpPr>
        <p:spPr>
          <a:xfrm>
            <a:off x="585216" y="3267964"/>
            <a:ext cx="201168" cy="201168"/>
          </a:xfrm>
          <a:prstGeom prst="ellipse">
            <a:avLst/>
          </a:prstGeom>
          <a:solidFill>
            <a:srgbClr val="FFD23B"/>
          </a:solidFill>
          <a:ln/>
        </p:spPr>
      </p:sp>
      <p:sp>
        <p:nvSpPr>
          <p:cNvPr id="9" name="Text 7"/>
          <p:cNvSpPr txBox="1"/>
          <p:nvPr/>
        </p:nvSpPr>
        <p:spPr>
          <a:xfrm>
            <a:off x="1005840" y="3061208"/>
            <a:ext cx="10561320" cy="153924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Lê, Q. H., Nguyễn, Q. T., Nguyễn, T. N. Á., Trần, T. H., Lê, H. N., &amp; Nguyễn, N. D. (2023). </a:t>
            </a:r>
            <a:pPr algn="l" indent="0" marL="0">
              <a:lnSpc>
                <a:spcPts val="3600"/>
              </a:lnSpc>
              <a:buNone/>
            </a:pPr>
            <a:r>
              <a:rPr lang="en-US" sz="2800" i="1" dirty="0">
                <a:solidFill>
                  <a:srgbClr val="2E2A3A"/>
                </a:solidFill>
                <a:latin typeface="Alexandria" pitchFamily="34" charset="0"/>
                <a:ea typeface="Alexandria" pitchFamily="34" charset="-122"/>
                <a:cs typeface="Alexandria" pitchFamily="34" charset="-120"/>
              </a:rPr>
              <a:t>Ứng dụng SPSS – AMOS – PLS phân tích dữ liệu trong kinh doanh</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Nhà xuất bản Tài chính.</a:t>
            </a:r>
            <a:endParaRPr lang="en-US" sz="2800" dirty="0"/>
          </a:p>
        </p:txBody>
      </p:sp>
      <p:sp>
        <p:nvSpPr>
          <p:cNvPr id="10" name="Ghi chú nổi bật"/>
          <p:cNvSpPr/>
          <p:nvPr/>
        </p:nvSpPr>
        <p:spPr>
          <a:xfrm>
            <a:off x="548640" y="4966208"/>
            <a:ext cx="11064240" cy="1102360"/>
          </a:xfrm>
          <a:prstGeom prst="roundRect">
            <a:avLst>
              <a:gd name="adj" fmla="val 14931"/>
            </a:avLst>
          </a:prstGeom>
          <a:solidFill>
            <a:srgbClr val="FCEEBC"/>
          </a:solidFill>
          <a:ln/>
        </p:spPr>
      </p:sp>
      <p:sp>
        <p:nvSpPr>
          <p:cNvPr id="11" name="Nhãn !"/>
          <p:cNvSpPr/>
          <p:nvPr/>
        </p:nvSpPr>
        <p:spPr>
          <a:xfrm>
            <a:off x="731520" y="5288788"/>
            <a:ext cx="457200" cy="457200"/>
          </a:xfrm>
          <a:prstGeom prst="ellipse">
            <a:avLst/>
          </a:prstGeom>
          <a:solidFill>
            <a:srgbClr val="FFD23B"/>
          </a:solidFill>
          <a:ln/>
        </p:spPr>
      </p:sp>
      <p:sp>
        <p:nvSpPr>
          <p:cNvPr id="12" name="Text 10"/>
          <p:cNvSpPr txBox="1"/>
          <p:nvPr/>
        </p:nvSpPr>
        <p:spPr>
          <a:xfrm>
            <a:off x="731520" y="5288788"/>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3" name="Text 11"/>
          <p:cNvSpPr txBox="1"/>
          <p:nvPr/>
        </p:nvSpPr>
        <p:spPr>
          <a:xfrm>
            <a:off x="1325880" y="4966208"/>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Công thức: Tác giả, A. A. (Năm). </a:t>
            </a:r>
            <a:pPr algn="l" indent="0" marL="0">
              <a:lnSpc>
                <a:spcPts val="3400"/>
              </a:lnSpc>
              <a:buNone/>
            </a:pPr>
            <a:r>
              <a:rPr lang="en-US" sz="2600" b="1" i="1" dirty="0">
                <a:solidFill>
                  <a:srgbClr val="2E2A3A"/>
                </a:solidFill>
                <a:latin typeface="Alexandria" pitchFamily="34" charset="0"/>
                <a:ea typeface="Alexandria" pitchFamily="34" charset="-122"/>
                <a:cs typeface="Alexandria" pitchFamily="34" charset="-120"/>
              </a:rPr>
              <a:t>Tên sách</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(lần xuất bản). Nhà xuất bản.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Chương sách: tên chương thường, tên sách nghiêng, chủ biên ghi tên trước họ</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FCC7CF"/>
          </a:solidFill>
          <a:ln/>
        </p:spPr>
      </p:sp>
      <p:sp>
        <p:nvSpPr>
          <p:cNvPr id="7" name="Nhãn !"/>
          <p:cNvSpPr/>
          <p:nvPr/>
        </p:nvSpPr>
        <p:spPr>
          <a:xfrm>
            <a:off x="731520" y="5300980"/>
            <a:ext cx="457200" cy="457200"/>
          </a:xfrm>
          <a:prstGeom prst="ellipse">
            <a:avLst/>
          </a:prstGeom>
          <a:solidFill>
            <a:srgbClr val="FF5178"/>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Tác giả, A. A. (Năm). Tên chương. In B. B. Chủ biên (Ed.), </a:t>
            </a:r>
            <a:pPr algn="l" indent="0" marL="0">
              <a:lnSpc>
                <a:spcPts val="3400"/>
              </a:lnSpc>
              <a:buNone/>
            </a:pPr>
            <a:r>
              <a:rPr lang="en-US" sz="2600" b="1" i="1" dirty="0">
                <a:solidFill>
                  <a:srgbClr val="2E2A3A"/>
                </a:solidFill>
                <a:latin typeface="Alexandria" pitchFamily="34" charset="0"/>
                <a:ea typeface="Alexandria" pitchFamily="34" charset="-122"/>
                <a:cs typeface="Alexandria" pitchFamily="34" charset="-120"/>
              </a:rPr>
              <a:t>Tên sách</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(pp. x–y). Nhà xuất bản.</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5178"/>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Tài liệu tiếng Anh</a:t>
            </a:r>
            <a:endParaRPr lang="en-US" sz="2800" dirty="0"/>
          </a:p>
        </p:txBody>
      </p:sp>
      <p:sp>
        <p:nvSpPr>
          <p:cNvPr id="12" name="Nội dung cột"/>
          <p:cNvSpPr/>
          <p:nvPr/>
        </p:nvSpPr>
        <p:spPr>
          <a:xfrm>
            <a:off x="548640" y="2626360"/>
            <a:ext cx="5394960" cy="2077720"/>
          </a:xfrm>
          <a:prstGeom prst="roundRect">
            <a:avLst>
              <a:gd name="adj" fmla="val 7922"/>
            </a:avLst>
          </a:prstGeom>
          <a:solidFill>
            <a:srgbClr val="FCDFE0"/>
          </a:solidFill>
          <a:ln/>
        </p:spPr>
      </p:sp>
      <p:sp>
        <p:nvSpPr>
          <p:cNvPr id="13" name="Dấu đầu dòng"/>
          <p:cNvSpPr/>
          <p:nvPr/>
        </p:nvSpPr>
        <p:spPr>
          <a:xfrm>
            <a:off x="822960" y="2979420"/>
            <a:ext cx="182880" cy="182880"/>
          </a:xfrm>
          <a:prstGeom prst="ellipse">
            <a:avLst/>
          </a:prstGeom>
          <a:solidFill>
            <a:srgbClr val="FF5178"/>
          </a:solidFill>
          <a:ln/>
        </p:spPr>
      </p:sp>
      <p:sp>
        <p:nvSpPr>
          <p:cNvPr id="14" name="Text 12"/>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In B. B. Chủ biên (Ed.)</a:t>
            </a:r>
            <a:endParaRPr lang="en-US" sz="2800" dirty="0"/>
          </a:p>
        </p:txBody>
      </p:sp>
      <p:sp>
        <p:nvSpPr>
          <p:cNvPr id="15" name="Dấu đầu dòng"/>
          <p:cNvSpPr/>
          <p:nvPr/>
        </p:nvSpPr>
        <p:spPr>
          <a:xfrm>
            <a:off x="822960" y="3731260"/>
            <a:ext cx="182880" cy="182880"/>
          </a:xfrm>
          <a:prstGeom prst="ellipse">
            <a:avLst/>
          </a:prstGeom>
          <a:solidFill>
            <a:srgbClr val="FF5178"/>
          </a:solidFill>
          <a:ln/>
        </p:spPr>
      </p:sp>
      <p:sp>
        <p:nvSpPr>
          <p:cNvPr id="16" name="Text 14"/>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(pp. x–y)</a:t>
            </a:r>
            <a:endParaRPr lang="en-US" sz="2800" dirty="0"/>
          </a:p>
        </p:txBody>
      </p:sp>
      <p:sp>
        <p:nvSpPr>
          <p:cNvPr id="17" name="Tiêu đề cột"/>
          <p:cNvSpPr/>
          <p:nvPr/>
        </p:nvSpPr>
        <p:spPr>
          <a:xfrm>
            <a:off x="6217920" y="1783080"/>
            <a:ext cx="5394960" cy="706120"/>
          </a:xfrm>
          <a:prstGeom prst="roundRect">
            <a:avLst>
              <a:gd name="adj" fmla="val 23309"/>
            </a:avLst>
          </a:prstGeom>
          <a:solidFill>
            <a:srgbClr val="FF9259"/>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Tài liệu tiếng Việt</a:t>
            </a:r>
            <a:endParaRPr lang="en-US" sz="2800" dirty="0"/>
          </a:p>
        </p:txBody>
      </p:sp>
      <p:sp>
        <p:nvSpPr>
          <p:cNvPr id="19" name="Nội dung cột"/>
          <p:cNvSpPr/>
          <p:nvPr/>
        </p:nvSpPr>
        <p:spPr>
          <a:xfrm>
            <a:off x="6217920" y="2626360"/>
            <a:ext cx="5394960" cy="2077720"/>
          </a:xfrm>
          <a:prstGeom prst="roundRect">
            <a:avLst>
              <a:gd name="adj" fmla="val 7922"/>
            </a:avLst>
          </a:prstGeom>
          <a:solidFill>
            <a:srgbClr val="FCE9DB"/>
          </a:solidFill>
          <a:ln/>
        </p:spPr>
      </p:sp>
      <p:sp>
        <p:nvSpPr>
          <p:cNvPr id="20" name="Dấu đầu dòng"/>
          <p:cNvSpPr/>
          <p:nvPr/>
        </p:nvSpPr>
        <p:spPr>
          <a:xfrm>
            <a:off x="6492240" y="2979420"/>
            <a:ext cx="182880" cy="182880"/>
          </a:xfrm>
          <a:prstGeom prst="ellipse">
            <a:avLst/>
          </a:prstGeom>
          <a:solidFill>
            <a:srgbClr val="FF9259"/>
          </a:solidFill>
          <a:ln/>
        </p:spPr>
      </p:sp>
      <p:sp>
        <p:nvSpPr>
          <p:cNvPr id="21" name="Text 19"/>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Trong … (Chủ biên)</a:t>
            </a:r>
            <a:endParaRPr lang="en-US" sz="2800" dirty="0"/>
          </a:p>
        </p:txBody>
      </p:sp>
      <p:sp>
        <p:nvSpPr>
          <p:cNvPr id="22" name="Dấu đầu dòng"/>
          <p:cNvSpPr/>
          <p:nvPr/>
        </p:nvSpPr>
        <p:spPr>
          <a:xfrm>
            <a:off x="6492240" y="3731260"/>
            <a:ext cx="182880" cy="182880"/>
          </a:xfrm>
          <a:prstGeom prst="ellipse">
            <a:avLst/>
          </a:prstGeom>
          <a:solidFill>
            <a:srgbClr val="FF9259"/>
          </a:solidFill>
          <a:ln/>
        </p:spPr>
      </p:sp>
      <p:sp>
        <p:nvSpPr>
          <p:cNvPr id="23" name="Text 21"/>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(tr. x–y)</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báo khoa học: bảy khối, bảy quy tắc</a:t>
            </a:r>
            <a:endParaRPr lang="en-US" sz="3600" dirty="0"/>
          </a:p>
        </p:txBody>
      </p:sp>
      <p:sp>
        <p:nvSpPr>
          <p:cNvPr id="6" name="Dấu đầu dòng"/>
          <p:cNvSpPr/>
          <p:nvPr/>
        </p:nvSpPr>
        <p:spPr>
          <a:xfrm>
            <a:off x="585216" y="2006346"/>
            <a:ext cx="201168" cy="201168"/>
          </a:xfrm>
          <a:prstGeom prst="ellipse">
            <a:avLst/>
          </a:prstGeom>
          <a:solidFill>
            <a:srgbClr val="49B296"/>
          </a:solidFill>
          <a:ln/>
        </p:spPr>
      </p:sp>
      <p:sp>
        <p:nvSpPr>
          <p:cNvPr id="7" name="Text 5"/>
          <p:cNvSpPr txBox="1"/>
          <p:nvPr/>
        </p:nvSpPr>
        <p:spPr>
          <a:xfrm>
            <a:off x="1005840" y="1783080"/>
            <a:ext cx="10561320" cy="21336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Le, Q. H. (2019). Factors affecting brand values of private universities: A case study of HUTECH. </a:t>
            </a:r>
            <a:pPr algn="l" indent="0" marL="0">
              <a:lnSpc>
                <a:spcPts val="3900"/>
              </a:lnSpc>
              <a:buNone/>
            </a:pPr>
            <a:r>
              <a:rPr lang="en-US" sz="3000" i="1" dirty="0">
                <a:solidFill>
                  <a:srgbClr val="2E2A3A"/>
                </a:solidFill>
                <a:latin typeface="Alexandria" pitchFamily="34" charset="0"/>
                <a:ea typeface="Alexandria" pitchFamily="34" charset="-122"/>
                <a:cs typeface="Alexandria" pitchFamily="34" charset="-120"/>
              </a:rPr>
              <a:t>Journal of Asian Finance, Economics and Business, 6</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(1), 159–167. https://doi.org/10.13106/jafeb.2019.vol6.no1.159</a:t>
            </a:r>
            <a:endParaRPr lang="en-US" sz="3000" dirty="0"/>
          </a:p>
        </p:txBody>
      </p:sp>
      <p:sp>
        <p:nvSpPr>
          <p:cNvPr id="8" name="Ghi chú nổi bật"/>
          <p:cNvSpPr/>
          <p:nvPr/>
        </p:nvSpPr>
        <p:spPr>
          <a:xfrm>
            <a:off x="548640" y="4282440"/>
            <a:ext cx="11064240" cy="685800"/>
          </a:xfrm>
          <a:prstGeom prst="roundRect">
            <a:avLst>
              <a:gd name="adj" fmla="val 24000"/>
            </a:avLst>
          </a:prstGeom>
          <a:solidFill>
            <a:srgbClr val="FCC7CF"/>
          </a:solidFill>
          <a:ln/>
        </p:spPr>
      </p:sp>
      <p:sp>
        <p:nvSpPr>
          <p:cNvPr id="9" name="Nhãn !"/>
          <p:cNvSpPr/>
          <p:nvPr/>
        </p:nvSpPr>
        <p:spPr>
          <a:xfrm>
            <a:off x="731520" y="4396740"/>
            <a:ext cx="457200" cy="457200"/>
          </a:xfrm>
          <a:prstGeom prst="ellipse">
            <a:avLst/>
          </a:prstGeom>
          <a:solidFill>
            <a:srgbClr val="FF5178"/>
          </a:solidFill>
          <a:ln/>
        </p:spPr>
      </p:sp>
      <p:sp>
        <p:nvSpPr>
          <p:cNvPr id="10" name="Text 8"/>
          <p:cNvSpPr txBox="1"/>
          <p:nvPr/>
        </p:nvSpPr>
        <p:spPr>
          <a:xfrm>
            <a:off x="731520" y="43967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1" name="Text 9"/>
          <p:cNvSpPr txBox="1"/>
          <p:nvPr/>
        </p:nvSpPr>
        <p:spPr>
          <a:xfrm>
            <a:off x="1325880" y="42824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tìm thấy DOI thì không ghi — không tự tạo DOI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Đọc từng khối: nghiêng đúng chỗ, gạch ngang ở số trang, DOI dạng https</a:t>
            </a:r>
            <a:endParaRPr lang="en-US" sz="34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Đường nối"/>
          <p:cNvSpPr/>
          <p:nvPr/>
        </p:nvSpPr>
        <p:spPr>
          <a:xfrm>
            <a:off x="822960" y="4356354"/>
            <a:ext cx="0" cy="126238"/>
          </a:xfrm>
          <a:prstGeom prst="line">
            <a:avLst/>
          </a:prstGeom>
          <a:noFill/>
          <a:ln w="25400">
            <a:solidFill>
              <a:srgbClr val="5B5668"/>
            </a:solidFill>
            <a:prstDash val="solid"/>
          </a:ln>
        </p:spPr>
      </p:sp>
      <p:sp>
        <p:nvSpPr>
          <p:cNvPr id="10" name="Đường nối"/>
          <p:cNvSpPr/>
          <p:nvPr/>
        </p:nvSpPr>
        <p:spPr>
          <a:xfrm>
            <a:off x="822960" y="5031232"/>
            <a:ext cx="0" cy="126238"/>
          </a:xfrm>
          <a:prstGeom prst="line">
            <a:avLst/>
          </a:prstGeom>
          <a:noFill/>
          <a:ln w="25400">
            <a:solidFill>
              <a:srgbClr val="5B5668"/>
            </a:solidFill>
            <a:prstDash val="solid"/>
          </a:ln>
        </p:spPr>
      </p:sp>
      <p:sp>
        <p:nvSpPr>
          <p:cNvPr id="11" name="Nhãn 1"/>
          <p:cNvSpPr/>
          <p:nvPr/>
        </p:nvSpPr>
        <p:spPr>
          <a:xfrm>
            <a:off x="548640" y="1783080"/>
            <a:ext cx="548640" cy="548640"/>
          </a:xfrm>
          <a:prstGeom prst="ellipse">
            <a:avLst/>
          </a:prstGeom>
          <a:solidFill>
            <a:srgbClr val="FF5178"/>
          </a:solidFill>
          <a:ln/>
        </p:spPr>
      </p:sp>
      <p:sp>
        <p:nvSpPr>
          <p:cNvPr id="12" name="Text 10"/>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3" name="Text 11"/>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Le, Q. H. (2019).</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họ + viết tắt tên đệm, tên; ghi đúng như bài in</a:t>
            </a:r>
            <a:endParaRPr lang="en-US" sz="2500" dirty="0"/>
          </a:p>
        </p:txBody>
      </p:sp>
      <p:sp>
        <p:nvSpPr>
          <p:cNvPr id="14" name="Nhãn 2"/>
          <p:cNvSpPr/>
          <p:nvPr/>
        </p:nvSpPr>
        <p:spPr>
          <a:xfrm>
            <a:off x="548640" y="2457958"/>
            <a:ext cx="548640" cy="548640"/>
          </a:xfrm>
          <a:prstGeom prst="ellipse">
            <a:avLst/>
          </a:prstGeom>
          <a:solidFill>
            <a:srgbClr val="09A1E5"/>
          </a:solidFill>
          <a:ln/>
        </p:spPr>
      </p:sp>
      <p:sp>
        <p:nvSpPr>
          <p:cNvPr id="15" name="Text 13"/>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6" name="Text 14"/>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Factors affecting … HUTECH.</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tên bài: không in nghiêng</a:t>
            </a:r>
            <a:endParaRPr lang="en-US" sz="2500" dirty="0"/>
          </a:p>
        </p:txBody>
      </p:sp>
      <p:sp>
        <p:nvSpPr>
          <p:cNvPr id="17" name="Nhãn 3"/>
          <p:cNvSpPr/>
          <p:nvPr/>
        </p:nvSpPr>
        <p:spPr>
          <a:xfrm>
            <a:off x="548640" y="3132836"/>
            <a:ext cx="548640" cy="548640"/>
          </a:xfrm>
          <a:prstGeom prst="ellipse">
            <a:avLst/>
          </a:prstGeom>
          <a:solidFill>
            <a:srgbClr val="FF9259"/>
          </a:solidFill>
          <a:ln/>
        </p:spPr>
      </p:sp>
      <p:sp>
        <p:nvSpPr>
          <p:cNvPr id="18" name="Text 16"/>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Journal of Asian Finance, …,</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tên tạp chí: in nghiêng</a:t>
            </a:r>
            <a:endParaRPr lang="en-US" sz="2500" dirty="0"/>
          </a:p>
        </p:txBody>
      </p:sp>
      <p:sp>
        <p:nvSpPr>
          <p:cNvPr id="20" name="Nhãn 4"/>
          <p:cNvSpPr/>
          <p:nvPr/>
        </p:nvSpPr>
        <p:spPr>
          <a:xfrm>
            <a:off x="548640" y="3807714"/>
            <a:ext cx="548640" cy="548640"/>
          </a:xfrm>
          <a:prstGeom prst="ellipse">
            <a:avLst/>
          </a:prstGeom>
          <a:solidFill>
            <a:srgbClr val="962B7C"/>
          </a:solidFill>
          <a:ln/>
        </p:spPr>
      </p:sp>
      <p:sp>
        <p:nvSpPr>
          <p:cNvPr id="21" name="Text 19"/>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2" name="Text 20"/>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6(1),</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số tập in nghiêng, số kỳ không</a:t>
            </a:r>
            <a:endParaRPr lang="en-US" sz="2500" dirty="0"/>
          </a:p>
        </p:txBody>
      </p:sp>
      <p:sp>
        <p:nvSpPr>
          <p:cNvPr id="23" name="Nhãn 5"/>
          <p:cNvSpPr/>
          <p:nvPr/>
        </p:nvSpPr>
        <p:spPr>
          <a:xfrm>
            <a:off x="548640" y="4482592"/>
            <a:ext cx="548640" cy="548640"/>
          </a:xfrm>
          <a:prstGeom prst="ellipse">
            <a:avLst/>
          </a:prstGeom>
          <a:solidFill>
            <a:srgbClr val="FFD23B"/>
          </a:solidFill>
          <a:ln/>
        </p:spPr>
      </p:sp>
      <p:sp>
        <p:nvSpPr>
          <p:cNvPr id="24" name="Text 22"/>
          <p:cNvSpPr txBox="1"/>
          <p:nvPr/>
        </p:nvSpPr>
        <p:spPr>
          <a:xfrm>
            <a:off x="548640" y="448259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1371600" y="4474337"/>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159–167.</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gạch ngang (–), không phải gạch nối (-)</a:t>
            </a:r>
            <a:endParaRPr lang="en-US" sz="2500" dirty="0"/>
          </a:p>
        </p:txBody>
      </p:sp>
      <p:sp>
        <p:nvSpPr>
          <p:cNvPr id="26" name="Nhãn 6"/>
          <p:cNvSpPr/>
          <p:nvPr/>
        </p:nvSpPr>
        <p:spPr>
          <a:xfrm>
            <a:off x="548640" y="5157470"/>
            <a:ext cx="548640" cy="548640"/>
          </a:xfrm>
          <a:prstGeom prst="ellipse">
            <a:avLst/>
          </a:prstGeom>
          <a:solidFill>
            <a:srgbClr val="49B296"/>
          </a:solidFill>
          <a:ln/>
        </p:spPr>
      </p:sp>
      <p:sp>
        <p:nvSpPr>
          <p:cNvPr id="27" name="Text 25"/>
          <p:cNvSpPr txBox="1"/>
          <p:nvPr/>
        </p:nvSpPr>
        <p:spPr>
          <a:xfrm>
            <a:off x="548640" y="515747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28" name="Text 26"/>
          <p:cNvSpPr txBox="1"/>
          <p:nvPr/>
        </p:nvSpPr>
        <p:spPr>
          <a:xfrm>
            <a:off x="1371600" y="514921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https://doi.org/10.13106/…</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dạng đường dẫn, không chấm cuối</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4"/>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63–78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2.3 Danh mục (2)</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Trang web: in nghiêng tên trang; ngày truy cập chỉ khi trang thay đổi liên tục</a:t>
            </a:r>
            <a:endParaRPr lang="en-US" sz="3400" dirty="0"/>
          </a:p>
        </p:txBody>
      </p:sp>
      <p:sp>
        <p:nvSpPr>
          <p:cNvPr id="6" name="Dấu đầu dòng"/>
          <p:cNvSpPr/>
          <p:nvPr/>
        </p:nvSpPr>
        <p:spPr>
          <a:xfrm>
            <a:off x="585216" y="1989836"/>
            <a:ext cx="201168" cy="201168"/>
          </a:xfrm>
          <a:prstGeom prst="ellipse">
            <a:avLst/>
          </a:prstGeom>
          <a:solidFill>
            <a:srgbClr val="962B7C"/>
          </a:solidFill>
          <a:ln/>
        </p:spPr>
      </p:sp>
      <p:sp>
        <p:nvSpPr>
          <p:cNvPr id="7" name="Text 5"/>
          <p:cNvSpPr txBox="1"/>
          <p:nvPr/>
        </p:nvSpPr>
        <p:spPr>
          <a:xfrm>
            <a:off x="1005840" y="1783080"/>
            <a:ext cx="10561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Trang web:</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Tác giả hoặc Tổ chức. (Năm, Ngày Tháng). </a:t>
            </a:r>
            <a:pPr algn="l" indent="0" marL="0">
              <a:lnSpc>
                <a:spcPts val="3600"/>
              </a:lnSpc>
              <a:buNone/>
            </a:pPr>
            <a:r>
              <a:rPr lang="en-US" sz="2800" i="1" dirty="0">
                <a:solidFill>
                  <a:srgbClr val="2E2A3A"/>
                </a:solidFill>
                <a:latin typeface="Alexandria" pitchFamily="34" charset="0"/>
                <a:ea typeface="Alexandria" pitchFamily="34" charset="-122"/>
                <a:cs typeface="Alexandria" pitchFamily="34" charset="-120"/>
              </a:rPr>
              <a:t>Tên trang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Tên website. URL</a:t>
            </a:r>
            <a:endParaRPr lang="en-US" sz="2800" dirty="0"/>
          </a:p>
        </p:txBody>
      </p:sp>
      <p:sp>
        <p:nvSpPr>
          <p:cNvPr id="8" name="Dấu đầu dòng"/>
          <p:cNvSpPr/>
          <p:nvPr/>
        </p:nvSpPr>
        <p:spPr>
          <a:xfrm>
            <a:off x="585216" y="3267964"/>
            <a:ext cx="201168" cy="201168"/>
          </a:xfrm>
          <a:prstGeom prst="ellipse">
            <a:avLst/>
          </a:prstGeom>
          <a:solidFill>
            <a:srgbClr val="FFD23B"/>
          </a:solidFill>
          <a:ln/>
        </p:spPr>
      </p:sp>
      <p:sp>
        <p:nvSpPr>
          <p:cNvPr id="9" name="Text 7"/>
          <p:cNvSpPr txBox="1"/>
          <p:nvPr/>
        </p:nvSpPr>
        <p:spPr>
          <a:xfrm>
            <a:off x="1005840" y="3061208"/>
            <a:ext cx="10561320" cy="200152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Ví dụ:</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American Marketing Association. (2017). </a:t>
            </a:r>
            <a:pPr algn="l" indent="0" marL="0">
              <a:lnSpc>
                <a:spcPts val="3600"/>
              </a:lnSpc>
              <a:buNone/>
            </a:pPr>
            <a:r>
              <a:rPr lang="en-US" sz="2800" i="1" dirty="0">
                <a:solidFill>
                  <a:srgbClr val="2E2A3A"/>
                </a:solidFill>
                <a:latin typeface="Alexandria" pitchFamily="34" charset="0"/>
                <a:ea typeface="Alexandria" pitchFamily="34" charset="-122"/>
                <a:cs typeface="Alexandria" pitchFamily="34" charset="-120"/>
              </a:rPr>
              <a:t>Definitions of marketing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https://www.ama.org/the-definition-of-marketing-what-is-marketing/</a:t>
            </a:r>
            <a:endParaRPr lang="en-US" sz="2800" dirty="0"/>
          </a:p>
        </p:txBody>
      </p:sp>
      <p:sp>
        <p:nvSpPr>
          <p:cNvPr id="10" name="Ghi chú nổi bật"/>
          <p:cNvSpPr/>
          <p:nvPr/>
        </p:nvSpPr>
        <p:spPr>
          <a:xfrm>
            <a:off x="548640" y="5394960"/>
            <a:ext cx="11064240" cy="685800"/>
          </a:xfrm>
          <a:prstGeom prst="roundRect">
            <a:avLst>
              <a:gd name="adj" fmla="val 24000"/>
            </a:avLst>
          </a:prstGeom>
          <a:solidFill>
            <a:srgbClr val="FCEEBC"/>
          </a:solidFill>
          <a:ln/>
        </p:spPr>
      </p:sp>
      <p:sp>
        <p:nvSpPr>
          <p:cNvPr id="11" name="Nhãn !"/>
          <p:cNvSpPr/>
          <p:nvPr/>
        </p:nvSpPr>
        <p:spPr>
          <a:xfrm>
            <a:off x="731520" y="5509260"/>
            <a:ext cx="457200" cy="457200"/>
          </a:xfrm>
          <a:prstGeom prst="ellipse">
            <a:avLst/>
          </a:prstGeom>
          <a:solidFill>
            <a:srgbClr val="FFD23B"/>
          </a:solidFill>
          <a:ln/>
        </p:spPr>
      </p:sp>
      <p:sp>
        <p:nvSpPr>
          <p:cNvPr id="12" name="Text 10"/>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3" name="Text 11"/>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Báo điện tử: </a:t>
            </a:r>
            <a:pPr algn="l" indent="0" marL="0">
              <a:lnSpc>
                <a:spcPts val="3400"/>
              </a:lnSpc>
              <a:buNone/>
            </a:pPr>
            <a:r>
              <a:rPr lang="en-US" sz="2600" b="1" i="1" dirty="0">
                <a:solidFill>
                  <a:srgbClr val="2E2A3A"/>
                </a:solidFill>
                <a:latin typeface="Alexandria" pitchFamily="34" charset="0"/>
                <a:ea typeface="Alexandria" pitchFamily="34" charset="-122"/>
                <a:cs typeface="Alexandria" pitchFamily="34" charset="-120"/>
              </a:rPr>
              <a:t>tên báo</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in nghiêng, tên bài không in nghiêng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Báo cáo, luận văn, kỷ yếu, công cụ AI: cùng cấu trúc bốn khối</a:t>
            </a:r>
            <a:endParaRPr lang="en-US" sz="3400" dirty="0"/>
          </a:p>
        </p:txBody>
      </p:sp>
      <p:sp>
        <p:nvSpPr>
          <p:cNvPr id="6" name="Dấu đầu dòng"/>
          <p:cNvSpPr/>
          <p:nvPr/>
        </p:nvSpPr>
        <p:spPr>
          <a:xfrm>
            <a:off x="585216" y="1973326"/>
            <a:ext cx="201168" cy="201168"/>
          </a:xfrm>
          <a:prstGeom prst="ellipse">
            <a:avLst/>
          </a:prstGeom>
          <a:solidFill>
            <a:srgbClr val="FFD23B"/>
          </a:solidFill>
          <a:ln/>
        </p:spPr>
      </p:sp>
      <p:sp>
        <p:nvSpPr>
          <p:cNvPr id="7" name="Text 5"/>
          <p:cNvSpPr txBox="1"/>
          <p:nvPr/>
        </p:nvSpPr>
        <p:spPr>
          <a:xfrm>
            <a:off x="1005840" y="1783080"/>
            <a:ext cx="10561320" cy="58166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Báo cáo:</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Tên tổ chức. (Năm). </a:t>
            </a:r>
            <a:pPr algn="l" indent="0" marL="0">
              <a:lnSpc>
                <a:spcPts val="3400"/>
              </a:lnSpc>
              <a:buNone/>
            </a:pPr>
            <a:r>
              <a:rPr lang="en-US" sz="2600" i="1" dirty="0">
                <a:solidFill>
                  <a:srgbClr val="2E2A3A"/>
                </a:solidFill>
                <a:latin typeface="Alexandria" pitchFamily="34" charset="0"/>
                <a:ea typeface="Alexandria" pitchFamily="34" charset="-122"/>
                <a:cs typeface="Alexandria" pitchFamily="34" charset="-120"/>
              </a:rPr>
              <a:t>Tên báo cáo</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URL</a:t>
            </a:r>
            <a:endParaRPr lang="en-US" sz="2600" dirty="0"/>
          </a:p>
        </p:txBody>
      </p:sp>
      <p:sp>
        <p:nvSpPr>
          <p:cNvPr id="8" name="Dấu đầu dòng"/>
          <p:cNvSpPr/>
          <p:nvPr/>
        </p:nvSpPr>
        <p:spPr>
          <a:xfrm>
            <a:off x="585216" y="2756154"/>
            <a:ext cx="201168" cy="201168"/>
          </a:xfrm>
          <a:prstGeom prst="ellipse">
            <a:avLst/>
          </a:prstGeom>
          <a:solidFill>
            <a:srgbClr val="49B296"/>
          </a:solidFill>
          <a:ln/>
        </p:spPr>
      </p:sp>
      <p:sp>
        <p:nvSpPr>
          <p:cNvPr id="9" name="Text 7"/>
          <p:cNvSpPr txBox="1"/>
          <p:nvPr/>
        </p:nvSpPr>
        <p:spPr>
          <a:xfrm>
            <a:off x="1005840" y="2565908"/>
            <a:ext cx="10561320" cy="101092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Luận văn:</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Nguyễn, N. Q. Đ. (2020). </a:t>
            </a:r>
            <a:pPr algn="l" indent="0" marL="0">
              <a:lnSpc>
                <a:spcPts val="3400"/>
              </a:lnSpc>
              <a:buNone/>
            </a:pPr>
            <a:r>
              <a:rPr lang="en-US" sz="2600" i="1" dirty="0">
                <a:solidFill>
                  <a:srgbClr val="2E2A3A"/>
                </a:solidFill>
                <a:latin typeface="Alexandria" pitchFamily="34" charset="0"/>
                <a:ea typeface="Alexandria" pitchFamily="34" charset="-122"/>
                <a:cs typeface="Alexandria" pitchFamily="34" charset="-120"/>
              </a:rPr>
              <a:t>Tên luận văn</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[Luận văn thạc sĩ, Tên trường].</a:t>
            </a:r>
            <a:endParaRPr lang="en-US" sz="2600" dirty="0"/>
          </a:p>
        </p:txBody>
      </p:sp>
      <p:sp>
        <p:nvSpPr>
          <p:cNvPr id="10" name="Dấu đầu dòng"/>
          <p:cNvSpPr/>
          <p:nvPr/>
        </p:nvSpPr>
        <p:spPr>
          <a:xfrm>
            <a:off x="585216" y="3968242"/>
            <a:ext cx="201168" cy="201168"/>
          </a:xfrm>
          <a:prstGeom prst="ellipse">
            <a:avLst/>
          </a:prstGeom>
          <a:solidFill>
            <a:srgbClr val="FF5178"/>
          </a:solidFill>
          <a:ln/>
        </p:spPr>
      </p:sp>
      <p:sp>
        <p:nvSpPr>
          <p:cNvPr id="11" name="Text 9"/>
          <p:cNvSpPr txBox="1"/>
          <p:nvPr/>
        </p:nvSpPr>
        <p:spPr>
          <a:xfrm>
            <a:off x="1005840" y="3777996"/>
            <a:ext cx="10561320" cy="101092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Kỷ yếu:</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Tác giả. (Năm). Tên bài. Trong … (Chủ biên), </a:t>
            </a:r>
            <a:pPr algn="l" indent="0" marL="0">
              <a:lnSpc>
                <a:spcPts val="3400"/>
              </a:lnSpc>
              <a:buNone/>
            </a:pPr>
            <a:r>
              <a:rPr lang="en-US" sz="2600" i="1" dirty="0">
                <a:solidFill>
                  <a:srgbClr val="2E2A3A"/>
                </a:solidFill>
                <a:latin typeface="Alexandria" pitchFamily="34" charset="0"/>
                <a:ea typeface="Alexandria" pitchFamily="34" charset="-122"/>
                <a:cs typeface="Alexandria" pitchFamily="34" charset="-120"/>
              </a:rPr>
              <a:t>Tên kỷ yếu</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(tr. x–y). NXB.</a:t>
            </a:r>
            <a:endParaRPr lang="en-US" sz="2600" dirty="0"/>
          </a:p>
        </p:txBody>
      </p:sp>
      <p:sp>
        <p:nvSpPr>
          <p:cNvPr id="12" name="Dấu đầu dòng"/>
          <p:cNvSpPr/>
          <p:nvPr/>
        </p:nvSpPr>
        <p:spPr>
          <a:xfrm>
            <a:off x="585216" y="5180330"/>
            <a:ext cx="201168" cy="201168"/>
          </a:xfrm>
          <a:prstGeom prst="ellipse">
            <a:avLst/>
          </a:prstGeom>
          <a:solidFill>
            <a:srgbClr val="09A1E5"/>
          </a:solidFill>
          <a:ln/>
        </p:spPr>
      </p:sp>
      <p:sp>
        <p:nvSpPr>
          <p:cNvPr id="13" name="Text 11"/>
          <p:cNvSpPr txBox="1"/>
          <p:nvPr/>
        </p:nvSpPr>
        <p:spPr>
          <a:xfrm>
            <a:off x="1005840" y="4990084"/>
            <a:ext cx="10561320" cy="101092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Công cụ AI:</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Tên công ty. (Năm). </a:t>
            </a:r>
            <a:pPr algn="l" indent="0" marL="0">
              <a:lnSpc>
                <a:spcPts val="3400"/>
              </a:lnSpc>
              <a:buNone/>
            </a:pPr>
            <a:r>
              <a:rPr lang="en-US" sz="2600" i="1" dirty="0">
                <a:solidFill>
                  <a:srgbClr val="2E2A3A"/>
                </a:solidFill>
                <a:latin typeface="Alexandria" pitchFamily="34" charset="0"/>
                <a:ea typeface="Alexandria" pitchFamily="34" charset="-122"/>
                <a:cs typeface="Alexandria" pitchFamily="34" charset="-120"/>
              </a:rPr>
              <a:t>Tên công cụ</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(phiên bản) [Large language model]. URL</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Tên tác giả Việt: họ trước, viết tắt tên đệm và tên, giữ dấu</a:t>
            </a:r>
            <a:endParaRPr lang="en-US" sz="3400" dirty="0"/>
          </a:p>
        </p:txBody>
      </p:sp>
      <p:graphicFrame>
        <p:nvGraphicFramePr>
          <p:cNvPr id="31"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468303"/>
                <a:gridCol w="3002048"/>
                <a:gridCol w="4593889"/>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Tình huống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Trong bài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Trong danh mục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Tài liệu tiếng Việt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2011)</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(2011).</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Hai tác giả Việt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&amp; Nguyễn, 2015)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&amp; Nguyễn, T. M. T. (2015).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Viết tiếng Anh, in không dấu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(Le,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Le, Q. H.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Nguyễn Như Quỳnh Đoan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N. Q. Đ.</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Mười lỗi APA hay gặp nhất (1/2): tên tác giả, DOI, trích qua trung gian</a:t>
            </a:r>
            <a:endParaRPr lang="en-US" sz="3400" dirty="0"/>
          </a:p>
        </p:txBody>
      </p:sp>
      <p:graphicFrame>
        <p:nvGraphicFramePr>
          <p:cNvPr id="3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826190"/>
                <a:gridCol w="4363866"/>
                <a:gridCol w="4874184"/>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Lỗi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Sai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Đúng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Trích bằng tên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(Hùng,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Ghi đủ họ tên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Quang Hùng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 H.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Đảo tên kiểu Tây</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Quang Hung Le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Le, Q. H.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DOI kiểu cũ</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doi:10.13106/…</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https://doi.org/…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Thiếu năm gốc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(Malter et al., trích từ Berlian et al.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(Malter, 2020, trích trong Berlian et al.,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Mười lỗi APA hay gặp nhất (2/2): học vị, et al., khớp danh mục, liêm chính</a:t>
            </a:r>
            <a:endParaRPr lang="en-US" sz="3400" dirty="0"/>
          </a:p>
        </p:txBody>
      </p:sp>
      <p:graphicFrame>
        <p:nvGraphicFramePr>
          <p:cNvPr id="33"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664872"/>
                <a:gridCol w="3267645"/>
                <a:gridCol w="4131723"/>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Lỗi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Đúng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Ghi học vị</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TS. Nguyễn Văn A</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V. A.</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et al. với 2 tác giả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et al., 2012)</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&amp; Keller, 2012)</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Thiếu mục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Mỗi trích dẫn một mục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Liệt kê tài liệu chưa đọc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Ghi Malter (2020)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ghi Berlian et al. (2023)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Trích AI gợi 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Tài liệu không tồn tại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Mở, đọc rồi mới trích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Slide khác tài liệu thì theo tài liệu học tập</a:t>
            </a:r>
            <a:endParaRPr lang="en-US" sz="3600" dirty="0"/>
          </a:p>
        </p:txBody>
      </p:sp>
      <p:sp>
        <p:nvSpPr>
          <p:cNvPr id="6" name="Thẻ Đánh số danh mục"/>
          <p:cNvSpPr/>
          <p:nvPr/>
        </p:nvSpPr>
        <p:spPr>
          <a:xfrm>
            <a:off x="548640" y="1783080"/>
            <a:ext cx="3505200" cy="3202940"/>
          </a:xfrm>
          <a:prstGeom prst="roundRect">
            <a:avLst>
              <a:gd name="adj" fmla="val 5139"/>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Đánh số danh mục</a:t>
            </a:r>
            <a:endParaRPr lang="en-US" sz="2800" dirty="0"/>
          </a:p>
        </p:txBody>
      </p:sp>
      <p:sp>
        <p:nvSpPr>
          <p:cNvPr id="10" name="Text 8"/>
          <p:cNvSpPr txBox="1"/>
          <p:nvPr/>
        </p:nvSpPr>
        <p:spPr>
          <a:xfrm>
            <a:off x="68580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mục APA không đánh số — xếp A–Z theo họ</a:t>
            </a:r>
            <a:endParaRPr lang="en-US" sz="2600" dirty="0"/>
          </a:p>
        </p:txBody>
      </p:sp>
      <p:sp>
        <p:nvSpPr>
          <p:cNvPr id="11" name="Thẻ Tách Việt – Anh"/>
          <p:cNvSpPr/>
          <p:nvPr/>
        </p:nvSpPr>
        <p:spPr>
          <a:xfrm>
            <a:off x="4328160" y="1783080"/>
            <a:ext cx="3505200" cy="3202940"/>
          </a:xfrm>
          <a:prstGeom prst="roundRect">
            <a:avLst>
              <a:gd name="adj" fmla="val 5139"/>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Tách Việt – Anh</a:t>
            </a:r>
            <a:endParaRPr lang="en-US" sz="2800" dirty="0"/>
          </a:p>
        </p:txBody>
      </p:sp>
      <p:sp>
        <p:nvSpPr>
          <p:cNvPr id="15" name="Text 13"/>
          <p:cNvSpPr txBox="1"/>
          <p:nvPr/>
        </p:nvSpPr>
        <p:spPr>
          <a:xfrm>
            <a:off x="446532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danh mục chung cho mọi tài liệu</a:t>
            </a:r>
            <a:endParaRPr lang="en-US" sz="2600" dirty="0"/>
          </a:p>
        </p:txBody>
      </p:sp>
      <p:sp>
        <p:nvSpPr>
          <p:cNvPr id="16" name="Thẻ Gạch nối ở số trang"/>
          <p:cNvSpPr/>
          <p:nvPr/>
        </p:nvSpPr>
        <p:spPr>
          <a:xfrm>
            <a:off x="8107680" y="1783080"/>
            <a:ext cx="3505200" cy="3202940"/>
          </a:xfrm>
          <a:prstGeom prst="roundRect">
            <a:avLst>
              <a:gd name="adj" fmla="val 5139"/>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Gạch nối ở số trang</a:t>
            </a:r>
            <a:endParaRPr lang="en-US" sz="2800" dirty="0"/>
          </a:p>
        </p:txBody>
      </p:sp>
      <p:sp>
        <p:nvSpPr>
          <p:cNvPr id="20" name="Text 18"/>
          <p:cNvSpPr txBox="1"/>
          <p:nvPr/>
        </p:nvSpPr>
        <p:spPr>
          <a:xfrm>
            <a:off x="824484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Dùng gạch ngang: 159–167, không phải 159-167</a:t>
            </a:r>
            <a:endParaRPr lang="en-US" sz="2600" dirty="0"/>
          </a:p>
        </p:txBody>
      </p:sp>
      <p:sp>
        <p:nvSpPr>
          <p:cNvPr id="21" name="Ghi chú nổi bật"/>
          <p:cNvSpPr/>
          <p:nvPr/>
        </p:nvSpPr>
        <p:spPr>
          <a:xfrm>
            <a:off x="548640" y="5351780"/>
            <a:ext cx="11064240" cy="685800"/>
          </a:xfrm>
          <a:prstGeom prst="roundRect">
            <a:avLst>
              <a:gd name="adj" fmla="val 24000"/>
            </a:avLst>
          </a:prstGeom>
          <a:solidFill>
            <a:srgbClr val="C6E4D8"/>
          </a:solidFill>
          <a:ln/>
        </p:spPr>
      </p:sp>
      <p:sp>
        <p:nvSpPr>
          <p:cNvPr id="22" name="Nhãn !"/>
          <p:cNvSpPr/>
          <p:nvPr/>
        </p:nvSpPr>
        <p:spPr>
          <a:xfrm>
            <a:off x="731520" y="5466080"/>
            <a:ext cx="457200" cy="457200"/>
          </a:xfrm>
          <a:prstGeom prst="ellipse">
            <a:avLst/>
          </a:prstGeom>
          <a:solidFill>
            <a:srgbClr val="49B296"/>
          </a:solidFill>
          <a:ln/>
        </p:spPr>
      </p:sp>
      <p:sp>
        <p:nvSpPr>
          <p:cNvPr id="23" name="Text 21"/>
          <p:cNvSpPr txBox="1"/>
          <p:nvPr/>
        </p:nvSpPr>
        <p:spPr>
          <a:xfrm>
            <a:off x="731520" y="54660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517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Chuẩn của lớp: Tài liệu học tập Bài 2, mục 2.2–2.3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5"/>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78–93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Từ danh mục đến tổng quan tài liệu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Tổng quan tài liệu làm ba việc: đặt bối cảnh, chỉ ra khoảng trống, cho thấy nghiên cứu cần thiết</a:t>
            </a:r>
            <a:endParaRPr lang="en-US" sz="3400" dirty="0"/>
          </a:p>
        </p:txBody>
      </p:sp>
      <p:sp>
        <p:nvSpPr>
          <p:cNvPr id="6" name="Thẻ Bối cảnh"/>
          <p:cNvSpPr/>
          <p:nvPr/>
        </p:nvSpPr>
        <p:spPr>
          <a:xfrm>
            <a:off x="548640" y="1783080"/>
            <a:ext cx="3505200" cy="2921000"/>
          </a:xfrm>
          <a:prstGeom prst="roundRect">
            <a:avLst>
              <a:gd name="adj" fmla="val 5635"/>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Bối cảnh</a:t>
            </a:r>
            <a:endParaRPr lang="en-US" sz="2800" dirty="0"/>
          </a:p>
        </p:txBody>
      </p:sp>
      <p:sp>
        <p:nvSpPr>
          <p:cNvPr id="10" name="Text 8"/>
          <p:cNvSpPr txBox="1"/>
          <p:nvPr/>
        </p:nvSpPr>
        <p:spPr>
          <a:xfrm>
            <a:off x="685800" y="2580640"/>
            <a:ext cx="3230880" cy="20777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Những gì đã được nghiên cứu về chủ đề</a:t>
            </a:r>
            <a:endParaRPr lang="en-US" sz="2600" dirty="0"/>
          </a:p>
        </p:txBody>
      </p:sp>
      <p:sp>
        <p:nvSpPr>
          <p:cNvPr id="11" name="Thẻ Khoảng trống"/>
          <p:cNvSpPr/>
          <p:nvPr/>
        </p:nvSpPr>
        <p:spPr>
          <a:xfrm>
            <a:off x="4328160" y="1783080"/>
            <a:ext cx="3505200" cy="2921000"/>
          </a:xfrm>
          <a:prstGeom prst="roundRect">
            <a:avLst>
              <a:gd name="adj" fmla="val 5635"/>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Khoảng trống</a:t>
            </a:r>
            <a:endParaRPr lang="en-US" sz="2800" dirty="0"/>
          </a:p>
        </p:txBody>
      </p:sp>
      <p:sp>
        <p:nvSpPr>
          <p:cNvPr id="15" name="Text 13"/>
          <p:cNvSpPr txBox="1"/>
          <p:nvPr/>
        </p:nvSpPr>
        <p:spPr>
          <a:xfrm>
            <a:off x="4465320" y="3042920"/>
            <a:ext cx="3230880" cy="16154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Điều còn mâu thuẫn hoặc chưa được nghiên cứu</a:t>
            </a:r>
            <a:endParaRPr lang="en-US" sz="2600" dirty="0"/>
          </a:p>
        </p:txBody>
      </p:sp>
      <p:sp>
        <p:nvSpPr>
          <p:cNvPr id="16" name="Thẻ Tầm quan trọng"/>
          <p:cNvSpPr/>
          <p:nvPr/>
        </p:nvSpPr>
        <p:spPr>
          <a:xfrm>
            <a:off x="8107680" y="1783080"/>
            <a:ext cx="3505200" cy="2921000"/>
          </a:xfrm>
          <a:prstGeom prst="roundRect">
            <a:avLst>
              <a:gd name="adj" fmla="val 5635"/>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Tầm quan trọng</a:t>
            </a:r>
            <a:endParaRPr lang="en-US" sz="2800" dirty="0"/>
          </a:p>
        </p:txBody>
      </p:sp>
      <p:sp>
        <p:nvSpPr>
          <p:cNvPr id="20" name="Text 18"/>
          <p:cNvSpPr txBox="1"/>
          <p:nvPr/>
        </p:nvSpPr>
        <p:spPr>
          <a:xfrm>
            <a:off x="8244840" y="3042920"/>
            <a:ext cx="3230880" cy="16154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Vì sao nghiên cứu của nhóm cần thiết</a:t>
            </a:r>
            <a:endParaRPr lang="en-US" sz="2600" dirty="0"/>
          </a:p>
        </p:txBody>
      </p:sp>
      <p:sp>
        <p:nvSpPr>
          <p:cNvPr id="21" name="Ghi chú nổi bật"/>
          <p:cNvSpPr/>
          <p:nvPr/>
        </p:nvSpPr>
        <p:spPr>
          <a:xfrm>
            <a:off x="548640" y="4978400"/>
            <a:ext cx="11064240" cy="1102360"/>
          </a:xfrm>
          <a:prstGeom prst="roundRect">
            <a:avLst>
              <a:gd name="adj" fmla="val 14931"/>
            </a:avLst>
          </a:prstGeom>
          <a:solidFill>
            <a:srgbClr val="B2DFF0"/>
          </a:solidFill>
          <a:ln/>
        </p:spPr>
      </p:sp>
      <p:sp>
        <p:nvSpPr>
          <p:cNvPr id="22" name="Nhãn !"/>
          <p:cNvSpPr/>
          <p:nvPr/>
        </p:nvSpPr>
        <p:spPr>
          <a:xfrm>
            <a:off x="731520" y="5300980"/>
            <a:ext cx="457200" cy="457200"/>
          </a:xfrm>
          <a:prstGeom prst="ellipse">
            <a:avLst/>
          </a:prstGeom>
          <a:solidFill>
            <a:srgbClr val="09A1E5"/>
          </a:solidFill>
          <a:ln/>
        </p:spPr>
      </p:sp>
      <p:sp>
        <p:nvSpPr>
          <p:cNvPr id="23" name="Text 21"/>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M2: 1 trang → M3: 2–3 trang → Chương 2 (định lượng) / Chương 1 (định tính)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Tóm tắt: mỗi câu một tác giả, người đọc tự nối</a:t>
            </a:r>
            <a:endParaRPr lang="en-US" sz="3500" dirty="0"/>
          </a:p>
        </p:txBody>
      </p:sp>
      <p:sp>
        <p:nvSpPr>
          <p:cNvPr id="6" name="Tình huống"/>
          <p:cNvSpPr/>
          <p:nvPr/>
        </p:nvSpPr>
        <p:spPr>
          <a:xfrm>
            <a:off x="548640" y="1783080"/>
            <a:ext cx="6858000" cy="4297680"/>
          </a:xfrm>
          <a:prstGeom prst="roundRect">
            <a:avLst>
              <a:gd name="adj" fmla="val 3830"/>
            </a:avLst>
          </a:prstGeom>
          <a:solidFill>
            <a:srgbClr val="CFEAF1"/>
          </a:solidFill>
          <a:ln/>
        </p:spPr>
      </p:sp>
      <p:sp>
        <p:nvSpPr>
          <p:cNvPr id="7" name="Nhãn tình huống"/>
          <p:cNvSpPr/>
          <p:nvPr/>
        </p:nvSpPr>
        <p:spPr>
          <a:xfrm>
            <a:off x="777240" y="2011680"/>
            <a:ext cx="2377440" cy="566928"/>
          </a:xfrm>
          <a:prstGeom prst="roundRect">
            <a:avLst>
              <a:gd name="adj" fmla="val 48387"/>
            </a:avLst>
          </a:prstGeom>
          <a:solidFill>
            <a:srgbClr val="09A1E5"/>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Giả định</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Nguồn A (2021), sinh viên Hà Nội: giá và không gian quán có ảnh hưởng.</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Nguồn B (2022), người đi làm TP.HCM: chất lượng và giá quan trọng nhất.</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Nguồn C (2023), sinh viên đặt qua ứng dụng: khuyến mãi và giá ảnh hưởng nhất.</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Đoạn này sai ở đâu?</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Tổng hợp: mỗi đoạn một ý, nhiều nguồn cùng lên tiếng</a:t>
            </a:r>
            <a:endParaRPr lang="en-US" sz="3400" dirty="0"/>
          </a:p>
        </p:txBody>
      </p:sp>
      <p:sp>
        <p:nvSpPr>
          <p:cNvPr id="6" name="Dấu đầu dòng"/>
          <p:cNvSpPr/>
          <p:nvPr/>
        </p:nvSpPr>
        <p:spPr>
          <a:xfrm>
            <a:off x="585216" y="1956816"/>
            <a:ext cx="201168" cy="201168"/>
          </a:xfrm>
          <a:prstGeom prst="ellipse">
            <a:avLst/>
          </a:prstGeom>
          <a:solidFill>
            <a:srgbClr val="FF5178"/>
          </a:solidFill>
          <a:ln/>
        </p:spPr>
      </p:sp>
      <p:sp>
        <p:nvSpPr>
          <p:cNvPr id="7" name="Text 5"/>
          <p:cNvSpPr txBox="1"/>
          <p:nvPr/>
        </p:nvSpPr>
        <p:spPr>
          <a:xfrm>
            <a:off x="1005840" y="1783080"/>
            <a:ext cx="10561320" cy="94488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Giá cả</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có ảnh hưởng đến lựa chọn cửa hàng trà sữa trong cả ba nghiên cứu </a:t>
            </a:r>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A, 2021; Nguồn B, 2022; Nguồn C, 2023)</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p>
        </p:txBody>
      </p:sp>
      <p:sp>
        <p:nvSpPr>
          <p:cNvPr id="8" name="Dấu đầu dòng"/>
          <p:cNvSpPr/>
          <p:nvPr/>
        </p:nvSpPr>
        <p:spPr>
          <a:xfrm>
            <a:off x="585216" y="3102864"/>
            <a:ext cx="201168" cy="201168"/>
          </a:xfrm>
          <a:prstGeom prst="ellipse">
            <a:avLst/>
          </a:prstGeom>
          <a:solidFill>
            <a:srgbClr val="09A1E5"/>
          </a:solidFill>
          <a:ln/>
        </p:spPr>
      </p:sp>
      <p:sp>
        <p:nvSpPr>
          <p:cNvPr id="9" name="Text 7"/>
          <p:cNvSpPr txBox="1"/>
          <p:nvPr/>
        </p:nvSpPr>
        <p:spPr>
          <a:xfrm>
            <a:off x="1005840" y="2929128"/>
            <a:ext cx="10561320" cy="94488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Ngược lại</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vai trò không gian quán chưa thống nhất: Nguồn A (2021) ghi nhận ảnh hưởng, </a:t>
            </a:r>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trong khi</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Nguồn C (2023) không đề cập.</a:t>
            </a:r>
            <a:endParaRPr lang="en-US" sz="2400" dirty="0"/>
          </a:p>
        </p:txBody>
      </p:sp>
      <p:sp>
        <p:nvSpPr>
          <p:cNvPr id="10" name="Dấu đầu dòng"/>
          <p:cNvSpPr/>
          <p:nvPr/>
        </p:nvSpPr>
        <p:spPr>
          <a:xfrm>
            <a:off x="585216" y="4248912"/>
            <a:ext cx="201168" cy="201168"/>
          </a:xfrm>
          <a:prstGeom prst="ellipse">
            <a:avLst/>
          </a:prstGeom>
          <a:solidFill>
            <a:srgbClr val="FF9259"/>
          </a:solidFill>
          <a:ln/>
        </p:spPr>
      </p:sp>
      <p:sp>
        <p:nvSpPr>
          <p:cNvPr id="11" name="Text 9"/>
          <p:cNvSpPr txBox="1"/>
          <p:nvPr/>
        </p:nvSpPr>
        <p:spPr>
          <a:xfrm>
            <a:off x="1005840" y="4075176"/>
            <a:ext cx="1056132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Khác biệt này gợi ý </a:t>
            </a:r>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hình thức mua</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có thể thay đổi tầm quan trọng của các yếu tố.</a:t>
            </a:r>
            <a:endParaRPr lang="en-US" sz="2400" dirty="0"/>
          </a:p>
        </p:txBody>
      </p:sp>
      <p:sp>
        <p:nvSpPr>
          <p:cNvPr id="12" name="Dấu đầu dòng"/>
          <p:cNvSpPr/>
          <p:nvPr/>
        </p:nvSpPr>
        <p:spPr>
          <a:xfrm>
            <a:off x="585216" y="5394960"/>
            <a:ext cx="201168" cy="201168"/>
          </a:xfrm>
          <a:prstGeom prst="ellipse">
            <a:avLst/>
          </a:prstGeom>
          <a:solidFill>
            <a:srgbClr val="962B7C"/>
          </a:solidFill>
          <a:ln/>
        </p:spPr>
      </p:sp>
      <p:sp>
        <p:nvSpPr>
          <p:cNvPr id="13" name="Text 11"/>
          <p:cNvSpPr txBox="1"/>
          <p:nvPr/>
        </p:nvSpPr>
        <p:spPr>
          <a:xfrm>
            <a:off x="1005840" y="5221224"/>
            <a:ext cx="1056132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Tuy vậy, </a:t>
            </a:r>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chưa nghiên cứu nào</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so sánh trực tiếp hai hình thức mua.</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dấu hiệu của đoạn tổng hợp: tổ chức theo chủ đề, không theo tác giả</a:t>
            </a:r>
            <a:endParaRPr lang="en-US" sz="3400" dirty="0"/>
          </a:p>
        </p:txBody>
      </p:sp>
      <p:sp>
        <p:nvSpPr>
          <p:cNvPr id="6" name="Thẻ Câu chủ đề là một ý"/>
          <p:cNvSpPr/>
          <p:nvPr/>
        </p:nvSpPr>
        <p:spPr>
          <a:xfrm>
            <a:off x="548640" y="1783080"/>
            <a:ext cx="539496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Câu chủ đề là một ý</a:t>
            </a:r>
            <a:endParaRPr lang="en-US" sz="2500" dirty="0"/>
          </a:p>
        </p:txBody>
      </p:sp>
      <p:sp>
        <p:nvSpPr>
          <p:cNvPr id="10" name="Text 8"/>
          <p:cNvSpPr txBox="1"/>
          <p:nvPr/>
        </p:nvSpPr>
        <p:spPr>
          <a:xfrm>
            <a:off x="685800" y="2531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“Giá cả là yếu tố…”, không phải “Nguồn A…”</a:t>
            </a:r>
            <a:endParaRPr lang="en-US" sz="2500" dirty="0"/>
          </a:p>
        </p:txBody>
      </p:sp>
      <p:sp>
        <p:nvSpPr>
          <p:cNvPr id="11" name="Thẻ Nhiều nguồn một ngoặc"/>
          <p:cNvSpPr/>
          <p:nvPr/>
        </p:nvSpPr>
        <p:spPr>
          <a:xfrm>
            <a:off x="6217920" y="1783080"/>
            <a:ext cx="5394960" cy="2011680"/>
          </a:xfrm>
          <a:prstGeom prst="roundRect">
            <a:avLst>
              <a:gd name="adj" fmla="val 8182"/>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Nhiều nguồn một ngoặc</a:t>
            </a:r>
            <a:endParaRPr lang="en-US" sz="2500" dirty="0"/>
          </a:p>
        </p:txBody>
      </p:sp>
      <p:sp>
        <p:nvSpPr>
          <p:cNvPr id="15" name="Text 13"/>
          <p:cNvSpPr txBox="1"/>
          <p:nvPr/>
        </p:nvSpPr>
        <p:spPr>
          <a:xfrm>
            <a:off x="6355080" y="2531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Khi các nguồn cùng ủng hộ một ý</a:t>
            </a:r>
            <a:endParaRPr lang="en-US" sz="2500" dirty="0"/>
          </a:p>
        </p:txBody>
      </p:sp>
      <p:sp>
        <p:nvSpPr>
          <p:cNvPr id="16" name="Thẻ Từ nối so sánh"/>
          <p:cNvSpPr/>
          <p:nvPr/>
        </p:nvSpPr>
        <p:spPr>
          <a:xfrm>
            <a:off x="548640" y="4069080"/>
            <a:ext cx="5394960" cy="2011680"/>
          </a:xfrm>
          <a:prstGeom prst="roundRect">
            <a:avLst>
              <a:gd name="adj" fmla="val 8182"/>
            </a:avLst>
          </a:prstGeom>
          <a:solidFill>
            <a:srgbClr val="E9D5DE"/>
          </a:solidFill>
          <a:ln/>
        </p:spPr>
      </p:sp>
      <p:sp>
        <p:nvSpPr>
          <p:cNvPr id="17" name="Nhãn 3"/>
          <p:cNvSpPr/>
          <p:nvPr/>
        </p:nvSpPr>
        <p:spPr>
          <a:xfrm>
            <a:off x="713232" y="4233672"/>
            <a:ext cx="548640" cy="548640"/>
          </a:xfrm>
          <a:prstGeom prst="ellipse">
            <a:avLst/>
          </a:prstGeom>
          <a:solidFill>
            <a:srgbClr val="962B7C"/>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Từ nối so sánh</a:t>
            </a:r>
            <a:endParaRPr lang="en-US" sz="2500" dirty="0"/>
          </a:p>
        </p:txBody>
      </p:sp>
      <p:sp>
        <p:nvSpPr>
          <p:cNvPr id="20" name="Text 18"/>
          <p:cNvSpPr txBox="1"/>
          <p:nvPr/>
        </p:nvSpPr>
        <p:spPr>
          <a:xfrm>
            <a:off x="685800" y="4817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tương tự · ngược lại · trong khi · tuy nhiên</a:t>
            </a:r>
            <a:endParaRPr lang="en-US" sz="2500" dirty="0"/>
          </a:p>
        </p:txBody>
      </p:sp>
      <p:sp>
        <p:nvSpPr>
          <p:cNvPr id="21" name="Thẻ Giải thích + khoảng trống"/>
          <p:cNvSpPr/>
          <p:nvPr/>
        </p:nvSpPr>
        <p:spPr>
          <a:xfrm>
            <a:off x="6217920" y="4069080"/>
            <a:ext cx="5394960" cy="2011680"/>
          </a:xfrm>
          <a:prstGeom prst="roundRect">
            <a:avLst>
              <a:gd name="adj" fmla="val 8182"/>
            </a:avLst>
          </a:prstGeom>
          <a:solidFill>
            <a:srgbClr val="FCF3D3"/>
          </a:solidFill>
          <a:ln/>
        </p:spPr>
      </p:sp>
      <p:sp>
        <p:nvSpPr>
          <p:cNvPr id="22" name="Nhãn 4"/>
          <p:cNvSpPr/>
          <p:nvPr/>
        </p:nvSpPr>
        <p:spPr>
          <a:xfrm>
            <a:off x="6382512" y="4233672"/>
            <a:ext cx="548640" cy="548640"/>
          </a:xfrm>
          <a:prstGeom prst="ellipse">
            <a:avLst/>
          </a:prstGeom>
          <a:solidFill>
            <a:srgbClr val="FFD23B"/>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Giải thích + khoảng trống</a:t>
            </a:r>
            <a:endParaRPr lang="en-US" sz="2500" dirty="0"/>
          </a:p>
        </p:txBody>
      </p:sp>
      <p:sp>
        <p:nvSpPr>
          <p:cNvPr id="25" name="Text 23"/>
          <p:cNvSpPr txBox="1"/>
          <p:nvPr/>
        </p:nvSpPr>
        <p:spPr>
          <a:xfrm>
            <a:off x="6355080" y="4817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Vì sao khác nhau; kết bằng điều chưa biết</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Bảng tóm tắt Buổi 2 xoay 90 độ thành ma trận tổng hợp</a:t>
            </a:r>
            <a:endParaRPr lang="en-US" sz="3400" dirty="0"/>
          </a:p>
        </p:txBody>
      </p:sp>
      <p:graphicFrame>
        <p:nvGraphicFramePr>
          <p:cNvPr id="40"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4069012"/>
                <a:gridCol w="2331743"/>
                <a:gridCol w="2331743"/>
                <a:gridCol w="2331743"/>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giả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gian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Khuyến mãi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A (2021): SV, tại quán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ảnh hưởng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ảnh hưởng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 (2022): người đi làm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ảnh hưởng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 (2023): SV, qua 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ảnh hưởng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đề cập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ảnh hưởng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779264"/>
            <a:ext cx="11064240" cy="685800"/>
          </a:xfrm>
          <a:prstGeom prst="roundRect">
            <a:avLst>
              <a:gd name="adj" fmla="val 24000"/>
            </a:avLst>
          </a:prstGeom>
          <a:solidFill>
            <a:srgbClr val="FCEEBC"/>
          </a:solidFill>
          <a:ln/>
        </p:spPr>
      </p:sp>
      <p:sp>
        <p:nvSpPr>
          <p:cNvPr id="8" name="Nhãn !"/>
          <p:cNvSpPr/>
          <p:nvPr/>
        </p:nvSpPr>
        <p:spPr>
          <a:xfrm>
            <a:off x="731520" y="4893564"/>
            <a:ext cx="457200" cy="457200"/>
          </a:xfrm>
          <a:prstGeom prst="ellipse">
            <a:avLst/>
          </a:prstGeom>
          <a:solidFill>
            <a:srgbClr val="FFD23B"/>
          </a:solidFill>
          <a:ln/>
        </p:spPr>
      </p:sp>
      <p:sp>
        <p:nvSpPr>
          <p:cNvPr id="9" name="Text 6"/>
          <p:cNvSpPr txBox="1"/>
          <p:nvPr/>
        </p:nvSpPr>
        <p:spPr>
          <a:xfrm>
            <a:off x="731520" y="489356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77926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Đọc theo cột → mỗi cột một đoạn văn tổng hợp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Một trang tổng quan = mở đầu, 2–3 đoạn theo chủ đề, kết nối với nghiên cứu của nhóm</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EDDDE3"/>
          </a:solidFill>
          <a:ln/>
        </p:spPr>
      </p:sp>
      <p:sp>
        <p:nvSpPr>
          <p:cNvPr id="9" name="Nhãn 1"/>
          <p:cNvSpPr/>
          <p:nvPr/>
        </p:nvSpPr>
        <p:spPr>
          <a:xfrm>
            <a:off x="548640" y="1874520"/>
            <a:ext cx="731520" cy="731520"/>
          </a:xfrm>
          <a:prstGeom prst="ellipse">
            <a:avLst/>
          </a:prstGeom>
          <a:solidFill>
            <a:srgbClr val="962B7C"/>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Mở đầu</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Bối cảnh: chủ đề là gì, vì sao quan trọng</a:t>
            </a:r>
            <a:endParaRPr lang="en-US" sz="2600" dirty="0"/>
          </a:p>
        </p:txBody>
      </p:sp>
      <p:sp>
        <p:nvSpPr>
          <p:cNvPr id="13" name="Bước 2"/>
          <p:cNvSpPr/>
          <p:nvPr/>
        </p:nvSpPr>
        <p:spPr>
          <a:xfrm>
            <a:off x="4282440" y="2697480"/>
            <a:ext cx="3596640" cy="2423160"/>
          </a:xfrm>
          <a:prstGeom prst="roundRect">
            <a:avLst>
              <a:gd name="adj" fmla="val 6792"/>
            </a:avLst>
          </a:prstGeom>
          <a:solidFill>
            <a:srgbClr val="FCF4DA"/>
          </a:solidFill>
          <a:ln/>
        </p:spPr>
      </p:sp>
      <p:sp>
        <p:nvSpPr>
          <p:cNvPr id="14" name="Nhãn 2"/>
          <p:cNvSpPr/>
          <p:nvPr/>
        </p:nvSpPr>
        <p:spPr>
          <a:xfrm>
            <a:off x="4328160" y="1874520"/>
            <a:ext cx="731520" cy="731520"/>
          </a:xfrm>
          <a:prstGeom prst="ellipse">
            <a:avLst/>
          </a:prstGeom>
          <a:solidFill>
            <a:srgbClr val="FFD23B"/>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Thảo luận nguồn</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2–3 đoạn, nhóm theo chủ đề, không theo tác giả</a:t>
            </a:r>
            <a:endParaRPr lang="en-US" sz="2600" dirty="0"/>
          </a:p>
        </p:txBody>
      </p:sp>
      <p:sp>
        <p:nvSpPr>
          <p:cNvPr id="18" name="Bước 3"/>
          <p:cNvSpPr/>
          <p:nvPr/>
        </p:nvSpPr>
        <p:spPr>
          <a:xfrm>
            <a:off x="8061960" y="2697480"/>
            <a:ext cx="3596640" cy="2423160"/>
          </a:xfrm>
          <a:prstGeom prst="roundRect">
            <a:avLst>
              <a:gd name="adj" fmla="val 6792"/>
            </a:avLst>
          </a:prstGeom>
          <a:solidFill>
            <a:srgbClr val="E2F0E7"/>
          </a:solidFill>
          <a:ln/>
        </p:spPr>
      </p:sp>
      <p:sp>
        <p:nvSpPr>
          <p:cNvPr id="19" name="Nhãn 3"/>
          <p:cNvSpPr/>
          <p:nvPr/>
        </p:nvSpPr>
        <p:spPr>
          <a:xfrm>
            <a:off x="8107680" y="1874520"/>
            <a:ext cx="731520" cy="731520"/>
          </a:xfrm>
          <a:prstGeom prst="ellipse">
            <a:avLst/>
          </a:prstGeom>
          <a:solidFill>
            <a:srgbClr val="49B296"/>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Kết luận</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Đã biết, chưa biết, liên hệ nghiên cứu của nhóm</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FCEEBC"/>
          </a:solidFill>
          <a:ln/>
        </p:spPr>
      </p:sp>
      <p:sp>
        <p:nvSpPr>
          <p:cNvPr id="24" name="Nhãn !"/>
          <p:cNvSpPr/>
          <p:nvPr/>
        </p:nvSpPr>
        <p:spPr>
          <a:xfrm>
            <a:off x="731520" y="5509260"/>
            <a:ext cx="457200" cy="457200"/>
          </a:xfrm>
          <a:prstGeom prst="ellipse">
            <a:avLst/>
          </a:prstGeom>
          <a:solidFill>
            <a:srgbClr val="FFD23B"/>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M2: đúng khung này, gói trong 1 trang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“Mình nghĩ…” không phải bằng chứng</a:t>
            </a:r>
            <a:endParaRPr lang="en-US" sz="3600" dirty="0"/>
          </a:p>
        </p:txBody>
      </p:sp>
      <p:sp>
        <p:nvSpPr>
          <p:cNvPr id="6" name="Thẻ Chưa học thuật"/>
          <p:cNvSpPr/>
          <p:nvPr/>
        </p:nvSpPr>
        <p:spPr>
          <a:xfrm>
            <a:off x="548640" y="1783080"/>
            <a:ext cx="5394960" cy="4028440"/>
          </a:xfrm>
          <a:prstGeom prst="roundRect">
            <a:avLst>
              <a:gd name="adj" fmla="val 4086"/>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Chưa học thuật</a:t>
            </a:r>
            <a:endParaRPr lang="en-US" sz="2800" dirty="0"/>
          </a:p>
        </p:txBody>
      </p:sp>
      <p:sp>
        <p:nvSpPr>
          <p:cNvPr id="10" name="Text 8"/>
          <p:cNvSpPr txBox="1"/>
          <p:nvPr/>
        </p:nvSpPr>
        <p:spPr>
          <a:xfrm>
            <a:off x="685800" y="2580640"/>
            <a:ext cx="5120640" cy="31851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“Mình nghĩ TikTok làm sinh viên mua sắm bốc đồng hơn.”</a:t>
            </a:r>
            <a:endParaRPr lang="en-US" sz="2600" dirty="0"/>
          </a:p>
        </p:txBody>
      </p:sp>
      <p:sp>
        <p:nvSpPr>
          <p:cNvPr id="11" name="Thẻ Học thuật"/>
          <p:cNvSpPr/>
          <p:nvPr/>
        </p:nvSpPr>
        <p:spPr>
          <a:xfrm>
            <a:off x="6217920" y="1783080"/>
            <a:ext cx="5394960" cy="4028440"/>
          </a:xfrm>
          <a:prstGeom prst="roundRect">
            <a:avLst>
              <a:gd name="adj" fmla="val 4086"/>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Học thuật</a:t>
            </a:r>
            <a:endParaRPr lang="en-US" sz="2800" dirty="0"/>
          </a:p>
        </p:txBody>
      </p:sp>
      <p:sp>
        <p:nvSpPr>
          <p:cNvPr id="15" name="Text 13"/>
          <p:cNvSpPr txBox="1"/>
          <p:nvPr/>
        </p:nvSpPr>
        <p:spPr>
          <a:xfrm>
            <a:off x="6355080" y="2580640"/>
            <a:ext cx="5120640" cy="31851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số nghiên cứu ghi nhận mối liên hệ giữa thời gian xem video ngắn và hành vi mua ngẫu hứng của người tiêu dùng trẻ (Nguồn A, 2021; Nguồn C, 2023).”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Một phút: viết lại câu này thành câu học thuật</a:t>
            </a:r>
            <a:endParaRPr lang="en-US" sz="3500" dirty="0"/>
          </a:p>
        </p:txBody>
      </p:sp>
      <p:sp>
        <p:nvSpPr>
          <p:cNvPr id="6" name="Khung nhận định"/>
          <p:cNvSpPr/>
          <p:nvPr/>
        </p:nvSpPr>
        <p:spPr>
          <a:xfrm>
            <a:off x="548640" y="1783080"/>
            <a:ext cx="11064240" cy="4297680"/>
          </a:xfrm>
          <a:prstGeom prst="roundRect">
            <a:avLst>
              <a:gd name="adj" fmla="val 6383"/>
            </a:avLst>
          </a:prstGeom>
          <a:solidFill>
            <a:srgbClr val="FCD8DB"/>
          </a:solidFill>
          <a:ln/>
        </p:spPr>
      </p:sp>
      <p:sp>
        <p:nvSpPr>
          <p:cNvPr id="7" name="Nhãn ?"/>
          <p:cNvSpPr/>
          <p:nvPr/>
        </p:nvSpPr>
        <p:spPr>
          <a:xfrm>
            <a:off x="960120" y="3200400"/>
            <a:ext cx="1463040" cy="1463040"/>
          </a:xfrm>
          <a:prstGeom prst="ellipse">
            <a:avLst/>
          </a:prstGeom>
          <a:solidFill>
            <a:srgbClr val="FF5178"/>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336800"/>
            <a:ext cx="8412480" cy="21336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“Mình nghĩ giới trẻ bây giờ thích mua mỹ phẩm nội địa hơn.”</a:t>
            </a:r>
            <a:endParaRPr lang="en-US" sz="4000" dirty="0"/>
          </a:p>
        </p:txBody>
      </p:sp>
      <p:sp>
        <p:nvSpPr>
          <p:cNvPr id="10" name="Text 8"/>
          <p:cNvSpPr txBox="1"/>
          <p:nvPr/>
        </p:nvSpPr>
        <p:spPr>
          <a:xfrm>
            <a:off x="2834640" y="44704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Chưa cần nguồn thật: ghi “(Nguồn ?, năm)” vào chỗ cần trích dẫn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Mâu thuẫn và chỗ trống trong tài liệu chính là câu hỏi nghiên cứu của bạn</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1971040"/>
          </a:xfrm>
          <a:prstGeom prst="roundRect">
            <a:avLst>
              <a:gd name="adj" fmla="val 8351"/>
            </a:avLst>
          </a:prstGeom>
          <a:solidFill>
            <a:srgbClr val="FCE2E3"/>
          </a:solidFill>
          <a:ln/>
        </p:spPr>
      </p:sp>
      <p:sp>
        <p:nvSpPr>
          <p:cNvPr id="9" name="Nhãn 1"/>
          <p:cNvSpPr/>
          <p:nvPr/>
        </p:nvSpPr>
        <p:spPr>
          <a:xfrm>
            <a:off x="548640" y="1874520"/>
            <a:ext cx="731520" cy="731520"/>
          </a:xfrm>
          <a:prstGeom prst="ellipse">
            <a:avLst/>
          </a:prstGeom>
          <a:solidFill>
            <a:srgbClr val="FF5178"/>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Mâu thuẫn</a:t>
            </a:r>
            <a:endParaRPr lang="en-US" sz="2800" dirty="0"/>
          </a:p>
        </p:txBody>
      </p:sp>
      <p:sp>
        <p:nvSpPr>
          <p:cNvPr id="12" name="Text 10"/>
          <p:cNvSpPr txBox="1"/>
          <p:nvPr/>
        </p:nvSpPr>
        <p:spPr>
          <a:xfrm>
            <a:off x="548640" y="3357880"/>
            <a:ext cx="3505200" cy="1310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gian quán: A có, C không đề cập</a:t>
            </a:r>
            <a:endParaRPr lang="en-US" sz="2400" dirty="0"/>
          </a:p>
        </p:txBody>
      </p:sp>
      <p:sp>
        <p:nvSpPr>
          <p:cNvPr id="13" name="Bước 2"/>
          <p:cNvSpPr/>
          <p:nvPr/>
        </p:nvSpPr>
        <p:spPr>
          <a:xfrm>
            <a:off x="4282440" y="2697480"/>
            <a:ext cx="3596640" cy="1971040"/>
          </a:xfrm>
          <a:prstGeom prst="roundRect">
            <a:avLst>
              <a:gd name="adj" fmla="val 8351"/>
            </a:avLst>
          </a:prstGeom>
          <a:solidFill>
            <a:srgbClr val="D9EEF2"/>
          </a:solidFill>
          <a:ln/>
        </p:spPr>
      </p:sp>
      <p:sp>
        <p:nvSpPr>
          <p:cNvPr id="14" name="Nhãn 2"/>
          <p:cNvSpPr/>
          <p:nvPr/>
        </p:nvSpPr>
        <p:spPr>
          <a:xfrm>
            <a:off x="4328160" y="1874520"/>
            <a:ext cx="731520" cy="731520"/>
          </a:xfrm>
          <a:prstGeom prst="ellipse">
            <a:avLst/>
          </a:prstGeom>
          <a:solidFill>
            <a:srgbClr val="09A1E5"/>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Khoảng trống</a:t>
            </a:r>
            <a:endParaRPr lang="en-US" sz="2800" dirty="0"/>
          </a:p>
        </p:txBody>
      </p:sp>
      <p:sp>
        <p:nvSpPr>
          <p:cNvPr id="17" name="Text 15"/>
          <p:cNvSpPr txBox="1"/>
          <p:nvPr/>
        </p:nvSpPr>
        <p:spPr>
          <a:xfrm>
            <a:off x="4328160" y="3357880"/>
            <a:ext cx="3505200" cy="1310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Chưa so sánh mua tại quán, qua ứng dụng</a:t>
            </a:r>
            <a:endParaRPr lang="en-US" sz="2400" dirty="0"/>
          </a:p>
        </p:txBody>
      </p:sp>
      <p:sp>
        <p:nvSpPr>
          <p:cNvPr id="18" name="Bước 3"/>
          <p:cNvSpPr/>
          <p:nvPr/>
        </p:nvSpPr>
        <p:spPr>
          <a:xfrm>
            <a:off x="8061960" y="2697480"/>
            <a:ext cx="3596640" cy="1971040"/>
          </a:xfrm>
          <a:prstGeom prst="roundRect">
            <a:avLst>
              <a:gd name="adj" fmla="val 8351"/>
            </a:avLst>
          </a:prstGeom>
          <a:solidFill>
            <a:srgbClr val="FCEBDE"/>
          </a:solidFill>
          <a:ln/>
        </p:spPr>
      </p:sp>
      <p:sp>
        <p:nvSpPr>
          <p:cNvPr id="19" name="Nhãn 3"/>
          <p:cNvSpPr/>
          <p:nvPr/>
        </p:nvSpPr>
        <p:spPr>
          <a:xfrm>
            <a:off x="8107680" y="1874520"/>
            <a:ext cx="731520" cy="731520"/>
          </a:xfrm>
          <a:prstGeom prst="ellipse">
            <a:avLst/>
          </a:prstGeom>
          <a:solidFill>
            <a:srgbClr val="FF9259"/>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hỏi</a:t>
            </a:r>
            <a:endParaRPr lang="en-US" sz="2800" dirty="0"/>
          </a:p>
        </p:txBody>
      </p:sp>
      <p:sp>
        <p:nvSpPr>
          <p:cNvPr id="22" name="Text 20"/>
          <p:cNvSpPr txBox="1"/>
          <p:nvPr/>
        </p:nvSpPr>
        <p:spPr>
          <a:xfrm>
            <a:off x="8107680" y="3357880"/>
            <a:ext cx="3505200" cy="1310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Khác nhau ra sao giữa hai cách mua?</a:t>
            </a:r>
            <a:endParaRPr lang="en-US" sz="2400" dirty="0"/>
          </a:p>
        </p:txBody>
      </p:sp>
      <p:sp>
        <p:nvSpPr>
          <p:cNvPr id="23" name="Ghi chú nổi bật"/>
          <p:cNvSpPr/>
          <p:nvPr/>
        </p:nvSpPr>
        <p:spPr>
          <a:xfrm>
            <a:off x="548640" y="4978400"/>
            <a:ext cx="11064240" cy="1102360"/>
          </a:xfrm>
          <a:prstGeom prst="roundRect">
            <a:avLst>
              <a:gd name="adj" fmla="val 14931"/>
            </a:avLst>
          </a:prstGeom>
          <a:solidFill>
            <a:srgbClr val="B2DFF0"/>
          </a:solidFill>
          <a:ln/>
        </p:spPr>
      </p:sp>
      <p:sp>
        <p:nvSpPr>
          <p:cNvPr id="24" name="Nhãn !"/>
          <p:cNvSpPr/>
          <p:nvPr/>
        </p:nvSpPr>
        <p:spPr>
          <a:xfrm>
            <a:off x="731520" y="5300980"/>
            <a:ext cx="457200" cy="457200"/>
          </a:xfrm>
          <a:prstGeom prst="ellipse">
            <a:avLst/>
          </a:prstGeom>
          <a:solidFill>
            <a:srgbClr val="09A1E5"/>
          </a:solidFill>
          <a:ln/>
        </p:spPr>
      </p:sp>
      <p:sp>
        <p:nvSpPr>
          <p:cNvPr id="25" name="Text 23"/>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Bốn kiểu khoảng trống: đối tượng · bối cảnh · thời điểm · kết quả mâu thuẫn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6"/>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93–138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Xưởng tổng quan (45'): sửa danh mục, viết một đoạn tổng hợp, để nhóm bạn kiểm tra</a:t>
            </a:r>
            <a:endParaRPr lang="en-US" sz="3400" dirty="0"/>
          </a:p>
        </p:txBody>
      </p:sp>
      <p:sp>
        <p:nvSpPr>
          <p:cNvPr id="6" name="Chặng 1"/>
          <p:cNvSpPr/>
          <p:nvPr/>
        </p:nvSpPr>
        <p:spPr>
          <a:xfrm>
            <a:off x="548640" y="1783080"/>
            <a:ext cx="11064240" cy="640080"/>
          </a:xfrm>
          <a:prstGeom prst="roundRect">
            <a:avLst>
              <a:gd name="adj" fmla="val 25714"/>
            </a:avLst>
          </a:prstGeom>
          <a:solidFill>
            <a:srgbClr val="FCE9DB"/>
          </a:solidFill>
          <a:ln/>
        </p:spPr>
      </p:sp>
      <p:sp>
        <p:nvSpPr>
          <p:cNvPr id="7" name="Thời gian"/>
          <p:cNvSpPr/>
          <p:nvPr/>
        </p:nvSpPr>
        <p:spPr>
          <a:xfrm>
            <a:off x="640080" y="1828800"/>
            <a:ext cx="1280160" cy="548640"/>
          </a:xfrm>
          <a:prstGeom prst="roundRect">
            <a:avLst>
              <a:gd name="adj" fmla="val 50000"/>
            </a:avLst>
          </a:prstGeom>
          <a:solidFill>
            <a:srgbClr val="FF9259"/>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Săn lỗi APA</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phiếu 10 mục, chữa nhanh</a:t>
            </a:r>
            <a:endParaRPr lang="en-US" sz="2800" dirty="0"/>
          </a:p>
        </p:txBody>
      </p:sp>
      <p:sp>
        <p:nvSpPr>
          <p:cNvPr id="10" name="Chặng 2"/>
          <p:cNvSpPr/>
          <p:nvPr/>
        </p:nvSpPr>
        <p:spPr>
          <a:xfrm>
            <a:off x="548640" y="2560320"/>
            <a:ext cx="11064240" cy="640080"/>
          </a:xfrm>
          <a:prstGeom prst="roundRect">
            <a:avLst>
              <a:gd name="adj" fmla="val 25714"/>
            </a:avLst>
          </a:prstGeom>
          <a:solidFill>
            <a:srgbClr val="EBD9E1"/>
          </a:solidFill>
          <a:ln/>
        </p:spPr>
      </p:sp>
      <p:sp>
        <p:nvSpPr>
          <p:cNvPr id="11" name="Thời gian"/>
          <p:cNvSpPr/>
          <p:nvPr/>
        </p:nvSpPr>
        <p:spPr>
          <a:xfrm>
            <a:off x="640080" y="2606040"/>
            <a:ext cx="1280160" cy="548640"/>
          </a:xfrm>
          <a:prstGeom prst="roundRect">
            <a:avLst>
              <a:gd name="adj" fmla="val 50000"/>
            </a:avLst>
          </a:prstGeom>
          <a:solidFill>
            <a:srgbClr val="962B7C"/>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12'</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Sửa danh mục của nhóm</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theo APA 7</a:t>
            </a:r>
            <a:endParaRPr lang="en-US" sz="2800" dirty="0"/>
          </a:p>
        </p:txBody>
      </p:sp>
      <p:sp>
        <p:nvSpPr>
          <p:cNvPr id="14" name="Chặng 3"/>
          <p:cNvSpPr/>
          <p:nvPr/>
        </p:nvSpPr>
        <p:spPr>
          <a:xfrm>
            <a:off x="548640" y="3337560"/>
            <a:ext cx="11064240" cy="640080"/>
          </a:xfrm>
          <a:prstGeom prst="roundRect">
            <a:avLst>
              <a:gd name="adj" fmla="val 25714"/>
            </a:avLst>
          </a:prstGeom>
          <a:solidFill>
            <a:srgbClr val="FCF4D6"/>
          </a:solidFill>
          <a:ln/>
        </p:spPr>
      </p:sp>
      <p:sp>
        <p:nvSpPr>
          <p:cNvPr id="15" name="Thời gian"/>
          <p:cNvSpPr/>
          <p:nvPr/>
        </p:nvSpPr>
        <p:spPr>
          <a:xfrm>
            <a:off x="640080" y="3383280"/>
            <a:ext cx="1280160" cy="548640"/>
          </a:xfrm>
          <a:prstGeom prst="roundRect">
            <a:avLst>
              <a:gd name="adj" fmla="val 50000"/>
            </a:avLst>
          </a:prstGeom>
          <a:solidFill>
            <a:srgbClr val="FFD23B"/>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15'</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Viết đoạn tổng hợp</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3 nguồn, 150–250 từ</a:t>
            </a:r>
            <a:endParaRPr lang="en-US" sz="2800" dirty="0"/>
          </a:p>
        </p:txBody>
      </p:sp>
      <p:sp>
        <p:nvSpPr>
          <p:cNvPr id="18" name="Chặng 4"/>
          <p:cNvSpPr/>
          <p:nvPr/>
        </p:nvSpPr>
        <p:spPr>
          <a:xfrm>
            <a:off x="548640" y="4114800"/>
            <a:ext cx="11064240" cy="640080"/>
          </a:xfrm>
          <a:prstGeom prst="roundRect">
            <a:avLst>
              <a:gd name="adj" fmla="val 25714"/>
            </a:avLst>
          </a:prstGeom>
          <a:solidFill>
            <a:srgbClr val="DFEEE5"/>
          </a:solidFill>
          <a:ln/>
        </p:spPr>
      </p:sp>
      <p:sp>
        <p:nvSpPr>
          <p:cNvPr id="19" name="Thời gian"/>
          <p:cNvSpPr/>
          <p:nvPr/>
        </p:nvSpPr>
        <p:spPr>
          <a:xfrm>
            <a:off x="640080" y="4160520"/>
            <a:ext cx="1280160" cy="548640"/>
          </a:xfrm>
          <a:prstGeom prst="roundRect">
            <a:avLst>
              <a:gd name="adj" fmla="val 50000"/>
            </a:avLst>
          </a:prstGeom>
          <a:solidFill>
            <a:srgbClr val="49B296"/>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chéo kiểm tra</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theo phiếu 8 câu</a:t>
            </a:r>
            <a:endParaRPr lang="en-US" sz="2800" dirty="0"/>
          </a:p>
        </p:txBody>
      </p:sp>
      <p:sp>
        <p:nvSpPr>
          <p:cNvPr id="22" name="Ghi chú nổi bật"/>
          <p:cNvSpPr/>
          <p:nvPr/>
        </p:nvSpPr>
        <p:spPr>
          <a:xfrm>
            <a:off x="548640" y="5120640"/>
            <a:ext cx="11064240" cy="685800"/>
          </a:xfrm>
          <a:prstGeom prst="roundRect">
            <a:avLst>
              <a:gd name="adj" fmla="val 24000"/>
            </a:avLst>
          </a:prstGeom>
          <a:solidFill>
            <a:srgbClr val="FCEEBC"/>
          </a:solidFill>
          <a:ln/>
        </p:spPr>
      </p:sp>
      <p:sp>
        <p:nvSpPr>
          <p:cNvPr id="23" name="Nhãn !"/>
          <p:cNvSpPr/>
          <p:nvPr/>
        </p:nvSpPr>
        <p:spPr>
          <a:xfrm>
            <a:off x="731520" y="5234940"/>
            <a:ext cx="457200" cy="457200"/>
          </a:xfrm>
          <a:prstGeom prst="ellipse">
            <a:avLst/>
          </a:prstGeom>
          <a:solidFill>
            <a:srgbClr val="FFD23B"/>
          </a:solidFill>
          <a:ln/>
        </p:spPr>
      </p:sp>
      <p:sp>
        <p:nvSpPr>
          <p:cNvPr id="24" name="Text 22"/>
          <p:cNvSpPr txBox="1"/>
          <p:nvPr/>
        </p:nvSpPr>
        <p:spPr>
          <a:xfrm>
            <a:off x="731520" y="52349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1206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bản nháp danh mục + đoạn tổng hợp cho M2</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Phiếu kiểm tra chéo: 8 câu có/không</a:t>
            </a:r>
            <a:endParaRPr lang="en-US" sz="3600" dirty="0"/>
          </a:p>
        </p:txBody>
      </p:sp>
      <p:sp>
        <p:nvSpPr>
          <p:cNvPr id="6" name="Tiêu đề cột"/>
          <p:cNvSpPr/>
          <p:nvPr/>
        </p:nvSpPr>
        <p:spPr>
          <a:xfrm>
            <a:off x="548640" y="1783080"/>
            <a:ext cx="5394960" cy="706120"/>
          </a:xfrm>
          <a:prstGeom prst="roundRect">
            <a:avLst>
              <a:gd name="adj" fmla="val 23309"/>
            </a:avLst>
          </a:prstGeom>
          <a:solidFill>
            <a:srgbClr val="49B296"/>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Danh mục</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FEEE5"/>
          </a:solidFill>
          <a:ln/>
        </p:spPr>
      </p:sp>
      <p:sp>
        <p:nvSpPr>
          <p:cNvPr id="9" name="Dấu đầu dòng"/>
          <p:cNvSpPr/>
          <p:nvPr/>
        </p:nvSpPr>
        <p:spPr>
          <a:xfrm>
            <a:off x="822960" y="2954655"/>
            <a:ext cx="182880" cy="182880"/>
          </a:xfrm>
          <a:prstGeom prst="ellipse">
            <a:avLst/>
          </a:prstGeom>
          <a:solidFill>
            <a:srgbClr val="49B296"/>
          </a:solidFill>
          <a:ln/>
        </p:spPr>
      </p:sp>
      <p:sp>
        <p:nvSpPr>
          <p:cNvPr id="10" name="Text 8"/>
          <p:cNvSpPr txBox="1"/>
          <p:nvPr/>
        </p:nvSpPr>
        <p:spPr>
          <a:xfrm>
            <a:off x="1097280" y="276352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A–Z theo họ, không đánh số?</a:t>
            </a:r>
            <a:endParaRPr lang="en-US" sz="2500" dirty="0"/>
          </a:p>
        </p:txBody>
      </p:sp>
      <p:sp>
        <p:nvSpPr>
          <p:cNvPr id="11" name="Dấu đầu dòng"/>
          <p:cNvSpPr/>
          <p:nvPr/>
        </p:nvSpPr>
        <p:spPr>
          <a:xfrm>
            <a:off x="822960" y="3656965"/>
            <a:ext cx="182880" cy="182880"/>
          </a:xfrm>
          <a:prstGeom prst="ellipse">
            <a:avLst/>
          </a:prstGeom>
          <a:solidFill>
            <a:srgbClr val="49B296"/>
          </a:solidFill>
          <a:ln/>
        </p:spPr>
      </p:sp>
      <p:sp>
        <p:nvSpPr>
          <p:cNvPr id="12" name="Text 10"/>
          <p:cNvSpPr txBox="1"/>
          <p:nvPr/>
        </p:nvSpPr>
        <p:spPr>
          <a:xfrm>
            <a:off x="1097280" y="346583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Tên “Họ, T. Đ.”, không học vị?</a:t>
            </a:r>
            <a:endParaRPr lang="en-US" sz="2500" dirty="0"/>
          </a:p>
        </p:txBody>
      </p:sp>
      <p:sp>
        <p:nvSpPr>
          <p:cNvPr id="13" name="Dấu đầu dòng"/>
          <p:cNvSpPr/>
          <p:nvPr/>
        </p:nvSpPr>
        <p:spPr>
          <a:xfrm>
            <a:off x="822960" y="4359275"/>
            <a:ext cx="182880" cy="182880"/>
          </a:xfrm>
          <a:prstGeom prst="ellipse">
            <a:avLst/>
          </a:prstGeom>
          <a:solidFill>
            <a:srgbClr val="49B296"/>
          </a:solidFill>
          <a:ln/>
        </p:spPr>
      </p:sp>
      <p:sp>
        <p:nvSpPr>
          <p:cNvPr id="14" name="Text 12"/>
          <p:cNvSpPr txBox="1"/>
          <p:nvPr/>
        </p:nvSpPr>
        <p:spPr>
          <a:xfrm>
            <a:off x="1097280" y="416814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In nghiêng đúng chỗ?</a:t>
            </a:r>
            <a:endParaRPr lang="en-US" sz="2500" dirty="0"/>
          </a:p>
        </p:txBody>
      </p:sp>
      <p:sp>
        <p:nvSpPr>
          <p:cNvPr id="15" name="Dấu đầu dòng"/>
          <p:cNvSpPr/>
          <p:nvPr/>
        </p:nvSpPr>
        <p:spPr>
          <a:xfrm>
            <a:off x="822960" y="5061585"/>
            <a:ext cx="182880" cy="182880"/>
          </a:xfrm>
          <a:prstGeom prst="ellipse">
            <a:avLst/>
          </a:prstGeom>
          <a:solidFill>
            <a:srgbClr val="49B296"/>
          </a:solidFill>
          <a:ln/>
        </p:spPr>
      </p:sp>
      <p:sp>
        <p:nvSpPr>
          <p:cNvPr id="16" name="Text 14"/>
          <p:cNvSpPr txBox="1"/>
          <p:nvPr/>
        </p:nvSpPr>
        <p:spPr>
          <a:xfrm>
            <a:off x="1097280" y="4870450"/>
            <a:ext cx="470916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DOI https; trang gạch ngang?</a:t>
            </a:r>
            <a:endParaRPr lang="en-US" sz="2500" dirty="0"/>
          </a:p>
        </p:txBody>
      </p:sp>
      <p:sp>
        <p:nvSpPr>
          <p:cNvPr id="17" name="Tiêu đề cột"/>
          <p:cNvSpPr/>
          <p:nvPr/>
        </p:nvSpPr>
        <p:spPr>
          <a:xfrm>
            <a:off x="6217920" y="1783080"/>
            <a:ext cx="5394960" cy="706120"/>
          </a:xfrm>
          <a:prstGeom prst="roundRect">
            <a:avLst>
              <a:gd name="adj" fmla="val 23309"/>
            </a:avLst>
          </a:prstGeom>
          <a:solidFill>
            <a:srgbClr val="09A1E5"/>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Đoạn tổng hợp</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D4ECF2"/>
          </a:solidFill>
          <a:ln/>
        </p:spPr>
      </p:sp>
      <p:sp>
        <p:nvSpPr>
          <p:cNvPr id="20" name="Dấu đầu dòng"/>
          <p:cNvSpPr/>
          <p:nvPr/>
        </p:nvSpPr>
        <p:spPr>
          <a:xfrm>
            <a:off x="6492240" y="2954655"/>
            <a:ext cx="182880" cy="182880"/>
          </a:xfrm>
          <a:prstGeom prst="ellipse">
            <a:avLst/>
          </a:prstGeom>
          <a:solidFill>
            <a:srgbClr val="09A1E5"/>
          </a:solidFill>
          <a:ln/>
        </p:spPr>
      </p:sp>
      <p:sp>
        <p:nvSpPr>
          <p:cNvPr id="21" name="Text 19"/>
          <p:cNvSpPr txBox="1"/>
          <p:nvPr/>
        </p:nvSpPr>
        <p:spPr>
          <a:xfrm>
            <a:off x="6766560" y="2763520"/>
            <a:ext cx="470916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3 nguồn, đều có trong danh mục?</a:t>
            </a:r>
            <a:endParaRPr lang="en-US" sz="2500" dirty="0"/>
          </a:p>
        </p:txBody>
      </p:sp>
      <p:sp>
        <p:nvSpPr>
          <p:cNvPr id="22" name="Dấu đầu dòng"/>
          <p:cNvSpPr/>
          <p:nvPr/>
        </p:nvSpPr>
        <p:spPr>
          <a:xfrm>
            <a:off x="6492240" y="4069715"/>
            <a:ext cx="182880" cy="182880"/>
          </a:xfrm>
          <a:prstGeom prst="ellipse">
            <a:avLst/>
          </a:prstGeom>
          <a:solidFill>
            <a:srgbClr val="09A1E5"/>
          </a:solidFill>
          <a:ln/>
        </p:spPr>
      </p:sp>
      <p:sp>
        <p:nvSpPr>
          <p:cNvPr id="23" name="Text 21"/>
          <p:cNvSpPr txBox="1"/>
          <p:nvPr/>
        </p:nvSpPr>
        <p:spPr>
          <a:xfrm>
            <a:off x="6766560" y="387858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Câu đầu là một ý?</a:t>
            </a:r>
            <a:endParaRPr lang="en-US" sz="2500" dirty="0"/>
          </a:p>
        </p:txBody>
      </p:sp>
      <p:sp>
        <p:nvSpPr>
          <p:cNvPr id="24" name="Dấu đầu dòng"/>
          <p:cNvSpPr/>
          <p:nvPr/>
        </p:nvSpPr>
        <p:spPr>
          <a:xfrm>
            <a:off x="6492240" y="4772025"/>
            <a:ext cx="182880" cy="182880"/>
          </a:xfrm>
          <a:prstGeom prst="ellipse">
            <a:avLst/>
          </a:prstGeom>
          <a:solidFill>
            <a:srgbClr val="09A1E5"/>
          </a:solidFill>
          <a:ln/>
        </p:spPr>
      </p:sp>
      <p:sp>
        <p:nvSpPr>
          <p:cNvPr id="25" name="Text 23"/>
          <p:cNvSpPr txBox="1"/>
          <p:nvPr/>
        </p:nvSpPr>
        <p:spPr>
          <a:xfrm>
            <a:off x="6766560" y="458089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Có so sánh / đối chiếu?</a:t>
            </a:r>
            <a:endParaRPr lang="en-US" sz="2500" dirty="0"/>
          </a:p>
        </p:txBody>
      </p:sp>
      <p:sp>
        <p:nvSpPr>
          <p:cNvPr id="26" name="Dấu đầu dòng"/>
          <p:cNvSpPr/>
          <p:nvPr/>
        </p:nvSpPr>
        <p:spPr>
          <a:xfrm>
            <a:off x="6492240" y="5474335"/>
            <a:ext cx="182880" cy="182880"/>
          </a:xfrm>
          <a:prstGeom prst="ellipse">
            <a:avLst/>
          </a:prstGeom>
          <a:solidFill>
            <a:srgbClr val="09A1E5"/>
          </a:solidFill>
          <a:ln/>
        </p:spPr>
      </p:sp>
      <p:sp>
        <p:nvSpPr>
          <p:cNvPr id="27" name="Text 25"/>
          <p:cNvSpPr txBox="1"/>
          <p:nvPr/>
        </p:nvSpPr>
        <p:spPr>
          <a:xfrm>
            <a:off x="6766560" y="528320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Câu cuối nêu khoảng trống?</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7"/>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138–146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Phiếu ra về: một lỗi đã sửa, một điều chưa chắc</a:t>
            </a:r>
            <a:endParaRPr lang="en-US" sz="3400" dirty="0"/>
          </a:p>
        </p:txBody>
      </p:sp>
      <p:sp>
        <p:nvSpPr>
          <p:cNvPr id="6" name="Thẻ Một lỗi APA"/>
          <p:cNvSpPr/>
          <p:nvPr/>
        </p:nvSpPr>
        <p:spPr>
          <a:xfrm>
            <a:off x="548640" y="1783080"/>
            <a:ext cx="5394960" cy="1882140"/>
          </a:xfrm>
          <a:prstGeom prst="roundRect">
            <a:avLst>
              <a:gd name="adj" fmla="val 8745"/>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Một lỗi APA</a:t>
            </a:r>
            <a:endParaRPr lang="en-US" sz="2800" dirty="0"/>
          </a:p>
        </p:txBody>
      </p:sp>
      <p:sp>
        <p:nvSpPr>
          <p:cNvPr id="10" name="Text 8"/>
          <p:cNvSpPr txBox="1"/>
          <p:nvPr/>
        </p:nvSpPr>
        <p:spPr>
          <a:xfrm>
            <a:off x="685800" y="258064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mình đã sửa hôm nay</a:t>
            </a:r>
            <a:endParaRPr lang="en-US" sz="2600" dirty="0"/>
          </a:p>
        </p:txBody>
      </p:sp>
      <p:sp>
        <p:nvSpPr>
          <p:cNvPr id="11" name="Thẻ Một điều chưa chắc"/>
          <p:cNvSpPr/>
          <p:nvPr/>
        </p:nvSpPr>
        <p:spPr>
          <a:xfrm>
            <a:off x="6217920" y="1783080"/>
            <a:ext cx="5394960" cy="1882140"/>
          </a:xfrm>
          <a:prstGeom prst="roundRect">
            <a:avLst>
              <a:gd name="adj" fmla="val 8745"/>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Một điều chưa chắc</a:t>
            </a:r>
            <a:endParaRPr lang="en-US" sz="2800" dirty="0"/>
          </a:p>
        </p:txBody>
      </p:sp>
      <p:sp>
        <p:nvSpPr>
          <p:cNvPr id="15" name="Text 13"/>
          <p:cNvSpPr txBox="1"/>
          <p:nvPr/>
        </p:nvSpPr>
        <p:spPr>
          <a:xfrm>
            <a:off x="6355080" y="258064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khi viết tổng quan tài liệu</a:t>
            </a:r>
            <a:endParaRPr lang="en-US" sz="2600" dirty="0"/>
          </a:p>
        </p:txBody>
      </p:sp>
      <p:sp>
        <p:nvSpPr>
          <p:cNvPr id="16" name="Ghi chú nổi bật"/>
          <p:cNvSpPr/>
          <p:nvPr/>
        </p:nvSpPr>
        <p:spPr>
          <a:xfrm>
            <a:off x="548640" y="4030980"/>
            <a:ext cx="11064240" cy="685800"/>
          </a:xfrm>
          <a:prstGeom prst="roundRect">
            <a:avLst>
              <a:gd name="adj" fmla="val 24000"/>
            </a:avLst>
          </a:prstGeom>
          <a:solidFill>
            <a:srgbClr val="FCDBC5"/>
          </a:solidFill>
          <a:ln/>
        </p:spPr>
      </p:sp>
      <p:sp>
        <p:nvSpPr>
          <p:cNvPr id="17" name="Nhãn !"/>
          <p:cNvSpPr/>
          <p:nvPr/>
        </p:nvSpPr>
        <p:spPr>
          <a:xfrm>
            <a:off x="731520" y="4145280"/>
            <a:ext cx="457200" cy="457200"/>
          </a:xfrm>
          <a:prstGeom prst="ellipse">
            <a:avLst/>
          </a:prstGeom>
          <a:solidFill>
            <a:srgbClr val="FF9259"/>
          </a:solidFill>
          <a:ln/>
        </p:spPr>
      </p:sp>
      <p:sp>
        <p:nvSpPr>
          <p:cNvPr id="18" name="Text 16"/>
          <p:cNvSpPr txBox="1"/>
          <p:nvPr/>
        </p:nvSpPr>
        <p:spPr>
          <a:xfrm>
            <a:off x="731520" y="41452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0309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Viết hai dòng trên giấy — không bắt buộc ghi tên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M2: danh mục APA 7 + 1 trang tổng quan — tự kiểm tra trước khi nộp</a:t>
            </a:r>
            <a:endParaRPr lang="en-US" sz="3400" dirty="0"/>
          </a:p>
        </p:txBody>
      </p:sp>
      <p:sp>
        <p:nvSpPr>
          <p:cNvPr id="6" name="Thẻ Nộp gì"/>
          <p:cNvSpPr/>
          <p:nvPr/>
        </p:nvSpPr>
        <p:spPr>
          <a:xfrm>
            <a:off x="548640" y="1783080"/>
            <a:ext cx="3505200" cy="3169920"/>
          </a:xfrm>
          <a:prstGeom prst="roundRect">
            <a:avLst>
              <a:gd name="adj" fmla="val 519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Nộp gì</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Danh mục chuẩn APA 7 + 1 trang tổng quan có trích dẫn trong bài</a:t>
            </a:r>
            <a:endParaRPr lang="en-US" sz="2600" dirty="0"/>
          </a:p>
        </p:txBody>
      </p:sp>
      <p:sp>
        <p:nvSpPr>
          <p:cNvPr id="11" name="Thẻ Hình thức"/>
          <p:cNvSpPr/>
          <p:nvPr/>
        </p:nvSpPr>
        <p:spPr>
          <a:xfrm>
            <a:off x="4328160" y="1783080"/>
            <a:ext cx="3505200" cy="3169920"/>
          </a:xfrm>
          <a:prstGeom prst="roundRect">
            <a:avLst>
              <a:gd name="adj" fmla="val 5192"/>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Hình thức</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 5% · nộp LMS trước Buổi 4, hạn …</a:t>
            </a:r>
            <a:endParaRPr lang="en-US" sz="2600" dirty="0"/>
          </a:p>
        </p:txBody>
      </p:sp>
      <p:sp>
        <p:nvSpPr>
          <p:cNvPr id="16" name="Thẻ Đề và tiêu chí"/>
          <p:cNvSpPr/>
          <p:nvPr/>
        </p:nvSpPr>
        <p:spPr>
          <a:xfrm>
            <a:off x="8107680" y="1783080"/>
            <a:ext cx="3505200" cy="3169920"/>
          </a:xfrm>
          <a:prstGeom prst="roundRect">
            <a:avLst>
              <a:gd name="adj" fmla="val 5192"/>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Đề và tiêu chí</a:t>
            </a:r>
            <a:endParaRPr lang="en-US" sz="2800" dirty="0"/>
          </a:p>
        </p:txBody>
      </p:sp>
      <p:sp>
        <p:nvSpPr>
          <p:cNvPr id="20" name="Text 18"/>
          <p:cNvSpPr txBox="1"/>
          <p:nvPr/>
        </p:nvSpPr>
        <p:spPr>
          <a:xfrm>
            <a:off x="8244840" y="3042920"/>
            <a:ext cx="3230880" cy="18643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Theo đề M2 đã phát ở Buổi 2</a:t>
            </a:r>
            <a:endParaRPr lang="en-US" sz="2600" dirty="0"/>
          </a:p>
        </p:txBody>
      </p:sp>
      <p:sp>
        <p:nvSpPr>
          <p:cNvPr id="21" name="Ghi chú nổi bật"/>
          <p:cNvSpPr/>
          <p:nvPr/>
        </p:nvSpPr>
        <p:spPr>
          <a:xfrm>
            <a:off x="548640" y="5318760"/>
            <a:ext cx="11064240" cy="685800"/>
          </a:xfrm>
          <a:prstGeom prst="roundRect">
            <a:avLst>
              <a:gd name="adj" fmla="val 24000"/>
            </a:avLst>
          </a:prstGeom>
          <a:solidFill>
            <a:srgbClr val="DDBCD0"/>
          </a:solidFill>
          <a:ln/>
        </p:spPr>
      </p:sp>
      <p:sp>
        <p:nvSpPr>
          <p:cNvPr id="22" name="Nhãn !"/>
          <p:cNvSpPr/>
          <p:nvPr/>
        </p:nvSpPr>
        <p:spPr>
          <a:xfrm>
            <a:off x="731520" y="5433060"/>
            <a:ext cx="457200" cy="457200"/>
          </a:xfrm>
          <a:prstGeom prst="ellipse">
            <a:avLst/>
          </a:prstGeom>
          <a:solidFill>
            <a:srgbClr val="962B7C"/>
          </a:solidFill>
          <a:ln/>
        </p:spPr>
      </p:sp>
      <p:sp>
        <p:nvSpPr>
          <p:cNvPr id="23" name="Text 21"/>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Buổi 4: dùng AI tìm và tóm tắt tài liệu — mang máy tính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Tự kiểm tra M2: tám dòng trước khi nộp</a:t>
            </a:r>
            <a:endParaRPr lang="en-US" sz="3600" dirty="0"/>
          </a:p>
        </p:txBody>
      </p:sp>
      <p:sp>
        <p:nvSpPr>
          <p:cNvPr id="6" name="Tiêu đề cột"/>
          <p:cNvSpPr/>
          <p:nvPr/>
        </p:nvSpPr>
        <p:spPr>
          <a:xfrm>
            <a:off x="548640" y="1783080"/>
            <a:ext cx="5394960" cy="706120"/>
          </a:xfrm>
          <a:prstGeom prst="roundRect">
            <a:avLst>
              <a:gd name="adj" fmla="val 23309"/>
            </a:avLst>
          </a:prstGeom>
          <a:solidFill>
            <a:srgbClr val="962B7C"/>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Danh mục</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EBD9E1"/>
          </a:solidFill>
          <a:ln/>
        </p:spPr>
      </p:sp>
      <p:sp>
        <p:nvSpPr>
          <p:cNvPr id="9" name="Dấu đầu dòng"/>
          <p:cNvSpPr/>
          <p:nvPr/>
        </p:nvSpPr>
        <p:spPr>
          <a:xfrm>
            <a:off x="822960" y="2962910"/>
            <a:ext cx="182880" cy="182880"/>
          </a:xfrm>
          <a:prstGeom prst="ellipse">
            <a:avLst/>
          </a:prstGeom>
          <a:solidFill>
            <a:srgbClr val="962B7C"/>
          </a:solidFill>
          <a:ln/>
        </p:spPr>
      </p:sp>
      <p:sp>
        <p:nvSpPr>
          <p:cNvPr id="10" name="Text 8"/>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8 tài liệu, xếp A–Z theo họ</a:t>
            </a:r>
            <a:endParaRPr lang="en-US" sz="2600" dirty="0"/>
          </a:p>
        </p:txBody>
      </p:sp>
      <p:sp>
        <p:nvSpPr>
          <p:cNvPr id="11" name="Dấu đầu dòng"/>
          <p:cNvSpPr/>
          <p:nvPr/>
        </p:nvSpPr>
        <p:spPr>
          <a:xfrm>
            <a:off x="822960" y="3681730"/>
            <a:ext cx="182880" cy="182880"/>
          </a:xfrm>
          <a:prstGeom prst="ellipse">
            <a:avLst/>
          </a:prstGeom>
          <a:solidFill>
            <a:srgbClr val="962B7C"/>
          </a:solidFill>
          <a:ln/>
        </p:spPr>
      </p:sp>
      <p:sp>
        <p:nvSpPr>
          <p:cNvPr id="12" name="Text 10"/>
          <p:cNvSpPr txBox="1"/>
          <p:nvPr/>
        </p:nvSpPr>
        <p:spPr>
          <a:xfrm>
            <a:off x="109728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Họ trước, viết tắt, giữ dấu</a:t>
            </a:r>
            <a:endParaRPr lang="en-US" sz="2600" dirty="0"/>
          </a:p>
        </p:txBody>
      </p:sp>
      <p:sp>
        <p:nvSpPr>
          <p:cNvPr id="13" name="Dấu đầu dòng"/>
          <p:cNvSpPr/>
          <p:nvPr/>
        </p:nvSpPr>
        <p:spPr>
          <a:xfrm>
            <a:off x="822960" y="4400550"/>
            <a:ext cx="182880" cy="182880"/>
          </a:xfrm>
          <a:prstGeom prst="ellipse">
            <a:avLst/>
          </a:prstGeom>
          <a:solidFill>
            <a:srgbClr val="962B7C"/>
          </a:solidFill>
          <a:ln/>
        </p:spPr>
      </p:sp>
      <p:sp>
        <p:nvSpPr>
          <p:cNvPr id="14" name="Text 12"/>
          <p:cNvSpPr txBox="1"/>
          <p:nvPr/>
        </p:nvSpPr>
        <p:spPr>
          <a:xfrm>
            <a:off x="1097280" y="420116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Tạp chí, số tập nghiêng; DOI https</a:t>
            </a:r>
            <a:endParaRPr lang="en-US" sz="2600" dirty="0"/>
          </a:p>
        </p:txBody>
      </p:sp>
      <p:sp>
        <p:nvSpPr>
          <p:cNvPr id="15" name="Dấu đầu dòng"/>
          <p:cNvSpPr/>
          <p:nvPr/>
        </p:nvSpPr>
        <p:spPr>
          <a:xfrm>
            <a:off x="822960" y="5548630"/>
            <a:ext cx="182880" cy="182880"/>
          </a:xfrm>
          <a:prstGeom prst="ellipse">
            <a:avLst/>
          </a:prstGeom>
          <a:solidFill>
            <a:srgbClr val="962B7C"/>
          </a:solidFill>
          <a:ln/>
        </p:spPr>
      </p:sp>
      <p:sp>
        <p:nvSpPr>
          <p:cNvPr id="16" name="Text 14"/>
          <p:cNvSpPr txBox="1"/>
          <p:nvPr/>
        </p:nvSpPr>
        <p:spPr>
          <a:xfrm>
            <a:off x="1097280" y="53492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Trích dẫn khớp danh mục</a:t>
            </a:r>
            <a:endParaRPr lang="en-US" sz="2600" dirty="0"/>
          </a:p>
        </p:txBody>
      </p:sp>
      <p:sp>
        <p:nvSpPr>
          <p:cNvPr id="17" name="Tiêu đề cột"/>
          <p:cNvSpPr/>
          <p:nvPr/>
        </p:nvSpPr>
        <p:spPr>
          <a:xfrm>
            <a:off x="6217920" y="1783080"/>
            <a:ext cx="5394960" cy="706120"/>
          </a:xfrm>
          <a:prstGeom prst="roundRect">
            <a:avLst>
              <a:gd name="adj" fmla="val 23309"/>
            </a:avLst>
          </a:prstGeom>
          <a:solidFill>
            <a:srgbClr val="49B296"/>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Tổng quan và liêm chính</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DFEEE5"/>
          </a:solidFill>
          <a:ln/>
        </p:spPr>
      </p:sp>
      <p:sp>
        <p:nvSpPr>
          <p:cNvPr id="20" name="Dấu đầu dòng"/>
          <p:cNvSpPr/>
          <p:nvPr/>
        </p:nvSpPr>
        <p:spPr>
          <a:xfrm>
            <a:off x="6492240" y="2962910"/>
            <a:ext cx="182880" cy="182880"/>
          </a:xfrm>
          <a:prstGeom prst="ellipse">
            <a:avLst/>
          </a:prstGeom>
          <a:solidFill>
            <a:srgbClr val="49B296"/>
          </a:solidFill>
          <a:ln/>
        </p:spPr>
      </p:sp>
      <p:sp>
        <p:nvSpPr>
          <p:cNvPr id="21" name="Text 19"/>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Chỉ tài liệu đã đọc</a:t>
            </a:r>
            <a:endParaRPr lang="en-US" sz="2600" dirty="0"/>
          </a:p>
        </p:txBody>
      </p:sp>
      <p:sp>
        <p:nvSpPr>
          <p:cNvPr id="22" name="Dấu đầu dòng"/>
          <p:cNvSpPr/>
          <p:nvPr/>
        </p:nvSpPr>
        <p:spPr>
          <a:xfrm>
            <a:off x="6492240" y="3681730"/>
            <a:ext cx="182880" cy="182880"/>
          </a:xfrm>
          <a:prstGeom prst="ellipse">
            <a:avLst/>
          </a:prstGeom>
          <a:solidFill>
            <a:srgbClr val="49B296"/>
          </a:solidFill>
          <a:ln/>
        </p:spPr>
      </p:sp>
      <p:sp>
        <p:nvSpPr>
          <p:cNvPr id="23" name="Text 21"/>
          <p:cNvSpPr txBox="1"/>
          <p:nvPr/>
        </p:nvSpPr>
        <p:spPr>
          <a:xfrm>
            <a:off x="676656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Theo chủ đề, có so sánh</a:t>
            </a:r>
            <a:endParaRPr lang="en-US" sz="2600" dirty="0"/>
          </a:p>
        </p:txBody>
      </p:sp>
      <p:sp>
        <p:nvSpPr>
          <p:cNvPr id="24" name="Dấu đầu dòng"/>
          <p:cNvSpPr/>
          <p:nvPr/>
        </p:nvSpPr>
        <p:spPr>
          <a:xfrm>
            <a:off x="6492240" y="4400550"/>
            <a:ext cx="182880" cy="182880"/>
          </a:xfrm>
          <a:prstGeom prst="ellipse">
            <a:avLst/>
          </a:prstGeom>
          <a:solidFill>
            <a:srgbClr val="49B296"/>
          </a:solidFill>
          <a:ln/>
        </p:spPr>
      </p:sp>
      <p:sp>
        <p:nvSpPr>
          <p:cNvPr id="25" name="Text 23"/>
          <p:cNvSpPr txBox="1"/>
          <p:nvPr/>
        </p:nvSpPr>
        <p:spPr>
          <a:xfrm>
            <a:off x="676656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Kết bằng khoảng trống</a:t>
            </a:r>
            <a:endParaRPr lang="en-US" sz="2600" dirty="0"/>
          </a:p>
        </p:txBody>
      </p:sp>
      <p:sp>
        <p:nvSpPr>
          <p:cNvPr id="26" name="Dấu đầu dòng"/>
          <p:cNvSpPr/>
          <p:nvPr/>
        </p:nvSpPr>
        <p:spPr>
          <a:xfrm>
            <a:off x="6492240" y="5119370"/>
            <a:ext cx="182880" cy="182880"/>
          </a:xfrm>
          <a:prstGeom prst="ellipse">
            <a:avLst/>
          </a:prstGeom>
          <a:solidFill>
            <a:srgbClr val="49B296"/>
          </a:solidFill>
          <a:ln/>
        </p:spPr>
      </p:sp>
      <p:sp>
        <p:nvSpPr>
          <p:cNvPr id="27" name="Text 25"/>
          <p:cNvSpPr txBox="1"/>
          <p:nvPr/>
        </p:nvSpPr>
        <p:spPr>
          <a:xfrm>
            <a:off x="6766560" y="491998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Tài liệu AI gợi ý đã kiểm chứng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FF9259"/>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Marketing Association. (2017).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Definitions of marketing</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https://www.ama.org/the-definition-of-marketing-what-is-marketing/</a:t>
            </a:r>
            <a:endParaRPr lang="en-US" sz="2400" dirty="0"/>
          </a:p>
        </p:txBody>
      </p:sp>
      <p:sp>
        <p:nvSpPr>
          <p:cNvPr id="8" name="Dấu đầu dòng"/>
          <p:cNvSpPr/>
          <p:nvPr/>
        </p:nvSpPr>
        <p:spPr>
          <a:xfrm>
            <a:off x="585216" y="3389376"/>
            <a:ext cx="164592" cy="164592"/>
          </a:xfrm>
          <a:prstGeom prst="ellipse">
            <a:avLst/>
          </a:prstGeom>
          <a:solidFill>
            <a:srgbClr val="962B7C"/>
          </a:solidFill>
          <a:ln/>
        </p:spPr>
      </p:sp>
      <p:sp>
        <p:nvSpPr>
          <p:cNvPr id="9" name="Text 7"/>
          <p:cNvSpPr txBox="1"/>
          <p:nvPr/>
        </p:nvSpPr>
        <p:spPr>
          <a:xfrm>
            <a:off x="914400" y="319735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Psychological Association. (2020).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Publication manual of the American Psychological Association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https://doi.org/10.1037/0000165-000</a:t>
            </a:r>
            <a:endParaRPr lang="en-US" sz="2400" dirty="0"/>
          </a:p>
        </p:txBody>
      </p:sp>
      <p:sp>
        <p:nvSpPr>
          <p:cNvPr id="10" name="Dấu đầu dòng"/>
          <p:cNvSpPr/>
          <p:nvPr/>
        </p:nvSpPr>
        <p:spPr>
          <a:xfrm>
            <a:off x="585216" y="4803648"/>
            <a:ext cx="164592" cy="164592"/>
          </a:xfrm>
          <a:prstGeom prst="ellipse">
            <a:avLst/>
          </a:prstGeom>
          <a:solidFill>
            <a:srgbClr val="FFD23B"/>
          </a:solidFill>
          <a:ln/>
        </p:spPr>
      </p:sp>
      <p:sp>
        <p:nvSpPr>
          <p:cNvPr id="11" name="Text 9"/>
          <p:cNvSpPr txBox="1"/>
          <p:nvPr/>
        </p:nvSpPr>
        <p:spPr>
          <a:xfrm>
            <a:off x="914400" y="461162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Hair, J. F., Black, W. C., Babin, B. J., &amp; Anderson, R. E.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Multivariate data analysis</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962B7C"/>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P., &amp; Keller, K. L. (2012).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management</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(14th ed.). Pearson Education.</a:t>
            </a:r>
            <a:endParaRPr lang="en-US" sz="2400" dirty="0"/>
          </a:p>
        </p:txBody>
      </p:sp>
      <p:sp>
        <p:nvSpPr>
          <p:cNvPr id="8" name="Dấu đầu dòng"/>
          <p:cNvSpPr/>
          <p:nvPr/>
        </p:nvSpPr>
        <p:spPr>
          <a:xfrm>
            <a:off x="585216" y="2993136"/>
            <a:ext cx="164592" cy="164592"/>
          </a:xfrm>
          <a:prstGeom prst="ellipse">
            <a:avLst/>
          </a:prstGeom>
          <a:solidFill>
            <a:srgbClr val="FFD23B"/>
          </a:solidFill>
          <a:ln/>
        </p:spPr>
      </p:sp>
      <p:sp>
        <p:nvSpPr>
          <p:cNvPr id="9" name="Text 7"/>
          <p:cNvSpPr txBox="1"/>
          <p:nvPr/>
        </p:nvSpPr>
        <p:spPr>
          <a:xfrm>
            <a:off x="914400" y="280111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Le, Q. H. (2019). Factors affecting brand values of private universities: A case study of HUTECH.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Journal of Asian Finance, Economics and Business, 6</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159–167. https://doi.org/10.13106/jafeb.2019.vol6.no1.159</a:t>
            </a:r>
            <a:endParaRPr lang="en-US" sz="2400" dirty="0"/>
          </a:p>
        </p:txBody>
      </p:sp>
      <p:sp>
        <p:nvSpPr>
          <p:cNvPr id="10" name="Dấu đầu dòng"/>
          <p:cNvSpPr/>
          <p:nvPr/>
        </p:nvSpPr>
        <p:spPr>
          <a:xfrm>
            <a:off x="585216" y="4407408"/>
            <a:ext cx="164592" cy="164592"/>
          </a:xfrm>
          <a:prstGeom prst="ellipse">
            <a:avLst/>
          </a:prstGeom>
          <a:solidFill>
            <a:srgbClr val="49B296"/>
          </a:solidFill>
          <a:ln/>
        </p:spPr>
      </p:sp>
      <p:sp>
        <p:nvSpPr>
          <p:cNvPr id="11" name="Text 9"/>
          <p:cNvSpPr txBox="1"/>
          <p:nvPr/>
        </p:nvSpPr>
        <p:spPr>
          <a:xfrm>
            <a:off x="914400" y="421538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 H. (2017).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Phân tích dữ liệu trong kinh doanh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Nhà xuất bản Kinh tế TP. Hồ Chí Minh.</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FFD23B"/>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 H., Nguyễn, Q. T., Nguyễn, T. N. Á., Trần, T. H., Lê, H. N., &amp; Nguyễn, N. D. (2023).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Ứng dụng SPSS – AMOS – PLS phân tích dữ liệu trong kinh doanh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Nhà xuất bản Tài chính.</a:t>
            </a:r>
            <a:endParaRPr lang="en-US" sz="2400" dirty="0"/>
          </a:p>
        </p:txBody>
      </p:sp>
      <p:sp>
        <p:nvSpPr>
          <p:cNvPr id="8" name="Dấu đầu dòng"/>
          <p:cNvSpPr/>
          <p:nvPr/>
        </p:nvSpPr>
        <p:spPr>
          <a:xfrm>
            <a:off x="585216" y="3389376"/>
            <a:ext cx="164592" cy="164592"/>
          </a:xfrm>
          <a:prstGeom prst="ellipse">
            <a:avLst/>
          </a:prstGeom>
          <a:solidFill>
            <a:srgbClr val="49B296"/>
          </a:solidFill>
          <a:ln/>
        </p:spPr>
      </p:sp>
      <p:sp>
        <p:nvSpPr>
          <p:cNvPr id="9" name="Text 7"/>
          <p:cNvSpPr txBox="1"/>
          <p:nvPr/>
        </p:nvSpPr>
        <p:spPr>
          <a:xfrm>
            <a:off x="914400" y="3197352"/>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10" name="Dấu đầu dòng"/>
          <p:cNvSpPr/>
          <p:nvPr/>
        </p:nvSpPr>
        <p:spPr>
          <a:xfrm>
            <a:off x="585216" y="4407408"/>
            <a:ext cx="164592" cy="164592"/>
          </a:xfrm>
          <a:prstGeom prst="ellipse">
            <a:avLst/>
          </a:prstGeom>
          <a:solidFill>
            <a:srgbClr val="FF5178"/>
          </a:solidFill>
          <a:ln/>
        </p:spPr>
      </p:sp>
      <p:sp>
        <p:nvSpPr>
          <p:cNvPr id="11" name="Text 9"/>
          <p:cNvSpPr txBox="1"/>
          <p:nvPr/>
        </p:nvSpPr>
        <p:spPr>
          <a:xfrm>
            <a:off x="914400" y="421538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(2011).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Phương pháp nghiên cứu khoa học trong kinh doanh: Thiết kế và thực hiện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Nhà xuất bản Lao động – Xã hội.</a:t>
            </a:r>
            <a:endParaRPr lang="en-US" sz="2400" dirty="0"/>
          </a:p>
        </p:txBody>
      </p:sp>
      <p:sp>
        <p:nvSpPr>
          <p:cNvPr id="12" name="Dấu đầu dòng"/>
          <p:cNvSpPr/>
          <p:nvPr/>
        </p:nvSpPr>
        <p:spPr>
          <a:xfrm>
            <a:off x="585216" y="5425440"/>
            <a:ext cx="164592" cy="164592"/>
          </a:xfrm>
          <a:prstGeom prst="ellipse">
            <a:avLst/>
          </a:prstGeom>
          <a:solidFill>
            <a:srgbClr val="09A1E5"/>
          </a:solidFill>
          <a:ln/>
        </p:spPr>
      </p:sp>
      <p:sp>
        <p:nvSpPr>
          <p:cNvPr id="13" name="Text 11"/>
          <p:cNvSpPr txBox="1"/>
          <p:nvPr/>
        </p:nvSpPr>
        <p:spPr>
          <a:xfrm>
            <a:off x="914400" y="5233416"/>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&amp; Nguyễn, T. M. T. (2015).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Giáo trình nghiên cứu thị trường</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Nhà xuất bản Kinh tế TP. Hồ Chí Minh.</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53</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3 · Trích dẫn, danh mục APA 7 và tổng quan tài liệu</dc:title>
  <dc:subject>MKT1107 Nghiên cứu Marketing</dc:subject>
  <dc:creator>Đoàn Nguyễn Bảo Quyên</dc:creator>
  <cp:lastModifiedBy>Đoàn Nguyễn Bảo Quyên</cp:lastModifiedBy>
  <cp:revision>1</cp:revision>
  <dcterms:created xsi:type="dcterms:W3CDTF">2026-10-05T10:38:33Z</dcterms:created>
  <dcterms:modified xsi:type="dcterms:W3CDTF">2026-10-05T10:38:33Z</dcterms:modified>
</cp:coreProperties>
</file>