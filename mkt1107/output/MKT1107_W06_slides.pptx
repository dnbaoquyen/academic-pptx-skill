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fafa4045-0e9d-4eef-5ec0-296b8e6e282f}">
          <p14:sldIdLst>
            <p14:sldId id="256"/>
          </p14:sldIdLst>
        </p14:section>
        <p14:section name="S1 · Khởi động: in 1.000 phiếu rồi mới thấy câu hỏi sai" id="{e02cffb4-1cd1-8892-27b5-524d2c1a5875}">
          <p14:sldIdLst>
            <p14:sldId id="257"/>
            <p14:sldId id="258"/>
            <p14:sldId id="259"/>
          </p14:sldIdLst>
        </p14:section>
        <p14:section name="S2 · 4.1 Một số khái niệm trong nghiên cứu" id="{65319d6c-8b97-382f-178c-046969e8dbc1}">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33e59f0b-7dfd-782a-73c1-88ec6529bfaf}">
          <p14:sldIdLst>
            <p14:sldId id="274"/>
            <p14:sldId id="275"/>
            <p14:sldId id="276"/>
            <p14:sldId id="277"/>
            <p14:sldId id="278"/>
            <p14:sldId id="279"/>
            <p14:sldId id="280"/>
            <p14:sldId id="281"/>
            <p14:sldId id="282"/>
            <p14:sldId id="283"/>
          </p14:sldIdLst>
        </p14:section>
        <p14:section name="S4 · 4.2 Vấn đề nghiên cứu" id="{28b97ebc-ac7f-4839-68eb-859f1e31c18b}">
          <p14:sldIdLst>
            <p14:sldId id="284"/>
            <p14:sldId id="285"/>
            <p14:sldId id="286"/>
            <p14:sldId id="287"/>
            <p14:sldId id="288"/>
            <p14:sldId id="289"/>
            <p14:sldId id="290"/>
            <p14:sldId id="291"/>
            <p14:sldId id="292"/>
            <p14:sldId id="293"/>
          </p14:sldIdLst>
        </p14:section>
        <p14:section name="S5 · 4.3 Đề cương nghiên cứu marketing" id="{e17ab312-a77c-9d40-f365-4c107955c55a}">
          <p14:sldIdLst>
            <p14:sldId id="294"/>
            <p14:sldId id="295"/>
            <p14:sldId id="296"/>
            <p14:sldId id="297"/>
            <p14:sldId id="298"/>
            <p14:sldId id="299"/>
            <p14:sldId id="300"/>
            <p14:sldId id="301"/>
            <p14:sldId id="302"/>
            <p14:sldId id="303"/>
          </p14:sldIdLst>
        </p14:section>
        <p14:section name="S6 · Thực hành nhóm: từ vấn đề đến đề cương" id="{d21d9d21-773a-40a7-676f-edc0c5f4425f}">
          <p14:sldIdLst>
            <p14:sldId id="304"/>
            <p14:sldId id="305"/>
          </p14:sldIdLst>
        </p14:section>
        <p14:section name="S7 · Kết buổi" id="{ac5d33f8-67b0-e26a-482d-30387fa064b9}">
          <p14:sldIdLst>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74353"/>
                <a:gridCol w="5189887"/>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98301"/>
                <a:gridCol w="4590033"/>
                <a:gridCol w="31759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C6E4D8"/>
          </a:solidFill>
          <a:ln/>
        </p:spPr>
      </p:sp>
      <p:sp>
        <p:nvSpPr>
          <p:cNvPr id="8" name="Nhãn !"/>
          <p:cNvSpPr/>
          <p:nvPr/>
        </p:nvSpPr>
        <p:spPr>
          <a:xfrm>
            <a:off x="731520" y="4497324"/>
            <a:ext cx="457200" cy="457200"/>
          </a:xfrm>
          <a:prstGeom prst="ellipse">
            <a:avLst/>
          </a:prstGeom>
          <a:solidFill>
            <a:srgbClr val="49B296"/>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8171"/>
                <a:gridCol w="4416832"/>
                <a:gridCol w="335923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19757"/>
                <a:gridCol w="4061574"/>
                <a:gridCol w="42829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Biết mình biết"/>
          <p:cNvSpPr/>
          <p:nvPr/>
        </p:nvSpPr>
        <p:spPr>
          <a:xfrm>
            <a:off x="548640" y="1783080"/>
            <a:ext cx="3505200" cy="2806700"/>
          </a:xfrm>
          <a:prstGeom prst="roundRect">
            <a:avLst>
              <a:gd name="adj" fmla="val 586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biết</a:t>
            </a:r>
            <a:endParaRPr lang="en-US" sz="2800" dirty="0"/>
          </a:p>
        </p:txBody>
      </p:sp>
      <p:sp>
        <p:nvSpPr>
          <p:cNvPr id="10" name="Text 8"/>
          <p:cNvSpPr txBox="1"/>
          <p:nvPr/>
        </p:nvSpPr>
        <p:spPr>
          <a:xfrm>
            <a:off x="68580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chưa biết"/>
          <p:cNvSpPr/>
          <p:nvPr/>
        </p:nvSpPr>
        <p:spPr>
          <a:xfrm>
            <a:off x="4328160" y="1783080"/>
            <a:ext cx="3505200" cy="2806700"/>
          </a:xfrm>
          <a:prstGeom prst="roundRect">
            <a:avLst>
              <a:gd name="adj" fmla="val 586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chưa biết</a:t>
            </a:r>
            <a:endParaRPr lang="en-US" sz="2800" dirty="0"/>
          </a:p>
        </p:txBody>
      </p:sp>
      <p:sp>
        <p:nvSpPr>
          <p:cNvPr id="15" name="Text 13"/>
          <p:cNvSpPr txBox="1"/>
          <p:nvPr/>
        </p:nvSpPr>
        <p:spPr>
          <a:xfrm>
            <a:off x="446532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biết mình chưa biết"/>
          <p:cNvSpPr/>
          <p:nvPr/>
        </p:nvSpPr>
        <p:spPr>
          <a:xfrm>
            <a:off x="8107680" y="1783080"/>
            <a:ext cx="3505200" cy="2806700"/>
          </a:xfrm>
          <a:prstGeom prst="roundRect">
            <a:avLst>
              <a:gd name="adj" fmla="val 586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biết mình chưa biết</a:t>
            </a:r>
            <a:endParaRPr lang="en-US" sz="2800" dirty="0"/>
          </a:p>
        </p:txBody>
      </p:sp>
      <p:sp>
        <p:nvSpPr>
          <p:cNvPr id="20" name="Text 18"/>
          <p:cNvSpPr txBox="1"/>
          <p:nvPr/>
        </p:nvSpPr>
        <p:spPr>
          <a:xfrm>
            <a:off x="8244840" y="3505200"/>
            <a:ext cx="323088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55540"/>
            <a:ext cx="11064240" cy="1102360"/>
          </a:xfrm>
          <a:prstGeom prst="roundRect">
            <a:avLst>
              <a:gd name="adj" fmla="val 14931"/>
            </a:avLst>
          </a:prstGeom>
          <a:solidFill>
            <a:srgbClr val="DDBCD0"/>
          </a:solidFill>
          <a:ln/>
        </p:spPr>
      </p:sp>
      <p:sp>
        <p:nvSpPr>
          <p:cNvPr id="22" name="Nhãn !"/>
          <p:cNvSpPr/>
          <p:nvPr/>
        </p:nvSpPr>
        <p:spPr>
          <a:xfrm>
            <a:off x="731520" y="5278120"/>
            <a:ext cx="457200" cy="457200"/>
          </a:xfrm>
          <a:prstGeom prst="ellipse">
            <a:avLst/>
          </a:prstGeom>
          <a:solidFill>
            <a:srgbClr val="962B7C"/>
          </a:solidFill>
          <a:ln/>
        </p:spPr>
      </p:sp>
      <p:sp>
        <p:nvSpPr>
          <p:cNvPr id="23" name="Text 21"/>
          <p:cNvSpPr txBox="1"/>
          <p:nvPr/>
        </p:nvSpPr>
        <p:spPr>
          <a:xfrm>
            <a:off x="731520" y="52781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555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51947"/>
                <a:gridCol w="78122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80162"/>
                <a:gridCol w="3318535"/>
                <a:gridCol w="476554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659624"/>
                <a:gridCol w="54046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78759"/>
                <a:gridCol w="578548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FCC7CF"/>
          </a:solidFill>
          <a:ln/>
        </p:spPr>
      </p:sp>
      <p:sp>
        <p:nvSpPr>
          <p:cNvPr id="8" name="Nhãn !"/>
          <p:cNvSpPr/>
          <p:nvPr/>
        </p:nvSpPr>
        <p:spPr>
          <a:xfrm>
            <a:off x="731520" y="5229860"/>
            <a:ext cx="457200" cy="457200"/>
          </a:xfrm>
          <a:prstGeom prst="ellipse">
            <a:avLst/>
          </a:prstGeom>
          <a:solidFill>
            <a:srgbClr val="FF5178"/>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8384"/>
                <a:gridCol w="3378622"/>
                <a:gridCol w="481723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7374"/>
                <a:gridCol w="757686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74058"/>
                <a:gridCol w="559018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C7CF"/>
          </a:solidFill>
          <a:ln/>
        </p:spPr>
      </p:sp>
      <p:sp>
        <p:nvSpPr>
          <p:cNvPr id="8" name="Nhãn !"/>
          <p:cNvSpPr/>
          <p:nvPr/>
        </p:nvSpPr>
        <p:spPr>
          <a:xfrm>
            <a:off x="731520" y="5509260"/>
            <a:ext cx="457200" cy="457200"/>
          </a:xfrm>
          <a:prstGeom prst="ellipse">
            <a:avLst/>
          </a:prstGeom>
          <a:solidFill>
            <a:srgbClr val="FF5178"/>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09A1E5"/>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9259"/>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2026-10-05T10:38:30Z</dcterms:created>
  <dcterms:modified xsi:type="dcterms:W3CDTF">2026-10-05T10:38:30Z</dcterms:modified>
</cp:coreProperties>
</file>