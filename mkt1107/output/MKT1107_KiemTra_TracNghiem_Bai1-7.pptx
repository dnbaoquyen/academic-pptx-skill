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ở đầu" id="{4b4ee02a-b01d-ca74-0d7c-631069c0fcd4}">
          <p14:sldIdLst>
            <p14:sldId id="256"/>
            <p14:sldId id="257"/>
            <p14:sldId id="258"/>
            <p14:sldId id="259"/>
            <p14:sldId id="260"/>
            <p14:sldId id="261"/>
            <p14:sldId id="262"/>
            <p14:sldId id="263"/>
            <p14:sldId id="264"/>
            <p14:sldId id="265"/>
            <p14:sldId id="266"/>
            <p14:sldId id="267"/>
            <p14:sldId id="268"/>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tự chuyển sau 60 giây; bấm chuột hoặc phím mũi tên để chuyển sớm. Trong lúc slide này hiện, phát đề hoặc phiếu trả lời, yêu cầu sinh viên cất tài liệu, điện thoại và chỉ để lại bút, máy tính cầm tay.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Đọc to: bài kiểm tra trắc nghiệm cá nhân, 10 câu, mỗi câu 1 điểm, tổng 10 điểm, làm trong 15 phút, phạm vi Bài 1 đến Bài 7 (Buổi 1–9). Nhắc sinh viên ghi họ tên, mã số sinh viên và lớp ngay bây giờ, trước khi câu hỏi đầu tiên hiện lên. Ngày kiểm tra: giảng viên điền trên phiếu nếu cần.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Đọc lần lượt bốn quy định. Nhấn: mỗi câu chỉ có một đáp án đúng nhất; làm độc lập, không tài liệu, không trao đổi; được dùng máy tính cầm tay cho câu tính toán (câu 7); các tên người, thương hiệu và số liệu trong đề đều là giả định. Báo trước: mỗi câu hiện 60 giây rồi tự chuyển, 10 câu mất khoảng 10 phút; thời gian còn lại để rà soát và tô phiếu.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Câu 1 / 10 — Bài 1, phân loại nghiên cứu theo mức độ chuyên sâu. Slide tự chuyển sau 60 giây. Không giải thích thêm nội dung câu hỏi trong lúc sinh viên làm bài.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Câu 2 / 10 — Bài 2–3, trích dẫn trong bài theo APA 7. Slide tự chuyển sau 60 giây. Không giải thích thêm nội dung câu hỏi trong lúc sinh viên làm bài.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Câu 3 / 10 — Bài 2–3, kỹ năng viết tổng quan tài liệu. Câu này có đoạn trích dài; slide vẫn tự chuyển sau 60 giây. Không giải thích thêm nội dung câu hỏi trong lúc sinh viên làm bài.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Câu 4 / 10 — Bài 3, dùng AI trong nghiên cứu và kiểm chứng trích dẫn. Slide tự chuyển sau 60 giây. Không giải thích thêm nội dung câu hỏi trong lúc sinh viên làm bài.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Câu 5 / 10 — Bài 4, phân biệt vấn đề quản trị và vấn đề nghiên cứu. Slide tự chuyển sau 60 giây. Không giải thích thêm nội dung câu hỏi trong lúc sinh viên làm bài.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Câu 6 / 10 — Bài 5, chọn phương pháp thu thập dữ liệu cho câu hỏi nhân quả. Slide tự chuyển sau 60 giây. Không giải thích thêm nội dung câu hỏi trong lúc sinh viên làm bài.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Câu 7 / 10 — Bài 6, tính cỡ mẫu khi ước lượng tỷ lệ. Câu tính toán: sinh viên được dùng máy tính cầm tay. Slide tự chuyển sau 60 giây; nếu lớp cần thêm thời gian cho câu này, có thể bấm quay lại sau khi hết 10 câu. Không giải thích thêm nội dung câu hỏi.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Câu 8 / 10 — Bài 6, nhận diện phương pháp chọn mẫu. Slide tự chuyển sau 60 giây. Không giải thích thêm nội dung câu hỏi trong lúc sinh viên làm bài.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Câu 9 / 10 — Bài 7, các cấp thang đo và phép tính được phép. Slide tự chuyển sau 60 giây. Không giải thích thêm nội dung câu hỏi trong lúc sinh viên làm bài.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Câu 10 / 10 — Bài 7, độ tin cậy và giá trị của thang đo. Slide tự chuyển sau 60 giây sang slide kết thúc. Nhắc sinh viên kiểm tra lại họ tên, mã số sinh viên trước khi nộp.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kết thúc. Thời gian còn lại của 15 phút dành cho rà soát. Hết giờ: thu bài theo hàng, đếm đủ số bài trước khi cho lớp ra về. Slide này vẫn tự chuyển sau 60 giây; nếu muốn giữ màn hình này đến lúc thu bài, bấm phím B hoặc dừng trình chiếu ở đây.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172849"/>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rgbClr val="172849"/>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3840480" y="2240280"/>
            <a:ext cx="6766560" cy="2377440"/>
          </a:xfrm>
          <a:prstGeom prst="rect">
            <a:avLst/>
          </a:prstGeom>
          <a:noFill/>
          <a:ln/>
        </p:spPr>
        <p:txBody>
          <a:bodyPr wrap="square" rtlCol="0"/>
          <a:lstStyle>
            <a:lvl1pPr algn="l" indent="0" marL="0">
              <a:buNone/>
              <a:defRPr lang="en-US" b="1" dirty="0">
                <a:solidFill>
                  <a:srgbClr val="FBFAF4"/>
                </a:solidFill>
                <a:latin typeface="Alexandria" pitchFamily="34" charset="0"/>
                <a:ea typeface="Alexandria" pitchFamily="34" charset="-122"/>
                <a:cs typeface="Alexandria" pitchFamily="34" charset="-120"/>
              </a:defRPr>
            </a:lvl1pPr>
          </a:lstStyle>
          <a:p>
            <a:pPr algn="l" indent="0" marL="0">
              <a:buNone/>
            </a:pPr>
            <a:endParaRPr lang="en-US"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C9CDD8"/>
                </a:solidFill>
                <a:latin typeface="Alexandria"/>
                <a:ea typeface="Alexandria"/>
                <a:cs typeface="Alexandria"/>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172849"/>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0789920" cy="1280160"/>
          </a:xfrm>
          <a:prstGeom prst="rect">
            <a:avLst/>
          </a:prstGeom>
          <a:noFill/>
          <a:ln/>
        </p:spPr>
        <p:txBody>
          <a:bodyPr wrap="square" rtlCol="0"/>
          <a:lstStyle>
            <a:lvl1pPr algn="l" indent="0" marL="0">
              <a:buNone/>
              <a:defRPr lang="en-US" b="1" dirty="0">
                <a:solidFill>
                  <a:srgbClr val="FBFAF4"/>
                </a:solidFill>
                <a:latin typeface="Alexandria" pitchFamily="34" charset="0"/>
                <a:ea typeface="Alexandria" pitchFamily="34" charset="-122"/>
                <a:cs typeface="Alexandria" pitchFamily="34" charset="-120"/>
              </a:defRPr>
            </a:lvl1pPr>
          </a:lstStyle>
          <a:p>
            <a:pPr algn="l" indent="0" marL="0">
              <a:buNone/>
            </a:pPr>
            <a:endParaRPr lang="en-US"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C9CDD8"/>
                </a:solidFill>
                <a:latin typeface="Alexandria"/>
                <a:ea typeface="Alexandria"/>
                <a:cs typeface="Alexandria"/>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BLANK">
    <p:bg>
      <p:bgPr>
        <a:solidFill>
          <a:srgbClr val="172849"/>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C9CDD8"/>
                </a:solidFill>
                <a:latin typeface="Alexandria"/>
                <a:ea typeface="Alexandria"/>
                <a:cs typeface="Alexandria"/>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C9CDD8"/>
                </a:solidFill>
                <a:latin typeface="Alexandria"/>
                <a:ea typeface="Alexandria"/>
                <a:cs typeface="Alexandria"/>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rang trí"/>
          <p:cNvSpPr/>
          <p:nvPr/>
        </p:nvSpPr>
        <p:spPr>
          <a:xfrm>
            <a:off x="8229600" y="822960"/>
            <a:ext cx="4023360" cy="4023360"/>
          </a:xfrm>
          <a:prstGeom prst="ellipse">
            <a:avLst/>
          </a:prstGeom>
          <a:solidFill>
            <a:srgbClr val="962B7C"/>
          </a:solidFill>
          <a:ln/>
        </p:spPr>
      </p:sp>
      <p:sp>
        <p:nvSpPr>
          <p:cNvPr id="3" name="Trang trí"/>
          <p:cNvSpPr/>
          <p:nvPr/>
        </p:nvSpPr>
        <p:spPr>
          <a:xfrm>
            <a:off x="7589520" y="4206240"/>
            <a:ext cx="1920240" cy="1920240"/>
          </a:xfrm>
          <a:prstGeom prst="ellipse">
            <a:avLst/>
          </a:prstGeom>
          <a:solidFill>
            <a:srgbClr val="FFD23B"/>
          </a:solidFill>
          <a:ln/>
        </p:spPr>
      </p:sp>
      <p:sp>
        <p:nvSpPr>
          <p:cNvPr id="4" name="Trang trí"/>
          <p:cNvSpPr/>
          <p:nvPr/>
        </p:nvSpPr>
        <p:spPr>
          <a:xfrm>
            <a:off x="11064240" y="182880"/>
            <a:ext cx="1371600" cy="1371600"/>
          </a:xfrm>
          <a:prstGeom prst="ellipse">
            <a:avLst/>
          </a:prstGeom>
          <a:solidFill>
            <a:srgbClr val="49B296"/>
          </a:solidFill>
          <a:ln/>
        </p:spPr>
      </p:sp>
      <p:sp>
        <p:nvSpPr>
          <p:cNvPr id="5" name="Trang trí"/>
          <p:cNvSpPr/>
          <p:nvPr/>
        </p:nvSpPr>
        <p:spPr>
          <a:xfrm>
            <a:off x="10607040" y="4480560"/>
            <a:ext cx="1737360" cy="1737360"/>
          </a:xfrm>
          <a:prstGeom prst="ellipse">
            <a:avLst/>
          </a:prstGeom>
          <a:solidFill>
            <a:srgbClr val="FF9259"/>
          </a:solidFill>
          <a:ln/>
        </p:spPr>
      </p:sp>
      <p:sp>
        <p:nvSpPr>
          <p:cNvPr id="6" name="Trang trí"/>
          <p:cNvSpPr/>
          <p:nvPr/>
        </p:nvSpPr>
        <p:spPr>
          <a:xfrm>
            <a:off x="9966960" y="6035040"/>
            <a:ext cx="640080" cy="640080"/>
          </a:xfrm>
          <a:prstGeom prst="ellipse">
            <a:avLst/>
          </a:prstGeom>
          <a:solidFill>
            <a:srgbClr val="FF5178"/>
          </a:solidFill>
          <a:ln/>
        </p:spPr>
      </p:sp>
      <p:sp>
        <p:nvSpPr>
          <p:cNvPr id="7" name="Trang trí"/>
          <p:cNvSpPr/>
          <p:nvPr/>
        </p:nvSpPr>
        <p:spPr>
          <a:xfrm>
            <a:off x="7818120" y="502920"/>
            <a:ext cx="548640" cy="548640"/>
          </a:xfrm>
          <a:prstGeom prst="ellipse">
            <a:avLst/>
          </a:prstGeom>
          <a:solidFill>
            <a:srgbClr val="09A1E5"/>
          </a:solidFill>
          <a:ln/>
        </p:spPr>
      </p:sp>
      <p:sp>
        <p:nvSpPr>
          <p:cNvPr id="8" name="Text 6"/>
          <p:cNvSpPr txBox="1"/>
          <p:nvPr/>
        </p:nvSpPr>
        <p:spPr>
          <a:xfrm>
            <a:off x="8229600" y="822960"/>
            <a:ext cx="4023360" cy="4023360"/>
          </a:xfrm>
          <a:prstGeom prst="rect">
            <a:avLst/>
          </a:prstGeom>
          <a:noFill/>
          <a:ln/>
        </p:spPr>
        <p:txBody>
          <a:bodyPr wrap="square" lIns="0" tIns="0" rIns="0" bIns="0" rtlCol="0" anchor="ctr"/>
          <a:lstStyle/>
          <a:p>
            <a:pPr algn="ctr" indent="0" marL="0">
              <a:lnSpc>
                <a:spcPts val="10000"/>
              </a:lnSpc>
              <a:buNone/>
            </a:pPr>
            <a:r>
              <a:rPr lang="en-US" sz="2800" b="1" dirty="0">
                <a:solidFill>
                  <a:srgbClr val="FFFFFF"/>
                </a:solidFill>
                <a:latin typeface="Alexandria" pitchFamily="34" charset="0"/>
                <a:ea typeface="Alexandria" pitchFamily="34" charset="-122"/>
                <a:cs typeface="Alexandria" pitchFamily="34" charset="-120"/>
              </a:rPr>
              <a:t>BÀI</a:t>
            </a:r>
            <a:endParaRPr lang="en-US" sz="2800" dirty="0"/>
          </a:p>
          <a:p>
            <a:pPr algn="ctr" indent="0" marL="0">
              <a:lnSpc>
                <a:spcPts val="10000"/>
              </a:lnSpc>
              <a:buNone/>
            </a:pPr>
            <a:r>
              <a:rPr lang="en-US" sz="9600" b="1" dirty="0">
                <a:solidFill>
                  <a:srgbClr val="FFFFFF"/>
                </a:solidFill>
                <a:latin typeface="Alexandria" pitchFamily="34" charset="0"/>
                <a:ea typeface="Alexandria" pitchFamily="34" charset="-122"/>
                <a:cs typeface="Alexandria" pitchFamily="34" charset="-120"/>
              </a:rPr>
              <a:t>1–7</a:t>
            </a:r>
            <a:endParaRPr lang="en-US" sz="2800" dirty="0"/>
          </a:p>
        </p:txBody>
      </p:sp>
      <p:sp>
        <p:nvSpPr>
          <p:cNvPr id="9" name="Text 7"/>
          <p:cNvSpPr txBox="1"/>
          <p:nvPr/>
        </p:nvSpPr>
        <p:spPr>
          <a:xfrm>
            <a:off x="548640" y="731520"/>
            <a:ext cx="6949440" cy="548640"/>
          </a:xfrm>
          <a:prstGeom prst="rect">
            <a:avLst/>
          </a:prstGeom>
          <a:noFill/>
          <a:ln/>
        </p:spPr>
        <p:txBody>
          <a:bodyPr wrap="square" lIns="76200" tIns="76200" rIns="76200" bIns="76200" rtlCol="0" anchor="t"/>
          <a:lstStyle/>
          <a:p>
            <a:pPr algn="l" indent="0" marL="0">
              <a:lnSpc>
                <a:spcPts val="3100"/>
              </a:lnSpc>
              <a:buNone/>
            </a:pPr>
            <a:r>
              <a:rPr lang="en-US" sz="2400" b="1" dirty="0">
                <a:solidFill>
                  <a:srgbClr val="FFD23B"/>
                </a:solidFill>
                <a:latin typeface="Alexandria" pitchFamily="34" charset="0"/>
                <a:ea typeface="Alexandria" pitchFamily="34" charset="-122"/>
                <a:cs typeface="Alexandria" pitchFamily="34" charset="-120"/>
              </a:rPr>
              <a:t>MKT1107 · NGHIÊN CỨU MARKETING</a:t>
            </a:r>
            <a:endParaRPr lang="en-US" sz="2400" dirty="0"/>
          </a:p>
        </p:txBody>
      </p:sp>
      <p:sp>
        <p:nvSpPr>
          <p:cNvPr id="10" name="Text 8"/>
          <p:cNvSpPr txBox="1"/>
          <p:nvPr/>
        </p:nvSpPr>
        <p:spPr>
          <a:xfrm>
            <a:off x="548640" y="1463040"/>
            <a:ext cx="6949440" cy="2651760"/>
          </a:xfrm>
          <a:prstGeom prst="rect">
            <a:avLst/>
          </a:prstGeom>
          <a:noFill/>
          <a:ln/>
        </p:spPr>
        <p:txBody>
          <a:bodyPr wrap="square" lIns="76200" tIns="76200" rIns="76200" bIns="76200" rtlCol="0" anchor="ctr"/>
          <a:lstStyle/>
          <a:p>
            <a:pPr algn="l" indent="0" marL="0">
              <a:lnSpc>
                <a:spcPts val="6200"/>
              </a:lnSpc>
              <a:buNone/>
            </a:pPr>
            <a:r>
              <a:rPr lang="en-US" sz="4800" b="1" dirty="0">
                <a:solidFill>
                  <a:srgbClr val="FBFAF4"/>
                </a:solidFill>
                <a:latin typeface="Alexandria" pitchFamily="34" charset="0"/>
                <a:ea typeface="Alexandria" pitchFamily="34" charset="-122"/>
                <a:cs typeface="Alexandria" pitchFamily="34" charset="-120"/>
              </a:rPr>
              <a:t>Kiểm tra trắc nghiệm cá nhân</a:t>
            </a:r>
            <a:endParaRPr lang="en-US" sz="4800" dirty="0"/>
          </a:p>
        </p:txBody>
      </p:sp>
      <p:sp>
        <p:nvSpPr>
          <p:cNvPr id="11" name="Text 9"/>
          <p:cNvSpPr txBox="1"/>
          <p:nvPr/>
        </p:nvSpPr>
        <p:spPr>
          <a:xfrm>
            <a:off x="548640" y="4251960"/>
            <a:ext cx="6766560" cy="914400"/>
          </a:xfrm>
          <a:prstGeom prst="rect">
            <a:avLst/>
          </a:prstGeom>
          <a:noFill/>
          <a:ln/>
        </p:spPr>
        <p:txBody>
          <a:bodyPr wrap="square" lIns="76200" tIns="76200" rIns="76200" bIns="76200" rtlCol="0" anchor="t"/>
          <a:lstStyle/>
          <a:p>
            <a:pPr algn="l" indent="0" marL="0">
              <a:lnSpc>
                <a:spcPts val="3600"/>
              </a:lnSpc>
              <a:buNone/>
            </a:pPr>
            <a:r>
              <a:rPr lang="en-US" sz="2800" dirty="0">
                <a:solidFill>
                  <a:srgbClr val="C9CDD8"/>
                </a:solidFill>
                <a:latin typeface="Alexandria" pitchFamily="34" charset="0"/>
                <a:ea typeface="Alexandria" pitchFamily="34" charset="-122"/>
                <a:cs typeface="Alexandria" pitchFamily="34" charset="-120"/>
              </a:rPr>
              <a:t>Bài 1 đến Bài 7 (Buổi 1–9)</a:t>
            </a:r>
            <a:endParaRPr lang="en-US" sz="2800" dirty="0"/>
          </a:p>
        </p:txBody>
      </p:sp>
      <p:sp>
        <p:nvSpPr>
          <p:cNvPr id="12" name="Text 10"/>
          <p:cNvSpPr txBox="1"/>
          <p:nvPr/>
        </p:nvSpPr>
        <p:spPr>
          <a:xfrm>
            <a:off x="548640" y="5349240"/>
            <a:ext cx="6766560" cy="548640"/>
          </a:xfrm>
          <a:prstGeom prst="rect">
            <a:avLst/>
          </a:prstGeom>
          <a:noFill/>
          <a:ln/>
        </p:spPr>
        <p:txBody>
          <a:bodyPr wrap="square" lIns="76200" tIns="76200" rIns="76200" bIns="76200" rtlCol="0" anchor="t"/>
          <a:lstStyle/>
          <a:p>
            <a:pPr algn="l" indent="0" marL="0">
              <a:lnSpc>
                <a:spcPts val="3100"/>
              </a:lnSpc>
              <a:buNone/>
            </a:pPr>
            <a:r>
              <a:rPr lang="en-US" sz="2400" b="1" dirty="0">
                <a:solidFill>
                  <a:srgbClr val="FBFAF4"/>
                </a:solidFill>
                <a:latin typeface="Alexandria" pitchFamily="34" charset="0"/>
                <a:ea typeface="Alexandria" pitchFamily="34" charset="-122"/>
                <a:cs typeface="Alexandria" pitchFamily="34" charset="-120"/>
              </a:rPr>
              <a:t>GV: Đoàn Nguyễn Bảo Quyên</a:t>
            </a:r>
            <a:endParaRPr lang="en-US" sz="2400" dirty="0"/>
          </a:p>
        </p:txBody>
      </p:sp>
    </p:spTree>
  </p:cSld>
  <p:clrMapOvr>
    <a:masterClrMapping/>
  </p:clrMapOvr>
  <p:transition spd="med" advTm="60000">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09A1E5"/>
          </a:solidFill>
          <a:ln/>
        </p:spPr>
      </p:sp>
      <p:sp>
        <p:nvSpPr>
          <p:cNvPr id="3" name="Trang trí"/>
          <p:cNvSpPr/>
          <p:nvPr/>
        </p:nvSpPr>
        <p:spPr>
          <a:xfrm>
            <a:off x="11505895" y="868680"/>
            <a:ext cx="274320" cy="274320"/>
          </a:xfrm>
          <a:prstGeom prst="ellipse">
            <a:avLst/>
          </a:prstGeom>
          <a:solidFill>
            <a:srgbClr val="962B7C"/>
          </a:solidFill>
          <a:ln/>
        </p:spPr>
      </p:sp>
      <p:sp>
        <p:nvSpPr>
          <p:cNvPr id="4" name="Trang trí"/>
          <p:cNvSpPr/>
          <p:nvPr/>
        </p:nvSpPr>
        <p:spPr>
          <a:xfrm>
            <a:off x="-457200" y="6400800"/>
            <a:ext cx="914400" cy="914400"/>
          </a:xfrm>
          <a:prstGeom prst="ellipse">
            <a:avLst/>
          </a:prstGeom>
          <a:solidFill>
            <a:srgbClr val="49B296"/>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600" b="1" dirty="0">
                <a:solidFill>
                  <a:srgbClr val="FBFAF4"/>
                </a:solidFill>
                <a:latin typeface="Alexandria" pitchFamily="34" charset="0"/>
                <a:ea typeface="Alexandria" pitchFamily="34" charset="-122"/>
                <a:cs typeface="Alexandria" pitchFamily="34" charset="-120"/>
              </a:rPr>
              <a:t>10 câu, mỗi câu 1 điểm, làm trong 15 phút</a:t>
            </a:r>
            <a:endParaRPr lang="en-US" sz="3600" dirty="0"/>
          </a:p>
        </p:txBody>
      </p:sp>
      <p:sp>
        <p:nvSpPr>
          <p:cNvPr id="6" name="Ghi chú nổi bật"/>
          <p:cNvSpPr/>
          <p:nvPr/>
        </p:nvSpPr>
        <p:spPr>
          <a:xfrm>
            <a:off x="548640" y="5394960"/>
            <a:ext cx="11064240" cy="685800"/>
          </a:xfrm>
          <a:prstGeom prst="roundRect">
            <a:avLst>
              <a:gd name="adj" fmla="val 24000"/>
            </a:avLst>
          </a:prstGeom>
          <a:solidFill>
            <a:srgbClr val="5D484E"/>
          </a:solidFill>
          <a:ln/>
        </p:spPr>
      </p:sp>
      <p:sp>
        <p:nvSpPr>
          <p:cNvPr id="7" name="Nhãn !"/>
          <p:cNvSpPr/>
          <p:nvPr/>
        </p:nvSpPr>
        <p:spPr>
          <a:xfrm>
            <a:off x="731520" y="5509260"/>
            <a:ext cx="457200" cy="457200"/>
          </a:xfrm>
          <a:prstGeom prst="ellipse">
            <a:avLst/>
          </a:prstGeom>
          <a:solidFill>
            <a:srgbClr val="FF9259"/>
          </a:solidFill>
          <a:ln/>
        </p:spPr>
      </p:sp>
      <p:sp>
        <p:nvSpPr>
          <p:cNvPr id="8" name="Text 6"/>
          <p:cNvSpPr txBox="1"/>
          <p:nvPr/>
        </p:nvSpPr>
        <p:spPr>
          <a:xfrm>
            <a:off x="731520" y="5509260"/>
            <a:ext cx="457200" cy="457200"/>
          </a:xfrm>
          <a:prstGeom prst="rect">
            <a:avLst/>
          </a:prstGeom>
          <a:noFill/>
          <a:ln/>
        </p:spPr>
        <p:txBody>
          <a:bodyPr wrap="square" lIns="0" tIns="0" rIns="0" bIns="0" rtlCol="0" anchor="ctr"/>
          <a:lstStyle/>
          <a:p>
            <a:pPr algn="ctr" indent="0" marL="0">
              <a:buNone/>
            </a:pPr>
            <a:r>
              <a:rPr lang="en-US" sz="2600" b="1" dirty="0">
                <a:solidFill>
                  <a:srgbClr val="172849"/>
                </a:solidFill>
                <a:latin typeface="Alexandria" pitchFamily="34" charset="0"/>
                <a:ea typeface="Alexandria" pitchFamily="34" charset="-122"/>
                <a:cs typeface="Alexandria" pitchFamily="34" charset="-120"/>
              </a:rPr>
              <a:t>!</a:t>
            </a:r>
            <a:endParaRPr lang="en-US" sz="2600" dirty="0"/>
          </a:p>
        </p:txBody>
      </p:sp>
      <p:sp>
        <p:nvSpPr>
          <p:cNvPr id="9" name="Text 7"/>
          <p:cNvSpPr txBox="1"/>
          <p:nvPr/>
        </p:nvSpPr>
        <p:spPr>
          <a:xfrm>
            <a:off x="1325880" y="5394960"/>
            <a:ext cx="10149840" cy="68580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FBFAF4"/>
                </a:solidFill>
                <a:latin typeface="Alexandria" pitchFamily="34" charset="0"/>
                <a:ea typeface="Alexandria" pitchFamily="34" charset="-122"/>
                <a:cs typeface="Alexandria" pitchFamily="34" charset="-120"/>
              </a:rPr>
              <a:t>Ghi họ tên, mã số sinh viên và lớp lên bài làm</a:t>
            </a:r>
            <a:endParaRPr lang="en-US" sz="2600" dirty="0"/>
          </a:p>
        </p:txBody>
      </p:sp>
      <p:sp>
        <p:nvSpPr>
          <p:cNvPr id="10" name="Số liệu"/>
          <p:cNvSpPr/>
          <p:nvPr/>
        </p:nvSpPr>
        <p:spPr>
          <a:xfrm>
            <a:off x="548640" y="1783080"/>
            <a:ext cx="3505200" cy="3337560"/>
          </a:xfrm>
          <a:prstGeom prst="roundRect">
            <a:avLst>
              <a:gd name="adj" fmla="val 4932"/>
            </a:avLst>
          </a:prstGeom>
          <a:solidFill>
            <a:srgbClr val="153A60"/>
          </a:solidFill>
          <a:ln/>
        </p:spPr>
      </p:sp>
      <p:sp>
        <p:nvSpPr>
          <p:cNvPr id="11" name="Nhãn 10"/>
          <p:cNvSpPr/>
          <p:nvPr/>
        </p:nvSpPr>
        <p:spPr>
          <a:xfrm>
            <a:off x="1341120" y="1965960"/>
            <a:ext cx="1920240" cy="1920240"/>
          </a:xfrm>
          <a:prstGeom prst="ellipse">
            <a:avLst/>
          </a:prstGeom>
          <a:solidFill>
            <a:srgbClr val="09A1E5"/>
          </a:solidFill>
          <a:ln/>
        </p:spPr>
      </p:sp>
      <p:sp>
        <p:nvSpPr>
          <p:cNvPr id="12" name="Text 10"/>
          <p:cNvSpPr txBox="1"/>
          <p:nvPr/>
        </p:nvSpPr>
        <p:spPr>
          <a:xfrm>
            <a:off x="1341120" y="1965960"/>
            <a:ext cx="1920240" cy="1920240"/>
          </a:xfrm>
          <a:prstGeom prst="rect">
            <a:avLst/>
          </a:prstGeom>
          <a:noFill/>
          <a:ln/>
        </p:spPr>
        <p:txBody>
          <a:bodyPr wrap="square" lIns="0" tIns="0" rIns="0" bIns="0" rtlCol="0" anchor="ctr"/>
          <a:lstStyle/>
          <a:p>
            <a:pPr algn="ctr" indent="0" marL="0">
              <a:buNone/>
            </a:pPr>
            <a:r>
              <a:rPr lang="en-US" sz="4800" b="1" dirty="0">
                <a:solidFill>
                  <a:srgbClr val="172849"/>
                </a:solidFill>
                <a:latin typeface="Alexandria" pitchFamily="34" charset="0"/>
                <a:ea typeface="Alexandria" pitchFamily="34" charset="-122"/>
                <a:cs typeface="Alexandria" pitchFamily="34" charset="-120"/>
              </a:rPr>
              <a:t>10</a:t>
            </a:r>
            <a:endParaRPr lang="en-US" sz="4800" dirty="0"/>
          </a:p>
        </p:txBody>
      </p:sp>
      <p:sp>
        <p:nvSpPr>
          <p:cNvPr id="13" name="Text 11"/>
          <p:cNvSpPr txBox="1"/>
          <p:nvPr/>
        </p:nvSpPr>
        <p:spPr>
          <a:xfrm>
            <a:off x="685800" y="3977640"/>
            <a:ext cx="3230880" cy="109728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FBFAF4"/>
                </a:solidFill>
                <a:latin typeface="Alexandria" pitchFamily="34" charset="0"/>
                <a:ea typeface="Alexandria" pitchFamily="34" charset="-122"/>
                <a:cs typeface="Alexandria" pitchFamily="34" charset="-120"/>
              </a:rPr>
              <a:t>câu trắc nghiệm, tổng 10 điểm</a:t>
            </a:r>
            <a:endParaRPr lang="en-US" sz="2600" dirty="0"/>
          </a:p>
        </p:txBody>
      </p:sp>
      <p:sp>
        <p:nvSpPr>
          <p:cNvPr id="14" name="Số liệu"/>
          <p:cNvSpPr/>
          <p:nvPr/>
        </p:nvSpPr>
        <p:spPr>
          <a:xfrm>
            <a:off x="4328160" y="1783080"/>
            <a:ext cx="3505200" cy="3337560"/>
          </a:xfrm>
          <a:prstGeom prst="roundRect">
            <a:avLst>
              <a:gd name="adj" fmla="val 4932"/>
            </a:avLst>
          </a:prstGeom>
          <a:solidFill>
            <a:srgbClr val="3A384B"/>
          </a:solidFill>
          <a:ln/>
        </p:spPr>
      </p:sp>
      <p:sp>
        <p:nvSpPr>
          <p:cNvPr id="15" name="Nhãn 15'"/>
          <p:cNvSpPr/>
          <p:nvPr/>
        </p:nvSpPr>
        <p:spPr>
          <a:xfrm>
            <a:off x="5120640" y="1965960"/>
            <a:ext cx="1920240" cy="1920240"/>
          </a:xfrm>
          <a:prstGeom prst="ellipse">
            <a:avLst/>
          </a:prstGeom>
          <a:solidFill>
            <a:srgbClr val="FF9259"/>
          </a:solidFill>
          <a:ln/>
        </p:spPr>
      </p:sp>
      <p:sp>
        <p:nvSpPr>
          <p:cNvPr id="16" name="Text 14"/>
          <p:cNvSpPr txBox="1"/>
          <p:nvPr/>
        </p:nvSpPr>
        <p:spPr>
          <a:xfrm>
            <a:off x="5120640" y="1965960"/>
            <a:ext cx="1920240" cy="1920240"/>
          </a:xfrm>
          <a:prstGeom prst="rect">
            <a:avLst/>
          </a:prstGeom>
          <a:noFill/>
          <a:ln/>
        </p:spPr>
        <p:txBody>
          <a:bodyPr wrap="square" lIns="0" tIns="0" rIns="0" bIns="0" rtlCol="0" anchor="ctr"/>
          <a:lstStyle/>
          <a:p>
            <a:pPr algn="ctr" indent="0" marL="0">
              <a:buNone/>
            </a:pPr>
            <a:r>
              <a:rPr lang="en-US" sz="4800" b="1" dirty="0">
                <a:solidFill>
                  <a:srgbClr val="172849"/>
                </a:solidFill>
                <a:latin typeface="Alexandria" pitchFamily="34" charset="0"/>
                <a:ea typeface="Alexandria" pitchFamily="34" charset="-122"/>
                <a:cs typeface="Alexandria" pitchFamily="34" charset="-120"/>
              </a:rPr>
              <a:t>15'</a:t>
            </a:r>
            <a:endParaRPr lang="en-US" sz="4800" dirty="0"/>
          </a:p>
        </p:txBody>
      </p:sp>
      <p:sp>
        <p:nvSpPr>
          <p:cNvPr id="17" name="Text 15"/>
          <p:cNvSpPr txBox="1"/>
          <p:nvPr/>
        </p:nvSpPr>
        <p:spPr>
          <a:xfrm>
            <a:off x="4465320" y="3977640"/>
            <a:ext cx="3230880" cy="109728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FBFAF4"/>
                </a:solidFill>
                <a:latin typeface="Alexandria" pitchFamily="34" charset="0"/>
                <a:ea typeface="Alexandria" pitchFamily="34" charset="-122"/>
                <a:cs typeface="Alexandria" pitchFamily="34" charset="-120"/>
              </a:rPr>
              <a:t>thời gian làm bài</a:t>
            </a:r>
            <a:endParaRPr lang="en-US" sz="2600" dirty="0"/>
          </a:p>
        </p:txBody>
      </p:sp>
      <p:sp>
        <p:nvSpPr>
          <p:cNvPr id="18" name="Số liệu"/>
          <p:cNvSpPr/>
          <p:nvPr/>
        </p:nvSpPr>
        <p:spPr>
          <a:xfrm>
            <a:off x="8107680" y="1783080"/>
            <a:ext cx="3505200" cy="3337560"/>
          </a:xfrm>
          <a:prstGeom prst="roundRect">
            <a:avLst>
              <a:gd name="adj" fmla="val 4932"/>
            </a:avLst>
          </a:prstGeom>
          <a:solidFill>
            <a:srgbClr val="2A2851"/>
          </a:solidFill>
          <a:ln/>
        </p:spPr>
      </p:sp>
      <p:sp>
        <p:nvSpPr>
          <p:cNvPr id="19" name="Nhãn 1–7"/>
          <p:cNvSpPr/>
          <p:nvPr/>
        </p:nvSpPr>
        <p:spPr>
          <a:xfrm>
            <a:off x="8900160" y="1965960"/>
            <a:ext cx="1920240" cy="1920240"/>
          </a:xfrm>
          <a:prstGeom prst="ellipse">
            <a:avLst/>
          </a:prstGeom>
          <a:solidFill>
            <a:srgbClr val="962B7C"/>
          </a:solidFill>
          <a:ln/>
        </p:spPr>
      </p:sp>
      <p:sp>
        <p:nvSpPr>
          <p:cNvPr id="20" name="Text 18"/>
          <p:cNvSpPr txBox="1"/>
          <p:nvPr/>
        </p:nvSpPr>
        <p:spPr>
          <a:xfrm>
            <a:off x="8900160" y="1965960"/>
            <a:ext cx="1920240" cy="1920240"/>
          </a:xfrm>
          <a:prstGeom prst="rect">
            <a:avLst/>
          </a:prstGeom>
          <a:noFill/>
          <a:ln/>
        </p:spPr>
        <p:txBody>
          <a:bodyPr wrap="square" lIns="0" tIns="0" rIns="0" bIns="0" rtlCol="0" anchor="ctr"/>
          <a:lstStyle/>
          <a:p>
            <a:pPr algn="ctr" indent="0" marL="0">
              <a:buNone/>
            </a:pPr>
            <a:r>
              <a:rPr lang="en-US" sz="4800" b="1" dirty="0">
                <a:solidFill>
                  <a:srgbClr val="FFFFFF"/>
                </a:solidFill>
                <a:latin typeface="Alexandria" pitchFamily="34" charset="0"/>
                <a:ea typeface="Alexandria" pitchFamily="34" charset="-122"/>
                <a:cs typeface="Alexandria" pitchFamily="34" charset="-120"/>
              </a:rPr>
              <a:t>1–7</a:t>
            </a:r>
            <a:endParaRPr lang="en-US" sz="4800" dirty="0"/>
          </a:p>
        </p:txBody>
      </p:sp>
      <p:sp>
        <p:nvSpPr>
          <p:cNvPr id="21" name="Text 19"/>
          <p:cNvSpPr txBox="1"/>
          <p:nvPr/>
        </p:nvSpPr>
        <p:spPr>
          <a:xfrm>
            <a:off x="8244840" y="3977640"/>
            <a:ext cx="3230880" cy="1097280"/>
          </a:xfrm>
          <a:prstGeom prst="rect">
            <a:avLst/>
          </a:prstGeom>
          <a:noFill/>
          <a:ln/>
        </p:spPr>
        <p:txBody>
          <a:bodyPr wrap="square" lIns="76200" tIns="76200" rIns="76200" bIns="76200" rtlCol="0" anchor="t"/>
          <a:lstStyle/>
          <a:p>
            <a:pPr algn="l" indent="0" marL="0">
              <a:lnSpc>
                <a:spcPts val="3400"/>
              </a:lnSpc>
              <a:buNone/>
            </a:pPr>
            <a:r>
              <a:rPr lang="en-US" sz="2600" dirty="0">
                <a:solidFill>
                  <a:srgbClr val="FBFAF4"/>
                </a:solidFill>
                <a:latin typeface="Alexandria" pitchFamily="34" charset="0"/>
                <a:ea typeface="Alexandria" pitchFamily="34" charset="-122"/>
                <a:cs typeface="Alexandria" pitchFamily="34" charset="-120"/>
              </a:rPr>
              <a:t>Bài 1–7 (Buổi 1–9)</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C9CDD8"/>
                </a:solidFill>
                <a:latin typeface="Alexandria"/>
                <a:ea typeface="Alexandria"/>
                <a:cs typeface="Alexandria"/>
              </a:defRPr>
            </a:lvl1pPr>
          </a:lstStyle>
          <a:p>
            <a:pPr algn="r"/>
            <a:fld id="{F7021451-1387-4CA6-816F-3879F97B5CBC}" type="slidenum">
              <a:rPr b="0" lang="en-US"/>
              <a:t>2</a:t>
            </a:fld>
            <a:endParaRPr lang="en-US"/>
          </a:p>
        </p:txBody>
      </p:sp>
    </p:spTree>
  </p:cSld>
  <p:clrMapOvr>
    <a:masterClrMapping/>
  </p:clrMapOvr>
  <p:transition spd="med" advTm="60000">
    <p:fade/>
  </p:transition>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FF9259"/>
          </a:solidFill>
          <a:ln/>
        </p:spPr>
      </p:sp>
      <p:sp>
        <p:nvSpPr>
          <p:cNvPr id="3" name="Trang trí"/>
          <p:cNvSpPr/>
          <p:nvPr/>
        </p:nvSpPr>
        <p:spPr>
          <a:xfrm>
            <a:off x="11505895" y="868680"/>
            <a:ext cx="274320" cy="274320"/>
          </a:xfrm>
          <a:prstGeom prst="ellipse">
            <a:avLst/>
          </a:prstGeom>
          <a:solidFill>
            <a:srgbClr val="FFD23B"/>
          </a:solidFill>
          <a:ln/>
        </p:spPr>
      </p:sp>
      <p:sp>
        <p:nvSpPr>
          <p:cNvPr id="4" name="Trang trí"/>
          <p:cNvSpPr/>
          <p:nvPr/>
        </p:nvSpPr>
        <p:spPr>
          <a:xfrm>
            <a:off x="-457200" y="6400800"/>
            <a:ext cx="914400" cy="914400"/>
          </a:xfrm>
          <a:prstGeom prst="ellipse">
            <a:avLst/>
          </a:prstGeom>
          <a:solidFill>
            <a:srgbClr val="FF5178"/>
          </a:solidFill>
          <a:ln/>
        </p:spPr>
      </p:sp>
      <p:sp>
        <p:nvSpPr>
          <p:cNvPr id="5" name="Text 0"/>
          <p:cNvSpPr/>
          <p:nvPr>
            <p:ph idx="100" type="title" hasCustomPrompt="1"/>
          </p:nvPr>
        </p:nvSpPr>
        <p:spPr>
          <a:xfrm>
            <a:off x="548640" y="365760"/>
            <a:ext cx="10789920" cy="1280160"/>
          </a:xfrm>
          <a:prstGeom prst="rect">
            <a:avLst/>
          </a:prstGeom>
          <a:noFill/>
          <a:ln/>
        </p:spPr>
        <p:txBody>
          <a:bodyPr wrap="square" lIns="76200" tIns="76200" rIns="76200" bIns="76200" rtlCol="0" anchor="t"/>
          <a:lstStyle/>
          <a:p>
            <a:pPr algn="l" indent="0" marL="0">
              <a:buNone/>
            </a:pPr>
            <a:r>
              <a:rPr lang="en-US" sz="3600" b="1" dirty="0">
                <a:solidFill>
                  <a:srgbClr val="FBFAF4"/>
                </a:solidFill>
                <a:latin typeface="Alexandria" pitchFamily="34" charset="0"/>
                <a:ea typeface="Alexandria" pitchFamily="34" charset="-122"/>
                <a:cs typeface="Alexandria" pitchFamily="34" charset="-120"/>
              </a:rPr>
              <a:t>Hướng dẫn làm bài</a:t>
            </a:r>
            <a:endParaRPr lang="en-US" sz="3600" dirty="0"/>
          </a:p>
        </p:txBody>
      </p:sp>
      <p:sp>
        <p:nvSpPr>
          <p:cNvPr id="6" name="Nhãn 1"/>
          <p:cNvSpPr/>
          <p:nvPr/>
        </p:nvSpPr>
        <p:spPr>
          <a:xfrm>
            <a:off x="548640" y="1830705"/>
            <a:ext cx="502920" cy="502920"/>
          </a:xfrm>
          <a:prstGeom prst="ellipse">
            <a:avLst/>
          </a:prstGeom>
          <a:solidFill>
            <a:srgbClr val="FF9259"/>
          </a:solidFill>
          <a:ln/>
        </p:spPr>
      </p:sp>
      <p:sp>
        <p:nvSpPr>
          <p:cNvPr id="7" name="Text 5"/>
          <p:cNvSpPr txBox="1"/>
          <p:nvPr/>
        </p:nvSpPr>
        <p:spPr>
          <a:xfrm>
            <a:off x="548640" y="1830705"/>
            <a:ext cx="502920" cy="502920"/>
          </a:xfrm>
          <a:prstGeom prst="rect">
            <a:avLst/>
          </a:prstGeom>
          <a:noFill/>
          <a:ln/>
        </p:spPr>
        <p:txBody>
          <a:bodyPr wrap="square" lIns="0" tIns="0" rIns="0" bIns="0" rtlCol="0" anchor="ctr"/>
          <a:lstStyle/>
          <a:p>
            <a:pPr algn="ctr" indent="0" marL="0">
              <a:buNone/>
            </a:pPr>
            <a:r>
              <a:rPr lang="en-US" sz="2400" b="1" dirty="0">
                <a:solidFill>
                  <a:srgbClr val="172849"/>
                </a:solidFill>
                <a:latin typeface="Alexandria" pitchFamily="34" charset="0"/>
                <a:ea typeface="Alexandria" pitchFamily="34" charset="-122"/>
                <a:cs typeface="Alexandria" pitchFamily="34" charset="-120"/>
              </a:rPr>
              <a:t>1</a:t>
            </a:r>
            <a:endParaRPr lang="en-US" sz="2400" dirty="0"/>
          </a:p>
        </p:txBody>
      </p:sp>
      <p:sp>
        <p:nvSpPr>
          <p:cNvPr id="8" name="Text 6"/>
          <p:cNvSpPr txBox="1"/>
          <p:nvPr/>
        </p:nvSpPr>
        <p:spPr>
          <a:xfrm>
            <a:off x="1234440" y="1783080"/>
            <a:ext cx="10332720" cy="598170"/>
          </a:xfrm>
          <a:prstGeom prst="rect">
            <a:avLst/>
          </a:prstGeom>
          <a:noFill/>
          <a:ln/>
        </p:spPr>
        <p:txBody>
          <a:bodyPr wrap="square" lIns="76200" tIns="76200" rIns="76200" bIns="76200" rtlCol="0" anchor="t"/>
          <a:lstStyle/>
          <a:p>
            <a:pPr algn="l" indent="0" marL="0">
              <a:lnSpc>
                <a:spcPts val="3500"/>
              </a:lnSpc>
              <a:buNone/>
            </a:pPr>
            <a:r>
              <a:rPr lang="en-US" sz="2700" dirty="0">
                <a:solidFill>
                  <a:srgbClr val="FBFAF4"/>
                </a:solidFill>
                <a:latin typeface="Alexandria" pitchFamily="34" charset="0"/>
                <a:ea typeface="Alexandria" pitchFamily="34" charset="-122"/>
                <a:cs typeface="Alexandria" pitchFamily="34" charset="-120"/>
              </a:rPr>
              <a:t>Mỗi câu có </a:t>
            </a:r>
            <a:pPr algn="l" indent="0" marL="0">
              <a:lnSpc>
                <a:spcPts val="3500"/>
              </a:lnSpc>
              <a:buNone/>
            </a:pPr>
            <a:r>
              <a:rPr lang="en-US" sz="2700" b="1" dirty="0">
                <a:solidFill>
                  <a:srgbClr val="FBFAF4"/>
                </a:solidFill>
                <a:latin typeface="Alexandria" pitchFamily="34" charset="0"/>
                <a:ea typeface="Alexandria" pitchFamily="34" charset="-122"/>
                <a:cs typeface="Alexandria" pitchFamily="34" charset="-120"/>
              </a:rPr>
              <a:t>một</a:t>
            </a:r>
            <a:pPr algn="l" indent="0" marL="0">
              <a:lnSpc>
                <a:spcPts val="3500"/>
              </a:lnSpc>
              <a:buNone/>
            </a:pPr>
            <a:r>
              <a:rPr lang="en-US" sz="2700" dirty="0">
                <a:solidFill>
                  <a:srgbClr val="FBFAF4"/>
                </a:solidFill>
                <a:latin typeface="Alexandria" pitchFamily="34" charset="0"/>
                <a:ea typeface="Alexandria" pitchFamily="34" charset="-122"/>
                <a:cs typeface="Alexandria" pitchFamily="34" charset="-120"/>
              </a:rPr>
              <a:t> đáp án đúng nhất: chọn A, B, C hoặc D</a:t>
            </a:r>
            <a:endParaRPr lang="en-US" sz="2700" dirty="0"/>
          </a:p>
        </p:txBody>
      </p:sp>
      <p:sp>
        <p:nvSpPr>
          <p:cNvPr id="9" name="Nhãn 2"/>
          <p:cNvSpPr/>
          <p:nvPr/>
        </p:nvSpPr>
        <p:spPr>
          <a:xfrm>
            <a:off x="548640" y="2630043"/>
            <a:ext cx="502920" cy="502920"/>
          </a:xfrm>
          <a:prstGeom prst="ellipse">
            <a:avLst/>
          </a:prstGeom>
          <a:solidFill>
            <a:srgbClr val="962B7C"/>
          </a:solidFill>
          <a:ln/>
        </p:spPr>
      </p:sp>
      <p:sp>
        <p:nvSpPr>
          <p:cNvPr id="10" name="Text 8"/>
          <p:cNvSpPr txBox="1"/>
          <p:nvPr/>
        </p:nvSpPr>
        <p:spPr>
          <a:xfrm>
            <a:off x="548640" y="2630043"/>
            <a:ext cx="502920" cy="502920"/>
          </a:xfrm>
          <a:prstGeom prst="rect">
            <a:avLst/>
          </a:prstGeom>
          <a:noFill/>
          <a:ln/>
        </p:spPr>
        <p:txBody>
          <a:bodyPr wrap="square" lIns="0" tIns="0" rIns="0" bIns="0" rtlCol="0" anchor="ctr"/>
          <a:lstStyle/>
          <a:p>
            <a:pPr algn="ctr" indent="0" marL="0">
              <a:buNone/>
            </a:pPr>
            <a:r>
              <a:rPr lang="en-US" sz="2400" b="1" dirty="0">
                <a:solidFill>
                  <a:srgbClr val="FFFFFF"/>
                </a:solidFill>
                <a:latin typeface="Alexandria" pitchFamily="34" charset="0"/>
                <a:ea typeface="Alexandria" pitchFamily="34" charset="-122"/>
                <a:cs typeface="Alexandria" pitchFamily="34" charset="-120"/>
              </a:rPr>
              <a:t>2</a:t>
            </a:r>
            <a:endParaRPr lang="en-US" sz="2400" dirty="0"/>
          </a:p>
        </p:txBody>
      </p:sp>
      <p:sp>
        <p:nvSpPr>
          <p:cNvPr id="11" name="Text 9"/>
          <p:cNvSpPr txBox="1"/>
          <p:nvPr/>
        </p:nvSpPr>
        <p:spPr>
          <a:xfrm>
            <a:off x="1234440" y="2582418"/>
            <a:ext cx="10332720" cy="598170"/>
          </a:xfrm>
          <a:prstGeom prst="rect">
            <a:avLst/>
          </a:prstGeom>
          <a:noFill/>
          <a:ln/>
        </p:spPr>
        <p:txBody>
          <a:bodyPr wrap="square" lIns="76200" tIns="76200" rIns="76200" bIns="76200" rtlCol="0" anchor="t"/>
          <a:lstStyle/>
          <a:p>
            <a:pPr algn="l" indent="0" marL="0">
              <a:lnSpc>
                <a:spcPts val="3500"/>
              </a:lnSpc>
              <a:buNone/>
            </a:pPr>
            <a:r>
              <a:rPr lang="en-US" sz="2700" dirty="0">
                <a:solidFill>
                  <a:srgbClr val="FBFAF4"/>
                </a:solidFill>
                <a:latin typeface="Alexandria" pitchFamily="34" charset="0"/>
                <a:ea typeface="Alexandria" pitchFamily="34" charset="-122"/>
                <a:cs typeface="Alexandria" pitchFamily="34" charset="-120"/>
              </a:rPr>
              <a:t>Làm bài độc lập, không dùng tài liệu, không trao đổi</a:t>
            </a:r>
            <a:endParaRPr lang="en-US" sz="2700" dirty="0"/>
          </a:p>
        </p:txBody>
      </p:sp>
      <p:sp>
        <p:nvSpPr>
          <p:cNvPr id="12" name="Nhãn 3"/>
          <p:cNvSpPr/>
          <p:nvPr/>
        </p:nvSpPr>
        <p:spPr>
          <a:xfrm>
            <a:off x="548640" y="3429381"/>
            <a:ext cx="502920" cy="502920"/>
          </a:xfrm>
          <a:prstGeom prst="ellipse">
            <a:avLst/>
          </a:prstGeom>
          <a:solidFill>
            <a:srgbClr val="FFD23B"/>
          </a:solidFill>
          <a:ln/>
        </p:spPr>
      </p:sp>
      <p:sp>
        <p:nvSpPr>
          <p:cNvPr id="13" name="Text 11"/>
          <p:cNvSpPr txBox="1"/>
          <p:nvPr/>
        </p:nvSpPr>
        <p:spPr>
          <a:xfrm>
            <a:off x="548640" y="3429381"/>
            <a:ext cx="502920" cy="502920"/>
          </a:xfrm>
          <a:prstGeom prst="rect">
            <a:avLst/>
          </a:prstGeom>
          <a:noFill/>
          <a:ln/>
        </p:spPr>
        <p:txBody>
          <a:bodyPr wrap="square" lIns="0" tIns="0" rIns="0" bIns="0" rtlCol="0" anchor="ctr"/>
          <a:lstStyle/>
          <a:p>
            <a:pPr algn="ctr" indent="0" marL="0">
              <a:buNone/>
            </a:pPr>
            <a:r>
              <a:rPr lang="en-US" sz="2400" b="1" dirty="0">
                <a:solidFill>
                  <a:srgbClr val="172849"/>
                </a:solidFill>
                <a:latin typeface="Alexandria" pitchFamily="34" charset="0"/>
                <a:ea typeface="Alexandria" pitchFamily="34" charset="-122"/>
                <a:cs typeface="Alexandria" pitchFamily="34" charset="-120"/>
              </a:rPr>
              <a:t>3</a:t>
            </a:r>
            <a:endParaRPr lang="en-US" sz="2400" dirty="0"/>
          </a:p>
        </p:txBody>
      </p:sp>
      <p:sp>
        <p:nvSpPr>
          <p:cNvPr id="14" name="Text 12"/>
          <p:cNvSpPr txBox="1"/>
          <p:nvPr/>
        </p:nvSpPr>
        <p:spPr>
          <a:xfrm>
            <a:off x="1234440" y="3381756"/>
            <a:ext cx="10332720" cy="598170"/>
          </a:xfrm>
          <a:prstGeom prst="rect">
            <a:avLst/>
          </a:prstGeom>
          <a:noFill/>
          <a:ln/>
        </p:spPr>
        <p:txBody>
          <a:bodyPr wrap="square" lIns="76200" tIns="76200" rIns="76200" bIns="76200" rtlCol="0" anchor="t"/>
          <a:lstStyle/>
          <a:p>
            <a:pPr algn="l" indent="0" marL="0">
              <a:lnSpc>
                <a:spcPts val="3500"/>
              </a:lnSpc>
              <a:buNone/>
            </a:pPr>
            <a:r>
              <a:rPr lang="en-US" sz="2700" dirty="0">
                <a:solidFill>
                  <a:srgbClr val="FBFAF4"/>
                </a:solidFill>
                <a:latin typeface="Alexandria" pitchFamily="34" charset="0"/>
                <a:ea typeface="Alexandria" pitchFamily="34" charset="-122"/>
                <a:cs typeface="Alexandria" pitchFamily="34" charset="-120"/>
              </a:rPr>
              <a:t>Được dùng máy tính cầm tay cho câu tính toán</a:t>
            </a:r>
            <a:endParaRPr lang="en-US" sz="2700" dirty="0"/>
          </a:p>
        </p:txBody>
      </p:sp>
      <p:sp>
        <p:nvSpPr>
          <p:cNvPr id="15" name="Nhãn 4"/>
          <p:cNvSpPr/>
          <p:nvPr/>
        </p:nvSpPr>
        <p:spPr>
          <a:xfrm>
            <a:off x="548640" y="4228719"/>
            <a:ext cx="502920" cy="502920"/>
          </a:xfrm>
          <a:prstGeom prst="ellipse">
            <a:avLst/>
          </a:prstGeom>
          <a:solidFill>
            <a:srgbClr val="49B296"/>
          </a:solidFill>
          <a:ln/>
        </p:spPr>
      </p:sp>
      <p:sp>
        <p:nvSpPr>
          <p:cNvPr id="16" name="Text 14"/>
          <p:cNvSpPr txBox="1"/>
          <p:nvPr/>
        </p:nvSpPr>
        <p:spPr>
          <a:xfrm>
            <a:off x="548640" y="4228719"/>
            <a:ext cx="502920" cy="502920"/>
          </a:xfrm>
          <a:prstGeom prst="rect">
            <a:avLst/>
          </a:prstGeom>
          <a:noFill/>
          <a:ln/>
        </p:spPr>
        <p:txBody>
          <a:bodyPr wrap="square" lIns="0" tIns="0" rIns="0" bIns="0" rtlCol="0" anchor="ctr"/>
          <a:lstStyle/>
          <a:p>
            <a:pPr algn="ctr" indent="0" marL="0">
              <a:buNone/>
            </a:pPr>
            <a:r>
              <a:rPr lang="en-US" sz="2400" b="1" dirty="0">
                <a:solidFill>
                  <a:srgbClr val="172849"/>
                </a:solidFill>
                <a:latin typeface="Alexandria" pitchFamily="34" charset="0"/>
                <a:ea typeface="Alexandria" pitchFamily="34" charset="-122"/>
                <a:cs typeface="Alexandria" pitchFamily="34" charset="-120"/>
              </a:rPr>
              <a:t>4</a:t>
            </a:r>
            <a:endParaRPr lang="en-US" sz="2400" dirty="0"/>
          </a:p>
        </p:txBody>
      </p:sp>
      <p:sp>
        <p:nvSpPr>
          <p:cNvPr id="17" name="Text 15"/>
          <p:cNvSpPr txBox="1"/>
          <p:nvPr/>
        </p:nvSpPr>
        <p:spPr>
          <a:xfrm>
            <a:off x="1234440" y="4181094"/>
            <a:ext cx="10332720" cy="598170"/>
          </a:xfrm>
          <a:prstGeom prst="rect">
            <a:avLst/>
          </a:prstGeom>
          <a:noFill/>
          <a:ln/>
        </p:spPr>
        <p:txBody>
          <a:bodyPr wrap="square" lIns="76200" tIns="76200" rIns="76200" bIns="76200" rtlCol="0" anchor="t"/>
          <a:lstStyle/>
          <a:p>
            <a:pPr algn="l" indent="0" marL="0">
              <a:lnSpc>
                <a:spcPts val="3500"/>
              </a:lnSpc>
              <a:buNone/>
            </a:pPr>
            <a:r>
              <a:rPr lang="en-US" sz="2700" dirty="0">
                <a:solidFill>
                  <a:srgbClr val="FBFAF4"/>
                </a:solidFill>
                <a:latin typeface="Alexandria" pitchFamily="34" charset="0"/>
                <a:ea typeface="Alexandria" pitchFamily="34" charset="-122"/>
                <a:cs typeface="Alexandria" pitchFamily="34" charset="-120"/>
              </a:rPr>
              <a:t>Tên người, thương hiệu và số liệu trong đề đều là giả định</a:t>
            </a:r>
            <a:endParaRPr lang="en-US" sz="2700" dirty="0"/>
          </a:p>
        </p:txBody>
      </p:sp>
      <p:sp>
        <p:nvSpPr>
          <p:cNvPr id="18" name="Ghi chú nổi bật"/>
          <p:cNvSpPr/>
          <p:nvPr/>
        </p:nvSpPr>
        <p:spPr>
          <a:xfrm>
            <a:off x="548640" y="5145024"/>
            <a:ext cx="11064240" cy="685800"/>
          </a:xfrm>
          <a:prstGeom prst="roundRect">
            <a:avLst>
              <a:gd name="adj" fmla="val 24000"/>
            </a:avLst>
          </a:prstGeom>
          <a:solidFill>
            <a:srgbClr val="3D2958"/>
          </a:solidFill>
          <a:ln/>
        </p:spPr>
      </p:sp>
      <p:sp>
        <p:nvSpPr>
          <p:cNvPr id="19" name="Nhãn !"/>
          <p:cNvSpPr/>
          <p:nvPr/>
        </p:nvSpPr>
        <p:spPr>
          <a:xfrm>
            <a:off x="731520" y="5259324"/>
            <a:ext cx="457200" cy="457200"/>
          </a:xfrm>
          <a:prstGeom prst="ellipse">
            <a:avLst/>
          </a:prstGeom>
          <a:solidFill>
            <a:srgbClr val="962B7C"/>
          </a:solidFill>
          <a:ln/>
        </p:spPr>
      </p:sp>
      <p:sp>
        <p:nvSpPr>
          <p:cNvPr id="20" name="Text 18"/>
          <p:cNvSpPr txBox="1"/>
          <p:nvPr/>
        </p:nvSpPr>
        <p:spPr>
          <a:xfrm>
            <a:off x="731520" y="5259324"/>
            <a:ext cx="457200" cy="457200"/>
          </a:xfrm>
          <a:prstGeom prst="rect">
            <a:avLst/>
          </a:prstGeom>
          <a:noFill/>
          <a:ln/>
        </p:spPr>
        <p:txBody>
          <a:bodyPr wrap="square" lIns="0" tIns="0" rIns="0" bIns="0" rtlCol="0" anchor="ctr"/>
          <a:lstStyle/>
          <a:p>
            <a:pPr algn="ctr" indent="0" marL="0">
              <a:buNone/>
            </a:pPr>
            <a:r>
              <a:rPr lang="en-US" sz="2600" b="1" dirty="0">
                <a:solidFill>
                  <a:srgbClr val="FFFFFF"/>
                </a:solidFill>
                <a:latin typeface="Alexandria" pitchFamily="34" charset="0"/>
                <a:ea typeface="Alexandria" pitchFamily="34" charset="-122"/>
                <a:cs typeface="Alexandria" pitchFamily="34" charset="-120"/>
              </a:rPr>
              <a:t>!</a:t>
            </a:r>
            <a:endParaRPr lang="en-US" sz="2600" dirty="0"/>
          </a:p>
        </p:txBody>
      </p:sp>
      <p:sp>
        <p:nvSpPr>
          <p:cNvPr id="21" name="Text 19"/>
          <p:cNvSpPr txBox="1"/>
          <p:nvPr/>
        </p:nvSpPr>
        <p:spPr>
          <a:xfrm>
            <a:off x="1325880" y="5145024"/>
            <a:ext cx="10149840" cy="685800"/>
          </a:xfrm>
          <a:prstGeom prst="rect">
            <a:avLst/>
          </a:prstGeom>
          <a:noFill/>
          <a:ln/>
        </p:spPr>
        <p:txBody>
          <a:bodyPr wrap="square" lIns="76200" tIns="76200" rIns="76200" bIns="76200" rtlCol="0" anchor="ctr"/>
          <a:lstStyle/>
          <a:p>
            <a:pPr algn="l" indent="0" marL="0">
              <a:lnSpc>
                <a:spcPts val="3400"/>
              </a:lnSpc>
              <a:buNone/>
            </a:pPr>
            <a:r>
              <a:rPr lang="en-US" sz="2600" b="1" dirty="0">
                <a:solidFill>
                  <a:srgbClr val="FBFAF4"/>
                </a:solidFill>
                <a:latin typeface="Alexandria" pitchFamily="34" charset="0"/>
                <a:ea typeface="Alexandria" pitchFamily="34" charset="-122"/>
                <a:cs typeface="Alexandria" pitchFamily="34" charset="-120"/>
              </a:rPr>
              <a:t>Mỗi câu hiện 60 giây rồi tự chuyển</a:t>
            </a:r>
            <a:endParaRPr lang="en-US" sz="26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C9CDD8"/>
                </a:solidFill>
                <a:latin typeface="Alexandria"/>
                <a:ea typeface="Alexandria"/>
                <a:cs typeface="Alexandria"/>
              </a:defRPr>
            </a:lvl1pPr>
          </a:lstStyle>
          <a:p>
            <a:pPr algn="r"/>
            <a:fld id="{F7021451-1387-4CA6-816F-3879F97B5CBC}" type="slidenum">
              <a:rPr b="0" lang="en-US"/>
              <a:t>3</a:t>
            </a:fld>
            <a:endParaRPr lang="en-US"/>
          </a:p>
        </p:txBody>
      </p:sp>
    </p:spTree>
  </p:cSld>
  <p:clrMapOvr>
    <a:masterClrMapping/>
  </p:clrMapOvr>
  <p:transition spd="med" advTm="60000">
    <p:fade/>
  </p:transition>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962B7C"/>
          </a:solidFill>
          <a:ln/>
        </p:spPr>
      </p:sp>
      <p:sp>
        <p:nvSpPr>
          <p:cNvPr id="3" name="Trang trí"/>
          <p:cNvSpPr/>
          <p:nvPr/>
        </p:nvSpPr>
        <p:spPr>
          <a:xfrm>
            <a:off x="11505895" y="868680"/>
            <a:ext cx="274320" cy="274320"/>
          </a:xfrm>
          <a:prstGeom prst="ellipse">
            <a:avLst/>
          </a:prstGeom>
          <a:solidFill>
            <a:srgbClr val="49B296"/>
          </a:solidFill>
          <a:ln/>
        </p:spPr>
      </p:sp>
      <p:sp>
        <p:nvSpPr>
          <p:cNvPr id="4" name="Trang trí"/>
          <p:cNvSpPr/>
          <p:nvPr/>
        </p:nvSpPr>
        <p:spPr>
          <a:xfrm>
            <a:off x="-457200" y="6400800"/>
            <a:ext cx="914400" cy="914400"/>
          </a:xfrm>
          <a:prstGeom prst="ellipse">
            <a:avLst/>
          </a:prstGeom>
          <a:solidFill>
            <a:srgbClr val="09A1E5"/>
          </a:solidFill>
          <a:ln/>
        </p:spPr>
      </p:sp>
      <p:sp>
        <p:nvSpPr>
          <p:cNvPr id="5" name="Câu 1"/>
          <p:cNvSpPr txBox="1"/>
          <p:nvPr/>
        </p:nvSpPr>
        <p:spPr>
          <a:xfrm>
            <a:off x="548640" y="876300"/>
            <a:ext cx="1097280" cy="1097280"/>
          </a:xfrm>
          <a:prstGeom prst="ellipse">
            <a:avLst/>
          </a:prstGeom>
          <a:solidFill>
            <a:srgbClr val="FFD23B"/>
          </a:solidFill>
          <a:ln/>
        </p:spPr>
        <p:txBody>
          <a:bodyPr wrap="square" lIns="0" tIns="0" rIns="0" bIns="0" rtlCol="0" anchor="ctr"/>
          <a:lstStyle/>
          <a:p>
            <a:pPr algn="ctr" indent="0" marL="0">
              <a:lnSpc>
                <a:spcPts val="3600"/>
              </a:lnSpc>
              <a:buNone/>
            </a:pPr>
            <a:r>
              <a:rPr lang="en-US" sz="2400" b="1" dirty="0">
                <a:solidFill>
                  <a:srgbClr val="172849"/>
                </a:solidFill>
                <a:latin typeface="Alexandria" pitchFamily="34" charset="0"/>
                <a:ea typeface="Alexandria" pitchFamily="34" charset="-122"/>
                <a:cs typeface="Alexandria" pitchFamily="34" charset="-120"/>
              </a:rPr>
              <a:t>CÂU</a:t>
            </a:r>
            <a:endParaRPr lang="en-US" sz="2400" dirty="0"/>
          </a:p>
          <a:p>
            <a:pPr algn="ctr" indent="0" marL="0">
              <a:lnSpc>
                <a:spcPts val="3600"/>
              </a:lnSpc>
              <a:buNone/>
            </a:pPr>
            <a:r>
              <a:rPr lang="en-US" sz="3600" b="1" dirty="0">
                <a:solidFill>
                  <a:srgbClr val="172849"/>
                </a:solidFill>
                <a:latin typeface="Alexandria" pitchFamily="34" charset="0"/>
                <a:ea typeface="Alexandria" pitchFamily="34" charset="-122"/>
                <a:cs typeface="Alexandria" pitchFamily="34" charset="-120"/>
              </a:rPr>
              <a:t>1</a:t>
            </a:r>
            <a:endParaRPr lang="en-US" sz="2400" dirty="0"/>
          </a:p>
        </p:txBody>
      </p:sp>
      <p:sp>
        <p:nvSpPr>
          <p:cNvPr id="6" name="Text 4"/>
          <p:cNvSpPr txBox="1"/>
          <p:nvPr/>
        </p:nvSpPr>
        <p:spPr>
          <a:xfrm>
            <a:off x="1965960" y="876300"/>
            <a:ext cx="9281160" cy="2628900"/>
          </a:xfrm>
          <a:prstGeom prst="rect">
            <a:avLst/>
          </a:prstGeom>
          <a:noFill/>
          <a:ln/>
        </p:spPr>
        <p:txBody>
          <a:bodyPr wrap="square" lIns="76200" tIns="76200" rIns="76200" bIns="76200" rtlCol="0" anchor="t"/>
          <a:lstStyle/>
          <a:p>
            <a:pPr algn="l" indent="0" marL="0">
              <a:lnSpc>
                <a:spcPts val="3900"/>
              </a:lnSpc>
              <a:buNone/>
            </a:pPr>
            <a:r>
              <a:rPr lang="en-US" sz="3000" b="1" dirty="0">
                <a:solidFill>
                  <a:srgbClr val="FBFAF4"/>
                </a:solidFill>
                <a:latin typeface="Alexandria" pitchFamily="34" charset="0"/>
                <a:ea typeface="Alexandria" pitchFamily="34" charset="-122"/>
                <a:cs typeface="Alexandria" pitchFamily="34" charset="-120"/>
              </a:rPr>
              <a:t>Một chuỗi trà sữa muốn biết tỷ lệ khách hàng từ 18–25 tuổi trong tổng số khách và số lần mua trung bình mỗi tuần của nhóm khách này. Xét theo mức độ chuyên sâu, loại nghiên cứu phù hợp nhất là:</a:t>
            </a:r>
            <a:endParaRPr lang="en-US" sz="3000" dirty="0"/>
          </a:p>
        </p:txBody>
      </p:sp>
      <p:sp>
        <p:nvSpPr>
          <p:cNvPr id="7" name="Phương án A"/>
          <p:cNvSpPr/>
          <p:nvPr/>
        </p:nvSpPr>
        <p:spPr>
          <a:xfrm>
            <a:off x="548640" y="3779520"/>
            <a:ext cx="5394960" cy="739140"/>
          </a:xfrm>
          <a:prstGeom prst="roundRect">
            <a:avLst>
              <a:gd name="adj" fmla="val 22268"/>
            </a:avLst>
          </a:prstGeom>
          <a:solidFill>
            <a:srgbClr val="214458"/>
          </a:solidFill>
          <a:ln/>
        </p:spPr>
      </p:sp>
      <p:sp>
        <p:nvSpPr>
          <p:cNvPr id="8" name="Nhãn A"/>
          <p:cNvSpPr/>
          <p:nvPr/>
        </p:nvSpPr>
        <p:spPr>
          <a:xfrm>
            <a:off x="713232" y="3865626"/>
            <a:ext cx="566928" cy="566928"/>
          </a:xfrm>
          <a:prstGeom prst="ellipse">
            <a:avLst/>
          </a:prstGeom>
          <a:solidFill>
            <a:srgbClr val="49B296"/>
          </a:solidFill>
          <a:ln/>
        </p:spPr>
      </p:sp>
      <p:sp>
        <p:nvSpPr>
          <p:cNvPr id="9" name="Text 7"/>
          <p:cNvSpPr txBox="1"/>
          <p:nvPr/>
        </p:nvSpPr>
        <p:spPr>
          <a:xfrm>
            <a:off x="713232" y="3865626"/>
            <a:ext cx="566928" cy="566928"/>
          </a:xfrm>
          <a:prstGeom prst="rect">
            <a:avLst/>
          </a:prstGeom>
          <a:noFill/>
          <a:ln/>
        </p:spPr>
        <p:txBody>
          <a:bodyPr wrap="square" lIns="0" tIns="0" rIns="0" bIns="0" rtlCol="0" anchor="ctr"/>
          <a:lstStyle/>
          <a:p>
            <a:pPr algn="ctr" indent="0" marL="0">
              <a:buNone/>
            </a:pPr>
            <a:r>
              <a:rPr lang="en-US" sz="2600" b="1" dirty="0">
                <a:solidFill>
                  <a:srgbClr val="172849"/>
                </a:solidFill>
                <a:latin typeface="Alexandria" pitchFamily="34" charset="0"/>
                <a:ea typeface="Alexandria" pitchFamily="34" charset="-122"/>
                <a:cs typeface="Alexandria" pitchFamily="34" charset="-120"/>
              </a:rPr>
              <a:t>A</a:t>
            </a:r>
            <a:endParaRPr lang="en-US" sz="2600" dirty="0"/>
          </a:p>
        </p:txBody>
      </p:sp>
      <p:sp>
        <p:nvSpPr>
          <p:cNvPr id="10" name="Text 8"/>
          <p:cNvSpPr txBox="1"/>
          <p:nvPr/>
        </p:nvSpPr>
        <p:spPr>
          <a:xfrm>
            <a:off x="1417320" y="3779520"/>
            <a:ext cx="4416552" cy="739140"/>
          </a:xfrm>
          <a:prstGeom prst="rect">
            <a:avLst/>
          </a:prstGeom>
          <a:noFill/>
          <a:ln/>
        </p:spPr>
        <p:txBody>
          <a:bodyPr wrap="square" lIns="76200" tIns="76200" rIns="76200" bIns="76200" rtlCol="0" anchor="ctr"/>
          <a:lstStyle/>
          <a:p>
            <a:pPr algn="l" indent="0" marL="0">
              <a:lnSpc>
                <a:spcPts val="3900"/>
              </a:lnSpc>
              <a:buNone/>
            </a:pPr>
            <a:r>
              <a:rPr lang="en-US" sz="3000" dirty="0">
                <a:solidFill>
                  <a:srgbClr val="FBFAF4"/>
                </a:solidFill>
                <a:latin typeface="Alexandria" pitchFamily="34" charset="0"/>
                <a:ea typeface="Alexandria" pitchFamily="34" charset="-122"/>
                <a:cs typeface="Alexandria" pitchFamily="34" charset="-120"/>
              </a:rPr>
              <a:t>Nghiên cứu khám phá</a:t>
            </a:r>
            <a:endParaRPr lang="en-US" sz="3000" dirty="0"/>
          </a:p>
        </p:txBody>
      </p:sp>
      <p:sp>
        <p:nvSpPr>
          <p:cNvPr id="11" name="Phương án B"/>
          <p:cNvSpPr/>
          <p:nvPr/>
        </p:nvSpPr>
        <p:spPr>
          <a:xfrm>
            <a:off x="6217920" y="3779520"/>
            <a:ext cx="5394960" cy="739140"/>
          </a:xfrm>
          <a:prstGeom prst="roundRect">
            <a:avLst>
              <a:gd name="adj" fmla="val 22268"/>
            </a:avLst>
          </a:prstGeom>
          <a:solidFill>
            <a:srgbClr val="453052"/>
          </a:solidFill>
          <a:ln/>
        </p:spPr>
      </p:sp>
      <p:sp>
        <p:nvSpPr>
          <p:cNvPr id="12" name="Nhãn B"/>
          <p:cNvSpPr/>
          <p:nvPr/>
        </p:nvSpPr>
        <p:spPr>
          <a:xfrm>
            <a:off x="6382512" y="3865626"/>
            <a:ext cx="566928" cy="566928"/>
          </a:xfrm>
          <a:prstGeom prst="ellipse">
            <a:avLst/>
          </a:prstGeom>
          <a:solidFill>
            <a:srgbClr val="FF5178"/>
          </a:solidFill>
          <a:ln/>
        </p:spPr>
      </p:sp>
      <p:sp>
        <p:nvSpPr>
          <p:cNvPr id="13" name="Text 11"/>
          <p:cNvSpPr txBox="1"/>
          <p:nvPr/>
        </p:nvSpPr>
        <p:spPr>
          <a:xfrm>
            <a:off x="6382512" y="3865626"/>
            <a:ext cx="566928" cy="566928"/>
          </a:xfrm>
          <a:prstGeom prst="rect">
            <a:avLst/>
          </a:prstGeom>
          <a:noFill/>
          <a:ln/>
        </p:spPr>
        <p:txBody>
          <a:bodyPr wrap="square" lIns="0" tIns="0" rIns="0" bIns="0" rtlCol="0" anchor="ctr"/>
          <a:lstStyle/>
          <a:p>
            <a:pPr algn="ctr" indent="0" marL="0">
              <a:buNone/>
            </a:pPr>
            <a:r>
              <a:rPr lang="en-US" sz="2600" b="1" dirty="0">
                <a:solidFill>
                  <a:srgbClr val="172849"/>
                </a:solidFill>
                <a:latin typeface="Alexandria" pitchFamily="34" charset="0"/>
                <a:ea typeface="Alexandria" pitchFamily="34" charset="-122"/>
                <a:cs typeface="Alexandria" pitchFamily="34" charset="-120"/>
              </a:rPr>
              <a:t>B</a:t>
            </a:r>
            <a:endParaRPr lang="en-US" sz="2600" dirty="0"/>
          </a:p>
        </p:txBody>
      </p:sp>
      <p:sp>
        <p:nvSpPr>
          <p:cNvPr id="14" name="Text 12"/>
          <p:cNvSpPr txBox="1"/>
          <p:nvPr/>
        </p:nvSpPr>
        <p:spPr>
          <a:xfrm>
            <a:off x="7086600" y="3779520"/>
            <a:ext cx="4416552" cy="739140"/>
          </a:xfrm>
          <a:prstGeom prst="rect">
            <a:avLst/>
          </a:prstGeom>
          <a:noFill/>
          <a:ln/>
        </p:spPr>
        <p:txBody>
          <a:bodyPr wrap="square" lIns="76200" tIns="76200" rIns="76200" bIns="76200" rtlCol="0" anchor="ctr"/>
          <a:lstStyle/>
          <a:p>
            <a:pPr algn="l" indent="0" marL="0">
              <a:lnSpc>
                <a:spcPts val="3900"/>
              </a:lnSpc>
              <a:buNone/>
            </a:pPr>
            <a:r>
              <a:rPr lang="en-US" sz="3000" dirty="0">
                <a:solidFill>
                  <a:srgbClr val="FBFAF4"/>
                </a:solidFill>
                <a:latin typeface="Alexandria" pitchFamily="34" charset="0"/>
                <a:ea typeface="Alexandria" pitchFamily="34" charset="-122"/>
                <a:cs typeface="Alexandria" pitchFamily="34" charset="-120"/>
              </a:rPr>
              <a:t>Nghiên cứu mô tả</a:t>
            </a:r>
            <a:endParaRPr lang="en-US" sz="3000" dirty="0"/>
          </a:p>
        </p:txBody>
      </p:sp>
      <p:sp>
        <p:nvSpPr>
          <p:cNvPr id="15" name="Phương án C"/>
          <p:cNvSpPr/>
          <p:nvPr/>
        </p:nvSpPr>
        <p:spPr>
          <a:xfrm>
            <a:off x="548640" y="4655820"/>
            <a:ext cx="5394960" cy="1234440"/>
          </a:xfrm>
          <a:prstGeom prst="roundRect">
            <a:avLst>
              <a:gd name="adj" fmla="val 13333"/>
            </a:avLst>
          </a:prstGeom>
          <a:solidFill>
            <a:srgbClr val="144068"/>
          </a:solidFill>
          <a:ln/>
        </p:spPr>
      </p:sp>
      <p:sp>
        <p:nvSpPr>
          <p:cNvPr id="16" name="Nhãn C"/>
          <p:cNvSpPr/>
          <p:nvPr/>
        </p:nvSpPr>
        <p:spPr>
          <a:xfrm>
            <a:off x="713232" y="4989576"/>
            <a:ext cx="566928" cy="566928"/>
          </a:xfrm>
          <a:prstGeom prst="ellipse">
            <a:avLst/>
          </a:prstGeom>
          <a:solidFill>
            <a:srgbClr val="09A1E5"/>
          </a:solidFill>
          <a:ln/>
        </p:spPr>
      </p:sp>
      <p:sp>
        <p:nvSpPr>
          <p:cNvPr id="17" name="Text 15"/>
          <p:cNvSpPr txBox="1"/>
          <p:nvPr/>
        </p:nvSpPr>
        <p:spPr>
          <a:xfrm>
            <a:off x="713232" y="4989576"/>
            <a:ext cx="566928" cy="566928"/>
          </a:xfrm>
          <a:prstGeom prst="rect">
            <a:avLst/>
          </a:prstGeom>
          <a:noFill/>
          <a:ln/>
        </p:spPr>
        <p:txBody>
          <a:bodyPr wrap="square" lIns="0" tIns="0" rIns="0" bIns="0" rtlCol="0" anchor="ctr"/>
          <a:lstStyle/>
          <a:p>
            <a:pPr algn="ctr" indent="0" marL="0">
              <a:buNone/>
            </a:pPr>
            <a:r>
              <a:rPr lang="en-US" sz="2600" b="1" dirty="0">
                <a:solidFill>
                  <a:srgbClr val="172849"/>
                </a:solidFill>
                <a:latin typeface="Alexandria" pitchFamily="34" charset="0"/>
                <a:ea typeface="Alexandria" pitchFamily="34" charset="-122"/>
                <a:cs typeface="Alexandria" pitchFamily="34" charset="-120"/>
              </a:rPr>
              <a:t>C</a:t>
            </a:r>
            <a:endParaRPr lang="en-US" sz="2600" dirty="0"/>
          </a:p>
        </p:txBody>
      </p:sp>
      <p:sp>
        <p:nvSpPr>
          <p:cNvPr id="18" name="Text 16"/>
          <p:cNvSpPr txBox="1"/>
          <p:nvPr/>
        </p:nvSpPr>
        <p:spPr>
          <a:xfrm>
            <a:off x="1417320" y="4655820"/>
            <a:ext cx="4416552" cy="1234440"/>
          </a:xfrm>
          <a:prstGeom prst="rect">
            <a:avLst/>
          </a:prstGeom>
          <a:noFill/>
          <a:ln/>
        </p:spPr>
        <p:txBody>
          <a:bodyPr wrap="square" lIns="76200" tIns="76200" rIns="76200" bIns="76200" rtlCol="0" anchor="ctr"/>
          <a:lstStyle/>
          <a:p>
            <a:pPr algn="l" indent="0" marL="0">
              <a:lnSpc>
                <a:spcPts val="3900"/>
              </a:lnSpc>
              <a:buNone/>
            </a:pPr>
            <a:r>
              <a:rPr lang="en-US" sz="3000" dirty="0">
                <a:solidFill>
                  <a:srgbClr val="FBFAF4"/>
                </a:solidFill>
                <a:latin typeface="Alexandria" pitchFamily="34" charset="0"/>
                <a:ea typeface="Alexandria" pitchFamily="34" charset="-122"/>
                <a:cs typeface="Alexandria" pitchFamily="34" charset="-120"/>
              </a:rPr>
              <a:t>Nghiên cứu tương quan</a:t>
            </a:r>
            <a:endParaRPr lang="en-US" sz="3000" dirty="0"/>
          </a:p>
        </p:txBody>
      </p:sp>
      <p:sp>
        <p:nvSpPr>
          <p:cNvPr id="19" name="Phương án D"/>
          <p:cNvSpPr/>
          <p:nvPr/>
        </p:nvSpPr>
        <p:spPr>
          <a:xfrm>
            <a:off x="6217920" y="4655820"/>
            <a:ext cx="5394960" cy="1234440"/>
          </a:xfrm>
          <a:prstGeom prst="roundRect">
            <a:avLst>
              <a:gd name="adj" fmla="val 13333"/>
            </a:avLst>
          </a:prstGeom>
          <a:solidFill>
            <a:srgbClr val="453D4C"/>
          </a:solidFill>
          <a:ln/>
        </p:spPr>
      </p:sp>
      <p:sp>
        <p:nvSpPr>
          <p:cNvPr id="20" name="Nhãn D"/>
          <p:cNvSpPr/>
          <p:nvPr/>
        </p:nvSpPr>
        <p:spPr>
          <a:xfrm>
            <a:off x="6382512" y="4989576"/>
            <a:ext cx="566928" cy="566928"/>
          </a:xfrm>
          <a:prstGeom prst="ellipse">
            <a:avLst/>
          </a:prstGeom>
          <a:solidFill>
            <a:srgbClr val="FF9259"/>
          </a:solidFill>
          <a:ln/>
        </p:spPr>
      </p:sp>
      <p:sp>
        <p:nvSpPr>
          <p:cNvPr id="21" name="Text 19"/>
          <p:cNvSpPr txBox="1"/>
          <p:nvPr/>
        </p:nvSpPr>
        <p:spPr>
          <a:xfrm>
            <a:off x="6382512" y="4989576"/>
            <a:ext cx="566928" cy="566928"/>
          </a:xfrm>
          <a:prstGeom prst="rect">
            <a:avLst/>
          </a:prstGeom>
          <a:noFill/>
          <a:ln/>
        </p:spPr>
        <p:txBody>
          <a:bodyPr wrap="square" lIns="0" tIns="0" rIns="0" bIns="0" rtlCol="0" anchor="ctr"/>
          <a:lstStyle/>
          <a:p>
            <a:pPr algn="ctr" indent="0" marL="0">
              <a:buNone/>
            </a:pPr>
            <a:r>
              <a:rPr lang="en-US" sz="2600" b="1" dirty="0">
                <a:solidFill>
                  <a:srgbClr val="172849"/>
                </a:solidFill>
                <a:latin typeface="Alexandria" pitchFamily="34" charset="0"/>
                <a:ea typeface="Alexandria" pitchFamily="34" charset="-122"/>
                <a:cs typeface="Alexandria" pitchFamily="34" charset="-120"/>
              </a:rPr>
              <a:t>D</a:t>
            </a:r>
            <a:endParaRPr lang="en-US" sz="2600" dirty="0"/>
          </a:p>
        </p:txBody>
      </p:sp>
      <p:sp>
        <p:nvSpPr>
          <p:cNvPr id="22" name="Text 20"/>
          <p:cNvSpPr txBox="1"/>
          <p:nvPr/>
        </p:nvSpPr>
        <p:spPr>
          <a:xfrm>
            <a:off x="7086600" y="4655820"/>
            <a:ext cx="4416552" cy="1234440"/>
          </a:xfrm>
          <a:prstGeom prst="rect">
            <a:avLst/>
          </a:prstGeom>
          <a:noFill/>
          <a:ln/>
        </p:spPr>
        <p:txBody>
          <a:bodyPr wrap="square" lIns="76200" tIns="76200" rIns="76200" bIns="76200" rtlCol="0" anchor="ctr"/>
          <a:lstStyle/>
          <a:p>
            <a:pPr algn="l" indent="0" marL="0">
              <a:lnSpc>
                <a:spcPts val="3900"/>
              </a:lnSpc>
              <a:buNone/>
            </a:pPr>
            <a:r>
              <a:rPr lang="en-US" sz="3000" dirty="0">
                <a:solidFill>
                  <a:srgbClr val="FBFAF4"/>
                </a:solidFill>
                <a:latin typeface="Alexandria" pitchFamily="34" charset="0"/>
                <a:ea typeface="Alexandria" pitchFamily="34" charset="-122"/>
                <a:cs typeface="Alexandria" pitchFamily="34" charset="-120"/>
              </a:rPr>
              <a:t>Nghiên cứu nhân quả</a:t>
            </a:r>
            <a:endParaRPr lang="en-US" sz="3000" dirty="0"/>
          </a:p>
        </p:txBody>
      </p:sp>
    </p:spTree>
  </p:cSld>
  <p:clrMapOvr>
    <a:masterClrMapping/>
  </p:clrMapOvr>
  <p:transition spd="med" advTm="60000">
    <p:fade/>
  </p:transition>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FFD23B"/>
          </a:solidFill>
          <a:ln/>
        </p:spPr>
      </p:sp>
      <p:sp>
        <p:nvSpPr>
          <p:cNvPr id="3" name="Trang trí"/>
          <p:cNvSpPr/>
          <p:nvPr/>
        </p:nvSpPr>
        <p:spPr>
          <a:xfrm>
            <a:off x="11505895" y="868680"/>
            <a:ext cx="274320" cy="274320"/>
          </a:xfrm>
          <a:prstGeom prst="ellipse">
            <a:avLst/>
          </a:prstGeom>
          <a:solidFill>
            <a:srgbClr val="FF5178"/>
          </a:solidFill>
          <a:ln/>
        </p:spPr>
      </p:sp>
      <p:sp>
        <p:nvSpPr>
          <p:cNvPr id="4" name="Trang trí"/>
          <p:cNvSpPr/>
          <p:nvPr/>
        </p:nvSpPr>
        <p:spPr>
          <a:xfrm>
            <a:off x="-457200" y="6400800"/>
            <a:ext cx="914400" cy="914400"/>
          </a:xfrm>
          <a:prstGeom prst="ellipse">
            <a:avLst/>
          </a:prstGeom>
          <a:solidFill>
            <a:srgbClr val="FF9259"/>
          </a:solidFill>
          <a:ln/>
        </p:spPr>
      </p:sp>
      <p:sp>
        <p:nvSpPr>
          <p:cNvPr id="5" name="Câu 2"/>
          <p:cNvSpPr txBox="1"/>
          <p:nvPr/>
        </p:nvSpPr>
        <p:spPr>
          <a:xfrm>
            <a:off x="548640" y="1123950"/>
            <a:ext cx="1097280" cy="1097280"/>
          </a:xfrm>
          <a:prstGeom prst="ellipse">
            <a:avLst/>
          </a:prstGeom>
          <a:solidFill>
            <a:srgbClr val="49B296"/>
          </a:solidFill>
          <a:ln/>
        </p:spPr>
        <p:txBody>
          <a:bodyPr wrap="square" lIns="0" tIns="0" rIns="0" bIns="0" rtlCol="0" anchor="ctr"/>
          <a:lstStyle/>
          <a:p>
            <a:pPr algn="ctr" indent="0" marL="0">
              <a:lnSpc>
                <a:spcPts val="3600"/>
              </a:lnSpc>
              <a:buNone/>
            </a:pPr>
            <a:r>
              <a:rPr lang="en-US" sz="2400" b="1" dirty="0">
                <a:solidFill>
                  <a:srgbClr val="172849"/>
                </a:solidFill>
                <a:latin typeface="Alexandria" pitchFamily="34" charset="0"/>
                <a:ea typeface="Alexandria" pitchFamily="34" charset="-122"/>
                <a:cs typeface="Alexandria" pitchFamily="34" charset="-120"/>
              </a:rPr>
              <a:t>CÂU</a:t>
            </a:r>
            <a:endParaRPr lang="en-US" sz="2400" dirty="0"/>
          </a:p>
          <a:p>
            <a:pPr algn="ctr" indent="0" marL="0">
              <a:lnSpc>
                <a:spcPts val="3600"/>
              </a:lnSpc>
              <a:buNone/>
            </a:pPr>
            <a:r>
              <a:rPr lang="en-US" sz="3600" b="1" dirty="0">
                <a:solidFill>
                  <a:srgbClr val="172849"/>
                </a:solidFill>
                <a:latin typeface="Alexandria" pitchFamily="34" charset="0"/>
                <a:ea typeface="Alexandria" pitchFamily="34" charset="-122"/>
                <a:cs typeface="Alexandria" pitchFamily="34" charset="-120"/>
              </a:rPr>
              <a:t>2</a:t>
            </a:r>
            <a:endParaRPr lang="en-US" sz="2400" dirty="0"/>
          </a:p>
        </p:txBody>
      </p:sp>
      <p:sp>
        <p:nvSpPr>
          <p:cNvPr id="6" name="Text 4"/>
          <p:cNvSpPr txBox="1"/>
          <p:nvPr/>
        </p:nvSpPr>
        <p:spPr>
          <a:xfrm>
            <a:off x="1965960" y="1123950"/>
            <a:ext cx="9281160" cy="2133600"/>
          </a:xfrm>
          <a:prstGeom prst="rect">
            <a:avLst/>
          </a:prstGeom>
          <a:noFill/>
          <a:ln/>
        </p:spPr>
        <p:txBody>
          <a:bodyPr wrap="square" lIns="76200" tIns="76200" rIns="76200" bIns="76200" rtlCol="0" anchor="t"/>
          <a:lstStyle/>
          <a:p>
            <a:pPr algn="l" indent="0" marL="0">
              <a:lnSpc>
                <a:spcPts val="3900"/>
              </a:lnSpc>
              <a:buNone/>
            </a:pPr>
            <a:r>
              <a:rPr lang="en-US" sz="3000" b="1" dirty="0">
                <a:solidFill>
                  <a:srgbClr val="FBFAF4"/>
                </a:solidFill>
                <a:latin typeface="Alexandria" pitchFamily="34" charset="0"/>
                <a:ea typeface="Alexandria" pitchFamily="34" charset="-122"/>
                <a:cs typeface="Alexandria" pitchFamily="34" charset="-120"/>
              </a:rPr>
              <a:t>Nhóm trích dẫn một ý từ cuốn sách của tác giả Nguyễn Đình Thọ, xuất bản năm 2011. Cách trích dẫn trong bài (trong ngoặc) đúng theo APA 7 là:</a:t>
            </a:r>
            <a:endParaRPr lang="en-US" sz="3000" dirty="0"/>
          </a:p>
        </p:txBody>
      </p:sp>
      <p:sp>
        <p:nvSpPr>
          <p:cNvPr id="7" name="Phương án A"/>
          <p:cNvSpPr/>
          <p:nvPr/>
        </p:nvSpPr>
        <p:spPr>
          <a:xfrm>
            <a:off x="548640" y="3531870"/>
            <a:ext cx="5394960" cy="1234440"/>
          </a:xfrm>
          <a:prstGeom prst="roundRect">
            <a:avLst>
              <a:gd name="adj" fmla="val 13333"/>
            </a:avLst>
          </a:prstGeom>
          <a:solidFill>
            <a:srgbClr val="453052"/>
          </a:solidFill>
          <a:ln/>
        </p:spPr>
      </p:sp>
      <p:sp>
        <p:nvSpPr>
          <p:cNvPr id="8" name="Nhãn A"/>
          <p:cNvSpPr/>
          <p:nvPr/>
        </p:nvSpPr>
        <p:spPr>
          <a:xfrm>
            <a:off x="713232" y="3865626"/>
            <a:ext cx="566928" cy="566928"/>
          </a:xfrm>
          <a:prstGeom prst="ellipse">
            <a:avLst/>
          </a:prstGeom>
          <a:solidFill>
            <a:srgbClr val="FF5178"/>
          </a:solidFill>
          <a:ln/>
        </p:spPr>
      </p:sp>
      <p:sp>
        <p:nvSpPr>
          <p:cNvPr id="9" name="Text 7"/>
          <p:cNvSpPr txBox="1"/>
          <p:nvPr/>
        </p:nvSpPr>
        <p:spPr>
          <a:xfrm>
            <a:off x="713232" y="3865626"/>
            <a:ext cx="566928" cy="566928"/>
          </a:xfrm>
          <a:prstGeom prst="rect">
            <a:avLst/>
          </a:prstGeom>
          <a:noFill/>
          <a:ln/>
        </p:spPr>
        <p:txBody>
          <a:bodyPr wrap="square" lIns="0" tIns="0" rIns="0" bIns="0" rtlCol="0" anchor="ctr"/>
          <a:lstStyle/>
          <a:p>
            <a:pPr algn="ctr" indent="0" marL="0">
              <a:buNone/>
            </a:pPr>
            <a:r>
              <a:rPr lang="en-US" sz="2600" b="1" dirty="0">
                <a:solidFill>
                  <a:srgbClr val="172849"/>
                </a:solidFill>
                <a:latin typeface="Alexandria" pitchFamily="34" charset="0"/>
                <a:ea typeface="Alexandria" pitchFamily="34" charset="-122"/>
                <a:cs typeface="Alexandria" pitchFamily="34" charset="-120"/>
              </a:rPr>
              <a:t>A</a:t>
            </a:r>
            <a:endParaRPr lang="en-US" sz="2600" dirty="0"/>
          </a:p>
        </p:txBody>
      </p:sp>
      <p:sp>
        <p:nvSpPr>
          <p:cNvPr id="10" name="Text 8"/>
          <p:cNvSpPr txBox="1"/>
          <p:nvPr/>
        </p:nvSpPr>
        <p:spPr>
          <a:xfrm>
            <a:off x="1417320" y="3531870"/>
            <a:ext cx="4416552" cy="1234440"/>
          </a:xfrm>
          <a:prstGeom prst="rect">
            <a:avLst/>
          </a:prstGeom>
          <a:noFill/>
          <a:ln/>
        </p:spPr>
        <p:txBody>
          <a:bodyPr wrap="square" lIns="76200" tIns="76200" rIns="76200" bIns="76200" rtlCol="0" anchor="ctr"/>
          <a:lstStyle/>
          <a:p>
            <a:pPr algn="l" indent="0" marL="0">
              <a:lnSpc>
                <a:spcPts val="3900"/>
              </a:lnSpc>
              <a:buNone/>
            </a:pPr>
            <a:r>
              <a:rPr lang="en-US" sz="3000" dirty="0">
                <a:solidFill>
                  <a:srgbClr val="FBFAF4"/>
                </a:solidFill>
                <a:latin typeface="Alexandria" pitchFamily="34" charset="0"/>
                <a:ea typeface="Alexandria" pitchFamily="34" charset="-122"/>
                <a:cs typeface="Alexandria" pitchFamily="34" charset="-120"/>
              </a:rPr>
              <a:t>(Thọ, 2011)</a:t>
            </a:r>
            <a:endParaRPr lang="en-US" sz="3000" dirty="0"/>
          </a:p>
        </p:txBody>
      </p:sp>
      <p:sp>
        <p:nvSpPr>
          <p:cNvPr id="11" name="Phương án B"/>
          <p:cNvSpPr/>
          <p:nvPr/>
        </p:nvSpPr>
        <p:spPr>
          <a:xfrm>
            <a:off x="6217920" y="3531870"/>
            <a:ext cx="5394960" cy="1234440"/>
          </a:xfrm>
          <a:prstGeom prst="roundRect">
            <a:avLst>
              <a:gd name="adj" fmla="val 13333"/>
            </a:avLst>
          </a:prstGeom>
          <a:solidFill>
            <a:srgbClr val="144068"/>
          </a:solidFill>
          <a:ln/>
        </p:spPr>
      </p:sp>
      <p:sp>
        <p:nvSpPr>
          <p:cNvPr id="12" name="Nhãn B"/>
          <p:cNvSpPr/>
          <p:nvPr/>
        </p:nvSpPr>
        <p:spPr>
          <a:xfrm>
            <a:off x="6382512" y="3865626"/>
            <a:ext cx="566928" cy="566928"/>
          </a:xfrm>
          <a:prstGeom prst="ellipse">
            <a:avLst/>
          </a:prstGeom>
          <a:solidFill>
            <a:srgbClr val="09A1E5"/>
          </a:solidFill>
          <a:ln/>
        </p:spPr>
      </p:sp>
      <p:sp>
        <p:nvSpPr>
          <p:cNvPr id="13" name="Text 11"/>
          <p:cNvSpPr txBox="1"/>
          <p:nvPr/>
        </p:nvSpPr>
        <p:spPr>
          <a:xfrm>
            <a:off x="6382512" y="3865626"/>
            <a:ext cx="566928" cy="566928"/>
          </a:xfrm>
          <a:prstGeom prst="rect">
            <a:avLst/>
          </a:prstGeom>
          <a:noFill/>
          <a:ln/>
        </p:spPr>
        <p:txBody>
          <a:bodyPr wrap="square" lIns="0" tIns="0" rIns="0" bIns="0" rtlCol="0" anchor="ctr"/>
          <a:lstStyle/>
          <a:p>
            <a:pPr algn="ctr" indent="0" marL="0">
              <a:buNone/>
            </a:pPr>
            <a:r>
              <a:rPr lang="en-US" sz="2600" b="1" dirty="0">
                <a:solidFill>
                  <a:srgbClr val="172849"/>
                </a:solidFill>
                <a:latin typeface="Alexandria" pitchFamily="34" charset="0"/>
                <a:ea typeface="Alexandria" pitchFamily="34" charset="-122"/>
                <a:cs typeface="Alexandria" pitchFamily="34" charset="-120"/>
              </a:rPr>
              <a:t>B</a:t>
            </a:r>
            <a:endParaRPr lang="en-US" sz="2600" dirty="0"/>
          </a:p>
        </p:txBody>
      </p:sp>
      <p:sp>
        <p:nvSpPr>
          <p:cNvPr id="14" name="Text 12"/>
          <p:cNvSpPr txBox="1"/>
          <p:nvPr/>
        </p:nvSpPr>
        <p:spPr>
          <a:xfrm>
            <a:off x="7086600" y="3531870"/>
            <a:ext cx="4416552" cy="1234440"/>
          </a:xfrm>
          <a:prstGeom prst="rect">
            <a:avLst/>
          </a:prstGeom>
          <a:noFill/>
          <a:ln/>
        </p:spPr>
        <p:txBody>
          <a:bodyPr wrap="square" lIns="76200" tIns="76200" rIns="76200" bIns="76200" rtlCol="0" anchor="ctr"/>
          <a:lstStyle/>
          <a:p>
            <a:pPr algn="l" indent="0" marL="0">
              <a:lnSpc>
                <a:spcPts val="3900"/>
              </a:lnSpc>
              <a:buNone/>
            </a:pPr>
            <a:r>
              <a:rPr lang="en-US" sz="3000" dirty="0">
                <a:solidFill>
                  <a:srgbClr val="FBFAF4"/>
                </a:solidFill>
                <a:latin typeface="Alexandria" pitchFamily="34" charset="0"/>
                <a:ea typeface="Alexandria" pitchFamily="34" charset="-122"/>
                <a:cs typeface="Alexandria" pitchFamily="34" charset="-120"/>
              </a:rPr>
              <a:t>(Nguyễn Đình Thọ, 2011)</a:t>
            </a:r>
            <a:endParaRPr lang="en-US" sz="3000" dirty="0"/>
          </a:p>
        </p:txBody>
      </p:sp>
      <p:sp>
        <p:nvSpPr>
          <p:cNvPr id="15" name="Phương án C"/>
          <p:cNvSpPr/>
          <p:nvPr/>
        </p:nvSpPr>
        <p:spPr>
          <a:xfrm>
            <a:off x="548640" y="4903470"/>
            <a:ext cx="5394960" cy="739140"/>
          </a:xfrm>
          <a:prstGeom prst="roundRect">
            <a:avLst>
              <a:gd name="adj" fmla="val 22268"/>
            </a:avLst>
          </a:prstGeom>
          <a:solidFill>
            <a:srgbClr val="453D4C"/>
          </a:solidFill>
          <a:ln/>
        </p:spPr>
      </p:sp>
      <p:sp>
        <p:nvSpPr>
          <p:cNvPr id="16" name="Nhãn C"/>
          <p:cNvSpPr/>
          <p:nvPr/>
        </p:nvSpPr>
        <p:spPr>
          <a:xfrm>
            <a:off x="713232" y="4989576"/>
            <a:ext cx="566928" cy="566928"/>
          </a:xfrm>
          <a:prstGeom prst="ellipse">
            <a:avLst/>
          </a:prstGeom>
          <a:solidFill>
            <a:srgbClr val="FF9259"/>
          </a:solidFill>
          <a:ln/>
        </p:spPr>
      </p:sp>
      <p:sp>
        <p:nvSpPr>
          <p:cNvPr id="17" name="Text 15"/>
          <p:cNvSpPr txBox="1"/>
          <p:nvPr/>
        </p:nvSpPr>
        <p:spPr>
          <a:xfrm>
            <a:off x="713232" y="4989576"/>
            <a:ext cx="566928" cy="566928"/>
          </a:xfrm>
          <a:prstGeom prst="rect">
            <a:avLst/>
          </a:prstGeom>
          <a:noFill/>
          <a:ln/>
        </p:spPr>
        <p:txBody>
          <a:bodyPr wrap="square" lIns="0" tIns="0" rIns="0" bIns="0" rtlCol="0" anchor="ctr"/>
          <a:lstStyle/>
          <a:p>
            <a:pPr algn="ctr" indent="0" marL="0">
              <a:buNone/>
            </a:pPr>
            <a:r>
              <a:rPr lang="en-US" sz="2600" b="1" dirty="0">
                <a:solidFill>
                  <a:srgbClr val="172849"/>
                </a:solidFill>
                <a:latin typeface="Alexandria" pitchFamily="34" charset="0"/>
                <a:ea typeface="Alexandria" pitchFamily="34" charset="-122"/>
                <a:cs typeface="Alexandria" pitchFamily="34" charset="-120"/>
              </a:rPr>
              <a:t>C</a:t>
            </a:r>
            <a:endParaRPr lang="en-US" sz="2600" dirty="0"/>
          </a:p>
        </p:txBody>
      </p:sp>
      <p:sp>
        <p:nvSpPr>
          <p:cNvPr id="18" name="Text 16"/>
          <p:cNvSpPr txBox="1"/>
          <p:nvPr/>
        </p:nvSpPr>
        <p:spPr>
          <a:xfrm>
            <a:off x="1417320" y="4903470"/>
            <a:ext cx="4416552" cy="739140"/>
          </a:xfrm>
          <a:prstGeom prst="rect">
            <a:avLst/>
          </a:prstGeom>
          <a:noFill/>
          <a:ln/>
        </p:spPr>
        <p:txBody>
          <a:bodyPr wrap="square" lIns="76200" tIns="76200" rIns="76200" bIns="76200" rtlCol="0" anchor="ctr"/>
          <a:lstStyle/>
          <a:p>
            <a:pPr algn="l" indent="0" marL="0">
              <a:lnSpc>
                <a:spcPts val="3900"/>
              </a:lnSpc>
              <a:buNone/>
            </a:pPr>
            <a:r>
              <a:rPr lang="en-US" sz="3000" dirty="0">
                <a:solidFill>
                  <a:srgbClr val="FBFAF4"/>
                </a:solidFill>
                <a:latin typeface="Alexandria" pitchFamily="34" charset="0"/>
                <a:ea typeface="Alexandria" pitchFamily="34" charset="-122"/>
                <a:cs typeface="Alexandria" pitchFamily="34" charset="-120"/>
              </a:rPr>
              <a:t>(Nguyễn, Đ. T., 2011)</a:t>
            </a:r>
            <a:endParaRPr lang="en-US" sz="3000" dirty="0"/>
          </a:p>
        </p:txBody>
      </p:sp>
      <p:sp>
        <p:nvSpPr>
          <p:cNvPr id="19" name="Phương án D"/>
          <p:cNvSpPr/>
          <p:nvPr/>
        </p:nvSpPr>
        <p:spPr>
          <a:xfrm>
            <a:off x="6217920" y="4903470"/>
            <a:ext cx="5394960" cy="739140"/>
          </a:xfrm>
          <a:prstGeom prst="roundRect">
            <a:avLst>
              <a:gd name="adj" fmla="val 22268"/>
            </a:avLst>
          </a:prstGeom>
          <a:solidFill>
            <a:srgbClr val="302953"/>
          </a:solidFill>
          <a:ln/>
        </p:spPr>
      </p:sp>
      <p:sp>
        <p:nvSpPr>
          <p:cNvPr id="20" name="Nhãn D"/>
          <p:cNvSpPr/>
          <p:nvPr/>
        </p:nvSpPr>
        <p:spPr>
          <a:xfrm>
            <a:off x="6382512" y="4989576"/>
            <a:ext cx="566928" cy="566928"/>
          </a:xfrm>
          <a:prstGeom prst="ellipse">
            <a:avLst/>
          </a:prstGeom>
          <a:solidFill>
            <a:srgbClr val="962B7C"/>
          </a:solidFill>
          <a:ln/>
        </p:spPr>
      </p:sp>
      <p:sp>
        <p:nvSpPr>
          <p:cNvPr id="21" name="Text 19"/>
          <p:cNvSpPr txBox="1"/>
          <p:nvPr/>
        </p:nvSpPr>
        <p:spPr>
          <a:xfrm>
            <a:off x="6382512" y="4989576"/>
            <a:ext cx="566928" cy="566928"/>
          </a:xfrm>
          <a:prstGeom prst="rect">
            <a:avLst/>
          </a:prstGeom>
          <a:noFill/>
          <a:ln/>
        </p:spPr>
        <p:txBody>
          <a:bodyPr wrap="square" lIns="0" tIns="0" rIns="0" bIns="0" rtlCol="0" anchor="ctr"/>
          <a:lstStyle/>
          <a:p>
            <a:pPr algn="ctr" indent="0" marL="0">
              <a:buNone/>
            </a:pPr>
            <a:r>
              <a:rPr lang="en-US" sz="2600" b="1" dirty="0">
                <a:solidFill>
                  <a:srgbClr val="FFFFFF"/>
                </a:solidFill>
                <a:latin typeface="Alexandria" pitchFamily="34" charset="0"/>
                <a:ea typeface="Alexandria" pitchFamily="34" charset="-122"/>
                <a:cs typeface="Alexandria" pitchFamily="34" charset="-120"/>
              </a:rPr>
              <a:t>D</a:t>
            </a:r>
            <a:endParaRPr lang="en-US" sz="2600" dirty="0"/>
          </a:p>
        </p:txBody>
      </p:sp>
      <p:sp>
        <p:nvSpPr>
          <p:cNvPr id="22" name="Text 20"/>
          <p:cNvSpPr txBox="1"/>
          <p:nvPr/>
        </p:nvSpPr>
        <p:spPr>
          <a:xfrm>
            <a:off x="7086600" y="4903470"/>
            <a:ext cx="4416552" cy="739140"/>
          </a:xfrm>
          <a:prstGeom prst="rect">
            <a:avLst/>
          </a:prstGeom>
          <a:noFill/>
          <a:ln/>
        </p:spPr>
        <p:txBody>
          <a:bodyPr wrap="square" lIns="76200" tIns="76200" rIns="76200" bIns="76200" rtlCol="0" anchor="ctr"/>
          <a:lstStyle/>
          <a:p>
            <a:pPr algn="l" indent="0" marL="0">
              <a:lnSpc>
                <a:spcPts val="3900"/>
              </a:lnSpc>
              <a:buNone/>
            </a:pPr>
            <a:r>
              <a:rPr lang="en-US" sz="3000" dirty="0">
                <a:solidFill>
                  <a:srgbClr val="FBFAF4"/>
                </a:solidFill>
                <a:latin typeface="Alexandria" pitchFamily="34" charset="0"/>
                <a:ea typeface="Alexandria" pitchFamily="34" charset="-122"/>
                <a:cs typeface="Alexandria" pitchFamily="34" charset="-120"/>
              </a:rPr>
              <a:t>(Nguyễn, 2011)</a:t>
            </a:r>
            <a:endParaRPr lang="en-US" sz="3000" dirty="0"/>
          </a:p>
        </p:txBody>
      </p:sp>
    </p:spTree>
  </p:cSld>
  <p:clrMapOvr>
    <a:masterClrMapping/>
  </p:clrMapOvr>
  <p:transition spd="med" advTm="60000">
    <p:fade/>
  </p:transition>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49B296"/>
          </a:solidFill>
          <a:ln/>
        </p:spPr>
      </p:sp>
      <p:sp>
        <p:nvSpPr>
          <p:cNvPr id="3" name="Trang trí"/>
          <p:cNvSpPr/>
          <p:nvPr/>
        </p:nvSpPr>
        <p:spPr>
          <a:xfrm>
            <a:off x="11505895" y="868680"/>
            <a:ext cx="274320" cy="274320"/>
          </a:xfrm>
          <a:prstGeom prst="ellipse">
            <a:avLst/>
          </a:prstGeom>
          <a:solidFill>
            <a:srgbClr val="09A1E5"/>
          </a:solidFill>
          <a:ln/>
        </p:spPr>
      </p:sp>
      <p:sp>
        <p:nvSpPr>
          <p:cNvPr id="4" name="Trang trí"/>
          <p:cNvSpPr/>
          <p:nvPr/>
        </p:nvSpPr>
        <p:spPr>
          <a:xfrm>
            <a:off x="-457200" y="6400800"/>
            <a:ext cx="914400" cy="914400"/>
          </a:xfrm>
          <a:prstGeom prst="ellipse">
            <a:avLst/>
          </a:prstGeom>
          <a:solidFill>
            <a:srgbClr val="962B7C"/>
          </a:solidFill>
          <a:ln/>
        </p:spPr>
      </p:sp>
      <p:sp>
        <p:nvSpPr>
          <p:cNvPr id="5" name="Câu 3"/>
          <p:cNvSpPr txBox="1"/>
          <p:nvPr/>
        </p:nvSpPr>
        <p:spPr>
          <a:xfrm>
            <a:off x="548640" y="326136"/>
            <a:ext cx="1097280" cy="1097280"/>
          </a:xfrm>
          <a:prstGeom prst="ellipse">
            <a:avLst/>
          </a:prstGeom>
          <a:solidFill>
            <a:srgbClr val="FF5178"/>
          </a:solidFill>
          <a:ln/>
        </p:spPr>
        <p:txBody>
          <a:bodyPr wrap="square" lIns="0" tIns="0" rIns="0" bIns="0" rtlCol="0" anchor="ctr"/>
          <a:lstStyle/>
          <a:p>
            <a:pPr algn="ctr" indent="0" marL="0">
              <a:lnSpc>
                <a:spcPts val="3600"/>
              </a:lnSpc>
              <a:buNone/>
            </a:pPr>
            <a:r>
              <a:rPr lang="en-US" sz="2400" b="1" dirty="0">
                <a:solidFill>
                  <a:srgbClr val="172849"/>
                </a:solidFill>
                <a:latin typeface="Alexandria" pitchFamily="34" charset="0"/>
                <a:ea typeface="Alexandria" pitchFamily="34" charset="-122"/>
                <a:cs typeface="Alexandria" pitchFamily="34" charset="-120"/>
              </a:rPr>
              <a:t>CÂU</a:t>
            </a:r>
            <a:endParaRPr lang="en-US" sz="2400" dirty="0"/>
          </a:p>
          <a:p>
            <a:pPr algn="ctr" indent="0" marL="0">
              <a:lnSpc>
                <a:spcPts val="3600"/>
              </a:lnSpc>
              <a:buNone/>
            </a:pPr>
            <a:r>
              <a:rPr lang="en-US" sz="3600" b="1" dirty="0">
                <a:solidFill>
                  <a:srgbClr val="172849"/>
                </a:solidFill>
                <a:latin typeface="Alexandria" pitchFamily="34" charset="0"/>
                <a:ea typeface="Alexandria" pitchFamily="34" charset="-122"/>
                <a:cs typeface="Alexandria" pitchFamily="34" charset="-120"/>
              </a:rPr>
              <a:t>3</a:t>
            </a:r>
            <a:endParaRPr lang="en-US" sz="2400" dirty="0"/>
          </a:p>
        </p:txBody>
      </p:sp>
      <p:sp>
        <p:nvSpPr>
          <p:cNvPr id="6" name="Text 4"/>
          <p:cNvSpPr txBox="1"/>
          <p:nvPr/>
        </p:nvSpPr>
        <p:spPr>
          <a:xfrm>
            <a:off x="1965960" y="326136"/>
            <a:ext cx="9281160" cy="548640"/>
          </a:xfrm>
          <a:prstGeom prst="rect">
            <a:avLst/>
          </a:prstGeom>
          <a:noFill/>
          <a:ln/>
        </p:spPr>
        <p:txBody>
          <a:bodyPr wrap="square" lIns="76200" tIns="76200" rIns="76200" bIns="76200" rtlCol="0" anchor="t"/>
          <a:lstStyle/>
          <a:p>
            <a:pPr algn="l" indent="0" marL="0">
              <a:lnSpc>
                <a:spcPts val="3100"/>
              </a:lnSpc>
              <a:buNone/>
            </a:pPr>
            <a:r>
              <a:rPr lang="en-US" sz="2400" b="1" dirty="0">
                <a:solidFill>
                  <a:srgbClr val="FBFAF4"/>
                </a:solidFill>
                <a:latin typeface="Alexandria" pitchFamily="34" charset="0"/>
                <a:ea typeface="Alexandria" pitchFamily="34" charset="-122"/>
                <a:cs typeface="Alexandria" pitchFamily="34" charset="-120"/>
              </a:rPr>
              <a:t>Đọc đoạn văn sau trong một bài tổng quan tài liệu:</a:t>
            </a:r>
            <a:endParaRPr lang="en-US" sz="2400" dirty="0"/>
          </a:p>
        </p:txBody>
      </p:sp>
      <p:sp>
        <p:nvSpPr>
          <p:cNvPr id="7" name="Đoạn trích"/>
          <p:cNvSpPr/>
          <p:nvPr/>
        </p:nvSpPr>
        <p:spPr>
          <a:xfrm>
            <a:off x="548640" y="1533144"/>
            <a:ext cx="11064240" cy="1801368"/>
          </a:xfrm>
          <a:prstGeom prst="roundRect">
            <a:avLst>
              <a:gd name="adj" fmla="val 9137"/>
            </a:avLst>
          </a:prstGeom>
          <a:solidFill>
            <a:srgbClr val="4A3F4D"/>
          </a:solidFill>
          <a:ln/>
        </p:spPr>
      </p:sp>
      <p:sp>
        <p:nvSpPr>
          <p:cNvPr id="8" name="Text 6"/>
          <p:cNvSpPr txBox="1"/>
          <p:nvPr/>
        </p:nvSpPr>
        <p:spPr>
          <a:xfrm>
            <a:off x="658368" y="1565148"/>
            <a:ext cx="10844784" cy="1737360"/>
          </a:xfrm>
          <a:prstGeom prst="rect">
            <a:avLst/>
          </a:prstGeom>
          <a:noFill/>
          <a:ln/>
        </p:spPr>
        <p:txBody>
          <a:bodyPr wrap="square" lIns="76200" tIns="76200" rIns="76200" bIns="76200" rtlCol="0" anchor="t"/>
          <a:lstStyle/>
          <a:p>
            <a:pPr algn="l" indent="0" marL="0">
              <a:lnSpc>
                <a:spcPts val="3100"/>
              </a:lnSpc>
              <a:buNone/>
            </a:pPr>
            <a:r>
              <a:rPr lang="en-US" sz="2400" i="1" dirty="0">
                <a:solidFill>
                  <a:srgbClr val="FBFAF4"/>
                </a:solidFill>
                <a:latin typeface="Alexandria" pitchFamily="34" charset="0"/>
                <a:ea typeface="Alexandria" pitchFamily="34" charset="-122"/>
                <a:cs typeface="Alexandria" pitchFamily="34" charset="-120"/>
              </a:rPr>
              <a:t>Trần (2020) và Lê (2022) cùng thấy giá có ảnh hưởng tích cực đến ý định mua mỹ phẩm nội địa, trong khi Phạm (2023) không thấy tác động này ở nhóm người tiêu dùng có thu nhập cao; điều này gợi ý thu nhập có thể làm thay đổi vai trò của giá.</a:t>
            </a:r>
            <a:endParaRPr lang="en-US" sz="2400" dirty="0"/>
          </a:p>
        </p:txBody>
      </p:sp>
      <p:sp>
        <p:nvSpPr>
          <p:cNvPr id="9" name="Text 7"/>
          <p:cNvSpPr txBox="1"/>
          <p:nvPr/>
        </p:nvSpPr>
        <p:spPr>
          <a:xfrm>
            <a:off x="548640" y="3407664"/>
            <a:ext cx="11064240" cy="548640"/>
          </a:xfrm>
          <a:prstGeom prst="rect">
            <a:avLst/>
          </a:prstGeom>
          <a:noFill/>
          <a:ln/>
        </p:spPr>
        <p:txBody>
          <a:bodyPr wrap="square" lIns="76200" tIns="76200" rIns="76200" bIns="76200" rtlCol="0" anchor="t"/>
          <a:lstStyle/>
          <a:p>
            <a:pPr algn="l" indent="0" marL="0">
              <a:lnSpc>
                <a:spcPts val="3100"/>
              </a:lnSpc>
              <a:buNone/>
            </a:pPr>
            <a:r>
              <a:rPr lang="en-US" sz="2400" b="1" dirty="0">
                <a:solidFill>
                  <a:srgbClr val="FBFAF4"/>
                </a:solidFill>
                <a:latin typeface="Alexandria" pitchFamily="34" charset="0"/>
                <a:ea typeface="Alexandria" pitchFamily="34" charset="-122"/>
                <a:cs typeface="Alexandria" pitchFamily="34" charset="-120"/>
              </a:rPr>
              <a:t>Đoạn văn trên thể hiện rõ nhất kỹ năng nào?</a:t>
            </a:r>
            <a:endParaRPr lang="en-US" sz="2400" dirty="0"/>
          </a:p>
        </p:txBody>
      </p:sp>
      <p:sp>
        <p:nvSpPr>
          <p:cNvPr id="10" name="Phương án A"/>
          <p:cNvSpPr/>
          <p:nvPr/>
        </p:nvSpPr>
        <p:spPr>
          <a:xfrm>
            <a:off x="548640" y="4230624"/>
            <a:ext cx="5394960" cy="1036320"/>
          </a:xfrm>
          <a:prstGeom prst="roundRect">
            <a:avLst>
              <a:gd name="adj" fmla="val 15882"/>
            </a:avLst>
          </a:prstGeom>
          <a:solidFill>
            <a:srgbClr val="144068"/>
          </a:solidFill>
          <a:ln/>
        </p:spPr>
      </p:sp>
      <p:sp>
        <p:nvSpPr>
          <p:cNvPr id="11" name="Nhãn A"/>
          <p:cNvSpPr/>
          <p:nvPr/>
        </p:nvSpPr>
        <p:spPr>
          <a:xfrm>
            <a:off x="713232" y="4465320"/>
            <a:ext cx="566928" cy="566928"/>
          </a:xfrm>
          <a:prstGeom prst="ellipse">
            <a:avLst/>
          </a:prstGeom>
          <a:solidFill>
            <a:srgbClr val="09A1E5"/>
          </a:solidFill>
          <a:ln/>
        </p:spPr>
      </p:sp>
      <p:sp>
        <p:nvSpPr>
          <p:cNvPr id="12" name="Text 10"/>
          <p:cNvSpPr txBox="1"/>
          <p:nvPr/>
        </p:nvSpPr>
        <p:spPr>
          <a:xfrm>
            <a:off x="713232" y="4465320"/>
            <a:ext cx="566928" cy="566928"/>
          </a:xfrm>
          <a:prstGeom prst="rect">
            <a:avLst/>
          </a:prstGeom>
          <a:noFill/>
          <a:ln/>
        </p:spPr>
        <p:txBody>
          <a:bodyPr wrap="square" lIns="0" tIns="0" rIns="0" bIns="0" rtlCol="0" anchor="ctr"/>
          <a:lstStyle/>
          <a:p>
            <a:pPr algn="ctr" indent="0" marL="0">
              <a:buNone/>
            </a:pPr>
            <a:r>
              <a:rPr lang="en-US" sz="2600" b="1" dirty="0">
                <a:solidFill>
                  <a:srgbClr val="172849"/>
                </a:solidFill>
                <a:latin typeface="Alexandria" pitchFamily="34" charset="0"/>
                <a:ea typeface="Alexandria" pitchFamily="34" charset="-122"/>
                <a:cs typeface="Alexandria" pitchFamily="34" charset="-120"/>
              </a:rPr>
              <a:t>A</a:t>
            </a:r>
            <a:endParaRPr lang="en-US" sz="2600" dirty="0"/>
          </a:p>
        </p:txBody>
      </p:sp>
      <p:sp>
        <p:nvSpPr>
          <p:cNvPr id="13" name="Text 11"/>
          <p:cNvSpPr txBox="1"/>
          <p:nvPr/>
        </p:nvSpPr>
        <p:spPr>
          <a:xfrm>
            <a:off x="1417320" y="4230624"/>
            <a:ext cx="4416552" cy="1036320"/>
          </a:xfrm>
          <a:prstGeom prst="rect">
            <a:avLst/>
          </a:prstGeom>
          <a:noFill/>
          <a:ln/>
        </p:spPr>
        <p:txBody>
          <a:bodyPr wrap="square" lIns="76200" tIns="76200" rIns="76200" bIns="76200" rtlCol="0" anchor="ctr"/>
          <a:lstStyle/>
          <a:p>
            <a:pPr algn="l" indent="0" marL="0">
              <a:lnSpc>
                <a:spcPts val="3100"/>
              </a:lnSpc>
              <a:buNone/>
            </a:pPr>
            <a:r>
              <a:rPr lang="en-US" sz="2400" dirty="0">
                <a:solidFill>
                  <a:srgbClr val="FBFAF4"/>
                </a:solidFill>
                <a:latin typeface="Alexandria" pitchFamily="34" charset="0"/>
                <a:ea typeface="Alexandria" pitchFamily="34" charset="-122"/>
                <a:cs typeface="Alexandria" pitchFamily="34" charset="-120"/>
              </a:rPr>
              <a:t>Tổng hợp, đối chiếu các nguồn</a:t>
            </a:r>
            <a:endParaRPr lang="en-US" sz="2400" dirty="0"/>
          </a:p>
        </p:txBody>
      </p:sp>
      <p:sp>
        <p:nvSpPr>
          <p:cNvPr id="14" name="Phương án B"/>
          <p:cNvSpPr/>
          <p:nvPr/>
        </p:nvSpPr>
        <p:spPr>
          <a:xfrm>
            <a:off x="6217920" y="4230624"/>
            <a:ext cx="5394960" cy="1036320"/>
          </a:xfrm>
          <a:prstGeom prst="roundRect">
            <a:avLst>
              <a:gd name="adj" fmla="val 15882"/>
            </a:avLst>
          </a:prstGeom>
          <a:solidFill>
            <a:srgbClr val="453D4C"/>
          </a:solidFill>
          <a:ln/>
        </p:spPr>
      </p:sp>
      <p:sp>
        <p:nvSpPr>
          <p:cNvPr id="15" name="Nhãn B"/>
          <p:cNvSpPr/>
          <p:nvPr/>
        </p:nvSpPr>
        <p:spPr>
          <a:xfrm>
            <a:off x="6382512" y="4465320"/>
            <a:ext cx="566928" cy="566928"/>
          </a:xfrm>
          <a:prstGeom prst="ellipse">
            <a:avLst/>
          </a:prstGeom>
          <a:solidFill>
            <a:srgbClr val="FF9259"/>
          </a:solidFill>
          <a:ln/>
        </p:spPr>
      </p:sp>
      <p:sp>
        <p:nvSpPr>
          <p:cNvPr id="16" name="Text 14"/>
          <p:cNvSpPr txBox="1"/>
          <p:nvPr/>
        </p:nvSpPr>
        <p:spPr>
          <a:xfrm>
            <a:off x="6382512" y="4465320"/>
            <a:ext cx="566928" cy="566928"/>
          </a:xfrm>
          <a:prstGeom prst="rect">
            <a:avLst/>
          </a:prstGeom>
          <a:noFill/>
          <a:ln/>
        </p:spPr>
        <p:txBody>
          <a:bodyPr wrap="square" lIns="0" tIns="0" rIns="0" bIns="0" rtlCol="0" anchor="ctr"/>
          <a:lstStyle/>
          <a:p>
            <a:pPr algn="ctr" indent="0" marL="0">
              <a:buNone/>
            </a:pPr>
            <a:r>
              <a:rPr lang="en-US" sz="2600" b="1" dirty="0">
                <a:solidFill>
                  <a:srgbClr val="172849"/>
                </a:solidFill>
                <a:latin typeface="Alexandria" pitchFamily="34" charset="0"/>
                <a:ea typeface="Alexandria" pitchFamily="34" charset="-122"/>
                <a:cs typeface="Alexandria" pitchFamily="34" charset="-120"/>
              </a:rPr>
              <a:t>B</a:t>
            </a:r>
            <a:endParaRPr lang="en-US" sz="2600" dirty="0"/>
          </a:p>
        </p:txBody>
      </p:sp>
      <p:sp>
        <p:nvSpPr>
          <p:cNvPr id="17" name="Text 15"/>
          <p:cNvSpPr txBox="1"/>
          <p:nvPr/>
        </p:nvSpPr>
        <p:spPr>
          <a:xfrm>
            <a:off x="7086600" y="4230624"/>
            <a:ext cx="4416552" cy="1036320"/>
          </a:xfrm>
          <a:prstGeom prst="rect">
            <a:avLst/>
          </a:prstGeom>
          <a:noFill/>
          <a:ln/>
        </p:spPr>
        <p:txBody>
          <a:bodyPr wrap="square" lIns="76200" tIns="76200" rIns="76200" bIns="76200" rtlCol="0" anchor="ctr"/>
          <a:lstStyle/>
          <a:p>
            <a:pPr algn="l" indent="0" marL="0">
              <a:lnSpc>
                <a:spcPts val="3100"/>
              </a:lnSpc>
              <a:buNone/>
            </a:pPr>
            <a:r>
              <a:rPr lang="en-US" sz="2400" dirty="0">
                <a:solidFill>
                  <a:srgbClr val="FBFAF4"/>
                </a:solidFill>
                <a:latin typeface="Alexandria" pitchFamily="34" charset="0"/>
                <a:ea typeface="Alexandria" pitchFamily="34" charset="-122"/>
                <a:cs typeface="Alexandria" pitchFamily="34" charset="-120"/>
              </a:rPr>
              <a:t>Tóm tắt lần lượt từng nguồn</a:t>
            </a:r>
            <a:endParaRPr lang="en-US" sz="2400" dirty="0"/>
          </a:p>
        </p:txBody>
      </p:sp>
      <p:sp>
        <p:nvSpPr>
          <p:cNvPr id="18" name="Phương án C"/>
          <p:cNvSpPr/>
          <p:nvPr/>
        </p:nvSpPr>
        <p:spPr>
          <a:xfrm>
            <a:off x="548640" y="5404104"/>
            <a:ext cx="5394960" cy="1036320"/>
          </a:xfrm>
          <a:prstGeom prst="roundRect">
            <a:avLst>
              <a:gd name="adj" fmla="val 15882"/>
            </a:avLst>
          </a:prstGeom>
          <a:solidFill>
            <a:srgbClr val="302953"/>
          </a:solidFill>
          <a:ln/>
        </p:spPr>
      </p:sp>
      <p:sp>
        <p:nvSpPr>
          <p:cNvPr id="19" name="Nhãn C"/>
          <p:cNvSpPr/>
          <p:nvPr/>
        </p:nvSpPr>
        <p:spPr>
          <a:xfrm>
            <a:off x="713232" y="5638800"/>
            <a:ext cx="566928" cy="566928"/>
          </a:xfrm>
          <a:prstGeom prst="ellipse">
            <a:avLst/>
          </a:prstGeom>
          <a:solidFill>
            <a:srgbClr val="962B7C"/>
          </a:solidFill>
          <a:ln/>
        </p:spPr>
      </p:sp>
      <p:sp>
        <p:nvSpPr>
          <p:cNvPr id="20" name="Text 18"/>
          <p:cNvSpPr txBox="1"/>
          <p:nvPr/>
        </p:nvSpPr>
        <p:spPr>
          <a:xfrm>
            <a:off x="713232" y="5638800"/>
            <a:ext cx="566928" cy="566928"/>
          </a:xfrm>
          <a:prstGeom prst="rect">
            <a:avLst/>
          </a:prstGeom>
          <a:noFill/>
          <a:ln/>
        </p:spPr>
        <p:txBody>
          <a:bodyPr wrap="square" lIns="0" tIns="0" rIns="0" bIns="0" rtlCol="0" anchor="ctr"/>
          <a:lstStyle/>
          <a:p>
            <a:pPr algn="ctr" indent="0" marL="0">
              <a:buNone/>
            </a:pPr>
            <a:r>
              <a:rPr lang="en-US" sz="2600" b="1" dirty="0">
                <a:solidFill>
                  <a:srgbClr val="FFFFFF"/>
                </a:solidFill>
                <a:latin typeface="Alexandria" pitchFamily="34" charset="0"/>
                <a:ea typeface="Alexandria" pitchFamily="34" charset="-122"/>
                <a:cs typeface="Alexandria" pitchFamily="34" charset="-120"/>
              </a:rPr>
              <a:t>C</a:t>
            </a:r>
            <a:endParaRPr lang="en-US" sz="2600" dirty="0"/>
          </a:p>
        </p:txBody>
      </p:sp>
      <p:sp>
        <p:nvSpPr>
          <p:cNvPr id="21" name="Text 19"/>
          <p:cNvSpPr txBox="1"/>
          <p:nvPr/>
        </p:nvSpPr>
        <p:spPr>
          <a:xfrm>
            <a:off x="1417320" y="5404104"/>
            <a:ext cx="4416552" cy="1036320"/>
          </a:xfrm>
          <a:prstGeom prst="rect">
            <a:avLst/>
          </a:prstGeom>
          <a:noFill/>
          <a:ln/>
        </p:spPr>
        <p:txBody>
          <a:bodyPr wrap="square" lIns="76200" tIns="76200" rIns="76200" bIns="76200" rtlCol="0" anchor="ctr"/>
          <a:lstStyle/>
          <a:p>
            <a:pPr algn="l" indent="0" marL="0">
              <a:lnSpc>
                <a:spcPts val="3100"/>
              </a:lnSpc>
              <a:buNone/>
            </a:pPr>
            <a:r>
              <a:rPr lang="en-US" sz="2400" dirty="0">
                <a:solidFill>
                  <a:srgbClr val="FBFAF4"/>
                </a:solidFill>
                <a:latin typeface="Alexandria" pitchFamily="34" charset="0"/>
                <a:ea typeface="Alexandria" pitchFamily="34" charset="-122"/>
                <a:cs typeface="Alexandria" pitchFamily="34" charset="-120"/>
              </a:rPr>
              <a:t>Trích dẫn nguyên văn các nguồn</a:t>
            </a:r>
            <a:endParaRPr lang="en-US" sz="2400" dirty="0"/>
          </a:p>
        </p:txBody>
      </p:sp>
      <p:sp>
        <p:nvSpPr>
          <p:cNvPr id="22" name="Phương án D"/>
          <p:cNvSpPr/>
          <p:nvPr/>
        </p:nvSpPr>
        <p:spPr>
          <a:xfrm>
            <a:off x="6217920" y="5404104"/>
            <a:ext cx="5394960" cy="1036320"/>
          </a:xfrm>
          <a:prstGeom prst="roundRect">
            <a:avLst>
              <a:gd name="adj" fmla="val 15882"/>
            </a:avLst>
          </a:prstGeom>
          <a:solidFill>
            <a:srgbClr val="454A46"/>
          </a:solidFill>
          <a:ln/>
        </p:spPr>
      </p:sp>
      <p:sp>
        <p:nvSpPr>
          <p:cNvPr id="23" name="Nhãn D"/>
          <p:cNvSpPr/>
          <p:nvPr/>
        </p:nvSpPr>
        <p:spPr>
          <a:xfrm>
            <a:off x="6382512" y="5638800"/>
            <a:ext cx="566928" cy="566928"/>
          </a:xfrm>
          <a:prstGeom prst="ellipse">
            <a:avLst/>
          </a:prstGeom>
          <a:solidFill>
            <a:srgbClr val="FFD23B"/>
          </a:solidFill>
          <a:ln/>
        </p:spPr>
      </p:sp>
      <p:sp>
        <p:nvSpPr>
          <p:cNvPr id="24" name="Text 22"/>
          <p:cNvSpPr txBox="1"/>
          <p:nvPr/>
        </p:nvSpPr>
        <p:spPr>
          <a:xfrm>
            <a:off x="6382512" y="5638800"/>
            <a:ext cx="566928" cy="566928"/>
          </a:xfrm>
          <a:prstGeom prst="rect">
            <a:avLst/>
          </a:prstGeom>
          <a:noFill/>
          <a:ln/>
        </p:spPr>
        <p:txBody>
          <a:bodyPr wrap="square" lIns="0" tIns="0" rIns="0" bIns="0" rtlCol="0" anchor="ctr"/>
          <a:lstStyle/>
          <a:p>
            <a:pPr algn="ctr" indent="0" marL="0">
              <a:buNone/>
            </a:pPr>
            <a:r>
              <a:rPr lang="en-US" sz="2600" b="1" dirty="0">
                <a:solidFill>
                  <a:srgbClr val="172849"/>
                </a:solidFill>
                <a:latin typeface="Alexandria" pitchFamily="34" charset="0"/>
                <a:ea typeface="Alexandria" pitchFamily="34" charset="-122"/>
                <a:cs typeface="Alexandria" pitchFamily="34" charset="-120"/>
              </a:rPr>
              <a:t>D</a:t>
            </a:r>
            <a:endParaRPr lang="en-US" sz="2600" dirty="0"/>
          </a:p>
        </p:txBody>
      </p:sp>
      <p:sp>
        <p:nvSpPr>
          <p:cNvPr id="25" name="Text 23"/>
          <p:cNvSpPr txBox="1"/>
          <p:nvPr/>
        </p:nvSpPr>
        <p:spPr>
          <a:xfrm>
            <a:off x="7086600" y="5404104"/>
            <a:ext cx="4416552" cy="1036320"/>
          </a:xfrm>
          <a:prstGeom prst="rect">
            <a:avLst/>
          </a:prstGeom>
          <a:noFill/>
          <a:ln/>
        </p:spPr>
        <p:txBody>
          <a:bodyPr wrap="square" lIns="76200" tIns="76200" rIns="76200" bIns="76200" rtlCol="0" anchor="ctr"/>
          <a:lstStyle/>
          <a:p>
            <a:pPr algn="l" indent="0" marL="0">
              <a:lnSpc>
                <a:spcPts val="3100"/>
              </a:lnSpc>
              <a:buNone/>
            </a:pPr>
            <a:r>
              <a:rPr lang="en-US" sz="2400" dirty="0">
                <a:solidFill>
                  <a:srgbClr val="FBFAF4"/>
                </a:solidFill>
                <a:latin typeface="Alexandria" pitchFamily="34" charset="0"/>
                <a:ea typeface="Alexandria" pitchFamily="34" charset="-122"/>
                <a:cs typeface="Alexandria" pitchFamily="34" charset="-120"/>
              </a:rPr>
              <a:t>Diễn giải lại một nguồn duy nhất</a:t>
            </a:r>
            <a:endParaRPr lang="en-US" sz="2400" dirty="0"/>
          </a:p>
        </p:txBody>
      </p:sp>
    </p:spTree>
  </p:cSld>
  <p:clrMapOvr>
    <a:masterClrMapping/>
  </p:clrMapOvr>
  <p:transition spd="med" advTm="60000">
    <p:fade/>
  </p:transition>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FF5178"/>
          </a:solidFill>
          <a:ln/>
        </p:spPr>
      </p:sp>
      <p:sp>
        <p:nvSpPr>
          <p:cNvPr id="3" name="Trang trí"/>
          <p:cNvSpPr/>
          <p:nvPr/>
        </p:nvSpPr>
        <p:spPr>
          <a:xfrm>
            <a:off x="11505895" y="868680"/>
            <a:ext cx="274320" cy="274320"/>
          </a:xfrm>
          <a:prstGeom prst="ellipse">
            <a:avLst/>
          </a:prstGeom>
          <a:solidFill>
            <a:srgbClr val="FF9259"/>
          </a:solidFill>
          <a:ln/>
        </p:spPr>
      </p:sp>
      <p:sp>
        <p:nvSpPr>
          <p:cNvPr id="4" name="Trang trí"/>
          <p:cNvSpPr/>
          <p:nvPr/>
        </p:nvSpPr>
        <p:spPr>
          <a:xfrm>
            <a:off x="-457200" y="6400800"/>
            <a:ext cx="914400" cy="914400"/>
          </a:xfrm>
          <a:prstGeom prst="ellipse">
            <a:avLst/>
          </a:prstGeom>
          <a:solidFill>
            <a:srgbClr val="FFD23B"/>
          </a:solidFill>
          <a:ln/>
        </p:spPr>
      </p:sp>
      <p:sp>
        <p:nvSpPr>
          <p:cNvPr id="5" name="Câu 4"/>
          <p:cNvSpPr txBox="1"/>
          <p:nvPr/>
        </p:nvSpPr>
        <p:spPr>
          <a:xfrm>
            <a:off x="548640" y="381000"/>
            <a:ext cx="1097280" cy="1097280"/>
          </a:xfrm>
          <a:prstGeom prst="ellipse">
            <a:avLst/>
          </a:prstGeom>
          <a:solidFill>
            <a:srgbClr val="09A1E5"/>
          </a:solidFill>
          <a:ln/>
        </p:spPr>
        <p:txBody>
          <a:bodyPr wrap="square" lIns="0" tIns="0" rIns="0" bIns="0" rtlCol="0" anchor="ctr"/>
          <a:lstStyle/>
          <a:p>
            <a:pPr algn="ctr" indent="0" marL="0">
              <a:lnSpc>
                <a:spcPts val="3600"/>
              </a:lnSpc>
              <a:buNone/>
            </a:pPr>
            <a:r>
              <a:rPr lang="en-US" sz="2400" b="1" dirty="0">
                <a:solidFill>
                  <a:srgbClr val="172849"/>
                </a:solidFill>
                <a:latin typeface="Alexandria" pitchFamily="34" charset="0"/>
                <a:ea typeface="Alexandria" pitchFamily="34" charset="-122"/>
                <a:cs typeface="Alexandria" pitchFamily="34" charset="-120"/>
              </a:rPr>
              <a:t>CÂU</a:t>
            </a:r>
            <a:endParaRPr lang="en-US" sz="2400" dirty="0"/>
          </a:p>
          <a:p>
            <a:pPr algn="ctr" indent="0" marL="0">
              <a:lnSpc>
                <a:spcPts val="3600"/>
              </a:lnSpc>
              <a:buNone/>
            </a:pPr>
            <a:r>
              <a:rPr lang="en-US" sz="3600" b="1" dirty="0">
                <a:solidFill>
                  <a:srgbClr val="172849"/>
                </a:solidFill>
                <a:latin typeface="Alexandria" pitchFamily="34" charset="0"/>
                <a:ea typeface="Alexandria" pitchFamily="34" charset="-122"/>
                <a:cs typeface="Alexandria" pitchFamily="34" charset="-120"/>
              </a:rPr>
              <a:t>4</a:t>
            </a:r>
            <a:endParaRPr lang="en-US" sz="2400" dirty="0"/>
          </a:p>
        </p:txBody>
      </p:sp>
      <p:sp>
        <p:nvSpPr>
          <p:cNvPr id="6" name="Text 4"/>
          <p:cNvSpPr txBox="1"/>
          <p:nvPr/>
        </p:nvSpPr>
        <p:spPr>
          <a:xfrm>
            <a:off x="1965960" y="381000"/>
            <a:ext cx="9281160" cy="2133600"/>
          </a:xfrm>
          <a:prstGeom prst="rect">
            <a:avLst/>
          </a:prstGeom>
          <a:noFill/>
          <a:ln/>
        </p:spPr>
        <p:txBody>
          <a:bodyPr wrap="square" lIns="76200" tIns="76200" rIns="76200" bIns="76200" rtlCol="0" anchor="t"/>
          <a:lstStyle/>
          <a:p>
            <a:pPr algn="l" indent="0" marL="0">
              <a:lnSpc>
                <a:spcPts val="3900"/>
              </a:lnSpc>
              <a:buNone/>
            </a:pPr>
            <a:r>
              <a:rPr lang="en-US" sz="3000" b="1" dirty="0">
                <a:solidFill>
                  <a:srgbClr val="FBFAF4"/>
                </a:solidFill>
                <a:latin typeface="Alexandria" pitchFamily="34" charset="0"/>
                <a:ea typeface="Alexandria" pitchFamily="34" charset="-122"/>
                <a:cs typeface="Alexandria" pitchFamily="34" charset="-120"/>
              </a:rPr>
              <a:t>Một chatbot AI đưa ra 5 bài báo, có đủ tên tác giả, năm và mã DOI, cho đề tài của nhóm. Việc cần làm trước khi đưa các bài này vào danh mục tài liệu tham khảo là:</a:t>
            </a:r>
            <a:endParaRPr lang="en-US" sz="3000" dirty="0"/>
          </a:p>
        </p:txBody>
      </p:sp>
      <p:sp>
        <p:nvSpPr>
          <p:cNvPr id="7" name="Phương án A"/>
          <p:cNvSpPr/>
          <p:nvPr/>
        </p:nvSpPr>
        <p:spPr>
          <a:xfrm>
            <a:off x="548640" y="2788920"/>
            <a:ext cx="5394960" cy="1729740"/>
          </a:xfrm>
          <a:prstGeom prst="roundRect">
            <a:avLst>
              <a:gd name="adj" fmla="val 9515"/>
            </a:avLst>
          </a:prstGeom>
          <a:solidFill>
            <a:srgbClr val="453D4C"/>
          </a:solidFill>
          <a:ln/>
        </p:spPr>
      </p:sp>
      <p:sp>
        <p:nvSpPr>
          <p:cNvPr id="8" name="Nhãn A"/>
          <p:cNvSpPr/>
          <p:nvPr/>
        </p:nvSpPr>
        <p:spPr>
          <a:xfrm>
            <a:off x="713232" y="3370326"/>
            <a:ext cx="566928" cy="566928"/>
          </a:xfrm>
          <a:prstGeom prst="ellipse">
            <a:avLst/>
          </a:prstGeom>
          <a:solidFill>
            <a:srgbClr val="FF9259"/>
          </a:solidFill>
          <a:ln/>
        </p:spPr>
      </p:sp>
      <p:sp>
        <p:nvSpPr>
          <p:cNvPr id="9" name="Text 7"/>
          <p:cNvSpPr txBox="1"/>
          <p:nvPr/>
        </p:nvSpPr>
        <p:spPr>
          <a:xfrm>
            <a:off x="713232" y="3370326"/>
            <a:ext cx="566928" cy="566928"/>
          </a:xfrm>
          <a:prstGeom prst="rect">
            <a:avLst/>
          </a:prstGeom>
          <a:noFill/>
          <a:ln/>
        </p:spPr>
        <p:txBody>
          <a:bodyPr wrap="square" lIns="0" tIns="0" rIns="0" bIns="0" rtlCol="0" anchor="ctr"/>
          <a:lstStyle/>
          <a:p>
            <a:pPr algn="ctr" indent="0" marL="0">
              <a:buNone/>
            </a:pPr>
            <a:r>
              <a:rPr lang="en-US" sz="2600" b="1" dirty="0">
                <a:solidFill>
                  <a:srgbClr val="172849"/>
                </a:solidFill>
                <a:latin typeface="Alexandria" pitchFamily="34" charset="0"/>
                <a:ea typeface="Alexandria" pitchFamily="34" charset="-122"/>
                <a:cs typeface="Alexandria" pitchFamily="34" charset="-120"/>
              </a:rPr>
              <a:t>A</a:t>
            </a:r>
            <a:endParaRPr lang="en-US" sz="2600" dirty="0"/>
          </a:p>
        </p:txBody>
      </p:sp>
      <p:sp>
        <p:nvSpPr>
          <p:cNvPr id="10" name="Text 8"/>
          <p:cNvSpPr txBox="1"/>
          <p:nvPr/>
        </p:nvSpPr>
        <p:spPr>
          <a:xfrm>
            <a:off x="1417320" y="2788920"/>
            <a:ext cx="4416552" cy="1729740"/>
          </a:xfrm>
          <a:prstGeom prst="rect">
            <a:avLst/>
          </a:prstGeom>
          <a:noFill/>
          <a:ln/>
        </p:spPr>
        <p:txBody>
          <a:bodyPr wrap="square" lIns="76200" tIns="76200" rIns="76200" bIns="76200" rtlCol="0" anchor="ctr"/>
          <a:lstStyle/>
          <a:p>
            <a:pPr algn="l" indent="0" marL="0">
              <a:lnSpc>
                <a:spcPts val="3900"/>
              </a:lnSpc>
              <a:buNone/>
            </a:pPr>
            <a:r>
              <a:rPr lang="en-US" sz="3000" dirty="0">
                <a:solidFill>
                  <a:srgbClr val="FBFAF4"/>
                </a:solidFill>
                <a:latin typeface="Alexandria" pitchFamily="34" charset="0"/>
                <a:ea typeface="Alexandria" pitchFamily="34" charset="-122"/>
                <a:cs typeface="Alexandria" pitchFamily="34" charset="-120"/>
              </a:rPr>
              <a:t>Sử dụng ngay vì thông tin xuất bản đã đầy đủ</a:t>
            </a:r>
            <a:endParaRPr lang="en-US" sz="3000" dirty="0"/>
          </a:p>
        </p:txBody>
      </p:sp>
      <p:sp>
        <p:nvSpPr>
          <p:cNvPr id="11" name="Phương án B"/>
          <p:cNvSpPr/>
          <p:nvPr/>
        </p:nvSpPr>
        <p:spPr>
          <a:xfrm>
            <a:off x="6217920" y="2788920"/>
            <a:ext cx="5394960" cy="1729740"/>
          </a:xfrm>
          <a:prstGeom prst="roundRect">
            <a:avLst>
              <a:gd name="adj" fmla="val 9515"/>
            </a:avLst>
          </a:prstGeom>
          <a:solidFill>
            <a:srgbClr val="302953"/>
          </a:solidFill>
          <a:ln/>
        </p:spPr>
      </p:sp>
      <p:sp>
        <p:nvSpPr>
          <p:cNvPr id="12" name="Nhãn B"/>
          <p:cNvSpPr/>
          <p:nvPr/>
        </p:nvSpPr>
        <p:spPr>
          <a:xfrm>
            <a:off x="6382512" y="3370326"/>
            <a:ext cx="566928" cy="566928"/>
          </a:xfrm>
          <a:prstGeom prst="ellipse">
            <a:avLst/>
          </a:prstGeom>
          <a:solidFill>
            <a:srgbClr val="962B7C"/>
          </a:solidFill>
          <a:ln/>
        </p:spPr>
      </p:sp>
      <p:sp>
        <p:nvSpPr>
          <p:cNvPr id="13" name="Text 11"/>
          <p:cNvSpPr txBox="1"/>
          <p:nvPr/>
        </p:nvSpPr>
        <p:spPr>
          <a:xfrm>
            <a:off x="6382512" y="3370326"/>
            <a:ext cx="566928" cy="566928"/>
          </a:xfrm>
          <a:prstGeom prst="rect">
            <a:avLst/>
          </a:prstGeom>
          <a:noFill/>
          <a:ln/>
        </p:spPr>
        <p:txBody>
          <a:bodyPr wrap="square" lIns="0" tIns="0" rIns="0" bIns="0" rtlCol="0" anchor="ctr"/>
          <a:lstStyle/>
          <a:p>
            <a:pPr algn="ctr" indent="0" marL="0">
              <a:buNone/>
            </a:pPr>
            <a:r>
              <a:rPr lang="en-US" sz="2600" b="1" dirty="0">
                <a:solidFill>
                  <a:srgbClr val="FFFFFF"/>
                </a:solidFill>
                <a:latin typeface="Alexandria" pitchFamily="34" charset="0"/>
                <a:ea typeface="Alexandria" pitchFamily="34" charset="-122"/>
                <a:cs typeface="Alexandria" pitchFamily="34" charset="-120"/>
              </a:rPr>
              <a:t>B</a:t>
            </a:r>
            <a:endParaRPr lang="en-US" sz="2600" dirty="0"/>
          </a:p>
        </p:txBody>
      </p:sp>
      <p:sp>
        <p:nvSpPr>
          <p:cNvPr id="14" name="Text 12"/>
          <p:cNvSpPr txBox="1"/>
          <p:nvPr/>
        </p:nvSpPr>
        <p:spPr>
          <a:xfrm>
            <a:off x="7086600" y="2788920"/>
            <a:ext cx="4416552" cy="1729740"/>
          </a:xfrm>
          <a:prstGeom prst="rect">
            <a:avLst/>
          </a:prstGeom>
          <a:noFill/>
          <a:ln/>
        </p:spPr>
        <p:txBody>
          <a:bodyPr wrap="square" lIns="76200" tIns="76200" rIns="76200" bIns="76200" rtlCol="0" anchor="ctr"/>
          <a:lstStyle/>
          <a:p>
            <a:pPr algn="l" indent="0" marL="0">
              <a:lnSpc>
                <a:spcPts val="3900"/>
              </a:lnSpc>
              <a:buNone/>
            </a:pPr>
            <a:r>
              <a:rPr lang="en-US" sz="3000" dirty="0">
                <a:solidFill>
                  <a:srgbClr val="FBFAF4"/>
                </a:solidFill>
                <a:latin typeface="Alexandria" pitchFamily="34" charset="0"/>
                <a:ea typeface="Alexandria" pitchFamily="34" charset="-122"/>
                <a:cs typeface="Alexandria" pitchFamily="34" charset="-120"/>
              </a:rPr>
              <a:t>Hỏi lại chính chatbot đó xem các bài có thật không</a:t>
            </a:r>
            <a:endParaRPr lang="en-US" sz="3000" dirty="0"/>
          </a:p>
        </p:txBody>
      </p:sp>
      <p:sp>
        <p:nvSpPr>
          <p:cNvPr id="15" name="Phương án C"/>
          <p:cNvSpPr/>
          <p:nvPr/>
        </p:nvSpPr>
        <p:spPr>
          <a:xfrm>
            <a:off x="548640" y="4655820"/>
            <a:ext cx="5394960" cy="1729740"/>
          </a:xfrm>
          <a:prstGeom prst="roundRect">
            <a:avLst>
              <a:gd name="adj" fmla="val 9515"/>
            </a:avLst>
          </a:prstGeom>
          <a:solidFill>
            <a:srgbClr val="454A46"/>
          </a:solidFill>
          <a:ln/>
        </p:spPr>
      </p:sp>
      <p:sp>
        <p:nvSpPr>
          <p:cNvPr id="16" name="Nhãn C"/>
          <p:cNvSpPr/>
          <p:nvPr/>
        </p:nvSpPr>
        <p:spPr>
          <a:xfrm>
            <a:off x="713232" y="5237226"/>
            <a:ext cx="566928" cy="566928"/>
          </a:xfrm>
          <a:prstGeom prst="ellipse">
            <a:avLst/>
          </a:prstGeom>
          <a:solidFill>
            <a:srgbClr val="FFD23B"/>
          </a:solidFill>
          <a:ln/>
        </p:spPr>
      </p:sp>
      <p:sp>
        <p:nvSpPr>
          <p:cNvPr id="17" name="Text 15"/>
          <p:cNvSpPr txBox="1"/>
          <p:nvPr/>
        </p:nvSpPr>
        <p:spPr>
          <a:xfrm>
            <a:off x="713232" y="5237226"/>
            <a:ext cx="566928" cy="566928"/>
          </a:xfrm>
          <a:prstGeom prst="rect">
            <a:avLst/>
          </a:prstGeom>
          <a:noFill/>
          <a:ln/>
        </p:spPr>
        <p:txBody>
          <a:bodyPr wrap="square" lIns="0" tIns="0" rIns="0" bIns="0" rtlCol="0" anchor="ctr"/>
          <a:lstStyle/>
          <a:p>
            <a:pPr algn="ctr" indent="0" marL="0">
              <a:buNone/>
            </a:pPr>
            <a:r>
              <a:rPr lang="en-US" sz="2600" b="1" dirty="0">
                <a:solidFill>
                  <a:srgbClr val="172849"/>
                </a:solidFill>
                <a:latin typeface="Alexandria" pitchFamily="34" charset="0"/>
                <a:ea typeface="Alexandria" pitchFamily="34" charset="-122"/>
                <a:cs typeface="Alexandria" pitchFamily="34" charset="-120"/>
              </a:rPr>
              <a:t>C</a:t>
            </a:r>
            <a:endParaRPr lang="en-US" sz="2600" dirty="0"/>
          </a:p>
        </p:txBody>
      </p:sp>
      <p:sp>
        <p:nvSpPr>
          <p:cNvPr id="18" name="Text 16"/>
          <p:cNvSpPr txBox="1"/>
          <p:nvPr/>
        </p:nvSpPr>
        <p:spPr>
          <a:xfrm>
            <a:off x="1417320" y="4655820"/>
            <a:ext cx="4416552" cy="1729740"/>
          </a:xfrm>
          <a:prstGeom prst="rect">
            <a:avLst/>
          </a:prstGeom>
          <a:noFill/>
          <a:ln/>
        </p:spPr>
        <p:txBody>
          <a:bodyPr wrap="square" lIns="76200" tIns="76200" rIns="76200" bIns="76200" rtlCol="0" anchor="ctr"/>
          <a:lstStyle/>
          <a:p>
            <a:pPr algn="l" indent="0" marL="0">
              <a:lnSpc>
                <a:spcPts val="3900"/>
              </a:lnSpc>
              <a:buNone/>
            </a:pPr>
            <a:r>
              <a:rPr lang="en-US" sz="3000" dirty="0">
                <a:solidFill>
                  <a:srgbClr val="FBFAF4"/>
                </a:solidFill>
                <a:latin typeface="Alexandria" pitchFamily="34" charset="0"/>
                <a:ea typeface="Alexandria" pitchFamily="34" charset="-122"/>
                <a:cs typeface="Alexandria" pitchFamily="34" charset="-120"/>
              </a:rPr>
              <a:t>Tra từng bài trên Google Scholar hoặc DOI và đọc bản gốc</a:t>
            </a:r>
            <a:endParaRPr lang="en-US" sz="3000" dirty="0"/>
          </a:p>
        </p:txBody>
      </p:sp>
      <p:sp>
        <p:nvSpPr>
          <p:cNvPr id="19" name="Phương án D"/>
          <p:cNvSpPr/>
          <p:nvPr/>
        </p:nvSpPr>
        <p:spPr>
          <a:xfrm>
            <a:off x="6217920" y="4655820"/>
            <a:ext cx="5394960" cy="1729740"/>
          </a:xfrm>
          <a:prstGeom prst="roundRect">
            <a:avLst>
              <a:gd name="adj" fmla="val 9515"/>
            </a:avLst>
          </a:prstGeom>
          <a:solidFill>
            <a:srgbClr val="214458"/>
          </a:solidFill>
          <a:ln/>
        </p:spPr>
      </p:sp>
      <p:sp>
        <p:nvSpPr>
          <p:cNvPr id="20" name="Nhãn D"/>
          <p:cNvSpPr/>
          <p:nvPr/>
        </p:nvSpPr>
        <p:spPr>
          <a:xfrm>
            <a:off x="6382512" y="5237226"/>
            <a:ext cx="566928" cy="566928"/>
          </a:xfrm>
          <a:prstGeom prst="ellipse">
            <a:avLst/>
          </a:prstGeom>
          <a:solidFill>
            <a:srgbClr val="49B296"/>
          </a:solidFill>
          <a:ln/>
        </p:spPr>
      </p:sp>
      <p:sp>
        <p:nvSpPr>
          <p:cNvPr id="21" name="Text 19"/>
          <p:cNvSpPr txBox="1"/>
          <p:nvPr/>
        </p:nvSpPr>
        <p:spPr>
          <a:xfrm>
            <a:off x="6382512" y="5237226"/>
            <a:ext cx="566928" cy="566928"/>
          </a:xfrm>
          <a:prstGeom prst="rect">
            <a:avLst/>
          </a:prstGeom>
          <a:noFill/>
          <a:ln/>
        </p:spPr>
        <p:txBody>
          <a:bodyPr wrap="square" lIns="0" tIns="0" rIns="0" bIns="0" rtlCol="0" anchor="ctr"/>
          <a:lstStyle/>
          <a:p>
            <a:pPr algn="ctr" indent="0" marL="0">
              <a:buNone/>
            </a:pPr>
            <a:r>
              <a:rPr lang="en-US" sz="2600" b="1" dirty="0">
                <a:solidFill>
                  <a:srgbClr val="172849"/>
                </a:solidFill>
                <a:latin typeface="Alexandria" pitchFamily="34" charset="0"/>
                <a:ea typeface="Alexandria" pitchFamily="34" charset="-122"/>
                <a:cs typeface="Alexandria" pitchFamily="34" charset="-120"/>
              </a:rPr>
              <a:t>D</a:t>
            </a:r>
            <a:endParaRPr lang="en-US" sz="2600" dirty="0"/>
          </a:p>
        </p:txBody>
      </p:sp>
      <p:sp>
        <p:nvSpPr>
          <p:cNvPr id="22" name="Text 20"/>
          <p:cNvSpPr txBox="1"/>
          <p:nvPr/>
        </p:nvSpPr>
        <p:spPr>
          <a:xfrm>
            <a:off x="7086600" y="4655820"/>
            <a:ext cx="4416552" cy="1729740"/>
          </a:xfrm>
          <a:prstGeom prst="rect">
            <a:avLst/>
          </a:prstGeom>
          <a:noFill/>
          <a:ln/>
        </p:spPr>
        <p:txBody>
          <a:bodyPr wrap="square" lIns="76200" tIns="76200" rIns="76200" bIns="76200" rtlCol="0" anchor="ctr"/>
          <a:lstStyle/>
          <a:p>
            <a:pPr algn="l" indent="0" marL="0">
              <a:lnSpc>
                <a:spcPts val="3900"/>
              </a:lnSpc>
              <a:buNone/>
            </a:pPr>
            <a:r>
              <a:rPr lang="en-US" sz="3000" dirty="0">
                <a:solidFill>
                  <a:srgbClr val="FBFAF4"/>
                </a:solidFill>
                <a:latin typeface="Alexandria" pitchFamily="34" charset="0"/>
                <a:ea typeface="Alexandria" pitchFamily="34" charset="-122"/>
                <a:cs typeface="Alexandria" pitchFamily="34" charset="-120"/>
              </a:rPr>
              <a:t>Chỉ giữ lại những bài có năm xuất bản gần đây</a:t>
            </a:r>
            <a:endParaRPr lang="en-US" sz="3000" dirty="0"/>
          </a:p>
        </p:txBody>
      </p:sp>
    </p:spTree>
  </p:cSld>
  <p:clrMapOvr>
    <a:masterClrMapping/>
  </p:clrMapOvr>
  <p:transition spd="med" advTm="60000">
    <p:fade/>
  </p:transition>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09A1E5"/>
          </a:solidFill>
          <a:ln/>
        </p:spPr>
      </p:sp>
      <p:sp>
        <p:nvSpPr>
          <p:cNvPr id="3" name="Trang trí"/>
          <p:cNvSpPr/>
          <p:nvPr/>
        </p:nvSpPr>
        <p:spPr>
          <a:xfrm>
            <a:off x="11505895" y="868680"/>
            <a:ext cx="274320" cy="274320"/>
          </a:xfrm>
          <a:prstGeom prst="ellipse">
            <a:avLst/>
          </a:prstGeom>
          <a:solidFill>
            <a:srgbClr val="962B7C"/>
          </a:solidFill>
          <a:ln/>
        </p:spPr>
      </p:sp>
      <p:sp>
        <p:nvSpPr>
          <p:cNvPr id="4" name="Trang trí"/>
          <p:cNvSpPr/>
          <p:nvPr/>
        </p:nvSpPr>
        <p:spPr>
          <a:xfrm>
            <a:off x="-457200" y="6400800"/>
            <a:ext cx="914400" cy="914400"/>
          </a:xfrm>
          <a:prstGeom prst="ellipse">
            <a:avLst/>
          </a:prstGeom>
          <a:solidFill>
            <a:srgbClr val="49B296"/>
          </a:solidFill>
          <a:ln/>
        </p:spPr>
      </p:sp>
      <p:sp>
        <p:nvSpPr>
          <p:cNvPr id="5" name="Câu 5"/>
          <p:cNvSpPr txBox="1"/>
          <p:nvPr/>
        </p:nvSpPr>
        <p:spPr>
          <a:xfrm>
            <a:off x="548640" y="314960"/>
            <a:ext cx="1097280" cy="1097280"/>
          </a:xfrm>
          <a:prstGeom prst="ellipse">
            <a:avLst/>
          </a:prstGeom>
          <a:solidFill>
            <a:srgbClr val="FF9259"/>
          </a:solidFill>
          <a:ln/>
        </p:spPr>
        <p:txBody>
          <a:bodyPr wrap="square" lIns="0" tIns="0" rIns="0" bIns="0" rtlCol="0" anchor="ctr"/>
          <a:lstStyle/>
          <a:p>
            <a:pPr algn="ctr" indent="0" marL="0">
              <a:lnSpc>
                <a:spcPts val="3600"/>
              </a:lnSpc>
              <a:buNone/>
            </a:pPr>
            <a:r>
              <a:rPr lang="en-US" sz="2400" b="1" dirty="0">
                <a:solidFill>
                  <a:srgbClr val="172849"/>
                </a:solidFill>
                <a:latin typeface="Alexandria" pitchFamily="34" charset="0"/>
                <a:ea typeface="Alexandria" pitchFamily="34" charset="-122"/>
                <a:cs typeface="Alexandria" pitchFamily="34" charset="-120"/>
              </a:rPr>
              <a:t>CÂU</a:t>
            </a:r>
            <a:endParaRPr lang="en-US" sz="2400" dirty="0"/>
          </a:p>
          <a:p>
            <a:pPr algn="ctr" indent="0" marL="0">
              <a:lnSpc>
                <a:spcPts val="3600"/>
              </a:lnSpc>
              <a:buNone/>
            </a:pPr>
            <a:r>
              <a:rPr lang="en-US" sz="3600" b="1" dirty="0">
                <a:solidFill>
                  <a:srgbClr val="172849"/>
                </a:solidFill>
                <a:latin typeface="Alexandria" pitchFamily="34" charset="0"/>
                <a:ea typeface="Alexandria" pitchFamily="34" charset="-122"/>
                <a:cs typeface="Alexandria" pitchFamily="34" charset="-120"/>
              </a:rPr>
              <a:t>5</a:t>
            </a:r>
            <a:endParaRPr lang="en-US" sz="2400" dirty="0"/>
          </a:p>
        </p:txBody>
      </p:sp>
      <p:sp>
        <p:nvSpPr>
          <p:cNvPr id="6" name="Text 4"/>
          <p:cNvSpPr txBox="1"/>
          <p:nvPr/>
        </p:nvSpPr>
        <p:spPr>
          <a:xfrm>
            <a:off x="1965960" y="314960"/>
            <a:ext cx="9281160" cy="2001520"/>
          </a:xfrm>
          <a:prstGeom prst="rect">
            <a:avLst/>
          </a:prstGeom>
          <a:noFill/>
          <a:ln/>
        </p:spPr>
        <p:txBody>
          <a:bodyPr wrap="square" lIns="76200" tIns="76200" rIns="76200" bIns="76200" rtlCol="0" anchor="t"/>
          <a:lstStyle/>
          <a:p>
            <a:pPr algn="l" indent="0" marL="0">
              <a:lnSpc>
                <a:spcPts val="3600"/>
              </a:lnSpc>
              <a:buNone/>
            </a:pPr>
            <a:r>
              <a:rPr lang="en-US" sz="2800" b="1" dirty="0">
                <a:solidFill>
                  <a:srgbClr val="FBFAF4"/>
                </a:solidFill>
                <a:latin typeface="Alexandria" pitchFamily="34" charset="0"/>
                <a:ea typeface="Alexandria" pitchFamily="34" charset="-122"/>
                <a:cs typeface="Alexandria" pitchFamily="34" charset="-120"/>
              </a:rPr>
              <a:t>Giám đốc một chuỗi cà phê đặt vấn đề: “Có nên mở thêm cửa hàng gần một trường đại học không?” Vấn đề nghiên cứu tương ứng phù hợp nhất là:</a:t>
            </a:r>
            <a:endParaRPr lang="en-US" sz="2800" dirty="0"/>
          </a:p>
        </p:txBody>
      </p:sp>
      <p:sp>
        <p:nvSpPr>
          <p:cNvPr id="7" name="Phương án A"/>
          <p:cNvSpPr/>
          <p:nvPr/>
        </p:nvSpPr>
        <p:spPr>
          <a:xfrm>
            <a:off x="548640" y="2590800"/>
            <a:ext cx="5394960" cy="1630680"/>
          </a:xfrm>
          <a:prstGeom prst="roundRect">
            <a:avLst>
              <a:gd name="adj" fmla="val 10093"/>
            </a:avLst>
          </a:prstGeom>
          <a:solidFill>
            <a:srgbClr val="302953"/>
          </a:solidFill>
          <a:ln/>
        </p:spPr>
      </p:sp>
      <p:sp>
        <p:nvSpPr>
          <p:cNvPr id="8" name="Nhãn A"/>
          <p:cNvSpPr/>
          <p:nvPr/>
        </p:nvSpPr>
        <p:spPr>
          <a:xfrm>
            <a:off x="713232" y="3122676"/>
            <a:ext cx="566928" cy="566928"/>
          </a:xfrm>
          <a:prstGeom prst="ellipse">
            <a:avLst/>
          </a:prstGeom>
          <a:solidFill>
            <a:srgbClr val="962B7C"/>
          </a:solidFill>
          <a:ln/>
        </p:spPr>
      </p:sp>
      <p:sp>
        <p:nvSpPr>
          <p:cNvPr id="9" name="Text 7"/>
          <p:cNvSpPr txBox="1"/>
          <p:nvPr/>
        </p:nvSpPr>
        <p:spPr>
          <a:xfrm>
            <a:off x="713232" y="3122676"/>
            <a:ext cx="566928" cy="566928"/>
          </a:xfrm>
          <a:prstGeom prst="rect">
            <a:avLst/>
          </a:prstGeom>
          <a:noFill/>
          <a:ln/>
        </p:spPr>
        <p:txBody>
          <a:bodyPr wrap="square" lIns="0" tIns="0" rIns="0" bIns="0" rtlCol="0" anchor="ctr"/>
          <a:lstStyle/>
          <a:p>
            <a:pPr algn="ctr" indent="0" marL="0">
              <a:buNone/>
            </a:pPr>
            <a:r>
              <a:rPr lang="en-US" sz="2600" b="1" dirty="0">
                <a:solidFill>
                  <a:srgbClr val="FFFFFF"/>
                </a:solidFill>
                <a:latin typeface="Alexandria" pitchFamily="34" charset="0"/>
                <a:ea typeface="Alexandria" pitchFamily="34" charset="-122"/>
                <a:cs typeface="Alexandria" pitchFamily="34" charset="-120"/>
              </a:rPr>
              <a:t>A</a:t>
            </a:r>
            <a:endParaRPr lang="en-US" sz="2600" dirty="0"/>
          </a:p>
        </p:txBody>
      </p:sp>
      <p:sp>
        <p:nvSpPr>
          <p:cNvPr id="10" name="Text 8"/>
          <p:cNvSpPr txBox="1"/>
          <p:nvPr/>
        </p:nvSpPr>
        <p:spPr>
          <a:xfrm>
            <a:off x="1417320" y="2590800"/>
            <a:ext cx="4416552" cy="1630680"/>
          </a:xfrm>
          <a:prstGeom prst="rect">
            <a:avLst/>
          </a:prstGeom>
          <a:noFill/>
          <a:ln/>
        </p:spPr>
        <p:txBody>
          <a:bodyPr wrap="square" lIns="76200" tIns="76200" rIns="76200" bIns="76200" rtlCol="0" anchor="ctr"/>
          <a:lstStyle/>
          <a:p>
            <a:pPr algn="l" indent="0" marL="0">
              <a:lnSpc>
                <a:spcPts val="3600"/>
              </a:lnSpc>
              <a:buNone/>
            </a:pPr>
            <a:r>
              <a:rPr lang="en-US" sz="2800" dirty="0">
                <a:solidFill>
                  <a:srgbClr val="FBFAF4"/>
                </a:solidFill>
                <a:latin typeface="Alexandria" pitchFamily="34" charset="0"/>
                <a:ea typeface="Alexandria" pitchFamily="34" charset="-122"/>
                <a:cs typeface="Alexandria" pitchFamily="34" charset="-120"/>
              </a:rPr>
              <a:t>Quyết định có nên mở thêm cửa hàng gần trường hay không</a:t>
            </a:r>
            <a:endParaRPr lang="en-US" sz="2800" dirty="0"/>
          </a:p>
        </p:txBody>
      </p:sp>
      <p:sp>
        <p:nvSpPr>
          <p:cNvPr id="11" name="Phương án B"/>
          <p:cNvSpPr/>
          <p:nvPr/>
        </p:nvSpPr>
        <p:spPr>
          <a:xfrm>
            <a:off x="6217920" y="2590800"/>
            <a:ext cx="5394960" cy="1630680"/>
          </a:xfrm>
          <a:prstGeom prst="roundRect">
            <a:avLst>
              <a:gd name="adj" fmla="val 10093"/>
            </a:avLst>
          </a:prstGeom>
          <a:solidFill>
            <a:srgbClr val="454A46"/>
          </a:solidFill>
          <a:ln/>
        </p:spPr>
      </p:sp>
      <p:sp>
        <p:nvSpPr>
          <p:cNvPr id="12" name="Nhãn B"/>
          <p:cNvSpPr/>
          <p:nvPr/>
        </p:nvSpPr>
        <p:spPr>
          <a:xfrm>
            <a:off x="6382512" y="3122676"/>
            <a:ext cx="566928" cy="566928"/>
          </a:xfrm>
          <a:prstGeom prst="ellipse">
            <a:avLst/>
          </a:prstGeom>
          <a:solidFill>
            <a:srgbClr val="FFD23B"/>
          </a:solidFill>
          <a:ln/>
        </p:spPr>
      </p:sp>
      <p:sp>
        <p:nvSpPr>
          <p:cNvPr id="13" name="Text 11"/>
          <p:cNvSpPr txBox="1"/>
          <p:nvPr/>
        </p:nvSpPr>
        <p:spPr>
          <a:xfrm>
            <a:off x="6382512" y="3122676"/>
            <a:ext cx="566928" cy="566928"/>
          </a:xfrm>
          <a:prstGeom prst="rect">
            <a:avLst/>
          </a:prstGeom>
          <a:noFill/>
          <a:ln/>
        </p:spPr>
        <p:txBody>
          <a:bodyPr wrap="square" lIns="0" tIns="0" rIns="0" bIns="0" rtlCol="0" anchor="ctr"/>
          <a:lstStyle/>
          <a:p>
            <a:pPr algn="ctr" indent="0" marL="0">
              <a:buNone/>
            </a:pPr>
            <a:r>
              <a:rPr lang="en-US" sz="2600" b="1" dirty="0">
                <a:solidFill>
                  <a:srgbClr val="172849"/>
                </a:solidFill>
                <a:latin typeface="Alexandria" pitchFamily="34" charset="0"/>
                <a:ea typeface="Alexandria" pitchFamily="34" charset="-122"/>
                <a:cs typeface="Alexandria" pitchFamily="34" charset="-120"/>
              </a:rPr>
              <a:t>B</a:t>
            </a:r>
            <a:endParaRPr lang="en-US" sz="2600" dirty="0"/>
          </a:p>
        </p:txBody>
      </p:sp>
      <p:sp>
        <p:nvSpPr>
          <p:cNvPr id="14" name="Text 12"/>
          <p:cNvSpPr txBox="1"/>
          <p:nvPr/>
        </p:nvSpPr>
        <p:spPr>
          <a:xfrm>
            <a:off x="7086600" y="2590800"/>
            <a:ext cx="4416552" cy="1630680"/>
          </a:xfrm>
          <a:prstGeom prst="rect">
            <a:avLst/>
          </a:prstGeom>
          <a:noFill/>
          <a:ln/>
        </p:spPr>
        <p:txBody>
          <a:bodyPr wrap="square" lIns="76200" tIns="76200" rIns="76200" bIns="76200" rtlCol="0" anchor="ctr"/>
          <a:lstStyle/>
          <a:p>
            <a:pPr algn="l" indent="0" marL="0">
              <a:lnSpc>
                <a:spcPts val="3600"/>
              </a:lnSpc>
              <a:buNone/>
            </a:pPr>
            <a:r>
              <a:rPr lang="en-US" sz="2800" dirty="0">
                <a:solidFill>
                  <a:srgbClr val="FBFAF4"/>
                </a:solidFill>
                <a:latin typeface="Alexandria" pitchFamily="34" charset="0"/>
                <a:ea typeface="Alexandria" pitchFamily="34" charset="-122"/>
                <a:cs typeface="Alexandria" pitchFamily="34" charset="-120"/>
              </a:rPr>
              <a:t>Tìm cách tăng doanh số của toàn chuỗi trong năm tới</a:t>
            </a:r>
            <a:endParaRPr lang="en-US" sz="2800" dirty="0"/>
          </a:p>
        </p:txBody>
      </p:sp>
      <p:sp>
        <p:nvSpPr>
          <p:cNvPr id="15" name="Phương án C"/>
          <p:cNvSpPr/>
          <p:nvPr/>
        </p:nvSpPr>
        <p:spPr>
          <a:xfrm>
            <a:off x="548640" y="4358640"/>
            <a:ext cx="5394960" cy="2092960"/>
          </a:xfrm>
          <a:prstGeom prst="roundRect">
            <a:avLst>
              <a:gd name="adj" fmla="val 7864"/>
            </a:avLst>
          </a:prstGeom>
          <a:solidFill>
            <a:srgbClr val="214458"/>
          </a:solidFill>
          <a:ln/>
        </p:spPr>
      </p:sp>
      <p:sp>
        <p:nvSpPr>
          <p:cNvPr id="16" name="Nhãn C"/>
          <p:cNvSpPr/>
          <p:nvPr/>
        </p:nvSpPr>
        <p:spPr>
          <a:xfrm>
            <a:off x="713232" y="5121656"/>
            <a:ext cx="566928" cy="566928"/>
          </a:xfrm>
          <a:prstGeom prst="ellipse">
            <a:avLst/>
          </a:prstGeom>
          <a:solidFill>
            <a:srgbClr val="49B296"/>
          </a:solidFill>
          <a:ln/>
        </p:spPr>
      </p:sp>
      <p:sp>
        <p:nvSpPr>
          <p:cNvPr id="17" name="Text 15"/>
          <p:cNvSpPr txBox="1"/>
          <p:nvPr/>
        </p:nvSpPr>
        <p:spPr>
          <a:xfrm>
            <a:off x="713232" y="5121656"/>
            <a:ext cx="566928" cy="566928"/>
          </a:xfrm>
          <a:prstGeom prst="rect">
            <a:avLst/>
          </a:prstGeom>
          <a:noFill/>
          <a:ln/>
        </p:spPr>
        <p:txBody>
          <a:bodyPr wrap="square" lIns="0" tIns="0" rIns="0" bIns="0" rtlCol="0" anchor="ctr"/>
          <a:lstStyle/>
          <a:p>
            <a:pPr algn="ctr" indent="0" marL="0">
              <a:buNone/>
            </a:pPr>
            <a:r>
              <a:rPr lang="en-US" sz="2600" b="1" dirty="0">
                <a:solidFill>
                  <a:srgbClr val="172849"/>
                </a:solidFill>
                <a:latin typeface="Alexandria" pitchFamily="34" charset="0"/>
                <a:ea typeface="Alexandria" pitchFamily="34" charset="-122"/>
                <a:cs typeface="Alexandria" pitchFamily="34" charset="-120"/>
              </a:rPr>
              <a:t>C</a:t>
            </a:r>
            <a:endParaRPr lang="en-US" sz="2600" dirty="0"/>
          </a:p>
        </p:txBody>
      </p:sp>
      <p:sp>
        <p:nvSpPr>
          <p:cNvPr id="18" name="Text 16"/>
          <p:cNvSpPr txBox="1"/>
          <p:nvPr/>
        </p:nvSpPr>
        <p:spPr>
          <a:xfrm>
            <a:off x="1417320" y="4358640"/>
            <a:ext cx="4416552" cy="2092960"/>
          </a:xfrm>
          <a:prstGeom prst="rect">
            <a:avLst/>
          </a:prstGeom>
          <a:noFill/>
          <a:ln/>
        </p:spPr>
        <p:txBody>
          <a:bodyPr wrap="square" lIns="76200" tIns="76200" rIns="76200" bIns="76200" rtlCol="0" anchor="ctr"/>
          <a:lstStyle/>
          <a:p>
            <a:pPr algn="l" indent="0" marL="0">
              <a:lnSpc>
                <a:spcPts val="3600"/>
              </a:lnSpc>
              <a:buNone/>
            </a:pPr>
            <a:r>
              <a:rPr lang="en-US" sz="2800" dirty="0">
                <a:solidFill>
                  <a:srgbClr val="FBFAF4"/>
                </a:solidFill>
                <a:latin typeface="Alexandria" pitchFamily="34" charset="0"/>
                <a:ea typeface="Alexandria" pitchFamily="34" charset="-122"/>
                <a:cs typeface="Alexandria" pitchFamily="34" charset="-120"/>
              </a:rPr>
              <a:t>Lựa chọn mặt bằng có chi phí thuê thấp nhất khu vực</a:t>
            </a:r>
            <a:endParaRPr lang="en-US" sz="2800" dirty="0"/>
          </a:p>
        </p:txBody>
      </p:sp>
      <p:sp>
        <p:nvSpPr>
          <p:cNvPr id="19" name="Phương án D"/>
          <p:cNvSpPr/>
          <p:nvPr/>
        </p:nvSpPr>
        <p:spPr>
          <a:xfrm>
            <a:off x="6217920" y="4358640"/>
            <a:ext cx="5394960" cy="2092960"/>
          </a:xfrm>
          <a:prstGeom prst="roundRect">
            <a:avLst>
              <a:gd name="adj" fmla="val 7864"/>
            </a:avLst>
          </a:prstGeom>
          <a:solidFill>
            <a:srgbClr val="453052"/>
          </a:solidFill>
          <a:ln/>
        </p:spPr>
      </p:sp>
      <p:sp>
        <p:nvSpPr>
          <p:cNvPr id="20" name="Nhãn D"/>
          <p:cNvSpPr/>
          <p:nvPr/>
        </p:nvSpPr>
        <p:spPr>
          <a:xfrm>
            <a:off x="6382512" y="5121656"/>
            <a:ext cx="566928" cy="566928"/>
          </a:xfrm>
          <a:prstGeom prst="ellipse">
            <a:avLst/>
          </a:prstGeom>
          <a:solidFill>
            <a:srgbClr val="FF5178"/>
          </a:solidFill>
          <a:ln/>
        </p:spPr>
      </p:sp>
      <p:sp>
        <p:nvSpPr>
          <p:cNvPr id="21" name="Text 19"/>
          <p:cNvSpPr txBox="1"/>
          <p:nvPr/>
        </p:nvSpPr>
        <p:spPr>
          <a:xfrm>
            <a:off x="6382512" y="5121656"/>
            <a:ext cx="566928" cy="566928"/>
          </a:xfrm>
          <a:prstGeom prst="rect">
            <a:avLst/>
          </a:prstGeom>
          <a:noFill/>
          <a:ln/>
        </p:spPr>
        <p:txBody>
          <a:bodyPr wrap="square" lIns="0" tIns="0" rIns="0" bIns="0" rtlCol="0" anchor="ctr"/>
          <a:lstStyle/>
          <a:p>
            <a:pPr algn="ctr" indent="0" marL="0">
              <a:buNone/>
            </a:pPr>
            <a:r>
              <a:rPr lang="en-US" sz="2600" b="1" dirty="0">
                <a:solidFill>
                  <a:srgbClr val="172849"/>
                </a:solidFill>
                <a:latin typeface="Alexandria" pitchFamily="34" charset="0"/>
                <a:ea typeface="Alexandria" pitchFamily="34" charset="-122"/>
                <a:cs typeface="Alexandria" pitchFamily="34" charset="-120"/>
              </a:rPr>
              <a:t>D</a:t>
            </a:r>
            <a:endParaRPr lang="en-US" sz="2600" dirty="0"/>
          </a:p>
        </p:txBody>
      </p:sp>
      <p:sp>
        <p:nvSpPr>
          <p:cNvPr id="22" name="Text 20"/>
          <p:cNvSpPr txBox="1"/>
          <p:nvPr/>
        </p:nvSpPr>
        <p:spPr>
          <a:xfrm>
            <a:off x="7086600" y="4358640"/>
            <a:ext cx="4416552" cy="2092960"/>
          </a:xfrm>
          <a:prstGeom prst="rect">
            <a:avLst/>
          </a:prstGeom>
          <a:noFill/>
          <a:ln/>
        </p:spPr>
        <p:txBody>
          <a:bodyPr wrap="square" lIns="76200" tIns="76200" rIns="76200" bIns="76200" rtlCol="0" anchor="ctr"/>
          <a:lstStyle/>
          <a:p>
            <a:pPr algn="l" indent="0" marL="0">
              <a:lnSpc>
                <a:spcPts val="3600"/>
              </a:lnSpc>
              <a:buNone/>
            </a:pPr>
            <a:r>
              <a:rPr lang="en-US" sz="2800" dirty="0">
                <a:solidFill>
                  <a:srgbClr val="FBFAF4"/>
                </a:solidFill>
                <a:latin typeface="Alexandria" pitchFamily="34" charset="0"/>
                <a:ea typeface="Alexandria" pitchFamily="34" charset="-122"/>
                <a:cs typeface="Alexandria" pitchFamily="34" charset="-120"/>
              </a:rPr>
              <a:t>Xác định nhu cầu, mức chi tiêu và thói quen mua của sinh viên khu vực đó</a:t>
            </a:r>
            <a:endParaRPr lang="en-US" sz="2800" dirty="0"/>
          </a:p>
        </p:txBody>
      </p:sp>
    </p:spTree>
  </p:cSld>
  <p:clrMapOvr>
    <a:masterClrMapping/>
  </p:clrMapOvr>
  <p:transition spd="med" advTm="60000">
    <p:fade/>
  </p:transition>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FF9259"/>
          </a:solidFill>
          <a:ln/>
        </p:spPr>
      </p:sp>
      <p:sp>
        <p:nvSpPr>
          <p:cNvPr id="3" name="Trang trí"/>
          <p:cNvSpPr/>
          <p:nvPr/>
        </p:nvSpPr>
        <p:spPr>
          <a:xfrm>
            <a:off x="11505895" y="868680"/>
            <a:ext cx="274320" cy="274320"/>
          </a:xfrm>
          <a:prstGeom prst="ellipse">
            <a:avLst/>
          </a:prstGeom>
          <a:solidFill>
            <a:srgbClr val="FFD23B"/>
          </a:solidFill>
          <a:ln/>
        </p:spPr>
      </p:sp>
      <p:sp>
        <p:nvSpPr>
          <p:cNvPr id="4" name="Trang trí"/>
          <p:cNvSpPr/>
          <p:nvPr/>
        </p:nvSpPr>
        <p:spPr>
          <a:xfrm>
            <a:off x="-457200" y="6400800"/>
            <a:ext cx="914400" cy="914400"/>
          </a:xfrm>
          <a:prstGeom prst="ellipse">
            <a:avLst/>
          </a:prstGeom>
          <a:solidFill>
            <a:srgbClr val="FF5178"/>
          </a:solidFill>
          <a:ln/>
        </p:spPr>
      </p:sp>
      <p:sp>
        <p:nvSpPr>
          <p:cNvPr id="5" name="Câu 6"/>
          <p:cNvSpPr txBox="1"/>
          <p:nvPr/>
        </p:nvSpPr>
        <p:spPr>
          <a:xfrm>
            <a:off x="548640" y="381000"/>
            <a:ext cx="1097280" cy="1097280"/>
          </a:xfrm>
          <a:prstGeom prst="ellipse">
            <a:avLst/>
          </a:prstGeom>
          <a:solidFill>
            <a:srgbClr val="962B7C"/>
          </a:solidFill>
          <a:ln/>
        </p:spPr>
        <p:txBody>
          <a:bodyPr wrap="square" lIns="0" tIns="0" rIns="0" bIns="0" rtlCol="0" anchor="ctr"/>
          <a:lstStyle/>
          <a:p>
            <a:pPr algn="ctr" indent="0" marL="0">
              <a:lnSpc>
                <a:spcPts val="3600"/>
              </a:lnSpc>
              <a:buNone/>
            </a:pPr>
            <a:r>
              <a:rPr lang="en-US" sz="2400" b="1" dirty="0">
                <a:solidFill>
                  <a:srgbClr val="FFFFFF"/>
                </a:solidFill>
                <a:latin typeface="Alexandria" pitchFamily="34" charset="0"/>
                <a:ea typeface="Alexandria" pitchFamily="34" charset="-122"/>
                <a:cs typeface="Alexandria" pitchFamily="34" charset="-120"/>
              </a:rPr>
              <a:t>CÂU</a:t>
            </a:r>
            <a:endParaRPr lang="en-US" sz="2400" dirty="0"/>
          </a:p>
          <a:p>
            <a:pPr algn="ctr" indent="0" marL="0">
              <a:lnSpc>
                <a:spcPts val="3600"/>
              </a:lnSpc>
              <a:buNone/>
            </a:pPr>
            <a:r>
              <a:rPr lang="en-US" sz="3600" b="1" dirty="0">
                <a:solidFill>
                  <a:srgbClr val="FFFFFF"/>
                </a:solidFill>
                <a:latin typeface="Alexandria" pitchFamily="34" charset="0"/>
                <a:ea typeface="Alexandria" pitchFamily="34" charset="-122"/>
                <a:cs typeface="Alexandria" pitchFamily="34" charset="-120"/>
              </a:rPr>
              <a:t>6</a:t>
            </a:r>
            <a:endParaRPr lang="en-US" sz="2400" dirty="0"/>
          </a:p>
        </p:txBody>
      </p:sp>
      <p:sp>
        <p:nvSpPr>
          <p:cNvPr id="6" name="Text 4"/>
          <p:cNvSpPr txBox="1"/>
          <p:nvPr/>
        </p:nvSpPr>
        <p:spPr>
          <a:xfrm>
            <a:off x="1965960" y="381000"/>
            <a:ext cx="9281160" cy="2133600"/>
          </a:xfrm>
          <a:prstGeom prst="rect">
            <a:avLst/>
          </a:prstGeom>
          <a:noFill/>
          <a:ln/>
        </p:spPr>
        <p:txBody>
          <a:bodyPr wrap="square" lIns="76200" tIns="76200" rIns="76200" bIns="76200" rtlCol="0" anchor="t"/>
          <a:lstStyle/>
          <a:p>
            <a:pPr algn="l" indent="0" marL="0">
              <a:lnSpc>
                <a:spcPts val="3900"/>
              </a:lnSpc>
              <a:buNone/>
            </a:pPr>
            <a:r>
              <a:rPr lang="en-US" sz="3000" b="1" dirty="0">
                <a:solidFill>
                  <a:srgbClr val="FBFAF4"/>
                </a:solidFill>
                <a:latin typeface="Alexandria" pitchFamily="34" charset="0"/>
                <a:ea typeface="Alexandria" pitchFamily="34" charset="-122"/>
                <a:cs typeface="Alexandria" pitchFamily="34" charset="-120"/>
              </a:rPr>
              <a:t>Một nhãn hàng muốn biết bao bì mới có làm tăng ý định mua so với bao bì cũ hay không, và cần kết luận về quan hệ nhân quả. Phương pháp thu thập dữ liệu phù hợp nhất là:</a:t>
            </a:r>
            <a:endParaRPr lang="en-US" sz="3000" dirty="0"/>
          </a:p>
        </p:txBody>
      </p:sp>
      <p:sp>
        <p:nvSpPr>
          <p:cNvPr id="7" name="Phương án A"/>
          <p:cNvSpPr/>
          <p:nvPr/>
        </p:nvSpPr>
        <p:spPr>
          <a:xfrm>
            <a:off x="548640" y="2788920"/>
            <a:ext cx="5394960" cy="1729740"/>
          </a:xfrm>
          <a:prstGeom prst="roundRect">
            <a:avLst>
              <a:gd name="adj" fmla="val 9515"/>
            </a:avLst>
          </a:prstGeom>
          <a:solidFill>
            <a:srgbClr val="454A46"/>
          </a:solidFill>
          <a:ln/>
        </p:spPr>
      </p:sp>
      <p:sp>
        <p:nvSpPr>
          <p:cNvPr id="8" name="Nhãn A"/>
          <p:cNvSpPr/>
          <p:nvPr/>
        </p:nvSpPr>
        <p:spPr>
          <a:xfrm>
            <a:off x="713232" y="3370326"/>
            <a:ext cx="566928" cy="566928"/>
          </a:xfrm>
          <a:prstGeom prst="ellipse">
            <a:avLst/>
          </a:prstGeom>
          <a:solidFill>
            <a:srgbClr val="FFD23B"/>
          </a:solidFill>
          <a:ln/>
        </p:spPr>
      </p:sp>
      <p:sp>
        <p:nvSpPr>
          <p:cNvPr id="9" name="Text 7"/>
          <p:cNvSpPr txBox="1"/>
          <p:nvPr/>
        </p:nvSpPr>
        <p:spPr>
          <a:xfrm>
            <a:off x="713232" y="3370326"/>
            <a:ext cx="566928" cy="566928"/>
          </a:xfrm>
          <a:prstGeom prst="rect">
            <a:avLst/>
          </a:prstGeom>
          <a:noFill/>
          <a:ln/>
        </p:spPr>
        <p:txBody>
          <a:bodyPr wrap="square" lIns="0" tIns="0" rIns="0" bIns="0" rtlCol="0" anchor="ctr"/>
          <a:lstStyle/>
          <a:p>
            <a:pPr algn="ctr" indent="0" marL="0">
              <a:buNone/>
            </a:pPr>
            <a:r>
              <a:rPr lang="en-US" sz="2600" b="1" dirty="0">
                <a:solidFill>
                  <a:srgbClr val="172849"/>
                </a:solidFill>
                <a:latin typeface="Alexandria" pitchFamily="34" charset="0"/>
                <a:ea typeface="Alexandria" pitchFamily="34" charset="-122"/>
                <a:cs typeface="Alexandria" pitchFamily="34" charset="-120"/>
              </a:rPr>
              <a:t>A</a:t>
            </a:r>
            <a:endParaRPr lang="en-US" sz="2600" dirty="0"/>
          </a:p>
        </p:txBody>
      </p:sp>
      <p:sp>
        <p:nvSpPr>
          <p:cNvPr id="10" name="Text 8"/>
          <p:cNvSpPr txBox="1"/>
          <p:nvPr/>
        </p:nvSpPr>
        <p:spPr>
          <a:xfrm>
            <a:off x="1417320" y="2788920"/>
            <a:ext cx="4416552" cy="1729740"/>
          </a:xfrm>
          <a:prstGeom prst="rect">
            <a:avLst/>
          </a:prstGeom>
          <a:noFill/>
          <a:ln/>
        </p:spPr>
        <p:txBody>
          <a:bodyPr wrap="square" lIns="76200" tIns="76200" rIns="76200" bIns="76200" rtlCol="0" anchor="ctr"/>
          <a:lstStyle/>
          <a:p>
            <a:pPr algn="l" indent="0" marL="0">
              <a:lnSpc>
                <a:spcPts val="3900"/>
              </a:lnSpc>
              <a:buNone/>
            </a:pPr>
            <a:r>
              <a:rPr lang="en-US" sz="3000" dirty="0">
                <a:solidFill>
                  <a:srgbClr val="FBFAF4"/>
                </a:solidFill>
                <a:latin typeface="Alexandria" pitchFamily="34" charset="0"/>
                <a:ea typeface="Alexandria" pitchFamily="34" charset="-122"/>
                <a:cs typeface="Alexandria" pitchFamily="34" charset="-120"/>
              </a:rPr>
              <a:t>Thử nghiệm có nhóm đối chứng và phân nhóm ngẫu nhiên</a:t>
            </a:r>
            <a:endParaRPr lang="en-US" sz="3000" dirty="0"/>
          </a:p>
        </p:txBody>
      </p:sp>
      <p:sp>
        <p:nvSpPr>
          <p:cNvPr id="11" name="Phương án B"/>
          <p:cNvSpPr/>
          <p:nvPr/>
        </p:nvSpPr>
        <p:spPr>
          <a:xfrm>
            <a:off x="6217920" y="2788920"/>
            <a:ext cx="5394960" cy="1729740"/>
          </a:xfrm>
          <a:prstGeom prst="roundRect">
            <a:avLst>
              <a:gd name="adj" fmla="val 9515"/>
            </a:avLst>
          </a:prstGeom>
          <a:solidFill>
            <a:srgbClr val="214458"/>
          </a:solidFill>
          <a:ln/>
        </p:spPr>
      </p:sp>
      <p:sp>
        <p:nvSpPr>
          <p:cNvPr id="12" name="Nhãn B"/>
          <p:cNvSpPr/>
          <p:nvPr/>
        </p:nvSpPr>
        <p:spPr>
          <a:xfrm>
            <a:off x="6382512" y="3370326"/>
            <a:ext cx="566928" cy="566928"/>
          </a:xfrm>
          <a:prstGeom prst="ellipse">
            <a:avLst/>
          </a:prstGeom>
          <a:solidFill>
            <a:srgbClr val="49B296"/>
          </a:solidFill>
          <a:ln/>
        </p:spPr>
      </p:sp>
      <p:sp>
        <p:nvSpPr>
          <p:cNvPr id="13" name="Text 11"/>
          <p:cNvSpPr txBox="1"/>
          <p:nvPr/>
        </p:nvSpPr>
        <p:spPr>
          <a:xfrm>
            <a:off x="6382512" y="3370326"/>
            <a:ext cx="566928" cy="566928"/>
          </a:xfrm>
          <a:prstGeom prst="rect">
            <a:avLst/>
          </a:prstGeom>
          <a:noFill/>
          <a:ln/>
        </p:spPr>
        <p:txBody>
          <a:bodyPr wrap="square" lIns="0" tIns="0" rIns="0" bIns="0" rtlCol="0" anchor="ctr"/>
          <a:lstStyle/>
          <a:p>
            <a:pPr algn="ctr" indent="0" marL="0">
              <a:buNone/>
            </a:pPr>
            <a:r>
              <a:rPr lang="en-US" sz="2600" b="1" dirty="0">
                <a:solidFill>
                  <a:srgbClr val="172849"/>
                </a:solidFill>
                <a:latin typeface="Alexandria" pitchFamily="34" charset="0"/>
                <a:ea typeface="Alexandria" pitchFamily="34" charset="-122"/>
                <a:cs typeface="Alexandria" pitchFamily="34" charset="-120"/>
              </a:rPr>
              <a:t>B</a:t>
            </a:r>
            <a:endParaRPr lang="en-US" sz="2600" dirty="0"/>
          </a:p>
        </p:txBody>
      </p:sp>
      <p:sp>
        <p:nvSpPr>
          <p:cNvPr id="14" name="Text 12"/>
          <p:cNvSpPr txBox="1"/>
          <p:nvPr/>
        </p:nvSpPr>
        <p:spPr>
          <a:xfrm>
            <a:off x="7086600" y="2788920"/>
            <a:ext cx="4416552" cy="1729740"/>
          </a:xfrm>
          <a:prstGeom prst="rect">
            <a:avLst/>
          </a:prstGeom>
          <a:noFill/>
          <a:ln/>
        </p:spPr>
        <p:txBody>
          <a:bodyPr wrap="square" lIns="76200" tIns="76200" rIns="76200" bIns="76200" rtlCol="0" anchor="ctr"/>
          <a:lstStyle/>
          <a:p>
            <a:pPr algn="l" indent="0" marL="0">
              <a:lnSpc>
                <a:spcPts val="3900"/>
              </a:lnSpc>
              <a:buNone/>
            </a:pPr>
            <a:r>
              <a:rPr lang="en-US" sz="3000" dirty="0">
                <a:solidFill>
                  <a:srgbClr val="FBFAF4"/>
                </a:solidFill>
                <a:latin typeface="Alexandria" pitchFamily="34" charset="0"/>
                <a:ea typeface="Alexandria" pitchFamily="34" charset="-122"/>
                <a:cs typeface="Alexandria" pitchFamily="34" charset="-120"/>
              </a:rPr>
              <a:t>Thảo luận nhóm tập trung với khách hàng hiện tại</a:t>
            </a:r>
            <a:endParaRPr lang="en-US" sz="3000" dirty="0"/>
          </a:p>
        </p:txBody>
      </p:sp>
      <p:sp>
        <p:nvSpPr>
          <p:cNvPr id="15" name="Phương án C"/>
          <p:cNvSpPr/>
          <p:nvPr/>
        </p:nvSpPr>
        <p:spPr>
          <a:xfrm>
            <a:off x="548640" y="4655820"/>
            <a:ext cx="5394960" cy="1729740"/>
          </a:xfrm>
          <a:prstGeom prst="roundRect">
            <a:avLst>
              <a:gd name="adj" fmla="val 9515"/>
            </a:avLst>
          </a:prstGeom>
          <a:solidFill>
            <a:srgbClr val="453052"/>
          </a:solidFill>
          <a:ln/>
        </p:spPr>
      </p:sp>
      <p:sp>
        <p:nvSpPr>
          <p:cNvPr id="16" name="Nhãn C"/>
          <p:cNvSpPr/>
          <p:nvPr/>
        </p:nvSpPr>
        <p:spPr>
          <a:xfrm>
            <a:off x="713232" y="5237226"/>
            <a:ext cx="566928" cy="566928"/>
          </a:xfrm>
          <a:prstGeom prst="ellipse">
            <a:avLst/>
          </a:prstGeom>
          <a:solidFill>
            <a:srgbClr val="FF5178"/>
          </a:solidFill>
          <a:ln/>
        </p:spPr>
      </p:sp>
      <p:sp>
        <p:nvSpPr>
          <p:cNvPr id="17" name="Text 15"/>
          <p:cNvSpPr txBox="1"/>
          <p:nvPr/>
        </p:nvSpPr>
        <p:spPr>
          <a:xfrm>
            <a:off x="713232" y="5237226"/>
            <a:ext cx="566928" cy="566928"/>
          </a:xfrm>
          <a:prstGeom prst="rect">
            <a:avLst/>
          </a:prstGeom>
          <a:noFill/>
          <a:ln/>
        </p:spPr>
        <p:txBody>
          <a:bodyPr wrap="square" lIns="0" tIns="0" rIns="0" bIns="0" rtlCol="0" anchor="ctr"/>
          <a:lstStyle/>
          <a:p>
            <a:pPr algn="ctr" indent="0" marL="0">
              <a:buNone/>
            </a:pPr>
            <a:r>
              <a:rPr lang="en-US" sz="2600" b="1" dirty="0">
                <a:solidFill>
                  <a:srgbClr val="172849"/>
                </a:solidFill>
                <a:latin typeface="Alexandria" pitchFamily="34" charset="0"/>
                <a:ea typeface="Alexandria" pitchFamily="34" charset="-122"/>
                <a:cs typeface="Alexandria" pitchFamily="34" charset="-120"/>
              </a:rPr>
              <a:t>C</a:t>
            </a:r>
            <a:endParaRPr lang="en-US" sz="2600" dirty="0"/>
          </a:p>
        </p:txBody>
      </p:sp>
      <p:sp>
        <p:nvSpPr>
          <p:cNvPr id="18" name="Text 16"/>
          <p:cNvSpPr txBox="1"/>
          <p:nvPr/>
        </p:nvSpPr>
        <p:spPr>
          <a:xfrm>
            <a:off x="1417320" y="4655820"/>
            <a:ext cx="4416552" cy="1729740"/>
          </a:xfrm>
          <a:prstGeom prst="rect">
            <a:avLst/>
          </a:prstGeom>
          <a:noFill/>
          <a:ln/>
        </p:spPr>
        <p:txBody>
          <a:bodyPr wrap="square" lIns="76200" tIns="76200" rIns="76200" bIns="76200" rtlCol="0" anchor="ctr"/>
          <a:lstStyle/>
          <a:p>
            <a:pPr algn="l" indent="0" marL="0">
              <a:lnSpc>
                <a:spcPts val="3900"/>
              </a:lnSpc>
              <a:buNone/>
            </a:pPr>
            <a:r>
              <a:rPr lang="en-US" sz="3000" dirty="0">
                <a:solidFill>
                  <a:srgbClr val="FBFAF4"/>
                </a:solidFill>
                <a:latin typeface="Alexandria" pitchFamily="34" charset="0"/>
                <a:ea typeface="Alexandria" pitchFamily="34" charset="-122"/>
                <a:cs typeface="Alexandria" pitchFamily="34" charset="-120"/>
              </a:rPr>
              <a:t>Khảo sát trực tuyến về mức yêu thích hai bao bì</a:t>
            </a:r>
            <a:endParaRPr lang="en-US" sz="3000" dirty="0"/>
          </a:p>
        </p:txBody>
      </p:sp>
      <p:sp>
        <p:nvSpPr>
          <p:cNvPr id="19" name="Phương án D"/>
          <p:cNvSpPr/>
          <p:nvPr/>
        </p:nvSpPr>
        <p:spPr>
          <a:xfrm>
            <a:off x="6217920" y="4655820"/>
            <a:ext cx="5394960" cy="1729740"/>
          </a:xfrm>
          <a:prstGeom prst="roundRect">
            <a:avLst>
              <a:gd name="adj" fmla="val 9515"/>
            </a:avLst>
          </a:prstGeom>
          <a:solidFill>
            <a:srgbClr val="144068"/>
          </a:solidFill>
          <a:ln/>
        </p:spPr>
      </p:sp>
      <p:sp>
        <p:nvSpPr>
          <p:cNvPr id="20" name="Nhãn D"/>
          <p:cNvSpPr/>
          <p:nvPr/>
        </p:nvSpPr>
        <p:spPr>
          <a:xfrm>
            <a:off x="6382512" y="5237226"/>
            <a:ext cx="566928" cy="566928"/>
          </a:xfrm>
          <a:prstGeom prst="ellipse">
            <a:avLst/>
          </a:prstGeom>
          <a:solidFill>
            <a:srgbClr val="09A1E5"/>
          </a:solidFill>
          <a:ln/>
        </p:spPr>
      </p:sp>
      <p:sp>
        <p:nvSpPr>
          <p:cNvPr id="21" name="Text 19"/>
          <p:cNvSpPr txBox="1"/>
          <p:nvPr/>
        </p:nvSpPr>
        <p:spPr>
          <a:xfrm>
            <a:off x="6382512" y="5237226"/>
            <a:ext cx="566928" cy="566928"/>
          </a:xfrm>
          <a:prstGeom prst="rect">
            <a:avLst/>
          </a:prstGeom>
          <a:noFill/>
          <a:ln/>
        </p:spPr>
        <p:txBody>
          <a:bodyPr wrap="square" lIns="0" tIns="0" rIns="0" bIns="0" rtlCol="0" anchor="ctr"/>
          <a:lstStyle/>
          <a:p>
            <a:pPr algn="ctr" indent="0" marL="0">
              <a:buNone/>
            </a:pPr>
            <a:r>
              <a:rPr lang="en-US" sz="2600" b="1" dirty="0">
                <a:solidFill>
                  <a:srgbClr val="172849"/>
                </a:solidFill>
                <a:latin typeface="Alexandria" pitchFamily="34" charset="0"/>
                <a:ea typeface="Alexandria" pitchFamily="34" charset="-122"/>
                <a:cs typeface="Alexandria" pitchFamily="34" charset="-120"/>
              </a:rPr>
              <a:t>D</a:t>
            </a:r>
            <a:endParaRPr lang="en-US" sz="2600" dirty="0"/>
          </a:p>
        </p:txBody>
      </p:sp>
      <p:sp>
        <p:nvSpPr>
          <p:cNvPr id="22" name="Text 20"/>
          <p:cNvSpPr txBox="1"/>
          <p:nvPr/>
        </p:nvSpPr>
        <p:spPr>
          <a:xfrm>
            <a:off x="7086600" y="4655820"/>
            <a:ext cx="4416552" cy="1729740"/>
          </a:xfrm>
          <a:prstGeom prst="rect">
            <a:avLst/>
          </a:prstGeom>
          <a:noFill/>
          <a:ln/>
        </p:spPr>
        <p:txBody>
          <a:bodyPr wrap="square" lIns="76200" tIns="76200" rIns="76200" bIns="76200" rtlCol="0" anchor="ctr"/>
          <a:lstStyle/>
          <a:p>
            <a:pPr algn="l" indent="0" marL="0">
              <a:lnSpc>
                <a:spcPts val="3900"/>
              </a:lnSpc>
              <a:buNone/>
            </a:pPr>
            <a:r>
              <a:rPr lang="en-US" sz="3000" dirty="0">
                <a:solidFill>
                  <a:srgbClr val="FBFAF4"/>
                </a:solidFill>
                <a:latin typeface="Alexandria" pitchFamily="34" charset="0"/>
                <a:ea typeface="Alexandria" pitchFamily="34" charset="-122"/>
                <a:cs typeface="Alexandria" pitchFamily="34" charset="-120"/>
              </a:rPr>
              <a:t>Quan sát khách hàng tại quầy kệ siêu thị</a:t>
            </a:r>
            <a:endParaRPr lang="en-US" sz="3000" dirty="0"/>
          </a:p>
        </p:txBody>
      </p:sp>
    </p:spTree>
  </p:cSld>
  <p:clrMapOvr>
    <a:masterClrMapping/>
  </p:clrMapOvr>
  <p:transition spd="med" advTm="60000">
    <p:fade/>
  </p:transition>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962B7C"/>
          </a:solidFill>
          <a:ln/>
        </p:spPr>
      </p:sp>
      <p:sp>
        <p:nvSpPr>
          <p:cNvPr id="3" name="Trang trí"/>
          <p:cNvSpPr/>
          <p:nvPr/>
        </p:nvSpPr>
        <p:spPr>
          <a:xfrm>
            <a:off x="11505895" y="868680"/>
            <a:ext cx="274320" cy="274320"/>
          </a:xfrm>
          <a:prstGeom prst="ellipse">
            <a:avLst/>
          </a:prstGeom>
          <a:solidFill>
            <a:srgbClr val="49B296"/>
          </a:solidFill>
          <a:ln/>
        </p:spPr>
      </p:sp>
      <p:sp>
        <p:nvSpPr>
          <p:cNvPr id="4" name="Trang trí"/>
          <p:cNvSpPr/>
          <p:nvPr/>
        </p:nvSpPr>
        <p:spPr>
          <a:xfrm>
            <a:off x="-457200" y="6400800"/>
            <a:ext cx="914400" cy="914400"/>
          </a:xfrm>
          <a:prstGeom prst="ellipse">
            <a:avLst/>
          </a:prstGeom>
          <a:solidFill>
            <a:srgbClr val="09A1E5"/>
          </a:solidFill>
          <a:ln/>
        </p:spPr>
      </p:sp>
      <p:sp>
        <p:nvSpPr>
          <p:cNvPr id="5" name="Câu 7"/>
          <p:cNvSpPr txBox="1"/>
          <p:nvPr/>
        </p:nvSpPr>
        <p:spPr>
          <a:xfrm>
            <a:off x="548640" y="1123950"/>
            <a:ext cx="1097280" cy="1097280"/>
          </a:xfrm>
          <a:prstGeom prst="ellipse">
            <a:avLst/>
          </a:prstGeom>
          <a:solidFill>
            <a:srgbClr val="FFD23B"/>
          </a:solidFill>
          <a:ln/>
        </p:spPr>
        <p:txBody>
          <a:bodyPr wrap="square" lIns="0" tIns="0" rIns="0" bIns="0" rtlCol="0" anchor="ctr"/>
          <a:lstStyle/>
          <a:p>
            <a:pPr algn="ctr" indent="0" marL="0">
              <a:lnSpc>
                <a:spcPts val="3600"/>
              </a:lnSpc>
              <a:buNone/>
            </a:pPr>
            <a:r>
              <a:rPr lang="en-US" sz="2400" b="1" dirty="0">
                <a:solidFill>
                  <a:srgbClr val="172849"/>
                </a:solidFill>
                <a:latin typeface="Alexandria" pitchFamily="34" charset="0"/>
                <a:ea typeface="Alexandria" pitchFamily="34" charset="-122"/>
                <a:cs typeface="Alexandria" pitchFamily="34" charset="-120"/>
              </a:rPr>
              <a:t>CÂU</a:t>
            </a:r>
            <a:endParaRPr lang="en-US" sz="2400" dirty="0"/>
          </a:p>
          <a:p>
            <a:pPr algn="ctr" indent="0" marL="0">
              <a:lnSpc>
                <a:spcPts val="3600"/>
              </a:lnSpc>
              <a:buNone/>
            </a:pPr>
            <a:r>
              <a:rPr lang="en-US" sz="3600" b="1" dirty="0">
                <a:solidFill>
                  <a:srgbClr val="172849"/>
                </a:solidFill>
                <a:latin typeface="Alexandria" pitchFamily="34" charset="0"/>
                <a:ea typeface="Alexandria" pitchFamily="34" charset="-122"/>
                <a:cs typeface="Alexandria" pitchFamily="34" charset="-120"/>
              </a:rPr>
              <a:t>7</a:t>
            </a:r>
            <a:endParaRPr lang="en-US" sz="2400" dirty="0"/>
          </a:p>
        </p:txBody>
      </p:sp>
      <p:sp>
        <p:nvSpPr>
          <p:cNvPr id="6" name="Text 4"/>
          <p:cNvSpPr txBox="1"/>
          <p:nvPr/>
        </p:nvSpPr>
        <p:spPr>
          <a:xfrm>
            <a:off x="1965960" y="1123950"/>
            <a:ext cx="9281160" cy="2628900"/>
          </a:xfrm>
          <a:prstGeom prst="rect">
            <a:avLst/>
          </a:prstGeom>
          <a:noFill/>
          <a:ln/>
        </p:spPr>
        <p:txBody>
          <a:bodyPr wrap="square" lIns="76200" tIns="76200" rIns="76200" bIns="76200" rtlCol="0" anchor="t"/>
          <a:lstStyle/>
          <a:p>
            <a:pPr algn="l" indent="0" marL="0">
              <a:lnSpc>
                <a:spcPts val="3900"/>
              </a:lnSpc>
              <a:buNone/>
            </a:pPr>
            <a:r>
              <a:rPr lang="en-US" sz="3000" b="1" dirty="0">
                <a:solidFill>
                  <a:srgbClr val="FBFAF4"/>
                </a:solidFill>
                <a:latin typeface="Alexandria" pitchFamily="34" charset="0"/>
                <a:ea typeface="Alexandria" pitchFamily="34" charset="-122"/>
                <a:cs typeface="Alexandria" pitchFamily="34" charset="-120"/>
              </a:rPr>
              <a:t>Nhóm muốn ước lượng tỷ lệ sinh viên đã từng mua mỹ phẩm nội địa, với độ tin cậy 95% (Z = 1,96), sai số cho phép ±5% và chưa biết tỷ lệ dự kiến. Áp dụng công thức n = Z² × p(1 − p) / e², cỡ mẫu tối thiểu (làm tròn lên) là:</a:t>
            </a:r>
            <a:endParaRPr lang="en-US" sz="3000" dirty="0"/>
          </a:p>
        </p:txBody>
      </p:sp>
      <p:sp>
        <p:nvSpPr>
          <p:cNvPr id="7" name="Phương án A"/>
          <p:cNvSpPr/>
          <p:nvPr/>
        </p:nvSpPr>
        <p:spPr>
          <a:xfrm>
            <a:off x="548640" y="4027170"/>
            <a:ext cx="5394960" cy="739140"/>
          </a:xfrm>
          <a:prstGeom prst="roundRect">
            <a:avLst>
              <a:gd name="adj" fmla="val 22268"/>
            </a:avLst>
          </a:prstGeom>
          <a:solidFill>
            <a:srgbClr val="214458"/>
          </a:solidFill>
          <a:ln/>
        </p:spPr>
      </p:sp>
      <p:sp>
        <p:nvSpPr>
          <p:cNvPr id="8" name="Nhãn A"/>
          <p:cNvSpPr/>
          <p:nvPr/>
        </p:nvSpPr>
        <p:spPr>
          <a:xfrm>
            <a:off x="713232" y="4113276"/>
            <a:ext cx="566928" cy="566928"/>
          </a:xfrm>
          <a:prstGeom prst="ellipse">
            <a:avLst/>
          </a:prstGeom>
          <a:solidFill>
            <a:srgbClr val="49B296"/>
          </a:solidFill>
          <a:ln/>
        </p:spPr>
      </p:sp>
      <p:sp>
        <p:nvSpPr>
          <p:cNvPr id="9" name="Text 7"/>
          <p:cNvSpPr txBox="1"/>
          <p:nvPr/>
        </p:nvSpPr>
        <p:spPr>
          <a:xfrm>
            <a:off x="713232" y="4113276"/>
            <a:ext cx="566928" cy="566928"/>
          </a:xfrm>
          <a:prstGeom prst="rect">
            <a:avLst/>
          </a:prstGeom>
          <a:noFill/>
          <a:ln/>
        </p:spPr>
        <p:txBody>
          <a:bodyPr wrap="square" lIns="0" tIns="0" rIns="0" bIns="0" rtlCol="0" anchor="ctr"/>
          <a:lstStyle/>
          <a:p>
            <a:pPr algn="ctr" indent="0" marL="0">
              <a:buNone/>
            </a:pPr>
            <a:r>
              <a:rPr lang="en-US" sz="2600" b="1" dirty="0">
                <a:solidFill>
                  <a:srgbClr val="172849"/>
                </a:solidFill>
                <a:latin typeface="Alexandria" pitchFamily="34" charset="0"/>
                <a:ea typeface="Alexandria" pitchFamily="34" charset="-122"/>
                <a:cs typeface="Alexandria" pitchFamily="34" charset="-120"/>
              </a:rPr>
              <a:t>A</a:t>
            </a:r>
            <a:endParaRPr lang="en-US" sz="2600" dirty="0"/>
          </a:p>
        </p:txBody>
      </p:sp>
      <p:sp>
        <p:nvSpPr>
          <p:cNvPr id="10" name="Text 8"/>
          <p:cNvSpPr txBox="1"/>
          <p:nvPr/>
        </p:nvSpPr>
        <p:spPr>
          <a:xfrm>
            <a:off x="1417320" y="4027170"/>
            <a:ext cx="4416552" cy="739140"/>
          </a:xfrm>
          <a:prstGeom prst="rect">
            <a:avLst/>
          </a:prstGeom>
          <a:noFill/>
          <a:ln/>
        </p:spPr>
        <p:txBody>
          <a:bodyPr wrap="square" lIns="76200" tIns="76200" rIns="76200" bIns="76200" rtlCol="0" anchor="ctr"/>
          <a:lstStyle/>
          <a:p>
            <a:pPr algn="l" indent="0" marL="0">
              <a:lnSpc>
                <a:spcPts val="3900"/>
              </a:lnSpc>
              <a:buNone/>
            </a:pPr>
            <a:r>
              <a:rPr lang="en-US" sz="3000" dirty="0">
                <a:solidFill>
                  <a:srgbClr val="FBFAF4"/>
                </a:solidFill>
                <a:latin typeface="Alexandria" pitchFamily="34" charset="0"/>
                <a:ea typeface="Alexandria" pitchFamily="34" charset="-122"/>
                <a:cs typeface="Alexandria" pitchFamily="34" charset="-120"/>
              </a:rPr>
              <a:t>196</a:t>
            </a:r>
            <a:endParaRPr lang="en-US" sz="3000" dirty="0"/>
          </a:p>
        </p:txBody>
      </p:sp>
      <p:sp>
        <p:nvSpPr>
          <p:cNvPr id="11" name="Phương án B"/>
          <p:cNvSpPr/>
          <p:nvPr/>
        </p:nvSpPr>
        <p:spPr>
          <a:xfrm>
            <a:off x="6217920" y="4027170"/>
            <a:ext cx="5394960" cy="739140"/>
          </a:xfrm>
          <a:prstGeom prst="roundRect">
            <a:avLst>
              <a:gd name="adj" fmla="val 22268"/>
            </a:avLst>
          </a:prstGeom>
          <a:solidFill>
            <a:srgbClr val="453052"/>
          </a:solidFill>
          <a:ln/>
        </p:spPr>
      </p:sp>
      <p:sp>
        <p:nvSpPr>
          <p:cNvPr id="12" name="Nhãn B"/>
          <p:cNvSpPr/>
          <p:nvPr/>
        </p:nvSpPr>
        <p:spPr>
          <a:xfrm>
            <a:off x="6382512" y="4113276"/>
            <a:ext cx="566928" cy="566928"/>
          </a:xfrm>
          <a:prstGeom prst="ellipse">
            <a:avLst/>
          </a:prstGeom>
          <a:solidFill>
            <a:srgbClr val="FF5178"/>
          </a:solidFill>
          <a:ln/>
        </p:spPr>
      </p:sp>
      <p:sp>
        <p:nvSpPr>
          <p:cNvPr id="13" name="Text 11"/>
          <p:cNvSpPr txBox="1"/>
          <p:nvPr/>
        </p:nvSpPr>
        <p:spPr>
          <a:xfrm>
            <a:off x="6382512" y="4113276"/>
            <a:ext cx="566928" cy="566928"/>
          </a:xfrm>
          <a:prstGeom prst="rect">
            <a:avLst/>
          </a:prstGeom>
          <a:noFill/>
          <a:ln/>
        </p:spPr>
        <p:txBody>
          <a:bodyPr wrap="square" lIns="0" tIns="0" rIns="0" bIns="0" rtlCol="0" anchor="ctr"/>
          <a:lstStyle/>
          <a:p>
            <a:pPr algn="ctr" indent="0" marL="0">
              <a:buNone/>
            </a:pPr>
            <a:r>
              <a:rPr lang="en-US" sz="2600" b="1" dirty="0">
                <a:solidFill>
                  <a:srgbClr val="172849"/>
                </a:solidFill>
                <a:latin typeface="Alexandria" pitchFamily="34" charset="0"/>
                <a:ea typeface="Alexandria" pitchFamily="34" charset="-122"/>
                <a:cs typeface="Alexandria" pitchFamily="34" charset="-120"/>
              </a:rPr>
              <a:t>B</a:t>
            </a:r>
            <a:endParaRPr lang="en-US" sz="2600" dirty="0"/>
          </a:p>
        </p:txBody>
      </p:sp>
      <p:sp>
        <p:nvSpPr>
          <p:cNvPr id="14" name="Text 12"/>
          <p:cNvSpPr txBox="1"/>
          <p:nvPr/>
        </p:nvSpPr>
        <p:spPr>
          <a:xfrm>
            <a:off x="7086600" y="4027170"/>
            <a:ext cx="4416552" cy="739140"/>
          </a:xfrm>
          <a:prstGeom prst="rect">
            <a:avLst/>
          </a:prstGeom>
          <a:noFill/>
          <a:ln/>
        </p:spPr>
        <p:txBody>
          <a:bodyPr wrap="square" lIns="76200" tIns="76200" rIns="76200" bIns="76200" rtlCol="0" anchor="ctr"/>
          <a:lstStyle/>
          <a:p>
            <a:pPr algn="l" indent="0" marL="0">
              <a:lnSpc>
                <a:spcPts val="3900"/>
              </a:lnSpc>
              <a:buNone/>
            </a:pPr>
            <a:r>
              <a:rPr lang="en-US" sz="3000" dirty="0">
                <a:solidFill>
                  <a:srgbClr val="FBFAF4"/>
                </a:solidFill>
                <a:latin typeface="Alexandria" pitchFamily="34" charset="0"/>
                <a:ea typeface="Alexandria" pitchFamily="34" charset="-122"/>
                <a:cs typeface="Alexandria" pitchFamily="34" charset="-120"/>
              </a:rPr>
              <a:t>385</a:t>
            </a:r>
            <a:endParaRPr lang="en-US" sz="3000" dirty="0"/>
          </a:p>
        </p:txBody>
      </p:sp>
      <p:sp>
        <p:nvSpPr>
          <p:cNvPr id="15" name="Phương án C"/>
          <p:cNvSpPr/>
          <p:nvPr/>
        </p:nvSpPr>
        <p:spPr>
          <a:xfrm>
            <a:off x="548640" y="4903470"/>
            <a:ext cx="5394960" cy="739140"/>
          </a:xfrm>
          <a:prstGeom prst="roundRect">
            <a:avLst>
              <a:gd name="adj" fmla="val 22268"/>
            </a:avLst>
          </a:prstGeom>
          <a:solidFill>
            <a:srgbClr val="144068"/>
          </a:solidFill>
          <a:ln/>
        </p:spPr>
      </p:sp>
      <p:sp>
        <p:nvSpPr>
          <p:cNvPr id="16" name="Nhãn C"/>
          <p:cNvSpPr/>
          <p:nvPr/>
        </p:nvSpPr>
        <p:spPr>
          <a:xfrm>
            <a:off x="713232" y="4989576"/>
            <a:ext cx="566928" cy="566928"/>
          </a:xfrm>
          <a:prstGeom prst="ellipse">
            <a:avLst/>
          </a:prstGeom>
          <a:solidFill>
            <a:srgbClr val="09A1E5"/>
          </a:solidFill>
          <a:ln/>
        </p:spPr>
      </p:sp>
      <p:sp>
        <p:nvSpPr>
          <p:cNvPr id="17" name="Text 15"/>
          <p:cNvSpPr txBox="1"/>
          <p:nvPr/>
        </p:nvSpPr>
        <p:spPr>
          <a:xfrm>
            <a:off x="713232" y="4989576"/>
            <a:ext cx="566928" cy="566928"/>
          </a:xfrm>
          <a:prstGeom prst="rect">
            <a:avLst/>
          </a:prstGeom>
          <a:noFill/>
          <a:ln/>
        </p:spPr>
        <p:txBody>
          <a:bodyPr wrap="square" lIns="0" tIns="0" rIns="0" bIns="0" rtlCol="0" anchor="ctr"/>
          <a:lstStyle/>
          <a:p>
            <a:pPr algn="ctr" indent="0" marL="0">
              <a:buNone/>
            </a:pPr>
            <a:r>
              <a:rPr lang="en-US" sz="2600" b="1" dirty="0">
                <a:solidFill>
                  <a:srgbClr val="172849"/>
                </a:solidFill>
                <a:latin typeface="Alexandria" pitchFamily="34" charset="0"/>
                <a:ea typeface="Alexandria" pitchFamily="34" charset="-122"/>
                <a:cs typeface="Alexandria" pitchFamily="34" charset="-120"/>
              </a:rPr>
              <a:t>C</a:t>
            </a:r>
            <a:endParaRPr lang="en-US" sz="2600" dirty="0"/>
          </a:p>
        </p:txBody>
      </p:sp>
      <p:sp>
        <p:nvSpPr>
          <p:cNvPr id="18" name="Text 16"/>
          <p:cNvSpPr txBox="1"/>
          <p:nvPr/>
        </p:nvSpPr>
        <p:spPr>
          <a:xfrm>
            <a:off x="1417320" y="4903470"/>
            <a:ext cx="4416552" cy="739140"/>
          </a:xfrm>
          <a:prstGeom prst="rect">
            <a:avLst/>
          </a:prstGeom>
          <a:noFill/>
          <a:ln/>
        </p:spPr>
        <p:txBody>
          <a:bodyPr wrap="square" lIns="76200" tIns="76200" rIns="76200" bIns="76200" rtlCol="0" anchor="ctr"/>
          <a:lstStyle/>
          <a:p>
            <a:pPr algn="l" indent="0" marL="0">
              <a:lnSpc>
                <a:spcPts val="3900"/>
              </a:lnSpc>
              <a:buNone/>
            </a:pPr>
            <a:r>
              <a:rPr lang="en-US" sz="3000" dirty="0">
                <a:solidFill>
                  <a:srgbClr val="FBFAF4"/>
                </a:solidFill>
                <a:latin typeface="Alexandria" pitchFamily="34" charset="0"/>
                <a:ea typeface="Alexandria" pitchFamily="34" charset="-122"/>
                <a:cs typeface="Alexandria" pitchFamily="34" charset="-120"/>
              </a:rPr>
              <a:t>769</a:t>
            </a:r>
            <a:endParaRPr lang="en-US" sz="3000" dirty="0"/>
          </a:p>
        </p:txBody>
      </p:sp>
      <p:sp>
        <p:nvSpPr>
          <p:cNvPr id="19" name="Phương án D"/>
          <p:cNvSpPr/>
          <p:nvPr/>
        </p:nvSpPr>
        <p:spPr>
          <a:xfrm>
            <a:off x="6217920" y="4903470"/>
            <a:ext cx="5394960" cy="739140"/>
          </a:xfrm>
          <a:prstGeom prst="roundRect">
            <a:avLst>
              <a:gd name="adj" fmla="val 22268"/>
            </a:avLst>
          </a:prstGeom>
          <a:solidFill>
            <a:srgbClr val="453D4C"/>
          </a:solidFill>
          <a:ln/>
        </p:spPr>
      </p:sp>
      <p:sp>
        <p:nvSpPr>
          <p:cNvPr id="20" name="Nhãn D"/>
          <p:cNvSpPr/>
          <p:nvPr/>
        </p:nvSpPr>
        <p:spPr>
          <a:xfrm>
            <a:off x="6382512" y="4989576"/>
            <a:ext cx="566928" cy="566928"/>
          </a:xfrm>
          <a:prstGeom prst="ellipse">
            <a:avLst/>
          </a:prstGeom>
          <a:solidFill>
            <a:srgbClr val="FF9259"/>
          </a:solidFill>
          <a:ln/>
        </p:spPr>
      </p:sp>
      <p:sp>
        <p:nvSpPr>
          <p:cNvPr id="21" name="Text 19"/>
          <p:cNvSpPr txBox="1"/>
          <p:nvPr/>
        </p:nvSpPr>
        <p:spPr>
          <a:xfrm>
            <a:off x="6382512" y="4989576"/>
            <a:ext cx="566928" cy="566928"/>
          </a:xfrm>
          <a:prstGeom prst="rect">
            <a:avLst/>
          </a:prstGeom>
          <a:noFill/>
          <a:ln/>
        </p:spPr>
        <p:txBody>
          <a:bodyPr wrap="square" lIns="0" tIns="0" rIns="0" bIns="0" rtlCol="0" anchor="ctr"/>
          <a:lstStyle/>
          <a:p>
            <a:pPr algn="ctr" indent="0" marL="0">
              <a:buNone/>
            </a:pPr>
            <a:r>
              <a:rPr lang="en-US" sz="2600" b="1" dirty="0">
                <a:solidFill>
                  <a:srgbClr val="172849"/>
                </a:solidFill>
                <a:latin typeface="Alexandria" pitchFamily="34" charset="0"/>
                <a:ea typeface="Alexandria" pitchFamily="34" charset="-122"/>
                <a:cs typeface="Alexandria" pitchFamily="34" charset="-120"/>
              </a:rPr>
              <a:t>D</a:t>
            </a:r>
            <a:endParaRPr lang="en-US" sz="2600" dirty="0"/>
          </a:p>
        </p:txBody>
      </p:sp>
      <p:sp>
        <p:nvSpPr>
          <p:cNvPr id="22" name="Text 20"/>
          <p:cNvSpPr txBox="1"/>
          <p:nvPr/>
        </p:nvSpPr>
        <p:spPr>
          <a:xfrm>
            <a:off x="7086600" y="4903470"/>
            <a:ext cx="4416552" cy="739140"/>
          </a:xfrm>
          <a:prstGeom prst="rect">
            <a:avLst/>
          </a:prstGeom>
          <a:noFill/>
          <a:ln/>
        </p:spPr>
        <p:txBody>
          <a:bodyPr wrap="square" lIns="76200" tIns="76200" rIns="76200" bIns="76200" rtlCol="0" anchor="ctr"/>
          <a:lstStyle/>
          <a:p>
            <a:pPr algn="l" indent="0" marL="0">
              <a:lnSpc>
                <a:spcPts val="3900"/>
              </a:lnSpc>
              <a:buNone/>
            </a:pPr>
            <a:r>
              <a:rPr lang="en-US" sz="3000" dirty="0">
                <a:solidFill>
                  <a:srgbClr val="FBFAF4"/>
                </a:solidFill>
                <a:latin typeface="Alexandria" pitchFamily="34" charset="0"/>
                <a:ea typeface="Alexandria" pitchFamily="34" charset="-122"/>
                <a:cs typeface="Alexandria" pitchFamily="34" charset="-120"/>
              </a:rPr>
              <a:t>1.537</a:t>
            </a:r>
            <a:endParaRPr lang="en-US" sz="3000" dirty="0"/>
          </a:p>
        </p:txBody>
      </p:sp>
    </p:spTree>
  </p:cSld>
  <p:clrMapOvr>
    <a:masterClrMapping/>
  </p:clrMapOvr>
  <p:transition spd="med" advTm="60000">
    <p:fade/>
  </p:transition>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FFD23B"/>
          </a:solidFill>
          <a:ln/>
        </p:spPr>
      </p:sp>
      <p:sp>
        <p:nvSpPr>
          <p:cNvPr id="3" name="Trang trí"/>
          <p:cNvSpPr/>
          <p:nvPr/>
        </p:nvSpPr>
        <p:spPr>
          <a:xfrm>
            <a:off x="11505895" y="868680"/>
            <a:ext cx="274320" cy="274320"/>
          </a:xfrm>
          <a:prstGeom prst="ellipse">
            <a:avLst/>
          </a:prstGeom>
          <a:solidFill>
            <a:srgbClr val="FF5178"/>
          </a:solidFill>
          <a:ln/>
        </p:spPr>
      </p:sp>
      <p:sp>
        <p:nvSpPr>
          <p:cNvPr id="4" name="Trang trí"/>
          <p:cNvSpPr/>
          <p:nvPr/>
        </p:nvSpPr>
        <p:spPr>
          <a:xfrm>
            <a:off x="-457200" y="6400800"/>
            <a:ext cx="914400" cy="914400"/>
          </a:xfrm>
          <a:prstGeom prst="ellipse">
            <a:avLst/>
          </a:prstGeom>
          <a:solidFill>
            <a:srgbClr val="FF9259"/>
          </a:solidFill>
          <a:ln/>
        </p:spPr>
      </p:sp>
      <p:sp>
        <p:nvSpPr>
          <p:cNvPr id="5" name="Câu 8"/>
          <p:cNvSpPr txBox="1"/>
          <p:nvPr/>
        </p:nvSpPr>
        <p:spPr>
          <a:xfrm>
            <a:off x="548640" y="628650"/>
            <a:ext cx="1097280" cy="1097280"/>
          </a:xfrm>
          <a:prstGeom prst="ellipse">
            <a:avLst/>
          </a:prstGeom>
          <a:solidFill>
            <a:srgbClr val="49B296"/>
          </a:solidFill>
          <a:ln/>
        </p:spPr>
        <p:txBody>
          <a:bodyPr wrap="square" lIns="0" tIns="0" rIns="0" bIns="0" rtlCol="0" anchor="ctr"/>
          <a:lstStyle/>
          <a:p>
            <a:pPr algn="ctr" indent="0" marL="0">
              <a:lnSpc>
                <a:spcPts val="3600"/>
              </a:lnSpc>
              <a:buNone/>
            </a:pPr>
            <a:r>
              <a:rPr lang="en-US" sz="2400" b="1" dirty="0">
                <a:solidFill>
                  <a:srgbClr val="172849"/>
                </a:solidFill>
                <a:latin typeface="Alexandria" pitchFamily="34" charset="0"/>
                <a:ea typeface="Alexandria" pitchFamily="34" charset="-122"/>
                <a:cs typeface="Alexandria" pitchFamily="34" charset="-120"/>
              </a:rPr>
              <a:t>CÂU</a:t>
            </a:r>
            <a:endParaRPr lang="en-US" sz="2400" dirty="0"/>
          </a:p>
          <a:p>
            <a:pPr algn="ctr" indent="0" marL="0">
              <a:lnSpc>
                <a:spcPts val="3600"/>
              </a:lnSpc>
              <a:buNone/>
            </a:pPr>
            <a:r>
              <a:rPr lang="en-US" sz="3600" b="1" dirty="0">
                <a:solidFill>
                  <a:srgbClr val="172849"/>
                </a:solidFill>
                <a:latin typeface="Alexandria" pitchFamily="34" charset="0"/>
                <a:ea typeface="Alexandria" pitchFamily="34" charset="-122"/>
                <a:cs typeface="Alexandria" pitchFamily="34" charset="-120"/>
              </a:rPr>
              <a:t>8</a:t>
            </a:r>
            <a:endParaRPr lang="en-US" sz="2400" dirty="0"/>
          </a:p>
        </p:txBody>
      </p:sp>
      <p:sp>
        <p:nvSpPr>
          <p:cNvPr id="6" name="Text 4"/>
          <p:cNvSpPr txBox="1"/>
          <p:nvPr/>
        </p:nvSpPr>
        <p:spPr>
          <a:xfrm>
            <a:off x="1965960" y="628650"/>
            <a:ext cx="9281160" cy="2628900"/>
          </a:xfrm>
          <a:prstGeom prst="rect">
            <a:avLst/>
          </a:prstGeom>
          <a:noFill/>
          <a:ln/>
        </p:spPr>
        <p:txBody>
          <a:bodyPr wrap="square" lIns="76200" tIns="76200" rIns="76200" bIns="76200" rtlCol="0" anchor="t"/>
          <a:lstStyle/>
          <a:p>
            <a:pPr algn="l" indent="0" marL="0">
              <a:lnSpc>
                <a:spcPts val="3900"/>
              </a:lnSpc>
              <a:buNone/>
            </a:pPr>
            <a:r>
              <a:rPr lang="en-US" sz="3000" b="1" dirty="0">
                <a:solidFill>
                  <a:srgbClr val="FBFAF4"/>
                </a:solidFill>
                <a:latin typeface="Alexandria" pitchFamily="34" charset="0"/>
                <a:ea typeface="Alexandria" pitchFamily="34" charset="-122"/>
                <a:cs typeface="Alexandria" pitchFamily="34" charset="-120"/>
              </a:rPr>
              <a:t>Nhóm cần 200 người trả lời, gồm đúng 120 nữ và 80 nam theo tỷ lệ giới tính của tổng thể. Thành viên nhóm mời bất kỳ bạn nào dễ gặp ở căng tin cho đến khi đủ số lượng của mỗi giới. Phương pháp chọn mẫu này là:</a:t>
            </a:r>
            <a:endParaRPr lang="en-US" sz="3000" dirty="0"/>
          </a:p>
        </p:txBody>
      </p:sp>
      <p:sp>
        <p:nvSpPr>
          <p:cNvPr id="7" name="Phương án A"/>
          <p:cNvSpPr/>
          <p:nvPr/>
        </p:nvSpPr>
        <p:spPr>
          <a:xfrm>
            <a:off x="548640" y="3531870"/>
            <a:ext cx="5394960" cy="1234440"/>
          </a:xfrm>
          <a:prstGeom prst="roundRect">
            <a:avLst>
              <a:gd name="adj" fmla="val 13333"/>
            </a:avLst>
          </a:prstGeom>
          <a:solidFill>
            <a:srgbClr val="453052"/>
          </a:solidFill>
          <a:ln/>
        </p:spPr>
      </p:sp>
      <p:sp>
        <p:nvSpPr>
          <p:cNvPr id="8" name="Nhãn A"/>
          <p:cNvSpPr/>
          <p:nvPr/>
        </p:nvSpPr>
        <p:spPr>
          <a:xfrm>
            <a:off x="713232" y="3865626"/>
            <a:ext cx="566928" cy="566928"/>
          </a:xfrm>
          <a:prstGeom prst="ellipse">
            <a:avLst/>
          </a:prstGeom>
          <a:solidFill>
            <a:srgbClr val="FF5178"/>
          </a:solidFill>
          <a:ln/>
        </p:spPr>
      </p:sp>
      <p:sp>
        <p:nvSpPr>
          <p:cNvPr id="9" name="Text 7"/>
          <p:cNvSpPr txBox="1"/>
          <p:nvPr/>
        </p:nvSpPr>
        <p:spPr>
          <a:xfrm>
            <a:off x="713232" y="3865626"/>
            <a:ext cx="566928" cy="566928"/>
          </a:xfrm>
          <a:prstGeom prst="rect">
            <a:avLst/>
          </a:prstGeom>
          <a:noFill/>
          <a:ln/>
        </p:spPr>
        <p:txBody>
          <a:bodyPr wrap="square" lIns="0" tIns="0" rIns="0" bIns="0" rtlCol="0" anchor="ctr"/>
          <a:lstStyle/>
          <a:p>
            <a:pPr algn="ctr" indent="0" marL="0">
              <a:buNone/>
            </a:pPr>
            <a:r>
              <a:rPr lang="en-US" sz="2600" b="1" dirty="0">
                <a:solidFill>
                  <a:srgbClr val="172849"/>
                </a:solidFill>
                <a:latin typeface="Alexandria" pitchFamily="34" charset="0"/>
                <a:ea typeface="Alexandria" pitchFamily="34" charset="-122"/>
                <a:cs typeface="Alexandria" pitchFamily="34" charset="-120"/>
              </a:rPr>
              <a:t>A</a:t>
            </a:r>
            <a:endParaRPr lang="en-US" sz="2600" dirty="0"/>
          </a:p>
        </p:txBody>
      </p:sp>
      <p:sp>
        <p:nvSpPr>
          <p:cNvPr id="10" name="Text 8"/>
          <p:cNvSpPr txBox="1"/>
          <p:nvPr/>
        </p:nvSpPr>
        <p:spPr>
          <a:xfrm>
            <a:off x="1417320" y="3531870"/>
            <a:ext cx="4416552" cy="1234440"/>
          </a:xfrm>
          <a:prstGeom prst="rect">
            <a:avLst/>
          </a:prstGeom>
          <a:noFill/>
          <a:ln/>
        </p:spPr>
        <p:txBody>
          <a:bodyPr wrap="square" lIns="76200" tIns="76200" rIns="76200" bIns="76200" rtlCol="0" anchor="ctr"/>
          <a:lstStyle/>
          <a:p>
            <a:pPr algn="l" indent="0" marL="0">
              <a:lnSpc>
                <a:spcPts val="3900"/>
              </a:lnSpc>
              <a:buNone/>
            </a:pPr>
            <a:r>
              <a:rPr lang="en-US" sz="3000" dirty="0">
                <a:solidFill>
                  <a:srgbClr val="FBFAF4"/>
                </a:solidFill>
                <a:latin typeface="Alexandria" pitchFamily="34" charset="0"/>
                <a:ea typeface="Alexandria" pitchFamily="34" charset="-122"/>
                <a:cs typeface="Alexandria" pitchFamily="34" charset="-120"/>
              </a:rPr>
              <a:t>Chọn mẫu phân tầng</a:t>
            </a:r>
            <a:endParaRPr lang="en-US" sz="3000" dirty="0"/>
          </a:p>
        </p:txBody>
      </p:sp>
      <p:sp>
        <p:nvSpPr>
          <p:cNvPr id="11" name="Phương án B"/>
          <p:cNvSpPr/>
          <p:nvPr/>
        </p:nvSpPr>
        <p:spPr>
          <a:xfrm>
            <a:off x="6217920" y="3531870"/>
            <a:ext cx="5394960" cy="1234440"/>
          </a:xfrm>
          <a:prstGeom prst="roundRect">
            <a:avLst>
              <a:gd name="adj" fmla="val 13333"/>
            </a:avLst>
          </a:prstGeom>
          <a:solidFill>
            <a:srgbClr val="144068"/>
          </a:solidFill>
          <a:ln/>
        </p:spPr>
      </p:sp>
      <p:sp>
        <p:nvSpPr>
          <p:cNvPr id="12" name="Nhãn B"/>
          <p:cNvSpPr/>
          <p:nvPr/>
        </p:nvSpPr>
        <p:spPr>
          <a:xfrm>
            <a:off x="6382512" y="3865626"/>
            <a:ext cx="566928" cy="566928"/>
          </a:xfrm>
          <a:prstGeom prst="ellipse">
            <a:avLst/>
          </a:prstGeom>
          <a:solidFill>
            <a:srgbClr val="09A1E5"/>
          </a:solidFill>
          <a:ln/>
        </p:spPr>
      </p:sp>
      <p:sp>
        <p:nvSpPr>
          <p:cNvPr id="13" name="Text 11"/>
          <p:cNvSpPr txBox="1"/>
          <p:nvPr/>
        </p:nvSpPr>
        <p:spPr>
          <a:xfrm>
            <a:off x="6382512" y="3865626"/>
            <a:ext cx="566928" cy="566928"/>
          </a:xfrm>
          <a:prstGeom prst="rect">
            <a:avLst/>
          </a:prstGeom>
          <a:noFill/>
          <a:ln/>
        </p:spPr>
        <p:txBody>
          <a:bodyPr wrap="square" lIns="0" tIns="0" rIns="0" bIns="0" rtlCol="0" anchor="ctr"/>
          <a:lstStyle/>
          <a:p>
            <a:pPr algn="ctr" indent="0" marL="0">
              <a:buNone/>
            </a:pPr>
            <a:r>
              <a:rPr lang="en-US" sz="2600" b="1" dirty="0">
                <a:solidFill>
                  <a:srgbClr val="172849"/>
                </a:solidFill>
                <a:latin typeface="Alexandria" pitchFamily="34" charset="0"/>
                <a:ea typeface="Alexandria" pitchFamily="34" charset="-122"/>
                <a:cs typeface="Alexandria" pitchFamily="34" charset="-120"/>
              </a:rPr>
              <a:t>B</a:t>
            </a:r>
            <a:endParaRPr lang="en-US" sz="2600" dirty="0"/>
          </a:p>
        </p:txBody>
      </p:sp>
      <p:sp>
        <p:nvSpPr>
          <p:cNvPr id="14" name="Text 12"/>
          <p:cNvSpPr txBox="1"/>
          <p:nvPr/>
        </p:nvSpPr>
        <p:spPr>
          <a:xfrm>
            <a:off x="7086600" y="3531870"/>
            <a:ext cx="4416552" cy="1234440"/>
          </a:xfrm>
          <a:prstGeom prst="rect">
            <a:avLst/>
          </a:prstGeom>
          <a:noFill/>
          <a:ln/>
        </p:spPr>
        <p:txBody>
          <a:bodyPr wrap="square" lIns="76200" tIns="76200" rIns="76200" bIns="76200" rtlCol="0" anchor="ctr"/>
          <a:lstStyle/>
          <a:p>
            <a:pPr algn="l" indent="0" marL="0">
              <a:lnSpc>
                <a:spcPts val="3900"/>
              </a:lnSpc>
              <a:buNone/>
            </a:pPr>
            <a:r>
              <a:rPr lang="en-US" sz="3000" dirty="0">
                <a:solidFill>
                  <a:srgbClr val="FBFAF4"/>
                </a:solidFill>
                <a:latin typeface="Alexandria" pitchFamily="34" charset="0"/>
                <a:ea typeface="Alexandria" pitchFamily="34" charset="-122"/>
                <a:cs typeface="Alexandria" pitchFamily="34" charset="-120"/>
              </a:rPr>
              <a:t>Chọn mẫu theo nhóm (cụm)</a:t>
            </a:r>
            <a:endParaRPr lang="en-US" sz="3000" dirty="0"/>
          </a:p>
        </p:txBody>
      </p:sp>
      <p:sp>
        <p:nvSpPr>
          <p:cNvPr id="15" name="Phương án C"/>
          <p:cNvSpPr/>
          <p:nvPr/>
        </p:nvSpPr>
        <p:spPr>
          <a:xfrm>
            <a:off x="548640" y="4903470"/>
            <a:ext cx="5394960" cy="1234440"/>
          </a:xfrm>
          <a:prstGeom prst="roundRect">
            <a:avLst>
              <a:gd name="adj" fmla="val 13333"/>
            </a:avLst>
          </a:prstGeom>
          <a:solidFill>
            <a:srgbClr val="453D4C"/>
          </a:solidFill>
          <a:ln/>
        </p:spPr>
      </p:sp>
      <p:sp>
        <p:nvSpPr>
          <p:cNvPr id="16" name="Nhãn C"/>
          <p:cNvSpPr/>
          <p:nvPr/>
        </p:nvSpPr>
        <p:spPr>
          <a:xfrm>
            <a:off x="713232" y="5237226"/>
            <a:ext cx="566928" cy="566928"/>
          </a:xfrm>
          <a:prstGeom prst="ellipse">
            <a:avLst/>
          </a:prstGeom>
          <a:solidFill>
            <a:srgbClr val="FF9259"/>
          </a:solidFill>
          <a:ln/>
        </p:spPr>
      </p:sp>
      <p:sp>
        <p:nvSpPr>
          <p:cNvPr id="17" name="Text 15"/>
          <p:cNvSpPr txBox="1"/>
          <p:nvPr/>
        </p:nvSpPr>
        <p:spPr>
          <a:xfrm>
            <a:off x="713232" y="5237226"/>
            <a:ext cx="566928" cy="566928"/>
          </a:xfrm>
          <a:prstGeom prst="rect">
            <a:avLst/>
          </a:prstGeom>
          <a:noFill/>
          <a:ln/>
        </p:spPr>
        <p:txBody>
          <a:bodyPr wrap="square" lIns="0" tIns="0" rIns="0" bIns="0" rtlCol="0" anchor="ctr"/>
          <a:lstStyle/>
          <a:p>
            <a:pPr algn="ctr" indent="0" marL="0">
              <a:buNone/>
            </a:pPr>
            <a:r>
              <a:rPr lang="en-US" sz="2600" b="1" dirty="0">
                <a:solidFill>
                  <a:srgbClr val="172849"/>
                </a:solidFill>
                <a:latin typeface="Alexandria" pitchFamily="34" charset="0"/>
                <a:ea typeface="Alexandria" pitchFamily="34" charset="-122"/>
                <a:cs typeface="Alexandria" pitchFamily="34" charset="-120"/>
              </a:rPr>
              <a:t>C</a:t>
            </a:r>
            <a:endParaRPr lang="en-US" sz="2600" dirty="0"/>
          </a:p>
        </p:txBody>
      </p:sp>
      <p:sp>
        <p:nvSpPr>
          <p:cNvPr id="18" name="Text 16"/>
          <p:cNvSpPr txBox="1"/>
          <p:nvPr/>
        </p:nvSpPr>
        <p:spPr>
          <a:xfrm>
            <a:off x="1417320" y="4903470"/>
            <a:ext cx="4416552" cy="1234440"/>
          </a:xfrm>
          <a:prstGeom prst="rect">
            <a:avLst/>
          </a:prstGeom>
          <a:noFill/>
          <a:ln/>
        </p:spPr>
        <p:txBody>
          <a:bodyPr wrap="square" lIns="76200" tIns="76200" rIns="76200" bIns="76200" rtlCol="0" anchor="ctr"/>
          <a:lstStyle/>
          <a:p>
            <a:pPr algn="l" indent="0" marL="0">
              <a:lnSpc>
                <a:spcPts val="3900"/>
              </a:lnSpc>
              <a:buNone/>
            </a:pPr>
            <a:r>
              <a:rPr lang="en-US" sz="3000" dirty="0">
                <a:solidFill>
                  <a:srgbClr val="FBFAF4"/>
                </a:solidFill>
                <a:latin typeface="Alexandria" pitchFamily="34" charset="0"/>
                <a:ea typeface="Alexandria" pitchFamily="34" charset="-122"/>
                <a:cs typeface="Alexandria" pitchFamily="34" charset="-120"/>
              </a:rPr>
              <a:t>Chọn mẫu định mức</a:t>
            </a:r>
            <a:endParaRPr lang="en-US" sz="3000" dirty="0"/>
          </a:p>
        </p:txBody>
      </p:sp>
      <p:sp>
        <p:nvSpPr>
          <p:cNvPr id="19" name="Phương án D"/>
          <p:cNvSpPr/>
          <p:nvPr/>
        </p:nvSpPr>
        <p:spPr>
          <a:xfrm>
            <a:off x="6217920" y="4903470"/>
            <a:ext cx="5394960" cy="1234440"/>
          </a:xfrm>
          <a:prstGeom prst="roundRect">
            <a:avLst>
              <a:gd name="adj" fmla="val 13333"/>
            </a:avLst>
          </a:prstGeom>
          <a:solidFill>
            <a:srgbClr val="302953"/>
          </a:solidFill>
          <a:ln/>
        </p:spPr>
      </p:sp>
      <p:sp>
        <p:nvSpPr>
          <p:cNvPr id="20" name="Nhãn D"/>
          <p:cNvSpPr/>
          <p:nvPr/>
        </p:nvSpPr>
        <p:spPr>
          <a:xfrm>
            <a:off x="6382512" y="5237226"/>
            <a:ext cx="566928" cy="566928"/>
          </a:xfrm>
          <a:prstGeom prst="ellipse">
            <a:avLst/>
          </a:prstGeom>
          <a:solidFill>
            <a:srgbClr val="962B7C"/>
          </a:solidFill>
          <a:ln/>
        </p:spPr>
      </p:sp>
      <p:sp>
        <p:nvSpPr>
          <p:cNvPr id="21" name="Text 19"/>
          <p:cNvSpPr txBox="1"/>
          <p:nvPr/>
        </p:nvSpPr>
        <p:spPr>
          <a:xfrm>
            <a:off x="6382512" y="5237226"/>
            <a:ext cx="566928" cy="566928"/>
          </a:xfrm>
          <a:prstGeom prst="rect">
            <a:avLst/>
          </a:prstGeom>
          <a:noFill/>
          <a:ln/>
        </p:spPr>
        <p:txBody>
          <a:bodyPr wrap="square" lIns="0" tIns="0" rIns="0" bIns="0" rtlCol="0" anchor="ctr"/>
          <a:lstStyle/>
          <a:p>
            <a:pPr algn="ctr" indent="0" marL="0">
              <a:buNone/>
            </a:pPr>
            <a:r>
              <a:rPr lang="en-US" sz="2600" b="1" dirty="0">
                <a:solidFill>
                  <a:srgbClr val="FFFFFF"/>
                </a:solidFill>
                <a:latin typeface="Alexandria" pitchFamily="34" charset="0"/>
                <a:ea typeface="Alexandria" pitchFamily="34" charset="-122"/>
                <a:cs typeface="Alexandria" pitchFamily="34" charset="-120"/>
              </a:rPr>
              <a:t>D</a:t>
            </a:r>
            <a:endParaRPr lang="en-US" sz="2600" dirty="0"/>
          </a:p>
        </p:txBody>
      </p:sp>
      <p:sp>
        <p:nvSpPr>
          <p:cNvPr id="22" name="Text 20"/>
          <p:cNvSpPr txBox="1"/>
          <p:nvPr/>
        </p:nvSpPr>
        <p:spPr>
          <a:xfrm>
            <a:off x="7086600" y="4903470"/>
            <a:ext cx="4416552" cy="1234440"/>
          </a:xfrm>
          <a:prstGeom prst="rect">
            <a:avLst/>
          </a:prstGeom>
          <a:noFill/>
          <a:ln/>
        </p:spPr>
        <p:txBody>
          <a:bodyPr wrap="square" lIns="76200" tIns="76200" rIns="76200" bIns="76200" rtlCol="0" anchor="ctr"/>
          <a:lstStyle/>
          <a:p>
            <a:pPr algn="l" indent="0" marL="0">
              <a:lnSpc>
                <a:spcPts val="3900"/>
              </a:lnSpc>
              <a:buNone/>
            </a:pPr>
            <a:r>
              <a:rPr lang="en-US" sz="3000" dirty="0">
                <a:solidFill>
                  <a:srgbClr val="FBFAF4"/>
                </a:solidFill>
                <a:latin typeface="Alexandria" pitchFamily="34" charset="0"/>
                <a:ea typeface="Alexandria" pitchFamily="34" charset="-122"/>
                <a:cs typeface="Alexandria" pitchFamily="34" charset="-120"/>
              </a:rPr>
              <a:t>Chọn mẫu phát triển mầm</a:t>
            </a:r>
            <a:endParaRPr lang="en-US" sz="3000" dirty="0"/>
          </a:p>
        </p:txBody>
      </p:sp>
    </p:spTree>
  </p:cSld>
  <p:clrMapOvr>
    <a:masterClrMapping/>
  </p:clrMapOvr>
  <p:transition spd="med" advTm="60000">
    <p:fade/>
  </p:transition>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49B296"/>
          </a:solidFill>
          <a:ln/>
        </p:spPr>
      </p:sp>
      <p:sp>
        <p:nvSpPr>
          <p:cNvPr id="3" name="Trang trí"/>
          <p:cNvSpPr/>
          <p:nvPr/>
        </p:nvSpPr>
        <p:spPr>
          <a:xfrm>
            <a:off x="11505895" y="868680"/>
            <a:ext cx="274320" cy="274320"/>
          </a:xfrm>
          <a:prstGeom prst="ellipse">
            <a:avLst/>
          </a:prstGeom>
          <a:solidFill>
            <a:srgbClr val="09A1E5"/>
          </a:solidFill>
          <a:ln/>
        </p:spPr>
      </p:sp>
      <p:sp>
        <p:nvSpPr>
          <p:cNvPr id="4" name="Trang trí"/>
          <p:cNvSpPr/>
          <p:nvPr/>
        </p:nvSpPr>
        <p:spPr>
          <a:xfrm>
            <a:off x="-457200" y="6400800"/>
            <a:ext cx="914400" cy="914400"/>
          </a:xfrm>
          <a:prstGeom prst="ellipse">
            <a:avLst/>
          </a:prstGeom>
          <a:solidFill>
            <a:srgbClr val="962B7C"/>
          </a:solidFill>
          <a:ln/>
        </p:spPr>
      </p:sp>
      <p:sp>
        <p:nvSpPr>
          <p:cNvPr id="5" name="Câu 9"/>
          <p:cNvSpPr txBox="1"/>
          <p:nvPr/>
        </p:nvSpPr>
        <p:spPr>
          <a:xfrm>
            <a:off x="548640" y="463550"/>
            <a:ext cx="1097280" cy="1097280"/>
          </a:xfrm>
          <a:prstGeom prst="ellipse">
            <a:avLst/>
          </a:prstGeom>
          <a:solidFill>
            <a:srgbClr val="FF5178"/>
          </a:solidFill>
          <a:ln/>
        </p:spPr>
        <p:txBody>
          <a:bodyPr wrap="square" lIns="0" tIns="0" rIns="0" bIns="0" rtlCol="0" anchor="ctr"/>
          <a:lstStyle/>
          <a:p>
            <a:pPr algn="ctr" indent="0" marL="0">
              <a:lnSpc>
                <a:spcPts val="3600"/>
              </a:lnSpc>
              <a:buNone/>
            </a:pPr>
            <a:r>
              <a:rPr lang="en-US" sz="2400" b="1" dirty="0">
                <a:solidFill>
                  <a:srgbClr val="172849"/>
                </a:solidFill>
                <a:latin typeface="Alexandria" pitchFamily="34" charset="0"/>
                <a:ea typeface="Alexandria" pitchFamily="34" charset="-122"/>
                <a:cs typeface="Alexandria" pitchFamily="34" charset="-120"/>
              </a:rPr>
              <a:t>CÂU</a:t>
            </a:r>
            <a:endParaRPr lang="en-US" sz="2400" dirty="0"/>
          </a:p>
          <a:p>
            <a:pPr algn="ctr" indent="0" marL="0">
              <a:lnSpc>
                <a:spcPts val="3600"/>
              </a:lnSpc>
              <a:buNone/>
            </a:pPr>
            <a:r>
              <a:rPr lang="en-US" sz="3600" b="1" dirty="0">
                <a:solidFill>
                  <a:srgbClr val="172849"/>
                </a:solidFill>
                <a:latin typeface="Alexandria" pitchFamily="34" charset="0"/>
                <a:ea typeface="Alexandria" pitchFamily="34" charset="-122"/>
                <a:cs typeface="Alexandria" pitchFamily="34" charset="-120"/>
              </a:rPr>
              <a:t>9</a:t>
            </a:r>
            <a:endParaRPr lang="en-US" sz="2400" dirty="0"/>
          </a:p>
        </p:txBody>
      </p:sp>
      <p:sp>
        <p:nvSpPr>
          <p:cNvPr id="6" name="Text 4"/>
          <p:cNvSpPr txBox="1"/>
          <p:nvPr/>
        </p:nvSpPr>
        <p:spPr>
          <a:xfrm>
            <a:off x="1965960" y="463550"/>
            <a:ext cx="9281160" cy="1588770"/>
          </a:xfrm>
          <a:prstGeom prst="rect">
            <a:avLst/>
          </a:prstGeom>
          <a:noFill/>
          <a:ln/>
        </p:spPr>
        <p:txBody>
          <a:bodyPr wrap="square" lIns="76200" tIns="76200" rIns="76200" bIns="76200" rtlCol="0" anchor="t"/>
          <a:lstStyle/>
          <a:p>
            <a:pPr algn="l" indent="0" marL="0">
              <a:lnSpc>
                <a:spcPts val="3800"/>
              </a:lnSpc>
              <a:buNone/>
            </a:pPr>
            <a:r>
              <a:rPr lang="en-US" sz="2900" b="1" dirty="0">
                <a:solidFill>
                  <a:srgbClr val="FBFAF4"/>
                </a:solidFill>
                <a:latin typeface="Alexandria" pitchFamily="34" charset="0"/>
                <a:ea typeface="Alexandria" pitchFamily="34" charset="-122"/>
                <a:cs typeface="Alexandria" pitchFamily="34" charset="-120"/>
              </a:rPr>
              <a:t>Câu hỏi khảo sát: “Trong tuần qua, bạn đã chi bao nhiêu nghìn đồng cho đồ uống?” Phát biểu nào dưới đây là hợp lệ về mặt đo lường?</a:t>
            </a:r>
            <a:endParaRPr lang="en-US" sz="2900" dirty="0"/>
          </a:p>
        </p:txBody>
      </p:sp>
      <p:sp>
        <p:nvSpPr>
          <p:cNvPr id="7" name="Phương án A"/>
          <p:cNvSpPr/>
          <p:nvPr/>
        </p:nvSpPr>
        <p:spPr>
          <a:xfrm>
            <a:off x="548640" y="2326640"/>
            <a:ext cx="5394960" cy="2159000"/>
          </a:xfrm>
          <a:prstGeom prst="roundRect">
            <a:avLst>
              <a:gd name="adj" fmla="val 7624"/>
            </a:avLst>
          </a:prstGeom>
          <a:solidFill>
            <a:srgbClr val="144068"/>
          </a:solidFill>
          <a:ln/>
        </p:spPr>
      </p:sp>
      <p:sp>
        <p:nvSpPr>
          <p:cNvPr id="8" name="Nhãn A"/>
          <p:cNvSpPr/>
          <p:nvPr/>
        </p:nvSpPr>
        <p:spPr>
          <a:xfrm>
            <a:off x="713232" y="3122676"/>
            <a:ext cx="566928" cy="566928"/>
          </a:xfrm>
          <a:prstGeom prst="ellipse">
            <a:avLst/>
          </a:prstGeom>
          <a:solidFill>
            <a:srgbClr val="09A1E5"/>
          </a:solidFill>
          <a:ln/>
        </p:spPr>
      </p:sp>
      <p:sp>
        <p:nvSpPr>
          <p:cNvPr id="9" name="Text 7"/>
          <p:cNvSpPr txBox="1"/>
          <p:nvPr/>
        </p:nvSpPr>
        <p:spPr>
          <a:xfrm>
            <a:off x="713232" y="3122676"/>
            <a:ext cx="566928" cy="566928"/>
          </a:xfrm>
          <a:prstGeom prst="rect">
            <a:avLst/>
          </a:prstGeom>
          <a:noFill/>
          <a:ln/>
        </p:spPr>
        <p:txBody>
          <a:bodyPr wrap="square" lIns="0" tIns="0" rIns="0" bIns="0" rtlCol="0" anchor="ctr"/>
          <a:lstStyle/>
          <a:p>
            <a:pPr algn="ctr" indent="0" marL="0">
              <a:buNone/>
            </a:pPr>
            <a:r>
              <a:rPr lang="en-US" sz="2600" b="1" dirty="0">
                <a:solidFill>
                  <a:srgbClr val="172849"/>
                </a:solidFill>
                <a:latin typeface="Alexandria" pitchFamily="34" charset="0"/>
                <a:ea typeface="Alexandria" pitchFamily="34" charset="-122"/>
                <a:cs typeface="Alexandria" pitchFamily="34" charset="-120"/>
              </a:rPr>
              <a:t>A</a:t>
            </a:r>
            <a:endParaRPr lang="en-US" sz="2600" dirty="0"/>
          </a:p>
        </p:txBody>
      </p:sp>
      <p:sp>
        <p:nvSpPr>
          <p:cNvPr id="10" name="Text 8"/>
          <p:cNvSpPr txBox="1"/>
          <p:nvPr/>
        </p:nvSpPr>
        <p:spPr>
          <a:xfrm>
            <a:off x="1417320" y="2326640"/>
            <a:ext cx="4416552" cy="2159000"/>
          </a:xfrm>
          <a:prstGeom prst="rect">
            <a:avLst/>
          </a:prstGeom>
          <a:noFill/>
          <a:ln/>
        </p:spPr>
        <p:txBody>
          <a:bodyPr wrap="square" lIns="76200" tIns="76200" rIns="76200" bIns="76200" rtlCol="0" anchor="ctr"/>
          <a:lstStyle/>
          <a:p>
            <a:pPr algn="l" indent="0" marL="0">
              <a:lnSpc>
                <a:spcPts val="3800"/>
              </a:lnSpc>
              <a:buNone/>
            </a:pPr>
            <a:r>
              <a:rPr lang="en-US" sz="2900" dirty="0">
                <a:solidFill>
                  <a:srgbClr val="FBFAF4"/>
                </a:solidFill>
                <a:latin typeface="Alexandria" pitchFamily="34" charset="0"/>
                <a:ea typeface="Alexandria" pitchFamily="34" charset="-122"/>
                <a:cs typeface="Alexandria" pitchFamily="34" charset="-120"/>
              </a:rPr>
              <a:t>Biến này thuộc thang thứ tự nên chỉ được báo cáo trung vị</a:t>
            </a:r>
            <a:endParaRPr lang="en-US" sz="2900" dirty="0"/>
          </a:p>
        </p:txBody>
      </p:sp>
      <p:sp>
        <p:nvSpPr>
          <p:cNvPr id="11" name="Phương án B"/>
          <p:cNvSpPr/>
          <p:nvPr/>
        </p:nvSpPr>
        <p:spPr>
          <a:xfrm>
            <a:off x="6217920" y="2326640"/>
            <a:ext cx="5394960" cy="2159000"/>
          </a:xfrm>
          <a:prstGeom prst="roundRect">
            <a:avLst>
              <a:gd name="adj" fmla="val 7624"/>
            </a:avLst>
          </a:prstGeom>
          <a:solidFill>
            <a:srgbClr val="453D4C"/>
          </a:solidFill>
          <a:ln/>
        </p:spPr>
      </p:sp>
      <p:sp>
        <p:nvSpPr>
          <p:cNvPr id="12" name="Nhãn B"/>
          <p:cNvSpPr/>
          <p:nvPr/>
        </p:nvSpPr>
        <p:spPr>
          <a:xfrm>
            <a:off x="6382512" y="3122676"/>
            <a:ext cx="566928" cy="566928"/>
          </a:xfrm>
          <a:prstGeom prst="ellipse">
            <a:avLst/>
          </a:prstGeom>
          <a:solidFill>
            <a:srgbClr val="FF9259"/>
          </a:solidFill>
          <a:ln/>
        </p:spPr>
      </p:sp>
      <p:sp>
        <p:nvSpPr>
          <p:cNvPr id="13" name="Text 11"/>
          <p:cNvSpPr txBox="1"/>
          <p:nvPr/>
        </p:nvSpPr>
        <p:spPr>
          <a:xfrm>
            <a:off x="6382512" y="3122676"/>
            <a:ext cx="566928" cy="566928"/>
          </a:xfrm>
          <a:prstGeom prst="rect">
            <a:avLst/>
          </a:prstGeom>
          <a:noFill/>
          <a:ln/>
        </p:spPr>
        <p:txBody>
          <a:bodyPr wrap="square" lIns="0" tIns="0" rIns="0" bIns="0" rtlCol="0" anchor="ctr"/>
          <a:lstStyle/>
          <a:p>
            <a:pPr algn="ctr" indent="0" marL="0">
              <a:buNone/>
            </a:pPr>
            <a:r>
              <a:rPr lang="en-US" sz="2600" b="1" dirty="0">
                <a:solidFill>
                  <a:srgbClr val="172849"/>
                </a:solidFill>
                <a:latin typeface="Alexandria" pitchFamily="34" charset="0"/>
                <a:ea typeface="Alexandria" pitchFamily="34" charset="-122"/>
                <a:cs typeface="Alexandria" pitchFamily="34" charset="-120"/>
              </a:rPr>
              <a:t>B</a:t>
            </a:r>
            <a:endParaRPr lang="en-US" sz="2600" dirty="0"/>
          </a:p>
        </p:txBody>
      </p:sp>
      <p:sp>
        <p:nvSpPr>
          <p:cNvPr id="14" name="Text 12"/>
          <p:cNvSpPr txBox="1"/>
          <p:nvPr/>
        </p:nvSpPr>
        <p:spPr>
          <a:xfrm>
            <a:off x="7086600" y="2326640"/>
            <a:ext cx="4416552" cy="2159000"/>
          </a:xfrm>
          <a:prstGeom prst="rect">
            <a:avLst/>
          </a:prstGeom>
          <a:noFill/>
          <a:ln/>
        </p:spPr>
        <p:txBody>
          <a:bodyPr wrap="square" lIns="76200" tIns="76200" rIns="76200" bIns="76200" rtlCol="0" anchor="ctr"/>
          <a:lstStyle/>
          <a:p>
            <a:pPr algn="l" indent="0" marL="0">
              <a:lnSpc>
                <a:spcPts val="3800"/>
              </a:lnSpc>
              <a:buNone/>
            </a:pPr>
            <a:r>
              <a:rPr lang="en-US" sz="2900" dirty="0">
                <a:solidFill>
                  <a:srgbClr val="FBFAF4"/>
                </a:solidFill>
                <a:latin typeface="Alexandria" pitchFamily="34" charset="0"/>
                <a:ea typeface="Alexandria" pitchFamily="34" charset="-122"/>
                <a:cs typeface="Alexandria" pitchFamily="34" charset="-120"/>
              </a:rPr>
              <a:t>Người chi 100 nghìn đồng đã chi gấp đôi người chi 50 nghìn đồng</a:t>
            </a:r>
            <a:endParaRPr lang="en-US" sz="2900" dirty="0"/>
          </a:p>
        </p:txBody>
      </p:sp>
      <p:sp>
        <p:nvSpPr>
          <p:cNvPr id="15" name="Phương án C"/>
          <p:cNvSpPr/>
          <p:nvPr/>
        </p:nvSpPr>
        <p:spPr>
          <a:xfrm>
            <a:off x="548640" y="4622800"/>
            <a:ext cx="5394960" cy="1680210"/>
          </a:xfrm>
          <a:prstGeom prst="roundRect">
            <a:avLst>
              <a:gd name="adj" fmla="val 9796"/>
            </a:avLst>
          </a:prstGeom>
          <a:solidFill>
            <a:srgbClr val="302953"/>
          </a:solidFill>
          <a:ln/>
        </p:spPr>
      </p:sp>
      <p:sp>
        <p:nvSpPr>
          <p:cNvPr id="16" name="Nhãn C"/>
          <p:cNvSpPr/>
          <p:nvPr/>
        </p:nvSpPr>
        <p:spPr>
          <a:xfrm>
            <a:off x="713232" y="5179441"/>
            <a:ext cx="566928" cy="566928"/>
          </a:xfrm>
          <a:prstGeom prst="ellipse">
            <a:avLst/>
          </a:prstGeom>
          <a:solidFill>
            <a:srgbClr val="962B7C"/>
          </a:solidFill>
          <a:ln/>
        </p:spPr>
      </p:sp>
      <p:sp>
        <p:nvSpPr>
          <p:cNvPr id="17" name="Text 15"/>
          <p:cNvSpPr txBox="1"/>
          <p:nvPr/>
        </p:nvSpPr>
        <p:spPr>
          <a:xfrm>
            <a:off x="713232" y="5179441"/>
            <a:ext cx="566928" cy="566928"/>
          </a:xfrm>
          <a:prstGeom prst="rect">
            <a:avLst/>
          </a:prstGeom>
          <a:noFill/>
          <a:ln/>
        </p:spPr>
        <p:txBody>
          <a:bodyPr wrap="square" lIns="0" tIns="0" rIns="0" bIns="0" rtlCol="0" anchor="ctr"/>
          <a:lstStyle/>
          <a:p>
            <a:pPr algn="ctr" indent="0" marL="0">
              <a:buNone/>
            </a:pPr>
            <a:r>
              <a:rPr lang="en-US" sz="2600" b="1" dirty="0">
                <a:solidFill>
                  <a:srgbClr val="FFFFFF"/>
                </a:solidFill>
                <a:latin typeface="Alexandria" pitchFamily="34" charset="0"/>
                <a:ea typeface="Alexandria" pitchFamily="34" charset="-122"/>
                <a:cs typeface="Alexandria" pitchFamily="34" charset="-120"/>
              </a:rPr>
              <a:t>C</a:t>
            </a:r>
            <a:endParaRPr lang="en-US" sz="2600" dirty="0"/>
          </a:p>
        </p:txBody>
      </p:sp>
      <p:sp>
        <p:nvSpPr>
          <p:cNvPr id="18" name="Text 16"/>
          <p:cNvSpPr txBox="1"/>
          <p:nvPr/>
        </p:nvSpPr>
        <p:spPr>
          <a:xfrm>
            <a:off x="1417320" y="4622800"/>
            <a:ext cx="4416552" cy="1680210"/>
          </a:xfrm>
          <a:prstGeom prst="rect">
            <a:avLst/>
          </a:prstGeom>
          <a:noFill/>
          <a:ln/>
        </p:spPr>
        <p:txBody>
          <a:bodyPr wrap="square" lIns="76200" tIns="76200" rIns="76200" bIns="76200" rtlCol="0" anchor="ctr"/>
          <a:lstStyle/>
          <a:p>
            <a:pPr algn="l" indent="0" marL="0">
              <a:lnSpc>
                <a:spcPts val="3800"/>
              </a:lnSpc>
              <a:buNone/>
            </a:pPr>
            <a:r>
              <a:rPr lang="en-US" sz="2900" dirty="0">
                <a:solidFill>
                  <a:srgbClr val="FBFAF4"/>
                </a:solidFill>
                <a:latin typeface="Alexandria" pitchFamily="34" charset="0"/>
                <a:ea typeface="Alexandria" pitchFamily="34" charset="-122"/>
                <a:cs typeface="Alexandria" pitchFamily="34" charset="-120"/>
              </a:rPr>
              <a:t>Biến này thuộc thang định danh nên chỉ được đếm tần số</a:t>
            </a:r>
            <a:endParaRPr lang="en-US" sz="2900" dirty="0"/>
          </a:p>
        </p:txBody>
      </p:sp>
      <p:sp>
        <p:nvSpPr>
          <p:cNvPr id="19" name="Phương án D"/>
          <p:cNvSpPr/>
          <p:nvPr/>
        </p:nvSpPr>
        <p:spPr>
          <a:xfrm>
            <a:off x="6217920" y="4622800"/>
            <a:ext cx="5394960" cy="1680210"/>
          </a:xfrm>
          <a:prstGeom prst="roundRect">
            <a:avLst>
              <a:gd name="adj" fmla="val 9796"/>
            </a:avLst>
          </a:prstGeom>
          <a:solidFill>
            <a:srgbClr val="454A46"/>
          </a:solidFill>
          <a:ln/>
        </p:spPr>
      </p:sp>
      <p:sp>
        <p:nvSpPr>
          <p:cNvPr id="20" name="Nhãn D"/>
          <p:cNvSpPr/>
          <p:nvPr/>
        </p:nvSpPr>
        <p:spPr>
          <a:xfrm>
            <a:off x="6382512" y="5179441"/>
            <a:ext cx="566928" cy="566928"/>
          </a:xfrm>
          <a:prstGeom prst="ellipse">
            <a:avLst/>
          </a:prstGeom>
          <a:solidFill>
            <a:srgbClr val="FFD23B"/>
          </a:solidFill>
          <a:ln/>
        </p:spPr>
      </p:sp>
      <p:sp>
        <p:nvSpPr>
          <p:cNvPr id="21" name="Text 19"/>
          <p:cNvSpPr txBox="1"/>
          <p:nvPr/>
        </p:nvSpPr>
        <p:spPr>
          <a:xfrm>
            <a:off x="6382512" y="5179441"/>
            <a:ext cx="566928" cy="566928"/>
          </a:xfrm>
          <a:prstGeom prst="rect">
            <a:avLst/>
          </a:prstGeom>
          <a:noFill/>
          <a:ln/>
        </p:spPr>
        <p:txBody>
          <a:bodyPr wrap="square" lIns="0" tIns="0" rIns="0" bIns="0" rtlCol="0" anchor="ctr"/>
          <a:lstStyle/>
          <a:p>
            <a:pPr algn="ctr" indent="0" marL="0">
              <a:buNone/>
            </a:pPr>
            <a:r>
              <a:rPr lang="en-US" sz="2600" b="1" dirty="0">
                <a:solidFill>
                  <a:srgbClr val="172849"/>
                </a:solidFill>
                <a:latin typeface="Alexandria" pitchFamily="34" charset="0"/>
                <a:ea typeface="Alexandria" pitchFamily="34" charset="-122"/>
                <a:cs typeface="Alexandria" pitchFamily="34" charset="-120"/>
              </a:rPr>
              <a:t>D</a:t>
            </a:r>
            <a:endParaRPr lang="en-US" sz="2600" dirty="0"/>
          </a:p>
        </p:txBody>
      </p:sp>
      <p:sp>
        <p:nvSpPr>
          <p:cNvPr id="22" name="Text 20"/>
          <p:cNvSpPr txBox="1"/>
          <p:nvPr/>
        </p:nvSpPr>
        <p:spPr>
          <a:xfrm>
            <a:off x="7086600" y="4622800"/>
            <a:ext cx="4416552" cy="1680210"/>
          </a:xfrm>
          <a:prstGeom prst="rect">
            <a:avLst/>
          </a:prstGeom>
          <a:noFill/>
          <a:ln/>
        </p:spPr>
        <p:txBody>
          <a:bodyPr wrap="square" lIns="76200" tIns="76200" rIns="76200" bIns="76200" rtlCol="0" anchor="ctr"/>
          <a:lstStyle/>
          <a:p>
            <a:pPr algn="l" indent="0" marL="0">
              <a:lnSpc>
                <a:spcPts val="3800"/>
              </a:lnSpc>
              <a:buNone/>
            </a:pPr>
            <a:r>
              <a:rPr lang="en-US" sz="2900" dirty="0">
                <a:solidFill>
                  <a:srgbClr val="FBFAF4"/>
                </a:solidFill>
                <a:latin typeface="Alexandria" pitchFamily="34" charset="0"/>
                <a:ea typeface="Alexandria" pitchFamily="34" charset="-122"/>
                <a:cs typeface="Alexandria" pitchFamily="34" charset="-120"/>
              </a:rPr>
              <a:t>Không được tính trung bình vì biến không có điểm 0 tuyệt đối</a:t>
            </a:r>
            <a:endParaRPr lang="en-US" sz="2900" dirty="0"/>
          </a:p>
        </p:txBody>
      </p:sp>
    </p:spTree>
  </p:cSld>
  <p:clrMapOvr>
    <a:masterClrMapping/>
  </p:clrMapOvr>
  <p:transition spd="med" advTm="60000">
    <p:fade/>
  </p:transition>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rang trí"/>
          <p:cNvSpPr/>
          <p:nvPr/>
        </p:nvSpPr>
        <p:spPr>
          <a:xfrm>
            <a:off x="11460175" y="-731520"/>
            <a:ext cx="1463040" cy="1463040"/>
          </a:xfrm>
          <a:prstGeom prst="ellipse">
            <a:avLst/>
          </a:prstGeom>
          <a:solidFill>
            <a:srgbClr val="FF5178"/>
          </a:solidFill>
          <a:ln/>
        </p:spPr>
      </p:sp>
      <p:sp>
        <p:nvSpPr>
          <p:cNvPr id="3" name="Trang trí"/>
          <p:cNvSpPr/>
          <p:nvPr/>
        </p:nvSpPr>
        <p:spPr>
          <a:xfrm>
            <a:off x="11505895" y="868680"/>
            <a:ext cx="274320" cy="274320"/>
          </a:xfrm>
          <a:prstGeom prst="ellipse">
            <a:avLst/>
          </a:prstGeom>
          <a:solidFill>
            <a:srgbClr val="FF9259"/>
          </a:solidFill>
          <a:ln/>
        </p:spPr>
      </p:sp>
      <p:sp>
        <p:nvSpPr>
          <p:cNvPr id="4" name="Trang trí"/>
          <p:cNvSpPr/>
          <p:nvPr/>
        </p:nvSpPr>
        <p:spPr>
          <a:xfrm>
            <a:off x="-457200" y="6400800"/>
            <a:ext cx="914400" cy="914400"/>
          </a:xfrm>
          <a:prstGeom prst="ellipse">
            <a:avLst/>
          </a:prstGeom>
          <a:solidFill>
            <a:srgbClr val="FFD23B"/>
          </a:solidFill>
          <a:ln/>
        </p:spPr>
      </p:sp>
      <p:sp>
        <p:nvSpPr>
          <p:cNvPr id="5" name="Câu 10"/>
          <p:cNvSpPr txBox="1"/>
          <p:nvPr/>
        </p:nvSpPr>
        <p:spPr>
          <a:xfrm>
            <a:off x="548640" y="381000"/>
            <a:ext cx="1097280" cy="1097280"/>
          </a:xfrm>
          <a:prstGeom prst="ellipse">
            <a:avLst/>
          </a:prstGeom>
          <a:solidFill>
            <a:srgbClr val="09A1E5"/>
          </a:solidFill>
          <a:ln/>
        </p:spPr>
        <p:txBody>
          <a:bodyPr wrap="square" lIns="0" tIns="0" rIns="0" bIns="0" rtlCol="0" anchor="ctr"/>
          <a:lstStyle/>
          <a:p>
            <a:pPr algn="ctr" indent="0" marL="0">
              <a:lnSpc>
                <a:spcPts val="3600"/>
              </a:lnSpc>
              <a:buNone/>
            </a:pPr>
            <a:r>
              <a:rPr lang="en-US" sz="2400" b="1" dirty="0">
                <a:solidFill>
                  <a:srgbClr val="172849"/>
                </a:solidFill>
                <a:latin typeface="Alexandria" pitchFamily="34" charset="0"/>
                <a:ea typeface="Alexandria" pitchFamily="34" charset="-122"/>
                <a:cs typeface="Alexandria" pitchFamily="34" charset="-120"/>
              </a:rPr>
              <a:t>CÂU</a:t>
            </a:r>
            <a:endParaRPr lang="en-US" sz="2400" dirty="0"/>
          </a:p>
          <a:p>
            <a:pPr algn="ctr" indent="0" marL="0">
              <a:lnSpc>
                <a:spcPts val="3600"/>
              </a:lnSpc>
              <a:buNone/>
            </a:pPr>
            <a:r>
              <a:rPr lang="en-US" sz="3600" b="1" dirty="0">
                <a:solidFill>
                  <a:srgbClr val="172849"/>
                </a:solidFill>
                <a:latin typeface="Alexandria" pitchFamily="34" charset="0"/>
                <a:ea typeface="Alexandria" pitchFamily="34" charset="-122"/>
                <a:cs typeface="Alexandria" pitchFamily="34" charset="-120"/>
              </a:rPr>
              <a:t>10</a:t>
            </a:r>
            <a:endParaRPr lang="en-US" sz="2400" dirty="0"/>
          </a:p>
        </p:txBody>
      </p:sp>
      <p:sp>
        <p:nvSpPr>
          <p:cNvPr id="6" name="Text 4"/>
          <p:cNvSpPr txBox="1"/>
          <p:nvPr/>
        </p:nvSpPr>
        <p:spPr>
          <a:xfrm>
            <a:off x="1965960" y="381000"/>
            <a:ext cx="9281160" cy="3124200"/>
          </a:xfrm>
          <a:prstGeom prst="rect">
            <a:avLst/>
          </a:prstGeom>
          <a:noFill/>
          <a:ln/>
        </p:spPr>
        <p:txBody>
          <a:bodyPr wrap="square" lIns="76200" tIns="76200" rIns="76200" bIns="76200" rtlCol="0" anchor="t"/>
          <a:lstStyle/>
          <a:p>
            <a:pPr algn="l" indent="0" marL="0">
              <a:lnSpc>
                <a:spcPts val="3900"/>
              </a:lnSpc>
              <a:buNone/>
            </a:pPr>
            <a:r>
              <a:rPr lang="en-US" sz="3000" b="1" dirty="0">
                <a:solidFill>
                  <a:srgbClr val="FBFAF4"/>
                </a:solidFill>
                <a:latin typeface="Alexandria" pitchFamily="34" charset="0"/>
                <a:ea typeface="Alexandria" pitchFamily="34" charset="-122"/>
                <a:cs typeface="Alexandria" pitchFamily="34" charset="-120"/>
              </a:rPr>
              <a:t>Một thang đo “lòng trung thành thương hiệu” cho kết quả rất ổn định khi đo lại trên cùng những người trả lời sau hai tuần, nhưng các câu hỏi của nó thực chất đo mức độ hài lòng với giá. Nhận định đúng nhất về thang đo này là:</a:t>
            </a:r>
            <a:endParaRPr lang="en-US" sz="3000" dirty="0"/>
          </a:p>
        </p:txBody>
      </p:sp>
      <p:sp>
        <p:nvSpPr>
          <p:cNvPr id="7" name="Phương án A"/>
          <p:cNvSpPr/>
          <p:nvPr/>
        </p:nvSpPr>
        <p:spPr>
          <a:xfrm>
            <a:off x="548640" y="3779520"/>
            <a:ext cx="5394960" cy="1234440"/>
          </a:xfrm>
          <a:prstGeom prst="roundRect">
            <a:avLst>
              <a:gd name="adj" fmla="val 13333"/>
            </a:avLst>
          </a:prstGeom>
          <a:solidFill>
            <a:srgbClr val="453D4C"/>
          </a:solidFill>
          <a:ln/>
        </p:spPr>
      </p:sp>
      <p:sp>
        <p:nvSpPr>
          <p:cNvPr id="8" name="Nhãn A"/>
          <p:cNvSpPr/>
          <p:nvPr/>
        </p:nvSpPr>
        <p:spPr>
          <a:xfrm>
            <a:off x="713232" y="4113276"/>
            <a:ext cx="566928" cy="566928"/>
          </a:xfrm>
          <a:prstGeom prst="ellipse">
            <a:avLst/>
          </a:prstGeom>
          <a:solidFill>
            <a:srgbClr val="FF9259"/>
          </a:solidFill>
          <a:ln/>
        </p:spPr>
      </p:sp>
      <p:sp>
        <p:nvSpPr>
          <p:cNvPr id="9" name="Text 7"/>
          <p:cNvSpPr txBox="1"/>
          <p:nvPr/>
        </p:nvSpPr>
        <p:spPr>
          <a:xfrm>
            <a:off x="713232" y="4113276"/>
            <a:ext cx="566928" cy="566928"/>
          </a:xfrm>
          <a:prstGeom prst="rect">
            <a:avLst/>
          </a:prstGeom>
          <a:noFill/>
          <a:ln/>
        </p:spPr>
        <p:txBody>
          <a:bodyPr wrap="square" lIns="0" tIns="0" rIns="0" bIns="0" rtlCol="0" anchor="ctr"/>
          <a:lstStyle/>
          <a:p>
            <a:pPr algn="ctr" indent="0" marL="0">
              <a:buNone/>
            </a:pPr>
            <a:r>
              <a:rPr lang="en-US" sz="2600" b="1" dirty="0">
                <a:solidFill>
                  <a:srgbClr val="172849"/>
                </a:solidFill>
                <a:latin typeface="Alexandria" pitchFamily="34" charset="0"/>
                <a:ea typeface="Alexandria" pitchFamily="34" charset="-122"/>
                <a:cs typeface="Alexandria" pitchFamily="34" charset="-120"/>
              </a:rPr>
              <a:t>A</a:t>
            </a:r>
            <a:endParaRPr lang="en-US" sz="2600" dirty="0"/>
          </a:p>
        </p:txBody>
      </p:sp>
      <p:sp>
        <p:nvSpPr>
          <p:cNvPr id="10" name="Text 8"/>
          <p:cNvSpPr txBox="1"/>
          <p:nvPr/>
        </p:nvSpPr>
        <p:spPr>
          <a:xfrm>
            <a:off x="1417320" y="3779520"/>
            <a:ext cx="4416552" cy="1234440"/>
          </a:xfrm>
          <a:prstGeom prst="rect">
            <a:avLst/>
          </a:prstGeom>
          <a:noFill/>
          <a:ln/>
        </p:spPr>
        <p:txBody>
          <a:bodyPr wrap="square" lIns="76200" tIns="76200" rIns="76200" bIns="76200" rtlCol="0" anchor="ctr"/>
          <a:lstStyle/>
          <a:p>
            <a:pPr algn="l" indent="0" marL="0">
              <a:lnSpc>
                <a:spcPts val="3900"/>
              </a:lnSpc>
              <a:buNone/>
            </a:pPr>
            <a:r>
              <a:rPr lang="en-US" sz="3000" dirty="0">
                <a:solidFill>
                  <a:srgbClr val="FBFAF4"/>
                </a:solidFill>
                <a:latin typeface="Alexandria" pitchFamily="34" charset="0"/>
                <a:ea typeface="Alexandria" pitchFamily="34" charset="-122"/>
                <a:cs typeface="Alexandria" pitchFamily="34" charset="-120"/>
              </a:rPr>
              <a:t>Có độ tin cậy nhưng chưa có giá trị</a:t>
            </a:r>
            <a:endParaRPr lang="en-US" sz="3000" dirty="0"/>
          </a:p>
        </p:txBody>
      </p:sp>
      <p:sp>
        <p:nvSpPr>
          <p:cNvPr id="11" name="Phương án B"/>
          <p:cNvSpPr/>
          <p:nvPr/>
        </p:nvSpPr>
        <p:spPr>
          <a:xfrm>
            <a:off x="6217920" y="3779520"/>
            <a:ext cx="5394960" cy="1234440"/>
          </a:xfrm>
          <a:prstGeom prst="roundRect">
            <a:avLst>
              <a:gd name="adj" fmla="val 13333"/>
            </a:avLst>
          </a:prstGeom>
          <a:solidFill>
            <a:srgbClr val="302953"/>
          </a:solidFill>
          <a:ln/>
        </p:spPr>
      </p:sp>
      <p:sp>
        <p:nvSpPr>
          <p:cNvPr id="12" name="Nhãn B"/>
          <p:cNvSpPr/>
          <p:nvPr/>
        </p:nvSpPr>
        <p:spPr>
          <a:xfrm>
            <a:off x="6382512" y="4113276"/>
            <a:ext cx="566928" cy="566928"/>
          </a:xfrm>
          <a:prstGeom prst="ellipse">
            <a:avLst/>
          </a:prstGeom>
          <a:solidFill>
            <a:srgbClr val="962B7C"/>
          </a:solidFill>
          <a:ln/>
        </p:spPr>
      </p:sp>
      <p:sp>
        <p:nvSpPr>
          <p:cNvPr id="13" name="Text 11"/>
          <p:cNvSpPr txBox="1"/>
          <p:nvPr/>
        </p:nvSpPr>
        <p:spPr>
          <a:xfrm>
            <a:off x="6382512" y="4113276"/>
            <a:ext cx="566928" cy="566928"/>
          </a:xfrm>
          <a:prstGeom prst="rect">
            <a:avLst/>
          </a:prstGeom>
          <a:noFill/>
          <a:ln/>
        </p:spPr>
        <p:txBody>
          <a:bodyPr wrap="square" lIns="0" tIns="0" rIns="0" bIns="0" rtlCol="0" anchor="ctr"/>
          <a:lstStyle/>
          <a:p>
            <a:pPr algn="ctr" indent="0" marL="0">
              <a:buNone/>
            </a:pPr>
            <a:r>
              <a:rPr lang="en-US" sz="2600" b="1" dirty="0">
                <a:solidFill>
                  <a:srgbClr val="FFFFFF"/>
                </a:solidFill>
                <a:latin typeface="Alexandria" pitchFamily="34" charset="0"/>
                <a:ea typeface="Alexandria" pitchFamily="34" charset="-122"/>
                <a:cs typeface="Alexandria" pitchFamily="34" charset="-120"/>
              </a:rPr>
              <a:t>B</a:t>
            </a:r>
            <a:endParaRPr lang="en-US" sz="2600" dirty="0"/>
          </a:p>
        </p:txBody>
      </p:sp>
      <p:sp>
        <p:nvSpPr>
          <p:cNvPr id="14" name="Text 12"/>
          <p:cNvSpPr txBox="1"/>
          <p:nvPr/>
        </p:nvSpPr>
        <p:spPr>
          <a:xfrm>
            <a:off x="7086600" y="3779520"/>
            <a:ext cx="4416552" cy="1234440"/>
          </a:xfrm>
          <a:prstGeom prst="rect">
            <a:avLst/>
          </a:prstGeom>
          <a:noFill/>
          <a:ln/>
        </p:spPr>
        <p:txBody>
          <a:bodyPr wrap="square" lIns="76200" tIns="76200" rIns="76200" bIns="76200" rtlCol="0" anchor="ctr"/>
          <a:lstStyle/>
          <a:p>
            <a:pPr algn="l" indent="0" marL="0">
              <a:lnSpc>
                <a:spcPts val="3900"/>
              </a:lnSpc>
              <a:buNone/>
            </a:pPr>
            <a:r>
              <a:rPr lang="en-US" sz="3000" dirty="0">
                <a:solidFill>
                  <a:srgbClr val="FBFAF4"/>
                </a:solidFill>
                <a:latin typeface="Alexandria" pitchFamily="34" charset="0"/>
                <a:ea typeface="Alexandria" pitchFamily="34" charset="-122"/>
                <a:cs typeface="Alexandria" pitchFamily="34" charset="-120"/>
              </a:rPr>
              <a:t>Có giá trị nhưng chưa có độ tin cậy</a:t>
            </a:r>
            <a:endParaRPr lang="en-US" sz="3000" dirty="0"/>
          </a:p>
        </p:txBody>
      </p:sp>
      <p:sp>
        <p:nvSpPr>
          <p:cNvPr id="15" name="Phương án C"/>
          <p:cNvSpPr/>
          <p:nvPr/>
        </p:nvSpPr>
        <p:spPr>
          <a:xfrm>
            <a:off x="548640" y="5151120"/>
            <a:ext cx="5394960" cy="1234440"/>
          </a:xfrm>
          <a:prstGeom prst="roundRect">
            <a:avLst>
              <a:gd name="adj" fmla="val 13333"/>
            </a:avLst>
          </a:prstGeom>
          <a:solidFill>
            <a:srgbClr val="454A46"/>
          </a:solidFill>
          <a:ln/>
        </p:spPr>
      </p:sp>
      <p:sp>
        <p:nvSpPr>
          <p:cNvPr id="16" name="Nhãn C"/>
          <p:cNvSpPr/>
          <p:nvPr/>
        </p:nvSpPr>
        <p:spPr>
          <a:xfrm>
            <a:off x="713232" y="5484876"/>
            <a:ext cx="566928" cy="566928"/>
          </a:xfrm>
          <a:prstGeom prst="ellipse">
            <a:avLst/>
          </a:prstGeom>
          <a:solidFill>
            <a:srgbClr val="FFD23B"/>
          </a:solidFill>
          <a:ln/>
        </p:spPr>
      </p:sp>
      <p:sp>
        <p:nvSpPr>
          <p:cNvPr id="17" name="Text 15"/>
          <p:cNvSpPr txBox="1"/>
          <p:nvPr/>
        </p:nvSpPr>
        <p:spPr>
          <a:xfrm>
            <a:off x="713232" y="5484876"/>
            <a:ext cx="566928" cy="566928"/>
          </a:xfrm>
          <a:prstGeom prst="rect">
            <a:avLst/>
          </a:prstGeom>
          <a:noFill/>
          <a:ln/>
        </p:spPr>
        <p:txBody>
          <a:bodyPr wrap="square" lIns="0" tIns="0" rIns="0" bIns="0" rtlCol="0" anchor="ctr"/>
          <a:lstStyle/>
          <a:p>
            <a:pPr algn="ctr" indent="0" marL="0">
              <a:buNone/>
            </a:pPr>
            <a:r>
              <a:rPr lang="en-US" sz="2600" b="1" dirty="0">
                <a:solidFill>
                  <a:srgbClr val="172849"/>
                </a:solidFill>
                <a:latin typeface="Alexandria" pitchFamily="34" charset="0"/>
                <a:ea typeface="Alexandria" pitchFamily="34" charset="-122"/>
                <a:cs typeface="Alexandria" pitchFamily="34" charset="-120"/>
              </a:rPr>
              <a:t>C</a:t>
            </a:r>
            <a:endParaRPr lang="en-US" sz="2600" dirty="0"/>
          </a:p>
        </p:txBody>
      </p:sp>
      <p:sp>
        <p:nvSpPr>
          <p:cNvPr id="18" name="Text 16"/>
          <p:cNvSpPr txBox="1"/>
          <p:nvPr/>
        </p:nvSpPr>
        <p:spPr>
          <a:xfrm>
            <a:off x="1417320" y="5151120"/>
            <a:ext cx="4416552" cy="1234440"/>
          </a:xfrm>
          <a:prstGeom prst="rect">
            <a:avLst/>
          </a:prstGeom>
          <a:noFill/>
          <a:ln/>
        </p:spPr>
        <p:txBody>
          <a:bodyPr wrap="square" lIns="76200" tIns="76200" rIns="76200" bIns="76200" rtlCol="0" anchor="ctr"/>
          <a:lstStyle/>
          <a:p>
            <a:pPr algn="l" indent="0" marL="0">
              <a:lnSpc>
                <a:spcPts val="3900"/>
              </a:lnSpc>
              <a:buNone/>
            </a:pPr>
            <a:r>
              <a:rPr lang="en-US" sz="3000" dirty="0">
                <a:solidFill>
                  <a:srgbClr val="FBFAF4"/>
                </a:solidFill>
                <a:latin typeface="Alexandria" pitchFamily="34" charset="0"/>
                <a:ea typeface="Alexandria" pitchFamily="34" charset="-122"/>
                <a:cs typeface="Alexandria" pitchFamily="34" charset="-120"/>
              </a:rPr>
              <a:t>Vừa có độ tin cậy vừa có giá trị</a:t>
            </a:r>
            <a:endParaRPr lang="en-US" sz="3000" dirty="0"/>
          </a:p>
        </p:txBody>
      </p:sp>
      <p:sp>
        <p:nvSpPr>
          <p:cNvPr id="19" name="Phương án D"/>
          <p:cNvSpPr/>
          <p:nvPr/>
        </p:nvSpPr>
        <p:spPr>
          <a:xfrm>
            <a:off x="6217920" y="5151120"/>
            <a:ext cx="5394960" cy="1234440"/>
          </a:xfrm>
          <a:prstGeom prst="roundRect">
            <a:avLst>
              <a:gd name="adj" fmla="val 13333"/>
            </a:avLst>
          </a:prstGeom>
          <a:solidFill>
            <a:srgbClr val="214458"/>
          </a:solidFill>
          <a:ln/>
        </p:spPr>
      </p:sp>
      <p:sp>
        <p:nvSpPr>
          <p:cNvPr id="20" name="Nhãn D"/>
          <p:cNvSpPr/>
          <p:nvPr/>
        </p:nvSpPr>
        <p:spPr>
          <a:xfrm>
            <a:off x="6382512" y="5484876"/>
            <a:ext cx="566928" cy="566928"/>
          </a:xfrm>
          <a:prstGeom prst="ellipse">
            <a:avLst/>
          </a:prstGeom>
          <a:solidFill>
            <a:srgbClr val="49B296"/>
          </a:solidFill>
          <a:ln/>
        </p:spPr>
      </p:sp>
      <p:sp>
        <p:nvSpPr>
          <p:cNvPr id="21" name="Text 19"/>
          <p:cNvSpPr txBox="1"/>
          <p:nvPr/>
        </p:nvSpPr>
        <p:spPr>
          <a:xfrm>
            <a:off x="6382512" y="5484876"/>
            <a:ext cx="566928" cy="566928"/>
          </a:xfrm>
          <a:prstGeom prst="rect">
            <a:avLst/>
          </a:prstGeom>
          <a:noFill/>
          <a:ln/>
        </p:spPr>
        <p:txBody>
          <a:bodyPr wrap="square" lIns="0" tIns="0" rIns="0" bIns="0" rtlCol="0" anchor="ctr"/>
          <a:lstStyle/>
          <a:p>
            <a:pPr algn="ctr" indent="0" marL="0">
              <a:buNone/>
            </a:pPr>
            <a:r>
              <a:rPr lang="en-US" sz="2600" b="1" dirty="0">
                <a:solidFill>
                  <a:srgbClr val="172849"/>
                </a:solidFill>
                <a:latin typeface="Alexandria" pitchFamily="34" charset="0"/>
                <a:ea typeface="Alexandria" pitchFamily="34" charset="-122"/>
                <a:cs typeface="Alexandria" pitchFamily="34" charset="-120"/>
              </a:rPr>
              <a:t>D</a:t>
            </a:r>
            <a:endParaRPr lang="en-US" sz="2600" dirty="0"/>
          </a:p>
        </p:txBody>
      </p:sp>
      <p:sp>
        <p:nvSpPr>
          <p:cNvPr id="22" name="Text 20"/>
          <p:cNvSpPr txBox="1"/>
          <p:nvPr/>
        </p:nvSpPr>
        <p:spPr>
          <a:xfrm>
            <a:off x="7086600" y="5151120"/>
            <a:ext cx="4416552" cy="1234440"/>
          </a:xfrm>
          <a:prstGeom prst="rect">
            <a:avLst/>
          </a:prstGeom>
          <a:noFill/>
          <a:ln/>
        </p:spPr>
        <p:txBody>
          <a:bodyPr wrap="square" lIns="76200" tIns="76200" rIns="76200" bIns="76200" rtlCol="0" anchor="ctr"/>
          <a:lstStyle/>
          <a:p>
            <a:pPr algn="l" indent="0" marL="0">
              <a:lnSpc>
                <a:spcPts val="3900"/>
              </a:lnSpc>
              <a:buNone/>
            </a:pPr>
            <a:r>
              <a:rPr lang="en-US" sz="3000" dirty="0">
                <a:solidFill>
                  <a:srgbClr val="FBFAF4"/>
                </a:solidFill>
                <a:latin typeface="Alexandria" pitchFamily="34" charset="0"/>
                <a:ea typeface="Alexandria" pitchFamily="34" charset="-122"/>
                <a:cs typeface="Alexandria" pitchFamily="34" charset="-120"/>
              </a:rPr>
              <a:t>Không có độ tin cậy lẫn giá trị</a:t>
            </a:r>
            <a:endParaRPr lang="en-US" sz="3000" dirty="0"/>
          </a:p>
        </p:txBody>
      </p:sp>
    </p:spTree>
  </p:cSld>
  <p:clrMapOvr>
    <a:masterClrMapping/>
  </p:clrMapOvr>
  <p:transition spd="med" advTm="60000">
    <p:fade/>
  </p:transition>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rang trí"/>
          <p:cNvSpPr/>
          <p:nvPr/>
        </p:nvSpPr>
        <p:spPr>
          <a:xfrm>
            <a:off x="1097280" y="1188720"/>
            <a:ext cx="4206240" cy="4206240"/>
          </a:xfrm>
          <a:prstGeom prst="ellipse">
            <a:avLst/>
          </a:prstGeom>
          <a:solidFill>
            <a:srgbClr val="FFD23B"/>
          </a:solidFill>
          <a:ln/>
        </p:spPr>
      </p:sp>
      <p:sp>
        <p:nvSpPr>
          <p:cNvPr id="3" name="Trang trí"/>
          <p:cNvSpPr/>
          <p:nvPr/>
        </p:nvSpPr>
        <p:spPr>
          <a:xfrm>
            <a:off x="4480560" y="731520"/>
            <a:ext cx="1097280" cy="1097280"/>
          </a:xfrm>
          <a:prstGeom prst="ellipse">
            <a:avLst/>
          </a:prstGeom>
          <a:solidFill>
            <a:srgbClr val="FF5178"/>
          </a:solidFill>
          <a:ln/>
        </p:spPr>
      </p:sp>
      <p:sp>
        <p:nvSpPr>
          <p:cNvPr id="4" name="Trang trí"/>
          <p:cNvSpPr/>
          <p:nvPr/>
        </p:nvSpPr>
        <p:spPr>
          <a:xfrm>
            <a:off x="548640" y="4846320"/>
            <a:ext cx="914400" cy="914400"/>
          </a:xfrm>
          <a:prstGeom prst="ellipse">
            <a:avLst/>
          </a:prstGeom>
          <a:solidFill>
            <a:srgbClr val="49B296"/>
          </a:solidFill>
          <a:ln/>
        </p:spPr>
      </p:sp>
      <p:sp>
        <p:nvSpPr>
          <p:cNvPr id="5" name="Trang trí"/>
          <p:cNvSpPr/>
          <p:nvPr/>
        </p:nvSpPr>
        <p:spPr>
          <a:xfrm>
            <a:off x="10424160" y="3931920"/>
            <a:ext cx="1645920" cy="1645920"/>
          </a:xfrm>
          <a:prstGeom prst="ellipse">
            <a:avLst/>
          </a:prstGeom>
          <a:solidFill>
            <a:srgbClr val="09A1E5"/>
          </a:solidFill>
          <a:ln/>
        </p:spPr>
      </p:sp>
      <p:sp>
        <p:nvSpPr>
          <p:cNvPr id="6" name="Trang trí"/>
          <p:cNvSpPr/>
          <p:nvPr/>
        </p:nvSpPr>
        <p:spPr>
          <a:xfrm>
            <a:off x="11155680" y="365760"/>
            <a:ext cx="731520" cy="731520"/>
          </a:xfrm>
          <a:prstGeom prst="ellipse">
            <a:avLst/>
          </a:prstGeom>
          <a:solidFill>
            <a:srgbClr val="FF9259"/>
          </a:solidFill>
          <a:ln/>
        </p:spPr>
      </p:sp>
      <p:sp>
        <p:nvSpPr>
          <p:cNvPr id="7" name="Text 5"/>
          <p:cNvSpPr txBox="1"/>
          <p:nvPr/>
        </p:nvSpPr>
        <p:spPr>
          <a:xfrm>
            <a:off x="1097280" y="1188720"/>
            <a:ext cx="4206240" cy="4206240"/>
          </a:xfrm>
          <a:prstGeom prst="rect">
            <a:avLst/>
          </a:prstGeom>
          <a:noFill/>
          <a:ln/>
        </p:spPr>
        <p:txBody>
          <a:bodyPr wrap="square" lIns="0" tIns="0" rIns="0" bIns="0" rtlCol="0" anchor="ctr"/>
          <a:lstStyle/>
          <a:p>
            <a:pPr algn="ctr" indent="0" marL="0">
              <a:buNone/>
            </a:pPr>
            <a:r>
              <a:rPr lang="en-US" sz="9600" b="1" dirty="0">
                <a:solidFill>
                  <a:srgbClr val="172849"/>
                </a:solidFill>
                <a:latin typeface="Alexandria" pitchFamily="34" charset="0"/>
                <a:ea typeface="Alexandria" pitchFamily="34" charset="-122"/>
                <a:cs typeface="Alexandria" pitchFamily="34" charset="-120"/>
              </a:rPr>
              <a:t>Hết</a:t>
            </a:r>
            <a:endParaRPr lang="en-US" sz="9600" dirty="0"/>
          </a:p>
        </p:txBody>
      </p:sp>
      <p:sp>
        <p:nvSpPr>
          <p:cNvPr id="8" name="Text 6"/>
          <p:cNvSpPr txBox="1"/>
          <p:nvPr/>
        </p:nvSpPr>
        <p:spPr>
          <a:xfrm>
            <a:off x="5943600" y="2011680"/>
            <a:ext cx="5303520" cy="1463040"/>
          </a:xfrm>
          <a:prstGeom prst="rect">
            <a:avLst/>
          </a:prstGeom>
          <a:noFill/>
          <a:ln/>
        </p:spPr>
        <p:txBody>
          <a:bodyPr wrap="square" lIns="76200" tIns="76200" rIns="76200" bIns="76200" rtlCol="0" anchor="t"/>
          <a:lstStyle/>
          <a:p>
            <a:pPr algn="l" indent="0" marL="0">
              <a:lnSpc>
                <a:spcPts val="5100"/>
              </a:lnSpc>
              <a:buNone/>
            </a:pPr>
            <a:r>
              <a:rPr lang="en-US" sz="3900" b="1" dirty="0">
                <a:solidFill>
                  <a:srgbClr val="FBFAF4"/>
                </a:solidFill>
                <a:latin typeface="Alexandria" pitchFamily="34" charset="0"/>
                <a:ea typeface="Alexandria" pitchFamily="34" charset="-122"/>
                <a:cs typeface="Alexandria" pitchFamily="34" charset="-120"/>
              </a:rPr>
              <a:t>Kết thúc bài kiểm tra</a:t>
            </a:r>
            <a:endParaRPr lang="en-US" sz="3900" dirty="0"/>
          </a:p>
        </p:txBody>
      </p:sp>
      <p:sp>
        <p:nvSpPr>
          <p:cNvPr id="9" name="Text 7"/>
          <p:cNvSpPr txBox="1"/>
          <p:nvPr/>
        </p:nvSpPr>
        <p:spPr>
          <a:xfrm>
            <a:off x="5943600" y="3566160"/>
            <a:ext cx="4297680" cy="2011680"/>
          </a:xfrm>
          <a:prstGeom prst="rect">
            <a:avLst/>
          </a:prstGeom>
          <a:noFill/>
          <a:ln/>
        </p:spPr>
        <p:txBody>
          <a:bodyPr wrap="square" lIns="76200" tIns="76200" rIns="76200" bIns="76200" rtlCol="0" anchor="t"/>
          <a:lstStyle/>
          <a:p>
            <a:pPr algn="l" indent="0" marL="0">
              <a:lnSpc>
                <a:spcPts val="3900"/>
              </a:lnSpc>
              <a:buNone/>
            </a:pPr>
            <a:r>
              <a:rPr lang="en-US" sz="3000" dirty="0">
                <a:solidFill>
                  <a:srgbClr val="C9CDD8"/>
                </a:solidFill>
                <a:latin typeface="Alexandria" pitchFamily="34" charset="0"/>
                <a:ea typeface="Alexandria" pitchFamily="34" charset="-122"/>
                <a:cs typeface="Alexandria" pitchFamily="34" charset="-120"/>
              </a:rPr>
              <a:t>Kiểm tra lại họ tên, MSSV, lớp và đáp án trước khi nộp bài.</a:t>
            </a:r>
            <a:endParaRPr lang="en-US" sz="3000" dirty="0"/>
          </a:p>
        </p:txBody>
      </p:sp>
      <p:sp>
        <p:nvSpPr>
          <p:cNvPr id="25" name="Slide Number Placeholder 0"/>
          <p:cNvSpPr>
            <a:spLocks noGrp="1"/>
          </p:cNvSpPr>
          <p:nvPr>
            <p:ph type="sldNum" sz="quarter" idx="4294967295"/>
          </p:nvPr>
        </p:nvSpPr>
        <p:spPr>
          <a:xfrm>
            <a:off x="10881360" y="6263640"/>
            <a:ext cx="914400" cy="457200"/>
          </a:xfrm>
          <a:prstGeom prst="rect">
            <a:avLst/>
          </a:prstGeom>
          <a:extLst>
            <a:ext uri="{C572A759-6A51-4108-AA02-DFA0A04FC94B}">
              <ma14:wrappingTextBoxFlag xmlns:ma14="http://schemas.microsoft.com/office/mac/drawingml/2011/main" val="0"/>
            </a:ext>
          </a:extLst>
        </p:spPr>
        <p:txBody>
          <a:bodyPr/>
          <a:lstStyle>
            <a:lvl1pPr>
              <a:defRPr sz="2400">
                <a:solidFill>
                  <a:srgbClr val="C9CDD8"/>
                </a:solidFill>
                <a:latin typeface="Alexandria"/>
                <a:ea typeface="Alexandria"/>
                <a:cs typeface="Alexandria"/>
              </a:defRPr>
            </a:lvl1pPr>
          </a:lstStyle>
          <a:p>
            <a:pPr algn="r"/>
            <a:fld id="{F7021451-1387-4CA6-816F-3879F97B5CBC}" type="slidenum">
              <a:rPr b="0" lang="en-US"/>
              <a:t>14</a:t>
            </a:fld>
            <a:endParaRPr lang="en-US"/>
          </a:p>
        </p:txBody>
      </p:sp>
    </p:spTree>
  </p:cSld>
  <p:clrMapOvr>
    <a:masterClrMapping/>
  </p:clrMapOvr>
  <p:transition spd="med" advTm="60000">
    <p:fade/>
  </p:transition>
</p:sld>
</file>

<file path=ppt/theme/theme1.xml><?xml version="1.0" encoding="utf-8"?>
<a:theme xmlns:a="http://schemas.openxmlformats.org/drawingml/2006/main" name="MKT1107">
  <a:themeElements>
    <a:clrScheme name="MKT1107">
      <a:dk1>
        <a:srgbClr val="FBFAF4"/>
      </a:dk1>
      <a:lt1>
        <a:srgbClr val="FFFFFF"/>
      </a:lt1>
      <a:dk2>
        <a:srgbClr val="962B7C"/>
      </a:dk2>
      <a:lt2>
        <a:srgbClr val="172849"/>
      </a:lt2>
      <a:accent1>
        <a:srgbClr val="49B296"/>
      </a:accent1>
      <a:accent2>
        <a:srgbClr val="FFD23B"/>
      </a:accent2>
      <a:accent3>
        <a:srgbClr val="FF5178"/>
      </a:accent3>
      <a:accent4>
        <a:srgbClr val="962B7C"/>
      </a:accent4>
      <a:accent5>
        <a:srgbClr val="09A1E5"/>
      </a:accent5>
      <a:accent6>
        <a:srgbClr val="FF9259"/>
      </a:accent6>
      <a:hlink>
        <a:srgbClr val="09A1E5"/>
      </a:hlink>
      <a:folHlink>
        <a:srgbClr val="962B7C"/>
      </a:folHlink>
    </a:clrScheme>
    <a:fontScheme name="Office">
      <a:majorFont>
        <a:latin typeface="Alexand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lexandria"/>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MKT1107 · Kiểm tra trắc nghiệm cá nhân (Bài 1–7)</dc:title>
  <dc:subject>MKT1107 Nghiên cứu Marketing</dc:subject>
  <dc:creator>Đoàn Nguyễn Bảo Quyên</dc:creator>
  <cp:lastModifiedBy>Đoàn Nguyễn Bảo Quyên</cp:lastModifiedBy>
  <cp:revision>1</cp:revision>
  <dcterms:created xsi:type="dcterms:W3CDTF">2026-10-13T00:00:59Z</dcterms:created>
  <dcterms:modified xsi:type="dcterms:W3CDTF">2026-10-13T00:00:59Z</dcterms:modified>
</cp:coreProperties>
</file>