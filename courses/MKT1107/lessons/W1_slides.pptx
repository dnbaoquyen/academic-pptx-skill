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1 · Khởi động" id="{3c83e430-9332-e7aa-c400-1cdce6a6126d}">
          <p14:sldIdLst>
            <p14:sldId id="256"/>
            <p14:sldId id="257"/>
            <p14:sldId id="258"/>
          </p14:sldIdLst>
        </p14:section>
        <p14:section name="S2 · Giới thiệu học phần" id="{6cb8e59c-c0c3-7669-2eab-79dae20a77b2}">
          <p14:sldIdLst>
            <p14:sldId id="259"/>
            <p14:sldId id="260"/>
            <p14:sldId id="261"/>
            <p14:sldId id="262"/>
            <p14:sldId id="263"/>
            <p14:sldId id="264"/>
          </p14:sldIdLst>
        </p14:section>
        <p14:section name="S3 · Nghiên cứu marketing là gì" id="{fe04508f-9fdf-fa52-89d9-7245cebc312e}">
          <p14:sldIdLst>
            <p14:sldId id="265"/>
            <p14:sldId id="266"/>
            <p14:sldId id="267"/>
            <p14:sldId id="268"/>
            <p14:sldId id="269"/>
            <p14:sldId id="270"/>
            <p14:sldId id="271"/>
            <p14:sldId id="272"/>
            <p14:sldId id="273"/>
            <p14:sldId id="274"/>
            <p14:sldId id="275"/>
            <p14:sldId id="276"/>
          </p14:sldIdLst>
        </p14:section>
        <p14:section name="S4 · Phân loại nhanh" id="{5b82fa5c-104c-53bb-ef0f-788a85294dff}">
          <p14:sldIdLst>
            <p14:sldId id="277"/>
            <p14:sldId id="278"/>
            <p14:sldId id="279"/>
            <p14:sldId id="280"/>
            <p14:sldId id="281"/>
            <p14:sldId id="282"/>
            <p14:sldId id="283"/>
            <p14:sldId id="284"/>
          </p14:sldIdLst>
        </p14:section>
        <p14:section name="Giải lao" id="{6c32bbc3-4286-7e38-01da-6300cae62910}">
          <p14:sldIdLst>
            <p14:sldId id="285"/>
          </p14:sldIdLst>
        </p14:section>
        <p14:section name="S5 · Tiến trình, hệ thống thông tin, người làm và người dùng" id="{7267b08d-ba22-a46d-a73b-ca975fe3da97}">
          <p14:sldIdLst>
            <p14:sldId id="286"/>
            <p14:sldId id="287"/>
            <p14:sldId id="288"/>
            <p14:sldId id="289"/>
            <p14:sldId id="290"/>
            <p14:sldId id="291"/>
            <p14:sldId id="292"/>
            <p14:sldId id="293"/>
          </p14:sldIdLst>
        </p14:section>
        <p14:section name="S6 · Kiểm tra nhanh" id="{883bd3a3-856a-3164-6c23-3aad8b69b4d6}">
          <p14:sldIdLst>
            <p14:sldId id="294"/>
          </p14:sldIdLst>
        </p14:section>
        <p14:section name="S7 · Thực hành nhóm" id="{8fe0351f-8b3d-7f41-787c-e49f94a8961c}">
          <p14:sldIdLst>
            <p14:sldId id="295"/>
          </p14:sldIdLst>
        </p14:section>
        <p14:section name="S8 · Kết buổi" id="{d07f16ce-d33d-6988-339c-4656afd8b54a}">
          <p14:sldIdLst>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(Chưa giới thiệu môn. Chuyển ngay sang slide 2.)
GHI CHÚ CHO GIẢNG VIÊN
Bài giảng Buổi 1 dài 150 phút, chia S1–S8. Chữ nghiêng trong ngoặc là ghi chú cho giảng viên, không đọc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Tôi bắt đầu bằng một câu chuyện. Một hãng điện thoại chuẩn bị tung ra dòng điện thoại giá rẻ. Trước khi quyết định giá bán, họ làm khảo sát. Nhưng họ đi hỏi ở đâu? Ở các showroom cao cấp, với những khách hàng có thu nhập cao. Kết quả khảo sát: phần lớn người được hỏi nói rằng giá không quan trọng, họ sẵn sàng trả nhiều hơn để có tính năng tốt.
Câu hỏi cho các bạn: Kết luận này sai ở đâu? Và nếu công ty tin vào nó thì chuyện gì xảy ra?
(Cho 1 phút suy nghĩ một mình, rồi 1 phút trao đổi với bạn bên cạnh. Chỉ định 2–3 bạn trả lời.)
(Câu trả lời mong đợi: hỏi sai đối tượng — người mua điện thoại giá rẻ không phải khách hàng giàu; kết quả bị chệch; công ty có thể định giá quá cao, sản phẩm thất bại. Ghi lên bảng hai chữ: "hỏi ai".)
GHI CHÚ CHO GIẢNG VIÊN
Đọc chậm tình huống. 1 phút nghĩ một mình, 1 phút trao đổi với bạn bên cạnh, chỉ định 2–3 bạn trả lời. Ghi lên bảng: "hỏi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Các bạn vừa chỉ ra đúng lỗi mà rất nhiều doanh nghiệp mắc phải: dữ liệu thì có, con số thì đẹp, nhưng câu trả lời vô giá trị vì hỏi sai người. Có một câu mà các giảng viên nghiên cứu marketing hay nhắc: trước khi thu thập bất kỳ dữ liệu nào, phải trả lời được ba câu hỏi — vì sao mình hỏi, hỏi như thế nào, và hỏi ai. Cả học phần này, thật ra, là học cách trả lời ba câu hỏi đó cho đúng.
GHI CHÚ CHO GIẢNG VIÊN
Nối từ câu trả lời của lớp: tình huống vừa rồi sai ở câu thứ ba. Chuyển sang giới thiệu môn.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(Phần này nói nhanh, gọn. Chi tiết có trong đề cương trên LMS — nhắc sinh viên đọc lại.)
Ở môn Marketing căn bản, các bạn đã học cách doanh nghiệp ra quyết định về sản phẩm, giá, phân phối, truyền thông. Môn này trả lời câu hỏi tiếp theo: những quyết định đó dựa vào thông tin nào, và làm sao có được thông tin đáng tin cậy?
GHI CHÚ CHO GIẢNG VIÊN
Liên hệ môn tiên quyết. Một câu: "Không có thông tin đúng, 4P chỉ là đoán."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Kết thúc học phần, các bạn có thể:
1. Giải thích các khái niệm và phương pháp nghiên cứu marketing.
2. Xây dựng một kế hoạch nghiên cứu phục vụ một quyết định marketing cụ thể.
3. Tự thực hiện các bước của một nghiên cứu: xác định vấn đề, thiết kế, chọn mẫu, thiết kế bảng hỏi, phân tích dữ liệu, trình bày kết quả.
4. Làm việc nhóm, phản biện, và có ý thức đạo đức khi nghiên cứu.
GHI CHÚ CHO GIẢNG VIÊN
Đây là CLO1–8 viết lại bằng lời của sinh viên. Không đọc CLO nguyên văn — nhắc "chi tiết trong đề cương trên 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Điểm khác của môn này: mỗi nhóm 2–3 bạn sẽ tự làm một nghiên cứu nhỏ từ đầu đến cuối, theo một trong hai hướng:
- Định lượng — 5 chương: Giới thiệu nghiên cứu · Cơ sở lý thuyết và mô hình · Phương pháp nghiên cứu · Kết quả nghiên cứu · Kết luận và hàm ý quản trị.
- Định tính — 3 chương: Giới thiệu và cơ sở lý thuyết · Phương pháp nghiên cứu · Kết quả, thảo luận và kết luận.
Mỗi buổi học, phần thực hành 45 phút cuối buổi là lúc nhóm làm một phần của nghiên cứu đó, có giảng viên đi kèm. Bài tập về nhà là hoàn thiện phần đó.
GHI CHÚ CHO GIẢNG VIÊN
Chọn hướng ở Buổi 5. 45 phút thực hành cuối mỗi buổi = làm một phần dự án, có giảng viên đi kèm.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Nếu các bạn theo kịp từng buổi, đến Buổi 13 các bạn đã có gần đủ bài tiểu luận cuối kỳ.
(Chiếu sơ đồ lộ trình: B1 đề tài → B2–3 tài liệu → B4–5 AI hỗ trợ, chọn hướng → B6 đề cương nghiên cứu → B7–9 phương pháp, mẫu, thang đo → B10–12 bảng hỏi, thu dữ liệu → B13 phân tích → tiểu luận.)
Lịch thu dữ liệu: nhóm phát hành bảng hỏi sau Buổi 11 và phải thu xong trước Buổi 13.
GHI CHÚ CHO GIẢNG VIÊN
Nhấn hai mốc dễ trễ: nộp giữa kỳ trước Buổi 11; thu dữ liệu xong trước Buổi 13.
Mốc bài tập nhóm: M1 sau B1 · M2 sau B3 · M3 sau B5 · M4 sau B6.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Đánh giá:
- Chuyên cần 10%: tham dự và tham gia trên lớp.
- Bài tập nhóm (4 mốc) 20%: M1 sau Buổi 1 (2,5%) · M2 sau Buổi 3 (5%) · M3 sau Buổi 5 (5%) · M4 sau Buổi 6 (7,5%).
- Giữa kỳ 20%: nộp trên LMS trước Buổi 11 — Chương 1–3 (định lượng) hoặc 1–2 (định tính) + bản nháp bảng hỏi.
- Cuối kỳ 50%: tiểu luận nhóm hoàn chỉnh (Buổi 14–15 là buổi thi).
Nhóm định lượng nào phân tích sâu hơn yêu cầu — ví dụ kiểm định độ tin cậy thang đo, phân tích nhân tố, hồi quy — sẽ được điểm cộng.
(Hỏi: "Có câu hỏi nào về cách đánh giá không?" — chờ 10 giây. Câu hỏi về hạn nộp cụ thể: trả lời theo lịch trên LMS [NEEDS PROFESSOR INPUT: ngày cụ thể và quy định nộp trễ].)
GHI CHÚ CHO GIẢNG VIÊN
Nêu trọng số từng mốc M1–M4 (2,5 / 5 / 5 / 7,5%). Hỏi "có câu hỏi về đánh giá không?", chờ 10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Hai quy ước dùng suốt học phần:
- Dùng AI: được phép, với hai điều kiện — khai báo đã dùng công cụ nào, để làm gì (nộp kèm nhật ký sử dụng AI), và tự kiểm chứng mọi thông tin, mọi trích dẫn AI đưa ra. AI bịa tài liệu tham khảo là chuyện xảy ra thường xuyên; trích một tài liệu không tồn tại là lỗi của người nộp bài, không phải lỗi của AI. Buổi 4–5 chúng ta sẽ học cách dùng AI cho nghiên cứu một cách bài bản.
- Trích dẫn: theo APA 7. Tên tác giả Việt ghi họ trước, viết tắt tên đệm và tên: Lê, Q. H. (2017) trong danh mục, (Lê, 2017) trong bài. Buổi 2–3 sẽ học kỹ.
(Hỏi: "Có câu hỏi nào về cách đánh giá không?" — chờ 10 giây.)
Chuyển ý: Bây giờ vào nội dung. Câu hỏi đầu tiên tưởng đơn giản: nghiên cứu marketing thực ra là gì?
GHI CHÚ CHO GIẢNG VIÊN
"AI bịa tài liệu tham khảo — trích tài liệu không tồn tại là lỗi của người nộp." Buổi 2–3 học APA, Buổi 4–5 học dùng AI cho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Nhiều bạn nghe "nghiên cứu marketing" sẽ nghĩ ngay đến... một cái bảng hỏi trên Google Forms gửi vào group Facebook. Khảo sát chỉ là một công cụ. Hiểu đúng định nghĩa giúp các bạn thấy nghiên cứu marketing rộng hơn nhiều, và giúp các bạn biết khi nào một "cuộc khảo sát" không phải là nghiên cứu.
GHI CHÚ CHO GIẢNG VIÊN
Hỏi 2 bạn trả lời nhanh. Thường sẽ nghe "khảo sát". Dùng câu đó để mở định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Hiệp hội Marketing Hoa Kỳ (American Marketing Association – AMA) định nghĩa nghiên cứu marketing là chức năng kết nối người tiêu dùng, khách hàng và công chúng với nhà marketing thông qua thông tin — thông tin được dùng để nhận diện và xác định cơ hội và vấn đề marketing; tạo ra, hoàn thiện và đánh giá các hoạt động marketing; theo dõi kết quả marketing; và hiểu rõ hơn marketing như một quá trình.
[VERIFY: câu chữ định nghĩa AMA và năm phê duyệt (thường được dẫn là 2004, tái xác nhận 2017) — đối chiếu trên ama.org trước khi dùng slide này]
GHI CHÚ CHO GIẢNG VIÊN
Không cần nhớ nguyên văn. Ý chính: thông tin để nhận diện vấn đề/cơ hội, đánh giá hoạt động, theo dõi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Định nghĩa của AMA khá dài. Để dễ nhớ, chúng ta dùng một cách diễn đạt ngắn gọn hơn:
Nghiên cứu marketing là việc thu thập và phân tích thông tin một cách có hệ thống và có mục tiêu để xác định và cung cấp giải pháp cho các vấn đề liên quan đến marketing.
(Lưu ý: slide gốc UEF ghi câu này là của AMA — không đúng; đây là cách diễn giải, không gán tác giả.)
Tách câu này ra thành bốn thành tố, mỗi thành tố loại bỏ một kiểu "nghiên cứu giả":
1. Có hệ thống — làm theo một quy trình chuẩn, không ngẫu hứng. Hỏi vài người bạn rồi kết luận không phải nghiên cứu.
2. Có mục tiêu — khách quan, biết rõ mình cần trả lời câu hỏi gì. Làm khảo sát để chứng minh ý tưởng của sếp là đúng không phải nghiên cứu.
3. Thu thập và phân tích — biến dữ liệu thô thành thông tin dùng được. Có một file Excel 500 dòng mà không ai đọc chưa phải nghiên cứu.
4. Giải quyết vấn đề — mục đích cuối cùng là hỗ trợ ra quyết định quản trị.
Các video bài giảng nước ngoài nhấn mạnh thêm một ý: nghiên cứu marketing giúp nhà quản trị giảm sự không chắc chắn — ra quyết định dựa trên bằng chứng chứ không dựa trên giả định hay ý kiến cá nhân.
GHI CHÚ CHO GIẢNG VIÊN
Mỗi thành tố, nêu một ví dụ "nghiên cứu giả" (hỏi vài người bạn · khảo sát để chứng minh ý sếp · file Excel không ai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Nghiên cứu marketing phục vụ một trong hai mục đích, và hai mục đích này có thể chuyển hóa cho nhau:
- Giải quyết vấn đề — ví dụ doanh số sụt giảm, cần biết vì sao.
- Khai thác cơ hội — ví dụ nhu cầu sản phẩm tiện lợi tăng theo một xu hướng xã hội, có nên tham gia không.
Phạm vi thường gặp — các bạn sẽ thấy nó trùng gần như khớp với 4P đã học: nghiên cứu thị trường (quy mô, cơ cấu, thị phần), hành vi người tiêu dùng (thái độ, thói quen, nhân khẩu học), sản phẩm (ý tưởng mới, bao bì, định vị), giá (chi phí, độ nhạy cảm về giá, giá đối thủ), phân phối (kênh, điểm bán), xúc tiến (thông điệp, kênh truyền thông, hiệu quả quảng cáo).
(Hỏi nhanh: "Một nghiên cứu xem khách hàng chấp nhận trả tối đa bao nhiêu cho một ly trà sữa thuộc phạm vi nào?" → giá.)
GHI CHÚ CHO GIẢNG VIÊN
Hỏi nhanh: "Khách chịu trả tối đa bao nhiêu cho một ly trà sữa — thuộc phạm vi nào?" →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Nghiên cứu marketing không phải một phương pháp duy nhất. Chúng ta phân loại theo ba tiêu chí, mỗi tiêu chí trả lời một câu hỏi khác nhau. Một nghiên cứu cụ thể luôn có một "vị trí" trên cả ba tiêu chí.
(Ghi chú cho giảng viên: đề cương ghi 1.2.1 và 1.2.2 cùng tên "Phân loại theo mục tiêu nghiên cứu"; bài giảng dùng ba tiêu chí theo slide UEF.)
GHI CHÚ CHO GIẢNG VIÊN
"Ba câu hỏi khác nhau, một nghiên cứu trả lời cả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Tiêu chí 1 — Theo mục tiêu cốt lõi: hàn lâm hay ứng dụng?
- Nghiên cứu hàn lâm (cơ bản): mở rộng hiểu biết lý thuyết, kiểm định mô hình, đóng góp cho khoa học marketing nói chung. Ví dụ: "Mô hình tác động của quảng cáo truyền hình đến lòng tin thương hiệu."
- Nghiên cứu ứng dụng: giải quyết một vấn đề kinh doanh cụ thể của một doanh nghiệp cụ thể. Ví dụ: "Tối ưu ngân sách quảng cáo mạng xã hội cho công ty mỹ phẩm X."
Dự án của các bạn trong môn này sẽ là nghiên cứu ứng dụng — gắn với một quyết định marketing thật.
GHI CHÚ CHO GIẢNG VIÊN
Nhấn câu cuối: dự án môn này =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Tiêu chí 2 — Theo mục tiêu thiết kế: khám phá, mô tả, tương quan hay nhân quả?
Đây là tiêu chí quan trọng nhất của buổi hôm nay. Bốn loại trả lời bốn kiểu câu hỏi khác nhau:
- Khám phá (exploratory): "Chuyện gì đang xảy ra?" — dùng khi vấn đề còn mơ hồ, chưa biết mình chưa biết gì.
- Mô tả (descriptive): Ai, cái gì, ở đâu, khi nào, bao nhiêu? — dùng khi đã biết cần đo cái gì, cần con số mô tả thị trường.
- Tương quan (correlational): Hai yếu tố có đi cùng nhau không, mạnh đến đâu? — dùng khi muốn biết mức độ liên hệ giữa các biến.
- Nhân quả (causal): A có gây ra B không? — dùng khi cần chứng minh quan hệ nguyên nhân – kết quả trước khi đầu tư lớn.
Lỗi hiểu thường gặp — "Nghiên cứu khám phá là kém khoa học." Không phải. Nó là bước đi đúng khi vấn đề còn mơ hồ. Lỗi là dùng khám phá (vài cuộc phỏng vấn) rồi kết luận cho cả thị trường.
GHI CHÚ CHO GIẢNG VIÊN
Đây là phần quan trọng nhất của S3 — đi chậm.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Khám phá: một thương hiệu kem thấy doanh số mùa hè giảm đột ngột mà không rõ vì sao. Họ đi trò chuyện với khách hàng và chủ cửa hàng, và phát hiện một đối thủ mới vừa tung ra dòng kem ít đường. Nghiên cứu khám phá không cho câu trả lời cuối cùng — nó giúp hình thành giả thuyết để kiểm tra tiếp.
(Ví dụ minh họa từ video bài giảng; không phải số liệu thực tế đã kiểm chứng.)
GHI CHÚ CHO GIẢNG VIÊN
Ví dụ minh họa từ video bài giảng. Nhấn: khám phá tạo giả thuyết.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Mô tả: một ứng dụng giao đồ ăn muốn tăng đơn cuối tuần. Khảo sát cho thấy phần lớn người đặt cuối tuần ở độ tuổi 18–30 và sinh viên ở thành phố lớn hay đặt muộn. Họ tung chương trình ưu đãi đêm khuya cho sinh viên. Nghiên cứu mô tả trả lời "cái gì" — không giải thích được "vì sao".
(Ví dụ minh họa từ video bài giảng; các con số chỉ là ví dụ của người giảng, không phải số liệu đã kiểm chứng.)
GHI CHÚ CHO GIẢNG VIÊN
Ví dụ minh họa từ video; không đưa con số cụ thể vì không có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Nhân quả: một shop thời trang trực tuyến cho hai nhóm khách ngẫu nhiên xem hai kiểu ảnh sản phẩm — áo treo trên móc và người mẫu mặc — rồi so tỷ lệ mua. Vì hai nhóm được chia ngẫu nhiên và chỉ khác nhau ở ảnh, khác biệt về tỷ lệ mua có thể quy cho ảnh. Đó là thử nghiệm (thường gọi là A/B testing) — cách chuẩn để kết luận nhân quả.
GHI CHÚ CHO GIẢNG VIÊN
Hai điều kiện: chia ngẫu nhiên + chỉ đổi một yếu tố.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Lỗi hiểu thường gặp — "Thấy hai thứ cùng tăng là kết luận được cái này gây ra cái kia."
Tháng nào chi nhiều cho quảng cáo thì doanh thu cũng cao — chưa chắc quảng cáo gây ra doanh thu: có thể cả hai cùng tăng vì mùa lễ Tết. Nghiên cứu tương quan chỉ cho biết hai yếu tố đi cùng nhau; muốn nói nhân quả phải có thử nghiệm kiểm soát được các yếu tố khác.
GHI CHÚ CHO GIẢNG VIÊN
Lỗi hiểu thường gặp. Hỏi lớp: "Còn yếu tố nào khác có thể làm cả hai cùng tăng?"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Tiêu chí 3 — Theo tính chất dữ liệu: định tính hay định lượng?
- Mục đích: định tính = khám phá sâu, hiểu động cơ, xây dựng lý thuyết (quy nạp); định lượng = đo lường, kiểm định giả thuyết (suy diễn).
- Dữ liệu: định tính = lời nói, văn bản, hình ảnh, âm thanh; định lượng = con số, tỷ lệ, thống kê.
- Cỡ mẫu: định tính = nhỏ, không đại diện; định lượng = lớn, hướng tới đại diện.
- Phương pháp: định tính = phỏng vấn sâu, thảo luận nhóm, netnography; định lượng = khảo sát, thử nghiệm.
Xu hướng hiện nay là kết hợp cả hai (mixed methods): định tính trước để hiểu vấn đề và xây dựng câu hỏi, định lượng sau để đo lường trên mẫu lớn.
Đến Buổi 5, mỗi nhóm sẽ chọn đi theo hướng định tính (3 chương) hay định lượng (5 chương). Hôm nay chỉ cần hiểu sự khác nhau.
Chuyển ý: Lý thuyết đủ rồi — thử dùng ngay.
GHI CHÚ CHO GIẢNG VIÊN
"Buổi 5 nhóm chọn hướng. Hôm nay chỉ cần thấy khác nhau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(Xem phiếu W1_activity_phan_loai_nhanh.md — kịch bản, 6 tình huống và đáp án.)
Kịch bản mở đầu: "Bây giờ mình thử dùng ngay ba tiêu chí vừa học. Tôi sẽ đọc 6 tình huống. Mỗi tình huống, các bạn có 30 giây bàn với bạn bên cạnh, rồi khi tôi đếm 3–2–1 thì giơ tay: 1 ngón là khám phá, 2 ngón là mô tả, 3 ngón là tương quan, 4 ngón là nhân quả. Cả lớp giơ cùng lúc, không nhìn bạn khác. Bắt đầu nhé."
Mốc thời gian: phút 40 đọc kịch bản, chiếu tình huống 1 · phút 41–46: 6 tình huống, mỗi tình huống đọc → 30" thảo luận → 3–2–1 giơ tay → nói đáp án trong 1 câu · phút 46–48: chữa kỹ 2 tình huống lớp chia rẽ nhiều nhất.
GHI CHÚ CHO GIẢNG VIÊN
Theo kịch bản trong W1_activity_phan_loai_nhanh.md. Đếm 3–2–1, cả lớp giơ cùng lúc.
Nếu ít bạn giơ tay: nhắc "sai cũng không sao — đây là luyện tập", giảng viên giơ tay làm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Đọc tình huống → 30" thảo luận theo cặp → đếm 3–2–1 giơ tay → nhìn lớp, nói đáp án trong 1 câu.
ĐÁP ÁN: Khám phá · Định tính · Ứng dụng. Dấu hiệu: "không rõ lý do", đi trò chuyện để tìm hiểu.
GHI CHÚ CHO GIẢNG VIÊN
Sau đó có thể hỏi thêm: định tính hay định lượng? hàn lâm hay ứng dụng?
Nếu chạy quá giờ: bỏ tình huống 5; giữ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Đọc tình huống → 30" thảo luận theo cặp → đếm 3–2–1 giơ tay → nhìn lớp, nói đáp án trong 1 câu.
ĐÁP ÁN: Mô tả · Định lượng · Ứng dụng. Dấu hiệu: ai, khi nào, bao nhiêu — mô tả đặc điểm.
GHI CHÚ CHO GIẢNG VIÊN
Sau đó có thể hỏi thêm: định tính hay định lượng? hàn lâm hay ứng dụng?
Nếu chạy quá giờ: bỏ tình huống 5; giữ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Đọc tình huống → 30" thảo luận theo cặp → đếm 3–2–1 giơ tay → nhìn lớp, nói đáp án trong 1 câu.
ĐÁP ÁN: Nhân quả · Định lượng · Ứng dụng. Dấu hiệu: chia ngẫu nhiên, chỉ thay đổi một yếu tố, so sánh kết quả.
GHI CHÚ CHO GIẢNG VIÊN
Sau đó có thể hỏi thêm: định tính hay định lượng? hàn lâm hay ứng dụng?
Nếu chạy quá giờ: bỏ tình huống 5; giữ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Đọc tình huống → 30" thảo luận theo cặp → đếm 3–2–1 giơ tay → nhìn lớp, nói đáp án trong 1 câu.
ĐÁP ÁN: Tương quan · Định lượng · Ứng dụng. Dấu hiệu: "biến động cùng chiều", "mức độ" — không có thử nghiệm.
Tình huống 3 và 4 hay bị nhầm. Nhiều bạn chọn 4 = nhân quả vì nghĩ "quảng cáo thì phải làm tăng doanh thu". Câu chốt: có thể cả hai cùng tăng vì mùa Tết; chỉ khi chia ngẫu nhiên và chỉ đổi một yếu tố như tình huống 3 thì mới nói được nhân quả.
GHI CHÚ CHO GIẢNG VIÊN
Sau đó có thể hỏi thêm: định tính hay định lượng? hàn lâm hay ứng dụng?
Nếu chạy quá giờ: bỏ tình huống 5; giữ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Đọc tình huống → 30" thảo luận theo cặp → đếm 3–2–1 giơ tay → nhìn lớp, nói đáp án trong 1 câu.
ĐÁP ÁN: Tương quan (kiểm định mô hình) · Định lượng · Hàn lâm. Dấu hiệu: đóng góp cho lý thuyết, không gắn với một doanh nghiệp.
Có thể gây tranh luận (tương quan hay nhân quả). Chấp nhận "tương quan" và nói: điểm chính của tình huống này là hàn lâm — hỏi lớp để nhấn tiêu chí 1.
GHI CHÚ CHO GIẢNG VIÊN
Sau đó có thể hỏi thêm: định tính hay định lượng? hàn lâm hay ứng dụng?
Nếu chạy quá giờ: bỏ tình huống 5; giữ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Đọc tình huống → 30" thảo luận theo cặp → đếm 3–2–1 giơ tay → nhìn lớp, nói đáp án trong 1 câu.
ĐÁP ÁN: Khám phá · Định tính · Ứng dụng. Dấu hiệu: phỏng vấn sâu, cỡ mẫu nhỏ, "hiểu vì sao".
Một số bạn chọn "mô tả" vì "mô tả lý do". Câu chốt: 12 người, hỏi sâu "vì sao" → khám phá, định tính; không dùng để nói "bao nhiêu phần trăm khách hàng".
GHI CHÚ CHO GIẢNG VIÊN
Sau đó có thể hỏi thêm: định tính hay định lượng? hàn lâm hay ứng dụng?
Nếu chạy quá giờ: bỏ tình huống 5; giữ 3 và 4 vì là cặp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Đáp án và dấu hiệu nhận biết:
1. Khám phá · Định tính · Ứng dụng — "không rõ lý do", đi trò chuyện để tìm hiểu.
2. Mô tả · Định lượng · Ứng dụng — ai, khi nào, bao nhiêu: mô tả đặc điểm.
3. Nhân quả · Định lượng · Ứng dụng — chia ngẫu nhiên, chỉ thay đổi một yếu tố, so sánh kết quả.
4. Tương quan · Định lượng · Ứng dụng — "biến động cùng chiều", "mức độ": không có thử nghiệm.
5. Tương quan (kiểm định mô hình) · Định lượng · Hàn lâm — đóng góp cho lý thuyết, không gắn với một doanh nghiệp.
6. Khám phá · Định tính · Ứng dụng — phỏng vấn sâu, cỡ mẫu nhỏ, "hiểu vì sao".
Thảo luận chung: Vì sao tình huống 3 cho phép nói "ảnh người mẫu làm tăng tỷ lệ mua", còn tình huống 4 thì không?
GHI CHÚ CHO GIẢNG VIÊN
Hiện sau khi lớp đã trả lời. Chữa kỹ 2 tình huống lớp chia rẽ nhiều nhất, chắc chắn có tình huống 3 và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(Giải lao 48–63'.)
GHI CHÚ CHO GIẢNG VIÊN
Điền giờ quay lại trên slide trước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Mọi nghiên cứu marketing tiêu chuẩn đều đi qua một tiến trình tuần tự. Slide bài giảng và các video đều dùng 6 bước, dù tên gọi hơi khác nhau:
1. Xác định vấn đề nghiên cứu
2. Xác định mục tiêu nghiên cứu
3. Xây dựng mô hình nghiên cứu
4. Thu thập dữ liệu
5. Chuẩn bị và phân tích dữ liệu
6. Trình bày kết quả
(Ghi chú: một số video gộp bước 2–3 thành "lập kế hoạch nghiên cứu" và thêm bước cuối "ra quyết định / hành động". Có thể nói thêm: sau bước 6 là quyết định của nhà quản trị — nằm ngoài nghiên cứu nhưng là lý do nghiên cứu tồn tại.)
Thay vì đọc định nghĩa từng bước, chúng ta đi qua một ví dụ từ đầu đến cuối: chuỗi trà sữa gần trường đại học (giả định).
GHI CHÚ CHO GIẢNG VIÊN
"Thay vì định nghĩa từng bước, mình đi qua một ví dụ." [BOARD: vẽ 6 ô trống lên bảng, điền dần theo ví dụ trà sữa]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Ví dụ xuyên suốt (giả định): chuỗi trà sữa gần trường đại học.
Bước 1 — Xác định vấn đề. Giám đốc một chuỗi trà sữa thấy doanh số ở các cửa hàng gần trường đại học giảm rõ rệt so với cùng kỳ năm trước. Câu hỏi của giám đốc là: "Có nên giảm giá không?" — đó là vấn đề quản trị (cần làm gì). Nhà nghiên cứu phải chuyển nó thành vấn đề nghiên cứu (cần biết gì): "Những yếu tố nào khiến sinh viên mua ít hơn?"
(Hỏi: "Còn những nguyên nhân nào có thể khiến doanh số giảm?" — để lớp đưa ra 4–5 khả năng: giá, chất lượng, đối thủ, kỳ nghỉ, dịch vụ giao hàng… Nhấn mạnh: chưa nghiên cứu thì chưa biết cái nào đúng.)
GHI CHÚ CHO GIẢNG VIÊN
Hỏi lớp đưa ra 4–5 nguyên nhân có thể. Nhấn: chưa nghiên cứu thì chưa biết cái nào đúng. Ghi rõ đây là tình huống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Để chuyển vấn đề quản trị thành vấn đề nghiên cứu, nhà nghiên cứu thảo luận với người ra quyết định, hỏi ý kiến người trong ngành, xem dữ liệu bán hàng có sẵn, và có thể phỏng vấn thử vài khách hàng.
Đây là bước quan trọng nhất: xác định sai vấn đề thì mọi bước sau đều đi sai hướng. Nếu giám đốc cứ thế giảm giá mà lý do thật là một đối thủ mới mở ngay cổng trường với không gian ngồi học miễn phí — giảm giá chỉ làm mất lợi nhuận.
GHI CHÚ CHO GIẢNG VIÊN
Nếu lý do thật là đối thủ mới mở cạnh cổng trường, giảm giá chỉ mất lợi nhuận.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Bước 2 — Mục tiêu nghiên cứu. Trả lời câu hỏi "nghiên cứu này cần biết những gì?" Ví dụ: (1) xác định các lý do sinh viên giảm mua; (2) so sánh đánh giá của sinh viên về chuỗi với đối thủ chính; (3) đề xuất giải pháp.
Bước 3 — Mô hình nghiên cứu. Phác thảo các yếu tố có thể ảnh hưởng: biến phụ thuộc là tần suất mua của sinh viên; biến độc lập có thể là giá, chất lượng đồ uống, khuyến mãi, không gian, sự tiện lợi khi đặt hàng. Mô hình cho biết mình sẽ đo cái gì.
GHI CHÚ CHO GIẢNG VIÊN
"Biến độc lập / phụ thuộc sẽ học kỹ ở Buổi 6 và 9 — hôm nay chỉ cần thấy hình dạng."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Bước 4 — Thu thập dữ liệu. Có thể kết hợp: dữ liệu bán hàng nội bộ (thứ cấp), phỏng vấn sâu khoảng 10 sinh viên (định tính), rồi khảo sát khoảng 200 sinh viên (định lượng). Yêu cầu: công cụ thiết kế cẩn thận, người đi thu thập được hướng dẫn kỹ để tránh sai lệch.
Bước 5 — Chuẩn bị và phân tích. Kiểm tra và hiệu chỉnh phiếu (loại phiếu thiếu, mâu thuẫn), mã hóa câu trả lời thành số, nhập và làm sạch, rồi phân tích — ví dụ so sánh mức độ hài lòng của sinh viên giữa chuỗi và đối thủ.
Bước 6 — Trình bày kết quả. Một báo cáo khách quan, dễ hiểu cho nhà quản trị, có bảng biểu và đề xuất hành động. Giám đốc không đọc dữ liệu thô — họ cần câu trả lời cho câu hỏi ban đầu.
GHI CHÚ CHO GIẢNG VIÊN
"Giám đốc không đọc dữ liệu thô." Bỏ chữ "hồi quy" trên slide UEF #12 — vượt phạm vi học phần (chỉ là điểm cộng).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Ba lỗi kinh điển (từ các video bài giảng):
1. Hỏi sai đối tượng — muốn biết sở thích thời trang của giới trẻ mà đi hỏi người trên 40 tuổi; bán điện thoại giá rẻ mà hỏi người giàu (tình huống mở đầu buổi học).
2. Không thiết kế trước — in 1.000 phiếu khảo sát rồi mới phát hiện câu hỏi sai: mất tiền, mất thời gian, phải làm lại.
3. Quyết định theo cảm tính — dùng giả định hoặc ý kiến cá nhân thay cho dữ liệu.
Lỗi hiểu thường gặp — "Mẫu càng lớn thì kết quả càng đúng." Hỏi 5.000 người giàu về điện thoại giá rẻ vẫn sai. Đúng đối tượng quan trọng hơn đông đối tượng. Buổi 8 sẽ học kỹ về chọn mẫu.
Chuyển ý: Một nghiên cứu như ví dụ trà sữa là một dự án — có bắt đầu, có kết thúc. Nhưng doanh nghiệp cần thông tin mỗi ngày. Vậy nghiên cứu marketing nằm ở đâu trong dòng thông tin đó?
GHI CHÚ CHO GIẢNG VIÊN
Nối lại tình huống mở đầu. Ví dụ từ video: hỏi người trên 40 tuổi về thời trang giới trẻ.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Hệ thống thông tin marketing (MIS) là hệ thống tích hợp con người, thiết bị và quy trình để thu thập, phân tích và phân phối thông tin chính xác, kịp thời, hỗ trợ nhà quản lý ra quyết định. Gồm bốn bộ phận:
1. Hệ thống báo cáo nội bộ — nhìn vào trong: đơn hàng, doanh số, tồn kho, kế toán. Sẵn có, chi phí thấp; dùng để đánh giá kết quả đã qua.
2. Hệ thống tình báo marketing — nhìn ra ngoài: theo dõi liên tục đối thủ, xu hướng, môi trường, qua báo chí, nhân viên bán hàng, nhà phân phối, người mua bí mật (mystery shopper), dữ liệu mua ngoài. Ví dụ từ video: các ứng dụng giao đồ ăn theo dõi chương trình khuyến mãi của nhau trước khi tung ưu đãi của mình.
3. Hệ thống hỗ trợ ra quyết định (MDSS) — cơ sở dữ liệu, mô hình phân tích, giao diện và kho tri thức giúp nhà quản lý ra quyết định nhanh dựa trên bằng chứng — ví dụ mô hình dự báo doanh số.
4. Hệ thống nghiên cứu marketing — giải quyết các bài toán cụ thể, tại một thời điểm, mà ba bộ phận kia không trả lời được.
Cách phân biệt dễ nhớ nhất: tình báo marketing là một dòng chảy thông tin liên tục; nghiên cứu marketing là trả lời một câu hỏi cụ thể. Báo cáo nội bộ cho giám đốc trà sữa biết doanh số giảm; chỉ nghiên cứu marketing mới trả lời được vì sao.
GHI CHÚ CHO GIẢNG VIÊN
"Báo cáo nội bộ cho biết doanh số giảm; chỉ nghiên cứu cho biết vì sao." MDSS chỉ nêu 1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Người thực hiện (the doers):
- Nhân sự nội bộ (phòng marketing, bán hàng): hiểu doanh nghiệp, chi phí thấp, bảo mật — nhưng thiếu chuyên môn sâu, dễ chủ quan.
- Công ty nghiên cứu chuyên nghiệp (ví dụ Nielsen, Kantar, Ipsos, GfK): chuyên môn cao, công nghệ, dữ liệu quy mô lớn, khách quan — nhưng chi phí cao.
- Cơ quan nhà nước, tổ chức phi chính phủ (ví dụ cơ quan thống kê quốc gia): dữ liệu vĩ mô (dân số, lao động), tin cậy, thường miễn phí — nhưng không theo nhu cầu riêng của doanh nghiệp.
[VERIFY: slide UEF ghi "Tổng cục Thống kê" — từ 2025 đã tổ chức lại thành Cục Thống kê thuộc Bộ Tài chính; GfK nay thuộc NielsenIQ — kiểm tra tên gọi hiện hành trước khi nhắc tên]
Người sử dụng (the users):
- Nhà quản lý nội bộ — dùng nghiên cứu để định hướng chiến lược và ra quyết định. Họ cần hiểu nghiên cứu ở mức cơ bản để đặt đúng câu hỏi và phối hợp với người thực hiện.
- Bên mua thông tin — doanh nghiệp, cá nhân bên ngoài mua báo cáo có sẵn hoặc đặt hàng riêng. Họ đánh giá báo cáo theo: uy tín, phù hợp mục tiêu, cập nhật, độ tin cậy về phương pháp, tốc độ, chi phí hợp lý.
Một câu để kết phần lý thuyết hôm nay: các bạn — sau này dù làm ở công ty nghiên cứu hay ở phòng marketing — đều sẽ hoặc làm, hoặc dùng nghiên cứu. Người dùng giỏi là người biết nghiên cứu nào đáng tin.
GHI CHÚ CHO GIẢNG VIÊN
Nếu trễ giờ, chỉ dùng slide này 2 phút (theo phương án dự phòng).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(Chiếu 3 câu, chỉ định phát biểu — mỗi câu 1 bạn, gọi ngẫu nhiên theo danh sách.)
1. Trong 6 bước, bước nào quan trọng nhất? Vì sao?
   Mong đợi: bước 1 — xác định sai vấn đề thì cả nghiên cứu đi sai hướng.
2. Nghiên cứu marketing khác tình báo marketing ở điểm nào?
   Mong đợi: nghiên cứu = trả lời câu hỏi cụ thể, tại một thời điểm, dạng dự án; tình báo = theo dõi liên tục môi trường bên ngoài.
3. Một doanh nghiệp nhỏ có nên tự làm nghiên cứu hay thuê công ty chuyên nghiệp?
   Mong đợi: tùy — tự làm thì rẻ, hiểu doanh nghiệp nhưng dễ chủ quan; thuê thì chuyên nghiệp, khách quan nhưng tốn kém. Câu trả lời tốt nêu được cả hai mặt.
(Nếu câu 1 hoặc 2 nhiều bạn trả lời sai: dành 1 phút nhắc lại, ghi vào ghi chú sau buổi để ôn ở đầu Buổi 2.)
GHI CHÚ CHO GIẢNG VIÊN
Chỉ định phát biểu, mỗi câu 1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(Xem phiếu W1_activity_xuong_de_tai.md — kịch bản, bốn chặng, phiếu nhóm, cách phản hồi.)
Kịch bản mở đầu: "45 phút tới là thời gian của nhóm. Ai chưa có nhóm thì có 3 phút để tìm nhóm 2–3 người — ai còn lẻ thì giơ tay, tôi ghép. Mỗi nhóm làm 4 chặng trên phiếu: chọn lĩnh vực, viết 3 câu hỏi quyết định, chọn 1 câu để biến thành vấn đề nghiên cứu, rồi một số nhóm trình bày 1 phút. Lưu ý quan trọng nhất: chọn lĩnh vực mà các bạn hỏi được người thật, vì cuối kỳ các bạn phải thu dữ liệu. Tôi sẽ đi từng nhóm. Bắt đầu."
Ví dụ tốt: "Có nên mở thêm cửa hàng gần ký túc xá?" → "Xác định tần suất mua, mức chi và yếu tố lựa chọn cửa hàng trà sữa của sinh viên ở ký túc xá X" → ứng dụng · mô tả · định lượng · sinh viên ký túc xá, tiếp cận được.
Lỗi điển hình cần nêu khi chia sẻ: (1) viết chủ đề thay vì quyết định; (2) vấn đề nghiên cứu là một giải pháp ("Đề xuất chiến lược TikTok…"); (3) chọn nhân quả nhưng không thể làm thử nghiệm.
Câu chốt: "Một vấn đề nghiên cứu tốt trả lời được câu hỏi: giám đốc sẽ dùng kết quả này để quyết định điều gì?"
GHI CHÚ CHO GIẢNG VIÊN
Kịch bản trong W1_activity_xuong_de_tai.md. Để slide này trên màn hình suốt 45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(Phát phiếu ra về — giấy nhỏ hoặc trang cuối phiếu hoạt động.)
Trước khi về, mỗi bạn viết ra hai dòng:
1. Một điều hôm nay mình đã hiểu rõ.
2. Một điều mình vẫn còn mơ hồ.
Không ghi tên cũng được. (Thu lại; đọc trước Buổi 2 và mở đầu Buổi 2 bằng 2–3 "điều còn mơ hồ" nhiều nhất.)
GHI CHÚ CHO GIẢNG VIÊN
Thu phiếu; đọc trước Buổi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GIẢNG
Bài tập về nhà — M1: Phiếu đăng ký đề tài sơ bộ (nhóm, 2,5%). Hoàn thiện phiếu nhóm đã làm trên lớp, nộp trên LMS trước Buổi 2. Đề bài và tiêu chí chấm: W1_M1_phieu_dang_ky_de_tai.md.
Nối sang buổi sau: "Tuần sau, mỗi nhóm sẽ đi tìm tài liệu học thuật cho chính đề tài vừa đăng ký — và học cách phân biệt một nguồn đáng tin với một bài viết trên mạng. Mang theo máy tính."
[NEEDS PROFESSOR INPUT: ngày hạn nộp M1 và quy định nộp trễ — điền lên slide.]
GHI CHÚ CHO GIẢNG VIÊN
Câu nối: "Tuần sau mỗi nhóm đi tìm tài liệu cho chính đề tài vừa đăng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7863840" cy="201168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4160520"/>
            <a:ext cx="7863840" cy="1463040"/>
          </a:xfrm>
          <a:prstGeom prst="rect">
            <a:avLst/>
          </a:prstGeom>
          <a:noFill/>
          <a:ln/>
        </p:spPr>
        <p:txBody>
          <a:bodyPr wrap="square" rtlCol="0"/>
          <a:lstStyle>
            <a:lvl1pPr algn="l" indent="0" marL="0">
              <a:buNone/>
              <a:defRPr lang="en-US" sz="2800" dirty="0">
                <a:solidFill>
                  <a:schemeClr val="tx2"/>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3.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3.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3.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3.xml"/><Relationship Id="rId4"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7863840" cy="2011680"/>
          </a:xfrm>
          <a:prstGeom prst="rect">
            <a:avLst/>
          </a:prstGeom>
          <a:noFill/>
          <a:ln/>
        </p:spPr>
        <p:txBody>
          <a:bodyPr wrap="square" lIns="0" tIns="0" rIns="0" bIns="0" rtlCol="0" anchor="b"/>
          <a:lstStyle/>
          <a:p>
            <a:pPr algn="l" indent="0" marL="0">
              <a:buNone/>
            </a:pPr>
            <a:r>
              <a:rPr lang="en-US" sz="4800" b="1" dirty="0">
                <a:solidFill>
                  <a:schemeClr val="tx1"/>
                </a:solidFill>
              </a:rPr>
              <a:t>Bài 1: Tổng quan về nghiên cứu Marketing</a:t>
            </a:r>
            <a:endParaRPr lang="en-US" sz="4800" dirty="0"/>
          </a:p>
        </p:txBody>
      </p:sp>
      <p:sp>
        <p:nvSpPr>
          <p:cNvPr id="3" name="Text 0"/>
          <p:cNvSpPr/>
          <p:nvPr>
            <p:ph idx="101" type="body" hasCustomPrompt="1"/>
          </p:nvPr>
        </p:nvSpPr>
        <p:spPr>
          <a:xfrm>
            <a:off x="548640" y="4160520"/>
            <a:ext cx="7863840" cy="1463040"/>
          </a:xfrm>
          <a:prstGeom prst="rect">
            <a:avLst/>
          </a:prstGeom>
          <a:noFill/>
          <a:ln/>
        </p:spPr>
        <p:txBody>
          <a:bodyPr wrap="square" lIns="0" tIns="0" rIns="0" bIns="0" rtlCol="0" anchor="t"/>
          <a:lstStyle/>
          <a:p>
            <a:pPr algn="l" indent="0" marL="0">
              <a:buNone/>
            </a:pPr>
            <a:r>
              <a:rPr lang="en-US" sz="2800" dirty="0">
                <a:solidFill>
                  <a:schemeClr val="tx2"/>
                </a:solidFill>
              </a:rPr>
              <a:t>MKT1107 Nghiên cứu Marketing · Buổi 1</a:t>
            </a:r>
            <a:endParaRPr lang="en-US" sz="2800" dirty="0"/>
          </a:p>
          <a:p>
            <a:pPr algn="l" indent="0" marL="0">
              <a:buNone/>
            </a:pPr>
            <a:r>
              <a:rPr lang="en-US" sz="2800" dirty="0">
                <a:solidFill>
                  <a:schemeClr val="tx2"/>
                </a:solidFill>
              </a:rPr>
              <a:t>Giảng viên: [điền tên giảng viên]</a:t>
            </a:r>
            <a:endParaRPr lang="en-US" sz="2800" dirty="0"/>
          </a:p>
        </p:txBody>
      </p:sp>
      <p:sp>
        <p:nvSpPr>
          <p:cNvPr id="4" name="dot-1"/>
          <p:cNvSpPr/>
          <p:nvPr/>
        </p:nvSpPr>
        <p:spPr>
          <a:xfrm>
            <a:off x="9052560" y="1188720"/>
            <a:ext cx="1371600" cy="1371600"/>
          </a:xfrm>
          <a:prstGeom prst="ellipse">
            <a:avLst/>
          </a:prstGeom>
          <a:solidFill>
            <a:schemeClr val="accent1"/>
          </a:solidFill>
          <a:ln/>
        </p:spPr>
      </p:sp>
      <p:sp>
        <p:nvSpPr>
          <p:cNvPr id="5" name="dot-2"/>
          <p:cNvSpPr/>
          <p:nvPr/>
        </p:nvSpPr>
        <p:spPr>
          <a:xfrm>
            <a:off x="10332720" y="2011680"/>
            <a:ext cx="914400" cy="914400"/>
          </a:xfrm>
          <a:prstGeom prst="ellipse">
            <a:avLst/>
          </a:prstGeom>
          <a:solidFill>
            <a:schemeClr val="accent2"/>
          </a:solidFill>
          <a:ln/>
        </p:spPr>
      </p:sp>
      <p:sp>
        <p:nvSpPr>
          <p:cNvPr id="6" name="dot-3"/>
          <p:cNvSpPr/>
          <p:nvPr/>
        </p:nvSpPr>
        <p:spPr>
          <a:xfrm>
            <a:off x="9326880" y="2834640"/>
            <a:ext cx="1828800" cy="1828800"/>
          </a:xfrm>
          <a:prstGeom prst="ellipse">
            <a:avLst/>
          </a:prstGeom>
          <a:solidFill>
            <a:schemeClr val="accent3"/>
          </a:solidFill>
          <a:ln/>
        </p:spPr>
      </p:sp>
      <p:sp>
        <p:nvSpPr>
          <p:cNvPr id="7" name="dot-4"/>
          <p:cNvSpPr/>
          <p:nvPr/>
        </p:nvSpPr>
        <p:spPr>
          <a:xfrm>
            <a:off x="10972800" y="3291840"/>
            <a:ext cx="640080" cy="640080"/>
          </a:xfrm>
          <a:prstGeom prst="ellipse">
            <a:avLst/>
          </a:prstGeom>
          <a:solidFill>
            <a:schemeClr val="accent4"/>
          </a:solidFill>
          <a:ln/>
        </p:spPr>
      </p:sp>
      <p:sp>
        <p:nvSpPr>
          <p:cNvPr id="8" name="dot-5"/>
          <p:cNvSpPr/>
          <p:nvPr/>
        </p:nvSpPr>
        <p:spPr>
          <a:xfrm>
            <a:off x="8961120" y="4846320"/>
            <a:ext cx="822960" cy="822960"/>
          </a:xfrm>
          <a:prstGeom prst="ellipse">
            <a:avLst/>
          </a:prstGeom>
          <a:solidFill>
            <a:schemeClr val="accent5"/>
          </a:solidFill>
          <a:ln/>
        </p:spPr>
      </p:sp>
      <p:sp>
        <p:nvSpPr>
          <p:cNvPr id="9" name="dot-6"/>
          <p:cNvSpPr/>
          <p:nvPr/>
        </p:nvSpPr>
        <p:spPr>
          <a:xfrm>
            <a:off x="10149840" y="4572000"/>
            <a:ext cx="1188720" cy="1188720"/>
          </a:xfrm>
          <a:prstGeom prst="ellipse">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Hỏi 1.000 khách hàng giàu về điện thoại giá rẻ: kết quả sai ở đâu?</a:t>
            </a:r>
            <a:endParaRPr lang="en-US" sz="3000" dirty="0"/>
          </a:p>
        </p:txBody>
      </p:sp>
      <p:sp>
        <p:nvSpPr>
          <p:cNvPr id="4" name="icon-bg-7"/>
          <p:cNvSpPr/>
          <p:nvPr/>
        </p:nvSpPr>
        <p:spPr>
          <a:xfrm>
            <a:off x="822960" y="2103120"/>
            <a:ext cx="1737360" cy="1737360"/>
          </a:xfrm>
          <a:prstGeom prst="ellipse">
            <a:avLst/>
          </a:prstGeom>
          <a:solidFill>
            <a:schemeClr val="accent2"/>
          </a:solidFill>
          <a:ln/>
        </p:spPr>
      </p:sp>
      <p:pic>
        <p:nvPicPr>
          <p:cNvPr id="5" name="icon-8" descr="FaMobileAlt">    </p:cNvPr>
          <p:cNvPicPr>
            <a:picLocks noChangeAspect="1"/>
          </p:cNvPicPr>
          <p:nvPr/>
        </p:nvPicPr>
        <p:blipFill>
          <a:blip r:embed="rId1"/>
          <a:stretch>
            <a:fillRect/>
          </a:stretch>
        </p:blipFill>
        <p:spPr>
          <a:xfrm>
            <a:off x="1257300" y="2537460"/>
            <a:ext cx="868680" cy="868680"/>
          </a:xfrm>
          <a:prstGeom prst="rect">
            <a:avLst/>
          </a:prstGeom>
        </p:spPr>
      </p:pic>
      <p:sp>
        <p:nvSpPr>
          <p:cNvPr id="6" name="text-9"/>
          <p:cNvSpPr txBox="1"/>
          <p:nvPr/>
        </p:nvSpPr>
        <p:spPr>
          <a:xfrm>
            <a:off x="548640" y="3931920"/>
            <a:ext cx="2286000" cy="457200"/>
          </a:xfrm>
          <a:prstGeom prst="rect">
            <a:avLst/>
          </a:prstGeom>
          <a:noFill/>
          <a:ln/>
        </p:spPr>
        <p:txBody>
          <a:bodyPr wrap="square" lIns="0" tIns="0" rIns="0" bIns="0" rtlCol="0" anchor="t"/>
          <a:lstStyle/>
          <a:p>
            <a:pPr algn="ctr" indent="0" marL="0">
              <a:buNone/>
            </a:pPr>
            <a:r>
              <a:rPr lang="en-US" sz="2400" b="1" dirty="0">
                <a:solidFill>
                  <a:schemeClr val="accent2"/>
                </a:solidFill>
              </a:rPr>
              <a:t>Giá rẻ</a:t>
            </a:r>
            <a:endParaRPr lang="en-US" sz="2400" dirty="0"/>
          </a:p>
        </p:txBody>
      </p:sp>
      <p:sp>
        <p:nvSpPr>
          <p:cNvPr id="7" name="text-10"/>
          <p:cNvSpPr txBox="1"/>
          <p:nvPr/>
        </p:nvSpPr>
        <p:spPr>
          <a:xfrm>
            <a:off x="2651760" y="2606040"/>
            <a:ext cx="822960" cy="731520"/>
          </a:xfrm>
          <a:prstGeom prst="rect">
            <a:avLst/>
          </a:prstGeom>
          <a:noFill/>
          <a:ln/>
        </p:spPr>
        <p:txBody>
          <a:bodyPr wrap="square" lIns="0" tIns="0" rIns="0" bIns="0" rtlCol="0" anchor="ctr"/>
          <a:lstStyle/>
          <a:p>
            <a:pPr algn="ctr" indent="0" marL="0">
              <a:buNone/>
            </a:pPr>
            <a:r>
              <a:rPr lang="en-US" sz="3200" b="1" dirty="0">
                <a:solidFill>
                  <a:schemeClr val="tx2"/>
                </a:solidFill>
              </a:rPr>
              <a:t>vs</a:t>
            </a:r>
            <a:endParaRPr lang="en-US" sz="3200" dirty="0"/>
          </a:p>
        </p:txBody>
      </p:sp>
      <p:sp>
        <p:nvSpPr>
          <p:cNvPr id="8" name="icon-bg-11"/>
          <p:cNvSpPr/>
          <p:nvPr/>
        </p:nvSpPr>
        <p:spPr>
          <a:xfrm>
            <a:off x="3474720" y="2103120"/>
            <a:ext cx="1737360" cy="1737360"/>
          </a:xfrm>
          <a:prstGeom prst="ellipse">
            <a:avLst/>
          </a:prstGeom>
          <a:solidFill>
            <a:schemeClr val="accent3"/>
          </a:solidFill>
          <a:ln/>
        </p:spPr>
      </p:sp>
      <p:pic>
        <p:nvPicPr>
          <p:cNvPr id="9" name="icon-12" descr="FaUserTie">    </p:cNvPr>
          <p:cNvPicPr>
            <a:picLocks noChangeAspect="1"/>
          </p:cNvPicPr>
          <p:nvPr/>
        </p:nvPicPr>
        <p:blipFill>
          <a:blip r:embed="rId2"/>
          <a:stretch>
            <a:fillRect/>
          </a:stretch>
        </p:blipFill>
        <p:spPr>
          <a:xfrm>
            <a:off x="3909060" y="2537460"/>
            <a:ext cx="868680" cy="868680"/>
          </a:xfrm>
          <a:prstGeom prst="rect">
            <a:avLst/>
          </a:prstGeom>
        </p:spPr>
      </p:pic>
      <p:sp>
        <p:nvSpPr>
          <p:cNvPr id="10" name="text-13"/>
          <p:cNvSpPr txBox="1"/>
          <p:nvPr/>
        </p:nvSpPr>
        <p:spPr>
          <a:xfrm>
            <a:off x="3200400" y="3931920"/>
            <a:ext cx="2286000" cy="457200"/>
          </a:xfrm>
          <a:prstGeom prst="rect">
            <a:avLst/>
          </a:prstGeom>
          <a:noFill/>
          <a:ln/>
        </p:spPr>
        <p:txBody>
          <a:bodyPr wrap="square" lIns="0" tIns="0" rIns="0" bIns="0" rtlCol="0" anchor="t"/>
          <a:lstStyle/>
          <a:p>
            <a:pPr algn="ctr" indent="0" marL="0">
              <a:buNone/>
            </a:pPr>
            <a:r>
              <a:rPr lang="en-US" sz="2400" b="1" dirty="0">
                <a:solidFill>
                  <a:schemeClr val="accent3"/>
                </a:solidFill>
              </a:rPr>
              <a:t>Khách giàu</a:t>
            </a:r>
            <a:endParaRPr lang="en-US" sz="2400" dirty="0"/>
          </a:p>
        </p:txBody>
      </p:sp>
      <p:sp>
        <p:nvSpPr>
          <p:cNvPr id="11" name="dot-14"/>
          <p:cNvSpPr/>
          <p:nvPr/>
        </p:nvSpPr>
        <p:spPr>
          <a:xfrm>
            <a:off x="5943600" y="1783080"/>
            <a:ext cx="640080" cy="640080"/>
          </a:xfrm>
          <a:prstGeom prst="ellipse">
            <a:avLst/>
          </a:prstGeom>
          <a:solidFill>
            <a:schemeClr val="accent5"/>
          </a:solidFill>
          <a:ln/>
        </p:spPr>
      </p:sp>
      <p:sp>
        <p:nvSpPr>
          <p:cNvPr id="12" name="text-15"/>
          <p:cNvSpPr txBox="1"/>
          <p:nvPr/>
        </p:nvSpPr>
        <p:spPr>
          <a:xfrm>
            <a:off x="5943600" y="17830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3" name="text-16"/>
          <p:cNvSpPr txBox="1"/>
          <p:nvPr/>
        </p:nvSpPr>
        <p:spPr>
          <a:xfrm>
            <a:off x="6766560" y="1783080"/>
            <a:ext cx="4846320" cy="640080"/>
          </a:xfrm>
          <a:prstGeom prst="rect">
            <a:avLst/>
          </a:prstGeom>
          <a:noFill/>
          <a:ln/>
        </p:spPr>
        <p:txBody>
          <a:bodyPr wrap="square" lIns="0" tIns="0" rIns="0" bIns="0" rtlCol="0" anchor="ctr"/>
          <a:lstStyle/>
          <a:p>
            <a:pPr indent="0" marL="0">
              <a:buNone/>
            </a:pPr>
            <a:r>
              <a:rPr lang="en-US" sz="2600" dirty="0">
                <a:solidFill>
                  <a:schemeClr val="tx1"/>
                </a:solidFill>
              </a:rPr>
              <a:t>Hãng điện thoại sắp bán dòng giá rẻ</a:t>
            </a:r>
            <a:endParaRPr lang="en-US" sz="2600" dirty="0"/>
          </a:p>
        </p:txBody>
      </p:sp>
      <p:sp>
        <p:nvSpPr>
          <p:cNvPr id="14" name="dot-17"/>
          <p:cNvSpPr/>
          <p:nvPr/>
        </p:nvSpPr>
        <p:spPr>
          <a:xfrm>
            <a:off x="5943600" y="2743200"/>
            <a:ext cx="640080" cy="640080"/>
          </a:xfrm>
          <a:prstGeom prst="ellipse">
            <a:avLst/>
          </a:prstGeom>
          <a:solidFill>
            <a:schemeClr val="accent4"/>
          </a:solidFill>
          <a:ln/>
        </p:spPr>
      </p:sp>
      <p:sp>
        <p:nvSpPr>
          <p:cNvPr id="15" name="text-18"/>
          <p:cNvSpPr txBox="1"/>
          <p:nvPr/>
        </p:nvSpPr>
        <p:spPr>
          <a:xfrm>
            <a:off x="5943600" y="274320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6" name="text-19"/>
          <p:cNvSpPr txBox="1"/>
          <p:nvPr/>
        </p:nvSpPr>
        <p:spPr>
          <a:xfrm>
            <a:off x="6766560" y="2743200"/>
            <a:ext cx="4846320" cy="640080"/>
          </a:xfrm>
          <a:prstGeom prst="rect">
            <a:avLst/>
          </a:prstGeom>
          <a:noFill/>
          <a:ln/>
        </p:spPr>
        <p:txBody>
          <a:bodyPr wrap="square" lIns="0" tIns="0" rIns="0" bIns="0" rtlCol="0" anchor="ctr"/>
          <a:lstStyle/>
          <a:p>
            <a:pPr indent="0" marL="0">
              <a:buNone/>
            </a:pPr>
            <a:r>
              <a:rPr lang="en-US" sz="2600" dirty="0">
                <a:solidFill>
                  <a:schemeClr val="tx1"/>
                </a:solidFill>
              </a:rPr>
              <a:t>Khảo sát khách ở showroom cao cấp</a:t>
            </a:r>
            <a:endParaRPr lang="en-US" sz="2600" dirty="0"/>
          </a:p>
        </p:txBody>
      </p:sp>
      <p:sp>
        <p:nvSpPr>
          <p:cNvPr id="17" name="dot-20"/>
          <p:cNvSpPr/>
          <p:nvPr/>
        </p:nvSpPr>
        <p:spPr>
          <a:xfrm>
            <a:off x="5943600" y="3703320"/>
            <a:ext cx="640080" cy="640080"/>
          </a:xfrm>
          <a:prstGeom prst="ellipse">
            <a:avLst/>
          </a:prstGeom>
          <a:solidFill>
            <a:schemeClr val="accent6"/>
          </a:solidFill>
          <a:ln/>
        </p:spPr>
      </p:sp>
      <p:sp>
        <p:nvSpPr>
          <p:cNvPr id="18" name="text-21"/>
          <p:cNvSpPr txBox="1"/>
          <p:nvPr/>
        </p:nvSpPr>
        <p:spPr>
          <a:xfrm>
            <a:off x="5943600" y="3703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9" name="text-22"/>
          <p:cNvSpPr txBox="1"/>
          <p:nvPr/>
        </p:nvSpPr>
        <p:spPr>
          <a:xfrm>
            <a:off x="6766560" y="3703320"/>
            <a:ext cx="4846320" cy="640080"/>
          </a:xfrm>
          <a:prstGeom prst="rect">
            <a:avLst/>
          </a:prstGeom>
          <a:noFill/>
          <a:ln/>
        </p:spPr>
        <p:txBody>
          <a:bodyPr wrap="square" lIns="0" tIns="0" rIns="0" bIns="0" rtlCol="0" anchor="ctr"/>
          <a:lstStyle/>
          <a:p>
            <a:pPr indent="0" marL="0">
              <a:buNone/>
            </a:pPr>
            <a:r>
              <a:rPr lang="en-US" sz="2600" dirty="0">
                <a:solidFill>
                  <a:schemeClr val="tx1"/>
                </a:solidFill>
              </a:rPr>
              <a:t>Kết quả: “giá không quan trọng”</a:t>
            </a:r>
            <a:endParaRPr lang="en-US" sz="2600" dirty="0"/>
          </a:p>
        </p:txBody>
      </p:sp>
      <p:sp>
        <p:nvSpPr>
          <p:cNvPr id="20" name="card-23"/>
          <p:cNvSpPr/>
          <p:nvPr/>
        </p:nvSpPr>
        <p:spPr>
          <a:xfrm>
            <a:off x="5943600" y="4800600"/>
            <a:ext cx="5669280" cy="1143000"/>
          </a:xfrm>
          <a:prstGeom prst="roundRect">
            <a:avLst>
              <a:gd name="adj" fmla="val 12000"/>
            </a:avLst>
          </a:prstGeom>
          <a:solidFill>
            <a:schemeClr val="accent2"/>
          </a:solidFill>
          <a:ln/>
        </p:spPr>
      </p:sp>
      <p:sp>
        <p:nvSpPr>
          <p:cNvPr id="21" name="text-24"/>
          <p:cNvSpPr txBox="1"/>
          <p:nvPr/>
        </p:nvSpPr>
        <p:spPr>
          <a:xfrm>
            <a:off x="6217920" y="4800600"/>
            <a:ext cx="5212080" cy="1143000"/>
          </a:xfrm>
          <a:prstGeom prst="rect">
            <a:avLst/>
          </a:prstGeom>
          <a:noFill/>
          <a:ln/>
        </p:spPr>
        <p:txBody>
          <a:bodyPr wrap="square" lIns="0" tIns="0" rIns="0" bIns="0" rtlCol="0" anchor="ctr"/>
          <a:lstStyle/>
          <a:p>
            <a:pPr indent="0" marL="0">
              <a:buNone/>
            </a:pPr>
            <a:r>
              <a:rPr lang="en-US" sz="3000" b="1" dirty="0">
                <a:solidFill>
                  <a:schemeClr val="bg1"/>
                </a:solidFill>
              </a:rPr>
              <a:t>Sai ở đâu? Hậu quả là gì?</a:t>
            </a: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Mọi nghiên cứu bắt đầu bằng ba câu hỏi: vì sao hỏi, hỏi thế nào, hỏi ai</a:t>
            </a:r>
            <a:endParaRPr lang="en-US" sz="3000" dirty="0"/>
          </a:p>
        </p:txBody>
      </p:sp>
      <p:sp>
        <p:nvSpPr>
          <p:cNvPr id="4" name="card-25"/>
          <p:cNvSpPr/>
          <p:nvPr/>
        </p:nvSpPr>
        <p:spPr>
          <a:xfrm>
            <a:off x="548640" y="1828800"/>
            <a:ext cx="3474720" cy="2834640"/>
          </a:xfrm>
          <a:prstGeom prst="roundRect">
            <a:avLst>
              <a:gd name="adj" fmla="val 4839"/>
            </a:avLst>
          </a:prstGeom>
          <a:solidFill>
            <a:schemeClr val="bg2"/>
          </a:solidFill>
          <a:ln/>
        </p:spPr>
      </p:sp>
      <p:sp>
        <p:nvSpPr>
          <p:cNvPr id="5" name="icon-bg-26"/>
          <p:cNvSpPr/>
          <p:nvPr/>
        </p:nvSpPr>
        <p:spPr>
          <a:xfrm>
            <a:off x="1737360" y="2103120"/>
            <a:ext cx="1097280" cy="1097280"/>
          </a:xfrm>
          <a:prstGeom prst="ellipse">
            <a:avLst/>
          </a:prstGeom>
          <a:solidFill>
            <a:schemeClr val="accent1"/>
          </a:solidFill>
          <a:ln/>
        </p:spPr>
      </p:sp>
      <p:pic>
        <p:nvPicPr>
          <p:cNvPr id="6" name="icon-27" descr="FaBullseye">    </p:cNvPr>
          <p:cNvPicPr>
            <a:picLocks noChangeAspect="1"/>
          </p:cNvPicPr>
          <p:nvPr/>
        </p:nvPicPr>
        <p:blipFill>
          <a:blip r:embed="rId1"/>
          <a:stretch>
            <a:fillRect/>
          </a:stretch>
        </p:blipFill>
        <p:spPr>
          <a:xfrm>
            <a:off x="2011680" y="2377440"/>
            <a:ext cx="548640" cy="548640"/>
          </a:xfrm>
          <a:prstGeom prst="rect">
            <a:avLst/>
          </a:prstGeom>
        </p:spPr>
      </p:pic>
      <p:sp>
        <p:nvSpPr>
          <p:cNvPr id="7" name="text-28"/>
          <p:cNvSpPr txBox="1"/>
          <p:nvPr/>
        </p:nvSpPr>
        <p:spPr>
          <a:xfrm>
            <a:off x="548640" y="3429000"/>
            <a:ext cx="3474720" cy="822960"/>
          </a:xfrm>
          <a:prstGeom prst="rect">
            <a:avLst/>
          </a:prstGeom>
          <a:noFill/>
          <a:ln/>
        </p:spPr>
        <p:txBody>
          <a:bodyPr wrap="square" lIns="0" tIns="0" rIns="0" bIns="0" rtlCol="0" anchor="ctr"/>
          <a:lstStyle/>
          <a:p>
            <a:pPr algn="ctr" indent="0" marL="0">
              <a:buNone/>
            </a:pPr>
            <a:r>
              <a:rPr lang="en-US" sz="3200" b="1" dirty="0">
                <a:solidFill>
                  <a:schemeClr val="tx1"/>
                </a:solidFill>
              </a:rPr>
              <a:t>Vì sao hỏi?</a:t>
            </a:r>
            <a:endParaRPr lang="en-US" sz="3200" dirty="0"/>
          </a:p>
        </p:txBody>
      </p:sp>
      <p:sp>
        <p:nvSpPr>
          <p:cNvPr id="8" name="card-29"/>
          <p:cNvSpPr/>
          <p:nvPr/>
        </p:nvSpPr>
        <p:spPr>
          <a:xfrm>
            <a:off x="4343400" y="1828800"/>
            <a:ext cx="3474720" cy="2834640"/>
          </a:xfrm>
          <a:prstGeom prst="roundRect">
            <a:avLst>
              <a:gd name="adj" fmla="val 4839"/>
            </a:avLst>
          </a:prstGeom>
          <a:solidFill>
            <a:schemeClr val="bg2"/>
          </a:solidFill>
          <a:ln/>
        </p:spPr>
      </p:sp>
      <p:sp>
        <p:nvSpPr>
          <p:cNvPr id="9" name="icon-bg-30"/>
          <p:cNvSpPr/>
          <p:nvPr/>
        </p:nvSpPr>
        <p:spPr>
          <a:xfrm>
            <a:off x="5532120" y="2103120"/>
            <a:ext cx="1097280" cy="1097280"/>
          </a:xfrm>
          <a:prstGeom prst="ellipse">
            <a:avLst/>
          </a:prstGeom>
          <a:solidFill>
            <a:schemeClr val="accent5"/>
          </a:solidFill>
          <a:ln/>
        </p:spPr>
      </p:sp>
      <p:pic>
        <p:nvPicPr>
          <p:cNvPr id="10" name="icon-31" descr="FaRoute">    </p:cNvPr>
          <p:cNvPicPr>
            <a:picLocks noChangeAspect="1"/>
          </p:cNvPicPr>
          <p:nvPr/>
        </p:nvPicPr>
        <p:blipFill>
          <a:blip r:embed="rId2"/>
          <a:stretch>
            <a:fillRect/>
          </a:stretch>
        </p:blipFill>
        <p:spPr>
          <a:xfrm>
            <a:off x="5806440" y="2377440"/>
            <a:ext cx="548640" cy="548640"/>
          </a:xfrm>
          <a:prstGeom prst="rect">
            <a:avLst/>
          </a:prstGeom>
        </p:spPr>
      </p:pic>
      <p:sp>
        <p:nvSpPr>
          <p:cNvPr id="11" name="text-32"/>
          <p:cNvSpPr txBox="1"/>
          <p:nvPr/>
        </p:nvSpPr>
        <p:spPr>
          <a:xfrm>
            <a:off x="4343400" y="3429000"/>
            <a:ext cx="3474720" cy="822960"/>
          </a:xfrm>
          <a:prstGeom prst="rect">
            <a:avLst/>
          </a:prstGeom>
          <a:noFill/>
          <a:ln/>
        </p:spPr>
        <p:txBody>
          <a:bodyPr wrap="square" lIns="0" tIns="0" rIns="0" bIns="0" rtlCol="0" anchor="ctr"/>
          <a:lstStyle/>
          <a:p>
            <a:pPr algn="ctr" indent="0" marL="0">
              <a:buNone/>
            </a:pPr>
            <a:r>
              <a:rPr lang="en-US" sz="3200" b="1" dirty="0">
                <a:solidFill>
                  <a:schemeClr val="tx1"/>
                </a:solidFill>
              </a:rPr>
              <a:t>Hỏi thế nào?</a:t>
            </a:r>
            <a:endParaRPr lang="en-US" sz="3200" dirty="0"/>
          </a:p>
        </p:txBody>
      </p:sp>
      <p:sp>
        <p:nvSpPr>
          <p:cNvPr id="12" name="card-33"/>
          <p:cNvSpPr/>
          <p:nvPr/>
        </p:nvSpPr>
        <p:spPr>
          <a:xfrm>
            <a:off x="8138160" y="1828800"/>
            <a:ext cx="3474720" cy="2834640"/>
          </a:xfrm>
          <a:prstGeom prst="roundRect">
            <a:avLst>
              <a:gd name="adj" fmla="val 4839"/>
            </a:avLst>
          </a:prstGeom>
          <a:solidFill>
            <a:schemeClr val="accent3"/>
          </a:solidFill>
          <a:ln/>
        </p:spPr>
      </p:sp>
      <p:sp>
        <p:nvSpPr>
          <p:cNvPr id="13" name="icon-bg-34"/>
          <p:cNvSpPr/>
          <p:nvPr/>
        </p:nvSpPr>
        <p:spPr>
          <a:xfrm>
            <a:off x="9326880" y="2103120"/>
            <a:ext cx="1097280" cy="1097280"/>
          </a:xfrm>
          <a:prstGeom prst="ellipse">
            <a:avLst/>
          </a:prstGeom>
          <a:solidFill>
            <a:schemeClr val="accent4"/>
          </a:solidFill>
          <a:ln/>
        </p:spPr>
      </p:sp>
      <p:pic>
        <p:nvPicPr>
          <p:cNvPr id="14" name="icon-35" descr="FaUsers">    </p:cNvPr>
          <p:cNvPicPr>
            <a:picLocks noChangeAspect="1"/>
          </p:cNvPicPr>
          <p:nvPr/>
        </p:nvPicPr>
        <p:blipFill>
          <a:blip r:embed="rId3"/>
          <a:stretch>
            <a:fillRect/>
          </a:stretch>
        </p:blipFill>
        <p:spPr>
          <a:xfrm>
            <a:off x="9601200" y="2377440"/>
            <a:ext cx="548640" cy="548640"/>
          </a:xfrm>
          <a:prstGeom prst="rect">
            <a:avLst/>
          </a:prstGeom>
        </p:spPr>
      </p:pic>
      <p:sp>
        <p:nvSpPr>
          <p:cNvPr id="15" name="text-36"/>
          <p:cNvSpPr txBox="1"/>
          <p:nvPr/>
        </p:nvSpPr>
        <p:spPr>
          <a:xfrm>
            <a:off x="8138160" y="3429000"/>
            <a:ext cx="3474720" cy="822960"/>
          </a:xfrm>
          <a:prstGeom prst="rect">
            <a:avLst/>
          </a:prstGeom>
          <a:noFill/>
          <a:ln/>
        </p:spPr>
        <p:txBody>
          <a:bodyPr wrap="square" lIns="0" tIns="0" rIns="0" bIns="0" rtlCol="0" anchor="ctr"/>
          <a:lstStyle/>
          <a:p>
            <a:pPr algn="ctr" indent="0" marL="0">
              <a:buNone/>
            </a:pPr>
            <a:r>
              <a:rPr lang="en-US" sz="3200" b="1" dirty="0">
                <a:solidFill>
                  <a:schemeClr val="bg1"/>
                </a:solidFill>
              </a:rPr>
              <a:t>Hỏi ai?</a:t>
            </a:r>
            <a:endParaRPr lang="en-US" sz="3200" dirty="0"/>
          </a:p>
        </p:txBody>
      </p:sp>
      <p:sp>
        <p:nvSpPr>
          <p:cNvPr id="16" name="text-37"/>
          <p:cNvSpPr txBox="1"/>
          <p:nvPr/>
        </p:nvSpPr>
        <p:spPr>
          <a:xfrm>
            <a:off x="7223760" y="4800600"/>
            <a:ext cx="4416552" cy="457200"/>
          </a:xfrm>
          <a:prstGeom prst="rect">
            <a:avLst/>
          </a:prstGeom>
          <a:noFill/>
          <a:ln/>
        </p:spPr>
        <p:txBody>
          <a:bodyPr wrap="square" lIns="0" tIns="0" rIns="0" bIns="0" rtlCol="0" anchor="t"/>
          <a:lstStyle/>
          <a:p>
            <a:pPr algn="ctr" indent="0" marL="0">
              <a:buNone/>
            </a:pPr>
            <a:r>
              <a:rPr lang="en-US" sz="2400" i="1" dirty="0">
                <a:solidFill>
                  <a:schemeClr val="accent3"/>
                </a:solidFill>
              </a:rPr>
              <a:t>↑ sai ở đây</a:t>
            </a:r>
            <a:endParaRPr lang="en-US" sz="2400" dirty="0"/>
          </a:p>
        </p:txBody>
      </p:sp>
      <p:sp>
        <p:nvSpPr>
          <p:cNvPr id="17" name="text-38"/>
          <p:cNvSpPr txBox="1"/>
          <p:nvPr/>
        </p:nvSpPr>
        <p:spPr>
          <a:xfrm>
            <a:off x="548640" y="5577840"/>
            <a:ext cx="11094415" cy="548640"/>
          </a:xfrm>
          <a:prstGeom prst="rect">
            <a:avLst/>
          </a:prstGeom>
          <a:noFill/>
          <a:ln/>
        </p:spPr>
        <p:txBody>
          <a:bodyPr wrap="square" lIns="0" tIns="0" rIns="0" bIns="0" rtlCol="0" anchor="t"/>
          <a:lstStyle/>
          <a:p>
            <a:pPr indent="0" marL="0">
              <a:buNone/>
            </a:pPr>
            <a:r>
              <a:rPr lang="en-US" sz="2800" b="1" dirty="0">
                <a:solidFill>
                  <a:schemeClr val="accent2"/>
                </a:solidFill>
              </a:rPr>
              <a:t>Cả học phần là học trả lời ba câu này cho đúng.</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Marketing căn bản dạy cách ra quyết định; môn này dạy cách có thông tin để quyết định</a:t>
            </a:r>
            <a:endParaRPr lang="en-US" sz="3000" dirty="0"/>
          </a:p>
        </p:txBody>
      </p:sp>
      <p:sp>
        <p:nvSpPr>
          <p:cNvPr id="4" name="card-39"/>
          <p:cNvSpPr/>
          <p:nvPr/>
        </p:nvSpPr>
        <p:spPr>
          <a:xfrm>
            <a:off x="548640" y="1828800"/>
            <a:ext cx="4846320" cy="3840480"/>
          </a:xfrm>
          <a:prstGeom prst="roundRect">
            <a:avLst>
              <a:gd name="adj" fmla="val 3571"/>
            </a:avLst>
          </a:prstGeom>
          <a:solidFill>
            <a:schemeClr val="bg2"/>
          </a:solidFill>
          <a:ln/>
        </p:spPr>
      </p:sp>
      <p:sp>
        <p:nvSpPr>
          <p:cNvPr id="5" name="text-40"/>
          <p:cNvSpPr txBox="1"/>
          <p:nvPr/>
        </p:nvSpPr>
        <p:spPr>
          <a:xfrm>
            <a:off x="868680" y="2057400"/>
            <a:ext cx="4206240" cy="548640"/>
          </a:xfrm>
          <a:prstGeom prst="rect">
            <a:avLst/>
          </a:prstGeom>
          <a:noFill/>
          <a:ln/>
        </p:spPr>
        <p:txBody>
          <a:bodyPr wrap="square" lIns="0" tIns="0" rIns="0" bIns="0" rtlCol="0" anchor="t"/>
          <a:lstStyle/>
          <a:p>
            <a:pPr indent="0" marL="0">
              <a:buNone/>
            </a:pPr>
            <a:r>
              <a:rPr lang="en-US" sz="2400" b="1" dirty="0">
                <a:solidFill>
                  <a:schemeClr val="tx2"/>
                </a:solidFill>
              </a:rPr>
              <a:t>Đã học: Marketing căn bản</a:t>
            </a:r>
            <a:endParaRPr lang="en-US" sz="2400" dirty="0"/>
          </a:p>
        </p:txBody>
      </p:sp>
      <p:sp>
        <p:nvSpPr>
          <p:cNvPr id="6" name="card-41"/>
          <p:cNvSpPr/>
          <p:nvPr/>
        </p:nvSpPr>
        <p:spPr>
          <a:xfrm>
            <a:off x="868680" y="2834640"/>
            <a:ext cx="1965960" cy="1005840"/>
          </a:xfrm>
          <a:prstGeom prst="roundRect">
            <a:avLst>
              <a:gd name="adj" fmla="val 13636"/>
            </a:avLst>
          </a:prstGeom>
          <a:solidFill>
            <a:schemeClr val="accent1"/>
          </a:solidFill>
          <a:ln/>
        </p:spPr>
      </p:sp>
      <p:sp>
        <p:nvSpPr>
          <p:cNvPr id="7" name="text-42"/>
          <p:cNvSpPr txBox="1"/>
          <p:nvPr/>
        </p:nvSpPr>
        <p:spPr>
          <a:xfrm>
            <a:off x="868680" y="283464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Sản phẩm</a:t>
            </a:r>
            <a:endParaRPr lang="en-US" sz="2400" dirty="0"/>
          </a:p>
        </p:txBody>
      </p:sp>
      <p:sp>
        <p:nvSpPr>
          <p:cNvPr id="8" name="card-43"/>
          <p:cNvSpPr/>
          <p:nvPr/>
        </p:nvSpPr>
        <p:spPr>
          <a:xfrm>
            <a:off x="3017520" y="2834640"/>
            <a:ext cx="1965960" cy="1005840"/>
          </a:xfrm>
          <a:prstGeom prst="roundRect">
            <a:avLst>
              <a:gd name="adj" fmla="val 13636"/>
            </a:avLst>
          </a:prstGeom>
          <a:solidFill>
            <a:schemeClr val="accent2"/>
          </a:solidFill>
          <a:ln/>
        </p:spPr>
      </p:sp>
      <p:sp>
        <p:nvSpPr>
          <p:cNvPr id="9" name="text-44"/>
          <p:cNvSpPr txBox="1"/>
          <p:nvPr/>
        </p:nvSpPr>
        <p:spPr>
          <a:xfrm>
            <a:off x="3017520" y="283464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Giá</a:t>
            </a:r>
            <a:endParaRPr lang="en-US" sz="2400" dirty="0"/>
          </a:p>
        </p:txBody>
      </p:sp>
      <p:sp>
        <p:nvSpPr>
          <p:cNvPr id="10" name="card-45"/>
          <p:cNvSpPr/>
          <p:nvPr/>
        </p:nvSpPr>
        <p:spPr>
          <a:xfrm>
            <a:off x="868680" y="4069080"/>
            <a:ext cx="1965960" cy="1005840"/>
          </a:xfrm>
          <a:prstGeom prst="roundRect">
            <a:avLst>
              <a:gd name="adj" fmla="val 13636"/>
            </a:avLst>
          </a:prstGeom>
          <a:solidFill>
            <a:schemeClr val="accent5"/>
          </a:solidFill>
          <a:ln/>
        </p:spPr>
      </p:sp>
      <p:sp>
        <p:nvSpPr>
          <p:cNvPr id="11" name="text-46"/>
          <p:cNvSpPr txBox="1"/>
          <p:nvPr/>
        </p:nvSpPr>
        <p:spPr>
          <a:xfrm>
            <a:off x="868680" y="406908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Phân phối</a:t>
            </a:r>
            <a:endParaRPr lang="en-US" sz="2400" dirty="0"/>
          </a:p>
        </p:txBody>
      </p:sp>
      <p:sp>
        <p:nvSpPr>
          <p:cNvPr id="12" name="card-47"/>
          <p:cNvSpPr/>
          <p:nvPr/>
        </p:nvSpPr>
        <p:spPr>
          <a:xfrm>
            <a:off x="3017520" y="4069080"/>
            <a:ext cx="1965960" cy="1005840"/>
          </a:xfrm>
          <a:prstGeom prst="roundRect">
            <a:avLst>
              <a:gd name="adj" fmla="val 13636"/>
            </a:avLst>
          </a:prstGeom>
          <a:solidFill>
            <a:schemeClr val="accent6"/>
          </a:solidFill>
          <a:ln/>
        </p:spPr>
      </p:sp>
      <p:sp>
        <p:nvSpPr>
          <p:cNvPr id="13" name="text-48"/>
          <p:cNvSpPr txBox="1"/>
          <p:nvPr/>
        </p:nvSpPr>
        <p:spPr>
          <a:xfrm>
            <a:off x="3017520" y="406908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Xúc tiến</a:t>
            </a:r>
            <a:endParaRPr lang="en-US" sz="2400" dirty="0"/>
          </a:p>
        </p:txBody>
      </p:sp>
      <p:sp>
        <p:nvSpPr>
          <p:cNvPr id="14" name="arrow-49"/>
          <p:cNvSpPr/>
          <p:nvPr/>
        </p:nvSpPr>
        <p:spPr>
          <a:xfrm>
            <a:off x="5623560" y="3337560"/>
            <a:ext cx="914400" cy="822960"/>
          </a:xfrm>
          <a:prstGeom prst="rightArrow">
            <a:avLst/>
          </a:prstGeom>
          <a:solidFill>
            <a:schemeClr val="accent2"/>
          </a:solidFill>
          <a:ln/>
        </p:spPr>
      </p:sp>
      <p:sp>
        <p:nvSpPr>
          <p:cNvPr id="15" name="card-50"/>
          <p:cNvSpPr/>
          <p:nvPr/>
        </p:nvSpPr>
        <p:spPr>
          <a:xfrm>
            <a:off x="6766560" y="1828800"/>
            <a:ext cx="4873752" cy="3840480"/>
          </a:xfrm>
          <a:prstGeom prst="roundRect">
            <a:avLst>
              <a:gd name="adj" fmla="val 3571"/>
            </a:avLst>
          </a:prstGeom>
          <a:solidFill>
            <a:schemeClr val="accent2"/>
          </a:solidFill>
          <a:ln/>
        </p:spPr>
      </p:sp>
      <p:sp>
        <p:nvSpPr>
          <p:cNvPr id="16" name="text-51"/>
          <p:cNvSpPr txBox="1"/>
          <p:nvPr/>
        </p:nvSpPr>
        <p:spPr>
          <a:xfrm>
            <a:off x="7086600" y="2057400"/>
            <a:ext cx="4297680" cy="548640"/>
          </a:xfrm>
          <a:prstGeom prst="rect">
            <a:avLst/>
          </a:prstGeom>
          <a:noFill/>
          <a:ln/>
        </p:spPr>
        <p:txBody>
          <a:bodyPr wrap="square" lIns="0" tIns="0" rIns="0" bIns="0" rtlCol="0" anchor="t"/>
          <a:lstStyle/>
          <a:p>
            <a:pPr indent="0" marL="0">
              <a:buNone/>
            </a:pPr>
            <a:r>
              <a:rPr lang="en-US" sz="2400" b="1" dirty="0">
                <a:solidFill>
                  <a:schemeClr val="bg1"/>
                </a:solidFill>
              </a:rPr>
              <a:t>Môn này</a:t>
            </a:r>
            <a:endParaRPr lang="en-US" sz="2400" dirty="0"/>
          </a:p>
        </p:txBody>
      </p:sp>
      <p:sp>
        <p:nvSpPr>
          <p:cNvPr id="17" name="text-52"/>
          <p:cNvSpPr txBox="1"/>
          <p:nvPr/>
        </p:nvSpPr>
        <p:spPr>
          <a:xfrm>
            <a:off x="7086600" y="2834640"/>
            <a:ext cx="4297680" cy="2560320"/>
          </a:xfrm>
          <a:prstGeom prst="rect">
            <a:avLst/>
          </a:prstGeom>
          <a:noFill/>
          <a:ln/>
        </p:spPr>
        <p:txBody>
          <a:bodyPr wrap="square" lIns="0" tIns="0" rIns="0" bIns="0" rtlCol="0" anchor="t"/>
          <a:lstStyle/>
          <a:p>
            <a:pPr indent="0" marL="0">
              <a:buNone/>
            </a:pPr>
            <a:r>
              <a:rPr lang="en-US" sz="3000" b="1" dirty="0">
                <a:solidFill>
                  <a:schemeClr val="bg1"/>
                </a:solidFill>
              </a:rPr>
              <a:t>Quyết định 4P dựa vào thông tin nào — và làm sao để thông tin đáng tin?</a:t>
            </a: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Hết học phần, bạn tự làm được một nghiên cứu marketing từ đầu đến cuối</a:t>
            </a:r>
            <a:endParaRPr lang="en-US" sz="3000" dirty="0"/>
          </a:p>
        </p:txBody>
      </p:sp>
      <p:sp>
        <p:nvSpPr>
          <p:cNvPr id="4" name="icon-bg-53"/>
          <p:cNvSpPr/>
          <p:nvPr/>
        </p:nvSpPr>
        <p:spPr>
          <a:xfrm>
            <a:off x="548640" y="1783080"/>
            <a:ext cx="868680" cy="868680"/>
          </a:xfrm>
          <a:prstGeom prst="ellipse">
            <a:avLst/>
          </a:prstGeom>
          <a:solidFill>
            <a:schemeClr val="accent1"/>
          </a:solidFill>
          <a:ln/>
        </p:spPr>
      </p:sp>
      <p:pic>
        <p:nvPicPr>
          <p:cNvPr id="5" name="icon-54" descr="FaLightbulb">    </p:cNvPr>
          <p:cNvPicPr>
            <a:picLocks noChangeAspect="1"/>
          </p:cNvPicPr>
          <p:nvPr/>
        </p:nvPicPr>
        <p:blipFill>
          <a:blip r:embed="rId1"/>
          <a:stretch>
            <a:fillRect/>
          </a:stretch>
        </p:blipFill>
        <p:spPr>
          <a:xfrm>
            <a:off x="765810" y="2000250"/>
            <a:ext cx="434340" cy="434340"/>
          </a:xfrm>
          <a:prstGeom prst="rect">
            <a:avLst/>
          </a:prstGeom>
        </p:spPr>
      </p:pic>
      <p:sp>
        <p:nvSpPr>
          <p:cNvPr id="6" name="text-55"/>
          <p:cNvSpPr txBox="1"/>
          <p:nvPr/>
        </p:nvSpPr>
        <p:spPr>
          <a:xfrm>
            <a:off x="1737360" y="1783080"/>
            <a:ext cx="9601200" cy="868680"/>
          </a:xfrm>
          <a:prstGeom prst="rect">
            <a:avLst/>
          </a:prstGeom>
          <a:noFill/>
          <a:ln/>
        </p:spPr>
        <p:txBody>
          <a:bodyPr wrap="square" lIns="0" tIns="0" rIns="0" bIns="0" rtlCol="0" anchor="ctr"/>
          <a:lstStyle/>
          <a:p>
            <a:pPr indent="0" marL="0">
              <a:buNone/>
            </a:pPr>
            <a:r>
              <a:rPr lang="en-US" sz="2800" dirty="0">
                <a:solidFill>
                  <a:schemeClr val="tx1"/>
                </a:solidFill>
              </a:rPr>
              <a:t>Giải thích khái niệm và phương pháp</a:t>
            </a:r>
            <a:endParaRPr lang="en-US" sz="2800" dirty="0"/>
          </a:p>
        </p:txBody>
      </p:sp>
      <p:sp>
        <p:nvSpPr>
          <p:cNvPr id="7" name="icon-bg-56"/>
          <p:cNvSpPr/>
          <p:nvPr/>
        </p:nvSpPr>
        <p:spPr>
          <a:xfrm>
            <a:off x="548640" y="2862072"/>
            <a:ext cx="868680" cy="868680"/>
          </a:xfrm>
          <a:prstGeom prst="ellipse">
            <a:avLst/>
          </a:prstGeom>
          <a:solidFill>
            <a:schemeClr val="accent2"/>
          </a:solidFill>
          <a:ln/>
        </p:spPr>
      </p:sp>
      <p:pic>
        <p:nvPicPr>
          <p:cNvPr id="8" name="icon-57" descr="FaClipboardList">    </p:cNvPr>
          <p:cNvPicPr>
            <a:picLocks noChangeAspect="1"/>
          </p:cNvPicPr>
          <p:nvPr/>
        </p:nvPicPr>
        <p:blipFill>
          <a:blip r:embed="rId2"/>
          <a:stretch>
            <a:fillRect/>
          </a:stretch>
        </p:blipFill>
        <p:spPr>
          <a:xfrm>
            <a:off x="765810" y="3079242"/>
            <a:ext cx="434340" cy="434340"/>
          </a:xfrm>
          <a:prstGeom prst="rect">
            <a:avLst/>
          </a:prstGeom>
        </p:spPr>
      </p:pic>
      <p:sp>
        <p:nvSpPr>
          <p:cNvPr id="9" name="text-58"/>
          <p:cNvSpPr txBox="1"/>
          <p:nvPr/>
        </p:nvSpPr>
        <p:spPr>
          <a:xfrm>
            <a:off x="1737360" y="2862072"/>
            <a:ext cx="9601200" cy="868680"/>
          </a:xfrm>
          <a:prstGeom prst="rect">
            <a:avLst/>
          </a:prstGeom>
          <a:noFill/>
          <a:ln/>
        </p:spPr>
        <p:txBody>
          <a:bodyPr wrap="square" lIns="0" tIns="0" rIns="0" bIns="0" rtlCol="0" anchor="ctr"/>
          <a:lstStyle/>
          <a:p>
            <a:pPr indent="0" marL="0">
              <a:buNone/>
            </a:pPr>
            <a:r>
              <a:rPr lang="en-US" sz="2800" dirty="0">
                <a:solidFill>
                  <a:schemeClr val="tx1"/>
                </a:solidFill>
              </a:rPr>
              <a:t>Lập kế hoạch nghiên cứu</a:t>
            </a:r>
            <a:endParaRPr lang="en-US" sz="2800" dirty="0"/>
          </a:p>
        </p:txBody>
      </p:sp>
      <p:sp>
        <p:nvSpPr>
          <p:cNvPr id="10" name="icon-bg-59"/>
          <p:cNvSpPr/>
          <p:nvPr/>
        </p:nvSpPr>
        <p:spPr>
          <a:xfrm>
            <a:off x="548640" y="3941064"/>
            <a:ext cx="868680" cy="868680"/>
          </a:xfrm>
          <a:prstGeom prst="ellipse">
            <a:avLst/>
          </a:prstGeom>
          <a:solidFill>
            <a:schemeClr val="accent5"/>
          </a:solidFill>
          <a:ln/>
        </p:spPr>
      </p:sp>
      <p:pic>
        <p:nvPicPr>
          <p:cNvPr id="11" name="icon-60" descr="FaRoute">    </p:cNvPr>
          <p:cNvPicPr>
            <a:picLocks noChangeAspect="1"/>
          </p:cNvPicPr>
          <p:nvPr/>
        </p:nvPicPr>
        <p:blipFill>
          <a:blip r:embed="rId3"/>
          <a:stretch>
            <a:fillRect/>
          </a:stretch>
        </p:blipFill>
        <p:spPr>
          <a:xfrm>
            <a:off x="765810" y="4158234"/>
            <a:ext cx="434340" cy="434340"/>
          </a:xfrm>
          <a:prstGeom prst="rect">
            <a:avLst/>
          </a:prstGeom>
        </p:spPr>
      </p:pic>
      <p:sp>
        <p:nvSpPr>
          <p:cNvPr id="12" name="text-61"/>
          <p:cNvSpPr txBox="1"/>
          <p:nvPr/>
        </p:nvSpPr>
        <p:spPr>
          <a:xfrm>
            <a:off x="1737360" y="3941064"/>
            <a:ext cx="9601200" cy="868680"/>
          </a:xfrm>
          <a:prstGeom prst="rect">
            <a:avLst/>
          </a:prstGeom>
          <a:noFill/>
          <a:ln/>
        </p:spPr>
        <p:txBody>
          <a:bodyPr wrap="square" lIns="0" tIns="0" rIns="0" bIns="0" rtlCol="0" anchor="ctr"/>
          <a:lstStyle/>
          <a:p>
            <a:pPr indent="0" marL="0">
              <a:buNone/>
            </a:pPr>
            <a:r>
              <a:rPr lang="en-US" sz="2800" dirty="0">
                <a:solidFill>
                  <a:schemeClr val="tx1"/>
                </a:solidFill>
              </a:rPr>
              <a:t>Thực hiện từng bước của nghiên cứu</a:t>
            </a:r>
            <a:endParaRPr lang="en-US" sz="2800" dirty="0"/>
          </a:p>
        </p:txBody>
      </p:sp>
      <p:sp>
        <p:nvSpPr>
          <p:cNvPr id="13" name="icon-bg-62"/>
          <p:cNvSpPr/>
          <p:nvPr/>
        </p:nvSpPr>
        <p:spPr>
          <a:xfrm>
            <a:off x="548640" y="5020056"/>
            <a:ext cx="868680" cy="868680"/>
          </a:xfrm>
          <a:prstGeom prst="ellipse">
            <a:avLst/>
          </a:prstGeom>
          <a:solidFill>
            <a:schemeClr val="accent6"/>
          </a:solidFill>
          <a:ln/>
        </p:spPr>
      </p:sp>
      <p:pic>
        <p:nvPicPr>
          <p:cNvPr id="14" name="icon-63" descr="FaUserFriends">    </p:cNvPr>
          <p:cNvPicPr>
            <a:picLocks noChangeAspect="1"/>
          </p:cNvPicPr>
          <p:nvPr/>
        </p:nvPicPr>
        <p:blipFill>
          <a:blip r:embed="rId4"/>
          <a:stretch>
            <a:fillRect/>
          </a:stretch>
        </p:blipFill>
        <p:spPr>
          <a:xfrm>
            <a:off x="765810" y="5237226"/>
            <a:ext cx="434340" cy="434340"/>
          </a:xfrm>
          <a:prstGeom prst="rect">
            <a:avLst/>
          </a:prstGeom>
        </p:spPr>
      </p:pic>
      <p:sp>
        <p:nvSpPr>
          <p:cNvPr id="15" name="text-64"/>
          <p:cNvSpPr txBox="1"/>
          <p:nvPr/>
        </p:nvSpPr>
        <p:spPr>
          <a:xfrm>
            <a:off x="1737360" y="5020056"/>
            <a:ext cx="9601200" cy="868680"/>
          </a:xfrm>
          <a:prstGeom prst="rect">
            <a:avLst/>
          </a:prstGeom>
          <a:noFill/>
          <a:ln/>
        </p:spPr>
        <p:txBody>
          <a:bodyPr wrap="square" lIns="0" tIns="0" rIns="0" bIns="0" rtlCol="0" anchor="ctr"/>
          <a:lstStyle/>
          <a:p>
            <a:pPr indent="0" marL="0">
              <a:buNone/>
            </a:pPr>
            <a:r>
              <a:rPr lang="en-US" sz="2800" dirty="0">
                <a:solidFill>
                  <a:schemeClr val="tx1"/>
                </a:solidFill>
              </a:rPr>
              <a:t>Làm việc nhóm, có đạo đức nghiên cứu</a:t>
            </a:r>
            <a:endParaRPr lang="en-US" sz="2800" dirty="0"/>
          </a:p>
        </p:txBody>
      </p:sp>
      <p:sp>
        <p:nvSpPr>
          <p:cNvPr id="16" name="text-65"/>
          <p:cNvSpPr txBox="1"/>
          <p:nvPr/>
        </p:nvSpPr>
        <p:spPr>
          <a:xfrm>
            <a:off x="548640" y="6126480"/>
            <a:ext cx="7315200" cy="457200"/>
          </a:xfrm>
          <a:prstGeom prst="rect">
            <a:avLst/>
          </a:prstGeom>
          <a:noFill/>
          <a:ln/>
        </p:spPr>
        <p:txBody>
          <a:bodyPr wrap="square" lIns="0" tIns="0" rIns="0" bIns="0" rtlCol="0" anchor="t"/>
          <a:lstStyle/>
          <a:p>
            <a:pPr indent="0" marL="0">
              <a:buNone/>
            </a:pPr>
            <a:r>
              <a:rPr lang="en-US" sz="2400" i="1" dirty="0">
                <a:solidFill>
                  <a:schemeClr val="tx2"/>
                </a:solidFill>
              </a:rPr>
              <a:t>Chi tiết: đề cương trên LMS</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Mỗi nhóm 2–3 bạn làm một nghiên cứu thật: 5 chương (định lượng) hoặc 3 chương (định tính)</a:t>
            </a:r>
            <a:endParaRPr lang="en-US" sz="3000" dirty="0"/>
          </a:p>
        </p:txBody>
      </p:sp>
      <p:sp>
        <p:nvSpPr>
          <p:cNvPr id="4" name="card-66"/>
          <p:cNvSpPr/>
          <p:nvPr/>
        </p:nvSpPr>
        <p:spPr>
          <a:xfrm>
            <a:off x="548640" y="1783080"/>
            <a:ext cx="5349240" cy="777240"/>
          </a:xfrm>
          <a:prstGeom prst="roundRect">
            <a:avLst>
              <a:gd name="adj" fmla="val 17647"/>
            </a:avLst>
          </a:prstGeom>
          <a:solidFill>
            <a:schemeClr val="accent5"/>
          </a:solidFill>
          <a:ln/>
        </p:spPr>
      </p:sp>
      <p:sp>
        <p:nvSpPr>
          <p:cNvPr id="5" name="text-67"/>
          <p:cNvSpPr txBox="1"/>
          <p:nvPr/>
        </p:nvSpPr>
        <p:spPr>
          <a:xfrm>
            <a:off x="822960" y="1783080"/>
            <a:ext cx="4846320" cy="777240"/>
          </a:xfrm>
          <a:prstGeom prst="rect">
            <a:avLst/>
          </a:prstGeom>
          <a:noFill/>
          <a:ln/>
        </p:spPr>
        <p:txBody>
          <a:bodyPr wrap="square" lIns="0" tIns="0" rIns="0" bIns="0" rtlCol="0" anchor="ctr"/>
          <a:lstStyle/>
          <a:p>
            <a:pPr indent="0" marL="0">
              <a:buNone/>
            </a:pPr>
            <a:r>
              <a:rPr lang="en-US" sz="2800" b="1" dirty="0">
                <a:solidFill>
                  <a:schemeClr val="bg1"/>
                </a:solidFill>
              </a:rPr>
              <a:t>Định lượng · 5 chương</a:t>
            </a:r>
            <a:endParaRPr lang="en-US" sz="2800" dirty="0"/>
          </a:p>
        </p:txBody>
      </p:sp>
      <p:sp>
        <p:nvSpPr>
          <p:cNvPr id="6" name="dot-68"/>
          <p:cNvSpPr/>
          <p:nvPr/>
        </p:nvSpPr>
        <p:spPr>
          <a:xfrm>
            <a:off x="685800" y="2788920"/>
            <a:ext cx="502920" cy="502920"/>
          </a:xfrm>
          <a:prstGeom prst="ellipse">
            <a:avLst/>
          </a:prstGeom>
          <a:solidFill>
            <a:schemeClr val="accent5"/>
          </a:solidFill>
          <a:ln/>
        </p:spPr>
      </p:sp>
      <p:sp>
        <p:nvSpPr>
          <p:cNvPr id="7" name="text-69"/>
          <p:cNvSpPr txBox="1"/>
          <p:nvPr/>
        </p:nvSpPr>
        <p:spPr>
          <a:xfrm>
            <a:off x="685800" y="27889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70"/>
          <p:cNvSpPr txBox="1"/>
          <p:nvPr/>
        </p:nvSpPr>
        <p:spPr>
          <a:xfrm>
            <a:off x="1417320" y="2743200"/>
            <a:ext cx="4480560" cy="594360"/>
          </a:xfrm>
          <a:prstGeom prst="rect">
            <a:avLst/>
          </a:prstGeom>
          <a:noFill/>
          <a:ln/>
        </p:spPr>
        <p:txBody>
          <a:bodyPr wrap="square" lIns="0" tIns="0" rIns="0" bIns="0" rtlCol="0" anchor="ctr"/>
          <a:lstStyle/>
          <a:p>
            <a:pPr indent="0" marL="0">
              <a:buNone/>
            </a:pPr>
            <a:r>
              <a:rPr lang="en-US" sz="2400" dirty="0">
                <a:solidFill>
                  <a:schemeClr val="tx1"/>
                </a:solidFill>
              </a:rPr>
              <a:t>Giới thiệu</a:t>
            </a:r>
            <a:endParaRPr lang="en-US" sz="2400" dirty="0"/>
          </a:p>
        </p:txBody>
      </p:sp>
      <p:sp>
        <p:nvSpPr>
          <p:cNvPr id="9" name="dot-71"/>
          <p:cNvSpPr/>
          <p:nvPr/>
        </p:nvSpPr>
        <p:spPr>
          <a:xfrm>
            <a:off x="685800" y="3474720"/>
            <a:ext cx="502920" cy="502920"/>
          </a:xfrm>
          <a:prstGeom prst="ellipse">
            <a:avLst/>
          </a:prstGeom>
          <a:solidFill>
            <a:schemeClr val="accent5"/>
          </a:solidFill>
          <a:ln/>
        </p:spPr>
      </p:sp>
      <p:sp>
        <p:nvSpPr>
          <p:cNvPr id="10" name="text-72"/>
          <p:cNvSpPr txBox="1"/>
          <p:nvPr/>
        </p:nvSpPr>
        <p:spPr>
          <a:xfrm>
            <a:off x="685800" y="34747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73"/>
          <p:cNvSpPr txBox="1"/>
          <p:nvPr/>
        </p:nvSpPr>
        <p:spPr>
          <a:xfrm>
            <a:off x="1417320" y="3429000"/>
            <a:ext cx="4480560" cy="594360"/>
          </a:xfrm>
          <a:prstGeom prst="rect">
            <a:avLst/>
          </a:prstGeom>
          <a:noFill/>
          <a:ln/>
        </p:spPr>
        <p:txBody>
          <a:bodyPr wrap="square" lIns="0" tIns="0" rIns="0" bIns="0" rtlCol="0" anchor="ctr"/>
          <a:lstStyle/>
          <a:p>
            <a:pPr indent="0" marL="0">
              <a:buNone/>
            </a:pPr>
            <a:r>
              <a:rPr lang="en-US" sz="2400" dirty="0">
                <a:solidFill>
                  <a:schemeClr val="tx1"/>
                </a:solidFill>
              </a:rPr>
              <a:t>Cơ sở lý thuyết &amp; mô hình</a:t>
            </a:r>
            <a:endParaRPr lang="en-US" sz="2400" dirty="0"/>
          </a:p>
        </p:txBody>
      </p:sp>
      <p:sp>
        <p:nvSpPr>
          <p:cNvPr id="12" name="dot-74"/>
          <p:cNvSpPr/>
          <p:nvPr/>
        </p:nvSpPr>
        <p:spPr>
          <a:xfrm>
            <a:off x="685800" y="4160520"/>
            <a:ext cx="502920" cy="502920"/>
          </a:xfrm>
          <a:prstGeom prst="ellipse">
            <a:avLst/>
          </a:prstGeom>
          <a:solidFill>
            <a:schemeClr val="accent5"/>
          </a:solidFill>
          <a:ln/>
        </p:spPr>
      </p:sp>
      <p:sp>
        <p:nvSpPr>
          <p:cNvPr id="13" name="text-75"/>
          <p:cNvSpPr txBox="1"/>
          <p:nvPr/>
        </p:nvSpPr>
        <p:spPr>
          <a:xfrm>
            <a:off x="685800" y="41605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76"/>
          <p:cNvSpPr txBox="1"/>
          <p:nvPr/>
        </p:nvSpPr>
        <p:spPr>
          <a:xfrm>
            <a:off x="1417320" y="4114800"/>
            <a:ext cx="4480560" cy="594360"/>
          </a:xfrm>
          <a:prstGeom prst="rect">
            <a:avLst/>
          </a:prstGeom>
          <a:noFill/>
          <a:ln/>
        </p:spPr>
        <p:txBody>
          <a:bodyPr wrap="square" lIns="0" tIns="0" rIns="0" bIns="0" rtlCol="0" anchor="ctr"/>
          <a:lstStyle/>
          <a:p>
            <a:pPr indent="0" marL="0">
              <a:buNone/>
            </a:pPr>
            <a:r>
              <a:rPr lang="en-US" sz="2400" dirty="0">
                <a:solidFill>
                  <a:schemeClr val="tx1"/>
                </a:solidFill>
              </a:rPr>
              <a:t>Phương pháp</a:t>
            </a:r>
            <a:endParaRPr lang="en-US" sz="2400" dirty="0"/>
          </a:p>
        </p:txBody>
      </p:sp>
      <p:sp>
        <p:nvSpPr>
          <p:cNvPr id="15" name="dot-77"/>
          <p:cNvSpPr/>
          <p:nvPr/>
        </p:nvSpPr>
        <p:spPr>
          <a:xfrm>
            <a:off x="685800" y="4846320"/>
            <a:ext cx="502920" cy="502920"/>
          </a:xfrm>
          <a:prstGeom prst="ellipse">
            <a:avLst/>
          </a:prstGeom>
          <a:solidFill>
            <a:schemeClr val="accent5"/>
          </a:solidFill>
          <a:ln/>
        </p:spPr>
      </p:sp>
      <p:sp>
        <p:nvSpPr>
          <p:cNvPr id="16" name="text-78"/>
          <p:cNvSpPr txBox="1"/>
          <p:nvPr/>
        </p:nvSpPr>
        <p:spPr>
          <a:xfrm>
            <a:off x="685800" y="48463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7" name="text-79"/>
          <p:cNvSpPr txBox="1"/>
          <p:nvPr/>
        </p:nvSpPr>
        <p:spPr>
          <a:xfrm>
            <a:off x="1417320" y="4800600"/>
            <a:ext cx="4480560" cy="594360"/>
          </a:xfrm>
          <a:prstGeom prst="rect">
            <a:avLst/>
          </a:prstGeom>
          <a:noFill/>
          <a:ln/>
        </p:spPr>
        <p:txBody>
          <a:bodyPr wrap="square" lIns="0" tIns="0" rIns="0" bIns="0" rtlCol="0" anchor="ctr"/>
          <a:lstStyle/>
          <a:p>
            <a:pPr indent="0" marL="0">
              <a:buNone/>
            </a:pPr>
            <a:r>
              <a:rPr lang="en-US" sz="2400" dirty="0">
                <a:solidFill>
                  <a:schemeClr val="tx1"/>
                </a:solidFill>
              </a:rPr>
              <a:t>Kết quả</a:t>
            </a:r>
            <a:endParaRPr lang="en-US" sz="2400" dirty="0"/>
          </a:p>
        </p:txBody>
      </p:sp>
      <p:sp>
        <p:nvSpPr>
          <p:cNvPr id="18" name="dot-80"/>
          <p:cNvSpPr/>
          <p:nvPr/>
        </p:nvSpPr>
        <p:spPr>
          <a:xfrm>
            <a:off x="685800" y="5532120"/>
            <a:ext cx="502920" cy="502920"/>
          </a:xfrm>
          <a:prstGeom prst="ellipse">
            <a:avLst/>
          </a:prstGeom>
          <a:solidFill>
            <a:schemeClr val="accent5"/>
          </a:solidFill>
          <a:ln/>
        </p:spPr>
      </p:sp>
      <p:sp>
        <p:nvSpPr>
          <p:cNvPr id="19" name="text-81"/>
          <p:cNvSpPr txBox="1"/>
          <p:nvPr/>
        </p:nvSpPr>
        <p:spPr>
          <a:xfrm>
            <a:off x="685800" y="55321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0" name="text-82"/>
          <p:cNvSpPr txBox="1"/>
          <p:nvPr/>
        </p:nvSpPr>
        <p:spPr>
          <a:xfrm>
            <a:off x="1417320" y="5486400"/>
            <a:ext cx="4480560" cy="594360"/>
          </a:xfrm>
          <a:prstGeom prst="rect">
            <a:avLst/>
          </a:prstGeom>
          <a:noFill/>
          <a:ln/>
        </p:spPr>
        <p:txBody>
          <a:bodyPr wrap="square" lIns="0" tIns="0" rIns="0" bIns="0" rtlCol="0" anchor="ctr"/>
          <a:lstStyle/>
          <a:p>
            <a:pPr indent="0" marL="0">
              <a:buNone/>
            </a:pPr>
            <a:r>
              <a:rPr lang="en-US" sz="2400" dirty="0">
                <a:solidFill>
                  <a:schemeClr val="tx1"/>
                </a:solidFill>
              </a:rPr>
              <a:t>Kết luận &amp; hàm ý</a:t>
            </a:r>
            <a:endParaRPr lang="en-US" sz="2400" dirty="0"/>
          </a:p>
        </p:txBody>
      </p:sp>
      <p:sp>
        <p:nvSpPr>
          <p:cNvPr id="21" name="card-83"/>
          <p:cNvSpPr/>
          <p:nvPr/>
        </p:nvSpPr>
        <p:spPr>
          <a:xfrm>
            <a:off x="6263640" y="1783080"/>
            <a:ext cx="5349240" cy="777240"/>
          </a:xfrm>
          <a:prstGeom prst="roundRect">
            <a:avLst>
              <a:gd name="adj" fmla="val 17647"/>
            </a:avLst>
          </a:prstGeom>
          <a:solidFill>
            <a:schemeClr val="accent4"/>
          </a:solidFill>
          <a:ln/>
        </p:spPr>
      </p:sp>
      <p:sp>
        <p:nvSpPr>
          <p:cNvPr id="22" name="text-84"/>
          <p:cNvSpPr txBox="1"/>
          <p:nvPr/>
        </p:nvSpPr>
        <p:spPr>
          <a:xfrm>
            <a:off x="6537960" y="1783080"/>
            <a:ext cx="4846320" cy="777240"/>
          </a:xfrm>
          <a:prstGeom prst="rect">
            <a:avLst/>
          </a:prstGeom>
          <a:noFill/>
          <a:ln/>
        </p:spPr>
        <p:txBody>
          <a:bodyPr wrap="square" lIns="0" tIns="0" rIns="0" bIns="0" rtlCol="0" anchor="ctr"/>
          <a:lstStyle/>
          <a:p>
            <a:pPr indent="0" marL="0">
              <a:buNone/>
            </a:pPr>
            <a:r>
              <a:rPr lang="en-US" sz="2800" b="1" dirty="0">
                <a:solidFill>
                  <a:schemeClr val="tx1"/>
                </a:solidFill>
              </a:rPr>
              <a:t>Định tính · 3 chương</a:t>
            </a:r>
            <a:endParaRPr lang="en-US" sz="2800" dirty="0"/>
          </a:p>
        </p:txBody>
      </p:sp>
      <p:sp>
        <p:nvSpPr>
          <p:cNvPr id="23" name="dot-85"/>
          <p:cNvSpPr/>
          <p:nvPr/>
        </p:nvSpPr>
        <p:spPr>
          <a:xfrm>
            <a:off x="6400800" y="2788920"/>
            <a:ext cx="502920" cy="502920"/>
          </a:xfrm>
          <a:prstGeom prst="ellipse">
            <a:avLst/>
          </a:prstGeom>
          <a:solidFill>
            <a:schemeClr val="accent4"/>
          </a:solidFill>
          <a:ln/>
        </p:spPr>
      </p:sp>
      <p:sp>
        <p:nvSpPr>
          <p:cNvPr id="24" name="text-86"/>
          <p:cNvSpPr txBox="1"/>
          <p:nvPr/>
        </p:nvSpPr>
        <p:spPr>
          <a:xfrm>
            <a:off x="6400800" y="27889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25" name="text-87"/>
          <p:cNvSpPr txBox="1"/>
          <p:nvPr/>
        </p:nvSpPr>
        <p:spPr>
          <a:xfrm>
            <a:off x="7132320" y="2743200"/>
            <a:ext cx="4480560" cy="594360"/>
          </a:xfrm>
          <a:prstGeom prst="rect">
            <a:avLst/>
          </a:prstGeom>
          <a:noFill/>
          <a:ln/>
        </p:spPr>
        <p:txBody>
          <a:bodyPr wrap="square" lIns="0" tIns="0" rIns="0" bIns="0" rtlCol="0" anchor="ctr"/>
          <a:lstStyle/>
          <a:p>
            <a:pPr indent="0" marL="0">
              <a:buNone/>
            </a:pPr>
            <a:r>
              <a:rPr lang="en-US" sz="2400" dirty="0">
                <a:solidFill>
                  <a:schemeClr val="tx1"/>
                </a:solidFill>
              </a:rPr>
              <a:t>Giới thiệu &amp; cơ sở lý thuyết</a:t>
            </a:r>
            <a:endParaRPr lang="en-US" sz="2400" dirty="0"/>
          </a:p>
        </p:txBody>
      </p:sp>
      <p:sp>
        <p:nvSpPr>
          <p:cNvPr id="26" name="dot-88"/>
          <p:cNvSpPr/>
          <p:nvPr/>
        </p:nvSpPr>
        <p:spPr>
          <a:xfrm>
            <a:off x="6400800" y="3474720"/>
            <a:ext cx="502920" cy="502920"/>
          </a:xfrm>
          <a:prstGeom prst="ellipse">
            <a:avLst/>
          </a:prstGeom>
          <a:solidFill>
            <a:schemeClr val="accent4"/>
          </a:solidFill>
          <a:ln/>
        </p:spPr>
      </p:sp>
      <p:sp>
        <p:nvSpPr>
          <p:cNvPr id="27" name="text-89"/>
          <p:cNvSpPr txBox="1"/>
          <p:nvPr/>
        </p:nvSpPr>
        <p:spPr>
          <a:xfrm>
            <a:off x="6400800" y="34747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28" name="text-90"/>
          <p:cNvSpPr txBox="1"/>
          <p:nvPr/>
        </p:nvSpPr>
        <p:spPr>
          <a:xfrm>
            <a:off x="7132320" y="3429000"/>
            <a:ext cx="4480560" cy="594360"/>
          </a:xfrm>
          <a:prstGeom prst="rect">
            <a:avLst/>
          </a:prstGeom>
          <a:noFill/>
          <a:ln/>
        </p:spPr>
        <p:txBody>
          <a:bodyPr wrap="square" lIns="0" tIns="0" rIns="0" bIns="0" rtlCol="0" anchor="ctr"/>
          <a:lstStyle/>
          <a:p>
            <a:pPr indent="0" marL="0">
              <a:buNone/>
            </a:pPr>
            <a:r>
              <a:rPr lang="en-US" sz="2400" dirty="0">
                <a:solidFill>
                  <a:schemeClr val="tx1"/>
                </a:solidFill>
              </a:rPr>
              <a:t>Phương pháp</a:t>
            </a:r>
            <a:endParaRPr lang="en-US" sz="2400" dirty="0"/>
          </a:p>
        </p:txBody>
      </p:sp>
      <p:sp>
        <p:nvSpPr>
          <p:cNvPr id="29" name="dot-91"/>
          <p:cNvSpPr/>
          <p:nvPr/>
        </p:nvSpPr>
        <p:spPr>
          <a:xfrm>
            <a:off x="6400800" y="4160520"/>
            <a:ext cx="502920" cy="502920"/>
          </a:xfrm>
          <a:prstGeom prst="ellipse">
            <a:avLst/>
          </a:prstGeom>
          <a:solidFill>
            <a:schemeClr val="accent4"/>
          </a:solidFill>
          <a:ln/>
        </p:spPr>
      </p:sp>
      <p:sp>
        <p:nvSpPr>
          <p:cNvPr id="30" name="text-92"/>
          <p:cNvSpPr txBox="1"/>
          <p:nvPr/>
        </p:nvSpPr>
        <p:spPr>
          <a:xfrm>
            <a:off x="6400800" y="41605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31" name="text-93"/>
          <p:cNvSpPr txBox="1"/>
          <p:nvPr/>
        </p:nvSpPr>
        <p:spPr>
          <a:xfrm>
            <a:off x="7132320" y="4114800"/>
            <a:ext cx="4480560" cy="594360"/>
          </a:xfrm>
          <a:prstGeom prst="rect">
            <a:avLst/>
          </a:prstGeom>
          <a:noFill/>
          <a:ln/>
        </p:spPr>
        <p:txBody>
          <a:bodyPr wrap="square" lIns="0" tIns="0" rIns="0" bIns="0" rtlCol="0" anchor="ctr"/>
          <a:lstStyle/>
          <a:p>
            <a:pPr indent="0" marL="0">
              <a:buNone/>
            </a:pPr>
            <a:r>
              <a:rPr lang="en-US" sz="2400" dirty="0">
                <a:solidFill>
                  <a:schemeClr val="tx1"/>
                </a:solidFill>
              </a:rPr>
              <a:t>Kết quả, thảo luận &amp; kết luận</a:t>
            </a:r>
            <a:endParaRPr lang="en-US" sz="2400" dirty="0"/>
          </a:p>
        </p:txBody>
      </p:sp>
      <p:sp>
        <p:nvSpPr>
          <p:cNvPr id="32" name="text-94"/>
          <p:cNvSpPr txBox="1"/>
          <p:nvPr/>
        </p:nvSpPr>
        <p:spPr>
          <a:xfrm>
            <a:off x="6263640" y="5120640"/>
            <a:ext cx="5349240" cy="548640"/>
          </a:xfrm>
          <a:prstGeom prst="rect">
            <a:avLst/>
          </a:prstGeom>
          <a:noFill/>
          <a:ln/>
        </p:spPr>
        <p:txBody>
          <a:bodyPr wrap="square" lIns="0" tIns="0" rIns="0" bIns="0" rtlCol="0" anchor="t"/>
          <a:lstStyle/>
          <a:p>
            <a:pPr indent="0" marL="0">
              <a:buNone/>
            </a:pPr>
            <a:r>
              <a:rPr lang="en-US" sz="2400" b="1" dirty="0">
                <a:solidFill>
                  <a:schemeClr val="accent2"/>
                </a:solidFill>
              </a:rPr>
              <a:t>Chọn hướng ở Buổi 5</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Theo kịp từng buổi thì đến Buổi 13 bạn đã có gần đủ tiểu luận</a:t>
            </a:r>
            <a:endParaRPr lang="en-US" sz="3000" dirty="0"/>
          </a:p>
        </p:txBody>
      </p:sp>
      <p:sp>
        <p:nvSpPr>
          <p:cNvPr id="4" name="card-95"/>
          <p:cNvSpPr/>
          <p:nvPr/>
        </p:nvSpPr>
        <p:spPr>
          <a:xfrm>
            <a:off x="548640" y="1691640"/>
            <a:ext cx="2606040" cy="1600200"/>
          </a:xfrm>
          <a:prstGeom prst="roundRect">
            <a:avLst>
              <a:gd name="adj" fmla="val 8571"/>
            </a:avLst>
          </a:prstGeom>
          <a:solidFill>
            <a:schemeClr val="bg2"/>
          </a:solidFill>
          <a:ln/>
        </p:spPr>
      </p:sp>
      <p:sp>
        <p:nvSpPr>
          <p:cNvPr id="5" name="text-96"/>
          <p:cNvSpPr txBox="1"/>
          <p:nvPr/>
        </p:nvSpPr>
        <p:spPr>
          <a:xfrm>
            <a:off x="777240" y="1828800"/>
            <a:ext cx="1645920" cy="502920"/>
          </a:xfrm>
          <a:prstGeom prst="rect">
            <a:avLst/>
          </a:prstGeom>
          <a:noFill/>
          <a:ln/>
        </p:spPr>
        <p:txBody>
          <a:bodyPr wrap="square" lIns="0" tIns="0" rIns="0" bIns="0" rtlCol="0" anchor="t"/>
          <a:lstStyle/>
          <a:p>
            <a:pPr indent="0" marL="0">
              <a:buNone/>
            </a:pPr>
            <a:r>
              <a:rPr lang="en-US" sz="2800" b="1" dirty="0">
                <a:solidFill>
                  <a:schemeClr val="accent1"/>
                </a:solidFill>
              </a:rPr>
              <a:t>B1</a:t>
            </a:r>
            <a:endParaRPr lang="en-US" sz="2800" dirty="0"/>
          </a:p>
        </p:txBody>
      </p:sp>
      <p:sp>
        <p:nvSpPr>
          <p:cNvPr id="6" name="card-97"/>
          <p:cNvSpPr/>
          <p:nvPr/>
        </p:nvSpPr>
        <p:spPr>
          <a:xfrm>
            <a:off x="2286000" y="1847088"/>
            <a:ext cx="685800" cy="457200"/>
          </a:xfrm>
          <a:prstGeom prst="roundRect">
            <a:avLst>
              <a:gd name="adj" fmla="val 30000"/>
            </a:avLst>
          </a:prstGeom>
          <a:solidFill>
            <a:schemeClr val="accent4"/>
          </a:solidFill>
          <a:ln/>
        </p:spPr>
      </p:sp>
      <p:sp>
        <p:nvSpPr>
          <p:cNvPr id="7" name="text-98"/>
          <p:cNvSpPr txBox="1"/>
          <p:nvPr/>
        </p:nvSpPr>
        <p:spPr>
          <a:xfrm>
            <a:off x="2286000"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M1</a:t>
            </a:r>
            <a:endParaRPr lang="en-US" sz="2400" dirty="0"/>
          </a:p>
        </p:txBody>
      </p:sp>
      <p:sp>
        <p:nvSpPr>
          <p:cNvPr id="8" name="text-99"/>
          <p:cNvSpPr txBox="1"/>
          <p:nvPr/>
        </p:nvSpPr>
        <p:spPr>
          <a:xfrm>
            <a:off x="777240"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Đề tài</a:t>
            </a:r>
            <a:endParaRPr lang="en-US" sz="2400" dirty="0"/>
          </a:p>
        </p:txBody>
      </p:sp>
      <p:sp>
        <p:nvSpPr>
          <p:cNvPr id="9" name="card-100"/>
          <p:cNvSpPr/>
          <p:nvPr/>
        </p:nvSpPr>
        <p:spPr>
          <a:xfrm>
            <a:off x="3367735" y="1691640"/>
            <a:ext cx="2606040" cy="1600200"/>
          </a:xfrm>
          <a:prstGeom prst="roundRect">
            <a:avLst>
              <a:gd name="adj" fmla="val 8571"/>
            </a:avLst>
          </a:prstGeom>
          <a:solidFill>
            <a:schemeClr val="bg2"/>
          </a:solidFill>
          <a:ln/>
        </p:spPr>
      </p:sp>
      <p:sp>
        <p:nvSpPr>
          <p:cNvPr id="10" name="text-101"/>
          <p:cNvSpPr txBox="1"/>
          <p:nvPr/>
        </p:nvSpPr>
        <p:spPr>
          <a:xfrm>
            <a:off x="3596335" y="1828800"/>
            <a:ext cx="1645920" cy="502920"/>
          </a:xfrm>
          <a:prstGeom prst="rect">
            <a:avLst/>
          </a:prstGeom>
          <a:noFill/>
          <a:ln/>
        </p:spPr>
        <p:txBody>
          <a:bodyPr wrap="square" lIns="0" tIns="0" rIns="0" bIns="0" rtlCol="0" anchor="t"/>
          <a:lstStyle/>
          <a:p>
            <a:pPr indent="0" marL="0">
              <a:buNone/>
            </a:pPr>
            <a:r>
              <a:rPr lang="en-US" sz="2800" b="1" dirty="0">
                <a:solidFill>
                  <a:schemeClr val="accent2"/>
                </a:solidFill>
              </a:rPr>
              <a:t>B2–3</a:t>
            </a:r>
            <a:endParaRPr lang="en-US" sz="2800" dirty="0"/>
          </a:p>
        </p:txBody>
      </p:sp>
      <p:sp>
        <p:nvSpPr>
          <p:cNvPr id="11" name="card-102"/>
          <p:cNvSpPr/>
          <p:nvPr/>
        </p:nvSpPr>
        <p:spPr>
          <a:xfrm>
            <a:off x="5105095" y="1847088"/>
            <a:ext cx="685800" cy="457200"/>
          </a:xfrm>
          <a:prstGeom prst="roundRect">
            <a:avLst>
              <a:gd name="adj" fmla="val 30000"/>
            </a:avLst>
          </a:prstGeom>
          <a:solidFill>
            <a:schemeClr val="accent4"/>
          </a:solidFill>
          <a:ln/>
        </p:spPr>
      </p:sp>
      <p:sp>
        <p:nvSpPr>
          <p:cNvPr id="12" name="text-103"/>
          <p:cNvSpPr txBox="1"/>
          <p:nvPr/>
        </p:nvSpPr>
        <p:spPr>
          <a:xfrm>
            <a:off x="5105095"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M2</a:t>
            </a:r>
            <a:endParaRPr lang="en-US" sz="2400" dirty="0"/>
          </a:p>
        </p:txBody>
      </p:sp>
      <p:sp>
        <p:nvSpPr>
          <p:cNvPr id="13" name="text-104"/>
          <p:cNvSpPr txBox="1"/>
          <p:nvPr/>
        </p:nvSpPr>
        <p:spPr>
          <a:xfrm>
            <a:off x="3596335"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Tài liệu</a:t>
            </a:r>
            <a:endParaRPr lang="en-US" sz="2400" dirty="0"/>
          </a:p>
        </p:txBody>
      </p:sp>
      <p:sp>
        <p:nvSpPr>
          <p:cNvPr id="14" name="card-105"/>
          <p:cNvSpPr/>
          <p:nvPr/>
        </p:nvSpPr>
        <p:spPr>
          <a:xfrm>
            <a:off x="6186830" y="1691640"/>
            <a:ext cx="2606040" cy="1600200"/>
          </a:xfrm>
          <a:prstGeom prst="roundRect">
            <a:avLst>
              <a:gd name="adj" fmla="val 8571"/>
            </a:avLst>
          </a:prstGeom>
          <a:solidFill>
            <a:schemeClr val="bg2"/>
          </a:solidFill>
          <a:ln/>
        </p:spPr>
      </p:sp>
      <p:sp>
        <p:nvSpPr>
          <p:cNvPr id="15" name="text-106"/>
          <p:cNvSpPr txBox="1"/>
          <p:nvPr/>
        </p:nvSpPr>
        <p:spPr>
          <a:xfrm>
            <a:off x="6415430" y="1828800"/>
            <a:ext cx="1645920" cy="502920"/>
          </a:xfrm>
          <a:prstGeom prst="rect">
            <a:avLst/>
          </a:prstGeom>
          <a:noFill/>
          <a:ln/>
        </p:spPr>
        <p:txBody>
          <a:bodyPr wrap="square" lIns="0" tIns="0" rIns="0" bIns="0" rtlCol="0" anchor="t"/>
          <a:lstStyle/>
          <a:p>
            <a:pPr indent="0" marL="0">
              <a:buNone/>
            </a:pPr>
            <a:r>
              <a:rPr lang="en-US" sz="2800" b="1" dirty="0">
                <a:solidFill>
                  <a:schemeClr val="accent5"/>
                </a:solidFill>
              </a:rPr>
              <a:t>B4–5</a:t>
            </a:r>
            <a:endParaRPr lang="en-US" sz="2800" dirty="0"/>
          </a:p>
        </p:txBody>
      </p:sp>
      <p:sp>
        <p:nvSpPr>
          <p:cNvPr id="16" name="card-107"/>
          <p:cNvSpPr/>
          <p:nvPr/>
        </p:nvSpPr>
        <p:spPr>
          <a:xfrm>
            <a:off x="7924190" y="1847088"/>
            <a:ext cx="685800" cy="457200"/>
          </a:xfrm>
          <a:prstGeom prst="roundRect">
            <a:avLst>
              <a:gd name="adj" fmla="val 30000"/>
            </a:avLst>
          </a:prstGeom>
          <a:solidFill>
            <a:schemeClr val="accent4"/>
          </a:solidFill>
          <a:ln/>
        </p:spPr>
      </p:sp>
      <p:sp>
        <p:nvSpPr>
          <p:cNvPr id="17" name="text-108"/>
          <p:cNvSpPr txBox="1"/>
          <p:nvPr/>
        </p:nvSpPr>
        <p:spPr>
          <a:xfrm>
            <a:off x="7924190"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M3</a:t>
            </a:r>
            <a:endParaRPr lang="en-US" sz="2400" dirty="0"/>
          </a:p>
        </p:txBody>
      </p:sp>
      <p:sp>
        <p:nvSpPr>
          <p:cNvPr id="18" name="text-109"/>
          <p:cNvSpPr txBox="1"/>
          <p:nvPr/>
        </p:nvSpPr>
        <p:spPr>
          <a:xfrm>
            <a:off x="6415430"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AI, chọn hướng</a:t>
            </a:r>
            <a:endParaRPr lang="en-US" sz="2400" dirty="0"/>
          </a:p>
        </p:txBody>
      </p:sp>
      <p:sp>
        <p:nvSpPr>
          <p:cNvPr id="19" name="card-110"/>
          <p:cNvSpPr/>
          <p:nvPr/>
        </p:nvSpPr>
        <p:spPr>
          <a:xfrm>
            <a:off x="9005926" y="1691640"/>
            <a:ext cx="2606040" cy="1600200"/>
          </a:xfrm>
          <a:prstGeom prst="roundRect">
            <a:avLst>
              <a:gd name="adj" fmla="val 8571"/>
            </a:avLst>
          </a:prstGeom>
          <a:solidFill>
            <a:schemeClr val="bg2"/>
          </a:solidFill>
          <a:ln/>
        </p:spPr>
      </p:sp>
      <p:sp>
        <p:nvSpPr>
          <p:cNvPr id="20" name="text-111"/>
          <p:cNvSpPr txBox="1"/>
          <p:nvPr/>
        </p:nvSpPr>
        <p:spPr>
          <a:xfrm>
            <a:off x="9234526" y="1828800"/>
            <a:ext cx="1645920" cy="502920"/>
          </a:xfrm>
          <a:prstGeom prst="rect">
            <a:avLst/>
          </a:prstGeom>
          <a:noFill/>
          <a:ln/>
        </p:spPr>
        <p:txBody>
          <a:bodyPr wrap="square" lIns="0" tIns="0" rIns="0" bIns="0" rtlCol="0" anchor="t"/>
          <a:lstStyle/>
          <a:p>
            <a:pPr indent="0" marL="0">
              <a:buNone/>
            </a:pPr>
            <a:r>
              <a:rPr lang="en-US" sz="2800" b="1" dirty="0">
                <a:solidFill>
                  <a:schemeClr val="accent6"/>
                </a:solidFill>
              </a:rPr>
              <a:t>B6</a:t>
            </a:r>
            <a:endParaRPr lang="en-US" sz="2800" dirty="0"/>
          </a:p>
        </p:txBody>
      </p:sp>
      <p:sp>
        <p:nvSpPr>
          <p:cNvPr id="21" name="card-112"/>
          <p:cNvSpPr/>
          <p:nvPr/>
        </p:nvSpPr>
        <p:spPr>
          <a:xfrm>
            <a:off x="10743286" y="1847088"/>
            <a:ext cx="685800" cy="457200"/>
          </a:xfrm>
          <a:prstGeom prst="roundRect">
            <a:avLst>
              <a:gd name="adj" fmla="val 30000"/>
            </a:avLst>
          </a:prstGeom>
          <a:solidFill>
            <a:schemeClr val="accent4"/>
          </a:solidFill>
          <a:ln/>
        </p:spPr>
      </p:sp>
      <p:sp>
        <p:nvSpPr>
          <p:cNvPr id="22" name="text-113"/>
          <p:cNvSpPr txBox="1"/>
          <p:nvPr/>
        </p:nvSpPr>
        <p:spPr>
          <a:xfrm>
            <a:off x="10743286"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M4</a:t>
            </a:r>
            <a:endParaRPr lang="en-US" sz="2400" dirty="0"/>
          </a:p>
        </p:txBody>
      </p:sp>
      <p:sp>
        <p:nvSpPr>
          <p:cNvPr id="23" name="text-114"/>
          <p:cNvSpPr txBox="1"/>
          <p:nvPr/>
        </p:nvSpPr>
        <p:spPr>
          <a:xfrm>
            <a:off x="9234526"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Đề cương</a:t>
            </a:r>
            <a:endParaRPr lang="en-US" sz="2400" dirty="0"/>
          </a:p>
        </p:txBody>
      </p:sp>
      <p:sp>
        <p:nvSpPr>
          <p:cNvPr id="24" name="card-115"/>
          <p:cNvSpPr/>
          <p:nvPr/>
        </p:nvSpPr>
        <p:spPr>
          <a:xfrm>
            <a:off x="548640" y="3520440"/>
            <a:ext cx="2606040" cy="1600200"/>
          </a:xfrm>
          <a:prstGeom prst="roundRect">
            <a:avLst>
              <a:gd name="adj" fmla="val 8571"/>
            </a:avLst>
          </a:prstGeom>
          <a:solidFill>
            <a:schemeClr val="bg2"/>
          </a:solidFill>
          <a:ln/>
        </p:spPr>
      </p:sp>
      <p:sp>
        <p:nvSpPr>
          <p:cNvPr id="25" name="text-116"/>
          <p:cNvSpPr txBox="1"/>
          <p:nvPr/>
        </p:nvSpPr>
        <p:spPr>
          <a:xfrm>
            <a:off x="777240" y="3657600"/>
            <a:ext cx="1645920" cy="502920"/>
          </a:xfrm>
          <a:prstGeom prst="rect">
            <a:avLst/>
          </a:prstGeom>
          <a:noFill/>
          <a:ln/>
        </p:spPr>
        <p:txBody>
          <a:bodyPr wrap="square" lIns="0" tIns="0" rIns="0" bIns="0" rtlCol="0" anchor="t"/>
          <a:lstStyle/>
          <a:p>
            <a:pPr indent="0" marL="0">
              <a:buNone/>
            </a:pPr>
            <a:r>
              <a:rPr lang="en-US" sz="2800" b="1" dirty="0">
                <a:solidFill>
                  <a:schemeClr val="accent1"/>
                </a:solidFill>
              </a:rPr>
              <a:t>B7–9</a:t>
            </a:r>
            <a:endParaRPr lang="en-US" sz="2800" dirty="0"/>
          </a:p>
        </p:txBody>
      </p:sp>
      <p:sp>
        <p:nvSpPr>
          <p:cNvPr id="26" name="text-117"/>
          <p:cNvSpPr txBox="1"/>
          <p:nvPr/>
        </p:nvSpPr>
        <p:spPr>
          <a:xfrm>
            <a:off x="777240"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Phương pháp, mẫu, thang đo</a:t>
            </a:r>
            <a:endParaRPr lang="en-US" sz="2400" dirty="0"/>
          </a:p>
        </p:txBody>
      </p:sp>
      <p:sp>
        <p:nvSpPr>
          <p:cNvPr id="27" name="card-118"/>
          <p:cNvSpPr/>
          <p:nvPr/>
        </p:nvSpPr>
        <p:spPr>
          <a:xfrm>
            <a:off x="3367735" y="3520440"/>
            <a:ext cx="2606040" cy="1600200"/>
          </a:xfrm>
          <a:prstGeom prst="roundRect">
            <a:avLst>
              <a:gd name="adj" fmla="val 8571"/>
            </a:avLst>
          </a:prstGeom>
          <a:solidFill>
            <a:schemeClr val="bg2"/>
          </a:solidFill>
          <a:ln/>
        </p:spPr>
      </p:sp>
      <p:sp>
        <p:nvSpPr>
          <p:cNvPr id="28" name="text-119"/>
          <p:cNvSpPr txBox="1"/>
          <p:nvPr/>
        </p:nvSpPr>
        <p:spPr>
          <a:xfrm>
            <a:off x="3596335" y="3657600"/>
            <a:ext cx="1645920" cy="502920"/>
          </a:xfrm>
          <a:prstGeom prst="rect">
            <a:avLst/>
          </a:prstGeom>
          <a:noFill/>
          <a:ln/>
        </p:spPr>
        <p:txBody>
          <a:bodyPr wrap="square" lIns="0" tIns="0" rIns="0" bIns="0" rtlCol="0" anchor="t"/>
          <a:lstStyle/>
          <a:p>
            <a:pPr indent="0" marL="0">
              <a:buNone/>
            </a:pPr>
            <a:r>
              <a:rPr lang="en-US" sz="2800" b="1" dirty="0">
                <a:solidFill>
                  <a:schemeClr val="accent2"/>
                </a:solidFill>
              </a:rPr>
              <a:t>B10–12</a:t>
            </a:r>
            <a:endParaRPr lang="en-US" sz="2800" dirty="0"/>
          </a:p>
        </p:txBody>
      </p:sp>
      <p:sp>
        <p:nvSpPr>
          <p:cNvPr id="29" name="text-120"/>
          <p:cNvSpPr txBox="1"/>
          <p:nvPr/>
        </p:nvSpPr>
        <p:spPr>
          <a:xfrm>
            <a:off x="3596335"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Bảng hỏi, phát hành sau B11</a:t>
            </a:r>
            <a:endParaRPr lang="en-US" sz="2400" dirty="0"/>
          </a:p>
        </p:txBody>
      </p:sp>
      <p:sp>
        <p:nvSpPr>
          <p:cNvPr id="30" name="card-121"/>
          <p:cNvSpPr/>
          <p:nvPr/>
        </p:nvSpPr>
        <p:spPr>
          <a:xfrm>
            <a:off x="6186830" y="3520440"/>
            <a:ext cx="2606040" cy="1600200"/>
          </a:xfrm>
          <a:prstGeom prst="roundRect">
            <a:avLst>
              <a:gd name="adj" fmla="val 8571"/>
            </a:avLst>
          </a:prstGeom>
          <a:solidFill>
            <a:schemeClr val="bg2"/>
          </a:solidFill>
          <a:ln/>
        </p:spPr>
      </p:sp>
      <p:sp>
        <p:nvSpPr>
          <p:cNvPr id="31" name="text-122"/>
          <p:cNvSpPr txBox="1"/>
          <p:nvPr/>
        </p:nvSpPr>
        <p:spPr>
          <a:xfrm>
            <a:off x="6415430" y="3657600"/>
            <a:ext cx="1645920" cy="502920"/>
          </a:xfrm>
          <a:prstGeom prst="rect">
            <a:avLst/>
          </a:prstGeom>
          <a:noFill/>
          <a:ln/>
        </p:spPr>
        <p:txBody>
          <a:bodyPr wrap="square" lIns="0" tIns="0" rIns="0" bIns="0" rtlCol="0" anchor="t"/>
          <a:lstStyle/>
          <a:p>
            <a:pPr indent="0" marL="0">
              <a:buNone/>
            </a:pPr>
            <a:r>
              <a:rPr lang="en-US" sz="2800" b="1" dirty="0">
                <a:solidFill>
                  <a:schemeClr val="accent5"/>
                </a:solidFill>
              </a:rPr>
              <a:t>B13</a:t>
            </a:r>
            <a:endParaRPr lang="en-US" sz="2800" dirty="0"/>
          </a:p>
        </p:txBody>
      </p:sp>
      <p:sp>
        <p:nvSpPr>
          <p:cNvPr id="32" name="text-123"/>
          <p:cNvSpPr txBox="1"/>
          <p:nvPr/>
        </p:nvSpPr>
        <p:spPr>
          <a:xfrm>
            <a:off x="6415430"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Phân tích</a:t>
            </a:r>
            <a:endParaRPr lang="en-US" sz="2400" dirty="0"/>
          </a:p>
        </p:txBody>
      </p:sp>
      <p:sp>
        <p:nvSpPr>
          <p:cNvPr id="33" name="card-124"/>
          <p:cNvSpPr/>
          <p:nvPr/>
        </p:nvSpPr>
        <p:spPr>
          <a:xfrm>
            <a:off x="9005926" y="3520440"/>
            <a:ext cx="2606040" cy="1600200"/>
          </a:xfrm>
          <a:prstGeom prst="roundRect">
            <a:avLst>
              <a:gd name="adj" fmla="val 8571"/>
            </a:avLst>
          </a:prstGeom>
          <a:solidFill>
            <a:schemeClr val="bg2"/>
          </a:solidFill>
          <a:ln/>
        </p:spPr>
      </p:sp>
      <p:sp>
        <p:nvSpPr>
          <p:cNvPr id="34" name="text-125"/>
          <p:cNvSpPr txBox="1"/>
          <p:nvPr/>
        </p:nvSpPr>
        <p:spPr>
          <a:xfrm>
            <a:off x="9234526" y="3657600"/>
            <a:ext cx="1645920" cy="502920"/>
          </a:xfrm>
          <a:prstGeom prst="rect">
            <a:avLst/>
          </a:prstGeom>
          <a:noFill/>
          <a:ln/>
        </p:spPr>
        <p:txBody>
          <a:bodyPr wrap="square" lIns="0" tIns="0" rIns="0" bIns="0" rtlCol="0" anchor="t"/>
          <a:lstStyle/>
          <a:p>
            <a:pPr indent="0" marL="0">
              <a:buNone/>
            </a:pPr>
            <a:r>
              <a:rPr lang="en-US" sz="2800" b="1" dirty="0">
                <a:solidFill>
                  <a:schemeClr val="accent3"/>
                </a:solidFill>
              </a:rPr>
              <a:t>B14–15</a:t>
            </a:r>
            <a:endParaRPr lang="en-US" sz="2800" dirty="0"/>
          </a:p>
        </p:txBody>
      </p:sp>
      <p:sp>
        <p:nvSpPr>
          <p:cNvPr id="35" name="text-126"/>
          <p:cNvSpPr txBox="1"/>
          <p:nvPr/>
        </p:nvSpPr>
        <p:spPr>
          <a:xfrm>
            <a:off x="9234526"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Thi</a:t>
            </a:r>
            <a:endParaRPr lang="en-US" sz="2400" dirty="0"/>
          </a:p>
        </p:txBody>
      </p:sp>
      <p:sp>
        <p:nvSpPr>
          <p:cNvPr id="36" name="card-127"/>
          <p:cNvSpPr/>
          <p:nvPr/>
        </p:nvSpPr>
        <p:spPr>
          <a:xfrm>
            <a:off x="548640" y="5440680"/>
            <a:ext cx="5394960" cy="685800"/>
          </a:xfrm>
          <a:prstGeom prst="roundRect">
            <a:avLst>
              <a:gd name="adj" fmla="val 20000"/>
            </a:avLst>
          </a:prstGeom>
          <a:solidFill>
            <a:schemeClr val="accent6"/>
          </a:solidFill>
          <a:ln/>
        </p:spPr>
      </p:sp>
      <p:sp>
        <p:nvSpPr>
          <p:cNvPr id="37" name="text-128"/>
          <p:cNvSpPr txBox="1"/>
          <p:nvPr/>
        </p:nvSpPr>
        <p:spPr>
          <a:xfrm>
            <a:off x="822960" y="5440680"/>
            <a:ext cx="4937760" cy="685800"/>
          </a:xfrm>
          <a:prstGeom prst="rect">
            <a:avLst/>
          </a:prstGeom>
          <a:noFill/>
          <a:ln/>
        </p:spPr>
        <p:txBody>
          <a:bodyPr wrap="square" lIns="0" tIns="0" rIns="0" bIns="0" rtlCol="0" anchor="ctr"/>
          <a:lstStyle/>
          <a:p>
            <a:pPr indent="0" marL="0">
              <a:buNone/>
            </a:pPr>
            <a:r>
              <a:rPr lang="en-US" sz="2400" b="1" dirty="0">
                <a:solidFill>
                  <a:schemeClr val="bg1"/>
                </a:solidFill>
              </a:rPr>
              <a:t>Nộp giữa kỳ: trước Buổi 11</a:t>
            </a:r>
            <a:endParaRPr lang="en-US" sz="2400" dirty="0"/>
          </a:p>
        </p:txBody>
      </p:sp>
      <p:sp>
        <p:nvSpPr>
          <p:cNvPr id="38" name="card-129"/>
          <p:cNvSpPr/>
          <p:nvPr/>
        </p:nvSpPr>
        <p:spPr>
          <a:xfrm>
            <a:off x="6245352" y="5440680"/>
            <a:ext cx="5394960" cy="685800"/>
          </a:xfrm>
          <a:prstGeom prst="roundRect">
            <a:avLst>
              <a:gd name="adj" fmla="val 20000"/>
            </a:avLst>
          </a:prstGeom>
          <a:solidFill>
            <a:schemeClr val="accent3"/>
          </a:solidFill>
          <a:ln/>
        </p:spPr>
      </p:sp>
      <p:sp>
        <p:nvSpPr>
          <p:cNvPr id="39" name="text-130"/>
          <p:cNvSpPr txBox="1"/>
          <p:nvPr/>
        </p:nvSpPr>
        <p:spPr>
          <a:xfrm>
            <a:off x="6519672" y="5440680"/>
            <a:ext cx="4937760" cy="685800"/>
          </a:xfrm>
          <a:prstGeom prst="rect">
            <a:avLst/>
          </a:prstGeom>
          <a:noFill/>
          <a:ln/>
        </p:spPr>
        <p:txBody>
          <a:bodyPr wrap="square" lIns="0" tIns="0" rIns="0" bIns="0" rtlCol="0" anchor="ctr"/>
          <a:lstStyle/>
          <a:p>
            <a:pPr indent="0" marL="0">
              <a:buNone/>
            </a:pPr>
            <a:r>
              <a:rPr lang="en-US" sz="2400" b="1" dirty="0">
                <a:solidFill>
                  <a:schemeClr val="bg1"/>
                </a:solidFill>
              </a:rPr>
              <a:t>Thu xong dữ liệu: trước Buổi 13</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70% điểm đến từ sản phẩm nghiên cứu của nhóm</a:t>
            </a:r>
            <a:endParaRPr lang="en-US" sz="3000" dirty="0"/>
          </a:p>
        </p:txBody>
      </p:sp>
      <p:sp>
        <p:nvSpPr>
          <p:cNvPr id="4" name="card-131"/>
          <p:cNvSpPr/>
          <p:nvPr/>
        </p:nvSpPr>
        <p:spPr>
          <a:xfrm>
            <a:off x="548640" y="1783080"/>
            <a:ext cx="2606040" cy="2514600"/>
          </a:xfrm>
          <a:prstGeom prst="roundRect">
            <a:avLst>
              <a:gd name="adj" fmla="val 5455"/>
            </a:avLst>
          </a:prstGeom>
          <a:solidFill>
            <a:schemeClr val="bg2"/>
          </a:solidFill>
          <a:ln/>
        </p:spPr>
      </p:sp>
      <p:sp>
        <p:nvSpPr>
          <p:cNvPr id="5" name="text-132"/>
          <p:cNvSpPr txBox="1"/>
          <p:nvPr/>
        </p:nvSpPr>
        <p:spPr>
          <a:xfrm>
            <a:off x="548640" y="1920240"/>
            <a:ext cx="2606040" cy="1097280"/>
          </a:xfrm>
          <a:prstGeom prst="rect">
            <a:avLst/>
          </a:prstGeom>
          <a:noFill/>
          <a:ln/>
        </p:spPr>
        <p:txBody>
          <a:bodyPr wrap="square" lIns="0" tIns="0" rIns="0" bIns="0" rtlCol="0" anchor="ctr"/>
          <a:lstStyle/>
          <a:p>
            <a:pPr algn="ctr" indent="0" marL="0">
              <a:buNone/>
            </a:pPr>
            <a:r>
              <a:rPr lang="en-US" sz="6000" b="1" dirty="0">
                <a:solidFill>
                  <a:schemeClr val="tx2"/>
                </a:solidFill>
              </a:rPr>
              <a:t>10%</a:t>
            </a:r>
            <a:endParaRPr lang="en-US" sz="6000" dirty="0"/>
          </a:p>
        </p:txBody>
      </p:sp>
      <p:sp>
        <p:nvSpPr>
          <p:cNvPr id="6" name="text-133"/>
          <p:cNvSpPr txBox="1"/>
          <p:nvPr/>
        </p:nvSpPr>
        <p:spPr>
          <a:xfrm>
            <a:off x="731520" y="3108960"/>
            <a:ext cx="2240280" cy="1051560"/>
          </a:xfrm>
          <a:prstGeom prst="rect">
            <a:avLst/>
          </a:prstGeom>
          <a:noFill/>
          <a:ln/>
        </p:spPr>
        <p:txBody>
          <a:bodyPr wrap="square" lIns="0" tIns="0" rIns="0" bIns="0" rtlCol="0" anchor="t"/>
          <a:lstStyle/>
          <a:p>
            <a:pPr algn="ctr" indent="0" marL="0">
              <a:buNone/>
            </a:pPr>
            <a:r>
              <a:rPr lang="en-US" sz="2400" dirty="0">
                <a:solidFill>
                  <a:schemeClr val="tx1"/>
                </a:solidFill>
              </a:rPr>
              <a:t>Chuyên cần</a:t>
            </a:r>
            <a:endParaRPr lang="en-US" sz="2400" dirty="0"/>
          </a:p>
        </p:txBody>
      </p:sp>
      <p:sp>
        <p:nvSpPr>
          <p:cNvPr id="7" name="card-134"/>
          <p:cNvSpPr/>
          <p:nvPr/>
        </p:nvSpPr>
        <p:spPr>
          <a:xfrm>
            <a:off x="3367735" y="1783080"/>
            <a:ext cx="2606040" cy="2514600"/>
          </a:xfrm>
          <a:prstGeom prst="roundRect">
            <a:avLst>
              <a:gd name="adj" fmla="val 5455"/>
            </a:avLst>
          </a:prstGeom>
          <a:solidFill>
            <a:schemeClr val="bg2"/>
          </a:solidFill>
          <a:ln/>
        </p:spPr>
      </p:sp>
      <p:sp>
        <p:nvSpPr>
          <p:cNvPr id="8" name="text-135"/>
          <p:cNvSpPr txBox="1"/>
          <p:nvPr/>
        </p:nvSpPr>
        <p:spPr>
          <a:xfrm>
            <a:off x="3367735" y="1920240"/>
            <a:ext cx="2606040" cy="1097280"/>
          </a:xfrm>
          <a:prstGeom prst="rect">
            <a:avLst/>
          </a:prstGeom>
          <a:noFill/>
          <a:ln/>
        </p:spPr>
        <p:txBody>
          <a:bodyPr wrap="square" lIns="0" tIns="0" rIns="0" bIns="0" rtlCol="0" anchor="ctr"/>
          <a:lstStyle/>
          <a:p>
            <a:pPr algn="ctr" indent="0" marL="0">
              <a:buNone/>
            </a:pPr>
            <a:r>
              <a:rPr lang="en-US" sz="6000" b="1" dirty="0">
                <a:solidFill>
                  <a:schemeClr val="accent1"/>
                </a:solidFill>
              </a:rPr>
              <a:t>20%</a:t>
            </a:r>
            <a:endParaRPr lang="en-US" sz="6000" dirty="0"/>
          </a:p>
        </p:txBody>
      </p:sp>
      <p:sp>
        <p:nvSpPr>
          <p:cNvPr id="9" name="text-136"/>
          <p:cNvSpPr txBox="1"/>
          <p:nvPr/>
        </p:nvSpPr>
        <p:spPr>
          <a:xfrm>
            <a:off x="3550615" y="3108960"/>
            <a:ext cx="2240280" cy="1051560"/>
          </a:xfrm>
          <a:prstGeom prst="rect">
            <a:avLst/>
          </a:prstGeom>
          <a:noFill/>
          <a:ln/>
        </p:spPr>
        <p:txBody>
          <a:bodyPr wrap="square" lIns="0" tIns="0" rIns="0" bIns="0" rtlCol="0" anchor="t"/>
          <a:lstStyle/>
          <a:p>
            <a:pPr algn="ctr" indent="0" marL="0">
              <a:buNone/>
            </a:pPr>
            <a:r>
              <a:rPr lang="en-US" sz="2400" dirty="0">
                <a:solidFill>
                  <a:schemeClr val="tx1"/>
                </a:solidFill>
              </a:rPr>
              <a:t>Bài tập nhóm M1–M4</a:t>
            </a:r>
            <a:endParaRPr lang="en-US" sz="2400" dirty="0"/>
          </a:p>
        </p:txBody>
      </p:sp>
      <p:sp>
        <p:nvSpPr>
          <p:cNvPr id="10" name="card-137"/>
          <p:cNvSpPr/>
          <p:nvPr/>
        </p:nvSpPr>
        <p:spPr>
          <a:xfrm>
            <a:off x="6186830" y="1783080"/>
            <a:ext cx="2606040" cy="2514600"/>
          </a:xfrm>
          <a:prstGeom prst="roundRect">
            <a:avLst>
              <a:gd name="adj" fmla="val 5455"/>
            </a:avLst>
          </a:prstGeom>
          <a:solidFill>
            <a:schemeClr val="bg2"/>
          </a:solidFill>
          <a:ln/>
        </p:spPr>
      </p:sp>
      <p:sp>
        <p:nvSpPr>
          <p:cNvPr id="11" name="text-138"/>
          <p:cNvSpPr txBox="1"/>
          <p:nvPr/>
        </p:nvSpPr>
        <p:spPr>
          <a:xfrm>
            <a:off x="6186830" y="1920240"/>
            <a:ext cx="2606040" cy="1097280"/>
          </a:xfrm>
          <a:prstGeom prst="rect">
            <a:avLst/>
          </a:prstGeom>
          <a:noFill/>
          <a:ln/>
        </p:spPr>
        <p:txBody>
          <a:bodyPr wrap="square" lIns="0" tIns="0" rIns="0" bIns="0" rtlCol="0" anchor="ctr"/>
          <a:lstStyle/>
          <a:p>
            <a:pPr algn="ctr" indent="0" marL="0">
              <a:buNone/>
            </a:pPr>
            <a:r>
              <a:rPr lang="en-US" sz="6000" b="1" dirty="0">
                <a:solidFill>
                  <a:schemeClr val="accent5"/>
                </a:solidFill>
              </a:rPr>
              <a:t>20%</a:t>
            </a:r>
            <a:endParaRPr lang="en-US" sz="6000" dirty="0"/>
          </a:p>
        </p:txBody>
      </p:sp>
      <p:sp>
        <p:nvSpPr>
          <p:cNvPr id="12" name="text-139"/>
          <p:cNvSpPr txBox="1"/>
          <p:nvPr/>
        </p:nvSpPr>
        <p:spPr>
          <a:xfrm>
            <a:off x="6369710" y="3108960"/>
            <a:ext cx="2240280" cy="1051560"/>
          </a:xfrm>
          <a:prstGeom prst="rect">
            <a:avLst/>
          </a:prstGeom>
          <a:noFill/>
          <a:ln/>
        </p:spPr>
        <p:txBody>
          <a:bodyPr wrap="square" lIns="0" tIns="0" rIns="0" bIns="0" rtlCol="0" anchor="t"/>
          <a:lstStyle/>
          <a:p>
            <a:pPr algn="ctr" indent="0" marL="0">
              <a:buNone/>
            </a:pPr>
            <a:r>
              <a:rPr lang="en-US" sz="2400" dirty="0">
                <a:solidFill>
                  <a:schemeClr val="tx1"/>
                </a:solidFill>
              </a:rPr>
              <a:t>Giữa kỳ (nộp LMS)</a:t>
            </a:r>
            <a:endParaRPr lang="en-US" sz="2400" dirty="0"/>
          </a:p>
        </p:txBody>
      </p:sp>
      <p:sp>
        <p:nvSpPr>
          <p:cNvPr id="13" name="card-140"/>
          <p:cNvSpPr/>
          <p:nvPr/>
        </p:nvSpPr>
        <p:spPr>
          <a:xfrm>
            <a:off x="9005926" y="1783080"/>
            <a:ext cx="2606040" cy="2514600"/>
          </a:xfrm>
          <a:prstGeom prst="roundRect">
            <a:avLst>
              <a:gd name="adj" fmla="val 5455"/>
            </a:avLst>
          </a:prstGeom>
          <a:solidFill>
            <a:schemeClr val="bg2"/>
          </a:solidFill>
          <a:ln/>
        </p:spPr>
      </p:sp>
      <p:sp>
        <p:nvSpPr>
          <p:cNvPr id="14" name="text-141"/>
          <p:cNvSpPr txBox="1"/>
          <p:nvPr/>
        </p:nvSpPr>
        <p:spPr>
          <a:xfrm>
            <a:off x="9005926" y="1920240"/>
            <a:ext cx="2606040" cy="1097280"/>
          </a:xfrm>
          <a:prstGeom prst="rect">
            <a:avLst/>
          </a:prstGeom>
          <a:noFill/>
          <a:ln/>
        </p:spPr>
        <p:txBody>
          <a:bodyPr wrap="square" lIns="0" tIns="0" rIns="0" bIns="0" rtlCol="0" anchor="ctr"/>
          <a:lstStyle/>
          <a:p>
            <a:pPr algn="ctr" indent="0" marL="0">
              <a:buNone/>
            </a:pPr>
            <a:r>
              <a:rPr lang="en-US" sz="6000" b="1" dirty="0">
                <a:solidFill>
                  <a:schemeClr val="accent2"/>
                </a:solidFill>
              </a:rPr>
              <a:t>50%</a:t>
            </a:r>
            <a:endParaRPr lang="en-US" sz="6000" dirty="0"/>
          </a:p>
        </p:txBody>
      </p:sp>
      <p:sp>
        <p:nvSpPr>
          <p:cNvPr id="15" name="text-142"/>
          <p:cNvSpPr txBox="1"/>
          <p:nvPr/>
        </p:nvSpPr>
        <p:spPr>
          <a:xfrm>
            <a:off x="9188806" y="3108960"/>
            <a:ext cx="2240280" cy="1051560"/>
          </a:xfrm>
          <a:prstGeom prst="rect">
            <a:avLst/>
          </a:prstGeom>
          <a:noFill/>
          <a:ln/>
        </p:spPr>
        <p:txBody>
          <a:bodyPr wrap="square" lIns="0" tIns="0" rIns="0" bIns="0" rtlCol="0" anchor="t"/>
          <a:lstStyle/>
          <a:p>
            <a:pPr algn="ctr" indent="0" marL="0">
              <a:buNone/>
            </a:pPr>
            <a:r>
              <a:rPr lang="en-US" sz="2400" dirty="0">
                <a:solidFill>
                  <a:schemeClr val="tx1"/>
                </a:solidFill>
              </a:rPr>
              <a:t>Tiểu luận nhóm</a:t>
            </a:r>
            <a:endParaRPr lang="en-US" sz="2400" dirty="0"/>
          </a:p>
        </p:txBody>
      </p:sp>
      <p:sp>
        <p:nvSpPr>
          <p:cNvPr id="16" name="line-143"/>
          <p:cNvSpPr/>
          <p:nvPr/>
        </p:nvSpPr>
        <p:spPr>
          <a:xfrm>
            <a:off x="3367735" y="4526280"/>
            <a:ext cx="8244230" cy="0"/>
          </a:xfrm>
          <a:prstGeom prst="line">
            <a:avLst/>
          </a:prstGeom>
          <a:noFill/>
          <a:ln w="38100">
            <a:solidFill>
              <a:schemeClr val="accent2"/>
            </a:solidFill>
            <a:prstDash val="solid"/>
          </a:ln>
        </p:spPr>
      </p:sp>
      <p:sp>
        <p:nvSpPr>
          <p:cNvPr id="17" name="line-144"/>
          <p:cNvSpPr/>
          <p:nvPr/>
        </p:nvSpPr>
        <p:spPr>
          <a:xfrm>
            <a:off x="3367735" y="4389120"/>
            <a:ext cx="0" cy="137160"/>
          </a:xfrm>
          <a:prstGeom prst="line">
            <a:avLst/>
          </a:prstGeom>
          <a:noFill/>
          <a:ln w="38100">
            <a:solidFill>
              <a:schemeClr val="accent2"/>
            </a:solidFill>
            <a:prstDash val="solid"/>
          </a:ln>
        </p:spPr>
      </p:sp>
      <p:sp>
        <p:nvSpPr>
          <p:cNvPr id="18" name="line-145"/>
          <p:cNvSpPr/>
          <p:nvPr/>
        </p:nvSpPr>
        <p:spPr>
          <a:xfrm>
            <a:off x="11611966" y="4389120"/>
            <a:ext cx="0" cy="137160"/>
          </a:xfrm>
          <a:prstGeom prst="line">
            <a:avLst/>
          </a:prstGeom>
          <a:noFill/>
          <a:ln w="38100">
            <a:solidFill>
              <a:schemeClr val="accent2"/>
            </a:solidFill>
            <a:prstDash val="solid"/>
          </a:ln>
        </p:spPr>
      </p:sp>
      <p:sp>
        <p:nvSpPr>
          <p:cNvPr id="19" name="text-146"/>
          <p:cNvSpPr txBox="1"/>
          <p:nvPr/>
        </p:nvSpPr>
        <p:spPr>
          <a:xfrm>
            <a:off x="3367735" y="4663440"/>
            <a:ext cx="8244230" cy="548640"/>
          </a:xfrm>
          <a:prstGeom prst="rect">
            <a:avLst/>
          </a:prstGeom>
          <a:noFill/>
          <a:ln/>
        </p:spPr>
        <p:txBody>
          <a:bodyPr wrap="square" lIns="0" tIns="0" rIns="0" bIns="0" rtlCol="0" anchor="t"/>
          <a:lstStyle/>
          <a:p>
            <a:pPr algn="ctr" indent="0" marL="0">
              <a:buNone/>
            </a:pPr>
            <a:r>
              <a:rPr lang="en-US" sz="2800" b="1" dirty="0">
                <a:solidFill>
                  <a:schemeClr val="accent2"/>
                </a:solidFill>
              </a:rPr>
              <a:t>70% · sản phẩm nhóm</a:t>
            </a:r>
            <a:endParaRPr lang="en-US" sz="2800" dirty="0"/>
          </a:p>
        </p:txBody>
      </p:sp>
      <p:sp>
        <p:nvSpPr>
          <p:cNvPr id="20" name="text-147"/>
          <p:cNvSpPr txBox="1"/>
          <p:nvPr/>
        </p:nvSpPr>
        <p:spPr>
          <a:xfrm>
            <a:off x="548640" y="5532120"/>
            <a:ext cx="8229600" cy="548640"/>
          </a:xfrm>
          <a:prstGeom prst="rect">
            <a:avLst/>
          </a:prstGeom>
          <a:noFill/>
          <a:ln/>
        </p:spPr>
        <p:txBody>
          <a:bodyPr wrap="square" lIns="0" tIns="0" rIns="0" bIns="0" rtlCol="0" anchor="t"/>
          <a:lstStyle/>
          <a:p>
            <a:pPr indent="0" marL="0">
              <a:buNone/>
            </a:pPr>
            <a:r>
              <a:rPr lang="en-US" sz="2400" b="1" dirty="0">
                <a:solidFill>
                  <a:schemeClr val="accent1"/>
                </a:solidFill>
              </a:rPr>
              <a:t>+ Phân tích nâng cao → điểm cộng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Được dùng AI, nhưng phải khai báo và tự kiểm chứng; trích dẫn theo APA 7</a:t>
            </a:r>
            <a:endParaRPr lang="en-US" sz="3000" dirty="0"/>
          </a:p>
        </p:txBody>
      </p:sp>
      <p:sp>
        <p:nvSpPr>
          <p:cNvPr id="4" name="card-148"/>
          <p:cNvSpPr/>
          <p:nvPr/>
        </p:nvSpPr>
        <p:spPr>
          <a:xfrm>
            <a:off x="548640" y="1783080"/>
            <a:ext cx="6035040" cy="4343400"/>
          </a:xfrm>
          <a:prstGeom prst="roundRect">
            <a:avLst>
              <a:gd name="adj" fmla="val 3158"/>
            </a:avLst>
          </a:prstGeom>
          <a:solidFill>
            <a:schemeClr val="bg2"/>
          </a:solidFill>
          <a:ln/>
        </p:spPr>
      </p:sp>
      <p:sp>
        <p:nvSpPr>
          <p:cNvPr id="5" name="icon-bg-149"/>
          <p:cNvSpPr/>
          <p:nvPr/>
        </p:nvSpPr>
        <p:spPr>
          <a:xfrm>
            <a:off x="868680" y="2011680"/>
            <a:ext cx="868680" cy="868680"/>
          </a:xfrm>
          <a:prstGeom prst="ellipse">
            <a:avLst/>
          </a:prstGeom>
          <a:solidFill>
            <a:schemeClr val="accent5"/>
          </a:solidFill>
          <a:ln/>
        </p:spPr>
      </p:sp>
      <p:pic>
        <p:nvPicPr>
          <p:cNvPr id="6" name="icon-150" descr="FaRobot">    </p:cNvPr>
          <p:cNvPicPr>
            <a:picLocks noChangeAspect="1"/>
          </p:cNvPicPr>
          <p:nvPr/>
        </p:nvPicPr>
        <p:blipFill>
          <a:blip r:embed="rId1"/>
          <a:stretch>
            <a:fillRect/>
          </a:stretch>
        </p:blipFill>
        <p:spPr>
          <a:xfrm>
            <a:off x="1085850" y="2228850"/>
            <a:ext cx="434340" cy="434340"/>
          </a:xfrm>
          <a:prstGeom prst="rect">
            <a:avLst/>
          </a:prstGeom>
        </p:spPr>
      </p:pic>
      <p:sp>
        <p:nvSpPr>
          <p:cNvPr id="7" name="text-151"/>
          <p:cNvSpPr txBox="1"/>
          <p:nvPr/>
        </p:nvSpPr>
        <p:spPr>
          <a:xfrm>
            <a:off x="1920240" y="2011680"/>
            <a:ext cx="4114800" cy="868680"/>
          </a:xfrm>
          <a:prstGeom prst="rect">
            <a:avLst/>
          </a:prstGeom>
          <a:noFill/>
          <a:ln/>
        </p:spPr>
        <p:txBody>
          <a:bodyPr wrap="square" lIns="0" tIns="0" rIns="0" bIns="0" rtlCol="0" anchor="ctr"/>
          <a:lstStyle/>
          <a:p>
            <a:pPr indent="0" marL="0">
              <a:buNone/>
            </a:pPr>
            <a:r>
              <a:rPr lang="en-US" sz="3000" b="1" dirty="0">
                <a:solidFill>
                  <a:schemeClr val="accent5"/>
                </a:solidFill>
              </a:rPr>
              <a:t>Dùng AI</a:t>
            </a:r>
            <a:endParaRPr lang="en-US" sz="3000" dirty="0"/>
          </a:p>
        </p:txBody>
      </p:sp>
      <p:sp>
        <p:nvSpPr>
          <p:cNvPr id="8" name="text-152"/>
          <p:cNvSpPr txBox="1"/>
          <p:nvPr/>
        </p:nvSpPr>
        <p:spPr>
          <a:xfrm>
            <a:off x="914400" y="3154680"/>
            <a:ext cx="5394960" cy="265176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chemeClr val="tx1"/>
                </a:solidFill>
              </a:rPr>
              <a:t>Khai báo công cụ + mục đích</a:t>
            </a:r>
            <a:endParaRPr lang="en-US" sz="2600" dirty="0"/>
          </a:p>
          <a:p>
            <a:pPr marL="342900" indent="-342900">
              <a:spcAft>
                <a:spcPts val="1400"/>
              </a:spcAft>
              <a:buSzPct val="100000"/>
              <a:buChar char="•"/>
            </a:pPr>
            <a:r>
              <a:rPr lang="en-US" sz="2600" dirty="0">
                <a:solidFill>
                  <a:schemeClr val="tx1"/>
                </a:solidFill>
              </a:rPr>
              <a:t>Nộp nhật ký sử dụng AI</a:t>
            </a:r>
            <a:endParaRPr lang="en-US" sz="2600" dirty="0"/>
          </a:p>
          <a:p>
            <a:pPr marL="342900" indent="-342900">
              <a:spcAft>
                <a:spcPts val="1400"/>
              </a:spcAft>
              <a:buSzPct val="100000"/>
              <a:buChar char="•"/>
            </a:pPr>
            <a:r>
              <a:rPr lang="en-US" sz="2600" dirty="0">
                <a:solidFill>
                  <a:schemeClr val="tx1"/>
                </a:solidFill>
              </a:rPr>
              <a:t>Tự kiểm chứng mọi trích dẫn</a:t>
            </a:r>
            <a:endParaRPr lang="en-US" sz="2600" dirty="0"/>
          </a:p>
        </p:txBody>
      </p:sp>
      <p:sp>
        <p:nvSpPr>
          <p:cNvPr id="9" name="card-153"/>
          <p:cNvSpPr/>
          <p:nvPr/>
        </p:nvSpPr>
        <p:spPr>
          <a:xfrm>
            <a:off x="6812280" y="1783080"/>
            <a:ext cx="4828032" cy="4343400"/>
          </a:xfrm>
          <a:prstGeom prst="roundRect">
            <a:avLst>
              <a:gd name="adj" fmla="val 3158"/>
            </a:avLst>
          </a:prstGeom>
          <a:solidFill>
            <a:schemeClr val="bg2"/>
          </a:solidFill>
          <a:ln/>
        </p:spPr>
      </p:sp>
      <p:sp>
        <p:nvSpPr>
          <p:cNvPr id="10" name="icon-bg-154"/>
          <p:cNvSpPr/>
          <p:nvPr/>
        </p:nvSpPr>
        <p:spPr>
          <a:xfrm>
            <a:off x="7132320" y="2011680"/>
            <a:ext cx="868680" cy="868680"/>
          </a:xfrm>
          <a:prstGeom prst="ellipse">
            <a:avLst/>
          </a:prstGeom>
          <a:solidFill>
            <a:schemeClr val="accent1"/>
          </a:solidFill>
          <a:ln/>
        </p:spPr>
      </p:sp>
      <p:pic>
        <p:nvPicPr>
          <p:cNvPr id="11" name="icon-155" descr="FaBookOpen">    </p:cNvPr>
          <p:cNvPicPr>
            <a:picLocks noChangeAspect="1"/>
          </p:cNvPicPr>
          <p:nvPr/>
        </p:nvPicPr>
        <p:blipFill>
          <a:blip r:embed="rId2"/>
          <a:stretch>
            <a:fillRect/>
          </a:stretch>
        </p:blipFill>
        <p:spPr>
          <a:xfrm>
            <a:off x="7349490" y="2228850"/>
            <a:ext cx="434340" cy="434340"/>
          </a:xfrm>
          <a:prstGeom prst="rect">
            <a:avLst/>
          </a:prstGeom>
        </p:spPr>
      </p:pic>
      <p:sp>
        <p:nvSpPr>
          <p:cNvPr id="12" name="text-156"/>
          <p:cNvSpPr txBox="1"/>
          <p:nvPr/>
        </p:nvSpPr>
        <p:spPr>
          <a:xfrm>
            <a:off x="8183880" y="2011680"/>
            <a:ext cx="3200400" cy="868680"/>
          </a:xfrm>
          <a:prstGeom prst="rect">
            <a:avLst/>
          </a:prstGeom>
          <a:noFill/>
          <a:ln/>
        </p:spPr>
        <p:txBody>
          <a:bodyPr wrap="square" lIns="0" tIns="0" rIns="0" bIns="0" rtlCol="0" anchor="ctr"/>
          <a:lstStyle/>
          <a:p>
            <a:pPr indent="0" marL="0">
              <a:buNone/>
            </a:pPr>
            <a:r>
              <a:rPr lang="en-US" sz="3000" b="1" dirty="0">
                <a:solidFill>
                  <a:schemeClr val="accent1"/>
                </a:solidFill>
              </a:rPr>
              <a:t>APA 7</a:t>
            </a:r>
            <a:endParaRPr lang="en-US" sz="3000" dirty="0"/>
          </a:p>
        </p:txBody>
      </p:sp>
      <p:sp>
        <p:nvSpPr>
          <p:cNvPr id="13" name="text-157"/>
          <p:cNvSpPr txBox="1"/>
          <p:nvPr/>
        </p:nvSpPr>
        <p:spPr>
          <a:xfrm>
            <a:off x="7178040" y="3154680"/>
            <a:ext cx="4206240" cy="457200"/>
          </a:xfrm>
          <a:prstGeom prst="rect">
            <a:avLst/>
          </a:prstGeom>
          <a:noFill/>
          <a:ln/>
        </p:spPr>
        <p:txBody>
          <a:bodyPr wrap="square" lIns="0" tIns="0" rIns="0" bIns="0" rtlCol="0" anchor="t"/>
          <a:lstStyle/>
          <a:p>
            <a:pPr indent="0" marL="0">
              <a:buNone/>
            </a:pPr>
            <a:r>
              <a:rPr lang="en-US" sz="2400" dirty="0">
                <a:solidFill>
                  <a:schemeClr val="tx2"/>
                </a:solidFill>
              </a:rPr>
              <a:t>Danh mục tài liệu</a:t>
            </a:r>
            <a:endParaRPr lang="en-US" sz="2400" dirty="0"/>
          </a:p>
        </p:txBody>
      </p:sp>
      <p:sp>
        <p:nvSpPr>
          <p:cNvPr id="14" name="text-158"/>
          <p:cNvSpPr txBox="1"/>
          <p:nvPr/>
        </p:nvSpPr>
        <p:spPr>
          <a:xfrm>
            <a:off x="7178040" y="3611880"/>
            <a:ext cx="4206240" cy="594360"/>
          </a:xfrm>
          <a:prstGeom prst="rect">
            <a:avLst/>
          </a:prstGeom>
          <a:noFill/>
          <a:ln/>
        </p:spPr>
        <p:txBody>
          <a:bodyPr wrap="square" lIns="0" tIns="0" rIns="0" bIns="0" rtlCol="0" anchor="t"/>
          <a:lstStyle/>
          <a:p>
            <a:pPr indent="0" marL="0">
              <a:buNone/>
            </a:pPr>
            <a:r>
              <a:rPr lang="en-US" sz="2800" b="1" dirty="0">
                <a:solidFill>
                  <a:schemeClr val="accent2"/>
                </a:solidFill>
              </a:rPr>
              <a:t>Lê, Q. H. (2017)</a:t>
            </a:r>
            <a:endParaRPr lang="en-US" sz="2800" dirty="0"/>
          </a:p>
        </p:txBody>
      </p:sp>
      <p:sp>
        <p:nvSpPr>
          <p:cNvPr id="15" name="text-159"/>
          <p:cNvSpPr txBox="1"/>
          <p:nvPr/>
        </p:nvSpPr>
        <p:spPr>
          <a:xfrm>
            <a:off x="7178040" y="4434840"/>
            <a:ext cx="4206240" cy="457200"/>
          </a:xfrm>
          <a:prstGeom prst="rect">
            <a:avLst/>
          </a:prstGeom>
          <a:noFill/>
          <a:ln/>
        </p:spPr>
        <p:txBody>
          <a:bodyPr wrap="square" lIns="0" tIns="0" rIns="0" bIns="0" rtlCol="0" anchor="t"/>
          <a:lstStyle/>
          <a:p>
            <a:pPr indent="0" marL="0">
              <a:buNone/>
            </a:pPr>
            <a:r>
              <a:rPr lang="en-US" sz="2400" dirty="0">
                <a:solidFill>
                  <a:schemeClr val="tx2"/>
                </a:solidFill>
              </a:rPr>
              <a:t>Trong bài</a:t>
            </a:r>
            <a:endParaRPr lang="en-US" sz="2400" dirty="0"/>
          </a:p>
        </p:txBody>
      </p:sp>
      <p:sp>
        <p:nvSpPr>
          <p:cNvPr id="16" name="text-160"/>
          <p:cNvSpPr txBox="1"/>
          <p:nvPr/>
        </p:nvSpPr>
        <p:spPr>
          <a:xfrm>
            <a:off x="7178040" y="4892040"/>
            <a:ext cx="4206240" cy="594360"/>
          </a:xfrm>
          <a:prstGeom prst="rect">
            <a:avLst/>
          </a:prstGeom>
          <a:noFill/>
          <a:ln/>
        </p:spPr>
        <p:txBody>
          <a:bodyPr wrap="square" lIns="0" tIns="0" rIns="0" bIns="0" rtlCol="0" anchor="t"/>
          <a:lstStyle/>
          <a:p>
            <a:pPr indent="0" marL="0">
              <a:buNone/>
            </a:pPr>
            <a:r>
              <a:rPr lang="en-US" sz="2800" b="1" dirty="0">
                <a:solidFill>
                  <a:schemeClr val="accent2"/>
                </a:solidFill>
              </a:rPr>
              <a:t>(Lê, 2017)</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marketing không chỉ là gửi một bảng hỏi Google Forms</a:t>
            </a:r>
            <a:endParaRPr lang="en-US" sz="3000" dirty="0"/>
          </a:p>
        </p:txBody>
      </p:sp>
      <p:sp>
        <p:nvSpPr>
          <p:cNvPr id="4" name="icon-bg-161"/>
          <p:cNvSpPr/>
          <p:nvPr/>
        </p:nvSpPr>
        <p:spPr>
          <a:xfrm>
            <a:off x="5184648" y="1828800"/>
            <a:ext cx="1828800" cy="1828800"/>
          </a:xfrm>
          <a:prstGeom prst="ellipse">
            <a:avLst/>
          </a:prstGeom>
          <a:solidFill>
            <a:schemeClr val="accent2"/>
          </a:solidFill>
          <a:ln/>
        </p:spPr>
      </p:sp>
      <p:pic>
        <p:nvPicPr>
          <p:cNvPr id="5" name="icon-162" descr="FaQuestion">    </p:cNvPr>
          <p:cNvPicPr>
            <a:picLocks noChangeAspect="1"/>
          </p:cNvPicPr>
          <p:nvPr/>
        </p:nvPicPr>
        <p:blipFill>
          <a:blip r:embed="rId1"/>
          <a:stretch>
            <a:fillRect/>
          </a:stretch>
        </p:blipFill>
        <p:spPr>
          <a:xfrm>
            <a:off x="5641848" y="2286000"/>
            <a:ext cx="914400" cy="914400"/>
          </a:xfrm>
          <a:prstGeom prst="rect">
            <a:avLst/>
          </a:prstGeom>
        </p:spPr>
      </p:pic>
      <p:sp>
        <p:nvSpPr>
          <p:cNvPr id="6" name="text-163"/>
          <p:cNvSpPr txBox="1"/>
          <p:nvPr/>
        </p:nvSpPr>
        <p:spPr>
          <a:xfrm>
            <a:off x="548640" y="3977640"/>
            <a:ext cx="11094415" cy="1188720"/>
          </a:xfrm>
          <a:prstGeom prst="rect">
            <a:avLst/>
          </a:prstGeom>
          <a:noFill/>
          <a:ln/>
        </p:spPr>
        <p:txBody>
          <a:bodyPr wrap="square" lIns="0" tIns="0" rIns="0" bIns="0" rtlCol="0" anchor="ctr"/>
          <a:lstStyle/>
          <a:p>
            <a:pPr algn="ctr" indent="0" marL="0">
              <a:buNone/>
            </a:pPr>
            <a:r>
              <a:rPr lang="en-US" sz="4400" b="1" dirty="0">
                <a:solidFill>
                  <a:schemeClr val="accent2"/>
                </a:solidFill>
              </a:rPr>
              <a:t>Theo bạn, nghiên cứu marketing là gì?</a:t>
            </a:r>
            <a:endParaRPr lang="en-US" sz="4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AMA: nghiên cứu marketing kết nối khách hàng với nhà marketing qua thông tin</a:t>
            </a:r>
            <a:endParaRPr lang="en-US" sz="3000" dirty="0"/>
          </a:p>
        </p:txBody>
      </p:sp>
      <p:sp>
        <p:nvSpPr>
          <p:cNvPr id="4" name="card-164"/>
          <p:cNvSpPr/>
          <p:nvPr/>
        </p:nvSpPr>
        <p:spPr>
          <a:xfrm>
            <a:off x="548640" y="1783080"/>
            <a:ext cx="11094415" cy="2194560"/>
          </a:xfrm>
          <a:prstGeom prst="roundRect">
            <a:avLst>
              <a:gd name="adj" fmla="val 6250"/>
            </a:avLst>
          </a:prstGeom>
          <a:solidFill>
            <a:schemeClr val="bg2"/>
          </a:solidFill>
          <a:ln/>
        </p:spPr>
      </p:sp>
      <p:pic>
        <p:nvPicPr>
          <p:cNvPr id="5" name="Image 0" descr="Dấu ngoặc kép">    </p:cNvPr>
          <p:cNvPicPr>
            <a:picLocks noChangeAspect="1"/>
          </p:cNvPicPr>
          <p:nvPr/>
        </p:nvPicPr>
        <p:blipFill>
          <a:blip r:embed="rId1"/>
          <a:stretch>
            <a:fillRect/>
          </a:stretch>
        </p:blipFill>
        <p:spPr>
          <a:xfrm>
            <a:off x="868680" y="2011680"/>
            <a:ext cx="640080" cy="640080"/>
          </a:xfrm>
          <a:prstGeom prst="rect">
            <a:avLst/>
          </a:prstGeom>
        </p:spPr>
      </p:pic>
      <p:sp>
        <p:nvSpPr>
          <p:cNvPr id="6" name="text-165"/>
          <p:cNvSpPr txBox="1"/>
          <p:nvPr/>
        </p:nvSpPr>
        <p:spPr>
          <a:xfrm>
            <a:off x="1783080" y="2011680"/>
            <a:ext cx="9509760" cy="1280160"/>
          </a:xfrm>
          <a:prstGeom prst="rect">
            <a:avLst/>
          </a:prstGeom>
          <a:noFill/>
          <a:ln/>
        </p:spPr>
        <p:txBody>
          <a:bodyPr wrap="square" lIns="0" tIns="0" rIns="0" bIns="0" rtlCol="0" anchor="t"/>
          <a:lstStyle/>
          <a:p>
            <a:pPr indent="0" marL="0">
              <a:buNone/>
            </a:pPr>
            <a:r>
              <a:rPr lang="en-US" sz="2800" i="1" dirty="0">
                <a:solidFill>
                  <a:schemeClr val="tx1"/>
                </a:solidFill>
              </a:rPr>
              <a:t>“…chức năng kết nối người tiêu dùng, khách hàng và công chúng với nhà marketing thông qua thông tin…”</a:t>
            </a:r>
            <a:endParaRPr lang="en-US" sz="2800" dirty="0"/>
          </a:p>
        </p:txBody>
      </p:sp>
      <p:sp>
        <p:nvSpPr>
          <p:cNvPr id="7" name="text-166"/>
          <p:cNvSpPr txBox="1"/>
          <p:nvPr/>
        </p:nvSpPr>
        <p:spPr>
          <a:xfrm>
            <a:off x="1783080" y="3337560"/>
            <a:ext cx="9509760" cy="457200"/>
          </a:xfrm>
          <a:prstGeom prst="rect">
            <a:avLst/>
          </a:prstGeom>
          <a:noFill/>
          <a:ln/>
        </p:spPr>
        <p:txBody>
          <a:bodyPr wrap="square" lIns="0" tIns="0" rIns="0" bIns="0" rtlCol="0" anchor="t"/>
          <a:lstStyle/>
          <a:p>
            <a:pPr indent="0" marL="0">
              <a:buNone/>
            </a:pPr>
            <a:r>
              <a:rPr lang="en-US" sz="2400" dirty="0">
                <a:solidFill>
                  <a:schemeClr val="tx2"/>
                </a:solidFill>
              </a:rPr>
              <a:t>— American Marketing Association (AMA)</a:t>
            </a:r>
            <a:endParaRPr lang="en-US" sz="2400" dirty="0"/>
          </a:p>
        </p:txBody>
      </p:sp>
      <p:sp>
        <p:nvSpPr>
          <p:cNvPr id="8" name="text-167"/>
          <p:cNvSpPr txBox="1"/>
          <p:nvPr/>
        </p:nvSpPr>
        <p:spPr>
          <a:xfrm>
            <a:off x="548640" y="4297680"/>
            <a:ext cx="5486400" cy="457200"/>
          </a:xfrm>
          <a:prstGeom prst="rect">
            <a:avLst/>
          </a:prstGeom>
          <a:noFill/>
          <a:ln/>
        </p:spPr>
        <p:txBody>
          <a:bodyPr wrap="square" lIns="0" tIns="0" rIns="0" bIns="0" rtlCol="0" anchor="t"/>
          <a:lstStyle/>
          <a:p>
            <a:pPr indent="0" marL="0">
              <a:buNone/>
            </a:pPr>
            <a:r>
              <a:rPr lang="en-US" sz="2400" b="1" dirty="0">
                <a:solidFill>
                  <a:schemeClr val="tx2"/>
                </a:solidFill>
              </a:rPr>
              <a:t>Thông tin để:</a:t>
            </a:r>
            <a:endParaRPr lang="en-US" sz="2400" dirty="0"/>
          </a:p>
        </p:txBody>
      </p:sp>
      <p:sp>
        <p:nvSpPr>
          <p:cNvPr id="9" name="card-168"/>
          <p:cNvSpPr/>
          <p:nvPr/>
        </p:nvSpPr>
        <p:spPr>
          <a:xfrm>
            <a:off x="548640" y="4892040"/>
            <a:ext cx="3474720" cy="914400"/>
          </a:xfrm>
          <a:prstGeom prst="roundRect">
            <a:avLst>
              <a:gd name="adj" fmla="val 15000"/>
            </a:avLst>
          </a:prstGeom>
          <a:solidFill>
            <a:schemeClr val="accent1"/>
          </a:solidFill>
          <a:ln/>
        </p:spPr>
      </p:sp>
      <p:sp>
        <p:nvSpPr>
          <p:cNvPr id="10" name="text-169"/>
          <p:cNvSpPr txBox="1"/>
          <p:nvPr/>
        </p:nvSpPr>
        <p:spPr>
          <a:xfrm>
            <a:off x="548640" y="4892040"/>
            <a:ext cx="3474720" cy="914400"/>
          </a:xfrm>
          <a:prstGeom prst="rect">
            <a:avLst/>
          </a:prstGeom>
          <a:noFill/>
          <a:ln/>
        </p:spPr>
        <p:txBody>
          <a:bodyPr wrap="square" lIns="0" tIns="0" rIns="0" bIns="0" rtlCol="0" anchor="ctr"/>
          <a:lstStyle/>
          <a:p>
            <a:pPr algn="ctr" indent="0" marL="0">
              <a:buNone/>
            </a:pPr>
            <a:r>
              <a:rPr lang="en-US" sz="2400" b="1" dirty="0">
                <a:solidFill>
                  <a:schemeClr val="bg1"/>
                </a:solidFill>
              </a:rPr>
              <a:t>Nhận diện vấn đề</a:t>
            </a:r>
            <a:endParaRPr lang="en-US" sz="2400" dirty="0"/>
          </a:p>
        </p:txBody>
      </p:sp>
      <p:sp>
        <p:nvSpPr>
          <p:cNvPr id="11" name="card-170"/>
          <p:cNvSpPr/>
          <p:nvPr/>
        </p:nvSpPr>
        <p:spPr>
          <a:xfrm>
            <a:off x="4343400" y="4892040"/>
            <a:ext cx="3474720" cy="914400"/>
          </a:xfrm>
          <a:prstGeom prst="roundRect">
            <a:avLst>
              <a:gd name="adj" fmla="val 15000"/>
            </a:avLst>
          </a:prstGeom>
          <a:solidFill>
            <a:schemeClr val="accent5"/>
          </a:solidFill>
          <a:ln/>
        </p:spPr>
      </p:sp>
      <p:sp>
        <p:nvSpPr>
          <p:cNvPr id="12" name="text-171"/>
          <p:cNvSpPr txBox="1"/>
          <p:nvPr/>
        </p:nvSpPr>
        <p:spPr>
          <a:xfrm>
            <a:off x="4343400" y="4892040"/>
            <a:ext cx="3474720" cy="914400"/>
          </a:xfrm>
          <a:prstGeom prst="rect">
            <a:avLst/>
          </a:prstGeom>
          <a:noFill/>
          <a:ln/>
        </p:spPr>
        <p:txBody>
          <a:bodyPr wrap="square" lIns="0" tIns="0" rIns="0" bIns="0" rtlCol="0" anchor="ctr"/>
          <a:lstStyle/>
          <a:p>
            <a:pPr algn="ctr" indent="0" marL="0">
              <a:buNone/>
            </a:pPr>
            <a:r>
              <a:rPr lang="en-US" sz="2400" b="1" dirty="0">
                <a:solidFill>
                  <a:schemeClr val="bg1"/>
                </a:solidFill>
              </a:rPr>
              <a:t>Đánh giá hoạt động</a:t>
            </a:r>
            <a:endParaRPr lang="en-US" sz="2400" dirty="0"/>
          </a:p>
        </p:txBody>
      </p:sp>
      <p:sp>
        <p:nvSpPr>
          <p:cNvPr id="13" name="card-172"/>
          <p:cNvSpPr/>
          <p:nvPr/>
        </p:nvSpPr>
        <p:spPr>
          <a:xfrm>
            <a:off x="8138160" y="4892040"/>
            <a:ext cx="3474720" cy="914400"/>
          </a:xfrm>
          <a:prstGeom prst="roundRect">
            <a:avLst>
              <a:gd name="adj" fmla="val 15000"/>
            </a:avLst>
          </a:prstGeom>
          <a:solidFill>
            <a:schemeClr val="accent6"/>
          </a:solidFill>
          <a:ln/>
        </p:spPr>
      </p:sp>
      <p:sp>
        <p:nvSpPr>
          <p:cNvPr id="14" name="text-173"/>
          <p:cNvSpPr txBox="1"/>
          <p:nvPr/>
        </p:nvSpPr>
        <p:spPr>
          <a:xfrm>
            <a:off x="8138160" y="4892040"/>
            <a:ext cx="3474720" cy="914400"/>
          </a:xfrm>
          <a:prstGeom prst="rect">
            <a:avLst/>
          </a:prstGeom>
          <a:noFill/>
          <a:ln/>
        </p:spPr>
        <p:txBody>
          <a:bodyPr wrap="square" lIns="0" tIns="0" rIns="0" bIns="0" rtlCol="0" anchor="ctr"/>
          <a:lstStyle/>
          <a:p>
            <a:pPr algn="ctr" indent="0" marL="0">
              <a:buNone/>
            </a:pPr>
            <a:r>
              <a:rPr lang="en-US" sz="2400" b="1" dirty="0">
                <a:solidFill>
                  <a:schemeClr val="bg1"/>
                </a:solidFill>
              </a:rPr>
              <a:t>Theo dõi kết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Bốn thành tố phân biệt nghiên cứu thật với “khảo sát cho có”</a:t>
            </a:r>
            <a:endParaRPr lang="en-US" sz="3000" dirty="0"/>
          </a:p>
        </p:txBody>
      </p:sp>
      <p:sp>
        <p:nvSpPr>
          <p:cNvPr id="4" name="text-174"/>
          <p:cNvSpPr txBox="1"/>
          <p:nvPr/>
        </p:nvSpPr>
        <p:spPr>
          <a:xfrm>
            <a:off x="548640" y="1691640"/>
            <a:ext cx="11094415" cy="914400"/>
          </a:xfrm>
          <a:prstGeom prst="rect">
            <a:avLst/>
          </a:prstGeom>
          <a:noFill/>
          <a:ln/>
        </p:spPr>
        <p:txBody>
          <a:bodyPr wrap="square" lIns="0" tIns="0" rIns="0" bIns="0" rtlCol="0" anchor="t"/>
          <a:lstStyle/>
          <a:p>
            <a:pPr indent="0" marL="0">
              <a:buNone/>
            </a:pPr>
            <a:r>
              <a:rPr lang="en-US" sz="2400" i="1" dirty="0">
                <a:solidFill>
                  <a:schemeClr val="tx2"/>
                </a:solidFill>
              </a:rPr>
              <a:t>Thu thập và phân tích thông tin có hệ thống, có mục tiêu, để giải quyết vấn đề marketing</a:t>
            </a:r>
            <a:endParaRPr lang="en-US" sz="2400" dirty="0"/>
          </a:p>
        </p:txBody>
      </p:sp>
      <p:sp>
        <p:nvSpPr>
          <p:cNvPr id="5" name="card-175"/>
          <p:cNvSpPr/>
          <p:nvPr/>
        </p:nvSpPr>
        <p:spPr>
          <a:xfrm>
            <a:off x="548640" y="2926080"/>
            <a:ext cx="2331720" cy="2011680"/>
          </a:xfrm>
          <a:prstGeom prst="roundRect">
            <a:avLst>
              <a:gd name="adj" fmla="val 6818"/>
            </a:avLst>
          </a:prstGeom>
          <a:solidFill>
            <a:schemeClr val="accent1"/>
          </a:solidFill>
          <a:ln/>
        </p:spPr>
      </p:sp>
      <p:sp>
        <p:nvSpPr>
          <p:cNvPr id="6" name="text-176"/>
          <p:cNvSpPr txBox="1"/>
          <p:nvPr/>
        </p:nvSpPr>
        <p:spPr>
          <a:xfrm>
            <a:off x="548640" y="3063240"/>
            <a:ext cx="2331720" cy="640080"/>
          </a:xfrm>
          <a:prstGeom prst="rect">
            <a:avLst/>
          </a:prstGeom>
          <a:noFill/>
          <a:ln/>
        </p:spPr>
        <p:txBody>
          <a:bodyPr wrap="square" lIns="0" tIns="0" rIns="0" bIns="0" rtlCol="0" anchor="t"/>
          <a:lstStyle/>
          <a:p>
            <a:pPr algn="ctr" indent="0" marL="0">
              <a:buNone/>
            </a:pPr>
            <a:r>
              <a:rPr lang="en-US" sz="3600" b="1" dirty="0">
                <a:solidFill>
                  <a:schemeClr val="bg1"/>
                </a:solidFill>
              </a:rPr>
              <a:t>1</a:t>
            </a:r>
            <a:endParaRPr lang="en-US" sz="3600" dirty="0"/>
          </a:p>
        </p:txBody>
      </p:sp>
      <p:sp>
        <p:nvSpPr>
          <p:cNvPr id="7" name="text-177"/>
          <p:cNvSpPr txBox="1"/>
          <p:nvPr/>
        </p:nvSpPr>
        <p:spPr>
          <a:xfrm>
            <a:off x="685800" y="3749040"/>
            <a:ext cx="2057400" cy="1005840"/>
          </a:xfrm>
          <a:prstGeom prst="rect">
            <a:avLst/>
          </a:prstGeom>
          <a:noFill/>
          <a:ln/>
        </p:spPr>
        <p:txBody>
          <a:bodyPr wrap="square" lIns="0" tIns="0" rIns="0" bIns="0" rtlCol="0" anchor="ctr"/>
          <a:lstStyle/>
          <a:p>
            <a:pPr algn="ctr" indent="0" marL="0">
              <a:buNone/>
            </a:pPr>
            <a:r>
              <a:rPr lang="en-US" sz="2400" b="1" dirty="0">
                <a:solidFill>
                  <a:schemeClr val="bg1"/>
                </a:solidFill>
              </a:rPr>
              <a:t>Có hệ thống</a:t>
            </a:r>
            <a:endParaRPr lang="en-US" sz="2400" dirty="0"/>
          </a:p>
        </p:txBody>
      </p:sp>
      <p:sp>
        <p:nvSpPr>
          <p:cNvPr id="8" name="arrow-178"/>
          <p:cNvSpPr/>
          <p:nvPr/>
        </p:nvSpPr>
        <p:spPr>
          <a:xfrm>
            <a:off x="2971800" y="3703320"/>
            <a:ext cx="384048" cy="457200"/>
          </a:xfrm>
          <a:prstGeom prst="rightArrow">
            <a:avLst/>
          </a:prstGeom>
          <a:solidFill>
            <a:schemeClr val="tx2"/>
          </a:solidFill>
          <a:ln/>
        </p:spPr>
      </p:sp>
      <p:sp>
        <p:nvSpPr>
          <p:cNvPr id="9" name="card-179"/>
          <p:cNvSpPr/>
          <p:nvPr/>
        </p:nvSpPr>
        <p:spPr>
          <a:xfrm>
            <a:off x="3447288" y="2926080"/>
            <a:ext cx="2331720" cy="2011680"/>
          </a:xfrm>
          <a:prstGeom prst="roundRect">
            <a:avLst>
              <a:gd name="adj" fmla="val 6818"/>
            </a:avLst>
          </a:prstGeom>
          <a:solidFill>
            <a:schemeClr val="accent2"/>
          </a:solidFill>
          <a:ln/>
        </p:spPr>
      </p:sp>
      <p:sp>
        <p:nvSpPr>
          <p:cNvPr id="10" name="text-180"/>
          <p:cNvSpPr txBox="1"/>
          <p:nvPr/>
        </p:nvSpPr>
        <p:spPr>
          <a:xfrm>
            <a:off x="3447288" y="3063240"/>
            <a:ext cx="2331720" cy="640080"/>
          </a:xfrm>
          <a:prstGeom prst="rect">
            <a:avLst/>
          </a:prstGeom>
          <a:noFill/>
          <a:ln/>
        </p:spPr>
        <p:txBody>
          <a:bodyPr wrap="square" lIns="0" tIns="0" rIns="0" bIns="0" rtlCol="0" anchor="t"/>
          <a:lstStyle/>
          <a:p>
            <a:pPr algn="ctr" indent="0" marL="0">
              <a:buNone/>
            </a:pPr>
            <a:r>
              <a:rPr lang="en-US" sz="3600" b="1" dirty="0">
                <a:solidFill>
                  <a:schemeClr val="bg1"/>
                </a:solidFill>
              </a:rPr>
              <a:t>2</a:t>
            </a:r>
            <a:endParaRPr lang="en-US" sz="3600" dirty="0"/>
          </a:p>
        </p:txBody>
      </p:sp>
      <p:sp>
        <p:nvSpPr>
          <p:cNvPr id="11" name="text-181"/>
          <p:cNvSpPr txBox="1"/>
          <p:nvPr/>
        </p:nvSpPr>
        <p:spPr>
          <a:xfrm>
            <a:off x="3584448" y="3749040"/>
            <a:ext cx="2057400" cy="1005840"/>
          </a:xfrm>
          <a:prstGeom prst="rect">
            <a:avLst/>
          </a:prstGeom>
          <a:noFill/>
          <a:ln/>
        </p:spPr>
        <p:txBody>
          <a:bodyPr wrap="square" lIns="0" tIns="0" rIns="0" bIns="0" rtlCol="0" anchor="ctr"/>
          <a:lstStyle/>
          <a:p>
            <a:pPr algn="ctr" indent="0" marL="0">
              <a:buNone/>
            </a:pPr>
            <a:r>
              <a:rPr lang="en-US" sz="2400" b="1" dirty="0">
                <a:solidFill>
                  <a:schemeClr val="bg1"/>
                </a:solidFill>
              </a:rPr>
              <a:t>Có mục tiêu</a:t>
            </a:r>
            <a:endParaRPr lang="en-US" sz="2400" dirty="0"/>
          </a:p>
        </p:txBody>
      </p:sp>
      <p:sp>
        <p:nvSpPr>
          <p:cNvPr id="12" name="arrow-182"/>
          <p:cNvSpPr/>
          <p:nvPr/>
        </p:nvSpPr>
        <p:spPr>
          <a:xfrm>
            <a:off x="5870448" y="3703320"/>
            <a:ext cx="384048" cy="457200"/>
          </a:xfrm>
          <a:prstGeom prst="rightArrow">
            <a:avLst/>
          </a:prstGeom>
          <a:solidFill>
            <a:schemeClr val="tx2"/>
          </a:solidFill>
          <a:ln/>
        </p:spPr>
      </p:sp>
      <p:sp>
        <p:nvSpPr>
          <p:cNvPr id="13" name="card-183"/>
          <p:cNvSpPr/>
          <p:nvPr/>
        </p:nvSpPr>
        <p:spPr>
          <a:xfrm>
            <a:off x="6345936" y="2926080"/>
            <a:ext cx="2331720" cy="2011680"/>
          </a:xfrm>
          <a:prstGeom prst="roundRect">
            <a:avLst>
              <a:gd name="adj" fmla="val 6818"/>
            </a:avLst>
          </a:prstGeom>
          <a:solidFill>
            <a:schemeClr val="accent5"/>
          </a:solidFill>
          <a:ln/>
        </p:spPr>
      </p:sp>
      <p:sp>
        <p:nvSpPr>
          <p:cNvPr id="14" name="text-184"/>
          <p:cNvSpPr txBox="1"/>
          <p:nvPr/>
        </p:nvSpPr>
        <p:spPr>
          <a:xfrm>
            <a:off x="6345936" y="3063240"/>
            <a:ext cx="2331720" cy="640080"/>
          </a:xfrm>
          <a:prstGeom prst="rect">
            <a:avLst/>
          </a:prstGeom>
          <a:noFill/>
          <a:ln/>
        </p:spPr>
        <p:txBody>
          <a:bodyPr wrap="square" lIns="0" tIns="0" rIns="0" bIns="0" rtlCol="0" anchor="t"/>
          <a:lstStyle/>
          <a:p>
            <a:pPr algn="ctr" indent="0" marL="0">
              <a:buNone/>
            </a:pPr>
            <a:r>
              <a:rPr lang="en-US" sz="3600" b="1" dirty="0">
                <a:solidFill>
                  <a:schemeClr val="bg1"/>
                </a:solidFill>
              </a:rPr>
              <a:t>3</a:t>
            </a:r>
            <a:endParaRPr lang="en-US" sz="3600" dirty="0"/>
          </a:p>
        </p:txBody>
      </p:sp>
      <p:sp>
        <p:nvSpPr>
          <p:cNvPr id="15" name="text-185"/>
          <p:cNvSpPr txBox="1"/>
          <p:nvPr/>
        </p:nvSpPr>
        <p:spPr>
          <a:xfrm>
            <a:off x="6483096" y="3749040"/>
            <a:ext cx="2057400" cy="1005840"/>
          </a:xfrm>
          <a:prstGeom prst="rect">
            <a:avLst/>
          </a:prstGeom>
          <a:noFill/>
          <a:ln/>
        </p:spPr>
        <p:txBody>
          <a:bodyPr wrap="square" lIns="0" tIns="0" rIns="0" bIns="0" rtlCol="0" anchor="ctr"/>
          <a:lstStyle/>
          <a:p>
            <a:pPr algn="ctr" indent="0" marL="0">
              <a:buNone/>
            </a:pPr>
            <a:r>
              <a:rPr lang="en-US" sz="2400" b="1" dirty="0">
                <a:solidFill>
                  <a:schemeClr val="bg1"/>
                </a:solidFill>
              </a:rPr>
              <a:t>Thu thập &amp; phân tích</a:t>
            </a:r>
            <a:endParaRPr lang="en-US" sz="2400" dirty="0"/>
          </a:p>
        </p:txBody>
      </p:sp>
      <p:sp>
        <p:nvSpPr>
          <p:cNvPr id="16" name="arrow-186"/>
          <p:cNvSpPr/>
          <p:nvPr/>
        </p:nvSpPr>
        <p:spPr>
          <a:xfrm>
            <a:off x="8769096" y="3703320"/>
            <a:ext cx="384048" cy="457200"/>
          </a:xfrm>
          <a:prstGeom prst="rightArrow">
            <a:avLst/>
          </a:prstGeom>
          <a:solidFill>
            <a:schemeClr val="tx2"/>
          </a:solidFill>
          <a:ln/>
        </p:spPr>
      </p:sp>
      <p:sp>
        <p:nvSpPr>
          <p:cNvPr id="17" name="card-187"/>
          <p:cNvSpPr/>
          <p:nvPr/>
        </p:nvSpPr>
        <p:spPr>
          <a:xfrm>
            <a:off x="9244584" y="2926080"/>
            <a:ext cx="2331720" cy="2011680"/>
          </a:xfrm>
          <a:prstGeom prst="roundRect">
            <a:avLst>
              <a:gd name="adj" fmla="val 6818"/>
            </a:avLst>
          </a:prstGeom>
          <a:solidFill>
            <a:schemeClr val="accent6"/>
          </a:solidFill>
          <a:ln/>
        </p:spPr>
      </p:sp>
      <p:sp>
        <p:nvSpPr>
          <p:cNvPr id="18" name="text-188"/>
          <p:cNvSpPr txBox="1"/>
          <p:nvPr/>
        </p:nvSpPr>
        <p:spPr>
          <a:xfrm>
            <a:off x="9244584" y="3063240"/>
            <a:ext cx="2331720" cy="640080"/>
          </a:xfrm>
          <a:prstGeom prst="rect">
            <a:avLst/>
          </a:prstGeom>
          <a:noFill/>
          <a:ln/>
        </p:spPr>
        <p:txBody>
          <a:bodyPr wrap="square" lIns="0" tIns="0" rIns="0" bIns="0" rtlCol="0" anchor="t"/>
          <a:lstStyle/>
          <a:p>
            <a:pPr algn="ctr" indent="0" marL="0">
              <a:buNone/>
            </a:pPr>
            <a:r>
              <a:rPr lang="en-US" sz="3600" b="1" dirty="0">
                <a:solidFill>
                  <a:schemeClr val="bg1"/>
                </a:solidFill>
              </a:rPr>
              <a:t>4</a:t>
            </a:r>
            <a:endParaRPr lang="en-US" sz="3600" dirty="0"/>
          </a:p>
        </p:txBody>
      </p:sp>
      <p:sp>
        <p:nvSpPr>
          <p:cNvPr id="19" name="text-189"/>
          <p:cNvSpPr txBox="1"/>
          <p:nvPr/>
        </p:nvSpPr>
        <p:spPr>
          <a:xfrm>
            <a:off x="9381744" y="3749040"/>
            <a:ext cx="2057400" cy="1005840"/>
          </a:xfrm>
          <a:prstGeom prst="rect">
            <a:avLst/>
          </a:prstGeom>
          <a:noFill/>
          <a:ln/>
        </p:spPr>
        <p:txBody>
          <a:bodyPr wrap="square" lIns="0" tIns="0" rIns="0" bIns="0" rtlCol="0" anchor="ctr"/>
          <a:lstStyle/>
          <a:p>
            <a:pPr algn="ctr" indent="0" marL="0">
              <a:buNone/>
            </a:pPr>
            <a:r>
              <a:rPr lang="en-US" sz="2400" b="1" dirty="0">
                <a:solidFill>
                  <a:schemeClr val="bg1"/>
                </a:solidFill>
              </a:rPr>
              <a:t>Giải quyết vấn đề</a:t>
            </a:r>
            <a:endParaRPr lang="en-US" sz="2400" dirty="0"/>
          </a:p>
        </p:txBody>
      </p:sp>
      <p:sp>
        <p:nvSpPr>
          <p:cNvPr id="20" name="text-190"/>
          <p:cNvSpPr txBox="1"/>
          <p:nvPr/>
        </p:nvSpPr>
        <p:spPr>
          <a:xfrm>
            <a:off x="548640" y="5394960"/>
            <a:ext cx="11094415" cy="548640"/>
          </a:xfrm>
          <a:prstGeom prst="rect">
            <a:avLst/>
          </a:prstGeom>
          <a:noFill/>
          <a:ln/>
        </p:spPr>
        <p:txBody>
          <a:bodyPr wrap="square" lIns="0" tIns="0" rIns="0" bIns="0" rtlCol="0" anchor="t"/>
          <a:lstStyle/>
          <a:p>
            <a:pPr indent="0" marL="0">
              <a:buNone/>
            </a:pPr>
            <a:r>
              <a:rPr lang="en-US" sz="2400" b="1" dirty="0">
                <a:solidFill>
                  <a:schemeClr val="accent3"/>
                </a:solidFill>
              </a:rPr>
              <a:t>Thiếu một thành tố → “nghiên cứu giả”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để giải quyết vấn đề hoặc để khai thác cơ hội</a:t>
            </a:r>
            <a:endParaRPr lang="en-US" sz="3000" dirty="0"/>
          </a:p>
        </p:txBody>
      </p:sp>
      <p:sp>
        <p:nvSpPr>
          <p:cNvPr id="4" name="text-191"/>
          <p:cNvSpPr txBox="1"/>
          <p:nvPr/>
        </p:nvSpPr>
        <p:spPr>
          <a:xfrm>
            <a:off x="548640" y="1691640"/>
            <a:ext cx="4572000" cy="457200"/>
          </a:xfrm>
          <a:prstGeom prst="rect">
            <a:avLst/>
          </a:prstGeom>
          <a:noFill/>
          <a:ln/>
        </p:spPr>
        <p:txBody>
          <a:bodyPr wrap="square" lIns="0" tIns="0" rIns="0" bIns="0" rtlCol="0" anchor="t"/>
          <a:lstStyle/>
          <a:p>
            <a:pPr indent="0" marL="0">
              <a:buNone/>
            </a:pPr>
            <a:r>
              <a:rPr lang="en-US" sz="2400" b="1" dirty="0">
                <a:solidFill>
                  <a:schemeClr val="tx2"/>
                </a:solidFill>
              </a:rPr>
              <a:t>Hai mục đích</a:t>
            </a:r>
            <a:endParaRPr lang="en-US" sz="2400" dirty="0"/>
          </a:p>
        </p:txBody>
      </p:sp>
      <p:sp>
        <p:nvSpPr>
          <p:cNvPr id="5" name="card-192"/>
          <p:cNvSpPr/>
          <p:nvPr/>
        </p:nvSpPr>
        <p:spPr>
          <a:xfrm>
            <a:off x="548640" y="2240280"/>
            <a:ext cx="4754880" cy="1143000"/>
          </a:xfrm>
          <a:prstGeom prst="roundRect">
            <a:avLst>
              <a:gd name="adj" fmla="val 12000"/>
            </a:avLst>
          </a:prstGeom>
          <a:solidFill>
            <a:schemeClr val="accent3"/>
          </a:solidFill>
          <a:ln/>
        </p:spPr>
      </p:sp>
      <p:sp>
        <p:nvSpPr>
          <p:cNvPr id="6" name="text-193"/>
          <p:cNvSpPr txBox="1"/>
          <p:nvPr/>
        </p:nvSpPr>
        <p:spPr>
          <a:xfrm>
            <a:off x="548640" y="2240280"/>
            <a:ext cx="4754880" cy="1143000"/>
          </a:xfrm>
          <a:prstGeom prst="rect">
            <a:avLst/>
          </a:prstGeom>
          <a:noFill/>
          <a:ln/>
        </p:spPr>
        <p:txBody>
          <a:bodyPr wrap="square" lIns="0" tIns="0" rIns="0" bIns="0" rtlCol="0" anchor="ctr"/>
          <a:lstStyle/>
          <a:p>
            <a:pPr algn="ctr" indent="0" marL="0">
              <a:buNone/>
            </a:pPr>
            <a:r>
              <a:rPr lang="en-US" sz="2800" b="1" dirty="0">
                <a:solidFill>
                  <a:schemeClr val="bg1"/>
                </a:solidFill>
              </a:rPr>
              <a:t>Giải quyết vấn đề</a:t>
            </a:r>
            <a:endParaRPr lang="en-US" sz="2800" dirty="0"/>
          </a:p>
        </p:txBody>
      </p:sp>
      <p:sp>
        <p:nvSpPr>
          <p:cNvPr id="7" name="text-194"/>
          <p:cNvSpPr txBox="1"/>
          <p:nvPr/>
        </p:nvSpPr>
        <p:spPr>
          <a:xfrm>
            <a:off x="548640" y="3429000"/>
            <a:ext cx="4754880" cy="685800"/>
          </a:xfrm>
          <a:prstGeom prst="rect">
            <a:avLst/>
          </a:prstGeom>
          <a:noFill/>
          <a:ln/>
        </p:spPr>
        <p:txBody>
          <a:bodyPr wrap="square" lIns="0" tIns="0" rIns="0" bIns="0" rtlCol="0" anchor="ctr"/>
          <a:lstStyle/>
          <a:p>
            <a:pPr algn="ctr" indent="0" marL="0">
              <a:buNone/>
            </a:pPr>
            <a:r>
              <a:rPr lang="en-US" sz="3600" b="1" dirty="0">
                <a:solidFill>
                  <a:schemeClr val="tx2"/>
                </a:solidFill>
              </a:rPr>
              <a:t>⇅</a:t>
            </a:r>
            <a:endParaRPr lang="en-US" sz="3600" dirty="0"/>
          </a:p>
        </p:txBody>
      </p:sp>
      <p:sp>
        <p:nvSpPr>
          <p:cNvPr id="8" name="card-195"/>
          <p:cNvSpPr/>
          <p:nvPr/>
        </p:nvSpPr>
        <p:spPr>
          <a:xfrm>
            <a:off x="548640" y="4160520"/>
            <a:ext cx="4754880" cy="1143000"/>
          </a:xfrm>
          <a:prstGeom prst="roundRect">
            <a:avLst>
              <a:gd name="adj" fmla="val 12000"/>
            </a:avLst>
          </a:prstGeom>
          <a:solidFill>
            <a:schemeClr val="accent1"/>
          </a:solidFill>
          <a:ln/>
        </p:spPr>
      </p:sp>
      <p:sp>
        <p:nvSpPr>
          <p:cNvPr id="9" name="text-196"/>
          <p:cNvSpPr txBox="1"/>
          <p:nvPr/>
        </p:nvSpPr>
        <p:spPr>
          <a:xfrm>
            <a:off x="548640" y="4160520"/>
            <a:ext cx="4754880" cy="1143000"/>
          </a:xfrm>
          <a:prstGeom prst="rect">
            <a:avLst/>
          </a:prstGeom>
          <a:noFill/>
          <a:ln/>
        </p:spPr>
        <p:txBody>
          <a:bodyPr wrap="square" lIns="0" tIns="0" rIns="0" bIns="0" rtlCol="0" anchor="ctr"/>
          <a:lstStyle/>
          <a:p>
            <a:pPr algn="ctr" indent="0" marL="0">
              <a:buNone/>
            </a:pPr>
            <a:r>
              <a:rPr lang="en-US" sz="2800" b="1" dirty="0">
                <a:solidFill>
                  <a:schemeClr val="bg1"/>
                </a:solidFill>
              </a:rPr>
              <a:t>Khai thác cơ hội</a:t>
            </a:r>
            <a:endParaRPr lang="en-US" sz="2800" dirty="0"/>
          </a:p>
        </p:txBody>
      </p:sp>
      <p:sp>
        <p:nvSpPr>
          <p:cNvPr id="10" name="text-197"/>
          <p:cNvSpPr txBox="1"/>
          <p:nvPr/>
        </p:nvSpPr>
        <p:spPr>
          <a:xfrm>
            <a:off x="5852160" y="1691640"/>
            <a:ext cx="4572000" cy="457200"/>
          </a:xfrm>
          <a:prstGeom prst="rect">
            <a:avLst/>
          </a:prstGeom>
          <a:noFill/>
          <a:ln/>
        </p:spPr>
        <p:txBody>
          <a:bodyPr wrap="square" lIns="0" tIns="0" rIns="0" bIns="0" rtlCol="0" anchor="t"/>
          <a:lstStyle/>
          <a:p>
            <a:pPr indent="0" marL="0">
              <a:buNone/>
            </a:pPr>
            <a:r>
              <a:rPr lang="en-US" sz="2400" b="1" dirty="0">
                <a:solidFill>
                  <a:schemeClr val="tx2"/>
                </a:solidFill>
              </a:rPr>
              <a:t>Sáu phạm vi</a:t>
            </a:r>
            <a:endParaRPr lang="en-US" sz="2400" dirty="0"/>
          </a:p>
        </p:txBody>
      </p:sp>
      <p:sp>
        <p:nvSpPr>
          <p:cNvPr id="11" name="card-198"/>
          <p:cNvSpPr/>
          <p:nvPr/>
        </p:nvSpPr>
        <p:spPr>
          <a:xfrm>
            <a:off x="5852160" y="2240280"/>
            <a:ext cx="2697480" cy="868680"/>
          </a:xfrm>
          <a:prstGeom prst="roundRect">
            <a:avLst>
              <a:gd name="adj" fmla="val 15789"/>
            </a:avLst>
          </a:prstGeom>
          <a:solidFill>
            <a:schemeClr val="bg2"/>
          </a:solidFill>
          <a:ln/>
        </p:spPr>
      </p:sp>
      <p:sp>
        <p:nvSpPr>
          <p:cNvPr id="12" name="text-199"/>
          <p:cNvSpPr txBox="1"/>
          <p:nvPr/>
        </p:nvSpPr>
        <p:spPr>
          <a:xfrm>
            <a:off x="5852160" y="2240280"/>
            <a:ext cx="2697480" cy="868680"/>
          </a:xfrm>
          <a:prstGeom prst="rect">
            <a:avLst/>
          </a:prstGeom>
          <a:noFill/>
          <a:ln/>
        </p:spPr>
        <p:txBody>
          <a:bodyPr wrap="square" lIns="0" tIns="0" rIns="0" bIns="0" rtlCol="0" anchor="ctr"/>
          <a:lstStyle/>
          <a:p>
            <a:pPr algn="ctr" indent="0" marL="0">
              <a:buNone/>
            </a:pPr>
            <a:r>
              <a:rPr lang="en-US" sz="2400" dirty="0">
                <a:solidFill>
                  <a:schemeClr val="tx1"/>
                </a:solidFill>
              </a:rPr>
              <a:t>Thị trường</a:t>
            </a:r>
            <a:endParaRPr lang="en-US" sz="2400" dirty="0"/>
          </a:p>
        </p:txBody>
      </p:sp>
      <p:sp>
        <p:nvSpPr>
          <p:cNvPr id="13" name="card-200"/>
          <p:cNvSpPr/>
          <p:nvPr/>
        </p:nvSpPr>
        <p:spPr>
          <a:xfrm>
            <a:off x="8778240" y="2240280"/>
            <a:ext cx="2697480" cy="868680"/>
          </a:xfrm>
          <a:prstGeom prst="roundRect">
            <a:avLst>
              <a:gd name="adj" fmla="val 15789"/>
            </a:avLst>
          </a:prstGeom>
          <a:solidFill>
            <a:schemeClr val="bg2"/>
          </a:solidFill>
          <a:ln/>
        </p:spPr>
      </p:sp>
      <p:sp>
        <p:nvSpPr>
          <p:cNvPr id="14" name="text-201"/>
          <p:cNvSpPr txBox="1"/>
          <p:nvPr/>
        </p:nvSpPr>
        <p:spPr>
          <a:xfrm>
            <a:off x="8778240" y="2240280"/>
            <a:ext cx="2697480" cy="868680"/>
          </a:xfrm>
          <a:prstGeom prst="rect">
            <a:avLst/>
          </a:prstGeom>
          <a:noFill/>
          <a:ln/>
        </p:spPr>
        <p:txBody>
          <a:bodyPr wrap="square" lIns="0" tIns="0" rIns="0" bIns="0" rtlCol="0" anchor="ctr"/>
          <a:lstStyle/>
          <a:p>
            <a:pPr algn="ctr" indent="0" marL="0">
              <a:buNone/>
            </a:pPr>
            <a:r>
              <a:rPr lang="en-US" sz="2400" dirty="0">
                <a:solidFill>
                  <a:schemeClr val="tx1"/>
                </a:solidFill>
              </a:rPr>
              <a:t>Hành vi NTD</a:t>
            </a:r>
            <a:endParaRPr lang="en-US" sz="2400" dirty="0"/>
          </a:p>
        </p:txBody>
      </p:sp>
      <p:sp>
        <p:nvSpPr>
          <p:cNvPr id="15" name="card-202"/>
          <p:cNvSpPr/>
          <p:nvPr/>
        </p:nvSpPr>
        <p:spPr>
          <a:xfrm>
            <a:off x="5852160" y="3337560"/>
            <a:ext cx="2697480" cy="868680"/>
          </a:xfrm>
          <a:prstGeom prst="roundRect">
            <a:avLst>
              <a:gd name="adj" fmla="val 15789"/>
            </a:avLst>
          </a:prstGeom>
          <a:solidFill>
            <a:schemeClr val="bg2"/>
          </a:solidFill>
          <a:ln/>
        </p:spPr>
      </p:sp>
      <p:sp>
        <p:nvSpPr>
          <p:cNvPr id="16" name="text-203"/>
          <p:cNvSpPr txBox="1"/>
          <p:nvPr/>
        </p:nvSpPr>
        <p:spPr>
          <a:xfrm>
            <a:off x="5852160" y="3337560"/>
            <a:ext cx="2697480" cy="868680"/>
          </a:xfrm>
          <a:prstGeom prst="rect">
            <a:avLst/>
          </a:prstGeom>
          <a:noFill/>
          <a:ln/>
        </p:spPr>
        <p:txBody>
          <a:bodyPr wrap="square" lIns="0" tIns="0" rIns="0" bIns="0" rtlCol="0" anchor="ctr"/>
          <a:lstStyle/>
          <a:p>
            <a:pPr algn="ctr" indent="0" marL="0">
              <a:buNone/>
            </a:pPr>
            <a:r>
              <a:rPr lang="en-US" sz="2400" dirty="0">
                <a:solidFill>
                  <a:schemeClr val="tx1"/>
                </a:solidFill>
              </a:rPr>
              <a:t>Sản phẩm</a:t>
            </a:r>
            <a:endParaRPr lang="en-US" sz="2400" dirty="0"/>
          </a:p>
        </p:txBody>
      </p:sp>
      <p:sp>
        <p:nvSpPr>
          <p:cNvPr id="17" name="card-204"/>
          <p:cNvSpPr/>
          <p:nvPr/>
        </p:nvSpPr>
        <p:spPr>
          <a:xfrm>
            <a:off x="8778240" y="3337560"/>
            <a:ext cx="2697480" cy="868680"/>
          </a:xfrm>
          <a:prstGeom prst="roundRect">
            <a:avLst>
              <a:gd name="adj" fmla="val 15789"/>
            </a:avLst>
          </a:prstGeom>
          <a:solidFill>
            <a:schemeClr val="accent2"/>
          </a:solidFill>
          <a:ln/>
        </p:spPr>
      </p:sp>
      <p:sp>
        <p:nvSpPr>
          <p:cNvPr id="18" name="text-205"/>
          <p:cNvSpPr txBox="1"/>
          <p:nvPr/>
        </p:nvSpPr>
        <p:spPr>
          <a:xfrm>
            <a:off x="8778240" y="3337560"/>
            <a:ext cx="2697480" cy="868680"/>
          </a:xfrm>
          <a:prstGeom prst="rect">
            <a:avLst/>
          </a:prstGeom>
          <a:noFill/>
          <a:ln/>
        </p:spPr>
        <p:txBody>
          <a:bodyPr wrap="square" lIns="0" tIns="0" rIns="0" bIns="0" rtlCol="0" anchor="ctr"/>
          <a:lstStyle/>
          <a:p>
            <a:pPr algn="ctr" indent="0" marL="0">
              <a:buNone/>
            </a:pPr>
            <a:r>
              <a:rPr lang="en-US" sz="2400" b="1" dirty="0">
                <a:solidFill>
                  <a:schemeClr val="bg1"/>
                </a:solidFill>
              </a:rPr>
              <a:t>Giá</a:t>
            </a:r>
            <a:endParaRPr lang="en-US" sz="2400" dirty="0"/>
          </a:p>
        </p:txBody>
      </p:sp>
      <p:sp>
        <p:nvSpPr>
          <p:cNvPr id="19" name="card-206"/>
          <p:cNvSpPr/>
          <p:nvPr/>
        </p:nvSpPr>
        <p:spPr>
          <a:xfrm>
            <a:off x="5852160" y="4434840"/>
            <a:ext cx="2697480" cy="868680"/>
          </a:xfrm>
          <a:prstGeom prst="roundRect">
            <a:avLst>
              <a:gd name="adj" fmla="val 15789"/>
            </a:avLst>
          </a:prstGeom>
          <a:solidFill>
            <a:schemeClr val="bg2"/>
          </a:solidFill>
          <a:ln/>
        </p:spPr>
      </p:sp>
      <p:sp>
        <p:nvSpPr>
          <p:cNvPr id="20" name="text-207"/>
          <p:cNvSpPr txBox="1"/>
          <p:nvPr/>
        </p:nvSpPr>
        <p:spPr>
          <a:xfrm>
            <a:off x="5852160" y="4434840"/>
            <a:ext cx="2697480" cy="868680"/>
          </a:xfrm>
          <a:prstGeom prst="rect">
            <a:avLst/>
          </a:prstGeom>
          <a:noFill/>
          <a:ln/>
        </p:spPr>
        <p:txBody>
          <a:bodyPr wrap="square" lIns="0" tIns="0" rIns="0" bIns="0" rtlCol="0" anchor="ctr"/>
          <a:lstStyle/>
          <a:p>
            <a:pPr algn="ctr" indent="0" marL="0">
              <a:buNone/>
            </a:pPr>
            <a:r>
              <a:rPr lang="en-US" sz="2400" dirty="0">
                <a:solidFill>
                  <a:schemeClr val="tx1"/>
                </a:solidFill>
              </a:rPr>
              <a:t>Phân phối</a:t>
            </a:r>
            <a:endParaRPr lang="en-US" sz="2400" dirty="0"/>
          </a:p>
        </p:txBody>
      </p:sp>
      <p:sp>
        <p:nvSpPr>
          <p:cNvPr id="21" name="card-208"/>
          <p:cNvSpPr/>
          <p:nvPr/>
        </p:nvSpPr>
        <p:spPr>
          <a:xfrm>
            <a:off x="8778240" y="4434840"/>
            <a:ext cx="2697480" cy="868680"/>
          </a:xfrm>
          <a:prstGeom prst="roundRect">
            <a:avLst>
              <a:gd name="adj" fmla="val 15789"/>
            </a:avLst>
          </a:prstGeom>
          <a:solidFill>
            <a:schemeClr val="bg2"/>
          </a:solidFill>
          <a:ln/>
        </p:spPr>
      </p:sp>
      <p:sp>
        <p:nvSpPr>
          <p:cNvPr id="22" name="text-209"/>
          <p:cNvSpPr txBox="1"/>
          <p:nvPr/>
        </p:nvSpPr>
        <p:spPr>
          <a:xfrm>
            <a:off x="8778240" y="4434840"/>
            <a:ext cx="2697480" cy="868680"/>
          </a:xfrm>
          <a:prstGeom prst="rect">
            <a:avLst/>
          </a:prstGeom>
          <a:noFill/>
          <a:ln/>
        </p:spPr>
        <p:txBody>
          <a:bodyPr wrap="square" lIns="0" tIns="0" rIns="0" bIns="0" rtlCol="0" anchor="ctr"/>
          <a:lstStyle/>
          <a:p>
            <a:pPr algn="ctr" indent="0" marL="0">
              <a:buNone/>
            </a:pPr>
            <a:r>
              <a:rPr lang="en-US" sz="2400" dirty="0">
                <a:solidFill>
                  <a:schemeClr val="tx1"/>
                </a:solidFill>
              </a:rPr>
              <a:t>Xúc tiến</a:t>
            </a:r>
            <a:endParaRPr lang="en-US" sz="2400" dirty="0"/>
          </a:p>
        </p:txBody>
      </p:sp>
      <p:sp>
        <p:nvSpPr>
          <p:cNvPr id="23" name="text-210"/>
          <p:cNvSpPr txBox="1"/>
          <p:nvPr/>
        </p:nvSpPr>
        <p:spPr>
          <a:xfrm>
            <a:off x="5852160" y="5623560"/>
            <a:ext cx="5788152" cy="502920"/>
          </a:xfrm>
          <a:prstGeom prst="rect">
            <a:avLst/>
          </a:prstGeom>
          <a:noFill/>
          <a:ln/>
        </p:spPr>
        <p:txBody>
          <a:bodyPr wrap="square" lIns="0" tIns="0" rIns="0" bIns="0" rtlCol="0" anchor="t"/>
          <a:lstStyle/>
          <a:p>
            <a:pPr indent="0" marL="0">
              <a:buNone/>
            </a:pPr>
            <a:r>
              <a:rPr lang="en-US" sz="2400" i="1" dirty="0">
                <a:solidFill>
                  <a:schemeClr val="accent2"/>
                </a:solidFill>
              </a:rPr>
              <a:t>Trả tối đa bao nhiêu? → Giá</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Mỗi nghiên cứu có một vị trí trên ba tiêu chí phân loại</a:t>
            </a:r>
            <a:endParaRPr lang="en-US" sz="3000" dirty="0"/>
          </a:p>
        </p:txBody>
      </p:sp>
      <p:sp>
        <p:nvSpPr>
          <p:cNvPr id="4" name="card-211"/>
          <p:cNvSpPr/>
          <p:nvPr/>
        </p:nvSpPr>
        <p:spPr>
          <a:xfrm>
            <a:off x="548640" y="2971800"/>
            <a:ext cx="2377440" cy="1463040"/>
          </a:xfrm>
          <a:prstGeom prst="roundRect">
            <a:avLst>
              <a:gd name="adj" fmla="val 9375"/>
            </a:avLst>
          </a:prstGeom>
          <a:solidFill>
            <a:schemeClr val="accent2"/>
          </a:solidFill>
          <a:ln/>
        </p:spPr>
      </p:sp>
      <p:sp>
        <p:nvSpPr>
          <p:cNvPr id="5" name="text-212"/>
          <p:cNvSpPr txBox="1"/>
          <p:nvPr/>
        </p:nvSpPr>
        <p:spPr>
          <a:xfrm>
            <a:off x="548640" y="2971800"/>
            <a:ext cx="2377440" cy="1463040"/>
          </a:xfrm>
          <a:prstGeom prst="rect">
            <a:avLst/>
          </a:prstGeom>
          <a:noFill/>
          <a:ln/>
        </p:spPr>
        <p:txBody>
          <a:bodyPr wrap="square" lIns="0" tIns="0" rIns="0" bIns="0" rtlCol="0" anchor="ctr"/>
          <a:lstStyle/>
          <a:p>
            <a:pPr algn="ctr" indent="0" marL="0">
              <a:buNone/>
            </a:pPr>
            <a:r>
              <a:rPr lang="en-US" sz="2800" b="1" dirty="0">
                <a:solidFill>
                  <a:schemeClr val="bg1"/>
                </a:solidFill>
              </a:rPr>
              <a:t>Một nghiên cứu</a:t>
            </a:r>
            <a:endParaRPr lang="en-US" sz="2800" dirty="0"/>
          </a:p>
        </p:txBody>
      </p:sp>
      <p:sp>
        <p:nvSpPr>
          <p:cNvPr id="6" name="line-213"/>
          <p:cNvSpPr/>
          <p:nvPr/>
        </p:nvSpPr>
        <p:spPr>
          <a:xfrm>
            <a:off x="2926080" y="3703320"/>
            <a:ext cx="731520" cy="-1325880"/>
          </a:xfrm>
          <a:prstGeom prst="line">
            <a:avLst/>
          </a:prstGeom>
          <a:noFill/>
          <a:ln w="38100">
            <a:solidFill>
              <a:schemeClr val="accent1"/>
            </a:solidFill>
            <a:prstDash val="solid"/>
          </a:ln>
        </p:spPr>
      </p:sp>
      <p:sp>
        <p:nvSpPr>
          <p:cNvPr id="7" name="card-214"/>
          <p:cNvSpPr/>
          <p:nvPr/>
        </p:nvSpPr>
        <p:spPr>
          <a:xfrm>
            <a:off x="3657600" y="1737360"/>
            <a:ext cx="7982712" cy="1280160"/>
          </a:xfrm>
          <a:prstGeom prst="roundRect">
            <a:avLst>
              <a:gd name="adj" fmla="val 10714"/>
            </a:avLst>
          </a:prstGeom>
          <a:solidFill>
            <a:schemeClr val="bg2"/>
          </a:solidFill>
          <a:ln/>
        </p:spPr>
      </p:sp>
      <p:sp>
        <p:nvSpPr>
          <p:cNvPr id="8" name="dot-215"/>
          <p:cNvSpPr/>
          <p:nvPr/>
        </p:nvSpPr>
        <p:spPr>
          <a:xfrm>
            <a:off x="3886200" y="2029968"/>
            <a:ext cx="685800" cy="685800"/>
          </a:xfrm>
          <a:prstGeom prst="ellipse">
            <a:avLst/>
          </a:prstGeom>
          <a:solidFill>
            <a:schemeClr val="accent1"/>
          </a:solidFill>
          <a:ln/>
        </p:spPr>
      </p:sp>
      <p:sp>
        <p:nvSpPr>
          <p:cNvPr id="9" name="text-216"/>
          <p:cNvSpPr txBox="1"/>
          <p:nvPr/>
        </p:nvSpPr>
        <p:spPr>
          <a:xfrm>
            <a:off x="3886200" y="2029968"/>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10" name="text-217"/>
          <p:cNvSpPr txBox="1"/>
          <p:nvPr/>
        </p:nvSpPr>
        <p:spPr>
          <a:xfrm>
            <a:off x="4800600" y="1847088"/>
            <a:ext cx="6675120" cy="502920"/>
          </a:xfrm>
          <a:prstGeom prst="rect">
            <a:avLst/>
          </a:prstGeom>
          <a:noFill/>
          <a:ln/>
        </p:spPr>
        <p:txBody>
          <a:bodyPr wrap="square" lIns="0" tIns="0" rIns="0" bIns="0" rtlCol="0" anchor="t"/>
          <a:lstStyle/>
          <a:p>
            <a:pPr indent="0" marL="0">
              <a:buNone/>
            </a:pPr>
            <a:r>
              <a:rPr lang="en-US" sz="2600" b="1" dirty="0">
                <a:solidFill>
                  <a:schemeClr val="accent1"/>
                </a:solidFill>
              </a:rPr>
              <a:t>Mục tiêu cốt lõi</a:t>
            </a:r>
            <a:endParaRPr lang="en-US" sz="2600" dirty="0"/>
          </a:p>
        </p:txBody>
      </p:sp>
      <p:sp>
        <p:nvSpPr>
          <p:cNvPr id="11" name="text-218"/>
          <p:cNvSpPr txBox="1"/>
          <p:nvPr/>
        </p:nvSpPr>
        <p:spPr>
          <a:xfrm>
            <a:off x="4800600" y="2377440"/>
            <a:ext cx="6766560" cy="502920"/>
          </a:xfrm>
          <a:prstGeom prst="rect">
            <a:avLst/>
          </a:prstGeom>
          <a:noFill/>
          <a:ln/>
        </p:spPr>
        <p:txBody>
          <a:bodyPr wrap="square" lIns="0" tIns="0" rIns="0" bIns="0" rtlCol="0" anchor="t"/>
          <a:lstStyle/>
          <a:p>
            <a:pPr indent="0" marL="0">
              <a:buNone/>
            </a:pPr>
            <a:r>
              <a:rPr lang="en-US" sz="2400" dirty="0">
                <a:solidFill>
                  <a:schemeClr val="tx1"/>
                </a:solidFill>
              </a:rPr>
              <a:t>Hàn lâm · Ứng dụng</a:t>
            </a:r>
            <a:endParaRPr lang="en-US" sz="2400" dirty="0"/>
          </a:p>
        </p:txBody>
      </p:sp>
      <p:sp>
        <p:nvSpPr>
          <p:cNvPr id="12" name="line-219"/>
          <p:cNvSpPr/>
          <p:nvPr/>
        </p:nvSpPr>
        <p:spPr>
          <a:xfrm>
            <a:off x="2926080" y="3703320"/>
            <a:ext cx="731520" cy="182880"/>
          </a:xfrm>
          <a:prstGeom prst="line">
            <a:avLst/>
          </a:prstGeom>
          <a:noFill/>
          <a:ln w="38100">
            <a:solidFill>
              <a:schemeClr val="accent5"/>
            </a:solidFill>
            <a:prstDash val="solid"/>
          </a:ln>
        </p:spPr>
      </p:sp>
      <p:sp>
        <p:nvSpPr>
          <p:cNvPr id="13" name="card-220"/>
          <p:cNvSpPr/>
          <p:nvPr/>
        </p:nvSpPr>
        <p:spPr>
          <a:xfrm>
            <a:off x="3657600" y="3246120"/>
            <a:ext cx="7982712" cy="1280160"/>
          </a:xfrm>
          <a:prstGeom prst="roundRect">
            <a:avLst>
              <a:gd name="adj" fmla="val 10714"/>
            </a:avLst>
          </a:prstGeom>
          <a:solidFill>
            <a:schemeClr val="bg2"/>
          </a:solidFill>
          <a:ln/>
        </p:spPr>
      </p:sp>
      <p:sp>
        <p:nvSpPr>
          <p:cNvPr id="14" name="dot-221"/>
          <p:cNvSpPr/>
          <p:nvPr/>
        </p:nvSpPr>
        <p:spPr>
          <a:xfrm>
            <a:off x="3886200" y="3538728"/>
            <a:ext cx="685800" cy="685800"/>
          </a:xfrm>
          <a:prstGeom prst="ellipse">
            <a:avLst/>
          </a:prstGeom>
          <a:solidFill>
            <a:schemeClr val="accent5"/>
          </a:solidFill>
          <a:ln/>
        </p:spPr>
      </p:sp>
      <p:sp>
        <p:nvSpPr>
          <p:cNvPr id="15" name="text-222"/>
          <p:cNvSpPr txBox="1"/>
          <p:nvPr/>
        </p:nvSpPr>
        <p:spPr>
          <a:xfrm>
            <a:off x="3886200" y="3538728"/>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6" name="text-223"/>
          <p:cNvSpPr txBox="1"/>
          <p:nvPr/>
        </p:nvSpPr>
        <p:spPr>
          <a:xfrm>
            <a:off x="4800600" y="3355848"/>
            <a:ext cx="6675120" cy="502920"/>
          </a:xfrm>
          <a:prstGeom prst="rect">
            <a:avLst/>
          </a:prstGeom>
          <a:noFill/>
          <a:ln/>
        </p:spPr>
        <p:txBody>
          <a:bodyPr wrap="square" lIns="0" tIns="0" rIns="0" bIns="0" rtlCol="0" anchor="t"/>
          <a:lstStyle/>
          <a:p>
            <a:pPr indent="0" marL="0">
              <a:buNone/>
            </a:pPr>
            <a:r>
              <a:rPr lang="en-US" sz="2600" b="1" dirty="0">
                <a:solidFill>
                  <a:schemeClr val="accent5"/>
                </a:solidFill>
              </a:rPr>
              <a:t>Mục tiêu thiết kế</a:t>
            </a:r>
            <a:endParaRPr lang="en-US" sz="2600" dirty="0"/>
          </a:p>
        </p:txBody>
      </p:sp>
      <p:sp>
        <p:nvSpPr>
          <p:cNvPr id="17" name="text-224"/>
          <p:cNvSpPr txBox="1"/>
          <p:nvPr/>
        </p:nvSpPr>
        <p:spPr>
          <a:xfrm>
            <a:off x="4800600" y="3886200"/>
            <a:ext cx="6766560" cy="502920"/>
          </a:xfrm>
          <a:prstGeom prst="rect">
            <a:avLst/>
          </a:prstGeom>
          <a:noFill/>
          <a:ln/>
        </p:spPr>
        <p:txBody>
          <a:bodyPr wrap="square" lIns="0" tIns="0" rIns="0" bIns="0" rtlCol="0" anchor="t"/>
          <a:lstStyle/>
          <a:p>
            <a:pPr indent="0" marL="0">
              <a:buNone/>
            </a:pPr>
            <a:r>
              <a:rPr lang="en-US" sz="2400" dirty="0">
                <a:solidFill>
                  <a:schemeClr val="tx1"/>
                </a:solidFill>
              </a:rPr>
              <a:t>Khám phá · Mô tả · Tương quan · Nhân quả</a:t>
            </a:r>
            <a:endParaRPr lang="en-US" sz="2400" dirty="0"/>
          </a:p>
        </p:txBody>
      </p:sp>
      <p:sp>
        <p:nvSpPr>
          <p:cNvPr id="18" name="line-225"/>
          <p:cNvSpPr/>
          <p:nvPr/>
        </p:nvSpPr>
        <p:spPr>
          <a:xfrm>
            <a:off x="2926080" y="3703320"/>
            <a:ext cx="731520" cy="1691640"/>
          </a:xfrm>
          <a:prstGeom prst="line">
            <a:avLst/>
          </a:prstGeom>
          <a:noFill/>
          <a:ln w="38100">
            <a:solidFill>
              <a:schemeClr val="accent3"/>
            </a:solidFill>
            <a:prstDash val="solid"/>
          </a:ln>
        </p:spPr>
      </p:sp>
      <p:sp>
        <p:nvSpPr>
          <p:cNvPr id="19" name="card-226"/>
          <p:cNvSpPr/>
          <p:nvPr/>
        </p:nvSpPr>
        <p:spPr>
          <a:xfrm>
            <a:off x="3657600" y="4754880"/>
            <a:ext cx="7982712" cy="1280160"/>
          </a:xfrm>
          <a:prstGeom prst="roundRect">
            <a:avLst>
              <a:gd name="adj" fmla="val 10714"/>
            </a:avLst>
          </a:prstGeom>
          <a:solidFill>
            <a:schemeClr val="bg2"/>
          </a:solidFill>
          <a:ln/>
        </p:spPr>
      </p:sp>
      <p:sp>
        <p:nvSpPr>
          <p:cNvPr id="20" name="dot-227"/>
          <p:cNvSpPr/>
          <p:nvPr/>
        </p:nvSpPr>
        <p:spPr>
          <a:xfrm>
            <a:off x="3886200" y="5047488"/>
            <a:ext cx="685800" cy="685800"/>
          </a:xfrm>
          <a:prstGeom prst="ellipse">
            <a:avLst/>
          </a:prstGeom>
          <a:solidFill>
            <a:schemeClr val="accent3"/>
          </a:solidFill>
          <a:ln/>
        </p:spPr>
      </p:sp>
      <p:sp>
        <p:nvSpPr>
          <p:cNvPr id="21" name="text-228"/>
          <p:cNvSpPr txBox="1"/>
          <p:nvPr/>
        </p:nvSpPr>
        <p:spPr>
          <a:xfrm>
            <a:off x="3886200" y="5047488"/>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22" name="text-229"/>
          <p:cNvSpPr txBox="1"/>
          <p:nvPr/>
        </p:nvSpPr>
        <p:spPr>
          <a:xfrm>
            <a:off x="4800600" y="4864608"/>
            <a:ext cx="6675120" cy="502920"/>
          </a:xfrm>
          <a:prstGeom prst="rect">
            <a:avLst/>
          </a:prstGeom>
          <a:noFill/>
          <a:ln/>
        </p:spPr>
        <p:txBody>
          <a:bodyPr wrap="square" lIns="0" tIns="0" rIns="0" bIns="0" rtlCol="0" anchor="t"/>
          <a:lstStyle/>
          <a:p>
            <a:pPr indent="0" marL="0">
              <a:buNone/>
            </a:pPr>
            <a:r>
              <a:rPr lang="en-US" sz="2600" b="1" dirty="0">
                <a:solidFill>
                  <a:schemeClr val="accent3"/>
                </a:solidFill>
              </a:rPr>
              <a:t>Tính chất dữ liệu</a:t>
            </a:r>
            <a:endParaRPr lang="en-US" sz="2600" dirty="0"/>
          </a:p>
        </p:txBody>
      </p:sp>
      <p:sp>
        <p:nvSpPr>
          <p:cNvPr id="23" name="text-230"/>
          <p:cNvSpPr txBox="1"/>
          <p:nvPr/>
        </p:nvSpPr>
        <p:spPr>
          <a:xfrm>
            <a:off x="4800600" y="5394960"/>
            <a:ext cx="6766560" cy="502920"/>
          </a:xfrm>
          <a:prstGeom prst="rect">
            <a:avLst/>
          </a:prstGeom>
          <a:noFill/>
          <a:ln/>
        </p:spPr>
        <p:txBody>
          <a:bodyPr wrap="square" lIns="0" tIns="0" rIns="0" bIns="0" rtlCol="0" anchor="t"/>
          <a:lstStyle/>
          <a:p>
            <a:pPr indent="0" marL="0">
              <a:buNone/>
            </a:pPr>
            <a:r>
              <a:rPr lang="en-US" sz="2400" dirty="0">
                <a:solidFill>
                  <a:schemeClr val="tx1"/>
                </a:solidFill>
              </a:rPr>
              <a:t>Định tính · Định lượng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Dự án của các bạn là nghiên cứu ứng dụng, phục vụ một quyết định cụ thể</a:t>
            </a:r>
            <a:endParaRPr lang="en-US" sz="3000" dirty="0"/>
          </a:p>
        </p:txBody>
      </p:sp>
      <p:sp>
        <p:nvSpPr>
          <p:cNvPr id="4" name="text-231"/>
          <p:cNvSpPr txBox="1"/>
          <p:nvPr/>
        </p:nvSpPr>
        <p:spPr>
          <a:xfrm>
            <a:off x="2743200" y="1691640"/>
            <a:ext cx="4370832" cy="640080"/>
          </a:xfrm>
          <a:prstGeom prst="rect">
            <a:avLst/>
          </a:prstGeom>
          <a:noFill/>
          <a:ln/>
        </p:spPr>
        <p:txBody>
          <a:bodyPr wrap="square" lIns="0" tIns="0" rIns="0" bIns="0" rtlCol="0" anchor="ctr"/>
          <a:lstStyle/>
          <a:p>
            <a:pPr indent="0" marL="0">
              <a:buNone/>
            </a:pPr>
            <a:r>
              <a:rPr lang="en-US" sz="2800" b="1" dirty="0">
                <a:solidFill>
                  <a:schemeClr val="tx2"/>
                </a:solidFill>
              </a:rPr>
              <a:t>Hàn lâm</a:t>
            </a:r>
            <a:endParaRPr lang="en-US" sz="2800" dirty="0"/>
          </a:p>
        </p:txBody>
      </p:sp>
      <p:sp>
        <p:nvSpPr>
          <p:cNvPr id="5" name="card-232"/>
          <p:cNvSpPr/>
          <p:nvPr/>
        </p:nvSpPr>
        <p:spPr>
          <a:xfrm>
            <a:off x="7132320" y="1600200"/>
            <a:ext cx="4645152" cy="4572000"/>
          </a:xfrm>
          <a:prstGeom prst="roundRect">
            <a:avLst>
              <a:gd name="adj" fmla="val 3000"/>
            </a:avLst>
          </a:prstGeom>
          <a:solidFill>
            <a:schemeClr val="bg2"/>
          </a:solidFill>
          <a:ln/>
        </p:spPr>
      </p:sp>
      <p:sp>
        <p:nvSpPr>
          <p:cNvPr id="6" name="text-233"/>
          <p:cNvSpPr txBox="1"/>
          <p:nvPr/>
        </p:nvSpPr>
        <p:spPr>
          <a:xfrm>
            <a:off x="7269480" y="1691640"/>
            <a:ext cx="2011680" cy="640080"/>
          </a:xfrm>
          <a:prstGeom prst="rect">
            <a:avLst/>
          </a:prstGeom>
          <a:noFill/>
          <a:ln/>
        </p:spPr>
        <p:txBody>
          <a:bodyPr wrap="square" lIns="0" tIns="0" rIns="0" bIns="0" rtlCol="0" anchor="ctr"/>
          <a:lstStyle/>
          <a:p>
            <a:pPr indent="0" marL="0">
              <a:buNone/>
            </a:pPr>
            <a:r>
              <a:rPr lang="en-US" sz="2800" b="1" dirty="0">
                <a:solidFill>
                  <a:schemeClr val="accent1"/>
                </a:solidFill>
              </a:rPr>
              <a:t>Ứng dụng</a:t>
            </a:r>
            <a:endParaRPr lang="en-US" sz="2800" dirty="0"/>
          </a:p>
        </p:txBody>
      </p:sp>
      <p:sp>
        <p:nvSpPr>
          <p:cNvPr id="7" name="card-234"/>
          <p:cNvSpPr/>
          <p:nvPr/>
        </p:nvSpPr>
        <p:spPr>
          <a:xfrm>
            <a:off x="9189720" y="1755648"/>
            <a:ext cx="2423160" cy="548640"/>
          </a:xfrm>
          <a:prstGeom prst="roundRect">
            <a:avLst>
              <a:gd name="adj" fmla="val 25000"/>
            </a:avLst>
          </a:prstGeom>
          <a:solidFill>
            <a:schemeClr val="accent2"/>
          </a:solidFill>
          <a:ln/>
        </p:spPr>
      </p:sp>
      <p:sp>
        <p:nvSpPr>
          <p:cNvPr id="8" name="text-235"/>
          <p:cNvSpPr txBox="1"/>
          <p:nvPr/>
        </p:nvSpPr>
        <p:spPr>
          <a:xfrm>
            <a:off x="9189720" y="1755648"/>
            <a:ext cx="2423160" cy="548640"/>
          </a:xfrm>
          <a:prstGeom prst="rect">
            <a:avLst/>
          </a:prstGeom>
          <a:noFill/>
          <a:ln/>
        </p:spPr>
        <p:txBody>
          <a:bodyPr wrap="square" lIns="0" tIns="0" rIns="0" bIns="0" rtlCol="0" anchor="ctr"/>
          <a:lstStyle/>
          <a:p>
            <a:pPr algn="ctr" indent="0" marL="0">
              <a:buNone/>
            </a:pPr>
            <a:r>
              <a:rPr lang="en-US" sz="2400" b="1" dirty="0">
                <a:solidFill>
                  <a:schemeClr val="bg1"/>
                </a:solidFill>
              </a:rPr>
              <a:t>Dự án của bạn</a:t>
            </a:r>
            <a:endParaRPr lang="en-US" sz="2400" dirty="0"/>
          </a:p>
        </p:txBody>
      </p:sp>
      <p:sp>
        <p:nvSpPr>
          <p:cNvPr id="9" name="text-236"/>
          <p:cNvSpPr txBox="1"/>
          <p:nvPr/>
        </p:nvSpPr>
        <p:spPr>
          <a:xfrm>
            <a:off x="548640" y="2514600"/>
            <a:ext cx="2011680" cy="868680"/>
          </a:xfrm>
          <a:prstGeom prst="rect">
            <a:avLst/>
          </a:prstGeom>
          <a:noFill/>
          <a:ln/>
        </p:spPr>
        <p:txBody>
          <a:bodyPr wrap="square" lIns="0" tIns="0" rIns="0" bIns="0" rtlCol="0" anchor="t"/>
          <a:lstStyle/>
          <a:p>
            <a:pPr indent="0" marL="0">
              <a:buNone/>
            </a:pPr>
            <a:r>
              <a:rPr lang="en-US" sz="2400" b="1" dirty="0">
                <a:solidFill>
                  <a:schemeClr val="tx2"/>
                </a:solidFill>
              </a:rPr>
              <a:t>Mục tiêu</a:t>
            </a:r>
            <a:endParaRPr lang="en-US" sz="2400" dirty="0"/>
          </a:p>
        </p:txBody>
      </p:sp>
      <p:sp>
        <p:nvSpPr>
          <p:cNvPr id="10" name="text-237"/>
          <p:cNvSpPr txBox="1"/>
          <p:nvPr/>
        </p:nvSpPr>
        <p:spPr>
          <a:xfrm>
            <a:off x="2743200" y="2514600"/>
            <a:ext cx="4187952" cy="868680"/>
          </a:xfrm>
          <a:prstGeom prst="rect">
            <a:avLst/>
          </a:prstGeom>
          <a:noFill/>
          <a:ln/>
        </p:spPr>
        <p:txBody>
          <a:bodyPr wrap="square" lIns="0" tIns="0" rIns="0" bIns="0" rtlCol="0" anchor="t"/>
          <a:lstStyle/>
          <a:p>
            <a:pPr indent="0" marL="0">
              <a:buNone/>
            </a:pPr>
            <a:r>
              <a:rPr lang="en-US" sz="2400" dirty="0">
                <a:solidFill>
                  <a:schemeClr val="tx1"/>
                </a:solidFill>
              </a:rPr>
              <a:t>Mở rộng hiểu biết lý thuyết</a:t>
            </a:r>
            <a:endParaRPr lang="en-US" sz="2400" dirty="0"/>
          </a:p>
        </p:txBody>
      </p:sp>
      <p:sp>
        <p:nvSpPr>
          <p:cNvPr id="11" name="text-238"/>
          <p:cNvSpPr txBox="1"/>
          <p:nvPr/>
        </p:nvSpPr>
        <p:spPr>
          <a:xfrm>
            <a:off x="7269480" y="2514600"/>
            <a:ext cx="4370832" cy="868680"/>
          </a:xfrm>
          <a:prstGeom prst="rect">
            <a:avLst/>
          </a:prstGeom>
          <a:noFill/>
          <a:ln/>
        </p:spPr>
        <p:txBody>
          <a:bodyPr wrap="square" lIns="0" tIns="0" rIns="0" bIns="0" rtlCol="0" anchor="t"/>
          <a:lstStyle/>
          <a:p>
            <a:pPr indent="0" marL="0">
              <a:buNone/>
            </a:pPr>
            <a:r>
              <a:rPr lang="en-US" sz="2400" dirty="0">
                <a:solidFill>
                  <a:schemeClr val="tx1"/>
                </a:solidFill>
              </a:rPr>
              <a:t>Giải quyết vấn đề của một doanh nghiệp</a:t>
            </a:r>
            <a:endParaRPr lang="en-US" sz="2400" dirty="0"/>
          </a:p>
        </p:txBody>
      </p:sp>
      <p:sp>
        <p:nvSpPr>
          <p:cNvPr id="12" name="text-239"/>
          <p:cNvSpPr txBox="1"/>
          <p:nvPr/>
        </p:nvSpPr>
        <p:spPr>
          <a:xfrm>
            <a:off x="548640" y="3566160"/>
            <a:ext cx="2011680" cy="868680"/>
          </a:xfrm>
          <a:prstGeom prst="rect">
            <a:avLst/>
          </a:prstGeom>
          <a:noFill/>
          <a:ln/>
        </p:spPr>
        <p:txBody>
          <a:bodyPr wrap="square" lIns="0" tIns="0" rIns="0" bIns="0" rtlCol="0" anchor="t"/>
          <a:lstStyle/>
          <a:p>
            <a:pPr indent="0" marL="0">
              <a:buNone/>
            </a:pPr>
            <a:r>
              <a:rPr lang="en-US" sz="2400" b="1" dirty="0">
                <a:solidFill>
                  <a:schemeClr val="tx2"/>
                </a:solidFill>
              </a:rPr>
              <a:t>Đóng góp</a:t>
            </a:r>
            <a:endParaRPr lang="en-US" sz="2400" dirty="0"/>
          </a:p>
        </p:txBody>
      </p:sp>
      <p:sp>
        <p:nvSpPr>
          <p:cNvPr id="13" name="text-240"/>
          <p:cNvSpPr txBox="1"/>
          <p:nvPr/>
        </p:nvSpPr>
        <p:spPr>
          <a:xfrm>
            <a:off x="2743200" y="3566160"/>
            <a:ext cx="4187952" cy="868680"/>
          </a:xfrm>
          <a:prstGeom prst="rect">
            <a:avLst/>
          </a:prstGeom>
          <a:noFill/>
          <a:ln/>
        </p:spPr>
        <p:txBody>
          <a:bodyPr wrap="square" lIns="0" tIns="0" rIns="0" bIns="0" rtlCol="0" anchor="t"/>
          <a:lstStyle/>
          <a:p>
            <a:pPr indent="0" marL="0">
              <a:buNone/>
            </a:pPr>
            <a:r>
              <a:rPr lang="en-US" sz="2400" dirty="0">
                <a:solidFill>
                  <a:schemeClr val="tx1"/>
                </a:solidFill>
              </a:rPr>
              <a:t>Cho khoa học marketing</a:t>
            </a:r>
            <a:endParaRPr lang="en-US" sz="2400" dirty="0"/>
          </a:p>
        </p:txBody>
      </p:sp>
      <p:sp>
        <p:nvSpPr>
          <p:cNvPr id="14" name="text-241"/>
          <p:cNvSpPr txBox="1"/>
          <p:nvPr/>
        </p:nvSpPr>
        <p:spPr>
          <a:xfrm>
            <a:off x="7269480" y="3566160"/>
            <a:ext cx="4370832" cy="868680"/>
          </a:xfrm>
          <a:prstGeom prst="rect">
            <a:avLst/>
          </a:prstGeom>
          <a:noFill/>
          <a:ln/>
        </p:spPr>
        <p:txBody>
          <a:bodyPr wrap="square" lIns="0" tIns="0" rIns="0" bIns="0" rtlCol="0" anchor="t"/>
          <a:lstStyle/>
          <a:p>
            <a:pPr indent="0" marL="0">
              <a:buNone/>
            </a:pPr>
            <a:r>
              <a:rPr lang="en-US" sz="2400" dirty="0">
                <a:solidFill>
                  <a:schemeClr val="tx1"/>
                </a:solidFill>
              </a:rPr>
              <a:t>Cho một quyết định cụ thể</a:t>
            </a:r>
            <a:endParaRPr lang="en-US" sz="2400" dirty="0"/>
          </a:p>
        </p:txBody>
      </p:sp>
      <p:sp>
        <p:nvSpPr>
          <p:cNvPr id="15" name="text-242"/>
          <p:cNvSpPr txBox="1"/>
          <p:nvPr/>
        </p:nvSpPr>
        <p:spPr>
          <a:xfrm>
            <a:off x="548640" y="4617720"/>
            <a:ext cx="2011680" cy="1645920"/>
          </a:xfrm>
          <a:prstGeom prst="rect">
            <a:avLst/>
          </a:prstGeom>
          <a:noFill/>
          <a:ln/>
        </p:spPr>
        <p:txBody>
          <a:bodyPr wrap="square" lIns="0" tIns="0" rIns="0" bIns="0" rtlCol="0" anchor="t"/>
          <a:lstStyle/>
          <a:p>
            <a:pPr indent="0" marL="0">
              <a:buNone/>
            </a:pPr>
            <a:r>
              <a:rPr lang="en-US" sz="2400" b="1" dirty="0">
                <a:solidFill>
                  <a:schemeClr val="tx2"/>
                </a:solidFill>
              </a:rPr>
              <a:t>Ví dụ</a:t>
            </a:r>
            <a:endParaRPr lang="en-US" sz="2400" dirty="0"/>
          </a:p>
        </p:txBody>
      </p:sp>
      <p:sp>
        <p:nvSpPr>
          <p:cNvPr id="16" name="text-243"/>
          <p:cNvSpPr txBox="1"/>
          <p:nvPr/>
        </p:nvSpPr>
        <p:spPr>
          <a:xfrm>
            <a:off x="2743200" y="4617720"/>
            <a:ext cx="4187952" cy="1645920"/>
          </a:xfrm>
          <a:prstGeom prst="rect">
            <a:avLst/>
          </a:prstGeom>
          <a:noFill/>
          <a:ln/>
        </p:spPr>
        <p:txBody>
          <a:bodyPr wrap="square" lIns="0" tIns="0" rIns="0" bIns="0" rtlCol="0" anchor="t"/>
          <a:lstStyle/>
          <a:p>
            <a:pPr indent="0" marL="0">
              <a:buNone/>
            </a:pPr>
            <a:r>
              <a:rPr lang="en-US" sz="2400" dirty="0">
                <a:solidFill>
                  <a:schemeClr val="tx1"/>
                </a:solidFill>
              </a:rPr>
              <a:t>Tác động của quảng cáo TV đến lòng tin thương hiệu</a:t>
            </a:r>
            <a:endParaRPr lang="en-US" sz="2400" dirty="0"/>
          </a:p>
        </p:txBody>
      </p:sp>
      <p:sp>
        <p:nvSpPr>
          <p:cNvPr id="17" name="text-244"/>
          <p:cNvSpPr txBox="1"/>
          <p:nvPr/>
        </p:nvSpPr>
        <p:spPr>
          <a:xfrm>
            <a:off x="7269480" y="4617720"/>
            <a:ext cx="4370832" cy="1645920"/>
          </a:xfrm>
          <a:prstGeom prst="rect">
            <a:avLst/>
          </a:prstGeom>
          <a:noFill/>
          <a:ln/>
        </p:spPr>
        <p:txBody>
          <a:bodyPr wrap="square" lIns="0" tIns="0" rIns="0" bIns="0" rtlCol="0" anchor="t"/>
          <a:lstStyle/>
          <a:p>
            <a:pPr indent="0" marL="0">
              <a:buNone/>
            </a:pPr>
            <a:r>
              <a:rPr lang="en-US" sz="2400" dirty="0">
                <a:solidFill>
                  <a:schemeClr val="tx1"/>
                </a:solidFill>
              </a:rPr>
              <a:t>Tối ưu ngân sách quảng cáo MXH cho công ty mỹ phẩm X</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Bốn thiết kế nghiên cứu trả lời bốn kiểu câu hỏi khác nhau</a:t>
            </a:r>
            <a:endParaRPr lang="en-US" sz="3000" dirty="0"/>
          </a:p>
        </p:txBody>
      </p:sp>
      <p:sp>
        <p:nvSpPr>
          <p:cNvPr id="4" name="chev-245"/>
          <p:cNvSpPr/>
          <p:nvPr/>
        </p:nvSpPr>
        <p:spPr>
          <a:xfrm>
            <a:off x="548640" y="1920240"/>
            <a:ext cx="2926080" cy="1188720"/>
          </a:xfrm>
          <a:prstGeom prst="homePlate">
            <a:avLst/>
          </a:prstGeom>
          <a:solidFill>
            <a:schemeClr val="accent1"/>
          </a:solidFill>
          <a:ln/>
        </p:spPr>
      </p:sp>
      <p:sp>
        <p:nvSpPr>
          <p:cNvPr id="5" name="text-246"/>
          <p:cNvSpPr txBox="1"/>
          <p:nvPr/>
        </p:nvSpPr>
        <p:spPr>
          <a:xfrm>
            <a:off x="640080" y="192024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Khám phá</a:t>
            </a:r>
            <a:endParaRPr lang="en-US" sz="2400" dirty="0"/>
          </a:p>
        </p:txBody>
      </p:sp>
      <p:sp>
        <p:nvSpPr>
          <p:cNvPr id="6" name="card-247"/>
          <p:cNvSpPr/>
          <p:nvPr/>
        </p:nvSpPr>
        <p:spPr>
          <a:xfrm>
            <a:off x="594360" y="3429000"/>
            <a:ext cx="2560320" cy="1828800"/>
          </a:xfrm>
          <a:prstGeom prst="roundRect">
            <a:avLst>
              <a:gd name="adj" fmla="val 7500"/>
            </a:avLst>
          </a:prstGeom>
          <a:solidFill>
            <a:schemeClr val="bg2"/>
          </a:solidFill>
          <a:ln/>
        </p:spPr>
      </p:sp>
      <p:sp>
        <p:nvSpPr>
          <p:cNvPr id="7" name="text-248"/>
          <p:cNvSpPr txBox="1"/>
          <p:nvPr/>
        </p:nvSpPr>
        <p:spPr>
          <a:xfrm>
            <a:off x="822960" y="3611880"/>
            <a:ext cx="2148840" cy="1463040"/>
          </a:xfrm>
          <a:prstGeom prst="rect">
            <a:avLst/>
          </a:prstGeom>
          <a:noFill/>
          <a:ln/>
        </p:spPr>
        <p:txBody>
          <a:bodyPr wrap="square" lIns="0" tIns="0" rIns="0" bIns="0" rtlCol="0" anchor="t"/>
          <a:lstStyle/>
          <a:p>
            <a:pPr indent="0" marL="0">
              <a:buNone/>
            </a:pPr>
            <a:r>
              <a:rPr lang="en-US" sz="2600" b="1" dirty="0">
                <a:solidFill>
                  <a:schemeClr val="accent1"/>
                </a:solidFill>
              </a:rPr>
              <a:t>“Chuyện gì đang xảy ra?”</a:t>
            </a:r>
            <a:endParaRPr lang="en-US" sz="2600" dirty="0"/>
          </a:p>
        </p:txBody>
      </p:sp>
      <p:sp>
        <p:nvSpPr>
          <p:cNvPr id="8" name="chev-249"/>
          <p:cNvSpPr/>
          <p:nvPr/>
        </p:nvSpPr>
        <p:spPr>
          <a:xfrm>
            <a:off x="3337560" y="1920240"/>
            <a:ext cx="2926080" cy="1188720"/>
          </a:xfrm>
          <a:prstGeom prst="chevron">
            <a:avLst/>
          </a:prstGeom>
          <a:solidFill>
            <a:schemeClr val="accent2"/>
          </a:solidFill>
          <a:ln/>
        </p:spPr>
      </p:sp>
      <p:sp>
        <p:nvSpPr>
          <p:cNvPr id="9" name="text-250"/>
          <p:cNvSpPr txBox="1"/>
          <p:nvPr/>
        </p:nvSpPr>
        <p:spPr>
          <a:xfrm>
            <a:off x="3840480" y="192024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Mô tả</a:t>
            </a:r>
            <a:endParaRPr lang="en-US" sz="2400" dirty="0"/>
          </a:p>
        </p:txBody>
      </p:sp>
      <p:sp>
        <p:nvSpPr>
          <p:cNvPr id="10" name="card-251"/>
          <p:cNvSpPr/>
          <p:nvPr/>
        </p:nvSpPr>
        <p:spPr>
          <a:xfrm>
            <a:off x="3383280" y="3429000"/>
            <a:ext cx="2560320" cy="1828800"/>
          </a:xfrm>
          <a:prstGeom prst="roundRect">
            <a:avLst>
              <a:gd name="adj" fmla="val 7500"/>
            </a:avLst>
          </a:prstGeom>
          <a:solidFill>
            <a:schemeClr val="bg2"/>
          </a:solidFill>
          <a:ln/>
        </p:spPr>
      </p:sp>
      <p:sp>
        <p:nvSpPr>
          <p:cNvPr id="11" name="text-252"/>
          <p:cNvSpPr txBox="1"/>
          <p:nvPr/>
        </p:nvSpPr>
        <p:spPr>
          <a:xfrm>
            <a:off x="3611880" y="3611880"/>
            <a:ext cx="2148840" cy="1463040"/>
          </a:xfrm>
          <a:prstGeom prst="rect">
            <a:avLst/>
          </a:prstGeom>
          <a:noFill/>
          <a:ln/>
        </p:spPr>
        <p:txBody>
          <a:bodyPr wrap="square" lIns="0" tIns="0" rIns="0" bIns="0" rtlCol="0" anchor="t"/>
          <a:lstStyle/>
          <a:p>
            <a:pPr indent="0" marL="0">
              <a:buNone/>
            </a:pPr>
            <a:r>
              <a:rPr lang="en-US" sz="2600" b="1" dirty="0">
                <a:solidFill>
                  <a:schemeClr val="accent2"/>
                </a:solidFill>
              </a:rPr>
              <a:t>“Ai, cái gì, bao nhiêu?”</a:t>
            </a:r>
            <a:endParaRPr lang="en-US" sz="2600" dirty="0"/>
          </a:p>
        </p:txBody>
      </p:sp>
      <p:sp>
        <p:nvSpPr>
          <p:cNvPr id="12" name="chev-253"/>
          <p:cNvSpPr/>
          <p:nvPr/>
        </p:nvSpPr>
        <p:spPr>
          <a:xfrm>
            <a:off x="6126480" y="1920240"/>
            <a:ext cx="2926080" cy="1188720"/>
          </a:xfrm>
          <a:prstGeom prst="chevron">
            <a:avLst/>
          </a:prstGeom>
          <a:solidFill>
            <a:schemeClr val="accent5"/>
          </a:solidFill>
          <a:ln/>
        </p:spPr>
      </p:sp>
      <p:sp>
        <p:nvSpPr>
          <p:cNvPr id="13" name="text-254"/>
          <p:cNvSpPr txBox="1"/>
          <p:nvPr/>
        </p:nvSpPr>
        <p:spPr>
          <a:xfrm>
            <a:off x="6629400" y="192024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Tương quan</a:t>
            </a:r>
            <a:endParaRPr lang="en-US" sz="2400" dirty="0"/>
          </a:p>
        </p:txBody>
      </p:sp>
      <p:sp>
        <p:nvSpPr>
          <p:cNvPr id="14" name="card-255"/>
          <p:cNvSpPr/>
          <p:nvPr/>
        </p:nvSpPr>
        <p:spPr>
          <a:xfrm>
            <a:off x="6172200" y="3429000"/>
            <a:ext cx="2560320" cy="1828800"/>
          </a:xfrm>
          <a:prstGeom prst="roundRect">
            <a:avLst>
              <a:gd name="adj" fmla="val 7500"/>
            </a:avLst>
          </a:prstGeom>
          <a:solidFill>
            <a:schemeClr val="bg2"/>
          </a:solidFill>
          <a:ln/>
        </p:spPr>
      </p:sp>
      <p:sp>
        <p:nvSpPr>
          <p:cNvPr id="15" name="text-256"/>
          <p:cNvSpPr txBox="1"/>
          <p:nvPr/>
        </p:nvSpPr>
        <p:spPr>
          <a:xfrm>
            <a:off x="6400800" y="3611880"/>
            <a:ext cx="2148840" cy="1463040"/>
          </a:xfrm>
          <a:prstGeom prst="rect">
            <a:avLst/>
          </a:prstGeom>
          <a:noFill/>
          <a:ln/>
        </p:spPr>
        <p:txBody>
          <a:bodyPr wrap="square" lIns="0" tIns="0" rIns="0" bIns="0" rtlCol="0" anchor="t"/>
          <a:lstStyle/>
          <a:p>
            <a:pPr indent="0" marL="0">
              <a:buNone/>
            </a:pPr>
            <a:r>
              <a:rPr lang="en-US" sz="2600" b="1" dirty="0">
                <a:solidFill>
                  <a:schemeClr val="accent5"/>
                </a:solidFill>
              </a:rPr>
              <a:t>“Có đi cùng nhau không?”</a:t>
            </a:r>
            <a:endParaRPr lang="en-US" sz="2600" dirty="0"/>
          </a:p>
        </p:txBody>
      </p:sp>
      <p:sp>
        <p:nvSpPr>
          <p:cNvPr id="16" name="chev-257"/>
          <p:cNvSpPr/>
          <p:nvPr/>
        </p:nvSpPr>
        <p:spPr>
          <a:xfrm>
            <a:off x="8915400" y="1920240"/>
            <a:ext cx="2926080" cy="1188720"/>
          </a:xfrm>
          <a:prstGeom prst="chevron">
            <a:avLst/>
          </a:prstGeom>
          <a:solidFill>
            <a:schemeClr val="accent3"/>
          </a:solidFill>
          <a:ln/>
        </p:spPr>
      </p:sp>
      <p:sp>
        <p:nvSpPr>
          <p:cNvPr id="17" name="text-258"/>
          <p:cNvSpPr txBox="1"/>
          <p:nvPr/>
        </p:nvSpPr>
        <p:spPr>
          <a:xfrm>
            <a:off x="9418320" y="192024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Nhân quả</a:t>
            </a:r>
            <a:endParaRPr lang="en-US" sz="2400" dirty="0"/>
          </a:p>
        </p:txBody>
      </p:sp>
      <p:sp>
        <p:nvSpPr>
          <p:cNvPr id="18" name="card-259"/>
          <p:cNvSpPr/>
          <p:nvPr/>
        </p:nvSpPr>
        <p:spPr>
          <a:xfrm>
            <a:off x="8961120" y="3429000"/>
            <a:ext cx="2560320" cy="1828800"/>
          </a:xfrm>
          <a:prstGeom prst="roundRect">
            <a:avLst>
              <a:gd name="adj" fmla="val 7500"/>
            </a:avLst>
          </a:prstGeom>
          <a:solidFill>
            <a:schemeClr val="bg2"/>
          </a:solidFill>
          <a:ln/>
        </p:spPr>
      </p:sp>
      <p:sp>
        <p:nvSpPr>
          <p:cNvPr id="19" name="text-260"/>
          <p:cNvSpPr txBox="1"/>
          <p:nvPr/>
        </p:nvSpPr>
        <p:spPr>
          <a:xfrm>
            <a:off x="9189720" y="3611880"/>
            <a:ext cx="2148840" cy="1463040"/>
          </a:xfrm>
          <a:prstGeom prst="rect">
            <a:avLst/>
          </a:prstGeom>
          <a:noFill/>
          <a:ln/>
        </p:spPr>
        <p:txBody>
          <a:bodyPr wrap="square" lIns="0" tIns="0" rIns="0" bIns="0" rtlCol="0" anchor="t"/>
          <a:lstStyle/>
          <a:p>
            <a:pPr indent="0" marL="0">
              <a:buNone/>
            </a:pPr>
            <a:r>
              <a:rPr lang="en-US" sz="2600" b="1" dirty="0">
                <a:solidFill>
                  <a:schemeClr val="accent3"/>
                </a:solidFill>
              </a:rPr>
              <a:t>“A có gây ra B không?”</a:t>
            </a:r>
            <a:endParaRPr lang="en-US" sz="2600" dirty="0"/>
          </a:p>
        </p:txBody>
      </p:sp>
      <p:sp>
        <p:nvSpPr>
          <p:cNvPr id="20" name="text-261"/>
          <p:cNvSpPr txBox="1"/>
          <p:nvPr/>
        </p:nvSpPr>
        <p:spPr>
          <a:xfrm>
            <a:off x="548640" y="5577840"/>
            <a:ext cx="11094415" cy="502920"/>
          </a:xfrm>
          <a:prstGeom prst="rect">
            <a:avLst/>
          </a:prstGeom>
          <a:noFill/>
          <a:ln/>
        </p:spPr>
        <p:txBody>
          <a:bodyPr wrap="square" lIns="0" tIns="0" rIns="0" bIns="0" rtlCol="0" anchor="t"/>
          <a:lstStyle/>
          <a:p>
            <a:pPr indent="0" marL="0">
              <a:buNone/>
            </a:pPr>
            <a:r>
              <a:rPr lang="en-US" sz="2400" i="1" dirty="0">
                <a:solidFill>
                  <a:schemeClr val="tx2"/>
                </a:solidFill>
              </a:rPr>
              <a:t>Từ “mơ hồ” đến “chứng minh được”</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Doanh số kem giảm mà không rõ lý do: bắt đầu bằng khám phá</a:t>
            </a:r>
            <a:endParaRPr lang="en-US" sz="3000" dirty="0"/>
          </a:p>
        </p:txBody>
      </p:sp>
      <p:sp>
        <p:nvSpPr>
          <p:cNvPr id="4" name="icon-bg-262"/>
          <p:cNvSpPr/>
          <p:nvPr/>
        </p:nvSpPr>
        <p:spPr>
          <a:xfrm>
            <a:off x="548640" y="1828800"/>
            <a:ext cx="1188720" cy="1188720"/>
          </a:xfrm>
          <a:prstGeom prst="ellipse">
            <a:avLst/>
          </a:prstGeom>
          <a:solidFill>
            <a:schemeClr val="accent1"/>
          </a:solidFill>
          <a:ln/>
        </p:spPr>
      </p:sp>
      <p:pic>
        <p:nvPicPr>
          <p:cNvPr id="5" name="icon-263" descr="FaIceCream">    </p:cNvPr>
          <p:cNvPicPr>
            <a:picLocks noChangeAspect="1"/>
          </p:cNvPicPr>
          <p:nvPr/>
        </p:nvPicPr>
        <p:blipFill>
          <a:blip r:embed="rId1"/>
          <a:stretch>
            <a:fillRect/>
          </a:stretch>
        </p:blipFill>
        <p:spPr>
          <a:xfrm>
            <a:off x="845820" y="2125980"/>
            <a:ext cx="594360" cy="594360"/>
          </a:xfrm>
          <a:prstGeom prst="rect">
            <a:avLst/>
          </a:prstGeom>
        </p:spPr>
      </p:pic>
      <p:sp>
        <p:nvSpPr>
          <p:cNvPr id="6" name="text-264"/>
          <p:cNvSpPr txBox="1"/>
          <p:nvPr/>
        </p:nvSpPr>
        <p:spPr>
          <a:xfrm>
            <a:off x="2057400" y="1828800"/>
            <a:ext cx="9582912" cy="1188720"/>
          </a:xfrm>
          <a:prstGeom prst="rect">
            <a:avLst/>
          </a:prstGeom>
          <a:noFill/>
          <a:ln/>
        </p:spPr>
        <p:txBody>
          <a:bodyPr wrap="square" lIns="0" tIns="0" rIns="0" bIns="0" rtlCol="0" anchor="ctr"/>
          <a:lstStyle/>
          <a:p>
            <a:pPr indent="0" marL="0">
              <a:buNone/>
            </a:pPr>
            <a:r>
              <a:rPr lang="en-US" sz="2600" dirty="0">
                <a:solidFill>
                  <a:schemeClr val="tx1"/>
                </a:solidFill>
              </a:rPr>
              <a:t>Doanh số kem mùa hè giảm đột ngột, không rõ lý do</a:t>
            </a:r>
            <a:endParaRPr lang="en-US" sz="2600" dirty="0"/>
          </a:p>
        </p:txBody>
      </p:sp>
      <p:sp>
        <p:nvSpPr>
          <p:cNvPr id="7" name="card-265"/>
          <p:cNvSpPr/>
          <p:nvPr/>
        </p:nvSpPr>
        <p:spPr>
          <a:xfrm>
            <a:off x="548640" y="3566160"/>
            <a:ext cx="3291840" cy="1920240"/>
          </a:xfrm>
          <a:prstGeom prst="roundRect">
            <a:avLst>
              <a:gd name="adj" fmla="val 7143"/>
            </a:avLst>
          </a:prstGeom>
          <a:solidFill>
            <a:schemeClr val="bg2"/>
          </a:solidFill>
          <a:ln/>
        </p:spPr>
      </p:sp>
      <p:sp>
        <p:nvSpPr>
          <p:cNvPr id="8" name="text-266"/>
          <p:cNvSpPr txBox="1"/>
          <p:nvPr/>
        </p:nvSpPr>
        <p:spPr>
          <a:xfrm>
            <a:off x="777240" y="3566160"/>
            <a:ext cx="2834640" cy="1920240"/>
          </a:xfrm>
          <a:prstGeom prst="rect">
            <a:avLst/>
          </a:prstGeom>
          <a:noFill/>
          <a:ln/>
        </p:spPr>
        <p:txBody>
          <a:bodyPr wrap="square" lIns="0" tIns="0" rIns="0" bIns="0" rtlCol="0" anchor="ctr"/>
          <a:lstStyle/>
          <a:p>
            <a:pPr indent="0" marL="0">
              <a:buNone/>
            </a:pPr>
            <a:r>
              <a:rPr lang="en-US" sz="2600" dirty="0">
                <a:solidFill>
                  <a:schemeClr val="tx1"/>
                </a:solidFill>
              </a:rPr>
              <a:t>Trò chuyện với khách và chủ cửa hàng</a:t>
            </a:r>
            <a:endParaRPr lang="en-US" sz="2600" dirty="0"/>
          </a:p>
        </p:txBody>
      </p:sp>
      <p:sp>
        <p:nvSpPr>
          <p:cNvPr id="9" name="arrow-267"/>
          <p:cNvSpPr/>
          <p:nvPr/>
        </p:nvSpPr>
        <p:spPr>
          <a:xfrm>
            <a:off x="3931920" y="4297680"/>
            <a:ext cx="411480" cy="457200"/>
          </a:xfrm>
          <a:prstGeom prst="rightArrow">
            <a:avLst/>
          </a:prstGeom>
          <a:solidFill>
            <a:schemeClr val="tx2"/>
          </a:solidFill>
          <a:ln/>
        </p:spPr>
      </p:sp>
      <p:sp>
        <p:nvSpPr>
          <p:cNvPr id="10" name="card-268"/>
          <p:cNvSpPr/>
          <p:nvPr/>
        </p:nvSpPr>
        <p:spPr>
          <a:xfrm>
            <a:off x="4448556" y="3566160"/>
            <a:ext cx="3291840" cy="1920240"/>
          </a:xfrm>
          <a:prstGeom prst="roundRect">
            <a:avLst>
              <a:gd name="adj" fmla="val 7143"/>
            </a:avLst>
          </a:prstGeom>
          <a:solidFill>
            <a:schemeClr val="bg2"/>
          </a:solidFill>
          <a:ln/>
        </p:spPr>
      </p:sp>
      <p:sp>
        <p:nvSpPr>
          <p:cNvPr id="11" name="text-269"/>
          <p:cNvSpPr txBox="1"/>
          <p:nvPr/>
        </p:nvSpPr>
        <p:spPr>
          <a:xfrm>
            <a:off x="4677156" y="3566160"/>
            <a:ext cx="2834640" cy="1920240"/>
          </a:xfrm>
          <a:prstGeom prst="rect">
            <a:avLst/>
          </a:prstGeom>
          <a:noFill/>
          <a:ln/>
        </p:spPr>
        <p:txBody>
          <a:bodyPr wrap="square" lIns="0" tIns="0" rIns="0" bIns="0" rtlCol="0" anchor="ctr"/>
          <a:lstStyle/>
          <a:p>
            <a:pPr indent="0" marL="0">
              <a:buNone/>
            </a:pPr>
            <a:r>
              <a:rPr lang="en-US" sz="2600" dirty="0">
                <a:solidFill>
                  <a:schemeClr val="tx1"/>
                </a:solidFill>
              </a:rPr>
              <a:t>Phát hiện: đối thủ tung kem ít đường</a:t>
            </a:r>
            <a:endParaRPr lang="en-US" sz="2600" dirty="0"/>
          </a:p>
        </p:txBody>
      </p:sp>
      <p:sp>
        <p:nvSpPr>
          <p:cNvPr id="12" name="arrow-270"/>
          <p:cNvSpPr/>
          <p:nvPr/>
        </p:nvSpPr>
        <p:spPr>
          <a:xfrm>
            <a:off x="7831836" y="4297680"/>
            <a:ext cx="411480" cy="457200"/>
          </a:xfrm>
          <a:prstGeom prst="rightArrow">
            <a:avLst/>
          </a:prstGeom>
          <a:solidFill>
            <a:schemeClr val="tx2"/>
          </a:solidFill>
          <a:ln/>
        </p:spPr>
      </p:sp>
      <p:sp>
        <p:nvSpPr>
          <p:cNvPr id="13" name="card-271"/>
          <p:cNvSpPr/>
          <p:nvPr/>
        </p:nvSpPr>
        <p:spPr>
          <a:xfrm>
            <a:off x="8348472" y="3566160"/>
            <a:ext cx="3291840" cy="1920240"/>
          </a:xfrm>
          <a:prstGeom prst="roundRect">
            <a:avLst>
              <a:gd name="adj" fmla="val 7143"/>
            </a:avLst>
          </a:prstGeom>
          <a:solidFill>
            <a:schemeClr val="accent2"/>
          </a:solidFill>
          <a:ln/>
        </p:spPr>
      </p:sp>
      <p:sp>
        <p:nvSpPr>
          <p:cNvPr id="14" name="text-272"/>
          <p:cNvSpPr txBox="1"/>
          <p:nvPr/>
        </p:nvSpPr>
        <p:spPr>
          <a:xfrm>
            <a:off x="8577072" y="3566160"/>
            <a:ext cx="2834640" cy="1920240"/>
          </a:xfrm>
          <a:prstGeom prst="rect">
            <a:avLst/>
          </a:prstGeom>
          <a:noFill/>
          <a:ln/>
        </p:spPr>
        <p:txBody>
          <a:bodyPr wrap="square" lIns="0" tIns="0" rIns="0" bIns="0" rtlCol="0" anchor="ctr"/>
          <a:lstStyle/>
          <a:p>
            <a:pPr indent="0" marL="0">
              <a:buNone/>
            </a:pPr>
            <a:r>
              <a:rPr lang="en-US" sz="2600" b="1" dirty="0">
                <a:solidFill>
                  <a:schemeClr val="bg1"/>
                </a:solidFill>
              </a:rPr>
              <a:t>= Giả thuyết, chưa phải kết luận</a:t>
            </a:r>
            <a:endParaRPr lang="en-US" sz="2600" dirty="0"/>
          </a:p>
        </p:txBody>
      </p:sp>
      <p:sp>
        <p:nvSpPr>
          <p:cNvPr id="15" name="text-273"/>
          <p:cNvSpPr txBox="1"/>
          <p:nvPr/>
        </p:nvSpPr>
        <p:spPr>
          <a:xfrm>
            <a:off x="548640" y="5760720"/>
            <a:ext cx="5486400" cy="457200"/>
          </a:xfrm>
          <a:prstGeom prst="rect">
            <a:avLst/>
          </a:prstGeom>
          <a:noFill/>
          <a:ln/>
        </p:spPr>
        <p:txBody>
          <a:bodyPr wrap="square" lIns="0" tIns="0" rIns="0" bIns="0" rtlCol="0" anchor="t"/>
          <a:lstStyle/>
          <a:p>
            <a:pPr indent="0" marL="0">
              <a:buNone/>
            </a:pPr>
            <a:r>
              <a:rPr lang="en-US" sz="2400" i="1" dirty="0">
                <a:solidFill>
                  <a:schemeClr val="tx2"/>
                </a:solidFill>
              </a:rPr>
              <a:t>Ví dụ minh họa</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Ai đặt đồ ăn cuối tuần, lúc nào, bao nhiêu: đó là mô tả</a:t>
            </a:r>
            <a:endParaRPr lang="en-US" sz="3000" dirty="0"/>
          </a:p>
        </p:txBody>
      </p:sp>
      <p:sp>
        <p:nvSpPr>
          <p:cNvPr id="4" name="icon-bg-274"/>
          <p:cNvSpPr/>
          <p:nvPr/>
        </p:nvSpPr>
        <p:spPr>
          <a:xfrm>
            <a:off x="548640" y="1828800"/>
            <a:ext cx="1188720" cy="1188720"/>
          </a:xfrm>
          <a:prstGeom prst="ellipse">
            <a:avLst/>
          </a:prstGeom>
          <a:solidFill>
            <a:schemeClr val="accent2"/>
          </a:solidFill>
          <a:ln/>
        </p:spPr>
      </p:sp>
      <p:pic>
        <p:nvPicPr>
          <p:cNvPr id="5" name="icon-275" descr="FaMotorcycle">    </p:cNvPr>
          <p:cNvPicPr>
            <a:picLocks noChangeAspect="1"/>
          </p:cNvPicPr>
          <p:nvPr/>
        </p:nvPicPr>
        <p:blipFill>
          <a:blip r:embed="rId1"/>
          <a:stretch>
            <a:fillRect/>
          </a:stretch>
        </p:blipFill>
        <p:spPr>
          <a:xfrm>
            <a:off x="845820" y="2125980"/>
            <a:ext cx="594360" cy="594360"/>
          </a:xfrm>
          <a:prstGeom prst="rect">
            <a:avLst/>
          </a:prstGeom>
        </p:spPr>
      </p:pic>
      <p:sp>
        <p:nvSpPr>
          <p:cNvPr id="6" name="text-276"/>
          <p:cNvSpPr txBox="1"/>
          <p:nvPr/>
        </p:nvSpPr>
        <p:spPr>
          <a:xfrm>
            <a:off x="2057400" y="1828800"/>
            <a:ext cx="9509760" cy="1188720"/>
          </a:xfrm>
          <a:prstGeom prst="rect">
            <a:avLst/>
          </a:prstGeom>
          <a:noFill/>
          <a:ln/>
        </p:spPr>
        <p:txBody>
          <a:bodyPr wrap="square" lIns="0" tIns="0" rIns="0" bIns="0" rtlCol="0" anchor="ctr"/>
          <a:lstStyle/>
          <a:p>
            <a:pPr indent="0" marL="0">
              <a:buNone/>
            </a:pPr>
            <a:r>
              <a:rPr lang="en-US" sz="2800" dirty="0">
                <a:solidFill>
                  <a:schemeClr val="tx1"/>
                </a:solidFill>
              </a:rPr>
              <a:t>Ứng dụng giao đồ ăn muốn tăng đơn cuối tuần</a:t>
            </a:r>
            <a:endParaRPr lang="en-US" sz="2800" dirty="0"/>
          </a:p>
        </p:txBody>
      </p:sp>
      <p:sp>
        <p:nvSpPr>
          <p:cNvPr id="7" name="card-277"/>
          <p:cNvSpPr/>
          <p:nvPr/>
        </p:nvSpPr>
        <p:spPr>
          <a:xfrm>
            <a:off x="548640" y="3383280"/>
            <a:ext cx="3291840" cy="1554480"/>
          </a:xfrm>
          <a:prstGeom prst="roundRect">
            <a:avLst>
              <a:gd name="adj" fmla="val 8824"/>
            </a:avLst>
          </a:prstGeom>
          <a:solidFill>
            <a:schemeClr val="bg2"/>
          </a:solidFill>
          <a:ln/>
        </p:spPr>
      </p:sp>
      <p:sp>
        <p:nvSpPr>
          <p:cNvPr id="8" name="text-278"/>
          <p:cNvSpPr txBox="1"/>
          <p:nvPr/>
        </p:nvSpPr>
        <p:spPr>
          <a:xfrm>
            <a:off x="777240" y="3383280"/>
            <a:ext cx="2834640" cy="1554480"/>
          </a:xfrm>
          <a:prstGeom prst="rect">
            <a:avLst/>
          </a:prstGeom>
          <a:noFill/>
          <a:ln/>
        </p:spPr>
        <p:txBody>
          <a:bodyPr wrap="square" lIns="0" tIns="0" rIns="0" bIns="0" rtlCol="0" anchor="ctr"/>
          <a:lstStyle/>
          <a:p>
            <a:pPr indent="0" marL="0">
              <a:buNone/>
            </a:pPr>
            <a:r>
              <a:rPr lang="en-US" sz="2600" dirty="0">
                <a:solidFill>
                  <a:schemeClr val="tx1"/>
                </a:solidFill>
              </a:rPr>
              <a:t>Khảo sát người đặt</a:t>
            </a:r>
            <a:endParaRPr lang="en-US" sz="2600" dirty="0"/>
          </a:p>
        </p:txBody>
      </p:sp>
      <p:sp>
        <p:nvSpPr>
          <p:cNvPr id="9" name="arrow-279"/>
          <p:cNvSpPr/>
          <p:nvPr/>
        </p:nvSpPr>
        <p:spPr>
          <a:xfrm>
            <a:off x="3931920" y="3931920"/>
            <a:ext cx="411480" cy="457200"/>
          </a:xfrm>
          <a:prstGeom prst="rightArrow">
            <a:avLst/>
          </a:prstGeom>
          <a:solidFill>
            <a:schemeClr val="tx2"/>
          </a:solidFill>
          <a:ln/>
        </p:spPr>
      </p:sp>
      <p:sp>
        <p:nvSpPr>
          <p:cNvPr id="10" name="card-280"/>
          <p:cNvSpPr/>
          <p:nvPr/>
        </p:nvSpPr>
        <p:spPr>
          <a:xfrm>
            <a:off x="4448556" y="3383280"/>
            <a:ext cx="3291840" cy="1554480"/>
          </a:xfrm>
          <a:prstGeom prst="roundRect">
            <a:avLst>
              <a:gd name="adj" fmla="val 8824"/>
            </a:avLst>
          </a:prstGeom>
          <a:solidFill>
            <a:schemeClr val="bg2"/>
          </a:solidFill>
          <a:ln/>
        </p:spPr>
      </p:sp>
      <p:sp>
        <p:nvSpPr>
          <p:cNvPr id="11" name="text-281"/>
          <p:cNvSpPr txBox="1"/>
          <p:nvPr/>
        </p:nvSpPr>
        <p:spPr>
          <a:xfrm>
            <a:off x="4677156" y="3383280"/>
            <a:ext cx="2834640" cy="1554480"/>
          </a:xfrm>
          <a:prstGeom prst="rect">
            <a:avLst/>
          </a:prstGeom>
          <a:noFill/>
          <a:ln/>
        </p:spPr>
        <p:txBody>
          <a:bodyPr wrap="square" lIns="0" tIns="0" rIns="0" bIns="0" rtlCol="0" anchor="ctr"/>
          <a:lstStyle/>
          <a:p>
            <a:pPr indent="0" marL="0">
              <a:buNone/>
            </a:pPr>
            <a:r>
              <a:rPr lang="en-US" sz="2600" dirty="0">
                <a:solidFill>
                  <a:schemeClr val="tx1"/>
                </a:solidFill>
              </a:rPr>
              <a:t>Nhóm 18–30; sinh viên hay đặt muộn</a:t>
            </a:r>
            <a:endParaRPr lang="en-US" sz="2600" dirty="0"/>
          </a:p>
        </p:txBody>
      </p:sp>
      <p:sp>
        <p:nvSpPr>
          <p:cNvPr id="12" name="arrow-282"/>
          <p:cNvSpPr/>
          <p:nvPr/>
        </p:nvSpPr>
        <p:spPr>
          <a:xfrm>
            <a:off x="7831836" y="3931920"/>
            <a:ext cx="411480" cy="457200"/>
          </a:xfrm>
          <a:prstGeom prst="rightArrow">
            <a:avLst/>
          </a:prstGeom>
          <a:solidFill>
            <a:schemeClr val="tx2"/>
          </a:solidFill>
          <a:ln/>
        </p:spPr>
      </p:sp>
      <p:sp>
        <p:nvSpPr>
          <p:cNvPr id="13" name="card-283"/>
          <p:cNvSpPr/>
          <p:nvPr/>
        </p:nvSpPr>
        <p:spPr>
          <a:xfrm>
            <a:off x="8348472" y="3383280"/>
            <a:ext cx="3291840" cy="1554480"/>
          </a:xfrm>
          <a:prstGeom prst="roundRect">
            <a:avLst>
              <a:gd name="adj" fmla="val 8824"/>
            </a:avLst>
          </a:prstGeom>
          <a:solidFill>
            <a:schemeClr val="bg2"/>
          </a:solidFill>
          <a:ln/>
        </p:spPr>
      </p:sp>
      <p:sp>
        <p:nvSpPr>
          <p:cNvPr id="14" name="text-284"/>
          <p:cNvSpPr txBox="1"/>
          <p:nvPr/>
        </p:nvSpPr>
        <p:spPr>
          <a:xfrm>
            <a:off x="8577072" y="3383280"/>
            <a:ext cx="2834640" cy="1554480"/>
          </a:xfrm>
          <a:prstGeom prst="rect">
            <a:avLst/>
          </a:prstGeom>
          <a:noFill/>
          <a:ln/>
        </p:spPr>
        <p:txBody>
          <a:bodyPr wrap="square" lIns="0" tIns="0" rIns="0" bIns="0" rtlCol="0" anchor="ctr"/>
          <a:lstStyle/>
          <a:p>
            <a:pPr indent="0" marL="0">
              <a:buNone/>
            </a:pPr>
            <a:r>
              <a:rPr lang="en-US" sz="2600" dirty="0">
                <a:solidFill>
                  <a:schemeClr val="tx1"/>
                </a:solidFill>
              </a:rPr>
              <a:t>Ưu đãi đêm khuya cho sinh viên</a:t>
            </a:r>
            <a:endParaRPr lang="en-US" sz="2600" dirty="0"/>
          </a:p>
        </p:txBody>
      </p:sp>
      <p:sp>
        <p:nvSpPr>
          <p:cNvPr id="15" name="card-285"/>
          <p:cNvSpPr/>
          <p:nvPr/>
        </p:nvSpPr>
        <p:spPr>
          <a:xfrm>
            <a:off x="548640" y="5257800"/>
            <a:ext cx="11094415" cy="868680"/>
          </a:xfrm>
          <a:prstGeom prst="roundRect">
            <a:avLst>
              <a:gd name="adj" fmla="val 15789"/>
            </a:avLst>
          </a:prstGeom>
          <a:solidFill>
            <a:schemeClr val="accent2"/>
          </a:solidFill>
          <a:ln/>
        </p:spPr>
      </p:sp>
      <p:sp>
        <p:nvSpPr>
          <p:cNvPr id="16" name="text-286"/>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2800" dirty="0">
                <a:solidFill>
                  <a:schemeClr val="bg1"/>
                </a:solidFill>
              </a:rPr>
              <a:t>Trả lời </a:t>
            </a:r>
            <a:pPr indent="0" marL="0">
              <a:buNone/>
            </a:pPr>
            <a:r>
              <a:rPr lang="en-US" sz="2800" b="1" i="1" dirty="0">
                <a:solidFill>
                  <a:schemeClr val="bg1"/>
                </a:solidFill>
              </a:rPr>
              <a:t>cái gì</a:t>
            </a:r>
            <a:pPr indent="0" marL="0">
              <a:buNone/>
            </a:pPr>
            <a:r>
              <a:rPr lang="en-US" sz="2800" dirty="0">
                <a:solidFill>
                  <a:schemeClr val="bg1"/>
                </a:solidFill>
              </a:rPr>
              <a:t>, không trả lời </a:t>
            </a:r>
            <a:pPr indent="0" marL="0">
              <a:buNone/>
            </a:pPr>
            <a:r>
              <a:rPr lang="en-US" sz="2800" b="1" i="1" dirty="0">
                <a:solidFill>
                  <a:schemeClr val="bg1"/>
                </a:solidFill>
              </a:rPr>
              <a:t>vì sao</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Chỉ thử nghiệm có kiểm soát mới cho phép nói “A gây ra B”</a:t>
            </a:r>
            <a:endParaRPr lang="en-US" sz="3000" dirty="0"/>
          </a:p>
        </p:txBody>
      </p:sp>
      <p:sp>
        <p:nvSpPr>
          <p:cNvPr id="4" name="card-287"/>
          <p:cNvSpPr/>
          <p:nvPr/>
        </p:nvSpPr>
        <p:spPr>
          <a:xfrm>
            <a:off x="548640" y="1737360"/>
            <a:ext cx="5120640" cy="1691640"/>
          </a:xfrm>
          <a:prstGeom prst="roundRect">
            <a:avLst>
              <a:gd name="adj" fmla="val 8108"/>
            </a:avLst>
          </a:prstGeom>
          <a:solidFill>
            <a:schemeClr val="bg2"/>
          </a:solidFill>
          <a:ln/>
        </p:spPr>
      </p:sp>
      <p:sp>
        <p:nvSpPr>
          <p:cNvPr id="5" name="icon-bg-288"/>
          <p:cNvSpPr/>
          <p:nvPr/>
        </p:nvSpPr>
        <p:spPr>
          <a:xfrm>
            <a:off x="822960" y="2057400"/>
            <a:ext cx="1051560" cy="1051560"/>
          </a:xfrm>
          <a:prstGeom prst="ellipse">
            <a:avLst/>
          </a:prstGeom>
          <a:solidFill>
            <a:schemeClr val="accent5"/>
          </a:solidFill>
          <a:ln/>
        </p:spPr>
      </p:sp>
      <p:pic>
        <p:nvPicPr>
          <p:cNvPr id="6" name="icon-289" descr="FaTshirt">    </p:cNvPr>
          <p:cNvPicPr>
            <a:picLocks noChangeAspect="1"/>
          </p:cNvPicPr>
          <p:nvPr/>
        </p:nvPicPr>
        <p:blipFill>
          <a:blip r:embed="rId1"/>
          <a:stretch>
            <a:fillRect/>
          </a:stretch>
        </p:blipFill>
        <p:spPr>
          <a:xfrm>
            <a:off x="1085850" y="2320290"/>
            <a:ext cx="525780" cy="525780"/>
          </a:xfrm>
          <a:prstGeom prst="rect">
            <a:avLst/>
          </a:prstGeom>
        </p:spPr>
      </p:pic>
      <p:sp>
        <p:nvSpPr>
          <p:cNvPr id="7" name="text-290"/>
          <p:cNvSpPr txBox="1"/>
          <p:nvPr/>
        </p:nvSpPr>
        <p:spPr>
          <a:xfrm>
            <a:off x="2103120" y="2011680"/>
            <a:ext cx="3474720" cy="548640"/>
          </a:xfrm>
          <a:prstGeom prst="rect">
            <a:avLst/>
          </a:prstGeom>
          <a:noFill/>
          <a:ln/>
        </p:spPr>
        <p:txBody>
          <a:bodyPr wrap="square" lIns="0" tIns="0" rIns="0" bIns="0" rtlCol="0" anchor="t"/>
          <a:lstStyle/>
          <a:p>
            <a:pPr indent="0" marL="0">
              <a:buNone/>
            </a:pPr>
            <a:r>
              <a:rPr lang="en-US" sz="2400" b="1" dirty="0">
                <a:solidFill>
                  <a:schemeClr val="accent5"/>
                </a:solidFill>
              </a:rPr>
              <a:t>Nhóm A (ngẫu nhiên)</a:t>
            </a:r>
            <a:endParaRPr lang="en-US" sz="2400" dirty="0"/>
          </a:p>
        </p:txBody>
      </p:sp>
      <p:sp>
        <p:nvSpPr>
          <p:cNvPr id="8" name="text-291"/>
          <p:cNvSpPr txBox="1"/>
          <p:nvPr/>
        </p:nvSpPr>
        <p:spPr>
          <a:xfrm>
            <a:off x="2103120" y="2606040"/>
            <a:ext cx="3474720" cy="548640"/>
          </a:xfrm>
          <a:prstGeom prst="rect">
            <a:avLst/>
          </a:prstGeom>
          <a:noFill/>
          <a:ln/>
        </p:spPr>
        <p:txBody>
          <a:bodyPr wrap="square" lIns="0" tIns="0" rIns="0" bIns="0" rtlCol="0" anchor="t"/>
          <a:lstStyle/>
          <a:p>
            <a:pPr indent="0" marL="0">
              <a:buNone/>
            </a:pPr>
            <a:r>
              <a:rPr lang="en-US" sz="2400" dirty="0">
                <a:solidFill>
                  <a:schemeClr val="tx1"/>
                </a:solidFill>
              </a:rPr>
              <a:t>Áo treo trên móc</a:t>
            </a:r>
            <a:endParaRPr lang="en-US" sz="2400" dirty="0"/>
          </a:p>
        </p:txBody>
      </p:sp>
      <p:sp>
        <p:nvSpPr>
          <p:cNvPr id="9" name="arrow-292"/>
          <p:cNvSpPr/>
          <p:nvPr/>
        </p:nvSpPr>
        <p:spPr>
          <a:xfrm>
            <a:off x="5897880" y="2331720"/>
            <a:ext cx="822960" cy="502920"/>
          </a:xfrm>
          <a:prstGeom prst="rightArrow">
            <a:avLst/>
          </a:prstGeom>
          <a:solidFill>
            <a:schemeClr val="tx2"/>
          </a:solidFill>
          <a:ln/>
        </p:spPr>
      </p:sp>
      <p:sp>
        <p:nvSpPr>
          <p:cNvPr id="10" name="card-293"/>
          <p:cNvSpPr/>
          <p:nvPr/>
        </p:nvSpPr>
        <p:spPr>
          <a:xfrm>
            <a:off x="548640" y="3657600"/>
            <a:ext cx="5120640" cy="1691640"/>
          </a:xfrm>
          <a:prstGeom prst="roundRect">
            <a:avLst>
              <a:gd name="adj" fmla="val 8108"/>
            </a:avLst>
          </a:prstGeom>
          <a:solidFill>
            <a:schemeClr val="bg2"/>
          </a:solidFill>
          <a:ln/>
        </p:spPr>
      </p:sp>
      <p:sp>
        <p:nvSpPr>
          <p:cNvPr id="11" name="icon-bg-294"/>
          <p:cNvSpPr/>
          <p:nvPr/>
        </p:nvSpPr>
        <p:spPr>
          <a:xfrm>
            <a:off x="822960" y="3977640"/>
            <a:ext cx="1051560" cy="1051560"/>
          </a:xfrm>
          <a:prstGeom prst="ellipse">
            <a:avLst/>
          </a:prstGeom>
          <a:solidFill>
            <a:schemeClr val="accent6"/>
          </a:solidFill>
          <a:ln/>
        </p:spPr>
      </p:sp>
      <p:pic>
        <p:nvPicPr>
          <p:cNvPr id="12" name="icon-295" descr="FaUser">    </p:cNvPr>
          <p:cNvPicPr>
            <a:picLocks noChangeAspect="1"/>
          </p:cNvPicPr>
          <p:nvPr/>
        </p:nvPicPr>
        <p:blipFill>
          <a:blip r:embed="rId2"/>
          <a:stretch>
            <a:fillRect/>
          </a:stretch>
        </p:blipFill>
        <p:spPr>
          <a:xfrm>
            <a:off x="1085850" y="4240530"/>
            <a:ext cx="525780" cy="525780"/>
          </a:xfrm>
          <a:prstGeom prst="rect">
            <a:avLst/>
          </a:prstGeom>
        </p:spPr>
      </p:pic>
      <p:sp>
        <p:nvSpPr>
          <p:cNvPr id="13" name="text-296"/>
          <p:cNvSpPr txBox="1"/>
          <p:nvPr/>
        </p:nvSpPr>
        <p:spPr>
          <a:xfrm>
            <a:off x="2103120" y="3931920"/>
            <a:ext cx="3474720" cy="548640"/>
          </a:xfrm>
          <a:prstGeom prst="rect">
            <a:avLst/>
          </a:prstGeom>
          <a:noFill/>
          <a:ln/>
        </p:spPr>
        <p:txBody>
          <a:bodyPr wrap="square" lIns="0" tIns="0" rIns="0" bIns="0" rtlCol="0" anchor="t"/>
          <a:lstStyle/>
          <a:p>
            <a:pPr indent="0" marL="0">
              <a:buNone/>
            </a:pPr>
            <a:r>
              <a:rPr lang="en-US" sz="2400" b="1" dirty="0">
                <a:solidFill>
                  <a:schemeClr val="accent6"/>
                </a:solidFill>
              </a:rPr>
              <a:t>Nhóm B (ngẫu nhiên)</a:t>
            </a:r>
            <a:endParaRPr lang="en-US" sz="2400" dirty="0"/>
          </a:p>
        </p:txBody>
      </p:sp>
      <p:sp>
        <p:nvSpPr>
          <p:cNvPr id="14" name="text-297"/>
          <p:cNvSpPr txBox="1"/>
          <p:nvPr/>
        </p:nvSpPr>
        <p:spPr>
          <a:xfrm>
            <a:off x="2103120" y="4526280"/>
            <a:ext cx="3474720" cy="548640"/>
          </a:xfrm>
          <a:prstGeom prst="rect">
            <a:avLst/>
          </a:prstGeom>
          <a:noFill/>
          <a:ln/>
        </p:spPr>
        <p:txBody>
          <a:bodyPr wrap="square" lIns="0" tIns="0" rIns="0" bIns="0" rtlCol="0" anchor="t"/>
          <a:lstStyle/>
          <a:p>
            <a:pPr indent="0" marL="0">
              <a:buNone/>
            </a:pPr>
            <a:r>
              <a:rPr lang="en-US" sz="2400" dirty="0">
                <a:solidFill>
                  <a:schemeClr val="tx1"/>
                </a:solidFill>
              </a:rPr>
              <a:t>Người mẫu mặc</a:t>
            </a:r>
            <a:endParaRPr lang="en-US" sz="2400" dirty="0"/>
          </a:p>
        </p:txBody>
      </p:sp>
      <p:sp>
        <p:nvSpPr>
          <p:cNvPr id="15" name="arrow-298"/>
          <p:cNvSpPr/>
          <p:nvPr/>
        </p:nvSpPr>
        <p:spPr>
          <a:xfrm>
            <a:off x="5897880" y="4251960"/>
            <a:ext cx="822960" cy="502920"/>
          </a:xfrm>
          <a:prstGeom prst="rightArrow">
            <a:avLst/>
          </a:prstGeom>
          <a:solidFill>
            <a:schemeClr val="tx2"/>
          </a:solidFill>
          <a:ln/>
        </p:spPr>
      </p:sp>
      <p:sp>
        <p:nvSpPr>
          <p:cNvPr id="16" name="card-299"/>
          <p:cNvSpPr/>
          <p:nvPr/>
        </p:nvSpPr>
        <p:spPr>
          <a:xfrm>
            <a:off x="6949440" y="2377440"/>
            <a:ext cx="4690872" cy="1828800"/>
          </a:xfrm>
          <a:prstGeom prst="roundRect">
            <a:avLst>
              <a:gd name="adj" fmla="val 7500"/>
            </a:avLst>
          </a:prstGeom>
          <a:solidFill>
            <a:schemeClr val="accent2"/>
          </a:solidFill>
          <a:ln/>
        </p:spPr>
      </p:sp>
      <p:sp>
        <p:nvSpPr>
          <p:cNvPr id="17" name="text-300"/>
          <p:cNvSpPr txBox="1"/>
          <p:nvPr/>
        </p:nvSpPr>
        <p:spPr>
          <a:xfrm>
            <a:off x="6949440" y="2377440"/>
            <a:ext cx="4690872" cy="1828800"/>
          </a:xfrm>
          <a:prstGeom prst="rect">
            <a:avLst/>
          </a:prstGeom>
          <a:noFill/>
          <a:ln/>
        </p:spPr>
        <p:txBody>
          <a:bodyPr wrap="square" lIns="0" tIns="0" rIns="0" bIns="0" rtlCol="0" anchor="ctr"/>
          <a:lstStyle/>
          <a:p>
            <a:pPr algn="ctr" indent="0" marL="0">
              <a:buNone/>
            </a:pPr>
            <a:r>
              <a:rPr lang="en-US" sz="3400" b="1" dirty="0">
                <a:solidFill>
                  <a:schemeClr val="bg1"/>
                </a:solidFill>
              </a:rPr>
              <a:t>Tỷ lệ mua</a:t>
            </a:r>
            <a:endParaRPr lang="en-US" sz="3400" dirty="0"/>
          </a:p>
        </p:txBody>
      </p:sp>
      <p:sp>
        <p:nvSpPr>
          <p:cNvPr id="18" name="icon-bg-301"/>
          <p:cNvSpPr/>
          <p:nvPr/>
        </p:nvSpPr>
        <p:spPr>
          <a:xfrm>
            <a:off x="548640" y="5532120"/>
            <a:ext cx="594360" cy="594360"/>
          </a:xfrm>
          <a:prstGeom prst="ellipse">
            <a:avLst/>
          </a:prstGeom>
          <a:solidFill>
            <a:schemeClr val="accent1"/>
          </a:solidFill>
          <a:ln/>
        </p:spPr>
      </p:sp>
      <p:pic>
        <p:nvPicPr>
          <p:cNvPr id="19" name="icon-302" descr="FaCheck">    </p:cNvPr>
          <p:cNvPicPr>
            <a:picLocks noChangeAspect="1"/>
          </p:cNvPicPr>
          <p:nvPr/>
        </p:nvPicPr>
        <p:blipFill>
          <a:blip r:embed="rId3"/>
          <a:stretch>
            <a:fillRect/>
          </a:stretch>
        </p:blipFill>
        <p:spPr>
          <a:xfrm>
            <a:off x="697230" y="5680710"/>
            <a:ext cx="297180" cy="297180"/>
          </a:xfrm>
          <a:prstGeom prst="rect">
            <a:avLst/>
          </a:prstGeom>
        </p:spPr>
      </p:pic>
      <p:sp>
        <p:nvSpPr>
          <p:cNvPr id="20" name="text-303"/>
          <p:cNvSpPr txBox="1"/>
          <p:nvPr/>
        </p:nvSpPr>
        <p:spPr>
          <a:xfrm>
            <a:off x="1325880" y="5532120"/>
            <a:ext cx="4754880" cy="594360"/>
          </a:xfrm>
          <a:prstGeom prst="rect">
            <a:avLst/>
          </a:prstGeom>
          <a:noFill/>
          <a:ln/>
        </p:spPr>
        <p:txBody>
          <a:bodyPr wrap="square" lIns="0" tIns="0" rIns="0" bIns="0" rtlCol="0" anchor="ctr"/>
          <a:lstStyle/>
          <a:p>
            <a:pPr indent="0" marL="0">
              <a:buNone/>
            </a:pPr>
            <a:r>
              <a:rPr lang="en-US" sz="2600" b="1" dirty="0">
                <a:solidFill>
                  <a:schemeClr val="tx1"/>
                </a:solidFill>
              </a:rPr>
              <a:t>Chia ngẫu nhiên</a:t>
            </a:r>
            <a:endParaRPr lang="en-US" sz="2600" dirty="0"/>
          </a:p>
        </p:txBody>
      </p:sp>
      <p:sp>
        <p:nvSpPr>
          <p:cNvPr id="21" name="icon-bg-304"/>
          <p:cNvSpPr/>
          <p:nvPr/>
        </p:nvSpPr>
        <p:spPr>
          <a:xfrm>
            <a:off x="6263640" y="5532120"/>
            <a:ext cx="594360" cy="594360"/>
          </a:xfrm>
          <a:prstGeom prst="ellipse">
            <a:avLst/>
          </a:prstGeom>
          <a:solidFill>
            <a:schemeClr val="accent1"/>
          </a:solidFill>
          <a:ln/>
        </p:spPr>
      </p:sp>
      <p:pic>
        <p:nvPicPr>
          <p:cNvPr id="22" name="icon-305" descr="FaCheck">    </p:cNvPr>
          <p:cNvPicPr>
            <a:picLocks noChangeAspect="1"/>
          </p:cNvPicPr>
          <p:nvPr/>
        </p:nvPicPr>
        <p:blipFill>
          <a:blip r:embed="rId4"/>
          <a:stretch>
            <a:fillRect/>
          </a:stretch>
        </p:blipFill>
        <p:spPr>
          <a:xfrm>
            <a:off x="6412230" y="5680710"/>
            <a:ext cx="297180" cy="297180"/>
          </a:xfrm>
          <a:prstGeom prst="rect">
            <a:avLst/>
          </a:prstGeom>
        </p:spPr>
      </p:pic>
      <p:sp>
        <p:nvSpPr>
          <p:cNvPr id="23" name="text-306"/>
          <p:cNvSpPr txBox="1"/>
          <p:nvPr/>
        </p:nvSpPr>
        <p:spPr>
          <a:xfrm>
            <a:off x="7040880" y="5532120"/>
            <a:ext cx="4754880" cy="594360"/>
          </a:xfrm>
          <a:prstGeom prst="rect">
            <a:avLst/>
          </a:prstGeom>
          <a:noFill/>
          <a:ln/>
        </p:spPr>
        <p:txBody>
          <a:bodyPr wrap="square" lIns="0" tIns="0" rIns="0" bIns="0" rtlCol="0" anchor="ctr"/>
          <a:lstStyle/>
          <a:p>
            <a:pPr indent="0" marL="0">
              <a:buNone/>
            </a:pPr>
            <a:r>
              <a:rPr lang="en-US" sz="2600" b="1" dirty="0">
                <a:solidFill>
                  <a:schemeClr val="tx1"/>
                </a:solidFill>
              </a:rPr>
              <a:t>Chỉ đổi một yếu tố</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Cùng tăng chưa chắc là nguyên nhân</a:t>
            </a:r>
            <a:endParaRPr lang="en-US" sz="3000" dirty="0"/>
          </a:p>
        </p:txBody>
      </p:sp>
      <p:sp>
        <p:nvSpPr>
          <p:cNvPr id="4" name="card-307"/>
          <p:cNvSpPr/>
          <p:nvPr/>
        </p:nvSpPr>
        <p:spPr>
          <a:xfrm>
            <a:off x="4480560" y="1691640"/>
            <a:ext cx="3200400" cy="1097280"/>
          </a:xfrm>
          <a:prstGeom prst="roundRect">
            <a:avLst>
              <a:gd name="adj" fmla="val 12500"/>
            </a:avLst>
          </a:prstGeom>
          <a:solidFill>
            <a:schemeClr val="accent2"/>
          </a:solidFill>
          <a:ln/>
        </p:spPr>
      </p:sp>
      <p:sp>
        <p:nvSpPr>
          <p:cNvPr id="5" name="text-308"/>
          <p:cNvSpPr txBox="1"/>
          <p:nvPr/>
        </p:nvSpPr>
        <p:spPr>
          <a:xfrm>
            <a:off x="4480560" y="1691640"/>
            <a:ext cx="3200400" cy="1097280"/>
          </a:xfrm>
          <a:prstGeom prst="rect">
            <a:avLst/>
          </a:prstGeom>
          <a:noFill/>
          <a:ln/>
        </p:spPr>
        <p:txBody>
          <a:bodyPr wrap="square" lIns="0" tIns="0" rIns="0" bIns="0" rtlCol="0" anchor="ctr"/>
          <a:lstStyle/>
          <a:p>
            <a:pPr algn="ctr" indent="0" marL="0">
              <a:buNone/>
            </a:pPr>
            <a:r>
              <a:rPr lang="en-US" sz="3000" b="1" dirty="0">
                <a:solidFill>
                  <a:schemeClr val="bg1"/>
                </a:solidFill>
              </a:rPr>
              <a:t>Mùa Tết</a:t>
            </a:r>
            <a:endParaRPr lang="en-US" sz="3000" dirty="0"/>
          </a:p>
        </p:txBody>
      </p:sp>
      <p:sp>
        <p:nvSpPr>
          <p:cNvPr id="6" name="line-309"/>
          <p:cNvSpPr/>
          <p:nvPr/>
        </p:nvSpPr>
        <p:spPr>
          <a:xfrm>
            <a:off x="4937760" y="2788920"/>
            <a:ext cx="-2011680" cy="1508760"/>
          </a:xfrm>
          <a:prstGeom prst="line">
            <a:avLst/>
          </a:prstGeom>
          <a:noFill/>
          <a:ln w="38100">
            <a:solidFill>
              <a:schemeClr val="accent2"/>
            </a:solidFill>
            <a:prstDash val="solid"/>
            <a:tailEnd type="triangle"/>
          </a:ln>
        </p:spPr>
      </p:sp>
      <p:sp>
        <p:nvSpPr>
          <p:cNvPr id="7" name="line-310"/>
          <p:cNvSpPr/>
          <p:nvPr/>
        </p:nvSpPr>
        <p:spPr>
          <a:xfrm>
            <a:off x="7223760" y="2788920"/>
            <a:ext cx="2011680" cy="1508760"/>
          </a:xfrm>
          <a:prstGeom prst="line">
            <a:avLst/>
          </a:prstGeom>
          <a:noFill/>
          <a:ln w="38100">
            <a:solidFill>
              <a:schemeClr val="accent2"/>
            </a:solidFill>
            <a:prstDash val="solid"/>
            <a:tailEnd type="triangle"/>
          </a:ln>
        </p:spPr>
      </p:sp>
      <p:sp>
        <p:nvSpPr>
          <p:cNvPr id="8" name="card-311"/>
          <p:cNvSpPr/>
          <p:nvPr/>
        </p:nvSpPr>
        <p:spPr>
          <a:xfrm>
            <a:off x="548640" y="4343400"/>
            <a:ext cx="4206240" cy="1188720"/>
          </a:xfrm>
          <a:prstGeom prst="roundRect">
            <a:avLst>
              <a:gd name="adj" fmla="val 11538"/>
            </a:avLst>
          </a:prstGeom>
          <a:solidFill>
            <a:schemeClr val="bg2"/>
          </a:solidFill>
          <a:ln/>
        </p:spPr>
      </p:sp>
      <p:sp>
        <p:nvSpPr>
          <p:cNvPr id="9" name="text-312"/>
          <p:cNvSpPr txBox="1"/>
          <p:nvPr/>
        </p:nvSpPr>
        <p:spPr>
          <a:xfrm>
            <a:off x="548640" y="4343400"/>
            <a:ext cx="4206240" cy="1188720"/>
          </a:xfrm>
          <a:prstGeom prst="rect">
            <a:avLst/>
          </a:prstGeom>
          <a:noFill/>
          <a:ln/>
        </p:spPr>
        <p:txBody>
          <a:bodyPr wrap="square" lIns="0" tIns="0" rIns="0" bIns="0" rtlCol="0" anchor="ctr"/>
          <a:lstStyle/>
          <a:p>
            <a:pPr algn="ctr" indent="0" marL="0">
              <a:buNone/>
            </a:pPr>
            <a:r>
              <a:rPr lang="en-US" sz="2800" b="1" dirty="0">
                <a:solidFill>
                  <a:schemeClr val="tx1"/>
                </a:solidFill>
              </a:rPr>
              <a:t>Chi quảng cáo ↑</a:t>
            </a:r>
            <a:endParaRPr lang="en-US" sz="2800" dirty="0"/>
          </a:p>
        </p:txBody>
      </p:sp>
      <p:sp>
        <p:nvSpPr>
          <p:cNvPr id="10" name="card-313"/>
          <p:cNvSpPr/>
          <p:nvPr/>
        </p:nvSpPr>
        <p:spPr>
          <a:xfrm>
            <a:off x="7434072" y="4343400"/>
            <a:ext cx="4206240" cy="1188720"/>
          </a:xfrm>
          <a:prstGeom prst="roundRect">
            <a:avLst>
              <a:gd name="adj" fmla="val 11538"/>
            </a:avLst>
          </a:prstGeom>
          <a:solidFill>
            <a:schemeClr val="bg2"/>
          </a:solidFill>
          <a:ln/>
        </p:spPr>
      </p:sp>
      <p:sp>
        <p:nvSpPr>
          <p:cNvPr id="11" name="text-314"/>
          <p:cNvSpPr txBox="1"/>
          <p:nvPr/>
        </p:nvSpPr>
        <p:spPr>
          <a:xfrm>
            <a:off x="7434072" y="4343400"/>
            <a:ext cx="4206240" cy="1188720"/>
          </a:xfrm>
          <a:prstGeom prst="rect">
            <a:avLst/>
          </a:prstGeom>
          <a:noFill/>
          <a:ln/>
        </p:spPr>
        <p:txBody>
          <a:bodyPr wrap="square" lIns="0" tIns="0" rIns="0" bIns="0" rtlCol="0" anchor="ctr"/>
          <a:lstStyle/>
          <a:p>
            <a:pPr algn="ctr" indent="0" marL="0">
              <a:buNone/>
            </a:pPr>
            <a:r>
              <a:rPr lang="en-US" sz="2800" b="1" dirty="0">
                <a:solidFill>
                  <a:schemeClr val="tx1"/>
                </a:solidFill>
              </a:rPr>
              <a:t>Doanh thu ↑</a:t>
            </a:r>
            <a:endParaRPr lang="en-US" sz="2800" dirty="0"/>
          </a:p>
        </p:txBody>
      </p:sp>
      <p:sp>
        <p:nvSpPr>
          <p:cNvPr id="12" name="line-315"/>
          <p:cNvSpPr/>
          <p:nvPr/>
        </p:nvSpPr>
        <p:spPr>
          <a:xfrm>
            <a:off x="4892040" y="4937760"/>
            <a:ext cx="2423160" cy="0"/>
          </a:xfrm>
          <a:prstGeom prst="line">
            <a:avLst/>
          </a:prstGeom>
          <a:noFill/>
          <a:ln w="38100">
            <a:solidFill>
              <a:schemeClr val="accent3"/>
            </a:solidFill>
            <a:prstDash val="dash"/>
            <a:tailEnd type="triangle"/>
          </a:ln>
        </p:spPr>
      </p:sp>
      <p:sp>
        <p:nvSpPr>
          <p:cNvPr id="13" name="text-316"/>
          <p:cNvSpPr txBox="1"/>
          <p:nvPr/>
        </p:nvSpPr>
        <p:spPr>
          <a:xfrm>
            <a:off x="4846320" y="5074920"/>
            <a:ext cx="2514600" cy="502920"/>
          </a:xfrm>
          <a:prstGeom prst="rect">
            <a:avLst/>
          </a:prstGeom>
          <a:noFill/>
          <a:ln/>
        </p:spPr>
        <p:txBody>
          <a:bodyPr wrap="square" lIns="0" tIns="0" rIns="0" bIns="0" rtlCol="0" anchor="t"/>
          <a:lstStyle/>
          <a:p>
            <a:pPr algn="ctr" indent="0" marL="0">
              <a:buNone/>
            </a:pPr>
            <a:r>
              <a:rPr lang="en-US" sz="2400" b="1" dirty="0">
                <a:solidFill>
                  <a:schemeClr val="accent3"/>
                </a:solidFill>
              </a:rPr>
              <a:t>gây ra?</a:t>
            </a:r>
            <a:endParaRPr lang="en-US" sz="2400" dirty="0"/>
          </a:p>
        </p:txBody>
      </p:sp>
      <p:sp>
        <p:nvSpPr>
          <p:cNvPr id="14" name="text-317"/>
          <p:cNvSpPr txBox="1"/>
          <p:nvPr/>
        </p:nvSpPr>
        <p:spPr>
          <a:xfrm>
            <a:off x="548640" y="5760720"/>
            <a:ext cx="6400800" cy="502920"/>
          </a:xfrm>
          <a:prstGeom prst="rect">
            <a:avLst/>
          </a:prstGeom>
          <a:noFill/>
          <a:ln/>
        </p:spPr>
        <p:txBody>
          <a:bodyPr wrap="square" lIns="0" tIns="0" rIns="0" bIns="0" rtlCol="0" anchor="t"/>
          <a:lstStyle/>
          <a:p>
            <a:pPr indent="0" marL="0">
              <a:buNone/>
            </a:pPr>
            <a:r>
              <a:rPr lang="en-US" sz="2400" b="1" dirty="0">
                <a:solidFill>
                  <a:schemeClr val="accent3"/>
                </a:solidFill>
              </a:rPr>
              <a:t>Tương quan ≠ 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Định tính để hiểu sâu, định lượng để đo trên diện rộng</a:t>
            </a:r>
            <a:endParaRPr lang="en-US" sz="3000" dirty="0"/>
          </a:p>
        </p:txBody>
      </p:sp>
      <p:sp>
        <p:nvSpPr>
          <p:cNvPr id="4" name="card-318"/>
          <p:cNvSpPr/>
          <p:nvPr/>
        </p:nvSpPr>
        <p:spPr>
          <a:xfrm>
            <a:off x="2880360" y="1691640"/>
            <a:ext cx="4297680" cy="685800"/>
          </a:xfrm>
          <a:prstGeom prst="roundRect">
            <a:avLst>
              <a:gd name="adj" fmla="val 20000"/>
            </a:avLst>
          </a:prstGeom>
          <a:solidFill>
            <a:schemeClr val="accent4"/>
          </a:solidFill>
          <a:ln/>
        </p:spPr>
      </p:sp>
      <p:sp>
        <p:nvSpPr>
          <p:cNvPr id="5" name="text-319"/>
          <p:cNvSpPr txBox="1"/>
          <p:nvPr/>
        </p:nvSpPr>
        <p:spPr>
          <a:xfrm>
            <a:off x="3017520" y="1691640"/>
            <a:ext cx="4206240" cy="685800"/>
          </a:xfrm>
          <a:prstGeom prst="rect">
            <a:avLst/>
          </a:prstGeom>
          <a:noFill/>
          <a:ln/>
        </p:spPr>
        <p:txBody>
          <a:bodyPr wrap="square" lIns="0" tIns="0" rIns="0" bIns="0" rtlCol="0" anchor="ctr"/>
          <a:lstStyle/>
          <a:p>
            <a:pPr indent="0" marL="0">
              <a:buNone/>
            </a:pPr>
            <a:r>
              <a:rPr lang="en-US" sz="2800" b="1" dirty="0">
                <a:solidFill>
                  <a:schemeClr val="tx1"/>
                </a:solidFill>
              </a:rPr>
              <a:t>Định tính</a:t>
            </a:r>
            <a:endParaRPr lang="en-US" sz="2800" dirty="0"/>
          </a:p>
        </p:txBody>
      </p:sp>
      <p:sp>
        <p:nvSpPr>
          <p:cNvPr id="6" name="card-320"/>
          <p:cNvSpPr/>
          <p:nvPr/>
        </p:nvSpPr>
        <p:spPr>
          <a:xfrm>
            <a:off x="7269480" y="1691640"/>
            <a:ext cx="4343400" cy="685800"/>
          </a:xfrm>
          <a:prstGeom prst="roundRect">
            <a:avLst>
              <a:gd name="adj" fmla="val 20000"/>
            </a:avLst>
          </a:prstGeom>
          <a:solidFill>
            <a:schemeClr val="accent5"/>
          </a:solidFill>
          <a:ln/>
        </p:spPr>
      </p:sp>
      <p:sp>
        <p:nvSpPr>
          <p:cNvPr id="7" name="text-321"/>
          <p:cNvSpPr txBox="1"/>
          <p:nvPr/>
        </p:nvSpPr>
        <p:spPr>
          <a:xfrm>
            <a:off x="7406640" y="1691640"/>
            <a:ext cx="4206240" cy="685800"/>
          </a:xfrm>
          <a:prstGeom prst="rect">
            <a:avLst/>
          </a:prstGeom>
          <a:noFill/>
          <a:ln/>
        </p:spPr>
        <p:txBody>
          <a:bodyPr wrap="square" lIns="0" tIns="0" rIns="0" bIns="0" rtlCol="0" anchor="ctr"/>
          <a:lstStyle/>
          <a:p>
            <a:pPr indent="0" marL="0">
              <a:buNone/>
            </a:pPr>
            <a:r>
              <a:rPr lang="en-US" sz="2800" b="1" dirty="0">
                <a:solidFill>
                  <a:schemeClr val="bg1"/>
                </a:solidFill>
              </a:rPr>
              <a:t>Định lượng</a:t>
            </a:r>
            <a:endParaRPr lang="en-US" sz="2800" dirty="0"/>
          </a:p>
        </p:txBody>
      </p:sp>
      <p:sp>
        <p:nvSpPr>
          <p:cNvPr id="8" name="card-322"/>
          <p:cNvSpPr/>
          <p:nvPr/>
        </p:nvSpPr>
        <p:spPr>
          <a:xfrm>
            <a:off x="457200" y="2478024"/>
            <a:ext cx="11277295" cy="822960"/>
          </a:xfrm>
          <a:prstGeom prst="roundRect">
            <a:avLst>
              <a:gd name="adj" fmla="val 16667"/>
            </a:avLst>
          </a:prstGeom>
          <a:solidFill>
            <a:schemeClr val="bg2"/>
          </a:solidFill>
          <a:ln/>
        </p:spPr>
      </p:sp>
      <p:sp>
        <p:nvSpPr>
          <p:cNvPr id="9" name="text-323"/>
          <p:cNvSpPr txBox="1"/>
          <p:nvPr/>
        </p:nvSpPr>
        <p:spPr>
          <a:xfrm>
            <a:off x="548640" y="2514600"/>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Mục đích</a:t>
            </a:r>
            <a:endParaRPr lang="en-US" sz="2400" dirty="0"/>
          </a:p>
        </p:txBody>
      </p:sp>
      <p:sp>
        <p:nvSpPr>
          <p:cNvPr id="10" name="text-324"/>
          <p:cNvSpPr txBox="1"/>
          <p:nvPr/>
        </p:nvSpPr>
        <p:spPr>
          <a:xfrm>
            <a:off x="3017520" y="2514600"/>
            <a:ext cx="4206240" cy="749808"/>
          </a:xfrm>
          <a:prstGeom prst="rect">
            <a:avLst/>
          </a:prstGeom>
          <a:noFill/>
          <a:ln/>
        </p:spPr>
        <p:txBody>
          <a:bodyPr wrap="square" lIns="0" tIns="0" rIns="0" bIns="0" rtlCol="0" anchor="ctr"/>
          <a:lstStyle/>
          <a:p>
            <a:pPr indent="0" marL="0">
              <a:buNone/>
            </a:pPr>
            <a:r>
              <a:rPr lang="en-US" sz="2400" dirty="0">
                <a:solidFill>
                  <a:schemeClr val="tx1"/>
                </a:solidFill>
              </a:rPr>
              <a:t>Hiểu sâu, xây dựng lý thuyết</a:t>
            </a:r>
            <a:endParaRPr lang="en-US" sz="2400" dirty="0"/>
          </a:p>
        </p:txBody>
      </p:sp>
      <p:sp>
        <p:nvSpPr>
          <p:cNvPr id="11" name="text-325"/>
          <p:cNvSpPr txBox="1"/>
          <p:nvPr/>
        </p:nvSpPr>
        <p:spPr>
          <a:xfrm>
            <a:off x="7406640" y="2514600"/>
            <a:ext cx="4206240" cy="749808"/>
          </a:xfrm>
          <a:prstGeom prst="rect">
            <a:avLst/>
          </a:prstGeom>
          <a:noFill/>
          <a:ln/>
        </p:spPr>
        <p:txBody>
          <a:bodyPr wrap="square" lIns="0" tIns="0" rIns="0" bIns="0" rtlCol="0" anchor="ctr"/>
          <a:lstStyle/>
          <a:p>
            <a:pPr indent="0" marL="0">
              <a:buNone/>
            </a:pPr>
            <a:r>
              <a:rPr lang="en-US" sz="2400" dirty="0">
                <a:solidFill>
                  <a:schemeClr val="tx1"/>
                </a:solidFill>
              </a:rPr>
              <a:t>Đo lường, kiểm định giả thuyết</a:t>
            </a:r>
            <a:endParaRPr lang="en-US" sz="2400" dirty="0"/>
          </a:p>
        </p:txBody>
      </p:sp>
      <p:sp>
        <p:nvSpPr>
          <p:cNvPr id="12" name="text-326"/>
          <p:cNvSpPr txBox="1"/>
          <p:nvPr/>
        </p:nvSpPr>
        <p:spPr>
          <a:xfrm>
            <a:off x="548640" y="3355848"/>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Dữ liệu</a:t>
            </a:r>
            <a:endParaRPr lang="en-US" sz="2400" dirty="0"/>
          </a:p>
        </p:txBody>
      </p:sp>
      <p:sp>
        <p:nvSpPr>
          <p:cNvPr id="13" name="text-327"/>
          <p:cNvSpPr txBox="1"/>
          <p:nvPr/>
        </p:nvSpPr>
        <p:spPr>
          <a:xfrm>
            <a:off x="3017520" y="3355848"/>
            <a:ext cx="4206240" cy="749808"/>
          </a:xfrm>
          <a:prstGeom prst="rect">
            <a:avLst/>
          </a:prstGeom>
          <a:noFill/>
          <a:ln/>
        </p:spPr>
        <p:txBody>
          <a:bodyPr wrap="square" lIns="0" tIns="0" rIns="0" bIns="0" rtlCol="0" anchor="ctr"/>
          <a:lstStyle/>
          <a:p>
            <a:pPr indent="0" marL="0">
              <a:buNone/>
            </a:pPr>
            <a:r>
              <a:rPr lang="en-US" sz="2400" dirty="0">
                <a:solidFill>
                  <a:schemeClr val="tx1"/>
                </a:solidFill>
              </a:rPr>
              <a:t>Lời nói, văn bản, hình ảnh</a:t>
            </a:r>
            <a:endParaRPr lang="en-US" sz="2400" dirty="0"/>
          </a:p>
        </p:txBody>
      </p:sp>
      <p:sp>
        <p:nvSpPr>
          <p:cNvPr id="14" name="text-328"/>
          <p:cNvSpPr txBox="1"/>
          <p:nvPr/>
        </p:nvSpPr>
        <p:spPr>
          <a:xfrm>
            <a:off x="7406640" y="3355848"/>
            <a:ext cx="4206240" cy="749808"/>
          </a:xfrm>
          <a:prstGeom prst="rect">
            <a:avLst/>
          </a:prstGeom>
          <a:noFill/>
          <a:ln/>
        </p:spPr>
        <p:txBody>
          <a:bodyPr wrap="square" lIns="0" tIns="0" rIns="0" bIns="0" rtlCol="0" anchor="ctr"/>
          <a:lstStyle/>
          <a:p>
            <a:pPr indent="0" marL="0">
              <a:buNone/>
            </a:pPr>
            <a:r>
              <a:rPr lang="en-US" sz="2400" dirty="0">
                <a:solidFill>
                  <a:schemeClr val="tx1"/>
                </a:solidFill>
              </a:rPr>
              <a:t>Con số, tỷ lệ</a:t>
            </a:r>
            <a:endParaRPr lang="en-US" sz="2400" dirty="0"/>
          </a:p>
        </p:txBody>
      </p:sp>
      <p:sp>
        <p:nvSpPr>
          <p:cNvPr id="15" name="card-329"/>
          <p:cNvSpPr/>
          <p:nvPr/>
        </p:nvSpPr>
        <p:spPr>
          <a:xfrm>
            <a:off x="457200" y="4160520"/>
            <a:ext cx="11277295" cy="822960"/>
          </a:xfrm>
          <a:prstGeom prst="roundRect">
            <a:avLst>
              <a:gd name="adj" fmla="val 16667"/>
            </a:avLst>
          </a:prstGeom>
          <a:solidFill>
            <a:schemeClr val="bg2"/>
          </a:solidFill>
          <a:ln/>
        </p:spPr>
      </p:sp>
      <p:sp>
        <p:nvSpPr>
          <p:cNvPr id="16" name="text-330"/>
          <p:cNvSpPr txBox="1"/>
          <p:nvPr/>
        </p:nvSpPr>
        <p:spPr>
          <a:xfrm>
            <a:off x="548640" y="4197096"/>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Cỡ mẫu</a:t>
            </a:r>
            <a:endParaRPr lang="en-US" sz="2400" dirty="0"/>
          </a:p>
        </p:txBody>
      </p:sp>
      <p:sp>
        <p:nvSpPr>
          <p:cNvPr id="17" name="text-331"/>
          <p:cNvSpPr txBox="1"/>
          <p:nvPr/>
        </p:nvSpPr>
        <p:spPr>
          <a:xfrm>
            <a:off x="3017520" y="4197096"/>
            <a:ext cx="4206240" cy="749808"/>
          </a:xfrm>
          <a:prstGeom prst="rect">
            <a:avLst/>
          </a:prstGeom>
          <a:noFill/>
          <a:ln/>
        </p:spPr>
        <p:txBody>
          <a:bodyPr wrap="square" lIns="0" tIns="0" rIns="0" bIns="0" rtlCol="0" anchor="ctr"/>
          <a:lstStyle/>
          <a:p>
            <a:pPr indent="0" marL="0">
              <a:buNone/>
            </a:pPr>
            <a:r>
              <a:rPr lang="en-US" sz="2400" dirty="0">
                <a:solidFill>
                  <a:schemeClr val="tx1"/>
                </a:solidFill>
              </a:rPr>
              <a:t>Nhỏ</a:t>
            </a:r>
            <a:endParaRPr lang="en-US" sz="2400" dirty="0"/>
          </a:p>
        </p:txBody>
      </p:sp>
      <p:sp>
        <p:nvSpPr>
          <p:cNvPr id="18" name="text-332"/>
          <p:cNvSpPr txBox="1"/>
          <p:nvPr/>
        </p:nvSpPr>
        <p:spPr>
          <a:xfrm>
            <a:off x="7406640" y="4197096"/>
            <a:ext cx="4206240" cy="749808"/>
          </a:xfrm>
          <a:prstGeom prst="rect">
            <a:avLst/>
          </a:prstGeom>
          <a:noFill/>
          <a:ln/>
        </p:spPr>
        <p:txBody>
          <a:bodyPr wrap="square" lIns="0" tIns="0" rIns="0" bIns="0" rtlCol="0" anchor="ctr"/>
          <a:lstStyle/>
          <a:p>
            <a:pPr indent="0" marL="0">
              <a:buNone/>
            </a:pPr>
            <a:r>
              <a:rPr lang="en-US" sz="2400" dirty="0">
                <a:solidFill>
                  <a:schemeClr val="tx1"/>
                </a:solidFill>
              </a:rPr>
              <a:t>Lớn, hướng tới đại diện</a:t>
            </a:r>
            <a:endParaRPr lang="en-US" sz="2400" dirty="0"/>
          </a:p>
        </p:txBody>
      </p:sp>
      <p:sp>
        <p:nvSpPr>
          <p:cNvPr id="19" name="text-333"/>
          <p:cNvSpPr txBox="1"/>
          <p:nvPr/>
        </p:nvSpPr>
        <p:spPr>
          <a:xfrm>
            <a:off x="548640" y="5038344"/>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Phương pháp</a:t>
            </a:r>
            <a:endParaRPr lang="en-US" sz="2400" dirty="0"/>
          </a:p>
        </p:txBody>
      </p:sp>
      <p:sp>
        <p:nvSpPr>
          <p:cNvPr id="20" name="text-334"/>
          <p:cNvSpPr txBox="1"/>
          <p:nvPr/>
        </p:nvSpPr>
        <p:spPr>
          <a:xfrm>
            <a:off x="3017520" y="5038344"/>
            <a:ext cx="4206240" cy="749808"/>
          </a:xfrm>
          <a:prstGeom prst="rect">
            <a:avLst/>
          </a:prstGeom>
          <a:noFill/>
          <a:ln/>
        </p:spPr>
        <p:txBody>
          <a:bodyPr wrap="square" lIns="0" tIns="0" rIns="0" bIns="0" rtlCol="0" anchor="ctr"/>
          <a:lstStyle/>
          <a:p>
            <a:pPr indent="0" marL="0">
              <a:buNone/>
            </a:pPr>
            <a:r>
              <a:rPr lang="en-US" sz="2400" dirty="0">
                <a:solidFill>
                  <a:schemeClr val="tx1"/>
                </a:solidFill>
              </a:rPr>
              <a:t>Phỏng vấn sâu, thảo luận nhóm</a:t>
            </a:r>
            <a:endParaRPr lang="en-US" sz="2400" dirty="0"/>
          </a:p>
        </p:txBody>
      </p:sp>
      <p:sp>
        <p:nvSpPr>
          <p:cNvPr id="21" name="text-335"/>
          <p:cNvSpPr txBox="1"/>
          <p:nvPr/>
        </p:nvSpPr>
        <p:spPr>
          <a:xfrm>
            <a:off x="7406640" y="5038344"/>
            <a:ext cx="4206240" cy="749808"/>
          </a:xfrm>
          <a:prstGeom prst="rect">
            <a:avLst/>
          </a:prstGeom>
          <a:noFill/>
          <a:ln/>
        </p:spPr>
        <p:txBody>
          <a:bodyPr wrap="square" lIns="0" tIns="0" rIns="0" bIns="0" rtlCol="0" anchor="ctr"/>
          <a:lstStyle/>
          <a:p>
            <a:pPr indent="0" marL="0">
              <a:buNone/>
            </a:pPr>
            <a:r>
              <a:rPr lang="en-US" sz="2400" dirty="0">
                <a:solidFill>
                  <a:schemeClr val="tx1"/>
                </a:solidFill>
              </a:rPr>
              <a:t>Khảo sát, thử nghiệm</a:t>
            </a:r>
            <a:endParaRPr lang="en-US" sz="2400" dirty="0"/>
          </a:p>
        </p:txBody>
      </p:sp>
      <p:sp>
        <p:nvSpPr>
          <p:cNvPr id="22" name="text-336"/>
          <p:cNvSpPr txBox="1"/>
          <p:nvPr/>
        </p:nvSpPr>
        <p:spPr>
          <a:xfrm>
            <a:off x="548640" y="5897880"/>
            <a:ext cx="8229600" cy="502920"/>
          </a:xfrm>
          <a:prstGeom prst="rect">
            <a:avLst/>
          </a:prstGeom>
          <a:noFill/>
          <a:ln/>
        </p:spPr>
        <p:txBody>
          <a:bodyPr wrap="square" lIns="0" tIns="0" rIns="0" bIns="0" rtlCol="0" anchor="t"/>
          <a:lstStyle/>
          <a:p>
            <a:pPr indent="0" marL="0">
              <a:buNone/>
            </a:pPr>
            <a:r>
              <a:rPr lang="en-US" sz="2400" dirty="0">
                <a:solidFill>
                  <a:schemeClr val="accent1"/>
                </a:solidFill>
              </a:rPr>
              <a:t>Kết hợp cả hai = </a:t>
            </a:r>
            <a:pPr indent="0" marL="0">
              <a:buNone/>
            </a:pPr>
            <a:r>
              <a:rPr lang="en-US" sz="2400" b="1" i="1" dirty="0">
                <a:solidFill>
                  <a:schemeClr val="accent1"/>
                </a:solidFill>
              </a:rPr>
              <a:t>mixed methods</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Phân loại nhanh: 30 giây bàn với bạn, rồi giơ tay</a:t>
            </a:r>
            <a:endParaRPr lang="en-US" sz="3000" dirty="0"/>
          </a:p>
        </p:txBody>
      </p:sp>
      <p:sp>
        <p:nvSpPr>
          <p:cNvPr id="4" name="card-337"/>
          <p:cNvSpPr/>
          <p:nvPr/>
        </p:nvSpPr>
        <p:spPr>
          <a:xfrm>
            <a:off x="548640" y="1828800"/>
            <a:ext cx="2606040" cy="3017520"/>
          </a:xfrm>
          <a:prstGeom prst="roundRect">
            <a:avLst>
              <a:gd name="adj" fmla="val 5263"/>
            </a:avLst>
          </a:prstGeom>
          <a:solidFill>
            <a:schemeClr val="bg2"/>
          </a:solidFill>
          <a:ln/>
        </p:spPr>
      </p:sp>
      <p:sp>
        <p:nvSpPr>
          <p:cNvPr id="5" name="icon-bg-338"/>
          <p:cNvSpPr/>
          <p:nvPr/>
        </p:nvSpPr>
        <p:spPr>
          <a:xfrm>
            <a:off x="1280160" y="2057400"/>
            <a:ext cx="1143000" cy="1143000"/>
          </a:xfrm>
          <a:prstGeom prst="ellipse">
            <a:avLst/>
          </a:prstGeom>
          <a:solidFill>
            <a:schemeClr val="accent1"/>
          </a:solidFill>
          <a:ln/>
        </p:spPr>
      </p:sp>
      <p:pic>
        <p:nvPicPr>
          <p:cNvPr id="6" name="icon-339" descr="FaHandPaper">    </p:cNvPr>
          <p:cNvPicPr>
            <a:picLocks noChangeAspect="1"/>
          </p:cNvPicPr>
          <p:nvPr/>
        </p:nvPicPr>
        <p:blipFill>
          <a:blip r:embed="rId1"/>
          <a:stretch>
            <a:fillRect/>
          </a:stretch>
        </p:blipFill>
        <p:spPr>
          <a:xfrm>
            <a:off x="1565910" y="2343150"/>
            <a:ext cx="571500" cy="571500"/>
          </a:xfrm>
          <a:prstGeom prst="rect">
            <a:avLst/>
          </a:prstGeom>
        </p:spPr>
      </p:pic>
      <p:sp>
        <p:nvSpPr>
          <p:cNvPr id="7" name="text-340"/>
          <p:cNvSpPr txBox="1"/>
          <p:nvPr/>
        </p:nvSpPr>
        <p:spPr>
          <a:xfrm>
            <a:off x="548640" y="3337560"/>
            <a:ext cx="2606040" cy="594360"/>
          </a:xfrm>
          <a:prstGeom prst="rect">
            <a:avLst/>
          </a:prstGeom>
          <a:noFill/>
          <a:ln/>
        </p:spPr>
        <p:txBody>
          <a:bodyPr wrap="square" lIns="0" tIns="0" rIns="0" bIns="0" rtlCol="0" anchor="t"/>
          <a:lstStyle/>
          <a:p>
            <a:pPr algn="ctr" indent="0" marL="0">
              <a:buNone/>
            </a:pPr>
            <a:r>
              <a:rPr lang="en-US" sz="3000" b="1" dirty="0">
                <a:solidFill>
                  <a:schemeClr val="accent1"/>
                </a:solidFill>
              </a:rPr>
              <a:t>1 ngón</a:t>
            </a:r>
            <a:endParaRPr lang="en-US" sz="3000" dirty="0"/>
          </a:p>
        </p:txBody>
      </p:sp>
      <p:sp>
        <p:nvSpPr>
          <p:cNvPr id="8" name="text-341"/>
          <p:cNvSpPr txBox="1"/>
          <p:nvPr/>
        </p:nvSpPr>
        <p:spPr>
          <a:xfrm>
            <a:off x="548640" y="3977640"/>
            <a:ext cx="2606040" cy="594360"/>
          </a:xfrm>
          <a:prstGeom prst="rect">
            <a:avLst/>
          </a:prstGeom>
          <a:noFill/>
          <a:ln/>
        </p:spPr>
        <p:txBody>
          <a:bodyPr wrap="square" lIns="0" tIns="0" rIns="0" bIns="0" rtlCol="0" anchor="t"/>
          <a:lstStyle/>
          <a:p>
            <a:pPr algn="ctr" indent="0" marL="0">
              <a:buNone/>
            </a:pPr>
            <a:r>
              <a:rPr lang="en-US" sz="2600" dirty="0">
                <a:solidFill>
                  <a:schemeClr val="tx1"/>
                </a:solidFill>
              </a:rPr>
              <a:t>Khám phá</a:t>
            </a:r>
            <a:endParaRPr lang="en-US" sz="2600" dirty="0"/>
          </a:p>
        </p:txBody>
      </p:sp>
      <p:sp>
        <p:nvSpPr>
          <p:cNvPr id="9" name="card-342"/>
          <p:cNvSpPr/>
          <p:nvPr/>
        </p:nvSpPr>
        <p:spPr>
          <a:xfrm>
            <a:off x="3367735" y="1828800"/>
            <a:ext cx="2606040" cy="3017520"/>
          </a:xfrm>
          <a:prstGeom prst="roundRect">
            <a:avLst>
              <a:gd name="adj" fmla="val 5263"/>
            </a:avLst>
          </a:prstGeom>
          <a:solidFill>
            <a:schemeClr val="bg2"/>
          </a:solidFill>
          <a:ln/>
        </p:spPr>
      </p:sp>
      <p:sp>
        <p:nvSpPr>
          <p:cNvPr id="10" name="icon-bg-343"/>
          <p:cNvSpPr/>
          <p:nvPr/>
        </p:nvSpPr>
        <p:spPr>
          <a:xfrm>
            <a:off x="4099255" y="2057400"/>
            <a:ext cx="1143000" cy="1143000"/>
          </a:xfrm>
          <a:prstGeom prst="ellipse">
            <a:avLst/>
          </a:prstGeom>
          <a:solidFill>
            <a:schemeClr val="accent2"/>
          </a:solidFill>
          <a:ln/>
        </p:spPr>
      </p:sp>
      <p:pic>
        <p:nvPicPr>
          <p:cNvPr id="11" name="icon-344" descr="FaHandPaper">    </p:cNvPr>
          <p:cNvPicPr>
            <a:picLocks noChangeAspect="1"/>
          </p:cNvPicPr>
          <p:nvPr/>
        </p:nvPicPr>
        <p:blipFill>
          <a:blip r:embed="rId2"/>
          <a:stretch>
            <a:fillRect/>
          </a:stretch>
        </p:blipFill>
        <p:spPr>
          <a:xfrm>
            <a:off x="4385005" y="2343150"/>
            <a:ext cx="571500" cy="571500"/>
          </a:xfrm>
          <a:prstGeom prst="rect">
            <a:avLst/>
          </a:prstGeom>
        </p:spPr>
      </p:pic>
      <p:sp>
        <p:nvSpPr>
          <p:cNvPr id="12" name="text-345"/>
          <p:cNvSpPr txBox="1"/>
          <p:nvPr/>
        </p:nvSpPr>
        <p:spPr>
          <a:xfrm>
            <a:off x="3367735" y="3337560"/>
            <a:ext cx="2606040" cy="594360"/>
          </a:xfrm>
          <a:prstGeom prst="rect">
            <a:avLst/>
          </a:prstGeom>
          <a:noFill/>
          <a:ln/>
        </p:spPr>
        <p:txBody>
          <a:bodyPr wrap="square" lIns="0" tIns="0" rIns="0" bIns="0" rtlCol="0" anchor="t"/>
          <a:lstStyle/>
          <a:p>
            <a:pPr algn="ctr" indent="0" marL="0">
              <a:buNone/>
            </a:pPr>
            <a:r>
              <a:rPr lang="en-US" sz="3000" b="1" dirty="0">
                <a:solidFill>
                  <a:schemeClr val="accent2"/>
                </a:solidFill>
              </a:rPr>
              <a:t>2 ngón</a:t>
            </a:r>
            <a:endParaRPr lang="en-US" sz="3000" dirty="0"/>
          </a:p>
        </p:txBody>
      </p:sp>
      <p:sp>
        <p:nvSpPr>
          <p:cNvPr id="13" name="text-346"/>
          <p:cNvSpPr txBox="1"/>
          <p:nvPr/>
        </p:nvSpPr>
        <p:spPr>
          <a:xfrm>
            <a:off x="3367735" y="3977640"/>
            <a:ext cx="2606040" cy="594360"/>
          </a:xfrm>
          <a:prstGeom prst="rect">
            <a:avLst/>
          </a:prstGeom>
          <a:noFill/>
          <a:ln/>
        </p:spPr>
        <p:txBody>
          <a:bodyPr wrap="square" lIns="0" tIns="0" rIns="0" bIns="0" rtlCol="0" anchor="t"/>
          <a:lstStyle/>
          <a:p>
            <a:pPr algn="ctr" indent="0" marL="0">
              <a:buNone/>
            </a:pPr>
            <a:r>
              <a:rPr lang="en-US" sz="2600" dirty="0">
                <a:solidFill>
                  <a:schemeClr val="tx1"/>
                </a:solidFill>
              </a:rPr>
              <a:t>Mô tả</a:t>
            </a:r>
            <a:endParaRPr lang="en-US" sz="2600" dirty="0"/>
          </a:p>
        </p:txBody>
      </p:sp>
      <p:sp>
        <p:nvSpPr>
          <p:cNvPr id="14" name="card-347"/>
          <p:cNvSpPr/>
          <p:nvPr/>
        </p:nvSpPr>
        <p:spPr>
          <a:xfrm>
            <a:off x="6186830" y="1828800"/>
            <a:ext cx="2606040" cy="3017520"/>
          </a:xfrm>
          <a:prstGeom prst="roundRect">
            <a:avLst>
              <a:gd name="adj" fmla="val 5263"/>
            </a:avLst>
          </a:prstGeom>
          <a:solidFill>
            <a:schemeClr val="bg2"/>
          </a:solidFill>
          <a:ln/>
        </p:spPr>
      </p:sp>
      <p:sp>
        <p:nvSpPr>
          <p:cNvPr id="15" name="icon-bg-348"/>
          <p:cNvSpPr/>
          <p:nvPr/>
        </p:nvSpPr>
        <p:spPr>
          <a:xfrm>
            <a:off x="6918350" y="2057400"/>
            <a:ext cx="1143000" cy="1143000"/>
          </a:xfrm>
          <a:prstGeom prst="ellipse">
            <a:avLst/>
          </a:prstGeom>
          <a:solidFill>
            <a:schemeClr val="accent5"/>
          </a:solidFill>
          <a:ln/>
        </p:spPr>
      </p:sp>
      <p:pic>
        <p:nvPicPr>
          <p:cNvPr id="16" name="icon-349" descr="FaHandPaper">    </p:cNvPr>
          <p:cNvPicPr>
            <a:picLocks noChangeAspect="1"/>
          </p:cNvPicPr>
          <p:nvPr/>
        </p:nvPicPr>
        <p:blipFill>
          <a:blip r:embed="rId3"/>
          <a:stretch>
            <a:fillRect/>
          </a:stretch>
        </p:blipFill>
        <p:spPr>
          <a:xfrm>
            <a:off x="7204100" y="2343150"/>
            <a:ext cx="571500" cy="571500"/>
          </a:xfrm>
          <a:prstGeom prst="rect">
            <a:avLst/>
          </a:prstGeom>
        </p:spPr>
      </p:pic>
      <p:sp>
        <p:nvSpPr>
          <p:cNvPr id="17" name="text-350"/>
          <p:cNvSpPr txBox="1"/>
          <p:nvPr/>
        </p:nvSpPr>
        <p:spPr>
          <a:xfrm>
            <a:off x="6186830" y="3337560"/>
            <a:ext cx="2606040" cy="594360"/>
          </a:xfrm>
          <a:prstGeom prst="rect">
            <a:avLst/>
          </a:prstGeom>
          <a:noFill/>
          <a:ln/>
        </p:spPr>
        <p:txBody>
          <a:bodyPr wrap="square" lIns="0" tIns="0" rIns="0" bIns="0" rtlCol="0" anchor="t"/>
          <a:lstStyle/>
          <a:p>
            <a:pPr algn="ctr" indent="0" marL="0">
              <a:buNone/>
            </a:pPr>
            <a:r>
              <a:rPr lang="en-US" sz="3000" b="1" dirty="0">
                <a:solidFill>
                  <a:schemeClr val="accent5"/>
                </a:solidFill>
              </a:rPr>
              <a:t>3 ngón</a:t>
            </a:r>
            <a:endParaRPr lang="en-US" sz="3000" dirty="0"/>
          </a:p>
        </p:txBody>
      </p:sp>
      <p:sp>
        <p:nvSpPr>
          <p:cNvPr id="18" name="text-351"/>
          <p:cNvSpPr txBox="1"/>
          <p:nvPr/>
        </p:nvSpPr>
        <p:spPr>
          <a:xfrm>
            <a:off x="6186830" y="3977640"/>
            <a:ext cx="2606040" cy="594360"/>
          </a:xfrm>
          <a:prstGeom prst="rect">
            <a:avLst/>
          </a:prstGeom>
          <a:noFill/>
          <a:ln/>
        </p:spPr>
        <p:txBody>
          <a:bodyPr wrap="square" lIns="0" tIns="0" rIns="0" bIns="0" rtlCol="0" anchor="t"/>
          <a:lstStyle/>
          <a:p>
            <a:pPr algn="ctr" indent="0" marL="0">
              <a:buNone/>
            </a:pPr>
            <a:r>
              <a:rPr lang="en-US" sz="2600" dirty="0">
                <a:solidFill>
                  <a:schemeClr val="tx1"/>
                </a:solidFill>
              </a:rPr>
              <a:t>Tương quan</a:t>
            </a:r>
            <a:endParaRPr lang="en-US" sz="2600" dirty="0"/>
          </a:p>
        </p:txBody>
      </p:sp>
      <p:sp>
        <p:nvSpPr>
          <p:cNvPr id="19" name="card-352"/>
          <p:cNvSpPr/>
          <p:nvPr/>
        </p:nvSpPr>
        <p:spPr>
          <a:xfrm>
            <a:off x="9005926" y="1828800"/>
            <a:ext cx="2606040" cy="3017520"/>
          </a:xfrm>
          <a:prstGeom prst="roundRect">
            <a:avLst>
              <a:gd name="adj" fmla="val 5263"/>
            </a:avLst>
          </a:prstGeom>
          <a:solidFill>
            <a:schemeClr val="bg2"/>
          </a:solidFill>
          <a:ln/>
        </p:spPr>
      </p:sp>
      <p:sp>
        <p:nvSpPr>
          <p:cNvPr id="20" name="icon-bg-353"/>
          <p:cNvSpPr/>
          <p:nvPr/>
        </p:nvSpPr>
        <p:spPr>
          <a:xfrm>
            <a:off x="9737446" y="2057400"/>
            <a:ext cx="1143000" cy="1143000"/>
          </a:xfrm>
          <a:prstGeom prst="ellipse">
            <a:avLst/>
          </a:prstGeom>
          <a:solidFill>
            <a:schemeClr val="accent3"/>
          </a:solidFill>
          <a:ln/>
        </p:spPr>
      </p:sp>
      <p:pic>
        <p:nvPicPr>
          <p:cNvPr id="21" name="icon-354" descr="FaHandPaper">    </p:cNvPr>
          <p:cNvPicPr>
            <a:picLocks noChangeAspect="1"/>
          </p:cNvPicPr>
          <p:nvPr/>
        </p:nvPicPr>
        <p:blipFill>
          <a:blip r:embed="rId4"/>
          <a:stretch>
            <a:fillRect/>
          </a:stretch>
        </p:blipFill>
        <p:spPr>
          <a:xfrm>
            <a:off x="10023196" y="2343150"/>
            <a:ext cx="571500" cy="571500"/>
          </a:xfrm>
          <a:prstGeom prst="rect">
            <a:avLst/>
          </a:prstGeom>
        </p:spPr>
      </p:pic>
      <p:sp>
        <p:nvSpPr>
          <p:cNvPr id="22" name="text-355"/>
          <p:cNvSpPr txBox="1"/>
          <p:nvPr/>
        </p:nvSpPr>
        <p:spPr>
          <a:xfrm>
            <a:off x="9005926" y="3337560"/>
            <a:ext cx="2606040" cy="594360"/>
          </a:xfrm>
          <a:prstGeom prst="rect">
            <a:avLst/>
          </a:prstGeom>
          <a:noFill/>
          <a:ln/>
        </p:spPr>
        <p:txBody>
          <a:bodyPr wrap="square" lIns="0" tIns="0" rIns="0" bIns="0" rtlCol="0" anchor="t"/>
          <a:lstStyle/>
          <a:p>
            <a:pPr algn="ctr" indent="0" marL="0">
              <a:buNone/>
            </a:pPr>
            <a:r>
              <a:rPr lang="en-US" sz="3000" b="1" dirty="0">
                <a:solidFill>
                  <a:schemeClr val="accent3"/>
                </a:solidFill>
              </a:rPr>
              <a:t>4 ngón</a:t>
            </a:r>
            <a:endParaRPr lang="en-US" sz="3000" dirty="0"/>
          </a:p>
        </p:txBody>
      </p:sp>
      <p:sp>
        <p:nvSpPr>
          <p:cNvPr id="23" name="text-356"/>
          <p:cNvSpPr txBox="1"/>
          <p:nvPr/>
        </p:nvSpPr>
        <p:spPr>
          <a:xfrm>
            <a:off x="9005926" y="3977640"/>
            <a:ext cx="2606040" cy="594360"/>
          </a:xfrm>
          <a:prstGeom prst="rect">
            <a:avLst/>
          </a:prstGeom>
          <a:noFill/>
          <a:ln/>
        </p:spPr>
        <p:txBody>
          <a:bodyPr wrap="square" lIns="0" tIns="0" rIns="0" bIns="0" rtlCol="0" anchor="t"/>
          <a:lstStyle/>
          <a:p>
            <a:pPr algn="ctr" indent="0" marL="0">
              <a:buNone/>
            </a:pPr>
            <a:r>
              <a:rPr lang="en-US" sz="2600" dirty="0">
                <a:solidFill>
                  <a:schemeClr val="tx1"/>
                </a:solidFill>
              </a:rPr>
              <a:t>Nhân quả</a:t>
            </a:r>
            <a:endParaRPr lang="en-US" sz="2600" dirty="0"/>
          </a:p>
        </p:txBody>
      </p:sp>
      <p:sp>
        <p:nvSpPr>
          <p:cNvPr id="24" name="text-357"/>
          <p:cNvSpPr txBox="1"/>
          <p:nvPr/>
        </p:nvSpPr>
        <p:spPr>
          <a:xfrm>
            <a:off x="548640" y="5257800"/>
            <a:ext cx="11094415" cy="822960"/>
          </a:xfrm>
          <a:prstGeom prst="rect">
            <a:avLst/>
          </a:prstGeom>
          <a:noFill/>
          <a:ln/>
        </p:spPr>
        <p:txBody>
          <a:bodyPr wrap="square" lIns="0" tIns="0" rIns="0" bIns="0" rtlCol="0" anchor="t"/>
          <a:lstStyle/>
          <a:p>
            <a:pPr indent="0" marL="0">
              <a:buNone/>
            </a:pPr>
            <a:r>
              <a:rPr lang="en-US" sz="2400" b="1" dirty="0">
                <a:solidFill>
                  <a:schemeClr val="accent2"/>
                </a:solidFill>
              </a:rPr>
              <a:t>30 giây bàn với bạn bên cạnh → đếm 3–2–1 → cả lớp giơ cùng lúc</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huống 1/6: đây là loại nghiên cứu nào?</a:t>
            </a:r>
            <a:endParaRPr lang="en-US" sz="3000" dirty="0"/>
          </a:p>
        </p:txBody>
      </p:sp>
      <p:sp>
        <p:nvSpPr>
          <p:cNvPr id="4" name="card-358"/>
          <p:cNvSpPr/>
          <p:nvPr/>
        </p:nvSpPr>
        <p:spPr>
          <a:xfrm>
            <a:off x="548640" y="1691640"/>
            <a:ext cx="11094415" cy="3291840"/>
          </a:xfrm>
          <a:prstGeom prst="roundRect">
            <a:avLst>
              <a:gd name="adj" fmla="val 4167"/>
            </a:avLst>
          </a:prstGeom>
          <a:solidFill>
            <a:schemeClr val="bg2"/>
          </a:solidFill>
          <a:ln/>
        </p:spPr>
      </p:sp>
      <p:sp>
        <p:nvSpPr>
          <p:cNvPr id="5" name="text-359"/>
          <p:cNvSpPr txBox="1"/>
          <p:nvPr/>
        </p:nvSpPr>
        <p:spPr>
          <a:xfrm>
            <a:off x="914400" y="1874520"/>
            <a:ext cx="10362895" cy="2926080"/>
          </a:xfrm>
          <a:prstGeom prst="rect">
            <a:avLst/>
          </a:prstGeom>
          <a:noFill/>
          <a:ln/>
        </p:spPr>
        <p:txBody>
          <a:bodyPr wrap="square" lIns="0" tIns="0" rIns="0" bIns="0" rtlCol="0" anchor="ctr"/>
          <a:lstStyle/>
          <a:p>
            <a:pPr indent="0" marL="0">
              <a:buNone/>
            </a:pPr>
            <a:r>
              <a:rPr lang="en-US" sz="3000" dirty="0">
                <a:solidFill>
                  <a:schemeClr val="tx1"/>
                </a:solidFill>
              </a:rPr>
              <a:t>Một thương hiệu kem thấy doanh số mùa hè giảm đột ngột mà không rõ lý do. Họ đi trò chuyện với khách hàng và chủ các cửa hàng bán lẻ để tìm hiểu chuyện gì đang xảy ra.</a:t>
            </a:r>
            <a:endParaRPr lang="en-US" sz="3000" dirty="0"/>
          </a:p>
        </p:txBody>
      </p:sp>
      <p:sp>
        <p:nvSpPr>
          <p:cNvPr id="6" name="dot-360"/>
          <p:cNvSpPr/>
          <p:nvPr/>
        </p:nvSpPr>
        <p:spPr>
          <a:xfrm>
            <a:off x="548640" y="5303520"/>
            <a:ext cx="731520" cy="731520"/>
          </a:xfrm>
          <a:prstGeom prst="ellipse">
            <a:avLst/>
          </a:prstGeom>
          <a:solidFill>
            <a:schemeClr val="accent1"/>
          </a:solidFill>
          <a:ln/>
        </p:spPr>
      </p:sp>
      <p:sp>
        <p:nvSpPr>
          <p:cNvPr id="7" name="text-361"/>
          <p:cNvSpPr txBox="1"/>
          <p:nvPr/>
        </p:nvSpPr>
        <p:spPr>
          <a:xfrm>
            <a:off x="548640"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362"/>
          <p:cNvSpPr txBox="1"/>
          <p:nvPr/>
        </p:nvSpPr>
        <p:spPr>
          <a:xfrm>
            <a:off x="1417320" y="5303520"/>
            <a:ext cx="1874520" cy="731520"/>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9" name="dot-363"/>
          <p:cNvSpPr/>
          <p:nvPr/>
        </p:nvSpPr>
        <p:spPr>
          <a:xfrm>
            <a:off x="3355848" y="5303520"/>
            <a:ext cx="731520" cy="731520"/>
          </a:xfrm>
          <a:prstGeom prst="ellipse">
            <a:avLst/>
          </a:prstGeom>
          <a:solidFill>
            <a:schemeClr val="accent2"/>
          </a:solidFill>
          <a:ln/>
        </p:spPr>
      </p:sp>
      <p:sp>
        <p:nvSpPr>
          <p:cNvPr id="10" name="text-364"/>
          <p:cNvSpPr txBox="1"/>
          <p:nvPr/>
        </p:nvSpPr>
        <p:spPr>
          <a:xfrm>
            <a:off x="3355848"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text-365"/>
          <p:cNvSpPr txBox="1"/>
          <p:nvPr/>
        </p:nvSpPr>
        <p:spPr>
          <a:xfrm>
            <a:off x="4224528" y="5303520"/>
            <a:ext cx="1325880" cy="731520"/>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2" name="dot-366"/>
          <p:cNvSpPr/>
          <p:nvPr/>
        </p:nvSpPr>
        <p:spPr>
          <a:xfrm>
            <a:off x="5614416" y="5303520"/>
            <a:ext cx="731520" cy="731520"/>
          </a:xfrm>
          <a:prstGeom prst="ellipse">
            <a:avLst/>
          </a:prstGeom>
          <a:solidFill>
            <a:schemeClr val="accent5"/>
          </a:solidFill>
          <a:ln/>
        </p:spPr>
      </p:sp>
      <p:sp>
        <p:nvSpPr>
          <p:cNvPr id="13" name="text-367"/>
          <p:cNvSpPr txBox="1"/>
          <p:nvPr/>
        </p:nvSpPr>
        <p:spPr>
          <a:xfrm>
            <a:off x="5614416"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368"/>
          <p:cNvSpPr txBox="1"/>
          <p:nvPr/>
        </p:nvSpPr>
        <p:spPr>
          <a:xfrm>
            <a:off x="6483096" y="5303520"/>
            <a:ext cx="2331720" cy="731520"/>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15" name="dot-369"/>
          <p:cNvSpPr/>
          <p:nvPr/>
        </p:nvSpPr>
        <p:spPr>
          <a:xfrm>
            <a:off x="8878824" y="5303520"/>
            <a:ext cx="731520" cy="731520"/>
          </a:xfrm>
          <a:prstGeom prst="ellipse">
            <a:avLst/>
          </a:prstGeom>
          <a:solidFill>
            <a:schemeClr val="accent3"/>
          </a:solidFill>
          <a:ln/>
        </p:spPr>
      </p:sp>
      <p:sp>
        <p:nvSpPr>
          <p:cNvPr id="16" name="text-370"/>
          <p:cNvSpPr txBox="1"/>
          <p:nvPr/>
        </p:nvSpPr>
        <p:spPr>
          <a:xfrm>
            <a:off x="8878824"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7" name="text-371"/>
          <p:cNvSpPr txBox="1"/>
          <p:nvPr/>
        </p:nvSpPr>
        <p:spPr>
          <a:xfrm>
            <a:off x="9747504" y="5303520"/>
            <a:ext cx="1874520" cy="731520"/>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huống 2/6: đây là loại nghiên cứu nào?</a:t>
            </a:r>
            <a:endParaRPr lang="en-US" sz="3000" dirty="0"/>
          </a:p>
        </p:txBody>
      </p:sp>
      <p:sp>
        <p:nvSpPr>
          <p:cNvPr id="4" name="card-372"/>
          <p:cNvSpPr/>
          <p:nvPr/>
        </p:nvSpPr>
        <p:spPr>
          <a:xfrm>
            <a:off x="548640" y="1691640"/>
            <a:ext cx="11094415" cy="3291840"/>
          </a:xfrm>
          <a:prstGeom prst="roundRect">
            <a:avLst>
              <a:gd name="adj" fmla="val 4167"/>
            </a:avLst>
          </a:prstGeom>
          <a:solidFill>
            <a:schemeClr val="bg2"/>
          </a:solidFill>
          <a:ln/>
        </p:spPr>
      </p:sp>
      <p:sp>
        <p:nvSpPr>
          <p:cNvPr id="5" name="text-373"/>
          <p:cNvSpPr txBox="1"/>
          <p:nvPr/>
        </p:nvSpPr>
        <p:spPr>
          <a:xfrm>
            <a:off x="914400" y="1874520"/>
            <a:ext cx="10362895" cy="2926080"/>
          </a:xfrm>
          <a:prstGeom prst="rect">
            <a:avLst/>
          </a:prstGeom>
          <a:noFill/>
          <a:ln/>
        </p:spPr>
        <p:txBody>
          <a:bodyPr wrap="square" lIns="0" tIns="0" rIns="0" bIns="0" rtlCol="0" anchor="ctr"/>
          <a:lstStyle/>
          <a:p>
            <a:pPr indent="0" marL="0">
              <a:buNone/>
            </a:pPr>
            <a:r>
              <a:rPr lang="en-US" sz="3000" dirty="0">
                <a:solidFill>
                  <a:schemeClr val="tx1"/>
                </a:solidFill>
              </a:rPr>
              <a:t>Một ứng dụng giao đồ ăn muốn biết ai là người đặt hàng vào cuối tuần: độ tuổi, giờ đặt, số tiền mỗi đơn.</a:t>
            </a:r>
            <a:endParaRPr lang="en-US" sz="3000" dirty="0"/>
          </a:p>
        </p:txBody>
      </p:sp>
      <p:sp>
        <p:nvSpPr>
          <p:cNvPr id="6" name="dot-374"/>
          <p:cNvSpPr/>
          <p:nvPr/>
        </p:nvSpPr>
        <p:spPr>
          <a:xfrm>
            <a:off x="548640" y="5303520"/>
            <a:ext cx="731520" cy="731520"/>
          </a:xfrm>
          <a:prstGeom prst="ellipse">
            <a:avLst/>
          </a:prstGeom>
          <a:solidFill>
            <a:schemeClr val="accent1"/>
          </a:solidFill>
          <a:ln/>
        </p:spPr>
      </p:sp>
      <p:sp>
        <p:nvSpPr>
          <p:cNvPr id="7" name="text-375"/>
          <p:cNvSpPr txBox="1"/>
          <p:nvPr/>
        </p:nvSpPr>
        <p:spPr>
          <a:xfrm>
            <a:off x="548640"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376"/>
          <p:cNvSpPr txBox="1"/>
          <p:nvPr/>
        </p:nvSpPr>
        <p:spPr>
          <a:xfrm>
            <a:off x="1417320" y="5303520"/>
            <a:ext cx="1874520" cy="731520"/>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9" name="dot-377"/>
          <p:cNvSpPr/>
          <p:nvPr/>
        </p:nvSpPr>
        <p:spPr>
          <a:xfrm>
            <a:off x="3355848" y="5303520"/>
            <a:ext cx="731520" cy="731520"/>
          </a:xfrm>
          <a:prstGeom prst="ellipse">
            <a:avLst/>
          </a:prstGeom>
          <a:solidFill>
            <a:schemeClr val="accent2"/>
          </a:solidFill>
          <a:ln/>
        </p:spPr>
      </p:sp>
      <p:sp>
        <p:nvSpPr>
          <p:cNvPr id="10" name="text-378"/>
          <p:cNvSpPr txBox="1"/>
          <p:nvPr/>
        </p:nvSpPr>
        <p:spPr>
          <a:xfrm>
            <a:off x="3355848"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text-379"/>
          <p:cNvSpPr txBox="1"/>
          <p:nvPr/>
        </p:nvSpPr>
        <p:spPr>
          <a:xfrm>
            <a:off x="4224528" y="5303520"/>
            <a:ext cx="1325880" cy="731520"/>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2" name="dot-380"/>
          <p:cNvSpPr/>
          <p:nvPr/>
        </p:nvSpPr>
        <p:spPr>
          <a:xfrm>
            <a:off x="5614416" y="5303520"/>
            <a:ext cx="731520" cy="731520"/>
          </a:xfrm>
          <a:prstGeom prst="ellipse">
            <a:avLst/>
          </a:prstGeom>
          <a:solidFill>
            <a:schemeClr val="accent5"/>
          </a:solidFill>
          <a:ln/>
        </p:spPr>
      </p:sp>
      <p:sp>
        <p:nvSpPr>
          <p:cNvPr id="13" name="text-381"/>
          <p:cNvSpPr txBox="1"/>
          <p:nvPr/>
        </p:nvSpPr>
        <p:spPr>
          <a:xfrm>
            <a:off x="5614416"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382"/>
          <p:cNvSpPr txBox="1"/>
          <p:nvPr/>
        </p:nvSpPr>
        <p:spPr>
          <a:xfrm>
            <a:off x="6483096" y="5303520"/>
            <a:ext cx="2331720" cy="731520"/>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15" name="dot-383"/>
          <p:cNvSpPr/>
          <p:nvPr/>
        </p:nvSpPr>
        <p:spPr>
          <a:xfrm>
            <a:off x="8878824" y="5303520"/>
            <a:ext cx="731520" cy="731520"/>
          </a:xfrm>
          <a:prstGeom prst="ellipse">
            <a:avLst/>
          </a:prstGeom>
          <a:solidFill>
            <a:schemeClr val="accent3"/>
          </a:solidFill>
          <a:ln/>
        </p:spPr>
      </p:sp>
      <p:sp>
        <p:nvSpPr>
          <p:cNvPr id="16" name="text-384"/>
          <p:cNvSpPr txBox="1"/>
          <p:nvPr/>
        </p:nvSpPr>
        <p:spPr>
          <a:xfrm>
            <a:off x="8878824"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7" name="text-385"/>
          <p:cNvSpPr txBox="1"/>
          <p:nvPr/>
        </p:nvSpPr>
        <p:spPr>
          <a:xfrm>
            <a:off x="9747504" y="5303520"/>
            <a:ext cx="1874520" cy="731520"/>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huống 3/6: đây là loại nghiên cứu nào?</a:t>
            </a:r>
            <a:endParaRPr lang="en-US" sz="3000" dirty="0"/>
          </a:p>
        </p:txBody>
      </p:sp>
      <p:sp>
        <p:nvSpPr>
          <p:cNvPr id="4" name="card-386"/>
          <p:cNvSpPr/>
          <p:nvPr/>
        </p:nvSpPr>
        <p:spPr>
          <a:xfrm>
            <a:off x="548640" y="1691640"/>
            <a:ext cx="11094415" cy="3291840"/>
          </a:xfrm>
          <a:prstGeom prst="roundRect">
            <a:avLst>
              <a:gd name="adj" fmla="val 4167"/>
            </a:avLst>
          </a:prstGeom>
          <a:solidFill>
            <a:schemeClr val="bg2"/>
          </a:solidFill>
          <a:ln/>
        </p:spPr>
      </p:sp>
      <p:sp>
        <p:nvSpPr>
          <p:cNvPr id="5" name="text-387"/>
          <p:cNvSpPr txBox="1"/>
          <p:nvPr/>
        </p:nvSpPr>
        <p:spPr>
          <a:xfrm>
            <a:off x="914400" y="1874520"/>
            <a:ext cx="10362895" cy="2926080"/>
          </a:xfrm>
          <a:prstGeom prst="rect">
            <a:avLst/>
          </a:prstGeom>
          <a:noFill/>
          <a:ln/>
        </p:spPr>
        <p:txBody>
          <a:bodyPr wrap="square" lIns="0" tIns="0" rIns="0" bIns="0" rtlCol="0" anchor="ctr"/>
          <a:lstStyle/>
          <a:p>
            <a:pPr indent="0" marL="0">
              <a:buNone/>
            </a:pPr>
            <a:r>
              <a:rPr lang="en-US" sz="3000" dirty="0">
                <a:solidFill>
                  <a:schemeClr val="tx1"/>
                </a:solidFill>
              </a:rPr>
              <a:t>Một shop thời trang trực tuyến chia ngẫu nhiên khách truy cập thành hai nhóm: nhóm A xem ảnh áo treo trên móc, nhóm B xem ảnh người mẫu mặc. Sau hai tuần, so sánh tỷ lệ mua của hai nhóm.</a:t>
            </a:r>
            <a:endParaRPr lang="en-US" sz="3000" dirty="0"/>
          </a:p>
        </p:txBody>
      </p:sp>
      <p:sp>
        <p:nvSpPr>
          <p:cNvPr id="6" name="dot-388"/>
          <p:cNvSpPr/>
          <p:nvPr/>
        </p:nvSpPr>
        <p:spPr>
          <a:xfrm>
            <a:off x="548640" y="5303520"/>
            <a:ext cx="731520" cy="731520"/>
          </a:xfrm>
          <a:prstGeom prst="ellipse">
            <a:avLst/>
          </a:prstGeom>
          <a:solidFill>
            <a:schemeClr val="accent1"/>
          </a:solidFill>
          <a:ln/>
        </p:spPr>
      </p:sp>
      <p:sp>
        <p:nvSpPr>
          <p:cNvPr id="7" name="text-389"/>
          <p:cNvSpPr txBox="1"/>
          <p:nvPr/>
        </p:nvSpPr>
        <p:spPr>
          <a:xfrm>
            <a:off x="548640"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390"/>
          <p:cNvSpPr txBox="1"/>
          <p:nvPr/>
        </p:nvSpPr>
        <p:spPr>
          <a:xfrm>
            <a:off x="1417320" y="5303520"/>
            <a:ext cx="1874520" cy="731520"/>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9" name="dot-391"/>
          <p:cNvSpPr/>
          <p:nvPr/>
        </p:nvSpPr>
        <p:spPr>
          <a:xfrm>
            <a:off x="3355848" y="5303520"/>
            <a:ext cx="731520" cy="731520"/>
          </a:xfrm>
          <a:prstGeom prst="ellipse">
            <a:avLst/>
          </a:prstGeom>
          <a:solidFill>
            <a:schemeClr val="accent2"/>
          </a:solidFill>
          <a:ln/>
        </p:spPr>
      </p:sp>
      <p:sp>
        <p:nvSpPr>
          <p:cNvPr id="10" name="text-392"/>
          <p:cNvSpPr txBox="1"/>
          <p:nvPr/>
        </p:nvSpPr>
        <p:spPr>
          <a:xfrm>
            <a:off x="3355848"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text-393"/>
          <p:cNvSpPr txBox="1"/>
          <p:nvPr/>
        </p:nvSpPr>
        <p:spPr>
          <a:xfrm>
            <a:off x="4224528" y="5303520"/>
            <a:ext cx="1325880" cy="731520"/>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2" name="dot-394"/>
          <p:cNvSpPr/>
          <p:nvPr/>
        </p:nvSpPr>
        <p:spPr>
          <a:xfrm>
            <a:off x="5614416" y="5303520"/>
            <a:ext cx="731520" cy="731520"/>
          </a:xfrm>
          <a:prstGeom prst="ellipse">
            <a:avLst/>
          </a:prstGeom>
          <a:solidFill>
            <a:schemeClr val="accent5"/>
          </a:solidFill>
          <a:ln/>
        </p:spPr>
      </p:sp>
      <p:sp>
        <p:nvSpPr>
          <p:cNvPr id="13" name="text-395"/>
          <p:cNvSpPr txBox="1"/>
          <p:nvPr/>
        </p:nvSpPr>
        <p:spPr>
          <a:xfrm>
            <a:off x="5614416"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396"/>
          <p:cNvSpPr txBox="1"/>
          <p:nvPr/>
        </p:nvSpPr>
        <p:spPr>
          <a:xfrm>
            <a:off x="6483096" y="5303520"/>
            <a:ext cx="2331720" cy="731520"/>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15" name="dot-397"/>
          <p:cNvSpPr/>
          <p:nvPr/>
        </p:nvSpPr>
        <p:spPr>
          <a:xfrm>
            <a:off x="8878824" y="5303520"/>
            <a:ext cx="731520" cy="731520"/>
          </a:xfrm>
          <a:prstGeom prst="ellipse">
            <a:avLst/>
          </a:prstGeom>
          <a:solidFill>
            <a:schemeClr val="accent3"/>
          </a:solidFill>
          <a:ln/>
        </p:spPr>
      </p:sp>
      <p:sp>
        <p:nvSpPr>
          <p:cNvPr id="16" name="text-398"/>
          <p:cNvSpPr txBox="1"/>
          <p:nvPr/>
        </p:nvSpPr>
        <p:spPr>
          <a:xfrm>
            <a:off x="8878824"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7" name="text-399"/>
          <p:cNvSpPr txBox="1"/>
          <p:nvPr/>
        </p:nvSpPr>
        <p:spPr>
          <a:xfrm>
            <a:off x="9747504" y="5303520"/>
            <a:ext cx="1874520" cy="731520"/>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huống 4/6: đây là loại nghiên cứu nào?</a:t>
            </a:r>
            <a:endParaRPr lang="en-US" sz="3000" dirty="0"/>
          </a:p>
        </p:txBody>
      </p:sp>
      <p:sp>
        <p:nvSpPr>
          <p:cNvPr id="4" name="card-400"/>
          <p:cNvSpPr/>
          <p:nvPr/>
        </p:nvSpPr>
        <p:spPr>
          <a:xfrm>
            <a:off x="548640" y="1691640"/>
            <a:ext cx="11094415" cy="3291840"/>
          </a:xfrm>
          <a:prstGeom prst="roundRect">
            <a:avLst>
              <a:gd name="adj" fmla="val 4167"/>
            </a:avLst>
          </a:prstGeom>
          <a:solidFill>
            <a:schemeClr val="bg2"/>
          </a:solidFill>
          <a:ln/>
        </p:spPr>
      </p:sp>
      <p:sp>
        <p:nvSpPr>
          <p:cNvPr id="5" name="text-401"/>
          <p:cNvSpPr txBox="1"/>
          <p:nvPr/>
        </p:nvSpPr>
        <p:spPr>
          <a:xfrm>
            <a:off x="914400" y="1874520"/>
            <a:ext cx="10362895" cy="2926080"/>
          </a:xfrm>
          <a:prstGeom prst="rect">
            <a:avLst/>
          </a:prstGeom>
          <a:noFill/>
          <a:ln/>
        </p:spPr>
        <p:txBody>
          <a:bodyPr wrap="square" lIns="0" tIns="0" rIns="0" bIns="0" rtlCol="0" anchor="ctr"/>
          <a:lstStyle/>
          <a:p>
            <a:pPr indent="0" marL="0">
              <a:buNone/>
            </a:pPr>
            <a:r>
              <a:rPr lang="en-US" sz="3000" dirty="0">
                <a:solidFill>
                  <a:schemeClr val="tx1"/>
                </a:solidFill>
              </a:rPr>
              <a:t>Một chuỗi cà phê muốn biết chi phí quảng cáo Facebook hằng tháng và doanh thu hằng tháng có biến động cùng chiều với nhau không, và mức độ ra sao.</a:t>
            </a:r>
            <a:endParaRPr lang="en-US" sz="3000" dirty="0"/>
          </a:p>
        </p:txBody>
      </p:sp>
      <p:sp>
        <p:nvSpPr>
          <p:cNvPr id="6" name="dot-402"/>
          <p:cNvSpPr/>
          <p:nvPr/>
        </p:nvSpPr>
        <p:spPr>
          <a:xfrm>
            <a:off x="548640" y="5303520"/>
            <a:ext cx="731520" cy="731520"/>
          </a:xfrm>
          <a:prstGeom prst="ellipse">
            <a:avLst/>
          </a:prstGeom>
          <a:solidFill>
            <a:schemeClr val="accent1"/>
          </a:solidFill>
          <a:ln/>
        </p:spPr>
      </p:sp>
      <p:sp>
        <p:nvSpPr>
          <p:cNvPr id="7" name="text-403"/>
          <p:cNvSpPr txBox="1"/>
          <p:nvPr/>
        </p:nvSpPr>
        <p:spPr>
          <a:xfrm>
            <a:off x="548640"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404"/>
          <p:cNvSpPr txBox="1"/>
          <p:nvPr/>
        </p:nvSpPr>
        <p:spPr>
          <a:xfrm>
            <a:off x="1417320" y="5303520"/>
            <a:ext cx="1874520" cy="731520"/>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9" name="dot-405"/>
          <p:cNvSpPr/>
          <p:nvPr/>
        </p:nvSpPr>
        <p:spPr>
          <a:xfrm>
            <a:off x="3355848" y="5303520"/>
            <a:ext cx="731520" cy="731520"/>
          </a:xfrm>
          <a:prstGeom prst="ellipse">
            <a:avLst/>
          </a:prstGeom>
          <a:solidFill>
            <a:schemeClr val="accent2"/>
          </a:solidFill>
          <a:ln/>
        </p:spPr>
      </p:sp>
      <p:sp>
        <p:nvSpPr>
          <p:cNvPr id="10" name="text-406"/>
          <p:cNvSpPr txBox="1"/>
          <p:nvPr/>
        </p:nvSpPr>
        <p:spPr>
          <a:xfrm>
            <a:off x="3355848"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text-407"/>
          <p:cNvSpPr txBox="1"/>
          <p:nvPr/>
        </p:nvSpPr>
        <p:spPr>
          <a:xfrm>
            <a:off x="4224528" y="5303520"/>
            <a:ext cx="1325880" cy="731520"/>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2" name="dot-408"/>
          <p:cNvSpPr/>
          <p:nvPr/>
        </p:nvSpPr>
        <p:spPr>
          <a:xfrm>
            <a:off x="5614416" y="5303520"/>
            <a:ext cx="731520" cy="731520"/>
          </a:xfrm>
          <a:prstGeom prst="ellipse">
            <a:avLst/>
          </a:prstGeom>
          <a:solidFill>
            <a:schemeClr val="accent5"/>
          </a:solidFill>
          <a:ln/>
        </p:spPr>
      </p:sp>
      <p:sp>
        <p:nvSpPr>
          <p:cNvPr id="13" name="text-409"/>
          <p:cNvSpPr txBox="1"/>
          <p:nvPr/>
        </p:nvSpPr>
        <p:spPr>
          <a:xfrm>
            <a:off x="5614416"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410"/>
          <p:cNvSpPr txBox="1"/>
          <p:nvPr/>
        </p:nvSpPr>
        <p:spPr>
          <a:xfrm>
            <a:off x="6483096" y="5303520"/>
            <a:ext cx="2331720" cy="731520"/>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15" name="dot-411"/>
          <p:cNvSpPr/>
          <p:nvPr/>
        </p:nvSpPr>
        <p:spPr>
          <a:xfrm>
            <a:off x="8878824" y="5303520"/>
            <a:ext cx="731520" cy="731520"/>
          </a:xfrm>
          <a:prstGeom prst="ellipse">
            <a:avLst/>
          </a:prstGeom>
          <a:solidFill>
            <a:schemeClr val="accent3"/>
          </a:solidFill>
          <a:ln/>
        </p:spPr>
      </p:sp>
      <p:sp>
        <p:nvSpPr>
          <p:cNvPr id="16" name="text-412"/>
          <p:cNvSpPr txBox="1"/>
          <p:nvPr/>
        </p:nvSpPr>
        <p:spPr>
          <a:xfrm>
            <a:off x="8878824"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7" name="text-413"/>
          <p:cNvSpPr txBox="1"/>
          <p:nvPr/>
        </p:nvSpPr>
        <p:spPr>
          <a:xfrm>
            <a:off x="9747504" y="5303520"/>
            <a:ext cx="1874520" cy="731520"/>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huống 5/6: đây là loại nghiên cứu nào?</a:t>
            </a:r>
            <a:endParaRPr lang="en-US" sz="3000" dirty="0"/>
          </a:p>
        </p:txBody>
      </p:sp>
      <p:sp>
        <p:nvSpPr>
          <p:cNvPr id="4" name="card-414"/>
          <p:cNvSpPr/>
          <p:nvPr/>
        </p:nvSpPr>
        <p:spPr>
          <a:xfrm>
            <a:off x="548640" y="1691640"/>
            <a:ext cx="11094415" cy="3291840"/>
          </a:xfrm>
          <a:prstGeom prst="roundRect">
            <a:avLst>
              <a:gd name="adj" fmla="val 4167"/>
            </a:avLst>
          </a:prstGeom>
          <a:solidFill>
            <a:schemeClr val="bg2"/>
          </a:solidFill>
          <a:ln/>
        </p:spPr>
      </p:sp>
      <p:sp>
        <p:nvSpPr>
          <p:cNvPr id="5" name="text-415"/>
          <p:cNvSpPr txBox="1"/>
          <p:nvPr/>
        </p:nvSpPr>
        <p:spPr>
          <a:xfrm>
            <a:off x="914400" y="1874520"/>
            <a:ext cx="10362895" cy="2926080"/>
          </a:xfrm>
          <a:prstGeom prst="rect">
            <a:avLst/>
          </a:prstGeom>
          <a:noFill/>
          <a:ln/>
        </p:spPr>
        <p:txBody>
          <a:bodyPr wrap="square" lIns="0" tIns="0" rIns="0" bIns="0" rtlCol="0" anchor="ctr"/>
          <a:lstStyle/>
          <a:p>
            <a:pPr indent="0" marL="0">
              <a:buNone/>
            </a:pPr>
            <a:r>
              <a:rPr lang="en-US" sz="3000" dirty="0">
                <a:solidFill>
                  <a:schemeClr val="tx1"/>
                </a:solidFill>
              </a:rPr>
              <a:t>Một nhóm giảng viên đại học kiểm định mô hình về ảnh hưởng của niềm tin đến ý định mua hàng trực tuyến của người tiêu dùng trẻ, để đóng góp cho lý thuyết hành vi người tiêu dùng.</a:t>
            </a:r>
            <a:endParaRPr lang="en-US" sz="3000" dirty="0"/>
          </a:p>
        </p:txBody>
      </p:sp>
      <p:sp>
        <p:nvSpPr>
          <p:cNvPr id="6" name="dot-416"/>
          <p:cNvSpPr/>
          <p:nvPr/>
        </p:nvSpPr>
        <p:spPr>
          <a:xfrm>
            <a:off x="548640" y="5303520"/>
            <a:ext cx="731520" cy="731520"/>
          </a:xfrm>
          <a:prstGeom prst="ellipse">
            <a:avLst/>
          </a:prstGeom>
          <a:solidFill>
            <a:schemeClr val="accent1"/>
          </a:solidFill>
          <a:ln/>
        </p:spPr>
      </p:sp>
      <p:sp>
        <p:nvSpPr>
          <p:cNvPr id="7" name="text-417"/>
          <p:cNvSpPr txBox="1"/>
          <p:nvPr/>
        </p:nvSpPr>
        <p:spPr>
          <a:xfrm>
            <a:off x="548640"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418"/>
          <p:cNvSpPr txBox="1"/>
          <p:nvPr/>
        </p:nvSpPr>
        <p:spPr>
          <a:xfrm>
            <a:off x="1417320" y="5303520"/>
            <a:ext cx="1874520" cy="731520"/>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9" name="dot-419"/>
          <p:cNvSpPr/>
          <p:nvPr/>
        </p:nvSpPr>
        <p:spPr>
          <a:xfrm>
            <a:off x="3355848" y="5303520"/>
            <a:ext cx="731520" cy="731520"/>
          </a:xfrm>
          <a:prstGeom prst="ellipse">
            <a:avLst/>
          </a:prstGeom>
          <a:solidFill>
            <a:schemeClr val="accent2"/>
          </a:solidFill>
          <a:ln/>
        </p:spPr>
      </p:sp>
      <p:sp>
        <p:nvSpPr>
          <p:cNvPr id="10" name="text-420"/>
          <p:cNvSpPr txBox="1"/>
          <p:nvPr/>
        </p:nvSpPr>
        <p:spPr>
          <a:xfrm>
            <a:off x="3355848"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text-421"/>
          <p:cNvSpPr txBox="1"/>
          <p:nvPr/>
        </p:nvSpPr>
        <p:spPr>
          <a:xfrm>
            <a:off x="4224528" y="5303520"/>
            <a:ext cx="1325880" cy="731520"/>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2" name="dot-422"/>
          <p:cNvSpPr/>
          <p:nvPr/>
        </p:nvSpPr>
        <p:spPr>
          <a:xfrm>
            <a:off x="5614416" y="5303520"/>
            <a:ext cx="731520" cy="731520"/>
          </a:xfrm>
          <a:prstGeom prst="ellipse">
            <a:avLst/>
          </a:prstGeom>
          <a:solidFill>
            <a:schemeClr val="accent5"/>
          </a:solidFill>
          <a:ln/>
        </p:spPr>
      </p:sp>
      <p:sp>
        <p:nvSpPr>
          <p:cNvPr id="13" name="text-423"/>
          <p:cNvSpPr txBox="1"/>
          <p:nvPr/>
        </p:nvSpPr>
        <p:spPr>
          <a:xfrm>
            <a:off x="5614416"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424"/>
          <p:cNvSpPr txBox="1"/>
          <p:nvPr/>
        </p:nvSpPr>
        <p:spPr>
          <a:xfrm>
            <a:off x="6483096" y="5303520"/>
            <a:ext cx="2331720" cy="731520"/>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15" name="dot-425"/>
          <p:cNvSpPr/>
          <p:nvPr/>
        </p:nvSpPr>
        <p:spPr>
          <a:xfrm>
            <a:off x="8878824" y="5303520"/>
            <a:ext cx="731520" cy="731520"/>
          </a:xfrm>
          <a:prstGeom prst="ellipse">
            <a:avLst/>
          </a:prstGeom>
          <a:solidFill>
            <a:schemeClr val="accent3"/>
          </a:solidFill>
          <a:ln/>
        </p:spPr>
      </p:sp>
      <p:sp>
        <p:nvSpPr>
          <p:cNvPr id="16" name="text-426"/>
          <p:cNvSpPr txBox="1"/>
          <p:nvPr/>
        </p:nvSpPr>
        <p:spPr>
          <a:xfrm>
            <a:off x="8878824"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7" name="text-427"/>
          <p:cNvSpPr txBox="1"/>
          <p:nvPr/>
        </p:nvSpPr>
        <p:spPr>
          <a:xfrm>
            <a:off x="9747504" y="5303520"/>
            <a:ext cx="1874520" cy="731520"/>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huống 6/6: đây là loại nghiên cứu nào?</a:t>
            </a:r>
            <a:endParaRPr lang="en-US" sz="3000" dirty="0"/>
          </a:p>
        </p:txBody>
      </p:sp>
      <p:sp>
        <p:nvSpPr>
          <p:cNvPr id="4" name="card-428"/>
          <p:cNvSpPr/>
          <p:nvPr/>
        </p:nvSpPr>
        <p:spPr>
          <a:xfrm>
            <a:off x="548640" y="1691640"/>
            <a:ext cx="11094415" cy="3291840"/>
          </a:xfrm>
          <a:prstGeom prst="roundRect">
            <a:avLst>
              <a:gd name="adj" fmla="val 4167"/>
            </a:avLst>
          </a:prstGeom>
          <a:solidFill>
            <a:schemeClr val="bg2"/>
          </a:solidFill>
          <a:ln/>
        </p:spPr>
      </p:sp>
      <p:sp>
        <p:nvSpPr>
          <p:cNvPr id="5" name="text-429"/>
          <p:cNvSpPr txBox="1"/>
          <p:nvPr/>
        </p:nvSpPr>
        <p:spPr>
          <a:xfrm>
            <a:off x="914400" y="1874520"/>
            <a:ext cx="10362895" cy="2926080"/>
          </a:xfrm>
          <a:prstGeom prst="rect">
            <a:avLst/>
          </a:prstGeom>
          <a:noFill/>
          <a:ln/>
        </p:spPr>
        <p:txBody>
          <a:bodyPr wrap="square" lIns="0" tIns="0" rIns="0" bIns="0" rtlCol="0" anchor="ctr"/>
          <a:lstStyle/>
          <a:p>
            <a:pPr indent="0" marL="0">
              <a:buNone/>
            </a:pPr>
            <a:r>
              <a:rPr lang="en-US" sz="3000" dirty="0">
                <a:solidFill>
                  <a:schemeClr val="tx1"/>
                </a:solidFill>
              </a:rPr>
              <a:t>Một thương hiệu mỹ phẩm nội địa phỏng vấn sâu 12 khách hàng trung thành để hiểu vì sao họ chọn mỹ phẩm Việt thay vì hàng ngoại.</a:t>
            </a:r>
            <a:endParaRPr lang="en-US" sz="3000" dirty="0"/>
          </a:p>
        </p:txBody>
      </p:sp>
      <p:sp>
        <p:nvSpPr>
          <p:cNvPr id="6" name="dot-430"/>
          <p:cNvSpPr/>
          <p:nvPr/>
        </p:nvSpPr>
        <p:spPr>
          <a:xfrm>
            <a:off x="548640" y="5303520"/>
            <a:ext cx="731520" cy="731520"/>
          </a:xfrm>
          <a:prstGeom prst="ellipse">
            <a:avLst/>
          </a:prstGeom>
          <a:solidFill>
            <a:schemeClr val="accent1"/>
          </a:solidFill>
          <a:ln/>
        </p:spPr>
      </p:sp>
      <p:sp>
        <p:nvSpPr>
          <p:cNvPr id="7" name="text-431"/>
          <p:cNvSpPr txBox="1"/>
          <p:nvPr/>
        </p:nvSpPr>
        <p:spPr>
          <a:xfrm>
            <a:off x="548640"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8" name="text-432"/>
          <p:cNvSpPr txBox="1"/>
          <p:nvPr/>
        </p:nvSpPr>
        <p:spPr>
          <a:xfrm>
            <a:off x="1417320" y="5303520"/>
            <a:ext cx="1874520" cy="731520"/>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9" name="dot-433"/>
          <p:cNvSpPr/>
          <p:nvPr/>
        </p:nvSpPr>
        <p:spPr>
          <a:xfrm>
            <a:off x="3355848" y="5303520"/>
            <a:ext cx="731520" cy="731520"/>
          </a:xfrm>
          <a:prstGeom prst="ellipse">
            <a:avLst/>
          </a:prstGeom>
          <a:solidFill>
            <a:schemeClr val="accent2"/>
          </a:solidFill>
          <a:ln/>
        </p:spPr>
      </p:sp>
      <p:sp>
        <p:nvSpPr>
          <p:cNvPr id="10" name="text-434"/>
          <p:cNvSpPr txBox="1"/>
          <p:nvPr/>
        </p:nvSpPr>
        <p:spPr>
          <a:xfrm>
            <a:off x="3355848"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1" name="text-435"/>
          <p:cNvSpPr txBox="1"/>
          <p:nvPr/>
        </p:nvSpPr>
        <p:spPr>
          <a:xfrm>
            <a:off x="4224528" y="5303520"/>
            <a:ext cx="1325880" cy="731520"/>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2" name="dot-436"/>
          <p:cNvSpPr/>
          <p:nvPr/>
        </p:nvSpPr>
        <p:spPr>
          <a:xfrm>
            <a:off x="5614416" y="5303520"/>
            <a:ext cx="731520" cy="731520"/>
          </a:xfrm>
          <a:prstGeom prst="ellipse">
            <a:avLst/>
          </a:prstGeom>
          <a:solidFill>
            <a:schemeClr val="accent5"/>
          </a:solidFill>
          <a:ln/>
        </p:spPr>
      </p:sp>
      <p:sp>
        <p:nvSpPr>
          <p:cNvPr id="13" name="text-437"/>
          <p:cNvSpPr txBox="1"/>
          <p:nvPr/>
        </p:nvSpPr>
        <p:spPr>
          <a:xfrm>
            <a:off x="5614416"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4" name="text-438"/>
          <p:cNvSpPr txBox="1"/>
          <p:nvPr/>
        </p:nvSpPr>
        <p:spPr>
          <a:xfrm>
            <a:off x="6483096" y="5303520"/>
            <a:ext cx="2331720" cy="731520"/>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15" name="dot-439"/>
          <p:cNvSpPr/>
          <p:nvPr/>
        </p:nvSpPr>
        <p:spPr>
          <a:xfrm>
            <a:off x="8878824" y="5303520"/>
            <a:ext cx="731520" cy="731520"/>
          </a:xfrm>
          <a:prstGeom prst="ellipse">
            <a:avLst/>
          </a:prstGeom>
          <a:solidFill>
            <a:schemeClr val="accent3"/>
          </a:solidFill>
          <a:ln/>
        </p:spPr>
      </p:sp>
      <p:sp>
        <p:nvSpPr>
          <p:cNvPr id="16" name="text-440"/>
          <p:cNvSpPr txBox="1"/>
          <p:nvPr/>
        </p:nvSpPr>
        <p:spPr>
          <a:xfrm>
            <a:off x="8878824" y="530352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17" name="text-441"/>
          <p:cNvSpPr txBox="1"/>
          <p:nvPr/>
        </p:nvSpPr>
        <p:spPr>
          <a:xfrm>
            <a:off x="9747504" y="5303520"/>
            <a:ext cx="1874520" cy="731520"/>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Đáp án: dấu hiệu nhận biết từng loại</a:t>
            </a:r>
            <a:endParaRPr lang="en-US" sz="3000" dirty="0"/>
          </a:p>
        </p:txBody>
      </p:sp>
      <p:sp>
        <p:nvSpPr>
          <p:cNvPr id="4" name="text-442"/>
          <p:cNvSpPr txBox="1"/>
          <p:nvPr/>
        </p:nvSpPr>
        <p:spPr>
          <a:xfrm>
            <a:off x="548640" y="1645920"/>
            <a:ext cx="822960" cy="548640"/>
          </a:xfrm>
          <a:prstGeom prst="rect">
            <a:avLst/>
          </a:prstGeom>
          <a:noFill/>
          <a:ln/>
        </p:spPr>
        <p:txBody>
          <a:bodyPr wrap="square" lIns="0" tIns="0" rIns="0" bIns="0" rtlCol="0" anchor="ctr"/>
          <a:lstStyle/>
          <a:p>
            <a:pPr indent="0" marL="0">
              <a:buNone/>
            </a:pPr>
            <a:r>
              <a:rPr lang="en-US" sz="2400" b="1" dirty="0">
                <a:solidFill>
                  <a:schemeClr val="tx2"/>
                </a:solidFill>
              </a:rPr>
              <a:t>#</a:t>
            </a:r>
            <a:endParaRPr lang="en-US" sz="2400" dirty="0"/>
          </a:p>
        </p:txBody>
      </p:sp>
      <p:sp>
        <p:nvSpPr>
          <p:cNvPr id="5" name="text-443"/>
          <p:cNvSpPr txBox="1"/>
          <p:nvPr/>
        </p:nvSpPr>
        <p:spPr>
          <a:xfrm>
            <a:off x="1554480" y="1645920"/>
            <a:ext cx="3383280" cy="548640"/>
          </a:xfrm>
          <a:prstGeom prst="rect">
            <a:avLst/>
          </a:prstGeom>
          <a:noFill/>
          <a:ln/>
        </p:spPr>
        <p:txBody>
          <a:bodyPr wrap="square" lIns="0" tIns="0" rIns="0" bIns="0" rtlCol="0" anchor="ctr"/>
          <a:lstStyle/>
          <a:p>
            <a:pPr indent="0" marL="0">
              <a:buNone/>
            </a:pPr>
            <a:r>
              <a:rPr lang="en-US" sz="2400" b="1" dirty="0">
                <a:solidFill>
                  <a:schemeClr val="tx2"/>
                </a:solidFill>
              </a:rPr>
              <a:t>Thiết kế</a:t>
            </a:r>
            <a:endParaRPr lang="en-US" sz="2400" dirty="0"/>
          </a:p>
        </p:txBody>
      </p:sp>
      <p:sp>
        <p:nvSpPr>
          <p:cNvPr id="6" name="text-444"/>
          <p:cNvSpPr txBox="1"/>
          <p:nvPr/>
        </p:nvSpPr>
        <p:spPr>
          <a:xfrm>
            <a:off x="5120640" y="1645920"/>
            <a:ext cx="3108960" cy="548640"/>
          </a:xfrm>
          <a:prstGeom prst="rect">
            <a:avLst/>
          </a:prstGeom>
          <a:noFill/>
          <a:ln/>
        </p:spPr>
        <p:txBody>
          <a:bodyPr wrap="square" lIns="0" tIns="0" rIns="0" bIns="0" rtlCol="0" anchor="ctr"/>
          <a:lstStyle/>
          <a:p>
            <a:pPr indent="0" marL="0">
              <a:buNone/>
            </a:pPr>
            <a:r>
              <a:rPr lang="en-US" sz="2400" b="1" dirty="0">
                <a:solidFill>
                  <a:schemeClr val="tx2"/>
                </a:solidFill>
              </a:rPr>
              <a:t>Dữ liệu</a:t>
            </a:r>
            <a:endParaRPr lang="en-US" sz="2400" dirty="0"/>
          </a:p>
        </p:txBody>
      </p:sp>
      <p:sp>
        <p:nvSpPr>
          <p:cNvPr id="7" name="text-445"/>
          <p:cNvSpPr txBox="1"/>
          <p:nvPr/>
        </p:nvSpPr>
        <p:spPr>
          <a:xfrm>
            <a:off x="8412480" y="1645920"/>
            <a:ext cx="3227832" cy="548640"/>
          </a:xfrm>
          <a:prstGeom prst="rect">
            <a:avLst/>
          </a:prstGeom>
          <a:noFill/>
          <a:ln/>
        </p:spPr>
        <p:txBody>
          <a:bodyPr wrap="square" lIns="0" tIns="0" rIns="0" bIns="0" rtlCol="0" anchor="ctr"/>
          <a:lstStyle/>
          <a:p>
            <a:pPr indent="0" marL="0">
              <a:buNone/>
            </a:pPr>
            <a:r>
              <a:rPr lang="en-US" sz="2400" b="1" dirty="0">
                <a:solidFill>
                  <a:schemeClr val="tx2"/>
                </a:solidFill>
              </a:rPr>
              <a:t>Mục tiêu</a:t>
            </a:r>
            <a:endParaRPr lang="en-US" sz="2400" dirty="0"/>
          </a:p>
        </p:txBody>
      </p:sp>
      <p:sp>
        <p:nvSpPr>
          <p:cNvPr id="8" name="text-446"/>
          <p:cNvSpPr txBox="1"/>
          <p:nvPr/>
        </p:nvSpPr>
        <p:spPr>
          <a:xfrm>
            <a:off x="548640" y="2194560"/>
            <a:ext cx="822960" cy="512064"/>
          </a:xfrm>
          <a:prstGeom prst="rect">
            <a:avLst/>
          </a:prstGeom>
          <a:noFill/>
          <a:ln/>
        </p:spPr>
        <p:txBody>
          <a:bodyPr wrap="square" lIns="0" tIns="0" rIns="0" bIns="0" rtlCol="0" anchor="ctr"/>
          <a:lstStyle/>
          <a:p>
            <a:pPr indent="0" marL="0">
              <a:buNone/>
            </a:pPr>
            <a:r>
              <a:rPr lang="en-US" sz="2400" dirty="0">
                <a:solidFill>
                  <a:schemeClr val="tx1"/>
                </a:solidFill>
              </a:rPr>
              <a:t>1</a:t>
            </a:r>
            <a:endParaRPr lang="en-US" sz="2400" dirty="0"/>
          </a:p>
        </p:txBody>
      </p:sp>
      <p:sp>
        <p:nvSpPr>
          <p:cNvPr id="9" name="text-447"/>
          <p:cNvSpPr txBox="1"/>
          <p:nvPr/>
        </p:nvSpPr>
        <p:spPr>
          <a:xfrm>
            <a:off x="1554480" y="2194560"/>
            <a:ext cx="3383280" cy="512064"/>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10" name="text-448"/>
          <p:cNvSpPr txBox="1"/>
          <p:nvPr/>
        </p:nvSpPr>
        <p:spPr>
          <a:xfrm>
            <a:off x="5120640" y="219456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tính</a:t>
            </a:r>
            <a:endParaRPr lang="en-US" sz="2400" dirty="0"/>
          </a:p>
        </p:txBody>
      </p:sp>
      <p:sp>
        <p:nvSpPr>
          <p:cNvPr id="11" name="text-449"/>
          <p:cNvSpPr txBox="1"/>
          <p:nvPr/>
        </p:nvSpPr>
        <p:spPr>
          <a:xfrm>
            <a:off x="8412480" y="219456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12" name="text-450"/>
          <p:cNvSpPr txBox="1"/>
          <p:nvPr/>
        </p:nvSpPr>
        <p:spPr>
          <a:xfrm>
            <a:off x="548640" y="2798064"/>
            <a:ext cx="822960" cy="512064"/>
          </a:xfrm>
          <a:prstGeom prst="rect">
            <a:avLst/>
          </a:prstGeom>
          <a:noFill/>
          <a:ln/>
        </p:spPr>
        <p:txBody>
          <a:bodyPr wrap="square" lIns="0" tIns="0" rIns="0" bIns="0" rtlCol="0" anchor="ctr"/>
          <a:lstStyle/>
          <a:p>
            <a:pPr indent="0" marL="0">
              <a:buNone/>
            </a:pPr>
            <a:r>
              <a:rPr lang="en-US" sz="2400" dirty="0">
                <a:solidFill>
                  <a:schemeClr val="tx1"/>
                </a:solidFill>
              </a:rPr>
              <a:t>2</a:t>
            </a:r>
            <a:endParaRPr lang="en-US" sz="2400" dirty="0"/>
          </a:p>
        </p:txBody>
      </p:sp>
      <p:sp>
        <p:nvSpPr>
          <p:cNvPr id="13" name="text-451"/>
          <p:cNvSpPr txBox="1"/>
          <p:nvPr/>
        </p:nvSpPr>
        <p:spPr>
          <a:xfrm>
            <a:off x="1554480" y="2798064"/>
            <a:ext cx="3383280" cy="512064"/>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4" name="text-452"/>
          <p:cNvSpPr txBox="1"/>
          <p:nvPr/>
        </p:nvSpPr>
        <p:spPr>
          <a:xfrm>
            <a:off x="5120640" y="2798064"/>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15" name="text-453"/>
          <p:cNvSpPr txBox="1"/>
          <p:nvPr/>
        </p:nvSpPr>
        <p:spPr>
          <a:xfrm>
            <a:off x="8412480" y="2798064"/>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16" name="card-454"/>
          <p:cNvSpPr/>
          <p:nvPr/>
        </p:nvSpPr>
        <p:spPr>
          <a:xfrm>
            <a:off x="411480" y="3364992"/>
            <a:ext cx="11368735" cy="585216"/>
          </a:xfrm>
          <a:prstGeom prst="roundRect">
            <a:avLst>
              <a:gd name="adj" fmla="val 23438"/>
            </a:avLst>
          </a:prstGeom>
          <a:solidFill>
            <a:schemeClr val="bg2"/>
          </a:solidFill>
          <a:ln/>
        </p:spPr>
      </p:sp>
      <p:sp>
        <p:nvSpPr>
          <p:cNvPr id="17" name="text-455"/>
          <p:cNvSpPr txBox="1"/>
          <p:nvPr/>
        </p:nvSpPr>
        <p:spPr>
          <a:xfrm>
            <a:off x="548640" y="3401568"/>
            <a:ext cx="822960" cy="512064"/>
          </a:xfrm>
          <a:prstGeom prst="rect">
            <a:avLst/>
          </a:prstGeom>
          <a:noFill/>
          <a:ln/>
        </p:spPr>
        <p:txBody>
          <a:bodyPr wrap="square" lIns="0" tIns="0" rIns="0" bIns="0" rtlCol="0" anchor="ctr"/>
          <a:lstStyle/>
          <a:p>
            <a:pPr indent="0" marL="0">
              <a:buNone/>
            </a:pPr>
            <a:r>
              <a:rPr lang="en-US" sz="2400" dirty="0">
                <a:solidFill>
                  <a:schemeClr val="tx1"/>
                </a:solidFill>
              </a:rPr>
              <a:t>3</a:t>
            </a:r>
            <a:endParaRPr lang="en-US" sz="2400" dirty="0"/>
          </a:p>
        </p:txBody>
      </p:sp>
      <p:sp>
        <p:nvSpPr>
          <p:cNvPr id="18" name="text-456"/>
          <p:cNvSpPr txBox="1"/>
          <p:nvPr/>
        </p:nvSpPr>
        <p:spPr>
          <a:xfrm>
            <a:off x="1554480" y="3401568"/>
            <a:ext cx="3383280" cy="512064"/>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19" name="text-457"/>
          <p:cNvSpPr txBox="1"/>
          <p:nvPr/>
        </p:nvSpPr>
        <p:spPr>
          <a:xfrm>
            <a:off x="5120640" y="3401568"/>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0" name="text-458"/>
          <p:cNvSpPr txBox="1"/>
          <p:nvPr/>
        </p:nvSpPr>
        <p:spPr>
          <a:xfrm>
            <a:off x="8412480" y="3401568"/>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1" name="card-459"/>
          <p:cNvSpPr/>
          <p:nvPr/>
        </p:nvSpPr>
        <p:spPr>
          <a:xfrm>
            <a:off x="411480" y="3968496"/>
            <a:ext cx="11368735" cy="585216"/>
          </a:xfrm>
          <a:prstGeom prst="roundRect">
            <a:avLst>
              <a:gd name="adj" fmla="val 23438"/>
            </a:avLst>
          </a:prstGeom>
          <a:solidFill>
            <a:schemeClr val="bg2"/>
          </a:solidFill>
          <a:ln/>
        </p:spPr>
      </p:sp>
      <p:sp>
        <p:nvSpPr>
          <p:cNvPr id="22" name="text-460"/>
          <p:cNvSpPr txBox="1"/>
          <p:nvPr/>
        </p:nvSpPr>
        <p:spPr>
          <a:xfrm>
            <a:off x="548640" y="4005072"/>
            <a:ext cx="822960" cy="512064"/>
          </a:xfrm>
          <a:prstGeom prst="rect">
            <a:avLst/>
          </a:prstGeom>
          <a:noFill/>
          <a:ln/>
        </p:spPr>
        <p:txBody>
          <a:bodyPr wrap="square" lIns="0" tIns="0" rIns="0" bIns="0" rtlCol="0" anchor="ctr"/>
          <a:lstStyle/>
          <a:p>
            <a:pPr indent="0" marL="0">
              <a:buNone/>
            </a:pPr>
            <a:r>
              <a:rPr lang="en-US" sz="2400" dirty="0">
                <a:solidFill>
                  <a:schemeClr val="tx1"/>
                </a:solidFill>
              </a:rPr>
              <a:t>4</a:t>
            </a:r>
            <a:endParaRPr lang="en-US" sz="2400" dirty="0"/>
          </a:p>
        </p:txBody>
      </p:sp>
      <p:sp>
        <p:nvSpPr>
          <p:cNvPr id="23" name="text-461"/>
          <p:cNvSpPr txBox="1"/>
          <p:nvPr/>
        </p:nvSpPr>
        <p:spPr>
          <a:xfrm>
            <a:off x="1554480" y="4005072"/>
            <a:ext cx="3383280" cy="512064"/>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24" name="text-462"/>
          <p:cNvSpPr txBox="1"/>
          <p:nvPr/>
        </p:nvSpPr>
        <p:spPr>
          <a:xfrm>
            <a:off x="5120640" y="4005072"/>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5" name="text-463"/>
          <p:cNvSpPr txBox="1"/>
          <p:nvPr/>
        </p:nvSpPr>
        <p:spPr>
          <a:xfrm>
            <a:off x="8412480" y="4005072"/>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6" name="text-464"/>
          <p:cNvSpPr txBox="1"/>
          <p:nvPr/>
        </p:nvSpPr>
        <p:spPr>
          <a:xfrm>
            <a:off x="548640" y="4608576"/>
            <a:ext cx="822960" cy="512064"/>
          </a:xfrm>
          <a:prstGeom prst="rect">
            <a:avLst/>
          </a:prstGeom>
          <a:noFill/>
          <a:ln/>
        </p:spPr>
        <p:txBody>
          <a:bodyPr wrap="square" lIns="0" tIns="0" rIns="0" bIns="0" rtlCol="0" anchor="ctr"/>
          <a:lstStyle/>
          <a:p>
            <a:pPr indent="0" marL="0">
              <a:buNone/>
            </a:pPr>
            <a:r>
              <a:rPr lang="en-US" sz="2400" dirty="0">
                <a:solidFill>
                  <a:schemeClr val="tx1"/>
                </a:solidFill>
              </a:rPr>
              <a:t>5</a:t>
            </a:r>
            <a:endParaRPr lang="en-US" sz="2400" dirty="0"/>
          </a:p>
        </p:txBody>
      </p:sp>
      <p:sp>
        <p:nvSpPr>
          <p:cNvPr id="27" name="text-465"/>
          <p:cNvSpPr txBox="1"/>
          <p:nvPr/>
        </p:nvSpPr>
        <p:spPr>
          <a:xfrm>
            <a:off x="1554480" y="4608576"/>
            <a:ext cx="3383280" cy="512064"/>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28" name="text-466"/>
          <p:cNvSpPr txBox="1"/>
          <p:nvPr/>
        </p:nvSpPr>
        <p:spPr>
          <a:xfrm>
            <a:off x="5120640" y="4608576"/>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9" name="text-467"/>
          <p:cNvSpPr txBox="1"/>
          <p:nvPr/>
        </p:nvSpPr>
        <p:spPr>
          <a:xfrm>
            <a:off x="8412480" y="4608576"/>
            <a:ext cx="3227832" cy="512064"/>
          </a:xfrm>
          <a:prstGeom prst="rect">
            <a:avLst/>
          </a:prstGeom>
          <a:noFill/>
          <a:ln/>
        </p:spPr>
        <p:txBody>
          <a:bodyPr wrap="square" lIns="0" tIns="0" rIns="0" bIns="0" rtlCol="0" anchor="ctr"/>
          <a:lstStyle/>
          <a:p>
            <a:pPr indent="0" marL="0">
              <a:buNone/>
            </a:pPr>
            <a:r>
              <a:rPr lang="en-US" sz="2400" b="1" dirty="0">
                <a:solidFill>
                  <a:schemeClr val="accent6"/>
                </a:solidFill>
              </a:rPr>
              <a:t>Hàn lâm</a:t>
            </a:r>
            <a:endParaRPr lang="en-US" sz="2400" dirty="0"/>
          </a:p>
        </p:txBody>
      </p:sp>
      <p:sp>
        <p:nvSpPr>
          <p:cNvPr id="30" name="text-468"/>
          <p:cNvSpPr txBox="1"/>
          <p:nvPr/>
        </p:nvSpPr>
        <p:spPr>
          <a:xfrm>
            <a:off x="548640" y="5212080"/>
            <a:ext cx="822960" cy="512064"/>
          </a:xfrm>
          <a:prstGeom prst="rect">
            <a:avLst/>
          </a:prstGeom>
          <a:noFill/>
          <a:ln/>
        </p:spPr>
        <p:txBody>
          <a:bodyPr wrap="square" lIns="0" tIns="0" rIns="0" bIns="0" rtlCol="0" anchor="ctr"/>
          <a:lstStyle/>
          <a:p>
            <a:pPr indent="0" marL="0">
              <a:buNone/>
            </a:pPr>
            <a:r>
              <a:rPr lang="en-US" sz="2400" dirty="0">
                <a:solidFill>
                  <a:schemeClr val="tx1"/>
                </a:solidFill>
              </a:rPr>
              <a:t>6</a:t>
            </a:r>
            <a:endParaRPr lang="en-US" sz="2400" dirty="0"/>
          </a:p>
        </p:txBody>
      </p:sp>
      <p:sp>
        <p:nvSpPr>
          <p:cNvPr id="31" name="text-469"/>
          <p:cNvSpPr txBox="1"/>
          <p:nvPr/>
        </p:nvSpPr>
        <p:spPr>
          <a:xfrm>
            <a:off x="1554480" y="5212080"/>
            <a:ext cx="3383280" cy="512064"/>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32" name="text-470"/>
          <p:cNvSpPr txBox="1"/>
          <p:nvPr/>
        </p:nvSpPr>
        <p:spPr>
          <a:xfrm>
            <a:off x="5120640" y="521208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tính</a:t>
            </a:r>
            <a:endParaRPr lang="en-US" sz="2400" dirty="0"/>
          </a:p>
        </p:txBody>
      </p:sp>
      <p:sp>
        <p:nvSpPr>
          <p:cNvPr id="33" name="text-471"/>
          <p:cNvSpPr txBox="1"/>
          <p:nvPr/>
        </p:nvSpPr>
        <p:spPr>
          <a:xfrm>
            <a:off x="8412480" y="521208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34" name="text-472"/>
          <p:cNvSpPr txBox="1"/>
          <p:nvPr/>
        </p:nvSpPr>
        <p:spPr>
          <a:xfrm>
            <a:off x="548640" y="5943600"/>
            <a:ext cx="9601200" cy="457200"/>
          </a:xfrm>
          <a:prstGeom prst="rect">
            <a:avLst/>
          </a:prstGeom>
          <a:noFill/>
          <a:ln/>
        </p:spPr>
        <p:txBody>
          <a:bodyPr wrap="square" lIns="0" tIns="0" rIns="0" bIns="0" rtlCol="0" anchor="t"/>
          <a:lstStyle/>
          <a:p>
            <a:pPr indent="0" marL="0">
              <a:buNone/>
            </a:pPr>
            <a:r>
              <a:rPr lang="en-US" sz="2400" i="1" dirty="0">
                <a:solidFill>
                  <a:schemeClr val="accent2"/>
                </a:solidFill>
              </a:rPr>
              <a:t>3 và 4 hay bị nhầm: chỉ 3 có chia ngẫu nhiên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Giải lao 15 phút</a:t>
            </a:r>
            <a:endParaRPr lang="en-US" sz="3000" dirty="0"/>
          </a:p>
        </p:txBody>
      </p:sp>
      <p:sp>
        <p:nvSpPr>
          <p:cNvPr id="4" name="icon-bg-473"/>
          <p:cNvSpPr/>
          <p:nvPr/>
        </p:nvSpPr>
        <p:spPr>
          <a:xfrm>
            <a:off x="4956048" y="1737360"/>
            <a:ext cx="2286000" cy="2286000"/>
          </a:xfrm>
          <a:prstGeom prst="ellipse">
            <a:avLst/>
          </a:prstGeom>
          <a:solidFill>
            <a:schemeClr val="accent6"/>
          </a:solidFill>
          <a:ln/>
        </p:spPr>
      </p:sp>
      <p:pic>
        <p:nvPicPr>
          <p:cNvPr id="5" name="icon-474" descr="FaClock">    </p:cNvPr>
          <p:cNvPicPr>
            <a:picLocks noChangeAspect="1"/>
          </p:cNvPicPr>
          <p:nvPr/>
        </p:nvPicPr>
        <p:blipFill>
          <a:blip r:embed="rId1"/>
          <a:stretch>
            <a:fillRect/>
          </a:stretch>
        </p:blipFill>
        <p:spPr>
          <a:xfrm>
            <a:off x="5527548" y="2308860"/>
            <a:ext cx="1143000" cy="1143000"/>
          </a:xfrm>
          <a:prstGeom prst="rect">
            <a:avLst/>
          </a:prstGeom>
        </p:spPr>
      </p:pic>
      <p:sp>
        <p:nvSpPr>
          <p:cNvPr id="6" name="text-475"/>
          <p:cNvSpPr txBox="1"/>
          <p:nvPr/>
        </p:nvSpPr>
        <p:spPr>
          <a:xfrm>
            <a:off x="548640" y="4160520"/>
            <a:ext cx="11094415" cy="914400"/>
          </a:xfrm>
          <a:prstGeom prst="rect">
            <a:avLst/>
          </a:prstGeom>
          <a:noFill/>
          <a:ln/>
        </p:spPr>
        <p:txBody>
          <a:bodyPr wrap="square" lIns="0" tIns="0" rIns="0" bIns="0" rtlCol="0" anchor="ctr"/>
          <a:lstStyle/>
          <a:p>
            <a:pPr algn="ctr" indent="0" marL="0">
              <a:buNone/>
            </a:pPr>
            <a:r>
              <a:rPr lang="en-US" sz="5400" b="1" dirty="0">
                <a:solidFill>
                  <a:schemeClr val="accent6"/>
                </a:solidFill>
              </a:rPr>
              <a:t>15 phút</a:t>
            </a:r>
            <a:endParaRPr lang="en-US" sz="5400" dirty="0"/>
          </a:p>
        </p:txBody>
      </p:sp>
      <p:sp>
        <p:nvSpPr>
          <p:cNvPr id="7" name="text-476"/>
          <p:cNvSpPr txBox="1"/>
          <p:nvPr/>
        </p:nvSpPr>
        <p:spPr>
          <a:xfrm>
            <a:off x="548640" y="5166360"/>
            <a:ext cx="11094415" cy="731520"/>
          </a:xfrm>
          <a:prstGeom prst="rect">
            <a:avLst/>
          </a:prstGeom>
          <a:noFill/>
          <a:ln/>
        </p:spPr>
        <p:txBody>
          <a:bodyPr wrap="square" lIns="0" tIns="0" rIns="0" bIns="0" rtlCol="0" anchor="ctr"/>
          <a:lstStyle/>
          <a:p>
            <a:pPr algn="ctr" indent="0" marL="0">
              <a:buNone/>
            </a:pPr>
            <a:r>
              <a:rPr lang="en-US" sz="3200" dirty="0">
                <a:solidFill>
                  <a:schemeClr val="tx1"/>
                </a:solidFill>
              </a:rPr>
              <a:t>Quay lại lúc  ___ : ___</a:t>
            </a:r>
            <a:endParaRPr lang="en-US" sz="3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Mọi nghiên cứu đi qua sáu bước, theo đúng thứ tự</a:t>
            </a:r>
            <a:endParaRPr lang="en-US" sz="3000" dirty="0"/>
          </a:p>
        </p:txBody>
      </p:sp>
      <p:sp>
        <p:nvSpPr>
          <p:cNvPr id="4" name="dot-477"/>
          <p:cNvSpPr/>
          <p:nvPr/>
        </p:nvSpPr>
        <p:spPr>
          <a:xfrm>
            <a:off x="548640" y="1645920"/>
            <a:ext cx="640080" cy="640080"/>
          </a:xfrm>
          <a:prstGeom prst="ellipse">
            <a:avLst/>
          </a:prstGeom>
          <a:solidFill>
            <a:schemeClr val="accent3"/>
          </a:solidFill>
          <a:ln/>
        </p:spPr>
      </p:sp>
      <p:sp>
        <p:nvSpPr>
          <p:cNvPr id="5" name="text-478"/>
          <p:cNvSpPr txBox="1"/>
          <p:nvPr/>
        </p:nvSpPr>
        <p:spPr>
          <a:xfrm>
            <a:off x="548640" y="16459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card-479"/>
          <p:cNvSpPr/>
          <p:nvPr/>
        </p:nvSpPr>
        <p:spPr>
          <a:xfrm>
            <a:off x="1417320" y="1645920"/>
            <a:ext cx="5760720" cy="640080"/>
          </a:xfrm>
          <a:prstGeom prst="roundRect">
            <a:avLst>
              <a:gd name="adj" fmla="val 21429"/>
            </a:avLst>
          </a:prstGeom>
          <a:solidFill>
            <a:schemeClr val="accent3"/>
          </a:solidFill>
          <a:ln/>
        </p:spPr>
      </p:sp>
      <p:sp>
        <p:nvSpPr>
          <p:cNvPr id="7" name="text-480"/>
          <p:cNvSpPr txBox="1"/>
          <p:nvPr/>
        </p:nvSpPr>
        <p:spPr>
          <a:xfrm>
            <a:off x="1691640" y="1645920"/>
            <a:ext cx="5394960" cy="640080"/>
          </a:xfrm>
          <a:prstGeom prst="rect">
            <a:avLst/>
          </a:prstGeom>
          <a:noFill/>
          <a:ln/>
        </p:spPr>
        <p:txBody>
          <a:bodyPr wrap="square" lIns="0" tIns="0" rIns="0" bIns="0" rtlCol="0" anchor="ctr"/>
          <a:lstStyle/>
          <a:p>
            <a:pPr indent="0" marL="0">
              <a:buNone/>
            </a:pPr>
            <a:r>
              <a:rPr lang="en-US" sz="2400" b="1" dirty="0">
                <a:solidFill>
                  <a:schemeClr val="bg1"/>
                </a:solidFill>
              </a:rPr>
              <a:t>Vấn đề</a:t>
            </a:r>
            <a:endParaRPr lang="en-US" sz="2400" dirty="0"/>
          </a:p>
        </p:txBody>
      </p:sp>
      <p:sp>
        <p:nvSpPr>
          <p:cNvPr id="8" name="dot-481"/>
          <p:cNvSpPr/>
          <p:nvPr/>
        </p:nvSpPr>
        <p:spPr>
          <a:xfrm>
            <a:off x="548640" y="2404872"/>
            <a:ext cx="640080" cy="640080"/>
          </a:xfrm>
          <a:prstGeom prst="ellipse">
            <a:avLst/>
          </a:prstGeom>
          <a:solidFill>
            <a:schemeClr val="accent6"/>
          </a:solidFill>
          <a:ln/>
        </p:spPr>
      </p:sp>
      <p:sp>
        <p:nvSpPr>
          <p:cNvPr id="9" name="text-482"/>
          <p:cNvSpPr txBox="1"/>
          <p:nvPr/>
        </p:nvSpPr>
        <p:spPr>
          <a:xfrm>
            <a:off x="548640" y="2404872"/>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0" name="card-483"/>
          <p:cNvSpPr/>
          <p:nvPr/>
        </p:nvSpPr>
        <p:spPr>
          <a:xfrm>
            <a:off x="1417320" y="2404872"/>
            <a:ext cx="5760720" cy="640080"/>
          </a:xfrm>
          <a:prstGeom prst="roundRect">
            <a:avLst>
              <a:gd name="adj" fmla="val 21429"/>
            </a:avLst>
          </a:prstGeom>
          <a:solidFill>
            <a:schemeClr val="bg2"/>
          </a:solidFill>
          <a:ln/>
        </p:spPr>
      </p:sp>
      <p:sp>
        <p:nvSpPr>
          <p:cNvPr id="11" name="text-484"/>
          <p:cNvSpPr txBox="1"/>
          <p:nvPr/>
        </p:nvSpPr>
        <p:spPr>
          <a:xfrm>
            <a:off x="1691640" y="2404872"/>
            <a:ext cx="5394960" cy="640080"/>
          </a:xfrm>
          <a:prstGeom prst="rect">
            <a:avLst/>
          </a:prstGeom>
          <a:noFill/>
          <a:ln/>
        </p:spPr>
        <p:txBody>
          <a:bodyPr wrap="square" lIns="0" tIns="0" rIns="0" bIns="0" rtlCol="0" anchor="ctr"/>
          <a:lstStyle/>
          <a:p>
            <a:pPr indent="0" marL="0">
              <a:buNone/>
            </a:pPr>
            <a:r>
              <a:rPr lang="en-US" sz="2400" dirty="0">
                <a:solidFill>
                  <a:schemeClr val="tx1"/>
                </a:solidFill>
              </a:rPr>
              <a:t>Mục tiêu</a:t>
            </a:r>
            <a:endParaRPr lang="en-US" sz="2400" dirty="0"/>
          </a:p>
        </p:txBody>
      </p:sp>
      <p:sp>
        <p:nvSpPr>
          <p:cNvPr id="12" name="dot-485"/>
          <p:cNvSpPr/>
          <p:nvPr/>
        </p:nvSpPr>
        <p:spPr>
          <a:xfrm>
            <a:off x="548640" y="3163824"/>
            <a:ext cx="640080" cy="640080"/>
          </a:xfrm>
          <a:prstGeom prst="ellipse">
            <a:avLst/>
          </a:prstGeom>
          <a:solidFill>
            <a:schemeClr val="accent2"/>
          </a:solidFill>
          <a:ln/>
        </p:spPr>
      </p:sp>
      <p:sp>
        <p:nvSpPr>
          <p:cNvPr id="13" name="text-486"/>
          <p:cNvSpPr txBox="1"/>
          <p:nvPr/>
        </p:nvSpPr>
        <p:spPr>
          <a:xfrm>
            <a:off x="548640" y="3163824"/>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4" name="card-487"/>
          <p:cNvSpPr/>
          <p:nvPr/>
        </p:nvSpPr>
        <p:spPr>
          <a:xfrm>
            <a:off x="1417320" y="3163824"/>
            <a:ext cx="5760720" cy="640080"/>
          </a:xfrm>
          <a:prstGeom prst="roundRect">
            <a:avLst>
              <a:gd name="adj" fmla="val 21429"/>
            </a:avLst>
          </a:prstGeom>
          <a:solidFill>
            <a:schemeClr val="bg2"/>
          </a:solidFill>
          <a:ln/>
        </p:spPr>
      </p:sp>
      <p:sp>
        <p:nvSpPr>
          <p:cNvPr id="15" name="text-488"/>
          <p:cNvSpPr txBox="1"/>
          <p:nvPr/>
        </p:nvSpPr>
        <p:spPr>
          <a:xfrm>
            <a:off x="1691640" y="3163824"/>
            <a:ext cx="5394960" cy="640080"/>
          </a:xfrm>
          <a:prstGeom prst="rect">
            <a:avLst/>
          </a:prstGeom>
          <a:noFill/>
          <a:ln/>
        </p:spPr>
        <p:txBody>
          <a:bodyPr wrap="square" lIns="0" tIns="0" rIns="0" bIns="0" rtlCol="0" anchor="ctr"/>
          <a:lstStyle/>
          <a:p>
            <a:pPr indent="0" marL="0">
              <a:buNone/>
            </a:pPr>
            <a:r>
              <a:rPr lang="en-US" sz="2400" dirty="0">
                <a:solidFill>
                  <a:schemeClr val="tx1"/>
                </a:solidFill>
              </a:rPr>
              <a:t>Mô hình</a:t>
            </a:r>
            <a:endParaRPr lang="en-US" sz="2400" dirty="0"/>
          </a:p>
        </p:txBody>
      </p:sp>
      <p:sp>
        <p:nvSpPr>
          <p:cNvPr id="16" name="dot-489"/>
          <p:cNvSpPr/>
          <p:nvPr/>
        </p:nvSpPr>
        <p:spPr>
          <a:xfrm>
            <a:off x="548640" y="3922776"/>
            <a:ext cx="640080" cy="640080"/>
          </a:xfrm>
          <a:prstGeom prst="ellipse">
            <a:avLst/>
          </a:prstGeom>
          <a:solidFill>
            <a:schemeClr val="accent1"/>
          </a:solidFill>
          <a:ln/>
        </p:spPr>
      </p:sp>
      <p:sp>
        <p:nvSpPr>
          <p:cNvPr id="17" name="text-490"/>
          <p:cNvSpPr txBox="1"/>
          <p:nvPr/>
        </p:nvSpPr>
        <p:spPr>
          <a:xfrm>
            <a:off x="548640" y="3922776"/>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8" name="card-491"/>
          <p:cNvSpPr/>
          <p:nvPr/>
        </p:nvSpPr>
        <p:spPr>
          <a:xfrm>
            <a:off x="1417320" y="3922776"/>
            <a:ext cx="5760720" cy="640080"/>
          </a:xfrm>
          <a:prstGeom prst="roundRect">
            <a:avLst>
              <a:gd name="adj" fmla="val 21429"/>
            </a:avLst>
          </a:prstGeom>
          <a:solidFill>
            <a:schemeClr val="bg2"/>
          </a:solidFill>
          <a:ln/>
        </p:spPr>
      </p:sp>
      <p:sp>
        <p:nvSpPr>
          <p:cNvPr id="19" name="text-492"/>
          <p:cNvSpPr txBox="1"/>
          <p:nvPr/>
        </p:nvSpPr>
        <p:spPr>
          <a:xfrm>
            <a:off x="1691640" y="3922776"/>
            <a:ext cx="5394960" cy="640080"/>
          </a:xfrm>
          <a:prstGeom prst="rect">
            <a:avLst/>
          </a:prstGeom>
          <a:noFill/>
          <a:ln/>
        </p:spPr>
        <p:txBody>
          <a:bodyPr wrap="square" lIns="0" tIns="0" rIns="0" bIns="0" rtlCol="0" anchor="ctr"/>
          <a:lstStyle/>
          <a:p>
            <a:pPr indent="0" marL="0">
              <a:buNone/>
            </a:pPr>
            <a:r>
              <a:rPr lang="en-US" sz="2400" dirty="0">
                <a:solidFill>
                  <a:schemeClr val="tx1"/>
                </a:solidFill>
              </a:rPr>
              <a:t>Thu thập</a:t>
            </a:r>
            <a:endParaRPr lang="en-US" sz="2400" dirty="0"/>
          </a:p>
        </p:txBody>
      </p:sp>
      <p:sp>
        <p:nvSpPr>
          <p:cNvPr id="20" name="dot-493"/>
          <p:cNvSpPr/>
          <p:nvPr/>
        </p:nvSpPr>
        <p:spPr>
          <a:xfrm>
            <a:off x="548640" y="4681728"/>
            <a:ext cx="640080" cy="640080"/>
          </a:xfrm>
          <a:prstGeom prst="ellipse">
            <a:avLst/>
          </a:prstGeom>
          <a:solidFill>
            <a:schemeClr val="accent5"/>
          </a:solidFill>
          <a:ln/>
        </p:spPr>
      </p:sp>
      <p:sp>
        <p:nvSpPr>
          <p:cNvPr id="21" name="text-494"/>
          <p:cNvSpPr txBox="1"/>
          <p:nvPr/>
        </p:nvSpPr>
        <p:spPr>
          <a:xfrm>
            <a:off x="548640" y="4681728"/>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2" name="card-495"/>
          <p:cNvSpPr/>
          <p:nvPr/>
        </p:nvSpPr>
        <p:spPr>
          <a:xfrm>
            <a:off x="1417320" y="4681728"/>
            <a:ext cx="5760720" cy="640080"/>
          </a:xfrm>
          <a:prstGeom prst="roundRect">
            <a:avLst>
              <a:gd name="adj" fmla="val 21429"/>
            </a:avLst>
          </a:prstGeom>
          <a:solidFill>
            <a:schemeClr val="bg2"/>
          </a:solidFill>
          <a:ln/>
        </p:spPr>
      </p:sp>
      <p:sp>
        <p:nvSpPr>
          <p:cNvPr id="23" name="text-496"/>
          <p:cNvSpPr txBox="1"/>
          <p:nvPr/>
        </p:nvSpPr>
        <p:spPr>
          <a:xfrm>
            <a:off x="1691640" y="4681728"/>
            <a:ext cx="5394960" cy="640080"/>
          </a:xfrm>
          <a:prstGeom prst="rect">
            <a:avLst/>
          </a:prstGeom>
          <a:noFill/>
          <a:ln/>
        </p:spPr>
        <p:txBody>
          <a:bodyPr wrap="square" lIns="0" tIns="0" rIns="0" bIns="0" rtlCol="0" anchor="ctr"/>
          <a:lstStyle/>
          <a:p>
            <a:pPr indent="0" marL="0">
              <a:buNone/>
            </a:pPr>
            <a:r>
              <a:rPr lang="en-US" sz="2400" dirty="0">
                <a:solidFill>
                  <a:schemeClr val="tx1"/>
                </a:solidFill>
              </a:rPr>
              <a:t>Chuẩn bị &amp; phân tích</a:t>
            </a:r>
            <a:endParaRPr lang="en-US" sz="2400" dirty="0"/>
          </a:p>
        </p:txBody>
      </p:sp>
      <p:sp>
        <p:nvSpPr>
          <p:cNvPr id="24" name="dot-497"/>
          <p:cNvSpPr/>
          <p:nvPr/>
        </p:nvSpPr>
        <p:spPr>
          <a:xfrm>
            <a:off x="548640" y="5440680"/>
            <a:ext cx="640080" cy="640080"/>
          </a:xfrm>
          <a:prstGeom prst="ellipse">
            <a:avLst/>
          </a:prstGeom>
          <a:solidFill>
            <a:schemeClr val="accent4"/>
          </a:solidFill>
          <a:ln/>
        </p:spPr>
      </p:sp>
      <p:sp>
        <p:nvSpPr>
          <p:cNvPr id="25" name="text-498"/>
          <p:cNvSpPr txBox="1"/>
          <p:nvPr/>
        </p:nvSpPr>
        <p:spPr>
          <a:xfrm>
            <a:off x="548640" y="5440680"/>
            <a:ext cx="640080" cy="640080"/>
          </a:xfrm>
          <a:prstGeom prst="rect">
            <a:avLst/>
          </a:prstGeom>
          <a:noFill/>
          <a:ln/>
        </p:spPr>
        <p:txBody>
          <a:bodyPr wrap="square" lIns="0" tIns="0" rIns="0" bIns="0" rtlCol="0" anchor="ctr"/>
          <a:lstStyle/>
          <a:p>
            <a:pPr algn="ctr" indent="0" marL="0">
              <a:buNone/>
            </a:pPr>
            <a:r>
              <a:rPr lang="en-US" sz="2600" b="1" dirty="0">
                <a:solidFill>
                  <a:schemeClr val="tx1"/>
                </a:solidFill>
              </a:rPr>
              <a:t>6</a:t>
            </a:r>
            <a:endParaRPr lang="en-US" sz="2600" dirty="0"/>
          </a:p>
        </p:txBody>
      </p:sp>
      <p:sp>
        <p:nvSpPr>
          <p:cNvPr id="26" name="card-499"/>
          <p:cNvSpPr/>
          <p:nvPr/>
        </p:nvSpPr>
        <p:spPr>
          <a:xfrm>
            <a:off x="1417320" y="5440680"/>
            <a:ext cx="5760720" cy="640080"/>
          </a:xfrm>
          <a:prstGeom prst="roundRect">
            <a:avLst>
              <a:gd name="adj" fmla="val 21429"/>
            </a:avLst>
          </a:prstGeom>
          <a:solidFill>
            <a:schemeClr val="bg2"/>
          </a:solidFill>
          <a:ln/>
        </p:spPr>
      </p:sp>
      <p:sp>
        <p:nvSpPr>
          <p:cNvPr id="27" name="text-500"/>
          <p:cNvSpPr txBox="1"/>
          <p:nvPr/>
        </p:nvSpPr>
        <p:spPr>
          <a:xfrm>
            <a:off x="1691640" y="5440680"/>
            <a:ext cx="5394960" cy="640080"/>
          </a:xfrm>
          <a:prstGeom prst="rect">
            <a:avLst/>
          </a:prstGeom>
          <a:noFill/>
          <a:ln/>
        </p:spPr>
        <p:txBody>
          <a:bodyPr wrap="square" lIns="0" tIns="0" rIns="0" bIns="0" rtlCol="0" anchor="ctr"/>
          <a:lstStyle/>
          <a:p>
            <a:pPr indent="0" marL="0">
              <a:buNone/>
            </a:pPr>
            <a:r>
              <a:rPr lang="en-US" sz="2400" dirty="0">
                <a:solidFill>
                  <a:schemeClr val="tx1"/>
                </a:solidFill>
              </a:rPr>
              <a:t>Trình bày</a:t>
            </a:r>
            <a:endParaRPr lang="en-US" sz="2400" dirty="0"/>
          </a:p>
        </p:txBody>
      </p:sp>
      <p:sp>
        <p:nvSpPr>
          <p:cNvPr id="28" name="card-501"/>
          <p:cNvSpPr/>
          <p:nvPr/>
        </p:nvSpPr>
        <p:spPr>
          <a:xfrm>
            <a:off x="7863840" y="1645920"/>
            <a:ext cx="3776472" cy="4434840"/>
          </a:xfrm>
          <a:prstGeom prst="roundRect">
            <a:avLst>
              <a:gd name="adj" fmla="val 3632"/>
            </a:avLst>
          </a:prstGeom>
          <a:solidFill>
            <a:schemeClr val="bg2"/>
          </a:solidFill>
          <a:ln/>
        </p:spPr>
      </p:sp>
      <p:sp>
        <p:nvSpPr>
          <p:cNvPr id="29" name="icon-bg-502"/>
          <p:cNvSpPr/>
          <p:nvPr/>
        </p:nvSpPr>
        <p:spPr>
          <a:xfrm>
            <a:off x="9052560" y="1965960"/>
            <a:ext cx="1371600" cy="1371600"/>
          </a:xfrm>
          <a:prstGeom prst="ellipse">
            <a:avLst/>
          </a:prstGeom>
          <a:solidFill>
            <a:schemeClr val="accent2"/>
          </a:solidFill>
          <a:ln/>
        </p:spPr>
      </p:sp>
      <p:pic>
        <p:nvPicPr>
          <p:cNvPr id="30" name="icon-503" descr="FaMugHot">    </p:cNvPr>
          <p:cNvPicPr>
            <a:picLocks noChangeAspect="1"/>
          </p:cNvPicPr>
          <p:nvPr/>
        </p:nvPicPr>
        <p:blipFill>
          <a:blip r:embed="rId1"/>
          <a:stretch>
            <a:fillRect/>
          </a:stretch>
        </p:blipFill>
        <p:spPr>
          <a:xfrm>
            <a:off x="9395460" y="2308860"/>
            <a:ext cx="685800" cy="685800"/>
          </a:xfrm>
          <a:prstGeom prst="rect">
            <a:avLst/>
          </a:prstGeom>
        </p:spPr>
      </p:pic>
      <p:sp>
        <p:nvSpPr>
          <p:cNvPr id="31" name="text-504"/>
          <p:cNvSpPr txBox="1"/>
          <p:nvPr/>
        </p:nvSpPr>
        <p:spPr>
          <a:xfrm>
            <a:off x="8092440" y="3566160"/>
            <a:ext cx="3319272" cy="1463040"/>
          </a:xfrm>
          <a:prstGeom prst="rect">
            <a:avLst/>
          </a:prstGeom>
          <a:noFill/>
          <a:ln/>
        </p:spPr>
        <p:txBody>
          <a:bodyPr wrap="square" lIns="0" tIns="0" rIns="0" bIns="0" rtlCol="0" anchor="t"/>
          <a:lstStyle/>
          <a:p>
            <a:pPr algn="ctr" indent="0" marL="0">
              <a:buNone/>
            </a:pPr>
            <a:r>
              <a:rPr lang="en-US" sz="2600" b="1" dirty="0">
                <a:solidFill>
                  <a:schemeClr val="tx1"/>
                </a:solidFill>
              </a:rPr>
              <a:t>Ví dụ xuyên suốt: chuỗi trà sữa gần trường</a:t>
            </a:r>
            <a:endParaRPr lang="en-US" sz="2600" dirty="0"/>
          </a:p>
        </p:txBody>
      </p:sp>
      <p:sp>
        <p:nvSpPr>
          <p:cNvPr id="32" name="text-505"/>
          <p:cNvSpPr txBox="1"/>
          <p:nvPr/>
        </p:nvSpPr>
        <p:spPr>
          <a:xfrm>
            <a:off x="8092440" y="5120640"/>
            <a:ext cx="3319272" cy="457200"/>
          </a:xfrm>
          <a:prstGeom prst="rect">
            <a:avLst/>
          </a:prstGeom>
          <a:noFill/>
          <a:ln/>
        </p:spPr>
        <p:txBody>
          <a:bodyPr wrap="square" lIns="0" tIns="0" rIns="0" bIns="0" rtlCol="0" anchor="t"/>
          <a:lstStyle/>
          <a:p>
            <a:pPr algn="ctr" indent="0" marL="0">
              <a:buNone/>
            </a:pPr>
            <a:r>
              <a:rPr lang="en-US" sz="2400" i="1" dirty="0">
                <a:solidFill>
                  <a:schemeClr val="tx2"/>
                </a:solidFill>
              </a:rPr>
              <a:t>(giả định)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“Có nên giảm giá?” là câu hỏi quản trị; “Vì sao sinh viên mua ít đi?” mới là vấn đề nghiên cứu</a:t>
            </a:r>
            <a:endParaRPr lang="en-US" sz="3000" dirty="0"/>
          </a:p>
        </p:txBody>
      </p:sp>
      <p:sp>
        <p:nvSpPr>
          <p:cNvPr id="4" name="text-506"/>
          <p:cNvSpPr txBox="1"/>
          <p:nvPr/>
        </p:nvSpPr>
        <p:spPr>
          <a:xfrm>
            <a:off x="548640" y="1691640"/>
            <a:ext cx="11094415" cy="548640"/>
          </a:xfrm>
          <a:prstGeom prst="rect">
            <a:avLst/>
          </a:prstGeom>
          <a:noFill/>
          <a:ln/>
        </p:spPr>
        <p:txBody>
          <a:bodyPr wrap="square" lIns="0" tIns="0" rIns="0" bIns="0" rtlCol="0" anchor="t"/>
          <a:lstStyle/>
          <a:p>
            <a:pPr indent="0" marL="0">
              <a:buNone/>
            </a:pPr>
            <a:r>
              <a:rPr lang="en-US" sz="2400" i="1" dirty="0">
                <a:solidFill>
                  <a:schemeClr val="tx2"/>
                </a:solidFill>
              </a:rPr>
              <a:t>Tình huống (giả định): doanh số trà sữa gần trường giảm</a:t>
            </a:r>
            <a:endParaRPr lang="en-US" sz="2400" dirty="0"/>
          </a:p>
        </p:txBody>
      </p:sp>
      <p:sp>
        <p:nvSpPr>
          <p:cNvPr id="5" name="card-507"/>
          <p:cNvSpPr/>
          <p:nvPr/>
        </p:nvSpPr>
        <p:spPr>
          <a:xfrm>
            <a:off x="548640" y="2468880"/>
            <a:ext cx="4937760" cy="3566160"/>
          </a:xfrm>
          <a:prstGeom prst="roundRect">
            <a:avLst>
              <a:gd name="adj" fmla="val 3846"/>
            </a:avLst>
          </a:prstGeom>
          <a:solidFill>
            <a:schemeClr val="bg2"/>
          </a:solidFill>
          <a:ln/>
        </p:spPr>
      </p:sp>
      <p:sp>
        <p:nvSpPr>
          <p:cNvPr id="6" name="text-508"/>
          <p:cNvSpPr txBox="1"/>
          <p:nvPr/>
        </p:nvSpPr>
        <p:spPr>
          <a:xfrm>
            <a:off x="868680" y="2697480"/>
            <a:ext cx="4297680" cy="548640"/>
          </a:xfrm>
          <a:prstGeom prst="rect">
            <a:avLst/>
          </a:prstGeom>
          <a:noFill/>
          <a:ln/>
        </p:spPr>
        <p:txBody>
          <a:bodyPr wrap="square" lIns="0" tIns="0" rIns="0" bIns="0" rtlCol="0" anchor="t"/>
          <a:lstStyle/>
          <a:p>
            <a:pPr indent="0" marL="0">
              <a:buNone/>
            </a:pPr>
            <a:r>
              <a:rPr lang="en-US" sz="2800" b="1" dirty="0">
                <a:solidFill>
                  <a:schemeClr val="accent6"/>
                </a:solidFill>
              </a:rPr>
              <a:t>Vấn đề quản trị</a:t>
            </a:r>
            <a:endParaRPr lang="en-US" sz="2800" dirty="0"/>
          </a:p>
        </p:txBody>
      </p:sp>
      <p:sp>
        <p:nvSpPr>
          <p:cNvPr id="7" name="card-509"/>
          <p:cNvSpPr/>
          <p:nvPr/>
        </p:nvSpPr>
        <p:spPr>
          <a:xfrm>
            <a:off x="868680" y="3383280"/>
            <a:ext cx="2743200" cy="594360"/>
          </a:xfrm>
          <a:prstGeom prst="roundRect">
            <a:avLst>
              <a:gd name="adj" fmla="val 23077"/>
            </a:avLst>
          </a:prstGeom>
          <a:solidFill>
            <a:schemeClr val="accent6"/>
          </a:solidFill>
          <a:ln/>
        </p:spPr>
      </p:sp>
      <p:sp>
        <p:nvSpPr>
          <p:cNvPr id="8" name="text-510"/>
          <p:cNvSpPr txBox="1"/>
          <p:nvPr/>
        </p:nvSpPr>
        <p:spPr>
          <a:xfrm>
            <a:off x="868680" y="3383280"/>
            <a:ext cx="2743200" cy="594360"/>
          </a:xfrm>
          <a:prstGeom prst="rect">
            <a:avLst/>
          </a:prstGeom>
          <a:noFill/>
          <a:ln/>
        </p:spPr>
        <p:txBody>
          <a:bodyPr wrap="square" lIns="0" tIns="0" rIns="0" bIns="0" rtlCol="0" anchor="ctr"/>
          <a:lstStyle/>
          <a:p>
            <a:pPr algn="ctr" indent="0" marL="0">
              <a:buNone/>
            </a:pPr>
            <a:r>
              <a:rPr lang="en-US" sz="2400" b="1" dirty="0">
                <a:solidFill>
                  <a:schemeClr val="bg1"/>
                </a:solidFill>
              </a:rPr>
              <a:t>Cần LÀM gì?</a:t>
            </a:r>
            <a:endParaRPr lang="en-US" sz="2400" dirty="0"/>
          </a:p>
        </p:txBody>
      </p:sp>
      <p:sp>
        <p:nvSpPr>
          <p:cNvPr id="9" name="text-511"/>
          <p:cNvSpPr txBox="1"/>
          <p:nvPr/>
        </p:nvSpPr>
        <p:spPr>
          <a:xfrm>
            <a:off x="868680" y="4206240"/>
            <a:ext cx="4297680" cy="1645920"/>
          </a:xfrm>
          <a:prstGeom prst="rect">
            <a:avLst/>
          </a:prstGeom>
          <a:noFill/>
          <a:ln/>
        </p:spPr>
        <p:txBody>
          <a:bodyPr wrap="square" lIns="0" tIns="0" rIns="0" bIns="0" rtlCol="0" anchor="t"/>
          <a:lstStyle/>
          <a:p>
            <a:pPr indent="0" marL="0">
              <a:buNone/>
            </a:pPr>
            <a:r>
              <a:rPr lang="en-US" sz="2800" i="1" dirty="0">
                <a:solidFill>
                  <a:schemeClr val="tx1"/>
                </a:solidFill>
              </a:rPr>
              <a:t>“Có nên giảm giá không?”</a:t>
            </a:r>
            <a:endParaRPr lang="en-US" sz="2800" dirty="0"/>
          </a:p>
        </p:txBody>
      </p:sp>
      <p:sp>
        <p:nvSpPr>
          <p:cNvPr id="10" name="card-512"/>
          <p:cNvSpPr/>
          <p:nvPr/>
        </p:nvSpPr>
        <p:spPr>
          <a:xfrm>
            <a:off x="6702552" y="2468880"/>
            <a:ext cx="4937760" cy="3566160"/>
          </a:xfrm>
          <a:prstGeom prst="roundRect">
            <a:avLst>
              <a:gd name="adj" fmla="val 3846"/>
            </a:avLst>
          </a:prstGeom>
          <a:solidFill>
            <a:schemeClr val="bg2"/>
          </a:solidFill>
          <a:ln/>
        </p:spPr>
      </p:sp>
      <p:sp>
        <p:nvSpPr>
          <p:cNvPr id="11" name="text-513"/>
          <p:cNvSpPr txBox="1"/>
          <p:nvPr/>
        </p:nvSpPr>
        <p:spPr>
          <a:xfrm>
            <a:off x="7022592" y="2697480"/>
            <a:ext cx="4297680" cy="548640"/>
          </a:xfrm>
          <a:prstGeom prst="rect">
            <a:avLst/>
          </a:prstGeom>
          <a:noFill/>
          <a:ln/>
        </p:spPr>
        <p:txBody>
          <a:bodyPr wrap="square" lIns="0" tIns="0" rIns="0" bIns="0" rtlCol="0" anchor="t"/>
          <a:lstStyle/>
          <a:p>
            <a:pPr indent="0" marL="0">
              <a:buNone/>
            </a:pPr>
            <a:r>
              <a:rPr lang="en-US" sz="2800" b="1" dirty="0">
                <a:solidFill>
                  <a:schemeClr val="accent1"/>
                </a:solidFill>
              </a:rPr>
              <a:t>Vấn đề nghiên cứu</a:t>
            </a:r>
            <a:endParaRPr lang="en-US" sz="2800" dirty="0"/>
          </a:p>
        </p:txBody>
      </p:sp>
      <p:sp>
        <p:nvSpPr>
          <p:cNvPr id="12" name="card-514"/>
          <p:cNvSpPr/>
          <p:nvPr/>
        </p:nvSpPr>
        <p:spPr>
          <a:xfrm>
            <a:off x="7022592" y="3383280"/>
            <a:ext cx="2743200" cy="594360"/>
          </a:xfrm>
          <a:prstGeom prst="roundRect">
            <a:avLst>
              <a:gd name="adj" fmla="val 23077"/>
            </a:avLst>
          </a:prstGeom>
          <a:solidFill>
            <a:schemeClr val="accent1"/>
          </a:solidFill>
          <a:ln/>
        </p:spPr>
      </p:sp>
      <p:sp>
        <p:nvSpPr>
          <p:cNvPr id="13" name="text-515"/>
          <p:cNvSpPr txBox="1"/>
          <p:nvPr/>
        </p:nvSpPr>
        <p:spPr>
          <a:xfrm>
            <a:off x="7022592" y="3383280"/>
            <a:ext cx="2743200" cy="594360"/>
          </a:xfrm>
          <a:prstGeom prst="rect">
            <a:avLst/>
          </a:prstGeom>
          <a:noFill/>
          <a:ln/>
        </p:spPr>
        <p:txBody>
          <a:bodyPr wrap="square" lIns="0" tIns="0" rIns="0" bIns="0" rtlCol="0" anchor="ctr"/>
          <a:lstStyle/>
          <a:p>
            <a:pPr algn="ctr" indent="0" marL="0">
              <a:buNone/>
            </a:pPr>
            <a:r>
              <a:rPr lang="en-US" sz="2400" b="1" dirty="0">
                <a:solidFill>
                  <a:schemeClr val="bg1"/>
                </a:solidFill>
              </a:rPr>
              <a:t>Cần BIẾT gì?</a:t>
            </a:r>
            <a:endParaRPr lang="en-US" sz="2400" dirty="0"/>
          </a:p>
        </p:txBody>
      </p:sp>
      <p:sp>
        <p:nvSpPr>
          <p:cNvPr id="14" name="text-516"/>
          <p:cNvSpPr txBox="1"/>
          <p:nvPr/>
        </p:nvSpPr>
        <p:spPr>
          <a:xfrm>
            <a:off x="7022592" y="4206240"/>
            <a:ext cx="4297680" cy="1645920"/>
          </a:xfrm>
          <a:prstGeom prst="rect">
            <a:avLst/>
          </a:prstGeom>
          <a:noFill/>
          <a:ln/>
        </p:spPr>
        <p:txBody>
          <a:bodyPr wrap="square" lIns="0" tIns="0" rIns="0" bIns="0" rtlCol="0" anchor="t"/>
          <a:lstStyle/>
          <a:p>
            <a:pPr indent="0" marL="0">
              <a:buNone/>
            </a:pPr>
            <a:r>
              <a:rPr lang="en-US" sz="2800" i="1" dirty="0">
                <a:solidFill>
                  <a:schemeClr val="tx1"/>
                </a:solidFill>
              </a:rPr>
              <a:t>“Những yếu tố nào khiến sinh viên mua ít hơn?”</a:t>
            </a:r>
            <a:endParaRPr lang="en-US" sz="2800" dirty="0"/>
          </a:p>
        </p:txBody>
      </p:sp>
      <p:sp>
        <p:nvSpPr>
          <p:cNvPr id="15" name="arrow-517"/>
          <p:cNvSpPr/>
          <p:nvPr/>
        </p:nvSpPr>
        <p:spPr>
          <a:xfrm>
            <a:off x="5623560" y="3886200"/>
            <a:ext cx="914400" cy="731520"/>
          </a:xfrm>
          <a:prstGeom prst="rightArrow">
            <a:avLst/>
          </a:prstGeom>
          <a:solidFill>
            <a:schemeClr val="accent2"/>
          </a:solidFill>
          <a:ln/>
        </p:spPr>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Xác định sai vấn đề thì cả nghiên cứu đi sai hướng</a:t>
            </a:r>
            <a:endParaRPr lang="en-US" sz="3000" dirty="0"/>
          </a:p>
        </p:txBody>
      </p:sp>
      <p:sp>
        <p:nvSpPr>
          <p:cNvPr id="4" name="card-518"/>
          <p:cNvSpPr/>
          <p:nvPr/>
        </p:nvSpPr>
        <p:spPr>
          <a:xfrm>
            <a:off x="548640" y="1783080"/>
            <a:ext cx="5349240" cy="1463040"/>
          </a:xfrm>
          <a:prstGeom prst="roundRect">
            <a:avLst>
              <a:gd name="adj" fmla="val 9375"/>
            </a:avLst>
          </a:prstGeom>
          <a:solidFill>
            <a:schemeClr val="bg2"/>
          </a:solidFill>
          <a:ln/>
        </p:spPr>
      </p:sp>
      <p:sp>
        <p:nvSpPr>
          <p:cNvPr id="5" name="icon-bg-519"/>
          <p:cNvSpPr/>
          <p:nvPr/>
        </p:nvSpPr>
        <p:spPr>
          <a:xfrm>
            <a:off x="822960" y="2057400"/>
            <a:ext cx="914400" cy="914400"/>
          </a:xfrm>
          <a:prstGeom prst="ellipse">
            <a:avLst/>
          </a:prstGeom>
          <a:solidFill>
            <a:schemeClr val="accent1"/>
          </a:solidFill>
          <a:ln/>
        </p:spPr>
      </p:sp>
      <p:pic>
        <p:nvPicPr>
          <p:cNvPr id="6" name="icon-520" descr="FaComments">    </p:cNvPr>
          <p:cNvPicPr>
            <a:picLocks noChangeAspect="1"/>
          </p:cNvPicPr>
          <p:nvPr/>
        </p:nvPicPr>
        <p:blipFill>
          <a:blip r:embed="rId1"/>
          <a:stretch>
            <a:fillRect/>
          </a:stretch>
        </p:blipFill>
        <p:spPr>
          <a:xfrm>
            <a:off x="1051560" y="2286000"/>
            <a:ext cx="457200" cy="457200"/>
          </a:xfrm>
          <a:prstGeom prst="rect">
            <a:avLst/>
          </a:prstGeom>
        </p:spPr>
      </p:pic>
      <p:sp>
        <p:nvSpPr>
          <p:cNvPr id="7" name="text-521"/>
          <p:cNvSpPr txBox="1"/>
          <p:nvPr/>
        </p:nvSpPr>
        <p:spPr>
          <a:xfrm>
            <a:off x="2011680" y="1783080"/>
            <a:ext cx="3703320" cy="1463040"/>
          </a:xfrm>
          <a:prstGeom prst="rect">
            <a:avLst/>
          </a:prstGeom>
          <a:noFill/>
          <a:ln/>
        </p:spPr>
        <p:txBody>
          <a:bodyPr wrap="square" lIns="0" tIns="0" rIns="0" bIns="0" rtlCol="0" anchor="ctr"/>
          <a:lstStyle/>
          <a:p>
            <a:pPr indent="0" marL="0">
              <a:buNone/>
            </a:pPr>
            <a:r>
              <a:rPr lang="en-US" sz="2600" dirty="0">
                <a:solidFill>
                  <a:schemeClr val="tx1"/>
                </a:solidFill>
              </a:rPr>
              <a:t>Thảo luận với người ra quyết định</a:t>
            </a:r>
            <a:endParaRPr lang="en-US" sz="2600" dirty="0"/>
          </a:p>
        </p:txBody>
      </p:sp>
      <p:sp>
        <p:nvSpPr>
          <p:cNvPr id="8" name="card-522"/>
          <p:cNvSpPr/>
          <p:nvPr/>
        </p:nvSpPr>
        <p:spPr>
          <a:xfrm>
            <a:off x="6263640" y="1783080"/>
            <a:ext cx="5349240" cy="1463040"/>
          </a:xfrm>
          <a:prstGeom prst="roundRect">
            <a:avLst>
              <a:gd name="adj" fmla="val 9375"/>
            </a:avLst>
          </a:prstGeom>
          <a:solidFill>
            <a:schemeClr val="bg2"/>
          </a:solidFill>
          <a:ln/>
        </p:spPr>
      </p:sp>
      <p:sp>
        <p:nvSpPr>
          <p:cNvPr id="9" name="icon-bg-523"/>
          <p:cNvSpPr/>
          <p:nvPr/>
        </p:nvSpPr>
        <p:spPr>
          <a:xfrm>
            <a:off x="6537960" y="2057400"/>
            <a:ext cx="914400" cy="914400"/>
          </a:xfrm>
          <a:prstGeom prst="ellipse">
            <a:avLst/>
          </a:prstGeom>
          <a:solidFill>
            <a:schemeClr val="accent5"/>
          </a:solidFill>
          <a:ln/>
        </p:spPr>
      </p:sp>
      <p:pic>
        <p:nvPicPr>
          <p:cNvPr id="10" name="icon-524" descr="FaUserGraduate">    </p:cNvPr>
          <p:cNvPicPr>
            <a:picLocks noChangeAspect="1"/>
          </p:cNvPicPr>
          <p:nvPr/>
        </p:nvPicPr>
        <p:blipFill>
          <a:blip r:embed="rId2"/>
          <a:stretch>
            <a:fillRect/>
          </a:stretch>
        </p:blipFill>
        <p:spPr>
          <a:xfrm>
            <a:off x="6766560" y="2286000"/>
            <a:ext cx="457200" cy="457200"/>
          </a:xfrm>
          <a:prstGeom prst="rect">
            <a:avLst/>
          </a:prstGeom>
        </p:spPr>
      </p:pic>
      <p:sp>
        <p:nvSpPr>
          <p:cNvPr id="11" name="text-525"/>
          <p:cNvSpPr txBox="1"/>
          <p:nvPr/>
        </p:nvSpPr>
        <p:spPr>
          <a:xfrm>
            <a:off x="7726680" y="1783080"/>
            <a:ext cx="3703320" cy="1463040"/>
          </a:xfrm>
          <a:prstGeom prst="rect">
            <a:avLst/>
          </a:prstGeom>
          <a:noFill/>
          <a:ln/>
        </p:spPr>
        <p:txBody>
          <a:bodyPr wrap="square" lIns="0" tIns="0" rIns="0" bIns="0" rtlCol="0" anchor="ctr"/>
          <a:lstStyle/>
          <a:p>
            <a:pPr indent="0" marL="0">
              <a:buNone/>
            </a:pPr>
            <a:r>
              <a:rPr lang="en-US" sz="2600" dirty="0">
                <a:solidFill>
                  <a:schemeClr val="tx1"/>
                </a:solidFill>
              </a:rPr>
              <a:t>Hỏi chuyên gia trong ngành</a:t>
            </a:r>
            <a:endParaRPr lang="en-US" sz="2600" dirty="0"/>
          </a:p>
        </p:txBody>
      </p:sp>
      <p:sp>
        <p:nvSpPr>
          <p:cNvPr id="12" name="card-526"/>
          <p:cNvSpPr/>
          <p:nvPr/>
        </p:nvSpPr>
        <p:spPr>
          <a:xfrm>
            <a:off x="548640" y="3520440"/>
            <a:ext cx="5349240" cy="1463040"/>
          </a:xfrm>
          <a:prstGeom prst="roundRect">
            <a:avLst>
              <a:gd name="adj" fmla="val 9375"/>
            </a:avLst>
          </a:prstGeom>
          <a:solidFill>
            <a:schemeClr val="bg2"/>
          </a:solidFill>
          <a:ln/>
        </p:spPr>
      </p:sp>
      <p:sp>
        <p:nvSpPr>
          <p:cNvPr id="13" name="icon-bg-527"/>
          <p:cNvSpPr/>
          <p:nvPr/>
        </p:nvSpPr>
        <p:spPr>
          <a:xfrm>
            <a:off x="822960" y="3794760"/>
            <a:ext cx="914400" cy="914400"/>
          </a:xfrm>
          <a:prstGeom prst="ellipse">
            <a:avLst/>
          </a:prstGeom>
          <a:solidFill>
            <a:schemeClr val="accent2"/>
          </a:solidFill>
          <a:ln/>
        </p:spPr>
      </p:sp>
      <p:pic>
        <p:nvPicPr>
          <p:cNvPr id="14" name="icon-528" descr="FaChartBar">    </p:cNvPr>
          <p:cNvPicPr>
            <a:picLocks noChangeAspect="1"/>
          </p:cNvPicPr>
          <p:nvPr/>
        </p:nvPicPr>
        <p:blipFill>
          <a:blip r:embed="rId3"/>
          <a:stretch>
            <a:fillRect/>
          </a:stretch>
        </p:blipFill>
        <p:spPr>
          <a:xfrm>
            <a:off x="1051560" y="4023360"/>
            <a:ext cx="457200" cy="457200"/>
          </a:xfrm>
          <a:prstGeom prst="rect">
            <a:avLst/>
          </a:prstGeom>
        </p:spPr>
      </p:pic>
      <p:sp>
        <p:nvSpPr>
          <p:cNvPr id="15" name="text-529"/>
          <p:cNvSpPr txBox="1"/>
          <p:nvPr/>
        </p:nvSpPr>
        <p:spPr>
          <a:xfrm>
            <a:off x="2011680" y="3520440"/>
            <a:ext cx="3703320" cy="1463040"/>
          </a:xfrm>
          <a:prstGeom prst="rect">
            <a:avLst/>
          </a:prstGeom>
          <a:noFill/>
          <a:ln/>
        </p:spPr>
        <p:txBody>
          <a:bodyPr wrap="square" lIns="0" tIns="0" rIns="0" bIns="0" rtlCol="0" anchor="ctr"/>
          <a:lstStyle/>
          <a:p>
            <a:pPr indent="0" marL="0">
              <a:buNone/>
            </a:pPr>
            <a:r>
              <a:rPr lang="en-US" sz="2600" dirty="0">
                <a:solidFill>
                  <a:schemeClr val="tx1"/>
                </a:solidFill>
              </a:rPr>
              <a:t>Phân tích dữ liệu thứ cấp</a:t>
            </a:r>
            <a:endParaRPr lang="en-US" sz="2600" dirty="0"/>
          </a:p>
        </p:txBody>
      </p:sp>
      <p:sp>
        <p:nvSpPr>
          <p:cNvPr id="16" name="card-530"/>
          <p:cNvSpPr/>
          <p:nvPr/>
        </p:nvSpPr>
        <p:spPr>
          <a:xfrm>
            <a:off x="6263640" y="3520440"/>
            <a:ext cx="5349240" cy="1463040"/>
          </a:xfrm>
          <a:prstGeom prst="roundRect">
            <a:avLst>
              <a:gd name="adj" fmla="val 9375"/>
            </a:avLst>
          </a:prstGeom>
          <a:solidFill>
            <a:schemeClr val="bg2"/>
          </a:solidFill>
          <a:ln/>
        </p:spPr>
      </p:sp>
      <p:sp>
        <p:nvSpPr>
          <p:cNvPr id="17" name="icon-bg-531"/>
          <p:cNvSpPr/>
          <p:nvPr/>
        </p:nvSpPr>
        <p:spPr>
          <a:xfrm>
            <a:off x="6537960" y="3794760"/>
            <a:ext cx="914400" cy="914400"/>
          </a:xfrm>
          <a:prstGeom prst="ellipse">
            <a:avLst/>
          </a:prstGeom>
          <a:solidFill>
            <a:schemeClr val="accent6"/>
          </a:solidFill>
          <a:ln/>
        </p:spPr>
      </p:sp>
      <p:pic>
        <p:nvPicPr>
          <p:cNvPr id="18" name="icon-532" descr="FaSearch">    </p:cNvPr>
          <p:cNvPicPr>
            <a:picLocks noChangeAspect="1"/>
          </p:cNvPicPr>
          <p:nvPr/>
        </p:nvPicPr>
        <p:blipFill>
          <a:blip r:embed="rId4"/>
          <a:stretch>
            <a:fillRect/>
          </a:stretch>
        </p:blipFill>
        <p:spPr>
          <a:xfrm>
            <a:off x="6766560" y="4023360"/>
            <a:ext cx="457200" cy="457200"/>
          </a:xfrm>
          <a:prstGeom prst="rect">
            <a:avLst/>
          </a:prstGeom>
        </p:spPr>
      </p:pic>
      <p:sp>
        <p:nvSpPr>
          <p:cNvPr id="19" name="text-533"/>
          <p:cNvSpPr txBox="1"/>
          <p:nvPr/>
        </p:nvSpPr>
        <p:spPr>
          <a:xfrm>
            <a:off x="7726680" y="3520440"/>
            <a:ext cx="3703320" cy="1463040"/>
          </a:xfrm>
          <a:prstGeom prst="rect">
            <a:avLst/>
          </a:prstGeom>
          <a:noFill/>
          <a:ln/>
        </p:spPr>
        <p:txBody>
          <a:bodyPr wrap="square" lIns="0" tIns="0" rIns="0" bIns="0" rtlCol="0" anchor="ctr"/>
          <a:lstStyle/>
          <a:p>
            <a:pPr indent="0" marL="0">
              <a:buNone/>
            </a:pPr>
            <a:r>
              <a:rPr lang="en-US" sz="2600" dirty="0">
                <a:solidFill>
                  <a:schemeClr val="tx1"/>
                </a:solidFill>
              </a:rPr>
              <a:t>Nghiên cứu định tính thăm dò</a:t>
            </a:r>
            <a:endParaRPr lang="en-US" sz="2600" dirty="0"/>
          </a:p>
        </p:txBody>
      </p:sp>
      <p:sp>
        <p:nvSpPr>
          <p:cNvPr id="20" name="text-534"/>
          <p:cNvSpPr txBox="1"/>
          <p:nvPr/>
        </p:nvSpPr>
        <p:spPr>
          <a:xfrm>
            <a:off x="548640" y="5394960"/>
            <a:ext cx="11094415" cy="822960"/>
          </a:xfrm>
          <a:prstGeom prst="rect">
            <a:avLst/>
          </a:prstGeom>
          <a:noFill/>
          <a:ln/>
        </p:spPr>
        <p:txBody>
          <a:bodyPr wrap="square" lIns="0" tIns="0" rIns="0" bIns="0" rtlCol="0" anchor="t"/>
          <a:lstStyle/>
          <a:p>
            <a:pPr indent="0" marL="0">
              <a:buNone/>
            </a:pPr>
            <a:r>
              <a:rPr lang="en-US" sz="2400" b="1" dirty="0">
                <a:solidFill>
                  <a:schemeClr val="accent3"/>
                </a:solidFill>
              </a:rPr>
              <a:t>Đối thủ mới cạnh cổng trường? → Giảm giá chỉ mất lợi nhuận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Từ mục tiêu đến mô hình: quyết định mình sẽ đo cái gì</a:t>
            </a:r>
            <a:endParaRPr lang="en-US" sz="3000" dirty="0"/>
          </a:p>
        </p:txBody>
      </p:sp>
      <p:sp>
        <p:nvSpPr>
          <p:cNvPr id="4" name="card-535"/>
          <p:cNvSpPr/>
          <p:nvPr/>
        </p:nvSpPr>
        <p:spPr>
          <a:xfrm>
            <a:off x="548640" y="1691640"/>
            <a:ext cx="3931920" cy="4434840"/>
          </a:xfrm>
          <a:prstGeom prst="roundRect">
            <a:avLst>
              <a:gd name="adj" fmla="val 3488"/>
            </a:avLst>
          </a:prstGeom>
          <a:solidFill>
            <a:schemeClr val="bg2"/>
          </a:solidFill>
          <a:ln/>
        </p:spPr>
      </p:sp>
      <p:sp>
        <p:nvSpPr>
          <p:cNvPr id="5" name="text-536"/>
          <p:cNvSpPr txBox="1"/>
          <p:nvPr/>
        </p:nvSpPr>
        <p:spPr>
          <a:xfrm>
            <a:off x="822960" y="1874520"/>
            <a:ext cx="3383280" cy="548640"/>
          </a:xfrm>
          <a:prstGeom prst="rect">
            <a:avLst/>
          </a:prstGeom>
          <a:noFill/>
          <a:ln/>
        </p:spPr>
        <p:txBody>
          <a:bodyPr wrap="square" lIns="0" tIns="0" rIns="0" bIns="0" rtlCol="0" anchor="t"/>
          <a:lstStyle/>
          <a:p>
            <a:pPr indent="0" marL="0">
              <a:buNone/>
            </a:pPr>
            <a:r>
              <a:rPr lang="en-US" sz="2800" b="1" dirty="0">
                <a:solidFill>
                  <a:schemeClr val="accent2"/>
                </a:solidFill>
              </a:rPr>
              <a:t>Mục tiêu</a:t>
            </a:r>
            <a:endParaRPr lang="en-US" sz="2800" dirty="0"/>
          </a:p>
        </p:txBody>
      </p:sp>
      <p:sp>
        <p:nvSpPr>
          <p:cNvPr id="6" name="dot-537"/>
          <p:cNvSpPr/>
          <p:nvPr/>
        </p:nvSpPr>
        <p:spPr>
          <a:xfrm>
            <a:off x="822960" y="2697480"/>
            <a:ext cx="548640" cy="548640"/>
          </a:xfrm>
          <a:prstGeom prst="ellipse">
            <a:avLst/>
          </a:prstGeom>
          <a:solidFill>
            <a:schemeClr val="accent2"/>
          </a:solidFill>
          <a:ln/>
        </p:spPr>
      </p:sp>
      <p:sp>
        <p:nvSpPr>
          <p:cNvPr id="7" name="text-538"/>
          <p:cNvSpPr txBox="1"/>
          <p:nvPr/>
        </p:nvSpPr>
        <p:spPr>
          <a:xfrm>
            <a:off x="822960" y="269748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539"/>
          <p:cNvSpPr txBox="1"/>
          <p:nvPr/>
        </p:nvSpPr>
        <p:spPr>
          <a:xfrm>
            <a:off x="1554480" y="2606040"/>
            <a:ext cx="2743200" cy="868680"/>
          </a:xfrm>
          <a:prstGeom prst="rect">
            <a:avLst/>
          </a:prstGeom>
          <a:noFill/>
          <a:ln/>
        </p:spPr>
        <p:txBody>
          <a:bodyPr wrap="square" lIns="0" tIns="0" rIns="0" bIns="0" rtlCol="0" anchor="ctr"/>
          <a:lstStyle/>
          <a:p>
            <a:pPr indent="0" marL="0">
              <a:buNone/>
            </a:pPr>
            <a:r>
              <a:rPr lang="en-US" sz="2400" dirty="0">
                <a:solidFill>
                  <a:schemeClr val="tx1"/>
                </a:solidFill>
              </a:rPr>
              <a:t>Lý do sinh viên giảm mua</a:t>
            </a:r>
            <a:endParaRPr lang="en-US" sz="2400" dirty="0"/>
          </a:p>
        </p:txBody>
      </p:sp>
      <p:sp>
        <p:nvSpPr>
          <p:cNvPr id="9" name="dot-540"/>
          <p:cNvSpPr/>
          <p:nvPr/>
        </p:nvSpPr>
        <p:spPr>
          <a:xfrm>
            <a:off x="822960" y="3794760"/>
            <a:ext cx="548640" cy="548640"/>
          </a:xfrm>
          <a:prstGeom prst="ellipse">
            <a:avLst/>
          </a:prstGeom>
          <a:solidFill>
            <a:schemeClr val="accent2"/>
          </a:solidFill>
          <a:ln/>
        </p:spPr>
      </p:sp>
      <p:sp>
        <p:nvSpPr>
          <p:cNvPr id="10" name="text-541"/>
          <p:cNvSpPr txBox="1"/>
          <p:nvPr/>
        </p:nvSpPr>
        <p:spPr>
          <a:xfrm>
            <a:off x="822960" y="379476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542"/>
          <p:cNvSpPr txBox="1"/>
          <p:nvPr/>
        </p:nvSpPr>
        <p:spPr>
          <a:xfrm>
            <a:off x="1554480" y="3703320"/>
            <a:ext cx="2743200" cy="868680"/>
          </a:xfrm>
          <a:prstGeom prst="rect">
            <a:avLst/>
          </a:prstGeom>
          <a:noFill/>
          <a:ln/>
        </p:spPr>
        <p:txBody>
          <a:bodyPr wrap="square" lIns="0" tIns="0" rIns="0" bIns="0" rtlCol="0" anchor="ctr"/>
          <a:lstStyle/>
          <a:p>
            <a:pPr indent="0" marL="0">
              <a:buNone/>
            </a:pPr>
            <a:r>
              <a:rPr lang="en-US" sz="2400" dirty="0">
                <a:solidFill>
                  <a:schemeClr val="tx1"/>
                </a:solidFill>
              </a:rPr>
              <a:t>So sánh với đối thủ chính</a:t>
            </a:r>
            <a:endParaRPr lang="en-US" sz="2400" dirty="0"/>
          </a:p>
        </p:txBody>
      </p:sp>
      <p:sp>
        <p:nvSpPr>
          <p:cNvPr id="12" name="dot-543"/>
          <p:cNvSpPr/>
          <p:nvPr/>
        </p:nvSpPr>
        <p:spPr>
          <a:xfrm>
            <a:off x="822960" y="4892040"/>
            <a:ext cx="548640" cy="548640"/>
          </a:xfrm>
          <a:prstGeom prst="ellipse">
            <a:avLst/>
          </a:prstGeom>
          <a:solidFill>
            <a:schemeClr val="accent2"/>
          </a:solidFill>
          <a:ln/>
        </p:spPr>
      </p:sp>
      <p:sp>
        <p:nvSpPr>
          <p:cNvPr id="13" name="text-544"/>
          <p:cNvSpPr txBox="1"/>
          <p:nvPr/>
        </p:nvSpPr>
        <p:spPr>
          <a:xfrm>
            <a:off x="822960" y="489204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545"/>
          <p:cNvSpPr txBox="1"/>
          <p:nvPr/>
        </p:nvSpPr>
        <p:spPr>
          <a:xfrm>
            <a:off x="1554480" y="4800600"/>
            <a:ext cx="2743200" cy="868680"/>
          </a:xfrm>
          <a:prstGeom prst="rect">
            <a:avLst/>
          </a:prstGeom>
          <a:noFill/>
          <a:ln/>
        </p:spPr>
        <p:txBody>
          <a:bodyPr wrap="square" lIns="0" tIns="0" rIns="0" bIns="0" rtlCol="0" anchor="ctr"/>
          <a:lstStyle/>
          <a:p>
            <a:pPr indent="0" marL="0">
              <a:buNone/>
            </a:pPr>
            <a:r>
              <a:rPr lang="en-US" sz="2400" dirty="0">
                <a:solidFill>
                  <a:schemeClr val="tx1"/>
                </a:solidFill>
              </a:rPr>
              <a:t>Đề xuất giải pháp</a:t>
            </a:r>
            <a:endParaRPr lang="en-US" sz="2400" dirty="0"/>
          </a:p>
        </p:txBody>
      </p:sp>
      <p:sp>
        <p:nvSpPr>
          <p:cNvPr id="15" name="text-546"/>
          <p:cNvSpPr txBox="1"/>
          <p:nvPr/>
        </p:nvSpPr>
        <p:spPr>
          <a:xfrm>
            <a:off x="4846320" y="1691640"/>
            <a:ext cx="2743200" cy="457200"/>
          </a:xfrm>
          <a:prstGeom prst="rect">
            <a:avLst/>
          </a:prstGeom>
          <a:noFill/>
          <a:ln/>
        </p:spPr>
        <p:txBody>
          <a:bodyPr wrap="square" lIns="0" tIns="0" rIns="0" bIns="0" rtlCol="0" anchor="t"/>
          <a:lstStyle/>
          <a:p>
            <a:pPr indent="0" marL="0">
              <a:buNone/>
            </a:pPr>
            <a:r>
              <a:rPr lang="en-US" sz="2400" b="1" dirty="0">
                <a:solidFill>
                  <a:schemeClr val="tx2"/>
                </a:solidFill>
              </a:rPr>
              <a:t>Biến độc lập</a:t>
            </a:r>
            <a:endParaRPr lang="en-US" sz="2400" dirty="0"/>
          </a:p>
        </p:txBody>
      </p:sp>
      <p:sp>
        <p:nvSpPr>
          <p:cNvPr id="16" name="card-547"/>
          <p:cNvSpPr/>
          <p:nvPr/>
        </p:nvSpPr>
        <p:spPr>
          <a:xfrm>
            <a:off x="4846320" y="2194560"/>
            <a:ext cx="2560320" cy="640080"/>
          </a:xfrm>
          <a:prstGeom prst="roundRect">
            <a:avLst>
              <a:gd name="adj" fmla="val 21429"/>
            </a:avLst>
          </a:prstGeom>
          <a:solidFill>
            <a:schemeClr val="bg2"/>
          </a:solidFill>
          <a:ln/>
        </p:spPr>
      </p:sp>
      <p:sp>
        <p:nvSpPr>
          <p:cNvPr id="17" name="text-548"/>
          <p:cNvSpPr txBox="1"/>
          <p:nvPr/>
        </p:nvSpPr>
        <p:spPr>
          <a:xfrm>
            <a:off x="4846320" y="2194560"/>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Giá</a:t>
            </a:r>
            <a:endParaRPr lang="en-US" sz="2400" dirty="0"/>
          </a:p>
        </p:txBody>
      </p:sp>
      <p:sp>
        <p:nvSpPr>
          <p:cNvPr id="18" name="line-549"/>
          <p:cNvSpPr/>
          <p:nvPr/>
        </p:nvSpPr>
        <p:spPr>
          <a:xfrm>
            <a:off x="7406640" y="2514600"/>
            <a:ext cx="1143000" cy="1600200"/>
          </a:xfrm>
          <a:prstGeom prst="line">
            <a:avLst/>
          </a:prstGeom>
          <a:noFill/>
          <a:ln w="38100">
            <a:solidFill>
              <a:schemeClr val="accent5"/>
            </a:solidFill>
            <a:prstDash val="solid"/>
            <a:tailEnd type="triangle"/>
          </a:ln>
        </p:spPr>
      </p:sp>
      <p:sp>
        <p:nvSpPr>
          <p:cNvPr id="19" name="card-550"/>
          <p:cNvSpPr/>
          <p:nvPr/>
        </p:nvSpPr>
        <p:spPr>
          <a:xfrm>
            <a:off x="4846320" y="2980944"/>
            <a:ext cx="2560320" cy="640080"/>
          </a:xfrm>
          <a:prstGeom prst="roundRect">
            <a:avLst>
              <a:gd name="adj" fmla="val 21429"/>
            </a:avLst>
          </a:prstGeom>
          <a:solidFill>
            <a:schemeClr val="bg2"/>
          </a:solidFill>
          <a:ln/>
        </p:spPr>
      </p:sp>
      <p:sp>
        <p:nvSpPr>
          <p:cNvPr id="20" name="text-551"/>
          <p:cNvSpPr txBox="1"/>
          <p:nvPr/>
        </p:nvSpPr>
        <p:spPr>
          <a:xfrm>
            <a:off x="4846320" y="2980944"/>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Chất lượng</a:t>
            </a:r>
            <a:endParaRPr lang="en-US" sz="2400" dirty="0"/>
          </a:p>
        </p:txBody>
      </p:sp>
      <p:sp>
        <p:nvSpPr>
          <p:cNvPr id="21" name="line-552"/>
          <p:cNvSpPr/>
          <p:nvPr/>
        </p:nvSpPr>
        <p:spPr>
          <a:xfrm>
            <a:off x="7406640" y="3300984"/>
            <a:ext cx="1143000" cy="813816"/>
          </a:xfrm>
          <a:prstGeom prst="line">
            <a:avLst/>
          </a:prstGeom>
          <a:noFill/>
          <a:ln w="38100">
            <a:solidFill>
              <a:schemeClr val="accent5"/>
            </a:solidFill>
            <a:prstDash val="solid"/>
            <a:tailEnd type="triangle"/>
          </a:ln>
        </p:spPr>
      </p:sp>
      <p:sp>
        <p:nvSpPr>
          <p:cNvPr id="22" name="card-553"/>
          <p:cNvSpPr/>
          <p:nvPr/>
        </p:nvSpPr>
        <p:spPr>
          <a:xfrm>
            <a:off x="4846320" y="3767328"/>
            <a:ext cx="2560320" cy="640080"/>
          </a:xfrm>
          <a:prstGeom prst="roundRect">
            <a:avLst>
              <a:gd name="adj" fmla="val 21429"/>
            </a:avLst>
          </a:prstGeom>
          <a:solidFill>
            <a:schemeClr val="bg2"/>
          </a:solidFill>
          <a:ln/>
        </p:spPr>
      </p:sp>
      <p:sp>
        <p:nvSpPr>
          <p:cNvPr id="23" name="text-554"/>
          <p:cNvSpPr txBox="1"/>
          <p:nvPr/>
        </p:nvSpPr>
        <p:spPr>
          <a:xfrm>
            <a:off x="4846320" y="3767328"/>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Khuyến mãi</a:t>
            </a:r>
            <a:endParaRPr lang="en-US" sz="2400" dirty="0"/>
          </a:p>
        </p:txBody>
      </p:sp>
      <p:sp>
        <p:nvSpPr>
          <p:cNvPr id="24" name="line-555"/>
          <p:cNvSpPr/>
          <p:nvPr/>
        </p:nvSpPr>
        <p:spPr>
          <a:xfrm>
            <a:off x="7406640" y="4087368"/>
            <a:ext cx="1143000" cy="27432"/>
          </a:xfrm>
          <a:prstGeom prst="line">
            <a:avLst/>
          </a:prstGeom>
          <a:noFill/>
          <a:ln w="38100">
            <a:solidFill>
              <a:schemeClr val="accent5"/>
            </a:solidFill>
            <a:prstDash val="solid"/>
            <a:tailEnd type="triangle"/>
          </a:ln>
        </p:spPr>
      </p:sp>
      <p:sp>
        <p:nvSpPr>
          <p:cNvPr id="25" name="card-556"/>
          <p:cNvSpPr/>
          <p:nvPr/>
        </p:nvSpPr>
        <p:spPr>
          <a:xfrm>
            <a:off x="4846320" y="4553712"/>
            <a:ext cx="2560320" cy="640080"/>
          </a:xfrm>
          <a:prstGeom prst="roundRect">
            <a:avLst>
              <a:gd name="adj" fmla="val 21429"/>
            </a:avLst>
          </a:prstGeom>
          <a:solidFill>
            <a:schemeClr val="bg2"/>
          </a:solidFill>
          <a:ln/>
        </p:spPr>
      </p:sp>
      <p:sp>
        <p:nvSpPr>
          <p:cNvPr id="26" name="text-557"/>
          <p:cNvSpPr txBox="1"/>
          <p:nvPr/>
        </p:nvSpPr>
        <p:spPr>
          <a:xfrm>
            <a:off x="4846320" y="4553712"/>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Không gian</a:t>
            </a:r>
            <a:endParaRPr lang="en-US" sz="2400" dirty="0"/>
          </a:p>
        </p:txBody>
      </p:sp>
      <p:sp>
        <p:nvSpPr>
          <p:cNvPr id="27" name="line-558"/>
          <p:cNvSpPr/>
          <p:nvPr/>
        </p:nvSpPr>
        <p:spPr>
          <a:xfrm>
            <a:off x="7406640" y="4873752"/>
            <a:ext cx="1143000" cy="-758952"/>
          </a:xfrm>
          <a:prstGeom prst="line">
            <a:avLst/>
          </a:prstGeom>
          <a:noFill/>
          <a:ln w="38100">
            <a:solidFill>
              <a:schemeClr val="accent5"/>
            </a:solidFill>
            <a:prstDash val="solid"/>
            <a:tailEnd type="triangle"/>
          </a:ln>
        </p:spPr>
      </p:sp>
      <p:sp>
        <p:nvSpPr>
          <p:cNvPr id="28" name="card-559"/>
          <p:cNvSpPr/>
          <p:nvPr/>
        </p:nvSpPr>
        <p:spPr>
          <a:xfrm>
            <a:off x="4846320" y="5340096"/>
            <a:ext cx="2560320" cy="640080"/>
          </a:xfrm>
          <a:prstGeom prst="roundRect">
            <a:avLst>
              <a:gd name="adj" fmla="val 21429"/>
            </a:avLst>
          </a:prstGeom>
          <a:solidFill>
            <a:schemeClr val="bg2"/>
          </a:solidFill>
          <a:ln/>
        </p:spPr>
      </p:sp>
      <p:sp>
        <p:nvSpPr>
          <p:cNvPr id="29" name="text-560"/>
          <p:cNvSpPr txBox="1"/>
          <p:nvPr/>
        </p:nvSpPr>
        <p:spPr>
          <a:xfrm>
            <a:off x="4846320" y="5340096"/>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Tiện lợi</a:t>
            </a:r>
            <a:endParaRPr lang="en-US" sz="2400" dirty="0"/>
          </a:p>
        </p:txBody>
      </p:sp>
      <p:sp>
        <p:nvSpPr>
          <p:cNvPr id="30" name="line-561"/>
          <p:cNvSpPr/>
          <p:nvPr/>
        </p:nvSpPr>
        <p:spPr>
          <a:xfrm>
            <a:off x="7406640" y="5660136"/>
            <a:ext cx="1143000" cy="-1545336"/>
          </a:xfrm>
          <a:prstGeom prst="line">
            <a:avLst/>
          </a:prstGeom>
          <a:noFill/>
          <a:ln w="38100">
            <a:solidFill>
              <a:schemeClr val="accent5"/>
            </a:solidFill>
            <a:prstDash val="solid"/>
            <a:tailEnd type="triangle"/>
          </a:ln>
        </p:spPr>
      </p:sp>
      <p:sp>
        <p:nvSpPr>
          <p:cNvPr id="31" name="text-562"/>
          <p:cNvSpPr txBox="1"/>
          <p:nvPr/>
        </p:nvSpPr>
        <p:spPr>
          <a:xfrm>
            <a:off x="8641080" y="2971800"/>
            <a:ext cx="2999232" cy="457200"/>
          </a:xfrm>
          <a:prstGeom prst="rect">
            <a:avLst/>
          </a:prstGeom>
          <a:noFill/>
          <a:ln/>
        </p:spPr>
        <p:txBody>
          <a:bodyPr wrap="square" lIns="0" tIns="0" rIns="0" bIns="0" rtlCol="0" anchor="t"/>
          <a:lstStyle/>
          <a:p>
            <a:pPr indent="0" marL="0">
              <a:buNone/>
            </a:pPr>
            <a:r>
              <a:rPr lang="en-US" sz="2400" b="1" dirty="0">
                <a:solidFill>
                  <a:schemeClr val="tx2"/>
                </a:solidFill>
              </a:rPr>
              <a:t>Biến phụ thuộc</a:t>
            </a:r>
            <a:endParaRPr lang="en-US" sz="2400" dirty="0"/>
          </a:p>
        </p:txBody>
      </p:sp>
      <p:sp>
        <p:nvSpPr>
          <p:cNvPr id="32" name="card-563"/>
          <p:cNvSpPr/>
          <p:nvPr/>
        </p:nvSpPr>
        <p:spPr>
          <a:xfrm>
            <a:off x="8641080" y="3474720"/>
            <a:ext cx="2999232" cy="1280160"/>
          </a:xfrm>
          <a:prstGeom prst="roundRect">
            <a:avLst>
              <a:gd name="adj" fmla="val 10714"/>
            </a:avLst>
          </a:prstGeom>
          <a:solidFill>
            <a:schemeClr val="accent5"/>
          </a:solidFill>
          <a:ln/>
        </p:spPr>
      </p:sp>
      <p:sp>
        <p:nvSpPr>
          <p:cNvPr id="33" name="text-564"/>
          <p:cNvSpPr txBox="1"/>
          <p:nvPr/>
        </p:nvSpPr>
        <p:spPr>
          <a:xfrm>
            <a:off x="8641080" y="3474720"/>
            <a:ext cx="2999232" cy="1280160"/>
          </a:xfrm>
          <a:prstGeom prst="rect">
            <a:avLst/>
          </a:prstGeom>
          <a:noFill/>
          <a:ln/>
        </p:spPr>
        <p:txBody>
          <a:bodyPr wrap="square" lIns="0" tIns="0" rIns="0" bIns="0" rtlCol="0" anchor="ctr"/>
          <a:lstStyle/>
          <a:p>
            <a:pPr algn="ctr" indent="0" marL="0">
              <a:buNone/>
            </a:pPr>
            <a:r>
              <a:rPr lang="en-US" sz="2800" b="1" dirty="0">
                <a:solidFill>
                  <a:schemeClr val="bg1"/>
                </a:solidFill>
              </a:rPr>
              <a:t>Tần suất mua</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Thu thập, phân tích, trình bày: dữ liệu thô phải thành câu trả lời cho nhà quản trị</a:t>
            </a:r>
            <a:endParaRPr lang="en-US" sz="3000" dirty="0"/>
          </a:p>
        </p:txBody>
      </p:sp>
      <p:sp>
        <p:nvSpPr>
          <p:cNvPr id="4" name="card-565"/>
          <p:cNvSpPr/>
          <p:nvPr/>
        </p:nvSpPr>
        <p:spPr>
          <a:xfrm>
            <a:off x="548640" y="1783080"/>
            <a:ext cx="3520440" cy="4343400"/>
          </a:xfrm>
          <a:prstGeom prst="roundRect">
            <a:avLst>
              <a:gd name="adj" fmla="val 3896"/>
            </a:avLst>
          </a:prstGeom>
          <a:solidFill>
            <a:schemeClr val="bg2"/>
          </a:solidFill>
          <a:ln/>
        </p:spPr>
      </p:sp>
      <p:sp>
        <p:nvSpPr>
          <p:cNvPr id="5" name="dot-566"/>
          <p:cNvSpPr/>
          <p:nvPr/>
        </p:nvSpPr>
        <p:spPr>
          <a:xfrm>
            <a:off x="822960" y="2011680"/>
            <a:ext cx="685800" cy="685800"/>
          </a:xfrm>
          <a:prstGeom prst="ellipse">
            <a:avLst/>
          </a:prstGeom>
          <a:solidFill>
            <a:schemeClr val="accent1"/>
          </a:solidFill>
          <a:ln/>
        </p:spPr>
      </p:sp>
      <p:sp>
        <p:nvSpPr>
          <p:cNvPr id="6" name="text-567"/>
          <p:cNvSpPr txBox="1"/>
          <p:nvPr/>
        </p:nvSpPr>
        <p:spPr>
          <a:xfrm>
            <a:off x="822960" y="20116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7" name="text-568"/>
          <p:cNvSpPr txBox="1"/>
          <p:nvPr/>
        </p:nvSpPr>
        <p:spPr>
          <a:xfrm>
            <a:off x="1645920" y="2011680"/>
            <a:ext cx="2286000" cy="685800"/>
          </a:xfrm>
          <a:prstGeom prst="rect">
            <a:avLst/>
          </a:prstGeom>
          <a:noFill/>
          <a:ln/>
        </p:spPr>
        <p:txBody>
          <a:bodyPr wrap="square" lIns="0" tIns="0" rIns="0" bIns="0" rtlCol="0" anchor="ctr"/>
          <a:lstStyle/>
          <a:p>
            <a:pPr indent="0" marL="0">
              <a:buNone/>
            </a:pPr>
            <a:r>
              <a:rPr lang="en-US" sz="2400" b="1" dirty="0">
                <a:solidFill>
                  <a:schemeClr val="accent1"/>
                </a:solidFill>
              </a:rPr>
              <a:t>Thu thập</a:t>
            </a:r>
            <a:endParaRPr lang="en-US" sz="2400" dirty="0"/>
          </a:p>
        </p:txBody>
      </p:sp>
      <p:sp>
        <p:nvSpPr>
          <p:cNvPr id="8" name="text-569"/>
          <p:cNvSpPr txBox="1"/>
          <p:nvPr/>
        </p:nvSpPr>
        <p:spPr>
          <a:xfrm>
            <a:off x="868680" y="2971800"/>
            <a:ext cx="2971800" cy="640080"/>
          </a:xfrm>
          <a:prstGeom prst="rect">
            <a:avLst/>
          </a:prstGeom>
          <a:noFill/>
          <a:ln/>
        </p:spPr>
        <p:txBody>
          <a:bodyPr wrap="square" lIns="0" tIns="0" rIns="0" bIns="0" rtlCol="0" anchor="ctr"/>
          <a:lstStyle/>
          <a:p>
            <a:pPr indent="0" marL="0">
              <a:buNone/>
            </a:pPr>
            <a:r>
              <a:rPr lang="en-US" sz="2400" dirty="0">
                <a:solidFill>
                  <a:schemeClr val="tx1"/>
                </a:solidFill>
              </a:rPr>
              <a:t>• Dữ liệu thứ cấp</a:t>
            </a:r>
            <a:endParaRPr lang="en-US" sz="2400" dirty="0"/>
          </a:p>
        </p:txBody>
      </p:sp>
      <p:sp>
        <p:nvSpPr>
          <p:cNvPr id="9" name="text-570"/>
          <p:cNvSpPr txBox="1"/>
          <p:nvPr/>
        </p:nvSpPr>
        <p:spPr>
          <a:xfrm>
            <a:off x="868680" y="3685032"/>
            <a:ext cx="2971800" cy="640080"/>
          </a:xfrm>
          <a:prstGeom prst="rect">
            <a:avLst/>
          </a:prstGeom>
          <a:noFill/>
          <a:ln/>
        </p:spPr>
        <p:txBody>
          <a:bodyPr wrap="square" lIns="0" tIns="0" rIns="0" bIns="0" rtlCol="0" anchor="ctr"/>
          <a:lstStyle/>
          <a:p>
            <a:pPr indent="0" marL="0">
              <a:buNone/>
            </a:pPr>
            <a:r>
              <a:rPr lang="en-US" sz="2400" dirty="0">
                <a:solidFill>
                  <a:schemeClr val="tx1"/>
                </a:solidFill>
              </a:rPr>
              <a:t>• Phỏng vấn ~10 SV</a:t>
            </a:r>
            <a:endParaRPr lang="en-US" sz="2400" dirty="0"/>
          </a:p>
        </p:txBody>
      </p:sp>
      <p:sp>
        <p:nvSpPr>
          <p:cNvPr id="10" name="text-571"/>
          <p:cNvSpPr txBox="1"/>
          <p:nvPr/>
        </p:nvSpPr>
        <p:spPr>
          <a:xfrm>
            <a:off x="868680" y="4398264"/>
            <a:ext cx="2971800" cy="640080"/>
          </a:xfrm>
          <a:prstGeom prst="rect">
            <a:avLst/>
          </a:prstGeom>
          <a:noFill/>
          <a:ln/>
        </p:spPr>
        <p:txBody>
          <a:bodyPr wrap="square" lIns="0" tIns="0" rIns="0" bIns="0" rtlCol="0" anchor="ctr"/>
          <a:lstStyle/>
          <a:p>
            <a:pPr indent="0" marL="0">
              <a:buNone/>
            </a:pPr>
            <a:r>
              <a:rPr lang="en-US" sz="2400" dirty="0">
                <a:solidFill>
                  <a:schemeClr val="tx1"/>
                </a:solidFill>
              </a:rPr>
              <a:t>• Khảo sát ~200 SV</a:t>
            </a:r>
            <a:endParaRPr lang="en-US" sz="2400" dirty="0"/>
          </a:p>
        </p:txBody>
      </p:sp>
      <p:sp>
        <p:nvSpPr>
          <p:cNvPr id="11" name="card-572"/>
          <p:cNvSpPr/>
          <p:nvPr/>
        </p:nvSpPr>
        <p:spPr>
          <a:xfrm>
            <a:off x="4334256" y="1783080"/>
            <a:ext cx="3520440" cy="4343400"/>
          </a:xfrm>
          <a:prstGeom prst="roundRect">
            <a:avLst>
              <a:gd name="adj" fmla="val 3896"/>
            </a:avLst>
          </a:prstGeom>
          <a:solidFill>
            <a:schemeClr val="bg2"/>
          </a:solidFill>
          <a:ln/>
        </p:spPr>
      </p:sp>
      <p:sp>
        <p:nvSpPr>
          <p:cNvPr id="12" name="dot-573"/>
          <p:cNvSpPr/>
          <p:nvPr/>
        </p:nvSpPr>
        <p:spPr>
          <a:xfrm>
            <a:off x="4608576" y="2011680"/>
            <a:ext cx="685800" cy="685800"/>
          </a:xfrm>
          <a:prstGeom prst="ellipse">
            <a:avLst/>
          </a:prstGeom>
          <a:solidFill>
            <a:schemeClr val="accent5"/>
          </a:solidFill>
          <a:ln/>
        </p:spPr>
      </p:sp>
      <p:sp>
        <p:nvSpPr>
          <p:cNvPr id="13" name="text-574"/>
          <p:cNvSpPr txBox="1"/>
          <p:nvPr/>
        </p:nvSpPr>
        <p:spPr>
          <a:xfrm>
            <a:off x="4608576" y="20116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14" name="text-575"/>
          <p:cNvSpPr txBox="1"/>
          <p:nvPr/>
        </p:nvSpPr>
        <p:spPr>
          <a:xfrm>
            <a:off x="5431536" y="2011680"/>
            <a:ext cx="2286000" cy="685800"/>
          </a:xfrm>
          <a:prstGeom prst="rect">
            <a:avLst/>
          </a:prstGeom>
          <a:noFill/>
          <a:ln/>
        </p:spPr>
        <p:txBody>
          <a:bodyPr wrap="square" lIns="0" tIns="0" rIns="0" bIns="0" rtlCol="0" anchor="ctr"/>
          <a:lstStyle/>
          <a:p>
            <a:pPr indent="0" marL="0">
              <a:buNone/>
            </a:pPr>
            <a:r>
              <a:rPr lang="en-US" sz="2400" b="1" dirty="0">
                <a:solidFill>
                  <a:schemeClr val="accent5"/>
                </a:solidFill>
              </a:rPr>
              <a:t>Chuẩn bị &amp; phân tích</a:t>
            </a:r>
            <a:endParaRPr lang="en-US" sz="2400" dirty="0"/>
          </a:p>
        </p:txBody>
      </p:sp>
      <p:sp>
        <p:nvSpPr>
          <p:cNvPr id="15" name="text-576"/>
          <p:cNvSpPr txBox="1"/>
          <p:nvPr/>
        </p:nvSpPr>
        <p:spPr>
          <a:xfrm>
            <a:off x="4654296" y="2971800"/>
            <a:ext cx="2971800" cy="640080"/>
          </a:xfrm>
          <a:prstGeom prst="rect">
            <a:avLst/>
          </a:prstGeom>
          <a:noFill/>
          <a:ln/>
        </p:spPr>
        <p:txBody>
          <a:bodyPr wrap="square" lIns="0" tIns="0" rIns="0" bIns="0" rtlCol="0" anchor="ctr"/>
          <a:lstStyle/>
          <a:p>
            <a:pPr indent="0" marL="0">
              <a:buNone/>
            </a:pPr>
            <a:r>
              <a:rPr lang="en-US" sz="2400" dirty="0">
                <a:solidFill>
                  <a:schemeClr val="tx1"/>
                </a:solidFill>
              </a:rPr>
              <a:t>• Hiệu chỉnh</a:t>
            </a:r>
            <a:endParaRPr lang="en-US" sz="2400" dirty="0"/>
          </a:p>
        </p:txBody>
      </p:sp>
      <p:sp>
        <p:nvSpPr>
          <p:cNvPr id="16" name="text-577"/>
          <p:cNvSpPr txBox="1"/>
          <p:nvPr/>
        </p:nvSpPr>
        <p:spPr>
          <a:xfrm>
            <a:off x="4654296" y="3685032"/>
            <a:ext cx="2971800" cy="640080"/>
          </a:xfrm>
          <a:prstGeom prst="rect">
            <a:avLst/>
          </a:prstGeom>
          <a:noFill/>
          <a:ln/>
        </p:spPr>
        <p:txBody>
          <a:bodyPr wrap="square" lIns="0" tIns="0" rIns="0" bIns="0" rtlCol="0" anchor="ctr"/>
          <a:lstStyle/>
          <a:p>
            <a:pPr indent="0" marL="0">
              <a:buNone/>
            </a:pPr>
            <a:r>
              <a:rPr lang="en-US" sz="2400" dirty="0">
                <a:solidFill>
                  <a:schemeClr val="tx1"/>
                </a:solidFill>
              </a:rPr>
              <a:t>→ Mã hóa</a:t>
            </a:r>
            <a:endParaRPr lang="en-US" sz="2400" dirty="0"/>
          </a:p>
        </p:txBody>
      </p:sp>
      <p:sp>
        <p:nvSpPr>
          <p:cNvPr id="17" name="text-578"/>
          <p:cNvSpPr txBox="1"/>
          <p:nvPr/>
        </p:nvSpPr>
        <p:spPr>
          <a:xfrm>
            <a:off x="4654296" y="4398264"/>
            <a:ext cx="2971800" cy="640080"/>
          </a:xfrm>
          <a:prstGeom prst="rect">
            <a:avLst/>
          </a:prstGeom>
          <a:noFill/>
          <a:ln/>
        </p:spPr>
        <p:txBody>
          <a:bodyPr wrap="square" lIns="0" tIns="0" rIns="0" bIns="0" rtlCol="0" anchor="ctr"/>
          <a:lstStyle/>
          <a:p>
            <a:pPr indent="0" marL="0">
              <a:buNone/>
            </a:pPr>
            <a:r>
              <a:rPr lang="en-US" sz="2400" dirty="0">
                <a:solidFill>
                  <a:schemeClr val="tx1"/>
                </a:solidFill>
              </a:rPr>
              <a:t>→ Nhập &amp; làm sạch</a:t>
            </a:r>
            <a:endParaRPr lang="en-US" sz="2400" dirty="0"/>
          </a:p>
        </p:txBody>
      </p:sp>
      <p:sp>
        <p:nvSpPr>
          <p:cNvPr id="18" name="text-579"/>
          <p:cNvSpPr txBox="1"/>
          <p:nvPr/>
        </p:nvSpPr>
        <p:spPr>
          <a:xfrm>
            <a:off x="4654296" y="5111496"/>
            <a:ext cx="2971800" cy="640080"/>
          </a:xfrm>
          <a:prstGeom prst="rect">
            <a:avLst/>
          </a:prstGeom>
          <a:noFill/>
          <a:ln/>
        </p:spPr>
        <p:txBody>
          <a:bodyPr wrap="square" lIns="0" tIns="0" rIns="0" bIns="0" rtlCol="0" anchor="ctr"/>
          <a:lstStyle/>
          <a:p>
            <a:pPr indent="0" marL="0">
              <a:buNone/>
            </a:pPr>
            <a:r>
              <a:rPr lang="en-US" sz="2400" dirty="0">
                <a:solidFill>
                  <a:schemeClr val="tx1"/>
                </a:solidFill>
              </a:rPr>
              <a:t>→ Phân tích</a:t>
            </a:r>
            <a:endParaRPr lang="en-US" sz="2400" dirty="0"/>
          </a:p>
        </p:txBody>
      </p:sp>
      <p:sp>
        <p:nvSpPr>
          <p:cNvPr id="19" name="card-580"/>
          <p:cNvSpPr/>
          <p:nvPr/>
        </p:nvSpPr>
        <p:spPr>
          <a:xfrm>
            <a:off x="8119872" y="1783080"/>
            <a:ext cx="3520440" cy="4343400"/>
          </a:xfrm>
          <a:prstGeom prst="roundRect">
            <a:avLst>
              <a:gd name="adj" fmla="val 3896"/>
            </a:avLst>
          </a:prstGeom>
          <a:solidFill>
            <a:schemeClr val="bg2"/>
          </a:solidFill>
          <a:ln/>
        </p:spPr>
      </p:sp>
      <p:sp>
        <p:nvSpPr>
          <p:cNvPr id="20" name="dot-581"/>
          <p:cNvSpPr/>
          <p:nvPr/>
        </p:nvSpPr>
        <p:spPr>
          <a:xfrm>
            <a:off x="8394192" y="2011680"/>
            <a:ext cx="685800" cy="685800"/>
          </a:xfrm>
          <a:prstGeom prst="ellipse">
            <a:avLst/>
          </a:prstGeom>
          <a:solidFill>
            <a:schemeClr val="accent4"/>
          </a:solidFill>
          <a:ln/>
        </p:spPr>
      </p:sp>
      <p:sp>
        <p:nvSpPr>
          <p:cNvPr id="21" name="text-582"/>
          <p:cNvSpPr txBox="1"/>
          <p:nvPr/>
        </p:nvSpPr>
        <p:spPr>
          <a:xfrm>
            <a:off x="8394192" y="2011680"/>
            <a:ext cx="685800" cy="685800"/>
          </a:xfrm>
          <a:prstGeom prst="rect">
            <a:avLst/>
          </a:prstGeom>
          <a:noFill/>
          <a:ln/>
        </p:spPr>
        <p:txBody>
          <a:bodyPr wrap="square" lIns="0" tIns="0" rIns="0" bIns="0" rtlCol="0" anchor="ctr"/>
          <a:lstStyle/>
          <a:p>
            <a:pPr algn="ctr" indent="0" marL="0">
              <a:buNone/>
            </a:pPr>
            <a:r>
              <a:rPr lang="en-US" sz="2800" b="1" dirty="0">
                <a:solidFill>
                  <a:schemeClr val="tx1"/>
                </a:solidFill>
              </a:rPr>
              <a:t>6</a:t>
            </a:r>
            <a:endParaRPr lang="en-US" sz="2800" dirty="0"/>
          </a:p>
        </p:txBody>
      </p:sp>
      <p:sp>
        <p:nvSpPr>
          <p:cNvPr id="22" name="text-583"/>
          <p:cNvSpPr txBox="1"/>
          <p:nvPr/>
        </p:nvSpPr>
        <p:spPr>
          <a:xfrm>
            <a:off x="9217152" y="2011680"/>
            <a:ext cx="2286000" cy="685800"/>
          </a:xfrm>
          <a:prstGeom prst="rect">
            <a:avLst/>
          </a:prstGeom>
          <a:noFill/>
          <a:ln/>
        </p:spPr>
        <p:txBody>
          <a:bodyPr wrap="square" lIns="0" tIns="0" rIns="0" bIns="0" rtlCol="0" anchor="ctr"/>
          <a:lstStyle/>
          <a:p>
            <a:pPr indent="0" marL="0">
              <a:buNone/>
            </a:pPr>
            <a:r>
              <a:rPr lang="en-US" sz="2400" b="1" dirty="0">
                <a:solidFill>
                  <a:schemeClr val="accent6"/>
                </a:solidFill>
              </a:rPr>
              <a:t>Trình bày</a:t>
            </a:r>
            <a:endParaRPr lang="en-US" sz="2400" dirty="0"/>
          </a:p>
        </p:txBody>
      </p:sp>
      <p:sp>
        <p:nvSpPr>
          <p:cNvPr id="23" name="text-584"/>
          <p:cNvSpPr txBox="1"/>
          <p:nvPr/>
        </p:nvSpPr>
        <p:spPr>
          <a:xfrm>
            <a:off x="8439912" y="2971800"/>
            <a:ext cx="2971800" cy="914400"/>
          </a:xfrm>
          <a:prstGeom prst="rect">
            <a:avLst/>
          </a:prstGeom>
          <a:noFill/>
          <a:ln/>
        </p:spPr>
        <p:txBody>
          <a:bodyPr wrap="square" lIns="0" tIns="0" rIns="0" bIns="0" rtlCol="0" anchor="ctr"/>
          <a:lstStyle/>
          <a:p>
            <a:pPr indent="0" marL="0">
              <a:buNone/>
            </a:pPr>
            <a:r>
              <a:rPr lang="en-US" sz="2400" dirty="0">
                <a:solidFill>
                  <a:schemeClr val="tx1"/>
                </a:solidFill>
              </a:rPr>
              <a:t>• Báo cáo khách quan</a:t>
            </a:r>
            <a:endParaRPr lang="en-US" sz="2400" dirty="0"/>
          </a:p>
        </p:txBody>
      </p:sp>
      <p:sp>
        <p:nvSpPr>
          <p:cNvPr id="24" name="text-585"/>
          <p:cNvSpPr txBox="1"/>
          <p:nvPr/>
        </p:nvSpPr>
        <p:spPr>
          <a:xfrm>
            <a:off x="8439912" y="3977640"/>
            <a:ext cx="2971800" cy="914400"/>
          </a:xfrm>
          <a:prstGeom prst="rect">
            <a:avLst/>
          </a:prstGeom>
          <a:noFill/>
          <a:ln/>
        </p:spPr>
        <p:txBody>
          <a:bodyPr wrap="square" lIns="0" tIns="0" rIns="0" bIns="0" rtlCol="0" anchor="ctr"/>
          <a:lstStyle/>
          <a:p>
            <a:pPr indent="0" marL="0">
              <a:buNone/>
            </a:pPr>
            <a:r>
              <a:rPr lang="en-US" sz="2400" dirty="0">
                <a:solidFill>
                  <a:schemeClr val="tx1"/>
                </a:solidFill>
              </a:rPr>
              <a:t>• Có đề xuất hành động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lỗi khiến nghiên cứu vô giá trị</a:t>
            </a:r>
            <a:endParaRPr lang="en-US" sz="3000" dirty="0"/>
          </a:p>
        </p:txBody>
      </p:sp>
      <p:sp>
        <p:nvSpPr>
          <p:cNvPr id="4" name="card-586"/>
          <p:cNvSpPr/>
          <p:nvPr/>
        </p:nvSpPr>
        <p:spPr>
          <a:xfrm>
            <a:off x="548640" y="1783080"/>
            <a:ext cx="6949440" cy="1143000"/>
          </a:xfrm>
          <a:prstGeom prst="roundRect">
            <a:avLst>
              <a:gd name="adj" fmla="val 12000"/>
            </a:avLst>
          </a:prstGeom>
          <a:solidFill>
            <a:schemeClr val="bg2"/>
          </a:solidFill>
          <a:ln/>
        </p:spPr>
      </p:sp>
      <p:sp>
        <p:nvSpPr>
          <p:cNvPr id="5" name="icon-bg-587"/>
          <p:cNvSpPr/>
          <p:nvPr/>
        </p:nvSpPr>
        <p:spPr>
          <a:xfrm>
            <a:off x="777240" y="1965960"/>
            <a:ext cx="777240" cy="777240"/>
          </a:xfrm>
          <a:prstGeom prst="ellipse">
            <a:avLst/>
          </a:prstGeom>
          <a:solidFill>
            <a:schemeClr val="accent3"/>
          </a:solidFill>
          <a:ln/>
        </p:spPr>
      </p:sp>
      <p:pic>
        <p:nvPicPr>
          <p:cNvPr id="6" name="icon-588" descr="FaTimes">    </p:cNvPr>
          <p:cNvPicPr>
            <a:picLocks noChangeAspect="1"/>
          </p:cNvPicPr>
          <p:nvPr/>
        </p:nvPicPr>
        <p:blipFill>
          <a:blip r:embed="rId1"/>
          <a:stretch>
            <a:fillRect/>
          </a:stretch>
        </p:blipFill>
        <p:spPr>
          <a:xfrm>
            <a:off x="971550" y="2160270"/>
            <a:ext cx="388620" cy="388620"/>
          </a:xfrm>
          <a:prstGeom prst="rect">
            <a:avLst/>
          </a:prstGeom>
        </p:spPr>
      </p:pic>
      <p:sp>
        <p:nvSpPr>
          <p:cNvPr id="7" name="text-589"/>
          <p:cNvSpPr txBox="1"/>
          <p:nvPr/>
        </p:nvSpPr>
        <p:spPr>
          <a:xfrm>
            <a:off x="1783080" y="17830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Hỏi sai đối tượng</a:t>
            </a:r>
            <a:endParaRPr lang="en-US" sz="2600" dirty="0"/>
          </a:p>
        </p:txBody>
      </p:sp>
      <p:sp>
        <p:nvSpPr>
          <p:cNvPr id="8" name="card-590"/>
          <p:cNvSpPr/>
          <p:nvPr/>
        </p:nvSpPr>
        <p:spPr>
          <a:xfrm>
            <a:off x="548640" y="3154680"/>
            <a:ext cx="6949440" cy="1143000"/>
          </a:xfrm>
          <a:prstGeom prst="roundRect">
            <a:avLst>
              <a:gd name="adj" fmla="val 12000"/>
            </a:avLst>
          </a:prstGeom>
          <a:solidFill>
            <a:schemeClr val="bg2"/>
          </a:solidFill>
          <a:ln/>
        </p:spPr>
      </p:sp>
      <p:sp>
        <p:nvSpPr>
          <p:cNvPr id="9" name="icon-bg-591"/>
          <p:cNvSpPr/>
          <p:nvPr/>
        </p:nvSpPr>
        <p:spPr>
          <a:xfrm>
            <a:off x="777240" y="3337560"/>
            <a:ext cx="777240" cy="777240"/>
          </a:xfrm>
          <a:prstGeom prst="ellipse">
            <a:avLst/>
          </a:prstGeom>
          <a:solidFill>
            <a:schemeClr val="accent3"/>
          </a:solidFill>
          <a:ln/>
        </p:spPr>
      </p:sp>
      <p:pic>
        <p:nvPicPr>
          <p:cNvPr id="10" name="icon-592" descr="FaTimes">    </p:cNvPr>
          <p:cNvPicPr>
            <a:picLocks noChangeAspect="1"/>
          </p:cNvPicPr>
          <p:nvPr/>
        </p:nvPicPr>
        <p:blipFill>
          <a:blip r:embed="rId2"/>
          <a:stretch>
            <a:fillRect/>
          </a:stretch>
        </p:blipFill>
        <p:spPr>
          <a:xfrm>
            <a:off x="971550" y="3531870"/>
            <a:ext cx="388620" cy="388620"/>
          </a:xfrm>
          <a:prstGeom prst="rect">
            <a:avLst/>
          </a:prstGeom>
        </p:spPr>
      </p:pic>
      <p:sp>
        <p:nvSpPr>
          <p:cNvPr id="11" name="text-593"/>
          <p:cNvSpPr txBox="1"/>
          <p:nvPr/>
        </p:nvSpPr>
        <p:spPr>
          <a:xfrm>
            <a:off x="1783080" y="31546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In 1.000 phiếu rồi mới thấy câu hỏi sai</a:t>
            </a:r>
            <a:endParaRPr lang="en-US" sz="2600" dirty="0"/>
          </a:p>
        </p:txBody>
      </p:sp>
      <p:sp>
        <p:nvSpPr>
          <p:cNvPr id="12" name="card-594"/>
          <p:cNvSpPr/>
          <p:nvPr/>
        </p:nvSpPr>
        <p:spPr>
          <a:xfrm>
            <a:off x="548640" y="4526280"/>
            <a:ext cx="6949440" cy="1143000"/>
          </a:xfrm>
          <a:prstGeom prst="roundRect">
            <a:avLst>
              <a:gd name="adj" fmla="val 12000"/>
            </a:avLst>
          </a:prstGeom>
          <a:solidFill>
            <a:schemeClr val="bg2"/>
          </a:solidFill>
          <a:ln/>
        </p:spPr>
      </p:sp>
      <p:sp>
        <p:nvSpPr>
          <p:cNvPr id="13" name="icon-bg-595"/>
          <p:cNvSpPr/>
          <p:nvPr/>
        </p:nvSpPr>
        <p:spPr>
          <a:xfrm>
            <a:off x="777240" y="4709160"/>
            <a:ext cx="777240" cy="777240"/>
          </a:xfrm>
          <a:prstGeom prst="ellipse">
            <a:avLst/>
          </a:prstGeom>
          <a:solidFill>
            <a:schemeClr val="accent3"/>
          </a:solidFill>
          <a:ln/>
        </p:spPr>
      </p:sp>
      <p:pic>
        <p:nvPicPr>
          <p:cNvPr id="14" name="icon-596" descr="FaTimes">    </p:cNvPr>
          <p:cNvPicPr>
            <a:picLocks noChangeAspect="1"/>
          </p:cNvPicPr>
          <p:nvPr/>
        </p:nvPicPr>
        <p:blipFill>
          <a:blip r:embed="rId3"/>
          <a:stretch>
            <a:fillRect/>
          </a:stretch>
        </p:blipFill>
        <p:spPr>
          <a:xfrm>
            <a:off x="971550" y="4903470"/>
            <a:ext cx="388620" cy="388620"/>
          </a:xfrm>
          <a:prstGeom prst="rect">
            <a:avLst/>
          </a:prstGeom>
        </p:spPr>
      </p:pic>
      <p:sp>
        <p:nvSpPr>
          <p:cNvPr id="15" name="text-597"/>
          <p:cNvSpPr txBox="1"/>
          <p:nvPr/>
        </p:nvSpPr>
        <p:spPr>
          <a:xfrm>
            <a:off x="1783080" y="45262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Quyết định theo cảm tính</a:t>
            </a:r>
            <a:endParaRPr lang="en-US" sz="2600" dirty="0"/>
          </a:p>
        </p:txBody>
      </p:sp>
      <p:sp>
        <p:nvSpPr>
          <p:cNvPr id="16" name="card-598"/>
          <p:cNvSpPr/>
          <p:nvPr/>
        </p:nvSpPr>
        <p:spPr>
          <a:xfrm>
            <a:off x="7909560" y="1783080"/>
            <a:ext cx="3730752" cy="3886200"/>
          </a:xfrm>
          <a:prstGeom prst="roundRect">
            <a:avLst>
              <a:gd name="adj" fmla="val 3676"/>
            </a:avLst>
          </a:prstGeom>
          <a:solidFill>
            <a:schemeClr val="accent2"/>
          </a:solidFill>
          <a:ln/>
        </p:spPr>
      </p:sp>
      <p:sp>
        <p:nvSpPr>
          <p:cNvPr id="17" name="text-599"/>
          <p:cNvSpPr txBox="1"/>
          <p:nvPr/>
        </p:nvSpPr>
        <p:spPr>
          <a:xfrm>
            <a:off x="8183880" y="2011680"/>
            <a:ext cx="3200400" cy="1463040"/>
          </a:xfrm>
          <a:prstGeom prst="rect">
            <a:avLst/>
          </a:prstGeom>
          <a:noFill/>
          <a:ln/>
        </p:spPr>
        <p:txBody>
          <a:bodyPr wrap="square" lIns="0" tIns="0" rIns="0" bIns="0" rtlCol="0" anchor="t"/>
          <a:lstStyle/>
          <a:p>
            <a:pPr indent="0" marL="0">
              <a:buNone/>
            </a:pPr>
            <a:r>
              <a:rPr lang="en-US" sz="3400" b="1" dirty="0">
                <a:solidFill>
                  <a:schemeClr val="bg1"/>
                </a:solidFill>
              </a:rPr>
              <a:t>Mẫu lớn ≠ mẫu đúng</a:t>
            </a:r>
            <a:endParaRPr lang="en-US" sz="3400" dirty="0"/>
          </a:p>
        </p:txBody>
      </p:sp>
      <p:sp>
        <p:nvSpPr>
          <p:cNvPr id="18" name="text-600"/>
          <p:cNvSpPr txBox="1"/>
          <p:nvPr/>
        </p:nvSpPr>
        <p:spPr>
          <a:xfrm>
            <a:off x="8183880" y="3566160"/>
            <a:ext cx="3200400" cy="1920240"/>
          </a:xfrm>
          <a:prstGeom prst="rect">
            <a:avLst/>
          </a:prstGeom>
          <a:noFill/>
          <a:ln/>
        </p:spPr>
        <p:txBody>
          <a:bodyPr wrap="square" lIns="0" tIns="0" rIns="0" bIns="0" rtlCol="0" anchor="t"/>
          <a:lstStyle/>
          <a:p>
            <a:pPr indent="0" marL="0">
              <a:buNone/>
            </a:pPr>
            <a:r>
              <a:rPr lang="en-US" sz="2400" dirty="0">
                <a:solidFill>
                  <a:schemeClr val="bg1"/>
                </a:solidFill>
              </a:rPr>
              <a:t>Hỏi 5.000 người giàu về điện thoại giá rẻ vẫn sai</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Tình báo marketing theo dõi liên tục; nghiên cứu marketing trả lời một câu hỏi cụ thể</a:t>
            </a:r>
            <a:endParaRPr lang="en-US" sz="3000" dirty="0"/>
          </a:p>
        </p:txBody>
      </p:sp>
      <p:sp>
        <p:nvSpPr>
          <p:cNvPr id="4" name="card-601"/>
          <p:cNvSpPr/>
          <p:nvPr/>
        </p:nvSpPr>
        <p:spPr>
          <a:xfrm>
            <a:off x="548640" y="1783080"/>
            <a:ext cx="2606040" cy="2011680"/>
          </a:xfrm>
          <a:prstGeom prst="roundRect">
            <a:avLst>
              <a:gd name="adj" fmla="val 6818"/>
            </a:avLst>
          </a:prstGeom>
          <a:solidFill>
            <a:schemeClr val="bg2"/>
          </a:solidFill>
          <a:ln/>
        </p:spPr>
      </p:sp>
      <p:sp>
        <p:nvSpPr>
          <p:cNvPr id="5" name="text-602"/>
          <p:cNvSpPr txBox="1"/>
          <p:nvPr/>
        </p:nvSpPr>
        <p:spPr>
          <a:xfrm>
            <a:off x="731520" y="1920240"/>
            <a:ext cx="2240280" cy="1051560"/>
          </a:xfrm>
          <a:prstGeom prst="rect">
            <a:avLst/>
          </a:prstGeom>
          <a:noFill/>
          <a:ln/>
        </p:spPr>
        <p:txBody>
          <a:bodyPr wrap="square" lIns="0" tIns="0" rIns="0" bIns="0" rtlCol="0" anchor="ctr"/>
          <a:lstStyle/>
          <a:p>
            <a:pPr indent="0" marL="0">
              <a:buNone/>
            </a:pPr>
            <a:r>
              <a:rPr lang="en-US" sz="2600" b="1" dirty="0">
                <a:solidFill>
                  <a:schemeClr val="accent1"/>
                </a:solidFill>
              </a:rPr>
              <a:t>Báo cáo nội bộ</a:t>
            </a:r>
            <a:endParaRPr lang="en-US" sz="2600" dirty="0"/>
          </a:p>
        </p:txBody>
      </p:sp>
      <p:sp>
        <p:nvSpPr>
          <p:cNvPr id="6" name="text-603"/>
          <p:cNvSpPr txBox="1"/>
          <p:nvPr/>
        </p:nvSpPr>
        <p:spPr>
          <a:xfrm>
            <a:off x="731520" y="3017520"/>
            <a:ext cx="2240280" cy="640080"/>
          </a:xfrm>
          <a:prstGeom prst="rect">
            <a:avLst/>
          </a:prstGeom>
          <a:noFill/>
          <a:ln/>
        </p:spPr>
        <p:txBody>
          <a:bodyPr wrap="square" lIns="0" tIns="0" rIns="0" bIns="0" rtlCol="0" anchor="t"/>
          <a:lstStyle/>
          <a:p>
            <a:pPr indent="0" marL="0">
              <a:buNone/>
            </a:pPr>
            <a:r>
              <a:rPr lang="en-US" sz="2400" dirty="0">
                <a:solidFill>
                  <a:schemeClr val="tx1"/>
                </a:solidFill>
              </a:rPr>
              <a:t>nhìn vào trong</a:t>
            </a:r>
            <a:endParaRPr lang="en-US" sz="2400" dirty="0"/>
          </a:p>
        </p:txBody>
      </p:sp>
      <p:sp>
        <p:nvSpPr>
          <p:cNvPr id="7" name="card-604"/>
          <p:cNvSpPr/>
          <p:nvPr/>
        </p:nvSpPr>
        <p:spPr>
          <a:xfrm>
            <a:off x="3367735" y="1783080"/>
            <a:ext cx="2606040" cy="2011680"/>
          </a:xfrm>
          <a:prstGeom prst="roundRect">
            <a:avLst>
              <a:gd name="adj" fmla="val 6818"/>
            </a:avLst>
          </a:prstGeom>
          <a:solidFill>
            <a:schemeClr val="bg2"/>
          </a:solidFill>
          <a:ln/>
        </p:spPr>
      </p:sp>
      <p:sp>
        <p:nvSpPr>
          <p:cNvPr id="8" name="text-605"/>
          <p:cNvSpPr txBox="1"/>
          <p:nvPr/>
        </p:nvSpPr>
        <p:spPr>
          <a:xfrm>
            <a:off x="3550615" y="1920240"/>
            <a:ext cx="2240280" cy="1051560"/>
          </a:xfrm>
          <a:prstGeom prst="rect">
            <a:avLst/>
          </a:prstGeom>
          <a:noFill/>
          <a:ln/>
        </p:spPr>
        <p:txBody>
          <a:bodyPr wrap="square" lIns="0" tIns="0" rIns="0" bIns="0" rtlCol="0" anchor="ctr"/>
          <a:lstStyle/>
          <a:p>
            <a:pPr indent="0" marL="0">
              <a:buNone/>
            </a:pPr>
            <a:r>
              <a:rPr lang="en-US" sz="2600" b="1" dirty="0">
                <a:solidFill>
                  <a:schemeClr val="accent5"/>
                </a:solidFill>
              </a:rPr>
              <a:t>Tình báo marketing</a:t>
            </a:r>
            <a:endParaRPr lang="en-US" sz="2600" dirty="0"/>
          </a:p>
        </p:txBody>
      </p:sp>
      <p:sp>
        <p:nvSpPr>
          <p:cNvPr id="9" name="text-606"/>
          <p:cNvSpPr txBox="1"/>
          <p:nvPr/>
        </p:nvSpPr>
        <p:spPr>
          <a:xfrm>
            <a:off x="3550615" y="3017520"/>
            <a:ext cx="2240280" cy="640080"/>
          </a:xfrm>
          <a:prstGeom prst="rect">
            <a:avLst/>
          </a:prstGeom>
          <a:noFill/>
          <a:ln/>
        </p:spPr>
        <p:txBody>
          <a:bodyPr wrap="square" lIns="0" tIns="0" rIns="0" bIns="0" rtlCol="0" anchor="t"/>
          <a:lstStyle/>
          <a:p>
            <a:pPr indent="0" marL="0">
              <a:buNone/>
            </a:pPr>
            <a:r>
              <a:rPr lang="en-US" sz="2400" dirty="0">
                <a:solidFill>
                  <a:schemeClr val="tx1"/>
                </a:solidFill>
              </a:rPr>
              <a:t>nhìn ra ngoài</a:t>
            </a:r>
            <a:endParaRPr lang="en-US" sz="2400" dirty="0"/>
          </a:p>
        </p:txBody>
      </p:sp>
      <p:sp>
        <p:nvSpPr>
          <p:cNvPr id="10" name="card-607"/>
          <p:cNvSpPr/>
          <p:nvPr/>
        </p:nvSpPr>
        <p:spPr>
          <a:xfrm>
            <a:off x="6186830" y="1783080"/>
            <a:ext cx="2606040" cy="2011680"/>
          </a:xfrm>
          <a:prstGeom prst="roundRect">
            <a:avLst>
              <a:gd name="adj" fmla="val 6818"/>
            </a:avLst>
          </a:prstGeom>
          <a:solidFill>
            <a:schemeClr val="bg2"/>
          </a:solidFill>
          <a:ln/>
        </p:spPr>
      </p:sp>
      <p:sp>
        <p:nvSpPr>
          <p:cNvPr id="11" name="text-608"/>
          <p:cNvSpPr txBox="1"/>
          <p:nvPr/>
        </p:nvSpPr>
        <p:spPr>
          <a:xfrm>
            <a:off x="6369710" y="1920240"/>
            <a:ext cx="2240280" cy="1051560"/>
          </a:xfrm>
          <a:prstGeom prst="rect">
            <a:avLst/>
          </a:prstGeom>
          <a:noFill/>
          <a:ln/>
        </p:spPr>
        <p:txBody>
          <a:bodyPr wrap="square" lIns="0" tIns="0" rIns="0" bIns="0" rtlCol="0" anchor="ctr"/>
          <a:lstStyle/>
          <a:p>
            <a:pPr indent="0" marL="0">
              <a:buNone/>
            </a:pPr>
            <a:r>
              <a:rPr lang="en-US" sz="2600" b="1" dirty="0">
                <a:solidFill>
                  <a:schemeClr val="accent6"/>
                </a:solidFill>
              </a:rPr>
              <a:t>MDSS</a:t>
            </a:r>
            <a:endParaRPr lang="en-US" sz="2600" dirty="0"/>
          </a:p>
        </p:txBody>
      </p:sp>
      <p:sp>
        <p:nvSpPr>
          <p:cNvPr id="12" name="text-609"/>
          <p:cNvSpPr txBox="1"/>
          <p:nvPr/>
        </p:nvSpPr>
        <p:spPr>
          <a:xfrm>
            <a:off x="6369710" y="3017520"/>
            <a:ext cx="2240280" cy="640080"/>
          </a:xfrm>
          <a:prstGeom prst="rect">
            <a:avLst/>
          </a:prstGeom>
          <a:noFill/>
          <a:ln/>
        </p:spPr>
        <p:txBody>
          <a:bodyPr wrap="square" lIns="0" tIns="0" rIns="0" bIns="0" rtlCol="0" anchor="t"/>
          <a:lstStyle/>
          <a:p>
            <a:pPr indent="0" marL="0">
              <a:buNone/>
            </a:pPr>
            <a:r>
              <a:rPr lang="en-US" sz="2400" dirty="0">
                <a:solidFill>
                  <a:schemeClr val="tx1"/>
                </a:solidFill>
              </a:rPr>
              <a:t>công cụ ra quyết định</a:t>
            </a:r>
            <a:endParaRPr lang="en-US" sz="2400" dirty="0"/>
          </a:p>
        </p:txBody>
      </p:sp>
      <p:sp>
        <p:nvSpPr>
          <p:cNvPr id="13" name="card-610"/>
          <p:cNvSpPr/>
          <p:nvPr/>
        </p:nvSpPr>
        <p:spPr>
          <a:xfrm>
            <a:off x="9005926" y="1783080"/>
            <a:ext cx="2606040" cy="2011680"/>
          </a:xfrm>
          <a:prstGeom prst="roundRect">
            <a:avLst>
              <a:gd name="adj" fmla="val 6818"/>
            </a:avLst>
          </a:prstGeom>
          <a:solidFill>
            <a:schemeClr val="accent3"/>
          </a:solidFill>
          <a:ln/>
        </p:spPr>
      </p:sp>
      <p:sp>
        <p:nvSpPr>
          <p:cNvPr id="14" name="text-611"/>
          <p:cNvSpPr txBox="1"/>
          <p:nvPr/>
        </p:nvSpPr>
        <p:spPr>
          <a:xfrm>
            <a:off x="9188806" y="1920240"/>
            <a:ext cx="2240280" cy="1051560"/>
          </a:xfrm>
          <a:prstGeom prst="rect">
            <a:avLst/>
          </a:prstGeom>
          <a:noFill/>
          <a:ln/>
        </p:spPr>
        <p:txBody>
          <a:bodyPr wrap="square" lIns="0" tIns="0" rIns="0" bIns="0" rtlCol="0" anchor="ctr"/>
          <a:lstStyle/>
          <a:p>
            <a:pPr indent="0" marL="0">
              <a:buNone/>
            </a:pPr>
            <a:r>
              <a:rPr lang="en-US" sz="2600" b="1" dirty="0">
                <a:solidFill>
                  <a:schemeClr val="bg1"/>
                </a:solidFill>
              </a:rPr>
              <a:t>Nghiên cứu marketing</a:t>
            </a:r>
            <a:endParaRPr lang="en-US" sz="2600" dirty="0"/>
          </a:p>
        </p:txBody>
      </p:sp>
      <p:sp>
        <p:nvSpPr>
          <p:cNvPr id="15" name="text-612"/>
          <p:cNvSpPr txBox="1"/>
          <p:nvPr/>
        </p:nvSpPr>
        <p:spPr>
          <a:xfrm>
            <a:off x="9188806" y="3017520"/>
            <a:ext cx="2240280" cy="640080"/>
          </a:xfrm>
          <a:prstGeom prst="rect">
            <a:avLst/>
          </a:prstGeom>
          <a:noFill/>
          <a:ln/>
        </p:spPr>
        <p:txBody>
          <a:bodyPr wrap="square" lIns="0" tIns="0" rIns="0" bIns="0" rtlCol="0" anchor="t"/>
          <a:lstStyle/>
          <a:p>
            <a:pPr indent="0" marL="0">
              <a:buNone/>
            </a:pPr>
            <a:r>
              <a:rPr lang="en-US" sz="2400" dirty="0">
                <a:solidFill>
                  <a:schemeClr val="bg1"/>
                </a:solidFill>
              </a:rPr>
              <a:t>dự án</a:t>
            </a:r>
            <a:endParaRPr lang="en-US" sz="2400" dirty="0"/>
          </a:p>
        </p:txBody>
      </p:sp>
      <p:sp>
        <p:nvSpPr>
          <p:cNvPr id="16" name="text-613"/>
          <p:cNvSpPr txBox="1"/>
          <p:nvPr/>
        </p:nvSpPr>
        <p:spPr>
          <a:xfrm>
            <a:off x="548640" y="4114800"/>
            <a:ext cx="11094415" cy="457200"/>
          </a:xfrm>
          <a:prstGeom prst="rect">
            <a:avLst/>
          </a:prstGeom>
          <a:noFill/>
          <a:ln/>
        </p:spPr>
        <p:txBody>
          <a:bodyPr wrap="square" lIns="0" tIns="0" rIns="0" bIns="0" rtlCol="0" anchor="t"/>
          <a:lstStyle/>
          <a:p>
            <a:pPr indent="0" marL="0">
              <a:buNone/>
            </a:pPr>
            <a:r>
              <a:rPr lang="en-US" sz="2400" dirty="0">
                <a:solidFill>
                  <a:schemeClr val="accent5"/>
                </a:solidFill>
              </a:rPr>
              <a:t>Dòng thông tin liên tục: báo cáo nội bộ &amp; tình báo</a:t>
            </a:r>
            <a:endParaRPr lang="en-US" sz="2400" dirty="0"/>
          </a:p>
        </p:txBody>
      </p:sp>
      <p:sp>
        <p:nvSpPr>
          <p:cNvPr id="17" name="arrow-614"/>
          <p:cNvSpPr/>
          <p:nvPr/>
        </p:nvSpPr>
        <p:spPr>
          <a:xfrm>
            <a:off x="548640" y="4892040"/>
            <a:ext cx="11094415" cy="457200"/>
          </a:xfrm>
          <a:prstGeom prst="rightArrow">
            <a:avLst/>
          </a:prstGeom>
          <a:solidFill>
            <a:schemeClr val="accent5"/>
          </a:solidFill>
          <a:ln/>
        </p:spPr>
      </p:sp>
      <p:sp>
        <p:nvSpPr>
          <p:cNvPr id="18" name="card-615"/>
          <p:cNvSpPr/>
          <p:nvPr/>
        </p:nvSpPr>
        <p:spPr>
          <a:xfrm>
            <a:off x="1463040" y="4617720"/>
            <a:ext cx="2194560" cy="1005840"/>
          </a:xfrm>
          <a:prstGeom prst="roundRect">
            <a:avLst>
              <a:gd name="adj" fmla="val 13636"/>
            </a:avLst>
          </a:prstGeom>
          <a:solidFill>
            <a:schemeClr val="accent3"/>
          </a:solidFill>
          <a:ln/>
        </p:spPr>
      </p:sp>
      <p:sp>
        <p:nvSpPr>
          <p:cNvPr id="19" name="text-616"/>
          <p:cNvSpPr txBox="1"/>
          <p:nvPr/>
        </p:nvSpPr>
        <p:spPr>
          <a:xfrm>
            <a:off x="1463040" y="4617720"/>
            <a:ext cx="219456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NC</a:t>
            </a:r>
            <a:endParaRPr lang="en-US" sz="2400" dirty="0"/>
          </a:p>
        </p:txBody>
      </p:sp>
      <p:sp>
        <p:nvSpPr>
          <p:cNvPr id="20" name="card-617"/>
          <p:cNvSpPr/>
          <p:nvPr/>
        </p:nvSpPr>
        <p:spPr>
          <a:xfrm>
            <a:off x="4937760" y="4617720"/>
            <a:ext cx="2194560" cy="1005840"/>
          </a:xfrm>
          <a:prstGeom prst="roundRect">
            <a:avLst>
              <a:gd name="adj" fmla="val 13636"/>
            </a:avLst>
          </a:prstGeom>
          <a:solidFill>
            <a:schemeClr val="accent3"/>
          </a:solidFill>
          <a:ln/>
        </p:spPr>
      </p:sp>
      <p:sp>
        <p:nvSpPr>
          <p:cNvPr id="21" name="text-618"/>
          <p:cNvSpPr txBox="1"/>
          <p:nvPr/>
        </p:nvSpPr>
        <p:spPr>
          <a:xfrm>
            <a:off x="4937760" y="4617720"/>
            <a:ext cx="219456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NC</a:t>
            </a:r>
            <a:endParaRPr lang="en-US" sz="2400" dirty="0"/>
          </a:p>
        </p:txBody>
      </p:sp>
      <p:sp>
        <p:nvSpPr>
          <p:cNvPr id="22" name="card-619"/>
          <p:cNvSpPr/>
          <p:nvPr/>
        </p:nvSpPr>
        <p:spPr>
          <a:xfrm>
            <a:off x="8412480" y="4617720"/>
            <a:ext cx="2194560" cy="1005840"/>
          </a:xfrm>
          <a:prstGeom prst="roundRect">
            <a:avLst>
              <a:gd name="adj" fmla="val 13636"/>
            </a:avLst>
          </a:prstGeom>
          <a:solidFill>
            <a:schemeClr val="accent3"/>
          </a:solidFill>
          <a:ln/>
        </p:spPr>
      </p:sp>
      <p:sp>
        <p:nvSpPr>
          <p:cNvPr id="23" name="text-620"/>
          <p:cNvSpPr txBox="1"/>
          <p:nvPr/>
        </p:nvSpPr>
        <p:spPr>
          <a:xfrm>
            <a:off x="8412480" y="4617720"/>
            <a:ext cx="219456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NC</a:t>
            </a:r>
            <a:endParaRPr lang="en-US" sz="2400" dirty="0"/>
          </a:p>
        </p:txBody>
      </p:sp>
      <p:sp>
        <p:nvSpPr>
          <p:cNvPr id="24" name="text-621"/>
          <p:cNvSpPr txBox="1"/>
          <p:nvPr/>
        </p:nvSpPr>
        <p:spPr>
          <a:xfrm>
            <a:off x="548640" y="5760720"/>
            <a:ext cx="7315200" cy="457200"/>
          </a:xfrm>
          <a:prstGeom prst="rect">
            <a:avLst/>
          </a:prstGeom>
          <a:noFill/>
          <a:ln/>
        </p:spPr>
        <p:txBody>
          <a:bodyPr wrap="square" lIns="0" tIns="0" rIns="0" bIns="0" rtlCol="0" anchor="t"/>
          <a:lstStyle/>
          <a:p>
            <a:pPr indent="0" marL="0">
              <a:buNone/>
            </a:pPr>
            <a:r>
              <a:rPr lang="en-US" sz="2400" dirty="0">
                <a:solidFill>
                  <a:schemeClr val="accent3"/>
                </a:solidFill>
              </a:rPr>
              <a:t>Nghiên cứu: từng dự án rời rạc</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Bạn sẽ hoặc làm, hoặc dùng nghiên cứu — người dùng giỏi biết nghiên cứu nào đáng tin</a:t>
            </a:r>
            <a:endParaRPr lang="en-US" sz="3000" dirty="0"/>
          </a:p>
        </p:txBody>
      </p:sp>
      <p:sp>
        <p:nvSpPr>
          <p:cNvPr id="4" name="text-622"/>
          <p:cNvSpPr txBox="1"/>
          <p:nvPr/>
        </p:nvSpPr>
        <p:spPr>
          <a:xfrm>
            <a:off x="548640" y="1691640"/>
            <a:ext cx="6675120" cy="502920"/>
          </a:xfrm>
          <a:prstGeom prst="rect">
            <a:avLst/>
          </a:prstGeom>
          <a:noFill/>
          <a:ln/>
        </p:spPr>
        <p:txBody>
          <a:bodyPr wrap="square" lIns="0" tIns="0" rIns="0" bIns="0" rtlCol="0" anchor="t"/>
          <a:lstStyle/>
          <a:p>
            <a:pPr indent="0" marL="0">
              <a:buNone/>
            </a:pPr>
            <a:r>
              <a:rPr lang="en-US" sz="2800" b="1" dirty="0">
                <a:solidFill>
                  <a:schemeClr val="accent2"/>
                </a:solidFill>
              </a:rPr>
              <a:t>Người thực hiện</a:t>
            </a:r>
            <a:endParaRPr lang="en-US" sz="2800" dirty="0"/>
          </a:p>
        </p:txBody>
      </p:sp>
      <p:sp>
        <p:nvSpPr>
          <p:cNvPr id="5" name="card-623"/>
          <p:cNvSpPr/>
          <p:nvPr/>
        </p:nvSpPr>
        <p:spPr>
          <a:xfrm>
            <a:off x="548640" y="2286000"/>
            <a:ext cx="6858000" cy="1188720"/>
          </a:xfrm>
          <a:prstGeom prst="roundRect">
            <a:avLst>
              <a:gd name="adj" fmla="val 11538"/>
            </a:avLst>
          </a:prstGeom>
          <a:solidFill>
            <a:schemeClr val="bg2"/>
          </a:solidFill>
          <a:ln/>
        </p:spPr>
      </p:sp>
      <p:sp>
        <p:nvSpPr>
          <p:cNvPr id="6" name="text-624"/>
          <p:cNvSpPr txBox="1"/>
          <p:nvPr/>
        </p:nvSpPr>
        <p:spPr>
          <a:xfrm>
            <a:off x="777240" y="2377440"/>
            <a:ext cx="6217920" cy="457200"/>
          </a:xfrm>
          <a:prstGeom prst="rect">
            <a:avLst/>
          </a:prstGeom>
          <a:noFill/>
          <a:ln/>
        </p:spPr>
        <p:txBody>
          <a:bodyPr wrap="square" lIns="0" tIns="0" rIns="0" bIns="0" rtlCol="0" anchor="t"/>
          <a:lstStyle/>
          <a:p>
            <a:pPr indent="0" marL="0">
              <a:buNone/>
            </a:pPr>
            <a:r>
              <a:rPr lang="en-US" sz="2400" b="1" dirty="0">
                <a:solidFill>
                  <a:schemeClr val="accent1"/>
                </a:solidFill>
              </a:rPr>
              <a:t>Nội bộ</a:t>
            </a:r>
            <a:endParaRPr lang="en-US" sz="2400" dirty="0"/>
          </a:p>
        </p:txBody>
      </p:sp>
      <p:sp>
        <p:nvSpPr>
          <p:cNvPr id="7" name="text-625"/>
          <p:cNvSpPr txBox="1"/>
          <p:nvPr/>
        </p:nvSpPr>
        <p:spPr>
          <a:xfrm>
            <a:off x="777240" y="2880360"/>
            <a:ext cx="6537960" cy="457200"/>
          </a:xfrm>
          <a:prstGeom prst="rect">
            <a:avLst/>
          </a:prstGeom>
          <a:noFill/>
          <a:ln/>
        </p:spPr>
        <p:txBody>
          <a:bodyPr wrap="square" lIns="0" tIns="0" rIns="0" bIns="0" rtlCol="0" anchor="t"/>
          <a:lstStyle/>
          <a:p>
            <a:pPr indent="0" marL="0">
              <a:buNone/>
            </a:pPr>
            <a:r>
              <a:rPr lang="en-US" sz="2400" dirty="0">
                <a:solidFill>
                  <a:schemeClr val="accent1"/>
                </a:solidFill>
              </a:rPr>
              <a:t>+ hiểu DN, rẻ</a:t>
            </a:r>
            <a:pPr indent="0" marL="0">
              <a:buNone/>
            </a:pPr>
            <a:r>
              <a:rPr lang="en-US" sz="2400" dirty="0">
                <a:solidFill>
                  <a:schemeClr val="accent3"/>
                </a:solidFill>
              </a:rPr>
              <a:t>   − dễ chủ quan</a:t>
            </a:r>
            <a:endParaRPr lang="en-US" sz="2400" dirty="0"/>
          </a:p>
        </p:txBody>
      </p:sp>
      <p:sp>
        <p:nvSpPr>
          <p:cNvPr id="8" name="card-626"/>
          <p:cNvSpPr/>
          <p:nvPr/>
        </p:nvSpPr>
        <p:spPr>
          <a:xfrm>
            <a:off x="548640" y="3584448"/>
            <a:ext cx="6858000" cy="1188720"/>
          </a:xfrm>
          <a:prstGeom prst="roundRect">
            <a:avLst>
              <a:gd name="adj" fmla="val 11538"/>
            </a:avLst>
          </a:prstGeom>
          <a:solidFill>
            <a:schemeClr val="bg2"/>
          </a:solidFill>
          <a:ln/>
        </p:spPr>
      </p:sp>
      <p:sp>
        <p:nvSpPr>
          <p:cNvPr id="9" name="text-627"/>
          <p:cNvSpPr txBox="1"/>
          <p:nvPr/>
        </p:nvSpPr>
        <p:spPr>
          <a:xfrm>
            <a:off x="777240" y="3675888"/>
            <a:ext cx="6217920" cy="457200"/>
          </a:xfrm>
          <a:prstGeom prst="rect">
            <a:avLst/>
          </a:prstGeom>
          <a:noFill/>
          <a:ln/>
        </p:spPr>
        <p:txBody>
          <a:bodyPr wrap="square" lIns="0" tIns="0" rIns="0" bIns="0" rtlCol="0" anchor="t"/>
          <a:lstStyle/>
          <a:p>
            <a:pPr indent="0" marL="0">
              <a:buNone/>
            </a:pPr>
            <a:r>
              <a:rPr lang="en-US" sz="2400" b="1" dirty="0">
                <a:solidFill>
                  <a:schemeClr val="accent5"/>
                </a:solidFill>
              </a:rPr>
              <a:t>Công ty chuyên nghiệp</a:t>
            </a:r>
            <a:endParaRPr lang="en-US" sz="2400" dirty="0"/>
          </a:p>
        </p:txBody>
      </p:sp>
      <p:sp>
        <p:nvSpPr>
          <p:cNvPr id="10" name="text-628"/>
          <p:cNvSpPr txBox="1"/>
          <p:nvPr/>
        </p:nvSpPr>
        <p:spPr>
          <a:xfrm>
            <a:off x="777240" y="4178808"/>
            <a:ext cx="6537960" cy="457200"/>
          </a:xfrm>
          <a:prstGeom prst="rect">
            <a:avLst/>
          </a:prstGeom>
          <a:noFill/>
          <a:ln/>
        </p:spPr>
        <p:txBody>
          <a:bodyPr wrap="square" lIns="0" tIns="0" rIns="0" bIns="0" rtlCol="0" anchor="t"/>
          <a:lstStyle/>
          <a:p>
            <a:pPr indent="0" marL="0">
              <a:buNone/>
            </a:pPr>
            <a:r>
              <a:rPr lang="en-US" sz="2400" dirty="0">
                <a:solidFill>
                  <a:schemeClr val="accent1"/>
                </a:solidFill>
              </a:rPr>
              <a:t>+ chuyên sâu, khách quan</a:t>
            </a:r>
            <a:pPr indent="0" marL="0">
              <a:buNone/>
            </a:pPr>
            <a:r>
              <a:rPr lang="en-US" sz="2400" dirty="0">
                <a:solidFill>
                  <a:schemeClr val="accent3"/>
                </a:solidFill>
              </a:rPr>
              <a:t>   − chi phí cao</a:t>
            </a:r>
            <a:endParaRPr lang="en-US" sz="2400" dirty="0"/>
          </a:p>
        </p:txBody>
      </p:sp>
      <p:sp>
        <p:nvSpPr>
          <p:cNvPr id="11" name="card-629"/>
          <p:cNvSpPr/>
          <p:nvPr/>
        </p:nvSpPr>
        <p:spPr>
          <a:xfrm>
            <a:off x="548640" y="4882896"/>
            <a:ext cx="6858000" cy="1188720"/>
          </a:xfrm>
          <a:prstGeom prst="roundRect">
            <a:avLst>
              <a:gd name="adj" fmla="val 11538"/>
            </a:avLst>
          </a:prstGeom>
          <a:solidFill>
            <a:schemeClr val="bg2"/>
          </a:solidFill>
          <a:ln/>
        </p:spPr>
      </p:sp>
      <p:sp>
        <p:nvSpPr>
          <p:cNvPr id="12" name="text-630"/>
          <p:cNvSpPr txBox="1"/>
          <p:nvPr/>
        </p:nvSpPr>
        <p:spPr>
          <a:xfrm>
            <a:off x="777240" y="4974336"/>
            <a:ext cx="6217920" cy="457200"/>
          </a:xfrm>
          <a:prstGeom prst="rect">
            <a:avLst/>
          </a:prstGeom>
          <a:noFill/>
          <a:ln/>
        </p:spPr>
        <p:txBody>
          <a:bodyPr wrap="square" lIns="0" tIns="0" rIns="0" bIns="0" rtlCol="0" anchor="t"/>
          <a:lstStyle/>
          <a:p>
            <a:pPr indent="0" marL="0">
              <a:buNone/>
            </a:pPr>
            <a:r>
              <a:rPr lang="en-US" sz="2400" b="1" dirty="0">
                <a:solidFill>
                  <a:schemeClr val="accent6"/>
                </a:solidFill>
              </a:rPr>
              <a:t>Cơ quan nhà nước</a:t>
            </a:r>
            <a:endParaRPr lang="en-US" sz="2400" dirty="0"/>
          </a:p>
        </p:txBody>
      </p:sp>
      <p:sp>
        <p:nvSpPr>
          <p:cNvPr id="13" name="text-631"/>
          <p:cNvSpPr txBox="1"/>
          <p:nvPr/>
        </p:nvSpPr>
        <p:spPr>
          <a:xfrm>
            <a:off x="777240" y="5477256"/>
            <a:ext cx="6537960" cy="457200"/>
          </a:xfrm>
          <a:prstGeom prst="rect">
            <a:avLst/>
          </a:prstGeom>
          <a:noFill/>
          <a:ln/>
        </p:spPr>
        <p:txBody>
          <a:bodyPr wrap="square" lIns="0" tIns="0" rIns="0" bIns="0" rtlCol="0" anchor="t"/>
          <a:lstStyle/>
          <a:p>
            <a:pPr indent="0" marL="0">
              <a:buNone/>
            </a:pPr>
            <a:r>
              <a:rPr lang="en-US" sz="2400" dirty="0">
                <a:solidFill>
                  <a:schemeClr val="accent1"/>
                </a:solidFill>
              </a:rPr>
              <a:t>+ vĩ mô, miễn phí</a:t>
            </a:r>
            <a:pPr indent="0" marL="0">
              <a:buNone/>
            </a:pPr>
            <a:r>
              <a:rPr lang="en-US" sz="2400" dirty="0">
                <a:solidFill>
                  <a:schemeClr val="accent3"/>
                </a:solidFill>
              </a:rPr>
              <a:t>   − không theo yêu cầu</a:t>
            </a:r>
            <a:endParaRPr lang="en-US" sz="2400" dirty="0"/>
          </a:p>
        </p:txBody>
      </p:sp>
      <p:sp>
        <p:nvSpPr>
          <p:cNvPr id="14" name="text-632"/>
          <p:cNvSpPr txBox="1"/>
          <p:nvPr/>
        </p:nvSpPr>
        <p:spPr>
          <a:xfrm>
            <a:off x="7726680" y="1691640"/>
            <a:ext cx="3913632" cy="502920"/>
          </a:xfrm>
          <a:prstGeom prst="rect">
            <a:avLst/>
          </a:prstGeom>
          <a:noFill/>
          <a:ln/>
        </p:spPr>
        <p:txBody>
          <a:bodyPr wrap="square" lIns="0" tIns="0" rIns="0" bIns="0" rtlCol="0" anchor="t"/>
          <a:lstStyle/>
          <a:p>
            <a:pPr indent="0" marL="0">
              <a:buNone/>
            </a:pPr>
            <a:r>
              <a:rPr lang="en-US" sz="2800" b="1" dirty="0">
                <a:solidFill>
                  <a:schemeClr val="accent2"/>
                </a:solidFill>
              </a:rPr>
              <a:t>Người sử dụng</a:t>
            </a:r>
            <a:endParaRPr lang="en-US" sz="2800" dirty="0"/>
          </a:p>
        </p:txBody>
      </p:sp>
      <p:sp>
        <p:nvSpPr>
          <p:cNvPr id="15" name="card-633"/>
          <p:cNvSpPr/>
          <p:nvPr/>
        </p:nvSpPr>
        <p:spPr>
          <a:xfrm>
            <a:off x="7726680" y="2286000"/>
            <a:ext cx="3913632" cy="3785616"/>
          </a:xfrm>
          <a:prstGeom prst="roundRect">
            <a:avLst>
              <a:gd name="adj" fmla="val 3623"/>
            </a:avLst>
          </a:prstGeom>
          <a:solidFill>
            <a:schemeClr val="bg2"/>
          </a:solidFill>
          <a:ln/>
        </p:spPr>
      </p:sp>
      <p:sp>
        <p:nvSpPr>
          <p:cNvPr id="16" name="text-634"/>
          <p:cNvSpPr txBox="1"/>
          <p:nvPr/>
        </p:nvSpPr>
        <p:spPr>
          <a:xfrm>
            <a:off x="7955280" y="2423160"/>
            <a:ext cx="3657600" cy="457200"/>
          </a:xfrm>
          <a:prstGeom prst="rect">
            <a:avLst/>
          </a:prstGeom>
          <a:noFill/>
          <a:ln/>
        </p:spPr>
        <p:txBody>
          <a:bodyPr wrap="square" lIns="0" tIns="0" rIns="0" bIns="0" rtlCol="0" anchor="t"/>
          <a:lstStyle/>
          <a:p>
            <a:pPr indent="0" marL="0">
              <a:buNone/>
            </a:pPr>
            <a:r>
              <a:rPr lang="en-US" sz="2400" b="1" dirty="0">
                <a:solidFill>
                  <a:schemeClr val="tx1"/>
                </a:solidFill>
              </a:rPr>
              <a:t>Nhà quản lý nội bộ</a:t>
            </a:r>
            <a:endParaRPr lang="en-US" sz="2400" dirty="0"/>
          </a:p>
        </p:txBody>
      </p:sp>
      <p:sp>
        <p:nvSpPr>
          <p:cNvPr id="17" name="text-635"/>
          <p:cNvSpPr txBox="1"/>
          <p:nvPr/>
        </p:nvSpPr>
        <p:spPr>
          <a:xfrm>
            <a:off x="7955280" y="2971800"/>
            <a:ext cx="3657600" cy="457200"/>
          </a:xfrm>
          <a:prstGeom prst="rect">
            <a:avLst/>
          </a:prstGeom>
          <a:noFill/>
          <a:ln/>
        </p:spPr>
        <p:txBody>
          <a:bodyPr wrap="square" lIns="0" tIns="0" rIns="0" bIns="0" rtlCol="0" anchor="t"/>
          <a:lstStyle/>
          <a:p>
            <a:pPr indent="0" marL="0">
              <a:buNone/>
            </a:pPr>
            <a:r>
              <a:rPr lang="en-US" sz="2400" b="1" dirty="0">
                <a:solidFill>
                  <a:schemeClr val="tx1"/>
                </a:solidFill>
              </a:rPr>
              <a:t>Bên mua thông tin xét:</a:t>
            </a:r>
            <a:endParaRPr lang="en-US" sz="2400" dirty="0"/>
          </a:p>
        </p:txBody>
      </p:sp>
      <p:sp>
        <p:nvSpPr>
          <p:cNvPr id="18" name="text-636"/>
          <p:cNvSpPr txBox="1"/>
          <p:nvPr/>
        </p:nvSpPr>
        <p:spPr>
          <a:xfrm>
            <a:off x="7955280" y="3474720"/>
            <a:ext cx="3611880" cy="2377440"/>
          </a:xfrm>
          <a:prstGeom prst="rect">
            <a:avLst/>
          </a:prstGeom>
          <a:noFill/>
          <a:ln/>
        </p:spPr>
        <p:txBody>
          <a:bodyPr wrap="square" lIns="0" tIns="0" rIns="0" bIns="0" rtlCol="0" anchor="t"/>
          <a:lstStyle/>
          <a:p>
            <a:pPr indent="0" marL="0">
              <a:buNone/>
            </a:pPr>
            <a:r>
              <a:rPr lang="en-US" sz="2400" dirty="0">
                <a:solidFill>
                  <a:schemeClr val="tx2"/>
                </a:solidFill>
              </a:rPr>
              <a:t>uy tín · phù hợp · cập nhật · phương pháp · tốc độ · chi phí</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câu hỏi kiểm tra nhanh</a:t>
            </a:r>
            <a:endParaRPr lang="en-US" sz="3000" dirty="0"/>
          </a:p>
        </p:txBody>
      </p:sp>
      <p:sp>
        <p:nvSpPr>
          <p:cNvPr id="4" name="dot-637"/>
          <p:cNvSpPr/>
          <p:nvPr/>
        </p:nvSpPr>
        <p:spPr>
          <a:xfrm>
            <a:off x="548640" y="1920240"/>
            <a:ext cx="960120" cy="960120"/>
          </a:xfrm>
          <a:prstGeom prst="ellipse">
            <a:avLst/>
          </a:prstGeom>
          <a:solidFill>
            <a:schemeClr val="accent1"/>
          </a:solidFill>
          <a:ln/>
        </p:spPr>
      </p:sp>
      <p:sp>
        <p:nvSpPr>
          <p:cNvPr id="5" name="text-638"/>
          <p:cNvSpPr txBox="1"/>
          <p:nvPr/>
        </p:nvSpPr>
        <p:spPr>
          <a:xfrm>
            <a:off x="548640" y="192024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p:txBody>
      </p:sp>
      <p:sp>
        <p:nvSpPr>
          <p:cNvPr id="6" name="card-639"/>
          <p:cNvSpPr/>
          <p:nvPr/>
        </p:nvSpPr>
        <p:spPr>
          <a:xfrm>
            <a:off x="1783080" y="1828800"/>
            <a:ext cx="9857232" cy="1143000"/>
          </a:xfrm>
          <a:prstGeom prst="roundRect">
            <a:avLst>
              <a:gd name="adj" fmla="val 12000"/>
            </a:avLst>
          </a:prstGeom>
          <a:solidFill>
            <a:schemeClr val="bg2"/>
          </a:solidFill>
          <a:ln/>
        </p:spPr>
      </p:sp>
      <p:sp>
        <p:nvSpPr>
          <p:cNvPr id="7" name="text-640"/>
          <p:cNvSpPr txBox="1"/>
          <p:nvPr/>
        </p:nvSpPr>
        <p:spPr>
          <a:xfrm>
            <a:off x="2103120" y="1828800"/>
            <a:ext cx="9326880" cy="1143000"/>
          </a:xfrm>
          <a:prstGeom prst="rect">
            <a:avLst/>
          </a:prstGeom>
          <a:noFill/>
          <a:ln/>
        </p:spPr>
        <p:txBody>
          <a:bodyPr wrap="square" lIns="0" tIns="0" rIns="0" bIns="0" rtlCol="0" anchor="ctr"/>
          <a:lstStyle/>
          <a:p>
            <a:pPr indent="0" marL="0">
              <a:buNone/>
            </a:pPr>
            <a:r>
              <a:rPr lang="en-US" sz="2800" dirty="0">
                <a:solidFill>
                  <a:schemeClr val="tx1"/>
                </a:solidFill>
              </a:rPr>
              <a:t>Bước nào quan trọng nhất? Vì sao?</a:t>
            </a:r>
            <a:endParaRPr lang="en-US" sz="2800" dirty="0"/>
          </a:p>
        </p:txBody>
      </p:sp>
      <p:sp>
        <p:nvSpPr>
          <p:cNvPr id="8" name="dot-641"/>
          <p:cNvSpPr/>
          <p:nvPr/>
        </p:nvSpPr>
        <p:spPr>
          <a:xfrm>
            <a:off x="548640" y="3337560"/>
            <a:ext cx="960120" cy="960120"/>
          </a:xfrm>
          <a:prstGeom prst="ellipse">
            <a:avLst/>
          </a:prstGeom>
          <a:solidFill>
            <a:schemeClr val="accent5"/>
          </a:solidFill>
          <a:ln/>
        </p:spPr>
      </p:sp>
      <p:sp>
        <p:nvSpPr>
          <p:cNvPr id="9" name="text-642"/>
          <p:cNvSpPr txBox="1"/>
          <p:nvPr/>
        </p:nvSpPr>
        <p:spPr>
          <a:xfrm>
            <a:off x="548640" y="333756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2</a:t>
            </a:r>
            <a:endParaRPr lang="en-US" sz="3600" dirty="0"/>
          </a:p>
        </p:txBody>
      </p:sp>
      <p:sp>
        <p:nvSpPr>
          <p:cNvPr id="10" name="card-643"/>
          <p:cNvSpPr/>
          <p:nvPr/>
        </p:nvSpPr>
        <p:spPr>
          <a:xfrm>
            <a:off x="1783080" y="3246120"/>
            <a:ext cx="9857232" cy="1143000"/>
          </a:xfrm>
          <a:prstGeom prst="roundRect">
            <a:avLst>
              <a:gd name="adj" fmla="val 12000"/>
            </a:avLst>
          </a:prstGeom>
          <a:solidFill>
            <a:schemeClr val="bg2"/>
          </a:solidFill>
          <a:ln/>
        </p:spPr>
      </p:sp>
      <p:sp>
        <p:nvSpPr>
          <p:cNvPr id="11" name="text-644"/>
          <p:cNvSpPr txBox="1"/>
          <p:nvPr/>
        </p:nvSpPr>
        <p:spPr>
          <a:xfrm>
            <a:off x="2103120" y="3246120"/>
            <a:ext cx="9326880" cy="1143000"/>
          </a:xfrm>
          <a:prstGeom prst="rect">
            <a:avLst/>
          </a:prstGeom>
          <a:noFill/>
          <a:ln/>
        </p:spPr>
        <p:txBody>
          <a:bodyPr wrap="square" lIns="0" tIns="0" rIns="0" bIns="0" rtlCol="0" anchor="ctr"/>
          <a:lstStyle/>
          <a:p>
            <a:pPr indent="0" marL="0">
              <a:buNone/>
            </a:pPr>
            <a:r>
              <a:rPr lang="en-US" sz="2800" dirty="0">
                <a:solidFill>
                  <a:schemeClr val="tx1"/>
                </a:solidFill>
              </a:rPr>
              <a:t>Nghiên cứu marketing khác tình báo marketing ở đâu?</a:t>
            </a:r>
            <a:endParaRPr lang="en-US" sz="2800" dirty="0"/>
          </a:p>
        </p:txBody>
      </p:sp>
      <p:sp>
        <p:nvSpPr>
          <p:cNvPr id="12" name="dot-645"/>
          <p:cNvSpPr/>
          <p:nvPr/>
        </p:nvSpPr>
        <p:spPr>
          <a:xfrm>
            <a:off x="548640" y="4754880"/>
            <a:ext cx="960120" cy="960120"/>
          </a:xfrm>
          <a:prstGeom prst="ellipse">
            <a:avLst/>
          </a:prstGeom>
          <a:solidFill>
            <a:schemeClr val="accent6"/>
          </a:solidFill>
          <a:ln/>
        </p:spPr>
      </p:sp>
      <p:sp>
        <p:nvSpPr>
          <p:cNvPr id="13" name="text-646"/>
          <p:cNvSpPr txBox="1"/>
          <p:nvPr/>
        </p:nvSpPr>
        <p:spPr>
          <a:xfrm>
            <a:off x="548640" y="475488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3</a:t>
            </a:r>
            <a:endParaRPr lang="en-US" sz="3600" dirty="0"/>
          </a:p>
        </p:txBody>
      </p:sp>
      <p:sp>
        <p:nvSpPr>
          <p:cNvPr id="14" name="card-647"/>
          <p:cNvSpPr/>
          <p:nvPr/>
        </p:nvSpPr>
        <p:spPr>
          <a:xfrm>
            <a:off x="1783080" y="4663440"/>
            <a:ext cx="9857232" cy="1143000"/>
          </a:xfrm>
          <a:prstGeom prst="roundRect">
            <a:avLst>
              <a:gd name="adj" fmla="val 12000"/>
            </a:avLst>
          </a:prstGeom>
          <a:solidFill>
            <a:schemeClr val="bg2"/>
          </a:solidFill>
          <a:ln/>
        </p:spPr>
      </p:sp>
      <p:sp>
        <p:nvSpPr>
          <p:cNvPr id="15" name="text-648"/>
          <p:cNvSpPr txBox="1"/>
          <p:nvPr/>
        </p:nvSpPr>
        <p:spPr>
          <a:xfrm>
            <a:off x="2103120" y="4663440"/>
            <a:ext cx="9326880" cy="1143000"/>
          </a:xfrm>
          <a:prstGeom prst="rect">
            <a:avLst/>
          </a:prstGeom>
          <a:noFill/>
          <a:ln/>
        </p:spPr>
        <p:txBody>
          <a:bodyPr wrap="square" lIns="0" tIns="0" rIns="0" bIns="0" rtlCol="0" anchor="ctr"/>
          <a:lstStyle/>
          <a:p>
            <a:pPr indent="0" marL="0">
              <a:buNone/>
            </a:pPr>
            <a:r>
              <a:rPr lang="en-US" sz="2800" dirty="0">
                <a:solidFill>
                  <a:schemeClr val="tx1"/>
                </a:solidFill>
              </a:rPr>
              <a:t>Doanh nghiệp nhỏ nên tự làm hay thuê công ty nghiên cứu?</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Xưởng đề tài (45'): từ quyết định kinh doanh đến vấn đề nghiên cứu</a:t>
            </a:r>
            <a:endParaRPr lang="en-US" sz="3000" dirty="0"/>
          </a:p>
        </p:txBody>
      </p:sp>
      <p:sp>
        <p:nvSpPr>
          <p:cNvPr id="4" name="card-649"/>
          <p:cNvSpPr/>
          <p:nvPr/>
        </p:nvSpPr>
        <p:spPr>
          <a:xfrm>
            <a:off x="548640" y="1783080"/>
            <a:ext cx="2606040" cy="3246120"/>
          </a:xfrm>
          <a:prstGeom prst="roundRect">
            <a:avLst>
              <a:gd name="adj" fmla="val 5263"/>
            </a:avLst>
          </a:prstGeom>
          <a:solidFill>
            <a:schemeClr val="bg2"/>
          </a:solidFill>
          <a:ln/>
        </p:spPr>
      </p:sp>
      <p:sp>
        <p:nvSpPr>
          <p:cNvPr id="5" name="text-650"/>
          <p:cNvSpPr txBox="1"/>
          <p:nvPr/>
        </p:nvSpPr>
        <p:spPr>
          <a:xfrm>
            <a:off x="777240" y="1920240"/>
            <a:ext cx="2148840" cy="914400"/>
          </a:xfrm>
          <a:prstGeom prst="rect">
            <a:avLst/>
          </a:prstGeom>
          <a:noFill/>
          <a:ln/>
        </p:spPr>
        <p:txBody>
          <a:bodyPr wrap="square" lIns="0" tIns="0" rIns="0" bIns="0" rtlCol="0" anchor="t"/>
          <a:lstStyle/>
          <a:p>
            <a:pPr indent="0" marL="0">
              <a:buNone/>
            </a:pPr>
            <a:r>
              <a:rPr lang="en-US" sz="4800" b="1" dirty="0">
                <a:solidFill>
                  <a:schemeClr val="accent1"/>
                </a:solidFill>
              </a:rPr>
              <a:t>10'</a:t>
            </a:r>
            <a:endParaRPr lang="en-US" sz="4800" dirty="0"/>
          </a:p>
        </p:txBody>
      </p:sp>
      <p:sp>
        <p:nvSpPr>
          <p:cNvPr id="6" name="text-651"/>
          <p:cNvSpPr txBox="1"/>
          <p:nvPr/>
        </p:nvSpPr>
        <p:spPr>
          <a:xfrm>
            <a:off x="777240" y="283464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1</a:t>
            </a:r>
            <a:endParaRPr lang="en-US" sz="2400" dirty="0"/>
          </a:p>
        </p:txBody>
      </p:sp>
      <p:sp>
        <p:nvSpPr>
          <p:cNvPr id="7" name="text-652"/>
          <p:cNvSpPr txBox="1"/>
          <p:nvPr/>
        </p:nvSpPr>
        <p:spPr>
          <a:xfrm>
            <a:off x="777240" y="3291840"/>
            <a:ext cx="2194560" cy="1645920"/>
          </a:xfrm>
          <a:prstGeom prst="rect">
            <a:avLst/>
          </a:prstGeom>
          <a:noFill/>
          <a:ln/>
        </p:spPr>
        <p:txBody>
          <a:bodyPr wrap="square" lIns="0" tIns="0" rIns="0" bIns="0" rtlCol="0" anchor="t"/>
          <a:lstStyle/>
          <a:p>
            <a:pPr indent="0" marL="0">
              <a:buNone/>
            </a:pPr>
            <a:r>
              <a:rPr lang="en-US" sz="2400" b="1" dirty="0">
                <a:solidFill>
                  <a:schemeClr val="tx1"/>
                </a:solidFill>
              </a:rPr>
              <a:t>Lập nhóm &amp; chọn lĩnh vực</a:t>
            </a:r>
            <a:endParaRPr lang="en-US" sz="2400" dirty="0"/>
          </a:p>
        </p:txBody>
      </p:sp>
      <p:sp>
        <p:nvSpPr>
          <p:cNvPr id="8" name="card-653"/>
          <p:cNvSpPr/>
          <p:nvPr/>
        </p:nvSpPr>
        <p:spPr>
          <a:xfrm>
            <a:off x="3367735" y="1783080"/>
            <a:ext cx="2606040" cy="3246120"/>
          </a:xfrm>
          <a:prstGeom prst="roundRect">
            <a:avLst>
              <a:gd name="adj" fmla="val 5263"/>
            </a:avLst>
          </a:prstGeom>
          <a:solidFill>
            <a:schemeClr val="bg2"/>
          </a:solidFill>
          <a:ln/>
        </p:spPr>
      </p:sp>
      <p:sp>
        <p:nvSpPr>
          <p:cNvPr id="9" name="text-654"/>
          <p:cNvSpPr txBox="1"/>
          <p:nvPr/>
        </p:nvSpPr>
        <p:spPr>
          <a:xfrm>
            <a:off x="3596335" y="1920240"/>
            <a:ext cx="2148840" cy="914400"/>
          </a:xfrm>
          <a:prstGeom prst="rect">
            <a:avLst/>
          </a:prstGeom>
          <a:noFill/>
          <a:ln/>
        </p:spPr>
        <p:txBody>
          <a:bodyPr wrap="square" lIns="0" tIns="0" rIns="0" bIns="0" rtlCol="0" anchor="t"/>
          <a:lstStyle/>
          <a:p>
            <a:pPr indent="0" marL="0">
              <a:buNone/>
            </a:pPr>
            <a:r>
              <a:rPr lang="en-US" sz="4800" b="1" dirty="0">
                <a:solidFill>
                  <a:schemeClr val="accent2"/>
                </a:solidFill>
              </a:rPr>
              <a:t>10'</a:t>
            </a:r>
            <a:endParaRPr lang="en-US" sz="4800" dirty="0"/>
          </a:p>
        </p:txBody>
      </p:sp>
      <p:sp>
        <p:nvSpPr>
          <p:cNvPr id="10" name="text-655"/>
          <p:cNvSpPr txBox="1"/>
          <p:nvPr/>
        </p:nvSpPr>
        <p:spPr>
          <a:xfrm>
            <a:off x="3596335" y="283464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2</a:t>
            </a:r>
            <a:endParaRPr lang="en-US" sz="2400" dirty="0"/>
          </a:p>
        </p:txBody>
      </p:sp>
      <p:sp>
        <p:nvSpPr>
          <p:cNvPr id="11" name="text-656"/>
          <p:cNvSpPr txBox="1"/>
          <p:nvPr/>
        </p:nvSpPr>
        <p:spPr>
          <a:xfrm>
            <a:off x="3596335" y="3291840"/>
            <a:ext cx="2194560" cy="1645920"/>
          </a:xfrm>
          <a:prstGeom prst="rect">
            <a:avLst/>
          </a:prstGeom>
          <a:noFill/>
          <a:ln/>
        </p:spPr>
        <p:txBody>
          <a:bodyPr wrap="square" lIns="0" tIns="0" rIns="0" bIns="0" rtlCol="0" anchor="t"/>
          <a:lstStyle/>
          <a:p>
            <a:pPr indent="0" marL="0">
              <a:buNone/>
            </a:pPr>
            <a:r>
              <a:rPr lang="en-US" sz="2400" b="1" dirty="0">
                <a:solidFill>
                  <a:schemeClr val="tx1"/>
                </a:solidFill>
              </a:rPr>
              <a:t>3 câu hỏi quyết định</a:t>
            </a:r>
            <a:endParaRPr lang="en-US" sz="2400" dirty="0"/>
          </a:p>
        </p:txBody>
      </p:sp>
      <p:sp>
        <p:nvSpPr>
          <p:cNvPr id="12" name="card-657"/>
          <p:cNvSpPr/>
          <p:nvPr/>
        </p:nvSpPr>
        <p:spPr>
          <a:xfrm>
            <a:off x="6186830" y="1783080"/>
            <a:ext cx="2606040" cy="3246120"/>
          </a:xfrm>
          <a:prstGeom prst="roundRect">
            <a:avLst>
              <a:gd name="adj" fmla="val 5263"/>
            </a:avLst>
          </a:prstGeom>
          <a:solidFill>
            <a:schemeClr val="bg2"/>
          </a:solidFill>
          <a:ln/>
        </p:spPr>
      </p:sp>
      <p:sp>
        <p:nvSpPr>
          <p:cNvPr id="13" name="text-658"/>
          <p:cNvSpPr txBox="1"/>
          <p:nvPr/>
        </p:nvSpPr>
        <p:spPr>
          <a:xfrm>
            <a:off x="6415430" y="1920240"/>
            <a:ext cx="2148840" cy="914400"/>
          </a:xfrm>
          <a:prstGeom prst="rect">
            <a:avLst/>
          </a:prstGeom>
          <a:noFill/>
          <a:ln/>
        </p:spPr>
        <p:txBody>
          <a:bodyPr wrap="square" lIns="0" tIns="0" rIns="0" bIns="0" rtlCol="0" anchor="t"/>
          <a:lstStyle/>
          <a:p>
            <a:pPr indent="0" marL="0">
              <a:buNone/>
            </a:pPr>
            <a:r>
              <a:rPr lang="en-US" sz="4800" b="1" dirty="0">
                <a:solidFill>
                  <a:schemeClr val="accent5"/>
                </a:solidFill>
              </a:rPr>
              <a:t>15'</a:t>
            </a:r>
            <a:endParaRPr lang="en-US" sz="4800" dirty="0"/>
          </a:p>
        </p:txBody>
      </p:sp>
      <p:sp>
        <p:nvSpPr>
          <p:cNvPr id="14" name="text-659"/>
          <p:cNvSpPr txBox="1"/>
          <p:nvPr/>
        </p:nvSpPr>
        <p:spPr>
          <a:xfrm>
            <a:off x="6415430" y="283464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3</a:t>
            </a:r>
            <a:endParaRPr lang="en-US" sz="2400" dirty="0"/>
          </a:p>
        </p:txBody>
      </p:sp>
      <p:sp>
        <p:nvSpPr>
          <p:cNvPr id="15" name="text-660"/>
          <p:cNvSpPr txBox="1"/>
          <p:nvPr/>
        </p:nvSpPr>
        <p:spPr>
          <a:xfrm>
            <a:off x="6415430" y="3291840"/>
            <a:ext cx="2194560" cy="1645920"/>
          </a:xfrm>
          <a:prstGeom prst="rect">
            <a:avLst/>
          </a:prstGeom>
          <a:noFill/>
          <a:ln/>
        </p:spPr>
        <p:txBody>
          <a:bodyPr wrap="square" lIns="0" tIns="0" rIns="0" bIns="0" rtlCol="0" anchor="t"/>
          <a:lstStyle/>
          <a:p>
            <a:pPr indent="0" marL="0">
              <a:buNone/>
            </a:pPr>
            <a:r>
              <a:rPr lang="en-US" sz="2400" b="1" dirty="0">
                <a:solidFill>
                  <a:schemeClr val="tx1"/>
                </a:solidFill>
              </a:rPr>
              <a:t>Vấn đề nghiên cứu, phân loại, phác 6 bước</a:t>
            </a:r>
            <a:endParaRPr lang="en-US" sz="2400" dirty="0"/>
          </a:p>
        </p:txBody>
      </p:sp>
      <p:sp>
        <p:nvSpPr>
          <p:cNvPr id="16" name="card-661"/>
          <p:cNvSpPr/>
          <p:nvPr/>
        </p:nvSpPr>
        <p:spPr>
          <a:xfrm>
            <a:off x="9005926" y="1783080"/>
            <a:ext cx="2606040" cy="3246120"/>
          </a:xfrm>
          <a:prstGeom prst="roundRect">
            <a:avLst>
              <a:gd name="adj" fmla="val 5263"/>
            </a:avLst>
          </a:prstGeom>
          <a:solidFill>
            <a:schemeClr val="bg2"/>
          </a:solidFill>
          <a:ln/>
        </p:spPr>
      </p:sp>
      <p:sp>
        <p:nvSpPr>
          <p:cNvPr id="17" name="text-662"/>
          <p:cNvSpPr txBox="1"/>
          <p:nvPr/>
        </p:nvSpPr>
        <p:spPr>
          <a:xfrm>
            <a:off x="9234526" y="1920240"/>
            <a:ext cx="2148840" cy="914400"/>
          </a:xfrm>
          <a:prstGeom prst="rect">
            <a:avLst/>
          </a:prstGeom>
          <a:noFill/>
          <a:ln/>
        </p:spPr>
        <p:txBody>
          <a:bodyPr wrap="square" lIns="0" tIns="0" rIns="0" bIns="0" rtlCol="0" anchor="t"/>
          <a:lstStyle/>
          <a:p>
            <a:pPr indent="0" marL="0">
              <a:buNone/>
            </a:pPr>
            <a:r>
              <a:rPr lang="en-US" sz="4800" b="1" dirty="0">
                <a:solidFill>
                  <a:schemeClr val="accent6"/>
                </a:solidFill>
              </a:rPr>
              <a:t>10'</a:t>
            </a:r>
            <a:endParaRPr lang="en-US" sz="4800" dirty="0"/>
          </a:p>
        </p:txBody>
      </p:sp>
      <p:sp>
        <p:nvSpPr>
          <p:cNvPr id="18" name="text-663"/>
          <p:cNvSpPr txBox="1"/>
          <p:nvPr/>
        </p:nvSpPr>
        <p:spPr>
          <a:xfrm>
            <a:off x="9234526" y="283464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4</a:t>
            </a:r>
            <a:endParaRPr lang="en-US" sz="2400" dirty="0"/>
          </a:p>
        </p:txBody>
      </p:sp>
      <p:sp>
        <p:nvSpPr>
          <p:cNvPr id="19" name="text-664"/>
          <p:cNvSpPr txBox="1"/>
          <p:nvPr/>
        </p:nvSpPr>
        <p:spPr>
          <a:xfrm>
            <a:off x="9234526" y="3291840"/>
            <a:ext cx="2194560" cy="1645920"/>
          </a:xfrm>
          <a:prstGeom prst="rect">
            <a:avLst/>
          </a:prstGeom>
          <a:noFill/>
          <a:ln/>
        </p:spPr>
        <p:txBody>
          <a:bodyPr wrap="square" lIns="0" tIns="0" rIns="0" bIns="0" rtlCol="0" anchor="t"/>
          <a:lstStyle/>
          <a:p>
            <a:pPr indent="0" marL="0">
              <a:buNone/>
            </a:pPr>
            <a:r>
              <a:rPr lang="en-US" sz="2400" b="1" dirty="0">
                <a:solidFill>
                  <a:schemeClr val="tx1"/>
                </a:solidFill>
              </a:rPr>
              <a:t>4–5 nhóm chia sẻ 1 phút</a:t>
            </a:r>
            <a:endParaRPr lang="en-US" sz="2400" dirty="0"/>
          </a:p>
        </p:txBody>
      </p:sp>
      <p:sp>
        <p:nvSpPr>
          <p:cNvPr id="20" name="card-665"/>
          <p:cNvSpPr/>
          <p:nvPr/>
        </p:nvSpPr>
        <p:spPr>
          <a:xfrm>
            <a:off x="548640" y="5349240"/>
            <a:ext cx="11094415" cy="777240"/>
          </a:xfrm>
          <a:prstGeom prst="roundRect">
            <a:avLst>
              <a:gd name="adj" fmla="val 17647"/>
            </a:avLst>
          </a:prstGeom>
          <a:solidFill>
            <a:schemeClr val="accent2"/>
          </a:solidFill>
          <a:ln/>
        </p:spPr>
      </p:sp>
      <p:sp>
        <p:nvSpPr>
          <p:cNvPr id="21" name="text-666"/>
          <p:cNvSpPr txBox="1"/>
          <p:nvPr/>
        </p:nvSpPr>
        <p:spPr>
          <a:xfrm>
            <a:off x="822960" y="5349240"/>
            <a:ext cx="10545775" cy="777240"/>
          </a:xfrm>
          <a:prstGeom prst="rect">
            <a:avLst/>
          </a:prstGeom>
          <a:noFill/>
          <a:ln/>
        </p:spPr>
        <p:txBody>
          <a:bodyPr wrap="square" lIns="0" tIns="0" rIns="0" bIns="0" rtlCol="0" anchor="ctr"/>
          <a:lstStyle/>
          <a:p>
            <a:pPr indent="0" marL="0">
              <a:buNone/>
            </a:pPr>
            <a:r>
              <a:rPr lang="en-US" sz="2600" b="1" dirty="0">
                <a:solidFill>
                  <a:schemeClr val="bg1"/>
                </a:solidFill>
              </a:rPr>
              <a:t>Sản phẩm: phiếu nhóm → hoàn thiện thành M1</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Trước khi về: một điều đã rõ, một điều còn mơ hồ</a:t>
            </a:r>
            <a:endParaRPr lang="en-US" sz="3000" dirty="0"/>
          </a:p>
        </p:txBody>
      </p:sp>
      <p:sp>
        <p:nvSpPr>
          <p:cNvPr id="4" name="card-667"/>
          <p:cNvSpPr/>
          <p:nvPr/>
        </p:nvSpPr>
        <p:spPr>
          <a:xfrm>
            <a:off x="548640" y="1828800"/>
            <a:ext cx="5349240" cy="3840480"/>
          </a:xfrm>
          <a:prstGeom prst="roundRect">
            <a:avLst>
              <a:gd name="adj" fmla="val 3571"/>
            </a:avLst>
          </a:prstGeom>
          <a:solidFill>
            <a:schemeClr val="bg2"/>
          </a:solidFill>
          <a:ln/>
        </p:spPr>
      </p:sp>
      <p:sp>
        <p:nvSpPr>
          <p:cNvPr id="5" name="icon-bg-668"/>
          <p:cNvSpPr/>
          <p:nvPr/>
        </p:nvSpPr>
        <p:spPr>
          <a:xfrm>
            <a:off x="2583180" y="2194560"/>
            <a:ext cx="1371600" cy="1371600"/>
          </a:xfrm>
          <a:prstGeom prst="ellipse">
            <a:avLst/>
          </a:prstGeom>
          <a:solidFill>
            <a:schemeClr val="accent1"/>
          </a:solidFill>
          <a:ln/>
        </p:spPr>
      </p:sp>
      <p:pic>
        <p:nvPicPr>
          <p:cNvPr id="6" name="icon-669" descr="FaCheck">    </p:cNvPr>
          <p:cNvPicPr>
            <a:picLocks noChangeAspect="1"/>
          </p:cNvPicPr>
          <p:nvPr/>
        </p:nvPicPr>
        <p:blipFill>
          <a:blip r:embed="rId1"/>
          <a:stretch>
            <a:fillRect/>
          </a:stretch>
        </p:blipFill>
        <p:spPr>
          <a:xfrm>
            <a:off x="2926080" y="2537460"/>
            <a:ext cx="685800" cy="685800"/>
          </a:xfrm>
          <a:prstGeom prst="rect">
            <a:avLst/>
          </a:prstGeom>
        </p:spPr>
      </p:pic>
      <p:sp>
        <p:nvSpPr>
          <p:cNvPr id="7" name="text-670"/>
          <p:cNvSpPr txBox="1"/>
          <p:nvPr/>
        </p:nvSpPr>
        <p:spPr>
          <a:xfrm>
            <a:off x="914400" y="3840480"/>
            <a:ext cx="4617720" cy="1463040"/>
          </a:xfrm>
          <a:prstGeom prst="rect">
            <a:avLst/>
          </a:prstGeom>
          <a:noFill/>
          <a:ln/>
        </p:spPr>
        <p:txBody>
          <a:bodyPr wrap="square" lIns="0" tIns="0" rIns="0" bIns="0" rtlCol="0" anchor="ctr"/>
          <a:lstStyle/>
          <a:p>
            <a:pPr algn="ctr" indent="0" marL="0">
              <a:buNone/>
            </a:pPr>
            <a:r>
              <a:rPr lang="en-US" sz="3000" b="1" dirty="0">
                <a:solidFill>
                  <a:schemeClr val="tx1"/>
                </a:solidFill>
              </a:rPr>
              <a:t>Một điều hôm nay mình đã hiểu rõ</a:t>
            </a:r>
            <a:endParaRPr lang="en-US" sz="3000" dirty="0"/>
          </a:p>
        </p:txBody>
      </p:sp>
      <p:sp>
        <p:nvSpPr>
          <p:cNvPr id="8" name="card-671"/>
          <p:cNvSpPr/>
          <p:nvPr/>
        </p:nvSpPr>
        <p:spPr>
          <a:xfrm>
            <a:off x="6263640" y="1828800"/>
            <a:ext cx="5349240" cy="3840480"/>
          </a:xfrm>
          <a:prstGeom prst="roundRect">
            <a:avLst>
              <a:gd name="adj" fmla="val 3571"/>
            </a:avLst>
          </a:prstGeom>
          <a:solidFill>
            <a:schemeClr val="bg2"/>
          </a:solidFill>
          <a:ln/>
        </p:spPr>
      </p:sp>
      <p:sp>
        <p:nvSpPr>
          <p:cNvPr id="9" name="icon-bg-672"/>
          <p:cNvSpPr/>
          <p:nvPr/>
        </p:nvSpPr>
        <p:spPr>
          <a:xfrm>
            <a:off x="8298180" y="2194560"/>
            <a:ext cx="1371600" cy="1371600"/>
          </a:xfrm>
          <a:prstGeom prst="ellipse">
            <a:avLst/>
          </a:prstGeom>
          <a:solidFill>
            <a:schemeClr val="accent2"/>
          </a:solidFill>
          <a:ln/>
        </p:spPr>
      </p:sp>
      <p:pic>
        <p:nvPicPr>
          <p:cNvPr id="10" name="icon-673" descr="FaQuestion">    </p:cNvPr>
          <p:cNvPicPr>
            <a:picLocks noChangeAspect="1"/>
          </p:cNvPicPr>
          <p:nvPr/>
        </p:nvPicPr>
        <p:blipFill>
          <a:blip r:embed="rId2"/>
          <a:stretch>
            <a:fillRect/>
          </a:stretch>
        </p:blipFill>
        <p:spPr>
          <a:xfrm>
            <a:off x="8641080" y="2537460"/>
            <a:ext cx="685800" cy="685800"/>
          </a:xfrm>
          <a:prstGeom prst="rect">
            <a:avLst/>
          </a:prstGeom>
        </p:spPr>
      </p:pic>
      <p:sp>
        <p:nvSpPr>
          <p:cNvPr id="11" name="text-674"/>
          <p:cNvSpPr txBox="1"/>
          <p:nvPr/>
        </p:nvSpPr>
        <p:spPr>
          <a:xfrm>
            <a:off x="6629400" y="3840480"/>
            <a:ext cx="4617720" cy="1463040"/>
          </a:xfrm>
          <a:prstGeom prst="rect">
            <a:avLst/>
          </a:prstGeom>
          <a:noFill/>
          <a:ln/>
        </p:spPr>
        <p:txBody>
          <a:bodyPr wrap="square" lIns="0" tIns="0" rIns="0" bIns="0" rtlCol="0" anchor="ctr"/>
          <a:lstStyle/>
          <a:p>
            <a:pPr algn="ctr" indent="0" marL="0">
              <a:buNone/>
            </a:pPr>
            <a:r>
              <a:rPr lang="en-US" sz="3000" b="1" dirty="0">
                <a:solidFill>
                  <a:schemeClr val="tx1"/>
                </a:solidFill>
              </a:rPr>
              <a:t>Một điều mình vẫn còn mơ hồ</a:t>
            </a:r>
            <a:endParaRPr lang="en-US" sz="3000" dirty="0"/>
          </a:p>
        </p:txBody>
      </p:sp>
      <p:sp>
        <p:nvSpPr>
          <p:cNvPr id="12" name="text-675"/>
          <p:cNvSpPr txBox="1"/>
          <p:nvPr/>
        </p:nvSpPr>
        <p:spPr>
          <a:xfrm>
            <a:off x="548640" y="5897880"/>
            <a:ext cx="7315200" cy="457200"/>
          </a:xfrm>
          <a:prstGeom prst="rect">
            <a:avLst/>
          </a:prstGeom>
          <a:noFill/>
          <a:ln/>
        </p:spPr>
        <p:txBody>
          <a:bodyPr wrap="square" lIns="0" tIns="0" rIns="0" bIns="0" rtlCol="0" anchor="t"/>
          <a:lstStyle/>
          <a:p>
            <a:pPr indent="0" marL="0">
              <a:buNone/>
            </a:pPr>
            <a:r>
              <a:rPr lang="en-US" sz="2400" i="1" dirty="0">
                <a:solidFill>
                  <a:schemeClr val="tx2"/>
                </a:solidFill>
              </a:rPr>
              <a:t>Không cần ghi tên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Bài tập M1 và buổi sau</a:t>
            </a:r>
            <a:endParaRPr lang="en-US" sz="3000" dirty="0"/>
          </a:p>
        </p:txBody>
      </p:sp>
      <p:sp>
        <p:nvSpPr>
          <p:cNvPr id="4" name="card-676"/>
          <p:cNvSpPr/>
          <p:nvPr/>
        </p:nvSpPr>
        <p:spPr>
          <a:xfrm>
            <a:off x="548640" y="1783080"/>
            <a:ext cx="6035040" cy="4343400"/>
          </a:xfrm>
          <a:prstGeom prst="roundRect">
            <a:avLst>
              <a:gd name="adj" fmla="val 3158"/>
            </a:avLst>
          </a:prstGeom>
          <a:solidFill>
            <a:schemeClr val="bg2"/>
          </a:solidFill>
          <a:ln/>
        </p:spPr>
      </p:sp>
      <p:sp>
        <p:nvSpPr>
          <p:cNvPr id="5" name="icon-bg-677"/>
          <p:cNvSpPr/>
          <p:nvPr/>
        </p:nvSpPr>
        <p:spPr>
          <a:xfrm>
            <a:off x="868680" y="2011680"/>
            <a:ext cx="914400" cy="914400"/>
          </a:xfrm>
          <a:prstGeom prst="ellipse">
            <a:avLst/>
          </a:prstGeom>
          <a:solidFill>
            <a:schemeClr val="accent2"/>
          </a:solidFill>
          <a:ln/>
        </p:spPr>
      </p:sp>
      <p:pic>
        <p:nvPicPr>
          <p:cNvPr id="6" name="icon-678" descr="FaClipboardList">    </p:cNvPr>
          <p:cNvPicPr>
            <a:picLocks noChangeAspect="1"/>
          </p:cNvPicPr>
          <p:nvPr/>
        </p:nvPicPr>
        <p:blipFill>
          <a:blip r:embed="rId1"/>
          <a:stretch>
            <a:fillRect/>
          </a:stretch>
        </p:blipFill>
        <p:spPr>
          <a:xfrm>
            <a:off x="1097280" y="2240280"/>
            <a:ext cx="457200" cy="457200"/>
          </a:xfrm>
          <a:prstGeom prst="rect">
            <a:avLst/>
          </a:prstGeom>
        </p:spPr>
      </p:pic>
      <p:sp>
        <p:nvSpPr>
          <p:cNvPr id="7" name="text-679"/>
          <p:cNvSpPr txBox="1"/>
          <p:nvPr/>
        </p:nvSpPr>
        <p:spPr>
          <a:xfrm>
            <a:off x="2011680" y="2011680"/>
            <a:ext cx="4389120" cy="914400"/>
          </a:xfrm>
          <a:prstGeom prst="rect">
            <a:avLst/>
          </a:prstGeom>
          <a:noFill/>
          <a:ln/>
        </p:spPr>
        <p:txBody>
          <a:bodyPr wrap="square" lIns="0" tIns="0" rIns="0" bIns="0" rtlCol="0" anchor="ctr"/>
          <a:lstStyle/>
          <a:p>
            <a:pPr indent="0" marL="0">
              <a:buNone/>
            </a:pPr>
            <a:r>
              <a:rPr lang="en-US" sz="2600" b="1" dirty="0">
                <a:solidFill>
                  <a:schemeClr val="accent2"/>
                </a:solidFill>
              </a:rPr>
              <a:t>M1 · Phiếu đăng ký đề tài sơ bộ</a:t>
            </a:r>
            <a:endParaRPr lang="en-US" sz="2600" dirty="0"/>
          </a:p>
        </p:txBody>
      </p:sp>
      <p:sp>
        <p:nvSpPr>
          <p:cNvPr id="8" name="text-680"/>
          <p:cNvSpPr txBox="1"/>
          <p:nvPr/>
        </p:nvSpPr>
        <p:spPr>
          <a:xfrm>
            <a:off x="914400" y="3246120"/>
            <a:ext cx="5394960" cy="256032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chemeClr val="tx1"/>
                </a:solidFill>
              </a:rPr>
              <a:t>Nhóm · 2,5%</a:t>
            </a:r>
            <a:endParaRPr lang="en-US" sz="2600" dirty="0"/>
          </a:p>
          <a:p>
            <a:pPr marL="342900" indent="-342900">
              <a:spcAft>
                <a:spcPts val="1400"/>
              </a:spcAft>
              <a:buSzPct val="100000"/>
              <a:buChar char="•"/>
            </a:pPr>
            <a:r>
              <a:rPr lang="en-US" sz="2600" dirty="0">
                <a:solidFill>
                  <a:schemeClr val="tx1"/>
                </a:solidFill>
              </a:rPr>
              <a:t>Nộp trên LMS trước Buổi 2</a:t>
            </a:r>
            <a:endParaRPr lang="en-US" sz="2600" dirty="0"/>
          </a:p>
          <a:p>
            <a:pPr marL="342900" indent="-342900">
              <a:spcAft>
                <a:spcPts val="1400"/>
              </a:spcAft>
              <a:buSzPct val="100000"/>
              <a:buChar char="•"/>
            </a:pPr>
            <a:r>
              <a:rPr lang="en-US" sz="2600" dirty="0">
                <a:solidFill>
                  <a:schemeClr val="tx1"/>
                </a:solidFill>
              </a:rPr>
              <a:t>Hạn: ___ / ___</a:t>
            </a:r>
            <a:endParaRPr lang="en-US" sz="2600" dirty="0"/>
          </a:p>
        </p:txBody>
      </p:sp>
      <p:sp>
        <p:nvSpPr>
          <p:cNvPr id="9" name="card-681"/>
          <p:cNvSpPr/>
          <p:nvPr/>
        </p:nvSpPr>
        <p:spPr>
          <a:xfrm>
            <a:off x="6812280" y="1783080"/>
            <a:ext cx="4828032" cy="4343400"/>
          </a:xfrm>
          <a:prstGeom prst="roundRect">
            <a:avLst>
              <a:gd name="adj" fmla="val 3158"/>
            </a:avLst>
          </a:prstGeom>
          <a:solidFill>
            <a:schemeClr val="accent5"/>
          </a:solidFill>
          <a:ln/>
        </p:spPr>
      </p:sp>
      <p:sp>
        <p:nvSpPr>
          <p:cNvPr id="10" name="icon-bg-682"/>
          <p:cNvSpPr/>
          <p:nvPr/>
        </p:nvSpPr>
        <p:spPr>
          <a:xfrm>
            <a:off x="7132320" y="2011680"/>
            <a:ext cx="914400" cy="914400"/>
          </a:xfrm>
          <a:prstGeom prst="ellipse">
            <a:avLst/>
          </a:prstGeom>
          <a:solidFill>
            <a:schemeClr val="accent4"/>
          </a:solidFill>
          <a:ln/>
        </p:spPr>
      </p:sp>
      <p:pic>
        <p:nvPicPr>
          <p:cNvPr id="11" name="icon-683" descr="FaLaptop">    </p:cNvPr>
          <p:cNvPicPr>
            <a:picLocks noChangeAspect="1"/>
          </p:cNvPicPr>
          <p:nvPr/>
        </p:nvPicPr>
        <p:blipFill>
          <a:blip r:embed="rId2"/>
          <a:stretch>
            <a:fillRect/>
          </a:stretch>
        </p:blipFill>
        <p:spPr>
          <a:xfrm>
            <a:off x="7360920" y="2240280"/>
            <a:ext cx="457200" cy="457200"/>
          </a:xfrm>
          <a:prstGeom prst="rect">
            <a:avLst/>
          </a:prstGeom>
        </p:spPr>
      </p:pic>
      <p:sp>
        <p:nvSpPr>
          <p:cNvPr id="12" name="text-684"/>
          <p:cNvSpPr txBox="1"/>
          <p:nvPr/>
        </p:nvSpPr>
        <p:spPr>
          <a:xfrm>
            <a:off x="8275320" y="2011680"/>
            <a:ext cx="3108960" cy="914400"/>
          </a:xfrm>
          <a:prstGeom prst="rect">
            <a:avLst/>
          </a:prstGeom>
          <a:noFill/>
          <a:ln/>
        </p:spPr>
        <p:txBody>
          <a:bodyPr wrap="square" lIns="0" tIns="0" rIns="0" bIns="0" rtlCol="0" anchor="ctr"/>
          <a:lstStyle/>
          <a:p>
            <a:pPr indent="0" marL="0">
              <a:buNone/>
            </a:pPr>
            <a:r>
              <a:rPr lang="en-US" sz="3000" b="1" dirty="0">
                <a:solidFill>
                  <a:schemeClr val="bg1"/>
                </a:solidFill>
              </a:rPr>
              <a:t>Buổi 2</a:t>
            </a:r>
            <a:endParaRPr lang="en-US" sz="3000" dirty="0"/>
          </a:p>
        </p:txBody>
      </p:sp>
      <p:sp>
        <p:nvSpPr>
          <p:cNvPr id="13" name="text-685"/>
          <p:cNvSpPr txBox="1"/>
          <p:nvPr/>
        </p:nvSpPr>
        <p:spPr>
          <a:xfrm>
            <a:off x="7132320" y="3246120"/>
            <a:ext cx="4206240" cy="1463040"/>
          </a:xfrm>
          <a:prstGeom prst="rect">
            <a:avLst/>
          </a:prstGeom>
          <a:noFill/>
          <a:ln/>
        </p:spPr>
        <p:txBody>
          <a:bodyPr wrap="square" lIns="0" tIns="0" rIns="0" bIns="0" rtlCol="0" anchor="t"/>
          <a:lstStyle/>
          <a:p>
            <a:pPr indent="0" marL="0">
              <a:buNone/>
            </a:pPr>
            <a:r>
              <a:rPr lang="en-US" sz="2600" dirty="0">
                <a:solidFill>
                  <a:schemeClr val="bg1"/>
                </a:solidFill>
              </a:rPr>
              <a:t>Tìm tài liệu học thuật cho đề tài của nhóm</a:t>
            </a:r>
            <a:endParaRPr lang="en-US" sz="2600" dirty="0"/>
          </a:p>
        </p:txBody>
      </p:sp>
      <p:sp>
        <p:nvSpPr>
          <p:cNvPr id="14" name="text-686"/>
          <p:cNvSpPr txBox="1"/>
          <p:nvPr/>
        </p:nvSpPr>
        <p:spPr>
          <a:xfrm>
            <a:off x="7132320" y="4937760"/>
            <a:ext cx="4206240" cy="548640"/>
          </a:xfrm>
          <a:prstGeom prst="rect">
            <a:avLst/>
          </a:prstGeom>
          <a:noFill/>
          <a:ln/>
        </p:spPr>
        <p:txBody>
          <a:bodyPr wrap="square" lIns="0" tIns="0" rIns="0" bIns="0" rtlCol="0" anchor="t"/>
          <a:lstStyle/>
          <a:p>
            <a:pPr indent="0" marL="0">
              <a:buNone/>
            </a:pPr>
            <a:r>
              <a:rPr lang="en-US" sz="2600" b="1" dirty="0">
                <a:solidFill>
                  <a:schemeClr val="bg1"/>
                </a:solidFill>
              </a:rPr>
              <a:t>Mang theo máy tính</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MKT1107 Dark">
  <a:themeElements>
    <a:clrScheme name="MKT1107 Dark">
      <a:dk1>
        <a:srgbClr val="FBFAF4"/>
      </a:dk1>
      <a:lt1>
        <a:srgbClr val="172849"/>
      </a:lt1>
      <a:dk2>
        <a:srgbClr val="A9B6D3"/>
      </a:dk2>
      <a:lt2>
        <a:srgbClr val="22395F"/>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MKT1107 Dark">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Nghiên cứu Marketing · Buổi 1</dc:title>
  <dc:subject>PptxGenJS Presentation</dc:subject>
  <dc:creator>PptxGenJS</dc:creator>
  <cp:lastModifiedBy>PptxGenJS</cp:lastModifiedBy>
  <cp:revision>1</cp:revision>
  <dcterms:created xsi:type="dcterms:W3CDTF">2026-10-03T16:05:27Z</dcterms:created>
  <dcterms:modified xsi:type="dcterms:W3CDTF">2026-10-03T16:05:27Z</dcterms:modified>
</cp:coreProperties>
</file>