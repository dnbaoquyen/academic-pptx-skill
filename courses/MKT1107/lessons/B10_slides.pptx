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c3100b5f-e522-d8ff-1219-fd57e6b473ff}">
          <p14:sldIdLst>
            <p14:sldId id="256"/>
            <p14:sldId id="257"/>
          </p14:sldIdLst>
        </p14:section>
        <p14:section name="10.1 · Báo cáo nghiên cứu" id="{1b0d2091-fe1a-9848-7ff0-fbd382cfbb94}">
          <p14:sldIdLst>
            <p14:sldId id="258"/>
            <p14:sldId id="259"/>
            <p14:sldId id="260"/>
          </p14:sldIdLst>
        </p14:section>
        <p14:section name="10.2 · Nội dung báo cáo" id="{338773f7-b04a-226e-5d27-f0ed1186e1c1}">
          <p14:sldIdLst>
            <p14:sldId id="261"/>
            <p14:sldId id="262"/>
            <p14:sldId id="263"/>
            <p14:sldId id="264"/>
          </p14:sldIdLst>
        </p14:section>
        <p14:section name="10.3 · Nguyên tắc trình bày" id="{60d3dc4a-5eac-873a-cd04-b09b833e0932}">
          <p14:sldIdLst>
            <p14:sldId id="265"/>
            <p14:sldId id="266"/>
            <p14:sldId id="267"/>
            <p14:sldId id="268"/>
            <p14:sldId id="269"/>
          </p14:sldIdLst>
        </p14:section>
        <p14:section name="Tự kiểm tra và ôn tập" id="{b77faa63-a8f3-1620-9fe4-3b7c4d406b7a}">
          <p14:sldIdLst>
            <p14:sldId id="270"/>
            <p14:sldId id="271"/>
            <p14:sldId id="272"/>
          </p14:sldIdLst>
        </p14:section>
        <p14:section name="Tài liệu tham khảo" id="{fe481816-1736-a1a1-0805-6c2a0aee4d5e}">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Điểm trung bình</c:v>
                </c:pt>
              </c:strCache>
            </c:strRef>
          </c:tx>
          <c:spPr>
            <a:solidFill>
              <a:srgbClr val="FF5178"/>
            </a:solidFill>
            <a:effectLst/>
          </c:spPr>
          <c:invertIfNegative val="0"/>
          <c:dLbls>
            <c:numFmt formatCode="0.00" sourceLinked="0"/>
            <c:txPr>
              <a:bodyPr/>
              <a:lstStyle/>
              <a:p>
                <a:pPr>
                  <a:defRPr b="0" i="0" strike="noStrike" sz="2400" u="none">
                    <a:solidFill>
                      <a:srgbClr val="FBFAF4"/>
                    </a:solidFill>
                    <a:latin typeface="+mn-lt"/>
                  </a:defRPr>
                </a:pPr>
              </a:p>
            </c:txPr>
            <c:showLegendKey val="0"/>
            <c:showVal val="1"/>
            <c:showCatName val="0"/>
            <c:showSerName val="0"/>
            <c:showPercent val="0"/>
            <c:showBubbleSize val="0"/>
            <c:showLeaderLines val="0"/>
          </c:dLbls>
          <c:cat>
            <c:multiLvlStrRef>
              <c:f>Sheet1!$A$2:$A$4</c:f>
              <c:multiLvlStrCache>
                <c:ptCount val="3"/>
                <c:lvl>
                  <c:pt idx="0">
                    <c:v>Chất lượng</c:v>
                  </c:pt>
                  <c:pt idx="1">
                    <c:v>Giá</c:v>
                  </c:pt>
                  <c:pt idx="2">
                    <c:v>Ý định mua</c:v>
                  </c:pt>
                </c:lvl>
              </c:multiLvlStrCache>
            </c:multiLvlStrRef>
          </c:cat>
          <c:val>
            <c:numRef>
              <c:f>Sheet1!$B$2:$B$4</c:f>
              <c:numCache>
                <c:formatCode>General</c:formatCode>
                <c:ptCount val="3"/>
                <c:pt idx="0">
                  <c:v>3.95</c:v>
                </c:pt>
                <c:pt idx="1">
                  <c:v>3.82</c:v>
                </c:pt>
                <c:pt idx="2">
                  <c:v>3.71</c:v>
                </c:pt>
              </c:numCache>
            </c:numRef>
          </c:val>
        </c:ser>
        <c:dLbls>
          <c:numFmt formatCode="0.00" sourceLinked="0"/>
          <c:txPr>
            <a:bodyPr/>
            <a:lstStyle/>
            <a:p>
              <a:pPr>
                <a:defRPr b="0" i="0" strike="noStrike" sz="2400" u="none">
                  <a:solidFill>
                    <a:srgbClr val="FBFAF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A9B6D3"/>
            </a:solidFill>
            <a:prstDash val="solid"/>
            <a:round/>
          </a:ln>
        </c:spPr>
        <c:txPr>
          <a:bodyPr/>
          <a:lstStyle/>
          <a:p>
            <a:pPr>
              <a:defRPr sz="2400" b="0" i="0" u="none" strike="noStrike">
                <a:solidFill>
                  <a:srgbClr val="FBFAF4"/>
                </a:solidFill>
                <a:latin typeface="+mn-lt"/>
              </a:defRPr>
            </a:pPr>
            <a:endParaRPr lang="en-US"/>
          </a:p>
        </c:txPr>
        <c:crossAx val="2094734552"/>
        <c:crosses val="autoZero"/>
        <c:auto val="1"/>
        <c:lblAlgn val="ctr"/>
        <c:noMultiLvlLbl val="1"/>
      </c:catAx>
      <c:valAx>
        <c:axId val="2094734552"/>
        <c:scaling>
          <c:orientation val="minMax"/>
          <c:max val="4"/>
          <c:min val="3.5"/>
        </c:scaling>
        <c:delete val="0"/>
        <c:axPos val="l"/>
        <c:majorGridlines>
          <c:spPr>
            <a:ln w="12700" cap="flat">
              <a:solidFill>
                <a:srgbClr val="22395F"/>
              </a:solidFill>
              <a:prstDash val="solid"/>
              <a:round/>
            </a:ln>
          </c:spPr>
        </c:majorGridlines>
        <c:numFmt formatCode="0.0" sourceLinked="0"/>
        <c:majorTickMark val="out"/>
        <c:minorTickMark val="none"/>
        <c:tickLblPos val="nextTo"/>
        <c:spPr>
          <a:ln w="12700" cap="flat">
            <a:noFill/>
            <a:prstDash val="solid"/>
            <a:round/>
          </a:ln>
        </c:spPr>
        <c:txPr>
          <a:bodyPr/>
          <a:lstStyle/>
          <a:p>
            <a:pPr>
              <a:defRPr sz="2400" b="0" i="0" u="none" strike="noStrike">
                <a:solidFill>
                  <a:srgbClr val="A9B6D3"/>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Điểm trung bình</c:v>
                </c:pt>
              </c:strCache>
            </c:strRef>
          </c:tx>
          <c:spPr>
            <a:solidFill>
              <a:srgbClr val="49B296"/>
            </a:solidFill>
            <a:effectLst/>
          </c:spPr>
          <c:invertIfNegative val="0"/>
          <c:dLbls>
            <c:numFmt formatCode="0.00" sourceLinked="0"/>
            <c:txPr>
              <a:bodyPr/>
              <a:lstStyle/>
              <a:p>
                <a:pPr>
                  <a:defRPr b="0" i="0" strike="noStrike" sz="2400" u="none">
                    <a:solidFill>
                      <a:srgbClr val="FBFAF4"/>
                    </a:solidFill>
                    <a:latin typeface="+mn-lt"/>
                  </a:defRPr>
                </a:pPr>
              </a:p>
            </c:txPr>
            <c:showLegendKey val="0"/>
            <c:showVal val="1"/>
            <c:showCatName val="0"/>
            <c:showSerName val="0"/>
            <c:showPercent val="0"/>
            <c:showBubbleSize val="0"/>
            <c:showLeaderLines val="0"/>
          </c:dLbls>
          <c:cat>
            <c:multiLvlStrRef>
              <c:f>Sheet1!$A$2:$A$4</c:f>
              <c:multiLvlStrCache>
                <c:ptCount val="3"/>
                <c:lvl>
                  <c:pt idx="0">
                    <c:v>Chất lượng</c:v>
                  </c:pt>
                  <c:pt idx="1">
                    <c:v>Giá</c:v>
                  </c:pt>
                  <c:pt idx="2">
                    <c:v>Ý định mua</c:v>
                  </c:pt>
                </c:lvl>
              </c:multiLvlStrCache>
            </c:multiLvlStrRef>
          </c:cat>
          <c:val>
            <c:numRef>
              <c:f>Sheet1!$B$2:$B$4</c:f>
              <c:numCache>
                <c:formatCode>General</c:formatCode>
                <c:ptCount val="3"/>
                <c:pt idx="0">
                  <c:v>3.95</c:v>
                </c:pt>
                <c:pt idx="1">
                  <c:v>3.82</c:v>
                </c:pt>
                <c:pt idx="2">
                  <c:v>3.71</c:v>
                </c:pt>
              </c:numCache>
            </c:numRef>
          </c:val>
        </c:ser>
        <c:dLbls>
          <c:numFmt formatCode="0.00" sourceLinked="0"/>
          <c:txPr>
            <a:bodyPr/>
            <a:lstStyle/>
            <a:p>
              <a:pPr>
                <a:defRPr b="0" i="0" strike="noStrike" sz="2400" u="none">
                  <a:solidFill>
                    <a:srgbClr val="FBFAF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A9B6D3"/>
            </a:solidFill>
            <a:prstDash val="solid"/>
            <a:round/>
          </a:ln>
        </c:spPr>
        <c:txPr>
          <a:bodyPr/>
          <a:lstStyle/>
          <a:p>
            <a:pPr>
              <a:defRPr sz="2400" b="0" i="0" u="none" strike="noStrike">
                <a:solidFill>
                  <a:srgbClr val="FBFAF4"/>
                </a:solidFill>
                <a:latin typeface="+mn-lt"/>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12700" cap="flat">
              <a:solidFill>
                <a:srgbClr val="22395F"/>
              </a:solidFill>
              <a:prstDash val="solid"/>
              <a:round/>
            </a:ln>
          </c:spPr>
        </c:majorGridlines>
        <c:numFmt formatCode="0" sourceLinked="0"/>
        <c:majorTickMark val="out"/>
        <c:minorTickMark val="none"/>
        <c:tickLblPos val="nextTo"/>
        <c:spPr>
          <a:ln w="12700" cap="flat">
            <a:noFill/>
            <a:prstDash val="solid"/>
            <a:round/>
          </a:ln>
        </c:spPr>
        <c:txPr>
          <a:bodyPr/>
          <a:lstStyle/>
          <a:p>
            <a:pPr>
              <a:defRPr sz="2400" b="0" i="0" u="none" strike="noStrike">
                <a:solidFill>
                  <a:srgbClr val="A9B6D3"/>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Bài 10 các bạn đã tự học trực tuyến — 9 giờ tự học. Hôm nay, Buổi 13, mình tóm tắt lại những điểm chính của Bài 10: Báo cáo kết quả nghiên cứu, để các nhóm áp dụng ngay vào báo cáo cuối kỳ. Học phần MKT1107 Nghiên cứu Marketing, tóm tắt trên lớp, Buổi 13; giảng viên: Đoàn Nguyễn Bảo Quyên.
(GV: Deck tóm tắt cho Buổi 13; nội dung đầy đủ nằm trong tài liệu học tập Bài 10 trên LMS.)
Hỏi lớp: —
Chuyển ý: Trước hết, sau bài này các bạn cần làm được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Học xong bài này, các bạn có thể: một, giải thích vai trò, phân biệt các loại báo cáo nghiên cứu; hai, trình bày đủ thành phần theo 5 chương / 3 chương của dự án; ba, trình bày bảng, biểu đồ rõ ràng, trung thực, đúng quy cách; bốn, tự rà soát báo cáo trước khi nộp. Mục tiêu cuối cùng là báo cáo cuối kỳ của chính nhóm các bạn.
Hỏi lớp: —
Chuyển ý: Bắt đầu từ câu hỏi: báo cáo nghiên cứu là gì, và vì sao nó quan trọng đến vậy?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Báo cáo nghiên cứu là văn bản trình bày mục tiêu, phương pháp, kết quả, kết luận, đề xuất cho người sử dụng thông tin — kèm thuyết trình nếu có. Đây là sản phẩm duy nhất mà nhiều nhà quản trị thực sự đọc: một nghiên cứu tốt nhưng báo cáo kém thì giá trị bị giảm đi rất nhiều. Báo cáo có ba vai trò. Hệ thống hóa: gom toàn bộ quá trình và kết quả thành tài liệu lưu trữ được. Cơ sở ra quyết định — cho nhà quản trị marketing. Đánh giá chất lượng: người đọc kiểm tra phương pháp, bằng chứng của nghiên cứu.
Hỏi lớp: —
Chuyển ý: Nhưng không phải báo cáo nào cũng viết giống nhau — tùy người đọc mà có bốn loại.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Bốn loại báo cáo, phân biệt theo người đọc và đặc điểm. Báo cáo gốc: cho lưu trữ, nhóm nghiên cứu — đầy đủ nhất, mọi chi tiết phương pháp, dữ liệu, kết quả xử lý. Báo cáo chuyên môn kỹ thuật: cho chuyên gia, nhà nghiên cứu — nhấn mạnh phương pháp, kỹ thuật thống kê, độ tin cậy. Báo cáo cho người sử dụng: cho nhà quản trị — ngắn gọn, tập trung đề xuất — kết quả, kết luận và đề xuất, ít thuật ngữ. Báo cáo phổ biến: cho công chúng, báo chí — đơn giản, nhiều hình ảnh, hấp dẫn.
Hỏi lớp: “Báo cáo cuối kỳ của nhóm mình gần với loại nào?”
Chuyển ý: Câu trả lời cho nhóm các bạn là: hai loại cùng lúc.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Báo cáo cuối kỳ của nhóm gần với báo cáo chuyên môn, vì người đọc là giảng viên. Nhưng phần kết luận và hàm ý phải viết được cho người sử dụng — nhà quản trị của thương hiệu nhóm đã chọn. Tức là: toàn báo cáo ≈ báo cáo chuyên môn — người đọc: giảng viên. Kết luận &amp; hàm ý ≈ báo cáo cho người sử dụng — người đọc: nhà quản trị thương hiệu nhóm chọn; viết ngắn gọn, ít thuật ngữ, có đề xuất.
Hỏi lớp: —
Chuyển ý: Vậy một báo cáo đầy đủ gồm những phần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báo cáo nghiên cứu marketing thường gồm 10 thành phần: 1 trang tựa — tên đề tài, người thực hiện, người nhận, thời gian; 2 mục lục — cả danh mục bảng, danh mục hình; 3 tóm lược cho lãnh đạo; 4 giới thiệu — bối cảnh, vấn đề, mục tiêu, câu hỏi nghiên cứu; 5 phương pháp luận — đủ để người khác lặp lại được; 6 kết quả — theo thứ tự mục tiêu, bằng bảng, biểu đồ và lời diễn giải; 7 hạn chế; 8 kết luận và đề nghị; 9 phụ lục — bảng hỏi, codebook, kết quả gốc, biên bản phỏng vấn đã ẩn danh; 10 tài liệu tham khảo (APA 7), như Bài 2.
Hỏi lớp: —
Chuyển ý: Trong mười phần đó, phần tóm lược có một nghịch lý đáng nhớ.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Tóm lược cho lãnh đạo — executive summary — dài 1 trang, gồm vấn đề, phương pháp, kết quả chính, đề xuất. Nó viết sau cùng, đặt đầu tiên. Viết sau cùng vì nó tóm tắt cả báo cáo — chỉ viết được khi mọi chương đã xong. Đặt đầu tiên vì báo cáo là sản phẩm mà nhiều nhà quản trị thực sự đọc, và họ đọc trang này trước.
Hỏi lớp: Câu ôn tập 1: “Vì sao phần tóm lược viết sau cùng nhưng đặt đầu tiên?” — gọi 1–2 nhóm trả lời trước khi giải thích.
Chuyển ý: Trong tóm lược và kết luận, nhiều nhóm hay trộn ba thứ: kết quả, kết luận và đề nghị.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Kết quả là dữ liệu cho thấy gì — ví dụ: “60% người trả lời mua qua sàn TMĐT”, tức sàn thương mại điện tử. Kết luận là điều đó có nghĩa gì với câu hỏi nghiên cứu — nó trả lời câu hỏi nghiên cứu. Đề nghị là nên làm gì — ví dụ: “ưu tiên ngân sách cho kênh sàn TMĐT”. Quy tắc: đề nghị phải bám vào kết quả, không đưa ra ý kiến không có dữ liệu chứng minh.
Hỏi lớp: Câu ôn tập 2: “Phân biệt kết quả, kết luận và đề nghị bằng một ví dụ từ dự án của nhóm bạn.” — mỗi nhóm viết 3 câu, 2 phút.
Chuyển ý: Mười thành phần này khớp thế nào với cấu trúc báo cáo dự án của học phần?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Đối chiếu từng thành phần với định lượng · 5 chương và định tính · 3 chương. Giới thiệu là Ch.1 Giới thiệu ở định lượng; ở định tính là Ch.1 Giới thiệu &amp; cơ sở lý thuyết. Cơ sở lý thuyết là Ch.2 Cơ sở lý thuyết &amp; mô hình ở định lượng; ở định tính được gộp trong Ch.1. Phương pháp luận là Ch.3 Phương pháp, hoặc Ch.2 Phương pháp. Kết quả là Ch.4 Kết quả, hoặc Ch.3 Kết quả, kết luận &amp; hàm ý. Hạn chế, kết luận &amp; đề nghị là Ch.5 Kết luận, hàm ý, hạn chế; ở định tính gộp trong Ch.3. Cả hai dạng: trang tựa, mục lục, tóm lược ở đầu; phụ lục, tài liệu tham khảo, nhật ký AI ở cuối.
(GV: Yêu cầu chi tiết về hình thức (số trang, cỡ chữ, cách nộp) theo hướng dẫn bài cuối kỳ giảng viên công bố trên LMS.)
Hỏi lớp: —
Chuyển ý: Biết mình viết phần nào rồi, giờ đến cách viết: năm nguyên tắc chung.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Năm nguyên tắc chung về cấu trúc và văn phong. Viết cho người đọc: ai đọc, cần gì để ra quyết định. Rõ ràng, mạch lạc: mỗi chương có mở đầu và tóm tắt; mỗi đoạn một ý chính; tiêu đề đánh số thống nhất. Ngắn gọn, khách quan: văn phong học thuật, không cảm tính; mọi nhận định có dữ liệu hoặc trích dẫn. Trung thực: báo cáo cả kết quả không như mong đợi — giả thuyết không được ủng hộ cũng là kết quả có giá trị. Nhất quán: thuật ngữ, ký hiệu, số thập phân, trích dẫn — tức ký hiệu biến, định dạng trích dẫn — giống nhau trong toàn báo cáo.
Hỏi lớp: —
Chuyển ý: Hai thứ chiếm nhiều điểm nhất trong chương kết quả là bảng và biểu đồ — bắt đầu với bảng.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Ví dụ (giả định): Bảng 4.3. Điểm trung bình các khái niệm nghiên cứu (thang 1–5) — chất lượng cảm nhận 3,95; nhận thức về giá 3,82; ý định mua 3,71. Nguồn: kết quả khảo sát của nhóm (giả định), n = 180. Bảy nguyên tắc: số + tên ở trên — “Bảng 4.1” và tên nói rõ nội dung; nguồn ở dưới; đơn vị rõ ở tiêu đề cột — %, nghìn đồng, điểm; sắp xếp có ý nghĩa — thứ tự tự nhiên hoặc từ cao xuống thấp; thập phân thống nhất — ví dụ tỷ lệ 1 chữ số, trung bình 2 chữ số; gọn — bảng gốc vào phụ lục; có 2–3 câu diễn giải nêu điểm nổi bật, không đọc lại từng con số.
(GV: Ghi các tên cột viết tắt trên slide: “Số biến” = số biến quan sát; “TB” = trung bình; “ĐLC” = độ lệch chuẩn.)
Hỏi lớp: Câu ôn tập 5: “Nêu 3 lỗi thường gặp khi trình bày bảng trong tiểu luận sinh viên và cách sửa.” — gợi ý từ bảy nguyên tắc: thiếu tên hoặc nguồn; số thập phân không thống nhất; dán nguyên bảng từ phần mềm; không có lời diễn giải.
Chuyển ý: Với biểu đồ, việc đầu tiên là chọn đúng loại theo điều mình muốn cho thấy.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Chọn loại biểu đồ theo điều muốn cho thấy. Cơ cấu — các phần của một tổng: tròn / cột chồng 100%; biểu đồ tròn chỉ nên dùng khi có khoảng 5 phần trở xuống, tổng bằng 100%. So sánh giữa các nhóm: cột đứng hoặc ngang — cột ngang khi tên mục dài, sắp xếp theo giá trị. Xu hướng theo thời gian: đường, trục hoành là thời gian, khoảng cách đều. Phân phối một biến định lượng: histogram — biểu đồ tần số, các cột liền nhau. Liên hệ hai biến định lượng: phân tán — scatter, kèm hệ số tương quan.
Hỏi lớp: Câu ôn tập 3: chọn loại biểu đồ cho (a) cơ cấu giới tính của mẫu → tròn hoặc cột chồng 100%; (b) điểm trung bình 6 yếu tố → cột, ngang nếu tên dài, sắp xếp theo giá trị; (c) doanh số 12 tháng → đường; (d) liên hệ giữa số giờ dùng mạng xã hội và chi tiêu mua sắm trực tuyến → phân tán. Hỏi lớp trước, rồi mới chiếu đáp án.
Chuyển ý: Chọn đúng loại rồi vẫn có thể làm người đọc hiểu sai — ví dụ phổ biến nhất là trục tung.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Hai biểu đồ cột dùng cùng số liệu Bảng 4.3 (giả định), thang 1–5: chất lượng 3,95; giá 3,82; ý định mua 3,71. Bên trái, trục từ 3,5 → chênh lệch bị phóng to: cột “Ý định mua” trông chỉ bằng khoảng một nửa cột “Chất lượng”, dù hai điểm chỉ cách nhau 0,24. Bên phải, trục từ 0 → đúng tỷ lệ: ba cột gần bằng nhau. Nguyên tắc: không làm sai lệch cảm nhận — trục tung của biểu đồ cột bắt đầu từ 0, không dùng hiệu ứng 3D làm méo tỷ lệ.
Hỏi lớp: Câu ôn tập 4: “Một biểu đồ cột có trục tung bắt đầu từ 3,5 thay vì 0. Điều này gây hiểu lầm thế nào?” — hỏi trước khi giải thích hai biểu đồ.
Chuyển ý: Trục từ 0 là một trong sáu nguyên tắc trình bày biểu đồ.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Sáu nguyên tắc. Một: “Hình 4.1” + tên; nguồn dưới hình — tên rõ nội dung. Hai: tên trục, đơn vị, nhãn số liệu khi cần; chú thích màu rõ ràng. Ba: trục cột từ 0, không 3D — không làm sai lệch cảm nhận. Bốn: đơn giản: mỗi biểu đồ một thông điệp — bỏ lưới, bóng, màu không cần thiết. Năm: không lặp số liệu ở cả bảng và biểu đồ — chọn một. Sáu: có lời diễn giải ngắn bên dưới biểu đồ.
Hỏi lớp: —
Chuyển ý: Giờ ghép tất cả lại thành danh sách tự kiểm tra trước khi nộp báo cáo cuối kỳ.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Danh sách tự kiểm tra báo cáo cuối kỳ — phần nội dung. 1. Câu hỏi ở Chương 1 được trả lời ở kết luận; 2. Phương pháp: chọn mẫu, cỡ mẫu, thang đo có nguồn, cách phân tích; 3. Kết quả: phiếu hợp lệ, đặc điểm mẫu, thống kê mô tả, nhị biến / chủ đề; 4. Không kết luận nhân quả từ tương quan; 5. Hàm ý quản trị bám kết quả, cụ thể, khả thi; 6. Có hạn chế và hướng nghiên cứu tiếp theo.
(GV: Danh sách đầy đủ nằm cuối tài liệu học tập Bài 10 — nhắc nhóm in ra và đánh dấu trước khi nộp.)
Hỏi lớp: Cho mỗi nhóm 3 phút tự đánh dấu trên bản nháp hiện tại: mục nào chưa đạt?
Chuyển ý: Phần thứ hai của danh sách: hình thức và liêm chính.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Danh sách tự kiểm tra — phần hình thức và liêm chính. 1. Bảng, hình đánh số theo chương, có tên và nguồn; 2. Trích dẫn APA 7 khớp hai chiều với danh mục; 3. Mọi tài liệu trích dẫn có thật và nhóm đã đọc; 4. Mọi con số lấy từ kết quả phần mềm của nhóm; 5. Phụ lục: bảng hỏi / dàn bài, codebook, kết quả gốc; 6. Khai báo AI và nhật ký AI đầy đủ; 7. Dữ liệu người tham gia đã ẩn danh.
(GV: Danh sách đầy đủ nằm cuối tài liệu học tập Bài 10 — nhắc nhóm in ra và đánh dấu trước khi nộp.)
Hỏi lớp: Cho mỗi nhóm 3 phút tự đánh dấu trên bản nháp hiện tại: mục nào chưa đạt?
Chuyển ý: Trước khi kết thúc, năm câu ôn tập để tự kiểm tra lại cả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Năm câu ôn tập của Bài 10. 1. Vì sao tóm lược viết sau cùng, đặt đầu tiên? 2. Kết quả, kết luận, đề nghị: ví dụ từ dự án nhóm. 3. Chọn biểu đồ: giới tính · 6 yếu tố · 12 tháng · giờ MXH và chi tiêu — tức cơ cấu giới tính của mẫu; điểm trung bình 6 yếu tố; doanh số 12 tháng; liên hệ giữa số giờ dùng mạng xã hội và chi tiêu mua sắm trực tuyến. 4. Trục tung bắt đầu từ 3,5 gây hiểu lầm gì? 5. Ba lỗi khi trình bày bảng và cách sửa.
(GV: Gợi ý đáp án đã có trong note các slide 7 (câu 1), 8 (câu 2), 12 (câu 3), 13 (câu 4), 11 (câu 5).)
Hỏi lớp: Chỉ định mỗi câu 1 nhóm trả lời, các nhóm khác bổ sung.
Chuyển ý: Tài liệu tham khảo của bài ở slide cuối.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tài liệu tham khảo của Bài 10, theo APA 7: American Psychological Association. (2020). Publication manual of the American Psychological Association (7th ed.). https://doi.org/10.1037/0000165-000 — Brown, T. J., Suter, T. A., &amp; Churchill, G. A. (2014). Basic marketing research: Customer insights and managerial action (8th ed.). Cengage Learning. — Malhotra, N. K. (2019). Marketing research: An applied orientation (7th ed.). Pearson.
Hỏi lớp: —
Chuyển ý: — (slide cuối).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7863840" cy="2103120"/>
          </a:xfrm>
          <a:prstGeom prst="rect">
            <a:avLst/>
          </a:prstGeom>
          <a:noFill/>
          <a:ln/>
        </p:spPr>
        <p:txBody>
          <a:bodyPr wrap="square" rtlCol="0"/>
          <a:lstStyle>
            <a:lvl1pPr algn="l" indent="0" marL="0">
              <a:buNone/>
              <a:defRPr lang="en-US" sz="4800" b="1" dirty="0">
                <a:solidFill>
                  <a:schemeClr val="tx1"/>
                </a:solidFill>
              </a:defRPr>
            </a:lvl1pPr>
          </a:lstStyle>
          <a:p>
            <a:pPr algn="l" indent="0" marL="0">
              <a:buNone/>
            </a:pPr>
            <a:endParaRPr lang="en-US" sz="4800" dirty="0"/>
          </a:p>
        </p:txBody>
      </p:sp>
      <p:sp>
        <p:nvSpPr>
          <p:cNvPr id="3" name="Text 0"/>
          <p:cNvSpPr/>
          <p:nvPr>
            <p:ph idx="101" type="body" hasCustomPrompt="1"/>
          </p:nvPr>
        </p:nvSpPr>
        <p:spPr>
          <a:xfrm>
            <a:off x="548640" y="4160520"/>
            <a:ext cx="7863840" cy="1463040"/>
          </a:xfrm>
          <a:prstGeom prst="rect">
            <a:avLst/>
          </a:prstGeom>
          <a:noFill/>
          <a:ln/>
        </p:spPr>
        <p:txBody>
          <a:bodyPr wrap="square" rtlCol="0"/>
          <a:lstStyle>
            <a:lvl1pPr algn="l" indent="0" marL="0">
              <a:buNone/>
              <a:defRPr lang="en-US" sz="2800" dirty="0">
                <a:solidFill>
                  <a:schemeClr val="tx2"/>
                </a:solidFill>
              </a:defRPr>
            </a:lvl1pPr>
          </a:lstStyle>
          <a:p>
            <a:pPr algn="l" indent="0" marL="0">
              <a:buNone/>
            </a:pPr>
            <a:endParaRPr lang="en-US" sz="2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7863840" cy="2103120"/>
          </a:xfrm>
          <a:prstGeom prst="rect">
            <a:avLst/>
          </a:prstGeom>
          <a:noFill/>
          <a:ln/>
        </p:spPr>
        <p:txBody>
          <a:bodyPr wrap="square" lIns="0" tIns="0" rIns="0" bIns="0" rtlCol="0" anchor="b"/>
          <a:lstStyle/>
          <a:p>
            <a:pPr algn="l" indent="0" marL="0">
              <a:buNone/>
            </a:pPr>
            <a:r>
              <a:rPr lang="en-US" sz="4800" b="1" dirty="0">
                <a:solidFill>
                  <a:schemeClr val="tx1"/>
                </a:solidFill>
              </a:rPr>
              <a:t>Bài 10: Báo cáo kết quả nghiên cứu</a:t>
            </a:r>
            <a:endParaRPr lang="en-US" sz="4800" dirty="0"/>
          </a:p>
        </p:txBody>
      </p:sp>
      <p:sp>
        <p:nvSpPr>
          <p:cNvPr id="4" name="Text 0"/>
          <p:cNvSpPr/>
          <p:nvPr>
            <p:ph idx="101" type="body" hasCustomPrompt="1"/>
          </p:nvPr>
        </p:nvSpPr>
        <p:spPr>
          <a:xfrm>
            <a:off x="548640" y="4160520"/>
            <a:ext cx="7863840" cy="1463040"/>
          </a:xfrm>
          <a:prstGeom prst="rect">
            <a:avLst/>
          </a:prstGeom>
          <a:noFill/>
          <a:ln/>
        </p:spPr>
        <p:txBody>
          <a:bodyPr wrap="square" lIns="0" tIns="0" rIns="0" bIns="0" rtlCol="0" anchor="t"/>
          <a:lstStyle/>
          <a:p>
            <a:pPr algn="l" indent="0" marL="0">
              <a:buNone/>
            </a:pPr>
            <a:r>
              <a:rPr lang="en-US" sz="2800" dirty="0">
                <a:solidFill>
                  <a:schemeClr val="tx2"/>
                </a:solidFill>
              </a:rPr>
              <a:t>MKT1107 Nghiên cứu Marketing · Tóm tắt trên lớp, Buổi 13</a:t>
            </a:r>
            <a:endParaRPr lang="en-US" sz="2800" dirty="0"/>
          </a:p>
          <a:p>
            <a:pPr algn="l" indent="0" marL="0">
              <a:buNone/>
            </a:pPr>
            <a:r>
              <a:rPr lang="en-US" sz="2800" dirty="0">
                <a:solidFill>
                  <a:schemeClr val="tx2"/>
                </a:solidFill>
              </a:rPr>
              <a:t>Giảng viên: Đoàn Nguyễn Bảo Quyên</a:t>
            </a:r>
            <a:endParaRPr lang="en-US" sz="2800" dirty="0"/>
          </a:p>
        </p:txBody>
      </p:sp>
      <p:sp>
        <p:nvSpPr>
          <p:cNvPr id="5" name="dot-1"/>
          <p:cNvSpPr/>
          <p:nvPr/>
        </p:nvSpPr>
        <p:spPr>
          <a:xfrm>
            <a:off x="9052560" y="1188720"/>
            <a:ext cx="1371600" cy="1371600"/>
          </a:xfrm>
          <a:prstGeom prst="ellipse">
            <a:avLst/>
          </a:prstGeom>
          <a:solidFill>
            <a:schemeClr val="accent1"/>
          </a:solidFill>
          <a:ln/>
        </p:spPr>
      </p:sp>
      <p:sp>
        <p:nvSpPr>
          <p:cNvPr id="6" name="dot-2"/>
          <p:cNvSpPr/>
          <p:nvPr/>
        </p:nvSpPr>
        <p:spPr>
          <a:xfrm>
            <a:off x="10332720" y="2011680"/>
            <a:ext cx="914400" cy="914400"/>
          </a:xfrm>
          <a:prstGeom prst="ellipse">
            <a:avLst/>
          </a:prstGeom>
          <a:solidFill>
            <a:schemeClr val="accent2"/>
          </a:solidFill>
          <a:ln/>
        </p:spPr>
      </p:sp>
      <p:sp>
        <p:nvSpPr>
          <p:cNvPr id="7" name="dot-3"/>
          <p:cNvSpPr/>
          <p:nvPr/>
        </p:nvSpPr>
        <p:spPr>
          <a:xfrm>
            <a:off x="9326880" y="2834640"/>
            <a:ext cx="1828800" cy="1828800"/>
          </a:xfrm>
          <a:prstGeom prst="ellipse">
            <a:avLst/>
          </a:prstGeom>
          <a:solidFill>
            <a:schemeClr val="accent3"/>
          </a:solidFill>
          <a:ln/>
        </p:spPr>
      </p:sp>
      <p:sp>
        <p:nvSpPr>
          <p:cNvPr id="8" name="dot-4"/>
          <p:cNvSpPr/>
          <p:nvPr/>
        </p:nvSpPr>
        <p:spPr>
          <a:xfrm>
            <a:off x="10972800" y="3291840"/>
            <a:ext cx="640080" cy="640080"/>
          </a:xfrm>
          <a:prstGeom prst="ellipse">
            <a:avLst/>
          </a:prstGeom>
          <a:solidFill>
            <a:schemeClr val="accent4"/>
          </a:solidFill>
          <a:ln/>
        </p:spPr>
      </p:sp>
      <p:sp>
        <p:nvSpPr>
          <p:cNvPr id="9" name="dot-5"/>
          <p:cNvSpPr/>
          <p:nvPr/>
        </p:nvSpPr>
        <p:spPr>
          <a:xfrm>
            <a:off x="8961120" y="4846320"/>
            <a:ext cx="822960" cy="822960"/>
          </a:xfrm>
          <a:prstGeom prst="ellipse">
            <a:avLst/>
          </a:prstGeom>
          <a:solidFill>
            <a:schemeClr val="accent5"/>
          </a:solidFill>
          <a:ln/>
        </p:spPr>
      </p:sp>
      <p:sp>
        <p:nvSpPr>
          <p:cNvPr id="10" name="dot-6"/>
          <p:cNvSpPr/>
          <p:nvPr/>
        </p:nvSpPr>
        <p:spPr>
          <a:xfrm>
            <a:off x="10149840" y="4572000"/>
            <a:ext cx="1188720" cy="1188720"/>
          </a:xfrm>
          <a:prstGeom prst="ellipse">
            <a:avLst/>
          </a:prstGeom>
          <a:solidFill>
            <a:schemeClr val="accent6"/>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Sau bài này, nhóm tự viết và tự rà soát được báo cáo cuối kỳ</a:t>
            </a:r>
            <a:endParaRPr lang="en-US" sz="3000" dirty="0"/>
          </a:p>
        </p:txBody>
      </p:sp>
      <p:sp>
        <p:nvSpPr>
          <p:cNvPr id="4" name="icon-bg-7"/>
          <p:cNvSpPr/>
          <p:nvPr/>
        </p:nvSpPr>
        <p:spPr>
          <a:xfrm>
            <a:off x="548640" y="1828800"/>
            <a:ext cx="868680" cy="868680"/>
          </a:xfrm>
          <a:prstGeom prst="ellipse">
            <a:avLst/>
          </a:prstGeom>
          <a:solidFill>
            <a:schemeClr val="accent1"/>
          </a:solidFill>
          <a:ln/>
        </p:spPr>
      </p:sp>
      <p:pic>
        <p:nvPicPr>
          <p:cNvPr id="5" name="icon-8" descr="preencoded.png">    </p:cNvPr>
          <p:cNvPicPr>
            <a:picLocks noChangeAspect="1"/>
          </p:cNvPicPr>
          <p:nvPr/>
        </p:nvPicPr>
        <p:blipFill>
          <a:blip r:embed="rId1"/>
          <a:stretch>
            <a:fillRect/>
          </a:stretch>
        </p:blipFill>
        <p:spPr>
          <a:xfrm>
            <a:off x="765810" y="2045970"/>
            <a:ext cx="434340" cy="434340"/>
          </a:xfrm>
          <a:prstGeom prst="rect">
            <a:avLst/>
          </a:prstGeom>
        </p:spPr>
      </p:pic>
      <p:sp>
        <p:nvSpPr>
          <p:cNvPr id="6" name="text-9"/>
          <p:cNvSpPr txBox="1"/>
          <p:nvPr/>
        </p:nvSpPr>
        <p:spPr>
          <a:xfrm>
            <a:off x="1737360" y="1828800"/>
            <a:ext cx="9875520" cy="868680"/>
          </a:xfrm>
          <a:prstGeom prst="rect">
            <a:avLst/>
          </a:prstGeom>
          <a:noFill/>
          <a:ln/>
        </p:spPr>
        <p:txBody>
          <a:bodyPr wrap="square" lIns="0" tIns="0" rIns="0" bIns="0" rtlCol="0" anchor="ctr"/>
          <a:lstStyle/>
          <a:p>
            <a:pPr indent="0" marL="0">
              <a:buNone/>
            </a:pPr>
            <a:r>
              <a:rPr lang="en-US" sz="2800" dirty="0">
                <a:solidFill>
                  <a:schemeClr val="tx1"/>
                </a:solidFill>
              </a:rPr>
              <a:t>Giải thích vai trò, phân biệt các loại báo cáo</a:t>
            </a:r>
            <a:endParaRPr lang="en-US" sz="2800" dirty="0"/>
          </a:p>
        </p:txBody>
      </p:sp>
      <p:sp>
        <p:nvSpPr>
          <p:cNvPr id="7" name="icon-bg-10"/>
          <p:cNvSpPr/>
          <p:nvPr/>
        </p:nvSpPr>
        <p:spPr>
          <a:xfrm>
            <a:off x="548640" y="2907792"/>
            <a:ext cx="868680" cy="868680"/>
          </a:xfrm>
          <a:prstGeom prst="ellipse">
            <a:avLst/>
          </a:prstGeom>
          <a:solidFill>
            <a:schemeClr val="accent2"/>
          </a:solidFill>
          <a:ln/>
        </p:spPr>
      </p:sp>
      <p:pic>
        <p:nvPicPr>
          <p:cNvPr id="8" name="icon-11" descr="preencoded.png">    </p:cNvPr>
          <p:cNvPicPr>
            <a:picLocks noChangeAspect="1"/>
          </p:cNvPicPr>
          <p:nvPr/>
        </p:nvPicPr>
        <p:blipFill>
          <a:blip r:embed="rId2"/>
          <a:stretch>
            <a:fillRect/>
          </a:stretch>
        </p:blipFill>
        <p:spPr>
          <a:xfrm>
            <a:off x="765810" y="3124962"/>
            <a:ext cx="434340" cy="434340"/>
          </a:xfrm>
          <a:prstGeom prst="rect">
            <a:avLst/>
          </a:prstGeom>
        </p:spPr>
      </p:pic>
      <p:sp>
        <p:nvSpPr>
          <p:cNvPr id="9" name="text-12"/>
          <p:cNvSpPr txBox="1"/>
          <p:nvPr/>
        </p:nvSpPr>
        <p:spPr>
          <a:xfrm>
            <a:off x="1737360" y="2907792"/>
            <a:ext cx="9875520" cy="868680"/>
          </a:xfrm>
          <a:prstGeom prst="rect">
            <a:avLst/>
          </a:prstGeom>
          <a:noFill/>
          <a:ln/>
        </p:spPr>
        <p:txBody>
          <a:bodyPr wrap="square" lIns="0" tIns="0" rIns="0" bIns="0" rtlCol="0" anchor="ctr"/>
          <a:lstStyle/>
          <a:p>
            <a:pPr indent="0" marL="0">
              <a:buNone/>
            </a:pPr>
            <a:r>
              <a:rPr lang="en-US" sz="2800" dirty="0">
                <a:solidFill>
                  <a:schemeClr val="tx1"/>
                </a:solidFill>
              </a:rPr>
              <a:t>Trình bày đủ thành phần theo 5 chương / 3 chương</a:t>
            </a:r>
            <a:endParaRPr lang="en-US" sz="2800" dirty="0"/>
          </a:p>
        </p:txBody>
      </p:sp>
      <p:sp>
        <p:nvSpPr>
          <p:cNvPr id="10" name="icon-bg-13"/>
          <p:cNvSpPr/>
          <p:nvPr/>
        </p:nvSpPr>
        <p:spPr>
          <a:xfrm>
            <a:off x="548640" y="3986784"/>
            <a:ext cx="868680" cy="868680"/>
          </a:xfrm>
          <a:prstGeom prst="ellipse">
            <a:avLst/>
          </a:prstGeom>
          <a:solidFill>
            <a:schemeClr val="accent5"/>
          </a:solidFill>
          <a:ln/>
        </p:spPr>
      </p:sp>
      <p:pic>
        <p:nvPicPr>
          <p:cNvPr id="11" name="icon-14" descr="preencoded.png">    </p:cNvPr>
          <p:cNvPicPr>
            <a:picLocks noChangeAspect="1"/>
          </p:cNvPicPr>
          <p:nvPr/>
        </p:nvPicPr>
        <p:blipFill>
          <a:blip r:embed="rId3"/>
          <a:stretch>
            <a:fillRect/>
          </a:stretch>
        </p:blipFill>
        <p:spPr>
          <a:xfrm>
            <a:off x="765810" y="4203954"/>
            <a:ext cx="434340" cy="434340"/>
          </a:xfrm>
          <a:prstGeom prst="rect">
            <a:avLst/>
          </a:prstGeom>
        </p:spPr>
      </p:pic>
      <p:sp>
        <p:nvSpPr>
          <p:cNvPr id="12" name="text-15"/>
          <p:cNvSpPr txBox="1"/>
          <p:nvPr/>
        </p:nvSpPr>
        <p:spPr>
          <a:xfrm>
            <a:off x="1737360" y="3986784"/>
            <a:ext cx="9875520" cy="868680"/>
          </a:xfrm>
          <a:prstGeom prst="rect">
            <a:avLst/>
          </a:prstGeom>
          <a:noFill/>
          <a:ln/>
        </p:spPr>
        <p:txBody>
          <a:bodyPr wrap="square" lIns="0" tIns="0" rIns="0" bIns="0" rtlCol="0" anchor="ctr"/>
          <a:lstStyle/>
          <a:p>
            <a:pPr indent="0" marL="0">
              <a:buNone/>
            </a:pPr>
            <a:r>
              <a:rPr lang="en-US" sz="2800" dirty="0">
                <a:solidFill>
                  <a:schemeClr val="tx1"/>
                </a:solidFill>
              </a:rPr>
              <a:t>Trình bày bảng, biểu đồ rõ ràng, trung thực</a:t>
            </a:r>
            <a:endParaRPr lang="en-US" sz="2800" dirty="0"/>
          </a:p>
        </p:txBody>
      </p:sp>
      <p:sp>
        <p:nvSpPr>
          <p:cNvPr id="13" name="icon-bg-16"/>
          <p:cNvSpPr/>
          <p:nvPr/>
        </p:nvSpPr>
        <p:spPr>
          <a:xfrm>
            <a:off x="548640" y="5065776"/>
            <a:ext cx="868680" cy="868680"/>
          </a:xfrm>
          <a:prstGeom prst="ellipse">
            <a:avLst/>
          </a:prstGeom>
          <a:solidFill>
            <a:schemeClr val="accent6"/>
          </a:solidFill>
          <a:ln/>
        </p:spPr>
      </p:sp>
      <p:pic>
        <p:nvPicPr>
          <p:cNvPr id="14" name="icon-17" descr="preencoded.png">    </p:cNvPr>
          <p:cNvPicPr>
            <a:picLocks noChangeAspect="1"/>
          </p:cNvPicPr>
          <p:nvPr/>
        </p:nvPicPr>
        <p:blipFill>
          <a:blip r:embed="rId4"/>
          <a:stretch>
            <a:fillRect/>
          </a:stretch>
        </p:blipFill>
        <p:spPr>
          <a:xfrm>
            <a:off x="765810" y="5282946"/>
            <a:ext cx="434340" cy="434340"/>
          </a:xfrm>
          <a:prstGeom prst="rect">
            <a:avLst/>
          </a:prstGeom>
        </p:spPr>
      </p:pic>
      <p:sp>
        <p:nvSpPr>
          <p:cNvPr id="15" name="text-18"/>
          <p:cNvSpPr txBox="1"/>
          <p:nvPr/>
        </p:nvSpPr>
        <p:spPr>
          <a:xfrm>
            <a:off x="1737360" y="5065776"/>
            <a:ext cx="9875520" cy="868680"/>
          </a:xfrm>
          <a:prstGeom prst="rect">
            <a:avLst/>
          </a:prstGeom>
          <a:noFill/>
          <a:ln/>
        </p:spPr>
        <p:txBody>
          <a:bodyPr wrap="square" lIns="0" tIns="0" rIns="0" bIns="0" rtlCol="0" anchor="ctr"/>
          <a:lstStyle/>
          <a:p>
            <a:pPr indent="0" marL="0">
              <a:buNone/>
            </a:pPr>
            <a:r>
              <a:rPr lang="en-US" sz="2800" dirty="0">
                <a:solidFill>
                  <a:schemeClr val="tx1"/>
                </a:solidFill>
              </a:rPr>
              <a:t>Tự rà soát báo cáo trước khi nộp</a:t>
            </a:r>
            <a:endParaRPr lang="en-US" sz="2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Với nhiều nhà quản trị, bản báo cáo là thứ duy nhất họ đọc</a:t>
            </a:r>
            <a:endParaRPr lang="en-US" sz="3000" dirty="0"/>
          </a:p>
        </p:txBody>
      </p:sp>
      <p:sp>
        <p:nvSpPr>
          <p:cNvPr id="4" name="card-19"/>
          <p:cNvSpPr/>
          <p:nvPr/>
        </p:nvSpPr>
        <p:spPr>
          <a:xfrm>
            <a:off x="548640" y="1691640"/>
            <a:ext cx="11094415" cy="1325880"/>
          </a:xfrm>
          <a:prstGeom prst="roundRect">
            <a:avLst>
              <a:gd name="adj" fmla="val 10345"/>
            </a:avLst>
          </a:prstGeom>
          <a:solidFill>
            <a:schemeClr val="bg2"/>
          </a:solidFill>
          <a:ln/>
        </p:spPr>
      </p:sp>
      <p:sp>
        <p:nvSpPr>
          <p:cNvPr id="5" name="text-20"/>
          <p:cNvSpPr txBox="1"/>
          <p:nvPr/>
        </p:nvSpPr>
        <p:spPr>
          <a:xfrm>
            <a:off x="868680" y="1691640"/>
            <a:ext cx="10454335" cy="1325880"/>
          </a:xfrm>
          <a:prstGeom prst="rect">
            <a:avLst/>
          </a:prstGeom>
          <a:noFill/>
          <a:ln/>
        </p:spPr>
        <p:txBody>
          <a:bodyPr wrap="square" lIns="0" tIns="0" rIns="0" bIns="0" rtlCol="0" anchor="ctr"/>
          <a:lstStyle/>
          <a:p>
            <a:pPr indent="0" marL="0">
              <a:buNone/>
            </a:pPr>
            <a:r>
              <a:rPr lang="en-US" sz="2600" i="1" dirty="0">
                <a:solidFill>
                  <a:schemeClr val="tx1"/>
                </a:solidFill>
              </a:rPr>
              <a:t>Văn bản trình bày mục tiêu, phương pháp, kết quả, kết luận, đề xuất cho người sử dụng thông tin</a:t>
            </a:r>
            <a:endParaRPr lang="en-US" sz="2600" dirty="0"/>
          </a:p>
        </p:txBody>
      </p:sp>
      <p:sp>
        <p:nvSpPr>
          <p:cNvPr id="6" name="card-21"/>
          <p:cNvSpPr/>
          <p:nvPr/>
        </p:nvSpPr>
        <p:spPr>
          <a:xfrm>
            <a:off x="548640" y="3291840"/>
            <a:ext cx="3502152" cy="2834640"/>
          </a:xfrm>
          <a:prstGeom prst="roundRect">
            <a:avLst>
              <a:gd name="adj" fmla="val 4839"/>
            </a:avLst>
          </a:prstGeom>
          <a:solidFill>
            <a:schemeClr val="bg2"/>
          </a:solidFill>
          <a:ln/>
        </p:spPr>
      </p:sp>
      <p:sp>
        <p:nvSpPr>
          <p:cNvPr id="7" name="icon-bg-22"/>
          <p:cNvSpPr/>
          <p:nvPr/>
        </p:nvSpPr>
        <p:spPr>
          <a:xfrm>
            <a:off x="822960" y="3520440"/>
            <a:ext cx="868680" cy="868680"/>
          </a:xfrm>
          <a:prstGeom prst="ellipse">
            <a:avLst/>
          </a:prstGeom>
          <a:solidFill>
            <a:schemeClr val="accent1"/>
          </a:solidFill>
          <a:ln/>
        </p:spPr>
      </p:sp>
      <p:pic>
        <p:nvPicPr>
          <p:cNvPr id="8" name="icon-23" descr="preencoded.png">    </p:cNvPr>
          <p:cNvPicPr>
            <a:picLocks noChangeAspect="1"/>
          </p:cNvPicPr>
          <p:nvPr/>
        </p:nvPicPr>
        <p:blipFill>
          <a:blip r:embed="rId1"/>
          <a:stretch>
            <a:fillRect/>
          </a:stretch>
        </p:blipFill>
        <p:spPr>
          <a:xfrm>
            <a:off x="1040130" y="3737610"/>
            <a:ext cx="434340" cy="434340"/>
          </a:xfrm>
          <a:prstGeom prst="rect">
            <a:avLst/>
          </a:prstGeom>
        </p:spPr>
      </p:pic>
      <p:sp>
        <p:nvSpPr>
          <p:cNvPr id="9" name="text-24"/>
          <p:cNvSpPr txBox="1"/>
          <p:nvPr/>
        </p:nvSpPr>
        <p:spPr>
          <a:xfrm>
            <a:off x="713232" y="4526280"/>
            <a:ext cx="3291840" cy="502920"/>
          </a:xfrm>
          <a:prstGeom prst="rect">
            <a:avLst/>
          </a:prstGeom>
          <a:noFill/>
          <a:ln/>
        </p:spPr>
        <p:txBody>
          <a:bodyPr wrap="square" lIns="0" tIns="0" rIns="0" bIns="0" rtlCol="0" anchor="t"/>
          <a:lstStyle/>
          <a:p>
            <a:pPr indent="0" marL="0">
              <a:buNone/>
            </a:pPr>
            <a:r>
              <a:rPr lang="en-US" sz="2400" b="1" dirty="0">
                <a:solidFill>
                  <a:schemeClr val="accent1"/>
                </a:solidFill>
              </a:rPr>
              <a:t>Hệ thống hóa</a:t>
            </a:r>
            <a:endParaRPr lang="en-US" sz="2400" dirty="0"/>
          </a:p>
        </p:txBody>
      </p:sp>
      <p:sp>
        <p:nvSpPr>
          <p:cNvPr id="10" name="text-25"/>
          <p:cNvSpPr txBox="1"/>
          <p:nvPr/>
        </p:nvSpPr>
        <p:spPr>
          <a:xfrm>
            <a:off x="822960" y="5120640"/>
            <a:ext cx="3017520" cy="868680"/>
          </a:xfrm>
          <a:prstGeom prst="rect">
            <a:avLst/>
          </a:prstGeom>
          <a:noFill/>
          <a:ln/>
        </p:spPr>
        <p:txBody>
          <a:bodyPr wrap="square" lIns="0" tIns="0" rIns="0" bIns="0" rtlCol="0" anchor="t"/>
          <a:lstStyle/>
          <a:p>
            <a:pPr indent="0" marL="0">
              <a:buNone/>
            </a:pPr>
            <a:r>
              <a:rPr lang="en-US" sz="2400" dirty="0">
                <a:solidFill>
                  <a:schemeClr val="tx1"/>
                </a:solidFill>
              </a:rPr>
              <a:t>Tài liệu lưu trữ được</a:t>
            </a:r>
            <a:endParaRPr lang="en-US" sz="2400" dirty="0"/>
          </a:p>
        </p:txBody>
      </p:sp>
      <p:sp>
        <p:nvSpPr>
          <p:cNvPr id="11" name="card-26"/>
          <p:cNvSpPr/>
          <p:nvPr/>
        </p:nvSpPr>
        <p:spPr>
          <a:xfrm>
            <a:off x="4343400" y="3291840"/>
            <a:ext cx="3502152" cy="2834640"/>
          </a:xfrm>
          <a:prstGeom prst="roundRect">
            <a:avLst>
              <a:gd name="adj" fmla="val 4839"/>
            </a:avLst>
          </a:prstGeom>
          <a:solidFill>
            <a:schemeClr val="bg2"/>
          </a:solidFill>
          <a:ln/>
        </p:spPr>
      </p:sp>
      <p:sp>
        <p:nvSpPr>
          <p:cNvPr id="12" name="icon-bg-27"/>
          <p:cNvSpPr/>
          <p:nvPr/>
        </p:nvSpPr>
        <p:spPr>
          <a:xfrm>
            <a:off x="4617720" y="3520440"/>
            <a:ext cx="868680" cy="868680"/>
          </a:xfrm>
          <a:prstGeom prst="ellipse">
            <a:avLst/>
          </a:prstGeom>
          <a:solidFill>
            <a:schemeClr val="accent2"/>
          </a:solidFill>
          <a:ln/>
        </p:spPr>
      </p:sp>
      <p:pic>
        <p:nvPicPr>
          <p:cNvPr id="13" name="icon-28" descr="preencoded.png">    </p:cNvPr>
          <p:cNvPicPr>
            <a:picLocks noChangeAspect="1"/>
          </p:cNvPicPr>
          <p:nvPr/>
        </p:nvPicPr>
        <p:blipFill>
          <a:blip r:embed="rId2"/>
          <a:stretch>
            <a:fillRect/>
          </a:stretch>
        </p:blipFill>
        <p:spPr>
          <a:xfrm>
            <a:off x="4834890" y="3737610"/>
            <a:ext cx="434340" cy="434340"/>
          </a:xfrm>
          <a:prstGeom prst="rect">
            <a:avLst/>
          </a:prstGeom>
        </p:spPr>
      </p:pic>
      <p:sp>
        <p:nvSpPr>
          <p:cNvPr id="14" name="text-29"/>
          <p:cNvSpPr txBox="1"/>
          <p:nvPr/>
        </p:nvSpPr>
        <p:spPr>
          <a:xfrm>
            <a:off x="4507992" y="4526280"/>
            <a:ext cx="3291840" cy="502920"/>
          </a:xfrm>
          <a:prstGeom prst="rect">
            <a:avLst/>
          </a:prstGeom>
          <a:noFill/>
          <a:ln/>
        </p:spPr>
        <p:txBody>
          <a:bodyPr wrap="square" lIns="0" tIns="0" rIns="0" bIns="0" rtlCol="0" anchor="t"/>
          <a:lstStyle/>
          <a:p>
            <a:pPr indent="0" marL="0">
              <a:buNone/>
            </a:pPr>
            <a:r>
              <a:rPr lang="en-US" sz="2400" b="1" dirty="0">
                <a:solidFill>
                  <a:schemeClr val="accent2"/>
                </a:solidFill>
              </a:rPr>
              <a:t>Cơ sở ra quyết định</a:t>
            </a:r>
            <a:endParaRPr lang="en-US" sz="2400" dirty="0"/>
          </a:p>
        </p:txBody>
      </p:sp>
      <p:sp>
        <p:nvSpPr>
          <p:cNvPr id="15" name="text-30"/>
          <p:cNvSpPr txBox="1"/>
          <p:nvPr/>
        </p:nvSpPr>
        <p:spPr>
          <a:xfrm>
            <a:off x="4617720" y="5120640"/>
            <a:ext cx="3017520" cy="868680"/>
          </a:xfrm>
          <a:prstGeom prst="rect">
            <a:avLst/>
          </a:prstGeom>
          <a:noFill/>
          <a:ln/>
        </p:spPr>
        <p:txBody>
          <a:bodyPr wrap="square" lIns="0" tIns="0" rIns="0" bIns="0" rtlCol="0" anchor="t"/>
          <a:lstStyle/>
          <a:p>
            <a:pPr indent="0" marL="0">
              <a:buNone/>
            </a:pPr>
            <a:r>
              <a:rPr lang="en-US" sz="2400" dirty="0">
                <a:solidFill>
                  <a:schemeClr val="tx1"/>
                </a:solidFill>
              </a:rPr>
              <a:t>Cho nhà quản trị marketing</a:t>
            </a:r>
            <a:endParaRPr lang="en-US" sz="2400" dirty="0"/>
          </a:p>
        </p:txBody>
      </p:sp>
      <p:sp>
        <p:nvSpPr>
          <p:cNvPr id="16" name="card-31"/>
          <p:cNvSpPr/>
          <p:nvPr/>
        </p:nvSpPr>
        <p:spPr>
          <a:xfrm>
            <a:off x="8138160" y="3291840"/>
            <a:ext cx="3502152" cy="2834640"/>
          </a:xfrm>
          <a:prstGeom prst="roundRect">
            <a:avLst>
              <a:gd name="adj" fmla="val 4839"/>
            </a:avLst>
          </a:prstGeom>
          <a:solidFill>
            <a:schemeClr val="bg2"/>
          </a:solidFill>
          <a:ln/>
        </p:spPr>
      </p:sp>
      <p:sp>
        <p:nvSpPr>
          <p:cNvPr id="17" name="icon-bg-32"/>
          <p:cNvSpPr/>
          <p:nvPr/>
        </p:nvSpPr>
        <p:spPr>
          <a:xfrm>
            <a:off x="8412480" y="3520440"/>
            <a:ext cx="868680" cy="868680"/>
          </a:xfrm>
          <a:prstGeom prst="ellipse">
            <a:avLst/>
          </a:prstGeom>
          <a:solidFill>
            <a:schemeClr val="accent5"/>
          </a:solidFill>
          <a:ln/>
        </p:spPr>
      </p:sp>
      <p:pic>
        <p:nvPicPr>
          <p:cNvPr id="18" name="icon-33" descr="preencoded.png">    </p:cNvPr>
          <p:cNvPicPr>
            <a:picLocks noChangeAspect="1"/>
          </p:cNvPicPr>
          <p:nvPr/>
        </p:nvPicPr>
        <p:blipFill>
          <a:blip r:embed="rId3"/>
          <a:stretch>
            <a:fillRect/>
          </a:stretch>
        </p:blipFill>
        <p:spPr>
          <a:xfrm>
            <a:off x="8629650" y="3737610"/>
            <a:ext cx="434340" cy="434340"/>
          </a:xfrm>
          <a:prstGeom prst="rect">
            <a:avLst/>
          </a:prstGeom>
        </p:spPr>
      </p:pic>
      <p:sp>
        <p:nvSpPr>
          <p:cNvPr id="19" name="text-34"/>
          <p:cNvSpPr txBox="1"/>
          <p:nvPr/>
        </p:nvSpPr>
        <p:spPr>
          <a:xfrm>
            <a:off x="8302752" y="4526280"/>
            <a:ext cx="3291840" cy="502920"/>
          </a:xfrm>
          <a:prstGeom prst="rect">
            <a:avLst/>
          </a:prstGeom>
          <a:noFill/>
          <a:ln/>
        </p:spPr>
        <p:txBody>
          <a:bodyPr wrap="square" lIns="0" tIns="0" rIns="0" bIns="0" rtlCol="0" anchor="t"/>
          <a:lstStyle/>
          <a:p>
            <a:pPr indent="0" marL="0">
              <a:buNone/>
            </a:pPr>
            <a:r>
              <a:rPr lang="en-US" sz="2400" b="1" dirty="0">
                <a:solidFill>
                  <a:schemeClr val="accent5"/>
                </a:solidFill>
              </a:rPr>
              <a:t>Đánh giá chất lượng</a:t>
            </a:r>
            <a:endParaRPr lang="en-US" sz="2400" dirty="0"/>
          </a:p>
        </p:txBody>
      </p:sp>
      <p:sp>
        <p:nvSpPr>
          <p:cNvPr id="20" name="text-35"/>
          <p:cNvSpPr txBox="1"/>
          <p:nvPr/>
        </p:nvSpPr>
        <p:spPr>
          <a:xfrm>
            <a:off x="8412480" y="5120640"/>
            <a:ext cx="3017520" cy="868680"/>
          </a:xfrm>
          <a:prstGeom prst="rect">
            <a:avLst/>
          </a:prstGeom>
          <a:noFill/>
          <a:ln/>
        </p:spPr>
        <p:txBody>
          <a:bodyPr wrap="square" lIns="0" tIns="0" rIns="0" bIns="0" rtlCol="0" anchor="t"/>
          <a:lstStyle/>
          <a:p>
            <a:pPr indent="0" marL="0">
              <a:buNone/>
            </a:pPr>
            <a:r>
              <a:rPr lang="en-US" sz="2400" dirty="0">
                <a:solidFill>
                  <a:schemeClr val="tx1"/>
                </a:solidFill>
              </a:rPr>
              <a:t>Kiểm tra phương pháp, bằng chứng</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Bốn loại báo cáo cho bốn kiểu người đọc</a:t>
            </a:r>
            <a:endParaRPr lang="en-US" sz="3000" dirty="0"/>
          </a:p>
        </p:txBody>
      </p:sp>
      <p:sp>
        <p:nvSpPr>
          <p:cNvPr id="4" name="text-36"/>
          <p:cNvSpPr txBox="1"/>
          <p:nvPr/>
        </p:nvSpPr>
        <p:spPr>
          <a:xfrm>
            <a:off x="731520" y="1691640"/>
            <a:ext cx="3200400" cy="502920"/>
          </a:xfrm>
          <a:prstGeom prst="rect">
            <a:avLst/>
          </a:prstGeom>
          <a:noFill/>
          <a:ln/>
        </p:spPr>
        <p:txBody>
          <a:bodyPr wrap="square" lIns="0" tIns="0" rIns="0" bIns="0" rtlCol="0" anchor="ctr"/>
          <a:lstStyle/>
          <a:p>
            <a:pPr indent="0" marL="0">
              <a:buNone/>
            </a:pPr>
            <a:r>
              <a:rPr lang="en-US" sz="2400" b="1" dirty="0">
                <a:solidFill>
                  <a:schemeClr val="tx2"/>
                </a:solidFill>
              </a:rPr>
              <a:t>Loại báo cáo</a:t>
            </a:r>
            <a:endParaRPr lang="en-US" sz="2400" dirty="0"/>
          </a:p>
        </p:txBody>
      </p:sp>
      <p:sp>
        <p:nvSpPr>
          <p:cNvPr id="5" name="text-37"/>
          <p:cNvSpPr txBox="1"/>
          <p:nvPr/>
        </p:nvSpPr>
        <p:spPr>
          <a:xfrm>
            <a:off x="4114800" y="1691640"/>
            <a:ext cx="3566160" cy="502920"/>
          </a:xfrm>
          <a:prstGeom prst="rect">
            <a:avLst/>
          </a:prstGeom>
          <a:noFill/>
          <a:ln/>
        </p:spPr>
        <p:txBody>
          <a:bodyPr wrap="square" lIns="0" tIns="0" rIns="0" bIns="0" rtlCol="0" anchor="ctr"/>
          <a:lstStyle/>
          <a:p>
            <a:pPr indent="0" marL="0">
              <a:buNone/>
            </a:pPr>
            <a:r>
              <a:rPr lang="en-US" sz="2400" b="1" dirty="0">
                <a:solidFill>
                  <a:schemeClr val="tx2"/>
                </a:solidFill>
              </a:rPr>
              <a:t>Người đọc</a:t>
            </a:r>
            <a:endParaRPr lang="en-US" sz="2400" dirty="0"/>
          </a:p>
        </p:txBody>
      </p:sp>
      <p:sp>
        <p:nvSpPr>
          <p:cNvPr id="6" name="text-38"/>
          <p:cNvSpPr txBox="1"/>
          <p:nvPr/>
        </p:nvSpPr>
        <p:spPr>
          <a:xfrm>
            <a:off x="7863840" y="1691640"/>
            <a:ext cx="3931920" cy="502920"/>
          </a:xfrm>
          <a:prstGeom prst="rect">
            <a:avLst/>
          </a:prstGeom>
          <a:noFill/>
          <a:ln/>
        </p:spPr>
        <p:txBody>
          <a:bodyPr wrap="square" lIns="0" tIns="0" rIns="0" bIns="0" rtlCol="0" anchor="ctr"/>
          <a:lstStyle/>
          <a:p>
            <a:pPr indent="0" marL="0">
              <a:buNone/>
            </a:pPr>
            <a:r>
              <a:rPr lang="en-US" sz="2400" b="1" dirty="0">
                <a:solidFill>
                  <a:schemeClr val="tx2"/>
                </a:solidFill>
              </a:rPr>
              <a:t>Đặc điểm</a:t>
            </a:r>
            <a:endParaRPr lang="en-US" sz="2400" dirty="0"/>
          </a:p>
        </p:txBody>
      </p:sp>
      <p:sp>
        <p:nvSpPr>
          <p:cNvPr id="7" name="card-39"/>
          <p:cNvSpPr/>
          <p:nvPr/>
        </p:nvSpPr>
        <p:spPr>
          <a:xfrm>
            <a:off x="548640" y="2331720"/>
            <a:ext cx="11094415" cy="841248"/>
          </a:xfrm>
          <a:prstGeom prst="roundRect">
            <a:avLst>
              <a:gd name="adj" fmla="val 16304"/>
            </a:avLst>
          </a:prstGeom>
          <a:solidFill>
            <a:schemeClr val="bg2"/>
          </a:solidFill>
          <a:ln/>
        </p:spPr>
      </p:sp>
      <p:sp>
        <p:nvSpPr>
          <p:cNvPr id="8" name="text-40"/>
          <p:cNvSpPr txBox="1"/>
          <p:nvPr/>
        </p:nvSpPr>
        <p:spPr>
          <a:xfrm>
            <a:off x="731520" y="2331720"/>
            <a:ext cx="3017520" cy="841248"/>
          </a:xfrm>
          <a:prstGeom prst="rect">
            <a:avLst/>
          </a:prstGeom>
          <a:noFill/>
          <a:ln/>
        </p:spPr>
        <p:txBody>
          <a:bodyPr wrap="square" lIns="0" tIns="0" rIns="0" bIns="0" rtlCol="0" anchor="ctr"/>
          <a:lstStyle/>
          <a:p>
            <a:pPr indent="0" marL="0">
              <a:buNone/>
            </a:pPr>
            <a:r>
              <a:rPr lang="en-US" sz="2400" b="1" dirty="0">
                <a:solidFill>
                  <a:schemeClr val="tx2"/>
                </a:solidFill>
              </a:rPr>
              <a:t>Gốc</a:t>
            </a:r>
            <a:endParaRPr lang="en-US" sz="2400" dirty="0"/>
          </a:p>
        </p:txBody>
      </p:sp>
      <p:sp>
        <p:nvSpPr>
          <p:cNvPr id="9" name="text-41"/>
          <p:cNvSpPr txBox="1"/>
          <p:nvPr/>
        </p:nvSpPr>
        <p:spPr>
          <a:xfrm>
            <a:off x="4114800" y="2331720"/>
            <a:ext cx="3383280" cy="841248"/>
          </a:xfrm>
          <a:prstGeom prst="rect">
            <a:avLst/>
          </a:prstGeom>
          <a:noFill/>
          <a:ln/>
        </p:spPr>
        <p:txBody>
          <a:bodyPr wrap="square" lIns="0" tIns="0" rIns="0" bIns="0" rtlCol="0" anchor="ctr"/>
          <a:lstStyle/>
          <a:p>
            <a:pPr indent="0" marL="0">
              <a:buNone/>
            </a:pPr>
            <a:r>
              <a:rPr lang="en-US" sz="2400" dirty="0">
                <a:solidFill>
                  <a:schemeClr val="tx1"/>
                </a:solidFill>
              </a:rPr>
              <a:t>Lưu trữ, nhóm nghiên cứu</a:t>
            </a:r>
            <a:endParaRPr lang="en-US" sz="2400" dirty="0"/>
          </a:p>
        </p:txBody>
      </p:sp>
      <p:sp>
        <p:nvSpPr>
          <p:cNvPr id="10" name="text-42"/>
          <p:cNvSpPr txBox="1"/>
          <p:nvPr/>
        </p:nvSpPr>
        <p:spPr>
          <a:xfrm>
            <a:off x="7863840" y="2331720"/>
            <a:ext cx="3749040" cy="841248"/>
          </a:xfrm>
          <a:prstGeom prst="rect">
            <a:avLst/>
          </a:prstGeom>
          <a:noFill/>
          <a:ln/>
        </p:spPr>
        <p:txBody>
          <a:bodyPr wrap="square" lIns="0" tIns="0" rIns="0" bIns="0" rtlCol="0" anchor="ctr"/>
          <a:lstStyle/>
          <a:p>
            <a:pPr indent="0" marL="0">
              <a:buNone/>
            </a:pPr>
            <a:r>
              <a:rPr lang="en-US" sz="2400" dirty="0">
                <a:solidFill>
                  <a:schemeClr val="tx1"/>
                </a:solidFill>
              </a:rPr>
              <a:t>Đầy đủ nhất</a:t>
            </a:r>
            <a:endParaRPr lang="en-US" sz="2400" dirty="0"/>
          </a:p>
        </p:txBody>
      </p:sp>
      <p:sp>
        <p:nvSpPr>
          <p:cNvPr id="11" name="card-43"/>
          <p:cNvSpPr/>
          <p:nvPr/>
        </p:nvSpPr>
        <p:spPr>
          <a:xfrm>
            <a:off x="548640" y="3291840"/>
            <a:ext cx="11094415" cy="841248"/>
          </a:xfrm>
          <a:prstGeom prst="roundRect">
            <a:avLst>
              <a:gd name="adj" fmla="val 16304"/>
            </a:avLst>
          </a:prstGeom>
          <a:solidFill>
            <a:schemeClr val="bg2"/>
          </a:solidFill>
          <a:ln/>
        </p:spPr>
      </p:sp>
      <p:sp>
        <p:nvSpPr>
          <p:cNvPr id="12" name="text-44"/>
          <p:cNvSpPr txBox="1"/>
          <p:nvPr/>
        </p:nvSpPr>
        <p:spPr>
          <a:xfrm>
            <a:off x="731520" y="3291840"/>
            <a:ext cx="3017520" cy="841248"/>
          </a:xfrm>
          <a:prstGeom prst="rect">
            <a:avLst/>
          </a:prstGeom>
          <a:noFill/>
          <a:ln/>
        </p:spPr>
        <p:txBody>
          <a:bodyPr wrap="square" lIns="0" tIns="0" rIns="0" bIns="0" rtlCol="0" anchor="ctr"/>
          <a:lstStyle/>
          <a:p>
            <a:pPr indent="0" marL="0">
              <a:buNone/>
            </a:pPr>
            <a:r>
              <a:rPr lang="en-US" sz="2400" b="1" dirty="0">
                <a:solidFill>
                  <a:schemeClr val="accent5"/>
                </a:solidFill>
              </a:rPr>
              <a:t>Chuyên môn kỹ thuật</a:t>
            </a:r>
            <a:endParaRPr lang="en-US" sz="2400" dirty="0"/>
          </a:p>
        </p:txBody>
      </p:sp>
      <p:sp>
        <p:nvSpPr>
          <p:cNvPr id="13" name="text-45"/>
          <p:cNvSpPr txBox="1"/>
          <p:nvPr/>
        </p:nvSpPr>
        <p:spPr>
          <a:xfrm>
            <a:off x="4114800" y="3291840"/>
            <a:ext cx="3383280" cy="841248"/>
          </a:xfrm>
          <a:prstGeom prst="rect">
            <a:avLst/>
          </a:prstGeom>
          <a:noFill/>
          <a:ln/>
        </p:spPr>
        <p:txBody>
          <a:bodyPr wrap="square" lIns="0" tIns="0" rIns="0" bIns="0" rtlCol="0" anchor="ctr"/>
          <a:lstStyle/>
          <a:p>
            <a:pPr indent="0" marL="0">
              <a:buNone/>
            </a:pPr>
            <a:r>
              <a:rPr lang="en-US" sz="2400" dirty="0">
                <a:solidFill>
                  <a:schemeClr val="tx1"/>
                </a:solidFill>
              </a:rPr>
              <a:t>Chuyên gia, nhà nghiên cứu</a:t>
            </a:r>
            <a:endParaRPr lang="en-US" sz="2400" dirty="0"/>
          </a:p>
        </p:txBody>
      </p:sp>
      <p:sp>
        <p:nvSpPr>
          <p:cNvPr id="14" name="text-46"/>
          <p:cNvSpPr txBox="1"/>
          <p:nvPr/>
        </p:nvSpPr>
        <p:spPr>
          <a:xfrm>
            <a:off x="7863840" y="3291840"/>
            <a:ext cx="3749040" cy="841248"/>
          </a:xfrm>
          <a:prstGeom prst="rect">
            <a:avLst/>
          </a:prstGeom>
          <a:noFill/>
          <a:ln/>
        </p:spPr>
        <p:txBody>
          <a:bodyPr wrap="square" lIns="0" tIns="0" rIns="0" bIns="0" rtlCol="0" anchor="ctr"/>
          <a:lstStyle/>
          <a:p>
            <a:pPr indent="0" marL="0">
              <a:buNone/>
            </a:pPr>
            <a:r>
              <a:rPr lang="en-US" sz="2400" dirty="0">
                <a:solidFill>
                  <a:schemeClr val="tx1"/>
                </a:solidFill>
              </a:rPr>
              <a:t>Nhấn mạnh phương pháp</a:t>
            </a:r>
            <a:endParaRPr lang="en-US" sz="2400" dirty="0"/>
          </a:p>
        </p:txBody>
      </p:sp>
      <p:sp>
        <p:nvSpPr>
          <p:cNvPr id="15" name="card-47"/>
          <p:cNvSpPr/>
          <p:nvPr/>
        </p:nvSpPr>
        <p:spPr>
          <a:xfrm>
            <a:off x="548640" y="4251960"/>
            <a:ext cx="11094415" cy="841248"/>
          </a:xfrm>
          <a:prstGeom prst="roundRect">
            <a:avLst>
              <a:gd name="adj" fmla="val 16304"/>
            </a:avLst>
          </a:prstGeom>
          <a:solidFill>
            <a:schemeClr val="bg2"/>
          </a:solidFill>
          <a:ln/>
        </p:spPr>
      </p:sp>
      <p:sp>
        <p:nvSpPr>
          <p:cNvPr id="16" name="text-48"/>
          <p:cNvSpPr txBox="1"/>
          <p:nvPr/>
        </p:nvSpPr>
        <p:spPr>
          <a:xfrm>
            <a:off x="731520" y="4251960"/>
            <a:ext cx="3017520" cy="841248"/>
          </a:xfrm>
          <a:prstGeom prst="rect">
            <a:avLst/>
          </a:prstGeom>
          <a:noFill/>
          <a:ln/>
        </p:spPr>
        <p:txBody>
          <a:bodyPr wrap="square" lIns="0" tIns="0" rIns="0" bIns="0" rtlCol="0" anchor="ctr"/>
          <a:lstStyle/>
          <a:p>
            <a:pPr indent="0" marL="0">
              <a:buNone/>
            </a:pPr>
            <a:r>
              <a:rPr lang="en-US" sz="2400" b="1" dirty="0">
                <a:solidFill>
                  <a:schemeClr val="accent1"/>
                </a:solidFill>
              </a:rPr>
              <a:t>Cho người sử dụng</a:t>
            </a:r>
            <a:endParaRPr lang="en-US" sz="2400" dirty="0"/>
          </a:p>
        </p:txBody>
      </p:sp>
      <p:sp>
        <p:nvSpPr>
          <p:cNvPr id="17" name="text-49"/>
          <p:cNvSpPr txBox="1"/>
          <p:nvPr/>
        </p:nvSpPr>
        <p:spPr>
          <a:xfrm>
            <a:off x="4114800" y="4251960"/>
            <a:ext cx="3383280" cy="841248"/>
          </a:xfrm>
          <a:prstGeom prst="rect">
            <a:avLst/>
          </a:prstGeom>
          <a:noFill/>
          <a:ln/>
        </p:spPr>
        <p:txBody>
          <a:bodyPr wrap="square" lIns="0" tIns="0" rIns="0" bIns="0" rtlCol="0" anchor="ctr"/>
          <a:lstStyle/>
          <a:p>
            <a:pPr indent="0" marL="0">
              <a:buNone/>
            </a:pPr>
            <a:r>
              <a:rPr lang="en-US" sz="2400" dirty="0">
                <a:solidFill>
                  <a:schemeClr val="tx1"/>
                </a:solidFill>
              </a:rPr>
              <a:t>Nhà quản trị</a:t>
            </a:r>
            <a:endParaRPr lang="en-US" sz="2400" dirty="0"/>
          </a:p>
        </p:txBody>
      </p:sp>
      <p:sp>
        <p:nvSpPr>
          <p:cNvPr id="18" name="text-50"/>
          <p:cNvSpPr txBox="1"/>
          <p:nvPr/>
        </p:nvSpPr>
        <p:spPr>
          <a:xfrm>
            <a:off x="7863840" y="4251960"/>
            <a:ext cx="3749040" cy="841248"/>
          </a:xfrm>
          <a:prstGeom prst="rect">
            <a:avLst/>
          </a:prstGeom>
          <a:noFill/>
          <a:ln/>
        </p:spPr>
        <p:txBody>
          <a:bodyPr wrap="square" lIns="0" tIns="0" rIns="0" bIns="0" rtlCol="0" anchor="ctr"/>
          <a:lstStyle/>
          <a:p>
            <a:pPr indent="0" marL="0">
              <a:buNone/>
            </a:pPr>
            <a:r>
              <a:rPr lang="en-US" sz="2400" dirty="0">
                <a:solidFill>
                  <a:schemeClr val="tx1"/>
                </a:solidFill>
              </a:rPr>
              <a:t>Ngắn gọn, tập trung đề xuất</a:t>
            </a:r>
            <a:endParaRPr lang="en-US" sz="2400" dirty="0"/>
          </a:p>
        </p:txBody>
      </p:sp>
      <p:sp>
        <p:nvSpPr>
          <p:cNvPr id="19" name="card-51"/>
          <p:cNvSpPr/>
          <p:nvPr/>
        </p:nvSpPr>
        <p:spPr>
          <a:xfrm>
            <a:off x="548640" y="5212080"/>
            <a:ext cx="11094415" cy="841248"/>
          </a:xfrm>
          <a:prstGeom prst="roundRect">
            <a:avLst>
              <a:gd name="adj" fmla="val 16304"/>
            </a:avLst>
          </a:prstGeom>
          <a:solidFill>
            <a:schemeClr val="bg2"/>
          </a:solidFill>
          <a:ln/>
        </p:spPr>
      </p:sp>
      <p:sp>
        <p:nvSpPr>
          <p:cNvPr id="20" name="text-52"/>
          <p:cNvSpPr txBox="1"/>
          <p:nvPr/>
        </p:nvSpPr>
        <p:spPr>
          <a:xfrm>
            <a:off x="731520" y="5212080"/>
            <a:ext cx="3017520" cy="841248"/>
          </a:xfrm>
          <a:prstGeom prst="rect">
            <a:avLst/>
          </a:prstGeom>
          <a:noFill/>
          <a:ln/>
        </p:spPr>
        <p:txBody>
          <a:bodyPr wrap="square" lIns="0" tIns="0" rIns="0" bIns="0" rtlCol="0" anchor="ctr"/>
          <a:lstStyle/>
          <a:p>
            <a:pPr indent="0" marL="0">
              <a:buNone/>
            </a:pPr>
            <a:r>
              <a:rPr lang="en-US" sz="2400" b="1" dirty="0">
                <a:solidFill>
                  <a:schemeClr val="accent6"/>
                </a:solidFill>
              </a:rPr>
              <a:t>Phổ biến</a:t>
            </a:r>
            <a:endParaRPr lang="en-US" sz="2400" dirty="0"/>
          </a:p>
        </p:txBody>
      </p:sp>
      <p:sp>
        <p:nvSpPr>
          <p:cNvPr id="21" name="text-53"/>
          <p:cNvSpPr txBox="1"/>
          <p:nvPr/>
        </p:nvSpPr>
        <p:spPr>
          <a:xfrm>
            <a:off x="4114800" y="5212080"/>
            <a:ext cx="3383280" cy="841248"/>
          </a:xfrm>
          <a:prstGeom prst="rect">
            <a:avLst/>
          </a:prstGeom>
          <a:noFill/>
          <a:ln/>
        </p:spPr>
        <p:txBody>
          <a:bodyPr wrap="square" lIns="0" tIns="0" rIns="0" bIns="0" rtlCol="0" anchor="ctr"/>
          <a:lstStyle/>
          <a:p>
            <a:pPr indent="0" marL="0">
              <a:buNone/>
            </a:pPr>
            <a:r>
              <a:rPr lang="en-US" sz="2400" dirty="0">
                <a:solidFill>
                  <a:schemeClr val="tx1"/>
                </a:solidFill>
              </a:rPr>
              <a:t>Công chúng, báo chí</a:t>
            </a:r>
            <a:endParaRPr lang="en-US" sz="2400" dirty="0"/>
          </a:p>
        </p:txBody>
      </p:sp>
      <p:sp>
        <p:nvSpPr>
          <p:cNvPr id="22" name="text-54"/>
          <p:cNvSpPr txBox="1"/>
          <p:nvPr/>
        </p:nvSpPr>
        <p:spPr>
          <a:xfrm>
            <a:off x="7863840" y="5212080"/>
            <a:ext cx="3749040" cy="841248"/>
          </a:xfrm>
          <a:prstGeom prst="rect">
            <a:avLst/>
          </a:prstGeom>
          <a:noFill/>
          <a:ln/>
        </p:spPr>
        <p:txBody>
          <a:bodyPr wrap="square" lIns="0" tIns="0" rIns="0" bIns="0" rtlCol="0" anchor="ctr"/>
          <a:lstStyle/>
          <a:p>
            <a:pPr indent="0" marL="0">
              <a:buNone/>
            </a:pPr>
            <a:r>
              <a:rPr lang="en-US" sz="2400" dirty="0">
                <a:solidFill>
                  <a:schemeClr val="tx1"/>
                </a:solidFill>
              </a:rPr>
              <a:t>Đơn giản, nhiều hình ảnh</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Báo cáo của nhóm viết cho giảng viên, nhưng kết luận phải viết cho nhà quản trị</a:t>
            </a:r>
            <a:endParaRPr lang="en-US" sz="3000" dirty="0"/>
          </a:p>
        </p:txBody>
      </p:sp>
      <p:sp>
        <p:nvSpPr>
          <p:cNvPr id="4" name="card-55"/>
          <p:cNvSpPr/>
          <p:nvPr/>
        </p:nvSpPr>
        <p:spPr>
          <a:xfrm>
            <a:off x="548640" y="1783080"/>
            <a:ext cx="5376672" cy="4206240"/>
          </a:xfrm>
          <a:prstGeom prst="roundRect">
            <a:avLst>
              <a:gd name="adj" fmla="val 3261"/>
            </a:avLst>
          </a:prstGeom>
          <a:solidFill>
            <a:schemeClr val="bg2"/>
          </a:solidFill>
          <a:ln/>
        </p:spPr>
      </p:sp>
      <p:sp>
        <p:nvSpPr>
          <p:cNvPr id="5" name="icon-bg-56"/>
          <p:cNvSpPr/>
          <p:nvPr/>
        </p:nvSpPr>
        <p:spPr>
          <a:xfrm>
            <a:off x="868680" y="2057400"/>
            <a:ext cx="1005840" cy="1005840"/>
          </a:xfrm>
          <a:prstGeom prst="ellipse">
            <a:avLst/>
          </a:prstGeom>
          <a:solidFill>
            <a:schemeClr val="accent5"/>
          </a:solidFill>
          <a:ln/>
        </p:spPr>
      </p:sp>
      <p:pic>
        <p:nvPicPr>
          <p:cNvPr id="6" name="icon-57" descr="preencoded.png">    </p:cNvPr>
          <p:cNvPicPr>
            <a:picLocks noChangeAspect="1"/>
          </p:cNvPicPr>
          <p:nvPr/>
        </p:nvPicPr>
        <p:blipFill>
          <a:blip r:embed="rId1"/>
          <a:stretch>
            <a:fillRect/>
          </a:stretch>
        </p:blipFill>
        <p:spPr>
          <a:xfrm>
            <a:off x="1120140" y="2308860"/>
            <a:ext cx="502920" cy="502920"/>
          </a:xfrm>
          <a:prstGeom prst="rect">
            <a:avLst/>
          </a:prstGeom>
        </p:spPr>
      </p:pic>
      <p:sp>
        <p:nvSpPr>
          <p:cNvPr id="7" name="text-58"/>
          <p:cNvSpPr txBox="1"/>
          <p:nvPr/>
        </p:nvSpPr>
        <p:spPr>
          <a:xfrm>
            <a:off x="2103120" y="2057400"/>
            <a:ext cx="3657600" cy="1005840"/>
          </a:xfrm>
          <a:prstGeom prst="rect">
            <a:avLst/>
          </a:prstGeom>
          <a:noFill/>
          <a:ln/>
        </p:spPr>
        <p:txBody>
          <a:bodyPr wrap="square" lIns="0" tIns="0" rIns="0" bIns="0" rtlCol="0" anchor="ctr"/>
          <a:lstStyle/>
          <a:p>
            <a:pPr indent="0" marL="0">
              <a:buNone/>
            </a:pPr>
            <a:r>
              <a:rPr lang="en-US" sz="2800" b="1" dirty="0">
                <a:solidFill>
                  <a:schemeClr val="accent5"/>
                </a:solidFill>
              </a:rPr>
              <a:t>Toàn báo cáo</a:t>
            </a:r>
            <a:endParaRPr lang="en-US" sz="2800" dirty="0"/>
          </a:p>
        </p:txBody>
      </p:sp>
      <p:sp>
        <p:nvSpPr>
          <p:cNvPr id="8" name="text-59"/>
          <p:cNvSpPr txBox="1"/>
          <p:nvPr/>
        </p:nvSpPr>
        <p:spPr>
          <a:xfrm>
            <a:off x="868680" y="3383280"/>
            <a:ext cx="4754880" cy="1005840"/>
          </a:xfrm>
          <a:prstGeom prst="rect">
            <a:avLst/>
          </a:prstGeom>
          <a:noFill/>
          <a:ln/>
        </p:spPr>
        <p:txBody>
          <a:bodyPr wrap="square" lIns="0" tIns="0" rIns="0" bIns="0" rtlCol="0" anchor="t"/>
          <a:lstStyle/>
          <a:p>
            <a:pPr indent="0" marL="0">
              <a:buNone/>
            </a:pPr>
            <a:r>
              <a:rPr lang="en-US" sz="2800" b="1" dirty="0">
                <a:solidFill>
                  <a:schemeClr val="tx1"/>
                </a:solidFill>
              </a:rPr>
              <a:t>≈ Báo cáo chuyên môn</a:t>
            </a:r>
            <a:endParaRPr lang="en-US" sz="2800" dirty="0"/>
          </a:p>
        </p:txBody>
      </p:sp>
      <p:sp>
        <p:nvSpPr>
          <p:cNvPr id="9" name="text-60"/>
          <p:cNvSpPr txBox="1"/>
          <p:nvPr/>
        </p:nvSpPr>
        <p:spPr>
          <a:xfrm>
            <a:off x="868680" y="4480560"/>
            <a:ext cx="4754880" cy="1280160"/>
          </a:xfrm>
          <a:prstGeom prst="rect">
            <a:avLst/>
          </a:prstGeom>
          <a:noFill/>
          <a:ln/>
        </p:spPr>
        <p:txBody>
          <a:bodyPr wrap="square" lIns="0" tIns="0" rIns="0" bIns="0" rtlCol="0" anchor="t"/>
          <a:lstStyle/>
          <a:p>
            <a:pPr indent="0" marL="0">
              <a:buNone/>
            </a:pPr>
            <a:r>
              <a:rPr lang="en-US" sz="2400" dirty="0">
                <a:solidFill>
                  <a:schemeClr val="tx2"/>
                </a:solidFill>
              </a:rPr>
              <a:t>Người đọc: giảng viên</a:t>
            </a:r>
            <a:endParaRPr lang="en-US" sz="2400" dirty="0"/>
          </a:p>
        </p:txBody>
      </p:sp>
      <p:sp>
        <p:nvSpPr>
          <p:cNvPr id="10" name="card-61"/>
          <p:cNvSpPr/>
          <p:nvPr/>
        </p:nvSpPr>
        <p:spPr>
          <a:xfrm>
            <a:off x="6263640" y="1783080"/>
            <a:ext cx="5376672" cy="4206240"/>
          </a:xfrm>
          <a:prstGeom prst="roundRect">
            <a:avLst>
              <a:gd name="adj" fmla="val 3261"/>
            </a:avLst>
          </a:prstGeom>
          <a:solidFill>
            <a:schemeClr val="bg2"/>
          </a:solidFill>
          <a:ln/>
        </p:spPr>
      </p:sp>
      <p:sp>
        <p:nvSpPr>
          <p:cNvPr id="11" name="icon-bg-62"/>
          <p:cNvSpPr/>
          <p:nvPr/>
        </p:nvSpPr>
        <p:spPr>
          <a:xfrm>
            <a:off x="6583680" y="2057400"/>
            <a:ext cx="1005840" cy="1005840"/>
          </a:xfrm>
          <a:prstGeom prst="ellipse">
            <a:avLst/>
          </a:prstGeom>
          <a:solidFill>
            <a:schemeClr val="accent1"/>
          </a:solidFill>
          <a:ln/>
        </p:spPr>
      </p:sp>
      <p:pic>
        <p:nvPicPr>
          <p:cNvPr id="12" name="icon-63" descr="preencoded.png">    </p:cNvPr>
          <p:cNvPicPr>
            <a:picLocks noChangeAspect="1"/>
          </p:cNvPicPr>
          <p:nvPr/>
        </p:nvPicPr>
        <p:blipFill>
          <a:blip r:embed="rId2"/>
          <a:stretch>
            <a:fillRect/>
          </a:stretch>
        </p:blipFill>
        <p:spPr>
          <a:xfrm>
            <a:off x="6835140" y="2308860"/>
            <a:ext cx="502920" cy="502920"/>
          </a:xfrm>
          <a:prstGeom prst="rect">
            <a:avLst/>
          </a:prstGeom>
        </p:spPr>
      </p:pic>
      <p:sp>
        <p:nvSpPr>
          <p:cNvPr id="13" name="text-64"/>
          <p:cNvSpPr txBox="1"/>
          <p:nvPr/>
        </p:nvSpPr>
        <p:spPr>
          <a:xfrm>
            <a:off x="7818120" y="2057400"/>
            <a:ext cx="3657600" cy="1005840"/>
          </a:xfrm>
          <a:prstGeom prst="rect">
            <a:avLst/>
          </a:prstGeom>
          <a:noFill/>
          <a:ln/>
        </p:spPr>
        <p:txBody>
          <a:bodyPr wrap="square" lIns="0" tIns="0" rIns="0" bIns="0" rtlCol="0" anchor="ctr"/>
          <a:lstStyle/>
          <a:p>
            <a:pPr indent="0" marL="0">
              <a:buNone/>
            </a:pPr>
            <a:r>
              <a:rPr lang="en-US" sz="2800" b="1" dirty="0">
                <a:solidFill>
                  <a:schemeClr val="accent1"/>
                </a:solidFill>
              </a:rPr>
              <a:t>Kết luận &amp; hàm ý</a:t>
            </a:r>
            <a:endParaRPr lang="en-US" sz="2800" dirty="0"/>
          </a:p>
        </p:txBody>
      </p:sp>
      <p:sp>
        <p:nvSpPr>
          <p:cNvPr id="14" name="text-65"/>
          <p:cNvSpPr txBox="1"/>
          <p:nvPr/>
        </p:nvSpPr>
        <p:spPr>
          <a:xfrm>
            <a:off x="6583680" y="3383280"/>
            <a:ext cx="4754880" cy="1005840"/>
          </a:xfrm>
          <a:prstGeom prst="rect">
            <a:avLst/>
          </a:prstGeom>
          <a:noFill/>
          <a:ln/>
        </p:spPr>
        <p:txBody>
          <a:bodyPr wrap="square" lIns="0" tIns="0" rIns="0" bIns="0" rtlCol="0" anchor="t"/>
          <a:lstStyle/>
          <a:p>
            <a:pPr indent="0" marL="0">
              <a:buNone/>
            </a:pPr>
            <a:r>
              <a:rPr lang="en-US" sz="2800" b="1" dirty="0">
                <a:solidFill>
                  <a:schemeClr val="tx1"/>
                </a:solidFill>
              </a:rPr>
              <a:t>≈ Báo cáo cho người sử dụng</a:t>
            </a:r>
            <a:endParaRPr lang="en-US" sz="2800" dirty="0"/>
          </a:p>
        </p:txBody>
      </p:sp>
      <p:sp>
        <p:nvSpPr>
          <p:cNvPr id="15" name="text-66"/>
          <p:cNvSpPr txBox="1"/>
          <p:nvPr/>
        </p:nvSpPr>
        <p:spPr>
          <a:xfrm>
            <a:off x="6583680" y="4480560"/>
            <a:ext cx="4754880" cy="1280160"/>
          </a:xfrm>
          <a:prstGeom prst="rect">
            <a:avLst/>
          </a:prstGeom>
          <a:noFill/>
          <a:ln/>
        </p:spPr>
        <p:txBody>
          <a:bodyPr wrap="square" lIns="0" tIns="0" rIns="0" bIns="0" rtlCol="0" anchor="t"/>
          <a:lstStyle/>
          <a:p>
            <a:pPr indent="0" marL="0">
              <a:buNone/>
            </a:pPr>
            <a:r>
              <a:rPr lang="en-US" sz="2400" dirty="0">
                <a:solidFill>
                  <a:schemeClr val="tx2"/>
                </a:solidFill>
              </a:rPr>
              <a:t>Người đọc: nhà quản trị thương hiệu nhóm chọn</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Một báo cáo đầy đủ có 10 thành phần</a:t>
            </a:r>
            <a:endParaRPr lang="en-US" sz="3000" dirty="0"/>
          </a:p>
        </p:txBody>
      </p:sp>
      <p:sp>
        <p:nvSpPr>
          <p:cNvPr id="4" name="card-67"/>
          <p:cNvSpPr/>
          <p:nvPr/>
        </p:nvSpPr>
        <p:spPr>
          <a:xfrm>
            <a:off x="548640" y="1737360"/>
            <a:ext cx="5376672" cy="749808"/>
          </a:xfrm>
          <a:prstGeom prst="roundRect">
            <a:avLst>
              <a:gd name="adj" fmla="val 18293"/>
            </a:avLst>
          </a:prstGeom>
          <a:solidFill>
            <a:schemeClr val="bg2"/>
          </a:solidFill>
          <a:ln/>
        </p:spPr>
      </p:sp>
      <p:sp>
        <p:nvSpPr>
          <p:cNvPr id="5" name="dot-68"/>
          <p:cNvSpPr/>
          <p:nvPr/>
        </p:nvSpPr>
        <p:spPr>
          <a:xfrm>
            <a:off x="685800" y="1837944"/>
            <a:ext cx="548640" cy="548640"/>
          </a:xfrm>
          <a:prstGeom prst="ellipse">
            <a:avLst/>
          </a:prstGeom>
          <a:solidFill>
            <a:schemeClr val="accent1"/>
          </a:solidFill>
          <a:ln/>
        </p:spPr>
      </p:sp>
      <p:sp>
        <p:nvSpPr>
          <p:cNvPr id="6" name="text-69"/>
          <p:cNvSpPr txBox="1"/>
          <p:nvPr/>
        </p:nvSpPr>
        <p:spPr>
          <a:xfrm>
            <a:off x="685800" y="1837944"/>
            <a:ext cx="548640" cy="54864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7" name="text-70"/>
          <p:cNvSpPr txBox="1"/>
          <p:nvPr/>
        </p:nvSpPr>
        <p:spPr>
          <a:xfrm>
            <a:off x="1417320" y="1737360"/>
            <a:ext cx="4389120" cy="749808"/>
          </a:xfrm>
          <a:prstGeom prst="rect">
            <a:avLst/>
          </a:prstGeom>
          <a:noFill/>
          <a:ln/>
        </p:spPr>
        <p:txBody>
          <a:bodyPr wrap="square" lIns="0" tIns="0" rIns="0" bIns="0" rtlCol="0" anchor="ctr"/>
          <a:lstStyle/>
          <a:p>
            <a:pPr indent="0" marL="0">
              <a:buNone/>
            </a:pPr>
            <a:r>
              <a:rPr lang="en-US" sz="2400" dirty="0">
                <a:solidFill>
                  <a:schemeClr val="tx1"/>
                </a:solidFill>
              </a:rPr>
              <a:t>Trang tựa</a:t>
            </a:r>
            <a:endParaRPr lang="en-US" sz="2400" dirty="0"/>
          </a:p>
        </p:txBody>
      </p:sp>
      <p:sp>
        <p:nvSpPr>
          <p:cNvPr id="8" name="card-71"/>
          <p:cNvSpPr/>
          <p:nvPr/>
        </p:nvSpPr>
        <p:spPr>
          <a:xfrm>
            <a:off x="548640" y="2633472"/>
            <a:ext cx="5376672" cy="749808"/>
          </a:xfrm>
          <a:prstGeom prst="roundRect">
            <a:avLst>
              <a:gd name="adj" fmla="val 18293"/>
            </a:avLst>
          </a:prstGeom>
          <a:solidFill>
            <a:schemeClr val="bg2"/>
          </a:solidFill>
          <a:ln/>
        </p:spPr>
      </p:sp>
      <p:sp>
        <p:nvSpPr>
          <p:cNvPr id="9" name="dot-72"/>
          <p:cNvSpPr/>
          <p:nvPr/>
        </p:nvSpPr>
        <p:spPr>
          <a:xfrm>
            <a:off x="685800" y="2734056"/>
            <a:ext cx="548640" cy="548640"/>
          </a:xfrm>
          <a:prstGeom prst="ellipse">
            <a:avLst/>
          </a:prstGeom>
          <a:solidFill>
            <a:schemeClr val="accent2"/>
          </a:solidFill>
          <a:ln/>
        </p:spPr>
      </p:sp>
      <p:sp>
        <p:nvSpPr>
          <p:cNvPr id="10" name="text-73"/>
          <p:cNvSpPr txBox="1"/>
          <p:nvPr/>
        </p:nvSpPr>
        <p:spPr>
          <a:xfrm>
            <a:off x="685800" y="2734056"/>
            <a:ext cx="548640" cy="54864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1" name="text-74"/>
          <p:cNvSpPr txBox="1"/>
          <p:nvPr/>
        </p:nvSpPr>
        <p:spPr>
          <a:xfrm>
            <a:off x="1417320" y="2633472"/>
            <a:ext cx="4389120" cy="749808"/>
          </a:xfrm>
          <a:prstGeom prst="rect">
            <a:avLst/>
          </a:prstGeom>
          <a:noFill/>
          <a:ln/>
        </p:spPr>
        <p:txBody>
          <a:bodyPr wrap="square" lIns="0" tIns="0" rIns="0" bIns="0" rtlCol="0" anchor="ctr"/>
          <a:lstStyle/>
          <a:p>
            <a:pPr indent="0" marL="0">
              <a:buNone/>
            </a:pPr>
            <a:r>
              <a:rPr lang="en-US" sz="2400" dirty="0">
                <a:solidFill>
                  <a:schemeClr val="tx1"/>
                </a:solidFill>
              </a:rPr>
              <a:t>Mục lục</a:t>
            </a:r>
            <a:endParaRPr lang="en-US" sz="2400" dirty="0"/>
          </a:p>
        </p:txBody>
      </p:sp>
      <p:sp>
        <p:nvSpPr>
          <p:cNvPr id="12" name="card-75"/>
          <p:cNvSpPr/>
          <p:nvPr/>
        </p:nvSpPr>
        <p:spPr>
          <a:xfrm>
            <a:off x="548640" y="3529584"/>
            <a:ext cx="5376672" cy="749808"/>
          </a:xfrm>
          <a:prstGeom prst="roundRect">
            <a:avLst>
              <a:gd name="adj" fmla="val 18293"/>
            </a:avLst>
          </a:prstGeom>
          <a:solidFill>
            <a:schemeClr val="bg2"/>
          </a:solidFill>
          <a:ln/>
        </p:spPr>
      </p:sp>
      <p:sp>
        <p:nvSpPr>
          <p:cNvPr id="13" name="dot-76"/>
          <p:cNvSpPr/>
          <p:nvPr/>
        </p:nvSpPr>
        <p:spPr>
          <a:xfrm>
            <a:off x="685800" y="3630168"/>
            <a:ext cx="548640" cy="548640"/>
          </a:xfrm>
          <a:prstGeom prst="ellipse">
            <a:avLst/>
          </a:prstGeom>
          <a:solidFill>
            <a:schemeClr val="accent3"/>
          </a:solidFill>
          <a:ln/>
        </p:spPr>
      </p:sp>
      <p:sp>
        <p:nvSpPr>
          <p:cNvPr id="14" name="text-77"/>
          <p:cNvSpPr txBox="1"/>
          <p:nvPr/>
        </p:nvSpPr>
        <p:spPr>
          <a:xfrm>
            <a:off x="685800" y="3630168"/>
            <a:ext cx="548640" cy="54864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5" name="text-78"/>
          <p:cNvSpPr txBox="1"/>
          <p:nvPr/>
        </p:nvSpPr>
        <p:spPr>
          <a:xfrm>
            <a:off x="1417320" y="3529584"/>
            <a:ext cx="4389120" cy="749808"/>
          </a:xfrm>
          <a:prstGeom prst="rect">
            <a:avLst/>
          </a:prstGeom>
          <a:noFill/>
          <a:ln/>
        </p:spPr>
        <p:txBody>
          <a:bodyPr wrap="square" lIns="0" tIns="0" rIns="0" bIns="0" rtlCol="0" anchor="ctr"/>
          <a:lstStyle/>
          <a:p>
            <a:pPr indent="0" marL="0">
              <a:buNone/>
            </a:pPr>
            <a:r>
              <a:rPr lang="en-US" sz="2400" dirty="0">
                <a:solidFill>
                  <a:schemeClr val="tx1"/>
                </a:solidFill>
              </a:rPr>
              <a:t>Tóm lược</a:t>
            </a:r>
            <a:endParaRPr lang="en-US" sz="2400" dirty="0"/>
          </a:p>
        </p:txBody>
      </p:sp>
      <p:sp>
        <p:nvSpPr>
          <p:cNvPr id="16" name="card-79"/>
          <p:cNvSpPr/>
          <p:nvPr/>
        </p:nvSpPr>
        <p:spPr>
          <a:xfrm>
            <a:off x="548640" y="4425696"/>
            <a:ext cx="5376672" cy="749808"/>
          </a:xfrm>
          <a:prstGeom prst="roundRect">
            <a:avLst>
              <a:gd name="adj" fmla="val 18293"/>
            </a:avLst>
          </a:prstGeom>
          <a:solidFill>
            <a:schemeClr val="bg2"/>
          </a:solidFill>
          <a:ln/>
        </p:spPr>
      </p:sp>
      <p:sp>
        <p:nvSpPr>
          <p:cNvPr id="17" name="dot-80"/>
          <p:cNvSpPr/>
          <p:nvPr/>
        </p:nvSpPr>
        <p:spPr>
          <a:xfrm>
            <a:off x="685800" y="4526280"/>
            <a:ext cx="548640" cy="548640"/>
          </a:xfrm>
          <a:prstGeom prst="ellipse">
            <a:avLst/>
          </a:prstGeom>
          <a:solidFill>
            <a:schemeClr val="accent5"/>
          </a:solidFill>
          <a:ln/>
        </p:spPr>
      </p:sp>
      <p:sp>
        <p:nvSpPr>
          <p:cNvPr id="18" name="text-81"/>
          <p:cNvSpPr txBox="1"/>
          <p:nvPr/>
        </p:nvSpPr>
        <p:spPr>
          <a:xfrm>
            <a:off x="685800" y="4526280"/>
            <a:ext cx="548640" cy="54864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19" name="text-82"/>
          <p:cNvSpPr txBox="1"/>
          <p:nvPr/>
        </p:nvSpPr>
        <p:spPr>
          <a:xfrm>
            <a:off x="1417320" y="4425696"/>
            <a:ext cx="4389120" cy="749808"/>
          </a:xfrm>
          <a:prstGeom prst="rect">
            <a:avLst/>
          </a:prstGeom>
          <a:noFill/>
          <a:ln/>
        </p:spPr>
        <p:txBody>
          <a:bodyPr wrap="square" lIns="0" tIns="0" rIns="0" bIns="0" rtlCol="0" anchor="ctr"/>
          <a:lstStyle/>
          <a:p>
            <a:pPr indent="0" marL="0">
              <a:buNone/>
            </a:pPr>
            <a:r>
              <a:rPr lang="en-US" sz="2400" dirty="0">
                <a:solidFill>
                  <a:schemeClr val="tx1"/>
                </a:solidFill>
              </a:rPr>
              <a:t>Giới thiệu</a:t>
            </a:r>
            <a:endParaRPr lang="en-US" sz="2400" dirty="0"/>
          </a:p>
        </p:txBody>
      </p:sp>
      <p:sp>
        <p:nvSpPr>
          <p:cNvPr id="20" name="card-83"/>
          <p:cNvSpPr/>
          <p:nvPr/>
        </p:nvSpPr>
        <p:spPr>
          <a:xfrm>
            <a:off x="548640" y="5321808"/>
            <a:ext cx="5376672" cy="749808"/>
          </a:xfrm>
          <a:prstGeom prst="roundRect">
            <a:avLst>
              <a:gd name="adj" fmla="val 18293"/>
            </a:avLst>
          </a:prstGeom>
          <a:solidFill>
            <a:schemeClr val="bg2"/>
          </a:solidFill>
          <a:ln/>
        </p:spPr>
      </p:sp>
      <p:sp>
        <p:nvSpPr>
          <p:cNvPr id="21" name="dot-84"/>
          <p:cNvSpPr/>
          <p:nvPr/>
        </p:nvSpPr>
        <p:spPr>
          <a:xfrm>
            <a:off x="685800" y="5422392"/>
            <a:ext cx="548640" cy="548640"/>
          </a:xfrm>
          <a:prstGeom prst="ellipse">
            <a:avLst/>
          </a:prstGeom>
          <a:solidFill>
            <a:schemeClr val="accent6"/>
          </a:solidFill>
          <a:ln/>
        </p:spPr>
      </p:sp>
      <p:sp>
        <p:nvSpPr>
          <p:cNvPr id="22" name="text-85"/>
          <p:cNvSpPr txBox="1"/>
          <p:nvPr/>
        </p:nvSpPr>
        <p:spPr>
          <a:xfrm>
            <a:off x="685800" y="5422392"/>
            <a:ext cx="548640" cy="548640"/>
          </a:xfrm>
          <a:prstGeom prst="rect">
            <a:avLst/>
          </a:prstGeom>
          <a:noFill/>
          <a:ln/>
        </p:spPr>
        <p:txBody>
          <a:bodyPr wrap="square" lIns="0" tIns="0" rIns="0" bIns="0" rtlCol="0" anchor="ctr"/>
          <a:lstStyle/>
          <a:p>
            <a:pPr algn="ctr" indent="0" marL="0">
              <a:buNone/>
            </a:pPr>
            <a:r>
              <a:rPr lang="en-US" sz="2400" b="1" dirty="0">
                <a:solidFill>
                  <a:schemeClr val="bg1"/>
                </a:solidFill>
              </a:rPr>
              <a:t>5</a:t>
            </a:r>
            <a:endParaRPr lang="en-US" sz="2400" dirty="0"/>
          </a:p>
        </p:txBody>
      </p:sp>
      <p:sp>
        <p:nvSpPr>
          <p:cNvPr id="23" name="text-86"/>
          <p:cNvSpPr txBox="1"/>
          <p:nvPr/>
        </p:nvSpPr>
        <p:spPr>
          <a:xfrm>
            <a:off x="1417320" y="5321808"/>
            <a:ext cx="4389120" cy="749808"/>
          </a:xfrm>
          <a:prstGeom prst="rect">
            <a:avLst/>
          </a:prstGeom>
          <a:noFill/>
          <a:ln/>
        </p:spPr>
        <p:txBody>
          <a:bodyPr wrap="square" lIns="0" tIns="0" rIns="0" bIns="0" rtlCol="0" anchor="ctr"/>
          <a:lstStyle/>
          <a:p>
            <a:pPr indent="0" marL="0">
              <a:buNone/>
            </a:pPr>
            <a:r>
              <a:rPr lang="en-US" sz="2400" dirty="0">
                <a:solidFill>
                  <a:schemeClr val="tx1"/>
                </a:solidFill>
              </a:rPr>
              <a:t>Phương pháp luận</a:t>
            </a:r>
            <a:endParaRPr lang="en-US" sz="2400" dirty="0"/>
          </a:p>
        </p:txBody>
      </p:sp>
      <p:sp>
        <p:nvSpPr>
          <p:cNvPr id="24" name="card-87"/>
          <p:cNvSpPr/>
          <p:nvPr/>
        </p:nvSpPr>
        <p:spPr>
          <a:xfrm>
            <a:off x="6263640" y="1737360"/>
            <a:ext cx="5376672" cy="749808"/>
          </a:xfrm>
          <a:prstGeom prst="roundRect">
            <a:avLst>
              <a:gd name="adj" fmla="val 18293"/>
            </a:avLst>
          </a:prstGeom>
          <a:solidFill>
            <a:schemeClr val="bg2"/>
          </a:solidFill>
          <a:ln/>
        </p:spPr>
      </p:sp>
      <p:sp>
        <p:nvSpPr>
          <p:cNvPr id="25" name="dot-88"/>
          <p:cNvSpPr/>
          <p:nvPr/>
        </p:nvSpPr>
        <p:spPr>
          <a:xfrm>
            <a:off x="6400800" y="1837944"/>
            <a:ext cx="548640" cy="548640"/>
          </a:xfrm>
          <a:prstGeom prst="ellipse">
            <a:avLst/>
          </a:prstGeom>
          <a:solidFill>
            <a:schemeClr val="accent1"/>
          </a:solidFill>
          <a:ln/>
        </p:spPr>
      </p:sp>
      <p:sp>
        <p:nvSpPr>
          <p:cNvPr id="26" name="text-89"/>
          <p:cNvSpPr txBox="1"/>
          <p:nvPr/>
        </p:nvSpPr>
        <p:spPr>
          <a:xfrm>
            <a:off x="6400800" y="1837944"/>
            <a:ext cx="548640" cy="548640"/>
          </a:xfrm>
          <a:prstGeom prst="rect">
            <a:avLst/>
          </a:prstGeom>
          <a:noFill/>
          <a:ln/>
        </p:spPr>
        <p:txBody>
          <a:bodyPr wrap="square" lIns="0" tIns="0" rIns="0" bIns="0" rtlCol="0" anchor="ctr"/>
          <a:lstStyle/>
          <a:p>
            <a:pPr algn="ctr" indent="0" marL="0">
              <a:buNone/>
            </a:pPr>
            <a:r>
              <a:rPr lang="en-US" sz="2400" b="1" dirty="0">
                <a:solidFill>
                  <a:schemeClr val="bg1"/>
                </a:solidFill>
              </a:rPr>
              <a:t>6</a:t>
            </a:r>
            <a:endParaRPr lang="en-US" sz="2400" dirty="0"/>
          </a:p>
        </p:txBody>
      </p:sp>
      <p:sp>
        <p:nvSpPr>
          <p:cNvPr id="27" name="text-90"/>
          <p:cNvSpPr txBox="1"/>
          <p:nvPr/>
        </p:nvSpPr>
        <p:spPr>
          <a:xfrm>
            <a:off x="7132320" y="1737360"/>
            <a:ext cx="4389120" cy="749808"/>
          </a:xfrm>
          <a:prstGeom prst="rect">
            <a:avLst/>
          </a:prstGeom>
          <a:noFill/>
          <a:ln/>
        </p:spPr>
        <p:txBody>
          <a:bodyPr wrap="square" lIns="0" tIns="0" rIns="0" bIns="0" rtlCol="0" anchor="ctr"/>
          <a:lstStyle/>
          <a:p>
            <a:pPr indent="0" marL="0">
              <a:buNone/>
            </a:pPr>
            <a:r>
              <a:rPr lang="en-US" sz="2400" dirty="0">
                <a:solidFill>
                  <a:schemeClr val="tx1"/>
                </a:solidFill>
              </a:rPr>
              <a:t>Kết quả</a:t>
            </a:r>
            <a:endParaRPr lang="en-US" sz="2400" dirty="0"/>
          </a:p>
        </p:txBody>
      </p:sp>
      <p:sp>
        <p:nvSpPr>
          <p:cNvPr id="28" name="card-91"/>
          <p:cNvSpPr/>
          <p:nvPr/>
        </p:nvSpPr>
        <p:spPr>
          <a:xfrm>
            <a:off x="6263640" y="2633472"/>
            <a:ext cx="5376672" cy="749808"/>
          </a:xfrm>
          <a:prstGeom prst="roundRect">
            <a:avLst>
              <a:gd name="adj" fmla="val 18293"/>
            </a:avLst>
          </a:prstGeom>
          <a:solidFill>
            <a:schemeClr val="bg2"/>
          </a:solidFill>
          <a:ln/>
        </p:spPr>
      </p:sp>
      <p:sp>
        <p:nvSpPr>
          <p:cNvPr id="29" name="dot-92"/>
          <p:cNvSpPr/>
          <p:nvPr/>
        </p:nvSpPr>
        <p:spPr>
          <a:xfrm>
            <a:off x="6400800" y="2734056"/>
            <a:ext cx="548640" cy="548640"/>
          </a:xfrm>
          <a:prstGeom prst="ellipse">
            <a:avLst/>
          </a:prstGeom>
          <a:solidFill>
            <a:schemeClr val="accent2"/>
          </a:solidFill>
          <a:ln/>
        </p:spPr>
      </p:sp>
      <p:sp>
        <p:nvSpPr>
          <p:cNvPr id="30" name="text-93"/>
          <p:cNvSpPr txBox="1"/>
          <p:nvPr/>
        </p:nvSpPr>
        <p:spPr>
          <a:xfrm>
            <a:off x="6400800" y="2734056"/>
            <a:ext cx="548640" cy="548640"/>
          </a:xfrm>
          <a:prstGeom prst="rect">
            <a:avLst/>
          </a:prstGeom>
          <a:noFill/>
          <a:ln/>
        </p:spPr>
        <p:txBody>
          <a:bodyPr wrap="square" lIns="0" tIns="0" rIns="0" bIns="0" rtlCol="0" anchor="ctr"/>
          <a:lstStyle/>
          <a:p>
            <a:pPr algn="ctr" indent="0" marL="0">
              <a:buNone/>
            </a:pPr>
            <a:r>
              <a:rPr lang="en-US" sz="2400" b="1" dirty="0">
                <a:solidFill>
                  <a:schemeClr val="bg1"/>
                </a:solidFill>
              </a:rPr>
              <a:t>7</a:t>
            </a:r>
            <a:endParaRPr lang="en-US" sz="2400" dirty="0"/>
          </a:p>
        </p:txBody>
      </p:sp>
      <p:sp>
        <p:nvSpPr>
          <p:cNvPr id="31" name="text-94"/>
          <p:cNvSpPr txBox="1"/>
          <p:nvPr/>
        </p:nvSpPr>
        <p:spPr>
          <a:xfrm>
            <a:off x="7132320" y="2633472"/>
            <a:ext cx="4389120" cy="749808"/>
          </a:xfrm>
          <a:prstGeom prst="rect">
            <a:avLst/>
          </a:prstGeom>
          <a:noFill/>
          <a:ln/>
        </p:spPr>
        <p:txBody>
          <a:bodyPr wrap="square" lIns="0" tIns="0" rIns="0" bIns="0" rtlCol="0" anchor="ctr"/>
          <a:lstStyle/>
          <a:p>
            <a:pPr indent="0" marL="0">
              <a:buNone/>
            </a:pPr>
            <a:r>
              <a:rPr lang="en-US" sz="2400" dirty="0">
                <a:solidFill>
                  <a:schemeClr val="tx1"/>
                </a:solidFill>
              </a:rPr>
              <a:t>Hạn chế</a:t>
            </a:r>
            <a:endParaRPr lang="en-US" sz="2400" dirty="0"/>
          </a:p>
        </p:txBody>
      </p:sp>
      <p:sp>
        <p:nvSpPr>
          <p:cNvPr id="32" name="card-95"/>
          <p:cNvSpPr/>
          <p:nvPr/>
        </p:nvSpPr>
        <p:spPr>
          <a:xfrm>
            <a:off x="6263640" y="3529584"/>
            <a:ext cx="5376672" cy="749808"/>
          </a:xfrm>
          <a:prstGeom prst="roundRect">
            <a:avLst>
              <a:gd name="adj" fmla="val 18293"/>
            </a:avLst>
          </a:prstGeom>
          <a:solidFill>
            <a:schemeClr val="bg2"/>
          </a:solidFill>
          <a:ln/>
        </p:spPr>
      </p:sp>
      <p:sp>
        <p:nvSpPr>
          <p:cNvPr id="33" name="dot-96"/>
          <p:cNvSpPr/>
          <p:nvPr/>
        </p:nvSpPr>
        <p:spPr>
          <a:xfrm>
            <a:off x="6400800" y="3630168"/>
            <a:ext cx="548640" cy="548640"/>
          </a:xfrm>
          <a:prstGeom prst="ellipse">
            <a:avLst/>
          </a:prstGeom>
          <a:solidFill>
            <a:schemeClr val="accent3"/>
          </a:solidFill>
          <a:ln/>
        </p:spPr>
      </p:sp>
      <p:sp>
        <p:nvSpPr>
          <p:cNvPr id="34" name="text-97"/>
          <p:cNvSpPr txBox="1"/>
          <p:nvPr/>
        </p:nvSpPr>
        <p:spPr>
          <a:xfrm>
            <a:off x="6400800" y="3630168"/>
            <a:ext cx="548640" cy="548640"/>
          </a:xfrm>
          <a:prstGeom prst="rect">
            <a:avLst/>
          </a:prstGeom>
          <a:noFill/>
          <a:ln/>
        </p:spPr>
        <p:txBody>
          <a:bodyPr wrap="square" lIns="0" tIns="0" rIns="0" bIns="0" rtlCol="0" anchor="ctr"/>
          <a:lstStyle/>
          <a:p>
            <a:pPr algn="ctr" indent="0" marL="0">
              <a:buNone/>
            </a:pPr>
            <a:r>
              <a:rPr lang="en-US" sz="2400" b="1" dirty="0">
                <a:solidFill>
                  <a:schemeClr val="bg1"/>
                </a:solidFill>
              </a:rPr>
              <a:t>8</a:t>
            </a:r>
            <a:endParaRPr lang="en-US" sz="2400" dirty="0"/>
          </a:p>
        </p:txBody>
      </p:sp>
      <p:sp>
        <p:nvSpPr>
          <p:cNvPr id="35" name="text-98"/>
          <p:cNvSpPr txBox="1"/>
          <p:nvPr/>
        </p:nvSpPr>
        <p:spPr>
          <a:xfrm>
            <a:off x="7132320" y="3529584"/>
            <a:ext cx="4389120" cy="749808"/>
          </a:xfrm>
          <a:prstGeom prst="rect">
            <a:avLst/>
          </a:prstGeom>
          <a:noFill/>
          <a:ln/>
        </p:spPr>
        <p:txBody>
          <a:bodyPr wrap="square" lIns="0" tIns="0" rIns="0" bIns="0" rtlCol="0" anchor="ctr"/>
          <a:lstStyle/>
          <a:p>
            <a:pPr indent="0" marL="0">
              <a:buNone/>
            </a:pPr>
            <a:r>
              <a:rPr lang="en-US" sz="2400" dirty="0">
                <a:solidFill>
                  <a:schemeClr val="tx1"/>
                </a:solidFill>
              </a:rPr>
              <a:t>Kết luận và đề nghị</a:t>
            </a:r>
            <a:endParaRPr lang="en-US" sz="2400" dirty="0"/>
          </a:p>
        </p:txBody>
      </p:sp>
      <p:sp>
        <p:nvSpPr>
          <p:cNvPr id="36" name="card-99"/>
          <p:cNvSpPr/>
          <p:nvPr/>
        </p:nvSpPr>
        <p:spPr>
          <a:xfrm>
            <a:off x="6263640" y="4425696"/>
            <a:ext cx="5376672" cy="749808"/>
          </a:xfrm>
          <a:prstGeom prst="roundRect">
            <a:avLst>
              <a:gd name="adj" fmla="val 18293"/>
            </a:avLst>
          </a:prstGeom>
          <a:solidFill>
            <a:schemeClr val="bg2"/>
          </a:solidFill>
          <a:ln/>
        </p:spPr>
      </p:sp>
      <p:sp>
        <p:nvSpPr>
          <p:cNvPr id="37" name="dot-100"/>
          <p:cNvSpPr/>
          <p:nvPr/>
        </p:nvSpPr>
        <p:spPr>
          <a:xfrm>
            <a:off x="6400800" y="4526280"/>
            <a:ext cx="548640" cy="548640"/>
          </a:xfrm>
          <a:prstGeom prst="ellipse">
            <a:avLst/>
          </a:prstGeom>
          <a:solidFill>
            <a:schemeClr val="accent5"/>
          </a:solidFill>
          <a:ln/>
        </p:spPr>
      </p:sp>
      <p:sp>
        <p:nvSpPr>
          <p:cNvPr id="38" name="text-101"/>
          <p:cNvSpPr txBox="1"/>
          <p:nvPr/>
        </p:nvSpPr>
        <p:spPr>
          <a:xfrm>
            <a:off x="6400800" y="4526280"/>
            <a:ext cx="548640" cy="548640"/>
          </a:xfrm>
          <a:prstGeom prst="rect">
            <a:avLst/>
          </a:prstGeom>
          <a:noFill/>
          <a:ln/>
        </p:spPr>
        <p:txBody>
          <a:bodyPr wrap="square" lIns="0" tIns="0" rIns="0" bIns="0" rtlCol="0" anchor="ctr"/>
          <a:lstStyle/>
          <a:p>
            <a:pPr algn="ctr" indent="0" marL="0">
              <a:buNone/>
            </a:pPr>
            <a:r>
              <a:rPr lang="en-US" sz="2400" b="1" dirty="0">
                <a:solidFill>
                  <a:schemeClr val="bg1"/>
                </a:solidFill>
              </a:rPr>
              <a:t>9</a:t>
            </a:r>
            <a:endParaRPr lang="en-US" sz="2400" dirty="0"/>
          </a:p>
        </p:txBody>
      </p:sp>
      <p:sp>
        <p:nvSpPr>
          <p:cNvPr id="39" name="text-102"/>
          <p:cNvSpPr txBox="1"/>
          <p:nvPr/>
        </p:nvSpPr>
        <p:spPr>
          <a:xfrm>
            <a:off x="7132320" y="4425696"/>
            <a:ext cx="4389120" cy="749808"/>
          </a:xfrm>
          <a:prstGeom prst="rect">
            <a:avLst/>
          </a:prstGeom>
          <a:noFill/>
          <a:ln/>
        </p:spPr>
        <p:txBody>
          <a:bodyPr wrap="square" lIns="0" tIns="0" rIns="0" bIns="0" rtlCol="0" anchor="ctr"/>
          <a:lstStyle/>
          <a:p>
            <a:pPr indent="0" marL="0">
              <a:buNone/>
            </a:pPr>
            <a:r>
              <a:rPr lang="en-US" sz="2400" dirty="0">
                <a:solidFill>
                  <a:schemeClr val="tx1"/>
                </a:solidFill>
              </a:rPr>
              <a:t>Phụ lục</a:t>
            </a:r>
            <a:endParaRPr lang="en-US" sz="2400" dirty="0"/>
          </a:p>
        </p:txBody>
      </p:sp>
      <p:sp>
        <p:nvSpPr>
          <p:cNvPr id="40" name="card-103"/>
          <p:cNvSpPr/>
          <p:nvPr/>
        </p:nvSpPr>
        <p:spPr>
          <a:xfrm>
            <a:off x="6263640" y="5321808"/>
            <a:ext cx="5376672" cy="749808"/>
          </a:xfrm>
          <a:prstGeom prst="roundRect">
            <a:avLst>
              <a:gd name="adj" fmla="val 18293"/>
            </a:avLst>
          </a:prstGeom>
          <a:solidFill>
            <a:schemeClr val="bg2"/>
          </a:solidFill>
          <a:ln/>
        </p:spPr>
      </p:sp>
      <p:sp>
        <p:nvSpPr>
          <p:cNvPr id="41" name="dot-104"/>
          <p:cNvSpPr/>
          <p:nvPr/>
        </p:nvSpPr>
        <p:spPr>
          <a:xfrm>
            <a:off x="6400800" y="5422392"/>
            <a:ext cx="548640" cy="548640"/>
          </a:xfrm>
          <a:prstGeom prst="ellipse">
            <a:avLst/>
          </a:prstGeom>
          <a:solidFill>
            <a:schemeClr val="accent6"/>
          </a:solidFill>
          <a:ln/>
        </p:spPr>
      </p:sp>
      <p:sp>
        <p:nvSpPr>
          <p:cNvPr id="42" name="text-105"/>
          <p:cNvSpPr txBox="1"/>
          <p:nvPr/>
        </p:nvSpPr>
        <p:spPr>
          <a:xfrm>
            <a:off x="6400800" y="5422392"/>
            <a:ext cx="548640" cy="548640"/>
          </a:xfrm>
          <a:prstGeom prst="rect">
            <a:avLst/>
          </a:prstGeom>
          <a:noFill/>
          <a:ln/>
        </p:spPr>
        <p:txBody>
          <a:bodyPr wrap="square" lIns="0" tIns="0" rIns="0" bIns="0" rtlCol="0" anchor="ctr"/>
          <a:lstStyle/>
          <a:p>
            <a:pPr algn="ctr" indent="0" marL="0">
              <a:buNone/>
            </a:pPr>
            <a:r>
              <a:rPr lang="en-US" sz="2400" b="1" dirty="0">
                <a:solidFill>
                  <a:schemeClr val="bg1"/>
                </a:solidFill>
              </a:rPr>
              <a:t>10</a:t>
            </a:r>
            <a:endParaRPr lang="en-US" sz="2400" dirty="0"/>
          </a:p>
        </p:txBody>
      </p:sp>
      <p:sp>
        <p:nvSpPr>
          <p:cNvPr id="43" name="text-106"/>
          <p:cNvSpPr txBox="1"/>
          <p:nvPr/>
        </p:nvSpPr>
        <p:spPr>
          <a:xfrm>
            <a:off x="7132320" y="5321808"/>
            <a:ext cx="4389120" cy="749808"/>
          </a:xfrm>
          <a:prstGeom prst="rect">
            <a:avLst/>
          </a:prstGeom>
          <a:noFill/>
          <a:ln/>
        </p:spPr>
        <p:txBody>
          <a:bodyPr wrap="square" lIns="0" tIns="0" rIns="0" bIns="0" rtlCol="0" anchor="ctr"/>
          <a:lstStyle/>
          <a:p>
            <a:pPr indent="0" marL="0">
              <a:buNone/>
            </a:pPr>
            <a:r>
              <a:rPr lang="en-US" sz="2400" dirty="0">
                <a:solidFill>
                  <a:schemeClr val="tx1"/>
                </a:solidFill>
              </a:rPr>
              <a:t>Tài liệu tham khảo (APA 7)</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Tóm lược viết sau cùng nhưng đặt đầu tiên</a:t>
            </a:r>
            <a:endParaRPr lang="en-US" sz="3000" dirty="0"/>
          </a:p>
        </p:txBody>
      </p:sp>
      <p:sp>
        <p:nvSpPr>
          <p:cNvPr id="4" name="card-107"/>
          <p:cNvSpPr/>
          <p:nvPr/>
        </p:nvSpPr>
        <p:spPr>
          <a:xfrm>
            <a:off x="548640" y="1783080"/>
            <a:ext cx="4023360" cy="4206240"/>
          </a:xfrm>
          <a:prstGeom prst="roundRect">
            <a:avLst>
              <a:gd name="adj" fmla="val 3409"/>
            </a:avLst>
          </a:prstGeom>
          <a:solidFill>
            <a:schemeClr val="accent2"/>
          </a:solidFill>
          <a:ln/>
        </p:spPr>
      </p:sp>
      <p:sp>
        <p:nvSpPr>
          <p:cNvPr id="5" name="text-108"/>
          <p:cNvSpPr txBox="1"/>
          <p:nvPr/>
        </p:nvSpPr>
        <p:spPr>
          <a:xfrm>
            <a:off x="548640" y="2194560"/>
            <a:ext cx="4023360" cy="1371600"/>
          </a:xfrm>
          <a:prstGeom prst="rect">
            <a:avLst/>
          </a:prstGeom>
          <a:noFill/>
          <a:ln/>
        </p:spPr>
        <p:txBody>
          <a:bodyPr wrap="square" lIns="0" tIns="0" rIns="0" bIns="0" rtlCol="0" anchor="ctr"/>
          <a:lstStyle/>
          <a:p>
            <a:pPr algn="ctr" indent="0" marL="0">
              <a:buNone/>
            </a:pPr>
            <a:r>
              <a:rPr lang="en-US" sz="6000" b="1" dirty="0">
                <a:solidFill>
                  <a:schemeClr val="bg1"/>
                </a:solidFill>
              </a:rPr>
              <a:t>1 trang</a:t>
            </a:r>
            <a:endParaRPr lang="en-US" sz="6000" dirty="0"/>
          </a:p>
        </p:txBody>
      </p:sp>
      <p:sp>
        <p:nvSpPr>
          <p:cNvPr id="6" name="text-109"/>
          <p:cNvSpPr txBox="1"/>
          <p:nvPr/>
        </p:nvSpPr>
        <p:spPr>
          <a:xfrm>
            <a:off x="731520" y="3749040"/>
            <a:ext cx="3657600" cy="548640"/>
          </a:xfrm>
          <a:prstGeom prst="rect">
            <a:avLst/>
          </a:prstGeom>
          <a:noFill/>
          <a:ln/>
        </p:spPr>
        <p:txBody>
          <a:bodyPr wrap="square" lIns="0" tIns="0" rIns="0" bIns="0" rtlCol="0" anchor="t"/>
          <a:lstStyle/>
          <a:p>
            <a:pPr algn="ctr" indent="0" marL="0">
              <a:buNone/>
            </a:pPr>
            <a:r>
              <a:rPr lang="en-US" sz="2400" i="1" dirty="0">
                <a:solidFill>
                  <a:schemeClr val="bg1"/>
                </a:solidFill>
              </a:rPr>
              <a:t>Executive summary</a:t>
            </a:r>
            <a:endParaRPr lang="en-US" sz="2400" dirty="0"/>
          </a:p>
        </p:txBody>
      </p:sp>
      <p:sp>
        <p:nvSpPr>
          <p:cNvPr id="7" name="text-110"/>
          <p:cNvSpPr txBox="1"/>
          <p:nvPr/>
        </p:nvSpPr>
        <p:spPr>
          <a:xfrm>
            <a:off x="731520" y="4480560"/>
            <a:ext cx="3657600" cy="1188720"/>
          </a:xfrm>
          <a:prstGeom prst="rect">
            <a:avLst/>
          </a:prstGeom>
          <a:noFill/>
          <a:ln/>
        </p:spPr>
        <p:txBody>
          <a:bodyPr wrap="square" lIns="0" tIns="0" rIns="0" bIns="0" rtlCol="0" anchor="t"/>
          <a:lstStyle/>
          <a:p>
            <a:pPr algn="ctr" indent="0" marL="0">
              <a:buNone/>
            </a:pPr>
            <a:r>
              <a:rPr lang="en-US" sz="2400" b="1" dirty="0">
                <a:solidFill>
                  <a:schemeClr val="bg1"/>
                </a:solidFill>
              </a:rPr>
              <a:t>Viết sau cùng, đặt đầu tiên</a:t>
            </a:r>
            <a:endParaRPr lang="en-US" sz="2400" dirty="0"/>
          </a:p>
        </p:txBody>
      </p:sp>
      <p:sp>
        <p:nvSpPr>
          <p:cNvPr id="8" name="dot-111"/>
          <p:cNvSpPr/>
          <p:nvPr/>
        </p:nvSpPr>
        <p:spPr>
          <a:xfrm>
            <a:off x="4983480" y="1892808"/>
            <a:ext cx="685800" cy="685800"/>
          </a:xfrm>
          <a:prstGeom prst="ellipse">
            <a:avLst/>
          </a:prstGeom>
          <a:solidFill>
            <a:schemeClr val="accent1"/>
          </a:solidFill>
          <a:ln/>
        </p:spPr>
      </p:sp>
      <p:sp>
        <p:nvSpPr>
          <p:cNvPr id="9" name="text-112"/>
          <p:cNvSpPr txBox="1"/>
          <p:nvPr/>
        </p:nvSpPr>
        <p:spPr>
          <a:xfrm>
            <a:off x="4983480" y="1892808"/>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10" name="card-113"/>
          <p:cNvSpPr/>
          <p:nvPr/>
        </p:nvSpPr>
        <p:spPr>
          <a:xfrm>
            <a:off x="5897880" y="1783080"/>
            <a:ext cx="5742432" cy="914400"/>
          </a:xfrm>
          <a:prstGeom prst="roundRect">
            <a:avLst>
              <a:gd name="adj" fmla="val 15000"/>
            </a:avLst>
          </a:prstGeom>
          <a:solidFill>
            <a:schemeClr val="bg2"/>
          </a:solidFill>
          <a:ln/>
        </p:spPr>
      </p:sp>
      <p:sp>
        <p:nvSpPr>
          <p:cNvPr id="11" name="text-114"/>
          <p:cNvSpPr txBox="1"/>
          <p:nvPr/>
        </p:nvSpPr>
        <p:spPr>
          <a:xfrm>
            <a:off x="6172200" y="1783080"/>
            <a:ext cx="5303520" cy="914400"/>
          </a:xfrm>
          <a:prstGeom prst="rect">
            <a:avLst/>
          </a:prstGeom>
          <a:noFill/>
          <a:ln/>
        </p:spPr>
        <p:txBody>
          <a:bodyPr wrap="square" lIns="0" tIns="0" rIns="0" bIns="0" rtlCol="0" anchor="ctr"/>
          <a:lstStyle/>
          <a:p>
            <a:pPr indent="0" marL="0">
              <a:buNone/>
            </a:pPr>
            <a:r>
              <a:rPr lang="en-US" sz="2800" dirty="0">
                <a:solidFill>
                  <a:schemeClr val="tx1"/>
                </a:solidFill>
              </a:rPr>
              <a:t>Vấn đề</a:t>
            </a:r>
            <a:endParaRPr lang="en-US" sz="2800" dirty="0"/>
          </a:p>
        </p:txBody>
      </p:sp>
      <p:sp>
        <p:nvSpPr>
          <p:cNvPr id="12" name="dot-115"/>
          <p:cNvSpPr/>
          <p:nvPr/>
        </p:nvSpPr>
        <p:spPr>
          <a:xfrm>
            <a:off x="4983480" y="2971800"/>
            <a:ext cx="685800" cy="685800"/>
          </a:xfrm>
          <a:prstGeom prst="ellipse">
            <a:avLst/>
          </a:prstGeom>
          <a:solidFill>
            <a:schemeClr val="accent5"/>
          </a:solidFill>
          <a:ln/>
        </p:spPr>
      </p:sp>
      <p:sp>
        <p:nvSpPr>
          <p:cNvPr id="13" name="text-116"/>
          <p:cNvSpPr txBox="1"/>
          <p:nvPr/>
        </p:nvSpPr>
        <p:spPr>
          <a:xfrm>
            <a:off x="4983480" y="29718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14" name="card-117"/>
          <p:cNvSpPr/>
          <p:nvPr/>
        </p:nvSpPr>
        <p:spPr>
          <a:xfrm>
            <a:off x="5897880" y="2862072"/>
            <a:ext cx="5742432" cy="914400"/>
          </a:xfrm>
          <a:prstGeom prst="roundRect">
            <a:avLst>
              <a:gd name="adj" fmla="val 15000"/>
            </a:avLst>
          </a:prstGeom>
          <a:solidFill>
            <a:schemeClr val="bg2"/>
          </a:solidFill>
          <a:ln/>
        </p:spPr>
      </p:sp>
      <p:sp>
        <p:nvSpPr>
          <p:cNvPr id="15" name="text-118"/>
          <p:cNvSpPr txBox="1"/>
          <p:nvPr/>
        </p:nvSpPr>
        <p:spPr>
          <a:xfrm>
            <a:off x="6172200" y="2862072"/>
            <a:ext cx="5303520" cy="914400"/>
          </a:xfrm>
          <a:prstGeom prst="rect">
            <a:avLst/>
          </a:prstGeom>
          <a:noFill/>
          <a:ln/>
        </p:spPr>
        <p:txBody>
          <a:bodyPr wrap="square" lIns="0" tIns="0" rIns="0" bIns="0" rtlCol="0" anchor="ctr"/>
          <a:lstStyle/>
          <a:p>
            <a:pPr indent="0" marL="0">
              <a:buNone/>
            </a:pPr>
            <a:r>
              <a:rPr lang="en-US" sz="2800" dirty="0">
                <a:solidFill>
                  <a:schemeClr val="tx1"/>
                </a:solidFill>
              </a:rPr>
              <a:t>Phương pháp</a:t>
            </a:r>
            <a:endParaRPr lang="en-US" sz="2800" dirty="0"/>
          </a:p>
        </p:txBody>
      </p:sp>
      <p:sp>
        <p:nvSpPr>
          <p:cNvPr id="16" name="dot-119"/>
          <p:cNvSpPr/>
          <p:nvPr/>
        </p:nvSpPr>
        <p:spPr>
          <a:xfrm>
            <a:off x="4983480" y="4050792"/>
            <a:ext cx="685800" cy="685800"/>
          </a:xfrm>
          <a:prstGeom prst="ellipse">
            <a:avLst/>
          </a:prstGeom>
          <a:solidFill>
            <a:schemeClr val="accent6"/>
          </a:solidFill>
          <a:ln/>
        </p:spPr>
      </p:sp>
      <p:sp>
        <p:nvSpPr>
          <p:cNvPr id="17" name="text-120"/>
          <p:cNvSpPr txBox="1"/>
          <p:nvPr/>
        </p:nvSpPr>
        <p:spPr>
          <a:xfrm>
            <a:off x="4983480" y="4050792"/>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18" name="card-121"/>
          <p:cNvSpPr/>
          <p:nvPr/>
        </p:nvSpPr>
        <p:spPr>
          <a:xfrm>
            <a:off x="5897880" y="3941064"/>
            <a:ext cx="5742432" cy="914400"/>
          </a:xfrm>
          <a:prstGeom prst="roundRect">
            <a:avLst>
              <a:gd name="adj" fmla="val 15000"/>
            </a:avLst>
          </a:prstGeom>
          <a:solidFill>
            <a:schemeClr val="bg2"/>
          </a:solidFill>
          <a:ln/>
        </p:spPr>
      </p:sp>
      <p:sp>
        <p:nvSpPr>
          <p:cNvPr id="19" name="text-122"/>
          <p:cNvSpPr txBox="1"/>
          <p:nvPr/>
        </p:nvSpPr>
        <p:spPr>
          <a:xfrm>
            <a:off x="6172200" y="3941064"/>
            <a:ext cx="5303520" cy="914400"/>
          </a:xfrm>
          <a:prstGeom prst="rect">
            <a:avLst/>
          </a:prstGeom>
          <a:noFill/>
          <a:ln/>
        </p:spPr>
        <p:txBody>
          <a:bodyPr wrap="square" lIns="0" tIns="0" rIns="0" bIns="0" rtlCol="0" anchor="ctr"/>
          <a:lstStyle/>
          <a:p>
            <a:pPr indent="0" marL="0">
              <a:buNone/>
            </a:pPr>
            <a:r>
              <a:rPr lang="en-US" sz="2800" dirty="0">
                <a:solidFill>
                  <a:schemeClr val="tx1"/>
                </a:solidFill>
              </a:rPr>
              <a:t>Kết quả chính</a:t>
            </a:r>
            <a:endParaRPr lang="en-US" sz="2800" dirty="0"/>
          </a:p>
        </p:txBody>
      </p:sp>
      <p:sp>
        <p:nvSpPr>
          <p:cNvPr id="20" name="dot-123"/>
          <p:cNvSpPr/>
          <p:nvPr/>
        </p:nvSpPr>
        <p:spPr>
          <a:xfrm>
            <a:off x="4983480" y="5129784"/>
            <a:ext cx="685800" cy="685800"/>
          </a:xfrm>
          <a:prstGeom prst="ellipse">
            <a:avLst/>
          </a:prstGeom>
          <a:solidFill>
            <a:schemeClr val="accent3"/>
          </a:solidFill>
          <a:ln/>
        </p:spPr>
      </p:sp>
      <p:sp>
        <p:nvSpPr>
          <p:cNvPr id="21" name="text-124"/>
          <p:cNvSpPr txBox="1"/>
          <p:nvPr/>
        </p:nvSpPr>
        <p:spPr>
          <a:xfrm>
            <a:off x="4983480" y="5129784"/>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4</a:t>
            </a:r>
            <a:endParaRPr lang="en-US" sz="2600" dirty="0"/>
          </a:p>
        </p:txBody>
      </p:sp>
      <p:sp>
        <p:nvSpPr>
          <p:cNvPr id="22" name="card-125"/>
          <p:cNvSpPr/>
          <p:nvPr/>
        </p:nvSpPr>
        <p:spPr>
          <a:xfrm>
            <a:off x="5897880" y="5020056"/>
            <a:ext cx="5742432" cy="914400"/>
          </a:xfrm>
          <a:prstGeom prst="roundRect">
            <a:avLst>
              <a:gd name="adj" fmla="val 15000"/>
            </a:avLst>
          </a:prstGeom>
          <a:solidFill>
            <a:schemeClr val="bg2"/>
          </a:solidFill>
          <a:ln/>
        </p:spPr>
      </p:sp>
      <p:sp>
        <p:nvSpPr>
          <p:cNvPr id="23" name="text-126"/>
          <p:cNvSpPr txBox="1"/>
          <p:nvPr/>
        </p:nvSpPr>
        <p:spPr>
          <a:xfrm>
            <a:off x="6172200" y="5020056"/>
            <a:ext cx="5303520" cy="914400"/>
          </a:xfrm>
          <a:prstGeom prst="rect">
            <a:avLst/>
          </a:prstGeom>
          <a:noFill/>
          <a:ln/>
        </p:spPr>
        <p:txBody>
          <a:bodyPr wrap="square" lIns="0" tIns="0" rIns="0" bIns="0" rtlCol="0" anchor="ctr"/>
          <a:lstStyle/>
          <a:p>
            <a:pPr indent="0" marL="0">
              <a:buNone/>
            </a:pPr>
            <a:r>
              <a:rPr lang="en-US" sz="2800" dirty="0">
                <a:solidFill>
                  <a:schemeClr val="tx1"/>
                </a:solidFill>
              </a:rPr>
              <a:t>Đề xuất</a:t>
            </a:r>
            <a:endParaRPr lang="en-US" sz="2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Kết quả, kết luận, đề nghị trả lời ba câu hỏi khác nhau</a:t>
            </a:r>
            <a:endParaRPr lang="en-US" sz="3000" dirty="0"/>
          </a:p>
        </p:txBody>
      </p:sp>
      <p:sp>
        <p:nvSpPr>
          <p:cNvPr id="4" name="card-127"/>
          <p:cNvSpPr/>
          <p:nvPr/>
        </p:nvSpPr>
        <p:spPr>
          <a:xfrm>
            <a:off x="548640" y="1783080"/>
            <a:ext cx="3291840" cy="777240"/>
          </a:xfrm>
          <a:prstGeom prst="roundRect">
            <a:avLst>
              <a:gd name="adj" fmla="val 17647"/>
            </a:avLst>
          </a:prstGeom>
          <a:solidFill>
            <a:schemeClr val="accent5"/>
          </a:solidFill>
          <a:ln/>
        </p:spPr>
      </p:sp>
      <p:sp>
        <p:nvSpPr>
          <p:cNvPr id="5" name="text-128"/>
          <p:cNvSpPr txBox="1"/>
          <p:nvPr/>
        </p:nvSpPr>
        <p:spPr>
          <a:xfrm>
            <a:off x="777240" y="1783080"/>
            <a:ext cx="2834640" cy="777240"/>
          </a:xfrm>
          <a:prstGeom prst="rect">
            <a:avLst/>
          </a:prstGeom>
          <a:noFill/>
          <a:ln/>
        </p:spPr>
        <p:txBody>
          <a:bodyPr wrap="square" lIns="0" tIns="0" rIns="0" bIns="0" rtlCol="0" anchor="ctr"/>
          <a:lstStyle/>
          <a:p>
            <a:pPr indent="0" marL="0">
              <a:buNone/>
            </a:pPr>
            <a:r>
              <a:rPr lang="en-US" sz="2800" b="1" dirty="0">
                <a:solidFill>
                  <a:schemeClr val="bg1"/>
                </a:solidFill>
              </a:rPr>
              <a:t>Kết quả</a:t>
            </a:r>
            <a:endParaRPr lang="en-US" sz="2800" dirty="0"/>
          </a:p>
        </p:txBody>
      </p:sp>
      <p:sp>
        <p:nvSpPr>
          <p:cNvPr id="6" name="card-129"/>
          <p:cNvSpPr/>
          <p:nvPr/>
        </p:nvSpPr>
        <p:spPr>
          <a:xfrm>
            <a:off x="548640" y="2697480"/>
            <a:ext cx="3291840" cy="2514600"/>
          </a:xfrm>
          <a:prstGeom prst="roundRect">
            <a:avLst>
              <a:gd name="adj" fmla="val 5455"/>
            </a:avLst>
          </a:prstGeom>
          <a:solidFill>
            <a:schemeClr val="bg2"/>
          </a:solidFill>
          <a:ln/>
        </p:spPr>
      </p:sp>
      <p:sp>
        <p:nvSpPr>
          <p:cNvPr id="7" name="text-130"/>
          <p:cNvSpPr txBox="1"/>
          <p:nvPr/>
        </p:nvSpPr>
        <p:spPr>
          <a:xfrm>
            <a:off x="777240" y="2834640"/>
            <a:ext cx="2834640" cy="868680"/>
          </a:xfrm>
          <a:prstGeom prst="rect">
            <a:avLst/>
          </a:prstGeom>
          <a:noFill/>
          <a:ln/>
        </p:spPr>
        <p:txBody>
          <a:bodyPr wrap="square" lIns="0" tIns="0" rIns="0" bIns="0" rtlCol="0" anchor="t"/>
          <a:lstStyle/>
          <a:p>
            <a:pPr indent="0" marL="0">
              <a:buNone/>
            </a:pPr>
            <a:r>
              <a:rPr lang="en-US" sz="2400" b="1" dirty="0">
                <a:solidFill>
                  <a:schemeClr val="accent5"/>
                </a:solidFill>
              </a:rPr>
              <a:t>Dữ liệu cho thấy gì?</a:t>
            </a:r>
            <a:endParaRPr lang="en-US" sz="2400" dirty="0"/>
          </a:p>
        </p:txBody>
      </p:sp>
      <p:sp>
        <p:nvSpPr>
          <p:cNvPr id="8" name="text-131"/>
          <p:cNvSpPr txBox="1"/>
          <p:nvPr/>
        </p:nvSpPr>
        <p:spPr>
          <a:xfrm>
            <a:off x="777240" y="3749040"/>
            <a:ext cx="2834640" cy="1371600"/>
          </a:xfrm>
          <a:prstGeom prst="rect">
            <a:avLst/>
          </a:prstGeom>
          <a:noFill/>
          <a:ln/>
        </p:spPr>
        <p:txBody>
          <a:bodyPr wrap="square" lIns="0" tIns="0" rIns="0" bIns="0" rtlCol="0" anchor="t"/>
          <a:lstStyle/>
          <a:p>
            <a:pPr indent="0" marL="0">
              <a:buNone/>
            </a:pPr>
            <a:r>
              <a:rPr lang="en-US" sz="2400" i="1" dirty="0">
                <a:solidFill>
                  <a:schemeClr val="tx1"/>
                </a:solidFill>
              </a:rPr>
              <a:t>“60% người trả lời mua qua sàn TMĐT”</a:t>
            </a:r>
            <a:endParaRPr lang="en-US" sz="2400" dirty="0"/>
          </a:p>
        </p:txBody>
      </p:sp>
      <p:sp>
        <p:nvSpPr>
          <p:cNvPr id="9" name="arrow-132"/>
          <p:cNvSpPr/>
          <p:nvPr/>
        </p:nvSpPr>
        <p:spPr>
          <a:xfrm>
            <a:off x="3931920" y="3703320"/>
            <a:ext cx="411480" cy="457200"/>
          </a:xfrm>
          <a:prstGeom prst="rightArrow">
            <a:avLst/>
          </a:prstGeom>
          <a:solidFill>
            <a:schemeClr val="tx2"/>
          </a:solidFill>
          <a:ln/>
        </p:spPr>
      </p:sp>
      <p:sp>
        <p:nvSpPr>
          <p:cNvPr id="10" name="card-133"/>
          <p:cNvSpPr/>
          <p:nvPr/>
        </p:nvSpPr>
        <p:spPr>
          <a:xfrm>
            <a:off x="4448556" y="1783080"/>
            <a:ext cx="3291840" cy="777240"/>
          </a:xfrm>
          <a:prstGeom prst="roundRect">
            <a:avLst>
              <a:gd name="adj" fmla="val 17647"/>
            </a:avLst>
          </a:prstGeom>
          <a:solidFill>
            <a:schemeClr val="accent2"/>
          </a:solidFill>
          <a:ln/>
        </p:spPr>
      </p:sp>
      <p:sp>
        <p:nvSpPr>
          <p:cNvPr id="11" name="text-134"/>
          <p:cNvSpPr txBox="1"/>
          <p:nvPr/>
        </p:nvSpPr>
        <p:spPr>
          <a:xfrm>
            <a:off x="4677156" y="1783080"/>
            <a:ext cx="2834640" cy="777240"/>
          </a:xfrm>
          <a:prstGeom prst="rect">
            <a:avLst/>
          </a:prstGeom>
          <a:noFill/>
          <a:ln/>
        </p:spPr>
        <p:txBody>
          <a:bodyPr wrap="square" lIns="0" tIns="0" rIns="0" bIns="0" rtlCol="0" anchor="ctr"/>
          <a:lstStyle/>
          <a:p>
            <a:pPr indent="0" marL="0">
              <a:buNone/>
            </a:pPr>
            <a:r>
              <a:rPr lang="en-US" sz="2800" b="1" dirty="0">
                <a:solidFill>
                  <a:schemeClr val="bg1"/>
                </a:solidFill>
              </a:rPr>
              <a:t>Kết luận</a:t>
            </a:r>
            <a:endParaRPr lang="en-US" sz="2800" dirty="0"/>
          </a:p>
        </p:txBody>
      </p:sp>
      <p:sp>
        <p:nvSpPr>
          <p:cNvPr id="12" name="card-135"/>
          <p:cNvSpPr/>
          <p:nvPr/>
        </p:nvSpPr>
        <p:spPr>
          <a:xfrm>
            <a:off x="4448556" y="2697480"/>
            <a:ext cx="3291840" cy="2514600"/>
          </a:xfrm>
          <a:prstGeom prst="roundRect">
            <a:avLst>
              <a:gd name="adj" fmla="val 5455"/>
            </a:avLst>
          </a:prstGeom>
          <a:solidFill>
            <a:schemeClr val="bg2"/>
          </a:solidFill>
          <a:ln/>
        </p:spPr>
      </p:sp>
      <p:sp>
        <p:nvSpPr>
          <p:cNvPr id="13" name="text-136"/>
          <p:cNvSpPr txBox="1"/>
          <p:nvPr/>
        </p:nvSpPr>
        <p:spPr>
          <a:xfrm>
            <a:off x="4677156" y="2834640"/>
            <a:ext cx="2834640" cy="868680"/>
          </a:xfrm>
          <a:prstGeom prst="rect">
            <a:avLst/>
          </a:prstGeom>
          <a:noFill/>
          <a:ln/>
        </p:spPr>
        <p:txBody>
          <a:bodyPr wrap="square" lIns="0" tIns="0" rIns="0" bIns="0" rtlCol="0" anchor="t"/>
          <a:lstStyle/>
          <a:p>
            <a:pPr indent="0" marL="0">
              <a:buNone/>
            </a:pPr>
            <a:r>
              <a:rPr lang="en-US" sz="2400" b="1" dirty="0">
                <a:solidFill>
                  <a:schemeClr val="accent2"/>
                </a:solidFill>
              </a:rPr>
              <a:t>Điều đó có nghĩa gì?</a:t>
            </a:r>
            <a:endParaRPr lang="en-US" sz="2400" dirty="0"/>
          </a:p>
        </p:txBody>
      </p:sp>
      <p:sp>
        <p:nvSpPr>
          <p:cNvPr id="14" name="text-137"/>
          <p:cNvSpPr txBox="1"/>
          <p:nvPr/>
        </p:nvSpPr>
        <p:spPr>
          <a:xfrm>
            <a:off x="4677156" y="3749040"/>
            <a:ext cx="2834640" cy="1371600"/>
          </a:xfrm>
          <a:prstGeom prst="rect">
            <a:avLst/>
          </a:prstGeom>
          <a:noFill/>
          <a:ln/>
        </p:spPr>
        <p:txBody>
          <a:bodyPr wrap="square" lIns="0" tIns="0" rIns="0" bIns="0" rtlCol="0" anchor="t"/>
          <a:lstStyle/>
          <a:p>
            <a:pPr indent="0" marL="0">
              <a:buNone/>
            </a:pPr>
            <a:r>
              <a:rPr lang="en-US" sz="2400" i="1" dirty="0">
                <a:solidFill>
                  <a:schemeClr val="tx1"/>
                </a:solidFill>
              </a:rPr>
              <a:t>Trả lời câu hỏi nghiên cứu</a:t>
            </a:r>
            <a:endParaRPr lang="en-US" sz="2400" dirty="0"/>
          </a:p>
        </p:txBody>
      </p:sp>
      <p:sp>
        <p:nvSpPr>
          <p:cNvPr id="15" name="arrow-138"/>
          <p:cNvSpPr/>
          <p:nvPr/>
        </p:nvSpPr>
        <p:spPr>
          <a:xfrm>
            <a:off x="7831836" y="3703320"/>
            <a:ext cx="411480" cy="457200"/>
          </a:xfrm>
          <a:prstGeom prst="rightArrow">
            <a:avLst/>
          </a:prstGeom>
          <a:solidFill>
            <a:schemeClr val="tx2"/>
          </a:solidFill>
          <a:ln/>
        </p:spPr>
      </p:sp>
      <p:sp>
        <p:nvSpPr>
          <p:cNvPr id="16" name="card-139"/>
          <p:cNvSpPr/>
          <p:nvPr/>
        </p:nvSpPr>
        <p:spPr>
          <a:xfrm>
            <a:off x="8348472" y="1783080"/>
            <a:ext cx="3291840" cy="777240"/>
          </a:xfrm>
          <a:prstGeom prst="roundRect">
            <a:avLst>
              <a:gd name="adj" fmla="val 17647"/>
            </a:avLst>
          </a:prstGeom>
          <a:solidFill>
            <a:schemeClr val="accent1"/>
          </a:solidFill>
          <a:ln/>
        </p:spPr>
      </p:sp>
      <p:sp>
        <p:nvSpPr>
          <p:cNvPr id="17" name="text-140"/>
          <p:cNvSpPr txBox="1"/>
          <p:nvPr/>
        </p:nvSpPr>
        <p:spPr>
          <a:xfrm>
            <a:off x="8577072" y="1783080"/>
            <a:ext cx="2834640" cy="777240"/>
          </a:xfrm>
          <a:prstGeom prst="rect">
            <a:avLst/>
          </a:prstGeom>
          <a:noFill/>
          <a:ln/>
        </p:spPr>
        <p:txBody>
          <a:bodyPr wrap="square" lIns="0" tIns="0" rIns="0" bIns="0" rtlCol="0" anchor="ctr"/>
          <a:lstStyle/>
          <a:p>
            <a:pPr indent="0" marL="0">
              <a:buNone/>
            </a:pPr>
            <a:r>
              <a:rPr lang="en-US" sz="2800" b="1" dirty="0">
                <a:solidFill>
                  <a:schemeClr val="bg1"/>
                </a:solidFill>
              </a:rPr>
              <a:t>Đề nghị</a:t>
            </a:r>
            <a:endParaRPr lang="en-US" sz="2800" dirty="0"/>
          </a:p>
        </p:txBody>
      </p:sp>
      <p:sp>
        <p:nvSpPr>
          <p:cNvPr id="18" name="card-141"/>
          <p:cNvSpPr/>
          <p:nvPr/>
        </p:nvSpPr>
        <p:spPr>
          <a:xfrm>
            <a:off x="8348472" y="2697480"/>
            <a:ext cx="3291840" cy="2514600"/>
          </a:xfrm>
          <a:prstGeom prst="roundRect">
            <a:avLst>
              <a:gd name="adj" fmla="val 5455"/>
            </a:avLst>
          </a:prstGeom>
          <a:solidFill>
            <a:schemeClr val="bg2"/>
          </a:solidFill>
          <a:ln/>
        </p:spPr>
      </p:sp>
      <p:sp>
        <p:nvSpPr>
          <p:cNvPr id="19" name="text-142"/>
          <p:cNvSpPr txBox="1"/>
          <p:nvPr/>
        </p:nvSpPr>
        <p:spPr>
          <a:xfrm>
            <a:off x="8577072" y="2834640"/>
            <a:ext cx="2834640" cy="868680"/>
          </a:xfrm>
          <a:prstGeom prst="rect">
            <a:avLst/>
          </a:prstGeom>
          <a:noFill/>
          <a:ln/>
        </p:spPr>
        <p:txBody>
          <a:bodyPr wrap="square" lIns="0" tIns="0" rIns="0" bIns="0" rtlCol="0" anchor="t"/>
          <a:lstStyle/>
          <a:p>
            <a:pPr indent="0" marL="0">
              <a:buNone/>
            </a:pPr>
            <a:r>
              <a:rPr lang="en-US" sz="2400" b="1" dirty="0">
                <a:solidFill>
                  <a:schemeClr val="accent1"/>
                </a:solidFill>
              </a:rPr>
              <a:t>Nên làm gì?</a:t>
            </a:r>
            <a:endParaRPr lang="en-US" sz="2400" dirty="0"/>
          </a:p>
        </p:txBody>
      </p:sp>
      <p:sp>
        <p:nvSpPr>
          <p:cNvPr id="20" name="text-143"/>
          <p:cNvSpPr txBox="1"/>
          <p:nvPr/>
        </p:nvSpPr>
        <p:spPr>
          <a:xfrm>
            <a:off x="8577072" y="3749040"/>
            <a:ext cx="2834640" cy="1371600"/>
          </a:xfrm>
          <a:prstGeom prst="rect">
            <a:avLst/>
          </a:prstGeom>
          <a:noFill/>
          <a:ln/>
        </p:spPr>
        <p:txBody>
          <a:bodyPr wrap="square" lIns="0" tIns="0" rIns="0" bIns="0" rtlCol="0" anchor="t"/>
          <a:lstStyle/>
          <a:p>
            <a:pPr indent="0" marL="0">
              <a:buNone/>
            </a:pPr>
            <a:r>
              <a:rPr lang="en-US" sz="2400" i="1" dirty="0">
                <a:solidFill>
                  <a:schemeClr val="tx1"/>
                </a:solidFill>
              </a:rPr>
              <a:t>“Ưu tiên ngân sách cho kênh sàn TMĐT”</a:t>
            </a:r>
            <a:endParaRPr lang="en-US" sz="2400" dirty="0"/>
          </a:p>
        </p:txBody>
      </p:sp>
      <p:sp>
        <p:nvSpPr>
          <p:cNvPr id="21" name="text-144"/>
          <p:cNvSpPr txBox="1"/>
          <p:nvPr/>
        </p:nvSpPr>
        <p:spPr>
          <a:xfrm>
            <a:off x="548640" y="5486400"/>
            <a:ext cx="8229600" cy="548640"/>
          </a:xfrm>
          <a:prstGeom prst="rect">
            <a:avLst/>
          </a:prstGeom>
          <a:noFill/>
          <a:ln/>
        </p:spPr>
        <p:txBody>
          <a:bodyPr wrap="square" lIns="0" tIns="0" rIns="0" bIns="0" rtlCol="0" anchor="t"/>
          <a:lstStyle/>
          <a:p>
            <a:pPr indent="0" marL="0">
              <a:buNone/>
            </a:pPr>
            <a:r>
              <a:rPr lang="en-US" sz="2400" b="1" dirty="0">
                <a:solidFill>
                  <a:schemeClr val="accent3"/>
                </a:solidFill>
              </a:rPr>
              <a:t>Đề nghị phải bám vào kết quả</a:t>
            </a:r>
            <a:endParaRPr lang="en-US" sz="2400" dirty="0"/>
          </a:p>
        </p:txBody>
      </p:sp>
      <p:sp>
        <p:nvSpPr>
          <p:cNvPr id="22" name="text-145"/>
          <p:cNvSpPr txBox="1"/>
          <p:nvPr/>
        </p:nvSpPr>
        <p:spPr>
          <a:xfrm>
            <a:off x="9966960" y="5486400"/>
            <a:ext cx="1673352" cy="548640"/>
          </a:xfrm>
          <a:prstGeom prst="rect">
            <a:avLst/>
          </a:prstGeom>
          <a:noFill/>
          <a:ln/>
        </p:spPr>
        <p:txBody>
          <a:bodyPr wrap="square" lIns="0" tIns="0" rIns="0" bIns="0" rtlCol="0" anchor="t"/>
          <a:lstStyle/>
          <a:p>
            <a:pPr algn="r" indent="0" marL="0">
              <a:buNone/>
            </a:pPr>
            <a:r>
              <a:rPr lang="en-US" sz="2400" i="1" dirty="0">
                <a:solidFill>
                  <a:schemeClr val="tx2"/>
                </a:solidFill>
              </a:rPr>
              <a:t>(ví dụ)</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Mười thành phần khớp với 5 chương (định lượng) hoặc 3 chương (định tính)</a:t>
            </a:r>
            <a:endParaRPr lang="en-US" sz="3000" dirty="0"/>
          </a:p>
        </p:txBody>
      </p:sp>
      <p:sp>
        <p:nvSpPr>
          <p:cNvPr id="4" name="text-146"/>
          <p:cNvSpPr txBox="1"/>
          <p:nvPr/>
        </p:nvSpPr>
        <p:spPr>
          <a:xfrm>
            <a:off x="731520" y="1691640"/>
            <a:ext cx="3200400" cy="502920"/>
          </a:xfrm>
          <a:prstGeom prst="rect">
            <a:avLst/>
          </a:prstGeom>
          <a:noFill/>
          <a:ln/>
        </p:spPr>
        <p:txBody>
          <a:bodyPr wrap="square" lIns="0" tIns="0" rIns="0" bIns="0" rtlCol="0" anchor="ctr"/>
          <a:lstStyle/>
          <a:p>
            <a:pPr indent="0" marL="0">
              <a:buNone/>
            </a:pPr>
            <a:r>
              <a:rPr lang="en-US" sz="2400" b="1" dirty="0">
                <a:solidFill>
                  <a:schemeClr val="tx2"/>
                </a:solidFill>
              </a:rPr>
              <a:t>Thành phần</a:t>
            </a:r>
            <a:endParaRPr lang="en-US" sz="2400" dirty="0"/>
          </a:p>
        </p:txBody>
      </p:sp>
      <p:sp>
        <p:nvSpPr>
          <p:cNvPr id="5" name="card-147"/>
          <p:cNvSpPr/>
          <p:nvPr/>
        </p:nvSpPr>
        <p:spPr>
          <a:xfrm>
            <a:off x="3886200" y="1691640"/>
            <a:ext cx="3703320" cy="502920"/>
          </a:xfrm>
          <a:prstGeom prst="roundRect">
            <a:avLst>
              <a:gd name="adj" fmla="val 27273"/>
            </a:avLst>
          </a:prstGeom>
          <a:solidFill>
            <a:schemeClr val="accent5"/>
          </a:solidFill>
          <a:ln/>
        </p:spPr>
      </p:sp>
      <p:sp>
        <p:nvSpPr>
          <p:cNvPr id="6" name="text-148"/>
          <p:cNvSpPr txBox="1"/>
          <p:nvPr/>
        </p:nvSpPr>
        <p:spPr>
          <a:xfrm>
            <a:off x="4069080" y="1691640"/>
            <a:ext cx="3520440" cy="502920"/>
          </a:xfrm>
          <a:prstGeom prst="rect">
            <a:avLst/>
          </a:prstGeom>
          <a:noFill/>
          <a:ln/>
        </p:spPr>
        <p:txBody>
          <a:bodyPr wrap="square" lIns="0" tIns="0" rIns="0" bIns="0" rtlCol="0" anchor="ctr"/>
          <a:lstStyle/>
          <a:p>
            <a:pPr indent="0" marL="0">
              <a:buNone/>
            </a:pPr>
            <a:r>
              <a:rPr lang="en-US" sz="2400" b="1" dirty="0">
                <a:solidFill>
                  <a:schemeClr val="bg1"/>
                </a:solidFill>
              </a:rPr>
              <a:t>Định lượng · 5 chương</a:t>
            </a:r>
            <a:endParaRPr lang="en-US" sz="2400" dirty="0"/>
          </a:p>
        </p:txBody>
      </p:sp>
      <p:sp>
        <p:nvSpPr>
          <p:cNvPr id="7" name="card-149"/>
          <p:cNvSpPr/>
          <p:nvPr/>
        </p:nvSpPr>
        <p:spPr>
          <a:xfrm>
            <a:off x="7818120" y="1691640"/>
            <a:ext cx="3822192" cy="502920"/>
          </a:xfrm>
          <a:prstGeom prst="roundRect">
            <a:avLst>
              <a:gd name="adj" fmla="val 27273"/>
            </a:avLst>
          </a:prstGeom>
          <a:solidFill>
            <a:schemeClr val="accent4"/>
          </a:solidFill>
          <a:ln/>
        </p:spPr>
      </p:sp>
      <p:sp>
        <p:nvSpPr>
          <p:cNvPr id="8" name="text-150"/>
          <p:cNvSpPr txBox="1"/>
          <p:nvPr/>
        </p:nvSpPr>
        <p:spPr>
          <a:xfrm>
            <a:off x="8001000" y="1691640"/>
            <a:ext cx="3547872" cy="502920"/>
          </a:xfrm>
          <a:prstGeom prst="rect">
            <a:avLst/>
          </a:prstGeom>
          <a:noFill/>
          <a:ln/>
        </p:spPr>
        <p:txBody>
          <a:bodyPr wrap="square" lIns="0" tIns="0" rIns="0" bIns="0" rtlCol="0" anchor="ctr"/>
          <a:lstStyle/>
          <a:p>
            <a:pPr indent="0" marL="0">
              <a:buNone/>
            </a:pPr>
            <a:r>
              <a:rPr lang="en-US" sz="2400" b="1" dirty="0">
                <a:solidFill>
                  <a:schemeClr val="tx1"/>
                </a:solidFill>
              </a:rPr>
              <a:t>Định tính · 3 chương</a:t>
            </a:r>
            <a:endParaRPr lang="en-US" sz="2400" dirty="0"/>
          </a:p>
        </p:txBody>
      </p:sp>
      <p:sp>
        <p:nvSpPr>
          <p:cNvPr id="9" name="card-151"/>
          <p:cNvSpPr/>
          <p:nvPr/>
        </p:nvSpPr>
        <p:spPr>
          <a:xfrm>
            <a:off x="502920" y="2286000"/>
            <a:ext cx="11185855" cy="694944"/>
          </a:xfrm>
          <a:prstGeom prst="roundRect">
            <a:avLst>
              <a:gd name="adj" fmla="val 19737"/>
            </a:avLst>
          </a:prstGeom>
          <a:solidFill>
            <a:schemeClr val="bg2"/>
          </a:solidFill>
          <a:ln/>
        </p:spPr>
      </p:sp>
      <p:sp>
        <p:nvSpPr>
          <p:cNvPr id="10" name="text-152"/>
          <p:cNvSpPr txBox="1"/>
          <p:nvPr/>
        </p:nvSpPr>
        <p:spPr>
          <a:xfrm>
            <a:off x="731520" y="2286000"/>
            <a:ext cx="2926080" cy="694944"/>
          </a:xfrm>
          <a:prstGeom prst="rect">
            <a:avLst/>
          </a:prstGeom>
          <a:noFill/>
          <a:ln/>
        </p:spPr>
        <p:txBody>
          <a:bodyPr wrap="square" lIns="0" tIns="0" rIns="0" bIns="0" rtlCol="0" anchor="ctr"/>
          <a:lstStyle/>
          <a:p>
            <a:pPr indent="0" marL="0">
              <a:buNone/>
            </a:pPr>
            <a:r>
              <a:rPr lang="en-US" sz="2400" b="1" dirty="0">
                <a:solidFill>
                  <a:schemeClr val="accent2"/>
                </a:solidFill>
              </a:rPr>
              <a:t>Giới thiệu</a:t>
            </a:r>
            <a:endParaRPr lang="en-US" sz="2400" dirty="0"/>
          </a:p>
        </p:txBody>
      </p:sp>
      <p:sp>
        <p:nvSpPr>
          <p:cNvPr id="11" name="text-153"/>
          <p:cNvSpPr txBox="1"/>
          <p:nvPr/>
        </p:nvSpPr>
        <p:spPr>
          <a:xfrm>
            <a:off x="4069080" y="2286000"/>
            <a:ext cx="3520440" cy="694944"/>
          </a:xfrm>
          <a:prstGeom prst="rect">
            <a:avLst/>
          </a:prstGeom>
          <a:noFill/>
          <a:ln/>
        </p:spPr>
        <p:txBody>
          <a:bodyPr wrap="square" lIns="0" tIns="0" rIns="0" bIns="0" rtlCol="0" anchor="ctr"/>
          <a:lstStyle/>
          <a:p>
            <a:pPr indent="0" marL="0">
              <a:buNone/>
            </a:pPr>
            <a:r>
              <a:rPr lang="en-US" sz="2400" dirty="0">
                <a:solidFill>
                  <a:schemeClr val="tx1"/>
                </a:solidFill>
              </a:rPr>
              <a:t>Ch.1 Giới thiệu</a:t>
            </a:r>
            <a:endParaRPr lang="en-US" sz="2400" dirty="0"/>
          </a:p>
        </p:txBody>
      </p:sp>
      <p:sp>
        <p:nvSpPr>
          <p:cNvPr id="12" name="text-154"/>
          <p:cNvSpPr txBox="1"/>
          <p:nvPr/>
        </p:nvSpPr>
        <p:spPr>
          <a:xfrm>
            <a:off x="8001000" y="2286000"/>
            <a:ext cx="3547872" cy="694944"/>
          </a:xfrm>
          <a:prstGeom prst="rect">
            <a:avLst/>
          </a:prstGeom>
          <a:noFill/>
          <a:ln/>
        </p:spPr>
        <p:txBody>
          <a:bodyPr wrap="square" lIns="0" tIns="0" rIns="0" bIns="0" rtlCol="0" anchor="ctr"/>
          <a:lstStyle/>
          <a:p>
            <a:pPr indent="0" marL="0">
              <a:buNone/>
            </a:pPr>
            <a:r>
              <a:rPr lang="en-US" sz="2400" dirty="0">
                <a:solidFill>
                  <a:schemeClr val="tx1"/>
                </a:solidFill>
              </a:rPr>
              <a:t>Ch.1 Giới thiệu &amp; cơ sở lý thuyết</a:t>
            </a:r>
            <a:endParaRPr lang="en-US" sz="2400" dirty="0"/>
          </a:p>
        </p:txBody>
      </p:sp>
      <p:sp>
        <p:nvSpPr>
          <p:cNvPr id="13" name="text-155"/>
          <p:cNvSpPr txBox="1"/>
          <p:nvPr/>
        </p:nvSpPr>
        <p:spPr>
          <a:xfrm>
            <a:off x="731520" y="2980944"/>
            <a:ext cx="2926080" cy="694944"/>
          </a:xfrm>
          <a:prstGeom prst="rect">
            <a:avLst/>
          </a:prstGeom>
          <a:noFill/>
          <a:ln/>
        </p:spPr>
        <p:txBody>
          <a:bodyPr wrap="square" lIns="0" tIns="0" rIns="0" bIns="0" rtlCol="0" anchor="ctr"/>
          <a:lstStyle/>
          <a:p>
            <a:pPr indent="0" marL="0">
              <a:buNone/>
            </a:pPr>
            <a:r>
              <a:rPr lang="en-US" sz="2400" b="1" dirty="0">
                <a:solidFill>
                  <a:schemeClr val="accent2"/>
                </a:solidFill>
              </a:rPr>
              <a:t>Cơ sở lý thuyết</a:t>
            </a:r>
            <a:endParaRPr lang="en-US" sz="2400" dirty="0"/>
          </a:p>
        </p:txBody>
      </p:sp>
      <p:sp>
        <p:nvSpPr>
          <p:cNvPr id="14" name="text-156"/>
          <p:cNvSpPr txBox="1"/>
          <p:nvPr/>
        </p:nvSpPr>
        <p:spPr>
          <a:xfrm>
            <a:off x="4069080" y="2980944"/>
            <a:ext cx="3520440" cy="694944"/>
          </a:xfrm>
          <a:prstGeom prst="rect">
            <a:avLst/>
          </a:prstGeom>
          <a:noFill/>
          <a:ln/>
        </p:spPr>
        <p:txBody>
          <a:bodyPr wrap="square" lIns="0" tIns="0" rIns="0" bIns="0" rtlCol="0" anchor="ctr"/>
          <a:lstStyle/>
          <a:p>
            <a:pPr indent="0" marL="0">
              <a:buNone/>
            </a:pPr>
            <a:r>
              <a:rPr lang="en-US" sz="2400" dirty="0">
                <a:solidFill>
                  <a:schemeClr val="tx1"/>
                </a:solidFill>
              </a:rPr>
              <a:t>Ch.2 Cơ sở lý thuyết &amp; mô hình</a:t>
            </a:r>
            <a:endParaRPr lang="en-US" sz="2400" dirty="0"/>
          </a:p>
        </p:txBody>
      </p:sp>
      <p:sp>
        <p:nvSpPr>
          <p:cNvPr id="15" name="text-157"/>
          <p:cNvSpPr txBox="1"/>
          <p:nvPr/>
        </p:nvSpPr>
        <p:spPr>
          <a:xfrm>
            <a:off x="8001000" y="2980944"/>
            <a:ext cx="3547872" cy="694944"/>
          </a:xfrm>
          <a:prstGeom prst="rect">
            <a:avLst/>
          </a:prstGeom>
          <a:noFill/>
          <a:ln/>
        </p:spPr>
        <p:txBody>
          <a:bodyPr wrap="square" lIns="0" tIns="0" rIns="0" bIns="0" rtlCol="0" anchor="ctr"/>
          <a:lstStyle/>
          <a:p>
            <a:pPr indent="0" marL="0">
              <a:buNone/>
            </a:pPr>
            <a:r>
              <a:rPr lang="en-US" sz="2400" i="1" dirty="0">
                <a:solidFill>
                  <a:schemeClr val="tx2"/>
                </a:solidFill>
              </a:rPr>
              <a:t>gộp trong Ch.1</a:t>
            </a:r>
            <a:endParaRPr lang="en-US" sz="2400" dirty="0"/>
          </a:p>
        </p:txBody>
      </p:sp>
      <p:sp>
        <p:nvSpPr>
          <p:cNvPr id="16" name="card-158"/>
          <p:cNvSpPr/>
          <p:nvPr/>
        </p:nvSpPr>
        <p:spPr>
          <a:xfrm>
            <a:off x="502920" y="3675888"/>
            <a:ext cx="11185855" cy="694944"/>
          </a:xfrm>
          <a:prstGeom prst="roundRect">
            <a:avLst>
              <a:gd name="adj" fmla="val 19737"/>
            </a:avLst>
          </a:prstGeom>
          <a:solidFill>
            <a:schemeClr val="bg2"/>
          </a:solidFill>
          <a:ln/>
        </p:spPr>
      </p:sp>
      <p:sp>
        <p:nvSpPr>
          <p:cNvPr id="17" name="text-159"/>
          <p:cNvSpPr txBox="1"/>
          <p:nvPr/>
        </p:nvSpPr>
        <p:spPr>
          <a:xfrm>
            <a:off x="731520" y="3675888"/>
            <a:ext cx="2926080" cy="694944"/>
          </a:xfrm>
          <a:prstGeom prst="rect">
            <a:avLst/>
          </a:prstGeom>
          <a:noFill/>
          <a:ln/>
        </p:spPr>
        <p:txBody>
          <a:bodyPr wrap="square" lIns="0" tIns="0" rIns="0" bIns="0" rtlCol="0" anchor="ctr"/>
          <a:lstStyle/>
          <a:p>
            <a:pPr indent="0" marL="0">
              <a:buNone/>
            </a:pPr>
            <a:r>
              <a:rPr lang="en-US" sz="2400" b="1" dirty="0">
                <a:solidFill>
                  <a:schemeClr val="accent2"/>
                </a:solidFill>
              </a:rPr>
              <a:t>Phương pháp luận</a:t>
            </a:r>
            <a:endParaRPr lang="en-US" sz="2400" dirty="0"/>
          </a:p>
        </p:txBody>
      </p:sp>
      <p:sp>
        <p:nvSpPr>
          <p:cNvPr id="18" name="text-160"/>
          <p:cNvSpPr txBox="1"/>
          <p:nvPr/>
        </p:nvSpPr>
        <p:spPr>
          <a:xfrm>
            <a:off x="4069080" y="3675888"/>
            <a:ext cx="3520440" cy="694944"/>
          </a:xfrm>
          <a:prstGeom prst="rect">
            <a:avLst/>
          </a:prstGeom>
          <a:noFill/>
          <a:ln/>
        </p:spPr>
        <p:txBody>
          <a:bodyPr wrap="square" lIns="0" tIns="0" rIns="0" bIns="0" rtlCol="0" anchor="ctr"/>
          <a:lstStyle/>
          <a:p>
            <a:pPr indent="0" marL="0">
              <a:buNone/>
            </a:pPr>
            <a:r>
              <a:rPr lang="en-US" sz="2400" dirty="0">
                <a:solidFill>
                  <a:schemeClr val="tx1"/>
                </a:solidFill>
              </a:rPr>
              <a:t>Ch.3 Phương pháp</a:t>
            </a:r>
            <a:endParaRPr lang="en-US" sz="2400" dirty="0"/>
          </a:p>
        </p:txBody>
      </p:sp>
      <p:sp>
        <p:nvSpPr>
          <p:cNvPr id="19" name="text-161"/>
          <p:cNvSpPr txBox="1"/>
          <p:nvPr/>
        </p:nvSpPr>
        <p:spPr>
          <a:xfrm>
            <a:off x="8001000" y="3675888"/>
            <a:ext cx="3547872" cy="694944"/>
          </a:xfrm>
          <a:prstGeom prst="rect">
            <a:avLst/>
          </a:prstGeom>
          <a:noFill/>
          <a:ln/>
        </p:spPr>
        <p:txBody>
          <a:bodyPr wrap="square" lIns="0" tIns="0" rIns="0" bIns="0" rtlCol="0" anchor="ctr"/>
          <a:lstStyle/>
          <a:p>
            <a:pPr indent="0" marL="0">
              <a:buNone/>
            </a:pPr>
            <a:r>
              <a:rPr lang="en-US" sz="2400" dirty="0">
                <a:solidFill>
                  <a:schemeClr val="tx1"/>
                </a:solidFill>
              </a:rPr>
              <a:t>Ch.2 Phương pháp</a:t>
            </a:r>
            <a:endParaRPr lang="en-US" sz="2400" dirty="0"/>
          </a:p>
        </p:txBody>
      </p:sp>
      <p:sp>
        <p:nvSpPr>
          <p:cNvPr id="20" name="text-162"/>
          <p:cNvSpPr txBox="1"/>
          <p:nvPr/>
        </p:nvSpPr>
        <p:spPr>
          <a:xfrm>
            <a:off x="731520" y="4370832"/>
            <a:ext cx="2926080" cy="694944"/>
          </a:xfrm>
          <a:prstGeom prst="rect">
            <a:avLst/>
          </a:prstGeom>
          <a:noFill/>
          <a:ln/>
        </p:spPr>
        <p:txBody>
          <a:bodyPr wrap="square" lIns="0" tIns="0" rIns="0" bIns="0" rtlCol="0" anchor="ctr"/>
          <a:lstStyle/>
          <a:p>
            <a:pPr indent="0" marL="0">
              <a:buNone/>
            </a:pPr>
            <a:r>
              <a:rPr lang="en-US" sz="2400" b="1" dirty="0">
                <a:solidFill>
                  <a:schemeClr val="accent2"/>
                </a:solidFill>
              </a:rPr>
              <a:t>Kết quả</a:t>
            </a:r>
            <a:endParaRPr lang="en-US" sz="2400" dirty="0"/>
          </a:p>
        </p:txBody>
      </p:sp>
      <p:sp>
        <p:nvSpPr>
          <p:cNvPr id="21" name="text-163"/>
          <p:cNvSpPr txBox="1"/>
          <p:nvPr/>
        </p:nvSpPr>
        <p:spPr>
          <a:xfrm>
            <a:off x="4069080" y="4370832"/>
            <a:ext cx="3520440" cy="694944"/>
          </a:xfrm>
          <a:prstGeom prst="rect">
            <a:avLst/>
          </a:prstGeom>
          <a:noFill/>
          <a:ln/>
        </p:spPr>
        <p:txBody>
          <a:bodyPr wrap="square" lIns="0" tIns="0" rIns="0" bIns="0" rtlCol="0" anchor="ctr"/>
          <a:lstStyle/>
          <a:p>
            <a:pPr indent="0" marL="0">
              <a:buNone/>
            </a:pPr>
            <a:r>
              <a:rPr lang="en-US" sz="2400" dirty="0">
                <a:solidFill>
                  <a:schemeClr val="tx1"/>
                </a:solidFill>
              </a:rPr>
              <a:t>Ch.4 Kết quả</a:t>
            </a:r>
            <a:endParaRPr lang="en-US" sz="2400" dirty="0"/>
          </a:p>
        </p:txBody>
      </p:sp>
      <p:sp>
        <p:nvSpPr>
          <p:cNvPr id="22" name="text-164"/>
          <p:cNvSpPr txBox="1"/>
          <p:nvPr/>
        </p:nvSpPr>
        <p:spPr>
          <a:xfrm>
            <a:off x="8001000" y="4370832"/>
            <a:ext cx="3547872" cy="694944"/>
          </a:xfrm>
          <a:prstGeom prst="rect">
            <a:avLst/>
          </a:prstGeom>
          <a:noFill/>
          <a:ln/>
        </p:spPr>
        <p:txBody>
          <a:bodyPr wrap="square" lIns="0" tIns="0" rIns="0" bIns="0" rtlCol="0" anchor="ctr"/>
          <a:lstStyle/>
          <a:p>
            <a:pPr indent="0" marL="0">
              <a:buNone/>
            </a:pPr>
            <a:r>
              <a:rPr lang="en-US" sz="2400" dirty="0">
                <a:solidFill>
                  <a:schemeClr val="tx1"/>
                </a:solidFill>
              </a:rPr>
              <a:t>Ch.3 Kết quả, kết luận &amp; hàm ý</a:t>
            </a:r>
            <a:endParaRPr lang="en-US" sz="2400" dirty="0"/>
          </a:p>
        </p:txBody>
      </p:sp>
      <p:sp>
        <p:nvSpPr>
          <p:cNvPr id="23" name="card-165"/>
          <p:cNvSpPr/>
          <p:nvPr/>
        </p:nvSpPr>
        <p:spPr>
          <a:xfrm>
            <a:off x="502920" y="5065776"/>
            <a:ext cx="11185855" cy="694944"/>
          </a:xfrm>
          <a:prstGeom prst="roundRect">
            <a:avLst>
              <a:gd name="adj" fmla="val 19737"/>
            </a:avLst>
          </a:prstGeom>
          <a:solidFill>
            <a:schemeClr val="bg2"/>
          </a:solidFill>
          <a:ln/>
        </p:spPr>
      </p:sp>
      <p:sp>
        <p:nvSpPr>
          <p:cNvPr id="24" name="text-166"/>
          <p:cNvSpPr txBox="1"/>
          <p:nvPr/>
        </p:nvSpPr>
        <p:spPr>
          <a:xfrm>
            <a:off x="731520" y="5065776"/>
            <a:ext cx="2926080" cy="694944"/>
          </a:xfrm>
          <a:prstGeom prst="rect">
            <a:avLst/>
          </a:prstGeom>
          <a:noFill/>
          <a:ln/>
        </p:spPr>
        <p:txBody>
          <a:bodyPr wrap="square" lIns="0" tIns="0" rIns="0" bIns="0" rtlCol="0" anchor="ctr"/>
          <a:lstStyle/>
          <a:p>
            <a:pPr indent="0" marL="0">
              <a:buNone/>
            </a:pPr>
            <a:r>
              <a:rPr lang="en-US" sz="2400" b="1" dirty="0">
                <a:solidFill>
                  <a:schemeClr val="accent2"/>
                </a:solidFill>
              </a:rPr>
              <a:t>Hạn chế, kết luận &amp; đề nghị</a:t>
            </a:r>
            <a:endParaRPr lang="en-US" sz="2400" dirty="0"/>
          </a:p>
        </p:txBody>
      </p:sp>
      <p:sp>
        <p:nvSpPr>
          <p:cNvPr id="25" name="text-167"/>
          <p:cNvSpPr txBox="1"/>
          <p:nvPr/>
        </p:nvSpPr>
        <p:spPr>
          <a:xfrm>
            <a:off x="4069080" y="5065776"/>
            <a:ext cx="3520440" cy="694944"/>
          </a:xfrm>
          <a:prstGeom prst="rect">
            <a:avLst/>
          </a:prstGeom>
          <a:noFill/>
          <a:ln/>
        </p:spPr>
        <p:txBody>
          <a:bodyPr wrap="square" lIns="0" tIns="0" rIns="0" bIns="0" rtlCol="0" anchor="ctr"/>
          <a:lstStyle/>
          <a:p>
            <a:pPr indent="0" marL="0">
              <a:buNone/>
            </a:pPr>
            <a:r>
              <a:rPr lang="en-US" sz="2400" dirty="0">
                <a:solidFill>
                  <a:schemeClr val="tx1"/>
                </a:solidFill>
              </a:rPr>
              <a:t>Ch.5 Kết luận, hàm ý, hạn chế</a:t>
            </a:r>
            <a:endParaRPr lang="en-US" sz="2400" dirty="0"/>
          </a:p>
        </p:txBody>
      </p:sp>
      <p:sp>
        <p:nvSpPr>
          <p:cNvPr id="26" name="text-168"/>
          <p:cNvSpPr txBox="1"/>
          <p:nvPr/>
        </p:nvSpPr>
        <p:spPr>
          <a:xfrm>
            <a:off x="8001000" y="5065776"/>
            <a:ext cx="3547872" cy="694944"/>
          </a:xfrm>
          <a:prstGeom prst="rect">
            <a:avLst/>
          </a:prstGeom>
          <a:noFill/>
          <a:ln/>
        </p:spPr>
        <p:txBody>
          <a:bodyPr wrap="square" lIns="0" tIns="0" rIns="0" bIns="0" rtlCol="0" anchor="ctr"/>
          <a:lstStyle/>
          <a:p>
            <a:pPr indent="0" marL="0">
              <a:buNone/>
            </a:pPr>
            <a:r>
              <a:rPr lang="en-US" sz="2400" i="1" dirty="0">
                <a:solidFill>
                  <a:schemeClr val="tx2"/>
                </a:solidFill>
              </a:rPr>
              <a:t>gộp trong Ch.3</a:t>
            </a:r>
            <a:endParaRPr lang="en-US" sz="2400" dirty="0"/>
          </a:p>
        </p:txBody>
      </p:sp>
      <p:sp>
        <p:nvSpPr>
          <p:cNvPr id="27" name="text-169"/>
          <p:cNvSpPr txBox="1"/>
          <p:nvPr/>
        </p:nvSpPr>
        <p:spPr>
          <a:xfrm>
            <a:off x="548640" y="5833872"/>
            <a:ext cx="10424160" cy="777240"/>
          </a:xfrm>
          <a:prstGeom prst="rect">
            <a:avLst/>
          </a:prstGeom>
          <a:noFill/>
          <a:ln/>
        </p:spPr>
        <p:txBody>
          <a:bodyPr wrap="square" lIns="0" tIns="0" rIns="0" bIns="0" rtlCol="0" anchor="t"/>
          <a:lstStyle/>
          <a:p>
            <a:pPr indent="0" marL="0">
              <a:buNone/>
            </a:pPr>
            <a:r>
              <a:rPr lang="en-US" sz="2400" dirty="0">
                <a:solidFill>
                  <a:schemeClr val="accent1"/>
                </a:solidFill>
              </a:rPr>
              <a:t>Cả hai dạng: trang tựa, mục lục, tóm lược ở đầu; phụ lục, tài liệu tham khảo, nhật ký AI ở cuối</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Năm nguyên tắc chung: viết cho người đọc, rõ, gọn, trung thực, nhất quán</a:t>
            </a:r>
            <a:endParaRPr lang="en-US" sz="3000" dirty="0"/>
          </a:p>
        </p:txBody>
      </p:sp>
      <p:sp>
        <p:nvSpPr>
          <p:cNvPr id="4" name="dot-170"/>
          <p:cNvSpPr/>
          <p:nvPr/>
        </p:nvSpPr>
        <p:spPr>
          <a:xfrm>
            <a:off x="548640" y="1810512"/>
            <a:ext cx="640080" cy="640080"/>
          </a:xfrm>
          <a:prstGeom prst="ellipse">
            <a:avLst/>
          </a:prstGeom>
          <a:solidFill>
            <a:schemeClr val="accent1"/>
          </a:solidFill>
          <a:ln/>
        </p:spPr>
      </p:sp>
      <p:sp>
        <p:nvSpPr>
          <p:cNvPr id="5" name="text-171"/>
          <p:cNvSpPr txBox="1"/>
          <p:nvPr/>
        </p:nvSpPr>
        <p:spPr>
          <a:xfrm>
            <a:off x="548640" y="1810512"/>
            <a:ext cx="640080" cy="640080"/>
          </a:xfrm>
          <a:prstGeom prst="rect">
            <a:avLst/>
          </a:prstGeom>
          <a:no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6" name="card-172"/>
          <p:cNvSpPr/>
          <p:nvPr/>
        </p:nvSpPr>
        <p:spPr>
          <a:xfrm>
            <a:off x="1417320" y="1737360"/>
            <a:ext cx="10222992" cy="777240"/>
          </a:xfrm>
          <a:prstGeom prst="roundRect">
            <a:avLst>
              <a:gd name="adj" fmla="val 17647"/>
            </a:avLst>
          </a:prstGeom>
          <a:solidFill>
            <a:schemeClr val="bg2"/>
          </a:solidFill>
          <a:ln/>
        </p:spPr>
      </p:sp>
      <p:sp>
        <p:nvSpPr>
          <p:cNvPr id="7" name="text-173"/>
          <p:cNvSpPr txBox="1"/>
          <p:nvPr/>
        </p:nvSpPr>
        <p:spPr>
          <a:xfrm>
            <a:off x="1691640" y="1737360"/>
            <a:ext cx="3566160" cy="777240"/>
          </a:xfrm>
          <a:prstGeom prst="rect">
            <a:avLst/>
          </a:prstGeom>
          <a:noFill/>
          <a:ln/>
        </p:spPr>
        <p:txBody>
          <a:bodyPr wrap="square" lIns="0" tIns="0" rIns="0" bIns="0" rtlCol="0" anchor="ctr"/>
          <a:lstStyle/>
          <a:p>
            <a:pPr indent="0" marL="0">
              <a:buNone/>
            </a:pPr>
            <a:r>
              <a:rPr lang="en-US" sz="2400" b="1" dirty="0">
                <a:solidFill>
                  <a:schemeClr val="accent1"/>
                </a:solidFill>
              </a:rPr>
              <a:t>Viết cho người đọc</a:t>
            </a:r>
            <a:endParaRPr lang="en-US" sz="2400" dirty="0"/>
          </a:p>
        </p:txBody>
      </p:sp>
      <p:sp>
        <p:nvSpPr>
          <p:cNvPr id="8" name="text-174"/>
          <p:cNvSpPr txBox="1"/>
          <p:nvPr/>
        </p:nvSpPr>
        <p:spPr>
          <a:xfrm>
            <a:off x="5303520" y="1737360"/>
            <a:ext cx="6217920" cy="777240"/>
          </a:xfrm>
          <a:prstGeom prst="rect">
            <a:avLst/>
          </a:prstGeom>
          <a:noFill/>
          <a:ln/>
        </p:spPr>
        <p:txBody>
          <a:bodyPr wrap="square" lIns="0" tIns="0" rIns="0" bIns="0" rtlCol="0" anchor="ctr"/>
          <a:lstStyle/>
          <a:p>
            <a:pPr indent="0" marL="0">
              <a:buNone/>
            </a:pPr>
            <a:r>
              <a:rPr lang="en-US" sz="2400" dirty="0">
                <a:solidFill>
                  <a:schemeClr val="tx1"/>
                </a:solidFill>
              </a:rPr>
              <a:t>Ai đọc, cần gì để ra quyết định</a:t>
            </a:r>
            <a:endParaRPr lang="en-US" sz="2400" dirty="0"/>
          </a:p>
        </p:txBody>
      </p:sp>
      <p:sp>
        <p:nvSpPr>
          <p:cNvPr id="9" name="dot-175"/>
          <p:cNvSpPr/>
          <p:nvPr/>
        </p:nvSpPr>
        <p:spPr>
          <a:xfrm>
            <a:off x="548640" y="2706624"/>
            <a:ext cx="640080" cy="640080"/>
          </a:xfrm>
          <a:prstGeom prst="ellipse">
            <a:avLst/>
          </a:prstGeom>
          <a:solidFill>
            <a:schemeClr val="accent2"/>
          </a:solidFill>
          <a:ln/>
        </p:spPr>
      </p:sp>
      <p:sp>
        <p:nvSpPr>
          <p:cNvPr id="10" name="text-176"/>
          <p:cNvSpPr txBox="1"/>
          <p:nvPr/>
        </p:nvSpPr>
        <p:spPr>
          <a:xfrm>
            <a:off x="548640" y="2706624"/>
            <a:ext cx="640080" cy="640080"/>
          </a:xfrm>
          <a:prstGeom prst="rect">
            <a:avLst/>
          </a:prstGeom>
          <a:no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11" name="card-177"/>
          <p:cNvSpPr/>
          <p:nvPr/>
        </p:nvSpPr>
        <p:spPr>
          <a:xfrm>
            <a:off x="1417320" y="2633472"/>
            <a:ext cx="10222992" cy="777240"/>
          </a:xfrm>
          <a:prstGeom prst="roundRect">
            <a:avLst>
              <a:gd name="adj" fmla="val 17647"/>
            </a:avLst>
          </a:prstGeom>
          <a:solidFill>
            <a:schemeClr val="bg2"/>
          </a:solidFill>
          <a:ln/>
        </p:spPr>
      </p:sp>
      <p:sp>
        <p:nvSpPr>
          <p:cNvPr id="12" name="text-178"/>
          <p:cNvSpPr txBox="1"/>
          <p:nvPr/>
        </p:nvSpPr>
        <p:spPr>
          <a:xfrm>
            <a:off x="1691640" y="2633472"/>
            <a:ext cx="3566160" cy="777240"/>
          </a:xfrm>
          <a:prstGeom prst="rect">
            <a:avLst/>
          </a:prstGeom>
          <a:noFill/>
          <a:ln/>
        </p:spPr>
        <p:txBody>
          <a:bodyPr wrap="square" lIns="0" tIns="0" rIns="0" bIns="0" rtlCol="0" anchor="ctr"/>
          <a:lstStyle/>
          <a:p>
            <a:pPr indent="0" marL="0">
              <a:buNone/>
            </a:pPr>
            <a:r>
              <a:rPr lang="en-US" sz="2400" b="1" dirty="0">
                <a:solidFill>
                  <a:schemeClr val="accent2"/>
                </a:solidFill>
              </a:rPr>
              <a:t>Rõ ràng, mạch lạc</a:t>
            </a:r>
            <a:endParaRPr lang="en-US" sz="2400" dirty="0"/>
          </a:p>
        </p:txBody>
      </p:sp>
      <p:sp>
        <p:nvSpPr>
          <p:cNvPr id="13" name="text-179"/>
          <p:cNvSpPr txBox="1"/>
          <p:nvPr/>
        </p:nvSpPr>
        <p:spPr>
          <a:xfrm>
            <a:off x="5303520" y="2633472"/>
            <a:ext cx="6217920" cy="777240"/>
          </a:xfrm>
          <a:prstGeom prst="rect">
            <a:avLst/>
          </a:prstGeom>
          <a:noFill/>
          <a:ln/>
        </p:spPr>
        <p:txBody>
          <a:bodyPr wrap="square" lIns="0" tIns="0" rIns="0" bIns="0" rtlCol="0" anchor="ctr"/>
          <a:lstStyle/>
          <a:p>
            <a:pPr indent="0" marL="0">
              <a:buNone/>
            </a:pPr>
            <a:r>
              <a:rPr lang="en-US" sz="2400" dirty="0">
                <a:solidFill>
                  <a:schemeClr val="tx1"/>
                </a:solidFill>
              </a:rPr>
              <a:t>Mỗi đoạn một ý chính</a:t>
            </a:r>
            <a:endParaRPr lang="en-US" sz="2400" dirty="0"/>
          </a:p>
        </p:txBody>
      </p:sp>
      <p:sp>
        <p:nvSpPr>
          <p:cNvPr id="14" name="dot-180"/>
          <p:cNvSpPr/>
          <p:nvPr/>
        </p:nvSpPr>
        <p:spPr>
          <a:xfrm>
            <a:off x="548640" y="3602736"/>
            <a:ext cx="640080" cy="640080"/>
          </a:xfrm>
          <a:prstGeom prst="ellipse">
            <a:avLst/>
          </a:prstGeom>
          <a:solidFill>
            <a:schemeClr val="accent5"/>
          </a:solidFill>
          <a:ln/>
        </p:spPr>
      </p:sp>
      <p:sp>
        <p:nvSpPr>
          <p:cNvPr id="15" name="text-181"/>
          <p:cNvSpPr txBox="1"/>
          <p:nvPr/>
        </p:nvSpPr>
        <p:spPr>
          <a:xfrm>
            <a:off x="548640" y="3602736"/>
            <a:ext cx="640080" cy="640080"/>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16" name="card-182"/>
          <p:cNvSpPr/>
          <p:nvPr/>
        </p:nvSpPr>
        <p:spPr>
          <a:xfrm>
            <a:off x="1417320" y="3529584"/>
            <a:ext cx="10222992" cy="777240"/>
          </a:xfrm>
          <a:prstGeom prst="roundRect">
            <a:avLst>
              <a:gd name="adj" fmla="val 17647"/>
            </a:avLst>
          </a:prstGeom>
          <a:solidFill>
            <a:schemeClr val="bg2"/>
          </a:solidFill>
          <a:ln/>
        </p:spPr>
      </p:sp>
      <p:sp>
        <p:nvSpPr>
          <p:cNvPr id="17" name="text-183"/>
          <p:cNvSpPr txBox="1"/>
          <p:nvPr/>
        </p:nvSpPr>
        <p:spPr>
          <a:xfrm>
            <a:off x="1691640" y="3529584"/>
            <a:ext cx="3566160" cy="777240"/>
          </a:xfrm>
          <a:prstGeom prst="rect">
            <a:avLst/>
          </a:prstGeom>
          <a:noFill/>
          <a:ln/>
        </p:spPr>
        <p:txBody>
          <a:bodyPr wrap="square" lIns="0" tIns="0" rIns="0" bIns="0" rtlCol="0" anchor="ctr"/>
          <a:lstStyle/>
          <a:p>
            <a:pPr indent="0" marL="0">
              <a:buNone/>
            </a:pPr>
            <a:r>
              <a:rPr lang="en-US" sz="2400" b="1" dirty="0">
                <a:solidFill>
                  <a:schemeClr val="accent5"/>
                </a:solidFill>
              </a:rPr>
              <a:t>Ngắn gọn, khách quan</a:t>
            </a:r>
            <a:endParaRPr lang="en-US" sz="2400" dirty="0"/>
          </a:p>
        </p:txBody>
      </p:sp>
      <p:sp>
        <p:nvSpPr>
          <p:cNvPr id="18" name="text-184"/>
          <p:cNvSpPr txBox="1"/>
          <p:nvPr/>
        </p:nvSpPr>
        <p:spPr>
          <a:xfrm>
            <a:off x="5303520" y="3529584"/>
            <a:ext cx="6217920" cy="777240"/>
          </a:xfrm>
          <a:prstGeom prst="rect">
            <a:avLst/>
          </a:prstGeom>
          <a:noFill/>
          <a:ln/>
        </p:spPr>
        <p:txBody>
          <a:bodyPr wrap="square" lIns="0" tIns="0" rIns="0" bIns="0" rtlCol="0" anchor="ctr"/>
          <a:lstStyle/>
          <a:p>
            <a:pPr indent="0" marL="0">
              <a:buNone/>
            </a:pPr>
            <a:r>
              <a:rPr lang="en-US" sz="2400" dirty="0">
                <a:solidFill>
                  <a:schemeClr val="tx1"/>
                </a:solidFill>
              </a:rPr>
              <a:t>Mọi nhận định có dữ liệu</a:t>
            </a:r>
            <a:endParaRPr lang="en-US" sz="2400" dirty="0"/>
          </a:p>
        </p:txBody>
      </p:sp>
      <p:sp>
        <p:nvSpPr>
          <p:cNvPr id="19" name="dot-185"/>
          <p:cNvSpPr/>
          <p:nvPr/>
        </p:nvSpPr>
        <p:spPr>
          <a:xfrm>
            <a:off x="548640" y="4498848"/>
            <a:ext cx="640080" cy="640080"/>
          </a:xfrm>
          <a:prstGeom prst="ellipse">
            <a:avLst/>
          </a:prstGeom>
          <a:solidFill>
            <a:schemeClr val="accent3"/>
          </a:solidFill>
          <a:ln/>
        </p:spPr>
      </p:sp>
      <p:sp>
        <p:nvSpPr>
          <p:cNvPr id="20" name="text-186"/>
          <p:cNvSpPr txBox="1"/>
          <p:nvPr/>
        </p:nvSpPr>
        <p:spPr>
          <a:xfrm>
            <a:off x="548640" y="4498848"/>
            <a:ext cx="640080" cy="640080"/>
          </a:xfrm>
          <a:prstGeom prst="rect">
            <a:avLst/>
          </a:prstGeom>
          <a:noFill/>
          <a:ln/>
        </p:spPr>
        <p:txBody>
          <a:bodyPr wrap="square" lIns="0" tIns="0" rIns="0" bIns="0" rtlCol="0" anchor="ctr"/>
          <a:lstStyle/>
          <a:p>
            <a:pPr algn="ctr" indent="0" marL="0">
              <a:buNone/>
            </a:pPr>
            <a:r>
              <a:rPr lang="en-US" sz="2600" b="1" dirty="0">
                <a:solidFill>
                  <a:schemeClr val="bg1"/>
                </a:solidFill>
              </a:rPr>
              <a:t>4</a:t>
            </a:r>
            <a:endParaRPr lang="en-US" sz="2600" dirty="0"/>
          </a:p>
        </p:txBody>
      </p:sp>
      <p:sp>
        <p:nvSpPr>
          <p:cNvPr id="21" name="card-187"/>
          <p:cNvSpPr/>
          <p:nvPr/>
        </p:nvSpPr>
        <p:spPr>
          <a:xfrm>
            <a:off x="1417320" y="4425696"/>
            <a:ext cx="10222992" cy="777240"/>
          </a:xfrm>
          <a:prstGeom prst="roundRect">
            <a:avLst>
              <a:gd name="adj" fmla="val 17647"/>
            </a:avLst>
          </a:prstGeom>
          <a:solidFill>
            <a:schemeClr val="bg2"/>
          </a:solidFill>
          <a:ln/>
        </p:spPr>
      </p:sp>
      <p:sp>
        <p:nvSpPr>
          <p:cNvPr id="22" name="text-188"/>
          <p:cNvSpPr txBox="1"/>
          <p:nvPr/>
        </p:nvSpPr>
        <p:spPr>
          <a:xfrm>
            <a:off x="1691640" y="4425696"/>
            <a:ext cx="3566160" cy="777240"/>
          </a:xfrm>
          <a:prstGeom prst="rect">
            <a:avLst/>
          </a:prstGeom>
          <a:noFill/>
          <a:ln/>
        </p:spPr>
        <p:txBody>
          <a:bodyPr wrap="square" lIns="0" tIns="0" rIns="0" bIns="0" rtlCol="0" anchor="ctr"/>
          <a:lstStyle/>
          <a:p>
            <a:pPr indent="0" marL="0">
              <a:buNone/>
            </a:pPr>
            <a:r>
              <a:rPr lang="en-US" sz="2400" b="1" dirty="0">
                <a:solidFill>
                  <a:schemeClr val="accent3"/>
                </a:solidFill>
              </a:rPr>
              <a:t>Trung thực</a:t>
            </a:r>
            <a:endParaRPr lang="en-US" sz="2400" dirty="0"/>
          </a:p>
        </p:txBody>
      </p:sp>
      <p:sp>
        <p:nvSpPr>
          <p:cNvPr id="23" name="text-189"/>
          <p:cNvSpPr txBox="1"/>
          <p:nvPr/>
        </p:nvSpPr>
        <p:spPr>
          <a:xfrm>
            <a:off x="5303520" y="4425696"/>
            <a:ext cx="6217920" cy="777240"/>
          </a:xfrm>
          <a:prstGeom prst="rect">
            <a:avLst/>
          </a:prstGeom>
          <a:noFill/>
          <a:ln/>
        </p:spPr>
        <p:txBody>
          <a:bodyPr wrap="square" lIns="0" tIns="0" rIns="0" bIns="0" rtlCol="0" anchor="ctr"/>
          <a:lstStyle/>
          <a:p>
            <a:pPr indent="0" marL="0">
              <a:buNone/>
            </a:pPr>
            <a:r>
              <a:rPr lang="en-US" sz="2400" dirty="0">
                <a:solidFill>
                  <a:schemeClr val="tx1"/>
                </a:solidFill>
              </a:rPr>
              <a:t>Báo cáo cả kết quả không như mong đợi</a:t>
            </a:r>
            <a:endParaRPr lang="en-US" sz="2400" dirty="0"/>
          </a:p>
        </p:txBody>
      </p:sp>
      <p:sp>
        <p:nvSpPr>
          <p:cNvPr id="24" name="dot-190"/>
          <p:cNvSpPr/>
          <p:nvPr/>
        </p:nvSpPr>
        <p:spPr>
          <a:xfrm>
            <a:off x="548640" y="5394960"/>
            <a:ext cx="640080" cy="640080"/>
          </a:xfrm>
          <a:prstGeom prst="ellipse">
            <a:avLst/>
          </a:prstGeom>
          <a:solidFill>
            <a:schemeClr val="accent6"/>
          </a:solidFill>
          <a:ln/>
        </p:spPr>
      </p:sp>
      <p:sp>
        <p:nvSpPr>
          <p:cNvPr id="25" name="text-191"/>
          <p:cNvSpPr txBox="1"/>
          <p:nvPr/>
        </p:nvSpPr>
        <p:spPr>
          <a:xfrm>
            <a:off x="548640" y="5394960"/>
            <a:ext cx="640080" cy="640080"/>
          </a:xfrm>
          <a:prstGeom prst="rect">
            <a:avLst/>
          </a:prstGeom>
          <a:noFill/>
          <a:ln/>
        </p:spPr>
        <p:txBody>
          <a:bodyPr wrap="square" lIns="0" tIns="0" rIns="0" bIns="0" rtlCol="0" anchor="ctr"/>
          <a:lstStyle/>
          <a:p>
            <a:pPr algn="ctr" indent="0" marL="0">
              <a:buNone/>
            </a:pPr>
            <a:r>
              <a:rPr lang="en-US" sz="2600" b="1" dirty="0">
                <a:solidFill>
                  <a:schemeClr val="bg1"/>
                </a:solidFill>
              </a:rPr>
              <a:t>5</a:t>
            </a:r>
            <a:endParaRPr lang="en-US" sz="2600" dirty="0"/>
          </a:p>
        </p:txBody>
      </p:sp>
      <p:sp>
        <p:nvSpPr>
          <p:cNvPr id="26" name="card-192"/>
          <p:cNvSpPr/>
          <p:nvPr/>
        </p:nvSpPr>
        <p:spPr>
          <a:xfrm>
            <a:off x="1417320" y="5321808"/>
            <a:ext cx="10222992" cy="777240"/>
          </a:xfrm>
          <a:prstGeom prst="roundRect">
            <a:avLst>
              <a:gd name="adj" fmla="val 17647"/>
            </a:avLst>
          </a:prstGeom>
          <a:solidFill>
            <a:schemeClr val="bg2"/>
          </a:solidFill>
          <a:ln/>
        </p:spPr>
      </p:sp>
      <p:sp>
        <p:nvSpPr>
          <p:cNvPr id="27" name="text-193"/>
          <p:cNvSpPr txBox="1"/>
          <p:nvPr/>
        </p:nvSpPr>
        <p:spPr>
          <a:xfrm>
            <a:off x="1691640" y="5321808"/>
            <a:ext cx="3566160" cy="777240"/>
          </a:xfrm>
          <a:prstGeom prst="rect">
            <a:avLst/>
          </a:prstGeom>
          <a:noFill/>
          <a:ln/>
        </p:spPr>
        <p:txBody>
          <a:bodyPr wrap="square" lIns="0" tIns="0" rIns="0" bIns="0" rtlCol="0" anchor="ctr"/>
          <a:lstStyle/>
          <a:p>
            <a:pPr indent="0" marL="0">
              <a:buNone/>
            </a:pPr>
            <a:r>
              <a:rPr lang="en-US" sz="2400" b="1" dirty="0">
                <a:solidFill>
                  <a:schemeClr val="accent6"/>
                </a:solidFill>
              </a:rPr>
              <a:t>Nhất quán</a:t>
            </a:r>
            <a:endParaRPr lang="en-US" sz="2400" dirty="0"/>
          </a:p>
        </p:txBody>
      </p:sp>
      <p:sp>
        <p:nvSpPr>
          <p:cNvPr id="28" name="text-194"/>
          <p:cNvSpPr txBox="1"/>
          <p:nvPr/>
        </p:nvSpPr>
        <p:spPr>
          <a:xfrm>
            <a:off x="5303520" y="5321808"/>
            <a:ext cx="6217920" cy="777240"/>
          </a:xfrm>
          <a:prstGeom prst="rect">
            <a:avLst/>
          </a:prstGeom>
          <a:noFill/>
          <a:ln/>
        </p:spPr>
        <p:txBody>
          <a:bodyPr wrap="square" lIns="0" tIns="0" rIns="0" bIns="0" rtlCol="0" anchor="ctr"/>
          <a:lstStyle/>
          <a:p>
            <a:pPr indent="0" marL="0">
              <a:buNone/>
            </a:pPr>
            <a:r>
              <a:rPr lang="en-US" sz="2400" dirty="0">
                <a:solidFill>
                  <a:schemeClr val="tx1"/>
                </a:solidFill>
              </a:rPr>
              <a:t>Thuật ngữ, ký hiệu, số thập phân, trích dẫn</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Bảng: tên ở trên, nguồn ở dưới, kèm 2–3 câu diễn giải</a:t>
            </a:r>
            <a:endParaRPr lang="en-US" sz="3000" dirty="0"/>
          </a:p>
        </p:txBody>
      </p:sp>
      <p:sp>
        <p:nvSpPr>
          <p:cNvPr id="4" name="text-195"/>
          <p:cNvSpPr txBox="1"/>
          <p:nvPr/>
        </p:nvSpPr>
        <p:spPr>
          <a:xfrm>
            <a:off x="548640" y="1691640"/>
            <a:ext cx="6309360" cy="868680"/>
          </a:xfrm>
          <a:prstGeom prst="rect">
            <a:avLst/>
          </a:prstGeom>
          <a:noFill/>
          <a:ln/>
        </p:spPr>
        <p:txBody>
          <a:bodyPr wrap="square" lIns="0" tIns="0" rIns="0" bIns="0" rtlCol="0" anchor="t"/>
          <a:lstStyle/>
          <a:p>
            <a:pPr indent="0" marL="0">
              <a:buNone/>
            </a:pPr>
            <a:r>
              <a:rPr lang="en-US" sz="2400" b="1" dirty="0">
                <a:solidFill>
                  <a:schemeClr val="accent2"/>
                </a:solidFill>
              </a:rPr>
              <a:t>Bảng 4.3. Điểm trung bình các khái niệm nghiên cứu (thang 1–5)</a:t>
            </a:r>
            <a:endParaRPr lang="en-US" sz="2400" dirty="0"/>
          </a:p>
        </p:txBody>
      </p:sp>
      <p:sp>
        <p:nvSpPr>
          <p:cNvPr id="5" name="card-196"/>
          <p:cNvSpPr/>
          <p:nvPr/>
        </p:nvSpPr>
        <p:spPr>
          <a:xfrm>
            <a:off x="457200" y="2651760"/>
            <a:ext cx="6629400" cy="548640"/>
          </a:xfrm>
          <a:prstGeom prst="roundRect">
            <a:avLst>
              <a:gd name="adj" fmla="val 25000"/>
            </a:avLst>
          </a:prstGeom>
          <a:solidFill>
            <a:schemeClr val="bg2"/>
          </a:solidFill>
          <a:ln/>
        </p:spPr>
      </p:sp>
      <p:sp>
        <p:nvSpPr>
          <p:cNvPr id="6" name="text-197"/>
          <p:cNvSpPr txBox="1"/>
          <p:nvPr/>
        </p:nvSpPr>
        <p:spPr>
          <a:xfrm>
            <a:off x="548640" y="2651760"/>
            <a:ext cx="3474720" cy="548640"/>
          </a:xfrm>
          <a:prstGeom prst="rect">
            <a:avLst/>
          </a:prstGeom>
          <a:noFill/>
          <a:ln/>
        </p:spPr>
        <p:txBody>
          <a:bodyPr wrap="square" lIns="0" tIns="0" rIns="0" bIns="0" rtlCol="0" anchor="ctr"/>
          <a:lstStyle/>
          <a:p>
            <a:pPr algn="l" indent="0" marL="0">
              <a:buNone/>
            </a:pPr>
            <a:r>
              <a:rPr lang="en-US" sz="2400" b="1" dirty="0">
                <a:solidFill>
                  <a:schemeClr val="tx2"/>
                </a:solidFill>
              </a:rPr>
              <a:t>Khái niệm</a:t>
            </a:r>
            <a:endParaRPr lang="en-US" sz="2400" dirty="0"/>
          </a:p>
        </p:txBody>
      </p:sp>
      <p:sp>
        <p:nvSpPr>
          <p:cNvPr id="7" name="text-198"/>
          <p:cNvSpPr txBox="1"/>
          <p:nvPr/>
        </p:nvSpPr>
        <p:spPr>
          <a:xfrm>
            <a:off x="4023360" y="2651760"/>
            <a:ext cx="1234440" cy="548640"/>
          </a:xfrm>
          <a:prstGeom prst="rect">
            <a:avLst/>
          </a:prstGeom>
          <a:noFill/>
          <a:ln/>
        </p:spPr>
        <p:txBody>
          <a:bodyPr wrap="square" lIns="0" tIns="0" rIns="0" bIns="0" rtlCol="0" anchor="ctr"/>
          <a:lstStyle/>
          <a:p>
            <a:pPr algn="r" indent="0" marL="0">
              <a:buNone/>
            </a:pPr>
            <a:r>
              <a:rPr lang="en-US" sz="2400" b="1" dirty="0">
                <a:solidFill>
                  <a:schemeClr val="tx2"/>
                </a:solidFill>
              </a:rPr>
              <a:t>Số biến</a:t>
            </a:r>
            <a:endParaRPr lang="en-US" sz="2400" dirty="0"/>
          </a:p>
        </p:txBody>
      </p:sp>
      <p:sp>
        <p:nvSpPr>
          <p:cNvPr id="8" name="text-199"/>
          <p:cNvSpPr txBox="1"/>
          <p:nvPr/>
        </p:nvSpPr>
        <p:spPr>
          <a:xfrm>
            <a:off x="5349240" y="2651760"/>
            <a:ext cx="777240" cy="548640"/>
          </a:xfrm>
          <a:prstGeom prst="rect">
            <a:avLst/>
          </a:prstGeom>
          <a:noFill/>
          <a:ln/>
        </p:spPr>
        <p:txBody>
          <a:bodyPr wrap="square" lIns="0" tIns="0" rIns="0" bIns="0" rtlCol="0" anchor="ctr"/>
          <a:lstStyle/>
          <a:p>
            <a:pPr algn="r" indent="0" marL="0">
              <a:buNone/>
            </a:pPr>
            <a:r>
              <a:rPr lang="en-US" sz="2400" b="1" dirty="0">
                <a:solidFill>
                  <a:schemeClr val="tx2"/>
                </a:solidFill>
              </a:rPr>
              <a:t>TB</a:t>
            </a:r>
            <a:endParaRPr lang="en-US" sz="2400" dirty="0"/>
          </a:p>
        </p:txBody>
      </p:sp>
      <p:sp>
        <p:nvSpPr>
          <p:cNvPr id="9" name="text-200"/>
          <p:cNvSpPr txBox="1"/>
          <p:nvPr/>
        </p:nvSpPr>
        <p:spPr>
          <a:xfrm>
            <a:off x="6172200" y="2651760"/>
            <a:ext cx="868680" cy="548640"/>
          </a:xfrm>
          <a:prstGeom prst="rect">
            <a:avLst/>
          </a:prstGeom>
          <a:noFill/>
          <a:ln/>
        </p:spPr>
        <p:txBody>
          <a:bodyPr wrap="square" lIns="0" tIns="0" rIns="0" bIns="0" rtlCol="0" anchor="ctr"/>
          <a:lstStyle/>
          <a:p>
            <a:pPr algn="r" indent="0" marL="0">
              <a:buNone/>
            </a:pPr>
            <a:r>
              <a:rPr lang="en-US" sz="2400" b="1" dirty="0">
                <a:solidFill>
                  <a:schemeClr val="tx2"/>
                </a:solidFill>
              </a:rPr>
              <a:t>ĐLC</a:t>
            </a:r>
            <a:endParaRPr lang="en-US" sz="2400" dirty="0"/>
          </a:p>
        </p:txBody>
      </p:sp>
      <p:sp>
        <p:nvSpPr>
          <p:cNvPr id="10" name="text-201"/>
          <p:cNvSpPr txBox="1"/>
          <p:nvPr/>
        </p:nvSpPr>
        <p:spPr>
          <a:xfrm>
            <a:off x="548640" y="3291840"/>
            <a:ext cx="3474720" cy="530352"/>
          </a:xfrm>
          <a:prstGeom prst="rect">
            <a:avLst/>
          </a:prstGeom>
          <a:noFill/>
          <a:ln/>
        </p:spPr>
        <p:txBody>
          <a:bodyPr wrap="square" lIns="0" tIns="0" rIns="0" bIns="0" rtlCol="0" anchor="ctr"/>
          <a:lstStyle/>
          <a:p>
            <a:pPr algn="l" indent="0" marL="0">
              <a:buNone/>
            </a:pPr>
            <a:r>
              <a:rPr lang="en-US" sz="2400" dirty="0">
                <a:solidFill>
                  <a:schemeClr val="tx1"/>
                </a:solidFill>
              </a:rPr>
              <a:t>Chất lượng cảm nhận</a:t>
            </a:r>
            <a:endParaRPr lang="en-US" sz="2400" dirty="0"/>
          </a:p>
        </p:txBody>
      </p:sp>
      <p:sp>
        <p:nvSpPr>
          <p:cNvPr id="11" name="text-202"/>
          <p:cNvSpPr txBox="1"/>
          <p:nvPr/>
        </p:nvSpPr>
        <p:spPr>
          <a:xfrm>
            <a:off x="4023360" y="3291840"/>
            <a:ext cx="1234440" cy="530352"/>
          </a:xfrm>
          <a:prstGeom prst="rect">
            <a:avLst/>
          </a:prstGeom>
          <a:noFill/>
          <a:ln/>
        </p:spPr>
        <p:txBody>
          <a:bodyPr wrap="square" lIns="0" tIns="0" rIns="0" bIns="0" rtlCol="0" anchor="ctr"/>
          <a:lstStyle/>
          <a:p>
            <a:pPr algn="r" indent="0" marL="0">
              <a:buNone/>
            </a:pPr>
            <a:r>
              <a:rPr lang="en-US" sz="2400" dirty="0">
                <a:solidFill>
                  <a:schemeClr val="tx1"/>
                </a:solidFill>
              </a:rPr>
              <a:t>4</a:t>
            </a:r>
            <a:endParaRPr lang="en-US" sz="2400" dirty="0"/>
          </a:p>
        </p:txBody>
      </p:sp>
      <p:sp>
        <p:nvSpPr>
          <p:cNvPr id="12" name="text-203"/>
          <p:cNvSpPr txBox="1"/>
          <p:nvPr/>
        </p:nvSpPr>
        <p:spPr>
          <a:xfrm>
            <a:off x="5349240" y="3291840"/>
            <a:ext cx="777240" cy="530352"/>
          </a:xfrm>
          <a:prstGeom prst="rect">
            <a:avLst/>
          </a:prstGeom>
          <a:noFill/>
          <a:ln/>
        </p:spPr>
        <p:txBody>
          <a:bodyPr wrap="square" lIns="0" tIns="0" rIns="0" bIns="0" rtlCol="0" anchor="ctr"/>
          <a:lstStyle/>
          <a:p>
            <a:pPr algn="r" indent="0" marL="0">
              <a:buNone/>
            </a:pPr>
            <a:r>
              <a:rPr lang="en-US" sz="2400" dirty="0">
                <a:solidFill>
                  <a:schemeClr val="tx1"/>
                </a:solidFill>
              </a:rPr>
              <a:t>3,95</a:t>
            </a:r>
            <a:endParaRPr lang="en-US" sz="2400" dirty="0"/>
          </a:p>
        </p:txBody>
      </p:sp>
      <p:sp>
        <p:nvSpPr>
          <p:cNvPr id="13" name="text-204"/>
          <p:cNvSpPr txBox="1"/>
          <p:nvPr/>
        </p:nvSpPr>
        <p:spPr>
          <a:xfrm>
            <a:off x="6172200" y="3291840"/>
            <a:ext cx="868680" cy="530352"/>
          </a:xfrm>
          <a:prstGeom prst="rect">
            <a:avLst/>
          </a:prstGeom>
          <a:noFill/>
          <a:ln/>
        </p:spPr>
        <p:txBody>
          <a:bodyPr wrap="square" lIns="0" tIns="0" rIns="0" bIns="0" rtlCol="0" anchor="ctr"/>
          <a:lstStyle/>
          <a:p>
            <a:pPr algn="r" indent="0" marL="0">
              <a:buNone/>
            </a:pPr>
            <a:r>
              <a:rPr lang="en-US" sz="2400" dirty="0">
                <a:solidFill>
                  <a:schemeClr val="tx1"/>
                </a:solidFill>
              </a:rPr>
              <a:t>0,71</a:t>
            </a:r>
            <a:endParaRPr lang="en-US" sz="2400" dirty="0"/>
          </a:p>
        </p:txBody>
      </p:sp>
      <p:sp>
        <p:nvSpPr>
          <p:cNvPr id="14" name="text-205"/>
          <p:cNvSpPr txBox="1"/>
          <p:nvPr/>
        </p:nvSpPr>
        <p:spPr>
          <a:xfrm>
            <a:off x="548640" y="3858768"/>
            <a:ext cx="3474720" cy="530352"/>
          </a:xfrm>
          <a:prstGeom prst="rect">
            <a:avLst/>
          </a:prstGeom>
          <a:noFill/>
          <a:ln/>
        </p:spPr>
        <p:txBody>
          <a:bodyPr wrap="square" lIns="0" tIns="0" rIns="0" bIns="0" rtlCol="0" anchor="ctr"/>
          <a:lstStyle/>
          <a:p>
            <a:pPr algn="l" indent="0" marL="0">
              <a:buNone/>
            </a:pPr>
            <a:r>
              <a:rPr lang="en-US" sz="2400" dirty="0">
                <a:solidFill>
                  <a:schemeClr val="tx1"/>
                </a:solidFill>
              </a:rPr>
              <a:t>Nhận thức về giá</a:t>
            </a:r>
            <a:endParaRPr lang="en-US" sz="2400" dirty="0"/>
          </a:p>
        </p:txBody>
      </p:sp>
      <p:sp>
        <p:nvSpPr>
          <p:cNvPr id="15" name="text-206"/>
          <p:cNvSpPr txBox="1"/>
          <p:nvPr/>
        </p:nvSpPr>
        <p:spPr>
          <a:xfrm>
            <a:off x="4023360" y="3858768"/>
            <a:ext cx="1234440" cy="530352"/>
          </a:xfrm>
          <a:prstGeom prst="rect">
            <a:avLst/>
          </a:prstGeom>
          <a:noFill/>
          <a:ln/>
        </p:spPr>
        <p:txBody>
          <a:bodyPr wrap="square" lIns="0" tIns="0" rIns="0" bIns="0" rtlCol="0" anchor="ctr"/>
          <a:lstStyle/>
          <a:p>
            <a:pPr algn="r" indent="0" marL="0">
              <a:buNone/>
            </a:pPr>
            <a:r>
              <a:rPr lang="en-US" sz="2400" dirty="0">
                <a:solidFill>
                  <a:schemeClr val="tx1"/>
                </a:solidFill>
              </a:rPr>
              <a:t>3</a:t>
            </a:r>
            <a:endParaRPr lang="en-US" sz="2400" dirty="0"/>
          </a:p>
        </p:txBody>
      </p:sp>
      <p:sp>
        <p:nvSpPr>
          <p:cNvPr id="16" name="text-207"/>
          <p:cNvSpPr txBox="1"/>
          <p:nvPr/>
        </p:nvSpPr>
        <p:spPr>
          <a:xfrm>
            <a:off x="5349240" y="3858768"/>
            <a:ext cx="777240" cy="530352"/>
          </a:xfrm>
          <a:prstGeom prst="rect">
            <a:avLst/>
          </a:prstGeom>
          <a:noFill/>
          <a:ln/>
        </p:spPr>
        <p:txBody>
          <a:bodyPr wrap="square" lIns="0" tIns="0" rIns="0" bIns="0" rtlCol="0" anchor="ctr"/>
          <a:lstStyle/>
          <a:p>
            <a:pPr algn="r" indent="0" marL="0">
              <a:buNone/>
            </a:pPr>
            <a:r>
              <a:rPr lang="en-US" sz="2400" dirty="0">
                <a:solidFill>
                  <a:schemeClr val="tx1"/>
                </a:solidFill>
              </a:rPr>
              <a:t>3,82</a:t>
            </a:r>
            <a:endParaRPr lang="en-US" sz="2400" dirty="0"/>
          </a:p>
        </p:txBody>
      </p:sp>
      <p:sp>
        <p:nvSpPr>
          <p:cNvPr id="17" name="text-208"/>
          <p:cNvSpPr txBox="1"/>
          <p:nvPr/>
        </p:nvSpPr>
        <p:spPr>
          <a:xfrm>
            <a:off x="6172200" y="3858768"/>
            <a:ext cx="868680" cy="530352"/>
          </a:xfrm>
          <a:prstGeom prst="rect">
            <a:avLst/>
          </a:prstGeom>
          <a:noFill/>
          <a:ln/>
        </p:spPr>
        <p:txBody>
          <a:bodyPr wrap="square" lIns="0" tIns="0" rIns="0" bIns="0" rtlCol="0" anchor="ctr"/>
          <a:lstStyle/>
          <a:p>
            <a:pPr algn="r" indent="0" marL="0">
              <a:buNone/>
            </a:pPr>
            <a:r>
              <a:rPr lang="en-US" sz="2400" dirty="0">
                <a:solidFill>
                  <a:schemeClr val="tx1"/>
                </a:solidFill>
              </a:rPr>
              <a:t>0,80</a:t>
            </a:r>
            <a:endParaRPr lang="en-US" sz="2400" dirty="0"/>
          </a:p>
        </p:txBody>
      </p:sp>
      <p:sp>
        <p:nvSpPr>
          <p:cNvPr id="18" name="text-209"/>
          <p:cNvSpPr txBox="1"/>
          <p:nvPr/>
        </p:nvSpPr>
        <p:spPr>
          <a:xfrm>
            <a:off x="548640" y="4425696"/>
            <a:ext cx="3474720" cy="530352"/>
          </a:xfrm>
          <a:prstGeom prst="rect">
            <a:avLst/>
          </a:prstGeom>
          <a:noFill/>
          <a:ln/>
        </p:spPr>
        <p:txBody>
          <a:bodyPr wrap="square" lIns="0" tIns="0" rIns="0" bIns="0" rtlCol="0" anchor="ctr"/>
          <a:lstStyle/>
          <a:p>
            <a:pPr algn="l" indent="0" marL="0">
              <a:buNone/>
            </a:pPr>
            <a:r>
              <a:rPr lang="en-US" sz="2400" dirty="0">
                <a:solidFill>
                  <a:schemeClr val="tx1"/>
                </a:solidFill>
              </a:rPr>
              <a:t>Ý định mua</a:t>
            </a:r>
            <a:endParaRPr lang="en-US" sz="2400" dirty="0"/>
          </a:p>
        </p:txBody>
      </p:sp>
      <p:sp>
        <p:nvSpPr>
          <p:cNvPr id="19" name="text-210"/>
          <p:cNvSpPr txBox="1"/>
          <p:nvPr/>
        </p:nvSpPr>
        <p:spPr>
          <a:xfrm>
            <a:off x="4023360" y="4425696"/>
            <a:ext cx="1234440" cy="530352"/>
          </a:xfrm>
          <a:prstGeom prst="rect">
            <a:avLst/>
          </a:prstGeom>
          <a:noFill/>
          <a:ln/>
        </p:spPr>
        <p:txBody>
          <a:bodyPr wrap="square" lIns="0" tIns="0" rIns="0" bIns="0" rtlCol="0" anchor="ctr"/>
          <a:lstStyle/>
          <a:p>
            <a:pPr algn="r" indent="0" marL="0">
              <a:buNone/>
            </a:pPr>
            <a:r>
              <a:rPr lang="en-US" sz="2400" dirty="0">
                <a:solidFill>
                  <a:schemeClr val="tx1"/>
                </a:solidFill>
              </a:rPr>
              <a:t>3</a:t>
            </a:r>
            <a:endParaRPr lang="en-US" sz="2400" dirty="0"/>
          </a:p>
        </p:txBody>
      </p:sp>
      <p:sp>
        <p:nvSpPr>
          <p:cNvPr id="20" name="text-211"/>
          <p:cNvSpPr txBox="1"/>
          <p:nvPr/>
        </p:nvSpPr>
        <p:spPr>
          <a:xfrm>
            <a:off x="5349240" y="4425696"/>
            <a:ext cx="777240" cy="530352"/>
          </a:xfrm>
          <a:prstGeom prst="rect">
            <a:avLst/>
          </a:prstGeom>
          <a:noFill/>
          <a:ln/>
        </p:spPr>
        <p:txBody>
          <a:bodyPr wrap="square" lIns="0" tIns="0" rIns="0" bIns="0" rtlCol="0" anchor="ctr"/>
          <a:lstStyle/>
          <a:p>
            <a:pPr algn="r" indent="0" marL="0">
              <a:buNone/>
            </a:pPr>
            <a:r>
              <a:rPr lang="en-US" sz="2400" dirty="0">
                <a:solidFill>
                  <a:schemeClr val="tx1"/>
                </a:solidFill>
              </a:rPr>
              <a:t>3,71</a:t>
            </a:r>
            <a:endParaRPr lang="en-US" sz="2400" dirty="0"/>
          </a:p>
        </p:txBody>
      </p:sp>
      <p:sp>
        <p:nvSpPr>
          <p:cNvPr id="21" name="text-212"/>
          <p:cNvSpPr txBox="1"/>
          <p:nvPr/>
        </p:nvSpPr>
        <p:spPr>
          <a:xfrm>
            <a:off x="6172200" y="4425696"/>
            <a:ext cx="868680" cy="530352"/>
          </a:xfrm>
          <a:prstGeom prst="rect">
            <a:avLst/>
          </a:prstGeom>
          <a:noFill/>
          <a:ln/>
        </p:spPr>
        <p:txBody>
          <a:bodyPr wrap="square" lIns="0" tIns="0" rIns="0" bIns="0" rtlCol="0" anchor="ctr"/>
          <a:lstStyle/>
          <a:p>
            <a:pPr algn="r" indent="0" marL="0">
              <a:buNone/>
            </a:pPr>
            <a:r>
              <a:rPr lang="en-US" sz="2400" dirty="0">
                <a:solidFill>
                  <a:schemeClr val="tx1"/>
                </a:solidFill>
              </a:rPr>
              <a:t>0,88</a:t>
            </a:r>
            <a:endParaRPr lang="en-US" sz="2400" dirty="0"/>
          </a:p>
        </p:txBody>
      </p:sp>
      <p:sp>
        <p:nvSpPr>
          <p:cNvPr id="22" name="line-213"/>
          <p:cNvSpPr/>
          <p:nvPr/>
        </p:nvSpPr>
        <p:spPr>
          <a:xfrm>
            <a:off x="457200" y="5029200"/>
            <a:ext cx="6629400" cy="0"/>
          </a:xfrm>
          <a:prstGeom prst="line">
            <a:avLst/>
          </a:prstGeom>
          <a:noFill/>
          <a:ln w="19050">
            <a:solidFill>
              <a:schemeClr val="tx2"/>
            </a:solidFill>
            <a:prstDash val="solid"/>
          </a:ln>
        </p:spPr>
      </p:sp>
      <p:sp>
        <p:nvSpPr>
          <p:cNvPr id="23" name="text-214"/>
          <p:cNvSpPr txBox="1"/>
          <p:nvPr/>
        </p:nvSpPr>
        <p:spPr>
          <a:xfrm>
            <a:off x="548640" y="5120640"/>
            <a:ext cx="6309360" cy="822960"/>
          </a:xfrm>
          <a:prstGeom prst="rect">
            <a:avLst/>
          </a:prstGeom>
          <a:noFill/>
          <a:ln/>
        </p:spPr>
        <p:txBody>
          <a:bodyPr wrap="square" lIns="0" tIns="0" rIns="0" bIns="0" rtlCol="0" anchor="t"/>
          <a:lstStyle/>
          <a:p>
            <a:pPr indent="0" marL="0">
              <a:buNone/>
            </a:pPr>
            <a:r>
              <a:rPr lang="en-US" sz="2400" i="1" dirty="0">
                <a:solidFill>
                  <a:schemeClr val="tx2"/>
                </a:solidFill>
              </a:rPr>
              <a:t>Nguồn: Kết quả khảo sát của nhóm (giả định), n = 180.</a:t>
            </a:r>
            <a:endParaRPr lang="en-US" sz="2400" dirty="0"/>
          </a:p>
        </p:txBody>
      </p:sp>
      <p:sp>
        <p:nvSpPr>
          <p:cNvPr id="24" name="card-215"/>
          <p:cNvSpPr/>
          <p:nvPr/>
        </p:nvSpPr>
        <p:spPr>
          <a:xfrm>
            <a:off x="7269480" y="1691640"/>
            <a:ext cx="4370832" cy="4480560"/>
          </a:xfrm>
          <a:prstGeom prst="roundRect">
            <a:avLst>
              <a:gd name="adj" fmla="val 3138"/>
            </a:avLst>
          </a:prstGeom>
          <a:solidFill>
            <a:schemeClr val="bg2"/>
          </a:solidFill>
          <a:ln/>
        </p:spPr>
      </p:sp>
      <p:sp>
        <p:nvSpPr>
          <p:cNvPr id="25" name="text-216"/>
          <p:cNvSpPr txBox="1"/>
          <p:nvPr/>
        </p:nvSpPr>
        <p:spPr>
          <a:xfrm>
            <a:off x="7498080" y="1828800"/>
            <a:ext cx="4023360" cy="566928"/>
          </a:xfrm>
          <a:prstGeom prst="rect">
            <a:avLst/>
          </a:prstGeom>
          <a:noFill/>
          <a:ln/>
        </p:spPr>
        <p:txBody>
          <a:bodyPr wrap="square" lIns="0" tIns="0" rIns="0" bIns="0" rtlCol="0" anchor="ctr"/>
          <a:lstStyle/>
          <a:p>
            <a:pPr indent="0" marL="0">
              <a:buNone/>
            </a:pPr>
            <a:r>
              <a:rPr lang="en-US" sz="2400" b="1" dirty="0">
                <a:solidFill>
                  <a:schemeClr val="accent1"/>
                </a:solidFill>
              </a:rPr>
              <a:t>✓ </a:t>
            </a:r>
            <a:pPr indent="0" marL="0">
              <a:buNone/>
            </a:pPr>
            <a:r>
              <a:rPr lang="en-US" sz="2400" dirty="0">
                <a:solidFill>
                  <a:schemeClr val="tx1"/>
                </a:solidFill>
              </a:rPr>
              <a:t>Số + tên ở trên</a:t>
            </a:r>
            <a:endParaRPr lang="en-US" sz="2400" dirty="0"/>
          </a:p>
        </p:txBody>
      </p:sp>
      <p:sp>
        <p:nvSpPr>
          <p:cNvPr id="26" name="text-217"/>
          <p:cNvSpPr txBox="1"/>
          <p:nvPr/>
        </p:nvSpPr>
        <p:spPr>
          <a:xfrm>
            <a:off x="7498080" y="2432304"/>
            <a:ext cx="4023360" cy="566928"/>
          </a:xfrm>
          <a:prstGeom prst="rect">
            <a:avLst/>
          </a:prstGeom>
          <a:noFill/>
          <a:ln/>
        </p:spPr>
        <p:txBody>
          <a:bodyPr wrap="square" lIns="0" tIns="0" rIns="0" bIns="0" rtlCol="0" anchor="ctr"/>
          <a:lstStyle/>
          <a:p>
            <a:pPr indent="0" marL="0">
              <a:buNone/>
            </a:pPr>
            <a:r>
              <a:rPr lang="en-US" sz="2400" b="1" dirty="0">
                <a:solidFill>
                  <a:schemeClr val="accent1"/>
                </a:solidFill>
              </a:rPr>
              <a:t>✓ </a:t>
            </a:r>
            <a:pPr indent="0" marL="0">
              <a:buNone/>
            </a:pPr>
            <a:r>
              <a:rPr lang="en-US" sz="2400" dirty="0">
                <a:solidFill>
                  <a:schemeClr val="tx1"/>
                </a:solidFill>
              </a:rPr>
              <a:t>Nguồn ở dưới</a:t>
            </a:r>
            <a:endParaRPr lang="en-US" sz="2400" dirty="0"/>
          </a:p>
        </p:txBody>
      </p:sp>
      <p:sp>
        <p:nvSpPr>
          <p:cNvPr id="27" name="text-218"/>
          <p:cNvSpPr txBox="1"/>
          <p:nvPr/>
        </p:nvSpPr>
        <p:spPr>
          <a:xfrm>
            <a:off x="7498080" y="3035808"/>
            <a:ext cx="4023360" cy="566928"/>
          </a:xfrm>
          <a:prstGeom prst="rect">
            <a:avLst/>
          </a:prstGeom>
          <a:noFill/>
          <a:ln/>
        </p:spPr>
        <p:txBody>
          <a:bodyPr wrap="square" lIns="0" tIns="0" rIns="0" bIns="0" rtlCol="0" anchor="ctr"/>
          <a:lstStyle/>
          <a:p>
            <a:pPr indent="0" marL="0">
              <a:buNone/>
            </a:pPr>
            <a:r>
              <a:rPr lang="en-US" sz="2400" b="1" dirty="0">
                <a:solidFill>
                  <a:schemeClr val="accent1"/>
                </a:solidFill>
              </a:rPr>
              <a:t>✓ </a:t>
            </a:r>
            <a:pPr indent="0" marL="0">
              <a:buNone/>
            </a:pPr>
            <a:r>
              <a:rPr lang="en-US" sz="2400" dirty="0">
                <a:solidFill>
                  <a:schemeClr val="tx1"/>
                </a:solidFill>
              </a:rPr>
              <a:t>Đơn vị rõ</a:t>
            </a:r>
            <a:endParaRPr lang="en-US" sz="2400" dirty="0"/>
          </a:p>
        </p:txBody>
      </p:sp>
      <p:sp>
        <p:nvSpPr>
          <p:cNvPr id="28" name="text-219"/>
          <p:cNvSpPr txBox="1"/>
          <p:nvPr/>
        </p:nvSpPr>
        <p:spPr>
          <a:xfrm>
            <a:off x="7498080" y="3639312"/>
            <a:ext cx="4023360" cy="566928"/>
          </a:xfrm>
          <a:prstGeom prst="rect">
            <a:avLst/>
          </a:prstGeom>
          <a:noFill/>
          <a:ln/>
        </p:spPr>
        <p:txBody>
          <a:bodyPr wrap="square" lIns="0" tIns="0" rIns="0" bIns="0" rtlCol="0" anchor="ctr"/>
          <a:lstStyle/>
          <a:p>
            <a:pPr indent="0" marL="0">
              <a:buNone/>
            </a:pPr>
            <a:r>
              <a:rPr lang="en-US" sz="2400" b="1" dirty="0">
                <a:solidFill>
                  <a:schemeClr val="accent1"/>
                </a:solidFill>
              </a:rPr>
              <a:t>✓ </a:t>
            </a:r>
            <a:pPr indent="0" marL="0">
              <a:buNone/>
            </a:pPr>
            <a:r>
              <a:rPr lang="en-US" sz="2400" dirty="0">
                <a:solidFill>
                  <a:schemeClr val="tx1"/>
                </a:solidFill>
              </a:rPr>
              <a:t>Sắp xếp có ý nghĩa</a:t>
            </a:r>
            <a:endParaRPr lang="en-US" sz="2400" dirty="0"/>
          </a:p>
        </p:txBody>
      </p:sp>
      <p:sp>
        <p:nvSpPr>
          <p:cNvPr id="29" name="text-220"/>
          <p:cNvSpPr txBox="1"/>
          <p:nvPr/>
        </p:nvSpPr>
        <p:spPr>
          <a:xfrm>
            <a:off x="7498080" y="4242816"/>
            <a:ext cx="4023360" cy="566928"/>
          </a:xfrm>
          <a:prstGeom prst="rect">
            <a:avLst/>
          </a:prstGeom>
          <a:noFill/>
          <a:ln/>
        </p:spPr>
        <p:txBody>
          <a:bodyPr wrap="square" lIns="0" tIns="0" rIns="0" bIns="0" rtlCol="0" anchor="ctr"/>
          <a:lstStyle/>
          <a:p>
            <a:pPr indent="0" marL="0">
              <a:buNone/>
            </a:pPr>
            <a:r>
              <a:rPr lang="en-US" sz="2400" b="1" dirty="0">
                <a:solidFill>
                  <a:schemeClr val="accent1"/>
                </a:solidFill>
              </a:rPr>
              <a:t>✓ </a:t>
            </a:r>
            <a:pPr indent="0" marL="0">
              <a:buNone/>
            </a:pPr>
            <a:r>
              <a:rPr lang="en-US" sz="2400" dirty="0">
                <a:solidFill>
                  <a:schemeClr val="tx1"/>
                </a:solidFill>
              </a:rPr>
              <a:t>Thập phân thống nhất</a:t>
            </a:r>
            <a:endParaRPr lang="en-US" sz="2400" dirty="0"/>
          </a:p>
        </p:txBody>
      </p:sp>
      <p:sp>
        <p:nvSpPr>
          <p:cNvPr id="30" name="text-221"/>
          <p:cNvSpPr txBox="1"/>
          <p:nvPr/>
        </p:nvSpPr>
        <p:spPr>
          <a:xfrm>
            <a:off x="7498080" y="4846320"/>
            <a:ext cx="4023360" cy="566928"/>
          </a:xfrm>
          <a:prstGeom prst="rect">
            <a:avLst/>
          </a:prstGeom>
          <a:noFill/>
          <a:ln/>
        </p:spPr>
        <p:txBody>
          <a:bodyPr wrap="square" lIns="0" tIns="0" rIns="0" bIns="0" rtlCol="0" anchor="ctr"/>
          <a:lstStyle/>
          <a:p>
            <a:pPr indent="0" marL="0">
              <a:buNone/>
            </a:pPr>
            <a:r>
              <a:rPr lang="en-US" sz="2400" b="1" dirty="0">
                <a:solidFill>
                  <a:schemeClr val="accent1"/>
                </a:solidFill>
              </a:rPr>
              <a:t>✓ </a:t>
            </a:r>
            <a:pPr indent="0" marL="0">
              <a:buNone/>
            </a:pPr>
            <a:r>
              <a:rPr lang="en-US" sz="2400" dirty="0">
                <a:solidFill>
                  <a:schemeClr val="tx1"/>
                </a:solidFill>
              </a:rPr>
              <a:t>Bảng gốc vào phụ lục</a:t>
            </a:r>
            <a:endParaRPr lang="en-US" sz="2400" dirty="0"/>
          </a:p>
        </p:txBody>
      </p:sp>
      <p:sp>
        <p:nvSpPr>
          <p:cNvPr id="31" name="text-222"/>
          <p:cNvSpPr txBox="1"/>
          <p:nvPr/>
        </p:nvSpPr>
        <p:spPr>
          <a:xfrm>
            <a:off x="7498080" y="5449824"/>
            <a:ext cx="4023360" cy="566928"/>
          </a:xfrm>
          <a:prstGeom prst="rect">
            <a:avLst/>
          </a:prstGeom>
          <a:noFill/>
          <a:ln/>
        </p:spPr>
        <p:txBody>
          <a:bodyPr wrap="square" lIns="0" tIns="0" rIns="0" bIns="0" rtlCol="0" anchor="ctr"/>
          <a:lstStyle/>
          <a:p>
            <a:pPr indent="0" marL="0">
              <a:buNone/>
            </a:pPr>
            <a:r>
              <a:rPr lang="en-US" sz="2400" b="1" dirty="0">
                <a:solidFill>
                  <a:schemeClr val="accent1"/>
                </a:solidFill>
              </a:rPr>
              <a:t>✓ </a:t>
            </a:r>
            <a:pPr indent="0" marL="0">
              <a:buNone/>
            </a:pPr>
            <a:r>
              <a:rPr lang="en-US" sz="2400" dirty="0">
                <a:solidFill>
                  <a:schemeClr val="tx1"/>
                </a:solidFill>
              </a:rPr>
              <a:t>Có 2–3 câu diễn giải</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Chọn loại biểu đồ theo điều muốn cho thấy</a:t>
            </a:r>
            <a:endParaRPr lang="en-US" sz="3000" dirty="0"/>
          </a:p>
        </p:txBody>
      </p:sp>
      <p:sp>
        <p:nvSpPr>
          <p:cNvPr id="4" name="text-223"/>
          <p:cNvSpPr txBox="1"/>
          <p:nvPr/>
        </p:nvSpPr>
        <p:spPr>
          <a:xfrm>
            <a:off x="1600200" y="1645920"/>
            <a:ext cx="4572000" cy="457200"/>
          </a:xfrm>
          <a:prstGeom prst="rect">
            <a:avLst/>
          </a:prstGeom>
          <a:noFill/>
          <a:ln/>
        </p:spPr>
        <p:txBody>
          <a:bodyPr wrap="square" lIns="0" tIns="0" rIns="0" bIns="0" rtlCol="0" anchor="t"/>
          <a:lstStyle/>
          <a:p>
            <a:pPr indent="0" marL="0">
              <a:buNone/>
            </a:pPr>
            <a:r>
              <a:rPr lang="en-US" sz="2400" b="1" dirty="0">
                <a:solidFill>
                  <a:schemeClr val="tx2"/>
                </a:solidFill>
              </a:rPr>
              <a:t>Muốn cho thấy</a:t>
            </a:r>
            <a:endParaRPr lang="en-US" sz="2400" dirty="0"/>
          </a:p>
        </p:txBody>
      </p:sp>
      <p:sp>
        <p:nvSpPr>
          <p:cNvPr id="5" name="text-224"/>
          <p:cNvSpPr txBox="1"/>
          <p:nvPr/>
        </p:nvSpPr>
        <p:spPr>
          <a:xfrm>
            <a:off x="6949440" y="1645920"/>
            <a:ext cx="4572000" cy="457200"/>
          </a:xfrm>
          <a:prstGeom prst="rect">
            <a:avLst/>
          </a:prstGeom>
          <a:noFill/>
          <a:ln/>
        </p:spPr>
        <p:txBody>
          <a:bodyPr wrap="square" lIns="0" tIns="0" rIns="0" bIns="0" rtlCol="0" anchor="t"/>
          <a:lstStyle/>
          <a:p>
            <a:pPr indent="0" marL="0">
              <a:buNone/>
            </a:pPr>
            <a:r>
              <a:rPr lang="en-US" sz="2400" b="1" dirty="0">
                <a:solidFill>
                  <a:schemeClr val="tx2"/>
                </a:solidFill>
              </a:rPr>
              <a:t>Loại biểu đồ</a:t>
            </a:r>
            <a:endParaRPr lang="en-US" sz="2400" dirty="0"/>
          </a:p>
        </p:txBody>
      </p:sp>
      <p:sp>
        <p:nvSpPr>
          <p:cNvPr id="6" name="icon-bg-225"/>
          <p:cNvSpPr/>
          <p:nvPr/>
        </p:nvSpPr>
        <p:spPr>
          <a:xfrm>
            <a:off x="548640" y="2194560"/>
            <a:ext cx="713232" cy="713232"/>
          </a:xfrm>
          <a:prstGeom prst="ellipse">
            <a:avLst/>
          </a:prstGeom>
          <a:solidFill>
            <a:schemeClr val="accent1"/>
          </a:solidFill>
          <a:ln/>
        </p:spPr>
      </p:sp>
      <p:pic>
        <p:nvPicPr>
          <p:cNvPr id="7" name="icon-226" descr="preencoded.png">    </p:cNvPr>
          <p:cNvPicPr>
            <a:picLocks noChangeAspect="1"/>
          </p:cNvPicPr>
          <p:nvPr/>
        </p:nvPicPr>
        <p:blipFill>
          <a:blip r:embed="rId1"/>
          <a:stretch>
            <a:fillRect/>
          </a:stretch>
        </p:blipFill>
        <p:spPr>
          <a:xfrm>
            <a:off x="726948" y="2372868"/>
            <a:ext cx="356616" cy="356616"/>
          </a:xfrm>
          <a:prstGeom prst="rect">
            <a:avLst/>
          </a:prstGeom>
        </p:spPr>
      </p:pic>
      <p:sp>
        <p:nvSpPr>
          <p:cNvPr id="8" name="card-227"/>
          <p:cNvSpPr/>
          <p:nvPr/>
        </p:nvSpPr>
        <p:spPr>
          <a:xfrm>
            <a:off x="1463040" y="2194560"/>
            <a:ext cx="10177272" cy="713232"/>
          </a:xfrm>
          <a:prstGeom prst="roundRect">
            <a:avLst>
              <a:gd name="adj" fmla="val 19231"/>
            </a:avLst>
          </a:prstGeom>
          <a:solidFill>
            <a:schemeClr val="bg2"/>
          </a:solidFill>
          <a:ln/>
        </p:spPr>
      </p:sp>
      <p:sp>
        <p:nvSpPr>
          <p:cNvPr id="9" name="text-228"/>
          <p:cNvSpPr txBox="1"/>
          <p:nvPr/>
        </p:nvSpPr>
        <p:spPr>
          <a:xfrm>
            <a:off x="1737360" y="2194560"/>
            <a:ext cx="5029200" cy="713232"/>
          </a:xfrm>
          <a:prstGeom prst="rect">
            <a:avLst/>
          </a:prstGeom>
          <a:noFill/>
          <a:ln/>
        </p:spPr>
        <p:txBody>
          <a:bodyPr wrap="square" lIns="0" tIns="0" rIns="0" bIns="0" rtlCol="0" anchor="ctr"/>
          <a:lstStyle/>
          <a:p>
            <a:pPr indent="0" marL="0">
              <a:buNone/>
            </a:pPr>
            <a:r>
              <a:rPr lang="en-US" sz="2400" dirty="0">
                <a:solidFill>
                  <a:schemeClr val="tx1"/>
                </a:solidFill>
              </a:rPr>
              <a:t>Cơ cấu</a:t>
            </a:r>
            <a:endParaRPr lang="en-US" sz="2400" dirty="0"/>
          </a:p>
        </p:txBody>
      </p:sp>
      <p:sp>
        <p:nvSpPr>
          <p:cNvPr id="10" name="text-229"/>
          <p:cNvSpPr txBox="1"/>
          <p:nvPr/>
        </p:nvSpPr>
        <p:spPr>
          <a:xfrm>
            <a:off x="6949440" y="2194560"/>
            <a:ext cx="4572000" cy="713232"/>
          </a:xfrm>
          <a:prstGeom prst="rect">
            <a:avLst/>
          </a:prstGeom>
          <a:noFill/>
          <a:ln/>
        </p:spPr>
        <p:txBody>
          <a:bodyPr wrap="square" lIns="0" tIns="0" rIns="0" bIns="0" rtlCol="0" anchor="ctr"/>
          <a:lstStyle/>
          <a:p>
            <a:pPr indent="0" marL="0">
              <a:buNone/>
            </a:pPr>
            <a:r>
              <a:rPr lang="en-US" sz="2400" b="1" dirty="0">
                <a:solidFill>
                  <a:schemeClr val="accent1"/>
                </a:solidFill>
              </a:rPr>
              <a:t>Tròn / cột chồng 100%</a:t>
            </a:r>
            <a:endParaRPr lang="en-US" sz="2400" dirty="0"/>
          </a:p>
        </p:txBody>
      </p:sp>
      <p:sp>
        <p:nvSpPr>
          <p:cNvPr id="11" name="icon-bg-230"/>
          <p:cNvSpPr/>
          <p:nvPr/>
        </p:nvSpPr>
        <p:spPr>
          <a:xfrm>
            <a:off x="548640" y="2999232"/>
            <a:ext cx="713232" cy="713232"/>
          </a:xfrm>
          <a:prstGeom prst="ellipse">
            <a:avLst/>
          </a:prstGeom>
          <a:solidFill>
            <a:schemeClr val="accent2"/>
          </a:solidFill>
          <a:ln/>
        </p:spPr>
      </p:sp>
      <p:pic>
        <p:nvPicPr>
          <p:cNvPr id="12" name="icon-231" descr="preencoded.png">    </p:cNvPr>
          <p:cNvPicPr>
            <a:picLocks noChangeAspect="1"/>
          </p:cNvPicPr>
          <p:nvPr/>
        </p:nvPicPr>
        <p:blipFill>
          <a:blip r:embed="rId2"/>
          <a:stretch>
            <a:fillRect/>
          </a:stretch>
        </p:blipFill>
        <p:spPr>
          <a:xfrm>
            <a:off x="726948" y="3177540"/>
            <a:ext cx="356616" cy="356616"/>
          </a:xfrm>
          <a:prstGeom prst="rect">
            <a:avLst/>
          </a:prstGeom>
        </p:spPr>
      </p:pic>
      <p:sp>
        <p:nvSpPr>
          <p:cNvPr id="13" name="card-232"/>
          <p:cNvSpPr/>
          <p:nvPr/>
        </p:nvSpPr>
        <p:spPr>
          <a:xfrm>
            <a:off x="1463040" y="2999232"/>
            <a:ext cx="10177272" cy="713232"/>
          </a:xfrm>
          <a:prstGeom prst="roundRect">
            <a:avLst>
              <a:gd name="adj" fmla="val 19231"/>
            </a:avLst>
          </a:prstGeom>
          <a:solidFill>
            <a:schemeClr val="bg2"/>
          </a:solidFill>
          <a:ln/>
        </p:spPr>
      </p:sp>
      <p:sp>
        <p:nvSpPr>
          <p:cNvPr id="14" name="text-233"/>
          <p:cNvSpPr txBox="1"/>
          <p:nvPr/>
        </p:nvSpPr>
        <p:spPr>
          <a:xfrm>
            <a:off x="1737360" y="2999232"/>
            <a:ext cx="5029200" cy="713232"/>
          </a:xfrm>
          <a:prstGeom prst="rect">
            <a:avLst/>
          </a:prstGeom>
          <a:noFill/>
          <a:ln/>
        </p:spPr>
        <p:txBody>
          <a:bodyPr wrap="square" lIns="0" tIns="0" rIns="0" bIns="0" rtlCol="0" anchor="ctr"/>
          <a:lstStyle/>
          <a:p>
            <a:pPr indent="0" marL="0">
              <a:buNone/>
            </a:pPr>
            <a:r>
              <a:rPr lang="en-US" sz="2400" dirty="0">
                <a:solidFill>
                  <a:schemeClr val="tx1"/>
                </a:solidFill>
              </a:rPr>
              <a:t>So sánh giữa các nhóm</a:t>
            </a:r>
            <a:endParaRPr lang="en-US" sz="2400" dirty="0"/>
          </a:p>
        </p:txBody>
      </p:sp>
      <p:sp>
        <p:nvSpPr>
          <p:cNvPr id="15" name="text-234"/>
          <p:cNvSpPr txBox="1"/>
          <p:nvPr/>
        </p:nvSpPr>
        <p:spPr>
          <a:xfrm>
            <a:off x="6949440" y="2999232"/>
            <a:ext cx="4572000" cy="713232"/>
          </a:xfrm>
          <a:prstGeom prst="rect">
            <a:avLst/>
          </a:prstGeom>
          <a:noFill/>
          <a:ln/>
        </p:spPr>
        <p:txBody>
          <a:bodyPr wrap="square" lIns="0" tIns="0" rIns="0" bIns="0" rtlCol="0" anchor="ctr"/>
          <a:lstStyle/>
          <a:p>
            <a:pPr indent="0" marL="0">
              <a:buNone/>
            </a:pPr>
            <a:r>
              <a:rPr lang="en-US" sz="2400" b="1" dirty="0">
                <a:solidFill>
                  <a:schemeClr val="accent2"/>
                </a:solidFill>
              </a:rPr>
              <a:t>Cột đứng hoặc ngang</a:t>
            </a:r>
            <a:endParaRPr lang="en-US" sz="2400" dirty="0"/>
          </a:p>
        </p:txBody>
      </p:sp>
      <p:sp>
        <p:nvSpPr>
          <p:cNvPr id="16" name="icon-bg-235"/>
          <p:cNvSpPr/>
          <p:nvPr/>
        </p:nvSpPr>
        <p:spPr>
          <a:xfrm>
            <a:off x="548640" y="3803904"/>
            <a:ext cx="713232" cy="713232"/>
          </a:xfrm>
          <a:prstGeom prst="ellipse">
            <a:avLst/>
          </a:prstGeom>
          <a:solidFill>
            <a:schemeClr val="accent5"/>
          </a:solidFill>
          <a:ln/>
        </p:spPr>
      </p:sp>
      <p:pic>
        <p:nvPicPr>
          <p:cNvPr id="17" name="icon-236" descr="preencoded.png">    </p:cNvPr>
          <p:cNvPicPr>
            <a:picLocks noChangeAspect="1"/>
          </p:cNvPicPr>
          <p:nvPr/>
        </p:nvPicPr>
        <p:blipFill>
          <a:blip r:embed="rId3"/>
          <a:stretch>
            <a:fillRect/>
          </a:stretch>
        </p:blipFill>
        <p:spPr>
          <a:xfrm>
            <a:off x="726948" y="3982212"/>
            <a:ext cx="356616" cy="356616"/>
          </a:xfrm>
          <a:prstGeom prst="rect">
            <a:avLst/>
          </a:prstGeom>
        </p:spPr>
      </p:pic>
      <p:sp>
        <p:nvSpPr>
          <p:cNvPr id="18" name="card-237"/>
          <p:cNvSpPr/>
          <p:nvPr/>
        </p:nvSpPr>
        <p:spPr>
          <a:xfrm>
            <a:off x="1463040" y="3803904"/>
            <a:ext cx="10177272" cy="713232"/>
          </a:xfrm>
          <a:prstGeom prst="roundRect">
            <a:avLst>
              <a:gd name="adj" fmla="val 19231"/>
            </a:avLst>
          </a:prstGeom>
          <a:solidFill>
            <a:schemeClr val="bg2"/>
          </a:solidFill>
          <a:ln/>
        </p:spPr>
      </p:sp>
      <p:sp>
        <p:nvSpPr>
          <p:cNvPr id="19" name="text-238"/>
          <p:cNvSpPr txBox="1"/>
          <p:nvPr/>
        </p:nvSpPr>
        <p:spPr>
          <a:xfrm>
            <a:off x="1737360" y="3803904"/>
            <a:ext cx="5029200" cy="713232"/>
          </a:xfrm>
          <a:prstGeom prst="rect">
            <a:avLst/>
          </a:prstGeom>
          <a:noFill/>
          <a:ln/>
        </p:spPr>
        <p:txBody>
          <a:bodyPr wrap="square" lIns="0" tIns="0" rIns="0" bIns="0" rtlCol="0" anchor="ctr"/>
          <a:lstStyle/>
          <a:p>
            <a:pPr indent="0" marL="0">
              <a:buNone/>
            </a:pPr>
            <a:r>
              <a:rPr lang="en-US" sz="2400" dirty="0">
                <a:solidFill>
                  <a:schemeClr val="tx1"/>
                </a:solidFill>
              </a:rPr>
              <a:t>Xu hướng theo thời gian</a:t>
            </a:r>
            <a:endParaRPr lang="en-US" sz="2400" dirty="0"/>
          </a:p>
        </p:txBody>
      </p:sp>
      <p:sp>
        <p:nvSpPr>
          <p:cNvPr id="20" name="text-239"/>
          <p:cNvSpPr txBox="1"/>
          <p:nvPr/>
        </p:nvSpPr>
        <p:spPr>
          <a:xfrm>
            <a:off x="6949440" y="3803904"/>
            <a:ext cx="4572000" cy="713232"/>
          </a:xfrm>
          <a:prstGeom prst="rect">
            <a:avLst/>
          </a:prstGeom>
          <a:noFill/>
          <a:ln/>
        </p:spPr>
        <p:txBody>
          <a:bodyPr wrap="square" lIns="0" tIns="0" rIns="0" bIns="0" rtlCol="0" anchor="ctr"/>
          <a:lstStyle/>
          <a:p>
            <a:pPr indent="0" marL="0">
              <a:buNone/>
            </a:pPr>
            <a:r>
              <a:rPr lang="en-US" sz="2400" b="1" dirty="0">
                <a:solidFill>
                  <a:schemeClr val="accent5"/>
                </a:solidFill>
              </a:rPr>
              <a:t>Đường</a:t>
            </a:r>
            <a:endParaRPr lang="en-US" sz="2400" dirty="0"/>
          </a:p>
        </p:txBody>
      </p:sp>
      <p:sp>
        <p:nvSpPr>
          <p:cNvPr id="21" name="icon-bg-240"/>
          <p:cNvSpPr/>
          <p:nvPr/>
        </p:nvSpPr>
        <p:spPr>
          <a:xfrm>
            <a:off x="548640" y="4608576"/>
            <a:ext cx="713232" cy="713232"/>
          </a:xfrm>
          <a:prstGeom prst="ellipse">
            <a:avLst/>
          </a:prstGeom>
          <a:solidFill>
            <a:schemeClr val="accent6"/>
          </a:solidFill>
          <a:ln/>
        </p:spPr>
      </p:sp>
      <p:pic>
        <p:nvPicPr>
          <p:cNvPr id="22" name="icon-241" descr="preencoded.png">    </p:cNvPr>
          <p:cNvPicPr>
            <a:picLocks noChangeAspect="1"/>
          </p:cNvPicPr>
          <p:nvPr/>
        </p:nvPicPr>
        <p:blipFill>
          <a:blip r:embed="rId4"/>
          <a:stretch>
            <a:fillRect/>
          </a:stretch>
        </p:blipFill>
        <p:spPr>
          <a:xfrm>
            <a:off x="726948" y="4786884"/>
            <a:ext cx="356616" cy="356616"/>
          </a:xfrm>
          <a:prstGeom prst="rect">
            <a:avLst/>
          </a:prstGeom>
        </p:spPr>
      </p:pic>
      <p:sp>
        <p:nvSpPr>
          <p:cNvPr id="23" name="card-242"/>
          <p:cNvSpPr/>
          <p:nvPr/>
        </p:nvSpPr>
        <p:spPr>
          <a:xfrm>
            <a:off x="1463040" y="4608576"/>
            <a:ext cx="10177272" cy="713232"/>
          </a:xfrm>
          <a:prstGeom prst="roundRect">
            <a:avLst>
              <a:gd name="adj" fmla="val 19231"/>
            </a:avLst>
          </a:prstGeom>
          <a:solidFill>
            <a:schemeClr val="bg2"/>
          </a:solidFill>
          <a:ln/>
        </p:spPr>
      </p:sp>
      <p:sp>
        <p:nvSpPr>
          <p:cNvPr id="24" name="text-243"/>
          <p:cNvSpPr txBox="1"/>
          <p:nvPr/>
        </p:nvSpPr>
        <p:spPr>
          <a:xfrm>
            <a:off x="1737360" y="4608576"/>
            <a:ext cx="5029200" cy="713232"/>
          </a:xfrm>
          <a:prstGeom prst="rect">
            <a:avLst/>
          </a:prstGeom>
          <a:noFill/>
          <a:ln/>
        </p:spPr>
        <p:txBody>
          <a:bodyPr wrap="square" lIns="0" tIns="0" rIns="0" bIns="0" rtlCol="0" anchor="ctr"/>
          <a:lstStyle/>
          <a:p>
            <a:pPr indent="0" marL="0">
              <a:buNone/>
            </a:pPr>
            <a:r>
              <a:rPr lang="en-US" sz="2400" dirty="0">
                <a:solidFill>
                  <a:schemeClr val="tx1"/>
                </a:solidFill>
              </a:rPr>
              <a:t>Phân phối một biến</a:t>
            </a:r>
            <a:endParaRPr lang="en-US" sz="2400" dirty="0"/>
          </a:p>
        </p:txBody>
      </p:sp>
      <p:sp>
        <p:nvSpPr>
          <p:cNvPr id="25" name="text-244"/>
          <p:cNvSpPr txBox="1"/>
          <p:nvPr/>
        </p:nvSpPr>
        <p:spPr>
          <a:xfrm>
            <a:off x="6949440" y="4608576"/>
            <a:ext cx="4572000" cy="713232"/>
          </a:xfrm>
          <a:prstGeom prst="rect">
            <a:avLst/>
          </a:prstGeom>
          <a:noFill/>
          <a:ln/>
        </p:spPr>
        <p:txBody>
          <a:bodyPr wrap="square" lIns="0" tIns="0" rIns="0" bIns="0" rtlCol="0" anchor="ctr"/>
          <a:lstStyle/>
          <a:p>
            <a:pPr indent="0" marL="0">
              <a:buNone/>
            </a:pPr>
            <a:r>
              <a:rPr lang="en-US" sz="2400" b="1" dirty="0">
                <a:solidFill>
                  <a:schemeClr val="accent6"/>
                </a:solidFill>
              </a:rPr>
              <a:t>Histogram</a:t>
            </a:r>
            <a:endParaRPr lang="en-US" sz="2400" dirty="0"/>
          </a:p>
        </p:txBody>
      </p:sp>
      <p:sp>
        <p:nvSpPr>
          <p:cNvPr id="26" name="icon-bg-245"/>
          <p:cNvSpPr/>
          <p:nvPr/>
        </p:nvSpPr>
        <p:spPr>
          <a:xfrm>
            <a:off x="548640" y="5413248"/>
            <a:ext cx="713232" cy="713232"/>
          </a:xfrm>
          <a:prstGeom prst="ellipse">
            <a:avLst/>
          </a:prstGeom>
          <a:solidFill>
            <a:schemeClr val="accent3"/>
          </a:solidFill>
          <a:ln/>
        </p:spPr>
      </p:sp>
      <p:pic>
        <p:nvPicPr>
          <p:cNvPr id="27" name="icon-246" descr="preencoded.png">    </p:cNvPr>
          <p:cNvPicPr>
            <a:picLocks noChangeAspect="1"/>
          </p:cNvPicPr>
          <p:nvPr/>
        </p:nvPicPr>
        <p:blipFill>
          <a:blip r:embed="rId5"/>
          <a:stretch>
            <a:fillRect/>
          </a:stretch>
        </p:blipFill>
        <p:spPr>
          <a:xfrm>
            <a:off x="726948" y="5591556"/>
            <a:ext cx="356616" cy="356616"/>
          </a:xfrm>
          <a:prstGeom prst="rect">
            <a:avLst/>
          </a:prstGeom>
        </p:spPr>
      </p:pic>
      <p:sp>
        <p:nvSpPr>
          <p:cNvPr id="28" name="card-247"/>
          <p:cNvSpPr/>
          <p:nvPr/>
        </p:nvSpPr>
        <p:spPr>
          <a:xfrm>
            <a:off x="1463040" y="5413248"/>
            <a:ext cx="10177272" cy="713232"/>
          </a:xfrm>
          <a:prstGeom prst="roundRect">
            <a:avLst>
              <a:gd name="adj" fmla="val 19231"/>
            </a:avLst>
          </a:prstGeom>
          <a:solidFill>
            <a:schemeClr val="bg2"/>
          </a:solidFill>
          <a:ln/>
        </p:spPr>
      </p:sp>
      <p:sp>
        <p:nvSpPr>
          <p:cNvPr id="29" name="text-248"/>
          <p:cNvSpPr txBox="1"/>
          <p:nvPr/>
        </p:nvSpPr>
        <p:spPr>
          <a:xfrm>
            <a:off x="1737360" y="5413248"/>
            <a:ext cx="5029200" cy="713232"/>
          </a:xfrm>
          <a:prstGeom prst="rect">
            <a:avLst/>
          </a:prstGeom>
          <a:noFill/>
          <a:ln/>
        </p:spPr>
        <p:txBody>
          <a:bodyPr wrap="square" lIns="0" tIns="0" rIns="0" bIns="0" rtlCol="0" anchor="ctr"/>
          <a:lstStyle/>
          <a:p>
            <a:pPr indent="0" marL="0">
              <a:buNone/>
            </a:pPr>
            <a:r>
              <a:rPr lang="en-US" sz="2400" dirty="0">
                <a:solidFill>
                  <a:schemeClr val="tx1"/>
                </a:solidFill>
              </a:rPr>
              <a:t>Liên hệ hai biến</a:t>
            </a:r>
            <a:endParaRPr lang="en-US" sz="2400" dirty="0"/>
          </a:p>
        </p:txBody>
      </p:sp>
      <p:sp>
        <p:nvSpPr>
          <p:cNvPr id="30" name="text-249"/>
          <p:cNvSpPr txBox="1"/>
          <p:nvPr/>
        </p:nvSpPr>
        <p:spPr>
          <a:xfrm>
            <a:off x="6949440" y="5413248"/>
            <a:ext cx="4572000" cy="713232"/>
          </a:xfrm>
          <a:prstGeom prst="rect">
            <a:avLst/>
          </a:prstGeom>
          <a:noFill/>
          <a:ln/>
        </p:spPr>
        <p:txBody>
          <a:bodyPr wrap="square" lIns="0" tIns="0" rIns="0" bIns="0" rtlCol="0" anchor="ctr"/>
          <a:lstStyle/>
          <a:p>
            <a:pPr indent="0" marL="0">
              <a:buNone/>
            </a:pPr>
            <a:r>
              <a:rPr lang="en-US" sz="2400" b="1" dirty="0">
                <a:solidFill>
                  <a:schemeClr val="accent3"/>
                </a:solidFill>
              </a:rPr>
              <a:t>Phân tán (scatter)</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Trục tung không bắt đầu từ 0 làm khác biệt nhỏ trông rất lớn</a:t>
            </a:r>
            <a:endParaRPr lang="en-US" sz="3000" dirty="0"/>
          </a:p>
        </p:txBody>
      </p:sp>
      <p:sp>
        <p:nvSpPr>
          <p:cNvPr id="4" name="card-250"/>
          <p:cNvSpPr/>
          <p:nvPr/>
        </p:nvSpPr>
        <p:spPr>
          <a:xfrm>
            <a:off x="548640" y="1691640"/>
            <a:ext cx="5440680" cy="868680"/>
          </a:xfrm>
          <a:prstGeom prst="roundRect">
            <a:avLst>
              <a:gd name="adj" fmla="val 15789"/>
            </a:avLst>
          </a:prstGeom>
          <a:solidFill>
            <a:schemeClr val="accent3"/>
          </a:solidFill>
          <a:ln/>
        </p:spPr>
      </p:sp>
      <p:sp>
        <p:nvSpPr>
          <p:cNvPr id="5" name="text-251"/>
          <p:cNvSpPr txBox="1"/>
          <p:nvPr/>
        </p:nvSpPr>
        <p:spPr>
          <a:xfrm>
            <a:off x="731520" y="1691640"/>
            <a:ext cx="5120640" cy="868680"/>
          </a:xfrm>
          <a:prstGeom prst="rect">
            <a:avLst/>
          </a:prstGeom>
          <a:noFill/>
          <a:ln/>
        </p:spPr>
        <p:txBody>
          <a:bodyPr wrap="square" lIns="0" tIns="0" rIns="0" bIns="0" rtlCol="0" anchor="ctr"/>
          <a:lstStyle/>
          <a:p>
            <a:pPr indent="0" marL="0">
              <a:buNone/>
            </a:pPr>
            <a:r>
              <a:rPr lang="en-US" sz="2400" b="1" dirty="0">
                <a:solidFill>
                  <a:schemeClr val="bg1"/>
                </a:solidFill>
              </a:rPr>
              <a:t>Trục từ 3,5 → chênh lệch bị phóng to</a:t>
            </a:r>
            <a:endParaRPr lang="en-US" sz="2400" dirty="0"/>
          </a:p>
        </p:txBody>
      </p:sp>
      <p:graphicFrame>
        <p:nvGraphicFramePr>
          <p:cNvPr id="6" name="chart-trunc" descr="Biểu đồ cột, trục tung từ 3,5 đến 4,0: Chất lượng 3,95; Giá 3,82; Ý định mua 3,71 — chênh lệch trông rất lớn."/>
          <p:cNvGraphicFramePr/>
          <p:nvPr/>
        </p:nvGraphicFramePr>
        <p:xfrm>
          <a:off x="548640" y="2651760"/>
          <a:ext cx="5440680" cy="3200400"/>
        </p:xfrm>
        <a:graphic xmlns:a="http://schemas.openxmlformats.org/drawingml/2006/main">
          <a:graphicData uri="http://schemas.openxmlformats.org/drawingml/2006/chart">
            <c:chart xmlns:c="http://schemas.openxmlformats.org/drawingml/2006/chart" r:id="rId1"/>
          </a:graphicData>
        </a:graphic>
      </p:graphicFrame>
      <p:sp>
        <p:nvSpPr>
          <p:cNvPr id="7" name="card-252"/>
          <p:cNvSpPr/>
          <p:nvPr/>
        </p:nvSpPr>
        <p:spPr>
          <a:xfrm>
            <a:off x="6199632" y="1691640"/>
            <a:ext cx="5440680" cy="868680"/>
          </a:xfrm>
          <a:prstGeom prst="roundRect">
            <a:avLst>
              <a:gd name="adj" fmla="val 15789"/>
            </a:avLst>
          </a:prstGeom>
          <a:solidFill>
            <a:schemeClr val="accent1"/>
          </a:solidFill>
          <a:ln/>
        </p:spPr>
      </p:sp>
      <p:sp>
        <p:nvSpPr>
          <p:cNvPr id="8" name="text-253"/>
          <p:cNvSpPr txBox="1"/>
          <p:nvPr/>
        </p:nvSpPr>
        <p:spPr>
          <a:xfrm>
            <a:off x="6382512" y="1691640"/>
            <a:ext cx="5120640" cy="868680"/>
          </a:xfrm>
          <a:prstGeom prst="rect">
            <a:avLst/>
          </a:prstGeom>
          <a:noFill/>
          <a:ln/>
        </p:spPr>
        <p:txBody>
          <a:bodyPr wrap="square" lIns="0" tIns="0" rIns="0" bIns="0" rtlCol="0" anchor="ctr"/>
          <a:lstStyle/>
          <a:p>
            <a:pPr indent="0" marL="0">
              <a:buNone/>
            </a:pPr>
            <a:r>
              <a:rPr lang="en-US" sz="2400" b="1" dirty="0">
                <a:solidFill>
                  <a:schemeClr val="bg1"/>
                </a:solidFill>
              </a:rPr>
              <a:t>Trục từ 0 → đúng tỷ lệ</a:t>
            </a:r>
            <a:endParaRPr lang="en-US" sz="2400" dirty="0"/>
          </a:p>
        </p:txBody>
      </p:sp>
      <p:graphicFrame>
        <p:nvGraphicFramePr>
          <p:cNvPr id="9" name="chart-zero" descr="Biểu đồ cột, trục tung từ 0 đến 5: Chất lượng 3,95; Giá 3,82; Ý định mua 3,71 — ba cột gần bằng nhau."/>
          <p:cNvGraphicFramePr/>
          <p:nvPr/>
        </p:nvGraphicFramePr>
        <p:xfrm>
          <a:off x="6199632" y="2651760"/>
          <a:ext cx="5440680" cy="3200400"/>
        </p:xfrm>
        <a:graphic xmlns:a="http://schemas.openxmlformats.org/drawingml/2006/main">
          <a:graphicData uri="http://schemas.openxmlformats.org/drawingml/2006/chart">
            <c:chart xmlns:c="http://schemas.openxmlformats.org/drawingml/2006/chart" r:id="rId2"/>
          </a:graphicData>
        </a:graphic>
      </p:graphicFrame>
      <p:sp>
        <p:nvSpPr>
          <p:cNvPr id="10" name="text-254"/>
          <p:cNvSpPr txBox="1"/>
          <p:nvPr/>
        </p:nvSpPr>
        <p:spPr>
          <a:xfrm>
            <a:off x="548640" y="5897880"/>
            <a:ext cx="8229600" cy="457200"/>
          </a:xfrm>
          <a:prstGeom prst="rect">
            <a:avLst/>
          </a:prstGeom>
          <a:noFill/>
          <a:ln/>
        </p:spPr>
        <p:txBody>
          <a:bodyPr wrap="square" lIns="0" tIns="0" rIns="0" bIns="0" rtlCol="0" anchor="t"/>
          <a:lstStyle/>
          <a:p>
            <a:pPr indent="0" marL="0">
              <a:buNone/>
            </a:pPr>
            <a:r>
              <a:rPr lang="en-US" sz="2400" i="1" dirty="0">
                <a:solidFill>
                  <a:schemeClr val="tx2"/>
                </a:solidFill>
              </a:rPr>
              <a:t>Số liệu Bảng 4.3 (giả định), thang 1–5</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Sáu nguyên tắc trình bày biểu đồ</a:t>
            </a:r>
            <a:endParaRPr lang="en-US" sz="3000" dirty="0"/>
          </a:p>
        </p:txBody>
      </p:sp>
      <p:sp>
        <p:nvSpPr>
          <p:cNvPr id="4" name="card-255"/>
          <p:cNvSpPr/>
          <p:nvPr/>
        </p:nvSpPr>
        <p:spPr>
          <a:xfrm>
            <a:off x="548640" y="1783080"/>
            <a:ext cx="5376672" cy="1234440"/>
          </a:xfrm>
          <a:prstGeom prst="roundRect">
            <a:avLst>
              <a:gd name="adj" fmla="val 11111"/>
            </a:avLst>
          </a:prstGeom>
          <a:solidFill>
            <a:schemeClr val="bg2"/>
          </a:solidFill>
          <a:ln/>
        </p:spPr>
      </p:sp>
      <p:sp>
        <p:nvSpPr>
          <p:cNvPr id="5" name="dot-256"/>
          <p:cNvSpPr/>
          <p:nvPr/>
        </p:nvSpPr>
        <p:spPr>
          <a:xfrm>
            <a:off x="777240" y="2057400"/>
            <a:ext cx="685800" cy="685800"/>
          </a:xfrm>
          <a:prstGeom prst="ellipse">
            <a:avLst/>
          </a:prstGeom>
          <a:solidFill>
            <a:schemeClr val="accent1"/>
          </a:solidFill>
          <a:ln/>
        </p:spPr>
      </p:sp>
      <p:sp>
        <p:nvSpPr>
          <p:cNvPr id="6" name="text-257"/>
          <p:cNvSpPr txBox="1"/>
          <p:nvPr/>
        </p:nvSpPr>
        <p:spPr>
          <a:xfrm>
            <a:off x="777240" y="20574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7" name="text-258"/>
          <p:cNvSpPr txBox="1"/>
          <p:nvPr/>
        </p:nvSpPr>
        <p:spPr>
          <a:xfrm>
            <a:off x="1691640" y="1783080"/>
            <a:ext cx="4069080" cy="1234440"/>
          </a:xfrm>
          <a:prstGeom prst="rect">
            <a:avLst/>
          </a:prstGeom>
          <a:noFill/>
          <a:ln/>
        </p:spPr>
        <p:txBody>
          <a:bodyPr wrap="square" lIns="0" tIns="0" rIns="0" bIns="0" rtlCol="0" anchor="ctr"/>
          <a:lstStyle/>
          <a:p>
            <a:pPr indent="0" marL="0">
              <a:buNone/>
            </a:pPr>
            <a:r>
              <a:rPr lang="en-US" sz="2400" dirty="0">
                <a:solidFill>
                  <a:schemeClr val="tx1"/>
                </a:solidFill>
              </a:rPr>
              <a:t>“Hình 4.1” + tên; nguồn dưới hình</a:t>
            </a:r>
            <a:endParaRPr lang="en-US" sz="2400" dirty="0"/>
          </a:p>
        </p:txBody>
      </p:sp>
      <p:sp>
        <p:nvSpPr>
          <p:cNvPr id="8" name="card-259"/>
          <p:cNvSpPr/>
          <p:nvPr/>
        </p:nvSpPr>
        <p:spPr>
          <a:xfrm>
            <a:off x="548640" y="3200400"/>
            <a:ext cx="5376672" cy="1234440"/>
          </a:xfrm>
          <a:prstGeom prst="roundRect">
            <a:avLst>
              <a:gd name="adj" fmla="val 11111"/>
            </a:avLst>
          </a:prstGeom>
          <a:solidFill>
            <a:schemeClr val="bg2"/>
          </a:solidFill>
          <a:ln/>
        </p:spPr>
      </p:sp>
      <p:sp>
        <p:nvSpPr>
          <p:cNvPr id="9" name="dot-260"/>
          <p:cNvSpPr/>
          <p:nvPr/>
        </p:nvSpPr>
        <p:spPr>
          <a:xfrm>
            <a:off x="777240" y="3474720"/>
            <a:ext cx="685800" cy="685800"/>
          </a:xfrm>
          <a:prstGeom prst="ellipse">
            <a:avLst/>
          </a:prstGeom>
          <a:solidFill>
            <a:schemeClr val="accent2"/>
          </a:solidFill>
          <a:ln/>
        </p:spPr>
      </p:sp>
      <p:sp>
        <p:nvSpPr>
          <p:cNvPr id="10" name="text-261"/>
          <p:cNvSpPr txBox="1"/>
          <p:nvPr/>
        </p:nvSpPr>
        <p:spPr>
          <a:xfrm>
            <a:off x="777240" y="347472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11" name="text-262"/>
          <p:cNvSpPr txBox="1"/>
          <p:nvPr/>
        </p:nvSpPr>
        <p:spPr>
          <a:xfrm>
            <a:off x="1691640" y="3200400"/>
            <a:ext cx="4069080" cy="1234440"/>
          </a:xfrm>
          <a:prstGeom prst="rect">
            <a:avLst/>
          </a:prstGeom>
          <a:noFill/>
          <a:ln/>
        </p:spPr>
        <p:txBody>
          <a:bodyPr wrap="square" lIns="0" tIns="0" rIns="0" bIns="0" rtlCol="0" anchor="ctr"/>
          <a:lstStyle/>
          <a:p>
            <a:pPr indent="0" marL="0">
              <a:buNone/>
            </a:pPr>
            <a:r>
              <a:rPr lang="en-US" sz="2400" dirty="0">
                <a:solidFill>
                  <a:schemeClr val="tx1"/>
                </a:solidFill>
              </a:rPr>
              <a:t>Tên trục, đơn vị, nhãn số liệu</a:t>
            </a:r>
            <a:endParaRPr lang="en-US" sz="2400" dirty="0"/>
          </a:p>
        </p:txBody>
      </p:sp>
      <p:sp>
        <p:nvSpPr>
          <p:cNvPr id="12" name="card-263"/>
          <p:cNvSpPr/>
          <p:nvPr/>
        </p:nvSpPr>
        <p:spPr>
          <a:xfrm>
            <a:off x="548640" y="4617720"/>
            <a:ext cx="5376672" cy="1234440"/>
          </a:xfrm>
          <a:prstGeom prst="roundRect">
            <a:avLst>
              <a:gd name="adj" fmla="val 11111"/>
            </a:avLst>
          </a:prstGeom>
          <a:solidFill>
            <a:schemeClr val="bg2"/>
          </a:solidFill>
          <a:ln/>
        </p:spPr>
      </p:sp>
      <p:sp>
        <p:nvSpPr>
          <p:cNvPr id="13" name="dot-264"/>
          <p:cNvSpPr/>
          <p:nvPr/>
        </p:nvSpPr>
        <p:spPr>
          <a:xfrm>
            <a:off x="777240" y="4892040"/>
            <a:ext cx="685800" cy="685800"/>
          </a:xfrm>
          <a:prstGeom prst="ellipse">
            <a:avLst/>
          </a:prstGeom>
          <a:solidFill>
            <a:schemeClr val="accent3"/>
          </a:solidFill>
          <a:ln/>
        </p:spPr>
      </p:sp>
      <p:sp>
        <p:nvSpPr>
          <p:cNvPr id="14" name="text-265"/>
          <p:cNvSpPr txBox="1"/>
          <p:nvPr/>
        </p:nvSpPr>
        <p:spPr>
          <a:xfrm>
            <a:off x="777240" y="489204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15" name="text-266"/>
          <p:cNvSpPr txBox="1"/>
          <p:nvPr/>
        </p:nvSpPr>
        <p:spPr>
          <a:xfrm>
            <a:off x="1691640" y="4617720"/>
            <a:ext cx="4069080" cy="1234440"/>
          </a:xfrm>
          <a:prstGeom prst="rect">
            <a:avLst/>
          </a:prstGeom>
          <a:noFill/>
          <a:ln/>
        </p:spPr>
        <p:txBody>
          <a:bodyPr wrap="square" lIns="0" tIns="0" rIns="0" bIns="0" rtlCol="0" anchor="ctr"/>
          <a:lstStyle/>
          <a:p>
            <a:pPr indent="0" marL="0">
              <a:buNone/>
            </a:pPr>
            <a:r>
              <a:rPr lang="en-US" sz="2400" dirty="0">
                <a:solidFill>
                  <a:schemeClr val="tx1"/>
                </a:solidFill>
              </a:rPr>
              <a:t>Trục cột từ 0, không 3D</a:t>
            </a:r>
            <a:endParaRPr lang="en-US" sz="2400" dirty="0"/>
          </a:p>
        </p:txBody>
      </p:sp>
      <p:sp>
        <p:nvSpPr>
          <p:cNvPr id="16" name="card-267"/>
          <p:cNvSpPr/>
          <p:nvPr/>
        </p:nvSpPr>
        <p:spPr>
          <a:xfrm>
            <a:off x="6263640" y="1783080"/>
            <a:ext cx="5376672" cy="1234440"/>
          </a:xfrm>
          <a:prstGeom prst="roundRect">
            <a:avLst>
              <a:gd name="adj" fmla="val 11111"/>
            </a:avLst>
          </a:prstGeom>
          <a:solidFill>
            <a:schemeClr val="bg2"/>
          </a:solidFill>
          <a:ln/>
        </p:spPr>
      </p:sp>
      <p:sp>
        <p:nvSpPr>
          <p:cNvPr id="17" name="dot-268"/>
          <p:cNvSpPr/>
          <p:nvPr/>
        </p:nvSpPr>
        <p:spPr>
          <a:xfrm>
            <a:off x="6492240" y="2057400"/>
            <a:ext cx="685800" cy="685800"/>
          </a:xfrm>
          <a:prstGeom prst="ellipse">
            <a:avLst/>
          </a:prstGeom>
          <a:solidFill>
            <a:schemeClr val="accent5"/>
          </a:solidFill>
          <a:ln/>
        </p:spPr>
      </p:sp>
      <p:sp>
        <p:nvSpPr>
          <p:cNvPr id="18" name="text-269"/>
          <p:cNvSpPr txBox="1"/>
          <p:nvPr/>
        </p:nvSpPr>
        <p:spPr>
          <a:xfrm>
            <a:off x="6492240" y="20574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4</a:t>
            </a:r>
            <a:endParaRPr lang="en-US" sz="2600" dirty="0"/>
          </a:p>
        </p:txBody>
      </p:sp>
      <p:sp>
        <p:nvSpPr>
          <p:cNvPr id="19" name="text-270"/>
          <p:cNvSpPr txBox="1"/>
          <p:nvPr/>
        </p:nvSpPr>
        <p:spPr>
          <a:xfrm>
            <a:off x="7406640" y="1783080"/>
            <a:ext cx="4069080" cy="1234440"/>
          </a:xfrm>
          <a:prstGeom prst="rect">
            <a:avLst/>
          </a:prstGeom>
          <a:noFill/>
          <a:ln/>
        </p:spPr>
        <p:txBody>
          <a:bodyPr wrap="square" lIns="0" tIns="0" rIns="0" bIns="0" rtlCol="0" anchor="ctr"/>
          <a:lstStyle/>
          <a:p>
            <a:pPr indent="0" marL="0">
              <a:buNone/>
            </a:pPr>
            <a:r>
              <a:rPr lang="en-US" sz="2400" dirty="0">
                <a:solidFill>
                  <a:schemeClr val="tx1"/>
                </a:solidFill>
              </a:rPr>
              <a:t>Đơn giản: mỗi biểu đồ một thông điệp</a:t>
            </a:r>
            <a:endParaRPr lang="en-US" sz="2400" dirty="0"/>
          </a:p>
        </p:txBody>
      </p:sp>
      <p:sp>
        <p:nvSpPr>
          <p:cNvPr id="20" name="card-271"/>
          <p:cNvSpPr/>
          <p:nvPr/>
        </p:nvSpPr>
        <p:spPr>
          <a:xfrm>
            <a:off x="6263640" y="3200400"/>
            <a:ext cx="5376672" cy="1234440"/>
          </a:xfrm>
          <a:prstGeom prst="roundRect">
            <a:avLst>
              <a:gd name="adj" fmla="val 11111"/>
            </a:avLst>
          </a:prstGeom>
          <a:solidFill>
            <a:schemeClr val="bg2"/>
          </a:solidFill>
          <a:ln/>
        </p:spPr>
      </p:sp>
      <p:sp>
        <p:nvSpPr>
          <p:cNvPr id="21" name="dot-272"/>
          <p:cNvSpPr/>
          <p:nvPr/>
        </p:nvSpPr>
        <p:spPr>
          <a:xfrm>
            <a:off x="6492240" y="3474720"/>
            <a:ext cx="685800" cy="685800"/>
          </a:xfrm>
          <a:prstGeom prst="ellipse">
            <a:avLst/>
          </a:prstGeom>
          <a:solidFill>
            <a:schemeClr val="accent6"/>
          </a:solidFill>
          <a:ln/>
        </p:spPr>
      </p:sp>
      <p:sp>
        <p:nvSpPr>
          <p:cNvPr id="22" name="text-273"/>
          <p:cNvSpPr txBox="1"/>
          <p:nvPr/>
        </p:nvSpPr>
        <p:spPr>
          <a:xfrm>
            <a:off x="6492240" y="347472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5</a:t>
            </a:r>
            <a:endParaRPr lang="en-US" sz="2600" dirty="0"/>
          </a:p>
        </p:txBody>
      </p:sp>
      <p:sp>
        <p:nvSpPr>
          <p:cNvPr id="23" name="text-274"/>
          <p:cNvSpPr txBox="1"/>
          <p:nvPr/>
        </p:nvSpPr>
        <p:spPr>
          <a:xfrm>
            <a:off x="7406640" y="3200400"/>
            <a:ext cx="4069080" cy="1234440"/>
          </a:xfrm>
          <a:prstGeom prst="rect">
            <a:avLst/>
          </a:prstGeom>
          <a:noFill/>
          <a:ln/>
        </p:spPr>
        <p:txBody>
          <a:bodyPr wrap="square" lIns="0" tIns="0" rIns="0" bIns="0" rtlCol="0" anchor="ctr"/>
          <a:lstStyle/>
          <a:p>
            <a:pPr indent="0" marL="0">
              <a:buNone/>
            </a:pPr>
            <a:r>
              <a:rPr lang="en-US" sz="2400" dirty="0">
                <a:solidFill>
                  <a:schemeClr val="tx1"/>
                </a:solidFill>
              </a:rPr>
              <a:t>Không lặp số liệu ở cả bảng và biểu đồ</a:t>
            </a:r>
            <a:endParaRPr lang="en-US" sz="2400" dirty="0"/>
          </a:p>
        </p:txBody>
      </p:sp>
      <p:sp>
        <p:nvSpPr>
          <p:cNvPr id="24" name="card-275"/>
          <p:cNvSpPr/>
          <p:nvPr/>
        </p:nvSpPr>
        <p:spPr>
          <a:xfrm>
            <a:off x="6263640" y="4617720"/>
            <a:ext cx="5376672" cy="1234440"/>
          </a:xfrm>
          <a:prstGeom prst="roundRect">
            <a:avLst>
              <a:gd name="adj" fmla="val 11111"/>
            </a:avLst>
          </a:prstGeom>
          <a:solidFill>
            <a:schemeClr val="bg2"/>
          </a:solidFill>
          <a:ln/>
        </p:spPr>
      </p:sp>
      <p:sp>
        <p:nvSpPr>
          <p:cNvPr id="25" name="dot-276"/>
          <p:cNvSpPr/>
          <p:nvPr/>
        </p:nvSpPr>
        <p:spPr>
          <a:xfrm>
            <a:off x="6492240" y="4892040"/>
            <a:ext cx="685800" cy="685800"/>
          </a:xfrm>
          <a:prstGeom prst="ellipse">
            <a:avLst/>
          </a:prstGeom>
          <a:solidFill>
            <a:schemeClr val="accent4"/>
          </a:solidFill>
          <a:ln/>
        </p:spPr>
      </p:sp>
      <p:sp>
        <p:nvSpPr>
          <p:cNvPr id="26" name="text-277"/>
          <p:cNvSpPr txBox="1"/>
          <p:nvPr/>
        </p:nvSpPr>
        <p:spPr>
          <a:xfrm>
            <a:off x="6492240" y="4892040"/>
            <a:ext cx="685800" cy="685800"/>
          </a:xfrm>
          <a:prstGeom prst="rect">
            <a:avLst/>
          </a:prstGeom>
          <a:noFill/>
          <a:ln/>
        </p:spPr>
        <p:txBody>
          <a:bodyPr wrap="square" lIns="0" tIns="0" rIns="0" bIns="0" rtlCol="0" anchor="ctr"/>
          <a:lstStyle/>
          <a:p>
            <a:pPr algn="ctr" indent="0" marL="0">
              <a:buNone/>
            </a:pPr>
            <a:r>
              <a:rPr lang="en-US" sz="2600" b="1" dirty="0">
                <a:solidFill>
                  <a:schemeClr val="tx1"/>
                </a:solidFill>
              </a:rPr>
              <a:t>6</a:t>
            </a:r>
            <a:endParaRPr lang="en-US" sz="2600" dirty="0"/>
          </a:p>
        </p:txBody>
      </p:sp>
      <p:sp>
        <p:nvSpPr>
          <p:cNvPr id="27" name="text-278"/>
          <p:cNvSpPr txBox="1"/>
          <p:nvPr/>
        </p:nvSpPr>
        <p:spPr>
          <a:xfrm>
            <a:off x="7406640" y="4617720"/>
            <a:ext cx="4069080" cy="1234440"/>
          </a:xfrm>
          <a:prstGeom prst="rect">
            <a:avLst/>
          </a:prstGeom>
          <a:noFill/>
          <a:ln/>
        </p:spPr>
        <p:txBody>
          <a:bodyPr wrap="square" lIns="0" tIns="0" rIns="0" bIns="0" rtlCol="0" anchor="ctr"/>
          <a:lstStyle/>
          <a:p>
            <a:pPr indent="0" marL="0">
              <a:buNone/>
            </a:pPr>
            <a:r>
              <a:rPr lang="en-US" sz="2400" dirty="0">
                <a:solidFill>
                  <a:schemeClr val="tx1"/>
                </a:solidFill>
              </a:rPr>
              <a:t>Có lời diễn giải ngắn</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Tự kiểm tra trước khi nộp (1): nội dung</a:t>
            </a:r>
            <a:endParaRPr lang="en-US" sz="3000" dirty="0"/>
          </a:p>
        </p:txBody>
      </p:sp>
      <p:sp>
        <p:nvSpPr>
          <p:cNvPr id="4" name="box-279"/>
          <p:cNvSpPr/>
          <p:nvPr/>
        </p:nvSpPr>
        <p:spPr>
          <a:xfrm>
            <a:off x="548640" y="1805940"/>
            <a:ext cx="411480" cy="411480"/>
          </a:xfrm>
          <a:prstGeom prst="roundRect">
            <a:avLst>
              <a:gd name="adj" fmla="val 13333"/>
            </a:avLst>
          </a:prstGeom>
          <a:solidFill>
            <a:schemeClr val="bg1"/>
          </a:solidFill>
          <a:ln w="31750">
            <a:solidFill>
              <a:schemeClr val="accent1"/>
            </a:solidFill>
            <a:prstDash val="solid"/>
          </a:ln>
        </p:spPr>
      </p:sp>
      <p:sp>
        <p:nvSpPr>
          <p:cNvPr id="5" name="text-280"/>
          <p:cNvSpPr txBox="1"/>
          <p:nvPr/>
        </p:nvSpPr>
        <p:spPr>
          <a:xfrm>
            <a:off x="1234440" y="1645920"/>
            <a:ext cx="10424160" cy="731520"/>
          </a:xfrm>
          <a:prstGeom prst="rect">
            <a:avLst/>
          </a:prstGeom>
          <a:noFill/>
          <a:ln/>
        </p:spPr>
        <p:txBody>
          <a:bodyPr wrap="square" lIns="0" tIns="0" rIns="0" bIns="0" rtlCol="0" anchor="ctr"/>
          <a:lstStyle/>
          <a:p>
            <a:pPr indent="0" marL="0">
              <a:buNone/>
            </a:pPr>
            <a:r>
              <a:rPr lang="en-US" sz="2400" dirty="0">
                <a:solidFill>
                  <a:schemeClr val="tx1"/>
                </a:solidFill>
              </a:rPr>
              <a:t>Câu hỏi ở Chương 1 được trả lời ở kết luận</a:t>
            </a:r>
            <a:endParaRPr lang="en-US" sz="2400" dirty="0"/>
          </a:p>
        </p:txBody>
      </p:sp>
      <p:sp>
        <p:nvSpPr>
          <p:cNvPr id="6" name="box-281"/>
          <p:cNvSpPr/>
          <p:nvPr/>
        </p:nvSpPr>
        <p:spPr>
          <a:xfrm>
            <a:off x="548640" y="2592324"/>
            <a:ext cx="411480" cy="411480"/>
          </a:xfrm>
          <a:prstGeom prst="roundRect">
            <a:avLst>
              <a:gd name="adj" fmla="val 13333"/>
            </a:avLst>
          </a:prstGeom>
          <a:solidFill>
            <a:schemeClr val="bg1"/>
          </a:solidFill>
          <a:ln w="31750">
            <a:solidFill>
              <a:schemeClr val="accent1"/>
            </a:solidFill>
            <a:prstDash val="solid"/>
          </a:ln>
        </p:spPr>
      </p:sp>
      <p:sp>
        <p:nvSpPr>
          <p:cNvPr id="7" name="text-282"/>
          <p:cNvSpPr txBox="1"/>
          <p:nvPr/>
        </p:nvSpPr>
        <p:spPr>
          <a:xfrm>
            <a:off x="1234440" y="2432304"/>
            <a:ext cx="10424160" cy="731520"/>
          </a:xfrm>
          <a:prstGeom prst="rect">
            <a:avLst/>
          </a:prstGeom>
          <a:noFill/>
          <a:ln/>
        </p:spPr>
        <p:txBody>
          <a:bodyPr wrap="square" lIns="0" tIns="0" rIns="0" bIns="0" rtlCol="0" anchor="ctr"/>
          <a:lstStyle/>
          <a:p>
            <a:pPr indent="0" marL="0">
              <a:buNone/>
            </a:pPr>
            <a:r>
              <a:rPr lang="en-US" sz="2400" dirty="0">
                <a:solidFill>
                  <a:schemeClr val="tx1"/>
                </a:solidFill>
              </a:rPr>
              <a:t>Phương pháp: chọn mẫu, cỡ mẫu, thang đo có nguồn, cách phân tích</a:t>
            </a:r>
            <a:endParaRPr lang="en-US" sz="2400" dirty="0"/>
          </a:p>
        </p:txBody>
      </p:sp>
      <p:sp>
        <p:nvSpPr>
          <p:cNvPr id="8" name="box-283"/>
          <p:cNvSpPr/>
          <p:nvPr/>
        </p:nvSpPr>
        <p:spPr>
          <a:xfrm>
            <a:off x="548640" y="3378708"/>
            <a:ext cx="411480" cy="411480"/>
          </a:xfrm>
          <a:prstGeom prst="roundRect">
            <a:avLst>
              <a:gd name="adj" fmla="val 13333"/>
            </a:avLst>
          </a:prstGeom>
          <a:solidFill>
            <a:schemeClr val="bg1"/>
          </a:solidFill>
          <a:ln w="31750">
            <a:solidFill>
              <a:schemeClr val="accent1"/>
            </a:solidFill>
            <a:prstDash val="solid"/>
          </a:ln>
        </p:spPr>
      </p:sp>
      <p:sp>
        <p:nvSpPr>
          <p:cNvPr id="9" name="text-284"/>
          <p:cNvSpPr txBox="1"/>
          <p:nvPr/>
        </p:nvSpPr>
        <p:spPr>
          <a:xfrm>
            <a:off x="1234440" y="3218688"/>
            <a:ext cx="10424160" cy="731520"/>
          </a:xfrm>
          <a:prstGeom prst="rect">
            <a:avLst/>
          </a:prstGeom>
          <a:noFill/>
          <a:ln/>
        </p:spPr>
        <p:txBody>
          <a:bodyPr wrap="square" lIns="0" tIns="0" rIns="0" bIns="0" rtlCol="0" anchor="ctr"/>
          <a:lstStyle/>
          <a:p>
            <a:pPr indent="0" marL="0">
              <a:buNone/>
            </a:pPr>
            <a:r>
              <a:rPr lang="en-US" sz="2400" dirty="0">
                <a:solidFill>
                  <a:schemeClr val="tx1"/>
                </a:solidFill>
              </a:rPr>
              <a:t>Kết quả: phiếu hợp lệ, đặc điểm mẫu, thống kê mô tả, nhị biến / chủ đề</a:t>
            </a:r>
            <a:endParaRPr lang="en-US" sz="2400" dirty="0"/>
          </a:p>
        </p:txBody>
      </p:sp>
      <p:sp>
        <p:nvSpPr>
          <p:cNvPr id="10" name="box-285"/>
          <p:cNvSpPr/>
          <p:nvPr/>
        </p:nvSpPr>
        <p:spPr>
          <a:xfrm>
            <a:off x="548640" y="4165092"/>
            <a:ext cx="411480" cy="411480"/>
          </a:xfrm>
          <a:prstGeom prst="roundRect">
            <a:avLst>
              <a:gd name="adj" fmla="val 13333"/>
            </a:avLst>
          </a:prstGeom>
          <a:solidFill>
            <a:schemeClr val="bg1"/>
          </a:solidFill>
          <a:ln w="31750">
            <a:solidFill>
              <a:schemeClr val="accent1"/>
            </a:solidFill>
            <a:prstDash val="solid"/>
          </a:ln>
        </p:spPr>
      </p:sp>
      <p:sp>
        <p:nvSpPr>
          <p:cNvPr id="11" name="text-286"/>
          <p:cNvSpPr txBox="1"/>
          <p:nvPr/>
        </p:nvSpPr>
        <p:spPr>
          <a:xfrm>
            <a:off x="1234440" y="4005072"/>
            <a:ext cx="10424160" cy="731520"/>
          </a:xfrm>
          <a:prstGeom prst="rect">
            <a:avLst/>
          </a:prstGeom>
          <a:noFill/>
          <a:ln/>
        </p:spPr>
        <p:txBody>
          <a:bodyPr wrap="square" lIns="0" tIns="0" rIns="0" bIns="0" rtlCol="0" anchor="ctr"/>
          <a:lstStyle/>
          <a:p>
            <a:pPr indent="0" marL="0">
              <a:buNone/>
            </a:pPr>
            <a:r>
              <a:rPr lang="en-US" sz="2400" dirty="0">
                <a:solidFill>
                  <a:schemeClr val="tx1"/>
                </a:solidFill>
              </a:rPr>
              <a:t>Không kết luận nhân quả từ tương quan</a:t>
            </a:r>
            <a:endParaRPr lang="en-US" sz="2400" dirty="0"/>
          </a:p>
        </p:txBody>
      </p:sp>
      <p:sp>
        <p:nvSpPr>
          <p:cNvPr id="12" name="box-287"/>
          <p:cNvSpPr/>
          <p:nvPr/>
        </p:nvSpPr>
        <p:spPr>
          <a:xfrm>
            <a:off x="548640" y="4951476"/>
            <a:ext cx="411480" cy="411480"/>
          </a:xfrm>
          <a:prstGeom prst="roundRect">
            <a:avLst>
              <a:gd name="adj" fmla="val 13333"/>
            </a:avLst>
          </a:prstGeom>
          <a:solidFill>
            <a:schemeClr val="bg1"/>
          </a:solidFill>
          <a:ln w="31750">
            <a:solidFill>
              <a:schemeClr val="accent1"/>
            </a:solidFill>
            <a:prstDash val="solid"/>
          </a:ln>
        </p:spPr>
      </p:sp>
      <p:sp>
        <p:nvSpPr>
          <p:cNvPr id="13" name="text-288"/>
          <p:cNvSpPr txBox="1"/>
          <p:nvPr/>
        </p:nvSpPr>
        <p:spPr>
          <a:xfrm>
            <a:off x="1234440" y="4791456"/>
            <a:ext cx="10424160" cy="731520"/>
          </a:xfrm>
          <a:prstGeom prst="rect">
            <a:avLst/>
          </a:prstGeom>
          <a:noFill/>
          <a:ln/>
        </p:spPr>
        <p:txBody>
          <a:bodyPr wrap="square" lIns="0" tIns="0" rIns="0" bIns="0" rtlCol="0" anchor="ctr"/>
          <a:lstStyle/>
          <a:p>
            <a:pPr indent="0" marL="0">
              <a:buNone/>
            </a:pPr>
            <a:r>
              <a:rPr lang="en-US" sz="2400" dirty="0">
                <a:solidFill>
                  <a:schemeClr val="tx1"/>
                </a:solidFill>
              </a:rPr>
              <a:t>Hàm ý quản trị bám kết quả, cụ thể, khả thi</a:t>
            </a:r>
            <a:endParaRPr lang="en-US" sz="2400" dirty="0"/>
          </a:p>
        </p:txBody>
      </p:sp>
      <p:sp>
        <p:nvSpPr>
          <p:cNvPr id="14" name="box-289"/>
          <p:cNvSpPr/>
          <p:nvPr/>
        </p:nvSpPr>
        <p:spPr>
          <a:xfrm>
            <a:off x="548640" y="5737860"/>
            <a:ext cx="411480" cy="411480"/>
          </a:xfrm>
          <a:prstGeom prst="roundRect">
            <a:avLst>
              <a:gd name="adj" fmla="val 13333"/>
            </a:avLst>
          </a:prstGeom>
          <a:solidFill>
            <a:schemeClr val="bg1"/>
          </a:solidFill>
          <a:ln w="31750">
            <a:solidFill>
              <a:schemeClr val="accent1"/>
            </a:solidFill>
            <a:prstDash val="solid"/>
          </a:ln>
        </p:spPr>
      </p:sp>
      <p:sp>
        <p:nvSpPr>
          <p:cNvPr id="15" name="text-290"/>
          <p:cNvSpPr txBox="1"/>
          <p:nvPr/>
        </p:nvSpPr>
        <p:spPr>
          <a:xfrm>
            <a:off x="1234440" y="5577840"/>
            <a:ext cx="10424160" cy="731520"/>
          </a:xfrm>
          <a:prstGeom prst="rect">
            <a:avLst/>
          </a:prstGeom>
          <a:noFill/>
          <a:ln/>
        </p:spPr>
        <p:txBody>
          <a:bodyPr wrap="square" lIns="0" tIns="0" rIns="0" bIns="0" rtlCol="0" anchor="ctr"/>
          <a:lstStyle/>
          <a:p>
            <a:pPr indent="0" marL="0">
              <a:buNone/>
            </a:pPr>
            <a:r>
              <a:rPr lang="en-US" sz="2400" dirty="0">
                <a:solidFill>
                  <a:schemeClr val="tx1"/>
                </a:solidFill>
              </a:rPr>
              <a:t>Có hạn chế và hướng nghiên cứu tiếp theo</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Tự kiểm tra trước khi nộp (2): hình thức và liêm chính</a:t>
            </a:r>
            <a:endParaRPr lang="en-US" sz="3000" dirty="0"/>
          </a:p>
        </p:txBody>
      </p:sp>
      <p:sp>
        <p:nvSpPr>
          <p:cNvPr id="4" name="box-291"/>
          <p:cNvSpPr/>
          <p:nvPr/>
        </p:nvSpPr>
        <p:spPr>
          <a:xfrm>
            <a:off x="548640" y="1805940"/>
            <a:ext cx="411480" cy="411480"/>
          </a:xfrm>
          <a:prstGeom prst="roundRect">
            <a:avLst>
              <a:gd name="adj" fmla="val 13333"/>
            </a:avLst>
          </a:prstGeom>
          <a:solidFill>
            <a:schemeClr val="bg1"/>
          </a:solidFill>
          <a:ln w="31750">
            <a:solidFill>
              <a:schemeClr val="accent1"/>
            </a:solidFill>
            <a:prstDash val="solid"/>
          </a:ln>
        </p:spPr>
      </p:sp>
      <p:sp>
        <p:nvSpPr>
          <p:cNvPr id="5" name="text-292"/>
          <p:cNvSpPr txBox="1"/>
          <p:nvPr/>
        </p:nvSpPr>
        <p:spPr>
          <a:xfrm>
            <a:off x="1234440" y="1737360"/>
            <a:ext cx="10424160" cy="548640"/>
          </a:xfrm>
          <a:prstGeom prst="rect">
            <a:avLst/>
          </a:prstGeom>
          <a:noFill/>
          <a:ln/>
        </p:spPr>
        <p:txBody>
          <a:bodyPr wrap="square" lIns="0" tIns="0" rIns="0" bIns="0" rtlCol="0" anchor="ctr"/>
          <a:lstStyle/>
          <a:p>
            <a:pPr indent="0" marL="0">
              <a:buNone/>
            </a:pPr>
            <a:r>
              <a:rPr lang="en-US" sz="2400" dirty="0">
                <a:solidFill>
                  <a:schemeClr val="tx1"/>
                </a:solidFill>
              </a:rPr>
              <a:t>Bảng, hình đánh số theo chương, có tên và nguồn</a:t>
            </a:r>
            <a:endParaRPr lang="en-US" sz="2400" dirty="0"/>
          </a:p>
        </p:txBody>
      </p:sp>
      <p:sp>
        <p:nvSpPr>
          <p:cNvPr id="6" name="box-293"/>
          <p:cNvSpPr/>
          <p:nvPr/>
        </p:nvSpPr>
        <p:spPr>
          <a:xfrm>
            <a:off x="548640" y="2436876"/>
            <a:ext cx="411480" cy="411480"/>
          </a:xfrm>
          <a:prstGeom prst="roundRect">
            <a:avLst>
              <a:gd name="adj" fmla="val 13333"/>
            </a:avLst>
          </a:prstGeom>
          <a:solidFill>
            <a:schemeClr val="bg1"/>
          </a:solidFill>
          <a:ln w="31750">
            <a:solidFill>
              <a:schemeClr val="accent1"/>
            </a:solidFill>
            <a:prstDash val="solid"/>
          </a:ln>
        </p:spPr>
      </p:sp>
      <p:sp>
        <p:nvSpPr>
          <p:cNvPr id="7" name="text-294"/>
          <p:cNvSpPr txBox="1"/>
          <p:nvPr/>
        </p:nvSpPr>
        <p:spPr>
          <a:xfrm>
            <a:off x="1234440" y="2368296"/>
            <a:ext cx="10424160" cy="548640"/>
          </a:xfrm>
          <a:prstGeom prst="rect">
            <a:avLst/>
          </a:prstGeom>
          <a:noFill/>
          <a:ln/>
        </p:spPr>
        <p:txBody>
          <a:bodyPr wrap="square" lIns="0" tIns="0" rIns="0" bIns="0" rtlCol="0" anchor="ctr"/>
          <a:lstStyle/>
          <a:p>
            <a:pPr indent="0" marL="0">
              <a:buNone/>
            </a:pPr>
            <a:r>
              <a:rPr lang="en-US" sz="2400" dirty="0">
                <a:solidFill>
                  <a:schemeClr val="tx1"/>
                </a:solidFill>
              </a:rPr>
              <a:t>Trích dẫn APA 7 khớp hai chiều với danh mục</a:t>
            </a:r>
            <a:endParaRPr lang="en-US" sz="2400" dirty="0"/>
          </a:p>
        </p:txBody>
      </p:sp>
      <p:sp>
        <p:nvSpPr>
          <p:cNvPr id="8" name="box-295"/>
          <p:cNvSpPr/>
          <p:nvPr/>
        </p:nvSpPr>
        <p:spPr>
          <a:xfrm>
            <a:off x="548640" y="3067812"/>
            <a:ext cx="411480" cy="411480"/>
          </a:xfrm>
          <a:prstGeom prst="roundRect">
            <a:avLst>
              <a:gd name="adj" fmla="val 13333"/>
            </a:avLst>
          </a:prstGeom>
          <a:solidFill>
            <a:schemeClr val="bg1"/>
          </a:solidFill>
          <a:ln w="31750">
            <a:solidFill>
              <a:schemeClr val="accent1"/>
            </a:solidFill>
            <a:prstDash val="solid"/>
          </a:ln>
        </p:spPr>
      </p:sp>
      <p:sp>
        <p:nvSpPr>
          <p:cNvPr id="9" name="text-296"/>
          <p:cNvSpPr txBox="1"/>
          <p:nvPr/>
        </p:nvSpPr>
        <p:spPr>
          <a:xfrm>
            <a:off x="1234440" y="2999232"/>
            <a:ext cx="10424160" cy="548640"/>
          </a:xfrm>
          <a:prstGeom prst="rect">
            <a:avLst/>
          </a:prstGeom>
          <a:noFill/>
          <a:ln/>
        </p:spPr>
        <p:txBody>
          <a:bodyPr wrap="square" lIns="0" tIns="0" rIns="0" bIns="0" rtlCol="0" anchor="ctr"/>
          <a:lstStyle/>
          <a:p>
            <a:pPr indent="0" marL="0">
              <a:buNone/>
            </a:pPr>
            <a:r>
              <a:rPr lang="en-US" sz="2400" dirty="0">
                <a:solidFill>
                  <a:schemeClr val="tx1"/>
                </a:solidFill>
              </a:rPr>
              <a:t>Mọi tài liệu trích dẫn có thật và nhóm đã đọc</a:t>
            </a:r>
            <a:endParaRPr lang="en-US" sz="2400" dirty="0"/>
          </a:p>
        </p:txBody>
      </p:sp>
      <p:sp>
        <p:nvSpPr>
          <p:cNvPr id="10" name="box-297"/>
          <p:cNvSpPr/>
          <p:nvPr/>
        </p:nvSpPr>
        <p:spPr>
          <a:xfrm>
            <a:off x="548640" y="3698748"/>
            <a:ext cx="411480" cy="411480"/>
          </a:xfrm>
          <a:prstGeom prst="roundRect">
            <a:avLst>
              <a:gd name="adj" fmla="val 13333"/>
            </a:avLst>
          </a:prstGeom>
          <a:solidFill>
            <a:schemeClr val="bg1"/>
          </a:solidFill>
          <a:ln w="31750">
            <a:solidFill>
              <a:schemeClr val="accent1"/>
            </a:solidFill>
            <a:prstDash val="solid"/>
          </a:ln>
        </p:spPr>
      </p:sp>
      <p:sp>
        <p:nvSpPr>
          <p:cNvPr id="11" name="text-298"/>
          <p:cNvSpPr txBox="1"/>
          <p:nvPr/>
        </p:nvSpPr>
        <p:spPr>
          <a:xfrm>
            <a:off x="1234440" y="3630168"/>
            <a:ext cx="10424160" cy="548640"/>
          </a:xfrm>
          <a:prstGeom prst="rect">
            <a:avLst/>
          </a:prstGeom>
          <a:noFill/>
          <a:ln/>
        </p:spPr>
        <p:txBody>
          <a:bodyPr wrap="square" lIns="0" tIns="0" rIns="0" bIns="0" rtlCol="0" anchor="ctr"/>
          <a:lstStyle/>
          <a:p>
            <a:pPr indent="0" marL="0">
              <a:buNone/>
            </a:pPr>
            <a:r>
              <a:rPr lang="en-US" sz="2400" dirty="0">
                <a:solidFill>
                  <a:schemeClr val="tx1"/>
                </a:solidFill>
              </a:rPr>
              <a:t>Mọi con số lấy từ kết quả phần mềm của nhóm</a:t>
            </a:r>
            <a:endParaRPr lang="en-US" sz="2400" dirty="0"/>
          </a:p>
        </p:txBody>
      </p:sp>
      <p:sp>
        <p:nvSpPr>
          <p:cNvPr id="12" name="box-299"/>
          <p:cNvSpPr/>
          <p:nvPr/>
        </p:nvSpPr>
        <p:spPr>
          <a:xfrm>
            <a:off x="548640" y="4329684"/>
            <a:ext cx="411480" cy="411480"/>
          </a:xfrm>
          <a:prstGeom prst="roundRect">
            <a:avLst>
              <a:gd name="adj" fmla="val 13333"/>
            </a:avLst>
          </a:prstGeom>
          <a:solidFill>
            <a:schemeClr val="bg1"/>
          </a:solidFill>
          <a:ln w="31750">
            <a:solidFill>
              <a:schemeClr val="accent1"/>
            </a:solidFill>
            <a:prstDash val="solid"/>
          </a:ln>
        </p:spPr>
      </p:sp>
      <p:sp>
        <p:nvSpPr>
          <p:cNvPr id="13" name="text-300"/>
          <p:cNvSpPr txBox="1"/>
          <p:nvPr/>
        </p:nvSpPr>
        <p:spPr>
          <a:xfrm>
            <a:off x="1234440" y="4261104"/>
            <a:ext cx="10424160" cy="548640"/>
          </a:xfrm>
          <a:prstGeom prst="rect">
            <a:avLst/>
          </a:prstGeom>
          <a:noFill/>
          <a:ln/>
        </p:spPr>
        <p:txBody>
          <a:bodyPr wrap="square" lIns="0" tIns="0" rIns="0" bIns="0" rtlCol="0" anchor="ctr"/>
          <a:lstStyle/>
          <a:p>
            <a:pPr indent="0" marL="0">
              <a:buNone/>
            </a:pPr>
            <a:r>
              <a:rPr lang="en-US" sz="2400" dirty="0">
                <a:solidFill>
                  <a:schemeClr val="tx1"/>
                </a:solidFill>
              </a:rPr>
              <a:t>Phụ lục: bảng hỏi / dàn bài, codebook, kết quả gốc</a:t>
            </a:r>
            <a:endParaRPr lang="en-US" sz="2400" dirty="0"/>
          </a:p>
        </p:txBody>
      </p:sp>
      <p:sp>
        <p:nvSpPr>
          <p:cNvPr id="14" name="box-301"/>
          <p:cNvSpPr/>
          <p:nvPr/>
        </p:nvSpPr>
        <p:spPr>
          <a:xfrm>
            <a:off x="548640" y="4960620"/>
            <a:ext cx="411480" cy="411480"/>
          </a:xfrm>
          <a:prstGeom prst="roundRect">
            <a:avLst>
              <a:gd name="adj" fmla="val 13333"/>
            </a:avLst>
          </a:prstGeom>
          <a:solidFill>
            <a:schemeClr val="bg1"/>
          </a:solidFill>
          <a:ln w="31750">
            <a:solidFill>
              <a:schemeClr val="accent1"/>
            </a:solidFill>
            <a:prstDash val="solid"/>
          </a:ln>
        </p:spPr>
      </p:sp>
      <p:sp>
        <p:nvSpPr>
          <p:cNvPr id="15" name="text-302"/>
          <p:cNvSpPr txBox="1"/>
          <p:nvPr/>
        </p:nvSpPr>
        <p:spPr>
          <a:xfrm>
            <a:off x="1234440" y="4892040"/>
            <a:ext cx="10424160" cy="548640"/>
          </a:xfrm>
          <a:prstGeom prst="rect">
            <a:avLst/>
          </a:prstGeom>
          <a:noFill/>
          <a:ln/>
        </p:spPr>
        <p:txBody>
          <a:bodyPr wrap="square" lIns="0" tIns="0" rIns="0" bIns="0" rtlCol="0" anchor="ctr"/>
          <a:lstStyle/>
          <a:p>
            <a:pPr indent="0" marL="0">
              <a:buNone/>
            </a:pPr>
            <a:r>
              <a:rPr lang="en-US" sz="2400" dirty="0">
                <a:solidFill>
                  <a:schemeClr val="tx1"/>
                </a:solidFill>
              </a:rPr>
              <a:t>Khai báo AI và nhật ký AI đầy đủ</a:t>
            </a:r>
            <a:endParaRPr lang="en-US" sz="2400" dirty="0"/>
          </a:p>
        </p:txBody>
      </p:sp>
      <p:sp>
        <p:nvSpPr>
          <p:cNvPr id="16" name="box-303"/>
          <p:cNvSpPr/>
          <p:nvPr/>
        </p:nvSpPr>
        <p:spPr>
          <a:xfrm>
            <a:off x="548640" y="5591556"/>
            <a:ext cx="411480" cy="411480"/>
          </a:xfrm>
          <a:prstGeom prst="roundRect">
            <a:avLst>
              <a:gd name="adj" fmla="val 13333"/>
            </a:avLst>
          </a:prstGeom>
          <a:solidFill>
            <a:schemeClr val="bg1"/>
          </a:solidFill>
          <a:ln w="31750">
            <a:solidFill>
              <a:schemeClr val="accent1"/>
            </a:solidFill>
            <a:prstDash val="solid"/>
          </a:ln>
        </p:spPr>
      </p:sp>
      <p:sp>
        <p:nvSpPr>
          <p:cNvPr id="17" name="text-304"/>
          <p:cNvSpPr txBox="1"/>
          <p:nvPr/>
        </p:nvSpPr>
        <p:spPr>
          <a:xfrm>
            <a:off x="1234440" y="5522976"/>
            <a:ext cx="10424160" cy="548640"/>
          </a:xfrm>
          <a:prstGeom prst="rect">
            <a:avLst/>
          </a:prstGeom>
          <a:noFill/>
          <a:ln/>
        </p:spPr>
        <p:txBody>
          <a:bodyPr wrap="square" lIns="0" tIns="0" rIns="0" bIns="0" rtlCol="0" anchor="ctr"/>
          <a:lstStyle/>
          <a:p>
            <a:pPr indent="0" marL="0">
              <a:buNone/>
            </a:pPr>
            <a:r>
              <a:rPr lang="en-US" sz="2400" dirty="0">
                <a:solidFill>
                  <a:schemeClr val="tx1"/>
                </a:solidFill>
              </a:rPr>
              <a:t>Dữ liệu người tham gia đã ẩn danh</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Năm câu ôn tập</a:t>
            </a:r>
            <a:endParaRPr lang="en-US" sz="3000" dirty="0"/>
          </a:p>
        </p:txBody>
      </p:sp>
      <p:sp>
        <p:nvSpPr>
          <p:cNvPr id="4" name="dot-305"/>
          <p:cNvSpPr/>
          <p:nvPr/>
        </p:nvSpPr>
        <p:spPr>
          <a:xfrm>
            <a:off x="548640" y="1783080"/>
            <a:ext cx="685800" cy="685800"/>
          </a:xfrm>
          <a:prstGeom prst="ellipse">
            <a:avLst/>
          </a:prstGeom>
          <a:solidFill>
            <a:schemeClr val="accent1"/>
          </a:solidFill>
          <a:ln/>
        </p:spPr>
      </p:sp>
      <p:sp>
        <p:nvSpPr>
          <p:cNvPr id="5" name="text-306"/>
          <p:cNvSpPr txBox="1"/>
          <p:nvPr/>
        </p:nvSpPr>
        <p:spPr>
          <a:xfrm>
            <a:off x="548640" y="178308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6" name="card-307"/>
          <p:cNvSpPr/>
          <p:nvPr/>
        </p:nvSpPr>
        <p:spPr>
          <a:xfrm>
            <a:off x="1463040" y="1737360"/>
            <a:ext cx="10177272" cy="777240"/>
          </a:xfrm>
          <a:prstGeom prst="roundRect">
            <a:avLst>
              <a:gd name="adj" fmla="val 17647"/>
            </a:avLst>
          </a:prstGeom>
          <a:solidFill>
            <a:schemeClr val="bg2"/>
          </a:solidFill>
          <a:ln/>
        </p:spPr>
      </p:sp>
      <p:sp>
        <p:nvSpPr>
          <p:cNvPr id="7" name="text-308"/>
          <p:cNvSpPr txBox="1"/>
          <p:nvPr/>
        </p:nvSpPr>
        <p:spPr>
          <a:xfrm>
            <a:off x="1737360" y="1737360"/>
            <a:ext cx="9784080" cy="777240"/>
          </a:xfrm>
          <a:prstGeom prst="rect">
            <a:avLst/>
          </a:prstGeom>
          <a:noFill/>
          <a:ln/>
        </p:spPr>
        <p:txBody>
          <a:bodyPr wrap="square" lIns="0" tIns="0" rIns="0" bIns="0" rtlCol="0" anchor="ctr"/>
          <a:lstStyle/>
          <a:p>
            <a:pPr indent="0" marL="0">
              <a:buNone/>
            </a:pPr>
            <a:r>
              <a:rPr lang="en-US" sz="2400" dirty="0">
                <a:solidFill>
                  <a:schemeClr val="tx1"/>
                </a:solidFill>
              </a:rPr>
              <a:t>Vì sao tóm lược viết sau cùng, đặt đầu tiên?</a:t>
            </a:r>
            <a:endParaRPr lang="en-US" sz="2400" dirty="0"/>
          </a:p>
        </p:txBody>
      </p:sp>
      <p:sp>
        <p:nvSpPr>
          <p:cNvPr id="8" name="dot-309"/>
          <p:cNvSpPr/>
          <p:nvPr/>
        </p:nvSpPr>
        <p:spPr>
          <a:xfrm>
            <a:off x="548640" y="2670048"/>
            <a:ext cx="685800" cy="685800"/>
          </a:xfrm>
          <a:prstGeom prst="ellipse">
            <a:avLst/>
          </a:prstGeom>
          <a:solidFill>
            <a:schemeClr val="accent2"/>
          </a:solidFill>
          <a:ln/>
        </p:spPr>
      </p:sp>
      <p:sp>
        <p:nvSpPr>
          <p:cNvPr id="9" name="text-310"/>
          <p:cNvSpPr txBox="1"/>
          <p:nvPr/>
        </p:nvSpPr>
        <p:spPr>
          <a:xfrm>
            <a:off x="548640" y="2670048"/>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10" name="card-311"/>
          <p:cNvSpPr/>
          <p:nvPr/>
        </p:nvSpPr>
        <p:spPr>
          <a:xfrm>
            <a:off x="1463040" y="2624328"/>
            <a:ext cx="10177272" cy="777240"/>
          </a:xfrm>
          <a:prstGeom prst="roundRect">
            <a:avLst>
              <a:gd name="adj" fmla="val 17647"/>
            </a:avLst>
          </a:prstGeom>
          <a:solidFill>
            <a:schemeClr val="bg2"/>
          </a:solidFill>
          <a:ln/>
        </p:spPr>
      </p:sp>
      <p:sp>
        <p:nvSpPr>
          <p:cNvPr id="11" name="text-312"/>
          <p:cNvSpPr txBox="1"/>
          <p:nvPr/>
        </p:nvSpPr>
        <p:spPr>
          <a:xfrm>
            <a:off x="1737360" y="2624328"/>
            <a:ext cx="9784080" cy="777240"/>
          </a:xfrm>
          <a:prstGeom prst="rect">
            <a:avLst/>
          </a:prstGeom>
          <a:noFill/>
          <a:ln/>
        </p:spPr>
        <p:txBody>
          <a:bodyPr wrap="square" lIns="0" tIns="0" rIns="0" bIns="0" rtlCol="0" anchor="ctr"/>
          <a:lstStyle/>
          <a:p>
            <a:pPr indent="0" marL="0">
              <a:buNone/>
            </a:pPr>
            <a:r>
              <a:rPr lang="en-US" sz="2400" dirty="0">
                <a:solidFill>
                  <a:schemeClr val="tx1"/>
                </a:solidFill>
              </a:rPr>
              <a:t>Kết quả, kết luận, đề nghị: ví dụ từ dự án nhóm</a:t>
            </a:r>
            <a:endParaRPr lang="en-US" sz="2400" dirty="0"/>
          </a:p>
        </p:txBody>
      </p:sp>
      <p:sp>
        <p:nvSpPr>
          <p:cNvPr id="12" name="dot-313"/>
          <p:cNvSpPr/>
          <p:nvPr/>
        </p:nvSpPr>
        <p:spPr>
          <a:xfrm>
            <a:off x="548640" y="3557016"/>
            <a:ext cx="685800" cy="685800"/>
          </a:xfrm>
          <a:prstGeom prst="ellipse">
            <a:avLst/>
          </a:prstGeom>
          <a:solidFill>
            <a:schemeClr val="accent5"/>
          </a:solidFill>
          <a:ln/>
        </p:spPr>
      </p:sp>
      <p:sp>
        <p:nvSpPr>
          <p:cNvPr id="13" name="text-314"/>
          <p:cNvSpPr txBox="1"/>
          <p:nvPr/>
        </p:nvSpPr>
        <p:spPr>
          <a:xfrm>
            <a:off x="548640" y="3557016"/>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14" name="card-315"/>
          <p:cNvSpPr/>
          <p:nvPr/>
        </p:nvSpPr>
        <p:spPr>
          <a:xfrm>
            <a:off x="1463040" y="3511296"/>
            <a:ext cx="10177272" cy="777240"/>
          </a:xfrm>
          <a:prstGeom prst="roundRect">
            <a:avLst>
              <a:gd name="adj" fmla="val 17647"/>
            </a:avLst>
          </a:prstGeom>
          <a:solidFill>
            <a:schemeClr val="bg2"/>
          </a:solidFill>
          <a:ln/>
        </p:spPr>
      </p:sp>
      <p:sp>
        <p:nvSpPr>
          <p:cNvPr id="15" name="text-316"/>
          <p:cNvSpPr txBox="1"/>
          <p:nvPr/>
        </p:nvSpPr>
        <p:spPr>
          <a:xfrm>
            <a:off x="1737360" y="3511296"/>
            <a:ext cx="9784080" cy="777240"/>
          </a:xfrm>
          <a:prstGeom prst="rect">
            <a:avLst/>
          </a:prstGeom>
          <a:noFill/>
          <a:ln/>
        </p:spPr>
        <p:txBody>
          <a:bodyPr wrap="square" lIns="0" tIns="0" rIns="0" bIns="0" rtlCol="0" anchor="ctr"/>
          <a:lstStyle/>
          <a:p>
            <a:pPr indent="0" marL="0">
              <a:buNone/>
            </a:pPr>
            <a:r>
              <a:rPr lang="en-US" sz="2400" dirty="0">
                <a:solidFill>
                  <a:schemeClr val="tx1"/>
                </a:solidFill>
              </a:rPr>
              <a:t>Chọn biểu đồ: giới tính · 6 yếu tố · 12 tháng · giờ MXH và chi tiêu</a:t>
            </a:r>
            <a:endParaRPr lang="en-US" sz="2400" dirty="0"/>
          </a:p>
        </p:txBody>
      </p:sp>
      <p:sp>
        <p:nvSpPr>
          <p:cNvPr id="16" name="dot-317"/>
          <p:cNvSpPr/>
          <p:nvPr/>
        </p:nvSpPr>
        <p:spPr>
          <a:xfrm>
            <a:off x="548640" y="4443984"/>
            <a:ext cx="685800" cy="685800"/>
          </a:xfrm>
          <a:prstGeom prst="ellipse">
            <a:avLst/>
          </a:prstGeom>
          <a:solidFill>
            <a:schemeClr val="accent3"/>
          </a:solidFill>
          <a:ln/>
        </p:spPr>
      </p:sp>
      <p:sp>
        <p:nvSpPr>
          <p:cNvPr id="17" name="text-318"/>
          <p:cNvSpPr txBox="1"/>
          <p:nvPr/>
        </p:nvSpPr>
        <p:spPr>
          <a:xfrm>
            <a:off x="548640" y="4443984"/>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4</a:t>
            </a:r>
            <a:endParaRPr lang="en-US" sz="2600" dirty="0"/>
          </a:p>
        </p:txBody>
      </p:sp>
      <p:sp>
        <p:nvSpPr>
          <p:cNvPr id="18" name="card-319"/>
          <p:cNvSpPr/>
          <p:nvPr/>
        </p:nvSpPr>
        <p:spPr>
          <a:xfrm>
            <a:off x="1463040" y="4398264"/>
            <a:ext cx="10177272" cy="777240"/>
          </a:xfrm>
          <a:prstGeom prst="roundRect">
            <a:avLst>
              <a:gd name="adj" fmla="val 17647"/>
            </a:avLst>
          </a:prstGeom>
          <a:solidFill>
            <a:schemeClr val="bg2"/>
          </a:solidFill>
          <a:ln/>
        </p:spPr>
      </p:sp>
      <p:sp>
        <p:nvSpPr>
          <p:cNvPr id="19" name="text-320"/>
          <p:cNvSpPr txBox="1"/>
          <p:nvPr/>
        </p:nvSpPr>
        <p:spPr>
          <a:xfrm>
            <a:off x="1737360" y="4398264"/>
            <a:ext cx="9784080" cy="777240"/>
          </a:xfrm>
          <a:prstGeom prst="rect">
            <a:avLst/>
          </a:prstGeom>
          <a:noFill/>
          <a:ln/>
        </p:spPr>
        <p:txBody>
          <a:bodyPr wrap="square" lIns="0" tIns="0" rIns="0" bIns="0" rtlCol="0" anchor="ctr"/>
          <a:lstStyle/>
          <a:p>
            <a:pPr indent="0" marL="0">
              <a:buNone/>
            </a:pPr>
            <a:r>
              <a:rPr lang="en-US" sz="2400" dirty="0">
                <a:solidFill>
                  <a:schemeClr val="tx1"/>
                </a:solidFill>
              </a:rPr>
              <a:t>Trục tung bắt đầu từ 3,5 gây hiểu lầm gì?</a:t>
            </a:r>
            <a:endParaRPr lang="en-US" sz="2400" dirty="0"/>
          </a:p>
        </p:txBody>
      </p:sp>
      <p:sp>
        <p:nvSpPr>
          <p:cNvPr id="20" name="dot-321"/>
          <p:cNvSpPr/>
          <p:nvPr/>
        </p:nvSpPr>
        <p:spPr>
          <a:xfrm>
            <a:off x="548640" y="5330952"/>
            <a:ext cx="685800" cy="685800"/>
          </a:xfrm>
          <a:prstGeom prst="ellipse">
            <a:avLst/>
          </a:prstGeom>
          <a:solidFill>
            <a:schemeClr val="accent6"/>
          </a:solidFill>
          <a:ln/>
        </p:spPr>
      </p:sp>
      <p:sp>
        <p:nvSpPr>
          <p:cNvPr id="21" name="text-322"/>
          <p:cNvSpPr txBox="1"/>
          <p:nvPr/>
        </p:nvSpPr>
        <p:spPr>
          <a:xfrm>
            <a:off x="548640" y="5330952"/>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5</a:t>
            </a:r>
            <a:endParaRPr lang="en-US" sz="2600" dirty="0"/>
          </a:p>
        </p:txBody>
      </p:sp>
      <p:sp>
        <p:nvSpPr>
          <p:cNvPr id="22" name="card-323"/>
          <p:cNvSpPr/>
          <p:nvPr/>
        </p:nvSpPr>
        <p:spPr>
          <a:xfrm>
            <a:off x="1463040" y="5285232"/>
            <a:ext cx="10177272" cy="777240"/>
          </a:xfrm>
          <a:prstGeom prst="roundRect">
            <a:avLst>
              <a:gd name="adj" fmla="val 17647"/>
            </a:avLst>
          </a:prstGeom>
          <a:solidFill>
            <a:schemeClr val="bg2"/>
          </a:solidFill>
          <a:ln/>
        </p:spPr>
      </p:sp>
      <p:sp>
        <p:nvSpPr>
          <p:cNvPr id="23" name="text-324"/>
          <p:cNvSpPr txBox="1"/>
          <p:nvPr/>
        </p:nvSpPr>
        <p:spPr>
          <a:xfrm>
            <a:off x="1737360" y="5285232"/>
            <a:ext cx="9784080" cy="777240"/>
          </a:xfrm>
          <a:prstGeom prst="rect">
            <a:avLst/>
          </a:prstGeom>
          <a:noFill/>
          <a:ln/>
        </p:spPr>
        <p:txBody>
          <a:bodyPr wrap="square" lIns="0" tIns="0" rIns="0" bIns="0" rtlCol="0" anchor="ctr"/>
          <a:lstStyle/>
          <a:p>
            <a:pPr indent="0" marL="0">
              <a:buNone/>
            </a:pPr>
            <a:r>
              <a:rPr lang="en-US" sz="2400" dirty="0">
                <a:solidFill>
                  <a:schemeClr val="tx1"/>
                </a:solidFill>
              </a:rPr>
              <a:t>Ba lỗi khi trình bày bảng và cách sửa</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Tài liệu tham khảo</a:t>
            </a:r>
            <a:endParaRPr lang="en-US" sz="3000" dirty="0"/>
          </a:p>
        </p:txBody>
      </p:sp>
      <p:sp>
        <p:nvSpPr>
          <p:cNvPr id="4" name="text-325"/>
          <p:cNvSpPr txBox="1"/>
          <p:nvPr/>
        </p:nvSpPr>
        <p:spPr>
          <a:xfrm>
            <a:off x="548640" y="1691640"/>
            <a:ext cx="11094415" cy="1143000"/>
          </a:xfrm>
          <a:prstGeom prst="rect">
            <a:avLst/>
          </a:prstGeom>
          <a:noFill/>
          <a:ln/>
        </p:spPr>
        <p:txBody>
          <a:bodyPr wrap="square" lIns="0" tIns="0" rIns="0" bIns="0" rtlCol="0" anchor="t"/>
          <a:lstStyle/>
          <a:p>
            <a:pPr indent="0" marL="0">
              <a:buNone/>
            </a:pPr>
            <a:r>
              <a:rPr lang="en-US" sz="2400" dirty="0">
                <a:solidFill>
                  <a:schemeClr val="tx1"/>
                </a:solidFill>
              </a:rPr>
              <a:t>American Psychological Association. (2020). </a:t>
            </a:r>
            <a:pPr indent="0" marL="0">
              <a:buNone/>
            </a:pPr>
            <a:r>
              <a:rPr lang="en-US" sz="2400" i="1" dirty="0">
                <a:solidFill>
                  <a:schemeClr val="tx1"/>
                </a:solidFill>
              </a:rPr>
              <a:t>Publication manual of the American Psychological Association</a:t>
            </a:r>
            <a:pPr indent="0" marL="0">
              <a:buNone/>
            </a:pPr>
            <a:r>
              <a:rPr lang="en-US" sz="2400" dirty="0">
                <a:solidFill>
                  <a:schemeClr val="tx1"/>
                </a:solidFill>
              </a:rPr>
              <a:t> (7th ed.). https://doi.org/10.1037/0000165-000</a:t>
            </a:r>
            <a:endParaRPr lang="en-US" sz="2400" dirty="0"/>
          </a:p>
        </p:txBody>
      </p:sp>
      <p:sp>
        <p:nvSpPr>
          <p:cNvPr id="5" name="text-326"/>
          <p:cNvSpPr txBox="1"/>
          <p:nvPr/>
        </p:nvSpPr>
        <p:spPr>
          <a:xfrm>
            <a:off x="548640" y="3063240"/>
            <a:ext cx="11094415" cy="1143000"/>
          </a:xfrm>
          <a:prstGeom prst="rect">
            <a:avLst/>
          </a:prstGeom>
          <a:noFill/>
          <a:ln/>
        </p:spPr>
        <p:txBody>
          <a:bodyPr wrap="square" lIns="0" tIns="0" rIns="0" bIns="0" rtlCol="0" anchor="t"/>
          <a:lstStyle/>
          <a:p>
            <a:pPr indent="0" marL="0">
              <a:buNone/>
            </a:pPr>
            <a:r>
              <a:rPr lang="en-US" sz="2400" dirty="0">
                <a:solidFill>
                  <a:schemeClr val="tx1"/>
                </a:solidFill>
              </a:rPr>
              <a:t>Brown, T. J., Suter, T. A., &amp; Churchill, G. A. (2014). </a:t>
            </a:r>
            <a:pPr indent="0" marL="0">
              <a:buNone/>
            </a:pPr>
            <a:r>
              <a:rPr lang="en-US" sz="2400" i="1" dirty="0">
                <a:solidFill>
                  <a:schemeClr val="tx1"/>
                </a:solidFill>
              </a:rPr>
              <a:t>Basic marketing research: Customer insights and managerial action</a:t>
            </a:r>
            <a:pPr indent="0" marL="0">
              <a:buNone/>
            </a:pPr>
            <a:r>
              <a:rPr lang="en-US" sz="2400" dirty="0">
                <a:solidFill>
                  <a:schemeClr val="tx1"/>
                </a:solidFill>
              </a:rPr>
              <a:t> (8th ed.). Cengage Learning.</a:t>
            </a:r>
            <a:endParaRPr lang="en-US" sz="2400" dirty="0"/>
          </a:p>
        </p:txBody>
      </p:sp>
      <p:sp>
        <p:nvSpPr>
          <p:cNvPr id="6" name="text-327"/>
          <p:cNvSpPr txBox="1"/>
          <p:nvPr/>
        </p:nvSpPr>
        <p:spPr>
          <a:xfrm>
            <a:off x="548640" y="4434840"/>
            <a:ext cx="11094415" cy="1143000"/>
          </a:xfrm>
          <a:prstGeom prst="rect">
            <a:avLst/>
          </a:prstGeom>
          <a:noFill/>
          <a:ln/>
        </p:spPr>
        <p:txBody>
          <a:bodyPr wrap="square" lIns="0" tIns="0" rIns="0" bIns="0" rtlCol="0" anchor="t"/>
          <a:lstStyle/>
          <a:p>
            <a:pPr indent="0" marL="0">
              <a:buNone/>
            </a:pPr>
            <a:r>
              <a:rPr lang="en-US" sz="2400" dirty="0">
                <a:solidFill>
                  <a:schemeClr val="tx1"/>
                </a:solidFill>
              </a:rPr>
              <a:t>Malhotra, N. K. (2019). </a:t>
            </a:r>
            <a:pPr indent="0" marL="0">
              <a:buNone/>
            </a:pPr>
            <a:r>
              <a:rPr lang="en-US" sz="2400" i="1" dirty="0">
                <a:solidFill>
                  <a:schemeClr val="tx1"/>
                </a:solidFill>
              </a:rPr>
              <a:t>Marketing research: An applied orientation</a:t>
            </a:r>
            <a:pPr indent="0" marL="0">
              <a:buNone/>
            </a:pPr>
            <a:r>
              <a:rPr lang="en-US" sz="2400" dirty="0">
                <a:solidFill>
                  <a:schemeClr val="tx1"/>
                </a:solidFill>
              </a:rPr>
              <a:t> (7th ed.). Pearson.</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MKT1107 Dark">
  <a:themeElements>
    <a:clrScheme name="MKT1107 Dark">
      <a:dk1>
        <a:srgbClr val="FBFAF4"/>
      </a:dk1>
      <a:lt1>
        <a:srgbClr val="172849"/>
      </a:lt1>
      <a:dk2>
        <a:srgbClr val="A9B6D3"/>
      </a:dk2>
      <a:lt2>
        <a:srgbClr val="22395F"/>
      </a:lt2>
      <a:accent1>
        <a:srgbClr val="49B296"/>
      </a:accent1>
      <a:accent2>
        <a:srgbClr val="FFD23B"/>
      </a:accent2>
      <a:accent3>
        <a:srgbClr val="FF5178"/>
      </a:accent3>
      <a:accent4>
        <a:srgbClr val="962B7C"/>
      </a:accent4>
      <a:accent5>
        <a:srgbClr val="09A1E5"/>
      </a:accent5>
      <a:accent6>
        <a:srgbClr val="FF9259"/>
      </a:accent6>
      <a:hlink>
        <a:srgbClr val="09A1E5"/>
      </a:hlink>
      <a:folHlink>
        <a:srgbClr val="962B7C"/>
      </a:folHlink>
    </a:clrScheme>
    <a:fontScheme name="MKT1107 Dark">
      <a:majorFont>
        <a:latin typeface="Alexand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lexand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MKT1107 Nghiên cứu Marketing · Bài 10</dc:title>
  <dc:subject>PptxGenJS Presentation</dc:subject>
  <dc:creator>Đoàn Nguyễn Bảo Quyên</dc:creator>
  <cp:lastModifiedBy>Đoàn Nguyễn Bảo Quyên</cp:lastModifiedBy>
  <cp:revision>1</cp:revision>
  <dcterms:created xsi:type="dcterms:W3CDTF">2026-10-20T00:18:59Z</dcterms:created>
  <dcterms:modified xsi:type="dcterms:W3CDTF">2026-10-20T00:18:59Z</dcterms:modified>
</cp:coreProperties>
</file>